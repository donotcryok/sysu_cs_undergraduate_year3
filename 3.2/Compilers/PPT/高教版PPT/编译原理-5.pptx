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127"/>
  </p:notesMasterIdLst>
  <p:handoutMasterIdLst>
    <p:handoutMasterId r:id="rId128"/>
  </p:handoutMasterIdLst>
  <p:sldIdLst>
    <p:sldId id="561" r:id="rId2"/>
    <p:sldId id="260" r:id="rId3"/>
    <p:sldId id="261" r:id="rId4"/>
    <p:sldId id="507" r:id="rId5"/>
    <p:sldId id="264" r:id="rId6"/>
    <p:sldId id="265" r:id="rId7"/>
    <p:sldId id="266" r:id="rId8"/>
    <p:sldId id="439" r:id="rId9"/>
    <p:sldId id="506" r:id="rId10"/>
    <p:sldId id="563" r:id="rId11"/>
    <p:sldId id="564" r:id="rId12"/>
    <p:sldId id="565" r:id="rId13"/>
    <p:sldId id="566" r:id="rId14"/>
    <p:sldId id="567" r:id="rId15"/>
    <p:sldId id="568" r:id="rId16"/>
    <p:sldId id="569" r:id="rId17"/>
    <p:sldId id="570" r:id="rId18"/>
    <p:sldId id="571" r:id="rId19"/>
    <p:sldId id="572" r:id="rId20"/>
    <p:sldId id="573" r:id="rId21"/>
    <p:sldId id="575" r:id="rId22"/>
    <p:sldId id="576" r:id="rId23"/>
    <p:sldId id="577" r:id="rId24"/>
    <p:sldId id="578" r:id="rId25"/>
    <p:sldId id="579" r:id="rId26"/>
    <p:sldId id="580" r:id="rId27"/>
    <p:sldId id="581" r:id="rId28"/>
    <p:sldId id="582" r:id="rId29"/>
    <p:sldId id="583" r:id="rId30"/>
    <p:sldId id="584" r:id="rId31"/>
    <p:sldId id="585" r:id="rId32"/>
    <p:sldId id="586" r:id="rId33"/>
    <p:sldId id="587" r:id="rId34"/>
    <p:sldId id="588" r:id="rId35"/>
    <p:sldId id="589" r:id="rId36"/>
    <p:sldId id="590" r:id="rId37"/>
    <p:sldId id="591" r:id="rId38"/>
    <p:sldId id="592" r:id="rId39"/>
    <p:sldId id="593" r:id="rId40"/>
    <p:sldId id="594" r:id="rId41"/>
    <p:sldId id="595" r:id="rId42"/>
    <p:sldId id="596" r:id="rId43"/>
    <p:sldId id="597" r:id="rId44"/>
    <p:sldId id="598" r:id="rId45"/>
    <p:sldId id="599" r:id="rId46"/>
    <p:sldId id="600" r:id="rId47"/>
    <p:sldId id="601" r:id="rId48"/>
    <p:sldId id="603" r:id="rId49"/>
    <p:sldId id="605" r:id="rId50"/>
    <p:sldId id="606" r:id="rId51"/>
    <p:sldId id="607" r:id="rId52"/>
    <p:sldId id="608" r:id="rId53"/>
    <p:sldId id="609" r:id="rId54"/>
    <p:sldId id="610" r:id="rId55"/>
    <p:sldId id="611" r:id="rId56"/>
    <p:sldId id="612" r:id="rId57"/>
    <p:sldId id="613" r:id="rId58"/>
    <p:sldId id="614" r:id="rId59"/>
    <p:sldId id="615" r:id="rId60"/>
    <p:sldId id="616" r:id="rId61"/>
    <p:sldId id="617" r:id="rId62"/>
    <p:sldId id="618" r:id="rId63"/>
    <p:sldId id="619" r:id="rId64"/>
    <p:sldId id="620" r:id="rId65"/>
    <p:sldId id="621" r:id="rId66"/>
    <p:sldId id="622" r:id="rId67"/>
    <p:sldId id="624" r:id="rId68"/>
    <p:sldId id="625" r:id="rId69"/>
    <p:sldId id="626" r:id="rId70"/>
    <p:sldId id="627" r:id="rId71"/>
    <p:sldId id="628" r:id="rId72"/>
    <p:sldId id="629" r:id="rId73"/>
    <p:sldId id="630" r:id="rId74"/>
    <p:sldId id="631" r:id="rId75"/>
    <p:sldId id="632" r:id="rId76"/>
    <p:sldId id="633" r:id="rId77"/>
    <p:sldId id="634" r:id="rId78"/>
    <p:sldId id="635" r:id="rId79"/>
    <p:sldId id="636" r:id="rId80"/>
    <p:sldId id="637" r:id="rId81"/>
    <p:sldId id="638" r:id="rId82"/>
    <p:sldId id="639" r:id="rId83"/>
    <p:sldId id="640" r:id="rId84"/>
    <p:sldId id="641" r:id="rId85"/>
    <p:sldId id="642" r:id="rId86"/>
    <p:sldId id="643" r:id="rId87"/>
    <p:sldId id="644" r:id="rId88"/>
    <p:sldId id="645" r:id="rId89"/>
    <p:sldId id="646" r:id="rId90"/>
    <p:sldId id="647" r:id="rId91"/>
    <p:sldId id="648" r:id="rId92"/>
    <p:sldId id="649" r:id="rId93"/>
    <p:sldId id="650" r:id="rId94"/>
    <p:sldId id="651" r:id="rId95"/>
    <p:sldId id="652" r:id="rId96"/>
    <p:sldId id="653" r:id="rId97"/>
    <p:sldId id="654" r:id="rId98"/>
    <p:sldId id="655" r:id="rId99"/>
    <p:sldId id="656" r:id="rId100"/>
    <p:sldId id="657" r:id="rId101"/>
    <p:sldId id="658" r:id="rId102"/>
    <p:sldId id="659" r:id="rId103"/>
    <p:sldId id="660" r:id="rId104"/>
    <p:sldId id="661" r:id="rId105"/>
    <p:sldId id="663" r:id="rId106"/>
    <p:sldId id="664" r:id="rId107"/>
    <p:sldId id="665" r:id="rId108"/>
    <p:sldId id="666" r:id="rId109"/>
    <p:sldId id="667" r:id="rId110"/>
    <p:sldId id="668" r:id="rId111"/>
    <p:sldId id="669" r:id="rId112"/>
    <p:sldId id="670" r:id="rId113"/>
    <p:sldId id="671" r:id="rId114"/>
    <p:sldId id="672" r:id="rId115"/>
    <p:sldId id="673" r:id="rId116"/>
    <p:sldId id="674" r:id="rId117"/>
    <p:sldId id="675" r:id="rId118"/>
    <p:sldId id="676" r:id="rId119"/>
    <p:sldId id="677" r:id="rId120"/>
    <p:sldId id="678" r:id="rId121"/>
    <p:sldId id="679" r:id="rId122"/>
    <p:sldId id="680" r:id="rId123"/>
    <p:sldId id="681" r:id="rId124"/>
    <p:sldId id="682" r:id="rId125"/>
    <p:sldId id="683" r:id="rId12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3300"/>
    <a:srgbClr val="33CCCC"/>
    <a:srgbClr val="3366CC"/>
    <a:srgbClr val="FF3399"/>
    <a:srgbClr val="33DA26"/>
    <a:srgbClr val="0000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94654" autoAdjust="0"/>
  </p:normalViewPr>
  <p:slideViewPr>
    <p:cSldViewPr>
      <p:cViewPr varScale="1">
        <p:scale>
          <a:sx n="119" d="100"/>
          <a:sy n="119" d="100"/>
        </p:scale>
        <p:origin x="130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547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6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6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963A6949-DAF5-4CF5-9A2F-38045A9213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14854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44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4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A087F41D-E512-41B4-BB98-1B55AAFA14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14186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4611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1491B-7CE4-42EF-8731-5B9E1290B4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3557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01106-B713-42B1-9A5B-AD6BC78BD5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744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940A6F-A200-40DA-B78F-EE08B4F71D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915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CFC7E-81AA-4261-83CF-1FBA740E36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457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4EAFC5-C68D-4406-A911-A85D473C6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550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4B0796-2F98-4DCB-8855-9AD91C1347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72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C21C1E-E73F-441D-AB90-1D6A0A8F85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699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721E17-0C01-4E1F-8B4F-DEF8920324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6605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F72E2-6172-493A-ABC9-DAD6C4B6D0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653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E91EC1-7214-4485-9F73-AD55F87150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898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BA89A3-EC85-4AAE-90E6-383143B67C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2369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01625" y="1905000"/>
            <a:ext cx="8540750" cy="4194175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D2A05F-D55D-472B-B2AA-B17723AA201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2327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469CC7-CDBD-43D2-A1BA-BF5457AADA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808880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150938" y="214313"/>
            <a:ext cx="7804150" cy="591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C1A2AF-1056-48DA-9A52-A405A3C324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68649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096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7171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905000"/>
            <a:ext cx="8540750" cy="419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5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fld id="{D73ABF68-AAFB-4F08-BAF4-AFAE43AFD5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2" r:id="rId13"/>
    <p:sldLayoutId id="2147483733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47E1E14F-AE74-465E-843F-437A693BA94B}" type="slidenum">
              <a:rPr lang="zh-CN" altLang="en-US"/>
              <a:pPr eaLnBrk="1" hangingPunct="1"/>
              <a:t>1</a:t>
            </a:fld>
            <a:endParaRPr lang="en-US" altLang="zh-CN"/>
          </a:p>
        </p:txBody>
      </p:sp>
      <p:sp>
        <p:nvSpPr>
          <p:cNvPr id="1028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187450" y="1143000"/>
            <a:ext cx="6965950" cy="1524000"/>
          </a:xfrm>
        </p:spPr>
        <p:txBody>
          <a:bodyPr/>
          <a:lstStyle/>
          <a:p>
            <a:pPr eaLnBrk="1" hangingPunct="1"/>
            <a:r>
              <a:rPr lang="zh-CN" altLang="en-US" sz="6000" b="1" smtClean="0">
                <a:latin typeface="Times New Roman" pitchFamily="18" charset="0"/>
                <a:ea typeface="华文新魏" pitchFamily="2" charset="-122"/>
              </a:rPr>
              <a:t>编译原理</a:t>
            </a:r>
            <a:r>
              <a:rPr lang="zh-CN" altLang="en-US" b="1" smtClean="0">
                <a:latin typeface="Times New Roman" pitchFamily="18" charset="0"/>
              </a:rPr>
              <a:t/>
            </a:r>
            <a:br>
              <a:rPr lang="zh-CN" altLang="en-US" b="1" smtClean="0">
                <a:latin typeface="Times New Roman" pitchFamily="18" charset="0"/>
              </a:rPr>
            </a:br>
            <a:r>
              <a:rPr lang="en-US" altLang="zh-CN" b="1" smtClean="0">
                <a:latin typeface="Times New Roman" pitchFamily="18" charset="0"/>
              </a:rPr>
              <a:t>(Principles of Compiling)</a:t>
            </a:r>
            <a:endParaRPr lang="zh-CN" altLang="en-US" b="1" smtClean="0">
              <a:latin typeface="Times New Roman" pitchFamily="18" charset="0"/>
            </a:endParaRPr>
          </a:p>
        </p:txBody>
      </p:sp>
      <p:graphicFrame>
        <p:nvGraphicFramePr>
          <p:cNvPr id="1026" name="Object 3">
            <a:hlinkClick r:id="" action="ppaction://ole?verb=0"/>
          </p:cNvPr>
          <p:cNvGraphicFramePr>
            <a:graphicFrameLocks/>
          </p:cNvGraphicFramePr>
          <p:nvPr/>
        </p:nvGraphicFramePr>
        <p:xfrm>
          <a:off x="7235825" y="2997200"/>
          <a:ext cx="1219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988" name="剪辑" r:id="rId3" imgW="2641320" imgH="4586040" progId="MS_ClipArt_Gallery.2">
                  <p:embed/>
                </p:oleObj>
              </mc:Choice>
              <mc:Fallback>
                <p:oleObj name="剪辑" r:id="rId3" imgW="2641320" imgH="458604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2997200"/>
                        <a:ext cx="1219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1476375" y="3500438"/>
            <a:ext cx="60483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主讲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蒋宗、姜守旭</a:t>
            </a:r>
            <a:endParaRPr lang="zh-CN" altLang="en-US" sz="2800" b="1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办公室</a:t>
            </a:r>
            <a:r>
              <a:rPr lang="zh-CN" altLang="en-US" sz="2800" b="1" dirty="0" smtClean="0"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信</a:t>
            </a:r>
            <a:r>
              <a:rPr lang="zh-CN" altLang="en-US" sz="2800" b="1" dirty="0" smtClean="0">
                <a:latin typeface="Times New Roman" pitchFamily="18" charset="0"/>
                <a:ea typeface="华文新魏" pitchFamily="2" charset="-122"/>
              </a:rPr>
              <a:t>北</a:t>
            </a:r>
            <a:r>
              <a:rPr lang="en-US" altLang="zh-CN" sz="2800" b="1" dirty="0" smtClean="0">
                <a:latin typeface="Times New Roman" pitchFamily="18" charset="0"/>
                <a:ea typeface="华文新魏" pitchFamily="2" charset="-122"/>
              </a:rPr>
              <a:t>212</a:t>
            </a:r>
            <a:endParaRPr lang="en-US" altLang="zh-CN" sz="2800" b="1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电话：</a:t>
            </a:r>
            <a:r>
              <a:rPr lang="en-US" altLang="zh-CN" sz="2800" b="1" dirty="0" smtClean="0">
                <a:latin typeface="Times New Roman" pitchFamily="18" charset="0"/>
                <a:ea typeface="华文新魏" pitchFamily="2" charset="-122"/>
              </a:rPr>
              <a:t>67392397</a:t>
            </a:r>
            <a:endParaRPr lang="en-US" altLang="zh-CN" sz="2800" b="1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2800" b="1" dirty="0">
                <a:latin typeface="Times New Roman" pitchFamily="18" charset="0"/>
                <a:ea typeface="华文新魏" pitchFamily="2" charset="-122"/>
              </a:rPr>
              <a:t>Email：jiangzl@bjut.edu.cn</a:t>
            </a:r>
          </a:p>
        </p:txBody>
      </p:sp>
      <p:pic>
        <p:nvPicPr>
          <p:cNvPr id="1030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4813"/>
            <a:ext cx="1619250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789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1295400"/>
            <a:ext cx="6459538" cy="1676400"/>
          </a:xfrm>
        </p:spPr>
        <p:txBody>
          <a:bodyPr/>
          <a:lstStyle/>
          <a:p>
            <a:pPr eaLnBrk="1" hangingPunct="1"/>
            <a:r>
              <a:rPr lang="zh-CN" altLang="en-US" sz="5400" b="1" smtClean="0">
                <a:latin typeface="Times New Roman" pitchFamily="18" charset="0"/>
                <a:ea typeface="华文新魏" pitchFamily="2" charset="-122"/>
              </a:rPr>
              <a:t>第</a:t>
            </a:r>
            <a:r>
              <a:rPr lang="en-US" altLang="zh-CN" sz="5400" b="1" smtClean="0">
                <a:latin typeface="Times New Roman" pitchFamily="18" charset="0"/>
                <a:ea typeface="华文新魏" pitchFamily="2" charset="-122"/>
              </a:rPr>
              <a:t>5</a:t>
            </a:r>
            <a:r>
              <a:rPr lang="zh-CN" altLang="en-US" sz="5400" b="1" smtClean="0">
                <a:latin typeface="Times New Roman" pitchFamily="18" charset="0"/>
                <a:ea typeface="华文新魏" pitchFamily="2" charset="-122"/>
              </a:rPr>
              <a:t>章 自底向上的</a:t>
            </a:r>
            <a:br>
              <a:rPr lang="zh-CN" altLang="en-US" sz="5400" b="1" smtClean="0">
                <a:latin typeface="Times New Roman" pitchFamily="18" charset="0"/>
                <a:ea typeface="华文新魏" pitchFamily="2" charset="-122"/>
              </a:rPr>
            </a:br>
            <a:r>
              <a:rPr lang="zh-CN" altLang="en-US" sz="5400" b="1" smtClean="0">
                <a:latin typeface="Times New Roman" pitchFamily="18" charset="0"/>
                <a:ea typeface="华文新魏" pitchFamily="2" charset="-122"/>
              </a:rPr>
              <a:t>语法分析</a:t>
            </a:r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05200"/>
            <a:ext cx="6400800" cy="2362200"/>
          </a:xfrm>
          <a:noFill/>
        </p:spPr>
        <p:txBody>
          <a:bodyPr/>
          <a:lstStyle/>
          <a:p>
            <a:pPr eaLnBrk="1" hangingPunct="1"/>
            <a:r>
              <a:rPr lang="zh-CN" altLang="en-US" b="1" i="1" smtClean="0">
                <a:solidFill>
                  <a:srgbClr val="3D7810"/>
                </a:solidFill>
                <a:latin typeface="Times New Roman" pitchFamily="18" charset="0"/>
                <a:ea typeface="华文新魏" pitchFamily="2" charset="-122"/>
              </a:rPr>
              <a:t>自顶向下</a:t>
            </a:r>
            <a:r>
              <a:rPr lang="en-US" altLang="zh-CN" b="1" i="1" smtClean="0">
                <a:solidFill>
                  <a:srgbClr val="3D7810"/>
                </a:solidFill>
                <a:latin typeface="Times New Roman" pitchFamily="18" charset="0"/>
                <a:ea typeface="华文新魏" pitchFamily="2" charset="-122"/>
              </a:rPr>
              <a:t>(Top Down)</a:t>
            </a:r>
            <a:r>
              <a:rPr lang="zh-CN" altLang="en-US" b="1" i="1" smtClean="0">
                <a:solidFill>
                  <a:srgbClr val="3D7810"/>
                </a:solidFill>
                <a:latin typeface="Times New Roman" pitchFamily="18" charset="0"/>
                <a:ea typeface="华文新魏" pitchFamily="2" charset="-122"/>
              </a:rPr>
              <a:t>的分析</a:t>
            </a:r>
          </a:p>
          <a:p>
            <a:pPr eaLnBrk="1" hangingPunct="1"/>
            <a:r>
              <a:rPr lang="zh-CN" altLang="en-US" b="1" i="1" smtClean="0">
                <a:solidFill>
                  <a:srgbClr val="3D7810"/>
                </a:solidFill>
                <a:latin typeface="Times New Roman" pitchFamily="18" charset="0"/>
                <a:ea typeface="华文新魏" pitchFamily="2" charset="-122"/>
              </a:rPr>
              <a:t>推导</a:t>
            </a:r>
            <a:r>
              <a:rPr lang="en-US" altLang="zh-CN" b="1" i="1" smtClean="0">
                <a:solidFill>
                  <a:srgbClr val="3D7810"/>
                </a:solidFill>
                <a:latin typeface="Times New Roman" pitchFamily="18" charset="0"/>
                <a:ea typeface="华文新魏" pitchFamily="2" charset="-122"/>
              </a:rPr>
              <a:t>(Derivation)</a:t>
            </a:r>
          </a:p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自底向上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(Bottom Up)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的分析</a:t>
            </a:r>
          </a:p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归约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(Reduce)</a:t>
            </a:r>
            <a:endParaRPr lang="en-US" altLang="zh-CN" b="1" i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029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15DFF78-89EC-4FB8-8984-436622C22DAB}" type="slidenum">
              <a:rPr lang="en-US" altLang="zh-CN" smtClean="0"/>
              <a:pPr eaLnBrk="1" hangingPunct="1"/>
              <a:t>2</a:t>
            </a:fld>
            <a:endParaRPr lang="en-US" altLang="zh-CN" smtClean="0"/>
          </a:p>
        </p:txBody>
      </p:sp>
      <p:graphicFrame>
        <p:nvGraphicFramePr>
          <p:cNvPr id="1026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7235825" y="2997200"/>
          <a:ext cx="1219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剪辑" r:id="rId3" imgW="2641320" imgH="4586040" progId="MS_ClipArt_Gallery.2">
                  <p:embed/>
                </p:oleObj>
              </mc:Choice>
              <mc:Fallback>
                <p:oleObj name="剪辑" r:id="rId3" imgW="2641320" imgH="4586040" progId="MS_ClipArt_Gallery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2997200"/>
                        <a:ext cx="1219200" cy="243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867400" y="57912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zh-CN" sz="2400">
              <a:latin typeface="Times New Roman" pitchFamily="18" charset="0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4813"/>
            <a:ext cx="1619250" cy="83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33525" y="506413"/>
            <a:ext cx="5500688" cy="974725"/>
          </a:xfrm>
        </p:spPr>
        <p:txBody>
          <a:bodyPr/>
          <a:lstStyle/>
          <a:p>
            <a:pPr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5.1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自底向上分析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1700213"/>
            <a:ext cx="7859712" cy="4572000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思想</a:t>
            </a:r>
          </a:p>
          <a:p>
            <a:pPr marL="277813" lvl="1" indent="0"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从输入串出发，反复利用产生式进行</a:t>
            </a:r>
            <a:r>
              <a:rPr lang="zh-CN" altLang="en-US" b="1" smtClean="0">
                <a:solidFill>
                  <a:srgbClr val="FF3300"/>
                </a:solidFill>
                <a:latin typeface="Times New Roman" pitchFamily="18" charset="0"/>
                <a:ea typeface="华文新魏" pitchFamily="2" charset="-122"/>
              </a:rPr>
              <a:t>归约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，如果最后能得到文法的开始符号，则输入串是句子，否则输入串有语法错误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核心</a:t>
            </a:r>
          </a:p>
          <a:p>
            <a:pPr marL="277813" lvl="1" indent="0"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寻找句型中的当前归约对象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——“</a:t>
            </a:r>
            <a:r>
              <a:rPr lang="zh-CN" altLang="en-US" b="1" smtClean="0">
                <a:solidFill>
                  <a:srgbClr val="FF3300"/>
                </a:solidFill>
                <a:latin typeface="Times New Roman" pitchFamily="18" charset="0"/>
                <a:ea typeface="华文新魏" pitchFamily="2" charset="-122"/>
              </a:rPr>
              <a:t>句柄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”进行归约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,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用不同的方法寻找句柄，就可获得不同的分析方法</a:t>
            </a:r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921604C-1294-4D28-8E72-0E095FAB98D1}" type="slidenum">
              <a:rPr lang="en-US" altLang="zh-CN" smtClean="0"/>
              <a:pPr eaLnBrk="1" hangingPunct="1"/>
              <a:t>3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908050"/>
            <a:ext cx="5402263" cy="685800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一个简单的归约过程</a:t>
            </a:r>
          </a:p>
        </p:txBody>
      </p:sp>
      <p:sp>
        <p:nvSpPr>
          <p:cNvPr id="296963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916113"/>
            <a:ext cx="3101975" cy="1781175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 设文法为</a:t>
            </a: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：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S→aAcBe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3200" b="1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→</a:t>
            </a:r>
            <a:r>
              <a:rPr lang="en-US" altLang="zh-CN" sz="3200" b="1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b|b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B→d</a:t>
            </a:r>
          </a:p>
        </p:txBody>
      </p:sp>
      <p:sp>
        <p:nvSpPr>
          <p:cNvPr id="12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C26F2BA-8CCF-4A6B-9CF2-3C82196B49D0}" type="slidenum">
              <a:rPr lang="en-US" altLang="zh-CN" smtClean="0"/>
              <a:pPr eaLnBrk="1" hangingPunct="1"/>
              <a:t>4</a:t>
            </a:fld>
            <a:endParaRPr lang="en-US" altLang="zh-CN" smtClean="0"/>
          </a:p>
        </p:txBody>
      </p:sp>
      <p:sp>
        <p:nvSpPr>
          <p:cNvPr id="296964" name="Rectangle 4"/>
          <p:cNvSpPr>
            <a:spLocks noChangeArrowheads="1"/>
          </p:cNvSpPr>
          <p:nvPr/>
        </p:nvSpPr>
        <p:spPr bwMode="auto">
          <a:xfrm>
            <a:off x="900113" y="4005263"/>
            <a:ext cx="2057400" cy="227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85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句子分析</a:t>
            </a:r>
            <a:r>
              <a:rPr kumimoji="1"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：</a:t>
            </a:r>
          </a:p>
          <a:p>
            <a:pPr eaLnBrk="0" hangingPunct="0">
              <a:lnSpc>
                <a:spcPct val="85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 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28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bcde</a:t>
            </a:r>
          </a:p>
          <a:p>
            <a:pPr eaLnBrk="0" hangingPunct="0">
              <a:lnSpc>
                <a:spcPct val="85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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28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Ab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cde</a:t>
            </a:r>
          </a:p>
          <a:p>
            <a:pPr eaLnBrk="0" hangingPunct="0">
              <a:lnSpc>
                <a:spcPct val="85000"/>
              </a:lnSpc>
              <a:buClr>
                <a:schemeClr val="tx2"/>
              </a:buClr>
              <a:buSzPct val="75000"/>
              <a:buFont typeface="Symbol" pitchFamily="18" charset="2"/>
              <a:buNone/>
              <a:defRPr/>
            </a:pP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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aAc</a:t>
            </a:r>
            <a:r>
              <a:rPr kumimoji="1" lang="en-US" altLang="zh-CN" sz="28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 </a:t>
            </a:r>
          </a:p>
          <a:p>
            <a:pPr eaLnBrk="0" hangingPunct="0">
              <a:lnSpc>
                <a:spcPct val="85000"/>
              </a:lnSpc>
              <a:buClr>
                <a:schemeClr val="tx2"/>
              </a:buClr>
              <a:buSzPct val="75000"/>
              <a:buFont typeface="Symbol" pitchFamily="18" charset="2"/>
              <a:buNone/>
              <a:defRPr/>
            </a:pP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</a:t>
            </a:r>
            <a:r>
              <a:rPr kumimoji="1" lang="en-US" altLang="zh-CN" sz="28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aAcBe</a:t>
            </a:r>
          </a:p>
          <a:p>
            <a:pPr eaLnBrk="0" hangingPunct="0">
              <a:lnSpc>
                <a:spcPct val="85000"/>
              </a:lnSpc>
              <a:buClr>
                <a:schemeClr val="tx2"/>
              </a:buClr>
              <a:buSzPct val="75000"/>
              <a:buFont typeface="Symbol" pitchFamily="18" charset="2"/>
              <a:buNone/>
              <a:defRPr/>
            </a:pP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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508625" y="4365625"/>
            <a:ext cx="388938" cy="1752600"/>
            <a:chOff x="3456" y="2544"/>
            <a:chExt cx="245" cy="1104"/>
          </a:xfrm>
        </p:grpSpPr>
        <p:sp>
          <p:nvSpPr>
            <p:cNvPr id="12311" name="Line 6"/>
            <p:cNvSpPr>
              <a:spLocks noChangeShapeType="1"/>
            </p:cNvSpPr>
            <p:nvPr/>
          </p:nvSpPr>
          <p:spPr bwMode="auto">
            <a:xfrm flipV="1">
              <a:off x="3600" y="2832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96967" name="Rectangle 7"/>
            <p:cNvSpPr>
              <a:spLocks noChangeArrowheads="1"/>
            </p:cNvSpPr>
            <p:nvPr/>
          </p:nvSpPr>
          <p:spPr bwMode="auto">
            <a:xfrm>
              <a:off x="3456" y="2544"/>
              <a:ext cx="245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32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A</a:t>
              </a:r>
            </a:p>
          </p:txBody>
        </p:sp>
      </p:grpSp>
      <p:sp>
        <p:nvSpPr>
          <p:cNvPr id="296968" name="Rectangle 8"/>
          <p:cNvSpPr>
            <a:spLocks noChangeArrowheads="1"/>
          </p:cNvSpPr>
          <p:nvPr/>
        </p:nvSpPr>
        <p:spPr bwMode="auto">
          <a:xfrm>
            <a:off x="4876800" y="5895975"/>
            <a:ext cx="34353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a  b  b  c  d  e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7451725" y="4365625"/>
            <a:ext cx="388938" cy="1600200"/>
            <a:chOff x="4704" y="2544"/>
            <a:chExt cx="245" cy="1008"/>
          </a:xfrm>
        </p:grpSpPr>
        <p:sp>
          <p:nvSpPr>
            <p:cNvPr id="12309" name="Line 10"/>
            <p:cNvSpPr>
              <a:spLocks noChangeShapeType="1"/>
            </p:cNvSpPr>
            <p:nvPr/>
          </p:nvSpPr>
          <p:spPr bwMode="auto">
            <a:xfrm flipV="1">
              <a:off x="4800" y="2832"/>
              <a:ext cx="0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96971" name="Rectangle 11"/>
            <p:cNvSpPr>
              <a:spLocks noChangeArrowheads="1"/>
            </p:cNvSpPr>
            <p:nvPr/>
          </p:nvSpPr>
          <p:spPr bwMode="auto">
            <a:xfrm>
              <a:off x="4704" y="2544"/>
              <a:ext cx="245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32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B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5795963" y="2852738"/>
            <a:ext cx="609600" cy="3276600"/>
            <a:chOff x="3648" y="1584"/>
            <a:chExt cx="384" cy="2064"/>
          </a:xfrm>
        </p:grpSpPr>
        <p:sp>
          <p:nvSpPr>
            <p:cNvPr id="12306" name="Line 13"/>
            <p:cNvSpPr>
              <a:spLocks noChangeShapeType="1"/>
            </p:cNvSpPr>
            <p:nvPr/>
          </p:nvSpPr>
          <p:spPr bwMode="auto">
            <a:xfrm flipV="1">
              <a:off x="3648" y="1872"/>
              <a:ext cx="192" cy="76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2307" name="Line 14"/>
            <p:cNvSpPr>
              <a:spLocks noChangeShapeType="1"/>
            </p:cNvSpPr>
            <p:nvPr/>
          </p:nvSpPr>
          <p:spPr bwMode="auto">
            <a:xfrm flipH="1" flipV="1">
              <a:off x="3888" y="1872"/>
              <a:ext cx="144" cy="177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96975" name="Rectangle 15"/>
            <p:cNvSpPr>
              <a:spLocks noChangeArrowheads="1"/>
            </p:cNvSpPr>
            <p:nvPr/>
          </p:nvSpPr>
          <p:spPr bwMode="auto">
            <a:xfrm>
              <a:off x="3744" y="1584"/>
              <a:ext cx="244" cy="39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32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A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5076825" y="1052513"/>
            <a:ext cx="3124200" cy="5168900"/>
            <a:chOff x="3216" y="440"/>
            <a:chExt cx="1968" cy="3256"/>
          </a:xfrm>
        </p:grpSpPr>
        <p:sp>
          <p:nvSpPr>
            <p:cNvPr id="12300" name="Line 17"/>
            <p:cNvSpPr>
              <a:spLocks noChangeShapeType="1"/>
            </p:cNvSpPr>
            <p:nvPr/>
          </p:nvSpPr>
          <p:spPr bwMode="auto">
            <a:xfrm flipH="1" flipV="1">
              <a:off x="4176" y="912"/>
              <a:ext cx="192" cy="27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2301" name="Line 18"/>
            <p:cNvSpPr>
              <a:spLocks noChangeShapeType="1"/>
            </p:cNvSpPr>
            <p:nvPr/>
          </p:nvSpPr>
          <p:spPr bwMode="auto">
            <a:xfrm flipV="1">
              <a:off x="3888" y="864"/>
              <a:ext cx="24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2302" name="Line 19"/>
            <p:cNvSpPr>
              <a:spLocks noChangeShapeType="1"/>
            </p:cNvSpPr>
            <p:nvPr/>
          </p:nvSpPr>
          <p:spPr bwMode="auto">
            <a:xfrm flipH="1" flipV="1">
              <a:off x="4176" y="864"/>
              <a:ext cx="624" cy="17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2303" name="Freeform 20"/>
            <p:cNvSpPr>
              <a:spLocks/>
            </p:cNvSpPr>
            <p:nvPr/>
          </p:nvSpPr>
          <p:spPr bwMode="auto">
            <a:xfrm>
              <a:off x="3216" y="440"/>
              <a:ext cx="888" cy="3256"/>
            </a:xfrm>
            <a:custGeom>
              <a:avLst/>
              <a:gdLst>
                <a:gd name="T0" fmla="*/ 0 w 888"/>
                <a:gd name="T1" fmla="*/ 3256 h 3256"/>
                <a:gd name="T2" fmla="*/ 336 w 888"/>
                <a:gd name="T3" fmla="*/ 1432 h 3256"/>
                <a:gd name="T4" fmla="*/ 864 w 888"/>
                <a:gd name="T5" fmla="*/ 424 h 3256"/>
                <a:gd name="T6" fmla="*/ 0 60000 65536"/>
                <a:gd name="T7" fmla="*/ 0 60000 65536"/>
                <a:gd name="T8" fmla="*/ 0 60000 65536"/>
                <a:gd name="T9" fmla="*/ 0 w 888"/>
                <a:gd name="T10" fmla="*/ 0 h 3256"/>
                <a:gd name="T11" fmla="*/ 888 w 888"/>
                <a:gd name="T12" fmla="*/ 3256 h 32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88" h="3256">
                  <a:moveTo>
                    <a:pt x="0" y="3256"/>
                  </a:moveTo>
                  <a:cubicBezTo>
                    <a:pt x="96" y="2580"/>
                    <a:pt x="192" y="1904"/>
                    <a:pt x="336" y="1432"/>
                  </a:cubicBezTo>
                  <a:cubicBezTo>
                    <a:pt x="480" y="960"/>
                    <a:pt x="888" y="0"/>
                    <a:pt x="864" y="42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2304" name="Freeform 21"/>
            <p:cNvSpPr>
              <a:spLocks/>
            </p:cNvSpPr>
            <p:nvPr/>
          </p:nvSpPr>
          <p:spPr bwMode="auto">
            <a:xfrm>
              <a:off x="4224" y="768"/>
              <a:ext cx="960" cy="2880"/>
            </a:xfrm>
            <a:custGeom>
              <a:avLst/>
              <a:gdLst>
                <a:gd name="T0" fmla="*/ 929 w 976"/>
                <a:gd name="T1" fmla="*/ 2880 h 2880"/>
                <a:gd name="T2" fmla="*/ 790 w 976"/>
                <a:gd name="T3" fmla="*/ 1440 h 2880"/>
                <a:gd name="T4" fmla="*/ 0 w 976"/>
                <a:gd name="T5" fmla="*/ 0 h 2880"/>
                <a:gd name="T6" fmla="*/ 0 60000 65536"/>
                <a:gd name="T7" fmla="*/ 0 60000 65536"/>
                <a:gd name="T8" fmla="*/ 0 60000 65536"/>
                <a:gd name="T9" fmla="*/ 0 w 976"/>
                <a:gd name="T10" fmla="*/ 0 h 2880"/>
                <a:gd name="T11" fmla="*/ 976 w 976"/>
                <a:gd name="T12" fmla="*/ 2880 h 28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6" h="2880">
                  <a:moveTo>
                    <a:pt x="960" y="2880"/>
                  </a:moveTo>
                  <a:cubicBezTo>
                    <a:pt x="968" y="2400"/>
                    <a:pt x="976" y="1920"/>
                    <a:pt x="816" y="1440"/>
                  </a:cubicBezTo>
                  <a:cubicBezTo>
                    <a:pt x="656" y="960"/>
                    <a:pt x="136" y="232"/>
                    <a:pt x="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96982" name="Rectangle 22"/>
            <p:cNvSpPr>
              <a:spLocks noChangeArrowheads="1"/>
            </p:cNvSpPr>
            <p:nvPr/>
          </p:nvSpPr>
          <p:spPr bwMode="auto">
            <a:xfrm>
              <a:off x="4032" y="528"/>
              <a:ext cx="245" cy="39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32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S</a:t>
              </a:r>
            </a:p>
          </p:txBody>
        </p:sp>
      </p:grpSp>
      <p:sp>
        <p:nvSpPr>
          <p:cNvPr id="296983" name="Text Box 23"/>
          <p:cNvSpPr txBox="1">
            <a:spLocks noChangeArrowheads="1"/>
          </p:cNvSpPr>
          <p:nvPr/>
        </p:nvSpPr>
        <p:spPr bwMode="auto">
          <a:xfrm>
            <a:off x="3419475" y="3573463"/>
            <a:ext cx="1676400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语法树的形成过程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762000"/>
            <a:ext cx="7793037" cy="9144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回忆几个概念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229600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Char char="p"/>
            </a:pP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短语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(Phrase)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zh-CN" altLang="en-US" sz="2000" b="1" smtClean="0">
                <a:latin typeface="Times New Roman" pitchFamily="18" charset="0"/>
                <a:ea typeface="华文新魏" pitchFamily="2" charset="-122"/>
              </a:rPr>
              <a:t>Ｓ</a:t>
            </a:r>
            <a:r>
              <a:rPr lang="zh-CN" altLang="en-US" sz="20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zh-CN" altLang="en-US" sz="2800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*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αAβ and A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800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γ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，则称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γ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是句型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αγβ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的相对于变量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短语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(Phrase)</a:t>
            </a:r>
          </a:p>
          <a:p>
            <a:pPr marL="0" indent="0"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Char char="p"/>
            </a:pP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直接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简单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短语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zh-CN" altLang="en-US" sz="2000" b="1" smtClean="0">
                <a:latin typeface="Times New Roman" pitchFamily="18" charset="0"/>
                <a:ea typeface="华文新魏" pitchFamily="2" charset="-122"/>
              </a:rPr>
              <a:t>Ｓ</a:t>
            </a:r>
            <a:r>
              <a:rPr lang="zh-CN" altLang="en-US" sz="20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zh-CN" altLang="en-US" sz="2800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*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αAβ and A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γ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，则称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γ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是句型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αγβ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的相对于变量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直接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简单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短语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(immediate phrase) </a:t>
            </a:r>
          </a:p>
          <a:p>
            <a:pPr marL="0" indent="0"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Char char="p"/>
            </a:pP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句柄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(Handle)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最左直接短语叫做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句柄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(Handle)</a:t>
            </a:r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0651756-2A18-4AC5-B9BF-B13F1D079BF7}" type="slidenum">
              <a:rPr lang="en-US" altLang="zh-CN" smtClean="0"/>
              <a:pPr eaLnBrk="1" hangingPunct="1"/>
              <a:t>5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2525" y="549275"/>
            <a:ext cx="7777163" cy="862013"/>
          </a:xfrm>
          <a:noFill/>
        </p:spPr>
        <p:txBody>
          <a:bodyPr lIns="92075" tIns="46038" rIns="92075" bIns="46038"/>
          <a:lstStyle/>
          <a:p>
            <a:pPr algn="l"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回忆几个概念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736725"/>
            <a:ext cx="7848600" cy="4267200"/>
          </a:xfrm>
        </p:spPr>
        <p:txBody>
          <a:bodyPr lIns="92075" tIns="46038" rIns="92075" bIns="46038"/>
          <a:lstStyle/>
          <a:p>
            <a:pPr marL="0" indent="182563" eaLnBrk="1" hangingPunct="1">
              <a:buFont typeface="Wingdings" pitchFamily="2" charset="2"/>
              <a:buChar char="p"/>
            </a:pPr>
            <a:r>
              <a:rPr lang="zh-CN" altLang="en-US" sz="36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规范归约</a:t>
            </a:r>
          </a:p>
          <a:p>
            <a:pPr marL="0" indent="182563" eaLnBrk="1" hangingPunct="1">
              <a:buFont typeface="Wingdings" pitchFamily="2" charset="2"/>
              <a:buNone/>
            </a:pP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设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为文法 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G 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的句子，如果</a:t>
            </a:r>
            <a:endParaRPr lang="zh-CN" altLang="en-US" sz="3600" b="1" u="sng" smtClean="0">
              <a:latin typeface="Times New Roman" pitchFamily="18" charset="0"/>
              <a:ea typeface="华文新魏" pitchFamily="2" charset="-122"/>
            </a:endParaRP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① 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α=α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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n-1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…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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=S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② </a:t>
            </a: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对每个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i(1&lt;i≤n)</a:t>
            </a: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i-1</a:t>
            </a: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是将句型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中的句柄归约后得到的句型</a:t>
            </a:r>
          </a:p>
          <a:p>
            <a:pPr marL="0" indent="182563" eaLnBrk="1" hangingPunct="1">
              <a:buFont typeface="Wingdings" pitchFamily="2" charset="2"/>
              <a:buNone/>
            </a:pP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则称序列 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sz="3600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...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sz="36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为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α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的</a:t>
            </a:r>
            <a:r>
              <a:rPr lang="zh-CN" altLang="en-US" sz="3600" b="1" smtClean="0">
                <a:solidFill>
                  <a:srgbClr val="FF3300"/>
                </a:solidFill>
                <a:latin typeface="Times New Roman" pitchFamily="18" charset="0"/>
                <a:ea typeface="华文新魏" pitchFamily="2" charset="-122"/>
              </a:rPr>
              <a:t>规范归约序列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—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由规范归约组成</a:t>
            </a:r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A1ABBF3-30A4-426E-BA94-19B29C1B91C3}" type="slidenum">
              <a:rPr lang="en-US" altLang="zh-CN" smtClean="0"/>
              <a:pPr eaLnBrk="1" hangingPunct="1"/>
              <a:t>6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476250"/>
            <a:ext cx="6911975" cy="12065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语法分析树的生成再演示</a:t>
            </a: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/>
            </a:r>
            <a:b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</a:b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                                                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寻找算法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116013" y="5522913"/>
            <a:ext cx="7010400" cy="6096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          b         b           c          d          e</a:t>
            </a: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BAEEA0C-4919-451D-BB5D-6C77C60B422E}" type="slidenum">
              <a:rPr lang="en-US" altLang="zh-CN" smtClean="0"/>
              <a:pPr eaLnBrk="1" hangingPunct="1"/>
              <a:t>7</a:t>
            </a:fld>
            <a:endParaRPr lang="en-US" altLang="zh-CN" smtClean="0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270125" y="4495800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2911475" y="3443288"/>
            <a:ext cx="441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6019800" y="4510088"/>
            <a:ext cx="420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B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4113213" y="1752600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S</a:t>
            </a:r>
          </a:p>
        </p:txBody>
      </p:sp>
      <p:sp>
        <p:nvSpPr>
          <p:cNvPr id="12296" name="Line 8"/>
          <p:cNvSpPr>
            <a:spLocks noChangeShapeType="1"/>
          </p:cNvSpPr>
          <p:nvPr/>
        </p:nvSpPr>
        <p:spPr bwMode="auto">
          <a:xfrm>
            <a:off x="2514600" y="49530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7" name="Line 9"/>
          <p:cNvSpPr>
            <a:spLocks noChangeShapeType="1"/>
          </p:cNvSpPr>
          <p:nvPr/>
        </p:nvSpPr>
        <p:spPr bwMode="auto">
          <a:xfrm>
            <a:off x="3200400" y="4038600"/>
            <a:ext cx="533400" cy="1524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8" name="Line 10"/>
          <p:cNvSpPr>
            <a:spLocks noChangeShapeType="1"/>
          </p:cNvSpPr>
          <p:nvPr/>
        </p:nvSpPr>
        <p:spPr bwMode="auto">
          <a:xfrm flipH="1">
            <a:off x="2667000" y="4038600"/>
            <a:ext cx="3810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9" name="Line 11"/>
          <p:cNvSpPr>
            <a:spLocks noChangeShapeType="1"/>
          </p:cNvSpPr>
          <p:nvPr/>
        </p:nvSpPr>
        <p:spPr bwMode="auto">
          <a:xfrm>
            <a:off x="6248400" y="49530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0" name="Line 12"/>
          <p:cNvSpPr>
            <a:spLocks noChangeShapeType="1"/>
          </p:cNvSpPr>
          <p:nvPr/>
        </p:nvSpPr>
        <p:spPr bwMode="auto">
          <a:xfrm flipH="1">
            <a:off x="1295400" y="2286000"/>
            <a:ext cx="2743200" cy="3276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1" name="Line 13"/>
          <p:cNvSpPr>
            <a:spLocks noChangeShapeType="1"/>
          </p:cNvSpPr>
          <p:nvPr/>
        </p:nvSpPr>
        <p:spPr bwMode="auto">
          <a:xfrm flipH="1">
            <a:off x="3352800" y="2286000"/>
            <a:ext cx="76200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2" name="Line 14"/>
          <p:cNvSpPr>
            <a:spLocks noChangeShapeType="1"/>
          </p:cNvSpPr>
          <p:nvPr/>
        </p:nvSpPr>
        <p:spPr bwMode="auto">
          <a:xfrm>
            <a:off x="4343400" y="2286000"/>
            <a:ext cx="685800" cy="335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>
            <a:off x="4419600" y="2286000"/>
            <a:ext cx="1600200" cy="228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4" name="Line 16"/>
          <p:cNvSpPr>
            <a:spLocks noChangeShapeType="1"/>
          </p:cNvSpPr>
          <p:nvPr/>
        </p:nvSpPr>
        <p:spPr bwMode="auto">
          <a:xfrm>
            <a:off x="4495800" y="2209800"/>
            <a:ext cx="2895600" cy="335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2133600" y="5043488"/>
            <a:ext cx="1069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chemeClr val="hlink"/>
                </a:solidFill>
                <a:latin typeface="宋体" pitchFamily="2" charset="-122"/>
              </a:rPr>
              <a:t>A→b</a:t>
            </a:r>
          </a:p>
        </p:txBody>
      </p:sp>
      <p:sp>
        <p:nvSpPr>
          <p:cNvPr id="12306" name="Text Box 18"/>
          <p:cNvSpPr txBox="1">
            <a:spLocks noChangeArrowheads="1"/>
          </p:cNvSpPr>
          <p:nvPr/>
        </p:nvSpPr>
        <p:spPr bwMode="auto">
          <a:xfrm>
            <a:off x="2513013" y="4052888"/>
            <a:ext cx="1266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chemeClr val="hlink"/>
                </a:solidFill>
                <a:latin typeface="宋体" pitchFamily="2" charset="-122"/>
              </a:rPr>
              <a:t>A→Ab</a:t>
            </a:r>
          </a:p>
        </p:txBody>
      </p:sp>
      <p:sp>
        <p:nvSpPr>
          <p:cNvPr id="12307" name="Text Box 19"/>
          <p:cNvSpPr txBox="1">
            <a:spLocks noChangeArrowheads="1"/>
          </p:cNvSpPr>
          <p:nvPr/>
        </p:nvSpPr>
        <p:spPr bwMode="auto">
          <a:xfrm>
            <a:off x="5867400" y="4967288"/>
            <a:ext cx="1152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chemeClr val="hlink"/>
                </a:solidFill>
                <a:latin typeface="宋体" pitchFamily="2" charset="-122"/>
              </a:rPr>
              <a:t>B→d</a:t>
            </a: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3276600" y="2349500"/>
            <a:ext cx="1951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chemeClr val="hlink"/>
                </a:solidFill>
                <a:latin typeface="宋体" pitchFamily="2" charset="-122"/>
              </a:rPr>
              <a:t>S→aAcBe</a:t>
            </a:r>
          </a:p>
        </p:txBody>
      </p:sp>
      <p:sp>
        <p:nvSpPr>
          <p:cNvPr id="15382" name="Rectangle 21"/>
          <p:cNvSpPr>
            <a:spLocks noChangeArrowheads="1"/>
          </p:cNvSpPr>
          <p:nvPr/>
        </p:nvSpPr>
        <p:spPr bwMode="auto">
          <a:xfrm>
            <a:off x="6732588" y="1989138"/>
            <a:ext cx="2411412" cy="1373187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S→aAcBe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A→Ab|b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B→d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260350"/>
            <a:ext cx="7775575" cy="1279525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sz="4700" b="1" smtClean="0">
                <a:latin typeface="Times New Roman" pitchFamily="18" charset="0"/>
                <a:ea typeface="华文新魏" pitchFamily="2" charset="-122"/>
              </a:rPr>
              <a:t>分析过程再演示</a:t>
            </a: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/>
            </a:r>
            <a:b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</a:b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                                                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寻找算法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3203575" y="2133600"/>
            <a:ext cx="2446338" cy="609600"/>
          </a:xfrm>
        </p:spPr>
        <p:txBody>
          <a:bodyPr lIns="92075" tIns="46038" rIns="92075" bIns="46038"/>
          <a:lstStyle/>
          <a:p>
            <a:pPr algn="dist" eaLnBrk="1" hangingPunct="1">
              <a:buFont typeface="Wingdings" pitchFamily="2" charset="2"/>
              <a:buNone/>
            </a:pPr>
            <a:r>
              <a:rPr lang="en-US" altLang="zh-CN" sz="3600" b="1" smtClean="0">
                <a:latin typeface="Times New Roman" pitchFamily="18" charset="0"/>
                <a:ea typeface="楷体_GB2312" pitchFamily="49" charset="-122"/>
              </a:rPr>
              <a:t>abbcde#</a:t>
            </a: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9339F73-2AD4-484D-B818-A4A512D8ECDB}" type="slidenum">
              <a:rPr lang="en-US" altLang="zh-CN" smtClean="0"/>
              <a:pPr eaLnBrk="1" hangingPunct="1"/>
              <a:t>8</a:t>
            </a:fld>
            <a:endParaRPr lang="en-US" altLang="zh-CN" smtClean="0"/>
          </a:p>
        </p:txBody>
      </p:sp>
      <p:sp>
        <p:nvSpPr>
          <p:cNvPr id="210948" name="Text Box 4"/>
          <p:cNvSpPr txBox="1">
            <a:spLocks noChangeArrowheads="1"/>
          </p:cNvSpPr>
          <p:nvPr/>
        </p:nvSpPr>
        <p:spPr bwMode="auto">
          <a:xfrm>
            <a:off x="1619250" y="4792663"/>
            <a:ext cx="382588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b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10949" name="Text Box 5"/>
          <p:cNvSpPr txBox="1">
            <a:spLocks noChangeArrowheads="1"/>
          </p:cNvSpPr>
          <p:nvPr/>
        </p:nvSpPr>
        <p:spPr bwMode="auto">
          <a:xfrm>
            <a:off x="1187450" y="5229225"/>
            <a:ext cx="3619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10950" name="Text Box 6"/>
          <p:cNvSpPr txBox="1">
            <a:spLocks noChangeArrowheads="1"/>
          </p:cNvSpPr>
          <p:nvPr/>
        </p:nvSpPr>
        <p:spPr bwMode="auto">
          <a:xfrm>
            <a:off x="2133600" y="4205288"/>
            <a:ext cx="1069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chemeClr val="hlink"/>
                </a:solidFill>
                <a:latin typeface="宋体" pitchFamily="2" charset="-122"/>
              </a:rPr>
              <a:t>A→b</a:t>
            </a:r>
          </a:p>
        </p:txBody>
      </p:sp>
      <p:sp>
        <p:nvSpPr>
          <p:cNvPr id="210951" name="Text Box 7"/>
          <p:cNvSpPr txBox="1">
            <a:spLocks noChangeArrowheads="1"/>
          </p:cNvSpPr>
          <p:nvPr/>
        </p:nvSpPr>
        <p:spPr bwMode="auto">
          <a:xfrm>
            <a:off x="3521075" y="4205288"/>
            <a:ext cx="1266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chemeClr val="hlink"/>
                </a:solidFill>
                <a:latin typeface="宋体" pitchFamily="2" charset="-122"/>
              </a:rPr>
              <a:t>A→Ab</a:t>
            </a:r>
          </a:p>
        </p:txBody>
      </p:sp>
      <p:sp>
        <p:nvSpPr>
          <p:cNvPr id="210952" name="Text Box 8"/>
          <p:cNvSpPr txBox="1">
            <a:spLocks noChangeArrowheads="1"/>
          </p:cNvSpPr>
          <p:nvPr/>
        </p:nvSpPr>
        <p:spPr bwMode="auto">
          <a:xfrm>
            <a:off x="5651500" y="3557588"/>
            <a:ext cx="1008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chemeClr val="hlink"/>
                </a:solidFill>
                <a:latin typeface="宋体" pitchFamily="2" charset="-122"/>
              </a:rPr>
              <a:t>B→d</a:t>
            </a:r>
          </a:p>
        </p:txBody>
      </p:sp>
      <p:sp>
        <p:nvSpPr>
          <p:cNvPr id="210953" name="Text Box 9"/>
          <p:cNvSpPr txBox="1">
            <a:spLocks noChangeArrowheads="1"/>
          </p:cNvSpPr>
          <p:nvPr/>
        </p:nvSpPr>
        <p:spPr bwMode="auto">
          <a:xfrm>
            <a:off x="6946900" y="4854575"/>
            <a:ext cx="1728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chemeClr val="hlink"/>
                </a:solidFill>
                <a:latin typeface="宋体" pitchFamily="2" charset="-122"/>
              </a:rPr>
              <a:t>S→aAcBe</a:t>
            </a:r>
          </a:p>
        </p:txBody>
      </p:sp>
      <p:sp>
        <p:nvSpPr>
          <p:cNvPr id="210954" name="Text Box 10"/>
          <p:cNvSpPr txBox="1">
            <a:spLocks noChangeArrowheads="1"/>
          </p:cNvSpPr>
          <p:nvPr/>
        </p:nvSpPr>
        <p:spPr bwMode="auto">
          <a:xfrm>
            <a:off x="682625" y="5646738"/>
            <a:ext cx="433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10955" name="Text Box 11"/>
          <p:cNvSpPr txBox="1">
            <a:spLocks noChangeArrowheads="1"/>
          </p:cNvSpPr>
          <p:nvPr/>
        </p:nvSpPr>
        <p:spPr bwMode="auto">
          <a:xfrm>
            <a:off x="2122488" y="4792663"/>
            <a:ext cx="36195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endParaRPr kumimoji="1" lang="en-US" altLang="zh-CN" sz="2800" b="1">
              <a:latin typeface="Times New Roman" pitchFamily="18" charset="0"/>
            </a:endParaRP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10956" name="Text Box 12"/>
          <p:cNvSpPr txBox="1">
            <a:spLocks noChangeArrowheads="1"/>
          </p:cNvSpPr>
          <p:nvPr/>
        </p:nvSpPr>
        <p:spPr bwMode="auto">
          <a:xfrm>
            <a:off x="2627313" y="4792663"/>
            <a:ext cx="4413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10957" name="Text Box 13"/>
          <p:cNvSpPr txBox="1">
            <a:spLocks noChangeArrowheads="1"/>
          </p:cNvSpPr>
          <p:nvPr/>
        </p:nvSpPr>
        <p:spPr bwMode="auto">
          <a:xfrm>
            <a:off x="3130550" y="4365625"/>
            <a:ext cx="4413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b</a:t>
            </a:r>
          </a:p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10958" name="Text Box 14"/>
          <p:cNvSpPr txBox="1">
            <a:spLocks noChangeArrowheads="1"/>
          </p:cNvSpPr>
          <p:nvPr/>
        </p:nvSpPr>
        <p:spPr bwMode="auto">
          <a:xfrm>
            <a:off x="3635375" y="4797425"/>
            <a:ext cx="36195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endParaRPr kumimoji="1" lang="en-US" altLang="zh-CN" sz="2800" b="1">
              <a:latin typeface="Times New Roman" pitchFamily="18" charset="0"/>
            </a:endParaRP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10959" name="Text Box 15"/>
          <p:cNvSpPr txBox="1">
            <a:spLocks noChangeArrowheads="1"/>
          </p:cNvSpPr>
          <p:nvPr/>
        </p:nvSpPr>
        <p:spPr bwMode="auto">
          <a:xfrm>
            <a:off x="4138613" y="4797425"/>
            <a:ext cx="4413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10960" name="Text Box 16"/>
          <p:cNvSpPr txBox="1">
            <a:spLocks noChangeArrowheads="1"/>
          </p:cNvSpPr>
          <p:nvPr/>
        </p:nvSpPr>
        <p:spPr bwMode="auto">
          <a:xfrm>
            <a:off x="5146675" y="3933825"/>
            <a:ext cx="441325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d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c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10961" name="Text Box 17"/>
          <p:cNvSpPr txBox="1">
            <a:spLocks noChangeArrowheads="1"/>
          </p:cNvSpPr>
          <p:nvPr/>
        </p:nvSpPr>
        <p:spPr bwMode="auto">
          <a:xfrm>
            <a:off x="4643438" y="3933825"/>
            <a:ext cx="441325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endParaRPr kumimoji="1" lang="en-US" altLang="zh-CN" sz="2800" b="1">
              <a:latin typeface="Times New Roman" pitchFamily="18" charset="0"/>
            </a:endParaRPr>
          </a:p>
          <a:p>
            <a:r>
              <a:rPr kumimoji="1" lang="en-US" altLang="zh-CN" sz="2800" b="1">
                <a:latin typeface="Times New Roman" pitchFamily="18" charset="0"/>
              </a:rPr>
              <a:t>c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10962" name="Text Box 18"/>
          <p:cNvSpPr txBox="1">
            <a:spLocks noChangeArrowheads="1"/>
          </p:cNvSpPr>
          <p:nvPr/>
        </p:nvSpPr>
        <p:spPr bwMode="auto">
          <a:xfrm>
            <a:off x="6154738" y="3933825"/>
            <a:ext cx="441325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B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c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10963" name="Text Box 19"/>
          <p:cNvSpPr txBox="1">
            <a:spLocks noChangeArrowheads="1"/>
          </p:cNvSpPr>
          <p:nvPr/>
        </p:nvSpPr>
        <p:spPr bwMode="auto">
          <a:xfrm>
            <a:off x="6659563" y="3500438"/>
            <a:ext cx="441325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e</a:t>
            </a:r>
          </a:p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B</a:t>
            </a:r>
          </a:p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c</a:t>
            </a:r>
          </a:p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10964" name="Text Box 20"/>
          <p:cNvSpPr txBox="1">
            <a:spLocks noChangeArrowheads="1"/>
          </p:cNvSpPr>
          <p:nvPr/>
        </p:nvSpPr>
        <p:spPr bwMode="auto">
          <a:xfrm>
            <a:off x="7162800" y="5229225"/>
            <a:ext cx="4413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endParaRPr kumimoji="1" lang="en-US" altLang="zh-CN" sz="2800" b="1">
              <a:latin typeface="Times New Roman" pitchFamily="18" charset="0"/>
            </a:endParaRP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10965" name="Text Box 21"/>
          <p:cNvSpPr txBox="1">
            <a:spLocks noChangeArrowheads="1"/>
          </p:cNvSpPr>
          <p:nvPr/>
        </p:nvSpPr>
        <p:spPr bwMode="auto">
          <a:xfrm>
            <a:off x="7596188" y="5229225"/>
            <a:ext cx="4413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S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10966" name="Line 22"/>
          <p:cNvSpPr>
            <a:spLocks noChangeShapeType="1"/>
          </p:cNvSpPr>
          <p:nvPr/>
        </p:nvSpPr>
        <p:spPr bwMode="auto">
          <a:xfrm flipV="1">
            <a:off x="3417888" y="2636838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0967" name="Line 23"/>
          <p:cNvSpPr>
            <a:spLocks noChangeShapeType="1"/>
          </p:cNvSpPr>
          <p:nvPr/>
        </p:nvSpPr>
        <p:spPr bwMode="auto">
          <a:xfrm flipV="1">
            <a:off x="3778250" y="2636838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0968" name="Line 24"/>
          <p:cNvSpPr>
            <a:spLocks noChangeShapeType="1"/>
          </p:cNvSpPr>
          <p:nvPr/>
        </p:nvSpPr>
        <p:spPr bwMode="auto">
          <a:xfrm flipV="1">
            <a:off x="4067175" y="2636838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0969" name="Line 25"/>
          <p:cNvSpPr>
            <a:spLocks noChangeShapeType="1"/>
          </p:cNvSpPr>
          <p:nvPr/>
        </p:nvSpPr>
        <p:spPr bwMode="auto">
          <a:xfrm flipV="1">
            <a:off x="4425950" y="2636838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0970" name="Line 26"/>
          <p:cNvSpPr>
            <a:spLocks noChangeShapeType="1"/>
          </p:cNvSpPr>
          <p:nvPr/>
        </p:nvSpPr>
        <p:spPr bwMode="auto">
          <a:xfrm flipV="1">
            <a:off x="4786313" y="2636838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0971" name="Line 27"/>
          <p:cNvSpPr>
            <a:spLocks noChangeShapeType="1"/>
          </p:cNvSpPr>
          <p:nvPr/>
        </p:nvSpPr>
        <p:spPr bwMode="auto">
          <a:xfrm flipV="1">
            <a:off x="5075238" y="2636838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0972" name="Line 28"/>
          <p:cNvSpPr>
            <a:spLocks noChangeShapeType="1"/>
          </p:cNvSpPr>
          <p:nvPr/>
        </p:nvSpPr>
        <p:spPr bwMode="auto">
          <a:xfrm flipV="1">
            <a:off x="5434013" y="2636838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0973" name="Text Box 29"/>
          <p:cNvSpPr txBox="1">
            <a:spLocks noChangeArrowheads="1"/>
          </p:cNvSpPr>
          <p:nvPr/>
        </p:nvSpPr>
        <p:spPr bwMode="auto">
          <a:xfrm>
            <a:off x="5651500" y="3938588"/>
            <a:ext cx="441325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endParaRPr kumimoji="1" lang="en-US" altLang="zh-CN" sz="2800" b="1">
              <a:latin typeface="Times New Roman" pitchFamily="18" charset="0"/>
            </a:endParaRPr>
          </a:p>
          <a:p>
            <a:r>
              <a:rPr kumimoji="1" lang="en-US" altLang="zh-CN" sz="2800" b="1">
                <a:latin typeface="Times New Roman" pitchFamily="18" charset="0"/>
              </a:rPr>
              <a:t>c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16415" name="Rectangle 31"/>
          <p:cNvSpPr>
            <a:spLocks noChangeArrowheads="1"/>
          </p:cNvSpPr>
          <p:nvPr/>
        </p:nvSpPr>
        <p:spPr bwMode="auto">
          <a:xfrm>
            <a:off x="6588125" y="1844675"/>
            <a:ext cx="2232025" cy="1373188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S→aAcBe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A→Ab|b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B→d</a:t>
            </a:r>
          </a:p>
        </p:txBody>
      </p:sp>
      <p:sp>
        <p:nvSpPr>
          <p:cNvPr id="16416" name="Rectangle 32"/>
          <p:cNvSpPr>
            <a:spLocks noChangeArrowheads="1"/>
          </p:cNvSpPr>
          <p:nvPr/>
        </p:nvSpPr>
        <p:spPr bwMode="auto">
          <a:xfrm>
            <a:off x="0" y="5589588"/>
            <a:ext cx="590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solidFill>
                  <a:schemeClr val="tx2"/>
                </a:solidFill>
                <a:ea typeface="华文新魏" pitchFamily="2" charset="-122"/>
              </a:rPr>
              <a:t>栈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68538" y="692150"/>
            <a:ext cx="6875462" cy="647700"/>
          </a:xfrm>
          <a:solidFill>
            <a:srgbClr val="006600"/>
          </a:solidFill>
        </p:spPr>
        <p:txBody>
          <a:bodyPr lIns="92075" tIns="46038" rIns="92075" bIns="46038"/>
          <a:lstStyle/>
          <a:p>
            <a:pPr eaLnBrk="1" hangingPunct="1"/>
            <a:r>
              <a:rPr lang="zh-CN" altLang="en-US" sz="32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栈</a:t>
            </a:r>
            <a:r>
              <a:rPr lang="en-US" altLang="zh-CN" sz="32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+</a:t>
            </a:r>
            <a:r>
              <a:rPr lang="zh-CN" altLang="en-US" sz="32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输入缓冲区剩余</a:t>
            </a:r>
            <a:r>
              <a:rPr lang="en-US" altLang="zh-CN" sz="32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= #</a:t>
            </a:r>
            <a:r>
              <a:rPr lang="zh-CN" altLang="en-US" sz="32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当前“句型”</a:t>
            </a:r>
            <a:r>
              <a:rPr lang="en-US" altLang="zh-CN" sz="32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idx="1"/>
          </p:nvPr>
        </p:nvSpPr>
        <p:spPr>
          <a:xfrm>
            <a:off x="3352800" y="2133600"/>
            <a:ext cx="2227263" cy="596900"/>
          </a:xfrm>
        </p:spPr>
        <p:txBody>
          <a:bodyPr lIns="92075" tIns="46038" rIns="92075" bIns="46038"/>
          <a:lstStyle/>
          <a:p>
            <a:pPr algn="dist" eaLnBrk="1" hangingPunct="1">
              <a:buFont typeface="Wingdings" pitchFamily="2" charset="2"/>
              <a:buNone/>
            </a:pPr>
            <a:r>
              <a:rPr lang="en-US" altLang="zh-CN" sz="3600" b="1" smtClean="0">
                <a:latin typeface="Times New Roman" pitchFamily="18" charset="0"/>
                <a:ea typeface="楷体_GB2312" pitchFamily="49" charset="-122"/>
              </a:rPr>
              <a:t>abbcde#</a:t>
            </a: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C93D012-AAAC-42DB-95F9-A7E3B225D187}" type="slidenum">
              <a:rPr lang="en-US" altLang="zh-CN" smtClean="0"/>
              <a:pPr eaLnBrk="1" hangingPunct="1"/>
              <a:t>9</a:t>
            </a:fld>
            <a:endParaRPr lang="en-US" altLang="zh-CN" smtClean="0"/>
          </a:p>
        </p:txBody>
      </p:sp>
      <p:sp>
        <p:nvSpPr>
          <p:cNvPr id="295940" name="Text Box 4"/>
          <p:cNvSpPr txBox="1">
            <a:spLocks noChangeArrowheads="1"/>
          </p:cNvSpPr>
          <p:nvPr/>
        </p:nvSpPr>
        <p:spPr bwMode="auto">
          <a:xfrm>
            <a:off x="1619250" y="4792663"/>
            <a:ext cx="382588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b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41" name="Text Box 5"/>
          <p:cNvSpPr txBox="1">
            <a:spLocks noChangeArrowheads="1"/>
          </p:cNvSpPr>
          <p:nvPr/>
        </p:nvSpPr>
        <p:spPr bwMode="auto">
          <a:xfrm>
            <a:off x="1187450" y="5229225"/>
            <a:ext cx="3619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42" name="Text Box 6"/>
          <p:cNvSpPr txBox="1">
            <a:spLocks noChangeArrowheads="1"/>
          </p:cNvSpPr>
          <p:nvPr/>
        </p:nvSpPr>
        <p:spPr bwMode="auto">
          <a:xfrm>
            <a:off x="2051050" y="4221163"/>
            <a:ext cx="1069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chemeClr val="hlink"/>
                </a:solidFill>
                <a:latin typeface="宋体" pitchFamily="2" charset="-122"/>
              </a:rPr>
              <a:t>A→b</a:t>
            </a:r>
          </a:p>
        </p:txBody>
      </p:sp>
      <p:sp>
        <p:nvSpPr>
          <p:cNvPr id="295943" name="Text Box 7"/>
          <p:cNvSpPr txBox="1">
            <a:spLocks noChangeArrowheads="1"/>
          </p:cNvSpPr>
          <p:nvPr/>
        </p:nvSpPr>
        <p:spPr bwMode="auto">
          <a:xfrm>
            <a:off x="3562350" y="4005263"/>
            <a:ext cx="1266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chemeClr val="hlink"/>
                </a:solidFill>
                <a:latin typeface="宋体" pitchFamily="2" charset="-122"/>
              </a:rPr>
              <a:t>A→Ab</a:t>
            </a:r>
          </a:p>
        </p:txBody>
      </p:sp>
      <p:sp>
        <p:nvSpPr>
          <p:cNvPr id="295944" name="Text Box 8"/>
          <p:cNvSpPr txBox="1">
            <a:spLocks noChangeArrowheads="1"/>
          </p:cNvSpPr>
          <p:nvPr/>
        </p:nvSpPr>
        <p:spPr bwMode="auto">
          <a:xfrm>
            <a:off x="5722938" y="3573463"/>
            <a:ext cx="1008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chemeClr val="hlink"/>
                </a:solidFill>
                <a:latin typeface="宋体" pitchFamily="2" charset="-122"/>
              </a:rPr>
              <a:t>B→d</a:t>
            </a:r>
          </a:p>
        </p:txBody>
      </p:sp>
      <p:sp>
        <p:nvSpPr>
          <p:cNvPr id="295945" name="Text Box 9"/>
          <p:cNvSpPr txBox="1">
            <a:spLocks noChangeArrowheads="1"/>
          </p:cNvSpPr>
          <p:nvPr/>
        </p:nvSpPr>
        <p:spPr bwMode="auto">
          <a:xfrm>
            <a:off x="6946900" y="4854575"/>
            <a:ext cx="17287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chemeClr val="hlink"/>
                </a:solidFill>
                <a:latin typeface="宋体" pitchFamily="2" charset="-122"/>
              </a:rPr>
              <a:t>S→aAcBe</a:t>
            </a:r>
          </a:p>
        </p:txBody>
      </p:sp>
      <p:sp>
        <p:nvSpPr>
          <p:cNvPr id="295946" name="Text Box 10"/>
          <p:cNvSpPr txBox="1">
            <a:spLocks noChangeArrowheads="1"/>
          </p:cNvSpPr>
          <p:nvPr/>
        </p:nvSpPr>
        <p:spPr bwMode="auto">
          <a:xfrm>
            <a:off x="682625" y="5646738"/>
            <a:ext cx="433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47" name="Text Box 11"/>
          <p:cNvSpPr txBox="1">
            <a:spLocks noChangeArrowheads="1"/>
          </p:cNvSpPr>
          <p:nvPr/>
        </p:nvSpPr>
        <p:spPr bwMode="auto">
          <a:xfrm>
            <a:off x="2122488" y="4792663"/>
            <a:ext cx="36195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endParaRPr kumimoji="1" lang="en-US" altLang="zh-CN" sz="2800" b="1">
              <a:latin typeface="Times New Roman" pitchFamily="18" charset="0"/>
            </a:endParaRP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48" name="Text Box 12"/>
          <p:cNvSpPr txBox="1">
            <a:spLocks noChangeArrowheads="1"/>
          </p:cNvSpPr>
          <p:nvPr/>
        </p:nvSpPr>
        <p:spPr bwMode="auto">
          <a:xfrm>
            <a:off x="2627313" y="4792663"/>
            <a:ext cx="4413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49" name="Text Box 13"/>
          <p:cNvSpPr txBox="1">
            <a:spLocks noChangeArrowheads="1"/>
          </p:cNvSpPr>
          <p:nvPr/>
        </p:nvSpPr>
        <p:spPr bwMode="auto">
          <a:xfrm>
            <a:off x="3130550" y="4365625"/>
            <a:ext cx="4413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b</a:t>
            </a:r>
          </a:p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50" name="Text Box 14"/>
          <p:cNvSpPr txBox="1">
            <a:spLocks noChangeArrowheads="1"/>
          </p:cNvSpPr>
          <p:nvPr/>
        </p:nvSpPr>
        <p:spPr bwMode="auto">
          <a:xfrm>
            <a:off x="3635375" y="4797425"/>
            <a:ext cx="36195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endParaRPr kumimoji="1" lang="en-US" altLang="zh-CN" sz="2800" b="1">
              <a:latin typeface="Times New Roman" pitchFamily="18" charset="0"/>
            </a:endParaRP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51" name="Text Box 15"/>
          <p:cNvSpPr txBox="1">
            <a:spLocks noChangeArrowheads="1"/>
          </p:cNvSpPr>
          <p:nvPr/>
        </p:nvSpPr>
        <p:spPr bwMode="auto">
          <a:xfrm>
            <a:off x="4138613" y="4797425"/>
            <a:ext cx="4413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52" name="Text Box 16"/>
          <p:cNvSpPr txBox="1">
            <a:spLocks noChangeArrowheads="1"/>
          </p:cNvSpPr>
          <p:nvPr/>
        </p:nvSpPr>
        <p:spPr bwMode="auto">
          <a:xfrm>
            <a:off x="5146675" y="3933825"/>
            <a:ext cx="441325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d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c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53" name="Text Box 17"/>
          <p:cNvSpPr txBox="1">
            <a:spLocks noChangeArrowheads="1"/>
          </p:cNvSpPr>
          <p:nvPr/>
        </p:nvSpPr>
        <p:spPr bwMode="auto">
          <a:xfrm>
            <a:off x="4643438" y="3933825"/>
            <a:ext cx="441325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endParaRPr kumimoji="1" lang="en-US" altLang="zh-CN" sz="2800" b="1">
              <a:latin typeface="Times New Roman" pitchFamily="18" charset="0"/>
            </a:endParaRPr>
          </a:p>
          <a:p>
            <a:r>
              <a:rPr kumimoji="1" lang="en-US" altLang="zh-CN" sz="2800" b="1">
                <a:latin typeface="Times New Roman" pitchFamily="18" charset="0"/>
              </a:rPr>
              <a:t>c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54" name="Text Box 18"/>
          <p:cNvSpPr txBox="1">
            <a:spLocks noChangeArrowheads="1"/>
          </p:cNvSpPr>
          <p:nvPr/>
        </p:nvSpPr>
        <p:spPr bwMode="auto">
          <a:xfrm>
            <a:off x="6154738" y="3933825"/>
            <a:ext cx="441325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B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c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55" name="Text Box 19"/>
          <p:cNvSpPr txBox="1">
            <a:spLocks noChangeArrowheads="1"/>
          </p:cNvSpPr>
          <p:nvPr/>
        </p:nvSpPr>
        <p:spPr bwMode="auto">
          <a:xfrm>
            <a:off x="6659563" y="3500438"/>
            <a:ext cx="441325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e</a:t>
            </a:r>
          </a:p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B</a:t>
            </a:r>
          </a:p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c</a:t>
            </a:r>
          </a:p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56" name="Text Box 20"/>
          <p:cNvSpPr txBox="1">
            <a:spLocks noChangeArrowheads="1"/>
          </p:cNvSpPr>
          <p:nvPr/>
        </p:nvSpPr>
        <p:spPr bwMode="auto">
          <a:xfrm>
            <a:off x="7162800" y="5219700"/>
            <a:ext cx="4413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endParaRPr kumimoji="1" lang="en-US" altLang="zh-CN" sz="2800" b="1">
              <a:latin typeface="Times New Roman" pitchFamily="18" charset="0"/>
            </a:endParaRP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57" name="Text Box 21"/>
          <p:cNvSpPr txBox="1">
            <a:spLocks noChangeArrowheads="1"/>
          </p:cNvSpPr>
          <p:nvPr/>
        </p:nvSpPr>
        <p:spPr bwMode="auto">
          <a:xfrm>
            <a:off x="7596188" y="5219700"/>
            <a:ext cx="4413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S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58" name="Line 22"/>
          <p:cNvSpPr>
            <a:spLocks noChangeShapeType="1"/>
          </p:cNvSpPr>
          <p:nvPr/>
        </p:nvSpPr>
        <p:spPr bwMode="auto">
          <a:xfrm flipV="1">
            <a:off x="3538538" y="267811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5959" name="Line 23"/>
          <p:cNvSpPr>
            <a:spLocks noChangeShapeType="1"/>
          </p:cNvSpPr>
          <p:nvPr/>
        </p:nvSpPr>
        <p:spPr bwMode="auto">
          <a:xfrm flipV="1">
            <a:off x="3898900" y="267811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5960" name="Line 24"/>
          <p:cNvSpPr>
            <a:spLocks noChangeShapeType="1"/>
          </p:cNvSpPr>
          <p:nvPr/>
        </p:nvSpPr>
        <p:spPr bwMode="auto">
          <a:xfrm flipV="1">
            <a:off x="4187825" y="267811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5961" name="Line 25"/>
          <p:cNvSpPr>
            <a:spLocks noChangeShapeType="1"/>
          </p:cNvSpPr>
          <p:nvPr/>
        </p:nvSpPr>
        <p:spPr bwMode="auto">
          <a:xfrm flipV="1">
            <a:off x="4475163" y="267811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5962" name="Line 26"/>
          <p:cNvSpPr>
            <a:spLocks noChangeShapeType="1"/>
          </p:cNvSpPr>
          <p:nvPr/>
        </p:nvSpPr>
        <p:spPr bwMode="auto">
          <a:xfrm flipV="1">
            <a:off x="4762500" y="267811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5963" name="Line 27"/>
          <p:cNvSpPr>
            <a:spLocks noChangeShapeType="1"/>
          </p:cNvSpPr>
          <p:nvPr/>
        </p:nvSpPr>
        <p:spPr bwMode="auto">
          <a:xfrm flipV="1">
            <a:off x="5122863" y="267811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5964" name="Line 28"/>
          <p:cNvSpPr>
            <a:spLocks noChangeShapeType="1"/>
          </p:cNvSpPr>
          <p:nvPr/>
        </p:nvSpPr>
        <p:spPr bwMode="auto">
          <a:xfrm flipV="1">
            <a:off x="5338763" y="2678113"/>
            <a:ext cx="0" cy="504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5965" name="Text Box 29"/>
          <p:cNvSpPr txBox="1">
            <a:spLocks noChangeArrowheads="1"/>
          </p:cNvSpPr>
          <p:nvPr/>
        </p:nvSpPr>
        <p:spPr bwMode="auto">
          <a:xfrm>
            <a:off x="5651500" y="4365625"/>
            <a:ext cx="4413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c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  <a:p>
            <a:r>
              <a:rPr kumimoji="1" lang="en-US" altLang="zh-CN" sz="2800" b="1">
                <a:latin typeface="Times New Roman" pitchFamily="18" charset="0"/>
              </a:rPr>
              <a:t>#</a:t>
            </a:r>
          </a:p>
        </p:txBody>
      </p:sp>
      <p:sp>
        <p:nvSpPr>
          <p:cNvPr id="295966" name="Rectangle 30"/>
          <p:cNvSpPr>
            <a:spLocks noChangeArrowheads="1"/>
          </p:cNvSpPr>
          <p:nvPr/>
        </p:nvSpPr>
        <p:spPr bwMode="auto">
          <a:xfrm>
            <a:off x="323850" y="1989138"/>
            <a:ext cx="1871663" cy="26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abbcde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</a:t>
            </a:r>
            <a:r>
              <a:rPr kumimoji="1" lang="en-US" altLang="zh-CN" sz="28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aA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bcde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Symbol" pitchFamily="18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</a:t>
            </a:r>
            <a:r>
              <a:rPr kumimoji="1" lang="en-US" altLang="zh-CN" sz="28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aAc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de 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Symbol" pitchFamily="18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</a:t>
            </a:r>
            <a:r>
              <a:rPr kumimoji="1" lang="en-US" altLang="zh-CN" sz="28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aAcB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</a:p>
          <a:p>
            <a:pPr eaLnBrk="0" hangingPunct="0">
              <a:lnSpc>
                <a:spcPct val="120000"/>
              </a:lnSpc>
              <a:buClr>
                <a:schemeClr val="tx2"/>
              </a:buClr>
              <a:buSzPct val="75000"/>
              <a:buFont typeface="Symbol" pitchFamily="18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</a:t>
            </a:r>
            <a:r>
              <a:rPr kumimoji="1" lang="en-US" altLang="zh-CN" sz="28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</a:p>
        </p:txBody>
      </p:sp>
      <p:sp>
        <p:nvSpPr>
          <p:cNvPr id="17440" name="Rectangle 31"/>
          <p:cNvSpPr>
            <a:spLocks noChangeArrowheads="1"/>
          </p:cNvSpPr>
          <p:nvPr/>
        </p:nvSpPr>
        <p:spPr bwMode="auto">
          <a:xfrm>
            <a:off x="6588125" y="1844675"/>
            <a:ext cx="2233613" cy="1373188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marL="457200" indent="-457200">
              <a:buFontTx/>
              <a:buAutoNum type="arabicPeriod"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S→aAcBe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A→Ab|b</a:t>
            </a:r>
          </a:p>
          <a:p>
            <a:pPr marL="457200" indent="-457200">
              <a:buFontTx/>
              <a:buAutoNum type="arabicPeriod"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B→d</a:t>
            </a:r>
          </a:p>
        </p:txBody>
      </p:sp>
      <p:sp>
        <p:nvSpPr>
          <p:cNvPr id="295968" name="Rectangle 32"/>
          <p:cNvSpPr>
            <a:spLocks noChangeArrowheads="1"/>
          </p:cNvSpPr>
          <p:nvPr/>
        </p:nvSpPr>
        <p:spPr bwMode="auto">
          <a:xfrm>
            <a:off x="0" y="6296025"/>
            <a:ext cx="8964613" cy="588963"/>
          </a:xfrm>
          <a:prstGeom prst="rect">
            <a:avLst/>
          </a:prstGeom>
          <a:solidFill>
            <a:srgbClr val="00660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spAutoFit/>
            <a:flatTx/>
          </a:bodyPr>
          <a:lstStyle/>
          <a:p>
            <a:pPr eaLnBrk="0" hangingPunct="0"/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栈内容特点</a:t>
            </a:r>
          </a:p>
        </p:txBody>
      </p:sp>
      <p:sp>
        <p:nvSpPr>
          <p:cNvPr id="23587" name="Rectangle 35"/>
          <p:cNvSpPr>
            <a:spLocks noChangeArrowheads="1"/>
          </p:cNvSpPr>
          <p:nvPr/>
        </p:nvSpPr>
        <p:spPr bwMode="auto">
          <a:xfrm>
            <a:off x="2124075" y="6245225"/>
            <a:ext cx="668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：不含当前句型的句柄后的任何符号</a:t>
            </a:r>
          </a:p>
        </p:txBody>
      </p:sp>
      <p:sp>
        <p:nvSpPr>
          <p:cNvPr id="502788" name="Rectangle 4"/>
          <p:cNvSpPr>
            <a:spLocks noChangeArrowheads="1"/>
          </p:cNvSpPr>
          <p:nvPr/>
        </p:nvSpPr>
        <p:spPr bwMode="auto">
          <a:xfrm>
            <a:off x="107950" y="0"/>
            <a:ext cx="2233613" cy="2041525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?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栈中内容与输入缓冲区剩余内容是什么关系</a:t>
            </a:r>
          </a:p>
        </p:txBody>
      </p:sp>
      <p:sp>
        <p:nvSpPr>
          <p:cNvPr id="23589" name="Rectangle 37"/>
          <p:cNvSpPr>
            <a:spLocks noChangeArrowheads="1"/>
          </p:cNvSpPr>
          <p:nvPr/>
        </p:nvSpPr>
        <p:spPr bwMode="auto">
          <a:xfrm>
            <a:off x="501650" y="2060575"/>
            <a:ext cx="12715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bbcde</a:t>
            </a:r>
            <a:endParaRPr kumimoji="1" lang="zh-CN" altLang="en-US" sz="2800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590" name="Rectangle 38"/>
          <p:cNvSpPr>
            <a:spLocks noChangeArrowheads="1"/>
          </p:cNvSpPr>
          <p:nvPr/>
        </p:nvSpPr>
        <p:spPr bwMode="auto">
          <a:xfrm>
            <a:off x="501650" y="2060575"/>
            <a:ext cx="12715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ab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bcde</a:t>
            </a:r>
            <a:endParaRPr kumimoji="1" lang="zh-CN" altLang="en-US" sz="2800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23591" name="Rectangle 39"/>
          <p:cNvSpPr>
            <a:spLocks noChangeArrowheads="1"/>
          </p:cNvSpPr>
          <p:nvPr/>
        </p:nvSpPr>
        <p:spPr bwMode="auto">
          <a:xfrm>
            <a:off x="684213" y="3087688"/>
            <a:ext cx="11318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800" b="1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aAcd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endParaRPr kumimoji="1" lang="zh-CN" altLang="en-US" sz="2800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333375"/>
            <a:ext cx="6615112" cy="1260475"/>
          </a:xfrm>
        </p:spPr>
        <p:txBody>
          <a:bodyPr/>
          <a:lstStyle/>
          <a:p>
            <a:pPr eaLnBrk="1" hangingPunct="1"/>
            <a:r>
              <a:rPr lang="zh-CN" altLang="en-US" sz="4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分析设想</a:t>
            </a:r>
            <a:r>
              <a:rPr lang="en-US" altLang="zh-CN" sz="32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32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分析器框架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8496300" cy="3744913"/>
          </a:xfrm>
        </p:spPr>
        <p:txBody>
          <a:bodyPr/>
          <a:lstStyle/>
          <a:p>
            <a:pPr marL="0" indent="0" eaLnBrk="1" hangingPunct="1"/>
            <a:r>
              <a:rPr lang="zh-CN" altLang="en-US" sz="3400" b="1" smtClean="0">
                <a:latin typeface="Times New Roman" pitchFamily="18" charset="0"/>
                <a:ea typeface="华文新魏" pitchFamily="2" charset="-122"/>
              </a:rPr>
              <a:t>控制程序</a:t>
            </a:r>
          </a:p>
          <a:p>
            <a:pPr marL="190500" lvl="1" indent="0" eaLnBrk="1" hangingPunct="1"/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控制分析进程，输出分析结果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产生式序列</a:t>
            </a:r>
          </a:p>
          <a:p>
            <a:pPr marL="0" indent="0" eaLnBrk="1" hangingPunct="1"/>
            <a:r>
              <a:rPr lang="zh-CN" altLang="en-US" sz="3400" b="1" smtClean="0">
                <a:latin typeface="Times New Roman" pitchFamily="18" charset="0"/>
                <a:ea typeface="华文新魏" pitchFamily="2" charset="-122"/>
              </a:rPr>
              <a:t>输入缓冲区</a:t>
            </a:r>
          </a:p>
          <a:p>
            <a:pPr marL="190500" lvl="1" indent="0" eaLnBrk="1" hangingPunct="1"/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保存输入符号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(token)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串</a:t>
            </a:r>
          </a:p>
          <a:p>
            <a:pPr marL="0" indent="0" eaLnBrk="1" hangingPunct="1"/>
            <a:r>
              <a:rPr lang="zh-CN" altLang="en-US" sz="3400" b="1" smtClean="0">
                <a:latin typeface="Times New Roman" pitchFamily="18" charset="0"/>
                <a:ea typeface="华文新魏" pitchFamily="2" charset="-122"/>
              </a:rPr>
              <a:t>栈</a:t>
            </a:r>
          </a:p>
          <a:p>
            <a:pPr marL="190500" lvl="1" indent="0" eaLnBrk="1" hangingPunct="1"/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保存语法符号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已经处理的部分结果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前缀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A676975-F203-48B2-9C12-C1194F6C3140}" type="slidenum">
              <a:rPr lang="en-US" altLang="zh-CN" smtClean="0"/>
              <a:pPr eaLnBrk="1" hangingPunct="1"/>
              <a:t>10</a:t>
            </a:fld>
            <a:endParaRPr lang="en-US" altLang="zh-CN" smtClean="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250825" y="5734050"/>
            <a:ext cx="8569325" cy="1066800"/>
          </a:xfrm>
          <a:prstGeom prst="rect">
            <a:avLst/>
          </a:prstGeom>
          <a:solidFill>
            <a:srgbClr val="00660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spAutoFit/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/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栈内容</a:t>
            </a:r>
            <a:r>
              <a:rPr kumimoji="1" lang="en-US" altLang="zh-CN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+</a:t>
            </a:r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输入缓冲区内容 ＝ </a:t>
            </a:r>
            <a:r>
              <a:rPr kumimoji="1" lang="en-US" altLang="zh-CN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# </a:t>
            </a:r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当前</a:t>
            </a:r>
            <a:r>
              <a:rPr kumimoji="1"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“</a:t>
            </a:r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句型 </a:t>
            </a:r>
            <a:r>
              <a:rPr kumimoji="1"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”</a:t>
            </a:r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kumimoji="1" lang="en-US" altLang="zh-CN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#</a:t>
            </a:r>
          </a:p>
          <a:p>
            <a:pPr algn="ctr"/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栈内不含当前句型的句柄后的任何符号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620713"/>
            <a:ext cx="4751387" cy="1160462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分析设想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000" b="1" smtClean="0">
                <a:latin typeface="Times New Roman" pitchFamily="18" charset="0"/>
                <a:ea typeface="华文新魏" pitchFamily="2" charset="-122"/>
              </a:rPr>
              <a:t>分析器结构</a:t>
            </a:r>
          </a:p>
        </p:txBody>
      </p:sp>
      <p:sp>
        <p:nvSpPr>
          <p:cNvPr id="1945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A5CD5D9-2124-4179-BFCC-4718F058222D}" type="slidenum">
              <a:rPr lang="en-US" altLang="zh-CN" smtClean="0"/>
              <a:pPr eaLnBrk="1" hangingPunct="1"/>
              <a:t>11</a:t>
            </a:fld>
            <a:endParaRPr lang="en-US" altLang="zh-CN" smtClean="0"/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130550" y="1946275"/>
            <a:ext cx="3241675" cy="673100"/>
          </a:xfrm>
          <a:prstGeom prst="rect">
            <a:avLst/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CN" sz="3600" b="1" dirty="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kumimoji="1" lang="en-US" altLang="zh-CN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id + </a:t>
            </a:r>
            <a:r>
              <a:rPr kumimoji="1"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id </a:t>
            </a:r>
            <a:r>
              <a:rPr kumimoji="1"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＊ </a:t>
            </a:r>
            <a:r>
              <a:rPr kumimoji="1" lang="en-US" altLang="zh-C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id  #</a:t>
            </a: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219200" y="2763838"/>
            <a:ext cx="749300" cy="2517775"/>
          </a:xfrm>
          <a:prstGeom prst="rect">
            <a:avLst/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130000"/>
              </a:lnSpc>
              <a:defRPr/>
            </a:pPr>
            <a:endParaRPr kumimoji="1" lang="en-US" altLang="zh-CN" sz="36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algn="ctr" eaLnBrk="0" hangingPunct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＋</a:t>
            </a:r>
          </a:p>
          <a:p>
            <a:pPr algn="ctr" eaLnBrk="0" hangingPunct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Ｅ</a:t>
            </a:r>
          </a:p>
          <a:p>
            <a:pPr algn="ctr" eaLnBrk="0" hangingPunct="0">
              <a:lnSpc>
                <a:spcPct val="130000"/>
              </a:lnSpc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#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429000" y="3290888"/>
            <a:ext cx="2514600" cy="1066800"/>
          </a:xfrm>
          <a:prstGeom prst="rect">
            <a:avLst/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移进归约</a:t>
            </a:r>
          </a:p>
          <a:p>
            <a:pPr algn="ctr" eaLnBrk="0" hangingPunct="0">
              <a:defRPr/>
            </a:pPr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控制程序</a:t>
            </a:r>
            <a:endParaRPr kumimoji="1" lang="zh-CN" altLang="en-US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 rot="21595748" flipV="1">
            <a:off x="4572000" y="2619375"/>
            <a:ext cx="20638" cy="666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6019800" y="3844925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6948488" y="3330575"/>
            <a:ext cx="16764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hangingPunct="0">
              <a:defRPr/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输出产生式序列</a:t>
            </a:r>
          </a:p>
        </p:txBody>
      </p:sp>
      <p:sp>
        <p:nvSpPr>
          <p:cNvPr id="19466" name="Text Box 9"/>
          <p:cNvSpPr txBox="1">
            <a:spLocks noChangeArrowheads="1"/>
          </p:cNvSpPr>
          <p:nvPr/>
        </p:nvSpPr>
        <p:spPr bwMode="auto">
          <a:xfrm>
            <a:off x="250825" y="5734050"/>
            <a:ext cx="8497888" cy="1076325"/>
          </a:xfrm>
          <a:prstGeom prst="rect">
            <a:avLst/>
          </a:prstGeom>
          <a:solidFill>
            <a:srgbClr val="00660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folHlink"/>
            </a:extrusionClr>
          </a:sp3d>
        </p:spPr>
        <p:txBody>
          <a:bodyPr>
            <a:spAutoFit/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/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栈内容</a:t>
            </a:r>
            <a:r>
              <a:rPr kumimoji="1" lang="en-US" altLang="zh-CN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+</a:t>
            </a:r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输入缓冲区内容 ＝ </a:t>
            </a:r>
            <a:r>
              <a:rPr kumimoji="1" lang="en-US" altLang="zh-CN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# </a:t>
            </a:r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当前</a:t>
            </a:r>
            <a:r>
              <a:rPr kumimoji="1"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“</a:t>
            </a:r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句型 </a:t>
            </a:r>
            <a:r>
              <a:rPr kumimoji="1"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”</a:t>
            </a:r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kumimoji="1" lang="en-US" altLang="zh-CN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#</a:t>
            </a:r>
          </a:p>
          <a:p>
            <a:pPr algn="ctr"/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栈内不含当前句型的句柄后的任何符号</a:t>
            </a:r>
          </a:p>
        </p:txBody>
      </p:sp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457200" y="424497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99"/>
                </a:solidFill>
                <a:latin typeface="华文新魏" pitchFamily="2" charset="-122"/>
                <a:ea typeface="华文新魏" pitchFamily="2" charset="-122"/>
              </a:rPr>
              <a:t>栈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609600" y="1927225"/>
            <a:ext cx="2073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800" b="1">
                <a:solidFill>
                  <a:srgbClr val="000099"/>
                </a:solidFill>
                <a:latin typeface="华文新魏" pitchFamily="2" charset="-122"/>
                <a:ea typeface="华文新魏" pitchFamily="2" charset="-122"/>
              </a:rPr>
              <a:t>输入缓冲区</a:t>
            </a:r>
            <a:r>
              <a:rPr kumimoji="1" lang="zh-CN" altLang="en-US" sz="3600">
                <a:solidFill>
                  <a:srgbClr val="000099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endParaRPr kumimoji="1" lang="zh-CN" altLang="en-US" sz="2800" b="1">
              <a:solidFill>
                <a:srgbClr val="000099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3779838" y="4852988"/>
            <a:ext cx="1439862" cy="520700"/>
          </a:xfrm>
          <a:prstGeom prst="rect">
            <a:avLst/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CN" sz="36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 </a:t>
            </a:r>
            <a:r>
              <a:rPr kumimoji="1"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分析表</a:t>
            </a:r>
          </a:p>
        </p:txBody>
      </p:sp>
      <p:sp>
        <p:nvSpPr>
          <p:cNvPr id="14349" name="Line 13"/>
          <p:cNvSpPr>
            <a:spLocks noChangeShapeType="1"/>
          </p:cNvSpPr>
          <p:nvPr/>
        </p:nvSpPr>
        <p:spPr bwMode="auto">
          <a:xfrm rot="-10751660" flipH="1" flipV="1">
            <a:off x="4572000" y="4340225"/>
            <a:ext cx="1588" cy="512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0" name="Line 14"/>
          <p:cNvSpPr>
            <a:spLocks noChangeShapeType="1"/>
          </p:cNvSpPr>
          <p:nvPr/>
        </p:nvSpPr>
        <p:spPr bwMode="auto">
          <a:xfrm flipH="1">
            <a:off x="1905000" y="3900488"/>
            <a:ext cx="1524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688013" y="260350"/>
            <a:ext cx="3455987" cy="2089150"/>
            <a:chOff x="3583" y="164"/>
            <a:chExt cx="2177" cy="1316"/>
          </a:xfrm>
        </p:grpSpPr>
        <p:sp>
          <p:nvSpPr>
            <p:cNvPr id="14352" name="Rectangle 16"/>
            <p:cNvSpPr>
              <a:spLocks noChangeArrowheads="1"/>
            </p:cNvSpPr>
            <p:nvPr/>
          </p:nvSpPr>
          <p:spPr bwMode="auto">
            <a:xfrm>
              <a:off x="3810" y="164"/>
              <a:ext cx="1452" cy="227"/>
            </a:xfrm>
            <a:prstGeom prst="rect">
              <a:avLst/>
            </a:prstGeom>
            <a:solidFill>
              <a:srgbClr val="0066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defRPr/>
              </a:pPr>
              <a:r>
                <a:rPr kumimoji="1" lang="en-US" altLang="zh-CN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 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输入缓冲区</a:t>
              </a:r>
              <a:r>
                <a:rPr kumimoji="1" lang="en-US" altLang="zh-CN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(</a:t>
              </a: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符号序列</a:t>
              </a:r>
              <a:r>
                <a:rPr kumimoji="1" lang="en-US" altLang="zh-CN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)</a:t>
              </a:r>
              <a:endParaRPr kumimoji="1"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endParaRPr>
            </a:p>
          </p:txBody>
        </p:sp>
        <p:sp>
          <p:nvSpPr>
            <p:cNvPr id="19474" name="Rectangle 17"/>
            <p:cNvSpPr>
              <a:spLocks noChangeArrowheads="1"/>
            </p:cNvSpPr>
            <p:nvPr/>
          </p:nvSpPr>
          <p:spPr bwMode="auto">
            <a:xfrm>
              <a:off x="3583" y="617"/>
              <a:ext cx="271" cy="471"/>
            </a:xfrm>
            <a:prstGeom prst="rect">
              <a:avLst/>
            </a:prstGeom>
            <a:solidFill>
              <a:srgbClr val="0066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eaLnBrk="0" hangingPunct="0">
                <a:lnSpc>
                  <a:spcPct val="120000"/>
                </a:lnSpc>
              </a:pPr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栈</a:t>
              </a:r>
            </a:p>
          </p:txBody>
        </p:sp>
        <p:sp>
          <p:nvSpPr>
            <p:cNvPr id="19475" name="Rectangle 18"/>
            <p:cNvSpPr>
              <a:spLocks noChangeArrowheads="1"/>
            </p:cNvSpPr>
            <p:nvPr/>
          </p:nvSpPr>
          <p:spPr bwMode="auto">
            <a:xfrm>
              <a:off x="4218" y="708"/>
              <a:ext cx="655" cy="362"/>
            </a:xfrm>
            <a:prstGeom prst="rect">
              <a:avLst/>
            </a:prstGeom>
            <a:solidFill>
              <a:srgbClr val="0066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控制程序</a:t>
              </a:r>
            </a:p>
            <a:p>
              <a:pPr algn="ctr" eaLnBrk="0" hangingPunct="0"/>
              <a:r>
                <a:rPr kumimoji="1" lang="en-US" altLang="zh-CN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P131</a:t>
              </a:r>
            </a:p>
          </p:txBody>
        </p:sp>
        <p:sp>
          <p:nvSpPr>
            <p:cNvPr id="19476" name="Rectangle 19"/>
            <p:cNvSpPr>
              <a:spLocks noChangeArrowheads="1"/>
            </p:cNvSpPr>
            <p:nvPr/>
          </p:nvSpPr>
          <p:spPr bwMode="auto">
            <a:xfrm>
              <a:off x="4286" y="1298"/>
              <a:ext cx="522" cy="182"/>
            </a:xfrm>
            <a:prstGeom prst="rect">
              <a:avLst/>
            </a:prstGeom>
            <a:solidFill>
              <a:srgbClr val="0066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kumimoji="1" lang="zh-CN" altLang="en-US" b="1">
                  <a:solidFill>
                    <a:schemeClr val="bg1"/>
                  </a:solidFill>
                  <a:latin typeface="Times New Roman" pitchFamily="18" charset="0"/>
                  <a:ea typeface="华文新魏" pitchFamily="2" charset="-122"/>
                </a:rPr>
                <a:t>分析表</a:t>
              </a:r>
            </a:p>
          </p:txBody>
        </p:sp>
        <p:sp>
          <p:nvSpPr>
            <p:cNvPr id="19477" name="Line 20"/>
            <p:cNvSpPr>
              <a:spLocks noChangeShapeType="1"/>
            </p:cNvSpPr>
            <p:nvPr/>
          </p:nvSpPr>
          <p:spPr bwMode="auto">
            <a:xfrm flipV="1">
              <a:off x="4581" y="391"/>
              <a:ext cx="0" cy="298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8" name="Line 21"/>
            <p:cNvSpPr>
              <a:spLocks noChangeShapeType="1"/>
            </p:cNvSpPr>
            <p:nvPr/>
          </p:nvSpPr>
          <p:spPr bwMode="auto">
            <a:xfrm flipH="1" flipV="1">
              <a:off x="3855" y="890"/>
              <a:ext cx="408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9" name="Line 22"/>
            <p:cNvSpPr>
              <a:spLocks noChangeShapeType="1"/>
            </p:cNvSpPr>
            <p:nvPr/>
          </p:nvSpPr>
          <p:spPr bwMode="auto">
            <a:xfrm flipV="1">
              <a:off x="4581" y="1071"/>
              <a:ext cx="1" cy="227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0" name="Line 23"/>
            <p:cNvSpPr>
              <a:spLocks noChangeShapeType="1"/>
            </p:cNvSpPr>
            <p:nvPr/>
          </p:nvSpPr>
          <p:spPr bwMode="auto">
            <a:xfrm>
              <a:off x="4853" y="890"/>
              <a:ext cx="272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0" name="Rectangle 24"/>
            <p:cNvSpPr>
              <a:spLocks noChangeArrowheads="1"/>
            </p:cNvSpPr>
            <p:nvPr/>
          </p:nvSpPr>
          <p:spPr bwMode="auto">
            <a:xfrm>
              <a:off x="5125" y="753"/>
              <a:ext cx="635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kumimoji="1"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新魏" pitchFamily="2" charset="-122"/>
                </a:rPr>
                <a:t>输出的</a:t>
              </a:r>
            </a:p>
            <a:p>
              <a:pPr algn="ctr" eaLnBrk="0" hangingPunct="0">
                <a:defRPr/>
              </a:pPr>
              <a:r>
                <a:rPr kumimoji="1"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新魏" pitchFamily="2" charset="-122"/>
                </a:rPr>
                <a:t>产生式序列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549275"/>
            <a:ext cx="7848600" cy="8382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分析设想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系统运行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93863"/>
            <a:ext cx="8077200" cy="36798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开始格局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栈：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#</a:t>
            </a: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；输入缓冲区：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w#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栈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存放已经分析出来的结果和读入的符号，一旦句柄在栈顶形成，就将其弹出进行归约，并将结果压入栈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6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移进归约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正常结束格局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 栈： 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#S</a:t>
            </a: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，输入缓冲区： 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sp>
        <p:nvSpPr>
          <p:cNvPr id="20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24C4C77-349E-4D1D-B443-893DA3C638BD}" type="slidenum">
              <a:rPr lang="en-US" altLang="zh-CN" smtClean="0"/>
              <a:pPr eaLnBrk="1" hangingPunct="1"/>
              <a:t>12</a:t>
            </a:fld>
            <a:endParaRPr lang="en-US" altLang="zh-CN" smtClean="0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250825" y="5691188"/>
            <a:ext cx="8566150" cy="762000"/>
          </a:xfrm>
          <a:prstGeom prst="rect">
            <a:avLst/>
          </a:prstGeom>
          <a:solidFill>
            <a:srgbClr val="0066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6666"/>
            </a:extrusionClr>
          </a:sp3d>
        </p:spPr>
        <p:txBody>
          <a:bodyPr wrap="none">
            <a:spAutoFit/>
            <a:flatTx/>
          </a:bodyPr>
          <a:lstStyle/>
          <a:p>
            <a:r>
              <a:rPr lang="zh-CN" altLang="en-US" sz="4400" b="1">
                <a:solidFill>
                  <a:schemeClr val="bg1"/>
                </a:solidFill>
                <a:ea typeface="华文新魏" pitchFamily="2" charset="-122"/>
              </a:rPr>
              <a:t>系统如何发现句柄已经在栈顶形成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765175"/>
            <a:ext cx="8243887" cy="896938"/>
          </a:xfrm>
        </p:spPr>
        <p:txBody>
          <a:bodyPr/>
          <a:lstStyle/>
          <a:p>
            <a:pPr eaLnBrk="1" hangingPunct="1"/>
            <a:r>
              <a:rPr lang="zh-CN" altLang="en-US" sz="4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例 体验</a:t>
            </a:r>
            <a:r>
              <a:rPr lang="en-US" altLang="zh-CN" sz="4000" b="1" smtClean="0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id</a:t>
            </a:r>
            <a:r>
              <a:rPr lang="en-US" altLang="zh-CN" sz="4000" b="1" baseline="-25000" smtClean="0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4000" b="1" smtClean="0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+id</a:t>
            </a:r>
            <a:r>
              <a:rPr lang="en-US" altLang="zh-CN" sz="4000" b="1" baseline="-25000" smtClean="0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4000" b="1" smtClean="0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*id</a:t>
            </a:r>
            <a:r>
              <a:rPr lang="en-US" altLang="zh-CN" sz="4000" b="1" baseline="-25000" smtClean="0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zh-CN" altLang="en-US" sz="4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的分析过程</a:t>
            </a:r>
            <a:endParaRPr lang="zh-CN" altLang="en-US" sz="3200" b="1" smtClean="0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1087438" y="3914775"/>
            <a:ext cx="1525587" cy="5222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 → id</a:t>
            </a:r>
          </a:p>
        </p:txBody>
      </p:sp>
      <p:sp>
        <p:nvSpPr>
          <p:cNvPr id="21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9EE05D1-AB1F-4042-8ED0-E88E128D2BD5}" type="slidenum">
              <a:rPr lang="en-US" altLang="zh-CN" smtClean="0"/>
              <a:pPr eaLnBrk="1" hangingPunct="1"/>
              <a:t>13</a:t>
            </a:fld>
            <a:endParaRPr lang="en-US" altLang="zh-CN" smtClean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4419600" y="5649913"/>
            <a:ext cx="39639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3200" b="1">
                <a:latin typeface="Times New Roman" pitchFamily="18" charset="0"/>
              </a:rPr>
              <a:t>id</a:t>
            </a:r>
            <a:r>
              <a:rPr kumimoji="1" lang="en-US" altLang="zh-CN" sz="3200" b="1" baseline="-25000">
                <a:latin typeface="Times New Roman" pitchFamily="18" charset="0"/>
              </a:rPr>
              <a:t>1</a:t>
            </a:r>
            <a:r>
              <a:rPr kumimoji="1" lang="en-US" altLang="zh-CN" sz="3200" b="1">
                <a:latin typeface="Times New Roman" pitchFamily="18" charset="0"/>
              </a:rPr>
              <a:t>    +     id</a:t>
            </a:r>
            <a:r>
              <a:rPr kumimoji="1" lang="en-US" altLang="zh-CN" sz="3200" b="1" baseline="-25000">
                <a:latin typeface="Times New Roman" pitchFamily="18" charset="0"/>
              </a:rPr>
              <a:t>2</a:t>
            </a:r>
            <a:r>
              <a:rPr kumimoji="1" lang="en-US" altLang="zh-CN" sz="3200" b="1">
                <a:latin typeface="Times New Roman" pitchFamily="18" charset="0"/>
              </a:rPr>
              <a:t>    *     id</a:t>
            </a:r>
            <a:r>
              <a:rPr kumimoji="1" lang="en-US" altLang="zh-CN" sz="3200" b="1" baseline="-25000">
                <a:latin typeface="Times New Roman" pitchFamily="18" charset="0"/>
              </a:rPr>
              <a:t>3</a:t>
            </a:r>
            <a:r>
              <a:rPr kumimoji="1" lang="en-US" altLang="zh-CN" sz="3200" b="1">
                <a:latin typeface="Times New Roman" pitchFamily="18" charset="0"/>
              </a:rPr>
              <a:t> 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421188" y="4487863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3200" b="1">
                <a:latin typeface="Times New Roman" pitchFamily="18" charset="0"/>
              </a:rPr>
              <a:t>E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6021388" y="4506913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3200" b="1">
                <a:latin typeface="Times New Roman" pitchFamily="18" charset="0"/>
              </a:rPr>
              <a:t>E</a:t>
            </a: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7545388" y="4506913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3200" b="1">
                <a:latin typeface="Times New Roman" pitchFamily="18" charset="0"/>
              </a:rPr>
              <a:t>E</a:t>
            </a: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6707188" y="3287713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3200" b="1">
                <a:latin typeface="Times New Roman" pitchFamily="18" charset="0"/>
              </a:rPr>
              <a:t>E</a:t>
            </a: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5105400" y="1981200"/>
            <a:ext cx="455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3200" b="1">
                <a:latin typeface="Times New Roman" pitchFamily="18" charset="0"/>
              </a:rPr>
              <a:t>E</a:t>
            </a:r>
          </a:p>
        </p:txBody>
      </p:sp>
      <p:sp>
        <p:nvSpPr>
          <p:cNvPr id="17418" name="Line 10"/>
          <p:cNvSpPr>
            <a:spLocks noChangeShapeType="1"/>
          </p:cNvSpPr>
          <p:nvPr/>
        </p:nvSpPr>
        <p:spPr bwMode="auto">
          <a:xfrm>
            <a:off x="4648200" y="508635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>
            <a:off x="6248400" y="508635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>
            <a:off x="7772400" y="508635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1" name="Line 13"/>
          <p:cNvSpPr>
            <a:spLocks noChangeShapeType="1"/>
          </p:cNvSpPr>
          <p:nvPr/>
        </p:nvSpPr>
        <p:spPr bwMode="auto">
          <a:xfrm flipH="1">
            <a:off x="4800600" y="2495550"/>
            <a:ext cx="38100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2" name="Line 14"/>
          <p:cNvSpPr>
            <a:spLocks noChangeShapeType="1"/>
          </p:cNvSpPr>
          <p:nvPr/>
        </p:nvSpPr>
        <p:spPr bwMode="auto">
          <a:xfrm flipH="1">
            <a:off x="6400800" y="379095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3" name="Line 15"/>
          <p:cNvSpPr>
            <a:spLocks noChangeShapeType="1"/>
          </p:cNvSpPr>
          <p:nvPr/>
        </p:nvSpPr>
        <p:spPr bwMode="auto">
          <a:xfrm>
            <a:off x="7086600" y="3790950"/>
            <a:ext cx="5334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5562600" y="2419350"/>
            <a:ext cx="11430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5" name="Line 17"/>
          <p:cNvSpPr>
            <a:spLocks noChangeShapeType="1"/>
          </p:cNvSpPr>
          <p:nvPr/>
        </p:nvSpPr>
        <p:spPr bwMode="auto">
          <a:xfrm flipH="1" flipV="1">
            <a:off x="5410200" y="2419350"/>
            <a:ext cx="0" cy="3352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6" name="Line 18"/>
          <p:cNvSpPr>
            <a:spLocks noChangeShapeType="1"/>
          </p:cNvSpPr>
          <p:nvPr/>
        </p:nvSpPr>
        <p:spPr bwMode="auto">
          <a:xfrm flipH="1" flipV="1">
            <a:off x="7010400" y="3790950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7" name="Text Box 19"/>
          <p:cNvSpPr txBox="1">
            <a:spLocks noChangeArrowheads="1"/>
          </p:cNvSpPr>
          <p:nvPr/>
        </p:nvSpPr>
        <p:spPr bwMode="auto">
          <a:xfrm>
            <a:off x="1042988" y="4437063"/>
            <a:ext cx="1676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 → id</a:t>
            </a:r>
          </a:p>
        </p:txBody>
      </p:sp>
      <p:sp>
        <p:nvSpPr>
          <p:cNvPr id="17428" name="Text Box 20"/>
          <p:cNvSpPr txBox="1">
            <a:spLocks noChangeArrowheads="1"/>
          </p:cNvSpPr>
          <p:nvPr/>
        </p:nvSpPr>
        <p:spPr bwMode="auto">
          <a:xfrm>
            <a:off x="1042988" y="4897438"/>
            <a:ext cx="1676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 → id</a:t>
            </a:r>
          </a:p>
        </p:txBody>
      </p:sp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1042988" y="5402263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 → E * E</a:t>
            </a:r>
          </a:p>
        </p:txBody>
      </p:sp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1042988" y="5905500"/>
            <a:ext cx="2286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 → E + E</a:t>
            </a:r>
          </a:p>
        </p:txBody>
      </p:sp>
      <p:sp>
        <p:nvSpPr>
          <p:cNvPr id="17431" name="Text Box 23"/>
          <p:cNvSpPr txBox="1">
            <a:spLocks noChangeArrowheads="1"/>
          </p:cNvSpPr>
          <p:nvPr/>
        </p:nvSpPr>
        <p:spPr bwMode="auto">
          <a:xfrm>
            <a:off x="1042988" y="1916113"/>
            <a:ext cx="2133600" cy="1628775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 → id</a:t>
            </a:r>
          </a:p>
          <a:p>
            <a:pPr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 → (E)</a:t>
            </a:r>
          </a:p>
          <a:p>
            <a:pPr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 → E + E</a:t>
            </a:r>
          </a:p>
          <a:p>
            <a:pPr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 → E * 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909638" y="549275"/>
            <a:ext cx="560705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动作              栈         输入缓冲区</a:t>
            </a: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323850" y="1116013"/>
            <a:ext cx="6172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初始化            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        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+id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6156325" y="5562600"/>
            <a:ext cx="2895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dist"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800" b="1">
                <a:solidFill>
                  <a:srgbClr val="000099"/>
                </a:solidFill>
                <a:latin typeface="Times New Roman" pitchFamily="18" charset="0"/>
              </a:rPr>
              <a:t>id</a:t>
            </a:r>
            <a:r>
              <a:rPr kumimoji="1"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1 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itchFamily="18" charset="0"/>
              </a:rPr>
              <a:t>+ id</a:t>
            </a:r>
            <a:r>
              <a:rPr kumimoji="1"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itchFamily="18" charset="0"/>
              </a:rPr>
              <a:t> * id</a:t>
            </a:r>
            <a:r>
              <a:rPr kumimoji="1"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3</a:t>
            </a:r>
            <a:endParaRPr kumimoji="1" lang="en-US" altLang="zh-CN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323850" y="1614488"/>
            <a:ext cx="6172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移进     	         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  	     +id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auto">
          <a:xfrm>
            <a:off x="250825" y="119063"/>
            <a:ext cx="20510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zh-CN" altLang="en-US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例 分析过程</a:t>
            </a: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282575" y="2060575"/>
            <a:ext cx="64373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归约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E→id       #E            +id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324600" y="4291013"/>
            <a:ext cx="420688" cy="1500187"/>
            <a:chOff x="4176" y="2703"/>
            <a:chExt cx="265" cy="945"/>
          </a:xfrm>
        </p:grpSpPr>
        <p:sp>
          <p:nvSpPr>
            <p:cNvPr id="22564" name="Line 9"/>
            <p:cNvSpPr>
              <a:spLocks noChangeShapeType="1"/>
            </p:cNvSpPr>
            <p:nvPr/>
          </p:nvSpPr>
          <p:spPr bwMode="auto">
            <a:xfrm flipV="1">
              <a:off x="4320" y="2928"/>
              <a:ext cx="0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65" name="Rectangle 10"/>
            <p:cNvSpPr>
              <a:spLocks noChangeArrowheads="1"/>
            </p:cNvSpPr>
            <p:nvPr/>
          </p:nvSpPr>
          <p:spPr bwMode="auto">
            <a:xfrm>
              <a:off x="4176" y="2703"/>
              <a:ext cx="26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250825" y="2474913"/>
            <a:ext cx="62912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4)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移进        	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#E+            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250825" y="2855913"/>
            <a:ext cx="6367463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5)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移进        	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#E+id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           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258763" y="3313113"/>
            <a:ext cx="64008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6)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归约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E→id 	 #E+E       	   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7162800" y="4291013"/>
            <a:ext cx="420688" cy="1423987"/>
            <a:chOff x="4512" y="2703"/>
            <a:chExt cx="265" cy="897"/>
          </a:xfrm>
        </p:grpSpPr>
        <p:sp>
          <p:nvSpPr>
            <p:cNvPr id="22562" name="Line 15"/>
            <p:cNvSpPr>
              <a:spLocks noChangeShapeType="1"/>
            </p:cNvSpPr>
            <p:nvPr/>
          </p:nvSpPr>
          <p:spPr bwMode="auto">
            <a:xfrm flipV="1">
              <a:off x="4656" y="2976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63" name="Rectangle 16"/>
            <p:cNvSpPr>
              <a:spLocks noChangeArrowheads="1"/>
            </p:cNvSpPr>
            <p:nvPr/>
          </p:nvSpPr>
          <p:spPr bwMode="auto">
            <a:xfrm>
              <a:off x="4512" y="2703"/>
              <a:ext cx="26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8534400" y="4295775"/>
            <a:ext cx="455613" cy="1343025"/>
            <a:chOff x="5376" y="2514"/>
            <a:chExt cx="287" cy="846"/>
          </a:xfrm>
        </p:grpSpPr>
        <p:sp>
          <p:nvSpPr>
            <p:cNvPr id="22560" name="Line 18"/>
            <p:cNvSpPr>
              <a:spLocks noChangeShapeType="1"/>
            </p:cNvSpPr>
            <p:nvPr/>
          </p:nvSpPr>
          <p:spPr bwMode="auto">
            <a:xfrm flipV="1">
              <a:off x="5472" y="2784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8451" name="Rectangle 19"/>
            <p:cNvSpPr>
              <a:spLocks noChangeArrowheads="1"/>
            </p:cNvSpPr>
            <p:nvPr/>
          </p:nvSpPr>
          <p:spPr bwMode="auto">
            <a:xfrm>
              <a:off x="5376" y="2514"/>
              <a:ext cx="287" cy="39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32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E</a:t>
              </a:r>
            </a:p>
          </p:txBody>
        </p:sp>
      </p:grpSp>
      <p:sp>
        <p:nvSpPr>
          <p:cNvPr id="18452" name="Rectangle 20"/>
          <p:cNvSpPr>
            <a:spLocks noChangeArrowheads="1"/>
          </p:cNvSpPr>
          <p:nvPr/>
        </p:nvSpPr>
        <p:spPr bwMode="auto">
          <a:xfrm>
            <a:off x="258763" y="3846513"/>
            <a:ext cx="6400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7)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移进     		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#E+E*             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sp>
        <p:nvSpPr>
          <p:cNvPr id="18453" name="Rectangle 21"/>
          <p:cNvSpPr>
            <a:spLocks noChangeArrowheads="1"/>
          </p:cNvSpPr>
          <p:nvPr/>
        </p:nvSpPr>
        <p:spPr bwMode="auto">
          <a:xfrm>
            <a:off x="223838" y="4381500"/>
            <a:ext cx="60039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8)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移进        	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#E+E*id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            #</a:t>
            </a:r>
          </a:p>
        </p:txBody>
      </p:sp>
      <p:sp>
        <p:nvSpPr>
          <p:cNvPr id="18454" name="Rectangle 22"/>
          <p:cNvSpPr>
            <a:spLocks noChangeArrowheads="1"/>
          </p:cNvSpPr>
          <p:nvPr/>
        </p:nvSpPr>
        <p:spPr bwMode="auto">
          <a:xfrm>
            <a:off x="223838" y="4816475"/>
            <a:ext cx="607695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9)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归约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E→id 	 #E+E*E               #</a:t>
            </a:r>
          </a:p>
        </p:txBody>
      </p:sp>
      <p:sp>
        <p:nvSpPr>
          <p:cNvPr id="18455" name="Rectangle 23"/>
          <p:cNvSpPr>
            <a:spLocks noChangeArrowheads="1"/>
          </p:cNvSpPr>
          <p:nvPr/>
        </p:nvSpPr>
        <p:spPr bwMode="auto">
          <a:xfrm>
            <a:off x="127000" y="5346700"/>
            <a:ext cx="62452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10)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归约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E→E*E    #E+E     	           #</a:t>
            </a:r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7315200" y="2919413"/>
            <a:ext cx="1371600" cy="2795587"/>
            <a:chOff x="4608" y="1839"/>
            <a:chExt cx="864" cy="1761"/>
          </a:xfrm>
        </p:grpSpPr>
        <p:sp>
          <p:nvSpPr>
            <p:cNvPr id="22556" name="Line 25"/>
            <p:cNvSpPr>
              <a:spLocks noChangeShapeType="1"/>
            </p:cNvSpPr>
            <p:nvPr/>
          </p:nvSpPr>
          <p:spPr bwMode="auto">
            <a:xfrm flipH="1" flipV="1">
              <a:off x="5232" y="2160"/>
              <a:ext cx="24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57" name="Line 26"/>
            <p:cNvSpPr>
              <a:spLocks noChangeShapeType="1"/>
            </p:cNvSpPr>
            <p:nvPr/>
          </p:nvSpPr>
          <p:spPr bwMode="auto">
            <a:xfrm flipV="1">
              <a:off x="5088" y="2160"/>
              <a:ext cx="0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58" name="Line 27"/>
            <p:cNvSpPr>
              <a:spLocks noChangeShapeType="1"/>
            </p:cNvSpPr>
            <p:nvPr/>
          </p:nvSpPr>
          <p:spPr bwMode="auto">
            <a:xfrm flipV="1">
              <a:off x="4608" y="2112"/>
              <a:ext cx="432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59" name="Rectangle 28"/>
            <p:cNvSpPr>
              <a:spLocks noChangeArrowheads="1"/>
            </p:cNvSpPr>
            <p:nvPr/>
          </p:nvSpPr>
          <p:spPr bwMode="auto">
            <a:xfrm>
              <a:off x="4992" y="1839"/>
              <a:ext cx="26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sp>
        <p:nvSpPr>
          <p:cNvPr id="18461" name="Rectangle 29"/>
          <p:cNvSpPr>
            <a:spLocks noChangeArrowheads="1"/>
          </p:cNvSpPr>
          <p:nvPr/>
        </p:nvSpPr>
        <p:spPr bwMode="auto">
          <a:xfrm>
            <a:off x="107950" y="5807075"/>
            <a:ext cx="621982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11)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归约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E→E+E	  #E                        #</a:t>
            </a:r>
          </a:p>
        </p:txBody>
      </p:sp>
      <p:sp>
        <p:nvSpPr>
          <p:cNvPr id="18462" name="Rectangle 30"/>
          <p:cNvSpPr>
            <a:spLocks noChangeArrowheads="1"/>
          </p:cNvSpPr>
          <p:nvPr/>
        </p:nvSpPr>
        <p:spPr bwMode="auto">
          <a:xfrm>
            <a:off x="107950" y="6264275"/>
            <a:ext cx="1757363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12)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接受</a:t>
            </a:r>
          </a:p>
        </p:txBody>
      </p: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6553200" y="1700213"/>
            <a:ext cx="1524000" cy="4090987"/>
            <a:chOff x="4128" y="1071"/>
            <a:chExt cx="960" cy="2577"/>
          </a:xfrm>
        </p:grpSpPr>
        <p:sp>
          <p:nvSpPr>
            <p:cNvPr id="22552" name="Line 32"/>
            <p:cNvSpPr>
              <a:spLocks noChangeShapeType="1"/>
            </p:cNvSpPr>
            <p:nvPr/>
          </p:nvSpPr>
          <p:spPr bwMode="auto">
            <a:xfrm flipV="1">
              <a:off x="4128" y="1392"/>
              <a:ext cx="288" cy="1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53" name="Line 33"/>
            <p:cNvSpPr>
              <a:spLocks noChangeShapeType="1"/>
            </p:cNvSpPr>
            <p:nvPr/>
          </p:nvSpPr>
          <p:spPr bwMode="auto">
            <a:xfrm flipV="1">
              <a:off x="4416" y="1440"/>
              <a:ext cx="0" cy="22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54" name="Line 34"/>
            <p:cNvSpPr>
              <a:spLocks noChangeShapeType="1"/>
            </p:cNvSpPr>
            <p:nvPr/>
          </p:nvSpPr>
          <p:spPr bwMode="auto">
            <a:xfrm flipH="1" flipV="1">
              <a:off x="4560" y="1344"/>
              <a:ext cx="528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55" name="Rectangle 35"/>
            <p:cNvSpPr>
              <a:spLocks noChangeArrowheads="1"/>
            </p:cNvSpPr>
            <p:nvPr/>
          </p:nvSpPr>
          <p:spPr bwMode="auto">
            <a:xfrm>
              <a:off x="4368" y="1071"/>
              <a:ext cx="26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sp>
        <p:nvSpPr>
          <p:cNvPr id="18469" name="Text Box 37"/>
          <p:cNvSpPr txBox="1">
            <a:spLocks noChangeArrowheads="1"/>
          </p:cNvSpPr>
          <p:nvPr/>
        </p:nvSpPr>
        <p:spPr bwMode="auto">
          <a:xfrm>
            <a:off x="6948488" y="115888"/>
            <a:ext cx="2133600" cy="1457325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8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 → id</a:t>
            </a:r>
          </a:p>
          <a:p>
            <a:pPr eaLnBrk="0" hangingPunct="0">
              <a:lnSpc>
                <a:spcPct val="8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 → (E)</a:t>
            </a:r>
          </a:p>
          <a:p>
            <a:pPr eaLnBrk="0" hangingPunct="0">
              <a:lnSpc>
                <a:spcPct val="8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 → E + E</a:t>
            </a:r>
          </a:p>
          <a:p>
            <a:pPr eaLnBrk="0" hangingPunct="0">
              <a:lnSpc>
                <a:spcPct val="8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 → E * E</a:t>
            </a:r>
          </a:p>
        </p:txBody>
      </p:sp>
      <p:sp>
        <p:nvSpPr>
          <p:cNvPr id="22551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BE93D7A5-33C0-49A0-B2CB-68F2B745018C}" type="slidenum">
              <a:rPr lang="en-US" altLang="zh-CN" sz="1400"/>
              <a:pPr algn="r" eaLnBrk="1" hangingPunct="1"/>
              <a:t>14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476250"/>
            <a:ext cx="6192837" cy="833438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分析器的四种动作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1773238"/>
            <a:ext cx="8070850" cy="331152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1)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移进：将下一输入符号移入栈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2)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归约：用产生式左侧的非终结符替换栈顶的句柄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某产生式右部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3)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接受：分析成功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4)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出错：出错处理</a:t>
            </a:r>
          </a:p>
        </p:txBody>
      </p:sp>
      <p:sp>
        <p:nvSpPr>
          <p:cNvPr id="235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A3869FA-BA78-4437-B4B0-9117761FF015}" type="slidenum">
              <a:rPr lang="en-US" altLang="zh-CN" smtClean="0"/>
              <a:pPr eaLnBrk="1" hangingPunct="1"/>
              <a:t>15</a:t>
            </a:fld>
            <a:endParaRPr lang="en-US" altLang="zh-CN" smtClean="0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34925" y="5756275"/>
            <a:ext cx="8870950" cy="641350"/>
          </a:xfrm>
          <a:prstGeom prst="rect">
            <a:avLst/>
          </a:prstGeom>
          <a:solidFill>
            <a:srgbClr val="0066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6666"/>
            </a:extrusionClr>
          </a:sp3d>
        </p:spPr>
        <p:txBody>
          <a:bodyPr wrap="none">
            <a:spAutoFit/>
            <a:flatTx/>
          </a:bodyPr>
          <a:lstStyle/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600" b="1">
                <a:solidFill>
                  <a:schemeClr val="bg1"/>
                </a:solidFill>
                <a:ea typeface="华文新魏" pitchFamily="2" charset="-122"/>
              </a:rPr>
              <a:t>回头想想</a:t>
            </a:r>
            <a:r>
              <a:rPr lang="en-US" altLang="zh-CN" sz="3600" b="1">
                <a:solidFill>
                  <a:schemeClr val="bg1"/>
                </a:solidFill>
                <a:latin typeface="Arial" charset="0"/>
                <a:ea typeface="华文新魏" pitchFamily="2" charset="-122"/>
              </a:rPr>
              <a:t>——</a:t>
            </a:r>
            <a:r>
              <a:rPr lang="zh-CN" altLang="en-US" sz="3600" b="1">
                <a:solidFill>
                  <a:schemeClr val="bg1"/>
                </a:solidFill>
                <a:ea typeface="华文新魏" pitchFamily="2" charset="-122"/>
              </a:rPr>
              <a:t>决定移进和归约的依据是什么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ChangeArrowheads="1"/>
          </p:cNvSpPr>
          <p:nvPr/>
        </p:nvSpPr>
        <p:spPr bwMode="auto">
          <a:xfrm>
            <a:off x="909638" y="549275"/>
            <a:ext cx="560705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动作              栈         输入缓冲区</a:t>
            </a:r>
          </a:p>
        </p:txBody>
      </p:sp>
      <p:sp>
        <p:nvSpPr>
          <p:cNvPr id="299011" name="Rectangle 3"/>
          <p:cNvSpPr>
            <a:spLocks noChangeArrowheads="1"/>
          </p:cNvSpPr>
          <p:nvPr/>
        </p:nvSpPr>
        <p:spPr bwMode="auto">
          <a:xfrm>
            <a:off x="323850" y="1116013"/>
            <a:ext cx="6172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初始化            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        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+id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sp>
        <p:nvSpPr>
          <p:cNvPr id="299012" name="Rectangle 4"/>
          <p:cNvSpPr>
            <a:spLocks noChangeArrowheads="1"/>
          </p:cNvSpPr>
          <p:nvPr/>
        </p:nvSpPr>
        <p:spPr bwMode="auto">
          <a:xfrm>
            <a:off x="6227763" y="5562600"/>
            <a:ext cx="2895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dist"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800" b="1">
                <a:solidFill>
                  <a:srgbClr val="000099"/>
                </a:solidFill>
                <a:latin typeface="Times New Roman" pitchFamily="18" charset="0"/>
              </a:rPr>
              <a:t>id</a:t>
            </a:r>
            <a:r>
              <a:rPr kumimoji="1"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1 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itchFamily="18" charset="0"/>
              </a:rPr>
              <a:t>+ id</a:t>
            </a:r>
            <a:r>
              <a:rPr kumimoji="1"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2</a:t>
            </a:r>
            <a:r>
              <a:rPr kumimoji="1" lang="en-US" altLang="zh-CN" sz="2800" b="1">
                <a:solidFill>
                  <a:srgbClr val="000099"/>
                </a:solidFill>
                <a:latin typeface="Times New Roman" pitchFamily="18" charset="0"/>
              </a:rPr>
              <a:t> * id</a:t>
            </a:r>
            <a:r>
              <a:rPr kumimoji="1" lang="en-US" altLang="zh-CN" sz="2800" b="1" baseline="-25000">
                <a:solidFill>
                  <a:srgbClr val="000099"/>
                </a:solidFill>
                <a:latin typeface="Times New Roman" pitchFamily="18" charset="0"/>
              </a:rPr>
              <a:t>3</a:t>
            </a:r>
            <a:endParaRPr kumimoji="1" lang="en-US" altLang="zh-CN" sz="28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299013" name="Rectangle 5"/>
          <p:cNvSpPr>
            <a:spLocks noChangeArrowheads="1"/>
          </p:cNvSpPr>
          <p:nvPr/>
        </p:nvSpPr>
        <p:spPr bwMode="auto">
          <a:xfrm>
            <a:off x="250825" y="1614488"/>
            <a:ext cx="6172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移进     	         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  	     +id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sp>
        <p:nvSpPr>
          <p:cNvPr id="299014" name="Rectangle 6"/>
          <p:cNvSpPr>
            <a:spLocks noChangeArrowheads="1"/>
          </p:cNvSpPr>
          <p:nvPr/>
        </p:nvSpPr>
        <p:spPr bwMode="auto">
          <a:xfrm>
            <a:off x="250825" y="119063"/>
            <a:ext cx="20510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zh-CN" altLang="en-US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例 分析过程</a:t>
            </a:r>
          </a:p>
        </p:txBody>
      </p:sp>
      <p:sp>
        <p:nvSpPr>
          <p:cNvPr id="299015" name="Rectangle 7"/>
          <p:cNvSpPr>
            <a:spLocks noChangeArrowheads="1"/>
          </p:cNvSpPr>
          <p:nvPr/>
        </p:nvSpPr>
        <p:spPr bwMode="auto">
          <a:xfrm>
            <a:off x="250825" y="2060575"/>
            <a:ext cx="64373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归约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E→id      #E            +id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324600" y="4291013"/>
            <a:ext cx="420688" cy="1500187"/>
            <a:chOff x="4176" y="2703"/>
            <a:chExt cx="265" cy="945"/>
          </a:xfrm>
        </p:grpSpPr>
        <p:sp>
          <p:nvSpPr>
            <p:cNvPr id="29733" name="Line 9"/>
            <p:cNvSpPr>
              <a:spLocks noChangeShapeType="1"/>
            </p:cNvSpPr>
            <p:nvPr/>
          </p:nvSpPr>
          <p:spPr bwMode="auto">
            <a:xfrm flipV="1">
              <a:off x="4320" y="2928"/>
              <a:ext cx="0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9734" name="Rectangle 10"/>
            <p:cNvSpPr>
              <a:spLocks noChangeArrowheads="1"/>
            </p:cNvSpPr>
            <p:nvPr/>
          </p:nvSpPr>
          <p:spPr bwMode="auto">
            <a:xfrm>
              <a:off x="4176" y="2703"/>
              <a:ext cx="26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sp>
        <p:nvSpPr>
          <p:cNvPr id="299019" name="Rectangle 11"/>
          <p:cNvSpPr>
            <a:spLocks noChangeArrowheads="1"/>
          </p:cNvSpPr>
          <p:nvPr/>
        </p:nvSpPr>
        <p:spPr bwMode="auto">
          <a:xfrm>
            <a:off x="250825" y="2474913"/>
            <a:ext cx="62912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4)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移进        	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#E+            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sp>
        <p:nvSpPr>
          <p:cNvPr id="299020" name="Rectangle 12"/>
          <p:cNvSpPr>
            <a:spLocks noChangeArrowheads="1"/>
          </p:cNvSpPr>
          <p:nvPr/>
        </p:nvSpPr>
        <p:spPr bwMode="auto">
          <a:xfrm>
            <a:off x="250825" y="2855913"/>
            <a:ext cx="6367463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5)  </a:t>
            </a: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移进        	</a:t>
            </a:r>
            <a:r>
              <a:rPr kumimoji="1" lang="en-US" altLang="zh-CN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#E+id</a:t>
            </a:r>
            <a:r>
              <a:rPr kumimoji="1" lang="en-US" altLang="zh-CN" sz="28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</a:t>
            </a:r>
            <a:r>
              <a:rPr kumimoji="1" lang="en-US" altLang="zh-CN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           *id</a:t>
            </a:r>
            <a:r>
              <a:rPr kumimoji="1" lang="en-US" altLang="zh-CN" sz="2800" b="1" baseline="-25000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sp>
        <p:nvSpPr>
          <p:cNvPr id="299021" name="Rectangle 13"/>
          <p:cNvSpPr>
            <a:spLocks noChangeArrowheads="1"/>
          </p:cNvSpPr>
          <p:nvPr/>
        </p:nvSpPr>
        <p:spPr bwMode="auto">
          <a:xfrm>
            <a:off x="258763" y="3313113"/>
            <a:ext cx="64008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6)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归约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E→id 	#E+E       	   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7319963" y="4291013"/>
            <a:ext cx="420687" cy="1423987"/>
            <a:chOff x="4512" y="2703"/>
            <a:chExt cx="265" cy="897"/>
          </a:xfrm>
        </p:grpSpPr>
        <p:sp>
          <p:nvSpPr>
            <p:cNvPr id="29731" name="Line 15"/>
            <p:cNvSpPr>
              <a:spLocks noChangeShapeType="1"/>
            </p:cNvSpPr>
            <p:nvPr/>
          </p:nvSpPr>
          <p:spPr bwMode="auto">
            <a:xfrm flipV="1">
              <a:off x="4656" y="2976"/>
              <a:ext cx="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9732" name="Rectangle 16"/>
            <p:cNvSpPr>
              <a:spLocks noChangeArrowheads="1"/>
            </p:cNvSpPr>
            <p:nvPr/>
          </p:nvSpPr>
          <p:spPr bwMode="auto">
            <a:xfrm>
              <a:off x="4512" y="2703"/>
              <a:ext cx="26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8534400" y="4295775"/>
            <a:ext cx="455613" cy="1343025"/>
            <a:chOff x="5376" y="2514"/>
            <a:chExt cx="287" cy="846"/>
          </a:xfrm>
        </p:grpSpPr>
        <p:sp>
          <p:nvSpPr>
            <p:cNvPr id="29729" name="Line 18"/>
            <p:cNvSpPr>
              <a:spLocks noChangeShapeType="1"/>
            </p:cNvSpPr>
            <p:nvPr/>
          </p:nvSpPr>
          <p:spPr bwMode="auto">
            <a:xfrm flipV="1">
              <a:off x="5472" y="2784"/>
              <a:ext cx="0" cy="5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99027" name="Rectangle 19"/>
            <p:cNvSpPr>
              <a:spLocks noChangeArrowheads="1"/>
            </p:cNvSpPr>
            <p:nvPr/>
          </p:nvSpPr>
          <p:spPr bwMode="auto">
            <a:xfrm>
              <a:off x="5376" y="2514"/>
              <a:ext cx="287" cy="39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32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E</a:t>
              </a:r>
            </a:p>
          </p:txBody>
        </p:sp>
      </p:grpSp>
      <p:sp>
        <p:nvSpPr>
          <p:cNvPr id="299028" name="Rectangle 20"/>
          <p:cNvSpPr>
            <a:spLocks noChangeArrowheads="1"/>
          </p:cNvSpPr>
          <p:nvPr/>
        </p:nvSpPr>
        <p:spPr bwMode="auto">
          <a:xfrm>
            <a:off x="258763" y="3846513"/>
            <a:ext cx="6400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7)  </a:t>
            </a:r>
            <a:r>
              <a:rPr kumimoji="1" lang="zh-CN" altLang="en-US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移进     		</a:t>
            </a:r>
            <a:r>
              <a:rPr kumimoji="1"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#E+E*             id</a:t>
            </a:r>
            <a:r>
              <a:rPr kumimoji="1" lang="en-US" altLang="zh-CN" sz="2800" b="1" baseline="-2500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sp>
        <p:nvSpPr>
          <p:cNvPr id="299029" name="Rectangle 21"/>
          <p:cNvSpPr>
            <a:spLocks noChangeArrowheads="1"/>
          </p:cNvSpPr>
          <p:nvPr/>
        </p:nvSpPr>
        <p:spPr bwMode="auto">
          <a:xfrm>
            <a:off x="247650" y="4370388"/>
            <a:ext cx="598011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8)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移进        	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#E+E*id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             #</a:t>
            </a:r>
          </a:p>
        </p:txBody>
      </p:sp>
      <p:sp>
        <p:nvSpPr>
          <p:cNvPr id="299030" name="Rectangle 22"/>
          <p:cNvSpPr>
            <a:spLocks noChangeArrowheads="1"/>
          </p:cNvSpPr>
          <p:nvPr/>
        </p:nvSpPr>
        <p:spPr bwMode="auto">
          <a:xfrm>
            <a:off x="250825" y="4805363"/>
            <a:ext cx="61214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9)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归约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E→id 	#E+E*E                #</a:t>
            </a:r>
          </a:p>
        </p:txBody>
      </p:sp>
      <p:sp>
        <p:nvSpPr>
          <p:cNvPr id="299031" name="Rectangle 23"/>
          <p:cNvSpPr>
            <a:spLocks noChangeArrowheads="1"/>
          </p:cNvSpPr>
          <p:nvPr/>
        </p:nvSpPr>
        <p:spPr bwMode="auto">
          <a:xfrm>
            <a:off x="127000" y="5346700"/>
            <a:ext cx="66055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10)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归约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E→E*E   #E+E                    #</a:t>
            </a:r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7451725" y="2919413"/>
            <a:ext cx="1235075" cy="2795587"/>
            <a:chOff x="4608" y="1839"/>
            <a:chExt cx="864" cy="1761"/>
          </a:xfrm>
        </p:grpSpPr>
        <p:sp>
          <p:nvSpPr>
            <p:cNvPr id="29725" name="Line 25"/>
            <p:cNvSpPr>
              <a:spLocks noChangeShapeType="1"/>
            </p:cNvSpPr>
            <p:nvPr/>
          </p:nvSpPr>
          <p:spPr bwMode="auto">
            <a:xfrm flipH="1" flipV="1">
              <a:off x="5232" y="2160"/>
              <a:ext cx="24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9726" name="Line 26"/>
            <p:cNvSpPr>
              <a:spLocks noChangeShapeType="1"/>
            </p:cNvSpPr>
            <p:nvPr/>
          </p:nvSpPr>
          <p:spPr bwMode="auto">
            <a:xfrm flipV="1">
              <a:off x="5088" y="2160"/>
              <a:ext cx="0" cy="14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9727" name="Line 27"/>
            <p:cNvSpPr>
              <a:spLocks noChangeShapeType="1"/>
            </p:cNvSpPr>
            <p:nvPr/>
          </p:nvSpPr>
          <p:spPr bwMode="auto">
            <a:xfrm flipV="1">
              <a:off x="4608" y="2112"/>
              <a:ext cx="432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9728" name="Rectangle 28"/>
            <p:cNvSpPr>
              <a:spLocks noChangeArrowheads="1"/>
            </p:cNvSpPr>
            <p:nvPr/>
          </p:nvSpPr>
          <p:spPr bwMode="auto">
            <a:xfrm>
              <a:off x="4992" y="1839"/>
              <a:ext cx="29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sp>
        <p:nvSpPr>
          <p:cNvPr id="299037" name="Rectangle 29"/>
          <p:cNvSpPr>
            <a:spLocks noChangeArrowheads="1"/>
          </p:cNvSpPr>
          <p:nvPr/>
        </p:nvSpPr>
        <p:spPr bwMode="auto">
          <a:xfrm>
            <a:off x="152400" y="5807075"/>
            <a:ext cx="6507163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11)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归约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E→E+E	 #E                         #</a:t>
            </a:r>
          </a:p>
        </p:txBody>
      </p:sp>
      <p:sp>
        <p:nvSpPr>
          <p:cNvPr id="299038" name="Rectangle 30"/>
          <p:cNvSpPr>
            <a:spLocks noChangeArrowheads="1"/>
          </p:cNvSpPr>
          <p:nvPr/>
        </p:nvSpPr>
        <p:spPr bwMode="auto">
          <a:xfrm>
            <a:off x="152400" y="6264275"/>
            <a:ext cx="1757363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12)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接受</a:t>
            </a:r>
          </a:p>
        </p:txBody>
      </p: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6553200" y="1700213"/>
            <a:ext cx="1524000" cy="4090987"/>
            <a:chOff x="4128" y="1071"/>
            <a:chExt cx="960" cy="2577"/>
          </a:xfrm>
        </p:grpSpPr>
        <p:sp>
          <p:nvSpPr>
            <p:cNvPr id="29721" name="Line 32"/>
            <p:cNvSpPr>
              <a:spLocks noChangeShapeType="1"/>
            </p:cNvSpPr>
            <p:nvPr/>
          </p:nvSpPr>
          <p:spPr bwMode="auto">
            <a:xfrm flipV="1">
              <a:off x="4128" y="1392"/>
              <a:ext cx="288" cy="13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9722" name="Line 33"/>
            <p:cNvSpPr>
              <a:spLocks noChangeShapeType="1"/>
            </p:cNvSpPr>
            <p:nvPr/>
          </p:nvSpPr>
          <p:spPr bwMode="auto">
            <a:xfrm flipV="1">
              <a:off x="4416" y="1440"/>
              <a:ext cx="0" cy="22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9723" name="Line 34"/>
            <p:cNvSpPr>
              <a:spLocks noChangeShapeType="1"/>
            </p:cNvSpPr>
            <p:nvPr/>
          </p:nvSpPr>
          <p:spPr bwMode="auto">
            <a:xfrm flipH="1" flipV="1">
              <a:off x="4560" y="1344"/>
              <a:ext cx="528" cy="5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9724" name="Rectangle 35"/>
            <p:cNvSpPr>
              <a:spLocks noChangeArrowheads="1"/>
            </p:cNvSpPr>
            <p:nvPr/>
          </p:nvSpPr>
          <p:spPr bwMode="auto">
            <a:xfrm>
              <a:off x="4368" y="1071"/>
              <a:ext cx="26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2800" b="1">
                  <a:solidFill>
                    <a:srgbClr val="000099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sp>
        <p:nvSpPr>
          <p:cNvPr id="299044" name="Text Box 36"/>
          <p:cNvSpPr txBox="1">
            <a:spLocks noChangeArrowheads="1"/>
          </p:cNvSpPr>
          <p:nvPr/>
        </p:nvSpPr>
        <p:spPr bwMode="auto">
          <a:xfrm>
            <a:off x="6877050" y="144463"/>
            <a:ext cx="2133600" cy="1457325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8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E → id</a:t>
            </a:r>
          </a:p>
          <a:p>
            <a:pPr eaLnBrk="0" hangingPunct="0">
              <a:lnSpc>
                <a:spcPct val="8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E → (E)</a:t>
            </a:r>
          </a:p>
          <a:p>
            <a:pPr eaLnBrk="0" hangingPunct="0">
              <a:lnSpc>
                <a:spcPct val="8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E → E + E</a:t>
            </a:r>
          </a:p>
          <a:p>
            <a:pPr eaLnBrk="0" hangingPunct="0">
              <a:lnSpc>
                <a:spcPct val="8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E → E * E</a:t>
            </a:r>
          </a:p>
        </p:txBody>
      </p:sp>
      <p:sp>
        <p:nvSpPr>
          <p:cNvPr id="299045" name="Text Box 37"/>
          <p:cNvSpPr txBox="1">
            <a:spLocks noChangeArrowheads="1"/>
          </p:cNvSpPr>
          <p:nvPr/>
        </p:nvSpPr>
        <p:spPr bwMode="auto">
          <a:xfrm>
            <a:off x="1657350" y="6237288"/>
            <a:ext cx="7451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符号的优先级可以用来确定归约对象是否形成</a:t>
            </a:r>
          </a:p>
        </p:txBody>
      </p:sp>
      <p:sp>
        <p:nvSpPr>
          <p:cNvPr id="29720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797BFDF7-DB48-4A97-B903-ADF563362A0D}" type="slidenum">
              <a:rPr lang="en-US" altLang="zh-CN" sz="1400"/>
              <a:pPr algn="r" eaLnBrk="1" hangingPunct="1"/>
              <a:t>16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609600"/>
            <a:ext cx="7793037" cy="1066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移进归约分析中的问题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924050"/>
            <a:ext cx="7351712" cy="712788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3600" b="1" smtClean="0">
                <a:solidFill>
                  <a:srgbClr val="CC0000"/>
                </a:solidFill>
                <a:latin typeface="Times New Roman" pitchFamily="18" charset="0"/>
                <a:ea typeface="华文新魏" pitchFamily="2" charset="-122"/>
              </a:rPr>
              <a:t>(1) </a:t>
            </a:r>
            <a:r>
              <a:rPr lang="zh-CN" altLang="en-US" sz="3600" b="1" smtClean="0">
                <a:solidFill>
                  <a:srgbClr val="CC0000"/>
                </a:solidFill>
                <a:latin typeface="Times New Roman" pitchFamily="18" charset="0"/>
                <a:ea typeface="华文新魏" pitchFamily="2" charset="-122"/>
              </a:rPr>
              <a:t>移进归约冲突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     </a:t>
            </a:r>
          </a:p>
        </p:txBody>
      </p:sp>
      <p:sp>
        <p:nvSpPr>
          <p:cNvPr id="3072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5931461-93D3-4DDC-AF4E-1EA44CD6A04B}" type="slidenum">
              <a:rPr lang="en-US" altLang="zh-CN" smtClean="0"/>
              <a:pPr eaLnBrk="1" hangingPunct="1"/>
              <a:t>17</a:t>
            </a:fld>
            <a:endParaRPr lang="en-US" altLang="zh-CN" smtClean="0"/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742950" y="3644900"/>
            <a:ext cx="7716838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第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7</a:t>
            </a: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步可以移进 *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/>
            </a:pPr>
            <a: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移进</a:t>
            </a:r>
            <a:r>
              <a:rPr kumimoji="1"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     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#E+E*		id</a:t>
            </a:r>
            <a:r>
              <a:rPr kumimoji="1" lang="en-US" altLang="zh-CN" sz="3200" b="1" baseline="-250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#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/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也可以按产生式</a:t>
            </a:r>
            <a:r>
              <a:rPr lang="en-US" altLang="zh-CN" sz="3200" b="1">
                <a:latin typeface="Times New Roman" pitchFamily="18" charset="0"/>
                <a:ea typeface="楷体_GB2312" pitchFamily="49" charset="-122"/>
              </a:rPr>
              <a:t>E→E+E</a:t>
            </a: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归约</a:t>
            </a:r>
            <a:r>
              <a:rPr lang="zh-CN" altLang="en-US" sz="3200" b="1">
                <a:latin typeface="Times New Roman" pitchFamily="18" charset="0"/>
                <a:ea typeface="楷体_GB2312" pitchFamily="49" charset="-122"/>
              </a:rPr>
              <a:t>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/>
            </a:pPr>
            <a:r>
              <a:rPr lang="zh-CN" altLang="en-US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归约		</a:t>
            </a:r>
            <a:r>
              <a:rPr lang="en-US" altLang="zh-CN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#E		*id</a:t>
            </a:r>
            <a:r>
              <a:rPr lang="en-US" altLang="zh-CN" sz="3200" b="1" baseline="-2500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3</a:t>
            </a:r>
            <a:r>
              <a:rPr lang="en-US" altLang="zh-CN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1258888" y="2578100"/>
            <a:ext cx="7273925" cy="1077913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第</a:t>
            </a:r>
            <a:r>
              <a:rPr kumimoji="1"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6</a:t>
            </a:r>
            <a:r>
              <a:rPr kumimoji="1"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步</a:t>
            </a:r>
            <a:r>
              <a:rPr kumimoji="1"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#E+id</a:t>
            </a:r>
            <a:r>
              <a:rPr kumimoji="1" lang="en-US" altLang="zh-CN" sz="32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 </a:t>
            </a:r>
            <a:r>
              <a:rPr kumimoji="1"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据</a:t>
            </a:r>
            <a:r>
              <a:rPr kumimoji="1" lang="en-US" altLang="zh-CN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E→id</a:t>
            </a:r>
            <a:r>
              <a:rPr kumimoji="1"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对</a:t>
            </a:r>
            <a:r>
              <a:rPr kumimoji="1"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id</a:t>
            </a:r>
            <a:r>
              <a:rPr kumimoji="1" lang="en-US" altLang="zh-CN" sz="32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</a:t>
            </a:r>
            <a:r>
              <a:rPr kumimoji="1"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归约之后 </a:t>
            </a:r>
          </a:p>
          <a:p>
            <a:pPr eaLnBrk="0" hangingPunct="0"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 </a:t>
            </a:r>
            <a:r>
              <a:rPr kumimoji="1"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#E+E       	  	 *id</a:t>
            </a:r>
            <a:r>
              <a:rPr kumimoji="1" lang="en-US" altLang="zh-CN" sz="3200" b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#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27038"/>
            <a:ext cx="7793037" cy="9144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移进归约分析中的问题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628775"/>
            <a:ext cx="6767513" cy="467995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b="1" smtClean="0">
                <a:solidFill>
                  <a:srgbClr val="CC0000"/>
                </a:solidFill>
                <a:latin typeface="Times New Roman" pitchFamily="18" charset="0"/>
                <a:ea typeface="华文新魏" pitchFamily="2" charset="-122"/>
              </a:rPr>
              <a:t>(2) </a:t>
            </a:r>
            <a:r>
              <a:rPr lang="zh-CN" altLang="en-US" b="1" smtClean="0">
                <a:solidFill>
                  <a:srgbClr val="CC0000"/>
                </a:solidFill>
                <a:latin typeface="Times New Roman" pitchFamily="18" charset="0"/>
                <a:ea typeface="华文新魏" pitchFamily="2" charset="-122"/>
              </a:rPr>
              <a:t>归约归约冲突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     </a:t>
            </a:r>
          </a:p>
          <a:p>
            <a:pPr lvl="1" eaLnBrk="1" hangingPunct="1">
              <a:defRPr/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存在两个可用的产生式</a:t>
            </a:r>
          </a:p>
          <a:p>
            <a:pPr lvl="1" eaLnBrk="1" hangingPunct="1">
              <a:defRPr/>
            </a:pPr>
            <a:r>
              <a:rPr kumimoji="1" lang="zh-CN" alt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aAbcde </a:t>
            </a: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中 </a:t>
            </a:r>
            <a:r>
              <a:rPr kumimoji="1" lang="en-US" altLang="zh-CN" b="1" smtClean="0">
                <a:latin typeface="Times New Roman" pitchFamily="18" charset="0"/>
              </a:rPr>
              <a:t>A→Ab </a:t>
            </a: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和 </a:t>
            </a:r>
            <a:r>
              <a:rPr kumimoji="1" lang="en-US" altLang="zh-CN" b="1" smtClean="0">
                <a:latin typeface="Times New Roman" pitchFamily="18" charset="0"/>
              </a:rPr>
              <a:t>A→b</a:t>
            </a:r>
            <a:endParaRPr lang="en-US" altLang="zh-CN" sz="32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defRPr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不同分析方法处理冲突方法不同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(3)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如何识别句柄？</a:t>
            </a:r>
          </a:p>
          <a:p>
            <a:pPr lvl="1" eaLnBrk="1" hangingPunct="1">
              <a:defRPr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如何保证找到的归约对象是最左的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?</a:t>
            </a:r>
          </a:p>
          <a:p>
            <a:pPr lvl="2" eaLnBrk="1" hangingPunct="1">
              <a:defRPr/>
            </a:pPr>
            <a:r>
              <a:rPr lang="zh-CN" altLang="en-US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利用栈</a:t>
            </a:r>
          </a:p>
          <a:p>
            <a:pPr lvl="1" eaLnBrk="1" hangingPunct="1">
              <a:defRPr/>
            </a:pPr>
            <a:r>
              <a:rPr lang="zh-CN" altLang="en-US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如何确定句柄的开始处与结束处？</a:t>
            </a:r>
          </a:p>
        </p:txBody>
      </p:sp>
      <p:sp>
        <p:nvSpPr>
          <p:cNvPr id="317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348FF56-30EA-43F7-90C1-BF24FE4B9DFD}" type="slidenum">
              <a:rPr lang="en-US" altLang="zh-CN" smtClean="0"/>
              <a:pPr eaLnBrk="1" hangingPunct="1"/>
              <a:t>18</a:t>
            </a:fld>
            <a:endParaRPr lang="en-US" altLang="zh-CN" smtClean="0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6815138" y="4868863"/>
            <a:ext cx="2136775" cy="1233487"/>
            <a:chOff x="4293" y="3339"/>
            <a:chExt cx="1346" cy="777"/>
          </a:xfrm>
        </p:grpSpPr>
        <p:grpSp>
          <p:nvGrpSpPr>
            <p:cNvPr id="31763" name="Group 16"/>
            <p:cNvGrpSpPr>
              <a:grpSpLocks/>
            </p:cNvGrpSpPr>
            <p:nvPr/>
          </p:nvGrpSpPr>
          <p:grpSpPr bwMode="auto">
            <a:xfrm>
              <a:off x="4468" y="3339"/>
              <a:ext cx="301" cy="590"/>
              <a:chOff x="4468" y="3339"/>
              <a:chExt cx="301" cy="590"/>
            </a:xfrm>
          </p:grpSpPr>
          <p:sp>
            <p:nvSpPr>
              <p:cNvPr id="31765" name="Line 5"/>
              <p:cNvSpPr>
                <a:spLocks noChangeShapeType="1"/>
              </p:cNvSpPr>
              <p:nvPr/>
            </p:nvSpPr>
            <p:spPr bwMode="auto">
              <a:xfrm flipV="1">
                <a:off x="4604" y="3612"/>
                <a:ext cx="0" cy="31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2534" name="Rectangle 6"/>
              <p:cNvSpPr>
                <a:spLocks noChangeArrowheads="1"/>
              </p:cNvSpPr>
              <p:nvPr/>
            </p:nvSpPr>
            <p:spPr bwMode="auto">
              <a:xfrm>
                <a:off x="4468" y="3339"/>
                <a:ext cx="301" cy="3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32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A</a:t>
                </a:r>
              </a:p>
            </p:txBody>
          </p:sp>
        </p:grpSp>
        <p:sp>
          <p:nvSpPr>
            <p:cNvPr id="22535" name="Rectangle 7"/>
            <p:cNvSpPr>
              <a:spLocks noChangeArrowheads="1"/>
            </p:cNvSpPr>
            <p:nvPr/>
          </p:nvSpPr>
          <p:spPr bwMode="auto">
            <a:xfrm>
              <a:off x="4293" y="3720"/>
              <a:ext cx="1346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32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a b  b  c d e</a:t>
              </a: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7380288" y="4240213"/>
            <a:ext cx="477837" cy="1433512"/>
            <a:chOff x="4649" y="2943"/>
            <a:chExt cx="301" cy="903"/>
          </a:xfrm>
        </p:grpSpPr>
        <p:sp>
          <p:nvSpPr>
            <p:cNvPr id="31760" name="Line 12"/>
            <p:cNvSpPr>
              <a:spLocks noChangeShapeType="1"/>
            </p:cNvSpPr>
            <p:nvPr/>
          </p:nvSpPr>
          <p:spPr bwMode="auto">
            <a:xfrm flipV="1">
              <a:off x="4649" y="3249"/>
              <a:ext cx="136" cy="223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31761" name="Line 13"/>
            <p:cNvSpPr>
              <a:spLocks noChangeShapeType="1"/>
            </p:cNvSpPr>
            <p:nvPr/>
          </p:nvSpPr>
          <p:spPr bwMode="auto">
            <a:xfrm flipH="1" flipV="1">
              <a:off x="4785" y="3294"/>
              <a:ext cx="89" cy="552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42" name="Rectangle 14"/>
            <p:cNvSpPr>
              <a:spLocks noChangeArrowheads="1"/>
            </p:cNvSpPr>
            <p:nvPr/>
          </p:nvSpPr>
          <p:spPr bwMode="auto">
            <a:xfrm>
              <a:off x="4649" y="2943"/>
              <a:ext cx="301" cy="39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32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A</a:t>
              </a:r>
            </a:p>
          </p:txBody>
        </p:sp>
      </p:grpSp>
      <p:sp>
        <p:nvSpPr>
          <p:cNvPr id="22543" name="Rectangle 15"/>
          <p:cNvSpPr>
            <a:spLocks noChangeArrowheads="1"/>
          </p:cNvSpPr>
          <p:nvPr/>
        </p:nvSpPr>
        <p:spPr bwMode="auto">
          <a:xfrm>
            <a:off x="7092950" y="1341438"/>
            <a:ext cx="165576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latin typeface="Times New Roman" pitchFamily="18" charset="0"/>
              </a:rPr>
              <a:t>S→aAcBe</a:t>
            </a:r>
          </a:p>
          <a:p>
            <a:r>
              <a:rPr lang="en-US" altLang="zh-CN" sz="2400" b="1">
                <a:latin typeface="Times New Roman" pitchFamily="18" charset="0"/>
              </a:rPr>
              <a:t>A→Ab|b</a:t>
            </a:r>
          </a:p>
          <a:p>
            <a:r>
              <a:rPr lang="en-US" altLang="zh-CN" sz="2400" b="1">
                <a:latin typeface="Times New Roman" pitchFamily="18" charset="0"/>
              </a:rPr>
              <a:t>B→d</a:t>
            </a:r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6877050" y="2925763"/>
            <a:ext cx="2136775" cy="1233487"/>
            <a:chOff x="4293" y="3339"/>
            <a:chExt cx="1346" cy="777"/>
          </a:xfrm>
        </p:grpSpPr>
        <p:grpSp>
          <p:nvGrpSpPr>
            <p:cNvPr id="31756" name="Group 20"/>
            <p:cNvGrpSpPr>
              <a:grpSpLocks/>
            </p:cNvGrpSpPr>
            <p:nvPr/>
          </p:nvGrpSpPr>
          <p:grpSpPr bwMode="auto">
            <a:xfrm>
              <a:off x="4468" y="3339"/>
              <a:ext cx="301" cy="590"/>
              <a:chOff x="4468" y="3339"/>
              <a:chExt cx="301" cy="590"/>
            </a:xfrm>
          </p:grpSpPr>
          <p:sp>
            <p:nvSpPr>
              <p:cNvPr id="31758" name="Line 21"/>
              <p:cNvSpPr>
                <a:spLocks noChangeShapeType="1"/>
              </p:cNvSpPr>
              <p:nvPr/>
            </p:nvSpPr>
            <p:spPr bwMode="auto">
              <a:xfrm flipV="1">
                <a:off x="4604" y="3612"/>
                <a:ext cx="0" cy="31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  <p:sp>
            <p:nvSpPr>
              <p:cNvPr id="22550" name="Rectangle 22"/>
              <p:cNvSpPr>
                <a:spLocks noChangeArrowheads="1"/>
              </p:cNvSpPr>
              <p:nvPr/>
            </p:nvSpPr>
            <p:spPr bwMode="auto">
              <a:xfrm>
                <a:off x="4468" y="3339"/>
                <a:ext cx="301" cy="39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>
                  <a:lnSpc>
                    <a:spcPct val="110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Monotype Sorts" pitchFamily="2" charset="2"/>
                  <a:buNone/>
                </a:pPr>
                <a:r>
                  <a:rPr kumimoji="1" lang="en-US" altLang="zh-CN" sz="3200" b="1">
                    <a:solidFill>
                      <a:srgbClr val="000099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A</a:t>
                </a:r>
              </a:p>
            </p:txBody>
          </p:sp>
        </p:grpSp>
        <p:sp>
          <p:nvSpPr>
            <p:cNvPr id="22551" name="Rectangle 23"/>
            <p:cNvSpPr>
              <a:spLocks noChangeArrowheads="1"/>
            </p:cNvSpPr>
            <p:nvPr/>
          </p:nvSpPr>
          <p:spPr bwMode="auto">
            <a:xfrm>
              <a:off x="4293" y="3720"/>
              <a:ext cx="1346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32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a b  b  c d e</a:t>
              </a:r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7596188" y="2924175"/>
            <a:ext cx="477837" cy="936625"/>
            <a:chOff x="4468" y="3339"/>
            <a:chExt cx="301" cy="590"/>
          </a:xfrm>
        </p:grpSpPr>
        <p:sp>
          <p:nvSpPr>
            <p:cNvPr id="31754" name="Line 26"/>
            <p:cNvSpPr>
              <a:spLocks noChangeShapeType="1"/>
            </p:cNvSpPr>
            <p:nvPr/>
          </p:nvSpPr>
          <p:spPr bwMode="auto">
            <a:xfrm flipV="1">
              <a:off x="4604" y="3612"/>
              <a:ext cx="0" cy="3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22555" name="Rectangle 27"/>
            <p:cNvSpPr>
              <a:spLocks noChangeArrowheads="1"/>
            </p:cNvSpPr>
            <p:nvPr/>
          </p:nvSpPr>
          <p:spPr bwMode="auto">
            <a:xfrm>
              <a:off x="4468" y="3339"/>
              <a:ext cx="301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32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A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838200"/>
            <a:ext cx="3041650" cy="838200"/>
          </a:xfrm>
        </p:spPr>
        <p:txBody>
          <a:bodyPr/>
          <a:lstStyle/>
          <a:p>
            <a:pPr eaLnBrk="1" hangingPunct="1"/>
            <a:r>
              <a:rPr lang="zh-CN" altLang="en-US" sz="4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优先法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989138"/>
            <a:ext cx="8208962" cy="4176712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根据归约的先后次序为句型中</a:t>
            </a:r>
            <a:r>
              <a:rPr lang="zh-CN" altLang="en-US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相邻的终极符号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规定优先关系</a:t>
            </a:r>
          </a:p>
          <a:p>
            <a:pPr lvl="1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句柄内相邻符号</a:t>
            </a:r>
            <a:r>
              <a:rPr lang="zh-CN" altLang="en-US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同时归约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，它们具有相同的优先级</a:t>
            </a:r>
          </a:p>
          <a:p>
            <a:pPr lvl="1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句柄两个端点符号的优先级要高于句柄外与之相邻的符号的优先级</a:t>
            </a:r>
          </a:p>
          <a:p>
            <a:pPr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…a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i-1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≮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≡a</a:t>
            </a:r>
            <a:r>
              <a:rPr lang="en-US" altLang="zh-CN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i+1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≡…≡a</a:t>
            </a:r>
            <a:r>
              <a:rPr lang="en-US" altLang="zh-CN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j-1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≡a</a:t>
            </a:r>
            <a:r>
              <a:rPr lang="en-US" altLang="zh-CN" b="1" baseline="-25000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j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≯a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j+1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…a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</a:p>
        </p:txBody>
      </p:sp>
      <p:sp>
        <p:nvSpPr>
          <p:cNvPr id="327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362703D-FE9A-48DD-A2D9-8CAB45736955}" type="slidenum">
              <a:rPr lang="en-US" altLang="zh-CN" smtClean="0"/>
              <a:pPr eaLnBrk="1" hangingPunct="1"/>
              <a:t>19</a:t>
            </a:fld>
            <a:endParaRPr lang="en-US" altLang="zh-CN" smtClean="0"/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3851275" y="1211263"/>
            <a:ext cx="511175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#E+E          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       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需要移进</a:t>
            </a: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3813175" y="636588"/>
            <a:ext cx="51514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1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  	     +id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2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*id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3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#     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需要归约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04813"/>
            <a:ext cx="7870825" cy="1131887"/>
          </a:xfrm>
        </p:spPr>
        <p:txBody>
          <a:bodyPr/>
          <a:lstStyle/>
          <a:p>
            <a:pPr eaLnBrk="1" hangingPunct="1"/>
            <a:r>
              <a:rPr lang="zh-CN" altLang="en-US" sz="4800" b="1" i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状态法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557338"/>
            <a:ext cx="8269287" cy="5300662"/>
          </a:xfrm>
        </p:spPr>
        <p:txBody>
          <a:bodyPr/>
          <a:lstStyle/>
          <a:p>
            <a:pPr eaLnBrk="1" hangingPunct="1"/>
            <a:r>
              <a:rPr lang="zh-CN" altLang="en-US" b="1" i="1" smtClean="0">
                <a:latin typeface="Times New Roman" pitchFamily="18" charset="0"/>
                <a:ea typeface="华文新魏" pitchFamily="2" charset="-122"/>
              </a:rPr>
              <a:t>句柄是否形成</a:t>
            </a:r>
            <a:r>
              <a:rPr lang="en-US" altLang="zh-CN" b="1" i="1" smtClean="0">
                <a:latin typeface="Times New Roman" pitchFamily="18" charset="0"/>
                <a:ea typeface="华文新魏" pitchFamily="2" charset="-122"/>
              </a:rPr>
              <a:t>=</a:t>
            </a:r>
            <a:r>
              <a:rPr lang="zh-CN" altLang="en-US" b="1" i="1" smtClean="0">
                <a:latin typeface="Times New Roman" pitchFamily="18" charset="0"/>
                <a:ea typeface="华文新魏" pitchFamily="2" charset="-122"/>
              </a:rPr>
              <a:t>某个产生式的右部是否形成</a:t>
            </a:r>
          </a:p>
          <a:p>
            <a:pPr eaLnBrk="1" hangingPunct="1"/>
            <a:r>
              <a:rPr lang="zh-CN" altLang="en-US" b="1" i="1" smtClean="0">
                <a:latin typeface="Times New Roman" pitchFamily="18" charset="0"/>
                <a:ea typeface="华文新魏" pitchFamily="2" charset="-122"/>
              </a:rPr>
              <a:t>例如：</a:t>
            </a:r>
            <a:r>
              <a:rPr lang="zh-CN" altLang="en-US" sz="2800" b="1" i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b="1" i="1" smtClean="0">
                <a:latin typeface="Times New Roman" pitchFamily="18" charset="0"/>
                <a:ea typeface="华文新魏" pitchFamily="2" charset="-122"/>
              </a:rPr>
              <a:t>E→E+E</a:t>
            </a:r>
            <a:r>
              <a:rPr lang="zh-CN" altLang="en-US" b="1" i="1" smtClean="0">
                <a:latin typeface="Times New Roman" pitchFamily="18" charset="0"/>
                <a:ea typeface="华文新魏" pitchFamily="2" charset="-122"/>
              </a:rPr>
              <a:t>的识别</a:t>
            </a:r>
          </a:p>
          <a:p>
            <a:pPr lvl="1" eaLnBrk="1" hangingPunct="1"/>
            <a:r>
              <a:rPr lang="en-US" altLang="zh-CN" sz="2400" b="1" i="1" smtClean="0">
                <a:latin typeface="Times New Roman" pitchFamily="18" charset="0"/>
                <a:ea typeface="华文新魏" pitchFamily="2" charset="-122"/>
              </a:rPr>
              <a:t>E→.E+E   	</a:t>
            </a:r>
            <a:r>
              <a:rPr lang="zh-CN" altLang="en-US" sz="2400" b="1" i="1" smtClean="0">
                <a:latin typeface="Times New Roman" pitchFamily="18" charset="0"/>
                <a:ea typeface="华文新魏" pitchFamily="2" charset="-122"/>
              </a:rPr>
              <a:t>等待归约出</a:t>
            </a:r>
            <a:r>
              <a:rPr lang="en-US" altLang="zh-CN" sz="2400" b="1" i="1" smtClean="0">
                <a:latin typeface="Times New Roman" pitchFamily="18" charset="0"/>
                <a:ea typeface="华文新魏" pitchFamily="2" charset="-122"/>
              </a:rPr>
              <a:t>E</a:t>
            </a:r>
          </a:p>
          <a:p>
            <a:pPr lvl="1" eaLnBrk="1" hangingPunct="1"/>
            <a:r>
              <a:rPr lang="en-US" altLang="zh-CN" sz="2400" b="1" i="1" smtClean="0">
                <a:latin typeface="Times New Roman" pitchFamily="18" charset="0"/>
                <a:ea typeface="华文新魏" pitchFamily="2" charset="-122"/>
              </a:rPr>
              <a:t>E→E.+E   	</a:t>
            </a:r>
            <a:r>
              <a:rPr lang="zh-CN" altLang="en-US" sz="2400" b="1" i="1" smtClean="0">
                <a:latin typeface="Times New Roman" pitchFamily="18" charset="0"/>
                <a:ea typeface="华文新魏" pitchFamily="2" charset="-122"/>
              </a:rPr>
              <a:t>等待移进</a:t>
            </a:r>
            <a:r>
              <a:rPr lang="en-US" altLang="zh-CN" sz="2400" b="1" i="1" smtClean="0">
                <a:latin typeface="Times New Roman" pitchFamily="18" charset="0"/>
                <a:ea typeface="华文新魏" pitchFamily="2" charset="-122"/>
              </a:rPr>
              <a:t>+</a:t>
            </a:r>
          </a:p>
          <a:p>
            <a:pPr lvl="1" eaLnBrk="1" hangingPunct="1"/>
            <a:r>
              <a:rPr lang="en-US" altLang="zh-CN" sz="2400" b="1" i="1" smtClean="0">
                <a:latin typeface="Times New Roman" pitchFamily="18" charset="0"/>
                <a:ea typeface="华文新魏" pitchFamily="2" charset="-122"/>
              </a:rPr>
              <a:t>E→E+.E   	</a:t>
            </a:r>
            <a:r>
              <a:rPr lang="zh-CN" altLang="en-US" sz="2400" b="1" i="1" smtClean="0">
                <a:latin typeface="Times New Roman" pitchFamily="18" charset="0"/>
                <a:ea typeface="华文新魏" pitchFamily="2" charset="-122"/>
              </a:rPr>
              <a:t>等待归约出</a:t>
            </a:r>
            <a:r>
              <a:rPr lang="en-US" altLang="zh-CN" sz="2400" b="1" i="1" smtClean="0">
                <a:latin typeface="Times New Roman" pitchFamily="18" charset="0"/>
                <a:ea typeface="华文新魏" pitchFamily="2" charset="-122"/>
              </a:rPr>
              <a:t>E</a:t>
            </a:r>
          </a:p>
          <a:p>
            <a:pPr lvl="1" eaLnBrk="1" hangingPunct="1"/>
            <a:r>
              <a:rPr lang="en-US" altLang="zh-CN" sz="2400" b="1" i="1" smtClean="0">
                <a:latin typeface="Times New Roman" pitchFamily="18" charset="0"/>
                <a:ea typeface="华文新魏" pitchFamily="2" charset="-122"/>
              </a:rPr>
              <a:t>E→E+E.   	</a:t>
            </a:r>
            <a:r>
              <a:rPr lang="zh-CN" altLang="en-US" sz="2400" b="1" i="1" smtClean="0">
                <a:latin typeface="Times New Roman" pitchFamily="18" charset="0"/>
                <a:ea typeface="华文新魏" pitchFamily="2" charset="-122"/>
              </a:rPr>
              <a:t>句柄已经形成，归约出新的</a:t>
            </a:r>
            <a:r>
              <a:rPr lang="en-US" altLang="zh-CN" sz="2400" b="1" i="1" smtClean="0">
                <a:latin typeface="Times New Roman" pitchFamily="18" charset="0"/>
                <a:ea typeface="华文新魏" pitchFamily="2" charset="-122"/>
              </a:rPr>
              <a:t>E</a:t>
            </a:r>
          </a:p>
          <a:p>
            <a:pPr eaLnBrk="1" hangingPunct="1"/>
            <a:r>
              <a:rPr lang="zh-CN" altLang="en-US" b="1" i="1" smtClean="0">
                <a:latin typeface="Times New Roman" pitchFamily="18" charset="0"/>
                <a:ea typeface="华文新魏" pitchFamily="2" charset="-122"/>
              </a:rPr>
              <a:t>核心：根据句柄的形成过程建立状态</a:t>
            </a:r>
          </a:p>
          <a:p>
            <a:pPr lvl="1" eaLnBrk="1" hangingPunct="1"/>
            <a:r>
              <a:rPr lang="zh-CN" altLang="en-US" b="1" i="1" smtClean="0">
                <a:latin typeface="Times New Roman" pitchFamily="18" charset="0"/>
                <a:ea typeface="华文新魏" pitchFamily="2" charset="-122"/>
              </a:rPr>
              <a:t>用状态来描述分析过程中句柄是否形成</a:t>
            </a:r>
          </a:p>
          <a:p>
            <a:pPr lvl="1" eaLnBrk="1" hangingPunct="1"/>
            <a:r>
              <a:rPr lang="zh-CN" altLang="en-US" b="1" i="1" smtClean="0">
                <a:latin typeface="Times New Roman" pitchFamily="18" charset="0"/>
                <a:ea typeface="华文新魏" pitchFamily="2" charset="-122"/>
              </a:rPr>
              <a:t>因为句柄是产生式的右部，可用“产生式”刻画句柄识别的进程</a:t>
            </a:r>
            <a:r>
              <a:rPr lang="en-US" altLang="zh-CN" b="1" i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b="1" i="1" smtClean="0">
                <a:latin typeface="Times New Roman" pitchFamily="18" charset="0"/>
                <a:ea typeface="华文新魏" pitchFamily="2" charset="-122"/>
              </a:rPr>
              <a:t>用状态标示</a:t>
            </a:r>
          </a:p>
        </p:txBody>
      </p:sp>
      <p:sp>
        <p:nvSpPr>
          <p:cNvPr id="337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9AECD92-D60C-479F-B867-407410AE81AF}" type="slidenum">
              <a:rPr lang="en-US" altLang="zh-CN" smtClean="0"/>
              <a:pPr eaLnBrk="1" hangingPunct="1"/>
              <a:t>20</a:t>
            </a:fld>
            <a:endParaRPr lang="en-US" altLang="zh-CN" smtClean="0"/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6877050" y="144463"/>
            <a:ext cx="2133600" cy="1471612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8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E → id</a:t>
            </a:r>
          </a:p>
          <a:p>
            <a:pPr eaLnBrk="0" hangingPunct="0">
              <a:lnSpc>
                <a:spcPct val="8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E → (E)</a:t>
            </a:r>
          </a:p>
          <a:p>
            <a:pPr eaLnBrk="0" hangingPunct="0">
              <a:lnSpc>
                <a:spcPct val="8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E → E + E</a:t>
            </a:r>
          </a:p>
          <a:p>
            <a:pPr eaLnBrk="0" hangingPunct="0">
              <a:lnSpc>
                <a:spcPct val="8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E → E * 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476250"/>
            <a:ext cx="7091362" cy="8763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5.2 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算符优先分析法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84313"/>
            <a:ext cx="7848600" cy="46482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算术表达式分析的启示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算符优先关系的直观意义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+ ≮ *         +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的优先级低于 *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 ≡ )         (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的优先级等于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+ ≯ +         +(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左边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的优先级高于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+(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右边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方法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将句型中的终结符号当作“算符”，借助于算符之间的优先关系确定句柄</a:t>
            </a:r>
          </a:p>
        </p:txBody>
      </p:sp>
      <p:sp>
        <p:nvSpPr>
          <p:cNvPr id="348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367A4BC-13AF-4FCF-8EBD-9D22B4E6E324}" type="slidenum">
              <a:rPr lang="en-US" altLang="zh-CN" smtClean="0"/>
              <a:pPr eaLnBrk="1" hangingPunct="1"/>
              <a:t>21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981075"/>
            <a:ext cx="6840537" cy="714375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算术表达式文法的再分析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2565400"/>
            <a:ext cx="2376488" cy="2879725"/>
          </a:xfrm>
        </p:spPr>
        <p:txBody>
          <a:bodyPr/>
          <a:lstStyle/>
          <a:p>
            <a:pPr marL="534988" indent="-534988" eaLnBrk="1" hangingPunct="1">
              <a:lnSpc>
                <a:spcPct val="90000"/>
              </a:lnSpc>
              <a:buSzTx/>
              <a:buFont typeface="Wingdings" pitchFamily="2" charset="2"/>
              <a:buAutoNum type="arabicPeriod"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E→E+E</a:t>
            </a:r>
          </a:p>
          <a:p>
            <a:pPr marL="534988" indent="-534988" eaLnBrk="1" hangingPunct="1">
              <a:lnSpc>
                <a:spcPct val="90000"/>
              </a:lnSpc>
              <a:buSzTx/>
              <a:buFont typeface="Wingdings" pitchFamily="2" charset="2"/>
              <a:buAutoNum type="arabicPeriod"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E→E-E</a:t>
            </a:r>
          </a:p>
          <a:p>
            <a:pPr marL="534988" indent="-534988" eaLnBrk="1" hangingPunct="1">
              <a:lnSpc>
                <a:spcPct val="90000"/>
              </a:lnSpc>
              <a:buSzTx/>
              <a:buFont typeface="Wingdings" pitchFamily="2" charset="2"/>
              <a:buAutoNum type="arabicPeriod"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E→E*E</a:t>
            </a:r>
          </a:p>
          <a:p>
            <a:pPr marL="534988" indent="-534988" eaLnBrk="1" hangingPunct="1">
              <a:lnSpc>
                <a:spcPct val="90000"/>
              </a:lnSpc>
              <a:buSzTx/>
              <a:buFont typeface="Wingdings" pitchFamily="2" charset="2"/>
              <a:buAutoNum type="arabicPeriod"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E→E/E </a:t>
            </a:r>
          </a:p>
          <a:p>
            <a:pPr marL="534988" indent="-534988" eaLnBrk="1" hangingPunct="1">
              <a:lnSpc>
                <a:spcPct val="90000"/>
              </a:lnSpc>
              <a:buSzTx/>
              <a:buFont typeface="Wingdings" pitchFamily="2" charset="2"/>
              <a:buAutoNum type="arabicPeriod"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E→(E) </a:t>
            </a:r>
          </a:p>
          <a:p>
            <a:pPr marL="534988" indent="-534988" eaLnBrk="1" hangingPunct="1">
              <a:lnSpc>
                <a:spcPct val="90000"/>
              </a:lnSpc>
              <a:buSzTx/>
              <a:buFont typeface="Wingdings" pitchFamily="2" charset="2"/>
              <a:buAutoNum type="arabicPeriod"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E→id</a:t>
            </a:r>
          </a:p>
        </p:txBody>
      </p:sp>
      <p:sp>
        <p:nvSpPr>
          <p:cNvPr id="358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E4E40BE-AE62-4DD1-B4CF-35FBBC06D815}" type="slidenum">
              <a:rPr lang="en-US" altLang="zh-CN" smtClean="0"/>
              <a:pPr eaLnBrk="1" hangingPunct="1"/>
              <a:t>22</a:t>
            </a:fld>
            <a:endParaRPr lang="en-US" altLang="zh-CN" smtClean="0"/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348038" y="2620963"/>
            <a:ext cx="532765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句型的特征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：</a:t>
            </a:r>
          </a:p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en-US" altLang="zh-CN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+</a:t>
            </a:r>
            <a:r>
              <a:rPr kumimoji="1" lang="en-US" altLang="zh-CN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)*(</a:t>
            </a:r>
            <a:r>
              <a:rPr kumimoji="1" lang="en-US" altLang="zh-CN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-</a:t>
            </a:r>
            <a:r>
              <a:rPr kumimoji="1" lang="en-US" altLang="zh-CN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)/</a:t>
            </a:r>
            <a:r>
              <a:rPr kumimoji="1" lang="en-US" altLang="zh-CN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/</a:t>
            </a:r>
            <a:r>
              <a:rPr kumimoji="1" lang="en-US" altLang="zh-CN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+</a:t>
            </a:r>
            <a:r>
              <a:rPr kumimoji="1" lang="en-US" altLang="zh-CN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*</a:t>
            </a:r>
            <a:r>
              <a:rPr kumimoji="1" lang="en-US" altLang="zh-CN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E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*</a:t>
            </a:r>
            <a:r>
              <a:rPr kumimoji="1" lang="en-US" altLang="zh-CN" sz="3200" b="1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E</a:t>
            </a:r>
          </a:p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lang="zh-CN" alt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运算对象之间有算符，而且这些算符之间存在优先关系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777875" y="476250"/>
            <a:ext cx="3276600" cy="989013"/>
          </a:xfrm>
        </p:spPr>
        <p:txBody>
          <a:bodyPr/>
          <a:lstStyle/>
          <a:p>
            <a:pPr eaLnBrk="1" hangingPunct="1"/>
            <a:r>
              <a:rPr lang="zh-CN" altLang="en-US" sz="4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算符文法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917700"/>
            <a:ext cx="8375650" cy="4191000"/>
          </a:xfrm>
        </p:spPr>
        <p:txBody>
          <a:bodyPr/>
          <a:lstStyle/>
          <a:p>
            <a:pPr marL="0" indent="0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如果文法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G=( V,T,P,S)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中不存在形如</a:t>
            </a:r>
          </a:p>
          <a:p>
            <a:pPr marL="0" indent="0" algn="ctr"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A→αBCβ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的产生式，则称之为算符文法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(OG —Operator Grammar)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marL="0" indent="0"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即：如果文法 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G </a:t>
            </a:r>
            <a:r>
              <a:rPr lang="zh-CN" altLang="en-US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中不存在具有</a:t>
            </a:r>
            <a:r>
              <a:rPr lang="zh-CN" altLang="en-US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相邻非终结符</a:t>
            </a:r>
            <a:r>
              <a:rPr lang="zh-CN" altLang="en-US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的产生式，则称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G</a:t>
            </a:r>
            <a:r>
              <a:rPr lang="zh-CN" altLang="en-US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为算符文法</a:t>
            </a:r>
          </a:p>
        </p:txBody>
      </p:sp>
      <p:sp>
        <p:nvSpPr>
          <p:cNvPr id="368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7D57DA3-D741-4FFE-8588-EA401EF5742A}" type="slidenum">
              <a:rPr lang="en-US" altLang="zh-CN" smtClean="0"/>
              <a:pPr eaLnBrk="1" hangingPunct="1"/>
              <a:t>23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476250"/>
            <a:ext cx="7786688" cy="1169988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算符间的优先关系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28775"/>
            <a:ext cx="8610600" cy="4752975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OG G=(V,T,P,S)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，对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a,b∈T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，定义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相邻符号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)a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、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间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(a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在前，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在后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的优先关系如下：</a:t>
            </a:r>
          </a:p>
          <a:p>
            <a:pPr lvl="1" eaLnBrk="1" hangingPunct="1">
              <a:lnSpc>
                <a:spcPct val="130000"/>
              </a:lnSpc>
              <a:spcBef>
                <a:spcPct val="4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与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的优先级相同，它们须同时被归约</a:t>
            </a:r>
          </a:p>
          <a:p>
            <a:pPr lvl="2"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a≡b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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A→…ab…∈P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或者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A→…aBb…∈P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的优先级比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低，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需要先归约</a:t>
            </a:r>
          </a:p>
          <a:p>
            <a:pPr lvl="2"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a≮b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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A→…aB…∈P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且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(B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b…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或者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C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b…)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的优先级比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高，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需要先归约</a:t>
            </a:r>
          </a:p>
          <a:p>
            <a:pPr lvl="2"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a≯b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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A→…Bb…∈P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且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(B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…a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或者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…a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C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)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</a:t>
            </a:r>
          </a:p>
        </p:txBody>
      </p:sp>
      <p:sp>
        <p:nvSpPr>
          <p:cNvPr id="378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7F0B4E5A-6CCC-4898-98CD-12286A55E791}" type="slidenum">
              <a:rPr lang="en-US" altLang="zh-CN" smtClean="0"/>
              <a:pPr eaLnBrk="1" hangingPunct="1"/>
              <a:t>24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7793038" cy="1169987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算符优先文法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700213"/>
            <a:ext cx="8726487" cy="4114800"/>
          </a:xfrm>
        </p:spPr>
        <p:txBody>
          <a:bodyPr/>
          <a:lstStyle/>
          <a:p>
            <a:pPr marL="0" indent="363538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OG G=(V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P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，如果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a,b∈T, a≡b,a≮b,a≯b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至多有一个成立，则称之为</a:t>
            </a:r>
            <a:r>
              <a:rPr lang="zh-CN" altLang="en-US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算符优先文法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(OPG —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Operator Precedence Grammar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marL="0" indent="363538" eaLnBrk="1" hangingPunct="1">
              <a:lnSpc>
                <a:spcPct val="130000"/>
              </a:lnSpc>
              <a:spcBef>
                <a:spcPct val="10000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在无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ε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产生式的算符文法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中，如果任意两个终结符之间至多有一种优先关系，则称为算符优先文法</a:t>
            </a:r>
          </a:p>
        </p:txBody>
      </p:sp>
      <p:sp>
        <p:nvSpPr>
          <p:cNvPr id="3891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9BEC58E-7DEA-434E-AB4A-2145A830CD86}" type="slidenum">
              <a:rPr lang="en-US" altLang="zh-CN" smtClean="0"/>
              <a:pPr eaLnBrk="1" hangingPunct="1"/>
              <a:t>25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476250"/>
            <a:ext cx="8305800" cy="1143000"/>
          </a:xfrm>
          <a:noFill/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例  直观的算符优先关系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609600" y="1905000"/>
            <a:ext cx="2971800" cy="44196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</a:rPr>
              <a:t>E → E + E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</a:rPr>
              <a:t>	</a:t>
            </a:r>
            <a:r>
              <a:rPr lang="zh-CN" altLang="en-US" b="1" smtClean="0">
                <a:latin typeface="Times New Roman" pitchFamily="18" charset="0"/>
              </a:rPr>
              <a:t>｜ </a:t>
            </a:r>
            <a:r>
              <a:rPr lang="en-US" altLang="zh-CN" b="1" smtClean="0">
                <a:latin typeface="Times New Roman" pitchFamily="18" charset="0"/>
              </a:rPr>
              <a:t>E - E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</a:rPr>
              <a:t>	</a:t>
            </a:r>
            <a:r>
              <a:rPr lang="zh-CN" altLang="en-US" b="1" smtClean="0">
                <a:latin typeface="Times New Roman" pitchFamily="18" charset="0"/>
              </a:rPr>
              <a:t>｜ </a:t>
            </a:r>
            <a:r>
              <a:rPr lang="en-US" altLang="zh-CN" b="1" smtClean="0">
                <a:latin typeface="Times New Roman" pitchFamily="18" charset="0"/>
              </a:rPr>
              <a:t>E * E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</a:rPr>
              <a:t>	</a:t>
            </a:r>
            <a:r>
              <a:rPr lang="zh-CN" altLang="en-US" b="1" smtClean="0">
                <a:latin typeface="Times New Roman" pitchFamily="18" charset="0"/>
              </a:rPr>
              <a:t>｜ </a:t>
            </a:r>
            <a:r>
              <a:rPr lang="en-US" altLang="zh-CN" b="1" smtClean="0">
                <a:latin typeface="Times New Roman" pitchFamily="18" charset="0"/>
              </a:rPr>
              <a:t>E / E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</a:rPr>
              <a:t>	</a:t>
            </a:r>
            <a:r>
              <a:rPr lang="zh-CN" altLang="en-US" b="1" smtClean="0">
                <a:latin typeface="Times New Roman" pitchFamily="18" charset="0"/>
              </a:rPr>
              <a:t>｜ </a:t>
            </a:r>
            <a:r>
              <a:rPr lang="en-US" altLang="zh-CN" b="1" smtClean="0">
                <a:latin typeface="Times New Roman" pitchFamily="18" charset="0"/>
              </a:rPr>
              <a:t>E</a:t>
            </a:r>
            <a:r>
              <a:rPr lang="en-US" altLang="zh-CN" b="1" smtClean="0">
                <a:latin typeface="Times New Roman" pitchFamily="18" charset="0"/>
                <a:cs typeface="Times New Roman" pitchFamily="18" charset="0"/>
              </a:rPr>
              <a:t>↑</a:t>
            </a:r>
            <a:r>
              <a:rPr lang="en-US" altLang="zh-CN" b="1" smtClean="0">
                <a:latin typeface="Times New Roman" pitchFamily="18" charset="0"/>
              </a:rPr>
              <a:t>E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</a:rPr>
              <a:t>	</a:t>
            </a:r>
            <a:r>
              <a:rPr lang="zh-CN" altLang="en-US" b="1" smtClean="0">
                <a:latin typeface="Times New Roman" pitchFamily="18" charset="0"/>
              </a:rPr>
              <a:t>｜ </a:t>
            </a:r>
            <a:r>
              <a:rPr lang="en-US" altLang="zh-CN" b="1" smtClean="0">
                <a:latin typeface="Times New Roman" pitchFamily="18" charset="0"/>
              </a:rPr>
              <a:t>( E )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</a:rPr>
              <a:t>	</a:t>
            </a:r>
            <a:r>
              <a:rPr lang="zh-CN" altLang="en-US" b="1" smtClean="0">
                <a:latin typeface="Times New Roman" pitchFamily="18" charset="0"/>
              </a:rPr>
              <a:t>｜  </a:t>
            </a:r>
            <a:r>
              <a:rPr lang="en-US" altLang="zh-CN" b="1" smtClean="0">
                <a:latin typeface="Times New Roman" pitchFamily="18" charset="0"/>
              </a:rPr>
              <a:t>id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4114800" y="1905000"/>
            <a:ext cx="4724400" cy="4403725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0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存在优先级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</a:rPr>
              <a:t>+ ≮ *		* ≯ +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</a:rPr>
              <a:t>* ≮</a:t>
            </a:r>
            <a:r>
              <a:rPr lang="en-US" altLang="zh-CN" b="1" smtClean="0">
                <a:latin typeface="Times New Roman" pitchFamily="18" charset="0"/>
                <a:cs typeface="Times New Roman" pitchFamily="18" charset="0"/>
              </a:rPr>
              <a:t>↑ </a:t>
            </a:r>
            <a:r>
              <a:rPr lang="en-US" altLang="zh-CN" b="1" smtClean="0">
                <a:latin typeface="Times New Roman" pitchFamily="18" charset="0"/>
              </a:rPr>
              <a:t>		</a:t>
            </a:r>
            <a:r>
              <a:rPr lang="en-US" altLang="zh-CN" b="1" smtClean="0">
                <a:latin typeface="Times New Roman" pitchFamily="18" charset="0"/>
                <a:cs typeface="Times New Roman" pitchFamily="18" charset="0"/>
              </a:rPr>
              <a:t>↑</a:t>
            </a:r>
            <a:r>
              <a:rPr lang="en-US" altLang="zh-CN" b="1" smtClean="0">
                <a:latin typeface="Times New Roman" pitchFamily="18" charset="0"/>
              </a:rPr>
              <a:t>≯ *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</a:rPr>
              <a:t>id ≯ +		id ≯ *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</a:rPr>
              <a:t>+ ≮ id		* ≮ id</a:t>
            </a:r>
            <a:endParaRPr lang="en-US" altLang="zh-CN" smtClean="0">
              <a:latin typeface="Times New Roman" pitchFamily="18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</a:rPr>
              <a:t>id ≯ #		# ≮ id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</a:rPr>
              <a:t>+ ≯ +		* ≯ *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</a:rPr>
              <a:t>(≡)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</a:rPr>
              <a:t>……</a:t>
            </a:r>
          </a:p>
        </p:txBody>
      </p:sp>
      <p:sp>
        <p:nvSpPr>
          <p:cNvPr id="39941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B00D202-09E9-4809-A95E-5CDBC0B3952E}" type="slidenum">
              <a:rPr lang="en-US" altLang="zh-CN" smtClean="0"/>
              <a:pPr eaLnBrk="1" hangingPunct="1"/>
              <a:t>26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305800" cy="11430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例  直观的算符优先关系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963613" y="5456238"/>
            <a:ext cx="6777037" cy="5334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3200" b="1" smtClean="0">
                <a:latin typeface="Times New Roman" pitchFamily="18" charset="0"/>
              </a:rPr>
              <a:t>≮	 ≮	≮	≮	≮ 		≮ 	</a:t>
            </a:r>
            <a:endParaRPr lang="en-US" altLang="zh-CN" sz="4000" b="1" smtClean="0">
              <a:latin typeface="Times New Roman" pitchFamily="18" charset="0"/>
            </a:endParaRPr>
          </a:p>
        </p:txBody>
      </p:sp>
      <p:sp>
        <p:nvSpPr>
          <p:cNvPr id="40964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22700DA-C107-4837-A3AE-FF295717577A}" type="slidenum">
              <a:rPr lang="en-US" altLang="zh-CN" smtClean="0"/>
              <a:pPr eaLnBrk="1" hangingPunct="1"/>
              <a:t>27</a:t>
            </a:fld>
            <a:endParaRPr lang="en-US" altLang="zh-CN" smtClean="0"/>
          </a:p>
        </p:txBody>
      </p:sp>
      <p:sp>
        <p:nvSpPr>
          <p:cNvPr id="40965" name="Line 4"/>
          <p:cNvSpPr>
            <a:spLocks noChangeShapeType="1"/>
          </p:cNvSpPr>
          <p:nvPr/>
        </p:nvSpPr>
        <p:spPr bwMode="auto">
          <a:xfrm>
            <a:off x="430213" y="1951038"/>
            <a:ext cx="7813675" cy="39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66" name="Line 5"/>
          <p:cNvSpPr>
            <a:spLocks noChangeShapeType="1"/>
          </p:cNvSpPr>
          <p:nvPr/>
        </p:nvSpPr>
        <p:spPr bwMode="auto">
          <a:xfrm>
            <a:off x="430213" y="2484438"/>
            <a:ext cx="7813675" cy="952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67" name="Line 6"/>
          <p:cNvSpPr>
            <a:spLocks noChangeShapeType="1"/>
          </p:cNvSpPr>
          <p:nvPr/>
        </p:nvSpPr>
        <p:spPr bwMode="auto">
          <a:xfrm flipV="1">
            <a:off x="430213" y="2998788"/>
            <a:ext cx="7813675" cy="1905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68" name="Line 7"/>
          <p:cNvSpPr>
            <a:spLocks noChangeShapeType="1"/>
          </p:cNvSpPr>
          <p:nvPr/>
        </p:nvSpPr>
        <p:spPr bwMode="auto">
          <a:xfrm>
            <a:off x="430213" y="3475038"/>
            <a:ext cx="7813675" cy="26987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69" name="Line 8"/>
          <p:cNvSpPr>
            <a:spLocks noChangeShapeType="1"/>
          </p:cNvSpPr>
          <p:nvPr/>
        </p:nvSpPr>
        <p:spPr bwMode="auto">
          <a:xfrm>
            <a:off x="963613" y="1493838"/>
            <a:ext cx="0" cy="457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70" name="Line 9"/>
          <p:cNvSpPr>
            <a:spLocks noChangeShapeType="1"/>
          </p:cNvSpPr>
          <p:nvPr/>
        </p:nvSpPr>
        <p:spPr bwMode="auto">
          <a:xfrm flipV="1">
            <a:off x="354013" y="4006850"/>
            <a:ext cx="7889875" cy="158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71" name="Line 10"/>
          <p:cNvSpPr>
            <a:spLocks noChangeShapeType="1"/>
          </p:cNvSpPr>
          <p:nvPr/>
        </p:nvSpPr>
        <p:spPr bwMode="auto">
          <a:xfrm flipV="1">
            <a:off x="277813" y="4438650"/>
            <a:ext cx="7966075" cy="2698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72" name="Line 11"/>
          <p:cNvSpPr>
            <a:spLocks noChangeShapeType="1"/>
          </p:cNvSpPr>
          <p:nvPr/>
        </p:nvSpPr>
        <p:spPr bwMode="auto">
          <a:xfrm>
            <a:off x="354013" y="4999038"/>
            <a:ext cx="7818437" cy="15875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73" name="Line 12"/>
          <p:cNvSpPr>
            <a:spLocks noChangeShapeType="1"/>
          </p:cNvSpPr>
          <p:nvPr/>
        </p:nvSpPr>
        <p:spPr bwMode="auto">
          <a:xfrm flipV="1">
            <a:off x="354013" y="5518150"/>
            <a:ext cx="7818437" cy="14288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74" name="Line 13"/>
          <p:cNvSpPr>
            <a:spLocks noChangeShapeType="1"/>
          </p:cNvSpPr>
          <p:nvPr/>
        </p:nvSpPr>
        <p:spPr bwMode="auto">
          <a:xfrm>
            <a:off x="2716213" y="1570038"/>
            <a:ext cx="0" cy="4495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75" name="Line 14"/>
          <p:cNvSpPr>
            <a:spLocks noChangeShapeType="1"/>
          </p:cNvSpPr>
          <p:nvPr/>
        </p:nvSpPr>
        <p:spPr bwMode="auto">
          <a:xfrm>
            <a:off x="3554413" y="1493838"/>
            <a:ext cx="0" cy="4572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76" name="Line 15"/>
          <p:cNvSpPr>
            <a:spLocks noChangeShapeType="1"/>
          </p:cNvSpPr>
          <p:nvPr/>
        </p:nvSpPr>
        <p:spPr bwMode="auto">
          <a:xfrm>
            <a:off x="4468813" y="1493838"/>
            <a:ext cx="0" cy="45720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77" name="Line 16"/>
          <p:cNvSpPr>
            <a:spLocks noChangeShapeType="1"/>
          </p:cNvSpPr>
          <p:nvPr/>
        </p:nvSpPr>
        <p:spPr bwMode="auto">
          <a:xfrm>
            <a:off x="5383213" y="1570038"/>
            <a:ext cx="0" cy="4495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78" name="Line 17"/>
          <p:cNvSpPr>
            <a:spLocks noChangeShapeType="1"/>
          </p:cNvSpPr>
          <p:nvPr/>
        </p:nvSpPr>
        <p:spPr bwMode="auto">
          <a:xfrm>
            <a:off x="6373813" y="1570038"/>
            <a:ext cx="0" cy="4495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79" name="Line 18"/>
          <p:cNvSpPr>
            <a:spLocks noChangeShapeType="1"/>
          </p:cNvSpPr>
          <p:nvPr/>
        </p:nvSpPr>
        <p:spPr bwMode="auto">
          <a:xfrm>
            <a:off x="7288213" y="1570038"/>
            <a:ext cx="0" cy="4495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980" name="Line 20"/>
          <p:cNvSpPr>
            <a:spLocks noChangeShapeType="1"/>
          </p:cNvSpPr>
          <p:nvPr/>
        </p:nvSpPr>
        <p:spPr bwMode="auto">
          <a:xfrm>
            <a:off x="1878013" y="1570038"/>
            <a:ext cx="0" cy="44958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48501" name="Rectangle 21"/>
          <p:cNvSpPr>
            <a:spLocks noChangeArrowheads="1"/>
          </p:cNvSpPr>
          <p:nvPr/>
        </p:nvSpPr>
        <p:spPr bwMode="auto">
          <a:xfrm>
            <a:off x="1116013" y="1341438"/>
            <a:ext cx="71628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600" b="1">
                <a:latin typeface="Times New Roman" pitchFamily="18" charset="0"/>
              </a:rPr>
              <a:t>+	-	*	/	(	)	id	#</a:t>
            </a:r>
          </a:p>
        </p:txBody>
      </p:sp>
      <p:sp>
        <p:nvSpPr>
          <p:cNvPr id="148502" name="Text Box 22"/>
          <p:cNvSpPr txBox="1">
            <a:spLocks noChangeArrowheads="1"/>
          </p:cNvSpPr>
          <p:nvPr/>
        </p:nvSpPr>
        <p:spPr bwMode="auto">
          <a:xfrm>
            <a:off x="354013" y="1998663"/>
            <a:ext cx="685800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+</a:t>
            </a:r>
          </a:p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-</a:t>
            </a:r>
          </a:p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Times New Roman" pitchFamily="18" charset="0"/>
              </a:rPr>
              <a:t>*</a:t>
            </a:r>
          </a:p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Times New Roman" pitchFamily="18" charset="0"/>
              </a:rPr>
              <a:t>/</a:t>
            </a:r>
          </a:p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Times New Roman" pitchFamily="18" charset="0"/>
              </a:rPr>
              <a:t>(</a:t>
            </a:r>
          </a:p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Times New Roman" pitchFamily="18" charset="0"/>
              </a:rPr>
              <a:t>)</a:t>
            </a:r>
          </a:p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Times New Roman" pitchFamily="18" charset="0"/>
              </a:rPr>
              <a:t>id</a:t>
            </a:r>
          </a:p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Times New Roman" pitchFamily="18" charset="0"/>
              </a:rPr>
              <a:t>#</a:t>
            </a:r>
          </a:p>
        </p:txBody>
      </p:sp>
      <p:sp>
        <p:nvSpPr>
          <p:cNvPr id="148503" name="Rectangle 23"/>
          <p:cNvSpPr>
            <a:spLocks noChangeArrowheads="1"/>
          </p:cNvSpPr>
          <p:nvPr/>
        </p:nvSpPr>
        <p:spPr bwMode="auto">
          <a:xfrm>
            <a:off x="963613" y="1951038"/>
            <a:ext cx="609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宋体" pitchFamily="2" charset="-122"/>
              </a:rPr>
              <a:t>≯</a:t>
            </a:r>
          </a:p>
        </p:txBody>
      </p:sp>
      <p:sp>
        <p:nvSpPr>
          <p:cNvPr id="148504" name="Rectangle 24"/>
          <p:cNvSpPr>
            <a:spLocks noChangeArrowheads="1"/>
          </p:cNvSpPr>
          <p:nvPr/>
        </p:nvSpPr>
        <p:spPr bwMode="auto">
          <a:xfrm>
            <a:off x="963613" y="2484438"/>
            <a:ext cx="74247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宋体" pitchFamily="2" charset="-122"/>
              </a:rPr>
              <a:t>≯	 ≯	≮ 	≮ 	≮   ≯	 ≮	 ≯</a:t>
            </a:r>
          </a:p>
        </p:txBody>
      </p:sp>
      <p:sp>
        <p:nvSpPr>
          <p:cNvPr id="148505" name="Rectangle 25"/>
          <p:cNvSpPr>
            <a:spLocks noChangeArrowheads="1"/>
          </p:cNvSpPr>
          <p:nvPr/>
        </p:nvSpPr>
        <p:spPr bwMode="auto">
          <a:xfrm>
            <a:off x="963613" y="2941638"/>
            <a:ext cx="77120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宋体" pitchFamily="2" charset="-122"/>
              </a:rPr>
              <a:t>≯	 ≯	≯	≯	≮   ≯ 	 ≮ 	 ≯</a:t>
            </a:r>
          </a:p>
        </p:txBody>
      </p:sp>
      <p:sp>
        <p:nvSpPr>
          <p:cNvPr id="148506" name="Rectangle 26"/>
          <p:cNvSpPr>
            <a:spLocks noChangeArrowheads="1"/>
          </p:cNvSpPr>
          <p:nvPr/>
        </p:nvSpPr>
        <p:spPr bwMode="auto">
          <a:xfrm>
            <a:off x="963613" y="3398838"/>
            <a:ext cx="76406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宋体" pitchFamily="2" charset="-122"/>
              </a:rPr>
              <a:t>≯</a:t>
            </a:r>
            <a:r>
              <a:rPr kumimoji="1" lang="en-US" altLang="zh-CN" sz="4000" b="1">
                <a:latin typeface="宋体" pitchFamily="2" charset="-122"/>
              </a:rPr>
              <a:t>	 </a:t>
            </a:r>
            <a:r>
              <a:rPr kumimoji="1" lang="en-US" altLang="zh-CN" sz="3200" b="1">
                <a:latin typeface="宋体" pitchFamily="2" charset="-122"/>
              </a:rPr>
              <a:t>≯	≯	≯	≮   ≯ 	 ≮ 	 ≯</a:t>
            </a:r>
          </a:p>
        </p:txBody>
      </p:sp>
      <p:sp>
        <p:nvSpPr>
          <p:cNvPr id="148507" name="Rectangle 27"/>
          <p:cNvSpPr>
            <a:spLocks noChangeArrowheads="1"/>
          </p:cNvSpPr>
          <p:nvPr/>
        </p:nvSpPr>
        <p:spPr bwMode="auto">
          <a:xfrm>
            <a:off x="506413" y="3879850"/>
            <a:ext cx="6705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lvl="1" eaLnBrk="0" hangingPunct="0"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宋体" pitchFamily="2" charset="-122"/>
              </a:rPr>
              <a:t>≮    ≮ ≮	  ≮	  ≮        ≮</a:t>
            </a:r>
          </a:p>
        </p:txBody>
      </p:sp>
      <p:sp>
        <p:nvSpPr>
          <p:cNvPr id="148508" name="Rectangle 28"/>
          <p:cNvSpPr>
            <a:spLocks noChangeArrowheads="1"/>
          </p:cNvSpPr>
          <p:nvPr/>
        </p:nvSpPr>
        <p:spPr bwMode="auto">
          <a:xfrm>
            <a:off x="963613" y="4313238"/>
            <a:ext cx="77120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宋体" pitchFamily="2" charset="-122"/>
              </a:rPr>
              <a:t>≯	 ≯	≯	≯ 	     ≯	 	 ≯</a:t>
            </a:r>
          </a:p>
        </p:txBody>
      </p:sp>
      <p:sp>
        <p:nvSpPr>
          <p:cNvPr id="148509" name="Rectangle 29"/>
          <p:cNvSpPr>
            <a:spLocks noChangeArrowheads="1"/>
          </p:cNvSpPr>
          <p:nvPr/>
        </p:nvSpPr>
        <p:spPr bwMode="auto">
          <a:xfrm>
            <a:off x="963613" y="4922838"/>
            <a:ext cx="78565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宋体" pitchFamily="2" charset="-122"/>
              </a:rPr>
              <a:t>≯	 ≯	≯	≯	     ≯	 	 ≯</a:t>
            </a:r>
          </a:p>
        </p:txBody>
      </p:sp>
      <p:sp>
        <p:nvSpPr>
          <p:cNvPr id="148510" name="Rectangle 30"/>
          <p:cNvSpPr>
            <a:spLocks noChangeArrowheads="1"/>
          </p:cNvSpPr>
          <p:nvPr/>
        </p:nvSpPr>
        <p:spPr bwMode="auto">
          <a:xfrm>
            <a:off x="2030413" y="1874838"/>
            <a:ext cx="592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宋体" pitchFamily="2" charset="-122"/>
              </a:rPr>
              <a:t>≯</a:t>
            </a:r>
          </a:p>
        </p:txBody>
      </p:sp>
      <p:sp>
        <p:nvSpPr>
          <p:cNvPr id="148511" name="Rectangle 31"/>
          <p:cNvSpPr>
            <a:spLocks noChangeArrowheads="1"/>
          </p:cNvSpPr>
          <p:nvPr/>
        </p:nvSpPr>
        <p:spPr bwMode="auto">
          <a:xfrm>
            <a:off x="2868613" y="1874838"/>
            <a:ext cx="592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宋体" pitchFamily="2" charset="-122"/>
              </a:rPr>
              <a:t>≮</a:t>
            </a:r>
          </a:p>
        </p:txBody>
      </p:sp>
      <p:sp>
        <p:nvSpPr>
          <p:cNvPr id="148512" name="Rectangle 32"/>
          <p:cNvSpPr>
            <a:spLocks noChangeArrowheads="1"/>
          </p:cNvSpPr>
          <p:nvPr/>
        </p:nvSpPr>
        <p:spPr bwMode="auto">
          <a:xfrm>
            <a:off x="3783013" y="1874838"/>
            <a:ext cx="592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宋体" pitchFamily="2" charset="-122"/>
              </a:rPr>
              <a:t>≮</a:t>
            </a:r>
          </a:p>
        </p:txBody>
      </p:sp>
      <p:sp>
        <p:nvSpPr>
          <p:cNvPr id="148513" name="Rectangle 33"/>
          <p:cNvSpPr>
            <a:spLocks noChangeArrowheads="1"/>
          </p:cNvSpPr>
          <p:nvPr/>
        </p:nvSpPr>
        <p:spPr bwMode="auto">
          <a:xfrm>
            <a:off x="4697413" y="1874838"/>
            <a:ext cx="592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宋体" pitchFamily="2" charset="-122"/>
              </a:rPr>
              <a:t>≮</a:t>
            </a:r>
          </a:p>
        </p:txBody>
      </p:sp>
      <p:sp>
        <p:nvSpPr>
          <p:cNvPr id="148514" name="Rectangle 34"/>
          <p:cNvSpPr>
            <a:spLocks noChangeArrowheads="1"/>
          </p:cNvSpPr>
          <p:nvPr/>
        </p:nvSpPr>
        <p:spPr bwMode="auto">
          <a:xfrm>
            <a:off x="5611813" y="1874838"/>
            <a:ext cx="592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宋体" pitchFamily="2" charset="-122"/>
              </a:rPr>
              <a:t>≯</a:t>
            </a:r>
          </a:p>
        </p:txBody>
      </p:sp>
      <p:sp>
        <p:nvSpPr>
          <p:cNvPr id="148515" name="Rectangle 35"/>
          <p:cNvSpPr>
            <a:spLocks noChangeArrowheads="1"/>
          </p:cNvSpPr>
          <p:nvPr/>
        </p:nvSpPr>
        <p:spPr bwMode="auto">
          <a:xfrm>
            <a:off x="6602413" y="1874838"/>
            <a:ext cx="592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宋体" pitchFamily="2" charset="-122"/>
              </a:rPr>
              <a:t>≮</a:t>
            </a:r>
          </a:p>
        </p:txBody>
      </p:sp>
      <p:sp>
        <p:nvSpPr>
          <p:cNvPr id="148516" name="Rectangle 36"/>
          <p:cNvSpPr>
            <a:spLocks noChangeArrowheads="1"/>
          </p:cNvSpPr>
          <p:nvPr/>
        </p:nvSpPr>
        <p:spPr bwMode="auto">
          <a:xfrm>
            <a:off x="7593013" y="1874838"/>
            <a:ext cx="592137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latin typeface="宋体" pitchFamily="2" charset="-122"/>
              </a:rPr>
              <a:t>≯</a:t>
            </a:r>
          </a:p>
        </p:txBody>
      </p:sp>
      <p:sp>
        <p:nvSpPr>
          <p:cNvPr id="40997" name="Rectangle 37"/>
          <p:cNvSpPr>
            <a:spLocks noChangeArrowheads="1"/>
          </p:cNvSpPr>
          <p:nvPr/>
        </p:nvSpPr>
        <p:spPr bwMode="auto">
          <a:xfrm>
            <a:off x="7812088" y="1052513"/>
            <a:ext cx="106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P158</a:t>
            </a:r>
          </a:p>
        </p:txBody>
      </p:sp>
      <p:sp>
        <p:nvSpPr>
          <p:cNvPr id="148518" name="Text Box 38"/>
          <p:cNvSpPr txBox="1">
            <a:spLocks noChangeArrowheads="1"/>
          </p:cNvSpPr>
          <p:nvPr/>
        </p:nvSpPr>
        <p:spPr bwMode="auto">
          <a:xfrm>
            <a:off x="2268538" y="2681288"/>
            <a:ext cx="4105275" cy="155575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4800" b="1">
                <a:solidFill>
                  <a:schemeClr val="bg1"/>
                </a:solidFill>
                <a:ea typeface="华文新魏" pitchFamily="2" charset="-122"/>
              </a:rPr>
              <a:t>如何通过算法得到这张表？</a:t>
            </a:r>
          </a:p>
        </p:txBody>
      </p:sp>
      <p:sp>
        <p:nvSpPr>
          <p:cNvPr id="148520" name="Rectangle 40"/>
          <p:cNvSpPr>
            <a:spLocks noChangeArrowheads="1"/>
          </p:cNvSpPr>
          <p:nvPr/>
        </p:nvSpPr>
        <p:spPr bwMode="auto">
          <a:xfrm>
            <a:off x="7380288" y="5573713"/>
            <a:ext cx="7493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3200" b="1">
                <a:latin typeface="Times New Roman" pitchFamily="18" charset="0"/>
              </a:rPr>
              <a:t>acc</a:t>
            </a:r>
          </a:p>
        </p:txBody>
      </p:sp>
      <p:sp>
        <p:nvSpPr>
          <p:cNvPr id="148519" name="Rectangle 39"/>
          <p:cNvSpPr>
            <a:spLocks noChangeArrowheads="1"/>
          </p:cNvSpPr>
          <p:nvPr/>
        </p:nvSpPr>
        <p:spPr bwMode="auto">
          <a:xfrm>
            <a:off x="5508625" y="3975100"/>
            <a:ext cx="709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/>
              <a:t> ≡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404813"/>
            <a:ext cx="7343775" cy="1223962"/>
          </a:xfrm>
        </p:spPr>
        <p:txBody>
          <a:bodyPr/>
          <a:lstStyle/>
          <a:p>
            <a:pPr eaLnBrk="1" hangingPunct="1"/>
            <a:r>
              <a:rPr lang="zh-CN" altLang="en-US" sz="6000" b="1" smtClean="0">
                <a:latin typeface="Times New Roman" pitchFamily="18" charset="0"/>
                <a:ea typeface="华文新魏" pitchFamily="2" charset="-122"/>
              </a:rPr>
              <a:t>算符优先关系的确定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628775"/>
            <a:ext cx="8893175" cy="4752975"/>
          </a:xfrm>
        </p:spPr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优先关系的确定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a≮b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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B→…aA…∈P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且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(A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b…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或者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C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b…)</a:t>
            </a:r>
          </a:p>
          <a:p>
            <a:pPr lvl="2" eaLnBrk="1" hangingPunct="1">
              <a:spcBef>
                <a:spcPct val="40000"/>
              </a:spcBef>
            </a:pPr>
            <a:r>
              <a:rPr lang="zh-CN" altLang="en-US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需求出非终结符</a:t>
            </a:r>
            <a:r>
              <a:rPr lang="en-US" altLang="zh-CN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A</a:t>
            </a:r>
            <a:r>
              <a:rPr lang="zh-CN" altLang="en-US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派生出的</a:t>
            </a:r>
            <a:r>
              <a:rPr lang="zh-CN" altLang="en-US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第一个终结符构成的集合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a≯b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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B→…Ab…∈P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且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(A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…a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或者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…a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C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)</a:t>
            </a:r>
          </a:p>
          <a:p>
            <a:pPr lvl="2" eaLnBrk="1" hangingPunct="1">
              <a:spcBef>
                <a:spcPct val="40000"/>
              </a:spcBef>
            </a:pPr>
            <a:r>
              <a:rPr lang="zh-CN" altLang="en-US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需求出非终结符</a:t>
            </a:r>
            <a:r>
              <a:rPr lang="en-US" altLang="zh-CN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A</a:t>
            </a:r>
            <a:r>
              <a:rPr lang="zh-CN" altLang="en-US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派生出的</a:t>
            </a:r>
            <a:r>
              <a:rPr lang="zh-CN" altLang="en-US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最后一个终结符构成的集合</a:t>
            </a:r>
          </a:p>
          <a:p>
            <a:pPr eaLnBrk="1" hangingPunct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对于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OG G=(V,T,P,S)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，定义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FIRSTOP(A)={</a:t>
            </a:r>
            <a:r>
              <a:rPr lang="en-US" altLang="zh-CN" sz="2400" b="1" smtClean="0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|A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400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400" b="1" smtClean="0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b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…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或者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A</a:t>
            </a:r>
            <a:r>
              <a:rPr lang="en-US" altLang="zh-CN" sz="2400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C</a:t>
            </a:r>
            <a:r>
              <a:rPr lang="en-US" altLang="zh-CN" sz="2400" b="1" smtClean="0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b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…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，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b∈T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B∈V}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LASTOP(A) ={</a:t>
            </a:r>
            <a:r>
              <a:rPr lang="en-US" altLang="zh-CN" sz="2400" b="1" smtClean="0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|A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400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…</a:t>
            </a:r>
            <a:r>
              <a:rPr lang="en-US" altLang="zh-CN" sz="2400" b="1" smtClean="0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b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或者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A</a:t>
            </a:r>
            <a:r>
              <a:rPr lang="en-US" altLang="zh-CN" sz="2400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…</a:t>
            </a:r>
            <a:r>
              <a:rPr lang="en-US" altLang="zh-CN" sz="2400" b="1" smtClean="0">
                <a:solidFill>
                  <a:srgbClr val="0000FF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b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C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，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b∈T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B∈V}</a:t>
            </a:r>
          </a:p>
        </p:txBody>
      </p:sp>
      <p:sp>
        <p:nvSpPr>
          <p:cNvPr id="419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D936383-FD2E-4308-ADE4-FBD7744CDCBF}" type="slidenum">
              <a:rPr lang="en-US" altLang="zh-CN" smtClean="0"/>
              <a:pPr eaLnBrk="1" hangingPunct="1"/>
              <a:t>28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3375"/>
            <a:ext cx="7089775" cy="1160463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求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FIRSTOP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和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LASTOP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700213"/>
            <a:ext cx="5567363" cy="3532187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ct val="40000"/>
              </a:spcAft>
            </a:pPr>
            <a:r>
              <a:rPr lang="zh-CN" altLang="en-US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初值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扫描所有产生式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lvl="1" eaLnBrk="1" hangingPunct="1">
              <a:spcBef>
                <a:spcPct val="0"/>
              </a:spcBef>
              <a:spcAft>
                <a:spcPct val="40000"/>
              </a:spcAft>
            </a:pPr>
            <a:r>
              <a:rPr lang="en-US" altLang="zh-CN" sz="2400" b="1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if A→a…∈P </a:t>
            </a:r>
            <a:r>
              <a:rPr lang="zh-CN" altLang="en-US" sz="2400" b="1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或</a:t>
            </a:r>
            <a:r>
              <a:rPr lang="en-US" altLang="zh-CN" sz="2400" b="1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A→Ba…∈P then </a:t>
            </a:r>
          </a:p>
          <a:p>
            <a:pPr lvl="1" eaLnBrk="1" hangingPunct="1">
              <a:spcBef>
                <a:spcPct val="0"/>
              </a:spcBef>
              <a:spcAft>
                <a:spcPct val="40000"/>
              </a:spcAft>
            </a:pPr>
            <a:r>
              <a:rPr lang="en-US" altLang="zh-CN" sz="2400" b="1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if A→…a∈P</a:t>
            </a:r>
            <a:r>
              <a:rPr lang="zh-CN" altLang="en-US" sz="2400" b="1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或</a:t>
            </a:r>
            <a:r>
              <a:rPr lang="en-US" altLang="zh-CN" sz="2400" b="1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A→ … aB then</a:t>
            </a:r>
          </a:p>
          <a:p>
            <a:pPr eaLnBrk="1" hangingPunct="1">
              <a:spcBef>
                <a:spcPct val="0"/>
              </a:spcBef>
              <a:spcAft>
                <a:spcPct val="40000"/>
              </a:spcAft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迭代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扫描所有产生式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lvl="1" eaLnBrk="1" hangingPunct="1">
              <a:spcBef>
                <a:spcPct val="0"/>
              </a:spcBef>
              <a:spcAft>
                <a:spcPct val="40000"/>
              </a:spcAft>
            </a:pP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if A→B…∈P  then</a:t>
            </a:r>
          </a:p>
          <a:p>
            <a:pPr lvl="1" eaLnBrk="1" hangingPunct="1">
              <a:spcBef>
                <a:spcPct val="0"/>
              </a:spcBef>
              <a:spcAft>
                <a:spcPct val="40000"/>
              </a:spcAft>
            </a:pP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if A→…B∈P  then</a:t>
            </a:r>
          </a:p>
        </p:txBody>
      </p:sp>
      <p:sp>
        <p:nvSpPr>
          <p:cNvPr id="430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4000395-7D0F-44A2-8BF5-39267527D8C8}" type="slidenum">
              <a:rPr lang="en-US" altLang="zh-CN" smtClean="0"/>
              <a:pPr eaLnBrk="1" hangingPunct="1"/>
              <a:t>29</a:t>
            </a:fld>
            <a:endParaRPr lang="en-US" altLang="zh-CN" smtClean="0"/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1041400" y="5649913"/>
            <a:ext cx="6526213" cy="588962"/>
          </a:xfrm>
          <a:prstGeom prst="rect">
            <a:avLst/>
          </a:prstGeom>
          <a:solidFill>
            <a:srgbClr val="0066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6666"/>
            </a:extrusionClr>
          </a:sp3d>
        </p:spPr>
        <p:txBody>
          <a:bodyPr wrap="none">
            <a:spAutoFit/>
            <a:flatTx/>
          </a:bodyPr>
          <a:lstStyle/>
          <a:p>
            <a:pPr>
              <a:spcAft>
                <a:spcPct val="40000"/>
              </a:spcAft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设计程序：求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FIRSTOP 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、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LASTOP</a:t>
            </a: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5580063" y="2398713"/>
            <a:ext cx="2386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Aft>
                <a:spcPct val="40000"/>
              </a:spcAft>
              <a:buClr>
                <a:schemeClr val="hlink"/>
              </a:buClr>
              <a:buSzPct val="55000"/>
              <a:buFont typeface="Wingdings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a∈FIRSTOP(A)</a:t>
            </a:r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5219700" y="2927350"/>
            <a:ext cx="228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a∈LASTOP(A)</a:t>
            </a:r>
          </a:p>
        </p:txBody>
      </p:sp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3525838" y="4127500"/>
            <a:ext cx="4646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将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FIRSTOP(B)</a:t>
            </a:r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放入 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FIRSTOP(A)</a:t>
            </a:r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3513138" y="4630738"/>
            <a:ext cx="4443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将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LASTOP(B)</a:t>
            </a:r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放入 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LASTOP(A)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214313"/>
            <a:ext cx="7489825" cy="1462087"/>
          </a:xfrm>
        </p:spPr>
        <p:txBody>
          <a:bodyPr/>
          <a:lstStyle/>
          <a:p>
            <a:pPr algn="l" eaLnBrk="1" hangingPunct="1"/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E→E+T|E-T|T  T→T*F|T/F|F  F→(E)|id</a:t>
            </a:r>
          </a:p>
        </p:txBody>
      </p:sp>
      <p:graphicFrame>
        <p:nvGraphicFramePr>
          <p:cNvPr id="149621" name="Group 117"/>
          <p:cNvGraphicFramePr>
            <a:graphicFrameLocks noGrp="1"/>
          </p:cNvGraphicFramePr>
          <p:nvPr>
            <p:ph type="tbl" idx="1"/>
          </p:nvPr>
        </p:nvGraphicFramePr>
        <p:xfrm>
          <a:off x="749300" y="2795588"/>
          <a:ext cx="7494588" cy="3012123"/>
        </p:xfrm>
        <a:graphic>
          <a:graphicData uri="http://schemas.openxmlformats.org/drawingml/2006/table">
            <a:tbl>
              <a:tblPr/>
              <a:tblGrid>
                <a:gridCol w="1363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语法变量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FIRSTOP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LASTOP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0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3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05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B83E33D-8D27-48DB-8D61-F01BFC0B3077}" type="slidenum">
              <a:rPr lang="en-US" altLang="zh-CN" smtClean="0"/>
              <a:pPr eaLnBrk="1" hangingPunct="1"/>
              <a:t>30</a:t>
            </a:fld>
            <a:endParaRPr lang="en-US" altLang="zh-CN" smtClean="0"/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2051050" y="836613"/>
            <a:ext cx="503238" cy="3387725"/>
            <a:chOff x="1292" y="527"/>
            <a:chExt cx="317" cy="2134"/>
          </a:xfrm>
        </p:grpSpPr>
        <p:sp>
          <p:nvSpPr>
            <p:cNvPr id="44107" name="Line 45"/>
            <p:cNvSpPr>
              <a:spLocks noChangeShapeType="1"/>
            </p:cNvSpPr>
            <p:nvPr/>
          </p:nvSpPr>
          <p:spPr bwMode="auto">
            <a:xfrm>
              <a:off x="1383" y="527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8" name="Freeform 47"/>
            <p:cNvSpPr>
              <a:spLocks/>
            </p:cNvSpPr>
            <p:nvPr/>
          </p:nvSpPr>
          <p:spPr bwMode="auto">
            <a:xfrm>
              <a:off x="1429" y="527"/>
              <a:ext cx="91" cy="1814"/>
            </a:xfrm>
            <a:custGeom>
              <a:avLst/>
              <a:gdLst>
                <a:gd name="T0" fmla="*/ 26 w 318"/>
                <a:gd name="T1" fmla="*/ 0 h 1769"/>
                <a:gd name="T2" fmla="*/ 0 w 318"/>
                <a:gd name="T3" fmla="*/ 1860 h 1769"/>
                <a:gd name="T4" fmla="*/ 0 60000 65536"/>
                <a:gd name="T5" fmla="*/ 0 60000 65536"/>
                <a:gd name="T6" fmla="*/ 0 w 318"/>
                <a:gd name="T7" fmla="*/ 0 h 1769"/>
                <a:gd name="T8" fmla="*/ 318 w 318"/>
                <a:gd name="T9" fmla="*/ 1769 h 176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769">
                  <a:moveTo>
                    <a:pt x="318" y="0"/>
                  </a:moveTo>
                  <a:cubicBezTo>
                    <a:pt x="318" y="0"/>
                    <a:pt x="159" y="884"/>
                    <a:pt x="0" y="176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9" name="Rectangle 49"/>
            <p:cNvSpPr>
              <a:spLocks noChangeArrowheads="1"/>
            </p:cNvSpPr>
            <p:nvPr/>
          </p:nvSpPr>
          <p:spPr bwMode="auto">
            <a:xfrm>
              <a:off x="1292" y="2296"/>
              <a:ext cx="26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+</a:t>
              </a:r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2555875" y="836613"/>
            <a:ext cx="1081088" cy="3316287"/>
            <a:chOff x="1610" y="527"/>
            <a:chExt cx="681" cy="2089"/>
          </a:xfrm>
        </p:grpSpPr>
        <p:sp>
          <p:nvSpPr>
            <p:cNvPr id="44104" name="Line 46"/>
            <p:cNvSpPr>
              <a:spLocks noChangeShapeType="1"/>
            </p:cNvSpPr>
            <p:nvPr/>
          </p:nvSpPr>
          <p:spPr bwMode="auto">
            <a:xfrm>
              <a:off x="2064" y="527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5" name="Freeform 48"/>
            <p:cNvSpPr>
              <a:spLocks/>
            </p:cNvSpPr>
            <p:nvPr/>
          </p:nvSpPr>
          <p:spPr bwMode="auto">
            <a:xfrm>
              <a:off x="1701" y="527"/>
              <a:ext cx="408" cy="1814"/>
            </a:xfrm>
            <a:custGeom>
              <a:avLst/>
              <a:gdLst>
                <a:gd name="T0" fmla="*/ 216 w 771"/>
                <a:gd name="T1" fmla="*/ 0 h 1814"/>
                <a:gd name="T2" fmla="*/ 0 w 771"/>
                <a:gd name="T3" fmla="*/ 1814 h 1814"/>
                <a:gd name="T4" fmla="*/ 0 60000 65536"/>
                <a:gd name="T5" fmla="*/ 0 60000 65536"/>
                <a:gd name="T6" fmla="*/ 0 w 771"/>
                <a:gd name="T7" fmla="*/ 0 h 1814"/>
                <a:gd name="T8" fmla="*/ 771 w 771"/>
                <a:gd name="T9" fmla="*/ 1814 h 181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71" h="1814">
                  <a:moveTo>
                    <a:pt x="771" y="0"/>
                  </a:moveTo>
                  <a:cubicBezTo>
                    <a:pt x="771" y="0"/>
                    <a:pt x="385" y="907"/>
                    <a:pt x="0" y="18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6" name="Rectangle 51"/>
            <p:cNvSpPr>
              <a:spLocks noChangeArrowheads="1"/>
            </p:cNvSpPr>
            <p:nvPr/>
          </p:nvSpPr>
          <p:spPr bwMode="auto">
            <a:xfrm>
              <a:off x="1610" y="2251"/>
              <a:ext cx="2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latin typeface="Times New Roman" pitchFamily="18" charset="0"/>
                </a:rPr>
                <a:t>-</a:t>
              </a:r>
            </a:p>
          </p:txBody>
        </p:sp>
      </p:grpSp>
      <p:grpSp>
        <p:nvGrpSpPr>
          <p:cNvPr id="4" name="Group 65"/>
          <p:cNvGrpSpPr>
            <a:grpSpLocks/>
          </p:cNvGrpSpPr>
          <p:nvPr/>
        </p:nvGrpSpPr>
        <p:grpSpPr bwMode="auto">
          <a:xfrm>
            <a:off x="2051050" y="836613"/>
            <a:ext cx="4392613" cy="4057650"/>
            <a:chOff x="1292" y="527"/>
            <a:chExt cx="3040" cy="2556"/>
          </a:xfrm>
        </p:grpSpPr>
        <p:sp>
          <p:nvSpPr>
            <p:cNvPr id="44101" name="Rectangle 56"/>
            <p:cNvSpPr>
              <a:spLocks noChangeArrowheads="1"/>
            </p:cNvSpPr>
            <p:nvPr/>
          </p:nvSpPr>
          <p:spPr bwMode="auto">
            <a:xfrm>
              <a:off x="1292" y="2756"/>
              <a:ext cx="25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44102" name="Line 57"/>
            <p:cNvSpPr>
              <a:spLocks noChangeShapeType="1"/>
            </p:cNvSpPr>
            <p:nvPr/>
          </p:nvSpPr>
          <p:spPr bwMode="auto">
            <a:xfrm>
              <a:off x="4014" y="527"/>
              <a:ext cx="3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3" name="Freeform 64"/>
            <p:cNvSpPr>
              <a:spLocks/>
            </p:cNvSpPr>
            <p:nvPr/>
          </p:nvSpPr>
          <p:spPr bwMode="auto">
            <a:xfrm>
              <a:off x="1429" y="527"/>
              <a:ext cx="2766" cy="2313"/>
            </a:xfrm>
            <a:custGeom>
              <a:avLst/>
              <a:gdLst>
                <a:gd name="T0" fmla="*/ 2766 w 2766"/>
                <a:gd name="T1" fmla="*/ 0 h 2313"/>
                <a:gd name="T2" fmla="*/ 0 w 2766"/>
                <a:gd name="T3" fmla="*/ 2313 h 2313"/>
                <a:gd name="T4" fmla="*/ 0 60000 65536"/>
                <a:gd name="T5" fmla="*/ 0 60000 65536"/>
                <a:gd name="T6" fmla="*/ 0 w 2766"/>
                <a:gd name="T7" fmla="*/ 0 h 2313"/>
                <a:gd name="T8" fmla="*/ 2766 w 2766"/>
                <a:gd name="T9" fmla="*/ 2313 h 231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6" h="2313">
                  <a:moveTo>
                    <a:pt x="2766" y="0"/>
                  </a:moveTo>
                  <a:cubicBezTo>
                    <a:pt x="1609" y="948"/>
                    <a:pt x="453" y="1897"/>
                    <a:pt x="0" y="231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68"/>
          <p:cNvGrpSpPr>
            <a:grpSpLocks/>
          </p:cNvGrpSpPr>
          <p:nvPr/>
        </p:nvGrpSpPr>
        <p:grpSpPr bwMode="auto">
          <a:xfrm>
            <a:off x="2484438" y="908050"/>
            <a:ext cx="5040312" cy="3913188"/>
            <a:chOff x="1565" y="572"/>
            <a:chExt cx="3583" cy="2465"/>
          </a:xfrm>
        </p:grpSpPr>
        <p:sp>
          <p:nvSpPr>
            <p:cNvPr id="44098" name="Line 58"/>
            <p:cNvSpPr>
              <a:spLocks noChangeShapeType="1"/>
            </p:cNvSpPr>
            <p:nvPr/>
          </p:nvSpPr>
          <p:spPr bwMode="auto">
            <a:xfrm>
              <a:off x="4830" y="572"/>
              <a:ext cx="3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9" name="Rectangle 66"/>
            <p:cNvSpPr>
              <a:spLocks noChangeArrowheads="1"/>
            </p:cNvSpPr>
            <p:nvPr/>
          </p:nvSpPr>
          <p:spPr bwMode="auto">
            <a:xfrm>
              <a:off x="1565" y="2710"/>
              <a:ext cx="2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latin typeface="Times New Roman" pitchFamily="18" charset="0"/>
                </a:rPr>
                <a:t> /</a:t>
              </a:r>
            </a:p>
          </p:txBody>
        </p:sp>
        <p:sp>
          <p:nvSpPr>
            <p:cNvPr id="44100" name="Freeform 67"/>
            <p:cNvSpPr>
              <a:spLocks/>
            </p:cNvSpPr>
            <p:nvPr/>
          </p:nvSpPr>
          <p:spPr bwMode="auto">
            <a:xfrm>
              <a:off x="1746" y="572"/>
              <a:ext cx="3311" cy="2178"/>
            </a:xfrm>
            <a:custGeom>
              <a:avLst/>
              <a:gdLst>
                <a:gd name="T0" fmla="*/ 3311 w 3311"/>
                <a:gd name="T1" fmla="*/ 0 h 2178"/>
                <a:gd name="T2" fmla="*/ 0 w 3311"/>
                <a:gd name="T3" fmla="*/ 2178 h 2178"/>
                <a:gd name="T4" fmla="*/ 0 60000 65536"/>
                <a:gd name="T5" fmla="*/ 0 60000 65536"/>
                <a:gd name="T6" fmla="*/ 0 w 3311"/>
                <a:gd name="T7" fmla="*/ 0 h 2178"/>
                <a:gd name="T8" fmla="*/ 3311 w 3311"/>
                <a:gd name="T9" fmla="*/ 2178 h 21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311" h="2178">
                  <a:moveTo>
                    <a:pt x="3311" y="0"/>
                  </a:moveTo>
                  <a:cubicBezTo>
                    <a:pt x="1946" y="892"/>
                    <a:pt x="582" y="1785"/>
                    <a:pt x="0" y="217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74"/>
          <p:cNvGrpSpPr>
            <a:grpSpLocks/>
          </p:cNvGrpSpPr>
          <p:nvPr/>
        </p:nvGrpSpPr>
        <p:grpSpPr bwMode="auto">
          <a:xfrm>
            <a:off x="2555875" y="1604963"/>
            <a:ext cx="863600" cy="4056062"/>
            <a:chOff x="1565" y="981"/>
            <a:chExt cx="1315" cy="2555"/>
          </a:xfrm>
        </p:grpSpPr>
        <p:sp>
          <p:nvSpPr>
            <p:cNvPr id="44095" name="Line 60"/>
            <p:cNvSpPr>
              <a:spLocks noChangeShapeType="1"/>
            </p:cNvSpPr>
            <p:nvPr/>
          </p:nvSpPr>
          <p:spPr bwMode="auto">
            <a:xfrm>
              <a:off x="2562" y="981"/>
              <a:ext cx="3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6" name="Rectangle 70"/>
            <p:cNvSpPr>
              <a:spLocks noChangeArrowheads="1"/>
            </p:cNvSpPr>
            <p:nvPr/>
          </p:nvSpPr>
          <p:spPr bwMode="auto">
            <a:xfrm>
              <a:off x="1565" y="3209"/>
              <a:ext cx="7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44097" name="Freeform 73"/>
            <p:cNvSpPr>
              <a:spLocks/>
            </p:cNvSpPr>
            <p:nvPr/>
          </p:nvSpPr>
          <p:spPr bwMode="auto">
            <a:xfrm>
              <a:off x="1746" y="981"/>
              <a:ext cx="998" cy="2268"/>
            </a:xfrm>
            <a:custGeom>
              <a:avLst/>
              <a:gdLst>
                <a:gd name="T0" fmla="*/ 998 w 998"/>
                <a:gd name="T1" fmla="*/ 0 h 2268"/>
                <a:gd name="T2" fmla="*/ 0 w 998"/>
                <a:gd name="T3" fmla="*/ 2268 h 2268"/>
                <a:gd name="T4" fmla="*/ 0 60000 65536"/>
                <a:gd name="T5" fmla="*/ 0 60000 65536"/>
                <a:gd name="T6" fmla="*/ 0 w 998"/>
                <a:gd name="T7" fmla="*/ 0 h 2268"/>
                <a:gd name="T8" fmla="*/ 998 w 998"/>
                <a:gd name="T9" fmla="*/ 2268 h 22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98" h="2268">
                  <a:moveTo>
                    <a:pt x="998" y="0"/>
                  </a:moveTo>
                  <a:cubicBezTo>
                    <a:pt x="578" y="914"/>
                    <a:pt x="159" y="1829"/>
                    <a:pt x="0" y="226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7"/>
          <p:cNvGrpSpPr>
            <a:grpSpLocks/>
          </p:cNvGrpSpPr>
          <p:nvPr/>
        </p:nvGrpSpPr>
        <p:grpSpPr bwMode="auto">
          <a:xfrm>
            <a:off x="1416050" y="1557338"/>
            <a:ext cx="1011238" cy="4056062"/>
            <a:chOff x="892" y="981"/>
            <a:chExt cx="637" cy="2555"/>
          </a:xfrm>
        </p:grpSpPr>
        <p:sp>
          <p:nvSpPr>
            <p:cNvPr id="44092" name="Line 59"/>
            <p:cNvSpPr>
              <a:spLocks noChangeShapeType="1"/>
            </p:cNvSpPr>
            <p:nvPr/>
          </p:nvSpPr>
          <p:spPr bwMode="auto">
            <a:xfrm>
              <a:off x="1292" y="981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3" name="Rectangle 71"/>
            <p:cNvSpPr>
              <a:spLocks noChangeArrowheads="1"/>
            </p:cNvSpPr>
            <p:nvPr/>
          </p:nvSpPr>
          <p:spPr bwMode="auto">
            <a:xfrm>
              <a:off x="1338" y="3209"/>
              <a:ext cx="1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latin typeface="Times New Roman" pitchFamily="18" charset="0"/>
                </a:rPr>
                <a:t>(</a:t>
              </a:r>
            </a:p>
          </p:txBody>
        </p:sp>
        <p:sp>
          <p:nvSpPr>
            <p:cNvPr id="44094" name="Freeform 76"/>
            <p:cNvSpPr>
              <a:spLocks/>
            </p:cNvSpPr>
            <p:nvPr/>
          </p:nvSpPr>
          <p:spPr bwMode="auto">
            <a:xfrm>
              <a:off x="892" y="981"/>
              <a:ext cx="537" cy="2404"/>
            </a:xfrm>
            <a:custGeom>
              <a:avLst/>
              <a:gdLst>
                <a:gd name="T0" fmla="*/ 537 w 537"/>
                <a:gd name="T1" fmla="*/ 0 h 2404"/>
                <a:gd name="T2" fmla="*/ 310 w 537"/>
                <a:gd name="T3" fmla="*/ 408 h 2404"/>
                <a:gd name="T4" fmla="*/ 38 w 537"/>
                <a:gd name="T5" fmla="*/ 1360 h 2404"/>
                <a:gd name="T6" fmla="*/ 537 w 537"/>
                <a:gd name="T7" fmla="*/ 2404 h 24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7"/>
                <a:gd name="T13" fmla="*/ 0 h 2404"/>
                <a:gd name="T14" fmla="*/ 537 w 537"/>
                <a:gd name="T15" fmla="*/ 2404 h 24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7" h="2404">
                  <a:moveTo>
                    <a:pt x="537" y="0"/>
                  </a:moveTo>
                  <a:cubicBezTo>
                    <a:pt x="465" y="90"/>
                    <a:pt x="393" y="181"/>
                    <a:pt x="310" y="408"/>
                  </a:cubicBezTo>
                  <a:cubicBezTo>
                    <a:pt x="227" y="635"/>
                    <a:pt x="0" y="1027"/>
                    <a:pt x="38" y="1360"/>
                  </a:cubicBezTo>
                  <a:cubicBezTo>
                    <a:pt x="76" y="1693"/>
                    <a:pt x="454" y="2238"/>
                    <a:pt x="537" y="240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9586" name="Rectangle 82"/>
          <p:cNvSpPr>
            <a:spLocks noChangeArrowheads="1"/>
          </p:cNvSpPr>
          <p:nvPr/>
        </p:nvSpPr>
        <p:spPr bwMode="auto">
          <a:xfrm>
            <a:off x="5364163" y="3582988"/>
            <a:ext cx="684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+  -</a:t>
            </a:r>
          </a:p>
        </p:txBody>
      </p:sp>
      <p:sp>
        <p:nvSpPr>
          <p:cNvPr id="149587" name="Rectangle 83"/>
          <p:cNvSpPr>
            <a:spLocks noChangeArrowheads="1"/>
          </p:cNvSpPr>
          <p:nvPr/>
        </p:nvSpPr>
        <p:spPr bwMode="auto">
          <a:xfrm>
            <a:off x="6084888" y="3654425"/>
            <a:ext cx="569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 id</a:t>
            </a:r>
          </a:p>
        </p:txBody>
      </p:sp>
      <p:sp>
        <p:nvSpPr>
          <p:cNvPr id="149588" name="Rectangle 84"/>
          <p:cNvSpPr>
            <a:spLocks noChangeArrowheads="1"/>
          </p:cNvSpPr>
          <p:nvPr/>
        </p:nvSpPr>
        <p:spPr bwMode="auto">
          <a:xfrm>
            <a:off x="5364163" y="4375150"/>
            <a:ext cx="638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*  /</a:t>
            </a:r>
          </a:p>
        </p:txBody>
      </p:sp>
      <p:sp>
        <p:nvSpPr>
          <p:cNvPr id="149589" name="Rectangle 85"/>
          <p:cNvSpPr>
            <a:spLocks noChangeArrowheads="1"/>
          </p:cNvSpPr>
          <p:nvPr/>
        </p:nvSpPr>
        <p:spPr bwMode="auto">
          <a:xfrm>
            <a:off x="6084888" y="4375150"/>
            <a:ext cx="569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 id</a:t>
            </a:r>
          </a:p>
        </p:txBody>
      </p:sp>
      <p:sp>
        <p:nvSpPr>
          <p:cNvPr id="149590" name="Rectangle 86"/>
          <p:cNvSpPr>
            <a:spLocks noChangeArrowheads="1"/>
          </p:cNvSpPr>
          <p:nvPr/>
        </p:nvSpPr>
        <p:spPr bwMode="auto">
          <a:xfrm>
            <a:off x="5435600" y="5094288"/>
            <a:ext cx="777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</a:rPr>
              <a:t>)  id</a:t>
            </a:r>
          </a:p>
        </p:txBody>
      </p:sp>
      <p:sp>
        <p:nvSpPr>
          <p:cNvPr id="149591" name="Rectangle 87"/>
          <p:cNvSpPr>
            <a:spLocks noChangeArrowheads="1"/>
          </p:cNvSpPr>
          <p:nvPr/>
        </p:nvSpPr>
        <p:spPr bwMode="auto">
          <a:xfrm>
            <a:off x="7019925" y="3654425"/>
            <a:ext cx="371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 /</a:t>
            </a:r>
          </a:p>
        </p:txBody>
      </p:sp>
      <p:grpSp>
        <p:nvGrpSpPr>
          <p:cNvPr id="8" name="Group 102"/>
          <p:cNvGrpSpPr>
            <a:grpSpLocks/>
          </p:cNvGrpSpPr>
          <p:nvPr/>
        </p:nvGrpSpPr>
        <p:grpSpPr bwMode="auto">
          <a:xfrm>
            <a:off x="3619500" y="908050"/>
            <a:ext cx="952500" cy="3184525"/>
            <a:chOff x="1889" y="527"/>
            <a:chExt cx="900" cy="2048"/>
          </a:xfrm>
        </p:grpSpPr>
        <p:sp>
          <p:nvSpPr>
            <p:cNvPr id="44090" name="Rectangle 88"/>
            <p:cNvSpPr>
              <a:spLocks noChangeArrowheads="1"/>
            </p:cNvSpPr>
            <p:nvPr/>
          </p:nvSpPr>
          <p:spPr bwMode="auto">
            <a:xfrm>
              <a:off x="1889" y="2241"/>
              <a:ext cx="441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>
                  <a:latin typeface="Times New Roman" pitchFamily="18" charset="0"/>
                </a:rPr>
                <a:t>(  </a:t>
              </a:r>
            </a:p>
          </p:txBody>
        </p:sp>
        <p:sp>
          <p:nvSpPr>
            <p:cNvPr id="44091" name="Line 92"/>
            <p:cNvSpPr>
              <a:spLocks noChangeShapeType="1"/>
            </p:cNvSpPr>
            <p:nvPr/>
          </p:nvSpPr>
          <p:spPr bwMode="auto">
            <a:xfrm flipH="1">
              <a:off x="2109" y="527"/>
              <a:ext cx="680" cy="17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09"/>
          <p:cNvGrpSpPr>
            <a:grpSpLocks/>
          </p:cNvGrpSpPr>
          <p:nvPr/>
        </p:nvGrpSpPr>
        <p:grpSpPr bwMode="auto">
          <a:xfrm>
            <a:off x="3563938" y="908050"/>
            <a:ext cx="4608512" cy="3889375"/>
            <a:chOff x="1927" y="572"/>
            <a:chExt cx="3312" cy="2459"/>
          </a:xfrm>
        </p:grpSpPr>
        <p:sp>
          <p:nvSpPr>
            <p:cNvPr id="44088" name="Line 78"/>
            <p:cNvSpPr>
              <a:spLocks noChangeShapeType="1"/>
            </p:cNvSpPr>
            <p:nvPr/>
          </p:nvSpPr>
          <p:spPr bwMode="auto">
            <a:xfrm flipH="1">
              <a:off x="2154" y="572"/>
              <a:ext cx="3085" cy="2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9" name="Rectangle 55"/>
            <p:cNvSpPr>
              <a:spLocks noChangeArrowheads="1"/>
            </p:cNvSpPr>
            <p:nvPr/>
          </p:nvSpPr>
          <p:spPr bwMode="auto">
            <a:xfrm>
              <a:off x="1927" y="2704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800" b="1">
                  <a:latin typeface="Times New Roman" pitchFamily="18" charset="0"/>
                </a:rPr>
                <a:t> (   </a:t>
              </a:r>
            </a:p>
          </p:txBody>
        </p:sp>
      </p:grpSp>
      <p:grpSp>
        <p:nvGrpSpPr>
          <p:cNvPr id="10" name="Group 101"/>
          <p:cNvGrpSpPr>
            <a:grpSpLocks/>
          </p:cNvGrpSpPr>
          <p:nvPr/>
        </p:nvGrpSpPr>
        <p:grpSpPr bwMode="auto">
          <a:xfrm>
            <a:off x="3132138" y="908050"/>
            <a:ext cx="1439862" cy="3262313"/>
            <a:chOff x="2200" y="527"/>
            <a:chExt cx="589" cy="2111"/>
          </a:xfrm>
        </p:grpSpPr>
        <p:sp>
          <p:nvSpPr>
            <p:cNvPr id="44086" name="Rectangle 96"/>
            <p:cNvSpPr>
              <a:spLocks noChangeArrowheads="1"/>
            </p:cNvSpPr>
            <p:nvPr/>
          </p:nvSpPr>
          <p:spPr bwMode="auto">
            <a:xfrm>
              <a:off x="2200" y="2302"/>
              <a:ext cx="197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44087" name="Line 98"/>
            <p:cNvSpPr>
              <a:spLocks noChangeShapeType="1"/>
            </p:cNvSpPr>
            <p:nvPr/>
          </p:nvSpPr>
          <p:spPr bwMode="auto">
            <a:xfrm flipH="1">
              <a:off x="2381" y="527"/>
              <a:ext cx="408" cy="19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05"/>
          <p:cNvGrpSpPr>
            <a:grpSpLocks/>
          </p:cNvGrpSpPr>
          <p:nvPr/>
        </p:nvGrpSpPr>
        <p:grpSpPr bwMode="auto">
          <a:xfrm>
            <a:off x="3132138" y="908050"/>
            <a:ext cx="5040312" cy="3960813"/>
            <a:chOff x="2245" y="572"/>
            <a:chExt cx="3039" cy="2513"/>
          </a:xfrm>
        </p:grpSpPr>
        <p:sp>
          <p:nvSpPr>
            <p:cNvPr id="44084" name="Rectangle 103"/>
            <p:cNvSpPr>
              <a:spLocks noChangeArrowheads="1"/>
            </p:cNvSpPr>
            <p:nvPr/>
          </p:nvSpPr>
          <p:spPr bwMode="auto">
            <a:xfrm>
              <a:off x="2245" y="2756"/>
              <a:ext cx="29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44085" name="Line 104"/>
            <p:cNvSpPr>
              <a:spLocks noChangeShapeType="1"/>
            </p:cNvSpPr>
            <p:nvPr/>
          </p:nvSpPr>
          <p:spPr bwMode="auto">
            <a:xfrm flipH="1">
              <a:off x="2381" y="572"/>
              <a:ext cx="2903" cy="22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15"/>
          <p:cNvGrpSpPr>
            <a:grpSpLocks/>
          </p:cNvGrpSpPr>
          <p:nvPr/>
        </p:nvGrpSpPr>
        <p:grpSpPr bwMode="auto">
          <a:xfrm>
            <a:off x="4067175" y="908050"/>
            <a:ext cx="504825" cy="3179763"/>
            <a:chOff x="2562" y="572"/>
            <a:chExt cx="227" cy="2003"/>
          </a:xfrm>
        </p:grpSpPr>
        <p:sp>
          <p:nvSpPr>
            <p:cNvPr id="44082" name="Line 80"/>
            <p:cNvSpPr>
              <a:spLocks noChangeShapeType="1"/>
            </p:cNvSpPr>
            <p:nvPr/>
          </p:nvSpPr>
          <p:spPr bwMode="auto">
            <a:xfrm flipH="1">
              <a:off x="2653" y="572"/>
              <a:ext cx="136" cy="18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3" name="Rectangle 100"/>
            <p:cNvSpPr>
              <a:spLocks noChangeArrowheads="1"/>
            </p:cNvSpPr>
            <p:nvPr/>
          </p:nvSpPr>
          <p:spPr bwMode="auto">
            <a:xfrm>
              <a:off x="2562" y="2248"/>
              <a:ext cx="12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latin typeface="Times New Roman" pitchFamily="18" charset="0"/>
                </a:rPr>
                <a:t>/</a:t>
              </a:r>
            </a:p>
          </p:txBody>
        </p:sp>
      </p:grpSp>
      <p:grpSp>
        <p:nvGrpSpPr>
          <p:cNvPr id="13" name="Group 118"/>
          <p:cNvGrpSpPr>
            <a:grpSpLocks/>
          </p:cNvGrpSpPr>
          <p:nvPr/>
        </p:nvGrpSpPr>
        <p:grpSpPr bwMode="auto">
          <a:xfrm>
            <a:off x="4572000" y="908050"/>
            <a:ext cx="411163" cy="3214688"/>
            <a:chOff x="2789" y="490"/>
            <a:chExt cx="388" cy="2108"/>
          </a:xfrm>
        </p:grpSpPr>
        <p:sp>
          <p:nvSpPr>
            <p:cNvPr id="44080" name="Rectangle 53"/>
            <p:cNvSpPr>
              <a:spLocks noChangeArrowheads="1"/>
            </p:cNvSpPr>
            <p:nvPr/>
          </p:nvSpPr>
          <p:spPr bwMode="auto">
            <a:xfrm>
              <a:off x="2835" y="2257"/>
              <a:ext cx="342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44081" name="Line 106"/>
            <p:cNvSpPr>
              <a:spLocks noChangeShapeType="1"/>
            </p:cNvSpPr>
            <p:nvPr/>
          </p:nvSpPr>
          <p:spPr bwMode="auto">
            <a:xfrm>
              <a:off x="2789" y="490"/>
              <a:ext cx="182" cy="18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9615" name="Rectangle 111"/>
          <p:cNvSpPr>
            <a:spLocks noChangeArrowheads="1"/>
          </p:cNvSpPr>
          <p:nvPr/>
        </p:nvSpPr>
        <p:spPr bwMode="auto">
          <a:xfrm>
            <a:off x="6732588" y="3654425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)</a:t>
            </a:r>
          </a:p>
        </p:txBody>
      </p:sp>
      <p:sp>
        <p:nvSpPr>
          <p:cNvPr id="149616" name="Rectangle 112"/>
          <p:cNvSpPr>
            <a:spLocks noChangeArrowheads="1"/>
          </p:cNvSpPr>
          <p:nvPr/>
        </p:nvSpPr>
        <p:spPr bwMode="auto">
          <a:xfrm>
            <a:off x="6732588" y="4375150"/>
            <a:ext cx="303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)</a:t>
            </a:r>
          </a:p>
        </p:txBody>
      </p:sp>
      <p:sp>
        <p:nvSpPr>
          <p:cNvPr id="149617" name="Rectangle 113"/>
          <p:cNvSpPr>
            <a:spLocks noChangeArrowheads="1"/>
          </p:cNvSpPr>
          <p:nvPr/>
        </p:nvSpPr>
        <p:spPr bwMode="auto">
          <a:xfrm>
            <a:off x="7524750" y="371157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*</a:t>
            </a:r>
          </a:p>
        </p:txBody>
      </p:sp>
      <p:sp>
        <p:nvSpPr>
          <p:cNvPr id="44079" name="Text Box 116"/>
          <p:cNvSpPr txBox="1">
            <a:spLocks noChangeArrowheads="1"/>
          </p:cNvSpPr>
          <p:nvPr/>
        </p:nvSpPr>
        <p:spPr bwMode="auto">
          <a:xfrm>
            <a:off x="2843213" y="5876925"/>
            <a:ext cx="3457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具体算法：</a:t>
            </a: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P160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6000" b="1" smtClean="0">
                <a:latin typeface="Times New Roman" pitchFamily="18" charset="0"/>
                <a:ea typeface="华文新魏" pitchFamily="2" charset="-122"/>
              </a:rPr>
              <a:t>算符优先关系的确定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916113"/>
            <a:ext cx="8054975" cy="4114800"/>
          </a:xfrm>
        </p:spPr>
        <p:txBody>
          <a:bodyPr/>
          <a:lstStyle/>
          <a:p>
            <a:pPr marL="442913" indent="-442913" eaLnBrk="1" hangingPunct="1">
              <a:spcBef>
                <a:spcPct val="0"/>
              </a:spcBef>
              <a:spcAft>
                <a:spcPct val="40000"/>
              </a:spcAft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→…ab…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；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→…aBb…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 		</a:t>
            </a:r>
          </a:p>
          <a:p>
            <a:pPr marL="442913" indent="-442913" eaLnBrk="1" hangingPunct="1">
              <a:spcBef>
                <a:spcPct val="0"/>
              </a:spcBef>
              <a:spcAft>
                <a:spcPct val="40000"/>
              </a:spcAft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则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a≡b</a:t>
            </a:r>
          </a:p>
          <a:p>
            <a:pPr marL="442913" indent="-442913" eaLnBrk="1" hangingPunct="1">
              <a:spcBef>
                <a:spcPct val="0"/>
              </a:spcBef>
              <a:spcAft>
                <a:spcPct val="40000"/>
              </a:spcAft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→…aB…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</a:p>
          <a:p>
            <a:pPr marL="442913" indent="-442913" eaLnBrk="1" hangingPunct="1">
              <a:spcBef>
                <a:spcPct val="0"/>
              </a:spcBef>
              <a:spcAft>
                <a:spcPct val="40000"/>
              </a:spcAft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则对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b∈FIRSTOP(B)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a≮b</a:t>
            </a:r>
          </a:p>
          <a:p>
            <a:pPr marL="442913" indent="-442913" eaLnBrk="1" hangingPunct="1">
              <a:spcBef>
                <a:spcPct val="0"/>
              </a:spcBef>
              <a:spcAft>
                <a:spcPct val="40000"/>
              </a:spcAft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→…Bb…,</a:t>
            </a:r>
          </a:p>
          <a:p>
            <a:pPr marL="442913" indent="-442913" eaLnBrk="1" hangingPunct="1">
              <a:spcBef>
                <a:spcPct val="0"/>
              </a:spcBef>
              <a:spcAft>
                <a:spcPct val="40000"/>
              </a:spcAft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	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则对	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a∈LASTOP(B)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a≯b</a:t>
            </a:r>
          </a:p>
        </p:txBody>
      </p:sp>
      <p:sp>
        <p:nvSpPr>
          <p:cNvPr id="450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D8CEB91-46FE-4F87-9A44-73C531A479FB}" type="slidenum">
              <a:rPr lang="en-US" altLang="zh-CN" smtClean="0"/>
              <a:pPr eaLnBrk="1" hangingPunct="1"/>
              <a:t>31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981075"/>
            <a:ext cx="7488238" cy="714375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算符优先关系表的构造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(P160)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2924175"/>
            <a:ext cx="4249738" cy="3673475"/>
          </a:xfrm>
        </p:spPr>
        <p:txBody>
          <a:bodyPr/>
          <a:lstStyle/>
          <a:p>
            <a:pPr eaLnBrk="1" hangingPunct="1">
              <a:spcBef>
                <a:spcPct val="80000"/>
              </a:spcBef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i+1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∈TT</a:t>
            </a:r>
            <a:endParaRPr lang="en-US" altLang="zh-CN" sz="3000" b="1" baseline="-25000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spcBef>
                <a:spcPct val="80000"/>
              </a:spcBef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i+1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i+2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∈TVT</a:t>
            </a:r>
            <a:endParaRPr lang="en-US" altLang="zh-CN" sz="3000" b="1" baseline="-25000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spcBef>
                <a:spcPct val="80000"/>
              </a:spcBef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i+1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∈TV</a:t>
            </a:r>
          </a:p>
          <a:p>
            <a:pPr eaLnBrk="1" hangingPunct="1">
              <a:spcBef>
                <a:spcPct val="80000"/>
              </a:spcBef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 smtClean="0">
                <a:latin typeface="Times New Roman" pitchFamily="18" charset="0"/>
                <a:ea typeface="华文新魏" pitchFamily="2" charset="-122"/>
              </a:rPr>
              <a:t>i+1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∈VT</a:t>
            </a:r>
            <a:endParaRPr lang="en-US" altLang="zh-CN" sz="3000" b="1" baseline="-25000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460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08A2032-44E1-42EA-A92D-3AC07660FFF3}" type="slidenum">
              <a:rPr lang="en-US" altLang="zh-CN" smtClean="0"/>
              <a:pPr eaLnBrk="1" hangingPunct="1"/>
              <a:t>32</a:t>
            </a:fld>
            <a:endParaRPr lang="en-US" altLang="zh-CN" smtClean="0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3313113" y="2925763"/>
            <a:ext cx="5830887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8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000" b="1">
                <a:latin typeface="Times New Roman" pitchFamily="18" charset="0"/>
                <a:ea typeface="华文新魏" pitchFamily="2" charset="-122"/>
              </a:rPr>
              <a:t>则 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≡X</a:t>
            </a:r>
            <a:r>
              <a:rPr lang="en-US" altLang="zh-CN" sz="3000" b="1" baseline="-25000">
                <a:latin typeface="Times New Roman" pitchFamily="18" charset="0"/>
                <a:ea typeface="华文新魏" pitchFamily="2" charset="-122"/>
              </a:rPr>
              <a:t>i+1</a:t>
            </a:r>
          </a:p>
          <a:p>
            <a:pPr marL="342900" indent="-342900">
              <a:spcBef>
                <a:spcPct val="8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		</a:t>
            </a:r>
            <a:r>
              <a:rPr lang="zh-CN" altLang="en-US" sz="3000" b="1">
                <a:latin typeface="Times New Roman" pitchFamily="18" charset="0"/>
                <a:ea typeface="华文新魏" pitchFamily="2" charset="-122"/>
              </a:rPr>
              <a:t>则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≡X</a:t>
            </a:r>
            <a:r>
              <a:rPr lang="en-US" altLang="zh-CN" sz="3000" b="1" baseline="-25000">
                <a:latin typeface="Times New Roman" pitchFamily="18" charset="0"/>
                <a:ea typeface="华文新魏" pitchFamily="2" charset="-122"/>
              </a:rPr>
              <a:t>i+2</a:t>
            </a:r>
          </a:p>
          <a:p>
            <a:pPr marL="342900" indent="-342900">
              <a:spcBef>
                <a:spcPct val="8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000" b="1">
                <a:latin typeface="Times New Roman" pitchFamily="18" charset="0"/>
                <a:ea typeface="华文新魏" pitchFamily="2" charset="-122"/>
              </a:rPr>
              <a:t>则</a:t>
            </a:r>
            <a:r>
              <a:rPr lang="zh-CN" altLang="en-US" sz="3000" b="1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  <a:sym typeface="Symbol" pitchFamily="18" charset="2"/>
              </a:rPr>
              <a:t>a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∈FIRSTOP(X</a:t>
            </a:r>
            <a:r>
              <a:rPr lang="en-US" altLang="zh-CN" sz="3000" b="1" baseline="-25000">
                <a:latin typeface="Times New Roman" pitchFamily="18" charset="0"/>
                <a:ea typeface="华文新魏" pitchFamily="2" charset="-122"/>
              </a:rPr>
              <a:t>i+1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3000" b="1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000" b="1" baseline="-2500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≮a</a:t>
            </a:r>
          </a:p>
          <a:p>
            <a:pPr marL="342900" indent="-342900">
              <a:spcBef>
                <a:spcPct val="8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3000" b="1">
                <a:latin typeface="Times New Roman" pitchFamily="18" charset="0"/>
                <a:ea typeface="华文新魏" pitchFamily="2" charset="-122"/>
              </a:rPr>
              <a:t>则</a:t>
            </a:r>
            <a:r>
              <a:rPr lang="zh-CN" altLang="en-US" sz="3000" b="1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  <a:sym typeface="Symbol" pitchFamily="18" charset="2"/>
              </a:rPr>
              <a:t>a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∈LASTOP(X</a:t>
            </a:r>
            <a:r>
              <a:rPr lang="en-US" altLang="zh-CN" sz="3000" b="1" baseline="-2500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3000" b="1">
                <a:latin typeface="Times New Roman" pitchFamily="18" charset="0"/>
                <a:ea typeface="华文新魏" pitchFamily="2" charset="-122"/>
              </a:rPr>
              <a:t>， </a:t>
            </a:r>
            <a:r>
              <a:rPr lang="en-US" altLang="zh-CN" sz="3000" b="1">
                <a:latin typeface="Times New Roman" pitchFamily="18" charset="0"/>
                <a:ea typeface="华文新魏" pitchFamily="2" charset="-122"/>
              </a:rPr>
              <a:t>a≯X</a:t>
            </a:r>
            <a:r>
              <a:rPr lang="en-US" altLang="zh-CN" sz="3000" b="1" baseline="-25000">
                <a:latin typeface="Times New Roman" pitchFamily="18" charset="0"/>
                <a:ea typeface="华文新魏" pitchFamily="2" charset="-122"/>
              </a:rPr>
              <a:t>i+1</a:t>
            </a: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1187450" y="1916113"/>
            <a:ext cx="4681538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8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CN" sz="360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3600" b="1">
                <a:latin typeface="Times New Roman" pitchFamily="18" charset="0"/>
                <a:ea typeface="华文新魏" pitchFamily="2" charset="-122"/>
              </a:rPr>
              <a:t>→X</a:t>
            </a:r>
            <a:r>
              <a:rPr lang="en-US" altLang="zh-CN" sz="3600" b="1" baseline="-2500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600" b="1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3600" b="1" baseline="-2500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3600" b="1">
                <a:latin typeface="Times New Roman" pitchFamily="18" charset="0"/>
                <a:ea typeface="华文新魏" pitchFamily="2" charset="-122"/>
              </a:rPr>
              <a:t>…X</a:t>
            </a:r>
            <a:r>
              <a:rPr lang="en-US" altLang="zh-CN" sz="3600" b="1" baseline="-25000">
                <a:latin typeface="Times New Roman" pitchFamily="18" charset="0"/>
                <a:ea typeface="华文新魏" pitchFamily="2" charset="-122"/>
              </a:rPr>
              <a:t>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ChangeArrowheads="1"/>
          </p:cNvSpPr>
          <p:nvPr/>
        </p:nvSpPr>
        <p:spPr bwMode="auto">
          <a:xfrm>
            <a:off x="1066800" y="2133600"/>
            <a:ext cx="71628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+	-	*	/	(	)	id	#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451725" y="6165850"/>
            <a:ext cx="792163" cy="547688"/>
          </a:xfrm>
          <a:noFill/>
        </p:spPr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</a:rPr>
              <a:t>acc</a:t>
            </a:r>
            <a:endParaRPr lang="en-US" altLang="zh-CN" sz="3600" b="1" smtClean="0">
              <a:solidFill>
                <a:srgbClr val="000099"/>
              </a:solidFill>
              <a:latin typeface="Times New Roman" pitchFamily="18" charset="0"/>
            </a:endParaRPr>
          </a:p>
        </p:txBody>
      </p:sp>
      <p:graphicFrame>
        <p:nvGraphicFramePr>
          <p:cNvPr id="198688" name="Group 32"/>
          <p:cNvGraphicFramePr>
            <a:graphicFrameLocks noGrp="1"/>
          </p:cNvGraphicFramePr>
          <p:nvPr>
            <p:ph sz="half" idx="2"/>
          </p:nvPr>
        </p:nvGraphicFramePr>
        <p:xfrm>
          <a:off x="836613" y="623888"/>
          <a:ext cx="5967412" cy="1584960"/>
        </p:xfrm>
        <a:graphic>
          <a:graphicData uri="http://schemas.openxmlformats.org/drawingml/2006/table">
            <a:tbl>
              <a:tblPr/>
              <a:tblGrid>
                <a:gridCol w="1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语法变量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FIRSTOP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LASTOP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+, -, *, /, (,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+, -, *, /, ),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*, /, (,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*, /, ),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(,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), 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121"/>
          <p:cNvGrpSpPr>
            <a:grpSpLocks/>
          </p:cNvGrpSpPr>
          <p:nvPr/>
        </p:nvGrpSpPr>
        <p:grpSpPr bwMode="auto">
          <a:xfrm>
            <a:off x="228600" y="2133600"/>
            <a:ext cx="8458200" cy="4572000"/>
            <a:chOff x="144" y="1344"/>
            <a:chExt cx="5328" cy="2880"/>
          </a:xfrm>
        </p:grpSpPr>
        <p:sp>
          <p:nvSpPr>
            <p:cNvPr id="47208" name="Line 5"/>
            <p:cNvSpPr>
              <a:spLocks noChangeShapeType="1"/>
            </p:cNvSpPr>
            <p:nvPr/>
          </p:nvSpPr>
          <p:spPr bwMode="auto">
            <a:xfrm>
              <a:off x="240" y="1632"/>
              <a:ext cx="518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09" name="Line 6"/>
            <p:cNvSpPr>
              <a:spLocks noChangeShapeType="1"/>
            </p:cNvSpPr>
            <p:nvPr/>
          </p:nvSpPr>
          <p:spPr bwMode="auto">
            <a:xfrm>
              <a:off x="240" y="1968"/>
              <a:ext cx="518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10" name="Line 7"/>
            <p:cNvSpPr>
              <a:spLocks noChangeShapeType="1"/>
            </p:cNvSpPr>
            <p:nvPr/>
          </p:nvSpPr>
          <p:spPr bwMode="auto">
            <a:xfrm>
              <a:off x="240" y="2304"/>
              <a:ext cx="5184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11" name="Line 8"/>
            <p:cNvSpPr>
              <a:spLocks noChangeShapeType="1"/>
            </p:cNvSpPr>
            <p:nvPr/>
          </p:nvSpPr>
          <p:spPr bwMode="auto">
            <a:xfrm>
              <a:off x="240" y="2592"/>
              <a:ext cx="523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12" name="Line 9"/>
            <p:cNvSpPr>
              <a:spLocks noChangeShapeType="1"/>
            </p:cNvSpPr>
            <p:nvPr/>
          </p:nvSpPr>
          <p:spPr bwMode="auto">
            <a:xfrm>
              <a:off x="576" y="1344"/>
              <a:ext cx="0" cy="288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13" name="Line 10"/>
            <p:cNvSpPr>
              <a:spLocks noChangeShapeType="1"/>
            </p:cNvSpPr>
            <p:nvPr/>
          </p:nvSpPr>
          <p:spPr bwMode="auto">
            <a:xfrm>
              <a:off x="192" y="2928"/>
              <a:ext cx="5280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14" name="Line 11"/>
            <p:cNvSpPr>
              <a:spLocks noChangeShapeType="1"/>
            </p:cNvSpPr>
            <p:nvPr/>
          </p:nvSpPr>
          <p:spPr bwMode="auto">
            <a:xfrm>
              <a:off x="144" y="3216"/>
              <a:ext cx="5280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15" name="Line 12"/>
            <p:cNvSpPr>
              <a:spLocks noChangeShapeType="1"/>
            </p:cNvSpPr>
            <p:nvPr/>
          </p:nvSpPr>
          <p:spPr bwMode="auto">
            <a:xfrm>
              <a:off x="192" y="3552"/>
              <a:ext cx="523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16" name="Line 13"/>
            <p:cNvSpPr>
              <a:spLocks noChangeShapeType="1"/>
            </p:cNvSpPr>
            <p:nvPr/>
          </p:nvSpPr>
          <p:spPr bwMode="auto">
            <a:xfrm>
              <a:off x="192" y="3888"/>
              <a:ext cx="5232" cy="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17" name="Line 14"/>
            <p:cNvSpPr>
              <a:spLocks noChangeShapeType="1"/>
            </p:cNvSpPr>
            <p:nvPr/>
          </p:nvSpPr>
          <p:spPr bwMode="auto">
            <a:xfrm>
              <a:off x="1680" y="1392"/>
              <a:ext cx="0" cy="283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18" name="Line 15"/>
            <p:cNvSpPr>
              <a:spLocks noChangeShapeType="1"/>
            </p:cNvSpPr>
            <p:nvPr/>
          </p:nvSpPr>
          <p:spPr bwMode="auto">
            <a:xfrm>
              <a:off x="2208" y="1344"/>
              <a:ext cx="0" cy="288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19" name="Line 16"/>
            <p:cNvSpPr>
              <a:spLocks noChangeShapeType="1"/>
            </p:cNvSpPr>
            <p:nvPr/>
          </p:nvSpPr>
          <p:spPr bwMode="auto">
            <a:xfrm>
              <a:off x="2784" y="1344"/>
              <a:ext cx="0" cy="2880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20" name="Line 17"/>
            <p:cNvSpPr>
              <a:spLocks noChangeShapeType="1"/>
            </p:cNvSpPr>
            <p:nvPr/>
          </p:nvSpPr>
          <p:spPr bwMode="auto">
            <a:xfrm>
              <a:off x="3360" y="1392"/>
              <a:ext cx="0" cy="283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21" name="Line 18"/>
            <p:cNvSpPr>
              <a:spLocks noChangeShapeType="1"/>
            </p:cNvSpPr>
            <p:nvPr/>
          </p:nvSpPr>
          <p:spPr bwMode="auto">
            <a:xfrm>
              <a:off x="3984" y="1392"/>
              <a:ext cx="0" cy="283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22" name="Line 19"/>
            <p:cNvSpPr>
              <a:spLocks noChangeShapeType="1"/>
            </p:cNvSpPr>
            <p:nvPr/>
          </p:nvSpPr>
          <p:spPr bwMode="auto">
            <a:xfrm>
              <a:off x="4560" y="1392"/>
              <a:ext cx="0" cy="283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223" name="Line 21"/>
            <p:cNvSpPr>
              <a:spLocks noChangeShapeType="1"/>
            </p:cNvSpPr>
            <p:nvPr/>
          </p:nvSpPr>
          <p:spPr bwMode="auto">
            <a:xfrm>
              <a:off x="1152" y="1392"/>
              <a:ext cx="0" cy="2832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198678" name="Text Box 22"/>
          <p:cNvSpPr txBox="1">
            <a:spLocks noChangeArrowheads="1"/>
          </p:cNvSpPr>
          <p:nvPr/>
        </p:nvSpPr>
        <p:spPr bwMode="auto">
          <a:xfrm>
            <a:off x="304800" y="2638425"/>
            <a:ext cx="685800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+</a:t>
            </a:r>
          </a:p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-</a:t>
            </a:r>
          </a:p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*</a:t>
            </a:r>
          </a:p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/</a:t>
            </a:r>
          </a:p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(</a:t>
            </a:r>
          </a:p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)</a:t>
            </a:r>
          </a:p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id</a:t>
            </a:r>
          </a:p>
          <a:p>
            <a:pPr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#</a:t>
            </a:r>
          </a:p>
        </p:txBody>
      </p:sp>
      <p:sp>
        <p:nvSpPr>
          <p:cNvPr id="198679" name="Rectangle 23"/>
          <p:cNvSpPr>
            <a:spLocks noChangeArrowheads="1"/>
          </p:cNvSpPr>
          <p:nvPr/>
        </p:nvSpPr>
        <p:spPr bwMode="auto">
          <a:xfrm>
            <a:off x="1082675" y="2633663"/>
            <a:ext cx="609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≯</a:t>
            </a:r>
          </a:p>
        </p:txBody>
      </p:sp>
      <p:sp>
        <p:nvSpPr>
          <p:cNvPr id="198680" name="Rectangle 24"/>
          <p:cNvSpPr>
            <a:spLocks noChangeArrowheads="1"/>
          </p:cNvSpPr>
          <p:nvPr/>
        </p:nvSpPr>
        <p:spPr bwMode="auto">
          <a:xfrm>
            <a:off x="1981200" y="2514600"/>
            <a:ext cx="592138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≯</a:t>
            </a:r>
          </a:p>
        </p:txBody>
      </p:sp>
      <p:sp>
        <p:nvSpPr>
          <p:cNvPr id="198681" name="Rectangle 25"/>
          <p:cNvSpPr>
            <a:spLocks noChangeArrowheads="1"/>
          </p:cNvSpPr>
          <p:nvPr/>
        </p:nvSpPr>
        <p:spPr bwMode="auto">
          <a:xfrm>
            <a:off x="2819400" y="2514600"/>
            <a:ext cx="592138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≮</a:t>
            </a:r>
          </a:p>
        </p:txBody>
      </p:sp>
      <p:sp>
        <p:nvSpPr>
          <p:cNvPr id="198682" name="Rectangle 26"/>
          <p:cNvSpPr>
            <a:spLocks noChangeArrowheads="1"/>
          </p:cNvSpPr>
          <p:nvPr/>
        </p:nvSpPr>
        <p:spPr bwMode="auto">
          <a:xfrm>
            <a:off x="3733800" y="2514600"/>
            <a:ext cx="592138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≮</a:t>
            </a:r>
          </a:p>
        </p:txBody>
      </p:sp>
      <p:sp>
        <p:nvSpPr>
          <p:cNvPr id="198683" name="Rectangle 27"/>
          <p:cNvSpPr>
            <a:spLocks noChangeArrowheads="1"/>
          </p:cNvSpPr>
          <p:nvPr/>
        </p:nvSpPr>
        <p:spPr bwMode="auto">
          <a:xfrm>
            <a:off x="4648200" y="2514600"/>
            <a:ext cx="592138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≮</a:t>
            </a:r>
          </a:p>
        </p:txBody>
      </p:sp>
      <p:sp>
        <p:nvSpPr>
          <p:cNvPr id="198684" name="Rectangle 28"/>
          <p:cNvSpPr>
            <a:spLocks noChangeArrowheads="1"/>
          </p:cNvSpPr>
          <p:nvPr/>
        </p:nvSpPr>
        <p:spPr bwMode="auto">
          <a:xfrm>
            <a:off x="5562600" y="2514600"/>
            <a:ext cx="592138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≯</a:t>
            </a:r>
          </a:p>
        </p:txBody>
      </p:sp>
      <p:sp>
        <p:nvSpPr>
          <p:cNvPr id="198685" name="Rectangle 29"/>
          <p:cNvSpPr>
            <a:spLocks noChangeArrowheads="1"/>
          </p:cNvSpPr>
          <p:nvPr/>
        </p:nvSpPr>
        <p:spPr bwMode="auto">
          <a:xfrm>
            <a:off x="6553200" y="2514600"/>
            <a:ext cx="592138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≮</a:t>
            </a:r>
          </a:p>
        </p:txBody>
      </p:sp>
      <p:sp>
        <p:nvSpPr>
          <p:cNvPr id="198686" name="Rectangle 30"/>
          <p:cNvSpPr>
            <a:spLocks noChangeArrowheads="1"/>
          </p:cNvSpPr>
          <p:nvPr/>
        </p:nvSpPr>
        <p:spPr bwMode="auto">
          <a:xfrm>
            <a:off x="7543800" y="2514600"/>
            <a:ext cx="592138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3200" b="1">
                <a:solidFill>
                  <a:srgbClr val="000099"/>
                </a:solidFill>
                <a:latin typeface="宋体" pitchFamily="2" charset="-122"/>
              </a:rPr>
              <a:t>≯</a:t>
            </a:r>
          </a:p>
        </p:txBody>
      </p:sp>
      <p:sp>
        <p:nvSpPr>
          <p:cNvPr id="198687" name="Rectangle 31"/>
          <p:cNvSpPr>
            <a:spLocks noChangeArrowheads="1"/>
          </p:cNvSpPr>
          <p:nvPr/>
        </p:nvSpPr>
        <p:spPr bwMode="auto">
          <a:xfrm>
            <a:off x="684213" y="188913"/>
            <a:ext cx="748823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/>
            <a:r>
              <a:rPr lang="en-US" altLang="zh-CN" sz="28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E→E+T|E-T| T  T→T*F| T/F| F  F→(E)|id</a:t>
            </a:r>
          </a:p>
        </p:txBody>
      </p:sp>
      <p:sp>
        <p:nvSpPr>
          <p:cNvPr id="198710" name="Rectangle 54"/>
          <p:cNvSpPr>
            <a:spLocks noChangeArrowheads="1"/>
          </p:cNvSpPr>
          <p:nvPr/>
        </p:nvSpPr>
        <p:spPr bwMode="auto">
          <a:xfrm>
            <a:off x="1116013" y="3068638"/>
            <a:ext cx="5762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sz="32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11" name="Rectangle 55"/>
          <p:cNvSpPr>
            <a:spLocks noChangeArrowheads="1"/>
          </p:cNvSpPr>
          <p:nvPr/>
        </p:nvSpPr>
        <p:spPr bwMode="auto">
          <a:xfrm>
            <a:off x="1042988" y="4073525"/>
            <a:ext cx="5921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12" name="Rectangle 56"/>
          <p:cNvSpPr>
            <a:spLocks noChangeArrowheads="1"/>
          </p:cNvSpPr>
          <p:nvPr/>
        </p:nvSpPr>
        <p:spPr bwMode="auto">
          <a:xfrm>
            <a:off x="1042988" y="3533775"/>
            <a:ext cx="5921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13" name="Rectangle 57"/>
          <p:cNvSpPr>
            <a:spLocks noChangeArrowheads="1"/>
          </p:cNvSpPr>
          <p:nvPr/>
        </p:nvSpPr>
        <p:spPr bwMode="auto">
          <a:xfrm>
            <a:off x="1042988" y="5551488"/>
            <a:ext cx="5921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14" name="Rectangle 58"/>
          <p:cNvSpPr>
            <a:spLocks noChangeArrowheads="1"/>
          </p:cNvSpPr>
          <p:nvPr/>
        </p:nvSpPr>
        <p:spPr bwMode="auto">
          <a:xfrm>
            <a:off x="1042988" y="5046663"/>
            <a:ext cx="5921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32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15" name="Rectangle 59"/>
          <p:cNvSpPr>
            <a:spLocks noChangeArrowheads="1"/>
          </p:cNvSpPr>
          <p:nvPr/>
        </p:nvSpPr>
        <p:spPr bwMode="auto">
          <a:xfrm>
            <a:off x="2051050" y="31416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16" name="Rectangle 60"/>
          <p:cNvSpPr>
            <a:spLocks noChangeArrowheads="1"/>
          </p:cNvSpPr>
          <p:nvPr/>
        </p:nvSpPr>
        <p:spPr bwMode="auto">
          <a:xfrm>
            <a:off x="2051050" y="36449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17" name="Rectangle 61"/>
          <p:cNvSpPr>
            <a:spLocks noChangeArrowheads="1"/>
          </p:cNvSpPr>
          <p:nvPr/>
        </p:nvSpPr>
        <p:spPr bwMode="auto">
          <a:xfrm>
            <a:off x="1979613" y="41497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18" name="Rectangle 62"/>
          <p:cNvSpPr>
            <a:spLocks noChangeArrowheads="1"/>
          </p:cNvSpPr>
          <p:nvPr/>
        </p:nvSpPr>
        <p:spPr bwMode="auto">
          <a:xfrm>
            <a:off x="1979613" y="50847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19" name="Rectangle 63"/>
          <p:cNvSpPr>
            <a:spLocks noChangeArrowheads="1"/>
          </p:cNvSpPr>
          <p:nvPr/>
        </p:nvSpPr>
        <p:spPr bwMode="auto">
          <a:xfrm>
            <a:off x="1944688" y="558958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20" name="Rectangle 64"/>
          <p:cNvSpPr>
            <a:spLocks noChangeArrowheads="1"/>
          </p:cNvSpPr>
          <p:nvPr/>
        </p:nvSpPr>
        <p:spPr bwMode="auto">
          <a:xfrm>
            <a:off x="2843213" y="31416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21" name="Rectangle 65"/>
          <p:cNvSpPr>
            <a:spLocks noChangeArrowheads="1"/>
          </p:cNvSpPr>
          <p:nvPr/>
        </p:nvSpPr>
        <p:spPr bwMode="auto">
          <a:xfrm>
            <a:off x="3708400" y="31416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22" name="Rectangle 66"/>
          <p:cNvSpPr>
            <a:spLocks noChangeArrowheads="1"/>
          </p:cNvSpPr>
          <p:nvPr/>
        </p:nvSpPr>
        <p:spPr bwMode="auto">
          <a:xfrm>
            <a:off x="4643438" y="31416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23" name="Rectangle 67"/>
          <p:cNvSpPr>
            <a:spLocks noChangeArrowheads="1"/>
          </p:cNvSpPr>
          <p:nvPr/>
        </p:nvSpPr>
        <p:spPr bwMode="auto">
          <a:xfrm>
            <a:off x="6588125" y="31416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24" name="Rectangle 68"/>
          <p:cNvSpPr>
            <a:spLocks noChangeArrowheads="1"/>
          </p:cNvSpPr>
          <p:nvPr/>
        </p:nvSpPr>
        <p:spPr bwMode="auto">
          <a:xfrm>
            <a:off x="2843213" y="36449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25" name="Rectangle 69"/>
          <p:cNvSpPr>
            <a:spLocks noChangeArrowheads="1"/>
          </p:cNvSpPr>
          <p:nvPr/>
        </p:nvSpPr>
        <p:spPr bwMode="auto">
          <a:xfrm>
            <a:off x="2843213" y="41497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26" name="Rectangle 70"/>
          <p:cNvSpPr>
            <a:spLocks noChangeArrowheads="1"/>
          </p:cNvSpPr>
          <p:nvPr/>
        </p:nvSpPr>
        <p:spPr bwMode="auto">
          <a:xfrm>
            <a:off x="2843213" y="50847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27" name="Rectangle 71"/>
          <p:cNvSpPr>
            <a:spLocks noChangeArrowheads="1"/>
          </p:cNvSpPr>
          <p:nvPr/>
        </p:nvSpPr>
        <p:spPr bwMode="auto">
          <a:xfrm>
            <a:off x="2843213" y="56610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28" name="Rectangle 72"/>
          <p:cNvSpPr>
            <a:spLocks noChangeArrowheads="1"/>
          </p:cNvSpPr>
          <p:nvPr/>
        </p:nvSpPr>
        <p:spPr bwMode="auto">
          <a:xfrm>
            <a:off x="4643438" y="35734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29" name="Rectangle 73"/>
          <p:cNvSpPr>
            <a:spLocks noChangeArrowheads="1"/>
          </p:cNvSpPr>
          <p:nvPr/>
        </p:nvSpPr>
        <p:spPr bwMode="auto">
          <a:xfrm>
            <a:off x="6588125" y="36449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30" name="Rectangle 74"/>
          <p:cNvSpPr>
            <a:spLocks noChangeArrowheads="1"/>
          </p:cNvSpPr>
          <p:nvPr/>
        </p:nvSpPr>
        <p:spPr bwMode="auto">
          <a:xfrm>
            <a:off x="4643438" y="41497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31" name="Rectangle 75"/>
          <p:cNvSpPr>
            <a:spLocks noChangeArrowheads="1"/>
          </p:cNvSpPr>
          <p:nvPr/>
        </p:nvSpPr>
        <p:spPr bwMode="auto">
          <a:xfrm>
            <a:off x="6588125" y="41497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32" name="Rectangle 76"/>
          <p:cNvSpPr>
            <a:spLocks noChangeArrowheads="1"/>
          </p:cNvSpPr>
          <p:nvPr/>
        </p:nvSpPr>
        <p:spPr bwMode="auto">
          <a:xfrm>
            <a:off x="1042988" y="45815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33" name="Rectangle 77"/>
          <p:cNvSpPr>
            <a:spLocks noChangeArrowheads="1"/>
          </p:cNvSpPr>
          <p:nvPr/>
        </p:nvSpPr>
        <p:spPr bwMode="auto">
          <a:xfrm>
            <a:off x="1979613" y="46529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34" name="Rectangle 78"/>
          <p:cNvSpPr>
            <a:spLocks noChangeArrowheads="1"/>
          </p:cNvSpPr>
          <p:nvPr/>
        </p:nvSpPr>
        <p:spPr bwMode="auto">
          <a:xfrm>
            <a:off x="2843213" y="46529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35" name="Rectangle 79"/>
          <p:cNvSpPr>
            <a:spLocks noChangeArrowheads="1"/>
          </p:cNvSpPr>
          <p:nvPr/>
        </p:nvSpPr>
        <p:spPr bwMode="auto">
          <a:xfrm>
            <a:off x="3708400" y="463867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36" name="Rectangle 80"/>
          <p:cNvSpPr>
            <a:spLocks noChangeArrowheads="1"/>
          </p:cNvSpPr>
          <p:nvPr/>
        </p:nvSpPr>
        <p:spPr bwMode="auto">
          <a:xfrm>
            <a:off x="4643438" y="463867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37" name="Rectangle 81"/>
          <p:cNvSpPr>
            <a:spLocks noChangeArrowheads="1"/>
          </p:cNvSpPr>
          <p:nvPr/>
        </p:nvSpPr>
        <p:spPr bwMode="auto">
          <a:xfrm>
            <a:off x="6588125" y="46529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38" name="Rectangle 82"/>
          <p:cNvSpPr>
            <a:spLocks noChangeArrowheads="1"/>
          </p:cNvSpPr>
          <p:nvPr/>
        </p:nvSpPr>
        <p:spPr bwMode="auto">
          <a:xfrm>
            <a:off x="5562600" y="463867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≡</a:t>
            </a:r>
          </a:p>
        </p:txBody>
      </p:sp>
      <p:sp>
        <p:nvSpPr>
          <p:cNvPr id="198739" name="Rectangle 83"/>
          <p:cNvSpPr>
            <a:spLocks noChangeArrowheads="1"/>
          </p:cNvSpPr>
          <p:nvPr/>
        </p:nvSpPr>
        <p:spPr bwMode="auto">
          <a:xfrm>
            <a:off x="5580063" y="32131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40" name="Rectangle 84"/>
          <p:cNvSpPr>
            <a:spLocks noChangeArrowheads="1"/>
          </p:cNvSpPr>
          <p:nvPr/>
        </p:nvSpPr>
        <p:spPr bwMode="auto">
          <a:xfrm>
            <a:off x="5580063" y="363061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41" name="Rectangle 85"/>
          <p:cNvSpPr>
            <a:spLocks noChangeArrowheads="1"/>
          </p:cNvSpPr>
          <p:nvPr/>
        </p:nvSpPr>
        <p:spPr bwMode="auto">
          <a:xfrm>
            <a:off x="5508625" y="41497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42" name="Rectangle 86"/>
          <p:cNvSpPr>
            <a:spLocks noChangeArrowheads="1"/>
          </p:cNvSpPr>
          <p:nvPr/>
        </p:nvSpPr>
        <p:spPr bwMode="auto">
          <a:xfrm>
            <a:off x="5508625" y="515778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43" name="Rectangle 87"/>
          <p:cNvSpPr>
            <a:spLocks noChangeArrowheads="1"/>
          </p:cNvSpPr>
          <p:nvPr/>
        </p:nvSpPr>
        <p:spPr bwMode="auto">
          <a:xfrm>
            <a:off x="5508625" y="56610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44" name="Rectangle 88"/>
          <p:cNvSpPr>
            <a:spLocks noChangeArrowheads="1"/>
          </p:cNvSpPr>
          <p:nvPr/>
        </p:nvSpPr>
        <p:spPr bwMode="auto">
          <a:xfrm>
            <a:off x="7596188" y="31416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45" name="Rectangle 89"/>
          <p:cNvSpPr>
            <a:spLocks noChangeArrowheads="1"/>
          </p:cNvSpPr>
          <p:nvPr/>
        </p:nvSpPr>
        <p:spPr bwMode="auto">
          <a:xfrm>
            <a:off x="7596188" y="36449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46" name="Rectangle 90"/>
          <p:cNvSpPr>
            <a:spLocks noChangeArrowheads="1"/>
          </p:cNvSpPr>
          <p:nvPr/>
        </p:nvSpPr>
        <p:spPr bwMode="auto">
          <a:xfrm>
            <a:off x="7596188" y="41497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47" name="Rectangle 91"/>
          <p:cNvSpPr>
            <a:spLocks noChangeArrowheads="1"/>
          </p:cNvSpPr>
          <p:nvPr/>
        </p:nvSpPr>
        <p:spPr bwMode="auto">
          <a:xfrm>
            <a:off x="7596188" y="515778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48" name="Rectangle 92"/>
          <p:cNvSpPr>
            <a:spLocks noChangeArrowheads="1"/>
          </p:cNvSpPr>
          <p:nvPr/>
        </p:nvSpPr>
        <p:spPr bwMode="auto">
          <a:xfrm>
            <a:off x="7596188" y="56610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49" name="Rectangle 93"/>
          <p:cNvSpPr>
            <a:spLocks noChangeArrowheads="1"/>
          </p:cNvSpPr>
          <p:nvPr/>
        </p:nvSpPr>
        <p:spPr bwMode="auto">
          <a:xfrm>
            <a:off x="3708400" y="56610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50" name="Rectangle 94"/>
          <p:cNvSpPr>
            <a:spLocks noChangeArrowheads="1"/>
          </p:cNvSpPr>
          <p:nvPr/>
        </p:nvSpPr>
        <p:spPr bwMode="auto">
          <a:xfrm>
            <a:off x="3708400" y="414972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51" name="Rectangle 95"/>
          <p:cNvSpPr>
            <a:spLocks noChangeArrowheads="1"/>
          </p:cNvSpPr>
          <p:nvPr/>
        </p:nvSpPr>
        <p:spPr bwMode="auto">
          <a:xfrm>
            <a:off x="3671888" y="35734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52" name="Rectangle 96"/>
          <p:cNvSpPr>
            <a:spLocks noChangeArrowheads="1"/>
          </p:cNvSpPr>
          <p:nvPr/>
        </p:nvSpPr>
        <p:spPr bwMode="auto">
          <a:xfrm>
            <a:off x="3708400" y="50847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>
                <a:solidFill>
                  <a:srgbClr val="000099"/>
                </a:solidFill>
              </a:rPr>
              <a:t>≯</a:t>
            </a:r>
          </a:p>
        </p:txBody>
      </p:sp>
      <p:sp>
        <p:nvSpPr>
          <p:cNvPr id="198753" name="Rectangle 97"/>
          <p:cNvSpPr>
            <a:spLocks noChangeArrowheads="1"/>
          </p:cNvSpPr>
          <p:nvPr/>
        </p:nvSpPr>
        <p:spPr bwMode="auto">
          <a:xfrm>
            <a:off x="1116013" y="6180138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54" name="Rectangle 98"/>
          <p:cNvSpPr>
            <a:spLocks noChangeArrowheads="1"/>
          </p:cNvSpPr>
          <p:nvPr/>
        </p:nvSpPr>
        <p:spPr bwMode="auto">
          <a:xfrm>
            <a:off x="1979613" y="616585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55" name="Rectangle 99"/>
          <p:cNvSpPr>
            <a:spLocks noChangeArrowheads="1"/>
          </p:cNvSpPr>
          <p:nvPr/>
        </p:nvSpPr>
        <p:spPr bwMode="auto">
          <a:xfrm>
            <a:off x="2808288" y="616585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56" name="Rectangle 100"/>
          <p:cNvSpPr>
            <a:spLocks noChangeArrowheads="1"/>
          </p:cNvSpPr>
          <p:nvPr/>
        </p:nvSpPr>
        <p:spPr bwMode="auto">
          <a:xfrm>
            <a:off x="3671888" y="61642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57" name="Rectangle 101"/>
          <p:cNvSpPr>
            <a:spLocks noChangeArrowheads="1"/>
          </p:cNvSpPr>
          <p:nvPr/>
        </p:nvSpPr>
        <p:spPr bwMode="auto">
          <a:xfrm>
            <a:off x="4572000" y="6164263"/>
            <a:ext cx="539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58" name="Rectangle 102"/>
          <p:cNvSpPr>
            <a:spLocks noChangeArrowheads="1"/>
          </p:cNvSpPr>
          <p:nvPr/>
        </p:nvSpPr>
        <p:spPr bwMode="auto">
          <a:xfrm>
            <a:off x="6443663" y="614997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000099"/>
                </a:solidFill>
              </a:rPr>
              <a:t>≮</a:t>
            </a:r>
          </a:p>
        </p:txBody>
      </p:sp>
      <p:sp>
        <p:nvSpPr>
          <p:cNvPr id="198759" name="Text Box 103"/>
          <p:cNvSpPr txBox="1">
            <a:spLocks noChangeArrowheads="1"/>
          </p:cNvSpPr>
          <p:nvPr/>
        </p:nvSpPr>
        <p:spPr bwMode="auto">
          <a:xfrm>
            <a:off x="7667625" y="981075"/>
            <a:ext cx="936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chemeClr val="hlink"/>
                </a:solidFill>
                <a:latin typeface="Times New Roman" pitchFamily="18" charset="0"/>
              </a:rPr>
              <a:t>#E#</a:t>
            </a:r>
          </a:p>
        </p:txBody>
      </p:sp>
      <p:grpSp>
        <p:nvGrpSpPr>
          <p:cNvPr id="3" name="Group 104"/>
          <p:cNvGrpSpPr>
            <a:grpSpLocks/>
          </p:cNvGrpSpPr>
          <p:nvPr/>
        </p:nvGrpSpPr>
        <p:grpSpPr bwMode="auto">
          <a:xfrm>
            <a:off x="1331913" y="333375"/>
            <a:ext cx="503237" cy="2447925"/>
            <a:chOff x="839" y="210"/>
            <a:chExt cx="317" cy="1542"/>
          </a:xfrm>
        </p:grpSpPr>
        <p:sp>
          <p:nvSpPr>
            <p:cNvPr id="47206" name="Line 105"/>
            <p:cNvSpPr>
              <a:spLocks noChangeShapeType="1"/>
            </p:cNvSpPr>
            <p:nvPr/>
          </p:nvSpPr>
          <p:spPr bwMode="auto">
            <a:xfrm>
              <a:off x="839" y="210"/>
              <a:ext cx="181" cy="0"/>
            </a:xfrm>
            <a:prstGeom prst="line">
              <a:avLst/>
            </a:prstGeom>
            <a:noFill/>
            <a:ln w="38100">
              <a:solidFill>
                <a:srgbClr val="33DA2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7" name="Freeform 106"/>
            <p:cNvSpPr>
              <a:spLocks/>
            </p:cNvSpPr>
            <p:nvPr/>
          </p:nvSpPr>
          <p:spPr bwMode="auto">
            <a:xfrm>
              <a:off x="1020" y="210"/>
              <a:ext cx="136" cy="1542"/>
            </a:xfrm>
            <a:custGeom>
              <a:avLst/>
              <a:gdLst>
                <a:gd name="T0" fmla="*/ 0 w 136"/>
                <a:gd name="T1" fmla="*/ 0 h 1542"/>
                <a:gd name="T2" fmla="*/ 136 w 136"/>
                <a:gd name="T3" fmla="*/ 589 h 1542"/>
                <a:gd name="T4" fmla="*/ 0 w 136"/>
                <a:gd name="T5" fmla="*/ 1542 h 1542"/>
                <a:gd name="T6" fmla="*/ 0 60000 65536"/>
                <a:gd name="T7" fmla="*/ 0 60000 65536"/>
                <a:gd name="T8" fmla="*/ 0 60000 65536"/>
                <a:gd name="T9" fmla="*/ 0 w 136"/>
                <a:gd name="T10" fmla="*/ 0 h 1542"/>
                <a:gd name="T11" fmla="*/ 136 w 136"/>
                <a:gd name="T12" fmla="*/ 1542 h 15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1542">
                  <a:moveTo>
                    <a:pt x="0" y="0"/>
                  </a:moveTo>
                  <a:cubicBezTo>
                    <a:pt x="68" y="166"/>
                    <a:pt x="136" y="332"/>
                    <a:pt x="136" y="589"/>
                  </a:cubicBezTo>
                  <a:cubicBezTo>
                    <a:pt x="136" y="846"/>
                    <a:pt x="68" y="1194"/>
                    <a:pt x="0" y="1542"/>
                  </a:cubicBezTo>
                </a:path>
              </a:pathLst>
            </a:custGeom>
            <a:noFill/>
            <a:ln w="38100">
              <a:solidFill>
                <a:srgbClr val="33DA26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07"/>
          <p:cNvGrpSpPr>
            <a:grpSpLocks/>
          </p:cNvGrpSpPr>
          <p:nvPr/>
        </p:nvGrpSpPr>
        <p:grpSpPr bwMode="auto">
          <a:xfrm>
            <a:off x="1619250" y="1125538"/>
            <a:ext cx="4248150" cy="1727200"/>
            <a:chOff x="1020" y="709"/>
            <a:chExt cx="2676" cy="1088"/>
          </a:xfrm>
        </p:grpSpPr>
        <p:sp>
          <p:nvSpPr>
            <p:cNvPr id="47204" name="Line 108"/>
            <p:cNvSpPr>
              <a:spLocks noChangeShapeType="1"/>
            </p:cNvSpPr>
            <p:nvPr/>
          </p:nvSpPr>
          <p:spPr bwMode="auto">
            <a:xfrm>
              <a:off x="2835" y="709"/>
              <a:ext cx="861" cy="0"/>
            </a:xfrm>
            <a:prstGeom prst="line">
              <a:avLst/>
            </a:prstGeom>
            <a:noFill/>
            <a:ln w="38100">
              <a:solidFill>
                <a:srgbClr val="33DA2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5" name="Freeform 109"/>
            <p:cNvSpPr>
              <a:spLocks/>
            </p:cNvSpPr>
            <p:nvPr/>
          </p:nvSpPr>
          <p:spPr bwMode="auto">
            <a:xfrm>
              <a:off x="1020" y="754"/>
              <a:ext cx="2131" cy="1043"/>
            </a:xfrm>
            <a:custGeom>
              <a:avLst/>
              <a:gdLst>
                <a:gd name="T0" fmla="*/ 2131 w 2131"/>
                <a:gd name="T1" fmla="*/ 0 h 1043"/>
                <a:gd name="T2" fmla="*/ 1587 w 2131"/>
                <a:gd name="T3" fmla="*/ 226 h 1043"/>
                <a:gd name="T4" fmla="*/ 1088 w 2131"/>
                <a:gd name="T5" fmla="*/ 498 h 1043"/>
                <a:gd name="T6" fmla="*/ 0 w 2131"/>
                <a:gd name="T7" fmla="*/ 1043 h 10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31"/>
                <a:gd name="T13" fmla="*/ 0 h 1043"/>
                <a:gd name="T14" fmla="*/ 2131 w 2131"/>
                <a:gd name="T15" fmla="*/ 1043 h 10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31" h="1043">
                  <a:moveTo>
                    <a:pt x="2131" y="0"/>
                  </a:moveTo>
                  <a:cubicBezTo>
                    <a:pt x="1946" y="71"/>
                    <a:pt x="1761" y="143"/>
                    <a:pt x="1587" y="226"/>
                  </a:cubicBezTo>
                  <a:cubicBezTo>
                    <a:pt x="1413" y="309"/>
                    <a:pt x="1353" y="362"/>
                    <a:pt x="1088" y="498"/>
                  </a:cubicBezTo>
                  <a:cubicBezTo>
                    <a:pt x="823" y="634"/>
                    <a:pt x="411" y="838"/>
                    <a:pt x="0" y="1043"/>
                  </a:cubicBezTo>
                </a:path>
              </a:pathLst>
            </a:custGeom>
            <a:noFill/>
            <a:ln w="38100">
              <a:solidFill>
                <a:srgbClr val="33DA26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8766" name="Line 110"/>
          <p:cNvSpPr>
            <a:spLocks noChangeShapeType="1"/>
          </p:cNvSpPr>
          <p:nvPr/>
        </p:nvSpPr>
        <p:spPr bwMode="auto">
          <a:xfrm>
            <a:off x="1619250" y="2781300"/>
            <a:ext cx="0" cy="3240088"/>
          </a:xfrm>
          <a:prstGeom prst="line">
            <a:avLst/>
          </a:prstGeom>
          <a:noFill/>
          <a:ln w="38100">
            <a:solidFill>
              <a:srgbClr val="33DA26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111"/>
          <p:cNvGrpSpPr>
            <a:grpSpLocks/>
          </p:cNvGrpSpPr>
          <p:nvPr/>
        </p:nvGrpSpPr>
        <p:grpSpPr bwMode="auto">
          <a:xfrm>
            <a:off x="1547813" y="260350"/>
            <a:ext cx="1511300" cy="2447925"/>
            <a:chOff x="975" y="164"/>
            <a:chExt cx="952" cy="1542"/>
          </a:xfrm>
        </p:grpSpPr>
        <p:sp>
          <p:nvSpPr>
            <p:cNvPr id="47202" name="Line 112"/>
            <p:cNvSpPr>
              <a:spLocks noChangeShapeType="1"/>
            </p:cNvSpPr>
            <p:nvPr/>
          </p:nvSpPr>
          <p:spPr bwMode="auto">
            <a:xfrm>
              <a:off x="975" y="164"/>
              <a:ext cx="181" cy="0"/>
            </a:xfrm>
            <a:prstGeom prst="line">
              <a:avLst/>
            </a:prstGeom>
            <a:noFill/>
            <a:ln w="38100">
              <a:solidFill>
                <a:srgbClr val="FF33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3" name="Freeform 113"/>
            <p:cNvSpPr>
              <a:spLocks/>
            </p:cNvSpPr>
            <p:nvPr/>
          </p:nvSpPr>
          <p:spPr bwMode="auto">
            <a:xfrm>
              <a:off x="1066" y="164"/>
              <a:ext cx="861" cy="1542"/>
            </a:xfrm>
            <a:custGeom>
              <a:avLst/>
              <a:gdLst>
                <a:gd name="T0" fmla="*/ 0 w 861"/>
                <a:gd name="T1" fmla="*/ 0 h 1542"/>
                <a:gd name="T2" fmla="*/ 226 w 861"/>
                <a:gd name="T3" fmla="*/ 862 h 1542"/>
                <a:gd name="T4" fmla="*/ 861 w 861"/>
                <a:gd name="T5" fmla="*/ 1542 h 1542"/>
                <a:gd name="T6" fmla="*/ 0 60000 65536"/>
                <a:gd name="T7" fmla="*/ 0 60000 65536"/>
                <a:gd name="T8" fmla="*/ 0 60000 65536"/>
                <a:gd name="T9" fmla="*/ 0 w 861"/>
                <a:gd name="T10" fmla="*/ 0 h 1542"/>
                <a:gd name="T11" fmla="*/ 861 w 861"/>
                <a:gd name="T12" fmla="*/ 1542 h 15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1" h="1542">
                  <a:moveTo>
                    <a:pt x="0" y="0"/>
                  </a:moveTo>
                  <a:cubicBezTo>
                    <a:pt x="41" y="302"/>
                    <a:pt x="82" y="605"/>
                    <a:pt x="226" y="862"/>
                  </a:cubicBezTo>
                  <a:cubicBezTo>
                    <a:pt x="370" y="1119"/>
                    <a:pt x="324" y="1421"/>
                    <a:pt x="861" y="1542"/>
                  </a:cubicBezTo>
                </a:path>
              </a:pathLst>
            </a:custGeom>
            <a:noFill/>
            <a:ln w="38100">
              <a:solidFill>
                <a:srgbClr val="FF3399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8770" name="Freeform 114"/>
          <p:cNvSpPr>
            <a:spLocks/>
          </p:cNvSpPr>
          <p:nvPr/>
        </p:nvSpPr>
        <p:spPr bwMode="auto">
          <a:xfrm>
            <a:off x="3132138" y="2708275"/>
            <a:ext cx="3887787" cy="1588"/>
          </a:xfrm>
          <a:custGeom>
            <a:avLst/>
            <a:gdLst>
              <a:gd name="T0" fmla="*/ 0 w 2449"/>
              <a:gd name="T1" fmla="*/ 0 h 1"/>
              <a:gd name="T2" fmla="*/ 2147483647 w 2449"/>
              <a:gd name="T3" fmla="*/ 0 h 1"/>
              <a:gd name="T4" fmla="*/ 0 60000 65536"/>
              <a:gd name="T5" fmla="*/ 0 60000 65536"/>
              <a:gd name="T6" fmla="*/ 0 w 2449"/>
              <a:gd name="T7" fmla="*/ 0 h 1"/>
              <a:gd name="T8" fmla="*/ 2449 w 2449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449" h="1">
                <a:moveTo>
                  <a:pt x="0" y="0"/>
                </a:moveTo>
                <a:cubicBezTo>
                  <a:pt x="1020" y="0"/>
                  <a:pt x="2041" y="0"/>
                  <a:pt x="2449" y="0"/>
                </a:cubicBezTo>
              </a:path>
            </a:pathLst>
          </a:custGeom>
          <a:noFill/>
          <a:ln w="38100">
            <a:solidFill>
              <a:srgbClr val="FF3399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771" name="Text Box 115"/>
          <p:cNvSpPr txBox="1">
            <a:spLocks noChangeArrowheads="1"/>
          </p:cNvSpPr>
          <p:nvPr/>
        </p:nvSpPr>
        <p:spPr bwMode="auto">
          <a:xfrm>
            <a:off x="1258888" y="333375"/>
            <a:ext cx="433387" cy="365125"/>
          </a:xfrm>
          <a:prstGeom prst="rect">
            <a:avLst/>
          </a:prstGeom>
          <a:noFill/>
          <a:ln w="28575" cap="rnd">
            <a:solidFill>
              <a:srgbClr val="33DA26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1600"/>
          </a:p>
        </p:txBody>
      </p:sp>
      <p:sp>
        <p:nvSpPr>
          <p:cNvPr id="198772" name="Text Box 116"/>
          <p:cNvSpPr txBox="1">
            <a:spLocks noChangeArrowheads="1"/>
          </p:cNvSpPr>
          <p:nvPr/>
        </p:nvSpPr>
        <p:spPr bwMode="auto">
          <a:xfrm>
            <a:off x="1476375" y="260350"/>
            <a:ext cx="431800" cy="365125"/>
          </a:xfrm>
          <a:prstGeom prst="rect">
            <a:avLst/>
          </a:prstGeom>
          <a:noFill/>
          <a:ln w="28575" cap="rnd">
            <a:solidFill>
              <a:srgbClr val="FF3399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1600"/>
          </a:p>
        </p:txBody>
      </p:sp>
      <p:grpSp>
        <p:nvGrpSpPr>
          <p:cNvPr id="6" name="Group 117"/>
          <p:cNvGrpSpPr>
            <a:grpSpLocks/>
          </p:cNvGrpSpPr>
          <p:nvPr/>
        </p:nvGrpSpPr>
        <p:grpSpPr bwMode="auto">
          <a:xfrm>
            <a:off x="2339975" y="1484313"/>
            <a:ext cx="935038" cy="1152525"/>
            <a:chOff x="1474" y="935"/>
            <a:chExt cx="589" cy="726"/>
          </a:xfrm>
        </p:grpSpPr>
        <p:sp>
          <p:nvSpPr>
            <p:cNvPr id="47200" name="Line 118"/>
            <p:cNvSpPr>
              <a:spLocks noChangeShapeType="1"/>
            </p:cNvSpPr>
            <p:nvPr/>
          </p:nvSpPr>
          <p:spPr bwMode="auto">
            <a:xfrm>
              <a:off x="1474" y="935"/>
              <a:ext cx="589" cy="0"/>
            </a:xfrm>
            <a:prstGeom prst="line">
              <a:avLst/>
            </a:prstGeom>
            <a:noFill/>
            <a:ln w="38100">
              <a:solidFill>
                <a:srgbClr val="FF33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201" name="Freeform 119"/>
            <p:cNvSpPr>
              <a:spLocks/>
            </p:cNvSpPr>
            <p:nvPr/>
          </p:nvSpPr>
          <p:spPr bwMode="auto">
            <a:xfrm>
              <a:off x="1746" y="981"/>
              <a:ext cx="181" cy="680"/>
            </a:xfrm>
            <a:custGeom>
              <a:avLst/>
              <a:gdLst>
                <a:gd name="T0" fmla="*/ 0 w 181"/>
                <a:gd name="T1" fmla="*/ 0 h 680"/>
                <a:gd name="T2" fmla="*/ 181 w 181"/>
                <a:gd name="T3" fmla="*/ 680 h 680"/>
                <a:gd name="T4" fmla="*/ 0 60000 65536"/>
                <a:gd name="T5" fmla="*/ 0 60000 65536"/>
                <a:gd name="T6" fmla="*/ 0 w 181"/>
                <a:gd name="T7" fmla="*/ 0 h 680"/>
                <a:gd name="T8" fmla="*/ 181 w 181"/>
                <a:gd name="T9" fmla="*/ 680 h 6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1" h="680">
                  <a:moveTo>
                    <a:pt x="0" y="0"/>
                  </a:moveTo>
                  <a:cubicBezTo>
                    <a:pt x="75" y="279"/>
                    <a:pt x="151" y="559"/>
                    <a:pt x="181" y="680"/>
                  </a:cubicBezTo>
                </a:path>
              </a:pathLst>
            </a:custGeom>
            <a:noFill/>
            <a:ln w="38100">
              <a:solidFill>
                <a:srgbClr val="D60093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199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96366D05-5A83-4D1A-A913-138C13068F6B}" type="slidenum">
              <a:rPr lang="en-US" altLang="zh-CN" sz="1400"/>
              <a:pPr algn="r" eaLnBrk="1" hangingPunct="1"/>
              <a:t>33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  分析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id+id*id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28775"/>
            <a:ext cx="6130925" cy="4459288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# ≮ 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id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≯ 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+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id* id #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# ≮ F 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+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≮ 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id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≯ 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* id #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# ≮ F + ≮ 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F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*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≮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 id #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# ≮ F + ≮ F * ≮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id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≯ 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#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# ≮ F +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≮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F *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 F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#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   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# ≮ F +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≮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F 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*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F≯ 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#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# ≮ F 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+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T ≯ 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#</a:t>
            </a:r>
            <a:endParaRPr lang="en-US" altLang="zh-CN" b="1" smtClean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# E </a:t>
            </a:r>
            <a:r>
              <a:rPr lang="en-US" altLang="zh-CN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#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 </a:t>
            </a:r>
          </a:p>
        </p:txBody>
      </p:sp>
      <p:sp>
        <p:nvSpPr>
          <p:cNvPr id="481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CA204FD-380C-41C9-8D4F-59F0F32CC980}" type="slidenum">
              <a:rPr lang="en-US" altLang="zh-CN" smtClean="0"/>
              <a:pPr eaLnBrk="1" hangingPunct="1"/>
              <a:t>34</a:t>
            </a:fld>
            <a:endParaRPr lang="en-US" altLang="zh-CN" smtClean="0"/>
          </a:p>
        </p:txBody>
      </p:sp>
      <p:sp>
        <p:nvSpPr>
          <p:cNvPr id="48133" name="Rectangle 4"/>
          <p:cNvSpPr>
            <a:spLocks noChangeArrowheads="1"/>
          </p:cNvSpPr>
          <p:nvPr/>
        </p:nvSpPr>
        <p:spPr bwMode="auto">
          <a:xfrm>
            <a:off x="6443663" y="260350"/>
            <a:ext cx="2438400" cy="16732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E→E+T|E-T|T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T→T*F|T/F|F</a:t>
            </a:r>
          </a:p>
          <a:p>
            <a:pPr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</a:rPr>
              <a:t>F→(E)|id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692150"/>
            <a:ext cx="4092575" cy="914400"/>
          </a:xfrm>
        </p:spPr>
        <p:txBody>
          <a:bodyPr/>
          <a:lstStyle/>
          <a:p>
            <a:pPr eaLnBrk="1" hangingPunct="1"/>
            <a:r>
              <a:rPr lang="zh-CN" altLang="en-US" sz="4800" b="1" smtClean="0">
                <a:latin typeface="Times New Roman" pitchFamily="18" charset="0"/>
                <a:ea typeface="华文新魏" pitchFamily="2" charset="-122"/>
              </a:rPr>
              <a:t>问题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700213"/>
            <a:ext cx="8210550" cy="4035425"/>
          </a:xfrm>
        </p:spPr>
        <p:txBody>
          <a:bodyPr/>
          <a:lstStyle/>
          <a:p>
            <a:pPr eaLnBrk="1" hangingPunct="1"/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有时未归约真正的句柄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(F)</a:t>
            </a:r>
          </a:p>
          <a:p>
            <a:pPr eaLnBrk="1" hangingPunct="1"/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不是严格最左归约</a:t>
            </a:r>
          </a:p>
          <a:p>
            <a:pPr eaLnBrk="1" hangingPunct="1"/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归约的符号串有时与产生式右部不同</a:t>
            </a:r>
          </a:p>
          <a:p>
            <a:pPr eaLnBrk="1" hangingPunct="1"/>
            <a:r>
              <a:rPr lang="zh-CN" altLang="en-US" sz="30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仍能正确识别句子的原因</a:t>
            </a:r>
          </a:p>
          <a:p>
            <a:pPr lvl="1" eaLnBrk="1" hangingPunct="1"/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OPG</a:t>
            </a: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未定义非终结符之间的优先关系，</a:t>
            </a:r>
            <a:r>
              <a:rPr lang="zh-CN" altLang="en-US" sz="26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不能识别由单一非终结符组成的句柄</a:t>
            </a:r>
          </a:p>
          <a:p>
            <a:pPr lvl="1" eaLnBrk="1" hangingPunct="1"/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算符优先分析过程识别的“句柄”为</a:t>
            </a:r>
            <a:r>
              <a:rPr lang="zh-CN" altLang="en-US" sz="26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最左素短语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( </a:t>
            </a:r>
            <a:r>
              <a:rPr lang="en-US" altLang="zh-CN" sz="26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LPP</a:t>
            </a:r>
            <a:r>
              <a:rPr lang="zh-CN" altLang="en-US" sz="2600" b="1" smtClean="0">
                <a:latin typeface="Times New Roman" pitchFamily="18" charset="0"/>
                <a:ea typeface="华文新魏" pitchFamily="2" charset="-122"/>
              </a:rPr>
              <a:t>： 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Leftmost Prime Ph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r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ase)</a:t>
            </a:r>
          </a:p>
        </p:txBody>
      </p:sp>
      <p:sp>
        <p:nvSpPr>
          <p:cNvPr id="491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BCFB5A0-2C79-40DB-A4FC-C4C51ABA1463}" type="slidenum">
              <a:rPr lang="en-US" altLang="zh-CN" smtClean="0"/>
              <a:pPr eaLnBrk="1" hangingPunct="1"/>
              <a:t>35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692150"/>
            <a:ext cx="6697663" cy="914400"/>
          </a:xfrm>
        </p:spPr>
        <p:txBody>
          <a:bodyPr/>
          <a:lstStyle/>
          <a:p>
            <a:pPr eaLnBrk="1" hangingPunct="1"/>
            <a:r>
              <a:rPr lang="zh-CN" altLang="en-US" sz="4800" b="1" smtClean="0">
                <a:latin typeface="Times New Roman" pitchFamily="18" charset="0"/>
                <a:ea typeface="华文新魏" pitchFamily="2" charset="-122"/>
              </a:rPr>
              <a:t>素短语与最左素短语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989138"/>
            <a:ext cx="7920037" cy="4319587"/>
          </a:xfrm>
        </p:spPr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什么是短语？</a:t>
            </a:r>
          </a:p>
          <a:p>
            <a:pPr eaLnBrk="1" hangingPunct="1">
              <a:spcBef>
                <a:spcPct val="4000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素短语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(Prime Phrase)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γ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是短语：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400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*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αAβ and A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400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γ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γ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至少含一个终结符</a:t>
            </a:r>
          </a:p>
          <a:p>
            <a:pPr lvl="1" eaLnBrk="1" hangingPunct="1">
              <a:spcBef>
                <a:spcPct val="40000"/>
              </a:spcBef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且不含更小的含终结符的短语</a:t>
            </a:r>
          </a:p>
          <a:p>
            <a:pPr lvl="1" eaLnBrk="1" hangingPunct="1">
              <a:spcBef>
                <a:spcPct val="40000"/>
              </a:spcBef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称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γ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是句型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αγβ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的相对于变量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的素短语</a:t>
            </a:r>
          </a:p>
          <a:p>
            <a:pPr eaLnBrk="1" hangingPunct="1">
              <a:spcBef>
                <a:spcPct val="40000"/>
              </a:spcBef>
            </a:pP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句型的至少含一个终结符且不含其它素短语的短语</a:t>
            </a:r>
          </a:p>
        </p:txBody>
      </p:sp>
      <p:sp>
        <p:nvSpPr>
          <p:cNvPr id="5018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193E3EF-7A08-4743-BFC8-67AF1ECE6A23}" type="slidenum">
              <a:rPr lang="en-US" altLang="zh-CN" smtClean="0"/>
              <a:pPr eaLnBrk="1" hangingPunct="1"/>
              <a:t>36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412750"/>
            <a:ext cx="3962400" cy="1185863"/>
          </a:xfrm>
        </p:spPr>
        <p:txBody>
          <a:bodyPr/>
          <a:lstStyle/>
          <a:p>
            <a:pPr eaLnBrk="1" hangingPunct="1"/>
            <a:r>
              <a:rPr lang="zh-CN" altLang="en-US" sz="4700" b="1" smtClean="0">
                <a:latin typeface="Times New Roman" pitchFamily="18" charset="0"/>
                <a:ea typeface="华文新魏" pitchFamily="2" charset="-122"/>
              </a:rPr>
              <a:t>例  素短语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2133600"/>
            <a:ext cx="5699125" cy="1223963"/>
          </a:xfrm>
        </p:spPr>
        <p:txBody>
          <a:bodyPr/>
          <a:lstStyle/>
          <a:p>
            <a:pPr eaLnBrk="1" hangingPunct="1"/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E→E+T|T  T→T*F|F  F→(E)|id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句型</a:t>
            </a: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F+T*F+id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的短语有 </a:t>
            </a:r>
          </a:p>
        </p:txBody>
      </p:sp>
      <p:sp>
        <p:nvSpPr>
          <p:cNvPr id="5120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0E2D79F-C16D-4460-B892-E58640246587}" type="slidenum">
              <a:rPr lang="en-US" altLang="zh-CN" smtClean="0"/>
              <a:pPr eaLnBrk="1" hangingPunct="1"/>
              <a:t>37</a:t>
            </a:fld>
            <a:endParaRPr lang="en-US" altLang="zh-CN" smtClean="0"/>
          </a:p>
        </p:txBody>
      </p:sp>
      <p:sp>
        <p:nvSpPr>
          <p:cNvPr id="45075" name="Rectangle 19"/>
          <p:cNvSpPr>
            <a:spLocks noChangeArrowheads="1"/>
          </p:cNvSpPr>
          <p:nvPr/>
        </p:nvSpPr>
        <p:spPr bwMode="auto">
          <a:xfrm>
            <a:off x="684213" y="3429000"/>
            <a:ext cx="4119562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F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T*F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id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F+T*F, F+T*F+id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其中的素短语为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T*F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id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T*F</a:t>
            </a:r>
            <a:r>
              <a:rPr lang="zh-CN" altLang="en-US" sz="2800" b="1">
                <a:latin typeface="Times New Roman" pitchFamily="18" charset="0"/>
                <a:ea typeface="华文新魏" pitchFamily="2" charset="-122"/>
              </a:rPr>
              <a:t>为最左素短语，是被归约的对象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5580063" y="1998663"/>
            <a:ext cx="3059112" cy="4559300"/>
            <a:chOff x="3560" y="1259"/>
            <a:chExt cx="1927" cy="2872"/>
          </a:xfrm>
        </p:grpSpPr>
        <p:sp>
          <p:nvSpPr>
            <p:cNvPr id="45060" name="Rectangle 4"/>
            <p:cNvSpPr>
              <a:spLocks noChangeArrowheads="1"/>
            </p:cNvSpPr>
            <p:nvPr/>
          </p:nvSpPr>
          <p:spPr bwMode="auto">
            <a:xfrm>
              <a:off x="3606" y="3839"/>
              <a:ext cx="1881" cy="2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42900" indent="-342900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F  +  T  *  F  +   id</a:t>
              </a:r>
            </a:p>
          </p:txBody>
        </p:sp>
        <p:sp>
          <p:nvSpPr>
            <p:cNvPr id="51209" name="Line 5"/>
            <p:cNvSpPr>
              <a:spLocks noChangeShapeType="1"/>
            </p:cNvSpPr>
            <p:nvPr/>
          </p:nvSpPr>
          <p:spPr bwMode="auto">
            <a:xfrm flipV="1">
              <a:off x="4254" y="3507"/>
              <a:ext cx="144" cy="43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0" name="Line 6"/>
            <p:cNvSpPr>
              <a:spLocks noChangeShapeType="1"/>
            </p:cNvSpPr>
            <p:nvPr/>
          </p:nvSpPr>
          <p:spPr bwMode="auto">
            <a:xfrm flipH="1" flipV="1">
              <a:off x="4422" y="3475"/>
              <a:ext cx="0" cy="409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1" name="Line 7"/>
            <p:cNvSpPr>
              <a:spLocks noChangeShapeType="1"/>
            </p:cNvSpPr>
            <p:nvPr/>
          </p:nvSpPr>
          <p:spPr bwMode="auto">
            <a:xfrm flipH="1" flipV="1">
              <a:off x="5239" y="3430"/>
              <a:ext cx="45" cy="499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2" name="Line 8"/>
            <p:cNvSpPr>
              <a:spLocks noChangeShapeType="1"/>
            </p:cNvSpPr>
            <p:nvPr/>
          </p:nvSpPr>
          <p:spPr bwMode="auto">
            <a:xfrm flipH="1" flipV="1">
              <a:off x="4162" y="2024"/>
              <a:ext cx="284" cy="129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3" name="Line 9"/>
            <p:cNvSpPr>
              <a:spLocks noChangeShapeType="1"/>
            </p:cNvSpPr>
            <p:nvPr/>
          </p:nvSpPr>
          <p:spPr bwMode="auto">
            <a:xfrm flipV="1">
              <a:off x="3753" y="1979"/>
              <a:ext cx="273" cy="59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4" name="Line 10"/>
            <p:cNvSpPr>
              <a:spLocks noChangeShapeType="1"/>
            </p:cNvSpPr>
            <p:nvPr/>
          </p:nvSpPr>
          <p:spPr bwMode="auto">
            <a:xfrm flipV="1">
              <a:off x="4014" y="2070"/>
              <a:ext cx="102" cy="181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5" name="Line 11"/>
            <p:cNvSpPr>
              <a:spLocks noChangeShapeType="1"/>
            </p:cNvSpPr>
            <p:nvPr/>
          </p:nvSpPr>
          <p:spPr bwMode="auto">
            <a:xfrm flipH="1" flipV="1">
              <a:off x="5148" y="2704"/>
              <a:ext cx="91" cy="59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6" name="Line 12"/>
            <p:cNvSpPr>
              <a:spLocks noChangeShapeType="1"/>
            </p:cNvSpPr>
            <p:nvPr/>
          </p:nvSpPr>
          <p:spPr bwMode="auto">
            <a:xfrm flipV="1">
              <a:off x="3696" y="2750"/>
              <a:ext cx="0" cy="43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7" name="Line 13"/>
            <p:cNvSpPr>
              <a:spLocks noChangeShapeType="1"/>
            </p:cNvSpPr>
            <p:nvPr/>
          </p:nvSpPr>
          <p:spPr bwMode="auto">
            <a:xfrm flipH="1" flipV="1">
              <a:off x="4479" y="1525"/>
              <a:ext cx="442" cy="240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8" name="Line 14"/>
            <p:cNvSpPr>
              <a:spLocks noChangeShapeType="1"/>
            </p:cNvSpPr>
            <p:nvPr/>
          </p:nvSpPr>
          <p:spPr bwMode="auto">
            <a:xfrm flipH="1" flipV="1">
              <a:off x="4479" y="1525"/>
              <a:ext cx="614" cy="93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19" name="Line 15"/>
            <p:cNvSpPr>
              <a:spLocks noChangeShapeType="1"/>
            </p:cNvSpPr>
            <p:nvPr/>
          </p:nvSpPr>
          <p:spPr bwMode="auto">
            <a:xfrm flipH="1">
              <a:off x="4116" y="1525"/>
              <a:ext cx="318" cy="31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20" name="Line 16"/>
            <p:cNvSpPr>
              <a:spLocks noChangeShapeType="1"/>
            </p:cNvSpPr>
            <p:nvPr/>
          </p:nvSpPr>
          <p:spPr bwMode="auto">
            <a:xfrm flipH="1" flipV="1">
              <a:off x="4468" y="3475"/>
              <a:ext cx="218" cy="46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1221" name="Line 17"/>
            <p:cNvSpPr>
              <a:spLocks noChangeShapeType="1"/>
            </p:cNvSpPr>
            <p:nvPr/>
          </p:nvSpPr>
          <p:spPr bwMode="auto">
            <a:xfrm flipV="1">
              <a:off x="3696" y="3475"/>
              <a:ext cx="0" cy="36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5076" name="Rectangle 20"/>
            <p:cNvSpPr>
              <a:spLocks noChangeArrowheads="1"/>
            </p:cNvSpPr>
            <p:nvPr/>
          </p:nvSpPr>
          <p:spPr bwMode="auto">
            <a:xfrm>
              <a:off x="3560" y="3194"/>
              <a:ext cx="32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45077" name="Rectangle 21"/>
            <p:cNvSpPr>
              <a:spLocks noChangeArrowheads="1"/>
            </p:cNvSpPr>
            <p:nvPr/>
          </p:nvSpPr>
          <p:spPr bwMode="auto">
            <a:xfrm>
              <a:off x="4298" y="3210"/>
              <a:ext cx="2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45078" name="Rectangle 22"/>
            <p:cNvSpPr>
              <a:spLocks noChangeArrowheads="1"/>
            </p:cNvSpPr>
            <p:nvPr/>
          </p:nvSpPr>
          <p:spPr bwMode="auto">
            <a:xfrm>
              <a:off x="5148" y="3209"/>
              <a:ext cx="25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45079" name="Rectangle 23"/>
            <p:cNvSpPr>
              <a:spLocks noChangeArrowheads="1"/>
            </p:cNvSpPr>
            <p:nvPr/>
          </p:nvSpPr>
          <p:spPr bwMode="auto">
            <a:xfrm>
              <a:off x="4978" y="2439"/>
              <a:ext cx="2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45080" name="Rectangle 24"/>
            <p:cNvSpPr>
              <a:spLocks noChangeArrowheads="1"/>
            </p:cNvSpPr>
            <p:nvPr/>
          </p:nvSpPr>
          <p:spPr bwMode="auto">
            <a:xfrm>
              <a:off x="3617" y="2484"/>
              <a:ext cx="2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45081" name="Rectangle 25"/>
            <p:cNvSpPr>
              <a:spLocks noChangeArrowheads="1"/>
            </p:cNvSpPr>
            <p:nvPr/>
          </p:nvSpPr>
          <p:spPr bwMode="auto">
            <a:xfrm>
              <a:off x="4343" y="1259"/>
              <a:ext cx="2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45082" name="Rectangle 26"/>
            <p:cNvSpPr>
              <a:spLocks noChangeArrowheads="1"/>
            </p:cNvSpPr>
            <p:nvPr/>
          </p:nvSpPr>
          <p:spPr bwMode="auto">
            <a:xfrm>
              <a:off x="3980" y="1803"/>
              <a:ext cx="26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E</a:t>
              </a:r>
            </a:p>
          </p:txBody>
        </p:sp>
      </p:grpSp>
      <p:sp>
        <p:nvSpPr>
          <p:cNvPr id="51207" name="Rectangle 28"/>
          <p:cNvSpPr>
            <a:spLocks noChangeArrowheads="1"/>
          </p:cNvSpPr>
          <p:nvPr/>
        </p:nvSpPr>
        <p:spPr bwMode="auto">
          <a:xfrm>
            <a:off x="4716463" y="188913"/>
            <a:ext cx="3527425" cy="1554162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 b="1">
                <a:solidFill>
                  <a:schemeClr val="bg1"/>
                </a:solidFill>
                <a:ea typeface="华文新魏" pitchFamily="2" charset="-122"/>
              </a:rPr>
              <a:t>句型的至少含一个终结符且不含其它素短语的短语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9"/>
          <p:cNvSpPr>
            <a:spLocks noGrp="1" noChangeArrowheads="1"/>
          </p:cNvSpPr>
          <p:nvPr>
            <p:ph type="title"/>
          </p:nvPr>
        </p:nvSpPr>
        <p:spPr>
          <a:xfrm>
            <a:off x="1371600" y="228600"/>
            <a:ext cx="3938588" cy="1370013"/>
          </a:xfrm>
          <a:noFill/>
        </p:spPr>
        <p:txBody>
          <a:bodyPr/>
          <a:lstStyle/>
          <a:p>
            <a:pPr eaLnBrk="1" hangingPunct="1"/>
            <a:r>
              <a:rPr lang="zh-CN" altLang="en-US" sz="4700" b="1" smtClean="0">
                <a:latin typeface="Times New Roman" pitchFamily="18" charset="0"/>
                <a:ea typeface="华文新魏" pitchFamily="2" charset="-122"/>
              </a:rPr>
              <a:t>例  素短语</a:t>
            </a:r>
          </a:p>
        </p:txBody>
      </p:sp>
      <p:sp>
        <p:nvSpPr>
          <p:cNvPr id="46082" name="Rectangle 2"/>
          <p:cNvSpPr>
            <a:spLocks noGrp="1" noChangeArrowheads="1"/>
          </p:cNvSpPr>
          <p:nvPr>
            <p:ph idx="1"/>
          </p:nvPr>
        </p:nvSpPr>
        <p:spPr>
          <a:xfrm>
            <a:off x="323850" y="1628775"/>
            <a:ext cx="4967288" cy="157003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文法：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E→E+E|E*E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		   E→(E)|id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句型</a:t>
            </a:r>
            <a:r>
              <a:rPr lang="en-US" altLang="zh-CN" sz="30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id+E*id+id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的短语</a:t>
            </a:r>
          </a:p>
        </p:txBody>
      </p:sp>
      <p:sp>
        <p:nvSpPr>
          <p:cNvPr id="5222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6B4B041-9784-48DD-8A0B-A5A7702AC892}" type="slidenum">
              <a:rPr lang="en-US" altLang="zh-CN" smtClean="0"/>
              <a:pPr eaLnBrk="1" hangingPunct="1"/>
              <a:t>38</a:t>
            </a:fld>
            <a:endParaRPr lang="en-US" altLang="zh-CN" smtClean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951538" y="836613"/>
            <a:ext cx="2667000" cy="5029200"/>
            <a:chOff x="3840" y="960"/>
            <a:chExt cx="1680" cy="3168"/>
          </a:xfrm>
        </p:grpSpPr>
        <p:sp>
          <p:nvSpPr>
            <p:cNvPr id="46084" name="Rectangle 4"/>
            <p:cNvSpPr>
              <a:spLocks noChangeArrowheads="1"/>
            </p:cNvSpPr>
            <p:nvPr/>
          </p:nvSpPr>
          <p:spPr bwMode="auto">
            <a:xfrm>
              <a:off x="3840" y="960"/>
              <a:ext cx="1680" cy="31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342900" indent="-342900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3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   </a:t>
              </a:r>
            </a:p>
            <a:p>
              <a:pPr marL="342900" indent="-342900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3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       E</a:t>
              </a:r>
            </a:p>
            <a:p>
              <a:pPr marL="342900" indent="-342900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en-US" altLang="zh-CN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endParaRPr>
            </a:p>
            <a:p>
              <a:pPr marL="342900" indent="-342900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3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  E</a:t>
              </a:r>
            </a:p>
            <a:p>
              <a:pPr marL="342900" indent="-342900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en-US" altLang="zh-CN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endParaRPr>
            </a:p>
            <a:p>
              <a:pPr marL="342900" indent="-342900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3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     E</a:t>
              </a:r>
            </a:p>
            <a:p>
              <a:pPr marL="342900" indent="-342900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en-US" altLang="zh-CN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endParaRPr>
            </a:p>
            <a:p>
              <a:pPr marL="342900" indent="-342900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3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E		  </a:t>
              </a:r>
              <a:r>
                <a:rPr kumimoji="1" lang="en-US" altLang="zh-CN" sz="30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E</a:t>
              </a:r>
              <a:r>
                <a:rPr kumimoji="1" lang="en-US" altLang="zh-CN" sz="3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   </a:t>
              </a:r>
              <a:r>
                <a:rPr kumimoji="1" lang="en-US" altLang="zh-CN" sz="3000" b="1" dirty="0" err="1"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E</a:t>
              </a:r>
              <a:endParaRPr kumimoji="1" lang="en-US" altLang="zh-CN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endParaRPr>
            </a:p>
            <a:p>
              <a:pPr marL="342900" indent="-342900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endParaRPr kumimoji="1" lang="en-US" altLang="zh-CN" sz="3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endParaRPr>
            </a:p>
            <a:p>
              <a:pPr marL="342900" indent="-342900" eaLnBrk="0" hangingPunct="0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id + E *  id + id</a:t>
              </a:r>
            </a:p>
          </p:txBody>
        </p:sp>
        <p:sp>
          <p:nvSpPr>
            <p:cNvPr id="52233" name="Line 5"/>
            <p:cNvSpPr>
              <a:spLocks noChangeShapeType="1"/>
            </p:cNvSpPr>
            <p:nvPr/>
          </p:nvSpPr>
          <p:spPr bwMode="auto">
            <a:xfrm flipV="1">
              <a:off x="3939" y="3584"/>
              <a:ext cx="0" cy="34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34" name="Line 6"/>
            <p:cNvSpPr>
              <a:spLocks noChangeShapeType="1"/>
            </p:cNvSpPr>
            <p:nvPr/>
          </p:nvSpPr>
          <p:spPr bwMode="auto">
            <a:xfrm flipV="1">
              <a:off x="4828" y="3534"/>
              <a:ext cx="0" cy="39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35" name="Line 7"/>
            <p:cNvSpPr>
              <a:spLocks noChangeShapeType="1"/>
            </p:cNvSpPr>
            <p:nvPr/>
          </p:nvSpPr>
          <p:spPr bwMode="auto">
            <a:xfrm flipV="1">
              <a:off x="5273" y="3534"/>
              <a:ext cx="0" cy="39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36" name="Line 8"/>
            <p:cNvSpPr>
              <a:spLocks noChangeShapeType="1"/>
            </p:cNvSpPr>
            <p:nvPr/>
          </p:nvSpPr>
          <p:spPr bwMode="auto">
            <a:xfrm flipV="1">
              <a:off x="4384" y="2891"/>
              <a:ext cx="148" cy="1039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37" name="Line 9"/>
            <p:cNvSpPr>
              <a:spLocks noChangeShapeType="1"/>
            </p:cNvSpPr>
            <p:nvPr/>
          </p:nvSpPr>
          <p:spPr bwMode="auto">
            <a:xfrm flipH="1" flipV="1">
              <a:off x="4581" y="2891"/>
              <a:ext cx="50" cy="1039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38" name="Line 10"/>
            <p:cNvSpPr>
              <a:spLocks noChangeShapeType="1"/>
            </p:cNvSpPr>
            <p:nvPr/>
          </p:nvSpPr>
          <p:spPr bwMode="auto">
            <a:xfrm flipH="1" flipV="1">
              <a:off x="4631" y="2891"/>
              <a:ext cx="148" cy="445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39" name="Line 11"/>
            <p:cNvSpPr>
              <a:spLocks noChangeShapeType="1"/>
            </p:cNvSpPr>
            <p:nvPr/>
          </p:nvSpPr>
          <p:spPr bwMode="auto">
            <a:xfrm flipV="1">
              <a:off x="3939" y="2247"/>
              <a:ext cx="247" cy="104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40" name="Line 12"/>
            <p:cNvSpPr>
              <a:spLocks noChangeShapeType="1"/>
            </p:cNvSpPr>
            <p:nvPr/>
          </p:nvSpPr>
          <p:spPr bwMode="auto">
            <a:xfrm flipV="1">
              <a:off x="4136" y="2297"/>
              <a:ext cx="50" cy="1633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41" name="Line 13"/>
            <p:cNvSpPr>
              <a:spLocks noChangeShapeType="1"/>
            </p:cNvSpPr>
            <p:nvPr/>
          </p:nvSpPr>
          <p:spPr bwMode="auto">
            <a:xfrm flipH="1" flipV="1">
              <a:off x="4235" y="2247"/>
              <a:ext cx="346" cy="44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42" name="Line 14"/>
            <p:cNvSpPr>
              <a:spLocks noChangeShapeType="1"/>
            </p:cNvSpPr>
            <p:nvPr/>
          </p:nvSpPr>
          <p:spPr bwMode="auto">
            <a:xfrm flipH="1" flipV="1">
              <a:off x="4828" y="1554"/>
              <a:ext cx="212" cy="233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43" name="Line 15"/>
            <p:cNvSpPr>
              <a:spLocks noChangeShapeType="1"/>
            </p:cNvSpPr>
            <p:nvPr/>
          </p:nvSpPr>
          <p:spPr bwMode="auto">
            <a:xfrm flipV="1">
              <a:off x="4285" y="1554"/>
              <a:ext cx="494" cy="44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2244" name="Line 16"/>
            <p:cNvSpPr>
              <a:spLocks noChangeShapeType="1"/>
            </p:cNvSpPr>
            <p:nvPr/>
          </p:nvSpPr>
          <p:spPr bwMode="auto">
            <a:xfrm flipH="1" flipV="1">
              <a:off x="4878" y="1554"/>
              <a:ext cx="395" cy="178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46097" name="Text Box 17"/>
          <p:cNvSpPr txBox="1">
            <a:spLocks noChangeArrowheads="1"/>
          </p:cNvSpPr>
          <p:nvPr/>
        </p:nvSpPr>
        <p:spPr bwMode="auto">
          <a:xfrm>
            <a:off x="611188" y="5013325"/>
            <a:ext cx="4267200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</a:t>
            </a: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归约过程中如何发现“中间句型” 的最左素短语？</a:t>
            </a:r>
          </a:p>
        </p:txBody>
      </p:sp>
      <p:sp>
        <p:nvSpPr>
          <p:cNvPr id="46098" name="Rectangle 18"/>
          <p:cNvSpPr>
            <a:spLocks noChangeArrowheads="1"/>
          </p:cNvSpPr>
          <p:nvPr/>
        </p:nvSpPr>
        <p:spPr bwMode="auto">
          <a:xfrm>
            <a:off x="682625" y="3225800"/>
            <a:ext cx="4176713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id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，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id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，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E*id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，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id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，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id+E*id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，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id+E*id+id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其中的素短语为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id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，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id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，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id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333375"/>
            <a:ext cx="7793038" cy="1289050"/>
          </a:xfrm>
        </p:spPr>
        <p:txBody>
          <a:bodyPr/>
          <a:lstStyle/>
          <a:p>
            <a:pPr eaLnBrk="1" hangingPunct="1"/>
            <a:r>
              <a:rPr lang="zh-CN" altLang="en-US" sz="4800" b="1" smtClean="0">
                <a:latin typeface="Times New Roman" pitchFamily="18" charset="0"/>
                <a:ea typeface="华文新魏" pitchFamily="2" charset="-122"/>
              </a:rPr>
              <a:t>素短语与最左素短语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773238"/>
            <a:ext cx="8458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设句型的一般形式为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#N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1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…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n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# (</a:t>
            </a: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2400" b="1" baseline="-25000" smtClean="0">
                <a:latin typeface="Times New Roman" pitchFamily="18" charset="0"/>
                <a:ea typeface="楷体_GB2312" pitchFamily="49" charset="-122"/>
              </a:rPr>
              <a:t>i </a:t>
            </a: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∈V∪{ε},a</a:t>
            </a:r>
            <a:r>
              <a:rPr lang="en-US" altLang="zh-CN" sz="2400" b="1" baseline="-25000" smtClean="0">
                <a:latin typeface="Times New Roman" pitchFamily="18" charset="0"/>
                <a:ea typeface="楷体_GB2312" pitchFamily="49" charset="-122"/>
              </a:rPr>
              <a:t>i </a:t>
            </a: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∈T</a:t>
            </a:r>
            <a:r>
              <a:rPr lang="en-US" altLang="zh-CN" sz="3600" b="1" smtClean="0">
                <a:latin typeface="Times New Roman" pitchFamily="18" charset="0"/>
                <a:ea typeface="楷体_GB2312" pitchFamily="49" charset="-122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它的最左素短语是满足下列条件的最左子串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			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i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i+1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i+1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…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j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j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j+1</a:t>
            </a:r>
            <a:endParaRPr lang="en-US" altLang="zh-CN" b="1" smtClean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其中</a:t>
            </a: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：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i-1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≮a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		  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3600" b="1" smtClean="0">
                <a:latin typeface="Times New Roman" pitchFamily="18" charset="0"/>
                <a:ea typeface="楷体_GB2312" pitchFamily="49" charset="-122"/>
              </a:rPr>
              <a:t>≡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i+1</a:t>
            </a:r>
            <a:r>
              <a:rPr lang="en-US" altLang="zh-CN" sz="3600" b="1" smtClean="0">
                <a:latin typeface="Times New Roman" pitchFamily="18" charset="0"/>
                <a:ea typeface="楷体_GB2312" pitchFamily="49" charset="-122"/>
              </a:rPr>
              <a:t>≡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…</a:t>
            </a:r>
            <a:r>
              <a:rPr lang="en-US" altLang="zh-CN" sz="3600" b="1" smtClean="0">
                <a:latin typeface="Times New Roman" pitchFamily="18" charset="0"/>
                <a:ea typeface="楷体_GB2312" pitchFamily="49" charset="-122"/>
              </a:rPr>
              <a:t>≡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j-1</a:t>
            </a:r>
            <a:r>
              <a:rPr lang="en-US" altLang="zh-CN" sz="3600" b="1" smtClean="0">
                <a:latin typeface="Times New Roman" pitchFamily="18" charset="0"/>
                <a:ea typeface="楷体_GB2312" pitchFamily="49" charset="-122"/>
              </a:rPr>
              <a:t>≡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j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，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		  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j</a:t>
            </a:r>
            <a:r>
              <a:rPr lang="en-US" altLang="zh-CN" sz="3600" b="1" smtClean="0">
                <a:latin typeface="Times New Roman" pitchFamily="18" charset="0"/>
                <a:ea typeface="楷体_GB2312" pitchFamily="49" charset="-122"/>
              </a:rPr>
              <a:t>≯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j+1</a:t>
            </a:r>
          </a:p>
        </p:txBody>
      </p:sp>
      <p:sp>
        <p:nvSpPr>
          <p:cNvPr id="532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B5DF88F-9CEC-41E7-8305-FE12976E4432}" type="slidenum">
              <a:rPr lang="en-US" altLang="zh-CN" smtClean="0"/>
              <a:pPr eaLnBrk="1" hangingPunct="1"/>
              <a:t>39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9038" y="476250"/>
            <a:ext cx="6335712" cy="8382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算符优先分析算法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557338"/>
            <a:ext cx="8424862" cy="4679950"/>
          </a:xfrm>
        </p:spPr>
        <p:txBody>
          <a:bodyPr lIns="92075" tIns="46038" rIns="92075" bIns="46038"/>
          <a:lstStyle/>
          <a:p>
            <a:pPr marL="0" indent="263525" eaLnBrk="1" hangingPunct="1">
              <a:lnSpc>
                <a:spcPct val="110000"/>
              </a:lnSpc>
              <a:spcBef>
                <a:spcPct val="35000"/>
              </a:spcBef>
            </a:pP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原理：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识别句柄并归约</a:t>
            </a:r>
            <a:endParaRPr lang="zh-CN" altLang="en-US" sz="3600" b="1" smtClean="0">
              <a:latin typeface="Times New Roman" pitchFamily="18" charset="0"/>
              <a:ea typeface="华文新魏" pitchFamily="2" charset="-122"/>
            </a:endParaRPr>
          </a:p>
          <a:p>
            <a:pPr marL="442913" lvl="1" indent="434975" eaLnBrk="1" hangingPunct="1">
              <a:spcBef>
                <a:spcPct val="35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…a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i-1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≡a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i+1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≡…≡a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j-1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≡a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j</a:t>
            </a: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≯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j+1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…a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</a:p>
          <a:p>
            <a:pPr marL="442913" lvl="1" indent="434975" eaLnBrk="1" hangingPunct="1">
              <a:lnSpc>
                <a:spcPct val="110000"/>
              </a:lnSpc>
              <a:spcBef>
                <a:spcPct val="35000"/>
              </a:spcBef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首先利用≯找到“句柄”尾，再回头利用≮找到“句柄”头，分析栈存放已识别部分，比较栈顶和下一输入符号的关系，如果是“句柄”尾，则沿栈顶向下寻找“句柄”头，找到后弹出“句柄”，归约为非终结符</a:t>
            </a:r>
          </a:p>
        </p:txBody>
      </p:sp>
      <p:sp>
        <p:nvSpPr>
          <p:cNvPr id="604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FB8CB5C-7C3F-44D1-9FE0-6CC81A0FB2AC}" type="slidenum">
              <a:rPr lang="en-US" altLang="zh-CN" smtClean="0"/>
              <a:pPr eaLnBrk="1" hangingPunct="1"/>
              <a:t>40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549275"/>
            <a:ext cx="7793037" cy="1071563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算符优先分析的实现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916113"/>
            <a:ext cx="8351837" cy="4103687"/>
          </a:xfrm>
        </p:spPr>
        <p:txBody>
          <a:bodyPr lIns="92075" tIns="46038" rIns="92075" bIns="46038"/>
          <a:lstStyle/>
          <a:p>
            <a:pPr marL="288925" indent="-288925"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系统组成</a:t>
            </a:r>
          </a:p>
          <a:p>
            <a:pPr marL="900113" lvl="1" indent="-420688" eaLnBrk="1" hangingPunct="1">
              <a:lnSpc>
                <a:spcPct val="120000"/>
              </a:lnSpc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移进归约分析器 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+ </a:t>
            </a: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优先关系表</a:t>
            </a:r>
          </a:p>
          <a:p>
            <a:pPr marL="288925" indent="-288925"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分析算法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P163</a:t>
            </a:r>
          </a:p>
          <a:p>
            <a:pPr marL="900113" lvl="1" indent="-420688" eaLnBrk="1" hangingPunct="1">
              <a:lnSpc>
                <a:spcPct val="120000"/>
              </a:lnSpc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参照输入串、优先关系表，完成一系列归约，生成语法分析树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输出产生式</a:t>
            </a:r>
          </a:p>
        </p:txBody>
      </p:sp>
      <p:sp>
        <p:nvSpPr>
          <p:cNvPr id="614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40E9889-460F-4258-A4B3-9F4F85E66B6B}" type="slidenum">
              <a:rPr lang="en-US" altLang="zh-CN" smtClean="0"/>
              <a:pPr eaLnBrk="1" hangingPunct="1"/>
              <a:t>41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4572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 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id+id*id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的分析过程</a:t>
            </a:r>
          </a:p>
        </p:txBody>
      </p:sp>
      <p:sp>
        <p:nvSpPr>
          <p:cNvPr id="6246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064468BE-AB01-4DFF-A3A8-026B7B6E734A}" type="slidenum">
              <a:rPr lang="en-US" altLang="zh-CN" smtClean="0"/>
              <a:pPr eaLnBrk="1" hangingPunct="1"/>
              <a:t>42</a:t>
            </a:fld>
            <a:endParaRPr lang="en-US" altLang="zh-CN" smtClean="0"/>
          </a:p>
        </p:txBody>
      </p:sp>
      <p:sp>
        <p:nvSpPr>
          <p:cNvPr id="62468" name="Rectangle 3"/>
          <p:cNvSpPr>
            <a:spLocks noChangeArrowheads="1"/>
          </p:cNvSpPr>
          <p:nvPr/>
        </p:nvSpPr>
        <p:spPr bwMode="auto">
          <a:xfrm>
            <a:off x="1447800" y="2349500"/>
            <a:ext cx="762000" cy="2447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endParaRPr kumimoji="1" lang="zh-CN" altLang="zh-CN" sz="2400">
              <a:solidFill>
                <a:srgbClr val="000066"/>
              </a:solidFill>
              <a:latin typeface="Times New Roman" pitchFamily="18" charset="0"/>
            </a:endParaRPr>
          </a:p>
        </p:txBody>
      </p:sp>
      <p:sp>
        <p:nvSpPr>
          <p:cNvPr id="62469" name="Rectangle 4"/>
          <p:cNvSpPr>
            <a:spLocks noChangeArrowheads="1"/>
          </p:cNvSpPr>
          <p:nvPr/>
        </p:nvSpPr>
        <p:spPr bwMode="auto">
          <a:xfrm>
            <a:off x="2971800" y="2924175"/>
            <a:ext cx="2362200" cy="10779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r>
              <a:rPr kumimoji="1" lang="zh-CN" altLang="en-US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算符优先分析</a:t>
            </a:r>
          </a:p>
          <a:p>
            <a:pPr algn="ctr" eaLnBrk="0" hangingPunct="0"/>
            <a:r>
              <a:rPr kumimoji="1" lang="zh-CN" altLang="en-US" sz="28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控制器</a:t>
            </a:r>
            <a:endParaRPr kumimoji="1" lang="zh-CN" altLang="en-US" sz="2400" b="1">
              <a:solidFill>
                <a:srgbClr val="000099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62470" name="Rectangle 5"/>
          <p:cNvSpPr>
            <a:spLocks noChangeArrowheads="1"/>
          </p:cNvSpPr>
          <p:nvPr/>
        </p:nvSpPr>
        <p:spPr bwMode="auto">
          <a:xfrm>
            <a:off x="6442075" y="2420938"/>
            <a:ext cx="2162175" cy="2465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kumimoji="1" lang="zh-CN" altLang="zh-CN" sz="2400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62471" name="AutoShape 6"/>
          <p:cNvSpPr>
            <a:spLocks noChangeArrowheads="1"/>
          </p:cNvSpPr>
          <p:nvPr/>
        </p:nvSpPr>
        <p:spPr bwMode="auto">
          <a:xfrm>
            <a:off x="2195513" y="3152775"/>
            <a:ext cx="700087" cy="347663"/>
          </a:xfrm>
          <a:prstGeom prst="rightArrow">
            <a:avLst>
              <a:gd name="adj1" fmla="val 50000"/>
              <a:gd name="adj2" fmla="val 50342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47" name="AutoShape 7"/>
          <p:cNvSpPr>
            <a:spLocks noChangeArrowheads="1"/>
          </p:cNvSpPr>
          <p:nvPr/>
        </p:nvSpPr>
        <p:spPr bwMode="auto">
          <a:xfrm>
            <a:off x="3124200" y="2362200"/>
            <a:ext cx="228600" cy="533400"/>
          </a:xfrm>
          <a:prstGeom prst="downArrow">
            <a:avLst>
              <a:gd name="adj1" fmla="val 50000"/>
              <a:gd name="adj2" fmla="val 58333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63848" name="AutoShape 8"/>
          <p:cNvSpPr>
            <a:spLocks noChangeArrowheads="1"/>
          </p:cNvSpPr>
          <p:nvPr/>
        </p:nvSpPr>
        <p:spPr bwMode="auto">
          <a:xfrm>
            <a:off x="3505200" y="2362200"/>
            <a:ext cx="228600" cy="533400"/>
          </a:xfrm>
          <a:prstGeom prst="downArrow">
            <a:avLst>
              <a:gd name="adj1" fmla="val 50000"/>
              <a:gd name="adj2" fmla="val 58333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63849" name="AutoShape 9"/>
          <p:cNvSpPr>
            <a:spLocks noChangeArrowheads="1"/>
          </p:cNvSpPr>
          <p:nvPr/>
        </p:nvSpPr>
        <p:spPr bwMode="auto">
          <a:xfrm>
            <a:off x="3886200" y="2362200"/>
            <a:ext cx="228600" cy="533400"/>
          </a:xfrm>
          <a:prstGeom prst="downArrow">
            <a:avLst>
              <a:gd name="adj1" fmla="val 50000"/>
              <a:gd name="adj2" fmla="val 58333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63850" name="AutoShape 10"/>
          <p:cNvSpPr>
            <a:spLocks noChangeArrowheads="1"/>
          </p:cNvSpPr>
          <p:nvPr/>
        </p:nvSpPr>
        <p:spPr bwMode="auto">
          <a:xfrm>
            <a:off x="4267200" y="2362200"/>
            <a:ext cx="228600" cy="533400"/>
          </a:xfrm>
          <a:prstGeom prst="downArrow">
            <a:avLst>
              <a:gd name="adj1" fmla="val 50000"/>
              <a:gd name="adj2" fmla="val 58333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63851" name="AutoShape 11"/>
          <p:cNvSpPr>
            <a:spLocks noChangeArrowheads="1"/>
          </p:cNvSpPr>
          <p:nvPr/>
        </p:nvSpPr>
        <p:spPr bwMode="auto">
          <a:xfrm>
            <a:off x="4648200" y="2362200"/>
            <a:ext cx="228600" cy="533400"/>
          </a:xfrm>
          <a:prstGeom prst="downArrow">
            <a:avLst>
              <a:gd name="adj1" fmla="val 50000"/>
              <a:gd name="adj2" fmla="val 58333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63852" name="AutoShape 12"/>
          <p:cNvSpPr>
            <a:spLocks noChangeArrowheads="1"/>
          </p:cNvSpPr>
          <p:nvPr/>
        </p:nvSpPr>
        <p:spPr bwMode="auto">
          <a:xfrm>
            <a:off x="5029200" y="2362200"/>
            <a:ext cx="228600" cy="533400"/>
          </a:xfrm>
          <a:prstGeom prst="downArrow">
            <a:avLst>
              <a:gd name="adj1" fmla="val 50000"/>
              <a:gd name="adj2" fmla="val 58333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62478" name="AutoShape 13"/>
          <p:cNvSpPr>
            <a:spLocks noChangeArrowheads="1"/>
          </p:cNvSpPr>
          <p:nvPr/>
        </p:nvSpPr>
        <p:spPr bwMode="auto">
          <a:xfrm>
            <a:off x="5292725" y="3213100"/>
            <a:ext cx="1108075" cy="215900"/>
          </a:xfrm>
          <a:prstGeom prst="rightArrow">
            <a:avLst>
              <a:gd name="adj1" fmla="val 50000"/>
              <a:gd name="adj2" fmla="val 128309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854" name="Text Box 14"/>
          <p:cNvSpPr txBox="1">
            <a:spLocks noChangeArrowheads="1"/>
          </p:cNvSpPr>
          <p:nvPr/>
        </p:nvSpPr>
        <p:spPr bwMode="auto">
          <a:xfrm>
            <a:off x="6442075" y="2520950"/>
            <a:ext cx="1730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99"/>
                </a:solidFill>
                <a:latin typeface="宋体" pitchFamily="2" charset="-122"/>
              </a:rPr>
              <a:t>E → id</a:t>
            </a:r>
          </a:p>
        </p:txBody>
      </p:sp>
      <p:sp>
        <p:nvSpPr>
          <p:cNvPr id="163855" name="Text Box 15"/>
          <p:cNvSpPr txBox="1">
            <a:spLocks noChangeArrowheads="1"/>
          </p:cNvSpPr>
          <p:nvPr/>
        </p:nvSpPr>
        <p:spPr bwMode="auto">
          <a:xfrm>
            <a:off x="6442075" y="2989263"/>
            <a:ext cx="1730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99"/>
                </a:solidFill>
                <a:latin typeface="宋体" pitchFamily="2" charset="-122"/>
              </a:rPr>
              <a:t>E → id</a:t>
            </a:r>
          </a:p>
        </p:txBody>
      </p:sp>
      <p:sp>
        <p:nvSpPr>
          <p:cNvPr id="163856" name="Text Box 16"/>
          <p:cNvSpPr txBox="1">
            <a:spLocks noChangeArrowheads="1"/>
          </p:cNvSpPr>
          <p:nvPr/>
        </p:nvSpPr>
        <p:spPr bwMode="auto">
          <a:xfrm>
            <a:off x="6442075" y="3421063"/>
            <a:ext cx="1585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99"/>
                </a:solidFill>
                <a:latin typeface="宋体" pitchFamily="2" charset="-122"/>
              </a:rPr>
              <a:t>E → id</a:t>
            </a:r>
          </a:p>
        </p:txBody>
      </p:sp>
      <p:sp>
        <p:nvSpPr>
          <p:cNvPr id="163857" name="Text Box 17"/>
          <p:cNvSpPr txBox="1">
            <a:spLocks noChangeArrowheads="1"/>
          </p:cNvSpPr>
          <p:nvPr/>
        </p:nvSpPr>
        <p:spPr bwMode="auto">
          <a:xfrm>
            <a:off x="6442075" y="3852863"/>
            <a:ext cx="2017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99"/>
                </a:solidFill>
                <a:latin typeface="宋体" pitchFamily="2" charset="-122"/>
              </a:rPr>
              <a:t>E → E * E</a:t>
            </a:r>
          </a:p>
        </p:txBody>
      </p:sp>
      <p:sp>
        <p:nvSpPr>
          <p:cNvPr id="163858" name="Text Box 18"/>
          <p:cNvSpPr txBox="1">
            <a:spLocks noChangeArrowheads="1"/>
          </p:cNvSpPr>
          <p:nvPr/>
        </p:nvSpPr>
        <p:spPr bwMode="auto">
          <a:xfrm>
            <a:off x="6434138" y="4356100"/>
            <a:ext cx="2098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0099"/>
                </a:solidFill>
                <a:latin typeface="宋体" pitchFamily="2" charset="-122"/>
              </a:rPr>
              <a:t>E → E + E</a:t>
            </a:r>
          </a:p>
        </p:txBody>
      </p:sp>
      <p:sp>
        <p:nvSpPr>
          <p:cNvPr id="62484" name="Rectangle 19"/>
          <p:cNvSpPr>
            <a:spLocks noChangeArrowheads="1"/>
          </p:cNvSpPr>
          <p:nvPr/>
        </p:nvSpPr>
        <p:spPr bwMode="auto">
          <a:xfrm>
            <a:off x="3059113" y="4508500"/>
            <a:ext cx="2438400" cy="6159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r>
              <a:rPr kumimoji="1" lang="zh-CN" altLang="en-US" sz="24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算符优先关系表</a:t>
            </a:r>
          </a:p>
        </p:txBody>
      </p:sp>
      <p:sp>
        <p:nvSpPr>
          <p:cNvPr id="163860" name="Text Box 20"/>
          <p:cNvSpPr txBox="1">
            <a:spLocks noChangeArrowheads="1"/>
          </p:cNvSpPr>
          <p:nvPr/>
        </p:nvSpPr>
        <p:spPr bwMode="auto">
          <a:xfrm>
            <a:off x="1619250" y="4294188"/>
            <a:ext cx="3365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66"/>
                </a:solidFill>
                <a:latin typeface="Times New Roman" pitchFamily="18" charset="0"/>
              </a:rPr>
              <a:t>#</a:t>
            </a:r>
          </a:p>
        </p:txBody>
      </p:sp>
      <p:sp>
        <p:nvSpPr>
          <p:cNvPr id="163861" name="Text Box 21"/>
          <p:cNvSpPr txBox="1">
            <a:spLocks noChangeArrowheads="1"/>
          </p:cNvSpPr>
          <p:nvPr/>
        </p:nvSpPr>
        <p:spPr bwMode="auto">
          <a:xfrm>
            <a:off x="1619250" y="3979863"/>
            <a:ext cx="420688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66"/>
                </a:solidFill>
                <a:latin typeface="Times New Roman" pitchFamily="18" charset="0"/>
              </a:rPr>
              <a:t>id</a:t>
            </a:r>
          </a:p>
        </p:txBody>
      </p:sp>
      <p:sp>
        <p:nvSpPr>
          <p:cNvPr id="163863" name="Text Box 23"/>
          <p:cNvSpPr txBox="1">
            <a:spLocks noChangeArrowheads="1"/>
          </p:cNvSpPr>
          <p:nvPr/>
        </p:nvSpPr>
        <p:spPr bwMode="auto">
          <a:xfrm>
            <a:off x="1619250" y="3644900"/>
            <a:ext cx="355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66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163862" name="Text Box 22"/>
          <p:cNvSpPr txBox="1">
            <a:spLocks noChangeArrowheads="1"/>
          </p:cNvSpPr>
          <p:nvPr/>
        </p:nvSpPr>
        <p:spPr bwMode="auto">
          <a:xfrm>
            <a:off x="1619250" y="3979863"/>
            <a:ext cx="369888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66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63864" name="Text Box 24"/>
          <p:cNvSpPr txBox="1">
            <a:spLocks noChangeArrowheads="1"/>
          </p:cNvSpPr>
          <p:nvPr/>
        </p:nvSpPr>
        <p:spPr bwMode="auto">
          <a:xfrm>
            <a:off x="1619250" y="3286125"/>
            <a:ext cx="420688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66"/>
                </a:solidFill>
                <a:latin typeface="Times New Roman" pitchFamily="18" charset="0"/>
              </a:rPr>
              <a:t>id</a:t>
            </a:r>
          </a:p>
        </p:txBody>
      </p:sp>
      <p:sp>
        <p:nvSpPr>
          <p:cNvPr id="163866" name="Text Box 26"/>
          <p:cNvSpPr txBox="1">
            <a:spLocks noChangeArrowheads="1"/>
          </p:cNvSpPr>
          <p:nvPr/>
        </p:nvSpPr>
        <p:spPr bwMode="auto">
          <a:xfrm>
            <a:off x="1619250" y="3044825"/>
            <a:ext cx="431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66"/>
                </a:solidFill>
                <a:latin typeface="Times New Roman" pitchFamily="18" charset="0"/>
              </a:rPr>
              <a:t>*</a:t>
            </a:r>
          </a:p>
        </p:txBody>
      </p:sp>
      <p:sp>
        <p:nvSpPr>
          <p:cNvPr id="163865" name="Text Box 25"/>
          <p:cNvSpPr txBox="1">
            <a:spLocks noChangeArrowheads="1"/>
          </p:cNvSpPr>
          <p:nvPr/>
        </p:nvSpPr>
        <p:spPr bwMode="auto">
          <a:xfrm>
            <a:off x="1619250" y="3332163"/>
            <a:ext cx="369888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66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63867" name="Text Box 27"/>
          <p:cNvSpPr txBox="1">
            <a:spLocks noChangeArrowheads="1"/>
          </p:cNvSpPr>
          <p:nvPr/>
        </p:nvSpPr>
        <p:spPr bwMode="auto">
          <a:xfrm>
            <a:off x="1630363" y="2684463"/>
            <a:ext cx="42068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66"/>
                </a:solidFill>
                <a:latin typeface="Times New Roman" pitchFamily="18" charset="0"/>
              </a:rPr>
              <a:t>id</a:t>
            </a:r>
          </a:p>
        </p:txBody>
      </p:sp>
      <p:sp>
        <p:nvSpPr>
          <p:cNvPr id="163868" name="Text Box 28"/>
          <p:cNvSpPr txBox="1">
            <a:spLocks noChangeArrowheads="1"/>
          </p:cNvSpPr>
          <p:nvPr/>
        </p:nvSpPr>
        <p:spPr bwMode="auto">
          <a:xfrm>
            <a:off x="1619250" y="2709863"/>
            <a:ext cx="369888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>
                <a:solidFill>
                  <a:srgbClr val="000066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63869" name="Text Box 29"/>
          <p:cNvSpPr txBox="1">
            <a:spLocks noChangeArrowheads="1"/>
          </p:cNvSpPr>
          <p:nvPr/>
        </p:nvSpPr>
        <p:spPr bwMode="auto">
          <a:xfrm>
            <a:off x="1619250" y="2565400"/>
            <a:ext cx="431800" cy="1187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endParaRPr kumimoji="1" lang="en-US" altLang="zh-CN" sz="2400">
              <a:solidFill>
                <a:srgbClr val="000066"/>
              </a:solidFill>
              <a:latin typeface="Times New Roman" pitchFamily="18" charset="0"/>
            </a:endParaRPr>
          </a:p>
          <a:p>
            <a:endParaRPr kumimoji="1" lang="en-US" altLang="zh-CN" sz="2400">
              <a:solidFill>
                <a:srgbClr val="000066"/>
              </a:solidFill>
              <a:latin typeface="Times New Roman" pitchFamily="18" charset="0"/>
            </a:endParaRPr>
          </a:p>
          <a:p>
            <a:r>
              <a:rPr kumimoji="1" lang="en-US" altLang="zh-CN" sz="2400">
                <a:solidFill>
                  <a:srgbClr val="000066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63870" name="Text Box 30"/>
          <p:cNvSpPr txBox="1">
            <a:spLocks noChangeArrowheads="1"/>
          </p:cNvSpPr>
          <p:nvPr/>
        </p:nvSpPr>
        <p:spPr bwMode="auto">
          <a:xfrm>
            <a:off x="1619250" y="2447925"/>
            <a:ext cx="369888" cy="1917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endParaRPr kumimoji="1" lang="en-US" altLang="zh-CN" sz="2400">
              <a:solidFill>
                <a:srgbClr val="000066"/>
              </a:solidFill>
              <a:latin typeface="Times New Roman" pitchFamily="18" charset="0"/>
            </a:endParaRPr>
          </a:p>
          <a:p>
            <a:endParaRPr kumimoji="1" lang="en-US" altLang="zh-CN" sz="2400">
              <a:solidFill>
                <a:srgbClr val="000066"/>
              </a:solidFill>
              <a:latin typeface="Times New Roman" pitchFamily="18" charset="0"/>
            </a:endParaRPr>
          </a:p>
          <a:p>
            <a:endParaRPr kumimoji="1" lang="en-US" altLang="zh-CN" sz="2400">
              <a:solidFill>
                <a:srgbClr val="000066"/>
              </a:solidFill>
              <a:latin typeface="Times New Roman" pitchFamily="18" charset="0"/>
            </a:endParaRPr>
          </a:p>
          <a:p>
            <a:endParaRPr kumimoji="1" lang="en-US" altLang="zh-CN" sz="2400">
              <a:solidFill>
                <a:srgbClr val="000066"/>
              </a:solidFill>
              <a:latin typeface="Times New Roman" pitchFamily="18" charset="0"/>
            </a:endParaRPr>
          </a:p>
          <a:p>
            <a:r>
              <a:rPr kumimoji="1" lang="en-US" altLang="zh-CN" sz="2400">
                <a:solidFill>
                  <a:srgbClr val="000066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62496" name="AutoShape 31"/>
          <p:cNvSpPr>
            <a:spLocks noChangeArrowheads="1"/>
          </p:cNvSpPr>
          <p:nvPr/>
        </p:nvSpPr>
        <p:spPr bwMode="auto">
          <a:xfrm>
            <a:off x="3851275" y="4005263"/>
            <a:ext cx="762000" cy="465137"/>
          </a:xfrm>
          <a:prstGeom prst="up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62497" name="Text Box 32"/>
          <p:cNvSpPr txBox="1">
            <a:spLocks noChangeArrowheads="1"/>
          </p:cNvSpPr>
          <p:nvPr/>
        </p:nvSpPr>
        <p:spPr bwMode="auto">
          <a:xfrm>
            <a:off x="3048000" y="18288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rgbClr val="000099"/>
                </a:solidFill>
                <a:latin typeface="Times New Roman" pitchFamily="18" charset="0"/>
              </a:rPr>
              <a:t>id +  id *  id #</a:t>
            </a:r>
          </a:p>
        </p:txBody>
      </p:sp>
      <p:sp>
        <p:nvSpPr>
          <p:cNvPr id="163873" name="Text Box 33"/>
          <p:cNvSpPr txBox="1">
            <a:spLocks noChangeArrowheads="1"/>
          </p:cNvSpPr>
          <p:nvPr/>
        </p:nvSpPr>
        <p:spPr bwMode="auto">
          <a:xfrm>
            <a:off x="0" y="5448300"/>
            <a:ext cx="9144000" cy="1076325"/>
          </a:xfrm>
          <a:prstGeom prst="rect">
            <a:avLst/>
          </a:prstGeom>
          <a:solidFill>
            <a:srgbClr val="0066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6666"/>
            </a:extrusionClr>
          </a:sp3d>
        </p:spPr>
        <p:txBody>
          <a:bodyPr>
            <a:spAutoFit/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“E”</a:t>
            </a: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不进栈是否也可以？是否可以分为运算对象栈和运算符栈？是否有更简单的比较优先级的方式？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476250"/>
            <a:ext cx="5903912" cy="936625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算符优先函数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628775"/>
            <a:ext cx="8496300" cy="4895850"/>
          </a:xfrm>
        </p:spPr>
        <p:txBody>
          <a:bodyPr/>
          <a:lstStyle/>
          <a:p>
            <a:pPr eaLnBrk="1" hangingPunct="1"/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函数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和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f(a)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终结符号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的栈内优先数；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g(a)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终结符号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的栈外优先数，满足：</a:t>
            </a:r>
          </a:p>
          <a:p>
            <a:pPr lvl="2" eaLnBrk="1" hangingPunct="1"/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f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)&lt;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g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，如果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a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≮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 b</a:t>
            </a:r>
          </a:p>
          <a:p>
            <a:pPr lvl="2" eaLnBrk="1" hangingPunct="1"/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f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)=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g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，如果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a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≡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 b</a:t>
            </a:r>
          </a:p>
          <a:p>
            <a:pPr lvl="2" eaLnBrk="1" hangingPunct="1"/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f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)&gt;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g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b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，如果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a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≯</a:t>
            </a:r>
            <a:r>
              <a:rPr lang="en-US" altLang="zh-CN" sz="2800" b="1" i="1" smtClean="0">
                <a:latin typeface="Times New Roman" pitchFamily="18" charset="0"/>
                <a:ea typeface="华文新魏" pitchFamily="2" charset="-122"/>
              </a:rPr>
              <a:t> b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/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优点：节省存储空间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(n</a:t>
            </a:r>
            <a:r>
              <a:rPr lang="en-US" altLang="zh-CN" sz="2800" b="1" baseline="30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→2n)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便于执行比较运算</a:t>
            </a:r>
          </a:p>
          <a:p>
            <a:pPr eaLnBrk="1" hangingPunct="1"/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损失</a:t>
            </a:r>
          </a:p>
          <a:p>
            <a:pPr lvl="1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错误检测能力降低</a:t>
            </a:r>
          </a:p>
          <a:p>
            <a:pPr lvl="2" eaLnBrk="1" hangingPunct="1"/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如：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id ≯id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不存在，但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f(id)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与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g(id)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可比较</a:t>
            </a:r>
          </a:p>
        </p:txBody>
      </p:sp>
      <p:sp>
        <p:nvSpPr>
          <p:cNvPr id="634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81EFC4E-384B-401B-A620-52F187EE8F27}" type="slidenum">
              <a:rPr lang="en-US" altLang="zh-CN" smtClean="0"/>
              <a:pPr eaLnBrk="1" hangingPunct="1"/>
              <a:t>43</a:t>
            </a:fld>
            <a:endParaRPr lang="en-US" altLang="zh-CN" smtClean="0"/>
          </a:p>
        </p:txBody>
      </p:sp>
      <p:sp>
        <p:nvSpPr>
          <p:cNvPr id="63493" name="Text Box 4"/>
          <p:cNvSpPr txBox="1">
            <a:spLocks noChangeArrowheads="1"/>
          </p:cNvSpPr>
          <p:nvPr/>
        </p:nvSpPr>
        <p:spPr bwMode="auto">
          <a:xfrm>
            <a:off x="7010400" y="5486400"/>
            <a:ext cx="1752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29C1CC9-EE54-4820-A0FB-4A744D215572}" type="slidenum">
              <a:rPr lang="en-US" altLang="zh-CN" smtClean="0"/>
              <a:pPr eaLnBrk="1" hangingPunct="1"/>
              <a:t>44</a:t>
            </a:fld>
            <a:endParaRPr lang="en-US" altLang="zh-CN" smtClean="0"/>
          </a:p>
        </p:txBody>
      </p:sp>
      <p:sp>
        <p:nvSpPr>
          <p:cNvPr id="64515" name="Text Box 2"/>
          <p:cNvSpPr txBox="1">
            <a:spLocks noChangeArrowheads="1"/>
          </p:cNvSpPr>
          <p:nvPr/>
        </p:nvSpPr>
        <p:spPr bwMode="auto">
          <a:xfrm>
            <a:off x="539750" y="1630363"/>
            <a:ext cx="79200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例  </a:t>
            </a:r>
            <a:r>
              <a:rPr lang="en-US" altLang="zh-CN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E→E+E|E-T|E*E|E/E|E</a:t>
            </a:r>
            <a:r>
              <a:rPr lang="pt-BR" altLang="zh-CN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  <a:sym typeface="Symbol" pitchFamily="18" charset="2"/>
              </a:rPr>
              <a:t>↑</a:t>
            </a:r>
            <a:r>
              <a:rPr lang="en-US" altLang="zh-CN" sz="3200" b="1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E|(E)|id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539750" y="4608513"/>
            <a:ext cx="7920038" cy="170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AutoNum type="arabicPeriod"/>
            </a:pPr>
            <a:r>
              <a:rPr kumimoji="1" lang="zh-CN" altLang="en-US" sz="3200" b="1"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构造优先函数的算法不是唯一的</a:t>
            </a:r>
          </a:p>
          <a:p>
            <a:pPr eaLnBrk="1" hangingPunct="1">
              <a:spcBef>
                <a:spcPct val="30000"/>
              </a:spcBef>
              <a:buFontTx/>
              <a:buAutoNum type="arabicPeriod"/>
            </a:pPr>
            <a:r>
              <a:rPr kumimoji="1" lang="zh-CN" altLang="en-US" sz="3200" b="1"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如果存在一组优先函数，就存在无穷组优先函数</a:t>
            </a:r>
          </a:p>
        </p:txBody>
      </p:sp>
      <p:sp>
        <p:nvSpPr>
          <p:cNvPr id="64517" name="Rectangle 5"/>
          <p:cNvSpPr>
            <a:spLocks noChangeArrowheads="1"/>
          </p:cNvSpPr>
          <p:nvPr/>
        </p:nvSpPr>
        <p:spPr bwMode="auto">
          <a:xfrm>
            <a:off x="611188" y="549275"/>
            <a:ext cx="35369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4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  <a:cs typeface="Times New Roman" pitchFamily="18" charset="0"/>
              </a:rPr>
              <a:t>算符优先函数</a:t>
            </a:r>
          </a:p>
        </p:txBody>
      </p:sp>
      <p:graphicFrame>
        <p:nvGraphicFramePr>
          <p:cNvPr id="54343" name="Group 71"/>
          <p:cNvGraphicFramePr>
            <a:graphicFrameLocks noGrp="1"/>
          </p:cNvGraphicFramePr>
          <p:nvPr/>
        </p:nvGraphicFramePr>
        <p:xfrm>
          <a:off x="1035050" y="2393950"/>
          <a:ext cx="6354762" cy="1828800"/>
        </p:xfrm>
        <a:graphic>
          <a:graphicData uri="http://schemas.openxmlformats.org/drawingml/2006/table">
            <a:tbl>
              <a:tblPr/>
              <a:tblGrid>
                <a:gridCol w="868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+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-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*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/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pt-BR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  <a:sym typeface="Symbol" pitchFamily="18" charset="2"/>
                        </a:rPr>
                        <a:t>↑</a:t>
                      </a:r>
                      <a:r>
                        <a:rPr kumimoji="1" lang="zh-CN" altLang="pt-B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 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  <a:sym typeface="Symbol" pitchFamily="18" charset="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(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)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f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g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3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ahoma" pitchFamily="34" charset="0"/>
                        </a:rPr>
                        <a:t>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1" lang="zh-CN" altLang="en-US" sz="4000" b="1" smtClean="0">
                <a:latin typeface="Times New Roman" pitchFamily="18" charset="0"/>
                <a:ea typeface="华文新魏" pitchFamily="2" charset="-122"/>
              </a:rPr>
              <a:t>优先函数构造算法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55000"/>
              </a:spcBef>
              <a:buFont typeface="Wingdings" pitchFamily="2" charset="2"/>
              <a:buAutoNum type="arabicPeriod"/>
            </a:pP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aT{#},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建立两个结点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f</a:t>
            </a:r>
            <a:r>
              <a:rPr kumimoji="1" lang="en-US" altLang="zh-CN" b="1" baseline="-25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a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和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g</a:t>
            </a:r>
            <a:r>
              <a:rPr kumimoji="1" lang="en-US" altLang="zh-CN" b="1" baseline="-25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a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;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55000"/>
              </a:spcBef>
              <a:buFont typeface="Wingdings" pitchFamily="2" charset="2"/>
              <a:buAutoNum type="arabicPeriod"/>
            </a:pP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a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，</a:t>
            </a:r>
            <a:r>
              <a:rPr kumimoji="1" lang="en-US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b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T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，</a:t>
            </a:r>
          </a:p>
          <a:p>
            <a:pPr marL="990600" lvl="1" indent="-533400" eaLnBrk="1" hangingPunct="1">
              <a:lnSpc>
                <a:spcPct val="90000"/>
              </a:lnSpc>
              <a:spcBef>
                <a:spcPct val="55000"/>
              </a:spcBef>
              <a:buFont typeface="Wingdings" pitchFamily="2" charset="2"/>
              <a:buAutoNum type="circleNumDbPlain"/>
            </a:pP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若</a:t>
            </a:r>
            <a:r>
              <a:rPr kumimoji="1" lang="en-US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a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≯</a:t>
            </a:r>
            <a:r>
              <a:rPr kumimoji="1" lang="en-US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b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或者 </a:t>
            </a:r>
            <a:r>
              <a:rPr kumimoji="1" lang="en-US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a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≡</a:t>
            </a:r>
            <a:r>
              <a:rPr kumimoji="1" lang="en-US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b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则从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f</a:t>
            </a:r>
            <a:r>
              <a:rPr kumimoji="1" lang="en-US" altLang="zh-CN" b="1" baseline="-25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a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至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g</a:t>
            </a:r>
            <a:r>
              <a:rPr kumimoji="1" lang="en-US" altLang="zh-CN" b="1" baseline="-25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b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画一条弧；</a:t>
            </a:r>
          </a:p>
          <a:p>
            <a:pPr marL="990600" lvl="1" indent="-533400" eaLnBrk="1" hangingPunct="1">
              <a:lnSpc>
                <a:spcPct val="90000"/>
              </a:lnSpc>
              <a:spcBef>
                <a:spcPct val="55000"/>
              </a:spcBef>
              <a:buFont typeface="Wingdings" pitchFamily="2" charset="2"/>
              <a:buAutoNum type="circleNumDbPlain"/>
            </a:pP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若</a:t>
            </a:r>
            <a:r>
              <a:rPr kumimoji="1" lang="en-US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a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≮</a:t>
            </a:r>
            <a:r>
              <a:rPr kumimoji="1" lang="en-US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b 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或者 </a:t>
            </a:r>
            <a:r>
              <a:rPr kumimoji="1" lang="en-US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a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≡</a:t>
            </a:r>
            <a:r>
              <a:rPr kumimoji="1" lang="en-US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b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则从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g</a:t>
            </a:r>
            <a:r>
              <a:rPr kumimoji="1" lang="en-US" altLang="zh-CN" b="1" baseline="-25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b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至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f</a:t>
            </a:r>
            <a:r>
              <a:rPr kumimoji="1" lang="en-US" altLang="zh-CN" b="1" baseline="-25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a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画一条弧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;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55000"/>
              </a:spcBef>
              <a:buFont typeface="Wingdings" pitchFamily="2" charset="2"/>
              <a:buAutoNum type="arabicPeriod"/>
            </a:pP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若图中无环，则存在优先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函数</a:t>
            </a:r>
          </a:p>
          <a:p>
            <a:pPr marL="990600" lvl="1" indent="-533400" eaLnBrk="1" hangingPunct="1">
              <a:lnSpc>
                <a:spcPct val="90000"/>
              </a:lnSpc>
              <a:spcBef>
                <a:spcPct val="55000"/>
              </a:spcBef>
              <a:buFont typeface="Wingdings" pitchFamily="2" charset="2"/>
              <a:buNone/>
            </a:pPr>
            <a:r>
              <a:rPr kumimoji="1" lang="en-US" altLang="en-US" b="1" smtClean="0">
                <a:latin typeface="Times New Roman" pitchFamily="18" charset="0"/>
                <a:ea typeface="华文新魏" pitchFamily="2" charset="-122"/>
              </a:rPr>
              <a:t>f(a)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和</a:t>
            </a:r>
            <a:r>
              <a:rPr kumimoji="1" lang="en-US" altLang="en-US" b="1" smtClean="0">
                <a:latin typeface="Times New Roman" pitchFamily="18" charset="0"/>
                <a:ea typeface="华文新魏" pitchFamily="2" charset="-122"/>
              </a:rPr>
              <a:t>g(b)</a:t>
            </a:r>
            <a:r>
              <a:rPr kumimoji="1" lang="zh-CN" altLang="zh-CN" b="1" smtClean="0">
                <a:latin typeface="Times New Roman" pitchFamily="18" charset="0"/>
                <a:ea typeface="华文新魏" pitchFamily="2" charset="-122"/>
              </a:rPr>
              <a:t>等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</a:rPr>
              <a:t>于从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f</a:t>
            </a:r>
            <a:r>
              <a:rPr kumimoji="1" lang="en-US" altLang="zh-CN" b="1" baseline="-25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a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和</a:t>
            </a:r>
            <a:r>
              <a:rPr kumimoji="1"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g</a:t>
            </a:r>
            <a:r>
              <a:rPr kumimoji="1" lang="en-US" altLang="zh-CN" b="1" baseline="-25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b</a:t>
            </a:r>
            <a:r>
              <a:rPr kumimoji="1"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出发的最长路径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55000"/>
              </a:spcBef>
              <a:buFont typeface="Wingdings" pitchFamily="2" charset="2"/>
              <a:buAutoNum type="arabicPeriod"/>
            </a:pP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655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F20D9D0-93A8-40DD-A69B-0C1D4C6A0DB6}" type="slidenum">
              <a:rPr lang="en-US" altLang="zh-CN" smtClean="0"/>
              <a:pPr eaLnBrk="1" hangingPunct="1"/>
              <a:t>45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381000" y="1066800"/>
          <a:ext cx="4394200" cy="306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12" name="文档" r:id="rId3" imgW="4390611" imgH="3057599" progId="Word.Document.8">
                  <p:embed/>
                </p:oleObj>
              </mc:Choice>
              <mc:Fallback>
                <p:oleObj name="文档" r:id="rId3" imgW="4390611" imgH="3057599" progId="Word.Document.8">
                  <p:embed/>
                  <p:pic>
                    <p:nvPicPr>
                      <p:cNvPr id="409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066800"/>
                        <a:ext cx="4394200" cy="306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Oval 3"/>
          <p:cNvSpPr>
            <a:spLocks noChangeArrowheads="1"/>
          </p:cNvSpPr>
          <p:nvPr/>
        </p:nvSpPr>
        <p:spPr bwMode="auto">
          <a:xfrm>
            <a:off x="5638800" y="1219200"/>
            <a:ext cx="609600" cy="609600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kumimoji="1" lang="en-US" altLang="en-US" sz="3200" b="1">
                <a:solidFill>
                  <a:srgbClr val="000099"/>
                </a:solidFill>
                <a:latin typeface="Times New Roman" pitchFamily="18" charset="0"/>
              </a:rPr>
              <a:t>g</a:t>
            </a:r>
            <a:r>
              <a:rPr kumimoji="1" lang="en-US" altLang="en-US" sz="3200" b="1" baseline="-25000">
                <a:solidFill>
                  <a:srgbClr val="000099"/>
                </a:solidFill>
                <a:latin typeface="Times New Roman" pitchFamily="18" charset="0"/>
              </a:rPr>
              <a:t>id</a:t>
            </a:r>
            <a:endParaRPr kumimoji="1" lang="en-US" altLang="zh-CN" sz="32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101" name="Oval 4"/>
          <p:cNvSpPr>
            <a:spLocks noChangeArrowheads="1"/>
          </p:cNvSpPr>
          <p:nvPr/>
        </p:nvSpPr>
        <p:spPr bwMode="auto">
          <a:xfrm>
            <a:off x="7315200" y="1219200"/>
            <a:ext cx="609600" cy="609600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kumimoji="1" lang="en-US" altLang="en-US" sz="3200" b="1">
                <a:solidFill>
                  <a:srgbClr val="000099"/>
                </a:solidFill>
                <a:latin typeface="Times New Roman" pitchFamily="18" charset="0"/>
              </a:rPr>
              <a:t>f</a:t>
            </a:r>
            <a:r>
              <a:rPr kumimoji="1" lang="en-US" altLang="en-US" sz="3200" b="1" baseline="-25000">
                <a:solidFill>
                  <a:srgbClr val="000099"/>
                </a:solidFill>
                <a:latin typeface="Times New Roman" pitchFamily="18" charset="0"/>
              </a:rPr>
              <a:t>id</a:t>
            </a:r>
            <a:endParaRPr kumimoji="1" lang="en-US" altLang="zh-CN" sz="32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102" name="Oval 5"/>
          <p:cNvSpPr>
            <a:spLocks noChangeArrowheads="1"/>
          </p:cNvSpPr>
          <p:nvPr/>
        </p:nvSpPr>
        <p:spPr bwMode="auto">
          <a:xfrm>
            <a:off x="5638800" y="2286000"/>
            <a:ext cx="609600" cy="609600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kumimoji="1" lang="en-US" altLang="en-US" sz="3200" b="1">
                <a:solidFill>
                  <a:srgbClr val="000099"/>
                </a:solidFill>
                <a:latin typeface="Times New Roman" pitchFamily="18" charset="0"/>
              </a:rPr>
              <a:t>f</a:t>
            </a:r>
            <a:r>
              <a:rPr kumimoji="1" lang="en-US" altLang="en-US" sz="3200" b="1" baseline="-25000">
                <a:solidFill>
                  <a:srgbClr val="000099"/>
                </a:solidFill>
                <a:latin typeface="Times New Roman" pitchFamily="18" charset="0"/>
              </a:rPr>
              <a:t>*</a:t>
            </a:r>
            <a:endParaRPr kumimoji="1" lang="en-US" altLang="zh-CN" sz="32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103" name="Oval 6"/>
          <p:cNvSpPr>
            <a:spLocks noChangeArrowheads="1"/>
          </p:cNvSpPr>
          <p:nvPr/>
        </p:nvSpPr>
        <p:spPr bwMode="auto">
          <a:xfrm>
            <a:off x="7391400" y="2286000"/>
            <a:ext cx="609600" cy="609600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kumimoji="1" lang="en-US" altLang="en-US" sz="3200" b="1">
                <a:solidFill>
                  <a:srgbClr val="000099"/>
                </a:solidFill>
                <a:latin typeface="Times New Roman" pitchFamily="18" charset="0"/>
              </a:rPr>
              <a:t>g</a:t>
            </a:r>
            <a:r>
              <a:rPr kumimoji="1" lang="en-US" altLang="en-US" sz="3200" b="1" baseline="-25000">
                <a:solidFill>
                  <a:srgbClr val="000099"/>
                </a:solidFill>
                <a:latin typeface="Times New Roman" pitchFamily="18" charset="0"/>
              </a:rPr>
              <a:t>*</a:t>
            </a:r>
            <a:endParaRPr kumimoji="1" lang="en-US" altLang="zh-CN" sz="32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104" name="Oval 7"/>
          <p:cNvSpPr>
            <a:spLocks noChangeArrowheads="1"/>
          </p:cNvSpPr>
          <p:nvPr/>
        </p:nvSpPr>
        <p:spPr bwMode="auto">
          <a:xfrm>
            <a:off x="5638800" y="3352800"/>
            <a:ext cx="609600" cy="609600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kumimoji="1" lang="en-US" altLang="en-US" sz="3200" b="1">
                <a:solidFill>
                  <a:srgbClr val="000099"/>
                </a:solidFill>
                <a:latin typeface="Times New Roman" pitchFamily="18" charset="0"/>
              </a:rPr>
              <a:t>g</a:t>
            </a:r>
            <a:r>
              <a:rPr kumimoji="1" lang="en-US" altLang="en-US" sz="3200" b="1" baseline="-25000">
                <a:solidFill>
                  <a:srgbClr val="000099"/>
                </a:solidFill>
                <a:latin typeface="Times New Roman" pitchFamily="18" charset="0"/>
              </a:rPr>
              <a:t>+</a:t>
            </a:r>
            <a:endParaRPr kumimoji="1" lang="en-US" altLang="zh-CN" sz="32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105" name="Oval 8"/>
          <p:cNvSpPr>
            <a:spLocks noChangeArrowheads="1"/>
          </p:cNvSpPr>
          <p:nvPr/>
        </p:nvSpPr>
        <p:spPr bwMode="auto">
          <a:xfrm>
            <a:off x="7315200" y="3352800"/>
            <a:ext cx="609600" cy="609600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kumimoji="1" lang="en-US" altLang="en-US" sz="3200" b="1">
                <a:solidFill>
                  <a:srgbClr val="000099"/>
                </a:solidFill>
                <a:latin typeface="Times New Roman" pitchFamily="18" charset="0"/>
              </a:rPr>
              <a:t>f</a:t>
            </a:r>
            <a:r>
              <a:rPr kumimoji="1" lang="en-US" altLang="en-US" sz="3200" b="1" baseline="-25000">
                <a:solidFill>
                  <a:srgbClr val="000099"/>
                </a:solidFill>
                <a:latin typeface="Times New Roman" pitchFamily="18" charset="0"/>
              </a:rPr>
              <a:t>+</a:t>
            </a:r>
            <a:endParaRPr kumimoji="1" lang="en-US" altLang="zh-CN" sz="32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106" name="Oval 9"/>
          <p:cNvSpPr>
            <a:spLocks noChangeArrowheads="1"/>
          </p:cNvSpPr>
          <p:nvPr/>
        </p:nvSpPr>
        <p:spPr bwMode="auto">
          <a:xfrm>
            <a:off x="5638800" y="4572000"/>
            <a:ext cx="609600" cy="609600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kumimoji="1" lang="en-US" altLang="en-US" sz="3200" b="1">
                <a:solidFill>
                  <a:srgbClr val="000099"/>
                </a:solidFill>
                <a:latin typeface="Times New Roman" pitchFamily="18" charset="0"/>
              </a:rPr>
              <a:t>f</a:t>
            </a:r>
            <a:r>
              <a:rPr kumimoji="1" lang="en-US" altLang="en-US" sz="3200" b="1" baseline="-25000">
                <a:solidFill>
                  <a:srgbClr val="000099"/>
                </a:solidFill>
                <a:latin typeface="Times New Roman" pitchFamily="18" charset="0"/>
              </a:rPr>
              <a:t>#</a:t>
            </a:r>
            <a:endParaRPr kumimoji="1" lang="en-US" altLang="zh-CN" sz="32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4107" name="Oval 10"/>
          <p:cNvSpPr>
            <a:spLocks noChangeArrowheads="1"/>
          </p:cNvSpPr>
          <p:nvPr/>
        </p:nvSpPr>
        <p:spPr bwMode="auto">
          <a:xfrm>
            <a:off x="7315200" y="4572000"/>
            <a:ext cx="609600" cy="609600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r>
              <a:rPr kumimoji="1" lang="en-US" altLang="en-US" sz="3200" b="1">
                <a:solidFill>
                  <a:srgbClr val="000099"/>
                </a:solidFill>
                <a:latin typeface="Times New Roman" pitchFamily="18" charset="0"/>
              </a:rPr>
              <a:t>g</a:t>
            </a:r>
            <a:r>
              <a:rPr kumimoji="1" lang="en-US" altLang="en-US" sz="3200" b="1" baseline="-25000">
                <a:solidFill>
                  <a:srgbClr val="000099"/>
                </a:solidFill>
                <a:latin typeface="Times New Roman" pitchFamily="18" charset="0"/>
              </a:rPr>
              <a:t>#</a:t>
            </a:r>
            <a:endParaRPr kumimoji="1" lang="en-US" altLang="zh-CN" sz="3200" b="1">
              <a:solidFill>
                <a:srgbClr val="000099"/>
              </a:solidFill>
              <a:latin typeface="Times New Roman" pitchFamily="18" charset="0"/>
            </a:endParaRPr>
          </a:p>
        </p:txBody>
      </p: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2133600" y="1628775"/>
            <a:ext cx="457200" cy="425450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zh-CN" sz="2000">
              <a:latin typeface="Times New Roman" pitchFamily="18" charset="0"/>
            </a:endParaRPr>
          </a:p>
        </p:txBody>
      </p:sp>
      <p:sp>
        <p:nvSpPr>
          <p:cNvPr id="56332" name="Line 12"/>
          <p:cNvSpPr>
            <a:spLocks noChangeShapeType="1"/>
          </p:cNvSpPr>
          <p:nvPr/>
        </p:nvSpPr>
        <p:spPr bwMode="auto">
          <a:xfrm flipH="1">
            <a:off x="5943600" y="1828800"/>
            <a:ext cx="1524000" cy="15240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2971800" y="1628775"/>
            <a:ext cx="457200" cy="425450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zh-CN" sz="2000">
              <a:latin typeface="Times New Roman" pitchFamily="18" charset="0"/>
            </a:endParaRPr>
          </a:p>
        </p:txBody>
      </p:sp>
      <p:sp>
        <p:nvSpPr>
          <p:cNvPr id="56334" name="Line 14"/>
          <p:cNvSpPr>
            <a:spLocks noChangeShapeType="1"/>
          </p:cNvSpPr>
          <p:nvPr/>
        </p:nvSpPr>
        <p:spPr bwMode="auto">
          <a:xfrm>
            <a:off x="7620000" y="1828800"/>
            <a:ext cx="0" cy="4572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5" name="Text Box 15"/>
          <p:cNvSpPr txBox="1">
            <a:spLocks noChangeArrowheads="1"/>
          </p:cNvSpPr>
          <p:nvPr/>
        </p:nvSpPr>
        <p:spPr bwMode="auto">
          <a:xfrm>
            <a:off x="3886200" y="1628775"/>
            <a:ext cx="457200" cy="425450"/>
          </a:xfrm>
          <a:prstGeom prst="rect">
            <a:avLst/>
          </a:prstGeom>
          <a:noFill/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zh-CN" sz="2000">
              <a:latin typeface="Times New Roman" pitchFamily="18" charset="0"/>
            </a:endParaRPr>
          </a:p>
        </p:txBody>
      </p:sp>
      <p:cxnSp>
        <p:nvCxnSpPr>
          <p:cNvPr id="56336" name="AutoShape 16"/>
          <p:cNvCxnSpPr>
            <a:cxnSpLocks noChangeShapeType="1"/>
            <a:stCxn id="4101" idx="6"/>
            <a:endCxn id="4107" idx="6"/>
          </p:cNvCxnSpPr>
          <p:nvPr/>
        </p:nvCxnSpPr>
        <p:spPr bwMode="auto">
          <a:xfrm>
            <a:off x="7943850" y="1524000"/>
            <a:ext cx="1588" cy="3352800"/>
          </a:xfrm>
          <a:prstGeom prst="curvedConnector3">
            <a:avLst>
              <a:gd name="adj1" fmla="val 13200005"/>
            </a:avLst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37" name="Text Box 17"/>
          <p:cNvSpPr txBox="1">
            <a:spLocks noChangeArrowheads="1"/>
          </p:cNvSpPr>
          <p:nvPr/>
        </p:nvSpPr>
        <p:spPr bwMode="auto">
          <a:xfrm>
            <a:off x="1219200" y="2133600"/>
            <a:ext cx="457200" cy="425450"/>
          </a:xfrm>
          <a:prstGeom prst="rect">
            <a:avLst/>
          </a:prstGeom>
          <a:noFill/>
          <a:ln w="28575" cap="sq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zh-CN" sz="2000">
              <a:latin typeface="Times New Roman" pitchFamily="18" charset="0"/>
            </a:endParaRPr>
          </a:p>
        </p:txBody>
      </p:sp>
      <p:sp>
        <p:nvSpPr>
          <p:cNvPr id="56338" name="Line 18"/>
          <p:cNvSpPr>
            <a:spLocks noChangeShapeType="1"/>
          </p:cNvSpPr>
          <p:nvPr/>
        </p:nvSpPr>
        <p:spPr bwMode="auto">
          <a:xfrm>
            <a:off x="6172200" y="1676400"/>
            <a:ext cx="1144588" cy="19812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9" name="Text Box 19"/>
          <p:cNvSpPr txBox="1">
            <a:spLocks noChangeArrowheads="1"/>
          </p:cNvSpPr>
          <p:nvPr/>
        </p:nvSpPr>
        <p:spPr bwMode="auto">
          <a:xfrm>
            <a:off x="2133600" y="2133600"/>
            <a:ext cx="457200" cy="425450"/>
          </a:xfrm>
          <a:prstGeom prst="rect">
            <a:avLst/>
          </a:prstGeom>
          <a:noFill/>
          <a:ln w="28575" cap="sq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zh-CN" sz="2000">
              <a:latin typeface="Times New Roman" pitchFamily="18" charset="0"/>
            </a:endParaRPr>
          </a:p>
        </p:txBody>
      </p:sp>
      <p:sp>
        <p:nvSpPr>
          <p:cNvPr id="56340" name="Text Box 20"/>
          <p:cNvSpPr txBox="1">
            <a:spLocks noChangeArrowheads="1"/>
          </p:cNvSpPr>
          <p:nvPr/>
        </p:nvSpPr>
        <p:spPr bwMode="auto">
          <a:xfrm>
            <a:off x="2971800" y="2133600"/>
            <a:ext cx="457200" cy="425450"/>
          </a:xfrm>
          <a:prstGeom prst="rect">
            <a:avLst/>
          </a:prstGeom>
          <a:noFill/>
          <a:ln w="28575" cap="sq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zh-CN" sz="2000">
              <a:latin typeface="Times New Roman" pitchFamily="18" charset="0"/>
            </a:endParaRPr>
          </a:p>
        </p:txBody>
      </p:sp>
      <p:sp>
        <p:nvSpPr>
          <p:cNvPr id="56341" name="Line 21"/>
          <p:cNvSpPr>
            <a:spLocks noChangeShapeType="1"/>
          </p:cNvSpPr>
          <p:nvPr/>
        </p:nvSpPr>
        <p:spPr bwMode="auto">
          <a:xfrm>
            <a:off x="7620000" y="2819400"/>
            <a:ext cx="0" cy="5334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42" name="Text Box 22"/>
          <p:cNvSpPr txBox="1">
            <a:spLocks noChangeArrowheads="1"/>
          </p:cNvSpPr>
          <p:nvPr/>
        </p:nvSpPr>
        <p:spPr bwMode="auto">
          <a:xfrm>
            <a:off x="3886200" y="2133600"/>
            <a:ext cx="457200" cy="425450"/>
          </a:xfrm>
          <a:prstGeom prst="rect">
            <a:avLst/>
          </a:prstGeom>
          <a:noFill/>
          <a:ln w="28575" cap="sq">
            <a:solidFill>
              <a:srgbClr val="0000FF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zh-CN" sz="2000">
              <a:latin typeface="Times New Roman" pitchFamily="18" charset="0"/>
            </a:endParaRPr>
          </a:p>
        </p:txBody>
      </p:sp>
      <p:sp>
        <p:nvSpPr>
          <p:cNvPr id="56343" name="Line 23"/>
          <p:cNvSpPr>
            <a:spLocks noChangeShapeType="1"/>
          </p:cNvSpPr>
          <p:nvPr/>
        </p:nvSpPr>
        <p:spPr bwMode="auto">
          <a:xfrm>
            <a:off x="7596188" y="3962400"/>
            <a:ext cx="0" cy="60960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44" name="Text Box 24"/>
          <p:cNvSpPr txBox="1">
            <a:spLocks noChangeArrowheads="1"/>
          </p:cNvSpPr>
          <p:nvPr/>
        </p:nvSpPr>
        <p:spPr bwMode="auto">
          <a:xfrm>
            <a:off x="1219200" y="2636838"/>
            <a:ext cx="457200" cy="425450"/>
          </a:xfrm>
          <a:prstGeom prst="rect">
            <a:avLst/>
          </a:prstGeom>
          <a:noFill/>
          <a:ln w="28575" cap="sq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zh-CN" sz="2000">
              <a:latin typeface="Times New Roman" pitchFamily="18" charset="0"/>
            </a:endParaRPr>
          </a:p>
        </p:txBody>
      </p:sp>
      <p:sp>
        <p:nvSpPr>
          <p:cNvPr id="56345" name="Line 25"/>
          <p:cNvSpPr>
            <a:spLocks noChangeShapeType="1"/>
          </p:cNvSpPr>
          <p:nvPr/>
        </p:nvSpPr>
        <p:spPr bwMode="auto">
          <a:xfrm>
            <a:off x="5943600" y="1828800"/>
            <a:ext cx="0" cy="4572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46" name="Text Box 26"/>
          <p:cNvSpPr txBox="1">
            <a:spLocks noChangeArrowheads="1"/>
          </p:cNvSpPr>
          <p:nvPr/>
        </p:nvSpPr>
        <p:spPr bwMode="auto">
          <a:xfrm>
            <a:off x="2133600" y="2665413"/>
            <a:ext cx="457200" cy="425450"/>
          </a:xfrm>
          <a:prstGeom prst="rect">
            <a:avLst/>
          </a:prstGeom>
          <a:noFill/>
          <a:ln w="28575" cap="sq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zh-CN" sz="2000">
              <a:latin typeface="Times New Roman" pitchFamily="18" charset="0"/>
            </a:endParaRPr>
          </a:p>
        </p:txBody>
      </p:sp>
      <p:sp>
        <p:nvSpPr>
          <p:cNvPr id="56347" name="Line 27"/>
          <p:cNvSpPr>
            <a:spLocks noChangeShapeType="1"/>
          </p:cNvSpPr>
          <p:nvPr/>
        </p:nvSpPr>
        <p:spPr bwMode="auto">
          <a:xfrm>
            <a:off x="5867400" y="2895600"/>
            <a:ext cx="0" cy="4572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48" name="Text Box 28"/>
          <p:cNvSpPr txBox="1">
            <a:spLocks noChangeArrowheads="1"/>
          </p:cNvSpPr>
          <p:nvPr/>
        </p:nvSpPr>
        <p:spPr bwMode="auto">
          <a:xfrm>
            <a:off x="2971800" y="2713038"/>
            <a:ext cx="457200" cy="425450"/>
          </a:xfrm>
          <a:prstGeom prst="rect">
            <a:avLst/>
          </a:prstGeom>
          <a:noFill/>
          <a:ln w="28575" cap="sq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zh-CN" sz="2000">
              <a:latin typeface="Times New Roman" pitchFamily="18" charset="0"/>
            </a:endParaRPr>
          </a:p>
        </p:txBody>
      </p:sp>
      <p:sp>
        <p:nvSpPr>
          <p:cNvPr id="56349" name="Line 29"/>
          <p:cNvSpPr>
            <a:spLocks noChangeShapeType="1"/>
          </p:cNvSpPr>
          <p:nvPr/>
        </p:nvSpPr>
        <p:spPr bwMode="auto">
          <a:xfrm>
            <a:off x="6248400" y="2590800"/>
            <a:ext cx="1143000" cy="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0" name="Text Box 30"/>
          <p:cNvSpPr txBox="1">
            <a:spLocks noChangeArrowheads="1"/>
          </p:cNvSpPr>
          <p:nvPr/>
        </p:nvSpPr>
        <p:spPr bwMode="auto">
          <a:xfrm>
            <a:off x="3886200" y="2713038"/>
            <a:ext cx="457200" cy="425450"/>
          </a:xfrm>
          <a:prstGeom prst="rect">
            <a:avLst/>
          </a:prstGeom>
          <a:noFill/>
          <a:ln w="28575" cap="sq">
            <a:solidFill>
              <a:schemeClr val="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zh-CN" sz="2000">
              <a:latin typeface="Times New Roman" pitchFamily="18" charset="0"/>
            </a:endParaRPr>
          </a:p>
        </p:txBody>
      </p:sp>
      <p:sp>
        <p:nvSpPr>
          <p:cNvPr id="56351" name="Line 31"/>
          <p:cNvSpPr>
            <a:spLocks noChangeShapeType="1"/>
          </p:cNvSpPr>
          <p:nvPr/>
        </p:nvSpPr>
        <p:spPr bwMode="auto">
          <a:xfrm>
            <a:off x="6172200" y="2819400"/>
            <a:ext cx="1144588" cy="19812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2" name="Text Box 32"/>
          <p:cNvSpPr txBox="1">
            <a:spLocks noChangeArrowheads="1"/>
          </p:cNvSpPr>
          <p:nvPr/>
        </p:nvSpPr>
        <p:spPr bwMode="auto">
          <a:xfrm>
            <a:off x="1219200" y="3248025"/>
            <a:ext cx="457200" cy="425450"/>
          </a:xfrm>
          <a:prstGeom prst="rect">
            <a:avLst/>
          </a:prstGeom>
          <a:noFill/>
          <a:ln w="28575" cap="sq">
            <a:solidFill>
              <a:srgbClr val="9900CC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zh-CN" sz="2000">
              <a:solidFill>
                <a:srgbClr val="CC00CC"/>
              </a:solidFill>
              <a:latin typeface="Times New Roman" pitchFamily="18" charset="0"/>
            </a:endParaRPr>
          </a:p>
        </p:txBody>
      </p:sp>
      <p:cxnSp>
        <p:nvCxnSpPr>
          <p:cNvPr id="56353" name="AutoShape 33"/>
          <p:cNvCxnSpPr>
            <a:cxnSpLocks noChangeShapeType="1"/>
            <a:stCxn id="4100" idx="2"/>
            <a:endCxn id="4106" idx="2"/>
          </p:cNvCxnSpPr>
          <p:nvPr/>
        </p:nvCxnSpPr>
        <p:spPr bwMode="auto">
          <a:xfrm rot="10800000" flipH="1" flipV="1">
            <a:off x="5619750" y="1524000"/>
            <a:ext cx="1588" cy="3352800"/>
          </a:xfrm>
          <a:prstGeom prst="curvedConnector3">
            <a:avLst>
              <a:gd name="adj1" fmla="val -13200005"/>
            </a:avLst>
          </a:prstGeom>
          <a:noFill/>
          <a:ln w="38100" cap="sq">
            <a:solidFill>
              <a:srgbClr val="9900CC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354" name="Text Box 34"/>
          <p:cNvSpPr txBox="1">
            <a:spLocks noChangeArrowheads="1"/>
          </p:cNvSpPr>
          <p:nvPr/>
        </p:nvSpPr>
        <p:spPr bwMode="auto">
          <a:xfrm>
            <a:off x="2133600" y="3248025"/>
            <a:ext cx="457200" cy="425450"/>
          </a:xfrm>
          <a:prstGeom prst="rect">
            <a:avLst/>
          </a:prstGeom>
          <a:noFill/>
          <a:ln w="28575" cap="sq">
            <a:solidFill>
              <a:srgbClr val="9900CC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zh-CN" sz="2000">
              <a:solidFill>
                <a:srgbClr val="CC00CC"/>
              </a:solidFill>
              <a:latin typeface="Times New Roman" pitchFamily="18" charset="0"/>
            </a:endParaRPr>
          </a:p>
        </p:txBody>
      </p:sp>
      <p:sp>
        <p:nvSpPr>
          <p:cNvPr id="56355" name="Line 35"/>
          <p:cNvSpPr>
            <a:spLocks noChangeShapeType="1"/>
          </p:cNvSpPr>
          <p:nvPr/>
        </p:nvSpPr>
        <p:spPr bwMode="auto">
          <a:xfrm>
            <a:off x="5867400" y="3962400"/>
            <a:ext cx="0" cy="609600"/>
          </a:xfrm>
          <a:prstGeom prst="line">
            <a:avLst/>
          </a:prstGeom>
          <a:noFill/>
          <a:ln w="38100" cap="sq">
            <a:solidFill>
              <a:srgbClr val="9900CC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6" name="Text Box 36"/>
          <p:cNvSpPr txBox="1">
            <a:spLocks noChangeArrowheads="1"/>
          </p:cNvSpPr>
          <p:nvPr/>
        </p:nvSpPr>
        <p:spPr bwMode="auto">
          <a:xfrm>
            <a:off x="2971800" y="3248025"/>
            <a:ext cx="457200" cy="425450"/>
          </a:xfrm>
          <a:prstGeom prst="rect">
            <a:avLst/>
          </a:prstGeom>
          <a:noFill/>
          <a:ln w="28575" cap="sq">
            <a:solidFill>
              <a:srgbClr val="9900CC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kumimoji="1" lang="zh-CN" altLang="zh-CN" sz="2000">
              <a:solidFill>
                <a:srgbClr val="CC00CC"/>
              </a:solidFill>
              <a:latin typeface="Times New Roman" pitchFamily="18" charset="0"/>
            </a:endParaRPr>
          </a:p>
        </p:txBody>
      </p:sp>
      <p:sp>
        <p:nvSpPr>
          <p:cNvPr id="56357" name="Line 37"/>
          <p:cNvSpPr>
            <a:spLocks noChangeShapeType="1"/>
          </p:cNvSpPr>
          <p:nvPr/>
        </p:nvSpPr>
        <p:spPr bwMode="auto">
          <a:xfrm flipH="1">
            <a:off x="6227763" y="2819400"/>
            <a:ext cx="1239837" cy="1905000"/>
          </a:xfrm>
          <a:prstGeom prst="line">
            <a:avLst/>
          </a:prstGeom>
          <a:noFill/>
          <a:ln w="38100" cap="sq">
            <a:solidFill>
              <a:srgbClr val="9900CC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8" name="Line 38"/>
          <p:cNvSpPr>
            <a:spLocks noChangeShapeType="1"/>
          </p:cNvSpPr>
          <p:nvPr/>
        </p:nvSpPr>
        <p:spPr bwMode="auto">
          <a:xfrm flipH="1" flipV="1">
            <a:off x="6300788" y="3716338"/>
            <a:ext cx="1008062" cy="0"/>
          </a:xfrm>
          <a:prstGeom prst="line">
            <a:avLst/>
          </a:prstGeom>
          <a:noFill/>
          <a:ln w="38100" cap="sq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6359" name="Object 39"/>
          <p:cNvGraphicFramePr>
            <a:graphicFrameLocks noChangeAspect="1"/>
          </p:cNvGraphicFramePr>
          <p:nvPr/>
        </p:nvGraphicFramePr>
        <p:xfrm>
          <a:off x="250825" y="4149725"/>
          <a:ext cx="4706938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13" name="Document" r:id="rId5" imgW="4706640" imgH="2225520" progId="Word.Document.8">
                  <p:embed/>
                </p:oleObj>
              </mc:Choice>
              <mc:Fallback>
                <p:oleObj name="Document" r:id="rId5" imgW="4706640" imgH="2225520" progId="Word.Document.8">
                  <p:embed/>
                  <p:pic>
                    <p:nvPicPr>
                      <p:cNvPr id="56359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149725"/>
                        <a:ext cx="4706938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A475EFE-C803-4BA4-B882-A6E15F91BBA8}" type="slidenum">
              <a:rPr lang="en-US" altLang="zh-CN" smtClean="0"/>
              <a:pPr eaLnBrk="1" hangingPunct="1"/>
              <a:t>46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7793037" cy="1119188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算符优先分析法优缺点</a:t>
            </a:r>
            <a:endParaRPr lang="zh-CN" altLang="en-US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700213"/>
            <a:ext cx="7848600" cy="4340225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优点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简单、比较效率高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能够处理部分二义性文法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缺点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lvl="1" eaLnBrk="1" hangingPunct="1"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对文法的限制较多，导致适应范围小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lvl="2" eaLnBrk="1" hangingPunct="1"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OG</a:t>
            </a:r>
          </a:p>
          <a:p>
            <a:pPr lvl="2" eaLnBrk="1" hangingPunct="1"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OPG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寻找“素短语”需要回头找短语的头</a:t>
            </a:r>
          </a:p>
        </p:txBody>
      </p:sp>
      <p:sp>
        <p:nvSpPr>
          <p:cNvPr id="665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4D179ED-271F-4B18-88BD-DA8C44E4640A}" type="slidenum">
              <a:rPr lang="en-US" altLang="zh-CN" smtClean="0"/>
              <a:pPr eaLnBrk="1" hangingPunct="1"/>
              <a:t>47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算符优先分析法的改进需求</a:t>
            </a:r>
            <a:endParaRPr lang="zh-CN" altLang="en-US" smtClean="0">
              <a:latin typeface="Times New Roman" pitchFamily="18" charset="0"/>
            </a:endParaRPr>
          </a:p>
        </p:txBody>
      </p:sp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2017713"/>
            <a:ext cx="8415338" cy="4435475"/>
          </a:xfrm>
        </p:spPr>
        <p:txBody>
          <a:bodyPr/>
          <a:lstStyle/>
          <a:p>
            <a:pPr marL="363538" indent="-363538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必须是算符优先文法：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文法书写限制大</a:t>
            </a:r>
            <a:endParaRPr lang="zh-CN" altLang="en-US" sz="3000" b="1" smtClean="0">
              <a:latin typeface="Times New Roman" pitchFamily="18" charset="0"/>
              <a:ea typeface="华文新魏" pitchFamily="2" charset="-122"/>
            </a:endParaRPr>
          </a:p>
          <a:p>
            <a:pPr marL="363538" indent="-363538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效率低：分析器需先找到归约对象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30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素短语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的尾，然后回过头寻找素短语的头</a:t>
            </a:r>
          </a:p>
          <a:p>
            <a:pPr marL="363538" indent="-363538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存在查不到的语法错误</a:t>
            </a:r>
            <a:endParaRPr lang="zh-CN" altLang="en-US" b="1" smtClean="0">
              <a:latin typeface="Times New Roman" pitchFamily="18" charset="0"/>
              <a:ea typeface="楷体_GB2312" pitchFamily="49" charset="-122"/>
            </a:endParaRPr>
          </a:p>
          <a:p>
            <a:pPr marL="363538" indent="-363538"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AutoNum type="arabicPeriod"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能否修改算符优先分析算法，不用通过回头扫描就可以找到对应的归约对象的头</a:t>
            </a:r>
          </a:p>
          <a:p>
            <a:pPr marL="363538" indent="-363538" eaLnBrk="1" hangingPunct="1">
              <a:lnSpc>
                <a:spcPct val="90000"/>
              </a:lnSpc>
              <a:spcBef>
                <a:spcPct val="60000"/>
              </a:spcBef>
              <a:buFont typeface="Wingdings" pitchFamily="2" charset="2"/>
              <a:buAutoNum type="arabicPeriod"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分析：找到归约对象时，分析器达到了处理的某个时刻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状态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zh-CN" altLang="en-US" sz="2800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应该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知道自己是否</a:t>
            </a:r>
            <a:r>
              <a:rPr lang="zh-CN" altLang="en-US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找到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了</a:t>
            </a:r>
            <a:r>
              <a:rPr lang="zh-CN" altLang="en-US" sz="2800" b="1" smtClean="0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什么样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的“句柄”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系统是否能够有效地记住分析的“过程”</a:t>
            </a:r>
          </a:p>
        </p:txBody>
      </p:sp>
      <p:sp>
        <p:nvSpPr>
          <p:cNvPr id="6861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8EF140E-C707-4F43-8FF2-E4102BC077B3}" type="slidenum">
              <a:rPr lang="en-US" altLang="zh-CN" smtClean="0"/>
              <a:pPr eaLnBrk="1" hangingPunct="1"/>
              <a:t>48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4"/>
          <p:cNvSpPr>
            <a:spLocks noGrp="1" noChangeArrowheads="1"/>
          </p:cNvSpPr>
          <p:nvPr>
            <p:ph type="title"/>
          </p:nvPr>
        </p:nvSpPr>
        <p:spPr>
          <a:xfrm>
            <a:off x="900113" y="214313"/>
            <a:ext cx="7993062" cy="1462087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如何根据希望设计分析器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628775"/>
            <a:ext cx="8569325" cy="4256088"/>
          </a:xfrm>
        </p:spPr>
        <p:txBody>
          <a:bodyPr/>
          <a:lstStyle/>
          <a:p>
            <a:pPr marL="263525" indent="-263525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文法</a:t>
            </a:r>
          </a:p>
          <a:p>
            <a:pPr marL="606425" lvl="1" indent="-163513" eaLnBrk="1" hangingPunct="1"/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每一步</a:t>
            </a:r>
            <a:r>
              <a:rPr lang="zh-CN" altLang="en-US" sz="3000" smtClean="0">
                <a:latin typeface="Times New Roman" pitchFamily="18" charset="0"/>
                <a:ea typeface="华文新魏" pitchFamily="2" charset="-122"/>
              </a:rPr>
              <a:t>是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依据文法的</a:t>
            </a:r>
            <a:r>
              <a:rPr lang="zh-CN" altLang="en-US" sz="30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产生式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进行派生或者归约的</a:t>
            </a:r>
          </a:p>
          <a:p>
            <a:pPr marL="606425" lvl="1" indent="-163513" eaLnBrk="1" hangingPunct="1"/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能否利用产生式去记忆分析的“进程”</a:t>
            </a:r>
            <a:r>
              <a:rPr lang="en-US" altLang="zh-CN" sz="30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3000" b="1" smtClean="0">
                <a:latin typeface="Times New Roman" pitchFamily="18" charset="0"/>
                <a:ea typeface="华文新魏" pitchFamily="2" charset="-122"/>
              </a:rPr>
              <a:t>达到了什么状态？是否形成了句柄？如果形成了，这个句柄是什么样的？</a:t>
            </a:r>
          </a:p>
          <a:p>
            <a:pPr lvl="2" eaLnBrk="1" hangingPunct="1"/>
            <a:r>
              <a:rPr lang="en-US" altLang="zh-CN" sz="2800" b="1" smtClean="0">
                <a:latin typeface="Times New Roman" pitchFamily="18" charset="0"/>
              </a:rPr>
              <a:t>A→</a:t>
            </a:r>
            <a:r>
              <a:rPr lang="el-GR" altLang="zh-CN" sz="2800" b="1" smtClean="0">
                <a:latin typeface="楷体_GB2312" pitchFamily="49" charset="-122"/>
                <a:ea typeface="楷体_GB2312" pitchFamily="49" charset="-122"/>
              </a:rPr>
              <a:t>α</a:t>
            </a: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.Xβ</a:t>
            </a:r>
          </a:p>
          <a:p>
            <a:pPr lvl="2" eaLnBrk="1" hangingPunct="1"/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移进、待约、归约</a:t>
            </a:r>
          </a:p>
        </p:txBody>
      </p:sp>
      <p:sp>
        <p:nvSpPr>
          <p:cNvPr id="696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51F756A-F8CD-4227-8DC9-5FFA70993D11}" type="slidenum">
              <a:rPr lang="en-US" altLang="zh-CN" smtClean="0"/>
              <a:pPr eaLnBrk="1" hangingPunct="1"/>
              <a:t>49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549275"/>
            <a:ext cx="7716838" cy="11715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5.3 LR(Left-Right)</a:t>
            </a: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分析法</a:t>
            </a:r>
            <a:b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                            </a:t>
            </a:r>
            <a:r>
              <a:rPr lang="en-US" altLang="zh-CN" sz="2800" b="1" dirty="0">
                <a:latin typeface="Times New Roman" pitchFamily="18" charset="0"/>
                <a:ea typeface="华文新魏" pitchFamily="2" charset="-122"/>
              </a:rPr>
              <a:t>——LR</a:t>
            </a: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分析法基本思想分析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4579938"/>
            <a:ext cx="8208962" cy="1873250"/>
          </a:xfrm>
        </p:spPr>
        <p:txBody>
          <a:bodyPr/>
          <a:lstStyle/>
          <a:p>
            <a:pPr marL="0" indent="265113" eaLnBrk="1" hangingPunct="1">
              <a:lnSpc>
                <a:spcPct val="9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文法是语言的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形式化描述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，为实现分析的自动化提供了很好的基础，基于此描述，实现对分析进程的刻画，解决句柄识别问题</a:t>
            </a:r>
          </a:p>
          <a:p>
            <a:pPr marL="0" indent="265113" eaLnBrk="1" hangingPunct="1">
              <a:lnSpc>
                <a:spcPct val="90000"/>
              </a:lnSpc>
            </a:pPr>
            <a:r>
              <a:rPr lang="zh-CN" altLang="en-US" sz="2800" b="1" smtClean="0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添加</a:t>
            </a:r>
            <a:r>
              <a:rPr lang="en-US" altLang="zh-CN" sz="2800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S'→S</a:t>
            </a: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en-US" altLang="zh-CN" sz="2800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S'→.S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分析开始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 </a:t>
            </a:r>
            <a:r>
              <a:rPr lang="en-US" altLang="zh-CN" sz="2800" b="1" smtClean="0">
                <a:solidFill>
                  <a:schemeClr val="folHlink"/>
                </a:solidFill>
                <a:latin typeface="Times New Roman" pitchFamily="18" charset="0"/>
                <a:ea typeface="楷体_GB2312" pitchFamily="49" charset="-122"/>
              </a:rPr>
              <a:t>S'→S.</a:t>
            </a: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分析成功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706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7D51C6E-FE32-44D7-81FD-7FC0E6E22B8E}" type="slidenum">
              <a:rPr lang="en-US" altLang="zh-CN" smtClean="0"/>
              <a:pPr eaLnBrk="1" hangingPunct="1"/>
              <a:t>50</a:t>
            </a:fld>
            <a:endParaRPr lang="en-US" altLang="zh-CN" smtClean="0"/>
          </a:p>
        </p:txBody>
      </p:sp>
      <p:sp>
        <p:nvSpPr>
          <p:cNvPr id="70661" name="Rectangle 4"/>
          <p:cNvSpPr>
            <a:spLocks noChangeArrowheads="1"/>
          </p:cNvSpPr>
          <p:nvPr/>
        </p:nvSpPr>
        <p:spPr bwMode="auto">
          <a:xfrm>
            <a:off x="971550" y="1555750"/>
            <a:ext cx="20891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latin typeface="Times New Roman" pitchFamily="18" charset="0"/>
                <a:ea typeface="华文新魏" pitchFamily="2" charset="-122"/>
              </a:rPr>
              <a:t>例</a:t>
            </a:r>
          </a:p>
          <a:p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(1)   S→BB</a:t>
            </a:r>
          </a:p>
          <a:p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(2)   B→aB</a:t>
            </a:r>
          </a:p>
          <a:p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(3)   B→b</a:t>
            </a:r>
          </a:p>
        </p:txBody>
      </p:sp>
      <p:sp>
        <p:nvSpPr>
          <p:cNvPr id="356357" name="Rectangle 5"/>
          <p:cNvSpPr>
            <a:spLocks noChangeArrowheads="1"/>
          </p:cNvSpPr>
          <p:nvPr/>
        </p:nvSpPr>
        <p:spPr bwMode="auto">
          <a:xfrm>
            <a:off x="3419475" y="2060575"/>
            <a:ext cx="1300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S→.BB</a:t>
            </a:r>
          </a:p>
        </p:txBody>
      </p:sp>
      <p:sp>
        <p:nvSpPr>
          <p:cNvPr id="356358" name="Rectangle 6"/>
          <p:cNvSpPr>
            <a:spLocks noChangeArrowheads="1"/>
          </p:cNvSpPr>
          <p:nvPr/>
        </p:nvSpPr>
        <p:spPr bwMode="auto">
          <a:xfrm>
            <a:off x="5292725" y="2060575"/>
            <a:ext cx="1389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S→ B.B</a:t>
            </a:r>
          </a:p>
        </p:txBody>
      </p:sp>
      <p:sp>
        <p:nvSpPr>
          <p:cNvPr id="356359" name="Rectangle 7"/>
          <p:cNvSpPr>
            <a:spLocks noChangeArrowheads="1"/>
          </p:cNvSpPr>
          <p:nvPr/>
        </p:nvSpPr>
        <p:spPr bwMode="auto">
          <a:xfrm>
            <a:off x="7308850" y="2044700"/>
            <a:ext cx="1389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S→BB. </a:t>
            </a:r>
          </a:p>
        </p:txBody>
      </p:sp>
      <p:sp>
        <p:nvSpPr>
          <p:cNvPr id="356360" name="Freeform 8"/>
          <p:cNvSpPr>
            <a:spLocks/>
          </p:cNvSpPr>
          <p:nvPr/>
        </p:nvSpPr>
        <p:spPr bwMode="auto">
          <a:xfrm>
            <a:off x="4140200" y="2443163"/>
            <a:ext cx="2160588" cy="336550"/>
          </a:xfrm>
          <a:custGeom>
            <a:avLst/>
            <a:gdLst>
              <a:gd name="T0" fmla="*/ 0 w 1361"/>
              <a:gd name="T1" fmla="*/ 0 h 212"/>
              <a:gd name="T2" fmla="*/ 572076388 w 1361"/>
              <a:gd name="T3" fmla="*/ 342741251 h 212"/>
              <a:gd name="T4" fmla="*/ 1713706826 w 1361"/>
              <a:gd name="T5" fmla="*/ 458668504 h 212"/>
              <a:gd name="T6" fmla="*/ 2147483647 w 1361"/>
              <a:gd name="T7" fmla="*/ 458668504 h 212"/>
              <a:gd name="T8" fmla="*/ 2147483647 w 1361"/>
              <a:gd name="T9" fmla="*/ 0 h 2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61"/>
              <a:gd name="T16" fmla="*/ 0 h 212"/>
              <a:gd name="T17" fmla="*/ 1361 w 1361"/>
              <a:gd name="T18" fmla="*/ 212 h 2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61" h="212">
                <a:moveTo>
                  <a:pt x="0" y="0"/>
                </a:moveTo>
                <a:cubicBezTo>
                  <a:pt x="57" y="53"/>
                  <a:pt x="114" y="106"/>
                  <a:pt x="227" y="136"/>
                </a:cubicBezTo>
                <a:cubicBezTo>
                  <a:pt x="340" y="166"/>
                  <a:pt x="537" y="174"/>
                  <a:pt x="680" y="182"/>
                </a:cubicBezTo>
                <a:cubicBezTo>
                  <a:pt x="823" y="190"/>
                  <a:pt x="975" y="212"/>
                  <a:pt x="1088" y="182"/>
                </a:cubicBezTo>
                <a:cubicBezTo>
                  <a:pt x="1201" y="152"/>
                  <a:pt x="1281" y="76"/>
                  <a:pt x="1361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6361" name="Freeform 9"/>
          <p:cNvSpPr>
            <a:spLocks/>
          </p:cNvSpPr>
          <p:nvPr/>
        </p:nvSpPr>
        <p:spPr bwMode="auto">
          <a:xfrm>
            <a:off x="6372225" y="2443163"/>
            <a:ext cx="2087563" cy="409575"/>
          </a:xfrm>
          <a:custGeom>
            <a:avLst/>
            <a:gdLst>
              <a:gd name="T0" fmla="*/ 0 w 1361"/>
              <a:gd name="T1" fmla="*/ 0 h 212"/>
              <a:gd name="T2" fmla="*/ 534058742 w 1361"/>
              <a:gd name="T3" fmla="*/ 507614213 h 212"/>
              <a:gd name="T4" fmla="*/ 1599823118 w 1361"/>
              <a:gd name="T5" fmla="*/ 679307231 h 212"/>
              <a:gd name="T6" fmla="*/ 2147483647 w 1361"/>
              <a:gd name="T7" fmla="*/ 679307231 h 212"/>
              <a:gd name="T8" fmla="*/ 2147483647 w 1361"/>
              <a:gd name="T9" fmla="*/ 0 h 2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61"/>
              <a:gd name="T16" fmla="*/ 0 h 212"/>
              <a:gd name="T17" fmla="*/ 1361 w 1361"/>
              <a:gd name="T18" fmla="*/ 212 h 2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61" h="212">
                <a:moveTo>
                  <a:pt x="0" y="0"/>
                </a:moveTo>
                <a:cubicBezTo>
                  <a:pt x="57" y="53"/>
                  <a:pt x="114" y="106"/>
                  <a:pt x="227" y="136"/>
                </a:cubicBezTo>
                <a:cubicBezTo>
                  <a:pt x="340" y="166"/>
                  <a:pt x="537" y="174"/>
                  <a:pt x="680" y="182"/>
                </a:cubicBezTo>
                <a:cubicBezTo>
                  <a:pt x="823" y="190"/>
                  <a:pt x="975" y="212"/>
                  <a:pt x="1088" y="182"/>
                </a:cubicBezTo>
                <a:cubicBezTo>
                  <a:pt x="1201" y="152"/>
                  <a:pt x="1281" y="76"/>
                  <a:pt x="1361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6362" name="Rectangle 10"/>
          <p:cNvSpPr>
            <a:spLocks noChangeArrowheads="1"/>
          </p:cNvSpPr>
          <p:nvPr/>
        </p:nvSpPr>
        <p:spPr bwMode="auto">
          <a:xfrm>
            <a:off x="3421063" y="2055813"/>
            <a:ext cx="1366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latin typeface="Times New Roman" pitchFamily="18" charset="0"/>
                <a:ea typeface="华文新魏" pitchFamily="2" charset="-122"/>
              </a:rPr>
              <a:t>S→.BB</a:t>
            </a:r>
          </a:p>
        </p:txBody>
      </p:sp>
      <p:sp>
        <p:nvSpPr>
          <p:cNvPr id="356363" name="Rectangle 11"/>
          <p:cNvSpPr>
            <a:spLocks noChangeArrowheads="1"/>
          </p:cNvSpPr>
          <p:nvPr/>
        </p:nvSpPr>
        <p:spPr bwMode="auto">
          <a:xfrm>
            <a:off x="2916238" y="3429000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B→.aB</a:t>
            </a:r>
          </a:p>
        </p:txBody>
      </p:sp>
      <p:sp>
        <p:nvSpPr>
          <p:cNvPr id="356364" name="Rectangle 12"/>
          <p:cNvSpPr>
            <a:spLocks noChangeArrowheads="1"/>
          </p:cNvSpPr>
          <p:nvPr/>
        </p:nvSpPr>
        <p:spPr bwMode="auto">
          <a:xfrm>
            <a:off x="4572000" y="3429000"/>
            <a:ext cx="1296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B→.b</a:t>
            </a:r>
          </a:p>
        </p:txBody>
      </p:sp>
      <p:sp>
        <p:nvSpPr>
          <p:cNvPr id="356365" name="Rectangle 13"/>
          <p:cNvSpPr>
            <a:spLocks noChangeArrowheads="1"/>
          </p:cNvSpPr>
          <p:nvPr/>
        </p:nvSpPr>
        <p:spPr bwMode="auto">
          <a:xfrm>
            <a:off x="6011863" y="2955925"/>
            <a:ext cx="1152525" cy="155257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 marL="342900" indent="-342900"/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S'→.S</a:t>
            </a:r>
          </a:p>
          <a:p>
            <a:pPr marL="342900" indent="-342900"/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S→.BB</a:t>
            </a:r>
          </a:p>
          <a:p>
            <a:pPr marL="342900" indent="-342900"/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B→.aB</a:t>
            </a:r>
          </a:p>
          <a:p>
            <a:pPr marL="342900" indent="-342900"/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B→.b</a:t>
            </a:r>
          </a:p>
        </p:txBody>
      </p:sp>
      <p:sp>
        <p:nvSpPr>
          <p:cNvPr id="356366" name="Freeform 14"/>
          <p:cNvSpPr>
            <a:spLocks/>
          </p:cNvSpPr>
          <p:nvPr/>
        </p:nvSpPr>
        <p:spPr bwMode="auto">
          <a:xfrm>
            <a:off x="2122488" y="3789363"/>
            <a:ext cx="1439862" cy="142875"/>
          </a:xfrm>
          <a:custGeom>
            <a:avLst/>
            <a:gdLst>
              <a:gd name="T0" fmla="*/ 0 w 907"/>
              <a:gd name="T1" fmla="*/ 0 h 90"/>
              <a:gd name="T2" fmla="*/ 1028223513 w 907"/>
              <a:gd name="T3" fmla="*/ 226814085 h 90"/>
              <a:gd name="T4" fmla="*/ 2147483647 w 907"/>
              <a:gd name="T5" fmla="*/ 0 h 90"/>
              <a:gd name="T6" fmla="*/ 0 60000 65536"/>
              <a:gd name="T7" fmla="*/ 0 60000 65536"/>
              <a:gd name="T8" fmla="*/ 0 60000 65536"/>
              <a:gd name="T9" fmla="*/ 0 w 907"/>
              <a:gd name="T10" fmla="*/ 0 h 90"/>
              <a:gd name="T11" fmla="*/ 907 w 907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7" h="90">
                <a:moveTo>
                  <a:pt x="0" y="0"/>
                </a:moveTo>
                <a:cubicBezTo>
                  <a:pt x="128" y="45"/>
                  <a:pt x="257" y="90"/>
                  <a:pt x="408" y="90"/>
                </a:cubicBezTo>
                <a:cubicBezTo>
                  <a:pt x="559" y="90"/>
                  <a:pt x="824" y="23"/>
                  <a:pt x="907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6367" name="Rectangle 15"/>
          <p:cNvSpPr>
            <a:spLocks noChangeArrowheads="1"/>
          </p:cNvSpPr>
          <p:nvPr/>
        </p:nvSpPr>
        <p:spPr bwMode="auto">
          <a:xfrm>
            <a:off x="107950" y="3454400"/>
            <a:ext cx="989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sz="24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'</a:t>
            </a:r>
            <a:r>
              <a:rPr lang="en-US" altLang="zh-CN" sz="2400" b="1">
                <a:solidFill>
                  <a:schemeClr val="folHlink"/>
                </a:solidFill>
                <a:latin typeface="Times New Roman" pitchFamily="18" charset="0"/>
                <a:ea typeface="华文新魏" pitchFamily="2" charset="-122"/>
              </a:rPr>
              <a:t>→.S</a:t>
            </a:r>
          </a:p>
        </p:txBody>
      </p:sp>
      <p:sp>
        <p:nvSpPr>
          <p:cNvPr id="356368" name="Freeform 16"/>
          <p:cNvSpPr>
            <a:spLocks/>
          </p:cNvSpPr>
          <p:nvPr/>
        </p:nvSpPr>
        <p:spPr bwMode="auto">
          <a:xfrm>
            <a:off x="2124075" y="3787775"/>
            <a:ext cx="3095625" cy="288925"/>
          </a:xfrm>
          <a:custGeom>
            <a:avLst/>
            <a:gdLst>
              <a:gd name="T0" fmla="*/ 0 w 907"/>
              <a:gd name="T1" fmla="*/ 0 h 90"/>
              <a:gd name="T2" fmla="*/ 2147483647 w 907"/>
              <a:gd name="T3" fmla="*/ 927529594 h 90"/>
              <a:gd name="T4" fmla="*/ 2147483647 w 907"/>
              <a:gd name="T5" fmla="*/ 0 h 90"/>
              <a:gd name="T6" fmla="*/ 0 60000 65536"/>
              <a:gd name="T7" fmla="*/ 0 60000 65536"/>
              <a:gd name="T8" fmla="*/ 0 60000 65536"/>
              <a:gd name="T9" fmla="*/ 0 w 907"/>
              <a:gd name="T10" fmla="*/ 0 h 90"/>
              <a:gd name="T11" fmla="*/ 907 w 907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7" h="90">
                <a:moveTo>
                  <a:pt x="0" y="0"/>
                </a:moveTo>
                <a:cubicBezTo>
                  <a:pt x="128" y="45"/>
                  <a:pt x="257" y="90"/>
                  <a:pt x="408" y="90"/>
                </a:cubicBezTo>
                <a:cubicBezTo>
                  <a:pt x="559" y="90"/>
                  <a:pt x="824" y="23"/>
                  <a:pt x="907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6369" name="Rectangle 17" descr="新闻纸"/>
          <p:cNvSpPr>
            <a:spLocks noChangeArrowheads="1"/>
          </p:cNvSpPr>
          <p:nvPr/>
        </p:nvSpPr>
        <p:spPr bwMode="auto">
          <a:xfrm>
            <a:off x="7164388" y="3571875"/>
            <a:ext cx="1511300" cy="528638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8F8F8"/>
            </a:extrusionClr>
          </a:sp3d>
        </p:spPr>
        <p:txBody>
          <a:bodyPr>
            <a:spAutoFit/>
            <a:flatTx/>
          </a:bodyPr>
          <a:lstStyle/>
          <a:p>
            <a:pPr marL="342900" indent="-342900"/>
            <a:r>
              <a:rPr lang="en-US" altLang="zh-CN" sz="2000" b="1">
                <a:solidFill>
                  <a:schemeClr val="hlink"/>
                </a:solidFill>
                <a:latin typeface="Times New Roman" pitchFamily="18" charset="0"/>
              </a:rPr>
              <a:t>(ε-)</a:t>
            </a:r>
            <a:r>
              <a:rPr lang="zh-CN" altLang="en-US" sz="28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闭包</a:t>
            </a:r>
          </a:p>
        </p:txBody>
      </p:sp>
      <p:sp>
        <p:nvSpPr>
          <p:cNvPr id="70675" name="Text Box 18"/>
          <p:cNvSpPr txBox="1">
            <a:spLocks noChangeArrowheads="1"/>
          </p:cNvSpPr>
          <p:nvPr/>
        </p:nvSpPr>
        <p:spPr bwMode="auto">
          <a:xfrm>
            <a:off x="7065963" y="3213100"/>
            <a:ext cx="458787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b="1">
              <a:latin typeface="Times New Roman" pitchFamily="18" charset="0"/>
            </a:endParaRPr>
          </a:p>
        </p:txBody>
      </p:sp>
      <p:sp>
        <p:nvSpPr>
          <p:cNvPr id="356371" name="AutoShape 19"/>
          <p:cNvSpPr>
            <a:spLocks noChangeArrowheads="1"/>
          </p:cNvSpPr>
          <p:nvPr/>
        </p:nvSpPr>
        <p:spPr bwMode="auto">
          <a:xfrm>
            <a:off x="5508625" y="3571875"/>
            <a:ext cx="431800" cy="288925"/>
          </a:xfrm>
          <a:prstGeom prst="rightArrow">
            <a:avLst>
              <a:gd name="adj1" fmla="val 50000"/>
              <a:gd name="adj2" fmla="val 37363"/>
            </a:avLst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b="1">
              <a:latin typeface="Times New Roman" pitchFamily="18" charset="0"/>
            </a:endParaRPr>
          </a:p>
        </p:txBody>
      </p:sp>
      <p:sp>
        <p:nvSpPr>
          <p:cNvPr id="356372" name="Freeform 20"/>
          <p:cNvSpPr>
            <a:spLocks/>
          </p:cNvSpPr>
          <p:nvPr/>
        </p:nvSpPr>
        <p:spPr bwMode="auto">
          <a:xfrm rot="-272123">
            <a:off x="825500" y="3717925"/>
            <a:ext cx="1298575" cy="425450"/>
          </a:xfrm>
          <a:custGeom>
            <a:avLst/>
            <a:gdLst>
              <a:gd name="T0" fmla="*/ 0 w 817"/>
              <a:gd name="T1" fmla="*/ 0 h 235"/>
              <a:gd name="T2" fmla="*/ 1146953310 w 817"/>
              <a:gd name="T3" fmla="*/ 744025183 h 235"/>
              <a:gd name="T4" fmla="*/ 2064011231 w 817"/>
              <a:gd name="T5" fmla="*/ 150772256 h 235"/>
              <a:gd name="T6" fmla="*/ 0 60000 65536"/>
              <a:gd name="T7" fmla="*/ 0 60000 65536"/>
              <a:gd name="T8" fmla="*/ 0 60000 65536"/>
              <a:gd name="T9" fmla="*/ 0 w 817"/>
              <a:gd name="T10" fmla="*/ 0 h 235"/>
              <a:gd name="T11" fmla="*/ 817 w 817"/>
              <a:gd name="T12" fmla="*/ 235 h 2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7" h="235">
                <a:moveTo>
                  <a:pt x="0" y="0"/>
                </a:moveTo>
                <a:cubicBezTo>
                  <a:pt x="159" y="109"/>
                  <a:pt x="318" y="219"/>
                  <a:pt x="454" y="227"/>
                </a:cubicBezTo>
                <a:cubicBezTo>
                  <a:pt x="590" y="235"/>
                  <a:pt x="703" y="140"/>
                  <a:pt x="817" y="46"/>
                </a:cubicBezTo>
              </a:path>
            </a:pathLst>
          </a:custGeom>
          <a:noFill/>
          <a:ln w="38100">
            <a:solidFill>
              <a:srgbClr val="D6009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6373" name="Freeform 21"/>
          <p:cNvSpPr>
            <a:spLocks/>
          </p:cNvSpPr>
          <p:nvPr/>
        </p:nvSpPr>
        <p:spPr bwMode="auto">
          <a:xfrm>
            <a:off x="2124075" y="3789363"/>
            <a:ext cx="1439863" cy="142875"/>
          </a:xfrm>
          <a:custGeom>
            <a:avLst/>
            <a:gdLst>
              <a:gd name="T0" fmla="*/ 0 w 907"/>
              <a:gd name="T1" fmla="*/ 0 h 90"/>
              <a:gd name="T2" fmla="*/ 1028224227 w 907"/>
              <a:gd name="T3" fmla="*/ 226814085 h 90"/>
              <a:gd name="T4" fmla="*/ 2147483647 w 907"/>
              <a:gd name="T5" fmla="*/ 0 h 90"/>
              <a:gd name="T6" fmla="*/ 0 60000 65536"/>
              <a:gd name="T7" fmla="*/ 0 60000 65536"/>
              <a:gd name="T8" fmla="*/ 0 60000 65536"/>
              <a:gd name="T9" fmla="*/ 0 w 907"/>
              <a:gd name="T10" fmla="*/ 0 h 90"/>
              <a:gd name="T11" fmla="*/ 907 w 907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7" h="90">
                <a:moveTo>
                  <a:pt x="0" y="0"/>
                </a:moveTo>
                <a:cubicBezTo>
                  <a:pt x="128" y="45"/>
                  <a:pt x="257" y="90"/>
                  <a:pt x="408" y="90"/>
                </a:cubicBezTo>
                <a:cubicBezTo>
                  <a:pt x="559" y="90"/>
                  <a:pt x="824" y="23"/>
                  <a:pt x="907" y="0"/>
                </a:cubicBezTo>
              </a:path>
            </a:pathLst>
          </a:custGeom>
          <a:noFill/>
          <a:ln w="28575">
            <a:solidFill>
              <a:srgbClr val="FF33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6374" name="Freeform 22"/>
          <p:cNvSpPr>
            <a:spLocks/>
          </p:cNvSpPr>
          <p:nvPr/>
        </p:nvSpPr>
        <p:spPr bwMode="auto">
          <a:xfrm>
            <a:off x="2124075" y="3787775"/>
            <a:ext cx="3095625" cy="288925"/>
          </a:xfrm>
          <a:custGeom>
            <a:avLst/>
            <a:gdLst>
              <a:gd name="T0" fmla="*/ 0 w 907"/>
              <a:gd name="T1" fmla="*/ 0 h 90"/>
              <a:gd name="T2" fmla="*/ 2147483647 w 907"/>
              <a:gd name="T3" fmla="*/ 927529594 h 90"/>
              <a:gd name="T4" fmla="*/ 2147483647 w 907"/>
              <a:gd name="T5" fmla="*/ 0 h 90"/>
              <a:gd name="T6" fmla="*/ 0 60000 65536"/>
              <a:gd name="T7" fmla="*/ 0 60000 65536"/>
              <a:gd name="T8" fmla="*/ 0 60000 65536"/>
              <a:gd name="T9" fmla="*/ 0 w 907"/>
              <a:gd name="T10" fmla="*/ 0 h 90"/>
              <a:gd name="T11" fmla="*/ 907 w 907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7" h="90">
                <a:moveTo>
                  <a:pt x="0" y="0"/>
                </a:moveTo>
                <a:cubicBezTo>
                  <a:pt x="128" y="45"/>
                  <a:pt x="257" y="90"/>
                  <a:pt x="408" y="90"/>
                </a:cubicBezTo>
                <a:cubicBezTo>
                  <a:pt x="559" y="90"/>
                  <a:pt x="824" y="23"/>
                  <a:pt x="907" y="0"/>
                </a:cubicBezTo>
              </a:path>
            </a:pathLst>
          </a:custGeom>
          <a:noFill/>
          <a:ln w="28575">
            <a:solidFill>
              <a:srgbClr val="FF33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6375" name="Text Box 23"/>
          <p:cNvSpPr txBox="1">
            <a:spLocks noChangeArrowheads="1"/>
          </p:cNvSpPr>
          <p:nvPr/>
        </p:nvSpPr>
        <p:spPr bwMode="auto">
          <a:xfrm>
            <a:off x="5651500" y="0"/>
            <a:ext cx="3492500" cy="8223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Knuth:</a:t>
            </a:r>
            <a:r>
              <a:rPr lang="zh-CN" altLang="en-US" sz="2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算法、数据结构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双向链表等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2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、属性文法</a:t>
            </a:r>
          </a:p>
        </p:txBody>
      </p:sp>
      <p:sp>
        <p:nvSpPr>
          <p:cNvPr id="356376" name="Rectangle 24"/>
          <p:cNvSpPr>
            <a:spLocks noChangeArrowheads="1"/>
          </p:cNvSpPr>
          <p:nvPr/>
        </p:nvSpPr>
        <p:spPr bwMode="auto">
          <a:xfrm>
            <a:off x="1187450" y="4003675"/>
            <a:ext cx="471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folHlink"/>
                </a:solidFill>
                <a:latin typeface="Times New Roman" pitchFamily="18" charset="0"/>
              </a:rPr>
              <a:t>.S</a:t>
            </a:r>
          </a:p>
        </p:txBody>
      </p:sp>
      <p:sp>
        <p:nvSpPr>
          <p:cNvPr id="356377" name="Rectangle 25"/>
          <p:cNvSpPr>
            <a:spLocks noChangeArrowheads="1"/>
          </p:cNvSpPr>
          <p:nvPr/>
        </p:nvSpPr>
        <p:spPr bwMode="auto">
          <a:xfrm>
            <a:off x="2195513" y="4003675"/>
            <a:ext cx="471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folHlink"/>
                </a:solidFill>
                <a:latin typeface="Times New Roman" pitchFamily="18" charset="0"/>
              </a:rPr>
              <a:t>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692150"/>
            <a:ext cx="7275513" cy="974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5.3 LR(Left-Right)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分析法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916113"/>
            <a:ext cx="7772400" cy="4681537"/>
          </a:xfrm>
        </p:spPr>
        <p:txBody>
          <a:bodyPr/>
          <a:lstStyle/>
          <a:p>
            <a:pPr marL="0" indent="449263"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LR(k)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分析法</a:t>
            </a:r>
          </a:p>
          <a:p>
            <a:pPr marL="628650" lvl="1" indent="361950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从语言的文法描述入手，探讨当前“规范句型”的句柄的识别</a:t>
            </a:r>
          </a:p>
          <a:p>
            <a:pPr marL="628650" lvl="1" indent="361950"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：从</a:t>
            </a:r>
            <a:r>
              <a:rPr lang="zh-CN" altLang="en-US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左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到右扫描输入符号</a:t>
            </a:r>
          </a:p>
          <a:p>
            <a:pPr marL="628650" lvl="1" indent="361950"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R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：最右推导对应的最左</a:t>
            </a:r>
            <a:r>
              <a:rPr lang="zh-CN" altLang="en-US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归约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(Reduce)</a:t>
            </a:r>
            <a:endParaRPr lang="en-US" altLang="zh-CN" b="1" smtClean="0">
              <a:solidFill>
                <a:schemeClr val="hlink"/>
              </a:solidFill>
              <a:latin typeface="Times New Roman" pitchFamily="18" charset="0"/>
              <a:ea typeface="华文新魏" pitchFamily="2" charset="-122"/>
            </a:endParaRPr>
          </a:p>
          <a:p>
            <a:pPr marL="628650" lvl="1" indent="361950"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k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：超前读入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k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个符号，以确定归约用的产生式</a:t>
            </a:r>
          </a:p>
          <a:p>
            <a:pPr marL="0" indent="449263" eaLnBrk="1" hangingPunct="1">
              <a:spcBef>
                <a:spcPct val="5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为语法分析器的</a:t>
            </a:r>
            <a:r>
              <a:rPr lang="zh-CN" altLang="en-US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自动生成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提供了基础</a:t>
            </a:r>
          </a:p>
        </p:txBody>
      </p:sp>
      <p:sp>
        <p:nvSpPr>
          <p:cNvPr id="716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907053A-77A3-4D32-BCDF-BF7AC01BB3EB}" type="slidenum">
              <a:rPr lang="en-US" altLang="zh-CN" smtClean="0"/>
              <a:pPr eaLnBrk="1" hangingPunct="1"/>
              <a:t>51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04813"/>
            <a:ext cx="8064500" cy="974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一、基本概念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拓广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(Augmented)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文法</a:t>
            </a:r>
          </a:p>
        </p:txBody>
      </p:sp>
      <p:sp>
        <p:nvSpPr>
          <p:cNvPr id="348163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628775"/>
            <a:ext cx="8208962" cy="4681538"/>
          </a:xfrm>
        </p:spPr>
        <p:txBody>
          <a:bodyPr/>
          <a:lstStyle/>
          <a:p>
            <a:pPr eaLnBrk="1" hangingPunct="1">
              <a:spcBef>
                <a:spcPct val="40000"/>
              </a:spcBef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文法 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G= (V, T, P, S)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的拓广</a:t>
            </a:r>
            <a:r>
              <a:rPr lang="en-US" altLang="zh-CN" sz="2800" b="1" dirty="0">
                <a:latin typeface="Times New Roman" pitchFamily="18" charset="0"/>
                <a:ea typeface="华文新魏" pitchFamily="2" charset="-122"/>
              </a:rPr>
              <a:t>(Augmented)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文法</a:t>
            </a:r>
          </a:p>
          <a:p>
            <a:pPr lvl="1" eaLnBrk="1" hangingPunct="1">
              <a:spcBef>
                <a:spcPct val="40000"/>
              </a:spcBef>
              <a:defRPr/>
            </a:pP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G' =(V∪{S</a:t>
            </a:r>
            <a:r>
              <a:rPr lang="en-US" altLang="zh-CN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'</a:t>
            </a: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}, T, P∪{S</a:t>
            </a:r>
            <a:r>
              <a:rPr lang="en-US" altLang="zh-CN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'</a:t>
            </a: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→S}, S</a:t>
            </a:r>
            <a:r>
              <a:rPr lang="en-US" altLang="zh-CN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'</a:t>
            </a: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), S</a:t>
            </a:r>
            <a:r>
              <a:rPr lang="en-US" altLang="zh-CN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'</a:t>
            </a: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</a:t>
            </a: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V</a:t>
            </a:r>
          </a:p>
          <a:p>
            <a:pPr lvl="1" eaLnBrk="1" hangingPunct="1">
              <a:spcBef>
                <a:spcPct val="0"/>
              </a:spcBef>
              <a:defRPr/>
            </a:pP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分析开始： 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S'→.S</a:t>
            </a:r>
            <a:r>
              <a:rPr lang="zh-CN" altLang="en-US" b="1" dirty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zh-CN" altLang="en-US" b="1" dirty="0">
                <a:latin typeface="Times New Roman" pitchFamily="18" charset="0"/>
                <a:ea typeface="华文新魏" pitchFamily="2" charset="-122"/>
              </a:rPr>
              <a:t>分析成功： </a:t>
            </a:r>
            <a:r>
              <a:rPr lang="en-US" altLang="zh-CN" b="1" dirty="0">
                <a:latin typeface="Times New Roman" pitchFamily="18" charset="0"/>
                <a:ea typeface="楷体_GB2312" pitchFamily="49" charset="-122"/>
              </a:rPr>
              <a:t>S'→S.</a:t>
            </a:r>
            <a:endParaRPr lang="en-US" altLang="zh-CN" b="1" dirty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spcBef>
                <a:spcPct val="40000"/>
              </a:spcBef>
              <a:defRPr/>
            </a:pP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例 </a:t>
            </a:r>
            <a:r>
              <a:rPr lang="en-US" altLang="zh-CN" sz="2800" b="1" dirty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 dirty="0">
                <a:latin typeface="Times New Roman" pitchFamily="18" charset="0"/>
                <a:ea typeface="华文新魏" pitchFamily="2" charset="-122"/>
              </a:rPr>
              <a:t>续</a:t>
            </a:r>
            <a:r>
              <a:rPr lang="en-US" altLang="zh-CN" sz="2800" b="1" dirty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(0)   S</a:t>
            </a: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'</a:t>
            </a: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→S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(1)   S→BB</a:t>
            </a:r>
          </a:p>
          <a:p>
            <a:pPr lvl="1" eaLnBrk="1" hangingPunct="1">
              <a:spcBef>
                <a:spcPct val="40000"/>
              </a:spcBef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(2)   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B→aB</a:t>
            </a:r>
            <a:endParaRPr lang="en-US" altLang="zh-CN" b="1" dirty="0">
              <a:latin typeface="Times New Roman" pitchFamily="18" charset="0"/>
              <a:ea typeface="华文新魏" pitchFamily="2" charset="-122"/>
            </a:endParaRPr>
          </a:p>
          <a:p>
            <a:pPr lvl="1" eaLnBrk="1" hangingPunct="1">
              <a:spcBef>
                <a:spcPct val="40000"/>
              </a:spcBef>
              <a:buFont typeface="Wingdings" pitchFamily="2" charset="2"/>
              <a:buNone/>
              <a:defRPr/>
            </a:pPr>
            <a:r>
              <a:rPr lang="en-US" altLang="zh-CN" b="1" dirty="0">
                <a:latin typeface="Times New Roman" pitchFamily="18" charset="0"/>
                <a:ea typeface="华文新魏" pitchFamily="2" charset="-122"/>
              </a:rPr>
              <a:t>(3)   </a:t>
            </a:r>
            <a:r>
              <a:rPr lang="en-US" altLang="zh-CN" b="1" dirty="0" err="1">
                <a:latin typeface="Times New Roman" pitchFamily="18" charset="0"/>
                <a:ea typeface="华文新魏" pitchFamily="2" charset="-122"/>
              </a:rPr>
              <a:t>B→b</a:t>
            </a:r>
            <a:endParaRPr lang="en-US" altLang="zh-CN" b="1" dirty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727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3034FBB-F123-4A4E-B4F3-5319876E12CC}" type="slidenum">
              <a:rPr lang="en-US" altLang="zh-CN" smtClean="0"/>
              <a:pPr eaLnBrk="1" hangingPunct="1"/>
              <a:t>52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310" name="Rectangle 30"/>
          <p:cNvSpPr>
            <a:spLocks noGrp="1" noChangeArrowheads="1"/>
          </p:cNvSpPr>
          <p:nvPr>
            <p:ph type="title"/>
          </p:nvPr>
        </p:nvSpPr>
        <p:spPr>
          <a:xfrm>
            <a:off x="7092950" y="1700213"/>
            <a:ext cx="1909763" cy="2232025"/>
          </a:xfrm>
          <a:solidFill>
            <a:srgbClr val="006666"/>
          </a:solidFill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例</a:t>
            </a:r>
            <a:b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0) S'→S</a:t>
            </a:r>
            <a:b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(1) S→BB</a:t>
            </a:r>
            <a:b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(2) B→aB</a:t>
            </a:r>
            <a:b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(3) B→b</a:t>
            </a:r>
          </a:p>
        </p:txBody>
      </p:sp>
      <p:sp>
        <p:nvSpPr>
          <p:cNvPr id="353282" name="Rectangle 2" descr="蓝色面巾纸"/>
          <p:cNvSpPr>
            <a:spLocks noGrp="1" noChangeArrowheads="1"/>
          </p:cNvSpPr>
          <p:nvPr>
            <p:ph idx="1"/>
          </p:nvPr>
        </p:nvSpPr>
        <p:spPr>
          <a:xfrm>
            <a:off x="685800" y="685800"/>
            <a:ext cx="1295400" cy="1905000"/>
          </a:xfrm>
          <a:blipFill dpi="0" rotWithShape="1">
            <a:blip r:embed="rId2"/>
            <a:srcRect/>
            <a:tile tx="0" ty="0" sx="100000" sy="100000" flip="none" algn="tl"/>
          </a:blipFill>
          <a:ln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CN" sz="2400" b="1" smtClean="0">
              <a:latin typeface="Times New Roman" pitchFamily="18" charset="0"/>
              <a:ea typeface="华文新魏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S'→.S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S→.BB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B→.aB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B→.b	</a:t>
            </a:r>
          </a:p>
        </p:txBody>
      </p:sp>
      <p:sp>
        <p:nvSpPr>
          <p:cNvPr id="737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85CAFE6-5E25-41E7-82AA-81B48C61625B}" type="slidenum">
              <a:rPr lang="en-US" altLang="zh-CN" smtClean="0"/>
              <a:pPr eaLnBrk="1" hangingPunct="1"/>
              <a:t>53</a:t>
            </a:fld>
            <a:endParaRPr lang="en-US" altLang="zh-CN" smtClean="0"/>
          </a:p>
        </p:txBody>
      </p:sp>
      <p:sp>
        <p:nvSpPr>
          <p:cNvPr id="353283" name="Rectangle 3" descr="蓝色面巾纸"/>
          <p:cNvSpPr>
            <a:spLocks noChangeArrowheads="1"/>
          </p:cNvSpPr>
          <p:nvPr/>
        </p:nvSpPr>
        <p:spPr bwMode="auto">
          <a:xfrm>
            <a:off x="4267200" y="381000"/>
            <a:ext cx="1295400" cy="762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  <a:r>
              <a:rPr lang="en-US" altLang="zh-CN" sz="24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'</a:t>
            </a: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→S.</a:t>
            </a:r>
          </a:p>
        </p:txBody>
      </p:sp>
      <p:sp>
        <p:nvSpPr>
          <p:cNvPr id="353284" name="Line 4"/>
          <p:cNvSpPr>
            <a:spLocks noChangeShapeType="1"/>
          </p:cNvSpPr>
          <p:nvPr/>
        </p:nvSpPr>
        <p:spPr bwMode="auto">
          <a:xfrm>
            <a:off x="1981200" y="976313"/>
            <a:ext cx="228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285" name="Text Box 5"/>
          <p:cNvSpPr txBox="1">
            <a:spLocks noChangeArrowheads="1"/>
          </p:cNvSpPr>
          <p:nvPr/>
        </p:nvSpPr>
        <p:spPr bwMode="auto">
          <a:xfrm>
            <a:off x="2286000" y="59531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S</a:t>
            </a:r>
          </a:p>
        </p:txBody>
      </p:sp>
      <p:sp>
        <p:nvSpPr>
          <p:cNvPr id="353286" name="Line 6"/>
          <p:cNvSpPr>
            <a:spLocks noChangeShapeType="1"/>
          </p:cNvSpPr>
          <p:nvPr/>
        </p:nvSpPr>
        <p:spPr bwMode="auto">
          <a:xfrm>
            <a:off x="1981200" y="2344738"/>
            <a:ext cx="2209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287" name="Text Box 7"/>
          <p:cNvSpPr txBox="1">
            <a:spLocks noChangeArrowheads="1"/>
          </p:cNvSpPr>
          <p:nvPr/>
        </p:nvSpPr>
        <p:spPr bwMode="auto">
          <a:xfrm>
            <a:off x="2286000" y="196373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53288" name="Rectangle 8" descr="蓝色面巾纸"/>
          <p:cNvSpPr>
            <a:spLocks noChangeArrowheads="1"/>
          </p:cNvSpPr>
          <p:nvPr/>
        </p:nvSpPr>
        <p:spPr bwMode="auto">
          <a:xfrm>
            <a:off x="4267200" y="1676400"/>
            <a:ext cx="1295400" cy="16002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S→B.B</a:t>
            </a: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B→.aB</a:t>
            </a: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B→.b</a:t>
            </a: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	</a:t>
            </a:r>
            <a:endParaRPr kumimoji="1" lang="en-US" altLang="zh-CN" sz="32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289" name="Freeform 9"/>
          <p:cNvSpPr>
            <a:spLocks/>
          </p:cNvSpPr>
          <p:nvPr/>
        </p:nvSpPr>
        <p:spPr bwMode="auto">
          <a:xfrm>
            <a:off x="990600" y="2590800"/>
            <a:ext cx="3365500" cy="2925763"/>
          </a:xfrm>
          <a:custGeom>
            <a:avLst/>
            <a:gdLst>
              <a:gd name="T0" fmla="*/ 0 w 816"/>
              <a:gd name="T1" fmla="*/ 0 h 1344"/>
              <a:gd name="T2" fmla="*/ 816509083 w 816"/>
              <a:gd name="T3" fmla="*/ 2147483647 h 1344"/>
              <a:gd name="T4" fmla="*/ 2147483647 w 816"/>
              <a:gd name="T5" fmla="*/ 2147483647 h 1344"/>
              <a:gd name="T6" fmla="*/ 2147483647 w 816"/>
              <a:gd name="T7" fmla="*/ 2147483647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290" name="Text Box 10"/>
          <p:cNvSpPr txBox="1">
            <a:spLocks noChangeArrowheads="1"/>
          </p:cNvSpPr>
          <p:nvPr/>
        </p:nvSpPr>
        <p:spPr bwMode="auto">
          <a:xfrm>
            <a:off x="9906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353291" name="Rectangle 11" descr="蓝色面巾纸"/>
          <p:cNvSpPr>
            <a:spLocks noChangeArrowheads="1"/>
          </p:cNvSpPr>
          <p:nvPr/>
        </p:nvSpPr>
        <p:spPr bwMode="auto">
          <a:xfrm>
            <a:off x="4343400" y="4953000"/>
            <a:ext cx="1295400" cy="14478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B→a.B</a:t>
            </a: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B→.aB</a:t>
            </a: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B→.b	</a:t>
            </a:r>
            <a:endParaRPr kumimoji="1" lang="en-US" altLang="zh-CN" sz="28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292" name="Freeform 12"/>
          <p:cNvSpPr>
            <a:spLocks/>
          </p:cNvSpPr>
          <p:nvPr/>
        </p:nvSpPr>
        <p:spPr bwMode="auto">
          <a:xfrm>
            <a:off x="1524000" y="2590800"/>
            <a:ext cx="2760663" cy="1774825"/>
          </a:xfrm>
          <a:custGeom>
            <a:avLst/>
            <a:gdLst>
              <a:gd name="T0" fmla="*/ 0 w 1680"/>
              <a:gd name="T1" fmla="*/ 0 h 1056"/>
              <a:gd name="T2" fmla="*/ 129613142 w 1680"/>
              <a:gd name="T3" fmla="*/ 1762656718 h 1056"/>
              <a:gd name="T4" fmla="*/ 648065656 w 1680"/>
              <a:gd name="T5" fmla="*/ 2147483647 h 1056"/>
              <a:gd name="T6" fmla="*/ 1944198818 w 1680"/>
              <a:gd name="T7" fmla="*/ 2147483647 h 1056"/>
              <a:gd name="T8" fmla="*/ 2147483647 w 1680"/>
              <a:gd name="T9" fmla="*/ 2147483647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293" name="Text Box 13"/>
          <p:cNvSpPr txBox="1">
            <a:spLocks noChangeArrowheads="1"/>
          </p:cNvSpPr>
          <p:nvPr/>
        </p:nvSpPr>
        <p:spPr bwMode="auto">
          <a:xfrm>
            <a:off x="16764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53294" name="Rectangle 14" descr="蓝色面巾纸"/>
          <p:cNvSpPr>
            <a:spLocks noChangeArrowheads="1"/>
          </p:cNvSpPr>
          <p:nvPr/>
        </p:nvSpPr>
        <p:spPr bwMode="auto">
          <a:xfrm>
            <a:off x="4343400" y="3733800"/>
            <a:ext cx="1295400" cy="8382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B→b.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	</a:t>
            </a:r>
            <a:endParaRPr kumimoji="1" lang="en-US" altLang="zh-CN" sz="28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295" name="Line 15"/>
          <p:cNvSpPr>
            <a:spLocks noChangeShapeType="1"/>
          </p:cNvSpPr>
          <p:nvPr/>
        </p:nvSpPr>
        <p:spPr bwMode="auto">
          <a:xfrm flipV="1">
            <a:off x="5562600" y="1052513"/>
            <a:ext cx="1530350" cy="852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296" name="Text Box 16"/>
          <p:cNvSpPr txBox="1">
            <a:spLocks noChangeArrowheads="1"/>
          </p:cNvSpPr>
          <p:nvPr/>
        </p:nvSpPr>
        <p:spPr bwMode="auto">
          <a:xfrm>
            <a:off x="6096000" y="914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53297" name="Rectangle 17" descr="蓝色面巾纸"/>
          <p:cNvSpPr>
            <a:spLocks noChangeArrowheads="1"/>
          </p:cNvSpPr>
          <p:nvPr/>
        </p:nvSpPr>
        <p:spPr bwMode="auto">
          <a:xfrm>
            <a:off x="7086600" y="381000"/>
            <a:ext cx="1295400" cy="762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S→BB.</a:t>
            </a:r>
          </a:p>
        </p:txBody>
      </p:sp>
      <p:sp>
        <p:nvSpPr>
          <p:cNvPr id="353298" name="Freeform 18"/>
          <p:cNvSpPr>
            <a:spLocks/>
          </p:cNvSpPr>
          <p:nvPr/>
        </p:nvSpPr>
        <p:spPr bwMode="auto">
          <a:xfrm>
            <a:off x="5580063" y="2590800"/>
            <a:ext cx="1008062" cy="2925763"/>
          </a:xfrm>
          <a:custGeom>
            <a:avLst/>
            <a:gdLst>
              <a:gd name="T0" fmla="*/ 0 w 1424"/>
              <a:gd name="T1" fmla="*/ 0 h 1968"/>
              <a:gd name="T2" fmla="*/ 553252588 w 1424"/>
              <a:gd name="T3" fmla="*/ 954799400 h 1968"/>
              <a:gd name="T4" fmla="*/ 625416069 w 1424"/>
              <a:gd name="T5" fmla="*/ 2147483647 h 1968"/>
              <a:gd name="T6" fmla="*/ 24054741 w 1424"/>
              <a:gd name="T7" fmla="*/ 2147483647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299" name="Text Box 19"/>
          <p:cNvSpPr txBox="1">
            <a:spLocks noChangeArrowheads="1"/>
          </p:cNvSpPr>
          <p:nvPr/>
        </p:nvSpPr>
        <p:spPr bwMode="auto">
          <a:xfrm>
            <a:off x="6516688" y="3573463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353300" name="Freeform 20"/>
          <p:cNvSpPr>
            <a:spLocks/>
          </p:cNvSpPr>
          <p:nvPr/>
        </p:nvSpPr>
        <p:spPr bwMode="auto">
          <a:xfrm>
            <a:off x="5580063" y="2997200"/>
            <a:ext cx="300037" cy="1295400"/>
          </a:xfrm>
          <a:custGeom>
            <a:avLst/>
            <a:gdLst>
              <a:gd name="T0" fmla="*/ 0 w 200"/>
              <a:gd name="T1" fmla="*/ 0 h 432"/>
              <a:gd name="T2" fmla="*/ 432107342 w 200"/>
              <a:gd name="T3" fmla="*/ 1726399633 h 432"/>
              <a:gd name="T4" fmla="*/ 108026836 w 200"/>
              <a:gd name="T5" fmla="*/ 2147483647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301" name="Text Box 21"/>
          <p:cNvSpPr txBox="1">
            <a:spLocks noChangeArrowheads="1"/>
          </p:cNvSpPr>
          <p:nvPr/>
        </p:nvSpPr>
        <p:spPr bwMode="auto">
          <a:xfrm>
            <a:off x="5867400" y="3352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53302" name="Line 22"/>
          <p:cNvSpPr>
            <a:spLocks noChangeShapeType="1"/>
          </p:cNvSpPr>
          <p:nvPr/>
        </p:nvSpPr>
        <p:spPr bwMode="auto">
          <a:xfrm>
            <a:off x="5638800" y="56388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303" name="Text Box 23"/>
          <p:cNvSpPr txBox="1">
            <a:spLocks noChangeArrowheads="1"/>
          </p:cNvSpPr>
          <p:nvPr/>
        </p:nvSpPr>
        <p:spPr bwMode="auto">
          <a:xfrm>
            <a:off x="6019800" y="5257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53304" name="Rectangle 24" descr="蓝色面巾纸"/>
          <p:cNvSpPr>
            <a:spLocks noChangeArrowheads="1"/>
          </p:cNvSpPr>
          <p:nvPr/>
        </p:nvSpPr>
        <p:spPr bwMode="auto">
          <a:xfrm>
            <a:off x="6934200" y="5038725"/>
            <a:ext cx="1295400" cy="9144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B→aB.</a:t>
            </a:r>
            <a:endParaRPr kumimoji="1" lang="en-US" altLang="zh-CN" sz="320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53305" name="Freeform 25"/>
          <p:cNvSpPr>
            <a:spLocks/>
          </p:cNvSpPr>
          <p:nvPr/>
        </p:nvSpPr>
        <p:spPr bwMode="auto">
          <a:xfrm>
            <a:off x="5638800" y="5867400"/>
            <a:ext cx="457200" cy="457200"/>
          </a:xfrm>
          <a:custGeom>
            <a:avLst/>
            <a:gdLst>
              <a:gd name="T0" fmla="*/ 0 w 288"/>
              <a:gd name="T1" fmla="*/ 0 h 288"/>
              <a:gd name="T2" fmla="*/ 725804891 w 288"/>
              <a:gd name="T3" fmla="*/ 362902445 h 288"/>
              <a:gd name="T4" fmla="*/ 0 w 288"/>
              <a:gd name="T5" fmla="*/ 725804891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306" name="Text Box 26"/>
          <p:cNvSpPr txBox="1">
            <a:spLocks noChangeArrowheads="1"/>
          </p:cNvSpPr>
          <p:nvPr/>
        </p:nvSpPr>
        <p:spPr bwMode="auto">
          <a:xfrm>
            <a:off x="6019800" y="5867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353307" name="Line 27"/>
          <p:cNvSpPr>
            <a:spLocks noChangeShapeType="1"/>
          </p:cNvSpPr>
          <p:nvPr/>
        </p:nvSpPr>
        <p:spPr bwMode="auto">
          <a:xfrm flipV="1">
            <a:off x="4953000" y="45720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3308" name="Text Box 28"/>
          <p:cNvSpPr txBox="1">
            <a:spLocks noChangeArrowheads="1"/>
          </p:cNvSpPr>
          <p:nvPr/>
        </p:nvSpPr>
        <p:spPr bwMode="auto">
          <a:xfrm>
            <a:off x="4953000" y="4572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b</a:t>
            </a:r>
          </a:p>
        </p:txBody>
      </p:sp>
      <p:sp>
        <p:nvSpPr>
          <p:cNvPr id="353309" name="Text Box 29"/>
          <p:cNvSpPr txBox="1">
            <a:spLocks noChangeArrowheads="1"/>
          </p:cNvSpPr>
          <p:nvPr/>
        </p:nvSpPr>
        <p:spPr bwMode="auto">
          <a:xfrm>
            <a:off x="288925" y="5713413"/>
            <a:ext cx="3562350" cy="895350"/>
          </a:xfrm>
          <a:prstGeom prst="rect">
            <a:avLst/>
          </a:prstGeom>
          <a:solidFill>
            <a:srgbClr val="006600"/>
          </a:solidFill>
          <a:ln w="9525">
            <a:solidFill>
              <a:srgbClr val="FF339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形如</a:t>
            </a:r>
            <a:r>
              <a:rPr lang="en-US" altLang="zh-CN" sz="26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A→</a:t>
            </a:r>
            <a:r>
              <a:rPr lang="el-GR" altLang="zh-CN" sz="26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sz="26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.</a:t>
            </a:r>
            <a:r>
              <a:rPr lang="el-GR" altLang="zh-CN" sz="26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β</a:t>
            </a:r>
            <a:r>
              <a:rPr lang="zh-CN" altLang="en-US" sz="2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的式子集合刻画了分析进展状态</a:t>
            </a:r>
          </a:p>
        </p:txBody>
      </p:sp>
      <p:sp>
        <p:nvSpPr>
          <p:cNvPr id="353311" name="Text Box 31"/>
          <p:cNvSpPr txBox="1">
            <a:spLocks noChangeArrowheads="1"/>
          </p:cNvSpPr>
          <p:nvPr/>
        </p:nvSpPr>
        <p:spPr bwMode="auto">
          <a:xfrm>
            <a:off x="2195513" y="1412875"/>
            <a:ext cx="1582737" cy="4318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chemeClr val="bg1"/>
                </a:solidFill>
                <a:ea typeface="华文新魏" pitchFamily="2" charset="-122"/>
              </a:rPr>
              <a:t>待约项目</a:t>
            </a:r>
          </a:p>
        </p:txBody>
      </p:sp>
      <p:sp>
        <p:nvSpPr>
          <p:cNvPr id="353312" name="Text Box 32"/>
          <p:cNvSpPr txBox="1">
            <a:spLocks noChangeArrowheads="1"/>
          </p:cNvSpPr>
          <p:nvPr/>
        </p:nvSpPr>
        <p:spPr bwMode="auto">
          <a:xfrm>
            <a:off x="2195513" y="2636838"/>
            <a:ext cx="1582737" cy="4318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chemeClr val="bg1"/>
                </a:solidFill>
                <a:ea typeface="华文新魏" pitchFamily="2" charset="-122"/>
              </a:rPr>
              <a:t>移进项目</a:t>
            </a:r>
          </a:p>
        </p:txBody>
      </p:sp>
      <p:sp>
        <p:nvSpPr>
          <p:cNvPr id="353313" name="Text Box 33"/>
          <p:cNvSpPr txBox="1">
            <a:spLocks noChangeArrowheads="1"/>
          </p:cNvSpPr>
          <p:nvPr/>
        </p:nvSpPr>
        <p:spPr bwMode="auto">
          <a:xfrm>
            <a:off x="6732588" y="4292600"/>
            <a:ext cx="1582737" cy="4318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chemeClr val="bg1"/>
                </a:solidFill>
                <a:ea typeface="华文新魏" pitchFamily="2" charset="-122"/>
              </a:rPr>
              <a:t>归约项目</a:t>
            </a:r>
          </a:p>
        </p:txBody>
      </p:sp>
      <p:sp>
        <p:nvSpPr>
          <p:cNvPr id="353314" name="Line 34"/>
          <p:cNvSpPr>
            <a:spLocks noChangeShapeType="1"/>
          </p:cNvSpPr>
          <p:nvPr/>
        </p:nvSpPr>
        <p:spPr bwMode="auto">
          <a:xfrm flipV="1">
            <a:off x="1763713" y="1628775"/>
            <a:ext cx="431800" cy="0"/>
          </a:xfrm>
          <a:prstGeom prst="line">
            <a:avLst/>
          </a:prstGeom>
          <a:noFill/>
          <a:ln w="38100">
            <a:solidFill>
              <a:srgbClr val="0066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315" name="Line 35"/>
          <p:cNvSpPr>
            <a:spLocks noChangeShapeType="1"/>
          </p:cNvSpPr>
          <p:nvPr/>
        </p:nvSpPr>
        <p:spPr bwMode="auto">
          <a:xfrm>
            <a:off x="3779838" y="1700213"/>
            <a:ext cx="647700" cy="576262"/>
          </a:xfrm>
          <a:prstGeom prst="line">
            <a:avLst/>
          </a:prstGeom>
          <a:noFill/>
          <a:ln w="38100">
            <a:solidFill>
              <a:srgbClr val="0066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316" name="Line 36"/>
          <p:cNvSpPr>
            <a:spLocks noChangeShapeType="1"/>
          </p:cNvSpPr>
          <p:nvPr/>
        </p:nvSpPr>
        <p:spPr bwMode="auto">
          <a:xfrm flipH="1" flipV="1">
            <a:off x="1547813" y="2349500"/>
            <a:ext cx="647700" cy="503238"/>
          </a:xfrm>
          <a:prstGeom prst="line">
            <a:avLst/>
          </a:prstGeom>
          <a:noFill/>
          <a:ln w="38100">
            <a:solidFill>
              <a:srgbClr val="0066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317" name="Line 37"/>
          <p:cNvSpPr>
            <a:spLocks noChangeShapeType="1"/>
          </p:cNvSpPr>
          <p:nvPr/>
        </p:nvSpPr>
        <p:spPr bwMode="auto">
          <a:xfrm flipV="1">
            <a:off x="3779838" y="2708275"/>
            <a:ext cx="647700" cy="215900"/>
          </a:xfrm>
          <a:prstGeom prst="line">
            <a:avLst/>
          </a:prstGeom>
          <a:noFill/>
          <a:ln w="38100">
            <a:solidFill>
              <a:srgbClr val="0066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318" name="Line 38"/>
          <p:cNvSpPr>
            <a:spLocks noChangeShapeType="1"/>
          </p:cNvSpPr>
          <p:nvPr/>
        </p:nvSpPr>
        <p:spPr bwMode="auto">
          <a:xfrm>
            <a:off x="5219700" y="4437063"/>
            <a:ext cx="1512888" cy="71437"/>
          </a:xfrm>
          <a:prstGeom prst="line">
            <a:avLst/>
          </a:prstGeom>
          <a:noFill/>
          <a:ln w="38100">
            <a:solidFill>
              <a:srgbClr val="0066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319" name="Line 39"/>
          <p:cNvSpPr>
            <a:spLocks noChangeShapeType="1"/>
          </p:cNvSpPr>
          <p:nvPr/>
        </p:nvSpPr>
        <p:spPr bwMode="auto">
          <a:xfrm>
            <a:off x="7596188" y="4724400"/>
            <a:ext cx="71437" cy="865188"/>
          </a:xfrm>
          <a:prstGeom prst="line">
            <a:avLst/>
          </a:prstGeom>
          <a:noFill/>
          <a:ln w="38100">
            <a:solidFill>
              <a:srgbClr val="0066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3320" name="Rectangle 40"/>
          <p:cNvSpPr>
            <a:spLocks noChangeArrowheads="1"/>
          </p:cNvSpPr>
          <p:nvPr/>
        </p:nvSpPr>
        <p:spPr bwMode="auto">
          <a:xfrm>
            <a:off x="2574925" y="5734050"/>
            <a:ext cx="844550" cy="48895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600" b="1">
                <a:solidFill>
                  <a:srgbClr val="FFFF00"/>
                </a:solidFill>
                <a:ea typeface="华文新魏" pitchFamily="2" charset="-122"/>
              </a:rPr>
              <a:t>项目</a:t>
            </a:r>
          </a:p>
        </p:txBody>
      </p:sp>
      <p:sp>
        <p:nvSpPr>
          <p:cNvPr id="353321" name="Text Box 41"/>
          <p:cNvSpPr txBox="1">
            <a:spLocks noChangeArrowheads="1"/>
          </p:cNvSpPr>
          <p:nvPr/>
        </p:nvSpPr>
        <p:spPr bwMode="auto">
          <a:xfrm>
            <a:off x="2195513" y="188913"/>
            <a:ext cx="1582737" cy="4318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chemeClr val="bg1"/>
                </a:solidFill>
                <a:ea typeface="华文新魏" pitchFamily="2" charset="-122"/>
              </a:rPr>
              <a:t>接受项目</a:t>
            </a:r>
          </a:p>
        </p:txBody>
      </p:sp>
      <p:sp>
        <p:nvSpPr>
          <p:cNvPr id="353322" name="Line 42"/>
          <p:cNvSpPr>
            <a:spLocks noChangeShapeType="1"/>
          </p:cNvSpPr>
          <p:nvPr/>
        </p:nvSpPr>
        <p:spPr bwMode="auto">
          <a:xfrm>
            <a:off x="3779838" y="404813"/>
            <a:ext cx="576262" cy="503237"/>
          </a:xfrm>
          <a:prstGeom prst="line">
            <a:avLst/>
          </a:prstGeom>
          <a:noFill/>
          <a:ln w="38100">
            <a:solidFill>
              <a:srgbClr val="0066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6510337" cy="9747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一、基本概念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项目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801813"/>
            <a:ext cx="8559800" cy="4651375"/>
          </a:xfrm>
        </p:spPr>
        <p:txBody>
          <a:bodyPr/>
          <a:lstStyle/>
          <a:p>
            <a:pPr eaLnBrk="1" hangingPunct="1">
              <a:spcBef>
                <a:spcPct val="35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</a:t>
            </a:r>
          </a:p>
          <a:p>
            <a:pPr lvl="1" eaLnBrk="1" hangingPunct="1">
              <a:spcBef>
                <a:spcPct val="3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文法的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(Item)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：产生式的右部某个位置标有园点，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A→</a:t>
            </a:r>
            <a:r>
              <a:rPr lang="el-GR" altLang="zh-CN" b="1" smtClean="0">
                <a:latin typeface="Times New Roman" pitchFamily="18" charset="0"/>
                <a:ea typeface="楷体_GB2312" pitchFamily="49" charset="-122"/>
              </a:rPr>
              <a:t>α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.</a:t>
            </a:r>
            <a:r>
              <a:rPr lang="el-GR" altLang="zh-CN" b="1" smtClean="0">
                <a:latin typeface="Times New Roman" pitchFamily="18" charset="0"/>
                <a:ea typeface="楷体_GB2312" pitchFamily="49" charset="-122"/>
              </a:rPr>
              <a:t>β</a:t>
            </a:r>
            <a:endParaRPr lang="en-US" altLang="zh-CN" b="1" smtClean="0">
              <a:latin typeface="Times New Roman" pitchFamily="18" charset="0"/>
              <a:ea typeface="楷体_GB2312" pitchFamily="49" charset="-122"/>
            </a:endParaRPr>
          </a:p>
          <a:p>
            <a:pPr lvl="1" eaLnBrk="1" hangingPunct="1">
              <a:spcBef>
                <a:spcPct val="3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S→.aB   S→a.B   S→aB.</a:t>
            </a:r>
          </a:p>
          <a:p>
            <a:pPr lvl="1" eaLnBrk="1" hangingPunct="1">
              <a:spcBef>
                <a:spcPct val="3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移进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(Shift)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S→.bB</a:t>
            </a:r>
          </a:p>
          <a:p>
            <a:pPr lvl="1" eaLnBrk="1" hangingPunct="1">
              <a:spcBef>
                <a:spcPct val="3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待约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(Reducing)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S→b.BB 	S→a.B </a:t>
            </a:r>
          </a:p>
          <a:p>
            <a:pPr lvl="1" eaLnBrk="1" hangingPunct="1">
              <a:spcBef>
                <a:spcPct val="3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归约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(Reduce)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: S→aB.</a:t>
            </a:r>
          </a:p>
          <a:p>
            <a:pPr lvl="1" eaLnBrk="1" hangingPunct="1">
              <a:spcBef>
                <a:spcPct val="3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从产生式寻找归约对象的方法</a:t>
            </a:r>
          </a:p>
        </p:txBody>
      </p:sp>
      <p:sp>
        <p:nvSpPr>
          <p:cNvPr id="747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92359A5-CB7B-4F80-A98D-5496A06D0671}" type="slidenum">
              <a:rPr lang="en-US" altLang="zh-CN" smtClean="0"/>
              <a:pPr eaLnBrk="1" hangingPunct="1"/>
              <a:t>54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549275"/>
            <a:ext cx="6480175" cy="11239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一、基本概念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项目的意义</a:t>
            </a:r>
            <a:endParaRPr lang="zh-CN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4406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844675"/>
            <a:ext cx="8064500" cy="4467225"/>
          </a:xfrm>
        </p:spPr>
        <p:txBody>
          <a:bodyPr/>
          <a:lstStyle/>
          <a:p>
            <a:pPr marL="0" indent="0" eaLnBrk="1" hangingPunct="1">
              <a:spcBef>
                <a:spcPct val="6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A→X</a:t>
            </a:r>
            <a:r>
              <a:rPr lang="en-US" altLang="zh-CN" b="1" baseline="-25000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…X</a:t>
            </a:r>
            <a:r>
              <a:rPr lang="en-US" altLang="zh-CN" b="1" baseline="-25000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i-1</a:t>
            </a:r>
            <a:r>
              <a:rPr lang="en-US" altLang="zh-CN" sz="40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.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b="1" baseline="-25000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…X</a:t>
            </a:r>
            <a:r>
              <a:rPr lang="en-US" altLang="zh-CN" b="1" baseline="-25000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n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表示分析进展程度</a:t>
            </a:r>
          </a:p>
          <a:p>
            <a:pPr marL="465138" lvl="1" eaLnBrk="1" hangingPunct="1">
              <a:spcBef>
                <a:spcPct val="3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移进项目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b="1" baseline="-25000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∈T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  <a:p>
            <a:pPr marL="465138" lvl="1" eaLnBrk="1" hangingPunct="1">
              <a:spcBef>
                <a:spcPct val="3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待约项目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b="1" baseline="-25000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∈V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，继续寻找句柄</a:t>
            </a:r>
          </a:p>
          <a:p>
            <a:pPr marL="465138" lvl="1" eaLnBrk="1" hangingPunct="1">
              <a:spcBef>
                <a:spcPct val="3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归约项目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b="1" baseline="-25000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…X</a:t>
            </a:r>
            <a:r>
              <a:rPr lang="en-US" altLang="zh-CN" b="1" baseline="-25000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=ε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，句柄已经形成</a:t>
            </a:r>
          </a:p>
          <a:p>
            <a:pPr marL="0" indent="0" eaLnBrk="1" hangingPunct="1">
              <a:spcBef>
                <a:spcPct val="30000"/>
              </a:spcBef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A→</a:t>
            </a:r>
            <a:r>
              <a:rPr lang="el-GR" altLang="zh-CN" b="1" smtClean="0">
                <a:latin typeface="Times New Roman" pitchFamily="18" charset="0"/>
                <a:ea typeface="楷体_GB2312" pitchFamily="49" charset="-122"/>
              </a:rPr>
              <a:t>α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.</a:t>
            </a:r>
            <a:r>
              <a:rPr lang="el-GR" altLang="zh-CN" b="1" smtClean="0">
                <a:latin typeface="Times New Roman" pitchFamily="18" charset="0"/>
                <a:ea typeface="楷体_GB2312" pitchFamily="49" charset="-122"/>
              </a:rPr>
              <a:t>β</a:t>
            </a:r>
            <a:endParaRPr lang="en-US" altLang="zh-CN" b="1" smtClean="0">
              <a:latin typeface="Times New Roman" pitchFamily="18" charset="0"/>
              <a:ea typeface="楷体_GB2312" pitchFamily="49" charset="-122"/>
            </a:endParaRPr>
          </a:p>
          <a:p>
            <a:pPr marL="465138" lvl="1" eaLnBrk="1" hangingPunct="1">
              <a:spcBef>
                <a:spcPct val="30000"/>
              </a:spcBef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A→</a:t>
            </a:r>
            <a:r>
              <a:rPr lang="el-GR" altLang="zh-CN" b="1" smtClean="0">
                <a:latin typeface="Times New Roman" pitchFamily="18" charset="0"/>
                <a:ea typeface="楷体_GB2312" pitchFamily="49" charset="-122"/>
              </a:rPr>
              <a:t>α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.b</a:t>
            </a:r>
            <a:r>
              <a:rPr lang="el-GR" altLang="zh-CN" b="1" smtClean="0">
                <a:latin typeface="Times New Roman" pitchFamily="18" charset="0"/>
                <a:ea typeface="楷体_GB2312" pitchFamily="49" charset="-122"/>
              </a:rPr>
              <a:t>β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移进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(Shift)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b∈T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  <a:p>
            <a:pPr marL="465138" lvl="1" eaLnBrk="1" hangingPunct="1">
              <a:spcBef>
                <a:spcPct val="30000"/>
              </a:spcBef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A→</a:t>
            </a:r>
            <a:r>
              <a:rPr lang="el-GR" altLang="zh-CN" b="1" smtClean="0">
                <a:latin typeface="Times New Roman" pitchFamily="18" charset="0"/>
                <a:ea typeface="楷体_GB2312" pitchFamily="49" charset="-122"/>
              </a:rPr>
              <a:t>α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.B</a:t>
            </a:r>
            <a:r>
              <a:rPr lang="el-GR" altLang="zh-CN" b="1" smtClean="0">
                <a:latin typeface="Times New Roman" pitchFamily="18" charset="0"/>
                <a:ea typeface="楷体_GB2312" pitchFamily="49" charset="-122"/>
              </a:rPr>
              <a:t>β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待约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(Reducing)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b="1" smtClean="0">
                <a:solidFill>
                  <a:srgbClr val="006666"/>
                </a:solidFill>
                <a:latin typeface="Times New Roman" pitchFamily="18" charset="0"/>
                <a:ea typeface="华文新魏" pitchFamily="2" charset="-122"/>
              </a:rPr>
              <a:t>B∈V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  <a:p>
            <a:pPr marL="465138" lvl="1" eaLnBrk="1" hangingPunct="1">
              <a:spcBef>
                <a:spcPct val="30000"/>
              </a:spcBef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A→</a:t>
            </a:r>
            <a:r>
              <a:rPr lang="el-GR" altLang="zh-CN" b="1" smtClean="0">
                <a:latin typeface="Times New Roman" pitchFamily="18" charset="0"/>
                <a:ea typeface="楷体_GB2312" pitchFamily="49" charset="-122"/>
              </a:rPr>
              <a:t>α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.      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归约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(Reduce)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</a:t>
            </a:r>
          </a:p>
        </p:txBody>
      </p:sp>
      <p:sp>
        <p:nvSpPr>
          <p:cNvPr id="7578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C3905EB-37FF-4140-BB68-B4361D9B2CD7}" type="slidenum">
              <a:rPr lang="en-US" altLang="zh-CN" smtClean="0"/>
              <a:pPr eaLnBrk="1" hangingPunct="1"/>
              <a:t>55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417" name="Rectangle 41"/>
          <p:cNvSpPr>
            <a:spLocks noGrp="1" noChangeArrowheads="1"/>
          </p:cNvSpPr>
          <p:nvPr>
            <p:ph type="title"/>
          </p:nvPr>
        </p:nvSpPr>
        <p:spPr>
          <a:xfrm>
            <a:off x="2051050" y="2060575"/>
            <a:ext cx="1800225" cy="1800225"/>
          </a:xfrm>
          <a:solidFill>
            <a:srgbClr val="006666"/>
          </a:solidFill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(0) S'→S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 </a:t>
            </a:r>
            <a:b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1) S→BB</a:t>
            </a:r>
            <a:b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(2) B→aB</a:t>
            </a:r>
            <a:b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(3) B→b</a:t>
            </a:r>
          </a:p>
        </p:txBody>
      </p:sp>
      <p:sp>
        <p:nvSpPr>
          <p:cNvPr id="76803" name="Rectangle 4" descr="蓝色面巾纸"/>
          <p:cNvSpPr>
            <a:spLocks noGrp="1" noChangeArrowheads="1"/>
          </p:cNvSpPr>
          <p:nvPr>
            <p:ph idx="1"/>
          </p:nvPr>
        </p:nvSpPr>
        <p:spPr>
          <a:xfrm>
            <a:off x="685800" y="685800"/>
            <a:ext cx="1295400" cy="1905000"/>
          </a:xfrm>
          <a:blipFill dpi="0" rotWithShape="1">
            <a:blip r:embed="rId2"/>
            <a:srcRect/>
            <a:tile tx="0" ty="0" sx="100000" sy="100000" flip="none" algn="tl"/>
          </a:blipFill>
          <a:ln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CN" sz="2400" b="1" smtClean="0">
              <a:latin typeface="Times New Roman" pitchFamily="18" charset="0"/>
              <a:ea typeface="华文新魏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S’→.S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S→.BB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B→.aB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B→.b	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7680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0D88C21-8ED3-4F74-A52A-5C6081B0E309}" type="slidenum">
              <a:rPr lang="en-US" altLang="zh-CN" smtClean="0"/>
              <a:pPr eaLnBrk="1" hangingPunct="1"/>
              <a:t>56</a:t>
            </a:fld>
            <a:endParaRPr lang="en-US" altLang="zh-CN" smtClean="0"/>
          </a:p>
        </p:txBody>
      </p:sp>
      <p:sp>
        <p:nvSpPr>
          <p:cNvPr id="357378" name="Rectangle 2" descr="蓝色面巾纸"/>
          <p:cNvSpPr>
            <a:spLocks noChangeArrowheads="1"/>
          </p:cNvSpPr>
          <p:nvPr/>
        </p:nvSpPr>
        <p:spPr bwMode="auto">
          <a:xfrm>
            <a:off x="4211638" y="1684338"/>
            <a:ext cx="1368425" cy="16002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effectLst>
                <a:outerShdw blurRad="38100" dist="38100" dir="2700000" algn="tl">
                  <a:srgbClr val="FFFFFF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S→B.B</a:t>
            </a: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B→.aB</a:t>
            </a: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B→.b</a:t>
            </a: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	</a:t>
            </a:r>
            <a:endParaRPr kumimoji="1" lang="en-US" altLang="zh-CN" sz="32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57379" name="Rectangle 3" descr="白色大理石"/>
          <p:cNvSpPr>
            <a:spLocks noChangeArrowheads="1"/>
          </p:cNvSpPr>
          <p:nvPr/>
        </p:nvSpPr>
        <p:spPr bwMode="auto">
          <a:xfrm>
            <a:off x="4211638" y="1684338"/>
            <a:ext cx="1368425" cy="16002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>
              <a:defRPr/>
            </a:pPr>
            <a:endParaRPr kumimoji="1" lang="en-US" altLang="zh-CN" sz="2400" b="1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marL="609600" indent="-609600"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S→B.B</a:t>
            </a:r>
          </a:p>
          <a:p>
            <a:pPr marL="609600" indent="-609600"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B→.aB</a:t>
            </a:r>
          </a:p>
          <a:p>
            <a:pPr marL="609600" indent="-609600"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B→.b</a:t>
            </a:r>
          </a:p>
        </p:txBody>
      </p:sp>
      <p:sp>
        <p:nvSpPr>
          <p:cNvPr id="357381" name="Rectangle 5" descr="蓝色面巾纸"/>
          <p:cNvSpPr>
            <a:spLocks noChangeArrowheads="1"/>
          </p:cNvSpPr>
          <p:nvPr/>
        </p:nvSpPr>
        <p:spPr bwMode="auto">
          <a:xfrm>
            <a:off x="4267200" y="381000"/>
            <a:ext cx="1295400" cy="762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S’</a:t>
            </a: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→S.</a:t>
            </a:r>
            <a:endParaRPr kumimoji="1" lang="en-US" altLang="zh-CN" sz="240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6808" name="Line 6"/>
          <p:cNvSpPr>
            <a:spLocks noChangeShapeType="1"/>
          </p:cNvSpPr>
          <p:nvPr/>
        </p:nvSpPr>
        <p:spPr bwMode="auto">
          <a:xfrm>
            <a:off x="1981200" y="838200"/>
            <a:ext cx="228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09" name="Text Box 7"/>
          <p:cNvSpPr txBox="1">
            <a:spLocks noChangeArrowheads="1"/>
          </p:cNvSpPr>
          <p:nvPr/>
        </p:nvSpPr>
        <p:spPr bwMode="auto">
          <a:xfrm>
            <a:off x="2286000" y="4572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S</a:t>
            </a:r>
          </a:p>
        </p:txBody>
      </p:sp>
      <p:sp>
        <p:nvSpPr>
          <p:cNvPr id="76810" name="Line 8"/>
          <p:cNvSpPr>
            <a:spLocks noChangeShapeType="1"/>
          </p:cNvSpPr>
          <p:nvPr/>
        </p:nvSpPr>
        <p:spPr bwMode="auto">
          <a:xfrm>
            <a:off x="1981200" y="1905000"/>
            <a:ext cx="2209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1" name="Text Box 9"/>
          <p:cNvSpPr txBox="1">
            <a:spLocks noChangeArrowheads="1"/>
          </p:cNvSpPr>
          <p:nvPr/>
        </p:nvSpPr>
        <p:spPr bwMode="auto">
          <a:xfrm>
            <a:off x="2286000" y="1524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76812" name="Freeform 10"/>
          <p:cNvSpPr>
            <a:spLocks/>
          </p:cNvSpPr>
          <p:nvPr/>
        </p:nvSpPr>
        <p:spPr bwMode="auto">
          <a:xfrm>
            <a:off x="990600" y="2590800"/>
            <a:ext cx="3352800" cy="3124200"/>
          </a:xfrm>
          <a:custGeom>
            <a:avLst/>
            <a:gdLst>
              <a:gd name="T0" fmla="*/ 0 w 816"/>
              <a:gd name="T1" fmla="*/ 0 h 1344"/>
              <a:gd name="T2" fmla="*/ 810358626 w 816"/>
              <a:gd name="T3" fmla="*/ 2147483647 h 1344"/>
              <a:gd name="T4" fmla="*/ 2147483647 w 816"/>
              <a:gd name="T5" fmla="*/ 2147483647 h 1344"/>
              <a:gd name="T6" fmla="*/ 2147483647 w 816"/>
              <a:gd name="T7" fmla="*/ 2147483647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3" name="Text Box 11"/>
          <p:cNvSpPr txBox="1">
            <a:spLocks noChangeArrowheads="1"/>
          </p:cNvSpPr>
          <p:nvPr/>
        </p:nvSpPr>
        <p:spPr bwMode="auto">
          <a:xfrm>
            <a:off x="9906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357388" name="Rectangle 12" descr="蓝色面巾纸"/>
          <p:cNvSpPr>
            <a:spLocks noChangeArrowheads="1"/>
          </p:cNvSpPr>
          <p:nvPr/>
        </p:nvSpPr>
        <p:spPr bwMode="auto">
          <a:xfrm>
            <a:off x="4343400" y="4953000"/>
            <a:ext cx="1295400" cy="14478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B→a.B</a:t>
            </a: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B→.aB</a:t>
            </a: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B→.b	</a:t>
            </a:r>
            <a:endParaRPr kumimoji="1" lang="en-US" altLang="zh-CN" sz="28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6815" name="Freeform 13"/>
          <p:cNvSpPr>
            <a:spLocks/>
          </p:cNvSpPr>
          <p:nvPr/>
        </p:nvSpPr>
        <p:spPr bwMode="auto">
          <a:xfrm>
            <a:off x="1524000" y="2590800"/>
            <a:ext cx="2743200" cy="1600200"/>
          </a:xfrm>
          <a:custGeom>
            <a:avLst/>
            <a:gdLst>
              <a:gd name="T0" fmla="*/ 0 w 1680"/>
              <a:gd name="T1" fmla="*/ 0 h 1056"/>
              <a:gd name="T2" fmla="*/ 127978458 w 1680"/>
              <a:gd name="T3" fmla="*/ 1432865166 h 1056"/>
              <a:gd name="T4" fmla="*/ 639893872 w 1680"/>
              <a:gd name="T5" fmla="*/ 1983965987 h 1056"/>
              <a:gd name="T6" fmla="*/ 1919680188 w 1680"/>
              <a:gd name="T7" fmla="*/ 2147483647 h 1056"/>
              <a:gd name="T8" fmla="*/ 2147483647 w 1680"/>
              <a:gd name="T9" fmla="*/ 2147483647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6" name="Text Box 14"/>
          <p:cNvSpPr txBox="1">
            <a:spLocks noChangeArrowheads="1"/>
          </p:cNvSpPr>
          <p:nvPr/>
        </p:nvSpPr>
        <p:spPr bwMode="auto">
          <a:xfrm>
            <a:off x="16764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57391" name="Rectangle 15" descr="蓝色面巾纸"/>
          <p:cNvSpPr>
            <a:spLocks noChangeArrowheads="1"/>
          </p:cNvSpPr>
          <p:nvPr/>
        </p:nvSpPr>
        <p:spPr bwMode="auto">
          <a:xfrm>
            <a:off x="4343400" y="3733800"/>
            <a:ext cx="1295400" cy="8382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B→b.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	</a:t>
            </a:r>
            <a:endParaRPr kumimoji="1" lang="en-US" altLang="zh-CN" sz="28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6818" name="Line 16"/>
          <p:cNvSpPr>
            <a:spLocks noChangeShapeType="1"/>
          </p:cNvSpPr>
          <p:nvPr/>
        </p:nvSpPr>
        <p:spPr bwMode="auto">
          <a:xfrm flipV="1">
            <a:off x="5562600" y="914400"/>
            <a:ext cx="15240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19" name="Text Box 17"/>
          <p:cNvSpPr txBox="1">
            <a:spLocks noChangeArrowheads="1"/>
          </p:cNvSpPr>
          <p:nvPr/>
        </p:nvSpPr>
        <p:spPr bwMode="auto">
          <a:xfrm>
            <a:off x="6096000" y="914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57394" name="Rectangle 18" descr="蓝色面巾纸"/>
          <p:cNvSpPr>
            <a:spLocks noChangeArrowheads="1"/>
          </p:cNvSpPr>
          <p:nvPr/>
        </p:nvSpPr>
        <p:spPr bwMode="auto">
          <a:xfrm>
            <a:off x="7086600" y="381000"/>
            <a:ext cx="1295400" cy="762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effectLst>
                <a:outerShdw blurRad="38100" dist="38100" dir="2700000" algn="tl">
                  <a:srgbClr val="FFFFFF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S→BB.</a:t>
            </a:r>
          </a:p>
        </p:txBody>
      </p:sp>
      <p:sp>
        <p:nvSpPr>
          <p:cNvPr id="76821" name="Freeform 19"/>
          <p:cNvSpPr>
            <a:spLocks/>
          </p:cNvSpPr>
          <p:nvPr/>
        </p:nvSpPr>
        <p:spPr bwMode="auto">
          <a:xfrm>
            <a:off x="5562600" y="2590800"/>
            <a:ext cx="1295400" cy="2743200"/>
          </a:xfrm>
          <a:custGeom>
            <a:avLst/>
            <a:gdLst>
              <a:gd name="T0" fmla="*/ 0 w 1424"/>
              <a:gd name="T1" fmla="*/ 0 h 1968"/>
              <a:gd name="T2" fmla="*/ 913601687 w 1424"/>
              <a:gd name="T3" fmla="*/ 839360796 h 1968"/>
              <a:gd name="T4" fmla="*/ 1032766848 w 1424"/>
              <a:gd name="T5" fmla="*/ 2147483647 h 1968"/>
              <a:gd name="T6" fmla="*/ 39721659 w 1424"/>
              <a:gd name="T7" fmla="*/ 2147483647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22" name="Text Box 20"/>
          <p:cNvSpPr txBox="1">
            <a:spLocks noChangeArrowheads="1"/>
          </p:cNvSpPr>
          <p:nvPr/>
        </p:nvSpPr>
        <p:spPr bwMode="auto">
          <a:xfrm>
            <a:off x="6781800" y="3581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76823" name="Freeform 21"/>
          <p:cNvSpPr>
            <a:spLocks/>
          </p:cNvSpPr>
          <p:nvPr/>
        </p:nvSpPr>
        <p:spPr bwMode="auto">
          <a:xfrm>
            <a:off x="5562600" y="3200400"/>
            <a:ext cx="317500" cy="685800"/>
          </a:xfrm>
          <a:custGeom>
            <a:avLst/>
            <a:gdLst>
              <a:gd name="T0" fmla="*/ 0 w 200"/>
              <a:gd name="T1" fmla="*/ 0 h 432"/>
              <a:gd name="T2" fmla="*/ 483870051 w 200"/>
              <a:gd name="T3" fmla="*/ 483870062 h 432"/>
              <a:gd name="T4" fmla="*/ 120967513 w 200"/>
              <a:gd name="T5" fmla="*/ 1088707589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24" name="Text Box 22"/>
          <p:cNvSpPr txBox="1">
            <a:spLocks noChangeArrowheads="1"/>
          </p:cNvSpPr>
          <p:nvPr/>
        </p:nvSpPr>
        <p:spPr bwMode="auto">
          <a:xfrm>
            <a:off x="5867400" y="3352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76825" name="Line 23"/>
          <p:cNvSpPr>
            <a:spLocks noChangeShapeType="1"/>
          </p:cNvSpPr>
          <p:nvPr/>
        </p:nvSpPr>
        <p:spPr bwMode="auto">
          <a:xfrm>
            <a:off x="5638800" y="56388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26" name="Text Box 24"/>
          <p:cNvSpPr txBox="1">
            <a:spLocks noChangeArrowheads="1"/>
          </p:cNvSpPr>
          <p:nvPr/>
        </p:nvSpPr>
        <p:spPr bwMode="auto">
          <a:xfrm>
            <a:off x="6019800" y="5257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57401" name="Rectangle 25" descr="蓝色面巾纸"/>
          <p:cNvSpPr>
            <a:spLocks noChangeArrowheads="1"/>
          </p:cNvSpPr>
          <p:nvPr/>
        </p:nvSpPr>
        <p:spPr bwMode="auto">
          <a:xfrm>
            <a:off x="6934200" y="5181600"/>
            <a:ext cx="1295400" cy="9144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effectLst>
                <a:outerShdw blurRad="38100" dist="38100" dir="2700000" algn="tl">
                  <a:srgbClr val="FFFFFF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B→aB.</a:t>
            </a:r>
            <a:endParaRPr kumimoji="1" lang="en-US" altLang="zh-CN" sz="320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6828" name="Freeform 26"/>
          <p:cNvSpPr>
            <a:spLocks/>
          </p:cNvSpPr>
          <p:nvPr/>
        </p:nvSpPr>
        <p:spPr bwMode="auto">
          <a:xfrm>
            <a:off x="5638800" y="5867400"/>
            <a:ext cx="457200" cy="457200"/>
          </a:xfrm>
          <a:custGeom>
            <a:avLst/>
            <a:gdLst>
              <a:gd name="T0" fmla="*/ 0 w 288"/>
              <a:gd name="T1" fmla="*/ 0 h 288"/>
              <a:gd name="T2" fmla="*/ 725804891 w 288"/>
              <a:gd name="T3" fmla="*/ 362902445 h 288"/>
              <a:gd name="T4" fmla="*/ 0 w 288"/>
              <a:gd name="T5" fmla="*/ 725804891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829" name="Text Box 27"/>
          <p:cNvSpPr txBox="1">
            <a:spLocks noChangeArrowheads="1"/>
          </p:cNvSpPr>
          <p:nvPr/>
        </p:nvSpPr>
        <p:spPr bwMode="auto">
          <a:xfrm>
            <a:off x="6019800" y="5867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76830" name="Line 28"/>
          <p:cNvSpPr>
            <a:spLocks noChangeShapeType="1"/>
          </p:cNvSpPr>
          <p:nvPr/>
        </p:nvSpPr>
        <p:spPr bwMode="auto">
          <a:xfrm flipV="1">
            <a:off x="4953000" y="45720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831" name="Text Box 29"/>
          <p:cNvSpPr txBox="1">
            <a:spLocks noChangeArrowheads="1"/>
          </p:cNvSpPr>
          <p:nvPr/>
        </p:nvSpPr>
        <p:spPr bwMode="auto">
          <a:xfrm>
            <a:off x="4953000" y="4572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57406" name="Text Box 30"/>
          <p:cNvSpPr txBox="1">
            <a:spLocks noChangeArrowheads="1"/>
          </p:cNvSpPr>
          <p:nvPr/>
        </p:nvSpPr>
        <p:spPr bwMode="auto">
          <a:xfrm>
            <a:off x="7308850" y="4221163"/>
            <a:ext cx="1514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6666"/>
                </a:solidFill>
                <a:latin typeface="Times New Roman" pitchFamily="18" charset="0"/>
              </a:rPr>
              <a:t>b     a     b </a:t>
            </a:r>
          </a:p>
        </p:txBody>
      </p:sp>
      <p:sp>
        <p:nvSpPr>
          <p:cNvPr id="357407" name="Text Box 31"/>
          <p:cNvSpPr txBox="1">
            <a:spLocks noChangeArrowheads="1"/>
          </p:cNvSpPr>
          <p:nvPr/>
        </p:nvSpPr>
        <p:spPr bwMode="auto">
          <a:xfrm>
            <a:off x="7308850" y="371633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6666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357408" name="Text Box 32"/>
          <p:cNvSpPr txBox="1">
            <a:spLocks noChangeArrowheads="1"/>
          </p:cNvSpPr>
          <p:nvPr/>
        </p:nvSpPr>
        <p:spPr bwMode="auto">
          <a:xfrm>
            <a:off x="8378825" y="369252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6666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357409" name="Text Box 33"/>
          <p:cNvSpPr txBox="1">
            <a:spLocks noChangeArrowheads="1"/>
          </p:cNvSpPr>
          <p:nvPr/>
        </p:nvSpPr>
        <p:spPr bwMode="auto">
          <a:xfrm>
            <a:off x="8172450" y="299720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solidFill>
                  <a:srgbClr val="006666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357410" name="Text Box 34"/>
          <p:cNvSpPr txBox="1">
            <a:spLocks noChangeArrowheads="1"/>
          </p:cNvSpPr>
          <p:nvPr/>
        </p:nvSpPr>
        <p:spPr bwMode="auto">
          <a:xfrm>
            <a:off x="7740650" y="2276475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3200" b="1">
                <a:solidFill>
                  <a:srgbClr val="006666"/>
                </a:solidFill>
                <a:latin typeface="Times New Roman" pitchFamily="18" charset="0"/>
              </a:rPr>
              <a:t>S</a:t>
            </a:r>
          </a:p>
        </p:txBody>
      </p:sp>
      <p:sp>
        <p:nvSpPr>
          <p:cNvPr id="357411" name="Line 35"/>
          <p:cNvSpPr>
            <a:spLocks noChangeShapeType="1"/>
          </p:cNvSpPr>
          <p:nvPr/>
        </p:nvSpPr>
        <p:spPr bwMode="auto">
          <a:xfrm>
            <a:off x="7524750" y="4076700"/>
            <a:ext cx="0" cy="319088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412" name="Line 36"/>
          <p:cNvSpPr>
            <a:spLocks noChangeShapeType="1"/>
          </p:cNvSpPr>
          <p:nvPr/>
        </p:nvSpPr>
        <p:spPr bwMode="auto">
          <a:xfrm>
            <a:off x="8604250" y="4005263"/>
            <a:ext cx="1588" cy="360362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413" name="Line 37"/>
          <p:cNvSpPr>
            <a:spLocks noChangeShapeType="1"/>
          </p:cNvSpPr>
          <p:nvPr/>
        </p:nvSpPr>
        <p:spPr bwMode="auto">
          <a:xfrm flipH="1">
            <a:off x="7524750" y="2708275"/>
            <a:ext cx="360363" cy="1154113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414" name="Line 38"/>
          <p:cNvSpPr>
            <a:spLocks noChangeShapeType="1"/>
          </p:cNvSpPr>
          <p:nvPr/>
        </p:nvSpPr>
        <p:spPr bwMode="auto">
          <a:xfrm flipH="1">
            <a:off x="8027988" y="3429000"/>
            <a:ext cx="287337" cy="936625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415" name="Line 39"/>
          <p:cNvSpPr>
            <a:spLocks noChangeShapeType="1"/>
          </p:cNvSpPr>
          <p:nvPr/>
        </p:nvSpPr>
        <p:spPr bwMode="auto">
          <a:xfrm>
            <a:off x="8459788" y="3357563"/>
            <a:ext cx="130175" cy="431800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416" name="Line 40"/>
          <p:cNvSpPr>
            <a:spLocks noChangeShapeType="1"/>
          </p:cNvSpPr>
          <p:nvPr/>
        </p:nvSpPr>
        <p:spPr bwMode="auto">
          <a:xfrm>
            <a:off x="8027988" y="2708275"/>
            <a:ext cx="288925" cy="431800"/>
          </a:xfrm>
          <a:prstGeom prst="line">
            <a:avLst/>
          </a:prstGeom>
          <a:noFill/>
          <a:ln w="38100">
            <a:solidFill>
              <a:srgbClr val="006666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418" name="Text Box 42"/>
          <p:cNvSpPr txBox="1">
            <a:spLocks noChangeArrowheads="1"/>
          </p:cNvSpPr>
          <p:nvPr/>
        </p:nvSpPr>
        <p:spPr bwMode="auto">
          <a:xfrm>
            <a:off x="5651500" y="549275"/>
            <a:ext cx="3455988" cy="18002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    </a:t>
            </a:r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表示完成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b</a:t>
            </a:r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的归约：获得了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BB</a:t>
            </a:r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中的第一个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B</a:t>
            </a:r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，第二个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B</a:t>
            </a:r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可以通过获得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aB</a:t>
            </a:r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或</a:t>
            </a: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b</a:t>
            </a:r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获得</a:t>
            </a:r>
          </a:p>
        </p:txBody>
      </p:sp>
      <p:sp>
        <p:nvSpPr>
          <p:cNvPr id="357419" name="Freeform 43"/>
          <p:cNvSpPr>
            <a:spLocks/>
          </p:cNvSpPr>
          <p:nvPr/>
        </p:nvSpPr>
        <p:spPr bwMode="auto">
          <a:xfrm>
            <a:off x="5580063" y="2205038"/>
            <a:ext cx="2160587" cy="2530475"/>
          </a:xfrm>
          <a:custGeom>
            <a:avLst/>
            <a:gdLst>
              <a:gd name="T0" fmla="*/ 0 w 1361"/>
              <a:gd name="T1" fmla="*/ 0 h 1594"/>
              <a:gd name="T2" fmla="*/ 1144150659 w 1361"/>
              <a:gd name="T3" fmla="*/ 229335041 h 1594"/>
              <a:gd name="T4" fmla="*/ 2058966441 w 1361"/>
              <a:gd name="T5" fmla="*/ 1257557187 h 1594"/>
              <a:gd name="T6" fmla="*/ 2147483647 w 1361"/>
              <a:gd name="T7" fmla="*/ 2147483647 h 1594"/>
              <a:gd name="T8" fmla="*/ 2147483647 w 1361"/>
              <a:gd name="T9" fmla="*/ 2147483647 h 1594"/>
              <a:gd name="T10" fmla="*/ 2147483647 w 1361"/>
              <a:gd name="T11" fmla="*/ 2147483647 h 1594"/>
              <a:gd name="T12" fmla="*/ 2147483647 w 1361"/>
              <a:gd name="T13" fmla="*/ 2147483647 h 1594"/>
              <a:gd name="T14" fmla="*/ 2147483647 w 1361"/>
              <a:gd name="T15" fmla="*/ 2147483647 h 1594"/>
              <a:gd name="T16" fmla="*/ 2147483647 w 1361"/>
              <a:gd name="T17" fmla="*/ 2147483647 h 1594"/>
              <a:gd name="T18" fmla="*/ 2147483647 w 1361"/>
              <a:gd name="T19" fmla="*/ 2147483647 h 1594"/>
              <a:gd name="T20" fmla="*/ 2147483647 w 1361"/>
              <a:gd name="T21" fmla="*/ 2147483647 h 1594"/>
              <a:gd name="T22" fmla="*/ 2147483647 w 1361"/>
              <a:gd name="T23" fmla="*/ 2147483647 h 1594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361"/>
              <a:gd name="T37" fmla="*/ 0 h 1594"/>
              <a:gd name="T38" fmla="*/ 1361 w 1361"/>
              <a:gd name="T39" fmla="*/ 1594 h 1594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361" h="1594">
                <a:moveTo>
                  <a:pt x="0" y="0"/>
                </a:moveTo>
                <a:cubicBezTo>
                  <a:pt x="159" y="4"/>
                  <a:pt x="318" y="8"/>
                  <a:pt x="454" y="91"/>
                </a:cubicBezTo>
                <a:cubicBezTo>
                  <a:pt x="590" y="174"/>
                  <a:pt x="742" y="371"/>
                  <a:pt x="817" y="499"/>
                </a:cubicBezTo>
                <a:cubicBezTo>
                  <a:pt x="892" y="627"/>
                  <a:pt x="884" y="749"/>
                  <a:pt x="907" y="862"/>
                </a:cubicBezTo>
                <a:cubicBezTo>
                  <a:pt x="930" y="975"/>
                  <a:pt x="938" y="1073"/>
                  <a:pt x="953" y="1179"/>
                </a:cubicBezTo>
                <a:cubicBezTo>
                  <a:pt x="968" y="1285"/>
                  <a:pt x="983" y="1437"/>
                  <a:pt x="998" y="1497"/>
                </a:cubicBezTo>
                <a:cubicBezTo>
                  <a:pt x="1013" y="1557"/>
                  <a:pt x="1028" y="1527"/>
                  <a:pt x="1043" y="1542"/>
                </a:cubicBezTo>
                <a:cubicBezTo>
                  <a:pt x="1058" y="1557"/>
                  <a:pt x="1066" y="1580"/>
                  <a:pt x="1089" y="1587"/>
                </a:cubicBezTo>
                <a:cubicBezTo>
                  <a:pt x="1112" y="1594"/>
                  <a:pt x="1156" y="1587"/>
                  <a:pt x="1179" y="1587"/>
                </a:cubicBezTo>
                <a:cubicBezTo>
                  <a:pt x="1202" y="1587"/>
                  <a:pt x="1202" y="1594"/>
                  <a:pt x="1225" y="1587"/>
                </a:cubicBezTo>
                <a:cubicBezTo>
                  <a:pt x="1248" y="1580"/>
                  <a:pt x="1292" y="1565"/>
                  <a:pt x="1315" y="1542"/>
                </a:cubicBezTo>
                <a:cubicBezTo>
                  <a:pt x="1338" y="1519"/>
                  <a:pt x="1353" y="1466"/>
                  <a:pt x="1361" y="1451"/>
                </a:cubicBezTo>
              </a:path>
            </a:pathLst>
          </a:custGeom>
          <a:noFill/>
          <a:ln w="57150">
            <a:solidFill>
              <a:srgbClr val="CC00CC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7420" name="Oval 44"/>
          <p:cNvSpPr>
            <a:spLocks noChangeArrowheads="1"/>
          </p:cNvSpPr>
          <p:nvPr/>
        </p:nvSpPr>
        <p:spPr bwMode="auto">
          <a:xfrm>
            <a:off x="7667625" y="4365625"/>
            <a:ext cx="142875" cy="144463"/>
          </a:xfrm>
          <a:prstGeom prst="ellipse">
            <a:avLst/>
          </a:prstGeom>
          <a:solidFill>
            <a:srgbClr val="CC00CC"/>
          </a:solidFill>
          <a:ln w="9525">
            <a:solidFill>
              <a:srgbClr val="CC00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7421" name="Text Box 45"/>
          <p:cNvSpPr txBox="1">
            <a:spLocks noChangeArrowheads="1"/>
          </p:cNvSpPr>
          <p:nvPr/>
        </p:nvSpPr>
        <p:spPr bwMode="auto">
          <a:xfrm>
            <a:off x="179388" y="4941888"/>
            <a:ext cx="3816350" cy="18002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园点移动</a:t>
            </a:r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：描述句柄的形成进程。园点前是已获取的内容，园点之后是待获取的内容</a:t>
            </a:r>
          </a:p>
        </p:txBody>
      </p:sp>
      <p:sp>
        <p:nvSpPr>
          <p:cNvPr id="2" name="Rectangle 12" descr="蓝色面巾纸"/>
          <p:cNvSpPr>
            <a:spLocks noChangeArrowheads="1"/>
          </p:cNvSpPr>
          <p:nvPr/>
        </p:nvSpPr>
        <p:spPr bwMode="auto">
          <a:xfrm>
            <a:off x="4356100" y="4960938"/>
            <a:ext cx="1295400" cy="14478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B→a.B</a:t>
            </a: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B→.aB</a:t>
            </a: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B→.b	</a:t>
            </a:r>
            <a:endParaRPr kumimoji="1" lang="en-US" altLang="zh-CN" sz="28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4800" name="Freeform 48"/>
          <p:cNvSpPr>
            <a:spLocks/>
          </p:cNvSpPr>
          <p:nvPr/>
        </p:nvSpPr>
        <p:spPr bwMode="auto">
          <a:xfrm>
            <a:off x="5076825" y="4437063"/>
            <a:ext cx="3276600" cy="1008062"/>
          </a:xfrm>
          <a:custGeom>
            <a:avLst/>
            <a:gdLst>
              <a:gd name="T0" fmla="*/ 0 w 1928"/>
              <a:gd name="T1" fmla="*/ 272 h 287"/>
              <a:gd name="T2" fmla="*/ 589 w 1928"/>
              <a:gd name="T3" fmla="*/ 91 h 287"/>
              <a:gd name="T4" fmla="*/ 1315 w 1928"/>
              <a:gd name="T5" fmla="*/ 272 h 287"/>
              <a:gd name="T6" fmla="*/ 1769 w 1928"/>
              <a:gd name="T7" fmla="*/ 181 h 287"/>
              <a:gd name="T8" fmla="*/ 1905 w 1928"/>
              <a:gd name="T9" fmla="*/ 45 h 287"/>
              <a:gd name="T10" fmla="*/ 1905 w 1928"/>
              <a:gd name="T11" fmla="*/ 0 h 28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28"/>
              <a:gd name="T19" fmla="*/ 0 h 287"/>
              <a:gd name="T20" fmla="*/ 1928 w 1928"/>
              <a:gd name="T21" fmla="*/ 287 h 28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28" h="287">
                <a:moveTo>
                  <a:pt x="0" y="272"/>
                </a:moveTo>
                <a:cubicBezTo>
                  <a:pt x="185" y="181"/>
                  <a:pt x="370" y="91"/>
                  <a:pt x="589" y="91"/>
                </a:cubicBezTo>
                <a:cubicBezTo>
                  <a:pt x="808" y="91"/>
                  <a:pt x="1118" y="257"/>
                  <a:pt x="1315" y="272"/>
                </a:cubicBezTo>
                <a:cubicBezTo>
                  <a:pt x="1512" y="287"/>
                  <a:pt x="1671" y="219"/>
                  <a:pt x="1769" y="181"/>
                </a:cubicBezTo>
                <a:cubicBezTo>
                  <a:pt x="1867" y="143"/>
                  <a:pt x="1882" y="75"/>
                  <a:pt x="1905" y="45"/>
                </a:cubicBezTo>
                <a:cubicBezTo>
                  <a:pt x="1928" y="15"/>
                  <a:pt x="1890" y="38"/>
                  <a:pt x="1905" y="0"/>
                </a:cubicBezTo>
              </a:path>
            </a:pathLst>
          </a:custGeom>
          <a:noFill/>
          <a:ln w="57150">
            <a:solidFill>
              <a:srgbClr val="CC00CC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25" descr="蓝色面巾纸"/>
          <p:cNvSpPr>
            <a:spLocks noChangeArrowheads="1"/>
          </p:cNvSpPr>
          <p:nvPr/>
        </p:nvSpPr>
        <p:spPr bwMode="auto">
          <a:xfrm>
            <a:off x="6938963" y="5178425"/>
            <a:ext cx="1295400" cy="9144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effectLst>
                <a:outerShdw blurRad="38100" dist="38100" dir="2700000" algn="tl">
                  <a:srgbClr val="FFFFFF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B→aB.</a:t>
            </a:r>
            <a:endParaRPr kumimoji="1" lang="en-US" altLang="zh-CN" sz="320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4801" name="Freeform 49"/>
          <p:cNvSpPr>
            <a:spLocks/>
          </p:cNvSpPr>
          <p:nvPr/>
        </p:nvSpPr>
        <p:spPr bwMode="auto">
          <a:xfrm>
            <a:off x="7956550" y="4437063"/>
            <a:ext cx="947738" cy="1368425"/>
          </a:xfrm>
          <a:custGeom>
            <a:avLst/>
            <a:gdLst>
              <a:gd name="T0" fmla="*/ 0 w 597"/>
              <a:gd name="T1" fmla="*/ 726 h 726"/>
              <a:gd name="T2" fmla="*/ 499 w 597"/>
              <a:gd name="T3" fmla="*/ 499 h 726"/>
              <a:gd name="T4" fmla="*/ 590 w 597"/>
              <a:gd name="T5" fmla="*/ 0 h 726"/>
              <a:gd name="T6" fmla="*/ 0 60000 65536"/>
              <a:gd name="T7" fmla="*/ 0 60000 65536"/>
              <a:gd name="T8" fmla="*/ 0 60000 65536"/>
              <a:gd name="T9" fmla="*/ 0 w 597"/>
              <a:gd name="T10" fmla="*/ 0 h 726"/>
              <a:gd name="T11" fmla="*/ 597 w 597"/>
              <a:gd name="T12" fmla="*/ 726 h 7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7" h="726">
                <a:moveTo>
                  <a:pt x="0" y="726"/>
                </a:moveTo>
                <a:cubicBezTo>
                  <a:pt x="200" y="673"/>
                  <a:pt x="401" y="620"/>
                  <a:pt x="499" y="499"/>
                </a:cubicBezTo>
                <a:cubicBezTo>
                  <a:pt x="597" y="378"/>
                  <a:pt x="593" y="189"/>
                  <a:pt x="590" y="0"/>
                </a:cubicBezTo>
              </a:path>
            </a:pathLst>
          </a:custGeom>
          <a:noFill/>
          <a:ln w="57150">
            <a:solidFill>
              <a:srgbClr val="CC00CC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18" descr="蓝色面巾纸"/>
          <p:cNvSpPr>
            <a:spLocks noChangeArrowheads="1"/>
          </p:cNvSpPr>
          <p:nvPr/>
        </p:nvSpPr>
        <p:spPr bwMode="auto">
          <a:xfrm>
            <a:off x="7092950" y="381000"/>
            <a:ext cx="1295400" cy="7620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effectLst>
                <a:outerShdw blurRad="38100" dist="38100" dir="2700000" algn="tl">
                  <a:srgbClr val="FFFFFF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S→BB.</a:t>
            </a:r>
          </a:p>
        </p:txBody>
      </p:sp>
      <p:sp>
        <p:nvSpPr>
          <p:cNvPr id="5" name="Rectangle 5" descr="蓝色面巾纸"/>
          <p:cNvSpPr>
            <a:spLocks noChangeArrowheads="1"/>
          </p:cNvSpPr>
          <p:nvPr/>
        </p:nvSpPr>
        <p:spPr bwMode="auto">
          <a:xfrm>
            <a:off x="4265613" y="385763"/>
            <a:ext cx="1295400" cy="762000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S’</a:t>
            </a: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→S.</a:t>
            </a:r>
            <a:endParaRPr kumimoji="1" lang="en-US" altLang="zh-CN" sz="240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4806" name="Freeform 54"/>
          <p:cNvSpPr>
            <a:spLocks/>
          </p:cNvSpPr>
          <p:nvPr/>
        </p:nvSpPr>
        <p:spPr bwMode="auto">
          <a:xfrm>
            <a:off x="8388350" y="836613"/>
            <a:ext cx="504825" cy="3529012"/>
          </a:xfrm>
          <a:custGeom>
            <a:avLst/>
            <a:gdLst>
              <a:gd name="T0" fmla="*/ 273 w 273"/>
              <a:gd name="T1" fmla="*/ 2359 h 2359"/>
              <a:gd name="T2" fmla="*/ 182 w 273"/>
              <a:gd name="T3" fmla="*/ 454 h 2359"/>
              <a:gd name="T4" fmla="*/ 0 w 273"/>
              <a:gd name="T5" fmla="*/ 0 h 2359"/>
              <a:gd name="T6" fmla="*/ 0 60000 65536"/>
              <a:gd name="T7" fmla="*/ 0 60000 65536"/>
              <a:gd name="T8" fmla="*/ 0 60000 65536"/>
              <a:gd name="T9" fmla="*/ 0 w 273"/>
              <a:gd name="T10" fmla="*/ 0 h 2359"/>
              <a:gd name="T11" fmla="*/ 273 w 273"/>
              <a:gd name="T12" fmla="*/ 2359 h 23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2359">
                <a:moveTo>
                  <a:pt x="273" y="2359"/>
                </a:moveTo>
                <a:cubicBezTo>
                  <a:pt x="250" y="1603"/>
                  <a:pt x="227" y="847"/>
                  <a:pt x="182" y="454"/>
                </a:cubicBezTo>
                <a:cubicBezTo>
                  <a:pt x="137" y="61"/>
                  <a:pt x="68" y="30"/>
                  <a:pt x="0" y="0"/>
                </a:cubicBezTo>
              </a:path>
            </a:pathLst>
          </a:custGeom>
          <a:noFill/>
          <a:ln w="57150">
            <a:solidFill>
              <a:srgbClr val="CC00CC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807" name="Freeform 55"/>
          <p:cNvSpPr>
            <a:spLocks/>
          </p:cNvSpPr>
          <p:nvPr/>
        </p:nvSpPr>
        <p:spPr bwMode="auto">
          <a:xfrm>
            <a:off x="5508625" y="549275"/>
            <a:ext cx="1584325" cy="287338"/>
          </a:xfrm>
          <a:custGeom>
            <a:avLst/>
            <a:gdLst>
              <a:gd name="T0" fmla="*/ 953 w 953"/>
              <a:gd name="T1" fmla="*/ 90 h 90"/>
              <a:gd name="T2" fmla="*/ 544 w 953"/>
              <a:gd name="T3" fmla="*/ 0 h 90"/>
              <a:gd name="T4" fmla="*/ 0 w 953"/>
              <a:gd name="T5" fmla="*/ 90 h 90"/>
              <a:gd name="T6" fmla="*/ 0 60000 65536"/>
              <a:gd name="T7" fmla="*/ 0 60000 65536"/>
              <a:gd name="T8" fmla="*/ 0 60000 65536"/>
              <a:gd name="T9" fmla="*/ 0 w 953"/>
              <a:gd name="T10" fmla="*/ 0 h 90"/>
              <a:gd name="T11" fmla="*/ 953 w 953"/>
              <a:gd name="T12" fmla="*/ 90 h 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53" h="90">
                <a:moveTo>
                  <a:pt x="953" y="90"/>
                </a:moveTo>
                <a:cubicBezTo>
                  <a:pt x="828" y="45"/>
                  <a:pt x="703" y="0"/>
                  <a:pt x="544" y="0"/>
                </a:cubicBezTo>
                <a:cubicBezTo>
                  <a:pt x="385" y="0"/>
                  <a:pt x="192" y="45"/>
                  <a:pt x="0" y="90"/>
                </a:cubicBezTo>
              </a:path>
            </a:pathLst>
          </a:custGeom>
          <a:noFill/>
          <a:ln w="57150">
            <a:solidFill>
              <a:srgbClr val="CC00CC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 descr="蓝色面巾纸"/>
          <p:cNvSpPr>
            <a:spLocks noGrp="1" noChangeArrowheads="1"/>
          </p:cNvSpPr>
          <p:nvPr>
            <p:ph idx="1"/>
          </p:nvPr>
        </p:nvSpPr>
        <p:spPr>
          <a:xfrm>
            <a:off x="685800" y="685800"/>
            <a:ext cx="1295400" cy="1905000"/>
          </a:xfrm>
          <a:blipFill dpi="0" rotWithShape="1">
            <a:blip r:embed="rId2"/>
            <a:srcRect/>
            <a:tile tx="0" ty="0" sx="100000" sy="100000" flip="none" algn="tl"/>
          </a:blipFill>
          <a:ln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CN" sz="2400" b="1" smtClean="0">
              <a:latin typeface="Times New Roman" pitchFamily="18" charset="0"/>
              <a:ea typeface="华文新魏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S’→.S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S→.BB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B→.aB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B→.b	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7782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C65B7E7-8108-4979-A158-4CC266FFE25E}" type="slidenum">
              <a:rPr lang="en-US" altLang="zh-CN" smtClean="0"/>
              <a:pPr eaLnBrk="1" hangingPunct="1"/>
              <a:t>57</a:t>
            </a:fld>
            <a:endParaRPr lang="en-US" altLang="zh-CN" smtClean="0"/>
          </a:p>
        </p:txBody>
      </p:sp>
      <p:sp>
        <p:nvSpPr>
          <p:cNvPr id="77828" name="Text Box 2"/>
          <p:cNvSpPr txBox="1">
            <a:spLocks noChangeArrowheads="1"/>
          </p:cNvSpPr>
          <p:nvPr/>
        </p:nvSpPr>
        <p:spPr bwMode="auto">
          <a:xfrm>
            <a:off x="433388" y="5713413"/>
            <a:ext cx="3633787" cy="895350"/>
          </a:xfrm>
          <a:prstGeom prst="rect">
            <a:avLst/>
          </a:prstGeom>
          <a:solidFill>
            <a:srgbClr val="006600"/>
          </a:solidFill>
          <a:ln w="9525">
            <a:solidFill>
              <a:srgbClr val="FF3399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形如</a:t>
            </a:r>
            <a:r>
              <a:rPr lang="en-US" altLang="zh-CN" sz="2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A→</a:t>
            </a:r>
            <a:r>
              <a:rPr lang="el-GR" altLang="zh-CN" sz="2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α</a:t>
            </a:r>
            <a:r>
              <a:rPr lang="en-US" altLang="zh-CN" sz="2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.</a:t>
            </a:r>
            <a:r>
              <a:rPr lang="el-GR" altLang="zh-CN" sz="2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β</a:t>
            </a:r>
            <a:r>
              <a:rPr lang="en-US" altLang="zh-CN" sz="2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2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的</a:t>
            </a:r>
            <a:r>
              <a:rPr lang="zh-CN" altLang="en-US" sz="26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项目集合</a:t>
            </a:r>
            <a:r>
              <a:rPr lang="zh-CN" altLang="en-US" sz="2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可刻画分析进展状态</a:t>
            </a:r>
          </a:p>
        </p:txBody>
      </p:sp>
      <p:sp>
        <p:nvSpPr>
          <p:cNvPr id="355332" name="Rectangle 4" descr="蓝色面巾纸"/>
          <p:cNvSpPr>
            <a:spLocks noChangeArrowheads="1"/>
          </p:cNvSpPr>
          <p:nvPr/>
        </p:nvSpPr>
        <p:spPr bwMode="auto">
          <a:xfrm>
            <a:off x="4267200" y="381000"/>
            <a:ext cx="1295400" cy="762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S’</a:t>
            </a: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→S.</a:t>
            </a:r>
            <a:endParaRPr kumimoji="1" lang="en-US" altLang="zh-CN" sz="240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7830" name="Line 5"/>
          <p:cNvSpPr>
            <a:spLocks noChangeShapeType="1"/>
          </p:cNvSpPr>
          <p:nvPr/>
        </p:nvSpPr>
        <p:spPr bwMode="auto">
          <a:xfrm>
            <a:off x="1981200" y="976313"/>
            <a:ext cx="228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1" name="Text Box 6"/>
          <p:cNvSpPr txBox="1">
            <a:spLocks noChangeArrowheads="1"/>
          </p:cNvSpPr>
          <p:nvPr/>
        </p:nvSpPr>
        <p:spPr bwMode="auto">
          <a:xfrm>
            <a:off x="2286000" y="59531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S</a:t>
            </a:r>
          </a:p>
        </p:txBody>
      </p:sp>
      <p:sp>
        <p:nvSpPr>
          <p:cNvPr id="77832" name="Line 7"/>
          <p:cNvSpPr>
            <a:spLocks noChangeShapeType="1"/>
          </p:cNvSpPr>
          <p:nvPr/>
        </p:nvSpPr>
        <p:spPr bwMode="auto">
          <a:xfrm>
            <a:off x="1981200" y="2344738"/>
            <a:ext cx="2209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3" name="Text Box 8"/>
          <p:cNvSpPr txBox="1">
            <a:spLocks noChangeArrowheads="1"/>
          </p:cNvSpPr>
          <p:nvPr/>
        </p:nvSpPr>
        <p:spPr bwMode="auto">
          <a:xfrm>
            <a:off x="2286000" y="196373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55337" name="Rectangle 9" descr="蓝色面巾纸"/>
          <p:cNvSpPr>
            <a:spLocks noChangeArrowheads="1"/>
          </p:cNvSpPr>
          <p:nvPr/>
        </p:nvSpPr>
        <p:spPr bwMode="auto">
          <a:xfrm>
            <a:off x="4267200" y="1676400"/>
            <a:ext cx="1295400" cy="16002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S→B.B</a:t>
            </a: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B→.aB</a:t>
            </a: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B→.b</a:t>
            </a: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	</a:t>
            </a:r>
            <a:endParaRPr kumimoji="1" lang="en-US" altLang="zh-CN" sz="32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7835" name="Freeform 10"/>
          <p:cNvSpPr>
            <a:spLocks/>
          </p:cNvSpPr>
          <p:nvPr/>
        </p:nvSpPr>
        <p:spPr bwMode="auto">
          <a:xfrm>
            <a:off x="990600" y="2590800"/>
            <a:ext cx="3365500" cy="2925763"/>
          </a:xfrm>
          <a:custGeom>
            <a:avLst/>
            <a:gdLst>
              <a:gd name="T0" fmla="*/ 0 w 816"/>
              <a:gd name="T1" fmla="*/ 0 h 1344"/>
              <a:gd name="T2" fmla="*/ 816509083 w 816"/>
              <a:gd name="T3" fmla="*/ 2147483647 h 1344"/>
              <a:gd name="T4" fmla="*/ 2147483647 w 816"/>
              <a:gd name="T5" fmla="*/ 2147483647 h 1344"/>
              <a:gd name="T6" fmla="*/ 2147483647 w 816"/>
              <a:gd name="T7" fmla="*/ 2147483647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6" name="Text Box 11"/>
          <p:cNvSpPr txBox="1">
            <a:spLocks noChangeArrowheads="1"/>
          </p:cNvSpPr>
          <p:nvPr/>
        </p:nvSpPr>
        <p:spPr bwMode="auto">
          <a:xfrm>
            <a:off x="9906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355340" name="Rectangle 12" descr="蓝色面巾纸"/>
          <p:cNvSpPr>
            <a:spLocks noChangeArrowheads="1"/>
          </p:cNvSpPr>
          <p:nvPr/>
        </p:nvSpPr>
        <p:spPr bwMode="auto">
          <a:xfrm>
            <a:off x="4343400" y="4953000"/>
            <a:ext cx="1295400" cy="14478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B→a.B</a:t>
            </a: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B→.aB</a:t>
            </a: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B→.b	</a:t>
            </a:r>
            <a:endParaRPr kumimoji="1" lang="en-US" altLang="zh-CN" sz="28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7838" name="Freeform 13"/>
          <p:cNvSpPr>
            <a:spLocks/>
          </p:cNvSpPr>
          <p:nvPr/>
        </p:nvSpPr>
        <p:spPr bwMode="auto">
          <a:xfrm>
            <a:off x="1524000" y="2590800"/>
            <a:ext cx="2760663" cy="1774825"/>
          </a:xfrm>
          <a:custGeom>
            <a:avLst/>
            <a:gdLst>
              <a:gd name="T0" fmla="*/ 0 w 1680"/>
              <a:gd name="T1" fmla="*/ 0 h 1056"/>
              <a:gd name="T2" fmla="*/ 129613142 w 1680"/>
              <a:gd name="T3" fmla="*/ 1762656718 h 1056"/>
              <a:gd name="T4" fmla="*/ 648065656 w 1680"/>
              <a:gd name="T5" fmla="*/ 2147483647 h 1056"/>
              <a:gd name="T6" fmla="*/ 1944198818 w 1680"/>
              <a:gd name="T7" fmla="*/ 2147483647 h 1056"/>
              <a:gd name="T8" fmla="*/ 2147483647 w 1680"/>
              <a:gd name="T9" fmla="*/ 2147483647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9" name="Text Box 14"/>
          <p:cNvSpPr txBox="1">
            <a:spLocks noChangeArrowheads="1"/>
          </p:cNvSpPr>
          <p:nvPr/>
        </p:nvSpPr>
        <p:spPr bwMode="auto">
          <a:xfrm>
            <a:off x="16764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55343" name="Rectangle 15" descr="蓝色面巾纸"/>
          <p:cNvSpPr>
            <a:spLocks noChangeArrowheads="1"/>
          </p:cNvSpPr>
          <p:nvPr/>
        </p:nvSpPr>
        <p:spPr bwMode="auto">
          <a:xfrm>
            <a:off x="4343400" y="3733800"/>
            <a:ext cx="1295400" cy="8382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B→b.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	</a:t>
            </a:r>
            <a:endParaRPr kumimoji="1" lang="en-US" altLang="zh-CN" sz="28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7841" name="Line 16"/>
          <p:cNvSpPr>
            <a:spLocks noChangeShapeType="1"/>
          </p:cNvSpPr>
          <p:nvPr/>
        </p:nvSpPr>
        <p:spPr bwMode="auto">
          <a:xfrm flipV="1">
            <a:off x="5562600" y="1052513"/>
            <a:ext cx="1530350" cy="852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42" name="Text Box 17"/>
          <p:cNvSpPr txBox="1">
            <a:spLocks noChangeArrowheads="1"/>
          </p:cNvSpPr>
          <p:nvPr/>
        </p:nvSpPr>
        <p:spPr bwMode="auto">
          <a:xfrm>
            <a:off x="6096000" y="914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55346" name="Rectangle 18" descr="蓝色面巾纸"/>
          <p:cNvSpPr>
            <a:spLocks noChangeArrowheads="1"/>
          </p:cNvSpPr>
          <p:nvPr/>
        </p:nvSpPr>
        <p:spPr bwMode="auto">
          <a:xfrm>
            <a:off x="7086600" y="381000"/>
            <a:ext cx="1295400" cy="762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S→BB.</a:t>
            </a:r>
          </a:p>
        </p:txBody>
      </p:sp>
      <p:sp>
        <p:nvSpPr>
          <p:cNvPr id="77844" name="Freeform 19"/>
          <p:cNvSpPr>
            <a:spLocks/>
          </p:cNvSpPr>
          <p:nvPr/>
        </p:nvSpPr>
        <p:spPr bwMode="auto">
          <a:xfrm>
            <a:off x="5580063" y="2590800"/>
            <a:ext cx="1008062" cy="2925763"/>
          </a:xfrm>
          <a:custGeom>
            <a:avLst/>
            <a:gdLst>
              <a:gd name="T0" fmla="*/ 0 w 1424"/>
              <a:gd name="T1" fmla="*/ 0 h 1968"/>
              <a:gd name="T2" fmla="*/ 553252588 w 1424"/>
              <a:gd name="T3" fmla="*/ 954799400 h 1968"/>
              <a:gd name="T4" fmla="*/ 625416069 w 1424"/>
              <a:gd name="T5" fmla="*/ 2147483647 h 1968"/>
              <a:gd name="T6" fmla="*/ 24054741 w 1424"/>
              <a:gd name="T7" fmla="*/ 2147483647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45" name="Text Box 20"/>
          <p:cNvSpPr txBox="1">
            <a:spLocks noChangeArrowheads="1"/>
          </p:cNvSpPr>
          <p:nvPr/>
        </p:nvSpPr>
        <p:spPr bwMode="auto">
          <a:xfrm>
            <a:off x="6516688" y="3573463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77846" name="Freeform 21"/>
          <p:cNvSpPr>
            <a:spLocks/>
          </p:cNvSpPr>
          <p:nvPr/>
        </p:nvSpPr>
        <p:spPr bwMode="auto">
          <a:xfrm>
            <a:off x="5580063" y="2997200"/>
            <a:ext cx="300037" cy="1295400"/>
          </a:xfrm>
          <a:custGeom>
            <a:avLst/>
            <a:gdLst>
              <a:gd name="T0" fmla="*/ 0 w 200"/>
              <a:gd name="T1" fmla="*/ 0 h 432"/>
              <a:gd name="T2" fmla="*/ 432107342 w 200"/>
              <a:gd name="T3" fmla="*/ 1726399633 h 432"/>
              <a:gd name="T4" fmla="*/ 108026836 w 200"/>
              <a:gd name="T5" fmla="*/ 2147483647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47" name="Text Box 22"/>
          <p:cNvSpPr txBox="1">
            <a:spLocks noChangeArrowheads="1"/>
          </p:cNvSpPr>
          <p:nvPr/>
        </p:nvSpPr>
        <p:spPr bwMode="auto">
          <a:xfrm>
            <a:off x="5867400" y="3352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77848" name="Line 23"/>
          <p:cNvSpPr>
            <a:spLocks noChangeShapeType="1"/>
          </p:cNvSpPr>
          <p:nvPr/>
        </p:nvSpPr>
        <p:spPr bwMode="auto">
          <a:xfrm>
            <a:off x="5638800" y="56388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49" name="Text Box 24"/>
          <p:cNvSpPr txBox="1">
            <a:spLocks noChangeArrowheads="1"/>
          </p:cNvSpPr>
          <p:nvPr/>
        </p:nvSpPr>
        <p:spPr bwMode="auto">
          <a:xfrm>
            <a:off x="6019800" y="5257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55353" name="Rectangle 25" descr="蓝色面巾纸"/>
          <p:cNvSpPr>
            <a:spLocks noChangeArrowheads="1"/>
          </p:cNvSpPr>
          <p:nvPr/>
        </p:nvSpPr>
        <p:spPr bwMode="auto">
          <a:xfrm>
            <a:off x="6934200" y="5038725"/>
            <a:ext cx="1295400" cy="9144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B→aB.</a:t>
            </a:r>
            <a:endParaRPr kumimoji="1" lang="en-US" altLang="zh-CN" sz="320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7851" name="Freeform 26"/>
          <p:cNvSpPr>
            <a:spLocks/>
          </p:cNvSpPr>
          <p:nvPr/>
        </p:nvSpPr>
        <p:spPr bwMode="auto">
          <a:xfrm>
            <a:off x="5638800" y="5867400"/>
            <a:ext cx="457200" cy="457200"/>
          </a:xfrm>
          <a:custGeom>
            <a:avLst/>
            <a:gdLst>
              <a:gd name="T0" fmla="*/ 0 w 288"/>
              <a:gd name="T1" fmla="*/ 0 h 288"/>
              <a:gd name="T2" fmla="*/ 725804891 w 288"/>
              <a:gd name="T3" fmla="*/ 362902445 h 288"/>
              <a:gd name="T4" fmla="*/ 0 w 288"/>
              <a:gd name="T5" fmla="*/ 725804891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52" name="Text Box 27"/>
          <p:cNvSpPr txBox="1">
            <a:spLocks noChangeArrowheads="1"/>
          </p:cNvSpPr>
          <p:nvPr/>
        </p:nvSpPr>
        <p:spPr bwMode="auto">
          <a:xfrm>
            <a:off x="6019800" y="5867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77853" name="Line 28"/>
          <p:cNvSpPr>
            <a:spLocks noChangeShapeType="1"/>
          </p:cNvSpPr>
          <p:nvPr/>
        </p:nvSpPr>
        <p:spPr bwMode="auto">
          <a:xfrm flipV="1">
            <a:off x="4953000" y="45720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54" name="Text Box 29"/>
          <p:cNvSpPr txBox="1">
            <a:spLocks noChangeArrowheads="1"/>
          </p:cNvSpPr>
          <p:nvPr/>
        </p:nvSpPr>
        <p:spPr bwMode="auto">
          <a:xfrm>
            <a:off x="4953000" y="4572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b</a:t>
            </a:r>
          </a:p>
        </p:txBody>
      </p:sp>
      <p:sp>
        <p:nvSpPr>
          <p:cNvPr id="355358" name="Rectangle 30"/>
          <p:cNvSpPr>
            <a:spLocks noChangeArrowheads="1"/>
          </p:cNvSpPr>
          <p:nvPr/>
        </p:nvSpPr>
        <p:spPr bwMode="auto">
          <a:xfrm>
            <a:off x="1116013" y="4652963"/>
            <a:ext cx="2017712" cy="7747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80000"/>
              </a:lnSpc>
              <a:spcBef>
                <a:spcPct val="1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项目集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闭包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(ε-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闭包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355359" name="Line 31"/>
          <p:cNvSpPr>
            <a:spLocks noChangeShapeType="1"/>
          </p:cNvSpPr>
          <p:nvPr/>
        </p:nvSpPr>
        <p:spPr bwMode="auto">
          <a:xfrm flipV="1">
            <a:off x="2124075" y="5373688"/>
            <a:ext cx="0" cy="360362"/>
          </a:xfrm>
          <a:prstGeom prst="line">
            <a:avLst/>
          </a:prstGeom>
          <a:noFill/>
          <a:ln w="76200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5360" name="Rectangle 32"/>
          <p:cNvSpPr>
            <a:spLocks noChangeArrowheads="1"/>
          </p:cNvSpPr>
          <p:nvPr/>
        </p:nvSpPr>
        <p:spPr bwMode="auto">
          <a:xfrm>
            <a:off x="1476375" y="3500438"/>
            <a:ext cx="1366838" cy="7747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 eaLnBrk="0" hangingPunct="0">
              <a:lnSpc>
                <a:spcPct val="80000"/>
              </a:lnSpc>
              <a:spcBef>
                <a:spcPct val="10000"/>
              </a:spcBef>
            </a:pPr>
            <a:r>
              <a:rPr kumimoji="1" lang="zh-CN" altLang="en-US" sz="28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项目集规范族</a:t>
            </a:r>
          </a:p>
        </p:txBody>
      </p:sp>
      <p:sp>
        <p:nvSpPr>
          <p:cNvPr id="355361" name="Line 33"/>
          <p:cNvSpPr>
            <a:spLocks noChangeShapeType="1"/>
          </p:cNvSpPr>
          <p:nvPr/>
        </p:nvSpPr>
        <p:spPr bwMode="auto">
          <a:xfrm flipV="1">
            <a:off x="2124075" y="4221163"/>
            <a:ext cx="0" cy="431800"/>
          </a:xfrm>
          <a:prstGeom prst="line">
            <a:avLst/>
          </a:prstGeom>
          <a:noFill/>
          <a:ln w="76200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5362" name="Rectangle 34"/>
          <p:cNvSpPr>
            <a:spLocks noChangeArrowheads="1"/>
          </p:cNvSpPr>
          <p:nvPr/>
        </p:nvSpPr>
        <p:spPr bwMode="auto">
          <a:xfrm>
            <a:off x="6948488" y="1989138"/>
            <a:ext cx="2017712" cy="2232025"/>
          </a:xfrm>
          <a:prstGeom prst="rect">
            <a:avLst/>
          </a:prstGeom>
          <a:solidFill>
            <a:srgbClr val="006666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例</a:t>
            </a:r>
            <a:b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(0) S'→S</a:t>
            </a:r>
            <a:b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(1) S→BB</a:t>
            </a:r>
            <a:b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(2) B→aB</a:t>
            </a:r>
            <a:b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(3) B→b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5" name="Rectangle 3"/>
          <p:cNvSpPr>
            <a:spLocks noGrp="1" noChangeArrowheads="1"/>
          </p:cNvSpPr>
          <p:nvPr>
            <p:ph type="title"/>
          </p:nvPr>
        </p:nvSpPr>
        <p:spPr>
          <a:xfrm>
            <a:off x="900113" y="320675"/>
            <a:ext cx="7893050" cy="12668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一、基本概念</a:t>
            </a:r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项目集闭包</a:t>
            </a:r>
          </a:p>
        </p:txBody>
      </p:sp>
      <p:sp>
        <p:nvSpPr>
          <p:cNvPr id="340994" name="Rectangle 2"/>
          <p:cNvSpPr>
            <a:spLocks noGrp="1" noChangeArrowheads="1"/>
          </p:cNvSpPr>
          <p:nvPr>
            <p:ph idx="1"/>
          </p:nvPr>
        </p:nvSpPr>
        <p:spPr>
          <a:xfrm>
            <a:off x="900113" y="1916113"/>
            <a:ext cx="8064500" cy="4114800"/>
          </a:xfrm>
        </p:spPr>
        <p:txBody>
          <a:bodyPr/>
          <a:lstStyle/>
          <a:p>
            <a:pPr marL="265113" indent="-265113" eaLnBrk="1" hangingPunct="1">
              <a:lnSpc>
                <a:spcPct val="12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项目集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的闭包（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Closure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）</a:t>
            </a:r>
          </a:p>
          <a:p>
            <a:pPr marL="706438" lvl="1" indent="-261938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CLOSURE(I)=I∪</a:t>
            </a:r>
          </a:p>
          <a:p>
            <a:pPr marL="706438" lvl="1" indent="-261938" eaLnBrk="1" hangingPunct="1">
              <a:lnSpc>
                <a:spcPct val="12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200" b="1" smtClean="0">
                <a:latin typeface="Times New Roman" pitchFamily="18" charset="0"/>
                <a:ea typeface="华文新魏" pitchFamily="2" charset="-122"/>
              </a:rPr>
              <a:t>		 	∪{B→.γ|A→α.Bβ∈CLOSURE(I), B→γ∈P}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 marL="265113" indent="-265113" eaLnBrk="1" hangingPunct="1">
              <a:lnSpc>
                <a:spcPct val="12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算法：求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CLOSURE(I)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 marL="706438" lvl="1" indent="-261938" eaLnBrk="1" hangingPunct="1">
              <a:buFont typeface="Wingdings" pitchFamily="2" charset="2"/>
              <a:buAutoNum type="arabicPeriod"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J:=I;</a:t>
            </a:r>
          </a:p>
          <a:p>
            <a:pPr marL="706438" lvl="1" indent="-261938" eaLnBrk="1" hangingPunct="1">
              <a:buFont typeface="Wingdings" pitchFamily="2" charset="2"/>
              <a:buAutoNum type="arabicPeriod"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repeat</a:t>
            </a:r>
          </a:p>
          <a:p>
            <a:pPr marL="706438" lvl="1" indent="-261938" eaLnBrk="1" hangingPunct="1">
              <a:buFont typeface="Wingdings" pitchFamily="2" charset="2"/>
              <a:buAutoNum type="arabicPeriod"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J=J∪{B→.γ|A→α.Bβ∈J, B→γ∈P}</a:t>
            </a:r>
          </a:p>
          <a:p>
            <a:pPr marL="706438" lvl="1" indent="-261938" eaLnBrk="1" hangingPunct="1">
              <a:buFont typeface="Wingdings" pitchFamily="2" charset="2"/>
              <a:buAutoNum type="arabicPeriod"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until  J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不再扩大</a:t>
            </a:r>
          </a:p>
        </p:txBody>
      </p:sp>
      <p:sp>
        <p:nvSpPr>
          <p:cNvPr id="788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ED70281-4ABE-4F7C-B0B5-379EE40D72B6}" type="slidenum">
              <a:rPr lang="en-US" altLang="zh-CN" smtClean="0"/>
              <a:pPr eaLnBrk="1" hangingPunct="1"/>
              <a:t>58</a:t>
            </a:fld>
            <a:endParaRPr lang="en-US" altLang="zh-C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97" name="Rectangle 29"/>
          <p:cNvSpPr>
            <a:spLocks noGrp="1" noChangeArrowheads="1"/>
          </p:cNvSpPr>
          <p:nvPr>
            <p:ph type="title"/>
          </p:nvPr>
        </p:nvSpPr>
        <p:spPr>
          <a:xfrm>
            <a:off x="6877050" y="1989138"/>
            <a:ext cx="2017713" cy="2232025"/>
          </a:xfrm>
          <a:solidFill>
            <a:srgbClr val="006666"/>
          </a:solidFill>
        </p:spPr>
        <p:txBody>
          <a:bodyPr/>
          <a:lstStyle/>
          <a:p>
            <a:pPr eaLnBrk="1" hangingPunct="1">
              <a:defRPr/>
            </a:pPr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例</a:t>
            </a:r>
            <a:br>
              <a:rPr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0) S'→S</a:t>
            </a:r>
            <a:b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(1) S→BB</a:t>
            </a:r>
            <a:b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(2) B→aB</a:t>
            </a:r>
            <a:b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(3) B→b</a:t>
            </a:r>
          </a:p>
        </p:txBody>
      </p:sp>
      <p:sp>
        <p:nvSpPr>
          <p:cNvPr id="79875" name="Rectangle 2" descr="蓝色面巾纸"/>
          <p:cNvSpPr>
            <a:spLocks noGrp="1" noChangeArrowheads="1"/>
          </p:cNvSpPr>
          <p:nvPr>
            <p:ph idx="1"/>
          </p:nvPr>
        </p:nvSpPr>
        <p:spPr>
          <a:xfrm>
            <a:off x="685800" y="685800"/>
            <a:ext cx="1295400" cy="1905000"/>
          </a:xfrm>
          <a:blipFill dpi="0" rotWithShape="1">
            <a:blip r:embed="rId2"/>
            <a:srcRect/>
            <a:tile tx="0" ty="0" sx="100000" sy="100000" flip="none" algn="tl"/>
          </a:blipFill>
          <a:ln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CN" sz="2400" b="1" smtClean="0">
              <a:latin typeface="Times New Roman" pitchFamily="18" charset="0"/>
              <a:ea typeface="华文新魏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S’→.S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S→.BB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B→.aB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B→.b	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798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5FD18CD-8D27-4FDF-A1EF-93981062968B}" type="slidenum">
              <a:rPr lang="en-US" altLang="zh-CN" smtClean="0"/>
              <a:pPr eaLnBrk="1" hangingPunct="1"/>
              <a:t>59</a:t>
            </a:fld>
            <a:endParaRPr lang="en-US" altLang="zh-CN" smtClean="0"/>
          </a:p>
        </p:txBody>
      </p:sp>
      <p:sp>
        <p:nvSpPr>
          <p:cNvPr id="339971" name="Rectangle 3" descr="蓝色面巾纸"/>
          <p:cNvSpPr>
            <a:spLocks noChangeArrowheads="1"/>
          </p:cNvSpPr>
          <p:nvPr/>
        </p:nvSpPr>
        <p:spPr bwMode="auto">
          <a:xfrm>
            <a:off x="4267200" y="381000"/>
            <a:ext cx="1295400" cy="762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S’</a:t>
            </a: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→S.</a:t>
            </a:r>
            <a:endParaRPr kumimoji="1" lang="en-US" altLang="zh-CN" sz="240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9878" name="Line 4"/>
          <p:cNvSpPr>
            <a:spLocks noChangeShapeType="1"/>
          </p:cNvSpPr>
          <p:nvPr/>
        </p:nvSpPr>
        <p:spPr bwMode="auto">
          <a:xfrm>
            <a:off x="1981200" y="976313"/>
            <a:ext cx="228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79" name="Text Box 5"/>
          <p:cNvSpPr txBox="1">
            <a:spLocks noChangeArrowheads="1"/>
          </p:cNvSpPr>
          <p:nvPr/>
        </p:nvSpPr>
        <p:spPr bwMode="auto">
          <a:xfrm>
            <a:off x="2286000" y="59531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S</a:t>
            </a:r>
          </a:p>
        </p:txBody>
      </p:sp>
      <p:sp>
        <p:nvSpPr>
          <p:cNvPr id="79880" name="Line 6"/>
          <p:cNvSpPr>
            <a:spLocks noChangeShapeType="1"/>
          </p:cNvSpPr>
          <p:nvPr/>
        </p:nvSpPr>
        <p:spPr bwMode="auto">
          <a:xfrm>
            <a:off x="1981200" y="2344738"/>
            <a:ext cx="2209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1" name="Text Box 7"/>
          <p:cNvSpPr txBox="1">
            <a:spLocks noChangeArrowheads="1"/>
          </p:cNvSpPr>
          <p:nvPr/>
        </p:nvSpPr>
        <p:spPr bwMode="auto">
          <a:xfrm>
            <a:off x="2286000" y="196373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39976" name="Rectangle 8" descr="蓝色面巾纸"/>
          <p:cNvSpPr>
            <a:spLocks noChangeArrowheads="1"/>
          </p:cNvSpPr>
          <p:nvPr/>
        </p:nvSpPr>
        <p:spPr bwMode="auto">
          <a:xfrm>
            <a:off x="4267200" y="1676400"/>
            <a:ext cx="1295400" cy="16002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S→B.B</a:t>
            </a: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B→.aB</a:t>
            </a: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B→.b</a:t>
            </a: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	</a:t>
            </a:r>
            <a:endParaRPr kumimoji="1" lang="en-US" altLang="zh-CN" sz="32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9883" name="Freeform 9"/>
          <p:cNvSpPr>
            <a:spLocks/>
          </p:cNvSpPr>
          <p:nvPr/>
        </p:nvSpPr>
        <p:spPr bwMode="auto">
          <a:xfrm>
            <a:off x="990600" y="2590800"/>
            <a:ext cx="3365500" cy="2925763"/>
          </a:xfrm>
          <a:custGeom>
            <a:avLst/>
            <a:gdLst>
              <a:gd name="T0" fmla="*/ 0 w 816"/>
              <a:gd name="T1" fmla="*/ 0 h 1344"/>
              <a:gd name="T2" fmla="*/ 816509083 w 816"/>
              <a:gd name="T3" fmla="*/ 2147483647 h 1344"/>
              <a:gd name="T4" fmla="*/ 2147483647 w 816"/>
              <a:gd name="T5" fmla="*/ 2147483647 h 1344"/>
              <a:gd name="T6" fmla="*/ 2147483647 w 816"/>
              <a:gd name="T7" fmla="*/ 2147483647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4" name="Text Box 10"/>
          <p:cNvSpPr txBox="1">
            <a:spLocks noChangeArrowheads="1"/>
          </p:cNvSpPr>
          <p:nvPr/>
        </p:nvSpPr>
        <p:spPr bwMode="auto">
          <a:xfrm>
            <a:off x="9906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339979" name="Rectangle 11" descr="蓝色面巾纸"/>
          <p:cNvSpPr>
            <a:spLocks noChangeArrowheads="1"/>
          </p:cNvSpPr>
          <p:nvPr/>
        </p:nvSpPr>
        <p:spPr bwMode="auto">
          <a:xfrm>
            <a:off x="4343400" y="4953000"/>
            <a:ext cx="1295400" cy="14478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B→a.B</a:t>
            </a: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B→.aB</a:t>
            </a: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B→.b	</a:t>
            </a:r>
            <a:endParaRPr kumimoji="1" lang="en-US" altLang="zh-CN" sz="28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9886" name="Freeform 12"/>
          <p:cNvSpPr>
            <a:spLocks/>
          </p:cNvSpPr>
          <p:nvPr/>
        </p:nvSpPr>
        <p:spPr bwMode="auto">
          <a:xfrm>
            <a:off x="1524000" y="2590800"/>
            <a:ext cx="2760663" cy="1774825"/>
          </a:xfrm>
          <a:custGeom>
            <a:avLst/>
            <a:gdLst>
              <a:gd name="T0" fmla="*/ 0 w 1680"/>
              <a:gd name="T1" fmla="*/ 0 h 1056"/>
              <a:gd name="T2" fmla="*/ 129613142 w 1680"/>
              <a:gd name="T3" fmla="*/ 1762656718 h 1056"/>
              <a:gd name="T4" fmla="*/ 648065656 w 1680"/>
              <a:gd name="T5" fmla="*/ 2147483647 h 1056"/>
              <a:gd name="T6" fmla="*/ 1944198818 w 1680"/>
              <a:gd name="T7" fmla="*/ 2147483647 h 1056"/>
              <a:gd name="T8" fmla="*/ 2147483647 w 1680"/>
              <a:gd name="T9" fmla="*/ 2147483647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7" name="Text Box 13"/>
          <p:cNvSpPr txBox="1">
            <a:spLocks noChangeArrowheads="1"/>
          </p:cNvSpPr>
          <p:nvPr/>
        </p:nvSpPr>
        <p:spPr bwMode="auto">
          <a:xfrm>
            <a:off x="16764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39982" name="Rectangle 14" descr="蓝色面巾纸"/>
          <p:cNvSpPr>
            <a:spLocks noChangeArrowheads="1"/>
          </p:cNvSpPr>
          <p:nvPr/>
        </p:nvSpPr>
        <p:spPr bwMode="auto">
          <a:xfrm>
            <a:off x="4343400" y="3733800"/>
            <a:ext cx="1295400" cy="8382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B→b.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	</a:t>
            </a:r>
            <a:endParaRPr kumimoji="1" lang="en-US" altLang="zh-CN" sz="28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9889" name="Line 15"/>
          <p:cNvSpPr>
            <a:spLocks noChangeShapeType="1"/>
          </p:cNvSpPr>
          <p:nvPr/>
        </p:nvSpPr>
        <p:spPr bwMode="auto">
          <a:xfrm flipV="1">
            <a:off x="5580063" y="692150"/>
            <a:ext cx="1800225" cy="1223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90" name="Text Box 16"/>
          <p:cNvSpPr txBox="1">
            <a:spLocks noChangeArrowheads="1"/>
          </p:cNvSpPr>
          <p:nvPr/>
        </p:nvSpPr>
        <p:spPr bwMode="auto">
          <a:xfrm>
            <a:off x="6096000" y="914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39985" name="Rectangle 17" descr="蓝色面巾纸"/>
          <p:cNvSpPr>
            <a:spLocks noChangeArrowheads="1"/>
          </p:cNvSpPr>
          <p:nvPr/>
        </p:nvSpPr>
        <p:spPr bwMode="auto">
          <a:xfrm>
            <a:off x="7380288" y="404813"/>
            <a:ext cx="1295400" cy="762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S→BB.</a:t>
            </a:r>
          </a:p>
        </p:txBody>
      </p:sp>
      <p:sp>
        <p:nvSpPr>
          <p:cNvPr id="79892" name="Freeform 18"/>
          <p:cNvSpPr>
            <a:spLocks/>
          </p:cNvSpPr>
          <p:nvPr/>
        </p:nvSpPr>
        <p:spPr bwMode="auto">
          <a:xfrm>
            <a:off x="5580063" y="2590800"/>
            <a:ext cx="1008062" cy="2925763"/>
          </a:xfrm>
          <a:custGeom>
            <a:avLst/>
            <a:gdLst>
              <a:gd name="T0" fmla="*/ 0 w 1424"/>
              <a:gd name="T1" fmla="*/ 0 h 1968"/>
              <a:gd name="T2" fmla="*/ 553252588 w 1424"/>
              <a:gd name="T3" fmla="*/ 954799400 h 1968"/>
              <a:gd name="T4" fmla="*/ 625416069 w 1424"/>
              <a:gd name="T5" fmla="*/ 2147483647 h 1968"/>
              <a:gd name="T6" fmla="*/ 24054741 w 1424"/>
              <a:gd name="T7" fmla="*/ 2147483647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93" name="Text Box 19"/>
          <p:cNvSpPr txBox="1">
            <a:spLocks noChangeArrowheads="1"/>
          </p:cNvSpPr>
          <p:nvPr/>
        </p:nvSpPr>
        <p:spPr bwMode="auto">
          <a:xfrm>
            <a:off x="6516688" y="3573463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79894" name="Freeform 20"/>
          <p:cNvSpPr>
            <a:spLocks/>
          </p:cNvSpPr>
          <p:nvPr/>
        </p:nvSpPr>
        <p:spPr bwMode="auto">
          <a:xfrm>
            <a:off x="5580063" y="2997200"/>
            <a:ext cx="300037" cy="1295400"/>
          </a:xfrm>
          <a:custGeom>
            <a:avLst/>
            <a:gdLst>
              <a:gd name="T0" fmla="*/ 0 w 200"/>
              <a:gd name="T1" fmla="*/ 0 h 432"/>
              <a:gd name="T2" fmla="*/ 432107342 w 200"/>
              <a:gd name="T3" fmla="*/ 1726399633 h 432"/>
              <a:gd name="T4" fmla="*/ 108026836 w 200"/>
              <a:gd name="T5" fmla="*/ 2147483647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95" name="Text Box 21"/>
          <p:cNvSpPr txBox="1">
            <a:spLocks noChangeArrowheads="1"/>
          </p:cNvSpPr>
          <p:nvPr/>
        </p:nvSpPr>
        <p:spPr bwMode="auto">
          <a:xfrm>
            <a:off x="5867400" y="3352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79896" name="Line 22"/>
          <p:cNvSpPr>
            <a:spLocks noChangeShapeType="1"/>
          </p:cNvSpPr>
          <p:nvPr/>
        </p:nvSpPr>
        <p:spPr bwMode="auto">
          <a:xfrm>
            <a:off x="5638800" y="56388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97" name="Text Box 23"/>
          <p:cNvSpPr txBox="1">
            <a:spLocks noChangeArrowheads="1"/>
          </p:cNvSpPr>
          <p:nvPr/>
        </p:nvSpPr>
        <p:spPr bwMode="auto">
          <a:xfrm>
            <a:off x="6019800" y="5257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39992" name="Rectangle 24" descr="蓝色面巾纸"/>
          <p:cNvSpPr>
            <a:spLocks noChangeArrowheads="1"/>
          </p:cNvSpPr>
          <p:nvPr/>
        </p:nvSpPr>
        <p:spPr bwMode="auto">
          <a:xfrm>
            <a:off x="6934200" y="5038725"/>
            <a:ext cx="1295400" cy="9144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B→aB.</a:t>
            </a:r>
            <a:endParaRPr kumimoji="1" lang="en-US" altLang="zh-CN" sz="320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9899" name="Freeform 25"/>
          <p:cNvSpPr>
            <a:spLocks/>
          </p:cNvSpPr>
          <p:nvPr/>
        </p:nvSpPr>
        <p:spPr bwMode="auto">
          <a:xfrm>
            <a:off x="5638800" y="5867400"/>
            <a:ext cx="457200" cy="457200"/>
          </a:xfrm>
          <a:custGeom>
            <a:avLst/>
            <a:gdLst>
              <a:gd name="T0" fmla="*/ 0 w 288"/>
              <a:gd name="T1" fmla="*/ 0 h 288"/>
              <a:gd name="T2" fmla="*/ 725804891 w 288"/>
              <a:gd name="T3" fmla="*/ 362902445 h 288"/>
              <a:gd name="T4" fmla="*/ 0 w 288"/>
              <a:gd name="T5" fmla="*/ 725804891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900" name="Text Box 26"/>
          <p:cNvSpPr txBox="1">
            <a:spLocks noChangeArrowheads="1"/>
          </p:cNvSpPr>
          <p:nvPr/>
        </p:nvSpPr>
        <p:spPr bwMode="auto">
          <a:xfrm>
            <a:off x="6019800" y="5867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79901" name="Line 27"/>
          <p:cNvSpPr>
            <a:spLocks noChangeShapeType="1"/>
          </p:cNvSpPr>
          <p:nvPr/>
        </p:nvSpPr>
        <p:spPr bwMode="auto">
          <a:xfrm flipV="1">
            <a:off x="4953000" y="45720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902" name="Text Box 28"/>
          <p:cNvSpPr txBox="1">
            <a:spLocks noChangeArrowheads="1"/>
          </p:cNvSpPr>
          <p:nvPr/>
        </p:nvSpPr>
        <p:spPr bwMode="auto">
          <a:xfrm>
            <a:off x="4953000" y="4572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b</a:t>
            </a:r>
          </a:p>
        </p:txBody>
      </p:sp>
      <p:sp>
        <p:nvSpPr>
          <p:cNvPr id="340000" name="Text Box 32"/>
          <p:cNvSpPr txBox="1">
            <a:spLocks noChangeArrowheads="1"/>
          </p:cNvSpPr>
          <p:nvPr/>
        </p:nvSpPr>
        <p:spPr bwMode="auto">
          <a:xfrm>
            <a:off x="381000" y="5334000"/>
            <a:ext cx="2438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核心项目</a:t>
            </a:r>
            <a:r>
              <a:rPr kumimoji="1" lang="en-US" altLang="zh-CN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Kernel Item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76" name="Rectangle 36"/>
          <p:cNvSpPr>
            <a:spLocks noGrp="1" noChangeArrowheads="1"/>
          </p:cNvSpPr>
          <p:nvPr>
            <p:ph type="title"/>
          </p:nvPr>
        </p:nvSpPr>
        <p:spPr>
          <a:xfrm>
            <a:off x="6948488" y="1989138"/>
            <a:ext cx="2017712" cy="2232025"/>
          </a:xfrm>
          <a:solidFill>
            <a:srgbClr val="006666"/>
          </a:solidFill>
        </p:spPr>
        <p:txBody>
          <a:bodyPr/>
          <a:lstStyle/>
          <a:p>
            <a:pPr eaLnBrk="1" hangingPunct="1"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例</a:t>
            </a:r>
            <a:b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(0) S'→S</a:t>
            </a:r>
            <a:b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(1) S→BB</a:t>
            </a:r>
            <a:b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(2) B→aB</a:t>
            </a:r>
            <a:b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(3) B→b</a:t>
            </a:r>
          </a:p>
        </p:txBody>
      </p:sp>
      <p:sp>
        <p:nvSpPr>
          <p:cNvPr id="80899" name="Rectangle 2" descr="蓝色面巾纸"/>
          <p:cNvSpPr>
            <a:spLocks noGrp="1" noChangeArrowheads="1"/>
          </p:cNvSpPr>
          <p:nvPr>
            <p:ph idx="1"/>
          </p:nvPr>
        </p:nvSpPr>
        <p:spPr>
          <a:xfrm>
            <a:off x="685800" y="685800"/>
            <a:ext cx="1295400" cy="1905000"/>
          </a:xfrm>
          <a:blipFill dpi="0" rotWithShape="1">
            <a:blip r:embed="rId2"/>
            <a:srcRect/>
            <a:tile tx="0" ty="0" sx="100000" sy="100000" flip="none" algn="tl"/>
          </a:blipFill>
          <a:ln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CN" sz="2400" b="1" smtClean="0">
              <a:latin typeface="Times New Roman" pitchFamily="18" charset="0"/>
              <a:ea typeface="华文新魏" pitchFamily="2" charset="-122"/>
            </a:endParaRPr>
          </a:p>
          <a:p>
            <a:pPr marL="609600" indent="-6096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S’→.S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S→.BB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B→.aB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B→.b	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8090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29F0F3A-49CD-452E-8608-AC3CED83ED44}" type="slidenum">
              <a:rPr lang="en-US" altLang="zh-CN" smtClean="0"/>
              <a:pPr eaLnBrk="1" hangingPunct="1"/>
              <a:t>60</a:t>
            </a:fld>
            <a:endParaRPr lang="en-US" altLang="zh-CN" smtClean="0"/>
          </a:p>
        </p:txBody>
      </p:sp>
      <p:sp>
        <p:nvSpPr>
          <p:cNvPr id="343043" name="Rectangle 3" descr="蓝色面巾纸"/>
          <p:cNvSpPr>
            <a:spLocks noChangeArrowheads="1"/>
          </p:cNvSpPr>
          <p:nvPr/>
        </p:nvSpPr>
        <p:spPr bwMode="auto">
          <a:xfrm>
            <a:off x="4267200" y="381000"/>
            <a:ext cx="1295400" cy="762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S’</a:t>
            </a: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→S.</a:t>
            </a:r>
            <a:endParaRPr kumimoji="1" lang="en-US" altLang="zh-CN" sz="240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80902" name="Line 4"/>
          <p:cNvSpPr>
            <a:spLocks noChangeShapeType="1"/>
          </p:cNvSpPr>
          <p:nvPr/>
        </p:nvSpPr>
        <p:spPr bwMode="auto">
          <a:xfrm>
            <a:off x="1981200" y="976313"/>
            <a:ext cx="2286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3" name="Text Box 5"/>
          <p:cNvSpPr txBox="1">
            <a:spLocks noChangeArrowheads="1"/>
          </p:cNvSpPr>
          <p:nvPr/>
        </p:nvSpPr>
        <p:spPr bwMode="auto">
          <a:xfrm>
            <a:off x="2286000" y="59531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S</a:t>
            </a:r>
          </a:p>
        </p:txBody>
      </p:sp>
      <p:sp>
        <p:nvSpPr>
          <p:cNvPr id="80904" name="Line 6"/>
          <p:cNvSpPr>
            <a:spLocks noChangeShapeType="1"/>
          </p:cNvSpPr>
          <p:nvPr/>
        </p:nvSpPr>
        <p:spPr bwMode="auto">
          <a:xfrm>
            <a:off x="1981200" y="2344738"/>
            <a:ext cx="2209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5" name="Text Box 7"/>
          <p:cNvSpPr txBox="1">
            <a:spLocks noChangeArrowheads="1"/>
          </p:cNvSpPr>
          <p:nvPr/>
        </p:nvSpPr>
        <p:spPr bwMode="auto">
          <a:xfrm>
            <a:off x="2286000" y="1963738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43048" name="Rectangle 8" descr="蓝色面巾纸"/>
          <p:cNvSpPr>
            <a:spLocks noChangeArrowheads="1"/>
          </p:cNvSpPr>
          <p:nvPr/>
        </p:nvSpPr>
        <p:spPr bwMode="auto">
          <a:xfrm>
            <a:off x="4267200" y="1676400"/>
            <a:ext cx="1295400" cy="16002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S→B.B</a:t>
            </a: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B→.aB</a:t>
            </a: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B→.b</a:t>
            </a: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	</a:t>
            </a:r>
            <a:endParaRPr kumimoji="1" lang="en-US" altLang="zh-CN" sz="32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80907" name="Freeform 9"/>
          <p:cNvSpPr>
            <a:spLocks/>
          </p:cNvSpPr>
          <p:nvPr/>
        </p:nvSpPr>
        <p:spPr bwMode="auto">
          <a:xfrm>
            <a:off x="990600" y="2590800"/>
            <a:ext cx="3365500" cy="2925763"/>
          </a:xfrm>
          <a:custGeom>
            <a:avLst/>
            <a:gdLst>
              <a:gd name="T0" fmla="*/ 0 w 816"/>
              <a:gd name="T1" fmla="*/ 0 h 1344"/>
              <a:gd name="T2" fmla="*/ 816509083 w 816"/>
              <a:gd name="T3" fmla="*/ 2147483647 h 1344"/>
              <a:gd name="T4" fmla="*/ 2147483647 w 816"/>
              <a:gd name="T5" fmla="*/ 2147483647 h 1344"/>
              <a:gd name="T6" fmla="*/ 2147483647 w 816"/>
              <a:gd name="T7" fmla="*/ 2147483647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0"/>
                </a:moveTo>
                <a:cubicBezTo>
                  <a:pt x="0" y="312"/>
                  <a:pt x="0" y="624"/>
                  <a:pt x="48" y="816"/>
                </a:cubicBezTo>
                <a:cubicBezTo>
                  <a:pt x="96" y="1008"/>
                  <a:pt x="160" y="1064"/>
                  <a:pt x="288" y="1152"/>
                </a:cubicBezTo>
                <a:cubicBezTo>
                  <a:pt x="416" y="1240"/>
                  <a:pt x="720" y="1304"/>
                  <a:pt x="816" y="134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8" name="Text Box 10"/>
          <p:cNvSpPr txBox="1">
            <a:spLocks noChangeArrowheads="1"/>
          </p:cNvSpPr>
          <p:nvPr/>
        </p:nvSpPr>
        <p:spPr bwMode="auto">
          <a:xfrm>
            <a:off x="9906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343051" name="Rectangle 11" descr="蓝色面巾纸"/>
          <p:cNvSpPr>
            <a:spLocks noChangeArrowheads="1"/>
          </p:cNvSpPr>
          <p:nvPr/>
        </p:nvSpPr>
        <p:spPr bwMode="auto">
          <a:xfrm>
            <a:off x="4343400" y="4953000"/>
            <a:ext cx="1295400" cy="14478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B→a.B</a:t>
            </a: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B→.aB</a:t>
            </a: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B→.b	</a:t>
            </a:r>
            <a:endParaRPr kumimoji="1" lang="en-US" altLang="zh-CN" sz="28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80910" name="Freeform 12"/>
          <p:cNvSpPr>
            <a:spLocks/>
          </p:cNvSpPr>
          <p:nvPr/>
        </p:nvSpPr>
        <p:spPr bwMode="auto">
          <a:xfrm>
            <a:off x="1524000" y="2590800"/>
            <a:ext cx="2760663" cy="1774825"/>
          </a:xfrm>
          <a:custGeom>
            <a:avLst/>
            <a:gdLst>
              <a:gd name="T0" fmla="*/ 0 w 1680"/>
              <a:gd name="T1" fmla="*/ 0 h 1056"/>
              <a:gd name="T2" fmla="*/ 129613142 w 1680"/>
              <a:gd name="T3" fmla="*/ 1762656718 h 1056"/>
              <a:gd name="T4" fmla="*/ 648065656 w 1680"/>
              <a:gd name="T5" fmla="*/ 2147483647 h 1056"/>
              <a:gd name="T6" fmla="*/ 1944198818 w 1680"/>
              <a:gd name="T7" fmla="*/ 2147483647 h 1056"/>
              <a:gd name="T8" fmla="*/ 2147483647 w 1680"/>
              <a:gd name="T9" fmla="*/ 2147483647 h 10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056"/>
              <a:gd name="T17" fmla="*/ 1680 w 1680"/>
              <a:gd name="T18" fmla="*/ 1056 h 10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056">
                <a:moveTo>
                  <a:pt x="0" y="0"/>
                </a:moveTo>
                <a:cubicBezTo>
                  <a:pt x="4" y="240"/>
                  <a:pt x="8" y="480"/>
                  <a:pt x="48" y="624"/>
                </a:cubicBezTo>
                <a:cubicBezTo>
                  <a:pt x="88" y="768"/>
                  <a:pt x="128" y="800"/>
                  <a:pt x="240" y="864"/>
                </a:cubicBezTo>
                <a:cubicBezTo>
                  <a:pt x="352" y="928"/>
                  <a:pt x="480" y="976"/>
                  <a:pt x="720" y="1008"/>
                </a:cubicBezTo>
                <a:cubicBezTo>
                  <a:pt x="960" y="1040"/>
                  <a:pt x="1528" y="1056"/>
                  <a:pt x="1680" y="105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1" name="Text Box 13"/>
          <p:cNvSpPr txBox="1">
            <a:spLocks noChangeArrowheads="1"/>
          </p:cNvSpPr>
          <p:nvPr/>
        </p:nvSpPr>
        <p:spPr bwMode="auto">
          <a:xfrm>
            <a:off x="16764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43054" name="Rectangle 14" descr="蓝色面巾纸"/>
          <p:cNvSpPr>
            <a:spLocks noChangeArrowheads="1"/>
          </p:cNvSpPr>
          <p:nvPr/>
        </p:nvSpPr>
        <p:spPr bwMode="auto">
          <a:xfrm>
            <a:off x="4343400" y="3733800"/>
            <a:ext cx="1295400" cy="8382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marL="609600" indent="-609600"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B→b.</a:t>
            </a:r>
            <a:r>
              <a:rPr kumimoji="1"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	</a:t>
            </a:r>
            <a:endParaRPr kumimoji="1" lang="en-US" altLang="zh-CN" sz="280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80913" name="Line 15"/>
          <p:cNvSpPr>
            <a:spLocks noChangeShapeType="1"/>
          </p:cNvSpPr>
          <p:nvPr/>
        </p:nvSpPr>
        <p:spPr bwMode="auto">
          <a:xfrm flipV="1">
            <a:off x="5580063" y="692150"/>
            <a:ext cx="1800225" cy="1223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4" name="Text Box 16"/>
          <p:cNvSpPr txBox="1">
            <a:spLocks noChangeArrowheads="1"/>
          </p:cNvSpPr>
          <p:nvPr/>
        </p:nvSpPr>
        <p:spPr bwMode="auto">
          <a:xfrm>
            <a:off x="6096000" y="914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43057" name="Rectangle 17" descr="蓝色面巾纸"/>
          <p:cNvSpPr>
            <a:spLocks noChangeArrowheads="1"/>
          </p:cNvSpPr>
          <p:nvPr/>
        </p:nvSpPr>
        <p:spPr bwMode="auto">
          <a:xfrm>
            <a:off x="7380288" y="404813"/>
            <a:ext cx="1295400" cy="7620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S→BB.</a:t>
            </a:r>
          </a:p>
        </p:txBody>
      </p:sp>
      <p:sp>
        <p:nvSpPr>
          <p:cNvPr id="80916" name="Freeform 18"/>
          <p:cNvSpPr>
            <a:spLocks/>
          </p:cNvSpPr>
          <p:nvPr/>
        </p:nvSpPr>
        <p:spPr bwMode="auto">
          <a:xfrm>
            <a:off x="5580063" y="2590800"/>
            <a:ext cx="1008062" cy="2925763"/>
          </a:xfrm>
          <a:custGeom>
            <a:avLst/>
            <a:gdLst>
              <a:gd name="T0" fmla="*/ 0 w 1424"/>
              <a:gd name="T1" fmla="*/ 0 h 1968"/>
              <a:gd name="T2" fmla="*/ 553252588 w 1424"/>
              <a:gd name="T3" fmla="*/ 954799400 h 1968"/>
              <a:gd name="T4" fmla="*/ 625416069 w 1424"/>
              <a:gd name="T5" fmla="*/ 2147483647 h 1968"/>
              <a:gd name="T6" fmla="*/ 24054741 w 1424"/>
              <a:gd name="T7" fmla="*/ 2147483647 h 1968"/>
              <a:gd name="T8" fmla="*/ 0 60000 65536"/>
              <a:gd name="T9" fmla="*/ 0 60000 65536"/>
              <a:gd name="T10" fmla="*/ 0 60000 65536"/>
              <a:gd name="T11" fmla="*/ 0 60000 65536"/>
              <a:gd name="T12" fmla="*/ 0 w 1424"/>
              <a:gd name="T13" fmla="*/ 0 h 1968"/>
              <a:gd name="T14" fmla="*/ 1424 w 1424"/>
              <a:gd name="T15" fmla="*/ 1968 h 196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24" h="1968">
                <a:moveTo>
                  <a:pt x="0" y="0"/>
                </a:moveTo>
                <a:cubicBezTo>
                  <a:pt x="448" y="112"/>
                  <a:pt x="896" y="224"/>
                  <a:pt x="1104" y="432"/>
                </a:cubicBezTo>
                <a:cubicBezTo>
                  <a:pt x="1312" y="640"/>
                  <a:pt x="1424" y="992"/>
                  <a:pt x="1248" y="1248"/>
                </a:cubicBezTo>
                <a:cubicBezTo>
                  <a:pt x="1072" y="1504"/>
                  <a:pt x="248" y="1848"/>
                  <a:pt x="48" y="19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7" name="Text Box 19"/>
          <p:cNvSpPr txBox="1">
            <a:spLocks noChangeArrowheads="1"/>
          </p:cNvSpPr>
          <p:nvPr/>
        </p:nvSpPr>
        <p:spPr bwMode="auto">
          <a:xfrm>
            <a:off x="6516688" y="3573463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80918" name="Freeform 20"/>
          <p:cNvSpPr>
            <a:spLocks/>
          </p:cNvSpPr>
          <p:nvPr/>
        </p:nvSpPr>
        <p:spPr bwMode="auto">
          <a:xfrm>
            <a:off x="5580063" y="2997200"/>
            <a:ext cx="300037" cy="1295400"/>
          </a:xfrm>
          <a:custGeom>
            <a:avLst/>
            <a:gdLst>
              <a:gd name="T0" fmla="*/ 0 w 200"/>
              <a:gd name="T1" fmla="*/ 0 h 432"/>
              <a:gd name="T2" fmla="*/ 432107342 w 200"/>
              <a:gd name="T3" fmla="*/ 1726399633 h 432"/>
              <a:gd name="T4" fmla="*/ 108026836 w 200"/>
              <a:gd name="T5" fmla="*/ 2147483647 h 432"/>
              <a:gd name="T6" fmla="*/ 0 60000 65536"/>
              <a:gd name="T7" fmla="*/ 0 60000 65536"/>
              <a:gd name="T8" fmla="*/ 0 60000 65536"/>
              <a:gd name="T9" fmla="*/ 0 w 200"/>
              <a:gd name="T10" fmla="*/ 0 h 432"/>
              <a:gd name="T11" fmla="*/ 200 w 20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" h="432">
                <a:moveTo>
                  <a:pt x="0" y="0"/>
                </a:moveTo>
                <a:cubicBezTo>
                  <a:pt x="92" y="60"/>
                  <a:pt x="184" y="120"/>
                  <a:pt x="192" y="192"/>
                </a:cubicBezTo>
                <a:cubicBezTo>
                  <a:pt x="200" y="264"/>
                  <a:pt x="124" y="348"/>
                  <a:pt x="48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19" name="Text Box 21"/>
          <p:cNvSpPr txBox="1">
            <a:spLocks noChangeArrowheads="1"/>
          </p:cNvSpPr>
          <p:nvPr/>
        </p:nvSpPr>
        <p:spPr bwMode="auto">
          <a:xfrm>
            <a:off x="5867400" y="3352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80920" name="Line 22"/>
          <p:cNvSpPr>
            <a:spLocks noChangeShapeType="1"/>
          </p:cNvSpPr>
          <p:nvPr/>
        </p:nvSpPr>
        <p:spPr bwMode="auto">
          <a:xfrm>
            <a:off x="5638800" y="56388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21" name="Text Box 23"/>
          <p:cNvSpPr txBox="1">
            <a:spLocks noChangeArrowheads="1"/>
          </p:cNvSpPr>
          <p:nvPr/>
        </p:nvSpPr>
        <p:spPr bwMode="auto">
          <a:xfrm>
            <a:off x="6019800" y="5257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B</a:t>
            </a:r>
          </a:p>
        </p:txBody>
      </p:sp>
      <p:sp>
        <p:nvSpPr>
          <p:cNvPr id="343064" name="Rectangle 24" descr="蓝色面巾纸"/>
          <p:cNvSpPr>
            <a:spLocks noChangeArrowheads="1"/>
          </p:cNvSpPr>
          <p:nvPr/>
        </p:nvSpPr>
        <p:spPr bwMode="auto">
          <a:xfrm>
            <a:off x="6934200" y="5038725"/>
            <a:ext cx="1295400" cy="9144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400" b="1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宋体" pitchFamily="2" charset="-122"/>
            </a:endParaRPr>
          </a:p>
          <a:p>
            <a:pPr marL="609600" indent="-609600"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</a:rPr>
              <a:t>B→aB.</a:t>
            </a:r>
            <a:endParaRPr kumimoji="1" lang="en-US" altLang="zh-CN" sz="320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80923" name="Freeform 25"/>
          <p:cNvSpPr>
            <a:spLocks/>
          </p:cNvSpPr>
          <p:nvPr/>
        </p:nvSpPr>
        <p:spPr bwMode="auto">
          <a:xfrm>
            <a:off x="5638800" y="5867400"/>
            <a:ext cx="457200" cy="457200"/>
          </a:xfrm>
          <a:custGeom>
            <a:avLst/>
            <a:gdLst>
              <a:gd name="T0" fmla="*/ 0 w 288"/>
              <a:gd name="T1" fmla="*/ 0 h 288"/>
              <a:gd name="T2" fmla="*/ 725804891 w 288"/>
              <a:gd name="T3" fmla="*/ 362902445 h 288"/>
              <a:gd name="T4" fmla="*/ 0 w 288"/>
              <a:gd name="T5" fmla="*/ 725804891 h 288"/>
              <a:gd name="T6" fmla="*/ 0 60000 65536"/>
              <a:gd name="T7" fmla="*/ 0 60000 65536"/>
              <a:gd name="T8" fmla="*/ 0 60000 65536"/>
              <a:gd name="T9" fmla="*/ 0 w 288"/>
              <a:gd name="T10" fmla="*/ 0 h 288"/>
              <a:gd name="T11" fmla="*/ 288 w 288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288">
                <a:moveTo>
                  <a:pt x="0" y="0"/>
                </a:moveTo>
                <a:cubicBezTo>
                  <a:pt x="144" y="48"/>
                  <a:pt x="288" y="96"/>
                  <a:pt x="288" y="144"/>
                </a:cubicBezTo>
                <a:cubicBezTo>
                  <a:pt x="288" y="192"/>
                  <a:pt x="144" y="240"/>
                  <a:pt x="0" y="2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24" name="Text Box 26"/>
          <p:cNvSpPr txBox="1">
            <a:spLocks noChangeArrowheads="1"/>
          </p:cNvSpPr>
          <p:nvPr/>
        </p:nvSpPr>
        <p:spPr bwMode="auto">
          <a:xfrm>
            <a:off x="6019800" y="5867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a</a:t>
            </a:r>
          </a:p>
        </p:txBody>
      </p:sp>
      <p:sp>
        <p:nvSpPr>
          <p:cNvPr id="80925" name="Line 27"/>
          <p:cNvSpPr>
            <a:spLocks noChangeShapeType="1"/>
          </p:cNvSpPr>
          <p:nvPr/>
        </p:nvSpPr>
        <p:spPr bwMode="auto">
          <a:xfrm flipV="1">
            <a:off x="4953000" y="4572000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926" name="Text Box 28"/>
          <p:cNvSpPr txBox="1">
            <a:spLocks noChangeArrowheads="1"/>
          </p:cNvSpPr>
          <p:nvPr/>
        </p:nvSpPr>
        <p:spPr bwMode="auto">
          <a:xfrm>
            <a:off x="4953000" y="4572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b</a:t>
            </a:r>
          </a:p>
        </p:txBody>
      </p:sp>
      <p:sp>
        <p:nvSpPr>
          <p:cNvPr id="343069" name="Rectangle 29"/>
          <p:cNvSpPr>
            <a:spLocks noChangeArrowheads="1"/>
          </p:cNvSpPr>
          <p:nvPr/>
        </p:nvSpPr>
        <p:spPr bwMode="auto">
          <a:xfrm>
            <a:off x="684213" y="620713"/>
            <a:ext cx="561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</a:rPr>
              <a:t>0</a:t>
            </a:r>
            <a:r>
              <a:rPr lang="en-US" altLang="zh-CN" sz="2800" b="1">
                <a:latin typeface="Times New Roman" pitchFamily="18" charset="0"/>
              </a:rPr>
              <a:t>:</a:t>
            </a:r>
          </a:p>
        </p:txBody>
      </p:sp>
      <p:sp>
        <p:nvSpPr>
          <p:cNvPr id="343070" name="Rectangle 30"/>
          <p:cNvSpPr>
            <a:spLocks noChangeArrowheads="1"/>
          </p:cNvSpPr>
          <p:nvPr/>
        </p:nvSpPr>
        <p:spPr bwMode="auto">
          <a:xfrm>
            <a:off x="4284663" y="333375"/>
            <a:ext cx="561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</a:rPr>
              <a:t>1</a:t>
            </a:r>
            <a:r>
              <a:rPr lang="en-US" altLang="zh-CN" sz="2800" b="1">
                <a:latin typeface="Times New Roman" pitchFamily="18" charset="0"/>
              </a:rPr>
              <a:t>:</a:t>
            </a:r>
          </a:p>
        </p:txBody>
      </p:sp>
      <p:sp>
        <p:nvSpPr>
          <p:cNvPr id="343071" name="Rectangle 31"/>
          <p:cNvSpPr>
            <a:spLocks noChangeArrowheads="1"/>
          </p:cNvSpPr>
          <p:nvPr/>
        </p:nvSpPr>
        <p:spPr bwMode="auto">
          <a:xfrm>
            <a:off x="4284663" y="1628775"/>
            <a:ext cx="561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</a:rPr>
              <a:t>2</a:t>
            </a:r>
            <a:r>
              <a:rPr lang="en-US" altLang="zh-CN" sz="2800" b="1">
                <a:latin typeface="Times New Roman" pitchFamily="18" charset="0"/>
              </a:rPr>
              <a:t>:</a:t>
            </a:r>
          </a:p>
        </p:txBody>
      </p:sp>
      <p:sp>
        <p:nvSpPr>
          <p:cNvPr id="343072" name="Rectangle 32"/>
          <p:cNvSpPr>
            <a:spLocks noChangeArrowheads="1"/>
          </p:cNvSpPr>
          <p:nvPr/>
        </p:nvSpPr>
        <p:spPr bwMode="auto">
          <a:xfrm>
            <a:off x="6948488" y="4941888"/>
            <a:ext cx="561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</a:rPr>
              <a:t>6</a:t>
            </a:r>
            <a:r>
              <a:rPr lang="en-US" altLang="zh-CN" sz="2800" b="1">
                <a:latin typeface="Times New Roman" pitchFamily="18" charset="0"/>
              </a:rPr>
              <a:t>:</a:t>
            </a:r>
          </a:p>
        </p:txBody>
      </p:sp>
      <p:sp>
        <p:nvSpPr>
          <p:cNvPr id="343073" name="Rectangle 33"/>
          <p:cNvSpPr>
            <a:spLocks noChangeArrowheads="1"/>
          </p:cNvSpPr>
          <p:nvPr/>
        </p:nvSpPr>
        <p:spPr bwMode="auto">
          <a:xfrm>
            <a:off x="7386638" y="357188"/>
            <a:ext cx="561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</a:rPr>
              <a:t>5</a:t>
            </a:r>
            <a:r>
              <a:rPr lang="en-US" altLang="zh-CN" sz="2800" b="1">
                <a:latin typeface="Times New Roman" pitchFamily="18" charset="0"/>
              </a:rPr>
              <a:t>:</a:t>
            </a:r>
          </a:p>
        </p:txBody>
      </p:sp>
      <p:sp>
        <p:nvSpPr>
          <p:cNvPr id="343074" name="Rectangle 34"/>
          <p:cNvSpPr>
            <a:spLocks noChangeArrowheads="1"/>
          </p:cNvSpPr>
          <p:nvPr/>
        </p:nvSpPr>
        <p:spPr bwMode="auto">
          <a:xfrm>
            <a:off x="4427538" y="4868863"/>
            <a:ext cx="561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</a:rPr>
              <a:t>3</a:t>
            </a:r>
            <a:r>
              <a:rPr lang="en-US" altLang="zh-CN" sz="2800" b="1">
                <a:latin typeface="Times New Roman" pitchFamily="18" charset="0"/>
              </a:rPr>
              <a:t>:</a:t>
            </a:r>
          </a:p>
        </p:txBody>
      </p:sp>
      <p:sp>
        <p:nvSpPr>
          <p:cNvPr id="343075" name="Rectangle 35"/>
          <p:cNvSpPr>
            <a:spLocks noChangeArrowheads="1"/>
          </p:cNvSpPr>
          <p:nvPr/>
        </p:nvSpPr>
        <p:spPr bwMode="auto">
          <a:xfrm>
            <a:off x="4356100" y="3644900"/>
            <a:ext cx="561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itchFamily="18" charset="0"/>
              </a:rPr>
              <a:t>I</a:t>
            </a:r>
            <a:r>
              <a:rPr lang="en-US" altLang="zh-CN" sz="2800" b="1" baseline="-25000">
                <a:latin typeface="Times New Roman" pitchFamily="18" charset="0"/>
              </a:rPr>
              <a:t>4</a:t>
            </a:r>
            <a:r>
              <a:rPr lang="en-US" altLang="zh-CN" sz="2800" b="1">
                <a:latin typeface="Times New Roman" pitchFamily="18" charset="0"/>
              </a:rPr>
              <a:t>:</a:t>
            </a:r>
          </a:p>
        </p:txBody>
      </p:sp>
      <p:sp>
        <p:nvSpPr>
          <p:cNvPr id="343077" name="Text Box 37" descr="新闻纸"/>
          <p:cNvSpPr txBox="1">
            <a:spLocks noChangeArrowheads="1"/>
          </p:cNvSpPr>
          <p:nvPr/>
        </p:nvSpPr>
        <p:spPr bwMode="auto">
          <a:xfrm>
            <a:off x="250825" y="5300663"/>
            <a:ext cx="3097213" cy="138271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8F8F8"/>
            </a:extrusionClr>
          </a:sp3d>
        </p:spPr>
        <p:txBody>
          <a:bodyPr>
            <a:spAutoFit/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zh-CN" altLang="en-US" sz="2800" b="1">
                <a:ea typeface="华文新魏" pitchFamily="2" charset="-122"/>
              </a:rPr>
              <a:t>文法符号和状态的变换相关联，决定动作和状态变化</a:t>
            </a:r>
            <a:endParaRPr lang="zh-CN" altLang="en-US" sz="2800" b="1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二、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LR(0) </a:t>
            </a:r>
            <a:r>
              <a:rPr lang="zh-CN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分析表</a:t>
            </a:r>
            <a:endParaRPr lang="zh-CN" altLang="zh-CN" b="1">
              <a:latin typeface="Times New Roman" pitchFamily="18" charset="0"/>
              <a:ea typeface="华文新魏" pitchFamily="2" charset="-122"/>
            </a:endParaRPr>
          </a:p>
        </p:txBody>
      </p:sp>
      <p:graphicFrame>
        <p:nvGraphicFramePr>
          <p:cNvPr id="61536" name="Group 96"/>
          <p:cNvGraphicFramePr>
            <a:graphicFrameLocks noGrp="1"/>
          </p:cNvGraphicFramePr>
          <p:nvPr/>
        </p:nvGraphicFramePr>
        <p:xfrm>
          <a:off x="3419475" y="1844675"/>
          <a:ext cx="5535613" cy="4663440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华文新魏" pitchFamily="2" charset="-122"/>
                        </a:rPr>
                        <a:t>动作表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华文新魏" pitchFamily="2" charset="-122"/>
                        </a:rPr>
                        <a:t>action</a:t>
                      </a:r>
                      <a:endParaRPr kumimoji="0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华文新魏" pitchFamily="2" charset="-122"/>
                        </a:rPr>
                        <a:t>转移表</a:t>
                      </a: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itchFamily="18" charset="0"/>
                          <a:ea typeface="华文新魏" pitchFamily="2" charset="-122"/>
                        </a:rPr>
                        <a:t>goto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acc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199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33EDC7D-1FB4-4C38-B373-826652C5DDA4}" type="slidenum">
              <a:rPr lang="en-US" altLang="zh-CN" smtClean="0"/>
              <a:pPr eaLnBrk="1" hangingPunct="1"/>
              <a:t>61</a:t>
            </a:fld>
            <a:endParaRPr lang="en-US" altLang="zh-CN" smtClean="0"/>
          </a:p>
        </p:txBody>
      </p:sp>
      <p:sp>
        <p:nvSpPr>
          <p:cNvPr id="61458" name="Text Box 18"/>
          <p:cNvSpPr txBox="1">
            <a:spLocks noChangeArrowheads="1"/>
          </p:cNvSpPr>
          <p:nvPr/>
        </p:nvSpPr>
        <p:spPr bwMode="auto">
          <a:xfrm>
            <a:off x="395288" y="4695825"/>
            <a:ext cx="2881312" cy="18002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LR(0)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、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SLR(1)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、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LR(1)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、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LALR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将以不同的原则构造这张分析表</a:t>
            </a:r>
          </a:p>
        </p:txBody>
      </p:sp>
      <p:sp>
        <p:nvSpPr>
          <p:cNvPr id="61459" name="Text Box 19"/>
          <p:cNvSpPr txBox="1">
            <a:spLocks noChangeArrowheads="1"/>
          </p:cNvSpPr>
          <p:nvPr/>
        </p:nvSpPr>
        <p:spPr bwMode="auto">
          <a:xfrm>
            <a:off x="381000" y="2066925"/>
            <a:ext cx="2751138" cy="212407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95000"/>
              </a:lnSpc>
            </a:pPr>
            <a:r>
              <a:rPr kumimoji="1"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约定：</a:t>
            </a:r>
          </a:p>
          <a:p>
            <a:pPr>
              <a:lnSpc>
                <a:spcPct val="95000"/>
              </a:lnSpc>
            </a:pP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sn: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将符号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、状态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n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压入栈</a:t>
            </a:r>
          </a:p>
          <a:p>
            <a:pPr>
              <a:lnSpc>
                <a:spcPct val="95000"/>
              </a:lnSpc>
            </a:pP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rn: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用第</a:t>
            </a: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n</a:t>
            </a:r>
            <a:r>
              <a:rPr kumimoji="1" lang="zh-CN" altLang="en-US" sz="28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个产生式进行归约</a:t>
            </a:r>
            <a:endParaRPr kumimoji="1" lang="zh-CN" altLang="en-US" sz="2800">
              <a:solidFill>
                <a:schemeClr val="bg1"/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765175"/>
            <a:ext cx="5810250" cy="9779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三、分析器总体结构</a:t>
            </a:r>
          </a:p>
        </p:txBody>
      </p:sp>
      <p:sp>
        <p:nvSpPr>
          <p:cNvPr id="8294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770CDEA-FA71-4FF4-BCEB-71ECA2D058BD}" type="slidenum">
              <a:rPr lang="en-US" altLang="zh-CN" smtClean="0"/>
              <a:pPr eaLnBrk="1" hangingPunct="1"/>
              <a:t>62</a:t>
            </a:fld>
            <a:endParaRPr lang="en-US" altLang="zh-CN" smtClean="0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374900" y="4959350"/>
            <a:ext cx="6022975" cy="1511300"/>
            <a:chOff x="1496" y="3124"/>
            <a:chExt cx="3794" cy="952"/>
          </a:xfrm>
        </p:grpSpPr>
        <p:sp>
          <p:nvSpPr>
            <p:cNvPr id="82964" name="Rectangle 11"/>
            <p:cNvSpPr>
              <a:spLocks noChangeArrowheads="1"/>
            </p:cNvSpPr>
            <p:nvPr/>
          </p:nvSpPr>
          <p:spPr bwMode="auto">
            <a:xfrm>
              <a:off x="1496" y="3124"/>
              <a:ext cx="3064" cy="952"/>
            </a:xfrm>
            <a:prstGeom prst="rect">
              <a:avLst/>
            </a:prstGeom>
            <a:solidFill>
              <a:srgbClr val="0066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965" name="Rectangle 12"/>
            <p:cNvSpPr>
              <a:spLocks noChangeArrowheads="1"/>
            </p:cNvSpPr>
            <p:nvPr/>
          </p:nvSpPr>
          <p:spPr bwMode="auto">
            <a:xfrm>
              <a:off x="4502" y="3225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zh-CN" altLang="en-US" sz="2800" b="1">
                  <a:latin typeface="Times New Roman" pitchFamily="18" charset="0"/>
                  <a:ea typeface="华文新魏" pitchFamily="2" charset="-122"/>
                </a:rPr>
                <a:t>分析表</a:t>
              </a:r>
            </a:p>
          </p:txBody>
        </p:sp>
      </p:grp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3132138" y="2349500"/>
            <a:ext cx="3886200" cy="596900"/>
          </a:xfrm>
          <a:prstGeom prst="rect">
            <a:avLst/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eaLnBrk="0" hangingPunct="0"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40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…   a</a:t>
            </a:r>
            <a:r>
              <a:rPr kumimoji="1" lang="en-US" altLang="zh-CN" sz="40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…   a</a:t>
            </a:r>
            <a:r>
              <a:rPr kumimoji="1" lang="en-US" altLang="zh-CN" sz="40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n</a:t>
            </a: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#</a:t>
            </a: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3359150" y="3605213"/>
            <a:ext cx="2806700" cy="831850"/>
          </a:xfrm>
          <a:prstGeom prst="rect">
            <a:avLst/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LR</a:t>
            </a:r>
            <a:r>
              <a:rPr kumimoji="1" lang="zh-CN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主控程序</a:t>
            </a:r>
          </a:p>
        </p:txBody>
      </p:sp>
      <p:sp>
        <p:nvSpPr>
          <p:cNvPr id="60421" name="Rectangle 5"/>
          <p:cNvSpPr>
            <a:spLocks noChangeArrowheads="1"/>
          </p:cNvSpPr>
          <p:nvPr/>
        </p:nvSpPr>
        <p:spPr bwMode="auto">
          <a:xfrm>
            <a:off x="2843213" y="5229225"/>
            <a:ext cx="2044700" cy="901700"/>
          </a:xfrm>
          <a:prstGeom prst="rect">
            <a:avLst/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动作表</a:t>
            </a:r>
          </a:p>
          <a:p>
            <a:pPr algn="ctr" eaLnBrk="0" hangingPunct="0">
              <a:defRPr/>
            </a:pPr>
            <a:r>
              <a:rPr kumimoji="1" lang="en-US" altLang="zh-CN" sz="2800" b="1">
                <a:solidFill>
                  <a:schemeClr val="bg1"/>
                </a:solidFill>
                <a:latin typeface="Times New Roman" pitchFamily="18" charset="0"/>
              </a:rPr>
              <a:t>action</a:t>
            </a: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4876800" y="5229225"/>
            <a:ext cx="1892300" cy="901700"/>
          </a:xfrm>
          <a:prstGeom prst="rect">
            <a:avLst/>
          </a:prstGeom>
          <a:solidFill>
            <a:srgbClr val="3366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defRPr/>
            </a:pPr>
            <a:r>
              <a:rPr kumimoji="1"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转移表</a:t>
            </a:r>
          </a:p>
          <a:p>
            <a:pPr algn="ctr" eaLnBrk="0" hangingPunct="0"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goto</a:t>
            </a:r>
            <a:endParaRPr kumimoji="1" lang="en-US" altLang="zh-CN" sz="28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60423" name="Rectangle 7"/>
          <p:cNvSpPr>
            <a:spLocks noChangeArrowheads="1"/>
          </p:cNvSpPr>
          <p:nvPr/>
        </p:nvSpPr>
        <p:spPr bwMode="auto">
          <a:xfrm>
            <a:off x="7451725" y="3573463"/>
            <a:ext cx="12509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eaLnBrk="0" hangingPunct="0">
              <a:defRPr/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产生式</a:t>
            </a:r>
          </a:p>
          <a:p>
            <a:pPr algn="ctr" eaLnBrk="0" hangingPunct="0">
              <a:defRPr/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序列</a:t>
            </a:r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900113" y="2276475"/>
            <a:ext cx="125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kumimoji="1" lang="zh-CN" altLang="en-US" sz="2800" b="1">
                <a:latin typeface="华文新魏" pitchFamily="2" charset="-122"/>
                <a:ea typeface="华文新魏" pitchFamily="2" charset="-122"/>
              </a:rPr>
              <a:t>符号栈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7019925" y="2189163"/>
            <a:ext cx="1962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itchFamily="18" charset="0"/>
                <a:ea typeface="华文新魏" pitchFamily="2" charset="-122"/>
              </a:rPr>
              <a:t>输入缓冲区</a:t>
            </a:r>
          </a:p>
        </p:txBody>
      </p:sp>
      <p:sp>
        <p:nvSpPr>
          <p:cNvPr id="60429" name="Rectangle 13"/>
          <p:cNvSpPr>
            <a:spLocks noChangeArrowheads="1"/>
          </p:cNvSpPr>
          <p:nvPr/>
        </p:nvSpPr>
        <p:spPr bwMode="auto">
          <a:xfrm>
            <a:off x="152400" y="2895600"/>
            <a:ext cx="977900" cy="3568700"/>
          </a:xfrm>
          <a:prstGeom prst="rect">
            <a:avLst/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  <a:r>
              <a:rPr kumimoji="1" lang="en-US" altLang="zh-CN" sz="40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  <a:endParaRPr kumimoji="1"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algn="ctr" eaLnBrk="0" hangingPunct="0">
              <a:lnSpc>
                <a:spcPct val="90000"/>
              </a:lnSpc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  <a:r>
              <a:rPr kumimoji="1" lang="en-US" altLang="zh-CN" sz="40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m-1</a:t>
            </a:r>
            <a:endParaRPr kumimoji="1"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algn="ctr" eaLnBrk="0" hangingPunct="0">
              <a:lnSpc>
                <a:spcPct val="90000"/>
              </a:lnSpc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…</a:t>
            </a:r>
          </a:p>
          <a:p>
            <a:pPr algn="ctr" eaLnBrk="0" hangingPunct="0">
              <a:lnSpc>
                <a:spcPct val="90000"/>
              </a:lnSpc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…</a:t>
            </a:r>
          </a:p>
          <a:p>
            <a:pPr algn="ctr" eaLnBrk="0" hangingPunct="0">
              <a:lnSpc>
                <a:spcPct val="90000"/>
              </a:lnSpc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…</a:t>
            </a:r>
          </a:p>
          <a:p>
            <a:pPr algn="ctr" eaLnBrk="0" hangingPunct="0">
              <a:lnSpc>
                <a:spcPct val="90000"/>
              </a:lnSpc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  <a:r>
              <a:rPr kumimoji="1" lang="en-US" altLang="zh-CN" sz="32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  <a:endParaRPr kumimoji="1"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algn="ctr" eaLnBrk="0" hangingPunct="0">
              <a:lnSpc>
                <a:spcPct val="90000"/>
              </a:lnSpc>
              <a:defRPr/>
            </a:pPr>
            <a:r>
              <a:rPr kumimoji="1"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</a:t>
            </a:r>
            <a:r>
              <a:rPr kumimoji="1" lang="en-US" altLang="zh-CN" sz="4000" b="1" baseline="-2500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0</a:t>
            </a:r>
            <a:endParaRPr kumimoji="1" lang="en-US" altLang="zh-CN" sz="4000" b="1" baseline="-2500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60430" name="Rectangle 14"/>
          <p:cNvSpPr>
            <a:spLocks noChangeArrowheads="1"/>
          </p:cNvSpPr>
          <p:nvPr/>
        </p:nvSpPr>
        <p:spPr bwMode="auto">
          <a:xfrm>
            <a:off x="1149350" y="2895600"/>
            <a:ext cx="977900" cy="3575050"/>
          </a:xfrm>
          <a:prstGeom prst="rect">
            <a:avLst/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X</a:t>
            </a:r>
            <a:r>
              <a:rPr kumimoji="1" lang="en-US" altLang="zh-CN" sz="40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  <a:endParaRPr kumimoji="1"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algn="ctr" eaLnBrk="0" hangingPunct="0">
              <a:lnSpc>
                <a:spcPct val="90000"/>
              </a:lnSpc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X</a:t>
            </a:r>
            <a:r>
              <a:rPr kumimoji="1" lang="en-US" altLang="zh-CN" sz="40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m-1</a:t>
            </a:r>
            <a:endParaRPr kumimoji="1"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algn="ctr" eaLnBrk="0" hangingPunct="0">
              <a:lnSpc>
                <a:spcPct val="90000"/>
              </a:lnSpc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…</a:t>
            </a:r>
          </a:p>
          <a:p>
            <a:pPr algn="ctr" eaLnBrk="0" hangingPunct="0">
              <a:lnSpc>
                <a:spcPct val="90000"/>
              </a:lnSpc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…</a:t>
            </a:r>
          </a:p>
          <a:p>
            <a:pPr algn="ctr" eaLnBrk="0" hangingPunct="0">
              <a:lnSpc>
                <a:spcPct val="90000"/>
              </a:lnSpc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…</a:t>
            </a:r>
          </a:p>
          <a:p>
            <a:pPr algn="ctr" eaLnBrk="0" hangingPunct="0">
              <a:lnSpc>
                <a:spcPct val="90000"/>
              </a:lnSpc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X</a:t>
            </a:r>
            <a:r>
              <a:rPr kumimoji="1" lang="en-US" altLang="zh-CN" sz="3200" b="1" baseline="-25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1</a:t>
            </a:r>
            <a:endParaRPr kumimoji="1" lang="en-US" altLang="zh-CN" sz="3200" b="1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algn="ctr" eaLnBrk="0" hangingPunct="0">
              <a:lnSpc>
                <a:spcPct val="90000"/>
              </a:lnSpc>
              <a:defRPr/>
            </a:pPr>
            <a:r>
              <a:rPr kumimoji="1" lang="en-US" altLang="zh-CN" sz="32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#</a:t>
            </a:r>
            <a:endParaRPr kumimoji="1" lang="en-US" altLang="zh-CN" sz="4000" b="1" baseline="-2500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60435" name="AutoShape 19"/>
          <p:cNvSpPr>
            <a:spLocks noChangeArrowheads="1"/>
          </p:cNvSpPr>
          <p:nvPr/>
        </p:nvSpPr>
        <p:spPr bwMode="auto">
          <a:xfrm>
            <a:off x="6156325" y="3860800"/>
            <a:ext cx="1295400" cy="381000"/>
          </a:xfrm>
          <a:prstGeom prst="rightArrow">
            <a:avLst>
              <a:gd name="adj1" fmla="val 50000"/>
              <a:gd name="adj2" fmla="val 85000"/>
            </a:avLst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60436" name="AutoShape 20"/>
          <p:cNvCxnSpPr>
            <a:cxnSpLocks noChangeShapeType="1"/>
            <a:endCxn id="60420" idx="1"/>
          </p:cNvCxnSpPr>
          <p:nvPr/>
        </p:nvCxnSpPr>
        <p:spPr bwMode="auto">
          <a:xfrm>
            <a:off x="2124075" y="3500438"/>
            <a:ext cx="1235075" cy="520700"/>
          </a:xfrm>
          <a:prstGeom prst="bentConnector3">
            <a:avLst>
              <a:gd name="adj1" fmla="val 50000"/>
            </a:avLst>
          </a:prstGeom>
          <a:noFill/>
          <a:ln w="28575">
            <a:solidFill>
              <a:schemeClr val="tx1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37" name="Line 21"/>
          <p:cNvSpPr>
            <a:spLocks noChangeShapeType="1"/>
          </p:cNvSpPr>
          <p:nvPr/>
        </p:nvSpPr>
        <p:spPr bwMode="auto">
          <a:xfrm flipV="1">
            <a:off x="4716463" y="2925763"/>
            <a:ext cx="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8" name="Line 22"/>
          <p:cNvSpPr>
            <a:spLocks noChangeShapeType="1"/>
          </p:cNvSpPr>
          <p:nvPr/>
        </p:nvSpPr>
        <p:spPr bwMode="auto">
          <a:xfrm flipV="1">
            <a:off x="3924300" y="4437063"/>
            <a:ext cx="0" cy="792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9" name="Line 23"/>
          <p:cNvSpPr>
            <a:spLocks noChangeShapeType="1"/>
          </p:cNvSpPr>
          <p:nvPr/>
        </p:nvSpPr>
        <p:spPr bwMode="auto">
          <a:xfrm flipV="1">
            <a:off x="5508625" y="4437063"/>
            <a:ext cx="0" cy="792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40" name="Rectangle 24"/>
          <p:cNvSpPr>
            <a:spLocks noChangeArrowheads="1"/>
          </p:cNvSpPr>
          <p:nvPr/>
        </p:nvSpPr>
        <p:spPr bwMode="auto">
          <a:xfrm>
            <a:off x="88900" y="2303463"/>
            <a:ext cx="1027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华文新魏" pitchFamily="2" charset="-122"/>
                <a:ea typeface="华文新魏" pitchFamily="2" charset="-122"/>
              </a:rPr>
              <a:t>状态</a:t>
            </a:r>
            <a:r>
              <a:rPr kumimoji="1" lang="en-US" altLang="zh-CN" sz="2800" b="1">
                <a:latin typeface="华文新魏" pitchFamily="2" charset="-122"/>
                <a:ea typeface="华文新魏" pitchFamily="2" charset="-122"/>
              </a:rPr>
              <a:t>/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98525" y="620713"/>
            <a:ext cx="7632700" cy="739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四、</a:t>
            </a:r>
            <a:r>
              <a:rPr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LR</a:t>
            </a: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分析器主控程序</a:t>
            </a:r>
            <a:r>
              <a:rPr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(LR</a:t>
            </a: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分析算法</a:t>
            </a:r>
            <a:r>
              <a:rPr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557338"/>
            <a:ext cx="8291513" cy="1152525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开始时分析栈中为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#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和开始状态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0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，置输入指针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ip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指向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w#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的第一个符号</a:t>
            </a:r>
          </a:p>
        </p:txBody>
      </p:sp>
      <p:sp>
        <p:nvSpPr>
          <p:cNvPr id="839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EB8B650C-D5C0-4AB9-8CDA-DB924541CB13}" type="slidenum">
              <a:rPr lang="en-US" altLang="zh-CN" smtClean="0"/>
              <a:pPr eaLnBrk="1" hangingPunct="1"/>
              <a:t>63</a:t>
            </a:fld>
            <a:endParaRPr lang="en-US" altLang="zh-CN" smtClean="0"/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1817688" y="2852738"/>
            <a:ext cx="6065837" cy="3181350"/>
            <a:chOff x="1236" y="1978"/>
            <a:chExt cx="3821" cy="2004"/>
          </a:xfrm>
        </p:grpSpPr>
        <p:sp>
          <p:nvSpPr>
            <p:cNvPr id="83975" name="Rectangle 13"/>
            <p:cNvSpPr>
              <a:spLocks noChangeArrowheads="1"/>
            </p:cNvSpPr>
            <p:nvPr/>
          </p:nvSpPr>
          <p:spPr bwMode="auto">
            <a:xfrm>
              <a:off x="2052" y="3393"/>
              <a:ext cx="2677" cy="589"/>
            </a:xfrm>
            <a:prstGeom prst="rect">
              <a:avLst/>
            </a:prstGeom>
            <a:solidFill>
              <a:srgbClr val="0066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2037" name="Rectangle 5"/>
            <p:cNvSpPr>
              <a:spLocks noChangeArrowheads="1"/>
            </p:cNvSpPr>
            <p:nvPr/>
          </p:nvSpPr>
          <p:spPr bwMode="auto">
            <a:xfrm>
              <a:off x="2336" y="1978"/>
              <a:ext cx="2448" cy="305"/>
            </a:xfrm>
            <a:prstGeom prst="rect">
              <a:avLst/>
            </a:prstGeom>
            <a:solidFill>
              <a:srgbClr val="0066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eaLnBrk="0" hangingPunct="0">
                <a:defRPr/>
              </a:pPr>
              <a:r>
                <a:rPr kumimoji="1" lang="en-US" altLang="zh-CN" sz="3200" b="1" i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a</a:t>
              </a:r>
              <a:r>
                <a:rPr kumimoji="1" lang="en-US" altLang="zh-CN" sz="3200" b="1" i="1" baseline="-25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1</a:t>
              </a:r>
              <a:r>
                <a:rPr kumimoji="1" lang="en-US" altLang="zh-CN" sz="3200" b="1" i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   …   a</a:t>
              </a:r>
              <a:r>
                <a:rPr kumimoji="1" lang="en-US" altLang="zh-CN" sz="3200" b="1" i="1" baseline="-25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3200" b="1" i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   …   a</a:t>
              </a:r>
              <a:r>
                <a:rPr kumimoji="1" lang="en-US" altLang="zh-CN" sz="3200" b="1" i="1" baseline="-2500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n</a:t>
              </a:r>
              <a:r>
                <a:rPr kumimoji="1" lang="en-US" altLang="zh-CN" sz="3200" b="1" i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  #</a:t>
              </a:r>
            </a:p>
          </p:txBody>
        </p:sp>
        <p:sp>
          <p:nvSpPr>
            <p:cNvPr id="172038" name="Rectangle 6"/>
            <p:cNvSpPr>
              <a:spLocks noChangeArrowheads="1"/>
            </p:cNvSpPr>
            <p:nvPr/>
          </p:nvSpPr>
          <p:spPr bwMode="auto">
            <a:xfrm>
              <a:off x="2479" y="2620"/>
              <a:ext cx="1768" cy="425"/>
            </a:xfrm>
            <a:prstGeom prst="rect">
              <a:avLst/>
            </a:prstGeom>
            <a:solidFill>
              <a:srgbClr val="0066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defRPr/>
              </a:pPr>
              <a:r>
                <a:rPr kumimoji="1" lang="en-US" altLang="zh-CN" sz="3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LR</a:t>
              </a:r>
              <a:r>
                <a:rPr kumimoji="1" lang="zh-CN" altLang="en-US" sz="3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华文新魏" pitchFamily="2" charset="-122"/>
                </a:rPr>
                <a:t>主控程序</a:t>
              </a:r>
            </a:p>
          </p:txBody>
        </p:sp>
        <p:sp>
          <p:nvSpPr>
            <p:cNvPr id="172039" name="Rectangle 7"/>
            <p:cNvSpPr>
              <a:spLocks noChangeArrowheads="1"/>
            </p:cNvSpPr>
            <p:nvPr/>
          </p:nvSpPr>
          <p:spPr bwMode="auto">
            <a:xfrm>
              <a:off x="2290" y="3467"/>
              <a:ext cx="1089" cy="461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75000"/>
                </a:lnSpc>
                <a:defRPr/>
              </a:pPr>
              <a:r>
                <a:rPr kumimoji="1" lang="zh-CN" altLang="en-US" sz="3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华文新魏" pitchFamily="2" charset="-122"/>
                </a:rPr>
                <a:t>动作表</a:t>
              </a:r>
            </a:p>
            <a:p>
              <a:pPr algn="ctr" eaLnBrk="0" hangingPunct="0">
                <a:lnSpc>
                  <a:spcPct val="75000"/>
                </a:lnSpc>
                <a:defRPr/>
              </a:pPr>
              <a:r>
                <a:rPr kumimoji="1" lang="en-US" altLang="zh-CN" sz="3000" b="1">
                  <a:solidFill>
                    <a:schemeClr val="bg1"/>
                  </a:solidFill>
                  <a:latin typeface="Times New Roman" pitchFamily="18" charset="0"/>
                </a:rPr>
                <a:t>action</a:t>
              </a:r>
            </a:p>
          </p:txBody>
        </p:sp>
        <p:sp>
          <p:nvSpPr>
            <p:cNvPr id="172040" name="Rectangle 8"/>
            <p:cNvSpPr>
              <a:spLocks noChangeArrowheads="1"/>
            </p:cNvSpPr>
            <p:nvPr/>
          </p:nvSpPr>
          <p:spPr bwMode="auto">
            <a:xfrm>
              <a:off x="3378" y="3475"/>
              <a:ext cx="1044" cy="461"/>
            </a:xfrm>
            <a:prstGeom prst="rect">
              <a:avLst/>
            </a:prstGeom>
            <a:solidFill>
              <a:srgbClr val="3366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75000"/>
                </a:lnSpc>
                <a:defRPr/>
              </a:pPr>
              <a:r>
                <a:rPr kumimoji="1" lang="zh-CN" altLang="en-US" sz="3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  <a:ea typeface="华文新魏" pitchFamily="2" charset="-122"/>
                </a:rPr>
                <a:t>转移表</a:t>
              </a:r>
            </a:p>
            <a:p>
              <a:pPr algn="ctr" eaLnBrk="0" hangingPunct="0">
                <a:lnSpc>
                  <a:spcPct val="75000"/>
                </a:lnSpc>
                <a:defRPr/>
              </a:pPr>
              <a:r>
                <a:rPr kumimoji="1" lang="en-US" altLang="zh-CN" sz="3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goto</a:t>
              </a:r>
              <a:endParaRPr kumimoji="1" lang="en-US" altLang="zh-CN" sz="3000" b="1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172048" name="Rectangle 16"/>
            <p:cNvSpPr>
              <a:spLocks noChangeArrowheads="1"/>
            </p:cNvSpPr>
            <p:nvPr/>
          </p:nvSpPr>
          <p:spPr bwMode="auto">
            <a:xfrm>
              <a:off x="1236" y="2613"/>
              <a:ext cx="421" cy="907"/>
            </a:xfrm>
            <a:prstGeom prst="rect">
              <a:avLst/>
            </a:prstGeom>
            <a:solidFill>
              <a:srgbClr val="0066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  <a:defRPr/>
              </a:pPr>
              <a:endParaRPr kumimoji="1" lang="en-US" altLang="zh-CN" sz="30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endParaRPr>
            </a:p>
            <a:p>
              <a:pPr algn="ctr" eaLnBrk="0" hangingPunct="0">
                <a:lnSpc>
                  <a:spcPct val="90000"/>
                </a:lnSpc>
                <a:defRPr/>
              </a:pPr>
              <a:endParaRPr kumimoji="1" lang="en-US" altLang="zh-CN" sz="30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endParaRP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zh-CN" alt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０</a:t>
              </a:r>
              <a:endParaRPr kumimoji="1" lang="zh-CN" altLang="en-US" sz="3000" b="1" i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endParaRP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#</a:t>
              </a:r>
            </a:p>
          </p:txBody>
        </p:sp>
        <p:sp>
          <p:nvSpPr>
            <p:cNvPr id="83981" name="AutoShape 17"/>
            <p:cNvSpPr>
              <a:spLocks noChangeArrowheads="1"/>
            </p:cNvSpPr>
            <p:nvPr/>
          </p:nvSpPr>
          <p:spPr bwMode="auto">
            <a:xfrm>
              <a:off x="4241" y="2750"/>
              <a:ext cx="816" cy="195"/>
            </a:xfrm>
            <a:prstGeom prst="rightArrow">
              <a:avLst>
                <a:gd name="adj1" fmla="val 50000"/>
                <a:gd name="adj2" fmla="val 104615"/>
              </a:avLst>
            </a:prstGeom>
            <a:solidFill>
              <a:srgbClr val="006666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83982" name="AutoShape 18"/>
            <p:cNvCxnSpPr>
              <a:cxnSpLocks noChangeShapeType="1"/>
              <a:endCxn id="172038" idx="1"/>
            </p:cNvCxnSpPr>
            <p:nvPr/>
          </p:nvCxnSpPr>
          <p:spPr bwMode="auto">
            <a:xfrm flipV="1">
              <a:off x="1690" y="2833"/>
              <a:ext cx="789" cy="332"/>
            </a:xfrm>
            <a:prstGeom prst="bentConnector3">
              <a:avLst>
                <a:gd name="adj1" fmla="val 49935"/>
              </a:avLst>
            </a:prstGeom>
            <a:noFill/>
            <a:ln w="28575">
              <a:solidFill>
                <a:schemeClr val="tx1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983" name="Line 20"/>
            <p:cNvSpPr>
              <a:spLocks noChangeShapeType="1"/>
            </p:cNvSpPr>
            <p:nvPr/>
          </p:nvSpPr>
          <p:spPr bwMode="auto">
            <a:xfrm flipV="1">
              <a:off x="2835" y="3045"/>
              <a:ext cx="0" cy="4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984" name="Line 21"/>
            <p:cNvSpPr>
              <a:spLocks noChangeShapeType="1"/>
            </p:cNvSpPr>
            <p:nvPr/>
          </p:nvSpPr>
          <p:spPr bwMode="auto">
            <a:xfrm flipV="1">
              <a:off x="3833" y="3045"/>
              <a:ext cx="0" cy="4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3985" name="Group 32"/>
            <p:cNvGrpSpPr>
              <a:grpSpLocks/>
            </p:cNvGrpSpPr>
            <p:nvPr/>
          </p:nvGrpSpPr>
          <p:grpSpPr bwMode="auto">
            <a:xfrm>
              <a:off x="2545" y="2296"/>
              <a:ext cx="771" cy="317"/>
              <a:chOff x="2290" y="2523"/>
              <a:chExt cx="771" cy="317"/>
            </a:xfrm>
          </p:grpSpPr>
          <p:sp>
            <p:nvSpPr>
              <p:cNvPr id="83986" name="Line 29"/>
              <p:cNvSpPr>
                <a:spLocks noChangeShapeType="1"/>
              </p:cNvSpPr>
              <p:nvPr/>
            </p:nvSpPr>
            <p:spPr bwMode="auto">
              <a:xfrm flipV="1">
                <a:off x="2290" y="2523"/>
                <a:ext cx="0" cy="1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87" name="Line 30"/>
              <p:cNvSpPr>
                <a:spLocks noChangeShapeType="1"/>
              </p:cNvSpPr>
              <p:nvPr/>
            </p:nvSpPr>
            <p:spPr bwMode="auto">
              <a:xfrm>
                <a:off x="2290" y="2659"/>
                <a:ext cx="77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88" name="Line 31"/>
              <p:cNvSpPr>
                <a:spLocks noChangeShapeType="1"/>
              </p:cNvSpPr>
              <p:nvPr/>
            </p:nvSpPr>
            <p:spPr bwMode="auto">
              <a:xfrm>
                <a:off x="3061" y="2659"/>
                <a:ext cx="0" cy="18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2060" name="Text Box 28"/>
          <p:cNvSpPr txBox="1">
            <a:spLocks noChangeArrowheads="1"/>
          </p:cNvSpPr>
          <p:nvPr/>
        </p:nvSpPr>
        <p:spPr bwMode="auto">
          <a:xfrm>
            <a:off x="871538" y="2781300"/>
            <a:ext cx="611187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华文新魏" pitchFamily="2" charset="-122"/>
              </a:rPr>
              <a:t>状态栈与符号栈合并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0" y="457200"/>
            <a:ext cx="3352800" cy="1981200"/>
          </a:xfrm>
          <a:solidFill>
            <a:srgbClr val="006666"/>
          </a:solidFill>
        </p:spPr>
        <p:txBody>
          <a:bodyPr lIns="92075" tIns="46038" rIns="92075" bIns="46038"/>
          <a:lstStyle/>
          <a:p>
            <a:pPr algn="l" eaLnBrk="1" hangingPunct="1">
              <a:defRPr/>
            </a:pPr>
            <a:r>
              <a:rPr lang="en-US" altLang="zh-CN" sz="3200" b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bab</a:t>
            </a:r>
            <a:r>
              <a:rPr lang="en-US" altLang="zh-CN" sz="3200" b="1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3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的分析过程</a:t>
            </a:r>
            <a:r>
              <a:rPr lang="en-US" altLang="zh-CN" sz="3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:</a:t>
            </a:r>
            <a:br>
              <a:rPr lang="en-US" altLang="zh-CN" sz="3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3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 (</a:t>
            </a:r>
            <a: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1)   S→BB</a:t>
            </a:r>
            <a:b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 (2)   B→aB</a:t>
            </a:r>
            <a:b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en-US" altLang="zh-CN" sz="28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 (3)   B→b</a:t>
            </a:r>
          </a:p>
        </p:txBody>
      </p:sp>
      <p:sp>
        <p:nvSpPr>
          <p:cNvPr id="250883" name="Rectangle 3"/>
          <p:cNvSpPr>
            <a:spLocks noGrp="1" noChangeArrowheads="1"/>
          </p:cNvSpPr>
          <p:nvPr>
            <p:ph idx="1"/>
          </p:nvPr>
        </p:nvSpPr>
        <p:spPr>
          <a:xfrm>
            <a:off x="107950" y="196850"/>
            <a:ext cx="4321175" cy="6400800"/>
          </a:xfrm>
          <a:solidFill>
            <a:srgbClr val="FFFFCC"/>
          </a:solidFill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栈   输入      动作说明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0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  bab# action(0,b)=s4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04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#b  ab# action(4,a)=r3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0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#B  ab# goto(0,B)=2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02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#B  ab# action(2,a)=s3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023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#Ba  b# action(3,b)=s4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0234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#Bab  # action(4,#)=r3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023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#BaB  # goto(3,B)=6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0236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#BaB  # action(6,#)=r2</a:t>
            </a:r>
          </a:p>
        </p:txBody>
      </p:sp>
      <p:sp>
        <p:nvSpPr>
          <p:cNvPr id="9011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1A5A63C-0CEC-46A0-A39C-4602A1ADA414}" type="slidenum">
              <a:rPr lang="en-US" altLang="zh-CN" smtClean="0"/>
              <a:pPr eaLnBrk="1" hangingPunct="1"/>
              <a:t>64</a:t>
            </a:fld>
            <a:endParaRPr lang="en-US" altLang="zh-CN" smtClean="0"/>
          </a:p>
        </p:txBody>
      </p:sp>
      <p:sp>
        <p:nvSpPr>
          <p:cNvPr id="250884" name="Text Box 4"/>
          <p:cNvSpPr txBox="1">
            <a:spLocks noChangeArrowheads="1"/>
          </p:cNvSpPr>
          <p:nvPr/>
        </p:nvSpPr>
        <p:spPr bwMode="auto">
          <a:xfrm>
            <a:off x="4572000" y="3238500"/>
            <a:ext cx="4419600" cy="3340100"/>
          </a:xfrm>
          <a:prstGeom prst="rect">
            <a:avLst/>
          </a:prstGeom>
          <a:solidFill>
            <a:srgbClr val="FFFFC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02</a:t>
            </a:r>
          </a:p>
          <a:p>
            <a:pPr eaLnBrk="0" hangingPunct="0">
              <a:lnSpc>
                <a:spcPct val="7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#BB  # goto(2,B)=5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025</a:t>
            </a:r>
          </a:p>
          <a:p>
            <a:pPr eaLnBrk="0" hangingPunct="0">
              <a:lnSpc>
                <a:spcPct val="7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#BB  # action(5,#)=r1  </a:t>
            </a:r>
          </a:p>
          <a:p>
            <a:pPr eaLnBrk="0" hangingPunct="0">
              <a:lnSpc>
                <a:spcPct val="4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0</a:t>
            </a:r>
          </a:p>
          <a:p>
            <a:pPr eaLnBrk="0" hangingPunct="0">
              <a:lnSpc>
                <a:spcPct val="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#S   # goto(0,S)=1 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01</a:t>
            </a:r>
          </a:p>
          <a:p>
            <a:pPr eaLnBrk="0" hangingPunct="0">
              <a:lnSpc>
                <a:spcPct val="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#S   # action(1,#)=acc</a:t>
            </a:r>
          </a:p>
        </p:txBody>
      </p:sp>
      <p:sp>
        <p:nvSpPr>
          <p:cNvPr id="90118" name="灯片编号占位符 5"/>
          <p:cNvSpPr txBox="1">
            <a:spLocks noGrp="1"/>
          </p:cNvSpPr>
          <p:nvPr/>
        </p:nvSpPr>
        <p:spPr bwMode="auto">
          <a:xfrm>
            <a:off x="6769100" y="64611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9A4FD3BB-9719-4125-9258-9242D27A8A4E}" type="slidenum">
              <a:rPr lang="en-US" altLang="zh-CN" sz="1400"/>
              <a:pPr algn="r" eaLnBrk="1" hangingPunct="1"/>
              <a:t>64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765175"/>
            <a:ext cx="7631112" cy="936625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五、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分析器的基本动作</a:t>
            </a:r>
          </a:p>
        </p:txBody>
      </p:sp>
      <p:sp>
        <p:nvSpPr>
          <p:cNvPr id="63494" name="Rectangle 6"/>
          <p:cNvSpPr>
            <a:spLocks noGrp="1" noChangeArrowheads="1"/>
          </p:cNvSpPr>
          <p:nvPr>
            <p:ph idx="1"/>
          </p:nvPr>
        </p:nvSpPr>
        <p:spPr>
          <a:xfrm>
            <a:off x="2987675" y="0"/>
            <a:ext cx="6156325" cy="981075"/>
          </a:xfrm>
          <a:solidFill>
            <a:srgbClr val="006666"/>
          </a:solidFill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书表示为 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(P170)</a:t>
            </a:r>
          </a:p>
          <a:p>
            <a:pPr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(s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0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1 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… s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m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#X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…X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m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, a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i+1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…a</a:t>
            </a:r>
            <a:r>
              <a:rPr lang="en-US" altLang="zh-CN" sz="2800" b="1" baseline="-25000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#)</a:t>
            </a:r>
          </a:p>
        </p:txBody>
      </p:sp>
      <p:sp>
        <p:nvSpPr>
          <p:cNvPr id="911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4964D0D-1E5D-49EF-87B5-263A7FA63DD2}" type="slidenum">
              <a:rPr lang="en-US" altLang="zh-CN" smtClean="0"/>
              <a:pPr eaLnBrk="1" hangingPunct="1"/>
              <a:t>65</a:t>
            </a:fld>
            <a:endParaRPr lang="en-US" altLang="zh-CN" smtClean="0"/>
          </a:p>
        </p:txBody>
      </p:sp>
      <p:sp>
        <p:nvSpPr>
          <p:cNvPr id="63491" name="Text Box 3"/>
          <p:cNvSpPr txBox="1">
            <a:spLocks noChangeArrowheads="1"/>
          </p:cNvSpPr>
          <p:nvPr/>
        </p:nvSpPr>
        <p:spPr bwMode="auto">
          <a:xfrm>
            <a:off x="228600" y="1785938"/>
            <a:ext cx="8001000" cy="12620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/>
            </a:pP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初始情况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：</a:t>
            </a: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初始格局</a:t>
            </a:r>
          </a:p>
          <a:p>
            <a:pPr eaLnBrk="0" hangingPunct="0">
              <a:lnSpc>
                <a:spcPct val="7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</a:t>
            </a:r>
          </a:p>
          <a:p>
            <a:pPr eaLnBrk="0" hangingPunct="0">
              <a:lnSpc>
                <a:spcPct val="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#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		 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…a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#</a:t>
            </a:r>
            <a:r>
              <a:rPr kumimoji="1" lang="en-US" altLang="zh-CN" sz="3200" b="1" i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   </a:t>
            </a:r>
            <a:r>
              <a:rPr kumimoji="1" lang="zh-CN" altLang="en-US" sz="280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对应</a:t>
            </a:r>
            <a:r>
              <a:rPr kumimoji="1" lang="zh-CN" altLang="en-US" sz="280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华文新魏" pitchFamily="2" charset="-122"/>
              </a:rPr>
              <a:t>“</a:t>
            </a:r>
            <a:r>
              <a:rPr kumimoji="1" lang="zh-CN" altLang="en-US" sz="280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句型</a:t>
            </a:r>
            <a:r>
              <a:rPr kumimoji="1" lang="zh-CN" altLang="en-US" sz="280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华文新魏" pitchFamily="2" charset="-122"/>
              </a:rPr>
              <a:t>”</a:t>
            </a:r>
            <a:r>
              <a:rPr kumimoji="1" lang="zh-CN" altLang="en-US" sz="280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a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a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楷体_GB2312" pitchFamily="49" charset="-122"/>
              </a:rPr>
              <a:t>…</a:t>
            </a: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a</a:t>
            </a:r>
            <a:r>
              <a:rPr kumimoji="1" lang="en-US" altLang="zh-CN" sz="28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n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250825" y="3429000"/>
            <a:ext cx="8534400" cy="13096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/>
            </a:pP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一般情况：当前格局</a:t>
            </a:r>
          </a:p>
          <a:p>
            <a:pPr eaLnBrk="0" hangingPunct="0">
              <a:lnSpc>
                <a:spcPct val="7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… 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</a:t>
            </a:r>
          </a:p>
          <a:p>
            <a:pPr eaLnBrk="0" hangingPunct="0">
              <a:lnSpc>
                <a:spcPct val="6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#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…X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    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i+1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…a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</a:t>
            </a:r>
            <a:r>
              <a:rPr kumimoji="1" lang="en-US" altLang="zh-CN" sz="32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#     </a:t>
            </a:r>
            <a:r>
              <a:rPr kumimoji="1" lang="zh-CN" altLang="en-US" sz="240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对应</a:t>
            </a:r>
            <a:r>
              <a:rPr kumimoji="1" lang="zh-CN" altLang="en-US" sz="240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华文新魏" pitchFamily="2" charset="-122"/>
              </a:rPr>
              <a:t>“</a:t>
            </a:r>
            <a:r>
              <a:rPr kumimoji="1" lang="zh-CN" altLang="en-US" sz="240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句型</a:t>
            </a:r>
            <a:r>
              <a:rPr kumimoji="1" lang="zh-CN" altLang="en-US" sz="240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华文新魏" pitchFamily="2" charset="-122"/>
              </a:rPr>
              <a:t>”</a:t>
            </a:r>
            <a:r>
              <a:rPr kumimoji="1" lang="zh-CN" altLang="en-US" sz="2400" b="1" i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kumimoji="1" lang="en-US" altLang="zh-CN" sz="24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楷体_GB2312" pitchFamily="49" charset="-122"/>
              </a:rPr>
              <a:t>…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X</a:t>
            </a:r>
            <a:r>
              <a:rPr kumimoji="1" lang="en-US" altLang="zh-CN" sz="24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m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i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i+1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楷体_GB2312" pitchFamily="49" charset="-122"/>
              </a:rPr>
              <a:t>…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a</a:t>
            </a:r>
            <a:r>
              <a:rPr kumimoji="1" lang="en-US" altLang="zh-CN" sz="2400" b="1" baseline="-2500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n</a:t>
            </a:r>
          </a:p>
        </p:txBody>
      </p:sp>
      <p:sp>
        <p:nvSpPr>
          <p:cNvPr id="63493" name="Text Box 5"/>
          <p:cNvSpPr txBox="1">
            <a:spLocks noChangeArrowheads="1"/>
          </p:cNvSpPr>
          <p:nvPr/>
        </p:nvSpPr>
        <p:spPr bwMode="auto">
          <a:xfrm>
            <a:off x="323850" y="4797425"/>
            <a:ext cx="8610600" cy="15541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rgbClr val="000099"/>
                </a:solidFill>
                <a:latin typeface="Times New Roman" pitchFamily="18" charset="0"/>
              </a:rPr>
              <a:t>if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action[s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]= sj</a:t>
            </a:r>
            <a:r>
              <a:rPr kumimoji="1" lang="en-US" altLang="zh-CN" sz="3200" b="1">
                <a:latin typeface="Times New Roman" pitchFamily="18" charset="0"/>
              </a:rPr>
              <a:t>(shift j)</a:t>
            </a:r>
            <a:r>
              <a:rPr kumimoji="1" lang="en-US" altLang="zh-CN" sz="3200" b="1">
                <a:solidFill>
                  <a:srgbClr val="FFFF00"/>
                </a:solidFill>
                <a:latin typeface="Times New Roman" pitchFamily="18" charset="0"/>
              </a:rPr>
              <a:t> </a:t>
            </a:r>
            <a:r>
              <a:rPr kumimoji="1" lang="en-US" altLang="zh-CN" sz="3200" b="1">
                <a:solidFill>
                  <a:srgbClr val="000099"/>
                </a:solidFill>
                <a:latin typeface="Times New Roman" pitchFamily="18" charset="0"/>
              </a:rPr>
              <a:t>then </a:t>
            </a:r>
            <a:r>
              <a:rPr kumimoji="1" lang="zh-CN" altLang="en-US" sz="3200" b="1">
                <a:latin typeface="Times New Roman" pitchFamily="18" charset="0"/>
                <a:ea typeface="华文新魏" pitchFamily="2" charset="-122"/>
              </a:rPr>
              <a:t>格局变为</a:t>
            </a:r>
            <a:endParaRPr kumimoji="1" lang="zh-CN" altLang="en-US" sz="3200" b="1">
              <a:solidFill>
                <a:srgbClr val="FFFF00"/>
              </a:solidFill>
              <a:latin typeface="Times New Roman" pitchFamily="18" charset="0"/>
              <a:ea typeface="华文新魏" pitchFamily="2" charset="-122"/>
            </a:endParaRPr>
          </a:p>
          <a:p>
            <a:pPr eaLnBrk="0" hangingPunct="0">
              <a:lnSpc>
                <a:spcPct val="7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… 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  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j</a:t>
            </a:r>
          </a:p>
          <a:p>
            <a:pPr eaLnBrk="0" hangingPunct="0">
              <a:lnSpc>
                <a:spcPct val="6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#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…X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      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i+1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…a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</a:t>
            </a:r>
            <a:r>
              <a:rPr kumimoji="1" lang="en-US" altLang="zh-CN" sz="32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#</a:t>
            </a:r>
            <a:endParaRPr kumimoji="1" lang="en-US" altLang="zh-CN" sz="3200"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115888"/>
            <a:ext cx="7772400" cy="1143000"/>
          </a:xfrm>
          <a:solidFill>
            <a:srgbClr val="006666"/>
          </a:solidFill>
        </p:spPr>
        <p:txBody>
          <a:bodyPr/>
          <a:lstStyle/>
          <a:p>
            <a:pPr eaLnBrk="1" hangingPunct="1"/>
            <a:r>
              <a:rPr lang="zh-CN" altLang="en-US" sz="32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当前格局</a:t>
            </a:r>
            <a:r>
              <a:rPr lang="zh-CN" altLang="en-US" sz="3200" b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   </a:t>
            </a:r>
            <a:r>
              <a:rPr lang="en-US" altLang="zh-CN" sz="3200" b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r>
              <a:rPr lang="en-US" altLang="zh-CN" sz="3200" b="1" baseline="-25000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en-US" altLang="zh-CN" sz="3200" b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s</a:t>
            </a:r>
            <a:r>
              <a:rPr lang="en-US" altLang="zh-CN" sz="3200" b="1" baseline="-25000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3200" b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…s</a:t>
            </a:r>
            <a:r>
              <a:rPr lang="en-US" altLang="zh-CN" sz="3200" b="1" baseline="-25000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m</a:t>
            </a:r>
            <a:br>
              <a:rPr lang="en-US" altLang="zh-CN" sz="3200" b="1" baseline="-25000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3200" b="1" baseline="-25000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                	 </a:t>
            </a:r>
            <a:r>
              <a:rPr lang="en-US" altLang="zh-CN" sz="3200" b="1" i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#</a:t>
            </a:r>
            <a:r>
              <a:rPr lang="en-US" altLang="zh-CN" sz="3200" b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X</a:t>
            </a:r>
            <a:r>
              <a:rPr lang="en-US" altLang="zh-CN" sz="3200" b="1" baseline="-25000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3200" b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…X</a:t>
            </a:r>
            <a:r>
              <a:rPr lang="en-US" altLang="zh-CN" sz="3200" b="1" baseline="-25000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m     </a:t>
            </a:r>
            <a:r>
              <a:rPr lang="en-US" altLang="zh-CN" sz="3200" b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3200" b="1" baseline="-25000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3200" b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3200" b="1" baseline="-25000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i+1</a:t>
            </a:r>
            <a:r>
              <a:rPr lang="en-US" altLang="zh-CN" sz="3200" b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…a</a:t>
            </a:r>
            <a:r>
              <a:rPr lang="en-US" altLang="zh-CN" sz="3200" b="1" baseline="-25000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n</a:t>
            </a:r>
            <a:r>
              <a:rPr lang="en-US" altLang="zh-CN" sz="3200" b="1" i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#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5867400"/>
            <a:ext cx="8280400" cy="609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if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 action[s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,a</a:t>
            </a:r>
            <a:r>
              <a:rPr lang="en-US" altLang="zh-CN" b="1" baseline="-25000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]=acc </a:t>
            </a:r>
            <a:r>
              <a:rPr lang="en-US" altLang="zh-CN" b="1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then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分析成功</a:t>
            </a:r>
            <a:endParaRPr lang="zh-CN" altLang="en-US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69988" name="Text Box 4"/>
          <p:cNvSpPr txBox="1">
            <a:spLocks noChangeArrowheads="1"/>
          </p:cNvSpPr>
          <p:nvPr/>
        </p:nvSpPr>
        <p:spPr bwMode="auto">
          <a:xfrm>
            <a:off x="295275" y="1700213"/>
            <a:ext cx="8740775" cy="1066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3200" b="1">
                <a:solidFill>
                  <a:srgbClr val="000099"/>
                </a:solidFill>
                <a:latin typeface="Times New Roman" pitchFamily="18" charset="0"/>
              </a:rPr>
              <a:t>if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action[s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]= rj</a:t>
            </a:r>
            <a:r>
              <a:rPr kumimoji="1" lang="en-US" altLang="zh-CN" sz="3200" b="1">
                <a:latin typeface="Times New Roman" pitchFamily="18" charset="0"/>
              </a:rPr>
              <a:t>(reduce j)</a:t>
            </a:r>
            <a:r>
              <a:rPr kumimoji="1" lang="en-US" altLang="zh-CN" sz="3200" b="1">
                <a:solidFill>
                  <a:srgbClr val="FFFF00"/>
                </a:solidFill>
                <a:latin typeface="Times New Roman" pitchFamily="18" charset="0"/>
              </a:rPr>
              <a:t>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itchFamily="18" charset="0"/>
              </a:rPr>
              <a:t>then </a:t>
            </a:r>
            <a:r>
              <a:rPr kumimoji="1" lang="zh-CN" altLang="en-US" sz="3200" b="1">
                <a:latin typeface="Times New Roman" pitchFamily="18" charset="0"/>
                <a:ea typeface="华文新魏" pitchFamily="2" charset="-122"/>
              </a:rPr>
              <a:t>表示用第</a:t>
            </a:r>
            <a:r>
              <a:rPr kumimoji="1" lang="en-US" altLang="zh-CN" sz="3200" b="1">
                <a:latin typeface="Times New Roman" pitchFamily="18" charset="0"/>
                <a:ea typeface="华文新魏" pitchFamily="2" charset="-122"/>
              </a:rPr>
              <a:t>j</a:t>
            </a:r>
            <a:r>
              <a:rPr kumimoji="1" lang="zh-CN" altLang="en-US" sz="3200" b="1">
                <a:latin typeface="Times New Roman" pitchFamily="18" charset="0"/>
                <a:ea typeface="华文新魏" pitchFamily="2" charset="-122"/>
              </a:rPr>
              <a:t>个产生式</a:t>
            </a: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Ｂ→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X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m-(k-1)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…X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m</a:t>
            </a:r>
            <a:r>
              <a:rPr kumimoji="1" lang="zh-CN" altLang="en-US" sz="3200" b="1">
                <a:latin typeface="Times New Roman" pitchFamily="18" charset="0"/>
                <a:ea typeface="华文新魏" pitchFamily="2" charset="-122"/>
              </a:rPr>
              <a:t>进行</a:t>
            </a: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归约，格局</a:t>
            </a:r>
            <a:r>
              <a:rPr kumimoji="1" lang="zh-CN" altLang="en-US" sz="3200" b="1">
                <a:latin typeface="Times New Roman" pitchFamily="18" charset="0"/>
                <a:ea typeface="华文新魏" pitchFamily="2" charset="-122"/>
              </a:rPr>
              <a:t>变为</a:t>
            </a:r>
          </a:p>
        </p:txBody>
      </p:sp>
      <p:sp>
        <p:nvSpPr>
          <p:cNvPr id="169989" name="Text Box 5"/>
          <p:cNvSpPr txBox="1">
            <a:spLocks noChangeArrowheads="1"/>
          </p:cNvSpPr>
          <p:nvPr/>
        </p:nvSpPr>
        <p:spPr bwMode="auto">
          <a:xfrm>
            <a:off x="381000" y="2773363"/>
            <a:ext cx="8763000" cy="8715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… 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m-k</a:t>
            </a:r>
          </a:p>
          <a:p>
            <a:pPr eaLnBrk="0" hangingPunct="0">
              <a:lnSpc>
                <a:spcPct val="6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#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…X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m-k</a:t>
            </a: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Ｂ</a:t>
            </a:r>
            <a:r>
              <a:rPr kumimoji="1" lang="zh-CN" altLang="en-US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  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i+1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…a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</a:t>
            </a:r>
            <a:r>
              <a:rPr kumimoji="1" lang="en-US" altLang="zh-CN" sz="32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#</a:t>
            </a:r>
          </a:p>
        </p:txBody>
      </p:sp>
      <p:sp>
        <p:nvSpPr>
          <p:cNvPr id="169990" name="Text Box 6"/>
          <p:cNvSpPr txBox="1">
            <a:spLocks noChangeArrowheads="1"/>
          </p:cNvSpPr>
          <p:nvPr/>
        </p:nvSpPr>
        <p:spPr bwMode="auto">
          <a:xfrm>
            <a:off x="374650" y="4005263"/>
            <a:ext cx="8445500" cy="14065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再查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goto</a:t>
            </a: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表</a:t>
            </a: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，</a:t>
            </a: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当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goto[s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m-k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,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Ｂ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]=j </a:t>
            </a:r>
            <a:r>
              <a:rPr kumimoji="1" lang="en-US" altLang="zh-CN" sz="3200" b="1">
                <a:solidFill>
                  <a:schemeClr val="tx2"/>
                </a:solidFill>
                <a:latin typeface="Times New Roman" pitchFamily="18" charset="0"/>
              </a:rPr>
              <a:t>then</a:t>
            </a:r>
            <a:r>
              <a:rPr kumimoji="1" lang="en-US" altLang="zh-CN" sz="3200" b="1">
                <a:latin typeface="Times New Roman" pitchFamily="18" charset="0"/>
              </a:rPr>
              <a:t> </a:t>
            </a: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格局</a:t>
            </a:r>
            <a:r>
              <a:rPr kumimoji="1" lang="zh-CN" altLang="en-US" sz="3200" b="1">
                <a:latin typeface="Times New Roman" pitchFamily="18" charset="0"/>
                <a:ea typeface="华文新魏" pitchFamily="2" charset="-122"/>
              </a:rPr>
              <a:t>变为</a:t>
            </a:r>
            <a:endParaRPr kumimoji="1" lang="zh-CN" altLang="en-US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  <a:p>
            <a:pPr eaLnBrk="0" hangingPunct="0">
              <a:lnSpc>
                <a:spcPct val="9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… s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m-k  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j</a:t>
            </a:r>
          </a:p>
          <a:p>
            <a:pPr eaLnBrk="0" hangingPunct="0">
              <a:lnSpc>
                <a:spcPct val="6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#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X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…X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m-k</a:t>
            </a:r>
            <a:r>
              <a:rPr kumimoji="1" lang="zh-CN" altLang="en-US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Ｂ</a:t>
            </a:r>
            <a:r>
              <a:rPr kumimoji="1" lang="zh-CN" altLang="en-US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  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i+1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…a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n</a:t>
            </a:r>
            <a:r>
              <a:rPr kumimoji="1" lang="en-US" altLang="zh-CN" sz="32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#</a:t>
            </a:r>
            <a:endParaRPr kumimoji="1" lang="en-US" altLang="zh-CN" sz="2400">
              <a:latin typeface="Times New Roman" pitchFamily="18" charset="0"/>
            </a:endParaRPr>
          </a:p>
        </p:txBody>
      </p:sp>
      <p:sp>
        <p:nvSpPr>
          <p:cNvPr id="92167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458DAAE-694A-4E87-9C62-EA8D7DDBDF21}" type="slidenum">
              <a:rPr lang="en-US" altLang="zh-CN" sz="1400"/>
              <a:pPr algn="r" eaLnBrk="1" hangingPunct="1"/>
              <a:t>66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idx="1"/>
          </p:nvPr>
        </p:nvSpPr>
        <p:spPr>
          <a:xfrm>
            <a:off x="1692275" y="908050"/>
            <a:ext cx="6767513" cy="5616575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if action[s,a]=si(shift i) then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{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把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符号 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a 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和状态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i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先后压入栈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；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  使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ip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指向下一符号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elseif action[s,a]=rj(reduce </a:t>
            </a: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→β) 		then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{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从栈顶弹出 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*|β|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个符号；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  把</a:t>
            </a:r>
            <a:r>
              <a:rPr lang="zh-CN" altLang="en-US" sz="2800" b="1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和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goto[s</a:t>
            </a: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'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</a:t>
            </a: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]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先后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压入栈中；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  输出产生式 </a:t>
            </a: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→β}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elseif action[s,a]=acc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　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then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return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else   error()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；</a:t>
            </a:r>
          </a:p>
        </p:txBody>
      </p:sp>
      <p:sp>
        <p:nvSpPr>
          <p:cNvPr id="93187" name="Text Box 4"/>
          <p:cNvSpPr txBox="1">
            <a:spLocks noChangeArrowheads="1"/>
          </p:cNvSpPr>
          <p:nvPr/>
        </p:nvSpPr>
        <p:spPr bwMode="auto">
          <a:xfrm>
            <a:off x="323850" y="476250"/>
            <a:ext cx="854075" cy="6192838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重复执行右侧过程</a:t>
            </a:r>
            <a:r>
              <a:rPr lang="en-US" altLang="zh-CN" sz="44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(P171)</a:t>
            </a:r>
          </a:p>
        </p:txBody>
      </p:sp>
      <p:sp>
        <p:nvSpPr>
          <p:cNvPr id="93188" name="Rectangle 5"/>
          <p:cNvSpPr>
            <a:spLocks noChangeArrowheads="1"/>
          </p:cNvSpPr>
          <p:nvPr/>
        </p:nvSpPr>
        <p:spPr bwMode="auto">
          <a:xfrm>
            <a:off x="1187450" y="11113"/>
            <a:ext cx="70818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  <a:buFont typeface="Wingdings" pitchFamily="2" charset="2"/>
              <a:buNone/>
            </a:pPr>
            <a:r>
              <a:rPr lang="zh-CN" altLang="en-US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令 </a:t>
            </a:r>
            <a:r>
              <a:rPr lang="en-US" altLang="zh-CN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s</a:t>
            </a:r>
            <a:r>
              <a:rPr lang="zh-CN" altLang="en-US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是栈顶状态， </a:t>
            </a:r>
            <a:r>
              <a:rPr lang="en-US" altLang="zh-CN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a </a:t>
            </a:r>
            <a:r>
              <a:rPr lang="zh-CN" altLang="en-US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是 </a:t>
            </a:r>
            <a:r>
              <a:rPr lang="en-US" altLang="zh-CN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ip </a:t>
            </a:r>
            <a:r>
              <a:rPr lang="zh-CN" altLang="en-US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所指向的符号</a:t>
            </a:r>
          </a:p>
        </p:txBody>
      </p:sp>
      <p:sp>
        <p:nvSpPr>
          <p:cNvPr id="93189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4DD78905-CEF7-4B5C-86B0-1CB588725CF5}" type="slidenum">
              <a:rPr lang="en-US" altLang="zh-CN" sz="1400"/>
              <a:pPr algn="r" eaLnBrk="1" hangingPunct="1"/>
              <a:t>67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6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6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5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65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build="p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5970D75E-D05B-4CFE-8FF8-4011A2317563}" type="slidenum">
              <a:rPr lang="en-US" altLang="zh-CN" sz="1400"/>
              <a:pPr algn="r" eaLnBrk="1" hangingPunct="1"/>
              <a:t>68</a:t>
            </a:fld>
            <a:endParaRPr lang="en-US" altLang="zh-CN" sz="1400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64163" y="260350"/>
            <a:ext cx="3168650" cy="1008063"/>
          </a:xfrm>
          <a:solidFill>
            <a:srgbClr val="006666"/>
          </a:solidFill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altLang="zh-CN" sz="3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bab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的分析过程中栈内容的变化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68288"/>
            <a:ext cx="4191000" cy="6400800"/>
          </a:xfrm>
          <a:solidFill>
            <a:srgbClr val="FFFFCC"/>
          </a:solidFill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栈   输入       动作说明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0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  bab# action(0,b)=s4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04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#b  ab# action(4,a)=r3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0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#B  ab# goto(0,B)=2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02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#B  ab# action(2,a)=s3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023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#Ba  b# action(3,b)=s4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0234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#Bab  # action(4,#)=r3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023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#BaB  # goto(3,B)=6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0236</a:t>
            </a:r>
          </a:p>
          <a:p>
            <a:pPr eaLnBrk="1" hangingPunct="1">
              <a:lnSpc>
                <a:spcPct val="7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楷体_GB2312" pitchFamily="49" charset="-122"/>
              </a:rPr>
              <a:t>#BaB  # action(6,#)=r2</a:t>
            </a:r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4859338" y="3265488"/>
            <a:ext cx="4284662" cy="3340100"/>
          </a:xfrm>
          <a:prstGeom prst="rect">
            <a:avLst/>
          </a:prstGeom>
          <a:solidFill>
            <a:srgbClr val="FFFFC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02</a:t>
            </a:r>
          </a:p>
          <a:p>
            <a:pPr eaLnBrk="0" hangingPunct="0">
              <a:lnSpc>
                <a:spcPct val="7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#BB  # goto(2,B)=5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025</a:t>
            </a:r>
          </a:p>
          <a:p>
            <a:pPr eaLnBrk="0" hangingPunct="0">
              <a:lnSpc>
                <a:spcPct val="7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#BB  # action(5,#)=r1  </a:t>
            </a:r>
          </a:p>
          <a:p>
            <a:pPr eaLnBrk="0" hangingPunct="0">
              <a:lnSpc>
                <a:spcPct val="4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800" b="1">
              <a:effectLst>
                <a:outerShdw blurRad="38100" dist="38100" dir="2700000" algn="tl">
                  <a:srgbClr val="FFFFFF"/>
                </a:outerShdw>
              </a:effectLst>
              <a:latin typeface="宋体" pitchFamily="2" charset="-122"/>
            </a:endParaRP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0</a:t>
            </a:r>
          </a:p>
          <a:p>
            <a:pPr eaLnBrk="0" hangingPunct="0">
              <a:lnSpc>
                <a:spcPct val="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#S   # goto(0,S)=1 </a:t>
            </a:r>
          </a:p>
          <a:p>
            <a:pPr eaLnBrk="0" hangingPunct="0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01</a:t>
            </a:r>
          </a:p>
          <a:p>
            <a:pPr eaLnBrk="0" hangingPunct="0">
              <a:lnSpc>
                <a:spcPct val="5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#S   # </a:t>
            </a: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宋体" pitchFamily="2" charset="-122"/>
              </a:rPr>
              <a:t>action(1,#)=acc</a:t>
            </a:r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5364163" y="2122488"/>
            <a:ext cx="3457575" cy="94615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8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栈内容特征：不含句柄右侧的任意符号</a:t>
            </a:r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5048250" y="1484313"/>
            <a:ext cx="4095750" cy="519112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执行最左规约：规范句型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214313"/>
            <a:ext cx="3313112" cy="7667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六、栈内容</a:t>
            </a:r>
            <a:endParaRPr lang="zh-CN" altLang="en-US" b="1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15900" y="1125538"/>
            <a:ext cx="8893175" cy="3473450"/>
            <a:chOff x="136" y="1378"/>
            <a:chExt cx="5602" cy="2188"/>
          </a:xfrm>
        </p:grpSpPr>
        <p:sp>
          <p:nvSpPr>
            <p:cNvPr id="184324" name="Rectangle 4"/>
            <p:cNvSpPr>
              <a:spLocks noChangeArrowheads="1"/>
            </p:cNvSpPr>
            <p:nvPr/>
          </p:nvSpPr>
          <p:spPr bwMode="auto">
            <a:xfrm>
              <a:off x="2053" y="1460"/>
              <a:ext cx="2448" cy="30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eaLnBrk="0" hangingPunct="0">
                <a:defRPr/>
              </a:pPr>
              <a:r>
                <a:rPr kumimoji="1" lang="en-US" altLang="zh-CN" sz="3200" b="1" i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a</a:t>
              </a:r>
              <a:r>
                <a:rPr kumimoji="1" lang="en-US" altLang="zh-CN" sz="3200" b="1" i="1" baseline="-25000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1</a:t>
              </a:r>
              <a:r>
                <a:rPr kumimoji="1" lang="en-US" altLang="zh-CN" sz="3200" b="1" i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   …   a</a:t>
              </a:r>
              <a:r>
                <a:rPr kumimoji="1" lang="en-US" altLang="zh-CN" sz="3200" b="1" i="1" baseline="-25000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3200" b="1" i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   …   a</a:t>
              </a:r>
              <a:r>
                <a:rPr kumimoji="1" lang="en-US" altLang="zh-CN" sz="3200" b="1" i="1" baseline="-25000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n</a:t>
              </a:r>
              <a:r>
                <a:rPr kumimoji="1" lang="en-US" altLang="zh-CN" sz="3200" b="1" i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  #</a:t>
              </a:r>
            </a:p>
          </p:txBody>
        </p:sp>
        <p:sp>
          <p:nvSpPr>
            <p:cNvPr id="184325" name="Rectangle 5"/>
            <p:cNvSpPr>
              <a:spLocks noChangeArrowheads="1"/>
            </p:cNvSpPr>
            <p:nvPr/>
          </p:nvSpPr>
          <p:spPr bwMode="auto">
            <a:xfrm>
              <a:off x="2196" y="2102"/>
              <a:ext cx="1768" cy="42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defRPr/>
              </a:pPr>
              <a:r>
                <a:rPr kumimoji="1" lang="en-US" altLang="zh-CN" sz="3200" b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LR</a:t>
              </a:r>
              <a:r>
                <a:rPr kumimoji="1" lang="zh-CN" altLang="en-US" sz="3200" b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新魏" pitchFamily="2" charset="-122"/>
                </a:rPr>
                <a:t>主控程序</a:t>
              </a:r>
            </a:p>
          </p:txBody>
        </p:sp>
        <p:sp>
          <p:nvSpPr>
            <p:cNvPr id="184326" name="Rectangle 6"/>
            <p:cNvSpPr>
              <a:spLocks noChangeArrowheads="1"/>
            </p:cNvSpPr>
            <p:nvPr/>
          </p:nvSpPr>
          <p:spPr bwMode="auto">
            <a:xfrm>
              <a:off x="1864" y="2949"/>
              <a:ext cx="1288" cy="46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70000"/>
                </a:lnSpc>
                <a:defRPr/>
              </a:pPr>
              <a:r>
                <a:rPr kumimoji="1" lang="zh-CN" altLang="en-US" sz="3000" b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新魏" pitchFamily="2" charset="-122"/>
                </a:rPr>
                <a:t>动作表</a:t>
              </a:r>
            </a:p>
            <a:p>
              <a:pPr algn="ctr" eaLnBrk="0" hangingPunct="0">
                <a:lnSpc>
                  <a:spcPct val="70000"/>
                </a:lnSpc>
                <a:defRPr/>
              </a:pPr>
              <a:r>
                <a:rPr kumimoji="1" lang="en-US" altLang="zh-CN" sz="3000" b="1">
                  <a:solidFill>
                    <a:srgbClr val="660033"/>
                  </a:solidFill>
                  <a:latin typeface="Times New Roman" pitchFamily="18" charset="0"/>
                </a:rPr>
                <a:t>action</a:t>
              </a:r>
            </a:p>
          </p:txBody>
        </p:sp>
        <p:sp>
          <p:nvSpPr>
            <p:cNvPr id="184327" name="Rectangle 7"/>
            <p:cNvSpPr>
              <a:spLocks noChangeArrowheads="1"/>
            </p:cNvSpPr>
            <p:nvPr/>
          </p:nvSpPr>
          <p:spPr bwMode="auto">
            <a:xfrm>
              <a:off x="3152" y="2949"/>
              <a:ext cx="1192" cy="46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70000"/>
                </a:lnSpc>
                <a:defRPr/>
              </a:pPr>
              <a:r>
                <a:rPr kumimoji="1" lang="zh-CN" altLang="en-US" sz="3000" b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新魏" pitchFamily="2" charset="-122"/>
                </a:rPr>
                <a:t>转移表</a:t>
              </a:r>
            </a:p>
            <a:p>
              <a:pPr algn="ctr" eaLnBrk="0" hangingPunct="0">
                <a:lnSpc>
                  <a:spcPct val="70000"/>
                </a:lnSpc>
                <a:defRPr/>
              </a:pPr>
              <a:r>
                <a:rPr kumimoji="1" lang="en-US" altLang="zh-CN" sz="3000" b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goto</a:t>
              </a:r>
              <a:endParaRPr kumimoji="1" lang="en-US" altLang="zh-CN" sz="3000" b="1">
                <a:solidFill>
                  <a:srgbClr val="660033"/>
                </a:solidFill>
                <a:latin typeface="Times New Roman" pitchFamily="18" charset="0"/>
              </a:endParaRPr>
            </a:p>
          </p:txBody>
        </p:sp>
        <p:sp>
          <p:nvSpPr>
            <p:cNvPr id="184328" name="Rectangle 8"/>
            <p:cNvSpPr>
              <a:spLocks noChangeArrowheads="1"/>
            </p:cNvSpPr>
            <p:nvPr/>
          </p:nvSpPr>
          <p:spPr bwMode="auto">
            <a:xfrm>
              <a:off x="4774" y="2085"/>
              <a:ext cx="788" cy="5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新魏" pitchFamily="2" charset="-122"/>
                </a:rPr>
                <a:t>产生式</a:t>
              </a:r>
            </a:p>
            <a:p>
              <a:pPr algn="ctr" eaLnBrk="0" hangingPunct="0">
                <a:defRPr/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新魏" pitchFamily="2" charset="-122"/>
                </a:rPr>
                <a:t>序列</a:t>
              </a:r>
            </a:p>
          </p:txBody>
        </p:sp>
        <p:sp>
          <p:nvSpPr>
            <p:cNvPr id="95247" name="Rectangle 9"/>
            <p:cNvSpPr>
              <a:spLocks noChangeArrowheads="1"/>
            </p:cNvSpPr>
            <p:nvPr/>
          </p:nvSpPr>
          <p:spPr bwMode="auto">
            <a:xfrm>
              <a:off x="647" y="1422"/>
              <a:ext cx="7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zh-CN" altLang="en-US" sz="2800" b="1">
                  <a:latin typeface="华文新魏" pitchFamily="2" charset="-122"/>
                  <a:ea typeface="华文新魏" pitchFamily="2" charset="-122"/>
                </a:rPr>
                <a:t>符号栈</a:t>
              </a:r>
            </a:p>
          </p:txBody>
        </p:sp>
        <p:sp>
          <p:nvSpPr>
            <p:cNvPr id="95248" name="Rectangle 10"/>
            <p:cNvSpPr>
              <a:spLocks noChangeArrowheads="1"/>
            </p:cNvSpPr>
            <p:nvPr/>
          </p:nvSpPr>
          <p:spPr bwMode="auto">
            <a:xfrm>
              <a:off x="4502" y="1378"/>
              <a:ext cx="12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kumimoji="1" lang="zh-CN" altLang="en-US" sz="2800" b="1">
                  <a:latin typeface="Times New Roman" pitchFamily="18" charset="0"/>
                  <a:ea typeface="华文新魏" pitchFamily="2" charset="-122"/>
                </a:rPr>
                <a:t>输入缓冲区</a:t>
              </a:r>
            </a:p>
          </p:txBody>
        </p:sp>
        <p:grpSp>
          <p:nvGrpSpPr>
            <p:cNvPr id="95249" name="Group 11"/>
            <p:cNvGrpSpPr>
              <a:grpSpLocks/>
            </p:cNvGrpSpPr>
            <p:nvPr/>
          </p:nvGrpSpPr>
          <p:grpSpPr bwMode="auto">
            <a:xfrm>
              <a:off x="1576" y="2794"/>
              <a:ext cx="3794" cy="772"/>
              <a:chOff x="1496" y="3124"/>
              <a:chExt cx="3794" cy="952"/>
            </a:xfrm>
          </p:grpSpPr>
          <p:sp>
            <p:nvSpPr>
              <p:cNvPr id="95258" name="Rectangle 12"/>
              <p:cNvSpPr>
                <a:spLocks noChangeArrowheads="1"/>
              </p:cNvSpPr>
              <p:nvPr/>
            </p:nvSpPr>
            <p:spPr bwMode="auto">
              <a:xfrm>
                <a:off x="1496" y="3124"/>
                <a:ext cx="3064" cy="95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259" name="Rectangle 13"/>
              <p:cNvSpPr>
                <a:spLocks noChangeArrowheads="1"/>
              </p:cNvSpPr>
              <p:nvPr/>
            </p:nvSpPr>
            <p:spPr bwMode="auto">
              <a:xfrm>
                <a:off x="4502" y="3225"/>
                <a:ext cx="788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eaLnBrk="0" hangingPunct="0"/>
                <a:r>
                  <a:rPr kumimoji="1" lang="zh-CN" altLang="en-US" sz="2800" b="1">
                    <a:latin typeface="Times New Roman" pitchFamily="18" charset="0"/>
                    <a:ea typeface="华文新魏" pitchFamily="2" charset="-122"/>
                  </a:rPr>
                  <a:t>分析表</a:t>
                </a:r>
              </a:p>
            </p:txBody>
          </p:sp>
        </p:grpSp>
        <p:sp>
          <p:nvSpPr>
            <p:cNvPr id="184334" name="Rectangle 14"/>
            <p:cNvSpPr>
              <a:spLocks noChangeArrowheads="1"/>
            </p:cNvSpPr>
            <p:nvPr/>
          </p:nvSpPr>
          <p:spPr bwMode="auto">
            <a:xfrm>
              <a:off x="176" y="1739"/>
              <a:ext cx="616" cy="182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 i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S</a:t>
              </a:r>
              <a:r>
                <a:rPr kumimoji="1" lang="en-US" altLang="zh-CN" sz="3000" b="1" i="1" baseline="-25000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m</a:t>
              </a:r>
              <a:endParaRPr kumimoji="1" lang="en-US" altLang="zh-CN" sz="3000" b="1" i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 i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S</a:t>
              </a:r>
              <a:r>
                <a:rPr kumimoji="1" lang="en-US" altLang="zh-CN" sz="3000" b="1" i="1" baseline="-25000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m-1</a:t>
              </a:r>
              <a:endParaRPr kumimoji="1" lang="en-US" altLang="zh-CN" sz="3000" b="1" i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 i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…</a:t>
              </a: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 i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…</a:t>
              </a: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 i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…</a:t>
              </a: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 i="1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S</a:t>
              </a:r>
              <a:r>
                <a:rPr kumimoji="1" lang="en-US" altLang="zh-CN" sz="3000" b="1" i="1" baseline="-25000">
                  <a:solidFill>
                    <a:srgbClr val="660033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1</a:t>
              </a:r>
              <a:endParaRPr kumimoji="1" lang="en-US" altLang="zh-CN" sz="3000" b="1" i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 i="1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S</a:t>
              </a:r>
              <a:r>
                <a:rPr kumimoji="1" lang="en-US" altLang="zh-CN" sz="3000" b="1" i="1" baseline="-2500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0</a:t>
              </a:r>
              <a:endParaRPr kumimoji="1" lang="en-US" altLang="zh-CN" sz="3000" b="1" baseline="-25000">
                <a:solidFill>
                  <a:srgbClr val="FF0066"/>
                </a:solidFill>
                <a:latin typeface="Times New Roman" pitchFamily="18" charset="0"/>
              </a:endParaRPr>
            </a:p>
          </p:txBody>
        </p:sp>
        <p:sp>
          <p:nvSpPr>
            <p:cNvPr id="184335" name="Rectangle 15"/>
            <p:cNvSpPr>
              <a:spLocks noChangeArrowheads="1"/>
            </p:cNvSpPr>
            <p:nvPr/>
          </p:nvSpPr>
          <p:spPr bwMode="auto">
            <a:xfrm>
              <a:off x="804" y="1739"/>
              <a:ext cx="616" cy="18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</a:t>
              </a:r>
              <a:r>
                <a:rPr kumimoji="1" lang="en-US" altLang="zh-CN" sz="30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m</a:t>
              </a:r>
              <a:endParaRPr kumimoji="1" lang="en-US" altLang="zh-CN" sz="30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</a:t>
              </a:r>
              <a:r>
                <a:rPr kumimoji="1" lang="en-US" altLang="zh-CN" sz="30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m-1</a:t>
              </a:r>
              <a:endParaRPr kumimoji="1" lang="en-US" altLang="zh-CN" sz="30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…</a:t>
              </a: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…</a:t>
              </a: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…</a:t>
              </a: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X</a:t>
              </a:r>
              <a:r>
                <a:rPr kumimoji="1" lang="en-US" altLang="zh-CN" sz="3000" b="1" i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1</a:t>
              </a:r>
              <a:endParaRPr kumimoji="1" lang="en-US" altLang="zh-CN" sz="3000" b="1" i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  <a:p>
              <a:pPr algn="ctr" eaLnBrk="0" hangingPunct="0">
                <a:lnSpc>
                  <a:spcPct val="90000"/>
                </a:lnSpc>
                <a:defRPr/>
              </a:pPr>
              <a:r>
                <a:rPr kumimoji="1" lang="en-US" altLang="zh-CN" sz="3000" b="1" i="1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#</a:t>
              </a:r>
              <a:endParaRPr kumimoji="1" lang="en-US" altLang="zh-CN" sz="3000" b="1" i="1" baseline="-2500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95252" name="AutoShape 16"/>
            <p:cNvSpPr>
              <a:spLocks noChangeArrowheads="1"/>
            </p:cNvSpPr>
            <p:nvPr/>
          </p:nvSpPr>
          <p:spPr bwMode="auto">
            <a:xfrm>
              <a:off x="3958" y="2232"/>
              <a:ext cx="816" cy="195"/>
            </a:xfrm>
            <a:prstGeom prst="rightArrow">
              <a:avLst>
                <a:gd name="adj1" fmla="val 50000"/>
                <a:gd name="adj2" fmla="val 104615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95253" name="AutoShape 17"/>
            <p:cNvCxnSpPr>
              <a:cxnSpLocks noChangeShapeType="1"/>
            </p:cNvCxnSpPr>
            <p:nvPr/>
          </p:nvCxnSpPr>
          <p:spPr bwMode="auto">
            <a:xfrm>
              <a:off x="1418" y="1913"/>
              <a:ext cx="736" cy="383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5254" name="Line 18"/>
            <p:cNvSpPr>
              <a:spLocks noChangeShapeType="1"/>
            </p:cNvSpPr>
            <p:nvPr/>
          </p:nvSpPr>
          <p:spPr bwMode="auto">
            <a:xfrm flipV="1">
              <a:off x="3051" y="1754"/>
              <a:ext cx="0" cy="3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5" name="Line 19"/>
            <p:cNvSpPr>
              <a:spLocks noChangeShapeType="1"/>
            </p:cNvSpPr>
            <p:nvPr/>
          </p:nvSpPr>
          <p:spPr bwMode="auto">
            <a:xfrm flipV="1">
              <a:off x="2552" y="2527"/>
              <a:ext cx="0" cy="4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6" name="Line 20"/>
            <p:cNvSpPr>
              <a:spLocks noChangeShapeType="1"/>
            </p:cNvSpPr>
            <p:nvPr/>
          </p:nvSpPr>
          <p:spPr bwMode="auto">
            <a:xfrm flipV="1">
              <a:off x="3550" y="2527"/>
              <a:ext cx="0" cy="4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257" name="Rectangle 21"/>
            <p:cNvSpPr>
              <a:spLocks noChangeArrowheads="1"/>
            </p:cNvSpPr>
            <p:nvPr/>
          </p:nvSpPr>
          <p:spPr bwMode="auto">
            <a:xfrm>
              <a:off x="136" y="1437"/>
              <a:ext cx="64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2800" b="1">
                  <a:latin typeface="华文新魏" pitchFamily="2" charset="-122"/>
                  <a:ea typeface="华文新魏" pitchFamily="2" charset="-122"/>
                </a:rPr>
                <a:t>状态</a:t>
              </a:r>
              <a:r>
                <a:rPr kumimoji="1" lang="en-US" altLang="zh-CN" sz="2800" b="1">
                  <a:latin typeface="华文新魏" pitchFamily="2" charset="-122"/>
                  <a:ea typeface="华文新魏" pitchFamily="2" charset="-122"/>
                </a:rPr>
                <a:t>/</a:t>
              </a:r>
            </a:p>
          </p:txBody>
        </p:sp>
      </p:grpSp>
      <p:sp>
        <p:nvSpPr>
          <p:cNvPr id="184342" name="Rectangle 22"/>
          <p:cNvSpPr>
            <a:spLocks noChangeArrowheads="1"/>
          </p:cNvSpPr>
          <p:nvPr/>
        </p:nvSpPr>
        <p:spPr bwMode="auto">
          <a:xfrm>
            <a:off x="647700" y="4797425"/>
            <a:ext cx="8101013" cy="579438"/>
          </a:xfrm>
          <a:prstGeom prst="rect">
            <a:avLst/>
          </a:prstGeom>
          <a:solidFill>
            <a:srgbClr val="3366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分析栈中内容</a:t>
            </a:r>
            <a:r>
              <a:rPr lang="en-US" altLang="zh-CN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+</a:t>
            </a:r>
            <a:r>
              <a:rPr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剩余输入符号</a:t>
            </a:r>
            <a:r>
              <a:rPr lang="en-US" altLang="zh-CN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=</a:t>
            </a:r>
            <a:r>
              <a:rPr lang="en-US" altLang="zh-CN" sz="3200" b="1">
                <a:solidFill>
                  <a:schemeClr val="bg1"/>
                </a:solidFill>
                <a:latin typeface="Arial" charset="0"/>
                <a:ea typeface="华文新魏" pitchFamily="2" charset="-122"/>
              </a:rPr>
              <a:t>“</a:t>
            </a:r>
            <a:r>
              <a:rPr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规范句型</a:t>
            </a:r>
            <a:r>
              <a:rPr lang="zh-CN" altLang="en-US" sz="3200" b="1">
                <a:solidFill>
                  <a:schemeClr val="bg1"/>
                </a:solidFill>
                <a:latin typeface="Arial" charset="0"/>
                <a:ea typeface="华文新魏" pitchFamily="2" charset="-122"/>
              </a:rPr>
              <a:t>”</a:t>
            </a:r>
            <a:endParaRPr lang="zh-CN" altLang="en-US" sz="3200" b="1">
              <a:solidFill>
                <a:schemeClr val="bg1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84345" name="AutoShape 25"/>
          <p:cNvSpPr>
            <a:spLocks noChangeArrowheads="1"/>
          </p:cNvSpPr>
          <p:nvPr/>
        </p:nvSpPr>
        <p:spPr bwMode="auto">
          <a:xfrm>
            <a:off x="4284663" y="5734050"/>
            <a:ext cx="2592387" cy="863600"/>
          </a:xfrm>
          <a:prstGeom prst="wedgeRectCallout">
            <a:avLst>
              <a:gd name="adj1" fmla="val -107991"/>
              <a:gd name="adj2" fmla="val -93750"/>
            </a:avLst>
          </a:prstGeom>
          <a:solidFill>
            <a:srgbClr val="3366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新魏" pitchFamily="2" charset="-122"/>
              </a:rPr>
              <a:t>不含句柄右侧的任意符号</a:t>
            </a:r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5148263" y="15875"/>
            <a:ext cx="3890962" cy="1036638"/>
            <a:chOff x="3243" y="-33"/>
            <a:chExt cx="2451" cy="653"/>
          </a:xfrm>
        </p:grpSpPr>
        <p:sp>
          <p:nvSpPr>
            <p:cNvPr id="184344" name="Rectangle 24"/>
            <p:cNvSpPr>
              <a:spLocks noChangeArrowheads="1"/>
            </p:cNvSpPr>
            <p:nvPr/>
          </p:nvSpPr>
          <p:spPr bwMode="auto">
            <a:xfrm>
              <a:off x="3470" y="255"/>
              <a:ext cx="1908" cy="365"/>
            </a:xfrm>
            <a:prstGeom prst="rect">
              <a:avLst/>
            </a:prstGeom>
            <a:solidFill>
              <a:srgbClr val="0066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新魏" pitchFamily="2" charset="-122"/>
                </a:rPr>
                <a:t>规范句型活前缀</a:t>
              </a:r>
            </a:p>
          </p:txBody>
        </p:sp>
        <p:sp>
          <p:nvSpPr>
            <p:cNvPr id="95241" name="Rectangle 26"/>
            <p:cNvSpPr>
              <a:spLocks noChangeArrowheads="1"/>
            </p:cNvSpPr>
            <p:nvPr/>
          </p:nvSpPr>
          <p:spPr bwMode="auto">
            <a:xfrm>
              <a:off x="3243" y="-33"/>
              <a:ext cx="2451" cy="288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(Canonical Sentential Form)</a:t>
              </a:r>
            </a:p>
          </p:txBody>
        </p:sp>
      </p:grpSp>
      <p:sp>
        <p:nvSpPr>
          <p:cNvPr id="95239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23F2645B-ADA6-410C-9E44-1237495AEAF5}" type="slidenum">
              <a:rPr lang="en-US" altLang="zh-CN" sz="1400"/>
              <a:pPr algn="r" eaLnBrk="1" hangingPunct="1"/>
              <a:t>69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533400"/>
            <a:ext cx="3311525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六、栈内容</a:t>
            </a:r>
            <a:endParaRPr lang="zh-CN" altLang="en-US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973138" y="1981200"/>
            <a:ext cx="7775575" cy="25019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规范句型的不含句柄右侧任意符号的前缀称为规范句型的</a:t>
            </a:r>
            <a:r>
              <a:rPr lang="zh-CN" altLang="en-US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活前缀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(Active Prefix)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id + id * id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的分析中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句型 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E + id . * id  </a:t>
            </a: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和 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E + E * . id</a:t>
            </a:r>
          </a:p>
        </p:txBody>
      </p:sp>
      <p:sp>
        <p:nvSpPr>
          <p:cNvPr id="962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50F623C-709D-4B1F-B71C-CBA5AE387775}" type="slidenum">
              <a:rPr lang="en-US" altLang="zh-CN" smtClean="0"/>
              <a:pPr eaLnBrk="1" hangingPunct="1"/>
              <a:t>70</a:t>
            </a:fld>
            <a:endParaRPr lang="en-US" altLang="zh-CN" smtClean="0"/>
          </a:p>
        </p:txBody>
      </p:sp>
      <p:sp>
        <p:nvSpPr>
          <p:cNvPr id="73732" name="AutoShape 4"/>
          <p:cNvSpPr>
            <a:spLocks/>
          </p:cNvSpPr>
          <p:nvPr/>
        </p:nvSpPr>
        <p:spPr bwMode="auto">
          <a:xfrm rot="-5479421">
            <a:off x="2982913" y="4038600"/>
            <a:ext cx="381000" cy="838200"/>
          </a:xfrm>
          <a:prstGeom prst="leftBrace">
            <a:avLst>
              <a:gd name="adj1" fmla="val 18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3" name="AutoShape 5"/>
          <p:cNvSpPr>
            <a:spLocks/>
          </p:cNvSpPr>
          <p:nvPr/>
        </p:nvSpPr>
        <p:spPr bwMode="auto">
          <a:xfrm rot="-5479421">
            <a:off x="5553869" y="3966369"/>
            <a:ext cx="431800" cy="1033462"/>
          </a:xfrm>
          <a:prstGeom prst="leftBrace">
            <a:avLst>
              <a:gd name="adj1" fmla="val 19945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734" name="Text Box 6"/>
          <p:cNvSpPr txBox="1">
            <a:spLocks noChangeArrowheads="1"/>
          </p:cNvSpPr>
          <p:nvPr/>
        </p:nvSpPr>
        <p:spPr bwMode="auto">
          <a:xfrm>
            <a:off x="2609850" y="4627563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latin typeface="Times New Roman" pitchFamily="18" charset="0"/>
                <a:ea typeface="华文新魏" pitchFamily="2" charset="-122"/>
              </a:rPr>
              <a:t>活前缀</a:t>
            </a:r>
          </a:p>
        </p:txBody>
      </p:sp>
      <p:sp>
        <p:nvSpPr>
          <p:cNvPr id="73735" name="Text Box 7"/>
          <p:cNvSpPr txBox="1">
            <a:spLocks noChangeArrowheads="1"/>
          </p:cNvSpPr>
          <p:nvPr/>
        </p:nvSpPr>
        <p:spPr bwMode="auto">
          <a:xfrm>
            <a:off x="5221288" y="4618038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zh-CN" altLang="en-US" sz="2400" b="1">
                <a:latin typeface="Times New Roman" pitchFamily="18" charset="0"/>
                <a:ea typeface="华文新魏" pitchFamily="2" charset="-122"/>
              </a:rPr>
              <a:t>活前缀</a:t>
            </a:r>
            <a:endParaRPr kumimoji="1" lang="zh-CN" altLang="en-US" sz="240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73736" name="Text Box 8"/>
          <p:cNvSpPr txBox="1">
            <a:spLocks noChangeArrowheads="1"/>
          </p:cNvSpPr>
          <p:nvPr/>
        </p:nvSpPr>
        <p:spPr bwMode="auto">
          <a:xfrm>
            <a:off x="1619250" y="5300663"/>
            <a:ext cx="6705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S</a:t>
            </a: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3200" b="1" baseline="30000">
                <a:latin typeface="Times New Roman" pitchFamily="18" charset="0"/>
              </a:rPr>
              <a:t>*</a:t>
            </a:r>
            <a:r>
              <a:rPr kumimoji="1" lang="en-US" altLang="zh-CN" sz="3200" b="1" baseline="-25000">
                <a:latin typeface="Times New Roman" pitchFamily="18" charset="0"/>
              </a:rPr>
              <a:t>rm</a:t>
            </a:r>
            <a:r>
              <a:rPr kumimoji="1" lang="en-US" altLang="zh-CN" sz="3200" b="1">
                <a:latin typeface="Times New Roman" pitchFamily="18" charset="0"/>
              </a:rPr>
              <a:t>αAw </a:t>
            </a:r>
            <a:r>
              <a:rPr kumimoji="1" lang="en-US" altLang="zh-CN" sz="3200" b="1">
                <a:latin typeface="Times New Roman" pitchFamily="18" charset="0"/>
                <a:sym typeface="Symbol" pitchFamily="18" charset="2"/>
              </a:rPr>
              <a:t></a:t>
            </a:r>
            <a:r>
              <a:rPr kumimoji="1" lang="en-US" altLang="zh-CN" sz="3200" b="1" baseline="-25000">
                <a:latin typeface="Times New Roman" pitchFamily="18" charset="0"/>
              </a:rPr>
              <a:t>rm</a:t>
            </a:r>
            <a:r>
              <a:rPr kumimoji="1" lang="en-US" altLang="zh-CN" sz="3200" b="1">
                <a:latin typeface="Times New Roman" pitchFamily="18" charset="0"/>
              </a:rPr>
              <a:t> </a:t>
            </a:r>
            <a:r>
              <a:rPr kumimoji="1" lang="en-US" altLang="zh-CN" sz="3200" b="1">
                <a:solidFill>
                  <a:srgbClr val="FF3300"/>
                </a:solidFill>
                <a:latin typeface="Times New Roman" pitchFamily="18" charset="0"/>
              </a:rPr>
              <a:t>αβ</a:t>
            </a:r>
            <a:r>
              <a:rPr kumimoji="1" lang="en-US" altLang="zh-CN" sz="3200" b="1" baseline="-25000">
                <a:solidFill>
                  <a:srgbClr val="FF3300"/>
                </a:solidFill>
                <a:latin typeface="Times New Roman" pitchFamily="18" charset="0"/>
              </a:rPr>
              <a:t>1</a:t>
            </a:r>
            <a:r>
              <a:rPr kumimoji="1" lang="en-US" altLang="zh-CN" sz="3200" b="1">
                <a:latin typeface="Times New Roman" pitchFamily="18" charset="0"/>
              </a:rPr>
              <a:t>β</a:t>
            </a:r>
            <a:r>
              <a:rPr kumimoji="1" lang="en-US" altLang="zh-CN" sz="3200" b="1" baseline="-25000">
                <a:latin typeface="Times New Roman" pitchFamily="18" charset="0"/>
              </a:rPr>
              <a:t>2</a:t>
            </a:r>
            <a:r>
              <a:rPr kumimoji="1" lang="en-US" altLang="zh-CN" sz="3200" b="1">
                <a:latin typeface="Times New Roman" pitchFamily="18" charset="0"/>
              </a:rPr>
              <a:t>w</a:t>
            </a:r>
            <a:r>
              <a:rPr kumimoji="1" lang="en-US" altLang="zh-CN" sz="2400">
                <a:latin typeface="Times New Roman" pitchFamily="18" charset="0"/>
              </a:rPr>
              <a:t>  </a:t>
            </a:r>
          </a:p>
        </p:txBody>
      </p:sp>
      <p:grpSp>
        <p:nvGrpSpPr>
          <p:cNvPr id="96266" name="Group 16"/>
          <p:cNvGrpSpPr>
            <a:grpSpLocks/>
          </p:cNvGrpSpPr>
          <p:nvPr/>
        </p:nvGrpSpPr>
        <p:grpSpPr bwMode="auto">
          <a:xfrm>
            <a:off x="5148263" y="15875"/>
            <a:ext cx="3890962" cy="1036638"/>
            <a:chOff x="3243" y="-33"/>
            <a:chExt cx="2451" cy="653"/>
          </a:xfrm>
        </p:grpSpPr>
        <p:sp>
          <p:nvSpPr>
            <p:cNvPr id="73745" name="Rectangle 17"/>
            <p:cNvSpPr>
              <a:spLocks noChangeArrowheads="1"/>
            </p:cNvSpPr>
            <p:nvPr/>
          </p:nvSpPr>
          <p:spPr bwMode="auto">
            <a:xfrm>
              <a:off x="3470" y="255"/>
              <a:ext cx="1908" cy="365"/>
            </a:xfrm>
            <a:prstGeom prst="rect">
              <a:avLst/>
            </a:prstGeom>
            <a:solidFill>
              <a:srgbClr val="0066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新魏" pitchFamily="2" charset="-122"/>
                </a:rPr>
                <a:t>规范句型活前缀</a:t>
              </a:r>
            </a:p>
          </p:txBody>
        </p:sp>
        <p:sp>
          <p:nvSpPr>
            <p:cNvPr id="96268" name="Rectangle 18"/>
            <p:cNvSpPr>
              <a:spLocks noChangeArrowheads="1"/>
            </p:cNvSpPr>
            <p:nvPr/>
          </p:nvSpPr>
          <p:spPr bwMode="auto">
            <a:xfrm>
              <a:off x="3243" y="-33"/>
              <a:ext cx="2451" cy="288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(Canonical Sentential Form)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44450"/>
            <a:ext cx="3529012" cy="146208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六、栈内容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314450"/>
            <a:ext cx="8142287" cy="5184775"/>
          </a:xfrm>
        </p:spPr>
        <p:txBody>
          <a:bodyPr/>
          <a:lstStyle/>
          <a:p>
            <a:pPr marL="176213" indent="-176213" eaLnBrk="1" hangingPunct="1">
              <a:lnSpc>
                <a:spcPct val="125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换角度理解</a:t>
            </a:r>
          </a:p>
          <a:p>
            <a:pPr marL="641350" lvl="1" eaLnBrk="1" hangingPunct="1">
              <a:lnSpc>
                <a:spcPct val="125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规范归约所得到的规范句型的活前缀是出现在分析栈中的符号串，所以，不会出现句柄之后的任何字符，而且相应的后缀正是输入串中还未处理的终结符号串</a:t>
            </a:r>
          </a:p>
          <a:p>
            <a:pPr marL="176213" indent="-176213" eaLnBrk="1" hangingPunct="1">
              <a:lnSpc>
                <a:spcPct val="125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活前缀与句柄的关系</a:t>
            </a:r>
          </a:p>
          <a:p>
            <a:pPr marL="641350" lvl="1" eaLnBrk="1" hangingPunct="1">
              <a:lnSpc>
                <a:spcPct val="125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不含句柄的任何符号：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A→.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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marL="641350" lvl="1" eaLnBrk="1" hangingPunct="1">
              <a:lnSpc>
                <a:spcPct val="125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包含句柄的非空前缀：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A→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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1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.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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2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 marL="641350" lvl="1" eaLnBrk="1" hangingPunct="1">
              <a:lnSpc>
                <a:spcPct val="125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包含句柄： 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A→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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.</a:t>
            </a: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972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1E6F408-8745-4EFD-9205-7F1679216B6B}" type="slidenum">
              <a:rPr lang="en-US" altLang="zh-CN" smtClean="0"/>
              <a:pPr eaLnBrk="1" hangingPunct="1"/>
              <a:t>71</a:t>
            </a:fld>
            <a:endParaRPr lang="en-US" altLang="zh-CN" smtClean="0"/>
          </a:p>
        </p:txBody>
      </p:sp>
      <p:grpSp>
        <p:nvGrpSpPr>
          <p:cNvPr id="97285" name="Group 5"/>
          <p:cNvGrpSpPr>
            <a:grpSpLocks/>
          </p:cNvGrpSpPr>
          <p:nvPr/>
        </p:nvGrpSpPr>
        <p:grpSpPr bwMode="auto">
          <a:xfrm>
            <a:off x="5148263" y="15875"/>
            <a:ext cx="3890962" cy="1036638"/>
            <a:chOff x="3243" y="-33"/>
            <a:chExt cx="2451" cy="653"/>
          </a:xfrm>
        </p:grpSpPr>
        <p:sp>
          <p:nvSpPr>
            <p:cNvPr id="74758" name="Rectangle 6"/>
            <p:cNvSpPr>
              <a:spLocks noChangeArrowheads="1"/>
            </p:cNvSpPr>
            <p:nvPr/>
          </p:nvSpPr>
          <p:spPr bwMode="auto">
            <a:xfrm>
              <a:off x="3470" y="255"/>
              <a:ext cx="1908" cy="365"/>
            </a:xfrm>
            <a:prstGeom prst="rect">
              <a:avLst/>
            </a:prstGeom>
            <a:solidFill>
              <a:srgbClr val="0066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3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华文新魏" pitchFamily="2" charset="-122"/>
                </a:rPr>
                <a:t>规范句型活前缀</a:t>
              </a:r>
            </a:p>
          </p:txBody>
        </p:sp>
        <p:sp>
          <p:nvSpPr>
            <p:cNvPr id="97287" name="Rectangle 7"/>
            <p:cNvSpPr>
              <a:spLocks noChangeArrowheads="1"/>
            </p:cNvSpPr>
            <p:nvPr/>
          </p:nvSpPr>
          <p:spPr bwMode="auto">
            <a:xfrm>
              <a:off x="3243" y="-33"/>
              <a:ext cx="2451" cy="288"/>
            </a:xfrm>
            <a:prstGeom prst="rect">
              <a:avLst/>
            </a:prstGeom>
            <a:solidFill>
              <a:srgbClr val="00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solidFill>
                    <a:schemeClr val="bg1"/>
                  </a:solidFill>
                  <a:latin typeface="Times New Roman" pitchFamily="18" charset="0"/>
                </a:rPr>
                <a:t>(Canonical Sentential Form)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7" name="Rectangle 3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7993062" cy="620713"/>
          </a:xfrm>
        </p:spPr>
        <p:txBody>
          <a:bodyPr/>
          <a:lstStyle/>
          <a:p>
            <a:pPr eaLnBrk="1" hangingPunct="1"/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七、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分析表的构造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计算项目集闭包</a:t>
            </a:r>
          </a:p>
        </p:txBody>
      </p:sp>
      <p:sp>
        <p:nvSpPr>
          <p:cNvPr id="185346" name="Rectangle 2"/>
          <p:cNvSpPr>
            <a:spLocks noGrp="1" noChangeArrowheads="1"/>
          </p:cNvSpPr>
          <p:nvPr>
            <p:ph idx="1"/>
          </p:nvPr>
        </p:nvSpPr>
        <p:spPr>
          <a:xfrm>
            <a:off x="395288" y="549275"/>
            <a:ext cx="8497887" cy="1223963"/>
          </a:xfrm>
          <a:solidFill>
            <a:srgbClr val="006666"/>
          </a:solidFill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chemeClr val="bg1"/>
              </a:buClr>
              <a:buSzTx/>
            </a:pP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项目集 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I 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的闭包</a:t>
            </a:r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(Closure)</a:t>
            </a:r>
          </a:p>
          <a:p>
            <a:pPr lvl="1" eaLnBrk="1" hangingPunct="1">
              <a:lnSpc>
                <a:spcPct val="120000"/>
              </a:lnSpc>
              <a:buClr>
                <a:schemeClr val="bg1"/>
              </a:buClr>
              <a:buSzTx/>
            </a:pPr>
            <a:r>
              <a:rPr lang="en-US" altLang="zh-CN" sz="22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CLOSURE(I)=I∪{B→.γ|A→α.Bβ∈CLOSURE(I), B→γ∈P}</a:t>
            </a:r>
          </a:p>
        </p:txBody>
      </p:sp>
      <p:sp>
        <p:nvSpPr>
          <p:cNvPr id="983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9564094-9BE6-4783-93C5-D0C8852CE556}" type="slidenum">
              <a:rPr lang="en-US" altLang="zh-CN" smtClean="0"/>
              <a:pPr eaLnBrk="1" hangingPunct="1"/>
              <a:t>72</a:t>
            </a:fld>
            <a:endParaRPr lang="en-US" altLang="zh-CN" smtClean="0"/>
          </a:p>
        </p:txBody>
      </p:sp>
      <p:grpSp>
        <p:nvGrpSpPr>
          <p:cNvPr id="98309" name="Group 4"/>
          <p:cNvGrpSpPr>
            <a:grpSpLocks/>
          </p:cNvGrpSpPr>
          <p:nvPr/>
        </p:nvGrpSpPr>
        <p:grpSpPr bwMode="auto">
          <a:xfrm>
            <a:off x="395288" y="1844675"/>
            <a:ext cx="7921625" cy="4772025"/>
            <a:chOff x="249" y="1310"/>
            <a:chExt cx="5031" cy="2858"/>
          </a:xfrm>
        </p:grpSpPr>
        <p:sp>
          <p:nvSpPr>
            <p:cNvPr id="185349" name="Rectangle 5"/>
            <p:cNvSpPr>
              <a:spLocks noChangeArrowheads="1"/>
            </p:cNvSpPr>
            <p:nvPr/>
          </p:nvSpPr>
          <p:spPr bwMode="auto">
            <a:xfrm>
              <a:off x="2688" y="1310"/>
              <a:ext cx="816" cy="362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1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S</a:t>
              </a:r>
              <a:r>
                <a:rPr lang="en-US" altLang="zh-CN" b="1">
                  <a:solidFill>
                    <a:schemeClr val="hlink"/>
                  </a:solidFill>
                </a:rPr>
                <a:t>'</a:t>
              </a: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→S.</a:t>
              </a:r>
            </a:p>
          </p:txBody>
        </p:sp>
        <p:sp>
          <p:nvSpPr>
            <p:cNvPr id="98313" name="Line 6"/>
            <p:cNvSpPr>
              <a:spLocks noChangeShapeType="1"/>
            </p:cNvSpPr>
            <p:nvPr/>
          </p:nvSpPr>
          <p:spPr bwMode="auto">
            <a:xfrm>
              <a:off x="1248" y="1527"/>
              <a:ext cx="144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4" name="Text Box 7"/>
            <p:cNvSpPr txBox="1">
              <a:spLocks noChangeArrowheads="1"/>
            </p:cNvSpPr>
            <p:nvPr/>
          </p:nvSpPr>
          <p:spPr bwMode="auto">
            <a:xfrm>
              <a:off x="1440" y="1346"/>
              <a:ext cx="336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S</a:t>
              </a:r>
            </a:p>
          </p:txBody>
        </p:sp>
        <p:sp>
          <p:nvSpPr>
            <p:cNvPr id="98315" name="Line 8"/>
            <p:cNvSpPr>
              <a:spLocks noChangeShapeType="1"/>
            </p:cNvSpPr>
            <p:nvPr/>
          </p:nvSpPr>
          <p:spPr bwMode="auto">
            <a:xfrm>
              <a:off x="1248" y="2034"/>
              <a:ext cx="1392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6" name="Text Box 9"/>
            <p:cNvSpPr txBox="1">
              <a:spLocks noChangeArrowheads="1"/>
            </p:cNvSpPr>
            <p:nvPr/>
          </p:nvSpPr>
          <p:spPr bwMode="auto">
            <a:xfrm>
              <a:off x="1440" y="1853"/>
              <a:ext cx="336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85354" name="Rectangle 10"/>
            <p:cNvSpPr>
              <a:spLocks noChangeArrowheads="1"/>
            </p:cNvSpPr>
            <p:nvPr/>
          </p:nvSpPr>
          <p:spPr bwMode="auto">
            <a:xfrm>
              <a:off x="2688" y="1925"/>
              <a:ext cx="816" cy="760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2</a:t>
              </a:r>
              <a:r>
                <a:rPr kumimoji="1" lang="en-US" altLang="zh-CN" sz="2000" b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S→B.B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B→.aB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B→.b	</a:t>
              </a:r>
              <a:endPara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98318" name="Freeform 11"/>
            <p:cNvSpPr>
              <a:spLocks/>
            </p:cNvSpPr>
            <p:nvPr/>
          </p:nvSpPr>
          <p:spPr bwMode="auto">
            <a:xfrm>
              <a:off x="624" y="2359"/>
              <a:ext cx="2112" cy="1483"/>
            </a:xfrm>
            <a:custGeom>
              <a:avLst/>
              <a:gdLst>
                <a:gd name="T0" fmla="*/ 0 w 816"/>
                <a:gd name="T1" fmla="*/ 0 h 1344"/>
                <a:gd name="T2" fmla="*/ 321 w 816"/>
                <a:gd name="T3" fmla="*/ 993 h 1344"/>
                <a:gd name="T4" fmla="*/ 1928 w 816"/>
                <a:gd name="T5" fmla="*/ 1402 h 1344"/>
                <a:gd name="T6" fmla="*/ 5466 w 816"/>
                <a:gd name="T7" fmla="*/ 1636 h 13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6"/>
                <a:gd name="T13" fmla="*/ 0 h 1344"/>
                <a:gd name="T14" fmla="*/ 816 w 816"/>
                <a:gd name="T15" fmla="*/ 1344 h 13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6" h="1344">
                  <a:moveTo>
                    <a:pt x="0" y="0"/>
                  </a:moveTo>
                  <a:cubicBezTo>
                    <a:pt x="0" y="312"/>
                    <a:pt x="0" y="624"/>
                    <a:pt x="48" y="816"/>
                  </a:cubicBezTo>
                  <a:cubicBezTo>
                    <a:pt x="96" y="1008"/>
                    <a:pt x="160" y="1064"/>
                    <a:pt x="288" y="1152"/>
                  </a:cubicBezTo>
                  <a:cubicBezTo>
                    <a:pt x="416" y="1240"/>
                    <a:pt x="720" y="1304"/>
                    <a:pt x="816" y="134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19" name="Text Box 12"/>
            <p:cNvSpPr txBox="1">
              <a:spLocks noChangeArrowheads="1"/>
            </p:cNvSpPr>
            <p:nvPr/>
          </p:nvSpPr>
          <p:spPr bwMode="auto">
            <a:xfrm>
              <a:off x="624" y="2757"/>
              <a:ext cx="28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85357" name="Rectangle 13"/>
            <p:cNvSpPr>
              <a:spLocks noChangeArrowheads="1"/>
            </p:cNvSpPr>
            <p:nvPr/>
          </p:nvSpPr>
          <p:spPr bwMode="auto">
            <a:xfrm>
              <a:off x="2736" y="3481"/>
              <a:ext cx="816" cy="687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3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B→a.B</a:t>
              </a:r>
            </a:p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B→.aB</a:t>
              </a:r>
            </a:p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B→.b	</a:t>
              </a:r>
              <a:endPara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98321" name="Freeform 14"/>
            <p:cNvSpPr>
              <a:spLocks/>
            </p:cNvSpPr>
            <p:nvPr/>
          </p:nvSpPr>
          <p:spPr bwMode="auto">
            <a:xfrm>
              <a:off x="960" y="2359"/>
              <a:ext cx="1728" cy="760"/>
            </a:xfrm>
            <a:custGeom>
              <a:avLst/>
              <a:gdLst>
                <a:gd name="T0" fmla="*/ 0 w 1680"/>
                <a:gd name="T1" fmla="*/ 0 h 1056"/>
                <a:gd name="T2" fmla="*/ 50 w 1680"/>
                <a:gd name="T3" fmla="*/ 323 h 1056"/>
                <a:gd name="T4" fmla="*/ 254 w 1680"/>
                <a:gd name="T5" fmla="*/ 448 h 1056"/>
                <a:gd name="T6" fmla="*/ 762 w 1680"/>
                <a:gd name="T7" fmla="*/ 522 h 1056"/>
                <a:gd name="T8" fmla="*/ 1777 w 1680"/>
                <a:gd name="T9" fmla="*/ 547 h 10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80"/>
                <a:gd name="T16" fmla="*/ 0 h 1056"/>
                <a:gd name="T17" fmla="*/ 1680 w 1680"/>
                <a:gd name="T18" fmla="*/ 1056 h 10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80" h="1056">
                  <a:moveTo>
                    <a:pt x="0" y="0"/>
                  </a:moveTo>
                  <a:cubicBezTo>
                    <a:pt x="4" y="240"/>
                    <a:pt x="8" y="480"/>
                    <a:pt x="48" y="624"/>
                  </a:cubicBezTo>
                  <a:cubicBezTo>
                    <a:pt x="88" y="768"/>
                    <a:pt x="128" y="800"/>
                    <a:pt x="240" y="864"/>
                  </a:cubicBezTo>
                  <a:cubicBezTo>
                    <a:pt x="352" y="928"/>
                    <a:pt x="480" y="976"/>
                    <a:pt x="720" y="1008"/>
                  </a:cubicBezTo>
                  <a:cubicBezTo>
                    <a:pt x="960" y="1040"/>
                    <a:pt x="1528" y="1056"/>
                    <a:pt x="1680" y="105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2" name="Text Box 15"/>
            <p:cNvSpPr txBox="1">
              <a:spLocks noChangeArrowheads="1"/>
            </p:cNvSpPr>
            <p:nvPr/>
          </p:nvSpPr>
          <p:spPr bwMode="auto">
            <a:xfrm>
              <a:off x="1056" y="2757"/>
              <a:ext cx="28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85360" name="Rectangle 16"/>
            <p:cNvSpPr>
              <a:spLocks noChangeArrowheads="1"/>
            </p:cNvSpPr>
            <p:nvPr/>
          </p:nvSpPr>
          <p:spPr bwMode="auto">
            <a:xfrm>
              <a:off x="2736" y="2902"/>
              <a:ext cx="816" cy="398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4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B→b.</a:t>
              </a:r>
              <a:r>
                <a:rPr kumimoji="1" lang="en-US" altLang="zh-CN" sz="2000" b="1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	</a:t>
              </a:r>
              <a:endPara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98324" name="Line 17"/>
            <p:cNvSpPr>
              <a:spLocks noChangeShapeType="1"/>
            </p:cNvSpPr>
            <p:nvPr/>
          </p:nvSpPr>
          <p:spPr bwMode="auto">
            <a:xfrm flipV="1">
              <a:off x="3504" y="1563"/>
              <a:ext cx="960" cy="4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5" name="Text Box 18"/>
            <p:cNvSpPr txBox="1">
              <a:spLocks noChangeArrowheads="1"/>
            </p:cNvSpPr>
            <p:nvPr/>
          </p:nvSpPr>
          <p:spPr bwMode="auto">
            <a:xfrm>
              <a:off x="3840" y="1563"/>
              <a:ext cx="336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85363" name="Rectangle 19"/>
            <p:cNvSpPr>
              <a:spLocks noChangeArrowheads="1"/>
            </p:cNvSpPr>
            <p:nvPr/>
          </p:nvSpPr>
          <p:spPr bwMode="auto">
            <a:xfrm>
              <a:off x="4464" y="1310"/>
              <a:ext cx="816" cy="362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5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S→BB.</a:t>
              </a:r>
            </a:p>
          </p:txBody>
        </p:sp>
        <p:sp>
          <p:nvSpPr>
            <p:cNvPr id="98327" name="Freeform 20"/>
            <p:cNvSpPr>
              <a:spLocks/>
            </p:cNvSpPr>
            <p:nvPr/>
          </p:nvSpPr>
          <p:spPr bwMode="auto">
            <a:xfrm>
              <a:off x="3504" y="2359"/>
              <a:ext cx="816" cy="1303"/>
            </a:xfrm>
            <a:custGeom>
              <a:avLst/>
              <a:gdLst>
                <a:gd name="T0" fmla="*/ 0 w 1424"/>
                <a:gd name="T1" fmla="*/ 0 h 1968"/>
                <a:gd name="T2" fmla="*/ 363 w 1424"/>
                <a:gd name="T3" fmla="*/ 189 h 1968"/>
                <a:gd name="T4" fmla="*/ 410 w 1424"/>
                <a:gd name="T5" fmla="*/ 547 h 1968"/>
                <a:gd name="T6" fmla="*/ 16 w 1424"/>
                <a:gd name="T7" fmla="*/ 863 h 19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24"/>
                <a:gd name="T13" fmla="*/ 0 h 1968"/>
                <a:gd name="T14" fmla="*/ 1424 w 1424"/>
                <a:gd name="T15" fmla="*/ 1968 h 19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24" h="1968">
                  <a:moveTo>
                    <a:pt x="0" y="0"/>
                  </a:moveTo>
                  <a:cubicBezTo>
                    <a:pt x="448" y="112"/>
                    <a:pt x="896" y="224"/>
                    <a:pt x="1104" y="432"/>
                  </a:cubicBezTo>
                  <a:cubicBezTo>
                    <a:pt x="1312" y="640"/>
                    <a:pt x="1424" y="992"/>
                    <a:pt x="1248" y="1248"/>
                  </a:cubicBezTo>
                  <a:cubicBezTo>
                    <a:pt x="1072" y="1504"/>
                    <a:pt x="248" y="1848"/>
                    <a:pt x="48" y="196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28" name="Text Box 21"/>
            <p:cNvSpPr txBox="1">
              <a:spLocks noChangeArrowheads="1"/>
            </p:cNvSpPr>
            <p:nvPr/>
          </p:nvSpPr>
          <p:spPr bwMode="auto">
            <a:xfrm>
              <a:off x="4272" y="2830"/>
              <a:ext cx="24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98329" name="Freeform 22"/>
            <p:cNvSpPr>
              <a:spLocks/>
            </p:cNvSpPr>
            <p:nvPr/>
          </p:nvSpPr>
          <p:spPr bwMode="auto">
            <a:xfrm>
              <a:off x="3504" y="2649"/>
              <a:ext cx="200" cy="325"/>
            </a:xfrm>
            <a:custGeom>
              <a:avLst/>
              <a:gdLst>
                <a:gd name="T0" fmla="*/ 0 w 200"/>
                <a:gd name="T1" fmla="*/ 0 h 432"/>
                <a:gd name="T2" fmla="*/ 192 w 200"/>
                <a:gd name="T3" fmla="*/ 108 h 432"/>
                <a:gd name="T4" fmla="*/ 48 w 200"/>
                <a:gd name="T5" fmla="*/ 245 h 432"/>
                <a:gd name="T6" fmla="*/ 0 60000 65536"/>
                <a:gd name="T7" fmla="*/ 0 60000 65536"/>
                <a:gd name="T8" fmla="*/ 0 60000 65536"/>
                <a:gd name="T9" fmla="*/ 0 w 200"/>
                <a:gd name="T10" fmla="*/ 0 h 432"/>
                <a:gd name="T11" fmla="*/ 200 w 200"/>
                <a:gd name="T12" fmla="*/ 432 h 4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" h="432">
                  <a:moveTo>
                    <a:pt x="0" y="0"/>
                  </a:moveTo>
                  <a:cubicBezTo>
                    <a:pt x="92" y="60"/>
                    <a:pt x="184" y="120"/>
                    <a:pt x="192" y="192"/>
                  </a:cubicBezTo>
                  <a:cubicBezTo>
                    <a:pt x="200" y="264"/>
                    <a:pt x="124" y="348"/>
                    <a:pt x="48" y="43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0" name="Text Box 23"/>
            <p:cNvSpPr txBox="1">
              <a:spLocks noChangeArrowheads="1"/>
            </p:cNvSpPr>
            <p:nvPr/>
          </p:nvSpPr>
          <p:spPr bwMode="auto">
            <a:xfrm>
              <a:off x="3696" y="2721"/>
              <a:ext cx="24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98331" name="Line 24"/>
            <p:cNvSpPr>
              <a:spLocks noChangeShapeType="1"/>
            </p:cNvSpPr>
            <p:nvPr/>
          </p:nvSpPr>
          <p:spPr bwMode="auto">
            <a:xfrm>
              <a:off x="3552" y="3806"/>
              <a:ext cx="768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2" name="Text Box 25"/>
            <p:cNvSpPr txBox="1">
              <a:spLocks noChangeArrowheads="1"/>
            </p:cNvSpPr>
            <p:nvPr/>
          </p:nvSpPr>
          <p:spPr bwMode="auto">
            <a:xfrm>
              <a:off x="3792" y="3625"/>
              <a:ext cx="24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85370" name="Rectangle 26"/>
            <p:cNvSpPr>
              <a:spLocks noChangeArrowheads="1"/>
            </p:cNvSpPr>
            <p:nvPr/>
          </p:nvSpPr>
          <p:spPr bwMode="auto">
            <a:xfrm>
              <a:off x="4368" y="3589"/>
              <a:ext cx="819" cy="434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6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B→aB.</a:t>
              </a:r>
              <a:endParaRPr kumimoji="1" lang="en-US" altLang="zh-CN" sz="2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98334" name="Freeform 27"/>
            <p:cNvSpPr>
              <a:spLocks/>
            </p:cNvSpPr>
            <p:nvPr/>
          </p:nvSpPr>
          <p:spPr bwMode="auto">
            <a:xfrm>
              <a:off x="3552" y="3915"/>
              <a:ext cx="288" cy="217"/>
            </a:xfrm>
            <a:custGeom>
              <a:avLst/>
              <a:gdLst>
                <a:gd name="T0" fmla="*/ 0 w 288"/>
                <a:gd name="T1" fmla="*/ 0 h 288"/>
                <a:gd name="T2" fmla="*/ 288 w 288"/>
                <a:gd name="T3" fmla="*/ 82 h 288"/>
                <a:gd name="T4" fmla="*/ 0 w 288"/>
                <a:gd name="T5" fmla="*/ 164 h 288"/>
                <a:gd name="T6" fmla="*/ 0 60000 65536"/>
                <a:gd name="T7" fmla="*/ 0 60000 65536"/>
                <a:gd name="T8" fmla="*/ 0 60000 65536"/>
                <a:gd name="T9" fmla="*/ 0 w 288"/>
                <a:gd name="T10" fmla="*/ 0 h 288"/>
                <a:gd name="T11" fmla="*/ 288 w 288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288">
                  <a:moveTo>
                    <a:pt x="0" y="0"/>
                  </a:moveTo>
                  <a:cubicBezTo>
                    <a:pt x="144" y="48"/>
                    <a:pt x="288" y="96"/>
                    <a:pt x="288" y="144"/>
                  </a:cubicBezTo>
                  <a:cubicBezTo>
                    <a:pt x="288" y="192"/>
                    <a:pt x="144" y="240"/>
                    <a:pt x="0" y="28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5" name="Text Box 28"/>
            <p:cNvSpPr txBox="1">
              <a:spLocks noChangeArrowheads="1"/>
            </p:cNvSpPr>
            <p:nvPr/>
          </p:nvSpPr>
          <p:spPr bwMode="auto">
            <a:xfrm>
              <a:off x="3792" y="3915"/>
              <a:ext cx="28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98336" name="Line 29"/>
            <p:cNvSpPr>
              <a:spLocks noChangeShapeType="1"/>
            </p:cNvSpPr>
            <p:nvPr/>
          </p:nvSpPr>
          <p:spPr bwMode="auto">
            <a:xfrm flipV="1">
              <a:off x="3120" y="3300"/>
              <a:ext cx="1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337" name="Text Box 30"/>
            <p:cNvSpPr txBox="1">
              <a:spLocks noChangeArrowheads="1"/>
            </p:cNvSpPr>
            <p:nvPr/>
          </p:nvSpPr>
          <p:spPr bwMode="auto">
            <a:xfrm>
              <a:off x="3120" y="3300"/>
              <a:ext cx="336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98338" name="Text Box 31"/>
            <p:cNvSpPr txBox="1">
              <a:spLocks noChangeArrowheads="1"/>
            </p:cNvSpPr>
            <p:nvPr/>
          </p:nvSpPr>
          <p:spPr bwMode="auto">
            <a:xfrm>
              <a:off x="249" y="1344"/>
              <a:ext cx="998" cy="974"/>
            </a:xfrm>
            <a:prstGeom prst="rect">
              <a:avLst/>
            </a:prstGeom>
            <a:noFill/>
            <a:ln w="9525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latin typeface="Times New Roman" pitchFamily="18" charset="0"/>
                </a:rPr>
                <a:t>I</a:t>
              </a:r>
              <a:r>
                <a:rPr lang="en-US" altLang="zh-CN" sz="2000" b="1" baseline="-25000">
                  <a:latin typeface="Times New Roman" pitchFamily="18" charset="0"/>
                </a:rPr>
                <a:t>0</a:t>
              </a:r>
              <a:r>
                <a:rPr lang="en-US" altLang="zh-CN" sz="2000" b="1">
                  <a:latin typeface="Times New Roman" pitchFamily="18" charset="0"/>
                </a:rPr>
                <a:t>:</a:t>
              </a:r>
            </a:p>
            <a:p>
              <a:pPr eaLnBrk="1" hangingPunct="1"/>
              <a:r>
                <a:rPr lang="en-US" altLang="zh-CN" sz="2000" b="1">
                  <a:solidFill>
                    <a:schemeClr val="hlink"/>
                  </a:solidFill>
                  <a:latin typeface="Times New Roman" pitchFamily="18" charset="0"/>
                </a:rPr>
                <a:t>S</a:t>
              </a:r>
              <a:r>
                <a:rPr lang="en-US" altLang="zh-CN" b="1">
                  <a:solidFill>
                    <a:schemeClr val="hlink"/>
                  </a:solidFill>
                </a:rPr>
                <a:t>'</a:t>
              </a:r>
              <a:r>
                <a:rPr lang="en-US" altLang="zh-CN" sz="2000" b="1">
                  <a:solidFill>
                    <a:schemeClr val="hlink"/>
                  </a:solidFill>
                  <a:latin typeface="Times New Roman" pitchFamily="18" charset="0"/>
                </a:rPr>
                <a:t>→.S</a:t>
              </a:r>
            </a:p>
            <a:p>
              <a:pPr eaLnBrk="1" hangingPunct="1"/>
              <a:r>
                <a:rPr lang="en-US" altLang="zh-CN" sz="2000" b="1">
                  <a:latin typeface="Times New Roman" pitchFamily="18" charset="0"/>
                </a:rPr>
                <a:t>S→.BB</a:t>
              </a:r>
            </a:p>
            <a:p>
              <a:pPr eaLnBrk="1" hangingPunct="1"/>
              <a:r>
                <a:rPr lang="en-US" altLang="zh-CN" sz="2000" b="1">
                  <a:latin typeface="Times New Roman" pitchFamily="18" charset="0"/>
                </a:rPr>
                <a:t>B→.aB</a:t>
              </a:r>
            </a:p>
            <a:p>
              <a:pPr eaLnBrk="1" hangingPunct="1"/>
              <a:r>
                <a:rPr lang="en-US" altLang="zh-CN" sz="2000" b="1">
                  <a:latin typeface="Times New Roman" pitchFamily="18" charset="0"/>
                </a:rPr>
                <a:t>B→.b</a:t>
              </a:r>
            </a:p>
          </p:txBody>
        </p:sp>
      </p:grpSp>
      <p:sp>
        <p:nvSpPr>
          <p:cNvPr id="185376" name="Rectangle 32" descr="新闻纸"/>
          <p:cNvSpPr>
            <a:spLocks noChangeArrowheads="1"/>
          </p:cNvSpPr>
          <p:nvPr/>
        </p:nvSpPr>
        <p:spPr bwMode="auto">
          <a:xfrm>
            <a:off x="468313" y="5949950"/>
            <a:ext cx="1727200" cy="588963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8F8F8"/>
            </a:extrusionClr>
          </a:sp3d>
        </p:spPr>
        <p:txBody>
          <a:bodyPr>
            <a:spAutoFit/>
            <a:flatTx/>
          </a:bodyPr>
          <a:lstStyle/>
          <a:p>
            <a:pPr marL="342900" indent="-342900"/>
            <a:r>
              <a:rPr lang="en-US" altLang="zh-CN" sz="3200" b="1">
                <a:solidFill>
                  <a:schemeClr val="hlink"/>
                </a:solidFill>
                <a:latin typeface="Times New Roman" pitchFamily="18" charset="0"/>
              </a:rPr>
              <a:t>ε-</a:t>
            </a:r>
            <a:r>
              <a:rPr lang="zh-CN" altLang="en-US" sz="32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闭包</a:t>
            </a:r>
          </a:p>
        </p:txBody>
      </p:sp>
      <p:sp>
        <p:nvSpPr>
          <p:cNvPr id="98311" name="Rectangle 89"/>
          <p:cNvSpPr>
            <a:spLocks noChangeArrowheads="1"/>
          </p:cNvSpPr>
          <p:nvPr/>
        </p:nvSpPr>
        <p:spPr bwMode="auto">
          <a:xfrm>
            <a:off x="7056438" y="2781300"/>
            <a:ext cx="2087562" cy="18002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(0)   S'→S</a:t>
            </a:r>
            <a:b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(1)   S→BB</a:t>
            </a:r>
            <a:b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(2)   B→aB</a:t>
            </a:r>
            <a:b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(3)   B→b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836613"/>
            <a:ext cx="7091363" cy="911225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b="1">
                <a:latin typeface="Times New Roman" pitchFamily="18" charset="0"/>
                <a:ea typeface="华文新魏" pitchFamily="2" charset="-122"/>
              </a:rPr>
              <a:t>例   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表达式文法的处理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1042988" y="4005263"/>
            <a:ext cx="3240087" cy="1584325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 (1)  E→E+T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 (2)  E→T </a:t>
            </a:r>
          </a:p>
        </p:txBody>
      </p:sp>
      <p:sp>
        <p:nvSpPr>
          <p:cNvPr id="993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6B8A24F-8D71-41FE-9882-993DC7C5E9D8}" type="slidenum">
              <a:rPr lang="en-US" altLang="zh-CN" smtClean="0"/>
              <a:pPr eaLnBrk="1" hangingPunct="1"/>
              <a:t>73</a:t>
            </a:fld>
            <a:endParaRPr lang="en-US" altLang="zh-CN" smtClean="0"/>
          </a:p>
        </p:txBody>
      </p:sp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4953000" y="2590800"/>
            <a:ext cx="3810000" cy="35036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(3)  T→T*F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(4)  T→F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(5)  F→(E)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32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(6)  F→id</a:t>
            </a:r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1239838" y="2420938"/>
            <a:ext cx="29718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marL="342900" indent="-342900">
              <a:lnSpc>
                <a:spcPct val="90000"/>
              </a:lnSpc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3200" b="1">
                <a:latin typeface="Times New Roman" pitchFamily="18" charset="0"/>
                <a:ea typeface="华文新魏" pitchFamily="2" charset="-122"/>
              </a:rPr>
              <a:t>拓广文法</a:t>
            </a:r>
          </a:p>
          <a:p>
            <a:pPr marL="342900" indent="-342900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3200" b="1">
                <a:latin typeface="Times New Roman" pitchFamily="18" charset="0"/>
                <a:ea typeface="华文新魏" pitchFamily="2" charset="-122"/>
              </a:rPr>
              <a:t>(0)  E'→E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02" name="Rectangle 58"/>
          <p:cNvSpPr>
            <a:spLocks noChangeArrowheads="1"/>
          </p:cNvSpPr>
          <p:nvPr/>
        </p:nvSpPr>
        <p:spPr bwMode="auto">
          <a:xfrm>
            <a:off x="5508625" y="4581525"/>
            <a:ext cx="1368425" cy="2087563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Ｅ</a:t>
            </a:r>
            <a:r>
              <a:rPr kumimoji="1"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'→</a:t>
            </a:r>
            <a:r>
              <a:rPr kumimoji="1"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Ｅ</a:t>
            </a:r>
          </a:p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Ｅ→Ｅ</a:t>
            </a:r>
            <a:r>
              <a:rPr kumimoji="1"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+</a:t>
            </a:r>
            <a:r>
              <a:rPr kumimoji="1"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Ｔ</a:t>
            </a:r>
          </a:p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Ｅ→Ｔ</a:t>
            </a:r>
          </a:p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Ｔ→Ｔ*Ｆ</a:t>
            </a:r>
          </a:p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Ｔ→Ｆ</a:t>
            </a:r>
          </a:p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Ｆ→</a:t>
            </a:r>
            <a:r>
              <a:rPr kumimoji="1"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(</a:t>
            </a:r>
            <a:r>
              <a:rPr kumimoji="1"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Ｅ</a:t>
            </a:r>
            <a:r>
              <a:rPr kumimoji="1"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)</a:t>
            </a:r>
          </a:p>
          <a:p>
            <a:pPr marL="342900" indent="-342900"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Ｆ→</a:t>
            </a:r>
            <a:r>
              <a:rPr kumimoji="1"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id</a:t>
            </a:r>
            <a:r>
              <a:rPr lang="en-US" altLang="zh-CN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82946" name="Text Box 2"/>
          <p:cNvSpPr txBox="1">
            <a:spLocks noChangeArrowheads="1"/>
          </p:cNvSpPr>
          <p:nvPr/>
        </p:nvSpPr>
        <p:spPr bwMode="auto">
          <a:xfrm>
            <a:off x="457200" y="304800"/>
            <a:ext cx="1219200" cy="2543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lang="en-US" altLang="zh-CN" sz="2000" b="1">
                <a:solidFill>
                  <a:schemeClr val="hlink"/>
                </a:solidFill>
              </a:rPr>
              <a:t>'</a:t>
            </a:r>
            <a:r>
              <a:rPr kumimoji="1" lang="en-US" altLang="zh-CN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→.E</a:t>
            </a:r>
            <a:r>
              <a:rPr kumimoji="1" lang="en-US" altLang="zh-CN" sz="20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E→.E+T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</a:p>
        </p:txBody>
      </p:sp>
      <p:sp>
        <p:nvSpPr>
          <p:cNvPr id="82947" name="Line 3"/>
          <p:cNvSpPr>
            <a:spLocks noChangeShapeType="1"/>
          </p:cNvSpPr>
          <p:nvPr/>
        </p:nvSpPr>
        <p:spPr bwMode="auto">
          <a:xfrm>
            <a:off x="1676400" y="381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48" name="Text Box 4"/>
          <p:cNvSpPr txBox="1">
            <a:spLocks noChangeArrowheads="1"/>
          </p:cNvSpPr>
          <p:nvPr/>
        </p:nvSpPr>
        <p:spPr bwMode="auto">
          <a:xfrm>
            <a:off x="1905000" y="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E</a:t>
            </a:r>
          </a:p>
        </p:txBody>
      </p:sp>
      <p:sp>
        <p:nvSpPr>
          <p:cNvPr id="82949" name="Text Box 5"/>
          <p:cNvSpPr txBox="1">
            <a:spLocks noChangeArrowheads="1"/>
          </p:cNvSpPr>
          <p:nvPr/>
        </p:nvSpPr>
        <p:spPr bwMode="auto">
          <a:xfrm>
            <a:off x="2590800" y="2286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lang="en-US" altLang="zh-CN" b="1">
                <a:solidFill>
                  <a:schemeClr val="hlink"/>
                </a:solidFill>
              </a:rPr>
              <a:t>'</a:t>
            </a:r>
            <a:r>
              <a:rPr kumimoji="1" lang="en-US" altLang="zh-CN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→E.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E→E.+T</a:t>
            </a:r>
          </a:p>
        </p:txBody>
      </p:sp>
      <p:sp>
        <p:nvSpPr>
          <p:cNvPr id="82950" name="Line 6"/>
          <p:cNvSpPr>
            <a:spLocks noChangeShapeType="1"/>
          </p:cNvSpPr>
          <p:nvPr/>
        </p:nvSpPr>
        <p:spPr bwMode="auto">
          <a:xfrm>
            <a:off x="1676400" y="2057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1905000" y="1752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82952" name="Text Box 8"/>
          <p:cNvSpPr txBox="1">
            <a:spLocks noChangeArrowheads="1"/>
          </p:cNvSpPr>
          <p:nvPr/>
        </p:nvSpPr>
        <p:spPr bwMode="auto">
          <a:xfrm>
            <a:off x="2590800" y="1419225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E→T.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T→T.*F</a:t>
            </a:r>
            <a:endParaRPr kumimoji="1" lang="en-US" altLang="zh-CN" sz="20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82953" name="Line 9"/>
          <p:cNvSpPr>
            <a:spLocks noChangeShapeType="1"/>
          </p:cNvSpPr>
          <p:nvPr/>
        </p:nvSpPr>
        <p:spPr bwMode="auto">
          <a:xfrm>
            <a:off x="1676400" y="2819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4" name="Text Box 10"/>
          <p:cNvSpPr txBox="1">
            <a:spLocks noChangeArrowheads="1"/>
          </p:cNvSpPr>
          <p:nvPr/>
        </p:nvSpPr>
        <p:spPr bwMode="auto">
          <a:xfrm>
            <a:off x="1981200" y="2498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82955" name="Text Box 11"/>
          <p:cNvSpPr txBox="1">
            <a:spLocks noChangeArrowheads="1"/>
          </p:cNvSpPr>
          <p:nvPr/>
        </p:nvSpPr>
        <p:spPr bwMode="auto">
          <a:xfrm>
            <a:off x="2590800" y="25908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T→F.</a:t>
            </a:r>
          </a:p>
        </p:txBody>
      </p:sp>
      <p:sp>
        <p:nvSpPr>
          <p:cNvPr id="82956" name="Freeform 12"/>
          <p:cNvSpPr>
            <a:spLocks/>
          </p:cNvSpPr>
          <p:nvPr/>
        </p:nvSpPr>
        <p:spPr bwMode="auto">
          <a:xfrm>
            <a:off x="1346200" y="2895600"/>
            <a:ext cx="1244600" cy="1219200"/>
          </a:xfrm>
          <a:custGeom>
            <a:avLst/>
            <a:gdLst>
              <a:gd name="T0" fmla="*/ 45754267 w 736"/>
              <a:gd name="T1" fmla="*/ 0 h 768"/>
              <a:gd name="T2" fmla="*/ 45754267 w 736"/>
              <a:gd name="T3" fmla="*/ 967740089 h 768"/>
              <a:gd name="T4" fmla="*/ 320274811 w 736"/>
              <a:gd name="T5" fmla="*/ 1451609935 h 768"/>
              <a:gd name="T6" fmla="*/ 869315820 w 736"/>
              <a:gd name="T7" fmla="*/ 1693545255 h 768"/>
              <a:gd name="T8" fmla="*/ 2104659332 w 736"/>
              <a:gd name="T9" fmla="*/ 1935480178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36"/>
              <a:gd name="T16" fmla="*/ 0 h 768"/>
              <a:gd name="T17" fmla="*/ 736 w 736"/>
              <a:gd name="T18" fmla="*/ 768 h 7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36" h="768">
                <a:moveTo>
                  <a:pt x="16" y="0"/>
                </a:moveTo>
                <a:cubicBezTo>
                  <a:pt x="8" y="144"/>
                  <a:pt x="0" y="288"/>
                  <a:pt x="16" y="384"/>
                </a:cubicBezTo>
                <a:cubicBezTo>
                  <a:pt x="32" y="480"/>
                  <a:pt x="64" y="528"/>
                  <a:pt x="112" y="576"/>
                </a:cubicBezTo>
                <a:cubicBezTo>
                  <a:pt x="160" y="624"/>
                  <a:pt x="200" y="640"/>
                  <a:pt x="304" y="672"/>
                </a:cubicBezTo>
                <a:cubicBezTo>
                  <a:pt x="408" y="704"/>
                  <a:pt x="572" y="736"/>
                  <a:pt x="736" y="7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7" name="Text Box 13"/>
          <p:cNvSpPr txBox="1">
            <a:spLocks noChangeArrowheads="1"/>
          </p:cNvSpPr>
          <p:nvPr/>
        </p:nvSpPr>
        <p:spPr bwMode="auto">
          <a:xfrm>
            <a:off x="1981200" y="36576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82958" name="Text Box 14"/>
          <p:cNvSpPr txBox="1">
            <a:spLocks noChangeArrowheads="1"/>
          </p:cNvSpPr>
          <p:nvPr/>
        </p:nvSpPr>
        <p:spPr bwMode="auto">
          <a:xfrm>
            <a:off x="2590800" y="3581400"/>
            <a:ext cx="1219200" cy="2543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4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F→(.E 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E→.E+T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82959" name="Line 15"/>
          <p:cNvSpPr>
            <a:spLocks noChangeShapeType="1"/>
          </p:cNvSpPr>
          <p:nvPr/>
        </p:nvSpPr>
        <p:spPr bwMode="auto">
          <a:xfrm>
            <a:off x="685800" y="28956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60" name="Text Box 16"/>
          <p:cNvSpPr txBox="1">
            <a:spLocks noChangeArrowheads="1"/>
          </p:cNvSpPr>
          <p:nvPr/>
        </p:nvSpPr>
        <p:spPr bwMode="auto">
          <a:xfrm>
            <a:off x="685800" y="34290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82961" name="Text Box 17"/>
          <p:cNvSpPr txBox="1">
            <a:spLocks noChangeArrowheads="1"/>
          </p:cNvSpPr>
          <p:nvPr/>
        </p:nvSpPr>
        <p:spPr bwMode="auto">
          <a:xfrm>
            <a:off x="381000" y="41910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5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F→id.</a:t>
            </a:r>
            <a:endParaRPr kumimoji="1" lang="en-US" altLang="zh-CN" sz="2000" b="1">
              <a:solidFill>
                <a:schemeClr val="hlink"/>
              </a:solidFill>
              <a:latin typeface="Times New Roman" pitchFamily="18" charset="0"/>
            </a:endParaRPr>
          </a:p>
        </p:txBody>
      </p:sp>
      <p:sp>
        <p:nvSpPr>
          <p:cNvPr id="82962" name="Line 18"/>
          <p:cNvSpPr>
            <a:spLocks noChangeShapeType="1"/>
          </p:cNvSpPr>
          <p:nvPr/>
        </p:nvSpPr>
        <p:spPr bwMode="auto">
          <a:xfrm>
            <a:off x="3810000" y="3810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63" name="Text Box 19"/>
          <p:cNvSpPr txBox="1">
            <a:spLocks noChangeArrowheads="1"/>
          </p:cNvSpPr>
          <p:nvPr/>
        </p:nvSpPr>
        <p:spPr bwMode="auto">
          <a:xfrm>
            <a:off x="4114800" y="762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+</a:t>
            </a:r>
          </a:p>
        </p:txBody>
      </p:sp>
      <p:sp>
        <p:nvSpPr>
          <p:cNvPr id="82964" name="Text Box 20"/>
          <p:cNvSpPr txBox="1">
            <a:spLocks noChangeArrowheads="1"/>
          </p:cNvSpPr>
          <p:nvPr/>
        </p:nvSpPr>
        <p:spPr bwMode="auto">
          <a:xfrm>
            <a:off x="4648200" y="228600"/>
            <a:ext cx="1219200" cy="1933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6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E→E+.T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</a:p>
        </p:txBody>
      </p:sp>
      <p:sp>
        <p:nvSpPr>
          <p:cNvPr id="82965" name="Line 21"/>
          <p:cNvSpPr>
            <a:spLocks noChangeShapeType="1"/>
          </p:cNvSpPr>
          <p:nvPr/>
        </p:nvSpPr>
        <p:spPr bwMode="auto">
          <a:xfrm>
            <a:off x="3810000" y="1981200"/>
            <a:ext cx="8382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66" name="Text Box 22"/>
          <p:cNvSpPr txBox="1">
            <a:spLocks noChangeArrowheads="1"/>
          </p:cNvSpPr>
          <p:nvPr/>
        </p:nvSpPr>
        <p:spPr bwMode="auto">
          <a:xfrm>
            <a:off x="4038600" y="2133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*</a:t>
            </a:r>
          </a:p>
        </p:txBody>
      </p:sp>
      <p:sp>
        <p:nvSpPr>
          <p:cNvPr id="82967" name="Text Box 23"/>
          <p:cNvSpPr txBox="1">
            <a:spLocks noChangeArrowheads="1"/>
          </p:cNvSpPr>
          <p:nvPr/>
        </p:nvSpPr>
        <p:spPr bwMode="auto">
          <a:xfrm>
            <a:off x="4648200" y="2286000"/>
            <a:ext cx="1219200" cy="13239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T→T*.F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82968" name="Line 24"/>
          <p:cNvSpPr>
            <a:spLocks noChangeShapeType="1"/>
          </p:cNvSpPr>
          <p:nvPr/>
        </p:nvSpPr>
        <p:spPr bwMode="auto">
          <a:xfrm>
            <a:off x="3810000" y="4114800"/>
            <a:ext cx="3124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69" name="Text Box 25"/>
          <p:cNvSpPr txBox="1">
            <a:spLocks noChangeArrowheads="1"/>
          </p:cNvSpPr>
          <p:nvPr/>
        </p:nvSpPr>
        <p:spPr bwMode="auto">
          <a:xfrm>
            <a:off x="5029200" y="38100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E</a:t>
            </a:r>
          </a:p>
        </p:txBody>
      </p:sp>
      <p:sp>
        <p:nvSpPr>
          <p:cNvPr id="82970" name="Text Box 26"/>
          <p:cNvSpPr txBox="1">
            <a:spLocks noChangeArrowheads="1"/>
          </p:cNvSpPr>
          <p:nvPr/>
        </p:nvSpPr>
        <p:spPr bwMode="auto">
          <a:xfrm>
            <a:off x="6934200" y="36576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8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 (E.)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E→E.+T</a:t>
            </a:r>
          </a:p>
        </p:txBody>
      </p:sp>
      <p:sp>
        <p:nvSpPr>
          <p:cNvPr id="82971" name="Freeform 27"/>
          <p:cNvSpPr>
            <a:spLocks/>
          </p:cNvSpPr>
          <p:nvPr/>
        </p:nvSpPr>
        <p:spPr bwMode="auto">
          <a:xfrm>
            <a:off x="3810000" y="2286000"/>
            <a:ext cx="254000" cy="1600200"/>
          </a:xfrm>
          <a:custGeom>
            <a:avLst/>
            <a:gdLst>
              <a:gd name="T0" fmla="*/ 0 w 160"/>
              <a:gd name="T1" fmla="*/ 2147483647 h 1008"/>
              <a:gd name="T2" fmla="*/ 241935007 w 160"/>
              <a:gd name="T3" fmla="*/ 2147483647 h 1008"/>
              <a:gd name="T4" fmla="*/ 362902461 w 160"/>
              <a:gd name="T5" fmla="*/ 967740162 h 1008"/>
              <a:gd name="T6" fmla="*/ 0 w 160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160"/>
              <a:gd name="T13" fmla="*/ 0 h 1008"/>
              <a:gd name="T14" fmla="*/ 160 w 160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0" h="1008">
                <a:moveTo>
                  <a:pt x="0" y="1008"/>
                </a:moveTo>
                <a:cubicBezTo>
                  <a:pt x="36" y="988"/>
                  <a:pt x="72" y="968"/>
                  <a:pt x="96" y="864"/>
                </a:cubicBezTo>
                <a:cubicBezTo>
                  <a:pt x="120" y="760"/>
                  <a:pt x="160" y="528"/>
                  <a:pt x="144" y="384"/>
                </a:cubicBezTo>
                <a:cubicBezTo>
                  <a:pt x="128" y="240"/>
                  <a:pt x="64" y="120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72" name="Text Box 28"/>
          <p:cNvSpPr txBox="1">
            <a:spLocks noChangeArrowheads="1"/>
          </p:cNvSpPr>
          <p:nvPr/>
        </p:nvSpPr>
        <p:spPr bwMode="auto">
          <a:xfrm>
            <a:off x="3962400" y="2971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82973" name="Freeform 29"/>
          <p:cNvSpPr>
            <a:spLocks/>
          </p:cNvSpPr>
          <p:nvPr/>
        </p:nvSpPr>
        <p:spPr bwMode="auto">
          <a:xfrm>
            <a:off x="2413000" y="3124200"/>
            <a:ext cx="177800" cy="762000"/>
          </a:xfrm>
          <a:custGeom>
            <a:avLst/>
            <a:gdLst>
              <a:gd name="T0" fmla="*/ 282257522 w 112"/>
              <a:gd name="T1" fmla="*/ 1209675089 h 480"/>
              <a:gd name="T2" fmla="*/ 40322501 w 112"/>
              <a:gd name="T3" fmla="*/ 846772682 h 480"/>
              <a:gd name="T4" fmla="*/ 40322501 w 112"/>
              <a:gd name="T5" fmla="*/ 362902507 h 480"/>
              <a:gd name="T6" fmla="*/ 282257522 w 112"/>
              <a:gd name="T7" fmla="*/ 0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112"/>
              <a:gd name="T13" fmla="*/ 0 h 480"/>
              <a:gd name="T14" fmla="*/ 112 w 112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" h="480">
                <a:moveTo>
                  <a:pt x="112" y="480"/>
                </a:moveTo>
                <a:cubicBezTo>
                  <a:pt x="72" y="436"/>
                  <a:pt x="32" y="392"/>
                  <a:pt x="16" y="336"/>
                </a:cubicBezTo>
                <a:cubicBezTo>
                  <a:pt x="0" y="280"/>
                  <a:pt x="0" y="200"/>
                  <a:pt x="16" y="144"/>
                </a:cubicBezTo>
                <a:cubicBezTo>
                  <a:pt x="32" y="88"/>
                  <a:pt x="72" y="44"/>
                  <a:pt x="11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74" name="Text Box 30"/>
          <p:cNvSpPr txBox="1">
            <a:spLocks noChangeArrowheads="1"/>
          </p:cNvSpPr>
          <p:nvPr/>
        </p:nvSpPr>
        <p:spPr bwMode="auto">
          <a:xfrm>
            <a:off x="2133600" y="33528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82975" name="Freeform 31"/>
          <p:cNvSpPr>
            <a:spLocks/>
          </p:cNvSpPr>
          <p:nvPr/>
        </p:nvSpPr>
        <p:spPr bwMode="auto">
          <a:xfrm>
            <a:off x="2286000" y="5029200"/>
            <a:ext cx="330200" cy="762000"/>
          </a:xfrm>
          <a:custGeom>
            <a:avLst/>
            <a:gdLst>
              <a:gd name="T0" fmla="*/ 483870056 w 208"/>
              <a:gd name="T1" fmla="*/ 1209675089 h 480"/>
              <a:gd name="T2" fmla="*/ 0 w 208"/>
              <a:gd name="T3" fmla="*/ 604837545 h 480"/>
              <a:gd name="T4" fmla="*/ 483870056 w 208"/>
              <a:gd name="T5" fmla="*/ 0 h 480"/>
              <a:gd name="T6" fmla="*/ 0 60000 65536"/>
              <a:gd name="T7" fmla="*/ 0 60000 65536"/>
              <a:gd name="T8" fmla="*/ 0 60000 65536"/>
              <a:gd name="T9" fmla="*/ 0 w 208"/>
              <a:gd name="T10" fmla="*/ 0 h 480"/>
              <a:gd name="T11" fmla="*/ 208 w 208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8" h="480">
                <a:moveTo>
                  <a:pt x="192" y="480"/>
                </a:moveTo>
                <a:cubicBezTo>
                  <a:pt x="96" y="400"/>
                  <a:pt x="0" y="320"/>
                  <a:pt x="0" y="240"/>
                </a:cubicBezTo>
                <a:cubicBezTo>
                  <a:pt x="0" y="160"/>
                  <a:pt x="208" y="40"/>
                  <a:pt x="19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76" name="Text Box 32"/>
          <p:cNvSpPr txBox="1">
            <a:spLocks noChangeArrowheads="1"/>
          </p:cNvSpPr>
          <p:nvPr/>
        </p:nvSpPr>
        <p:spPr bwMode="auto">
          <a:xfrm>
            <a:off x="2057400" y="51816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82977" name="Line 33"/>
          <p:cNvSpPr>
            <a:spLocks noChangeShapeType="1"/>
          </p:cNvSpPr>
          <p:nvPr/>
        </p:nvSpPr>
        <p:spPr bwMode="auto">
          <a:xfrm flipH="1">
            <a:off x="1600200" y="4572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78" name="Text Box 34"/>
          <p:cNvSpPr txBox="1">
            <a:spLocks noChangeArrowheads="1"/>
          </p:cNvSpPr>
          <p:nvPr/>
        </p:nvSpPr>
        <p:spPr bwMode="auto">
          <a:xfrm>
            <a:off x="1905000" y="4267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82979" name="Line 35"/>
          <p:cNvSpPr>
            <a:spLocks noChangeShapeType="1"/>
          </p:cNvSpPr>
          <p:nvPr/>
        </p:nvSpPr>
        <p:spPr bwMode="auto">
          <a:xfrm>
            <a:off x="5867400" y="1524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80" name="Text Box 36"/>
          <p:cNvSpPr txBox="1">
            <a:spLocks noChangeArrowheads="1"/>
          </p:cNvSpPr>
          <p:nvPr/>
        </p:nvSpPr>
        <p:spPr bwMode="auto">
          <a:xfrm>
            <a:off x="6096000" y="1143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82981" name="Text Box 37"/>
          <p:cNvSpPr txBox="1">
            <a:spLocks noChangeArrowheads="1"/>
          </p:cNvSpPr>
          <p:nvPr/>
        </p:nvSpPr>
        <p:spPr bwMode="auto">
          <a:xfrm>
            <a:off x="6858000" y="11430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9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E→E+T.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T→T.*F</a:t>
            </a:r>
          </a:p>
        </p:txBody>
      </p:sp>
      <p:sp>
        <p:nvSpPr>
          <p:cNvPr id="82982" name="Freeform 38"/>
          <p:cNvSpPr>
            <a:spLocks/>
          </p:cNvSpPr>
          <p:nvPr/>
        </p:nvSpPr>
        <p:spPr bwMode="auto">
          <a:xfrm>
            <a:off x="3810000" y="838200"/>
            <a:ext cx="838200" cy="2057400"/>
          </a:xfrm>
          <a:custGeom>
            <a:avLst/>
            <a:gdLst>
              <a:gd name="T0" fmla="*/ 1330642282 w 528"/>
              <a:gd name="T1" fmla="*/ 0 h 1296"/>
              <a:gd name="T2" fmla="*/ 846772505 w 528"/>
              <a:gd name="T3" fmla="*/ 604837471 h 1296"/>
              <a:gd name="T4" fmla="*/ 362902431 w 528"/>
              <a:gd name="T5" fmla="*/ 2147483647 h 1296"/>
              <a:gd name="T6" fmla="*/ 0 w 528"/>
              <a:gd name="T7" fmla="*/ 2147483647 h 1296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1296"/>
              <a:gd name="T14" fmla="*/ 528 w 528"/>
              <a:gd name="T15" fmla="*/ 1296 h 12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1296">
                <a:moveTo>
                  <a:pt x="528" y="0"/>
                </a:moveTo>
                <a:cubicBezTo>
                  <a:pt x="464" y="36"/>
                  <a:pt x="400" y="72"/>
                  <a:pt x="336" y="240"/>
                </a:cubicBezTo>
                <a:cubicBezTo>
                  <a:pt x="272" y="408"/>
                  <a:pt x="200" y="832"/>
                  <a:pt x="144" y="1008"/>
                </a:cubicBezTo>
                <a:cubicBezTo>
                  <a:pt x="88" y="1184"/>
                  <a:pt x="44" y="1240"/>
                  <a:pt x="0" y="129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83" name="Text Box 39"/>
          <p:cNvSpPr txBox="1">
            <a:spLocks noChangeArrowheads="1"/>
          </p:cNvSpPr>
          <p:nvPr/>
        </p:nvSpPr>
        <p:spPr bwMode="auto">
          <a:xfrm>
            <a:off x="4038600" y="1143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82984" name="Freeform 40"/>
          <p:cNvSpPr>
            <a:spLocks/>
          </p:cNvSpPr>
          <p:nvPr/>
        </p:nvSpPr>
        <p:spPr bwMode="auto">
          <a:xfrm>
            <a:off x="3810000" y="1219200"/>
            <a:ext cx="838200" cy="2819400"/>
          </a:xfrm>
          <a:custGeom>
            <a:avLst/>
            <a:gdLst>
              <a:gd name="T0" fmla="*/ 1330642282 w 528"/>
              <a:gd name="T1" fmla="*/ 0 h 1488"/>
              <a:gd name="T2" fmla="*/ 1088707393 w 528"/>
              <a:gd name="T3" fmla="*/ 1033950663 h 1488"/>
              <a:gd name="T4" fmla="*/ 604837419 w 528"/>
              <a:gd name="T5" fmla="*/ 2147483647 h 1488"/>
              <a:gd name="T6" fmla="*/ 0 w 528"/>
              <a:gd name="T7" fmla="*/ 2147483647 h 1488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1488"/>
              <a:gd name="T14" fmla="*/ 528 w 528"/>
              <a:gd name="T15" fmla="*/ 1488 h 1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1488">
                <a:moveTo>
                  <a:pt x="528" y="0"/>
                </a:moveTo>
                <a:cubicBezTo>
                  <a:pt x="504" y="48"/>
                  <a:pt x="480" y="96"/>
                  <a:pt x="432" y="288"/>
                </a:cubicBezTo>
                <a:cubicBezTo>
                  <a:pt x="384" y="480"/>
                  <a:pt x="312" y="952"/>
                  <a:pt x="240" y="1152"/>
                </a:cubicBezTo>
                <a:cubicBezTo>
                  <a:pt x="168" y="1352"/>
                  <a:pt x="84" y="1420"/>
                  <a:pt x="0" y="14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85" name="Text Box 41"/>
          <p:cNvSpPr txBox="1">
            <a:spLocks noChangeArrowheads="1"/>
          </p:cNvSpPr>
          <p:nvPr/>
        </p:nvSpPr>
        <p:spPr bwMode="auto">
          <a:xfrm>
            <a:off x="4295775" y="1447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82986" name="Text Box 42"/>
          <p:cNvSpPr txBox="1">
            <a:spLocks noChangeArrowheads="1"/>
          </p:cNvSpPr>
          <p:nvPr/>
        </p:nvSpPr>
        <p:spPr bwMode="auto">
          <a:xfrm>
            <a:off x="914400" y="5410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82987" name="Line 43"/>
          <p:cNvSpPr>
            <a:spLocks noChangeShapeType="1"/>
          </p:cNvSpPr>
          <p:nvPr/>
        </p:nvSpPr>
        <p:spPr bwMode="auto">
          <a:xfrm>
            <a:off x="5867400" y="28956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88" name="Text Box 44"/>
          <p:cNvSpPr txBox="1">
            <a:spLocks noChangeArrowheads="1"/>
          </p:cNvSpPr>
          <p:nvPr/>
        </p:nvSpPr>
        <p:spPr bwMode="auto">
          <a:xfrm>
            <a:off x="6172200" y="2590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82989" name="Text Box 45"/>
          <p:cNvSpPr txBox="1">
            <a:spLocks noChangeArrowheads="1"/>
          </p:cNvSpPr>
          <p:nvPr/>
        </p:nvSpPr>
        <p:spPr bwMode="auto">
          <a:xfrm>
            <a:off x="6858000" y="23622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10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T→T*F.</a:t>
            </a:r>
          </a:p>
        </p:txBody>
      </p:sp>
      <p:sp>
        <p:nvSpPr>
          <p:cNvPr id="82990" name="Text Box 46"/>
          <p:cNvSpPr txBox="1">
            <a:spLocks noChangeArrowheads="1"/>
          </p:cNvSpPr>
          <p:nvPr/>
        </p:nvSpPr>
        <p:spPr bwMode="auto">
          <a:xfrm>
            <a:off x="4343400" y="4648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82991" name="Text Box 47"/>
          <p:cNvSpPr txBox="1">
            <a:spLocks noChangeArrowheads="1"/>
          </p:cNvSpPr>
          <p:nvPr/>
        </p:nvSpPr>
        <p:spPr bwMode="auto">
          <a:xfrm>
            <a:off x="7391400" y="48910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b="1">
                <a:latin typeface="Times New Roman" pitchFamily="18" charset="0"/>
              </a:rPr>
              <a:t>)</a:t>
            </a:r>
          </a:p>
        </p:txBody>
      </p:sp>
      <p:sp>
        <p:nvSpPr>
          <p:cNvPr id="82992" name="Text Box 48"/>
          <p:cNvSpPr txBox="1">
            <a:spLocks noChangeArrowheads="1"/>
          </p:cNvSpPr>
          <p:nvPr/>
        </p:nvSpPr>
        <p:spPr bwMode="auto">
          <a:xfrm>
            <a:off x="6934200" y="54864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11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F→(E).</a:t>
            </a:r>
            <a:endParaRPr kumimoji="1" lang="en-US" altLang="zh-CN" sz="2000" b="1">
              <a:solidFill>
                <a:schemeClr val="hlink"/>
              </a:solidFill>
              <a:latin typeface="Times New Roman" pitchFamily="18" charset="0"/>
            </a:endParaRPr>
          </a:p>
        </p:txBody>
      </p:sp>
      <p:sp>
        <p:nvSpPr>
          <p:cNvPr id="82993" name="Text Box 49"/>
          <p:cNvSpPr txBox="1">
            <a:spLocks noChangeArrowheads="1"/>
          </p:cNvSpPr>
          <p:nvPr/>
        </p:nvSpPr>
        <p:spPr bwMode="auto">
          <a:xfrm>
            <a:off x="7924800" y="533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+</a:t>
            </a:r>
          </a:p>
        </p:txBody>
      </p:sp>
      <p:sp>
        <p:nvSpPr>
          <p:cNvPr id="82994" name="Line 50"/>
          <p:cNvSpPr>
            <a:spLocks noChangeShapeType="1"/>
          </p:cNvSpPr>
          <p:nvPr/>
        </p:nvSpPr>
        <p:spPr bwMode="auto">
          <a:xfrm flipH="1">
            <a:off x="5867400" y="1981200"/>
            <a:ext cx="9906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95" name="Text Box 51"/>
          <p:cNvSpPr txBox="1">
            <a:spLocks noChangeArrowheads="1"/>
          </p:cNvSpPr>
          <p:nvPr/>
        </p:nvSpPr>
        <p:spPr bwMode="auto">
          <a:xfrm>
            <a:off x="63246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*</a:t>
            </a:r>
          </a:p>
        </p:txBody>
      </p:sp>
      <p:sp>
        <p:nvSpPr>
          <p:cNvPr id="82996" name="Freeform 52"/>
          <p:cNvSpPr>
            <a:spLocks/>
          </p:cNvSpPr>
          <p:nvPr/>
        </p:nvSpPr>
        <p:spPr bwMode="auto">
          <a:xfrm>
            <a:off x="5867400" y="685800"/>
            <a:ext cx="2743200" cy="3429000"/>
          </a:xfrm>
          <a:custGeom>
            <a:avLst/>
            <a:gdLst>
              <a:gd name="T0" fmla="*/ 2147483647 w 1712"/>
              <a:gd name="T1" fmla="*/ 2147483647 h 2352"/>
              <a:gd name="T2" fmla="*/ 2147483647 w 1712"/>
              <a:gd name="T3" fmla="*/ 2147483647 h 2352"/>
              <a:gd name="T4" fmla="*/ 2147483647 w 1712"/>
              <a:gd name="T5" fmla="*/ 1428332810 h 2352"/>
              <a:gd name="T6" fmla="*/ 2147483647 w 1712"/>
              <a:gd name="T7" fmla="*/ 408094750 h 2352"/>
              <a:gd name="T8" fmla="*/ 2147483647 w 1712"/>
              <a:gd name="T9" fmla="*/ 102024416 h 2352"/>
              <a:gd name="T10" fmla="*/ 0 w 1712"/>
              <a:gd name="T11" fmla="*/ 0 h 23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12"/>
              <a:gd name="T19" fmla="*/ 0 h 2352"/>
              <a:gd name="T20" fmla="*/ 1712 w 1712"/>
              <a:gd name="T21" fmla="*/ 2352 h 23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12" h="2352">
                <a:moveTo>
                  <a:pt x="1440" y="2352"/>
                </a:moveTo>
                <a:cubicBezTo>
                  <a:pt x="1516" y="2060"/>
                  <a:pt x="1592" y="1768"/>
                  <a:pt x="1632" y="1488"/>
                </a:cubicBezTo>
                <a:cubicBezTo>
                  <a:pt x="1672" y="1208"/>
                  <a:pt x="1712" y="888"/>
                  <a:pt x="1680" y="672"/>
                </a:cubicBezTo>
                <a:cubicBezTo>
                  <a:pt x="1648" y="456"/>
                  <a:pt x="1536" y="296"/>
                  <a:pt x="1440" y="192"/>
                </a:cubicBezTo>
                <a:cubicBezTo>
                  <a:pt x="1344" y="88"/>
                  <a:pt x="1344" y="80"/>
                  <a:pt x="1104" y="48"/>
                </a:cubicBezTo>
                <a:cubicBezTo>
                  <a:pt x="864" y="16"/>
                  <a:pt x="152" y="0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97" name="Line 53"/>
          <p:cNvSpPr>
            <a:spLocks noChangeShapeType="1"/>
          </p:cNvSpPr>
          <p:nvPr/>
        </p:nvSpPr>
        <p:spPr bwMode="auto">
          <a:xfrm>
            <a:off x="7620000" y="47244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98" name="Freeform 54"/>
          <p:cNvSpPr>
            <a:spLocks/>
          </p:cNvSpPr>
          <p:nvPr/>
        </p:nvSpPr>
        <p:spPr bwMode="auto">
          <a:xfrm>
            <a:off x="3810000" y="3657600"/>
            <a:ext cx="1016000" cy="1752600"/>
          </a:xfrm>
          <a:custGeom>
            <a:avLst/>
            <a:gdLst>
              <a:gd name="T0" fmla="*/ 1572577297 w 640"/>
              <a:gd name="T1" fmla="*/ 0 h 1104"/>
              <a:gd name="T2" fmla="*/ 1572577297 w 640"/>
              <a:gd name="T3" fmla="*/ 967739969 h 1104"/>
              <a:gd name="T4" fmla="*/ 1330642389 w 640"/>
              <a:gd name="T5" fmla="*/ 1451609755 h 1104"/>
              <a:gd name="T6" fmla="*/ 0 w 640"/>
              <a:gd name="T7" fmla="*/ 2147483647 h 1104"/>
              <a:gd name="T8" fmla="*/ 0 60000 65536"/>
              <a:gd name="T9" fmla="*/ 0 60000 65536"/>
              <a:gd name="T10" fmla="*/ 0 60000 65536"/>
              <a:gd name="T11" fmla="*/ 0 60000 65536"/>
              <a:gd name="T12" fmla="*/ 0 w 640"/>
              <a:gd name="T13" fmla="*/ 0 h 1104"/>
              <a:gd name="T14" fmla="*/ 640 w 640"/>
              <a:gd name="T15" fmla="*/ 1104 h 11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0" h="1104">
                <a:moveTo>
                  <a:pt x="624" y="0"/>
                </a:moveTo>
                <a:cubicBezTo>
                  <a:pt x="632" y="144"/>
                  <a:pt x="640" y="288"/>
                  <a:pt x="624" y="384"/>
                </a:cubicBezTo>
                <a:cubicBezTo>
                  <a:pt x="608" y="480"/>
                  <a:pt x="632" y="456"/>
                  <a:pt x="528" y="576"/>
                </a:cubicBezTo>
                <a:cubicBezTo>
                  <a:pt x="424" y="696"/>
                  <a:pt x="212" y="900"/>
                  <a:pt x="0" y="110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99" name="Freeform 55"/>
          <p:cNvSpPr>
            <a:spLocks/>
          </p:cNvSpPr>
          <p:nvPr/>
        </p:nvSpPr>
        <p:spPr bwMode="auto">
          <a:xfrm>
            <a:off x="990600" y="3657600"/>
            <a:ext cx="4622800" cy="2794000"/>
          </a:xfrm>
          <a:custGeom>
            <a:avLst/>
            <a:gdLst>
              <a:gd name="T0" fmla="*/ 2147483647 w 2912"/>
              <a:gd name="T1" fmla="*/ 0 h 1760"/>
              <a:gd name="T2" fmla="*/ 2147483647 w 2912"/>
              <a:gd name="T3" fmla="*/ 2056447723 h 1760"/>
              <a:gd name="T4" fmla="*/ 2147483647 w 2912"/>
              <a:gd name="T5" fmla="*/ 2147483647 h 1760"/>
              <a:gd name="T6" fmla="*/ 2147483647 w 2912"/>
              <a:gd name="T7" fmla="*/ 2147483647 h 1760"/>
              <a:gd name="T8" fmla="*/ 2056447604 w 2912"/>
              <a:gd name="T9" fmla="*/ 2147483647 h 1760"/>
              <a:gd name="T10" fmla="*/ 1209674991 w 2912"/>
              <a:gd name="T11" fmla="*/ 2147483647 h 1760"/>
              <a:gd name="T12" fmla="*/ 362902478 w 2912"/>
              <a:gd name="T13" fmla="*/ 2147483647 h 1760"/>
              <a:gd name="T14" fmla="*/ 0 w 2912"/>
              <a:gd name="T15" fmla="*/ 1935480257 h 17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912"/>
              <a:gd name="T25" fmla="*/ 0 h 1760"/>
              <a:gd name="T26" fmla="*/ 2912 w 2912"/>
              <a:gd name="T27" fmla="*/ 1760 h 17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912" h="1760">
                <a:moveTo>
                  <a:pt x="2880" y="0"/>
                </a:moveTo>
                <a:cubicBezTo>
                  <a:pt x="2896" y="280"/>
                  <a:pt x="2912" y="560"/>
                  <a:pt x="2832" y="816"/>
                </a:cubicBezTo>
                <a:cubicBezTo>
                  <a:pt x="2752" y="1072"/>
                  <a:pt x="2544" y="1384"/>
                  <a:pt x="2400" y="1536"/>
                </a:cubicBezTo>
                <a:cubicBezTo>
                  <a:pt x="2256" y="1688"/>
                  <a:pt x="2232" y="1696"/>
                  <a:pt x="1968" y="1728"/>
                </a:cubicBezTo>
                <a:cubicBezTo>
                  <a:pt x="1704" y="1760"/>
                  <a:pt x="1064" y="1752"/>
                  <a:pt x="816" y="1728"/>
                </a:cubicBezTo>
                <a:cubicBezTo>
                  <a:pt x="568" y="1704"/>
                  <a:pt x="592" y="1672"/>
                  <a:pt x="480" y="1584"/>
                </a:cubicBezTo>
                <a:cubicBezTo>
                  <a:pt x="368" y="1496"/>
                  <a:pt x="224" y="1336"/>
                  <a:pt x="144" y="1200"/>
                </a:cubicBezTo>
                <a:cubicBezTo>
                  <a:pt x="64" y="1064"/>
                  <a:pt x="8" y="856"/>
                  <a:pt x="0" y="7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00" name="Text Box 56"/>
          <p:cNvSpPr txBox="1">
            <a:spLocks noChangeArrowheads="1"/>
          </p:cNvSpPr>
          <p:nvPr/>
        </p:nvSpPr>
        <p:spPr bwMode="auto">
          <a:xfrm>
            <a:off x="6629400" y="76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83001" name="Freeform 57"/>
          <p:cNvSpPr>
            <a:spLocks/>
          </p:cNvSpPr>
          <p:nvPr/>
        </p:nvSpPr>
        <p:spPr bwMode="auto">
          <a:xfrm>
            <a:off x="520700" y="444500"/>
            <a:ext cx="8572500" cy="6248400"/>
          </a:xfrm>
          <a:custGeom>
            <a:avLst/>
            <a:gdLst>
              <a:gd name="T0" fmla="*/ 2147483647 w 5400"/>
              <a:gd name="T1" fmla="*/ 20161251 h 3936"/>
              <a:gd name="T2" fmla="*/ 2147483647 w 5400"/>
              <a:gd name="T3" fmla="*/ 20161251 h 3936"/>
              <a:gd name="T4" fmla="*/ 2147483647 w 5400"/>
              <a:gd name="T5" fmla="*/ 141128765 h 3936"/>
              <a:gd name="T6" fmla="*/ 2147483647 w 5400"/>
              <a:gd name="T7" fmla="*/ 504031323 h 3936"/>
              <a:gd name="T8" fmla="*/ 2147483647 w 5400"/>
              <a:gd name="T9" fmla="*/ 987901402 h 3936"/>
              <a:gd name="T10" fmla="*/ 2147483647 w 5400"/>
              <a:gd name="T11" fmla="*/ 1834674089 h 3936"/>
              <a:gd name="T12" fmla="*/ 2147483647 w 5400"/>
              <a:gd name="T13" fmla="*/ 2147483647 h 3936"/>
              <a:gd name="T14" fmla="*/ 2147483647 w 5400"/>
              <a:gd name="T15" fmla="*/ 2147483647 h 3936"/>
              <a:gd name="T16" fmla="*/ 2147483647 w 5400"/>
              <a:gd name="T17" fmla="*/ 2147483647 h 3936"/>
              <a:gd name="T18" fmla="*/ 383063711 w 5400"/>
              <a:gd name="T19" fmla="*/ 2147483647 h 3936"/>
              <a:gd name="T20" fmla="*/ 20161249 w 5400"/>
              <a:gd name="T21" fmla="*/ 2147483647 h 39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400"/>
              <a:gd name="T34" fmla="*/ 0 h 3936"/>
              <a:gd name="T35" fmla="*/ 5400 w 5400"/>
              <a:gd name="T36" fmla="*/ 3936 h 39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400" h="3936">
                <a:moveTo>
                  <a:pt x="3368" y="8"/>
                </a:moveTo>
                <a:cubicBezTo>
                  <a:pt x="3884" y="4"/>
                  <a:pt x="4400" y="0"/>
                  <a:pt x="4664" y="8"/>
                </a:cubicBezTo>
                <a:cubicBezTo>
                  <a:pt x="4928" y="16"/>
                  <a:pt x="4880" y="24"/>
                  <a:pt x="4952" y="56"/>
                </a:cubicBezTo>
                <a:cubicBezTo>
                  <a:pt x="5024" y="88"/>
                  <a:pt x="5056" y="144"/>
                  <a:pt x="5096" y="200"/>
                </a:cubicBezTo>
                <a:cubicBezTo>
                  <a:pt x="5136" y="256"/>
                  <a:pt x="5168" y="304"/>
                  <a:pt x="5192" y="392"/>
                </a:cubicBezTo>
                <a:cubicBezTo>
                  <a:pt x="5216" y="480"/>
                  <a:pt x="5232" y="224"/>
                  <a:pt x="5240" y="728"/>
                </a:cubicBezTo>
                <a:cubicBezTo>
                  <a:pt x="5248" y="1232"/>
                  <a:pt x="5400" y="2896"/>
                  <a:pt x="5240" y="3416"/>
                </a:cubicBezTo>
                <a:cubicBezTo>
                  <a:pt x="5080" y="3936"/>
                  <a:pt x="5000" y="3776"/>
                  <a:pt x="4280" y="3848"/>
                </a:cubicBezTo>
                <a:cubicBezTo>
                  <a:pt x="3560" y="3920"/>
                  <a:pt x="1608" y="3904"/>
                  <a:pt x="920" y="3848"/>
                </a:cubicBezTo>
                <a:cubicBezTo>
                  <a:pt x="232" y="3792"/>
                  <a:pt x="304" y="3688"/>
                  <a:pt x="152" y="3512"/>
                </a:cubicBezTo>
                <a:cubicBezTo>
                  <a:pt x="0" y="3336"/>
                  <a:pt x="24" y="2904"/>
                  <a:pt x="8" y="279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003" name="AutoShape 59"/>
          <p:cNvSpPr>
            <a:spLocks noChangeArrowheads="1"/>
          </p:cNvSpPr>
          <p:nvPr/>
        </p:nvSpPr>
        <p:spPr bwMode="auto">
          <a:xfrm>
            <a:off x="3851275" y="5229225"/>
            <a:ext cx="1728788" cy="1225550"/>
          </a:xfrm>
          <a:prstGeom prst="wedgeRoundRectCallout">
            <a:avLst>
              <a:gd name="adj1" fmla="val -51560"/>
              <a:gd name="adj2" fmla="val -89898"/>
              <a:gd name="adj3" fmla="val 16667"/>
            </a:avLst>
          </a:prstGeom>
          <a:solidFill>
            <a:srgbClr val="0066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ea typeface="华文新魏" pitchFamily="2" charset="-122"/>
              </a:rPr>
              <a:t>项目集闭包</a:t>
            </a:r>
          </a:p>
        </p:txBody>
      </p:sp>
      <p:sp>
        <p:nvSpPr>
          <p:cNvPr id="100412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C6FA2AD9-DC5C-4E33-BE5F-9B2027748E38}" type="slidenum">
              <a:rPr lang="en-US" altLang="zh-CN" sz="1400"/>
              <a:pPr algn="r" eaLnBrk="1" hangingPunct="1"/>
              <a:t>74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-26988"/>
            <a:ext cx="7924800" cy="762001"/>
          </a:xfrm>
        </p:spPr>
        <p:txBody>
          <a:bodyPr/>
          <a:lstStyle/>
          <a:p>
            <a:pPr eaLnBrk="1" hangingPunct="1"/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七、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分析表的构造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闭包之间的转移</a:t>
            </a:r>
          </a:p>
        </p:txBody>
      </p:sp>
      <p:sp>
        <p:nvSpPr>
          <p:cNvPr id="175107" name="Rectangle 3"/>
          <p:cNvSpPr>
            <a:spLocks noGrp="1" noChangeArrowheads="1"/>
          </p:cNvSpPr>
          <p:nvPr>
            <p:ph idx="1"/>
          </p:nvPr>
        </p:nvSpPr>
        <p:spPr>
          <a:xfrm>
            <a:off x="755650" y="692150"/>
            <a:ext cx="7632700" cy="1008063"/>
          </a:xfrm>
          <a:solidFill>
            <a:srgbClr val="006666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Tx/>
            </a:pPr>
            <a:r>
              <a:rPr lang="zh-CN" altLang="en-US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后继项目</a:t>
            </a:r>
            <a:r>
              <a:rPr lang="en-US" altLang="zh-CN" b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(Successive Item)</a:t>
            </a: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>
                <a:schemeClr val="bg1"/>
              </a:buClr>
              <a:buSzTx/>
            </a:pPr>
            <a:r>
              <a:rPr lang="en-US" altLang="zh-CN" sz="3200" b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A→α.Xβ</a:t>
            </a:r>
            <a:r>
              <a:rPr lang="zh-CN" altLang="en-US" sz="3200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的后继项目是</a:t>
            </a:r>
            <a:r>
              <a:rPr lang="en-US" altLang="zh-CN" sz="3200" b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A→αX.β</a:t>
            </a:r>
            <a:endParaRPr lang="en-US" altLang="zh-CN" b="1" smtClean="0">
              <a:solidFill>
                <a:schemeClr val="bg1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grpSp>
        <p:nvGrpSpPr>
          <p:cNvPr id="101380" name="Group 4"/>
          <p:cNvGrpSpPr>
            <a:grpSpLocks/>
          </p:cNvGrpSpPr>
          <p:nvPr/>
        </p:nvGrpSpPr>
        <p:grpSpPr bwMode="auto">
          <a:xfrm>
            <a:off x="395288" y="1844675"/>
            <a:ext cx="7921625" cy="4772025"/>
            <a:chOff x="249" y="1310"/>
            <a:chExt cx="5031" cy="2858"/>
          </a:xfrm>
        </p:grpSpPr>
        <p:sp>
          <p:nvSpPr>
            <p:cNvPr id="175109" name="Rectangle 5"/>
            <p:cNvSpPr>
              <a:spLocks noChangeArrowheads="1"/>
            </p:cNvSpPr>
            <p:nvPr/>
          </p:nvSpPr>
          <p:spPr bwMode="auto">
            <a:xfrm>
              <a:off x="2688" y="1310"/>
              <a:ext cx="816" cy="362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1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lang="en-US" altLang="zh-CN" sz="2000" b="1">
                  <a:solidFill>
                    <a:schemeClr val="hlink"/>
                  </a:solidFill>
                  <a:latin typeface="Times New Roman" pitchFamily="18" charset="0"/>
                </a:rPr>
                <a:t>S</a:t>
              </a:r>
              <a:r>
                <a:rPr lang="en-US" altLang="zh-CN" b="1">
                  <a:solidFill>
                    <a:schemeClr val="hlink"/>
                  </a:solidFill>
                </a:rPr>
                <a:t>'</a:t>
              </a:r>
              <a:r>
                <a:rPr lang="en-US" altLang="zh-CN" sz="2000" b="1">
                  <a:solidFill>
                    <a:schemeClr val="hlink"/>
                  </a:solidFill>
                  <a:latin typeface="Times New Roman" pitchFamily="18" charset="0"/>
                </a:rPr>
                <a:t>→S.</a:t>
              </a:r>
            </a:p>
          </p:txBody>
        </p:sp>
        <p:sp>
          <p:nvSpPr>
            <p:cNvPr id="101384" name="Line 6"/>
            <p:cNvSpPr>
              <a:spLocks noChangeShapeType="1"/>
            </p:cNvSpPr>
            <p:nvPr/>
          </p:nvSpPr>
          <p:spPr bwMode="auto">
            <a:xfrm>
              <a:off x="1248" y="1527"/>
              <a:ext cx="144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85" name="Text Box 7"/>
            <p:cNvSpPr txBox="1">
              <a:spLocks noChangeArrowheads="1"/>
            </p:cNvSpPr>
            <p:nvPr/>
          </p:nvSpPr>
          <p:spPr bwMode="auto">
            <a:xfrm>
              <a:off x="1440" y="1346"/>
              <a:ext cx="336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S</a:t>
              </a:r>
            </a:p>
          </p:txBody>
        </p:sp>
        <p:sp>
          <p:nvSpPr>
            <p:cNvPr id="101386" name="Line 8"/>
            <p:cNvSpPr>
              <a:spLocks noChangeShapeType="1"/>
            </p:cNvSpPr>
            <p:nvPr/>
          </p:nvSpPr>
          <p:spPr bwMode="auto">
            <a:xfrm>
              <a:off x="1248" y="2034"/>
              <a:ext cx="1392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87" name="Text Box 9"/>
            <p:cNvSpPr txBox="1">
              <a:spLocks noChangeArrowheads="1"/>
            </p:cNvSpPr>
            <p:nvPr/>
          </p:nvSpPr>
          <p:spPr bwMode="auto">
            <a:xfrm>
              <a:off x="1440" y="1853"/>
              <a:ext cx="336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75114" name="Rectangle 10"/>
            <p:cNvSpPr>
              <a:spLocks noChangeArrowheads="1"/>
            </p:cNvSpPr>
            <p:nvPr/>
          </p:nvSpPr>
          <p:spPr bwMode="auto">
            <a:xfrm>
              <a:off x="2688" y="1925"/>
              <a:ext cx="816" cy="760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1" baseline="-2500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宋体" charset="-122"/>
                </a:rPr>
                <a:t>2</a:t>
              </a:r>
              <a:r>
                <a:rPr kumimoji="1" lang="en-US" altLang="zh-CN" sz="2000" b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宋体" charset="-122"/>
                </a:rPr>
                <a:t>: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宋体" charset="-122"/>
                </a:rPr>
                <a:t>S→B.B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宋体" charset="-122"/>
                </a:rPr>
                <a:t>B→.aB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宋体" charset="-122"/>
                </a:rPr>
                <a:t>B→.b</a:t>
              </a:r>
              <a:r>
                <a:rPr kumimoji="1" lang="en-US" altLang="zh-CN" sz="2000" b="1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宋体" charset="-122"/>
                </a:rPr>
                <a:t>	</a:t>
              </a:r>
              <a:endParaRPr kumimoji="1" lang="en-US" altLang="zh-CN" sz="2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1389" name="Freeform 11"/>
            <p:cNvSpPr>
              <a:spLocks/>
            </p:cNvSpPr>
            <p:nvPr/>
          </p:nvSpPr>
          <p:spPr bwMode="auto">
            <a:xfrm>
              <a:off x="624" y="2359"/>
              <a:ext cx="2112" cy="1483"/>
            </a:xfrm>
            <a:custGeom>
              <a:avLst/>
              <a:gdLst>
                <a:gd name="T0" fmla="*/ 0 w 816"/>
                <a:gd name="T1" fmla="*/ 0 h 1344"/>
                <a:gd name="T2" fmla="*/ 321 w 816"/>
                <a:gd name="T3" fmla="*/ 993 h 1344"/>
                <a:gd name="T4" fmla="*/ 1928 w 816"/>
                <a:gd name="T5" fmla="*/ 1402 h 1344"/>
                <a:gd name="T6" fmla="*/ 5466 w 816"/>
                <a:gd name="T7" fmla="*/ 1636 h 13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6"/>
                <a:gd name="T13" fmla="*/ 0 h 1344"/>
                <a:gd name="T14" fmla="*/ 816 w 816"/>
                <a:gd name="T15" fmla="*/ 1344 h 13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6" h="1344">
                  <a:moveTo>
                    <a:pt x="0" y="0"/>
                  </a:moveTo>
                  <a:cubicBezTo>
                    <a:pt x="0" y="312"/>
                    <a:pt x="0" y="624"/>
                    <a:pt x="48" y="816"/>
                  </a:cubicBezTo>
                  <a:cubicBezTo>
                    <a:pt x="96" y="1008"/>
                    <a:pt x="160" y="1064"/>
                    <a:pt x="288" y="1152"/>
                  </a:cubicBezTo>
                  <a:cubicBezTo>
                    <a:pt x="416" y="1240"/>
                    <a:pt x="720" y="1304"/>
                    <a:pt x="816" y="134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90" name="Text Box 12"/>
            <p:cNvSpPr txBox="1">
              <a:spLocks noChangeArrowheads="1"/>
            </p:cNvSpPr>
            <p:nvPr/>
          </p:nvSpPr>
          <p:spPr bwMode="auto">
            <a:xfrm>
              <a:off x="624" y="2757"/>
              <a:ext cx="28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75117" name="Rectangle 13"/>
            <p:cNvSpPr>
              <a:spLocks noChangeArrowheads="1"/>
            </p:cNvSpPr>
            <p:nvPr/>
          </p:nvSpPr>
          <p:spPr bwMode="auto">
            <a:xfrm>
              <a:off x="2736" y="3481"/>
              <a:ext cx="816" cy="687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宋体" charset="-122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宋体" charset="-122"/>
                </a:rPr>
                <a:t>3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宋体" charset="-122"/>
                </a:rPr>
                <a:t>:</a:t>
              </a:r>
            </a:p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宋体" charset="-122"/>
                </a:rPr>
                <a:t>B→a.B</a:t>
              </a:r>
            </a:p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宋体" charset="-122"/>
                </a:rPr>
                <a:t>B→.aB</a:t>
              </a:r>
            </a:p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宋体" charset="-122"/>
                </a:rPr>
                <a:t>B→.b	</a:t>
              </a:r>
              <a:endPara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1392" name="Freeform 14"/>
            <p:cNvSpPr>
              <a:spLocks/>
            </p:cNvSpPr>
            <p:nvPr/>
          </p:nvSpPr>
          <p:spPr bwMode="auto">
            <a:xfrm>
              <a:off x="960" y="2359"/>
              <a:ext cx="1728" cy="760"/>
            </a:xfrm>
            <a:custGeom>
              <a:avLst/>
              <a:gdLst>
                <a:gd name="T0" fmla="*/ 0 w 1680"/>
                <a:gd name="T1" fmla="*/ 0 h 1056"/>
                <a:gd name="T2" fmla="*/ 50 w 1680"/>
                <a:gd name="T3" fmla="*/ 323 h 1056"/>
                <a:gd name="T4" fmla="*/ 254 w 1680"/>
                <a:gd name="T5" fmla="*/ 448 h 1056"/>
                <a:gd name="T6" fmla="*/ 762 w 1680"/>
                <a:gd name="T7" fmla="*/ 522 h 1056"/>
                <a:gd name="T8" fmla="*/ 1777 w 1680"/>
                <a:gd name="T9" fmla="*/ 547 h 10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80"/>
                <a:gd name="T16" fmla="*/ 0 h 1056"/>
                <a:gd name="T17" fmla="*/ 1680 w 1680"/>
                <a:gd name="T18" fmla="*/ 1056 h 10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80" h="1056">
                  <a:moveTo>
                    <a:pt x="0" y="0"/>
                  </a:moveTo>
                  <a:cubicBezTo>
                    <a:pt x="4" y="240"/>
                    <a:pt x="8" y="480"/>
                    <a:pt x="48" y="624"/>
                  </a:cubicBezTo>
                  <a:cubicBezTo>
                    <a:pt x="88" y="768"/>
                    <a:pt x="128" y="800"/>
                    <a:pt x="240" y="864"/>
                  </a:cubicBezTo>
                  <a:cubicBezTo>
                    <a:pt x="352" y="928"/>
                    <a:pt x="480" y="976"/>
                    <a:pt x="720" y="1008"/>
                  </a:cubicBezTo>
                  <a:cubicBezTo>
                    <a:pt x="960" y="1040"/>
                    <a:pt x="1528" y="1056"/>
                    <a:pt x="1680" y="105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93" name="Text Box 15"/>
            <p:cNvSpPr txBox="1">
              <a:spLocks noChangeArrowheads="1"/>
            </p:cNvSpPr>
            <p:nvPr/>
          </p:nvSpPr>
          <p:spPr bwMode="auto">
            <a:xfrm>
              <a:off x="1056" y="2757"/>
              <a:ext cx="28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75120" name="Rectangle 16"/>
            <p:cNvSpPr>
              <a:spLocks noChangeArrowheads="1"/>
            </p:cNvSpPr>
            <p:nvPr/>
          </p:nvSpPr>
          <p:spPr bwMode="auto">
            <a:xfrm>
              <a:off x="2736" y="2902"/>
              <a:ext cx="816" cy="398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4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B→b.</a:t>
              </a:r>
              <a:r>
                <a:rPr kumimoji="1" lang="en-US" altLang="zh-CN" sz="2000" b="1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	</a:t>
              </a:r>
              <a:endPara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01395" name="Line 17"/>
            <p:cNvSpPr>
              <a:spLocks noChangeShapeType="1"/>
            </p:cNvSpPr>
            <p:nvPr/>
          </p:nvSpPr>
          <p:spPr bwMode="auto">
            <a:xfrm flipV="1">
              <a:off x="3504" y="1563"/>
              <a:ext cx="960" cy="4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96" name="Text Box 18"/>
            <p:cNvSpPr txBox="1">
              <a:spLocks noChangeArrowheads="1"/>
            </p:cNvSpPr>
            <p:nvPr/>
          </p:nvSpPr>
          <p:spPr bwMode="auto">
            <a:xfrm>
              <a:off x="3840" y="1563"/>
              <a:ext cx="336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75123" name="Rectangle 19"/>
            <p:cNvSpPr>
              <a:spLocks noChangeArrowheads="1"/>
            </p:cNvSpPr>
            <p:nvPr/>
          </p:nvSpPr>
          <p:spPr bwMode="auto">
            <a:xfrm>
              <a:off x="4464" y="1310"/>
              <a:ext cx="816" cy="362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5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S→BB.</a:t>
              </a:r>
            </a:p>
          </p:txBody>
        </p:sp>
        <p:sp>
          <p:nvSpPr>
            <p:cNvPr id="101398" name="Freeform 20"/>
            <p:cNvSpPr>
              <a:spLocks/>
            </p:cNvSpPr>
            <p:nvPr/>
          </p:nvSpPr>
          <p:spPr bwMode="auto">
            <a:xfrm>
              <a:off x="3504" y="2359"/>
              <a:ext cx="816" cy="1303"/>
            </a:xfrm>
            <a:custGeom>
              <a:avLst/>
              <a:gdLst>
                <a:gd name="T0" fmla="*/ 0 w 1424"/>
                <a:gd name="T1" fmla="*/ 0 h 1968"/>
                <a:gd name="T2" fmla="*/ 363 w 1424"/>
                <a:gd name="T3" fmla="*/ 189 h 1968"/>
                <a:gd name="T4" fmla="*/ 410 w 1424"/>
                <a:gd name="T5" fmla="*/ 547 h 1968"/>
                <a:gd name="T6" fmla="*/ 16 w 1424"/>
                <a:gd name="T7" fmla="*/ 863 h 19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24"/>
                <a:gd name="T13" fmla="*/ 0 h 1968"/>
                <a:gd name="T14" fmla="*/ 1424 w 1424"/>
                <a:gd name="T15" fmla="*/ 1968 h 19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24" h="1968">
                  <a:moveTo>
                    <a:pt x="0" y="0"/>
                  </a:moveTo>
                  <a:cubicBezTo>
                    <a:pt x="448" y="112"/>
                    <a:pt x="896" y="224"/>
                    <a:pt x="1104" y="432"/>
                  </a:cubicBezTo>
                  <a:cubicBezTo>
                    <a:pt x="1312" y="640"/>
                    <a:pt x="1424" y="992"/>
                    <a:pt x="1248" y="1248"/>
                  </a:cubicBezTo>
                  <a:cubicBezTo>
                    <a:pt x="1072" y="1504"/>
                    <a:pt x="248" y="1848"/>
                    <a:pt x="48" y="196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99" name="Text Box 21"/>
            <p:cNvSpPr txBox="1">
              <a:spLocks noChangeArrowheads="1"/>
            </p:cNvSpPr>
            <p:nvPr/>
          </p:nvSpPr>
          <p:spPr bwMode="auto">
            <a:xfrm>
              <a:off x="4272" y="2830"/>
              <a:ext cx="24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01400" name="Freeform 22"/>
            <p:cNvSpPr>
              <a:spLocks/>
            </p:cNvSpPr>
            <p:nvPr/>
          </p:nvSpPr>
          <p:spPr bwMode="auto">
            <a:xfrm>
              <a:off x="3504" y="2649"/>
              <a:ext cx="200" cy="325"/>
            </a:xfrm>
            <a:custGeom>
              <a:avLst/>
              <a:gdLst>
                <a:gd name="T0" fmla="*/ 0 w 200"/>
                <a:gd name="T1" fmla="*/ 0 h 432"/>
                <a:gd name="T2" fmla="*/ 192 w 200"/>
                <a:gd name="T3" fmla="*/ 108 h 432"/>
                <a:gd name="T4" fmla="*/ 48 w 200"/>
                <a:gd name="T5" fmla="*/ 245 h 432"/>
                <a:gd name="T6" fmla="*/ 0 60000 65536"/>
                <a:gd name="T7" fmla="*/ 0 60000 65536"/>
                <a:gd name="T8" fmla="*/ 0 60000 65536"/>
                <a:gd name="T9" fmla="*/ 0 w 200"/>
                <a:gd name="T10" fmla="*/ 0 h 432"/>
                <a:gd name="T11" fmla="*/ 200 w 200"/>
                <a:gd name="T12" fmla="*/ 432 h 4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" h="432">
                  <a:moveTo>
                    <a:pt x="0" y="0"/>
                  </a:moveTo>
                  <a:cubicBezTo>
                    <a:pt x="92" y="60"/>
                    <a:pt x="184" y="120"/>
                    <a:pt x="192" y="192"/>
                  </a:cubicBezTo>
                  <a:cubicBezTo>
                    <a:pt x="200" y="264"/>
                    <a:pt x="124" y="348"/>
                    <a:pt x="48" y="43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401" name="Text Box 23"/>
            <p:cNvSpPr txBox="1">
              <a:spLocks noChangeArrowheads="1"/>
            </p:cNvSpPr>
            <p:nvPr/>
          </p:nvSpPr>
          <p:spPr bwMode="auto">
            <a:xfrm>
              <a:off x="3696" y="2721"/>
              <a:ext cx="24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01402" name="Line 24"/>
            <p:cNvSpPr>
              <a:spLocks noChangeShapeType="1"/>
            </p:cNvSpPr>
            <p:nvPr/>
          </p:nvSpPr>
          <p:spPr bwMode="auto">
            <a:xfrm>
              <a:off x="3552" y="3806"/>
              <a:ext cx="768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403" name="Text Box 25"/>
            <p:cNvSpPr txBox="1">
              <a:spLocks noChangeArrowheads="1"/>
            </p:cNvSpPr>
            <p:nvPr/>
          </p:nvSpPr>
          <p:spPr bwMode="auto">
            <a:xfrm>
              <a:off x="3792" y="3625"/>
              <a:ext cx="24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75130" name="Rectangle 26"/>
            <p:cNvSpPr>
              <a:spLocks noChangeArrowheads="1"/>
            </p:cNvSpPr>
            <p:nvPr/>
          </p:nvSpPr>
          <p:spPr bwMode="auto">
            <a:xfrm>
              <a:off x="4368" y="3589"/>
              <a:ext cx="819" cy="434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6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B→aB.</a:t>
              </a:r>
              <a:endParaRPr kumimoji="1" lang="en-US" altLang="zh-CN" sz="2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01405" name="Freeform 27"/>
            <p:cNvSpPr>
              <a:spLocks/>
            </p:cNvSpPr>
            <p:nvPr/>
          </p:nvSpPr>
          <p:spPr bwMode="auto">
            <a:xfrm>
              <a:off x="3552" y="3915"/>
              <a:ext cx="288" cy="217"/>
            </a:xfrm>
            <a:custGeom>
              <a:avLst/>
              <a:gdLst>
                <a:gd name="T0" fmla="*/ 0 w 288"/>
                <a:gd name="T1" fmla="*/ 0 h 288"/>
                <a:gd name="T2" fmla="*/ 288 w 288"/>
                <a:gd name="T3" fmla="*/ 82 h 288"/>
                <a:gd name="T4" fmla="*/ 0 w 288"/>
                <a:gd name="T5" fmla="*/ 164 h 288"/>
                <a:gd name="T6" fmla="*/ 0 60000 65536"/>
                <a:gd name="T7" fmla="*/ 0 60000 65536"/>
                <a:gd name="T8" fmla="*/ 0 60000 65536"/>
                <a:gd name="T9" fmla="*/ 0 w 288"/>
                <a:gd name="T10" fmla="*/ 0 h 288"/>
                <a:gd name="T11" fmla="*/ 288 w 288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288">
                  <a:moveTo>
                    <a:pt x="0" y="0"/>
                  </a:moveTo>
                  <a:cubicBezTo>
                    <a:pt x="144" y="48"/>
                    <a:pt x="288" y="96"/>
                    <a:pt x="288" y="144"/>
                  </a:cubicBezTo>
                  <a:cubicBezTo>
                    <a:pt x="288" y="192"/>
                    <a:pt x="144" y="240"/>
                    <a:pt x="0" y="28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406" name="Text Box 28"/>
            <p:cNvSpPr txBox="1">
              <a:spLocks noChangeArrowheads="1"/>
            </p:cNvSpPr>
            <p:nvPr/>
          </p:nvSpPr>
          <p:spPr bwMode="auto">
            <a:xfrm>
              <a:off x="3792" y="3915"/>
              <a:ext cx="28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01407" name="Line 29"/>
            <p:cNvSpPr>
              <a:spLocks noChangeShapeType="1"/>
            </p:cNvSpPr>
            <p:nvPr/>
          </p:nvSpPr>
          <p:spPr bwMode="auto">
            <a:xfrm flipV="1">
              <a:off x="3120" y="3300"/>
              <a:ext cx="1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408" name="Text Box 30"/>
            <p:cNvSpPr txBox="1">
              <a:spLocks noChangeArrowheads="1"/>
            </p:cNvSpPr>
            <p:nvPr/>
          </p:nvSpPr>
          <p:spPr bwMode="auto">
            <a:xfrm>
              <a:off x="3120" y="3300"/>
              <a:ext cx="336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01409" name="Text Box 31"/>
            <p:cNvSpPr txBox="1">
              <a:spLocks noChangeArrowheads="1"/>
            </p:cNvSpPr>
            <p:nvPr/>
          </p:nvSpPr>
          <p:spPr bwMode="auto">
            <a:xfrm>
              <a:off x="249" y="1344"/>
              <a:ext cx="998" cy="974"/>
            </a:xfrm>
            <a:prstGeom prst="rect">
              <a:avLst/>
            </a:prstGeom>
            <a:noFill/>
            <a:ln w="9525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latin typeface="Times New Roman" pitchFamily="18" charset="0"/>
                </a:rPr>
                <a:t>I</a:t>
              </a:r>
              <a:r>
                <a:rPr lang="en-US" altLang="zh-CN" sz="2000" b="1" baseline="-25000">
                  <a:latin typeface="Times New Roman" pitchFamily="18" charset="0"/>
                </a:rPr>
                <a:t>0</a:t>
              </a:r>
              <a:r>
                <a:rPr lang="en-US" altLang="zh-CN" sz="2000" b="1">
                  <a:latin typeface="Times New Roman" pitchFamily="18" charset="0"/>
                </a:rPr>
                <a:t>:</a:t>
              </a:r>
            </a:p>
            <a:p>
              <a:pPr eaLnBrk="1" hangingPunct="1"/>
              <a:r>
                <a:rPr lang="en-US" altLang="zh-CN" sz="2000" b="1">
                  <a:solidFill>
                    <a:schemeClr val="hlink"/>
                  </a:solidFill>
                  <a:latin typeface="Times New Roman" pitchFamily="18" charset="0"/>
                </a:rPr>
                <a:t>S</a:t>
              </a:r>
              <a:r>
                <a:rPr lang="en-US" altLang="zh-CN" b="1">
                  <a:solidFill>
                    <a:schemeClr val="hlink"/>
                  </a:solidFill>
                </a:rPr>
                <a:t>'</a:t>
              </a:r>
              <a:r>
                <a:rPr lang="en-US" altLang="zh-CN" sz="2000" b="1">
                  <a:solidFill>
                    <a:schemeClr val="hlink"/>
                  </a:solidFill>
                  <a:latin typeface="Times New Roman" pitchFamily="18" charset="0"/>
                </a:rPr>
                <a:t>→.S</a:t>
              </a:r>
            </a:p>
            <a:p>
              <a:pPr eaLnBrk="1" hangingPunct="1"/>
              <a:r>
                <a:rPr lang="en-US" altLang="zh-CN" sz="2000" b="1">
                  <a:latin typeface="Times New Roman" pitchFamily="18" charset="0"/>
                </a:rPr>
                <a:t>S→.BB</a:t>
              </a:r>
            </a:p>
            <a:p>
              <a:pPr eaLnBrk="1" hangingPunct="1"/>
              <a:r>
                <a:rPr lang="en-US" altLang="zh-CN" sz="2000" b="1">
                  <a:latin typeface="Times New Roman" pitchFamily="18" charset="0"/>
                </a:rPr>
                <a:t>B→.aB</a:t>
              </a:r>
            </a:p>
            <a:p>
              <a:pPr eaLnBrk="1" hangingPunct="1"/>
              <a:r>
                <a:rPr lang="en-US" altLang="zh-CN" sz="2000" b="1">
                  <a:latin typeface="Times New Roman" pitchFamily="18" charset="0"/>
                </a:rPr>
                <a:t>B→.b</a:t>
              </a:r>
            </a:p>
          </p:txBody>
        </p:sp>
      </p:grpSp>
      <p:sp>
        <p:nvSpPr>
          <p:cNvPr id="101381" name="Rectangle 32"/>
          <p:cNvSpPr>
            <a:spLocks noChangeArrowheads="1"/>
          </p:cNvSpPr>
          <p:nvPr/>
        </p:nvSpPr>
        <p:spPr bwMode="auto">
          <a:xfrm>
            <a:off x="7056438" y="2781300"/>
            <a:ext cx="2087562" cy="18002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(0)   S'→S</a:t>
            </a:r>
            <a:b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(1)   S→BB</a:t>
            </a:r>
            <a:b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(2)   B→aB</a:t>
            </a:r>
            <a:b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(3)   B→b</a:t>
            </a:r>
          </a:p>
        </p:txBody>
      </p:sp>
      <p:sp>
        <p:nvSpPr>
          <p:cNvPr id="101382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FCF1E2DF-3FF3-49EB-AB80-4D5AAE94AC4E}" type="slidenum">
              <a:rPr lang="en-US" altLang="zh-CN" sz="1400"/>
              <a:pPr algn="r" eaLnBrk="1" hangingPunct="1"/>
              <a:t>75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7924800" cy="762000"/>
          </a:xfrm>
        </p:spPr>
        <p:txBody>
          <a:bodyPr/>
          <a:lstStyle/>
          <a:p>
            <a:pPr eaLnBrk="1" hangingPunct="1"/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七、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分析表的构造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闭包之间的转移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836613"/>
            <a:ext cx="8569325" cy="1079500"/>
          </a:xfrm>
          <a:solidFill>
            <a:srgbClr val="006666"/>
          </a:solidFill>
        </p:spPr>
        <p:txBody>
          <a:bodyPr/>
          <a:lstStyle/>
          <a:p>
            <a:pPr eaLnBrk="1" hangingPunct="1">
              <a:spcBef>
                <a:spcPct val="0"/>
              </a:spcBef>
              <a:buClr>
                <a:schemeClr val="bg1"/>
              </a:buClr>
              <a:buSzTx/>
            </a:pPr>
            <a:r>
              <a:rPr lang="zh-CN" altLang="en-US" b="1" smtClean="0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闭包之间的转移</a:t>
            </a:r>
          </a:p>
          <a:p>
            <a:pPr lvl="1" eaLnBrk="1" hangingPunct="1">
              <a:spcBef>
                <a:spcPct val="0"/>
              </a:spcBef>
              <a:buClr>
                <a:schemeClr val="bg1"/>
              </a:buClr>
              <a:buSzTx/>
            </a:pPr>
            <a:r>
              <a:rPr lang="en-US" altLang="zh-CN" b="1" smtClean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go(I,X)=CLOSURE({A→αX.β| A→α.Xβ∈I})</a:t>
            </a:r>
          </a:p>
        </p:txBody>
      </p:sp>
      <p:grpSp>
        <p:nvGrpSpPr>
          <p:cNvPr id="102404" name="Group 5"/>
          <p:cNvGrpSpPr>
            <a:grpSpLocks/>
          </p:cNvGrpSpPr>
          <p:nvPr/>
        </p:nvGrpSpPr>
        <p:grpSpPr bwMode="auto">
          <a:xfrm>
            <a:off x="323850" y="1916113"/>
            <a:ext cx="7921625" cy="4772025"/>
            <a:chOff x="249" y="1310"/>
            <a:chExt cx="5031" cy="2858"/>
          </a:xfrm>
        </p:grpSpPr>
        <p:sp>
          <p:nvSpPr>
            <p:cNvPr id="176134" name="Rectangle 6"/>
            <p:cNvSpPr>
              <a:spLocks noChangeArrowheads="1"/>
            </p:cNvSpPr>
            <p:nvPr/>
          </p:nvSpPr>
          <p:spPr bwMode="auto">
            <a:xfrm>
              <a:off x="2688" y="1310"/>
              <a:ext cx="816" cy="362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1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S</a:t>
              </a:r>
              <a:r>
                <a:rPr lang="en-US" altLang="zh-CN" b="1">
                  <a:solidFill>
                    <a:schemeClr val="hlink"/>
                  </a:solidFill>
                </a:rPr>
                <a:t>'</a:t>
              </a: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→S.</a:t>
              </a:r>
            </a:p>
          </p:txBody>
        </p:sp>
        <p:sp>
          <p:nvSpPr>
            <p:cNvPr id="102408" name="Line 7"/>
            <p:cNvSpPr>
              <a:spLocks noChangeShapeType="1"/>
            </p:cNvSpPr>
            <p:nvPr/>
          </p:nvSpPr>
          <p:spPr bwMode="auto">
            <a:xfrm>
              <a:off x="1248" y="1527"/>
              <a:ext cx="144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09" name="Text Box 8"/>
            <p:cNvSpPr txBox="1">
              <a:spLocks noChangeArrowheads="1"/>
            </p:cNvSpPr>
            <p:nvPr/>
          </p:nvSpPr>
          <p:spPr bwMode="auto">
            <a:xfrm>
              <a:off x="1440" y="1346"/>
              <a:ext cx="336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S</a:t>
              </a:r>
            </a:p>
          </p:txBody>
        </p:sp>
        <p:sp>
          <p:nvSpPr>
            <p:cNvPr id="102410" name="Line 9"/>
            <p:cNvSpPr>
              <a:spLocks noChangeShapeType="1"/>
            </p:cNvSpPr>
            <p:nvPr/>
          </p:nvSpPr>
          <p:spPr bwMode="auto">
            <a:xfrm>
              <a:off x="1248" y="2034"/>
              <a:ext cx="1392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11" name="Text Box 10"/>
            <p:cNvSpPr txBox="1">
              <a:spLocks noChangeArrowheads="1"/>
            </p:cNvSpPr>
            <p:nvPr/>
          </p:nvSpPr>
          <p:spPr bwMode="auto">
            <a:xfrm>
              <a:off x="1440" y="1853"/>
              <a:ext cx="336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76139" name="Rectangle 11"/>
            <p:cNvSpPr>
              <a:spLocks noChangeArrowheads="1"/>
            </p:cNvSpPr>
            <p:nvPr/>
          </p:nvSpPr>
          <p:spPr bwMode="auto">
            <a:xfrm>
              <a:off x="2688" y="1925"/>
              <a:ext cx="816" cy="760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2</a:t>
              </a:r>
              <a:r>
                <a:rPr kumimoji="1" lang="en-US" altLang="zh-CN" sz="2000" b="1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S→B.B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B→.aB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B→.b	</a:t>
              </a:r>
              <a:endPara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02413" name="Freeform 12"/>
            <p:cNvSpPr>
              <a:spLocks/>
            </p:cNvSpPr>
            <p:nvPr/>
          </p:nvSpPr>
          <p:spPr bwMode="auto">
            <a:xfrm>
              <a:off x="624" y="2359"/>
              <a:ext cx="2112" cy="1483"/>
            </a:xfrm>
            <a:custGeom>
              <a:avLst/>
              <a:gdLst>
                <a:gd name="T0" fmla="*/ 0 w 816"/>
                <a:gd name="T1" fmla="*/ 0 h 1344"/>
                <a:gd name="T2" fmla="*/ 321 w 816"/>
                <a:gd name="T3" fmla="*/ 993 h 1344"/>
                <a:gd name="T4" fmla="*/ 1928 w 816"/>
                <a:gd name="T5" fmla="*/ 1402 h 1344"/>
                <a:gd name="T6" fmla="*/ 5466 w 816"/>
                <a:gd name="T7" fmla="*/ 1636 h 13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6"/>
                <a:gd name="T13" fmla="*/ 0 h 1344"/>
                <a:gd name="T14" fmla="*/ 816 w 816"/>
                <a:gd name="T15" fmla="*/ 1344 h 13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6" h="1344">
                  <a:moveTo>
                    <a:pt x="0" y="0"/>
                  </a:moveTo>
                  <a:cubicBezTo>
                    <a:pt x="0" y="312"/>
                    <a:pt x="0" y="624"/>
                    <a:pt x="48" y="816"/>
                  </a:cubicBezTo>
                  <a:cubicBezTo>
                    <a:pt x="96" y="1008"/>
                    <a:pt x="160" y="1064"/>
                    <a:pt x="288" y="1152"/>
                  </a:cubicBezTo>
                  <a:cubicBezTo>
                    <a:pt x="416" y="1240"/>
                    <a:pt x="720" y="1304"/>
                    <a:pt x="816" y="134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14" name="Text Box 13"/>
            <p:cNvSpPr txBox="1">
              <a:spLocks noChangeArrowheads="1"/>
            </p:cNvSpPr>
            <p:nvPr/>
          </p:nvSpPr>
          <p:spPr bwMode="auto">
            <a:xfrm>
              <a:off x="624" y="2757"/>
              <a:ext cx="28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76142" name="Rectangle 14"/>
            <p:cNvSpPr>
              <a:spLocks noChangeArrowheads="1"/>
            </p:cNvSpPr>
            <p:nvPr/>
          </p:nvSpPr>
          <p:spPr bwMode="auto">
            <a:xfrm>
              <a:off x="2736" y="3481"/>
              <a:ext cx="816" cy="687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3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B→a.B</a:t>
              </a:r>
            </a:p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B→.aB</a:t>
              </a:r>
            </a:p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B→.b	</a:t>
              </a:r>
              <a:endPara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02416" name="Freeform 15"/>
            <p:cNvSpPr>
              <a:spLocks/>
            </p:cNvSpPr>
            <p:nvPr/>
          </p:nvSpPr>
          <p:spPr bwMode="auto">
            <a:xfrm>
              <a:off x="960" y="2359"/>
              <a:ext cx="1728" cy="760"/>
            </a:xfrm>
            <a:custGeom>
              <a:avLst/>
              <a:gdLst>
                <a:gd name="T0" fmla="*/ 0 w 1680"/>
                <a:gd name="T1" fmla="*/ 0 h 1056"/>
                <a:gd name="T2" fmla="*/ 50 w 1680"/>
                <a:gd name="T3" fmla="*/ 323 h 1056"/>
                <a:gd name="T4" fmla="*/ 254 w 1680"/>
                <a:gd name="T5" fmla="*/ 448 h 1056"/>
                <a:gd name="T6" fmla="*/ 762 w 1680"/>
                <a:gd name="T7" fmla="*/ 522 h 1056"/>
                <a:gd name="T8" fmla="*/ 1777 w 1680"/>
                <a:gd name="T9" fmla="*/ 547 h 10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80"/>
                <a:gd name="T16" fmla="*/ 0 h 1056"/>
                <a:gd name="T17" fmla="*/ 1680 w 1680"/>
                <a:gd name="T18" fmla="*/ 1056 h 10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80" h="1056">
                  <a:moveTo>
                    <a:pt x="0" y="0"/>
                  </a:moveTo>
                  <a:cubicBezTo>
                    <a:pt x="4" y="240"/>
                    <a:pt x="8" y="480"/>
                    <a:pt x="48" y="624"/>
                  </a:cubicBezTo>
                  <a:cubicBezTo>
                    <a:pt x="88" y="768"/>
                    <a:pt x="128" y="800"/>
                    <a:pt x="240" y="864"/>
                  </a:cubicBezTo>
                  <a:cubicBezTo>
                    <a:pt x="352" y="928"/>
                    <a:pt x="480" y="976"/>
                    <a:pt x="720" y="1008"/>
                  </a:cubicBezTo>
                  <a:cubicBezTo>
                    <a:pt x="960" y="1040"/>
                    <a:pt x="1528" y="1056"/>
                    <a:pt x="1680" y="105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17" name="Text Box 16"/>
            <p:cNvSpPr txBox="1">
              <a:spLocks noChangeArrowheads="1"/>
            </p:cNvSpPr>
            <p:nvPr/>
          </p:nvSpPr>
          <p:spPr bwMode="auto">
            <a:xfrm>
              <a:off x="1056" y="2757"/>
              <a:ext cx="28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76145" name="Rectangle 17"/>
            <p:cNvSpPr>
              <a:spLocks noChangeArrowheads="1"/>
            </p:cNvSpPr>
            <p:nvPr/>
          </p:nvSpPr>
          <p:spPr bwMode="auto">
            <a:xfrm>
              <a:off x="2736" y="2902"/>
              <a:ext cx="816" cy="398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4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lnSpc>
                  <a:spcPct val="90000"/>
                </a:lnSpc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B→b.</a:t>
              </a:r>
              <a:r>
                <a:rPr kumimoji="1" lang="en-US" altLang="zh-CN" sz="2000" b="1">
                  <a:solidFill>
                    <a:srgbClr val="FF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	</a:t>
              </a:r>
              <a:endParaRPr kumimoji="1" lang="en-US" altLang="zh-CN" sz="2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02419" name="Line 18"/>
            <p:cNvSpPr>
              <a:spLocks noChangeShapeType="1"/>
            </p:cNvSpPr>
            <p:nvPr/>
          </p:nvSpPr>
          <p:spPr bwMode="auto">
            <a:xfrm flipV="1">
              <a:off x="3504" y="1563"/>
              <a:ext cx="960" cy="4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0" name="Text Box 19"/>
            <p:cNvSpPr txBox="1">
              <a:spLocks noChangeArrowheads="1"/>
            </p:cNvSpPr>
            <p:nvPr/>
          </p:nvSpPr>
          <p:spPr bwMode="auto">
            <a:xfrm>
              <a:off x="3840" y="1563"/>
              <a:ext cx="336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76148" name="Rectangle 20"/>
            <p:cNvSpPr>
              <a:spLocks noChangeArrowheads="1"/>
            </p:cNvSpPr>
            <p:nvPr/>
          </p:nvSpPr>
          <p:spPr bwMode="auto">
            <a:xfrm>
              <a:off x="4464" y="1310"/>
              <a:ext cx="816" cy="362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5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S→BB.</a:t>
              </a:r>
            </a:p>
          </p:txBody>
        </p:sp>
        <p:sp>
          <p:nvSpPr>
            <p:cNvPr id="102422" name="Freeform 21"/>
            <p:cNvSpPr>
              <a:spLocks/>
            </p:cNvSpPr>
            <p:nvPr/>
          </p:nvSpPr>
          <p:spPr bwMode="auto">
            <a:xfrm>
              <a:off x="3504" y="2359"/>
              <a:ext cx="816" cy="1303"/>
            </a:xfrm>
            <a:custGeom>
              <a:avLst/>
              <a:gdLst>
                <a:gd name="T0" fmla="*/ 0 w 1424"/>
                <a:gd name="T1" fmla="*/ 0 h 1968"/>
                <a:gd name="T2" fmla="*/ 363 w 1424"/>
                <a:gd name="T3" fmla="*/ 189 h 1968"/>
                <a:gd name="T4" fmla="*/ 410 w 1424"/>
                <a:gd name="T5" fmla="*/ 547 h 1968"/>
                <a:gd name="T6" fmla="*/ 16 w 1424"/>
                <a:gd name="T7" fmla="*/ 863 h 19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24"/>
                <a:gd name="T13" fmla="*/ 0 h 1968"/>
                <a:gd name="T14" fmla="*/ 1424 w 1424"/>
                <a:gd name="T15" fmla="*/ 1968 h 19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24" h="1968">
                  <a:moveTo>
                    <a:pt x="0" y="0"/>
                  </a:moveTo>
                  <a:cubicBezTo>
                    <a:pt x="448" y="112"/>
                    <a:pt x="896" y="224"/>
                    <a:pt x="1104" y="432"/>
                  </a:cubicBezTo>
                  <a:cubicBezTo>
                    <a:pt x="1312" y="640"/>
                    <a:pt x="1424" y="992"/>
                    <a:pt x="1248" y="1248"/>
                  </a:cubicBezTo>
                  <a:cubicBezTo>
                    <a:pt x="1072" y="1504"/>
                    <a:pt x="248" y="1848"/>
                    <a:pt x="48" y="196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3" name="Text Box 22"/>
            <p:cNvSpPr txBox="1">
              <a:spLocks noChangeArrowheads="1"/>
            </p:cNvSpPr>
            <p:nvPr/>
          </p:nvSpPr>
          <p:spPr bwMode="auto">
            <a:xfrm>
              <a:off x="4272" y="2830"/>
              <a:ext cx="24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02424" name="Freeform 23"/>
            <p:cNvSpPr>
              <a:spLocks/>
            </p:cNvSpPr>
            <p:nvPr/>
          </p:nvSpPr>
          <p:spPr bwMode="auto">
            <a:xfrm>
              <a:off x="3504" y="2649"/>
              <a:ext cx="200" cy="325"/>
            </a:xfrm>
            <a:custGeom>
              <a:avLst/>
              <a:gdLst>
                <a:gd name="T0" fmla="*/ 0 w 200"/>
                <a:gd name="T1" fmla="*/ 0 h 432"/>
                <a:gd name="T2" fmla="*/ 192 w 200"/>
                <a:gd name="T3" fmla="*/ 108 h 432"/>
                <a:gd name="T4" fmla="*/ 48 w 200"/>
                <a:gd name="T5" fmla="*/ 245 h 432"/>
                <a:gd name="T6" fmla="*/ 0 60000 65536"/>
                <a:gd name="T7" fmla="*/ 0 60000 65536"/>
                <a:gd name="T8" fmla="*/ 0 60000 65536"/>
                <a:gd name="T9" fmla="*/ 0 w 200"/>
                <a:gd name="T10" fmla="*/ 0 h 432"/>
                <a:gd name="T11" fmla="*/ 200 w 200"/>
                <a:gd name="T12" fmla="*/ 432 h 4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" h="432">
                  <a:moveTo>
                    <a:pt x="0" y="0"/>
                  </a:moveTo>
                  <a:cubicBezTo>
                    <a:pt x="92" y="60"/>
                    <a:pt x="184" y="120"/>
                    <a:pt x="192" y="192"/>
                  </a:cubicBezTo>
                  <a:cubicBezTo>
                    <a:pt x="200" y="264"/>
                    <a:pt x="124" y="348"/>
                    <a:pt x="48" y="43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5" name="Text Box 24"/>
            <p:cNvSpPr txBox="1">
              <a:spLocks noChangeArrowheads="1"/>
            </p:cNvSpPr>
            <p:nvPr/>
          </p:nvSpPr>
          <p:spPr bwMode="auto">
            <a:xfrm>
              <a:off x="3696" y="2721"/>
              <a:ext cx="24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02426" name="Line 25"/>
            <p:cNvSpPr>
              <a:spLocks noChangeShapeType="1"/>
            </p:cNvSpPr>
            <p:nvPr/>
          </p:nvSpPr>
          <p:spPr bwMode="auto">
            <a:xfrm>
              <a:off x="3552" y="3806"/>
              <a:ext cx="768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27" name="Text Box 26"/>
            <p:cNvSpPr txBox="1">
              <a:spLocks noChangeArrowheads="1"/>
            </p:cNvSpPr>
            <p:nvPr/>
          </p:nvSpPr>
          <p:spPr bwMode="auto">
            <a:xfrm>
              <a:off x="3792" y="3625"/>
              <a:ext cx="24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76155" name="Rectangle 27"/>
            <p:cNvSpPr>
              <a:spLocks noChangeArrowheads="1"/>
            </p:cNvSpPr>
            <p:nvPr/>
          </p:nvSpPr>
          <p:spPr bwMode="auto">
            <a:xfrm>
              <a:off x="4368" y="3589"/>
              <a:ext cx="819" cy="434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I</a:t>
              </a:r>
              <a:r>
                <a:rPr kumimoji="1" lang="en-US" altLang="zh-CN" sz="20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6</a:t>
              </a:r>
              <a:r>
                <a:rPr kumimoji="1" lang="en-US" altLang="zh-CN" sz="2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:</a:t>
              </a:r>
            </a:p>
            <a:p>
              <a:pPr marL="609600" indent="-609600" eaLnBrk="0" hangingPunct="0">
                <a:buClr>
                  <a:schemeClr val="tx2"/>
                </a:buClr>
                <a:buSzPct val="75000"/>
                <a:buFont typeface="Monotype Sorts" pitchFamily="2" charset="2"/>
                <a:buNone/>
                <a:defRPr/>
              </a:pPr>
              <a:r>
                <a:rPr kumimoji="1" lang="en-US" altLang="zh-CN" sz="2000" b="1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B→aB.</a:t>
              </a:r>
              <a:endParaRPr kumimoji="1" lang="en-US" altLang="zh-CN" sz="2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102429" name="Freeform 28"/>
            <p:cNvSpPr>
              <a:spLocks/>
            </p:cNvSpPr>
            <p:nvPr/>
          </p:nvSpPr>
          <p:spPr bwMode="auto">
            <a:xfrm>
              <a:off x="3552" y="3915"/>
              <a:ext cx="288" cy="217"/>
            </a:xfrm>
            <a:custGeom>
              <a:avLst/>
              <a:gdLst>
                <a:gd name="T0" fmla="*/ 0 w 288"/>
                <a:gd name="T1" fmla="*/ 0 h 288"/>
                <a:gd name="T2" fmla="*/ 288 w 288"/>
                <a:gd name="T3" fmla="*/ 82 h 288"/>
                <a:gd name="T4" fmla="*/ 0 w 288"/>
                <a:gd name="T5" fmla="*/ 164 h 288"/>
                <a:gd name="T6" fmla="*/ 0 60000 65536"/>
                <a:gd name="T7" fmla="*/ 0 60000 65536"/>
                <a:gd name="T8" fmla="*/ 0 60000 65536"/>
                <a:gd name="T9" fmla="*/ 0 w 288"/>
                <a:gd name="T10" fmla="*/ 0 h 288"/>
                <a:gd name="T11" fmla="*/ 288 w 288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288">
                  <a:moveTo>
                    <a:pt x="0" y="0"/>
                  </a:moveTo>
                  <a:cubicBezTo>
                    <a:pt x="144" y="48"/>
                    <a:pt x="288" y="96"/>
                    <a:pt x="288" y="144"/>
                  </a:cubicBezTo>
                  <a:cubicBezTo>
                    <a:pt x="288" y="192"/>
                    <a:pt x="144" y="240"/>
                    <a:pt x="0" y="288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30" name="Text Box 29"/>
            <p:cNvSpPr txBox="1">
              <a:spLocks noChangeArrowheads="1"/>
            </p:cNvSpPr>
            <p:nvPr/>
          </p:nvSpPr>
          <p:spPr bwMode="auto">
            <a:xfrm>
              <a:off x="3792" y="3915"/>
              <a:ext cx="28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02431" name="Line 30"/>
            <p:cNvSpPr>
              <a:spLocks noChangeShapeType="1"/>
            </p:cNvSpPr>
            <p:nvPr/>
          </p:nvSpPr>
          <p:spPr bwMode="auto">
            <a:xfrm flipV="1">
              <a:off x="3120" y="3300"/>
              <a:ext cx="1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32" name="Text Box 31"/>
            <p:cNvSpPr txBox="1">
              <a:spLocks noChangeArrowheads="1"/>
            </p:cNvSpPr>
            <p:nvPr/>
          </p:nvSpPr>
          <p:spPr bwMode="auto">
            <a:xfrm>
              <a:off x="3120" y="3300"/>
              <a:ext cx="336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02433" name="Text Box 32"/>
            <p:cNvSpPr txBox="1">
              <a:spLocks noChangeArrowheads="1"/>
            </p:cNvSpPr>
            <p:nvPr/>
          </p:nvSpPr>
          <p:spPr bwMode="auto">
            <a:xfrm>
              <a:off x="249" y="1344"/>
              <a:ext cx="998" cy="974"/>
            </a:xfrm>
            <a:prstGeom prst="rect">
              <a:avLst/>
            </a:prstGeom>
            <a:noFill/>
            <a:ln w="9525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000" b="1">
                  <a:latin typeface="Times New Roman" pitchFamily="18" charset="0"/>
                </a:rPr>
                <a:t>I</a:t>
              </a:r>
              <a:r>
                <a:rPr lang="en-US" altLang="zh-CN" sz="2000" b="1" baseline="-25000">
                  <a:latin typeface="Times New Roman" pitchFamily="18" charset="0"/>
                </a:rPr>
                <a:t>0</a:t>
              </a:r>
              <a:r>
                <a:rPr lang="en-US" altLang="zh-CN" sz="2000" b="1">
                  <a:latin typeface="Times New Roman" pitchFamily="18" charset="0"/>
                </a:rPr>
                <a:t>:</a:t>
              </a:r>
            </a:p>
            <a:p>
              <a:pPr eaLnBrk="1" hangingPunct="1"/>
              <a:r>
                <a:rPr lang="en-US" altLang="zh-CN" sz="2000" b="1">
                  <a:solidFill>
                    <a:schemeClr val="hlink"/>
                  </a:solidFill>
                  <a:latin typeface="Times New Roman" pitchFamily="18" charset="0"/>
                </a:rPr>
                <a:t>S</a:t>
              </a:r>
              <a:r>
                <a:rPr lang="en-US" altLang="zh-CN" b="1">
                  <a:solidFill>
                    <a:schemeClr val="hlink"/>
                  </a:solidFill>
                </a:rPr>
                <a:t>'</a:t>
              </a:r>
              <a:r>
                <a:rPr lang="en-US" altLang="zh-CN" sz="2000" b="1">
                  <a:solidFill>
                    <a:schemeClr val="hlink"/>
                  </a:solidFill>
                  <a:latin typeface="Times New Roman" pitchFamily="18" charset="0"/>
                </a:rPr>
                <a:t>→.S</a:t>
              </a:r>
            </a:p>
            <a:p>
              <a:pPr eaLnBrk="1" hangingPunct="1"/>
              <a:r>
                <a:rPr lang="en-US" altLang="zh-CN" sz="2000" b="1">
                  <a:latin typeface="Times New Roman" pitchFamily="18" charset="0"/>
                </a:rPr>
                <a:t>S→.BB</a:t>
              </a:r>
            </a:p>
            <a:p>
              <a:pPr eaLnBrk="1" hangingPunct="1"/>
              <a:r>
                <a:rPr lang="en-US" altLang="zh-CN" sz="2000" b="1">
                  <a:latin typeface="Times New Roman" pitchFamily="18" charset="0"/>
                </a:rPr>
                <a:t>B→.aB</a:t>
              </a:r>
            </a:p>
            <a:p>
              <a:pPr eaLnBrk="1" hangingPunct="1"/>
              <a:r>
                <a:rPr lang="en-US" altLang="zh-CN" sz="2000" b="1">
                  <a:latin typeface="Times New Roman" pitchFamily="18" charset="0"/>
                </a:rPr>
                <a:t>B→.b</a:t>
              </a:r>
            </a:p>
          </p:txBody>
        </p:sp>
      </p:grpSp>
      <p:sp>
        <p:nvSpPr>
          <p:cNvPr id="102405" name="Rectangle 33"/>
          <p:cNvSpPr>
            <a:spLocks noChangeArrowheads="1"/>
          </p:cNvSpPr>
          <p:nvPr/>
        </p:nvSpPr>
        <p:spPr bwMode="auto">
          <a:xfrm>
            <a:off x="7056438" y="2781300"/>
            <a:ext cx="2087562" cy="18002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(0)   S'→S</a:t>
            </a:r>
            <a:b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(1)   S→BB</a:t>
            </a:r>
            <a:b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(2)   B→aB</a:t>
            </a:r>
            <a:b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(3)   B→b</a:t>
            </a:r>
          </a:p>
        </p:txBody>
      </p:sp>
      <p:sp>
        <p:nvSpPr>
          <p:cNvPr id="102406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64F5A6EB-6ED3-4E38-B00B-E5BB0C8DF296}" type="slidenum">
              <a:rPr lang="en-US" altLang="zh-CN" sz="1400"/>
              <a:pPr algn="r" eaLnBrk="1" hangingPunct="1"/>
              <a:t>76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Text Box 2"/>
          <p:cNvSpPr txBox="1">
            <a:spLocks noChangeArrowheads="1"/>
          </p:cNvSpPr>
          <p:nvPr/>
        </p:nvSpPr>
        <p:spPr bwMode="auto">
          <a:xfrm>
            <a:off x="457200" y="304800"/>
            <a:ext cx="1219200" cy="2543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lang="en-US" altLang="zh-CN" b="1"/>
              <a:t>'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→.E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E→.E+T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</a:p>
        </p:txBody>
      </p:sp>
      <p:sp>
        <p:nvSpPr>
          <p:cNvPr id="179203" name="Line 3"/>
          <p:cNvSpPr>
            <a:spLocks noChangeShapeType="1"/>
          </p:cNvSpPr>
          <p:nvPr/>
        </p:nvSpPr>
        <p:spPr bwMode="auto">
          <a:xfrm>
            <a:off x="1676400" y="381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04" name="Text Box 4"/>
          <p:cNvSpPr txBox="1">
            <a:spLocks noChangeArrowheads="1"/>
          </p:cNvSpPr>
          <p:nvPr/>
        </p:nvSpPr>
        <p:spPr bwMode="auto">
          <a:xfrm>
            <a:off x="1905000" y="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E</a:t>
            </a:r>
          </a:p>
        </p:txBody>
      </p:sp>
      <p:sp>
        <p:nvSpPr>
          <p:cNvPr id="179205" name="Text Box 5"/>
          <p:cNvSpPr txBox="1">
            <a:spLocks noChangeArrowheads="1"/>
          </p:cNvSpPr>
          <p:nvPr/>
        </p:nvSpPr>
        <p:spPr bwMode="auto">
          <a:xfrm>
            <a:off x="2590800" y="2286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lang="en-US" altLang="zh-CN" b="1"/>
              <a:t>'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→E.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E→E.+T</a:t>
            </a:r>
          </a:p>
        </p:txBody>
      </p:sp>
      <p:sp>
        <p:nvSpPr>
          <p:cNvPr id="179206" name="Line 6"/>
          <p:cNvSpPr>
            <a:spLocks noChangeShapeType="1"/>
          </p:cNvSpPr>
          <p:nvPr/>
        </p:nvSpPr>
        <p:spPr bwMode="auto">
          <a:xfrm>
            <a:off x="1676400" y="2057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07" name="Text Box 7"/>
          <p:cNvSpPr txBox="1">
            <a:spLocks noChangeArrowheads="1"/>
          </p:cNvSpPr>
          <p:nvPr/>
        </p:nvSpPr>
        <p:spPr bwMode="auto">
          <a:xfrm>
            <a:off x="1905000" y="1752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179208" name="Text Box 8"/>
          <p:cNvSpPr txBox="1">
            <a:spLocks noChangeArrowheads="1"/>
          </p:cNvSpPr>
          <p:nvPr/>
        </p:nvSpPr>
        <p:spPr bwMode="auto">
          <a:xfrm>
            <a:off x="2590800" y="1419225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E→T.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T→T.*F</a:t>
            </a:r>
            <a:endParaRPr kumimoji="1" lang="en-US" altLang="zh-CN" sz="20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79209" name="Line 9"/>
          <p:cNvSpPr>
            <a:spLocks noChangeShapeType="1"/>
          </p:cNvSpPr>
          <p:nvPr/>
        </p:nvSpPr>
        <p:spPr bwMode="auto">
          <a:xfrm>
            <a:off x="1676400" y="2819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0" name="Text Box 10"/>
          <p:cNvSpPr txBox="1">
            <a:spLocks noChangeArrowheads="1"/>
          </p:cNvSpPr>
          <p:nvPr/>
        </p:nvSpPr>
        <p:spPr bwMode="auto">
          <a:xfrm>
            <a:off x="1981200" y="2498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79211" name="Text Box 11"/>
          <p:cNvSpPr txBox="1">
            <a:spLocks noChangeArrowheads="1"/>
          </p:cNvSpPr>
          <p:nvPr/>
        </p:nvSpPr>
        <p:spPr bwMode="auto">
          <a:xfrm>
            <a:off x="2590800" y="25908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T→F.</a:t>
            </a:r>
          </a:p>
        </p:txBody>
      </p:sp>
      <p:sp>
        <p:nvSpPr>
          <p:cNvPr id="179212" name="Freeform 12"/>
          <p:cNvSpPr>
            <a:spLocks/>
          </p:cNvSpPr>
          <p:nvPr/>
        </p:nvSpPr>
        <p:spPr bwMode="auto">
          <a:xfrm>
            <a:off x="1346200" y="2895600"/>
            <a:ext cx="1244600" cy="1219200"/>
          </a:xfrm>
          <a:custGeom>
            <a:avLst/>
            <a:gdLst>
              <a:gd name="T0" fmla="*/ 45754267 w 736"/>
              <a:gd name="T1" fmla="*/ 0 h 768"/>
              <a:gd name="T2" fmla="*/ 45754267 w 736"/>
              <a:gd name="T3" fmla="*/ 967740089 h 768"/>
              <a:gd name="T4" fmla="*/ 320274811 w 736"/>
              <a:gd name="T5" fmla="*/ 1451609935 h 768"/>
              <a:gd name="T6" fmla="*/ 869315820 w 736"/>
              <a:gd name="T7" fmla="*/ 1693545255 h 768"/>
              <a:gd name="T8" fmla="*/ 2104659332 w 736"/>
              <a:gd name="T9" fmla="*/ 1935480178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36"/>
              <a:gd name="T16" fmla="*/ 0 h 768"/>
              <a:gd name="T17" fmla="*/ 736 w 736"/>
              <a:gd name="T18" fmla="*/ 768 h 7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36" h="768">
                <a:moveTo>
                  <a:pt x="16" y="0"/>
                </a:moveTo>
                <a:cubicBezTo>
                  <a:pt x="8" y="144"/>
                  <a:pt x="0" y="288"/>
                  <a:pt x="16" y="384"/>
                </a:cubicBezTo>
                <a:cubicBezTo>
                  <a:pt x="32" y="480"/>
                  <a:pt x="64" y="528"/>
                  <a:pt x="112" y="576"/>
                </a:cubicBezTo>
                <a:cubicBezTo>
                  <a:pt x="160" y="624"/>
                  <a:pt x="200" y="640"/>
                  <a:pt x="304" y="672"/>
                </a:cubicBezTo>
                <a:cubicBezTo>
                  <a:pt x="408" y="704"/>
                  <a:pt x="572" y="736"/>
                  <a:pt x="736" y="7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3" name="Text Box 13"/>
          <p:cNvSpPr txBox="1">
            <a:spLocks noChangeArrowheads="1"/>
          </p:cNvSpPr>
          <p:nvPr/>
        </p:nvSpPr>
        <p:spPr bwMode="auto">
          <a:xfrm>
            <a:off x="1981200" y="36576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79214" name="Text Box 14"/>
          <p:cNvSpPr txBox="1">
            <a:spLocks noChangeArrowheads="1"/>
          </p:cNvSpPr>
          <p:nvPr/>
        </p:nvSpPr>
        <p:spPr bwMode="auto">
          <a:xfrm>
            <a:off x="2590800" y="3581400"/>
            <a:ext cx="1219200" cy="2543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4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F→(.E 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E→.E+T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79215" name="Line 15"/>
          <p:cNvSpPr>
            <a:spLocks noChangeShapeType="1"/>
          </p:cNvSpPr>
          <p:nvPr/>
        </p:nvSpPr>
        <p:spPr bwMode="auto">
          <a:xfrm>
            <a:off x="685800" y="28956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6" name="Text Box 16"/>
          <p:cNvSpPr txBox="1">
            <a:spLocks noChangeArrowheads="1"/>
          </p:cNvSpPr>
          <p:nvPr/>
        </p:nvSpPr>
        <p:spPr bwMode="auto">
          <a:xfrm>
            <a:off x="685800" y="34290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79217" name="Text Box 17"/>
          <p:cNvSpPr txBox="1">
            <a:spLocks noChangeArrowheads="1"/>
          </p:cNvSpPr>
          <p:nvPr/>
        </p:nvSpPr>
        <p:spPr bwMode="auto">
          <a:xfrm>
            <a:off x="381000" y="41910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5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F→id.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79218" name="Line 18"/>
          <p:cNvSpPr>
            <a:spLocks noChangeShapeType="1"/>
          </p:cNvSpPr>
          <p:nvPr/>
        </p:nvSpPr>
        <p:spPr bwMode="auto">
          <a:xfrm>
            <a:off x="3810000" y="3810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19" name="Text Box 19"/>
          <p:cNvSpPr txBox="1">
            <a:spLocks noChangeArrowheads="1"/>
          </p:cNvSpPr>
          <p:nvPr/>
        </p:nvSpPr>
        <p:spPr bwMode="auto">
          <a:xfrm>
            <a:off x="4114800" y="762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+</a:t>
            </a:r>
          </a:p>
        </p:txBody>
      </p:sp>
      <p:sp>
        <p:nvSpPr>
          <p:cNvPr id="179220" name="Text Box 20"/>
          <p:cNvSpPr txBox="1">
            <a:spLocks noChangeArrowheads="1"/>
          </p:cNvSpPr>
          <p:nvPr/>
        </p:nvSpPr>
        <p:spPr bwMode="auto">
          <a:xfrm>
            <a:off x="4648200" y="228600"/>
            <a:ext cx="1219200" cy="1933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6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E→E+.T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</a:p>
        </p:txBody>
      </p:sp>
      <p:sp>
        <p:nvSpPr>
          <p:cNvPr id="179221" name="Line 21"/>
          <p:cNvSpPr>
            <a:spLocks noChangeShapeType="1"/>
          </p:cNvSpPr>
          <p:nvPr/>
        </p:nvSpPr>
        <p:spPr bwMode="auto">
          <a:xfrm>
            <a:off x="3810000" y="1981200"/>
            <a:ext cx="8382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2" name="Text Box 22"/>
          <p:cNvSpPr txBox="1">
            <a:spLocks noChangeArrowheads="1"/>
          </p:cNvSpPr>
          <p:nvPr/>
        </p:nvSpPr>
        <p:spPr bwMode="auto">
          <a:xfrm>
            <a:off x="4038600" y="2133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*</a:t>
            </a:r>
          </a:p>
        </p:txBody>
      </p:sp>
      <p:sp>
        <p:nvSpPr>
          <p:cNvPr id="179223" name="Text Box 23"/>
          <p:cNvSpPr txBox="1">
            <a:spLocks noChangeArrowheads="1"/>
          </p:cNvSpPr>
          <p:nvPr/>
        </p:nvSpPr>
        <p:spPr bwMode="auto">
          <a:xfrm>
            <a:off x="4648200" y="2286000"/>
            <a:ext cx="1219200" cy="13239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T→T*.F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79224" name="Line 24"/>
          <p:cNvSpPr>
            <a:spLocks noChangeShapeType="1"/>
          </p:cNvSpPr>
          <p:nvPr/>
        </p:nvSpPr>
        <p:spPr bwMode="auto">
          <a:xfrm>
            <a:off x="3810000" y="4114800"/>
            <a:ext cx="3124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5" name="Text Box 25"/>
          <p:cNvSpPr txBox="1">
            <a:spLocks noChangeArrowheads="1"/>
          </p:cNvSpPr>
          <p:nvPr/>
        </p:nvSpPr>
        <p:spPr bwMode="auto">
          <a:xfrm>
            <a:off x="5029200" y="38100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E</a:t>
            </a:r>
          </a:p>
        </p:txBody>
      </p:sp>
      <p:sp>
        <p:nvSpPr>
          <p:cNvPr id="179226" name="Text Box 26"/>
          <p:cNvSpPr txBox="1">
            <a:spLocks noChangeArrowheads="1"/>
          </p:cNvSpPr>
          <p:nvPr/>
        </p:nvSpPr>
        <p:spPr bwMode="auto">
          <a:xfrm>
            <a:off x="6934200" y="36576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8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 (E.)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E→E.+T</a:t>
            </a:r>
          </a:p>
        </p:txBody>
      </p:sp>
      <p:sp>
        <p:nvSpPr>
          <p:cNvPr id="179227" name="Freeform 27"/>
          <p:cNvSpPr>
            <a:spLocks/>
          </p:cNvSpPr>
          <p:nvPr/>
        </p:nvSpPr>
        <p:spPr bwMode="auto">
          <a:xfrm>
            <a:off x="3810000" y="2286000"/>
            <a:ext cx="254000" cy="1600200"/>
          </a:xfrm>
          <a:custGeom>
            <a:avLst/>
            <a:gdLst>
              <a:gd name="T0" fmla="*/ 0 w 160"/>
              <a:gd name="T1" fmla="*/ 2147483647 h 1008"/>
              <a:gd name="T2" fmla="*/ 241935007 w 160"/>
              <a:gd name="T3" fmla="*/ 2147483647 h 1008"/>
              <a:gd name="T4" fmla="*/ 362902461 w 160"/>
              <a:gd name="T5" fmla="*/ 967740162 h 1008"/>
              <a:gd name="T6" fmla="*/ 0 w 160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160"/>
              <a:gd name="T13" fmla="*/ 0 h 1008"/>
              <a:gd name="T14" fmla="*/ 160 w 160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0" h="1008">
                <a:moveTo>
                  <a:pt x="0" y="1008"/>
                </a:moveTo>
                <a:cubicBezTo>
                  <a:pt x="36" y="988"/>
                  <a:pt x="72" y="968"/>
                  <a:pt x="96" y="864"/>
                </a:cubicBezTo>
                <a:cubicBezTo>
                  <a:pt x="120" y="760"/>
                  <a:pt x="160" y="528"/>
                  <a:pt x="144" y="384"/>
                </a:cubicBezTo>
                <a:cubicBezTo>
                  <a:pt x="128" y="240"/>
                  <a:pt x="64" y="120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28" name="Text Box 28"/>
          <p:cNvSpPr txBox="1">
            <a:spLocks noChangeArrowheads="1"/>
          </p:cNvSpPr>
          <p:nvPr/>
        </p:nvSpPr>
        <p:spPr bwMode="auto">
          <a:xfrm>
            <a:off x="3962400" y="2971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179229" name="Freeform 29"/>
          <p:cNvSpPr>
            <a:spLocks/>
          </p:cNvSpPr>
          <p:nvPr/>
        </p:nvSpPr>
        <p:spPr bwMode="auto">
          <a:xfrm>
            <a:off x="2413000" y="3124200"/>
            <a:ext cx="177800" cy="762000"/>
          </a:xfrm>
          <a:custGeom>
            <a:avLst/>
            <a:gdLst>
              <a:gd name="T0" fmla="*/ 282257522 w 112"/>
              <a:gd name="T1" fmla="*/ 1209675089 h 480"/>
              <a:gd name="T2" fmla="*/ 40322501 w 112"/>
              <a:gd name="T3" fmla="*/ 846772682 h 480"/>
              <a:gd name="T4" fmla="*/ 40322501 w 112"/>
              <a:gd name="T5" fmla="*/ 362902507 h 480"/>
              <a:gd name="T6" fmla="*/ 282257522 w 112"/>
              <a:gd name="T7" fmla="*/ 0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112"/>
              <a:gd name="T13" fmla="*/ 0 h 480"/>
              <a:gd name="T14" fmla="*/ 112 w 112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" h="480">
                <a:moveTo>
                  <a:pt x="112" y="480"/>
                </a:moveTo>
                <a:cubicBezTo>
                  <a:pt x="72" y="436"/>
                  <a:pt x="32" y="392"/>
                  <a:pt x="16" y="336"/>
                </a:cubicBezTo>
                <a:cubicBezTo>
                  <a:pt x="0" y="280"/>
                  <a:pt x="0" y="200"/>
                  <a:pt x="16" y="144"/>
                </a:cubicBezTo>
                <a:cubicBezTo>
                  <a:pt x="32" y="88"/>
                  <a:pt x="72" y="44"/>
                  <a:pt x="11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0" name="Text Box 30"/>
          <p:cNvSpPr txBox="1">
            <a:spLocks noChangeArrowheads="1"/>
          </p:cNvSpPr>
          <p:nvPr/>
        </p:nvSpPr>
        <p:spPr bwMode="auto">
          <a:xfrm>
            <a:off x="2133600" y="33528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79231" name="Freeform 31"/>
          <p:cNvSpPr>
            <a:spLocks/>
          </p:cNvSpPr>
          <p:nvPr/>
        </p:nvSpPr>
        <p:spPr bwMode="auto">
          <a:xfrm>
            <a:off x="2286000" y="5029200"/>
            <a:ext cx="330200" cy="762000"/>
          </a:xfrm>
          <a:custGeom>
            <a:avLst/>
            <a:gdLst>
              <a:gd name="T0" fmla="*/ 483870056 w 208"/>
              <a:gd name="T1" fmla="*/ 1209675089 h 480"/>
              <a:gd name="T2" fmla="*/ 0 w 208"/>
              <a:gd name="T3" fmla="*/ 604837545 h 480"/>
              <a:gd name="T4" fmla="*/ 483870056 w 208"/>
              <a:gd name="T5" fmla="*/ 0 h 480"/>
              <a:gd name="T6" fmla="*/ 0 60000 65536"/>
              <a:gd name="T7" fmla="*/ 0 60000 65536"/>
              <a:gd name="T8" fmla="*/ 0 60000 65536"/>
              <a:gd name="T9" fmla="*/ 0 w 208"/>
              <a:gd name="T10" fmla="*/ 0 h 480"/>
              <a:gd name="T11" fmla="*/ 208 w 208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8" h="480">
                <a:moveTo>
                  <a:pt x="192" y="480"/>
                </a:moveTo>
                <a:cubicBezTo>
                  <a:pt x="96" y="400"/>
                  <a:pt x="0" y="320"/>
                  <a:pt x="0" y="240"/>
                </a:cubicBezTo>
                <a:cubicBezTo>
                  <a:pt x="0" y="160"/>
                  <a:pt x="208" y="40"/>
                  <a:pt x="19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2" name="Text Box 32"/>
          <p:cNvSpPr txBox="1">
            <a:spLocks noChangeArrowheads="1"/>
          </p:cNvSpPr>
          <p:nvPr/>
        </p:nvSpPr>
        <p:spPr bwMode="auto">
          <a:xfrm>
            <a:off x="2057400" y="51816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79233" name="Line 33"/>
          <p:cNvSpPr>
            <a:spLocks noChangeShapeType="1"/>
          </p:cNvSpPr>
          <p:nvPr/>
        </p:nvSpPr>
        <p:spPr bwMode="auto">
          <a:xfrm flipH="1">
            <a:off x="1600200" y="4572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4" name="Text Box 34"/>
          <p:cNvSpPr txBox="1">
            <a:spLocks noChangeArrowheads="1"/>
          </p:cNvSpPr>
          <p:nvPr/>
        </p:nvSpPr>
        <p:spPr bwMode="auto">
          <a:xfrm>
            <a:off x="1905000" y="4267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79235" name="Line 35"/>
          <p:cNvSpPr>
            <a:spLocks noChangeShapeType="1"/>
          </p:cNvSpPr>
          <p:nvPr/>
        </p:nvSpPr>
        <p:spPr bwMode="auto">
          <a:xfrm>
            <a:off x="5867400" y="1524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6" name="Text Box 36"/>
          <p:cNvSpPr txBox="1">
            <a:spLocks noChangeArrowheads="1"/>
          </p:cNvSpPr>
          <p:nvPr/>
        </p:nvSpPr>
        <p:spPr bwMode="auto">
          <a:xfrm>
            <a:off x="6096000" y="1143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179237" name="Text Box 37"/>
          <p:cNvSpPr txBox="1">
            <a:spLocks noChangeArrowheads="1"/>
          </p:cNvSpPr>
          <p:nvPr/>
        </p:nvSpPr>
        <p:spPr bwMode="auto">
          <a:xfrm>
            <a:off x="6858000" y="11430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9</a:t>
            </a: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E→E+T.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T→T.*F</a:t>
            </a:r>
          </a:p>
        </p:txBody>
      </p:sp>
      <p:sp>
        <p:nvSpPr>
          <p:cNvPr id="179238" name="Freeform 38"/>
          <p:cNvSpPr>
            <a:spLocks/>
          </p:cNvSpPr>
          <p:nvPr/>
        </p:nvSpPr>
        <p:spPr bwMode="auto">
          <a:xfrm>
            <a:off x="3810000" y="838200"/>
            <a:ext cx="838200" cy="2057400"/>
          </a:xfrm>
          <a:custGeom>
            <a:avLst/>
            <a:gdLst>
              <a:gd name="T0" fmla="*/ 1330642282 w 528"/>
              <a:gd name="T1" fmla="*/ 0 h 1296"/>
              <a:gd name="T2" fmla="*/ 846772505 w 528"/>
              <a:gd name="T3" fmla="*/ 604837471 h 1296"/>
              <a:gd name="T4" fmla="*/ 362902431 w 528"/>
              <a:gd name="T5" fmla="*/ 2147483647 h 1296"/>
              <a:gd name="T6" fmla="*/ 0 w 528"/>
              <a:gd name="T7" fmla="*/ 2147483647 h 1296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1296"/>
              <a:gd name="T14" fmla="*/ 528 w 528"/>
              <a:gd name="T15" fmla="*/ 1296 h 12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1296">
                <a:moveTo>
                  <a:pt x="528" y="0"/>
                </a:moveTo>
                <a:cubicBezTo>
                  <a:pt x="464" y="36"/>
                  <a:pt x="400" y="72"/>
                  <a:pt x="336" y="240"/>
                </a:cubicBezTo>
                <a:cubicBezTo>
                  <a:pt x="272" y="408"/>
                  <a:pt x="200" y="832"/>
                  <a:pt x="144" y="1008"/>
                </a:cubicBezTo>
                <a:cubicBezTo>
                  <a:pt x="88" y="1184"/>
                  <a:pt x="44" y="1240"/>
                  <a:pt x="0" y="129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39" name="Text Box 39"/>
          <p:cNvSpPr txBox="1">
            <a:spLocks noChangeArrowheads="1"/>
          </p:cNvSpPr>
          <p:nvPr/>
        </p:nvSpPr>
        <p:spPr bwMode="auto">
          <a:xfrm>
            <a:off x="4038600" y="1143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79240" name="Freeform 40"/>
          <p:cNvSpPr>
            <a:spLocks/>
          </p:cNvSpPr>
          <p:nvPr/>
        </p:nvSpPr>
        <p:spPr bwMode="auto">
          <a:xfrm>
            <a:off x="3810000" y="1219200"/>
            <a:ext cx="838200" cy="2819400"/>
          </a:xfrm>
          <a:custGeom>
            <a:avLst/>
            <a:gdLst>
              <a:gd name="T0" fmla="*/ 1330642282 w 528"/>
              <a:gd name="T1" fmla="*/ 0 h 1488"/>
              <a:gd name="T2" fmla="*/ 1088707393 w 528"/>
              <a:gd name="T3" fmla="*/ 1033950663 h 1488"/>
              <a:gd name="T4" fmla="*/ 604837419 w 528"/>
              <a:gd name="T5" fmla="*/ 2147483647 h 1488"/>
              <a:gd name="T6" fmla="*/ 0 w 528"/>
              <a:gd name="T7" fmla="*/ 2147483647 h 1488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1488"/>
              <a:gd name="T14" fmla="*/ 528 w 528"/>
              <a:gd name="T15" fmla="*/ 1488 h 1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1488">
                <a:moveTo>
                  <a:pt x="528" y="0"/>
                </a:moveTo>
                <a:cubicBezTo>
                  <a:pt x="504" y="48"/>
                  <a:pt x="480" y="96"/>
                  <a:pt x="432" y="288"/>
                </a:cubicBezTo>
                <a:cubicBezTo>
                  <a:pt x="384" y="480"/>
                  <a:pt x="312" y="952"/>
                  <a:pt x="240" y="1152"/>
                </a:cubicBezTo>
                <a:cubicBezTo>
                  <a:pt x="168" y="1352"/>
                  <a:pt x="84" y="1420"/>
                  <a:pt x="0" y="14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41" name="Text Box 41"/>
          <p:cNvSpPr txBox="1">
            <a:spLocks noChangeArrowheads="1"/>
          </p:cNvSpPr>
          <p:nvPr/>
        </p:nvSpPr>
        <p:spPr bwMode="auto">
          <a:xfrm>
            <a:off x="4295775" y="1447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79242" name="Text Box 42"/>
          <p:cNvSpPr txBox="1">
            <a:spLocks noChangeArrowheads="1"/>
          </p:cNvSpPr>
          <p:nvPr/>
        </p:nvSpPr>
        <p:spPr bwMode="auto">
          <a:xfrm>
            <a:off x="914400" y="5410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79243" name="Line 43"/>
          <p:cNvSpPr>
            <a:spLocks noChangeShapeType="1"/>
          </p:cNvSpPr>
          <p:nvPr/>
        </p:nvSpPr>
        <p:spPr bwMode="auto">
          <a:xfrm>
            <a:off x="5867400" y="28956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44" name="Text Box 44"/>
          <p:cNvSpPr txBox="1">
            <a:spLocks noChangeArrowheads="1"/>
          </p:cNvSpPr>
          <p:nvPr/>
        </p:nvSpPr>
        <p:spPr bwMode="auto">
          <a:xfrm>
            <a:off x="6172200" y="2590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79245" name="Text Box 45"/>
          <p:cNvSpPr txBox="1">
            <a:spLocks noChangeArrowheads="1"/>
          </p:cNvSpPr>
          <p:nvPr/>
        </p:nvSpPr>
        <p:spPr bwMode="auto">
          <a:xfrm>
            <a:off x="6858000" y="23622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10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T→T*F.</a:t>
            </a:r>
          </a:p>
        </p:txBody>
      </p:sp>
      <p:sp>
        <p:nvSpPr>
          <p:cNvPr id="179246" name="Text Box 46"/>
          <p:cNvSpPr txBox="1">
            <a:spLocks noChangeArrowheads="1"/>
          </p:cNvSpPr>
          <p:nvPr/>
        </p:nvSpPr>
        <p:spPr bwMode="auto">
          <a:xfrm>
            <a:off x="4343400" y="4648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79247" name="Text Box 47"/>
          <p:cNvSpPr txBox="1">
            <a:spLocks noChangeArrowheads="1"/>
          </p:cNvSpPr>
          <p:nvPr/>
        </p:nvSpPr>
        <p:spPr bwMode="auto">
          <a:xfrm>
            <a:off x="7391400" y="48910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b="1">
                <a:latin typeface="Times New Roman" pitchFamily="18" charset="0"/>
              </a:rPr>
              <a:t>)</a:t>
            </a:r>
          </a:p>
        </p:txBody>
      </p:sp>
      <p:sp>
        <p:nvSpPr>
          <p:cNvPr id="179248" name="Text Box 48"/>
          <p:cNvSpPr txBox="1">
            <a:spLocks noChangeArrowheads="1"/>
          </p:cNvSpPr>
          <p:nvPr/>
        </p:nvSpPr>
        <p:spPr bwMode="auto">
          <a:xfrm>
            <a:off x="6934200" y="54864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11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F→(E).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79249" name="Text Box 49"/>
          <p:cNvSpPr txBox="1">
            <a:spLocks noChangeArrowheads="1"/>
          </p:cNvSpPr>
          <p:nvPr/>
        </p:nvSpPr>
        <p:spPr bwMode="auto">
          <a:xfrm>
            <a:off x="7924800" y="533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+</a:t>
            </a:r>
          </a:p>
        </p:txBody>
      </p:sp>
      <p:sp>
        <p:nvSpPr>
          <p:cNvPr id="179250" name="Line 50"/>
          <p:cNvSpPr>
            <a:spLocks noChangeShapeType="1"/>
          </p:cNvSpPr>
          <p:nvPr/>
        </p:nvSpPr>
        <p:spPr bwMode="auto">
          <a:xfrm flipH="1">
            <a:off x="5867400" y="1981200"/>
            <a:ext cx="9906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51" name="Text Box 51"/>
          <p:cNvSpPr txBox="1">
            <a:spLocks noChangeArrowheads="1"/>
          </p:cNvSpPr>
          <p:nvPr/>
        </p:nvSpPr>
        <p:spPr bwMode="auto">
          <a:xfrm>
            <a:off x="63246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*</a:t>
            </a:r>
          </a:p>
        </p:txBody>
      </p:sp>
      <p:sp>
        <p:nvSpPr>
          <p:cNvPr id="179252" name="Freeform 52"/>
          <p:cNvSpPr>
            <a:spLocks/>
          </p:cNvSpPr>
          <p:nvPr/>
        </p:nvSpPr>
        <p:spPr bwMode="auto">
          <a:xfrm>
            <a:off x="5867400" y="685800"/>
            <a:ext cx="2743200" cy="3429000"/>
          </a:xfrm>
          <a:custGeom>
            <a:avLst/>
            <a:gdLst>
              <a:gd name="T0" fmla="*/ 2147483647 w 1712"/>
              <a:gd name="T1" fmla="*/ 2147483647 h 2352"/>
              <a:gd name="T2" fmla="*/ 2147483647 w 1712"/>
              <a:gd name="T3" fmla="*/ 2147483647 h 2352"/>
              <a:gd name="T4" fmla="*/ 2147483647 w 1712"/>
              <a:gd name="T5" fmla="*/ 1428332810 h 2352"/>
              <a:gd name="T6" fmla="*/ 2147483647 w 1712"/>
              <a:gd name="T7" fmla="*/ 408094750 h 2352"/>
              <a:gd name="T8" fmla="*/ 2147483647 w 1712"/>
              <a:gd name="T9" fmla="*/ 102024416 h 2352"/>
              <a:gd name="T10" fmla="*/ 0 w 1712"/>
              <a:gd name="T11" fmla="*/ 0 h 23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12"/>
              <a:gd name="T19" fmla="*/ 0 h 2352"/>
              <a:gd name="T20" fmla="*/ 1712 w 1712"/>
              <a:gd name="T21" fmla="*/ 2352 h 23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12" h="2352">
                <a:moveTo>
                  <a:pt x="1440" y="2352"/>
                </a:moveTo>
                <a:cubicBezTo>
                  <a:pt x="1516" y="2060"/>
                  <a:pt x="1592" y="1768"/>
                  <a:pt x="1632" y="1488"/>
                </a:cubicBezTo>
                <a:cubicBezTo>
                  <a:pt x="1672" y="1208"/>
                  <a:pt x="1712" y="888"/>
                  <a:pt x="1680" y="672"/>
                </a:cubicBezTo>
                <a:cubicBezTo>
                  <a:pt x="1648" y="456"/>
                  <a:pt x="1536" y="296"/>
                  <a:pt x="1440" y="192"/>
                </a:cubicBezTo>
                <a:cubicBezTo>
                  <a:pt x="1344" y="88"/>
                  <a:pt x="1344" y="80"/>
                  <a:pt x="1104" y="48"/>
                </a:cubicBezTo>
                <a:cubicBezTo>
                  <a:pt x="864" y="16"/>
                  <a:pt x="152" y="0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53" name="Line 53"/>
          <p:cNvSpPr>
            <a:spLocks noChangeShapeType="1"/>
          </p:cNvSpPr>
          <p:nvPr/>
        </p:nvSpPr>
        <p:spPr bwMode="auto">
          <a:xfrm>
            <a:off x="7620000" y="47244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54" name="Freeform 54"/>
          <p:cNvSpPr>
            <a:spLocks/>
          </p:cNvSpPr>
          <p:nvPr/>
        </p:nvSpPr>
        <p:spPr bwMode="auto">
          <a:xfrm>
            <a:off x="3810000" y="3657600"/>
            <a:ext cx="1016000" cy="1752600"/>
          </a:xfrm>
          <a:custGeom>
            <a:avLst/>
            <a:gdLst>
              <a:gd name="T0" fmla="*/ 1572577297 w 640"/>
              <a:gd name="T1" fmla="*/ 0 h 1104"/>
              <a:gd name="T2" fmla="*/ 1572577297 w 640"/>
              <a:gd name="T3" fmla="*/ 967739969 h 1104"/>
              <a:gd name="T4" fmla="*/ 1330642389 w 640"/>
              <a:gd name="T5" fmla="*/ 1451609755 h 1104"/>
              <a:gd name="T6" fmla="*/ 0 w 640"/>
              <a:gd name="T7" fmla="*/ 2147483647 h 1104"/>
              <a:gd name="T8" fmla="*/ 0 60000 65536"/>
              <a:gd name="T9" fmla="*/ 0 60000 65536"/>
              <a:gd name="T10" fmla="*/ 0 60000 65536"/>
              <a:gd name="T11" fmla="*/ 0 60000 65536"/>
              <a:gd name="T12" fmla="*/ 0 w 640"/>
              <a:gd name="T13" fmla="*/ 0 h 1104"/>
              <a:gd name="T14" fmla="*/ 640 w 640"/>
              <a:gd name="T15" fmla="*/ 1104 h 11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0" h="1104">
                <a:moveTo>
                  <a:pt x="624" y="0"/>
                </a:moveTo>
                <a:cubicBezTo>
                  <a:pt x="632" y="144"/>
                  <a:pt x="640" y="288"/>
                  <a:pt x="624" y="384"/>
                </a:cubicBezTo>
                <a:cubicBezTo>
                  <a:pt x="608" y="480"/>
                  <a:pt x="632" y="456"/>
                  <a:pt x="528" y="576"/>
                </a:cubicBezTo>
                <a:cubicBezTo>
                  <a:pt x="424" y="696"/>
                  <a:pt x="212" y="900"/>
                  <a:pt x="0" y="110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55" name="Freeform 55"/>
          <p:cNvSpPr>
            <a:spLocks/>
          </p:cNvSpPr>
          <p:nvPr/>
        </p:nvSpPr>
        <p:spPr bwMode="auto">
          <a:xfrm>
            <a:off x="990600" y="3657600"/>
            <a:ext cx="4622800" cy="2794000"/>
          </a:xfrm>
          <a:custGeom>
            <a:avLst/>
            <a:gdLst>
              <a:gd name="T0" fmla="*/ 2147483647 w 2912"/>
              <a:gd name="T1" fmla="*/ 0 h 1760"/>
              <a:gd name="T2" fmla="*/ 2147483647 w 2912"/>
              <a:gd name="T3" fmla="*/ 2056447723 h 1760"/>
              <a:gd name="T4" fmla="*/ 2147483647 w 2912"/>
              <a:gd name="T5" fmla="*/ 2147483647 h 1760"/>
              <a:gd name="T6" fmla="*/ 2147483647 w 2912"/>
              <a:gd name="T7" fmla="*/ 2147483647 h 1760"/>
              <a:gd name="T8" fmla="*/ 2056447604 w 2912"/>
              <a:gd name="T9" fmla="*/ 2147483647 h 1760"/>
              <a:gd name="T10" fmla="*/ 1209674991 w 2912"/>
              <a:gd name="T11" fmla="*/ 2147483647 h 1760"/>
              <a:gd name="T12" fmla="*/ 362902478 w 2912"/>
              <a:gd name="T13" fmla="*/ 2147483647 h 1760"/>
              <a:gd name="T14" fmla="*/ 0 w 2912"/>
              <a:gd name="T15" fmla="*/ 1935480257 h 17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912"/>
              <a:gd name="T25" fmla="*/ 0 h 1760"/>
              <a:gd name="T26" fmla="*/ 2912 w 2912"/>
              <a:gd name="T27" fmla="*/ 1760 h 17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912" h="1760">
                <a:moveTo>
                  <a:pt x="2880" y="0"/>
                </a:moveTo>
                <a:cubicBezTo>
                  <a:pt x="2896" y="280"/>
                  <a:pt x="2912" y="560"/>
                  <a:pt x="2832" y="816"/>
                </a:cubicBezTo>
                <a:cubicBezTo>
                  <a:pt x="2752" y="1072"/>
                  <a:pt x="2544" y="1384"/>
                  <a:pt x="2400" y="1536"/>
                </a:cubicBezTo>
                <a:cubicBezTo>
                  <a:pt x="2256" y="1688"/>
                  <a:pt x="2232" y="1696"/>
                  <a:pt x="1968" y="1728"/>
                </a:cubicBezTo>
                <a:cubicBezTo>
                  <a:pt x="1704" y="1760"/>
                  <a:pt x="1064" y="1752"/>
                  <a:pt x="816" y="1728"/>
                </a:cubicBezTo>
                <a:cubicBezTo>
                  <a:pt x="568" y="1704"/>
                  <a:pt x="592" y="1672"/>
                  <a:pt x="480" y="1584"/>
                </a:cubicBezTo>
                <a:cubicBezTo>
                  <a:pt x="368" y="1496"/>
                  <a:pt x="224" y="1336"/>
                  <a:pt x="144" y="1200"/>
                </a:cubicBezTo>
                <a:cubicBezTo>
                  <a:pt x="64" y="1064"/>
                  <a:pt x="8" y="856"/>
                  <a:pt x="0" y="7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56" name="Text Box 56"/>
          <p:cNvSpPr txBox="1">
            <a:spLocks noChangeArrowheads="1"/>
          </p:cNvSpPr>
          <p:nvPr/>
        </p:nvSpPr>
        <p:spPr bwMode="auto">
          <a:xfrm>
            <a:off x="6629400" y="76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79257" name="Freeform 57"/>
          <p:cNvSpPr>
            <a:spLocks/>
          </p:cNvSpPr>
          <p:nvPr/>
        </p:nvSpPr>
        <p:spPr bwMode="auto">
          <a:xfrm>
            <a:off x="520700" y="444500"/>
            <a:ext cx="8572500" cy="6248400"/>
          </a:xfrm>
          <a:custGeom>
            <a:avLst/>
            <a:gdLst>
              <a:gd name="T0" fmla="*/ 2147483647 w 5400"/>
              <a:gd name="T1" fmla="*/ 20161251 h 3936"/>
              <a:gd name="T2" fmla="*/ 2147483647 w 5400"/>
              <a:gd name="T3" fmla="*/ 20161251 h 3936"/>
              <a:gd name="T4" fmla="*/ 2147483647 w 5400"/>
              <a:gd name="T5" fmla="*/ 141128765 h 3936"/>
              <a:gd name="T6" fmla="*/ 2147483647 w 5400"/>
              <a:gd name="T7" fmla="*/ 504031323 h 3936"/>
              <a:gd name="T8" fmla="*/ 2147483647 w 5400"/>
              <a:gd name="T9" fmla="*/ 987901402 h 3936"/>
              <a:gd name="T10" fmla="*/ 2147483647 w 5400"/>
              <a:gd name="T11" fmla="*/ 1834674089 h 3936"/>
              <a:gd name="T12" fmla="*/ 2147483647 w 5400"/>
              <a:gd name="T13" fmla="*/ 2147483647 h 3936"/>
              <a:gd name="T14" fmla="*/ 2147483647 w 5400"/>
              <a:gd name="T15" fmla="*/ 2147483647 h 3936"/>
              <a:gd name="T16" fmla="*/ 2147483647 w 5400"/>
              <a:gd name="T17" fmla="*/ 2147483647 h 3936"/>
              <a:gd name="T18" fmla="*/ 383063711 w 5400"/>
              <a:gd name="T19" fmla="*/ 2147483647 h 3936"/>
              <a:gd name="T20" fmla="*/ 20161249 w 5400"/>
              <a:gd name="T21" fmla="*/ 2147483647 h 39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400"/>
              <a:gd name="T34" fmla="*/ 0 h 3936"/>
              <a:gd name="T35" fmla="*/ 5400 w 5400"/>
              <a:gd name="T36" fmla="*/ 3936 h 39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400" h="3936">
                <a:moveTo>
                  <a:pt x="3368" y="8"/>
                </a:moveTo>
                <a:cubicBezTo>
                  <a:pt x="3884" y="4"/>
                  <a:pt x="4400" y="0"/>
                  <a:pt x="4664" y="8"/>
                </a:cubicBezTo>
                <a:cubicBezTo>
                  <a:pt x="4928" y="16"/>
                  <a:pt x="4880" y="24"/>
                  <a:pt x="4952" y="56"/>
                </a:cubicBezTo>
                <a:cubicBezTo>
                  <a:pt x="5024" y="88"/>
                  <a:pt x="5056" y="144"/>
                  <a:pt x="5096" y="200"/>
                </a:cubicBezTo>
                <a:cubicBezTo>
                  <a:pt x="5136" y="256"/>
                  <a:pt x="5168" y="304"/>
                  <a:pt x="5192" y="392"/>
                </a:cubicBezTo>
                <a:cubicBezTo>
                  <a:pt x="5216" y="480"/>
                  <a:pt x="5232" y="224"/>
                  <a:pt x="5240" y="728"/>
                </a:cubicBezTo>
                <a:cubicBezTo>
                  <a:pt x="5248" y="1232"/>
                  <a:pt x="5400" y="2896"/>
                  <a:pt x="5240" y="3416"/>
                </a:cubicBezTo>
                <a:cubicBezTo>
                  <a:pt x="5080" y="3936"/>
                  <a:pt x="5000" y="3776"/>
                  <a:pt x="4280" y="3848"/>
                </a:cubicBezTo>
                <a:cubicBezTo>
                  <a:pt x="3560" y="3920"/>
                  <a:pt x="1608" y="3904"/>
                  <a:pt x="920" y="3848"/>
                </a:cubicBezTo>
                <a:cubicBezTo>
                  <a:pt x="232" y="3792"/>
                  <a:pt x="304" y="3688"/>
                  <a:pt x="152" y="3512"/>
                </a:cubicBezTo>
                <a:cubicBezTo>
                  <a:pt x="0" y="3336"/>
                  <a:pt x="24" y="2904"/>
                  <a:pt x="8" y="279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258" name="AutoShape 58"/>
          <p:cNvSpPr>
            <a:spLocks noChangeArrowheads="1"/>
          </p:cNvSpPr>
          <p:nvPr/>
        </p:nvSpPr>
        <p:spPr bwMode="auto">
          <a:xfrm>
            <a:off x="5148263" y="5300663"/>
            <a:ext cx="1728787" cy="1225550"/>
          </a:xfrm>
          <a:prstGeom prst="wedgeRoundRectCallout">
            <a:avLst>
              <a:gd name="adj1" fmla="val -50458"/>
              <a:gd name="adj2" fmla="val 13861"/>
              <a:gd name="adj3" fmla="val 16667"/>
            </a:avLst>
          </a:prstGeom>
          <a:solidFill>
            <a:srgbClr val="0066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 sz="3600" b="1">
                <a:solidFill>
                  <a:schemeClr val="bg1"/>
                </a:solidFill>
                <a:ea typeface="华文新魏" pitchFamily="2" charset="-122"/>
              </a:rPr>
              <a:t>项目集规范族</a:t>
            </a:r>
          </a:p>
        </p:txBody>
      </p:sp>
      <p:sp>
        <p:nvSpPr>
          <p:cNvPr id="103483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0833D71C-9BB5-48AC-9318-DF992B0AA9A5}" type="slidenum">
              <a:rPr lang="en-US" altLang="zh-CN" sz="1400"/>
              <a:pPr algn="r" eaLnBrk="1" hangingPunct="1"/>
              <a:t>77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476250"/>
            <a:ext cx="6408738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七、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分析表的构造</a:t>
            </a:r>
            <a:endParaRPr lang="zh-CN" altLang="en-US" sz="24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04451" name="Rectangle 4"/>
          <p:cNvSpPr>
            <a:spLocks noGrp="1" noChangeArrowheads="1"/>
          </p:cNvSpPr>
          <p:nvPr>
            <p:ph idx="1"/>
          </p:nvPr>
        </p:nvSpPr>
        <p:spPr>
          <a:xfrm>
            <a:off x="468313" y="2017713"/>
            <a:ext cx="8486775" cy="4114800"/>
          </a:xfrm>
        </p:spPr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计算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zh-CN" b="1" smtClean="0">
                <a:latin typeface="Times New Roman" pitchFamily="18" charset="0"/>
                <a:ea typeface="华文新魏" pitchFamily="2" charset="-122"/>
              </a:rPr>
              <a:t>项目集规范族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分析器状态集合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eaLnBrk="1" hangingPunct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设文法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G=(V</a:t>
            </a: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T</a:t>
            </a: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S)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的拓广文法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G'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3200" b="1" baseline="-25000" smtClean="0"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=CLOSURE({S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'</a:t>
            </a: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→.S})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C={I</a:t>
            </a:r>
            <a:r>
              <a:rPr lang="en-US" altLang="zh-CN" sz="3200" b="1" baseline="-25000" smtClean="0"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}∪{I|</a:t>
            </a:r>
            <a:r>
              <a:rPr lang="en-US" altLang="zh-CN" sz="3200" b="1" smtClean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</a:t>
            </a: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J∈C,X∈V∪T,I=go(J,X)}</a:t>
            </a:r>
          </a:p>
          <a:p>
            <a:pPr eaLnBrk="1" hangingPunct="1">
              <a:spcBef>
                <a:spcPct val="4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称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为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G'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项目集规范族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en-US" altLang="zh-CN" sz="2000" b="1" smtClean="0">
                <a:latin typeface="Times New Roman" pitchFamily="18" charset="0"/>
                <a:ea typeface="楷体_GB2312" pitchFamily="49" charset="-122"/>
              </a:rPr>
              <a:t>Canonical Collection)</a:t>
            </a:r>
          </a:p>
        </p:txBody>
      </p:sp>
      <p:sp>
        <p:nvSpPr>
          <p:cNvPr id="1044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07E67C1-8DB4-408D-B7C6-3646DFFFF888}" type="slidenum">
              <a:rPr lang="en-US" altLang="zh-CN" smtClean="0"/>
              <a:pPr eaLnBrk="1" hangingPunct="1"/>
              <a:t>78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476250"/>
            <a:ext cx="7561263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七、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分析表的构造</a:t>
            </a:r>
            <a:b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</a:b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         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计算</a:t>
            </a:r>
            <a:r>
              <a:rPr lang="en-US" altLang="zh-CN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zh-CN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项目集规范族C</a:t>
            </a:r>
            <a:r>
              <a:rPr lang="en-US" altLang="zh-CN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分析器状态集合</a:t>
            </a:r>
            <a:r>
              <a:rPr lang="en-US" altLang="zh-CN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981200"/>
            <a:ext cx="8610600" cy="47244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begin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C := {closure({ S'→.S})};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 repeat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    for </a:t>
            </a:r>
            <a:r>
              <a:rPr lang="en-US" altLang="zh-CN" sz="3000" b="1" smtClean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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I∈C</a:t>
            </a: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zh-CN" altLang="en-US" sz="3000" b="1" smtClean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 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X∈V</a:t>
            </a:r>
            <a:r>
              <a:rPr lang="en-US" altLang="zh-CN" sz="3000" b="1" smtClean="0">
                <a:latin typeface="Times New Roman" pitchFamily="18" charset="0"/>
                <a:ea typeface="楷体_GB2312" pitchFamily="49" charset="-122"/>
              </a:rPr>
              <a:t>∪T</a:t>
            </a:r>
            <a:endParaRPr lang="en-US" altLang="zh-CN" b="1" baseline="-25000" smtClean="0">
              <a:latin typeface="Times New Roman" pitchFamily="18" charset="0"/>
              <a:ea typeface="楷体_GB2312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       if go(I,X)≠Φ &amp; go(I,X)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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C then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				C=C∪{go(I,X)}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  until C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不变化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end</a:t>
            </a:r>
          </a:p>
        </p:txBody>
      </p:sp>
      <p:sp>
        <p:nvSpPr>
          <p:cNvPr id="10547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8F56145-7C2D-4E1D-AB39-B0198231F2D3}" type="slidenum">
              <a:rPr lang="en-US" altLang="zh-CN" smtClean="0"/>
              <a:pPr eaLnBrk="1" hangingPunct="1"/>
              <a:t>79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620713"/>
            <a:ext cx="7366000" cy="1163637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表达式文法的项目集规范族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2017713"/>
            <a:ext cx="8343900" cy="41148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defRPr/>
            </a:pPr>
            <a:r>
              <a:rPr lang="en-US" altLang="zh-CN" b="1">
                <a:latin typeface="Times New Roman" pitchFamily="18" charset="0"/>
              </a:rPr>
              <a:t>C={I</a:t>
            </a:r>
            <a:r>
              <a:rPr lang="en-US" altLang="zh-CN" b="1" baseline="-25000">
                <a:latin typeface="Times New Roman" pitchFamily="18" charset="0"/>
              </a:rPr>
              <a:t>0</a:t>
            </a:r>
            <a:r>
              <a:rPr lang="en-US" altLang="zh-CN" b="1">
                <a:latin typeface="Times New Roman" pitchFamily="18" charset="0"/>
              </a:rPr>
              <a:t>,I</a:t>
            </a:r>
            <a:r>
              <a:rPr lang="en-US" altLang="zh-CN" b="1" baseline="-25000">
                <a:latin typeface="Times New Roman" pitchFamily="18" charset="0"/>
              </a:rPr>
              <a:t>1</a:t>
            </a:r>
            <a:r>
              <a:rPr lang="en-US" altLang="zh-CN" b="1">
                <a:latin typeface="Times New Roman" pitchFamily="18" charset="0"/>
              </a:rPr>
              <a:t>,……,I</a:t>
            </a:r>
            <a:r>
              <a:rPr lang="en-US" altLang="zh-CN" b="1" baseline="-25000">
                <a:latin typeface="Times New Roman" pitchFamily="18" charset="0"/>
              </a:rPr>
              <a:t>11</a:t>
            </a:r>
            <a:r>
              <a:rPr lang="en-US" altLang="zh-CN" b="1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altLang="zh-CN" b="1">
                <a:latin typeface="Times New Roman" pitchFamily="18" charset="0"/>
              </a:rPr>
              <a:t>C</a:t>
            </a:r>
            <a:r>
              <a:rPr lang="en-US" altLang="zh-CN" sz="2400" b="1">
                <a:latin typeface="Times New Roman" pitchFamily="18" charset="0"/>
              </a:rPr>
              <a:t>={{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'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→.E ,E→.E+T,E→.T,T→.T*F,T→.F,F→.(E),F→.id},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{E</a:t>
            </a:r>
            <a:r>
              <a:rPr lang="en-US" altLang="zh-CN" sz="2400" b="1">
                <a:latin typeface="Times New Roman" pitchFamily="18" charset="0"/>
                <a:ea typeface="华文新魏" pitchFamily="2" charset="-122"/>
              </a:rPr>
              <a:t>'</a:t>
            </a:r>
            <a:r>
              <a:rPr kumimoji="1" lang="en-US" altLang="zh-CN" sz="24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→E. ,→E.+T}, 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{E→T.T→T.*F}, 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{T→F.},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{F→(.E ),E→.E+T,E→.T,T→.T*F,T→.F,F→.(E),F→.id,},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{F→id.},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{E→E+.T,T→.T*F,T→.F,F→.(E),F→.id},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{T→T*.F,F→.(E),F→.id}, 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{F→ (E.),E→E.+T},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itchFamily="2" charset="2"/>
              <a:buNone/>
              <a:defRPr/>
            </a:pP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{E→E+T.,T→T.*F},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{T→T*F.}, </a:t>
            </a:r>
            <a:r>
              <a:rPr kumimoji="1" lang="en-US" altLang="zh-CN"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{F→(E).}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}</a:t>
            </a:r>
          </a:p>
        </p:txBody>
      </p:sp>
      <p:sp>
        <p:nvSpPr>
          <p:cNvPr id="10650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D2BCB76-98B6-4CCB-BA46-AA2A9088D5F1}" type="slidenum">
              <a:rPr lang="en-US" altLang="zh-CN" smtClean="0"/>
              <a:pPr eaLnBrk="1" hangingPunct="1"/>
              <a:t>80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ext Box 2"/>
          <p:cNvSpPr txBox="1">
            <a:spLocks noChangeArrowheads="1"/>
          </p:cNvSpPr>
          <p:nvPr/>
        </p:nvSpPr>
        <p:spPr bwMode="auto">
          <a:xfrm>
            <a:off x="457200" y="304800"/>
            <a:ext cx="1219200" cy="2543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lang="en-US" altLang="zh-CN" b="1"/>
              <a:t>'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→.E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E→.E+T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</a:p>
        </p:txBody>
      </p:sp>
      <p:sp>
        <p:nvSpPr>
          <p:cNvPr id="107523" name="Line 3"/>
          <p:cNvSpPr>
            <a:spLocks noChangeShapeType="1"/>
          </p:cNvSpPr>
          <p:nvPr/>
        </p:nvSpPr>
        <p:spPr bwMode="auto">
          <a:xfrm>
            <a:off x="1676400" y="381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1905000" y="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E</a:t>
            </a:r>
          </a:p>
        </p:txBody>
      </p:sp>
      <p:sp>
        <p:nvSpPr>
          <p:cNvPr id="181253" name="Text Box 5"/>
          <p:cNvSpPr txBox="1">
            <a:spLocks noChangeArrowheads="1"/>
          </p:cNvSpPr>
          <p:nvPr/>
        </p:nvSpPr>
        <p:spPr bwMode="auto">
          <a:xfrm>
            <a:off x="2590800" y="2286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lang="en-US" altLang="zh-CN" b="1"/>
              <a:t>'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→E.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E→E.+T</a:t>
            </a:r>
          </a:p>
        </p:txBody>
      </p:sp>
      <p:sp>
        <p:nvSpPr>
          <p:cNvPr id="107526" name="Line 6"/>
          <p:cNvSpPr>
            <a:spLocks noChangeShapeType="1"/>
          </p:cNvSpPr>
          <p:nvPr/>
        </p:nvSpPr>
        <p:spPr bwMode="auto">
          <a:xfrm>
            <a:off x="1676400" y="2057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27" name="Text Box 7"/>
          <p:cNvSpPr txBox="1">
            <a:spLocks noChangeArrowheads="1"/>
          </p:cNvSpPr>
          <p:nvPr/>
        </p:nvSpPr>
        <p:spPr bwMode="auto">
          <a:xfrm>
            <a:off x="1905000" y="1752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181256" name="Text Box 8"/>
          <p:cNvSpPr txBox="1">
            <a:spLocks noChangeArrowheads="1"/>
          </p:cNvSpPr>
          <p:nvPr/>
        </p:nvSpPr>
        <p:spPr bwMode="auto">
          <a:xfrm>
            <a:off x="2590800" y="1419225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E→T.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T→T.*F</a:t>
            </a:r>
            <a:endParaRPr kumimoji="1" lang="en-US" altLang="zh-CN" sz="20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07529" name="Line 9"/>
          <p:cNvSpPr>
            <a:spLocks noChangeShapeType="1"/>
          </p:cNvSpPr>
          <p:nvPr/>
        </p:nvSpPr>
        <p:spPr bwMode="auto">
          <a:xfrm>
            <a:off x="1676400" y="2819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30" name="Text Box 10"/>
          <p:cNvSpPr txBox="1">
            <a:spLocks noChangeArrowheads="1"/>
          </p:cNvSpPr>
          <p:nvPr/>
        </p:nvSpPr>
        <p:spPr bwMode="auto">
          <a:xfrm>
            <a:off x="1981200" y="2498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81259" name="Text Box 11"/>
          <p:cNvSpPr txBox="1">
            <a:spLocks noChangeArrowheads="1"/>
          </p:cNvSpPr>
          <p:nvPr/>
        </p:nvSpPr>
        <p:spPr bwMode="auto">
          <a:xfrm>
            <a:off x="2590800" y="25908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T→F.</a:t>
            </a:r>
          </a:p>
        </p:txBody>
      </p:sp>
      <p:sp>
        <p:nvSpPr>
          <p:cNvPr id="107532" name="Freeform 12"/>
          <p:cNvSpPr>
            <a:spLocks/>
          </p:cNvSpPr>
          <p:nvPr/>
        </p:nvSpPr>
        <p:spPr bwMode="auto">
          <a:xfrm>
            <a:off x="1346200" y="2895600"/>
            <a:ext cx="1244600" cy="1219200"/>
          </a:xfrm>
          <a:custGeom>
            <a:avLst/>
            <a:gdLst>
              <a:gd name="T0" fmla="*/ 45754267 w 736"/>
              <a:gd name="T1" fmla="*/ 0 h 768"/>
              <a:gd name="T2" fmla="*/ 45754267 w 736"/>
              <a:gd name="T3" fmla="*/ 967740089 h 768"/>
              <a:gd name="T4" fmla="*/ 320274811 w 736"/>
              <a:gd name="T5" fmla="*/ 1451609935 h 768"/>
              <a:gd name="T6" fmla="*/ 869315820 w 736"/>
              <a:gd name="T7" fmla="*/ 1693545255 h 768"/>
              <a:gd name="T8" fmla="*/ 2104659332 w 736"/>
              <a:gd name="T9" fmla="*/ 1935480178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36"/>
              <a:gd name="T16" fmla="*/ 0 h 768"/>
              <a:gd name="T17" fmla="*/ 736 w 736"/>
              <a:gd name="T18" fmla="*/ 768 h 7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36" h="768">
                <a:moveTo>
                  <a:pt x="16" y="0"/>
                </a:moveTo>
                <a:cubicBezTo>
                  <a:pt x="8" y="144"/>
                  <a:pt x="0" y="288"/>
                  <a:pt x="16" y="384"/>
                </a:cubicBezTo>
                <a:cubicBezTo>
                  <a:pt x="32" y="480"/>
                  <a:pt x="64" y="528"/>
                  <a:pt x="112" y="576"/>
                </a:cubicBezTo>
                <a:cubicBezTo>
                  <a:pt x="160" y="624"/>
                  <a:pt x="200" y="640"/>
                  <a:pt x="304" y="672"/>
                </a:cubicBezTo>
                <a:cubicBezTo>
                  <a:pt x="408" y="704"/>
                  <a:pt x="572" y="736"/>
                  <a:pt x="736" y="7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33" name="Text Box 13"/>
          <p:cNvSpPr txBox="1">
            <a:spLocks noChangeArrowheads="1"/>
          </p:cNvSpPr>
          <p:nvPr/>
        </p:nvSpPr>
        <p:spPr bwMode="auto">
          <a:xfrm>
            <a:off x="1981200" y="36576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81262" name="Text Box 14"/>
          <p:cNvSpPr txBox="1">
            <a:spLocks noChangeArrowheads="1"/>
          </p:cNvSpPr>
          <p:nvPr/>
        </p:nvSpPr>
        <p:spPr bwMode="auto">
          <a:xfrm>
            <a:off x="2590800" y="3581400"/>
            <a:ext cx="1219200" cy="2543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4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F→(.E 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E→.E+T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07535" name="Line 15"/>
          <p:cNvSpPr>
            <a:spLocks noChangeShapeType="1"/>
          </p:cNvSpPr>
          <p:nvPr/>
        </p:nvSpPr>
        <p:spPr bwMode="auto">
          <a:xfrm>
            <a:off x="685800" y="28956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36" name="Text Box 16"/>
          <p:cNvSpPr txBox="1">
            <a:spLocks noChangeArrowheads="1"/>
          </p:cNvSpPr>
          <p:nvPr/>
        </p:nvSpPr>
        <p:spPr bwMode="auto">
          <a:xfrm>
            <a:off x="685800" y="34290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81265" name="Text Box 17"/>
          <p:cNvSpPr txBox="1">
            <a:spLocks noChangeArrowheads="1"/>
          </p:cNvSpPr>
          <p:nvPr/>
        </p:nvSpPr>
        <p:spPr bwMode="auto">
          <a:xfrm>
            <a:off x="381000" y="41910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5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F→id.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07538" name="Line 18"/>
          <p:cNvSpPr>
            <a:spLocks noChangeShapeType="1"/>
          </p:cNvSpPr>
          <p:nvPr/>
        </p:nvSpPr>
        <p:spPr bwMode="auto">
          <a:xfrm>
            <a:off x="3810000" y="3810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39" name="Text Box 19"/>
          <p:cNvSpPr txBox="1">
            <a:spLocks noChangeArrowheads="1"/>
          </p:cNvSpPr>
          <p:nvPr/>
        </p:nvSpPr>
        <p:spPr bwMode="auto">
          <a:xfrm>
            <a:off x="4114800" y="762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+</a:t>
            </a:r>
          </a:p>
        </p:txBody>
      </p:sp>
      <p:sp>
        <p:nvSpPr>
          <p:cNvPr id="181268" name="Text Box 20"/>
          <p:cNvSpPr txBox="1">
            <a:spLocks noChangeArrowheads="1"/>
          </p:cNvSpPr>
          <p:nvPr/>
        </p:nvSpPr>
        <p:spPr bwMode="auto">
          <a:xfrm>
            <a:off x="4648200" y="228600"/>
            <a:ext cx="1219200" cy="1933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6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E→E+.T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</a:p>
        </p:txBody>
      </p:sp>
      <p:sp>
        <p:nvSpPr>
          <p:cNvPr id="107541" name="Line 21"/>
          <p:cNvSpPr>
            <a:spLocks noChangeShapeType="1"/>
          </p:cNvSpPr>
          <p:nvPr/>
        </p:nvSpPr>
        <p:spPr bwMode="auto">
          <a:xfrm>
            <a:off x="3810000" y="1981200"/>
            <a:ext cx="8382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42" name="Text Box 22"/>
          <p:cNvSpPr txBox="1">
            <a:spLocks noChangeArrowheads="1"/>
          </p:cNvSpPr>
          <p:nvPr/>
        </p:nvSpPr>
        <p:spPr bwMode="auto">
          <a:xfrm>
            <a:off x="4038600" y="2133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*</a:t>
            </a:r>
          </a:p>
        </p:txBody>
      </p:sp>
      <p:sp>
        <p:nvSpPr>
          <p:cNvPr id="181271" name="Text Box 23"/>
          <p:cNvSpPr txBox="1">
            <a:spLocks noChangeArrowheads="1"/>
          </p:cNvSpPr>
          <p:nvPr/>
        </p:nvSpPr>
        <p:spPr bwMode="auto">
          <a:xfrm>
            <a:off x="4648200" y="2286000"/>
            <a:ext cx="1219200" cy="13239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T→T*.F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07544" name="Line 24"/>
          <p:cNvSpPr>
            <a:spLocks noChangeShapeType="1"/>
          </p:cNvSpPr>
          <p:nvPr/>
        </p:nvSpPr>
        <p:spPr bwMode="auto">
          <a:xfrm>
            <a:off x="3810000" y="4114800"/>
            <a:ext cx="3124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45" name="Text Box 25"/>
          <p:cNvSpPr txBox="1">
            <a:spLocks noChangeArrowheads="1"/>
          </p:cNvSpPr>
          <p:nvPr/>
        </p:nvSpPr>
        <p:spPr bwMode="auto">
          <a:xfrm>
            <a:off x="5029200" y="38100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E</a:t>
            </a:r>
          </a:p>
        </p:txBody>
      </p:sp>
      <p:sp>
        <p:nvSpPr>
          <p:cNvPr id="181274" name="Text Box 26"/>
          <p:cNvSpPr txBox="1">
            <a:spLocks noChangeArrowheads="1"/>
          </p:cNvSpPr>
          <p:nvPr/>
        </p:nvSpPr>
        <p:spPr bwMode="auto">
          <a:xfrm>
            <a:off x="6934200" y="36576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8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 (E.)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E→E.+T</a:t>
            </a:r>
          </a:p>
        </p:txBody>
      </p:sp>
      <p:sp>
        <p:nvSpPr>
          <p:cNvPr id="107547" name="Freeform 27"/>
          <p:cNvSpPr>
            <a:spLocks/>
          </p:cNvSpPr>
          <p:nvPr/>
        </p:nvSpPr>
        <p:spPr bwMode="auto">
          <a:xfrm>
            <a:off x="3810000" y="2286000"/>
            <a:ext cx="254000" cy="1600200"/>
          </a:xfrm>
          <a:custGeom>
            <a:avLst/>
            <a:gdLst>
              <a:gd name="T0" fmla="*/ 0 w 160"/>
              <a:gd name="T1" fmla="*/ 2147483647 h 1008"/>
              <a:gd name="T2" fmla="*/ 241935007 w 160"/>
              <a:gd name="T3" fmla="*/ 2147483647 h 1008"/>
              <a:gd name="T4" fmla="*/ 362902461 w 160"/>
              <a:gd name="T5" fmla="*/ 967740162 h 1008"/>
              <a:gd name="T6" fmla="*/ 0 w 160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160"/>
              <a:gd name="T13" fmla="*/ 0 h 1008"/>
              <a:gd name="T14" fmla="*/ 160 w 160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0" h="1008">
                <a:moveTo>
                  <a:pt x="0" y="1008"/>
                </a:moveTo>
                <a:cubicBezTo>
                  <a:pt x="36" y="988"/>
                  <a:pt x="72" y="968"/>
                  <a:pt x="96" y="864"/>
                </a:cubicBezTo>
                <a:cubicBezTo>
                  <a:pt x="120" y="760"/>
                  <a:pt x="160" y="528"/>
                  <a:pt x="144" y="384"/>
                </a:cubicBezTo>
                <a:cubicBezTo>
                  <a:pt x="128" y="240"/>
                  <a:pt x="64" y="120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48" name="Text Box 28"/>
          <p:cNvSpPr txBox="1">
            <a:spLocks noChangeArrowheads="1"/>
          </p:cNvSpPr>
          <p:nvPr/>
        </p:nvSpPr>
        <p:spPr bwMode="auto">
          <a:xfrm>
            <a:off x="3962400" y="2971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107549" name="Freeform 29"/>
          <p:cNvSpPr>
            <a:spLocks/>
          </p:cNvSpPr>
          <p:nvPr/>
        </p:nvSpPr>
        <p:spPr bwMode="auto">
          <a:xfrm>
            <a:off x="2413000" y="3124200"/>
            <a:ext cx="177800" cy="762000"/>
          </a:xfrm>
          <a:custGeom>
            <a:avLst/>
            <a:gdLst>
              <a:gd name="T0" fmla="*/ 282257522 w 112"/>
              <a:gd name="T1" fmla="*/ 1209675089 h 480"/>
              <a:gd name="T2" fmla="*/ 40322501 w 112"/>
              <a:gd name="T3" fmla="*/ 846772682 h 480"/>
              <a:gd name="T4" fmla="*/ 40322501 w 112"/>
              <a:gd name="T5" fmla="*/ 362902507 h 480"/>
              <a:gd name="T6" fmla="*/ 282257522 w 112"/>
              <a:gd name="T7" fmla="*/ 0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112"/>
              <a:gd name="T13" fmla="*/ 0 h 480"/>
              <a:gd name="T14" fmla="*/ 112 w 112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" h="480">
                <a:moveTo>
                  <a:pt x="112" y="480"/>
                </a:moveTo>
                <a:cubicBezTo>
                  <a:pt x="72" y="436"/>
                  <a:pt x="32" y="392"/>
                  <a:pt x="16" y="336"/>
                </a:cubicBezTo>
                <a:cubicBezTo>
                  <a:pt x="0" y="280"/>
                  <a:pt x="0" y="200"/>
                  <a:pt x="16" y="144"/>
                </a:cubicBezTo>
                <a:cubicBezTo>
                  <a:pt x="32" y="88"/>
                  <a:pt x="72" y="44"/>
                  <a:pt x="11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0" name="Text Box 30"/>
          <p:cNvSpPr txBox="1">
            <a:spLocks noChangeArrowheads="1"/>
          </p:cNvSpPr>
          <p:nvPr/>
        </p:nvSpPr>
        <p:spPr bwMode="auto">
          <a:xfrm>
            <a:off x="2133600" y="33528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07551" name="Freeform 31"/>
          <p:cNvSpPr>
            <a:spLocks/>
          </p:cNvSpPr>
          <p:nvPr/>
        </p:nvSpPr>
        <p:spPr bwMode="auto">
          <a:xfrm>
            <a:off x="2286000" y="5029200"/>
            <a:ext cx="330200" cy="762000"/>
          </a:xfrm>
          <a:custGeom>
            <a:avLst/>
            <a:gdLst>
              <a:gd name="T0" fmla="*/ 483870056 w 208"/>
              <a:gd name="T1" fmla="*/ 1209675089 h 480"/>
              <a:gd name="T2" fmla="*/ 0 w 208"/>
              <a:gd name="T3" fmla="*/ 604837545 h 480"/>
              <a:gd name="T4" fmla="*/ 483870056 w 208"/>
              <a:gd name="T5" fmla="*/ 0 h 480"/>
              <a:gd name="T6" fmla="*/ 0 60000 65536"/>
              <a:gd name="T7" fmla="*/ 0 60000 65536"/>
              <a:gd name="T8" fmla="*/ 0 60000 65536"/>
              <a:gd name="T9" fmla="*/ 0 w 208"/>
              <a:gd name="T10" fmla="*/ 0 h 480"/>
              <a:gd name="T11" fmla="*/ 208 w 208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8" h="480">
                <a:moveTo>
                  <a:pt x="192" y="480"/>
                </a:moveTo>
                <a:cubicBezTo>
                  <a:pt x="96" y="400"/>
                  <a:pt x="0" y="320"/>
                  <a:pt x="0" y="240"/>
                </a:cubicBezTo>
                <a:cubicBezTo>
                  <a:pt x="0" y="160"/>
                  <a:pt x="208" y="40"/>
                  <a:pt x="19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2" name="Text Box 32"/>
          <p:cNvSpPr txBox="1">
            <a:spLocks noChangeArrowheads="1"/>
          </p:cNvSpPr>
          <p:nvPr/>
        </p:nvSpPr>
        <p:spPr bwMode="auto">
          <a:xfrm>
            <a:off x="2057400" y="51816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07553" name="Line 33"/>
          <p:cNvSpPr>
            <a:spLocks noChangeShapeType="1"/>
          </p:cNvSpPr>
          <p:nvPr/>
        </p:nvSpPr>
        <p:spPr bwMode="auto">
          <a:xfrm flipH="1">
            <a:off x="1600200" y="4572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4" name="Text Box 34"/>
          <p:cNvSpPr txBox="1">
            <a:spLocks noChangeArrowheads="1"/>
          </p:cNvSpPr>
          <p:nvPr/>
        </p:nvSpPr>
        <p:spPr bwMode="auto">
          <a:xfrm>
            <a:off x="1905000" y="4267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07555" name="Line 35"/>
          <p:cNvSpPr>
            <a:spLocks noChangeShapeType="1"/>
          </p:cNvSpPr>
          <p:nvPr/>
        </p:nvSpPr>
        <p:spPr bwMode="auto">
          <a:xfrm>
            <a:off x="5867400" y="1524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6" name="Text Box 36"/>
          <p:cNvSpPr txBox="1">
            <a:spLocks noChangeArrowheads="1"/>
          </p:cNvSpPr>
          <p:nvPr/>
        </p:nvSpPr>
        <p:spPr bwMode="auto">
          <a:xfrm>
            <a:off x="6096000" y="1143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181285" name="Text Box 37"/>
          <p:cNvSpPr txBox="1">
            <a:spLocks noChangeArrowheads="1"/>
          </p:cNvSpPr>
          <p:nvPr/>
        </p:nvSpPr>
        <p:spPr bwMode="auto">
          <a:xfrm>
            <a:off x="6858000" y="11430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9</a:t>
            </a: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E→E+T.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T→T.*F</a:t>
            </a:r>
          </a:p>
        </p:txBody>
      </p:sp>
      <p:sp>
        <p:nvSpPr>
          <p:cNvPr id="107558" name="Freeform 38"/>
          <p:cNvSpPr>
            <a:spLocks/>
          </p:cNvSpPr>
          <p:nvPr/>
        </p:nvSpPr>
        <p:spPr bwMode="auto">
          <a:xfrm>
            <a:off x="3810000" y="838200"/>
            <a:ext cx="838200" cy="2057400"/>
          </a:xfrm>
          <a:custGeom>
            <a:avLst/>
            <a:gdLst>
              <a:gd name="T0" fmla="*/ 1330642282 w 528"/>
              <a:gd name="T1" fmla="*/ 0 h 1296"/>
              <a:gd name="T2" fmla="*/ 846772505 w 528"/>
              <a:gd name="T3" fmla="*/ 604837471 h 1296"/>
              <a:gd name="T4" fmla="*/ 362902431 w 528"/>
              <a:gd name="T5" fmla="*/ 2147483647 h 1296"/>
              <a:gd name="T6" fmla="*/ 0 w 528"/>
              <a:gd name="T7" fmla="*/ 2147483647 h 1296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1296"/>
              <a:gd name="T14" fmla="*/ 528 w 528"/>
              <a:gd name="T15" fmla="*/ 1296 h 12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1296">
                <a:moveTo>
                  <a:pt x="528" y="0"/>
                </a:moveTo>
                <a:cubicBezTo>
                  <a:pt x="464" y="36"/>
                  <a:pt x="400" y="72"/>
                  <a:pt x="336" y="240"/>
                </a:cubicBezTo>
                <a:cubicBezTo>
                  <a:pt x="272" y="408"/>
                  <a:pt x="200" y="832"/>
                  <a:pt x="144" y="1008"/>
                </a:cubicBezTo>
                <a:cubicBezTo>
                  <a:pt x="88" y="1184"/>
                  <a:pt x="44" y="1240"/>
                  <a:pt x="0" y="129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9" name="Text Box 39"/>
          <p:cNvSpPr txBox="1">
            <a:spLocks noChangeArrowheads="1"/>
          </p:cNvSpPr>
          <p:nvPr/>
        </p:nvSpPr>
        <p:spPr bwMode="auto">
          <a:xfrm>
            <a:off x="4038600" y="1143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07560" name="Freeform 40"/>
          <p:cNvSpPr>
            <a:spLocks/>
          </p:cNvSpPr>
          <p:nvPr/>
        </p:nvSpPr>
        <p:spPr bwMode="auto">
          <a:xfrm>
            <a:off x="3810000" y="1219200"/>
            <a:ext cx="838200" cy="2819400"/>
          </a:xfrm>
          <a:custGeom>
            <a:avLst/>
            <a:gdLst>
              <a:gd name="T0" fmla="*/ 1330642282 w 528"/>
              <a:gd name="T1" fmla="*/ 0 h 1488"/>
              <a:gd name="T2" fmla="*/ 1088707393 w 528"/>
              <a:gd name="T3" fmla="*/ 1033950663 h 1488"/>
              <a:gd name="T4" fmla="*/ 604837419 w 528"/>
              <a:gd name="T5" fmla="*/ 2147483647 h 1488"/>
              <a:gd name="T6" fmla="*/ 0 w 528"/>
              <a:gd name="T7" fmla="*/ 2147483647 h 1488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1488"/>
              <a:gd name="T14" fmla="*/ 528 w 528"/>
              <a:gd name="T15" fmla="*/ 1488 h 1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1488">
                <a:moveTo>
                  <a:pt x="528" y="0"/>
                </a:moveTo>
                <a:cubicBezTo>
                  <a:pt x="504" y="48"/>
                  <a:pt x="480" y="96"/>
                  <a:pt x="432" y="288"/>
                </a:cubicBezTo>
                <a:cubicBezTo>
                  <a:pt x="384" y="480"/>
                  <a:pt x="312" y="952"/>
                  <a:pt x="240" y="1152"/>
                </a:cubicBezTo>
                <a:cubicBezTo>
                  <a:pt x="168" y="1352"/>
                  <a:pt x="84" y="1420"/>
                  <a:pt x="0" y="14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61" name="Text Box 41"/>
          <p:cNvSpPr txBox="1">
            <a:spLocks noChangeArrowheads="1"/>
          </p:cNvSpPr>
          <p:nvPr/>
        </p:nvSpPr>
        <p:spPr bwMode="auto">
          <a:xfrm>
            <a:off x="4295775" y="1447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07562" name="Text Box 42"/>
          <p:cNvSpPr txBox="1">
            <a:spLocks noChangeArrowheads="1"/>
          </p:cNvSpPr>
          <p:nvPr/>
        </p:nvSpPr>
        <p:spPr bwMode="auto">
          <a:xfrm>
            <a:off x="914400" y="5410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07563" name="Line 43"/>
          <p:cNvSpPr>
            <a:spLocks noChangeShapeType="1"/>
          </p:cNvSpPr>
          <p:nvPr/>
        </p:nvSpPr>
        <p:spPr bwMode="auto">
          <a:xfrm>
            <a:off x="5867400" y="28956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64" name="Text Box 44"/>
          <p:cNvSpPr txBox="1">
            <a:spLocks noChangeArrowheads="1"/>
          </p:cNvSpPr>
          <p:nvPr/>
        </p:nvSpPr>
        <p:spPr bwMode="auto">
          <a:xfrm>
            <a:off x="6172200" y="2590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81293" name="Text Box 45"/>
          <p:cNvSpPr txBox="1">
            <a:spLocks noChangeArrowheads="1"/>
          </p:cNvSpPr>
          <p:nvPr/>
        </p:nvSpPr>
        <p:spPr bwMode="auto">
          <a:xfrm>
            <a:off x="6858000" y="23622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10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T→T*F.</a:t>
            </a:r>
          </a:p>
        </p:txBody>
      </p:sp>
      <p:sp>
        <p:nvSpPr>
          <p:cNvPr id="107566" name="Text Box 46"/>
          <p:cNvSpPr txBox="1">
            <a:spLocks noChangeArrowheads="1"/>
          </p:cNvSpPr>
          <p:nvPr/>
        </p:nvSpPr>
        <p:spPr bwMode="auto">
          <a:xfrm>
            <a:off x="4343400" y="4648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07567" name="Text Box 47"/>
          <p:cNvSpPr txBox="1">
            <a:spLocks noChangeArrowheads="1"/>
          </p:cNvSpPr>
          <p:nvPr/>
        </p:nvSpPr>
        <p:spPr bwMode="auto">
          <a:xfrm>
            <a:off x="7391400" y="48910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b="1">
                <a:latin typeface="Times New Roman" pitchFamily="18" charset="0"/>
              </a:rPr>
              <a:t>)</a:t>
            </a:r>
          </a:p>
        </p:txBody>
      </p:sp>
      <p:sp>
        <p:nvSpPr>
          <p:cNvPr id="181296" name="Text Box 48"/>
          <p:cNvSpPr txBox="1">
            <a:spLocks noChangeArrowheads="1"/>
          </p:cNvSpPr>
          <p:nvPr/>
        </p:nvSpPr>
        <p:spPr bwMode="auto">
          <a:xfrm>
            <a:off x="6934200" y="54864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11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F→(E).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07569" name="Text Box 49"/>
          <p:cNvSpPr txBox="1">
            <a:spLocks noChangeArrowheads="1"/>
          </p:cNvSpPr>
          <p:nvPr/>
        </p:nvSpPr>
        <p:spPr bwMode="auto">
          <a:xfrm>
            <a:off x="7924800" y="533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+</a:t>
            </a:r>
          </a:p>
        </p:txBody>
      </p:sp>
      <p:sp>
        <p:nvSpPr>
          <p:cNvPr id="107570" name="Line 50"/>
          <p:cNvSpPr>
            <a:spLocks noChangeShapeType="1"/>
          </p:cNvSpPr>
          <p:nvPr/>
        </p:nvSpPr>
        <p:spPr bwMode="auto">
          <a:xfrm flipH="1">
            <a:off x="5867400" y="1981200"/>
            <a:ext cx="9906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71" name="Text Box 51"/>
          <p:cNvSpPr txBox="1">
            <a:spLocks noChangeArrowheads="1"/>
          </p:cNvSpPr>
          <p:nvPr/>
        </p:nvSpPr>
        <p:spPr bwMode="auto">
          <a:xfrm>
            <a:off x="63246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*</a:t>
            </a:r>
          </a:p>
        </p:txBody>
      </p:sp>
      <p:sp>
        <p:nvSpPr>
          <p:cNvPr id="107572" name="Freeform 52"/>
          <p:cNvSpPr>
            <a:spLocks/>
          </p:cNvSpPr>
          <p:nvPr/>
        </p:nvSpPr>
        <p:spPr bwMode="auto">
          <a:xfrm>
            <a:off x="5867400" y="685800"/>
            <a:ext cx="2743200" cy="3429000"/>
          </a:xfrm>
          <a:custGeom>
            <a:avLst/>
            <a:gdLst>
              <a:gd name="T0" fmla="*/ 2147483647 w 1712"/>
              <a:gd name="T1" fmla="*/ 2147483647 h 2352"/>
              <a:gd name="T2" fmla="*/ 2147483647 w 1712"/>
              <a:gd name="T3" fmla="*/ 2147483647 h 2352"/>
              <a:gd name="T4" fmla="*/ 2147483647 w 1712"/>
              <a:gd name="T5" fmla="*/ 1428332810 h 2352"/>
              <a:gd name="T6" fmla="*/ 2147483647 w 1712"/>
              <a:gd name="T7" fmla="*/ 408094750 h 2352"/>
              <a:gd name="T8" fmla="*/ 2147483647 w 1712"/>
              <a:gd name="T9" fmla="*/ 102024416 h 2352"/>
              <a:gd name="T10" fmla="*/ 0 w 1712"/>
              <a:gd name="T11" fmla="*/ 0 h 23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12"/>
              <a:gd name="T19" fmla="*/ 0 h 2352"/>
              <a:gd name="T20" fmla="*/ 1712 w 1712"/>
              <a:gd name="T21" fmla="*/ 2352 h 23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12" h="2352">
                <a:moveTo>
                  <a:pt x="1440" y="2352"/>
                </a:moveTo>
                <a:cubicBezTo>
                  <a:pt x="1516" y="2060"/>
                  <a:pt x="1592" y="1768"/>
                  <a:pt x="1632" y="1488"/>
                </a:cubicBezTo>
                <a:cubicBezTo>
                  <a:pt x="1672" y="1208"/>
                  <a:pt x="1712" y="888"/>
                  <a:pt x="1680" y="672"/>
                </a:cubicBezTo>
                <a:cubicBezTo>
                  <a:pt x="1648" y="456"/>
                  <a:pt x="1536" y="296"/>
                  <a:pt x="1440" y="192"/>
                </a:cubicBezTo>
                <a:cubicBezTo>
                  <a:pt x="1344" y="88"/>
                  <a:pt x="1344" y="80"/>
                  <a:pt x="1104" y="48"/>
                </a:cubicBezTo>
                <a:cubicBezTo>
                  <a:pt x="864" y="16"/>
                  <a:pt x="152" y="0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73" name="Line 53"/>
          <p:cNvSpPr>
            <a:spLocks noChangeShapeType="1"/>
          </p:cNvSpPr>
          <p:nvPr/>
        </p:nvSpPr>
        <p:spPr bwMode="auto">
          <a:xfrm>
            <a:off x="7620000" y="47244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74" name="Freeform 54"/>
          <p:cNvSpPr>
            <a:spLocks/>
          </p:cNvSpPr>
          <p:nvPr/>
        </p:nvSpPr>
        <p:spPr bwMode="auto">
          <a:xfrm>
            <a:off x="3810000" y="3657600"/>
            <a:ext cx="1016000" cy="1752600"/>
          </a:xfrm>
          <a:custGeom>
            <a:avLst/>
            <a:gdLst>
              <a:gd name="T0" fmla="*/ 1572577297 w 640"/>
              <a:gd name="T1" fmla="*/ 0 h 1104"/>
              <a:gd name="T2" fmla="*/ 1572577297 w 640"/>
              <a:gd name="T3" fmla="*/ 967739969 h 1104"/>
              <a:gd name="T4" fmla="*/ 1330642389 w 640"/>
              <a:gd name="T5" fmla="*/ 1451609755 h 1104"/>
              <a:gd name="T6" fmla="*/ 0 w 640"/>
              <a:gd name="T7" fmla="*/ 2147483647 h 1104"/>
              <a:gd name="T8" fmla="*/ 0 60000 65536"/>
              <a:gd name="T9" fmla="*/ 0 60000 65536"/>
              <a:gd name="T10" fmla="*/ 0 60000 65536"/>
              <a:gd name="T11" fmla="*/ 0 60000 65536"/>
              <a:gd name="T12" fmla="*/ 0 w 640"/>
              <a:gd name="T13" fmla="*/ 0 h 1104"/>
              <a:gd name="T14" fmla="*/ 640 w 640"/>
              <a:gd name="T15" fmla="*/ 1104 h 11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0" h="1104">
                <a:moveTo>
                  <a:pt x="624" y="0"/>
                </a:moveTo>
                <a:cubicBezTo>
                  <a:pt x="632" y="144"/>
                  <a:pt x="640" y="288"/>
                  <a:pt x="624" y="384"/>
                </a:cubicBezTo>
                <a:cubicBezTo>
                  <a:pt x="608" y="480"/>
                  <a:pt x="632" y="456"/>
                  <a:pt x="528" y="576"/>
                </a:cubicBezTo>
                <a:cubicBezTo>
                  <a:pt x="424" y="696"/>
                  <a:pt x="212" y="900"/>
                  <a:pt x="0" y="110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75" name="Freeform 55"/>
          <p:cNvSpPr>
            <a:spLocks/>
          </p:cNvSpPr>
          <p:nvPr/>
        </p:nvSpPr>
        <p:spPr bwMode="auto">
          <a:xfrm>
            <a:off x="990600" y="3657600"/>
            <a:ext cx="4622800" cy="2794000"/>
          </a:xfrm>
          <a:custGeom>
            <a:avLst/>
            <a:gdLst>
              <a:gd name="T0" fmla="*/ 2147483647 w 2912"/>
              <a:gd name="T1" fmla="*/ 0 h 1760"/>
              <a:gd name="T2" fmla="*/ 2147483647 w 2912"/>
              <a:gd name="T3" fmla="*/ 2056447723 h 1760"/>
              <a:gd name="T4" fmla="*/ 2147483647 w 2912"/>
              <a:gd name="T5" fmla="*/ 2147483647 h 1760"/>
              <a:gd name="T6" fmla="*/ 2147483647 w 2912"/>
              <a:gd name="T7" fmla="*/ 2147483647 h 1760"/>
              <a:gd name="T8" fmla="*/ 2056447604 w 2912"/>
              <a:gd name="T9" fmla="*/ 2147483647 h 1760"/>
              <a:gd name="T10" fmla="*/ 1209674991 w 2912"/>
              <a:gd name="T11" fmla="*/ 2147483647 h 1760"/>
              <a:gd name="T12" fmla="*/ 362902478 w 2912"/>
              <a:gd name="T13" fmla="*/ 2147483647 h 1760"/>
              <a:gd name="T14" fmla="*/ 0 w 2912"/>
              <a:gd name="T15" fmla="*/ 1935480257 h 17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912"/>
              <a:gd name="T25" fmla="*/ 0 h 1760"/>
              <a:gd name="T26" fmla="*/ 2912 w 2912"/>
              <a:gd name="T27" fmla="*/ 1760 h 17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912" h="1760">
                <a:moveTo>
                  <a:pt x="2880" y="0"/>
                </a:moveTo>
                <a:cubicBezTo>
                  <a:pt x="2896" y="280"/>
                  <a:pt x="2912" y="560"/>
                  <a:pt x="2832" y="816"/>
                </a:cubicBezTo>
                <a:cubicBezTo>
                  <a:pt x="2752" y="1072"/>
                  <a:pt x="2544" y="1384"/>
                  <a:pt x="2400" y="1536"/>
                </a:cubicBezTo>
                <a:cubicBezTo>
                  <a:pt x="2256" y="1688"/>
                  <a:pt x="2232" y="1696"/>
                  <a:pt x="1968" y="1728"/>
                </a:cubicBezTo>
                <a:cubicBezTo>
                  <a:pt x="1704" y="1760"/>
                  <a:pt x="1064" y="1752"/>
                  <a:pt x="816" y="1728"/>
                </a:cubicBezTo>
                <a:cubicBezTo>
                  <a:pt x="568" y="1704"/>
                  <a:pt x="592" y="1672"/>
                  <a:pt x="480" y="1584"/>
                </a:cubicBezTo>
                <a:cubicBezTo>
                  <a:pt x="368" y="1496"/>
                  <a:pt x="224" y="1336"/>
                  <a:pt x="144" y="1200"/>
                </a:cubicBezTo>
                <a:cubicBezTo>
                  <a:pt x="64" y="1064"/>
                  <a:pt x="8" y="856"/>
                  <a:pt x="0" y="7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76" name="Text Box 56"/>
          <p:cNvSpPr txBox="1">
            <a:spLocks noChangeArrowheads="1"/>
          </p:cNvSpPr>
          <p:nvPr/>
        </p:nvSpPr>
        <p:spPr bwMode="auto">
          <a:xfrm>
            <a:off x="6629400" y="76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07577" name="Freeform 57"/>
          <p:cNvSpPr>
            <a:spLocks/>
          </p:cNvSpPr>
          <p:nvPr/>
        </p:nvSpPr>
        <p:spPr bwMode="auto">
          <a:xfrm>
            <a:off x="520700" y="444500"/>
            <a:ext cx="8572500" cy="6248400"/>
          </a:xfrm>
          <a:custGeom>
            <a:avLst/>
            <a:gdLst>
              <a:gd name="T0" fmla="*/ 2147483647 w 5400"/>
              <a:gd name="T1" fmla="*/ 20161251 h 3936"/>
              <a:gd name="T2" fmla="*/ 2147483647 w 5400"/>
              <a:gd name="T3" fmla="*/ 20161251 h 3936"/>
              <a:gd name="T4" fmla="*/ 2147483647 w 5400"/>
              <a:gd name="T5" fmla="*/ 141128765 h 3936"/>
              <a:gd name="T6" fmla="*/ 2147483647 w 5400"/>
              <a:gd name="T7" fmla="*/ 504031323 h 3936"/>
              <a:gd name="T8" fmla="*/ 2147483647 w 5400"/>
              <a:gd name="T9" fmla="*/ 987901402 h 3936"/>
              <a:gd name="T10" fmla="*/ 2147483647 w 5400"/>
              <a:gd name="T11" fmla="*/ 1834674089 h 3936"/>
              <a:gd name="T12" fmla="*/ 2147483647 w 5400"/>
              <a:gd name="T13" fmla="*/ 2147483647 h 3936"/>
              <a:gd name="T14" fmla="*/ 2147483647 w 5400"/>
              <a:gd name="T15" fmla="*/ 2147483647 h 3936"/>
              <a:gd name="T16" fmla="*/ 2147483647 w 5400"/>
              <a:gd name="T17" fmla="*/ 2147483647 h 3936"/>
              <a:gd name="T18" fmla="*/ 383063711 w 5400"/>
              <a:gd name="T19" fmla="*/ 2147483647 h 3936"/>
              <a:gd name="T20" fmla="*/ 20161249 w 5400"/>
              <a:gd name="T21" fmla="*/ 2147483647 h 39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400"/>
              <a:gd name="T34" fmla="*/ 0 h 3936"/>
              <a:gd name="T35" fmla="*/ 5400 w 5400"/>
              <a:gd name="T36" fmla="*/ 3936 h 39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400" h="3936">
                <a:moveTo>
                  <a:pt x="3368" y="8"/>
                </a:moveTo>
                <a:cubicBezTo>
                  <a:pt x="3884" y="4"/>
                  <a:pt x="4400" y="0"/>
                  <a:pt x="4664" y="8"/>
                </a:cubicBezTo>
                <a:cubicBezTo>
                  <a:pt x="4928" y="16"/>
                  <a:pt x="4880" y="24"/>
                  <a:pt x="4952" y="56"/>
                </a:cubicBezTo>
                <a:cubicBezTo>
                  <a:pt x="5024" y="88"/>
                  <a:pt x="5056" y="144"/>
                  <a:pt x="5096" y="200"/>
                </a:cubicBezTo>
                <a:cubicBezTo>
                  <a:pt x="5136" y="256"/>
                  <a:pt x="5168" y="304"/>
                  <a:pt x="5192" y="392"/>
                </a:cubicBezTo>
                <a:cubicBezTo>
                  <a:pt x="5216" y="480"/>
                  <a:pt x="5232" y="224"/>
                  <a:pt x="5240" y="728"/>
                </a:cubicBezTo>
                <a:cubicBezTo>
                  <a:pt x="5248" y="1232"/>
                  <a:pt x="5400" y="2896"/>
                  <a:pt x="5240" y="3416"/>
                </a:cubicBezTo>
                <a:cubicBezTo>
                  <a:pt x="5080" y="3936"/>
                  <a:pt x="5000" y="3776"/>
                  <a:pt x="4280" y="3848"/>
                </a:cubicBezTo>
                <a:cubicBezTo>
                  <a:pt x="3560" y="3920"/>
                  <a:pt x="1608" y="3904"/>
                  <a:pt x="920" y="3848"/>
                </a:cubicBezTo>
                <a:cubicBezTo>
                  <a:pt x="232" y="3792"/>
                  <a:pt x="304" y="3688"/>
                  <a:pt x="152" y="3512"/>
                </a:cubicBezTo>
                <a:cubicBezTo>
                  <a:pt x="0" y="3336"/>
                  <a:pt x="24" y="2904"/>
                  <a:pt x="8" y="279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1306" name="Text Box 58"/>
          <p:cNvSpPr txBox="1">
            <a:spLocks noChangeArrowheads="1"/>
          </p:cNvSpPr>
          <p:nvPr/>
        </p:nvSpPr>
        <p:spPr bwMode="auto">
          <a:xfrm>
            <a:off x="4067175" y="4724400"/>
            <a:ext cx="3384550" cy="131127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000" b="1">
                <a:solidFill>
                  <a:schemeClr val="bg1"/>
                </a:solidFill>
                <a:ea typeface="华文新魏" pitchFamily="2" charset="-122"/>
              </a:rPr>
              <a:t>实际是一个有穷状态自动机</a:t>
            </a:r>
          </a:p>
        </p:txBody>
      </p:sp>
      <p:sp>
        <p:nvSpPr>
          <p:cNvPr id="107579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6049C981-CED2-4B16-810A-A718421FD633}" type="slidenum">
              <a:rPr lang="en-US" altLang="zh-CN" sz="1400"/>
              <a:pPr algn="r" eaLnBrk="1" hangingPunct="1"/>
              <a:t>81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404813"/>
            <a:ext cx="7415212" cy="1252537"/>
          </a:xfrm>
        </p:spPr>
        <p:txBody>
          <a:bodyPr/>
          <a:lstStyle/>
          <a:p>
            <a:pPr eaLnBrk="1" hangingPunct="1"/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七、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分析表的构造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识别拓广文法所有规范句型活前缀的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DFA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2133600"/>
            <a:ext cx="8294688" cy="41910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识别文法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G=(V</a:t>
            </a: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T</a:t>
            </a: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P</a:t>
            </a: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S)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的拓广文法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G'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的所有规范句型活前缀的</a:t>
            </a: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DFA :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楷体_GB2312" pitchFamily="49" charset="-122"/>
              </a:rPr>
              <a:t>		</a:t>
            </a:r>
            <a:r>
              <a:rPr lang="en-US" altLang="zh-CN" sz="4400" b="1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M=(C, V∪T, go, I</a:t>
            </a:r>
            <a:r>
              <a:rPr lang="en-US" altLang="zh-CN" sz="4400" b="1" baseline="-25000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en-US" altLang="zh-CN" sz="4400" b="1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,      )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3200" b="1" baseline="-25000" smtClean="0"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=CLOSURE({S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'</a:t>
            </a: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 →.S})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C={I</a:t>
            </a:r>
            <a:r>
              <a:rPr lang="en-US" altLang="zh-CN" sz="3200" b="1" baseline="-25000" smtClean="0">
                <a:latin typeface="Times New Roman" pitchFamily="18" charset="0"/>
                <a:ea typeface="楷体_GB2312" pitchFamily="49" charset="-122"/>
              </a:rPr>
              <a:t>0</a:t>
            </a: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}∪{I|</a:t>
            </a:r>
            <a:r>
              <a:rPr lang="en-US" altLang="zh-CN" sz="3200" b="1" smtClean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</a:t>
            </a: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J∈C,X∈V∪T,I=go(J,X)}</a:t>
            </a:r>
          </a:p>
        </p:txBody>
      </p:sp>
      <p:sp>
        <p:nvSpPr>
          <p:cNvPr id="1085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2412189-C1F9-46FE-B790-864954EC39A2}" type="slidenum">
              <a:rPr lang="en-US" altLang="zh-CN" smtClean="0"/>
              <a:pPr eaLnBrk="1" hangingPunct="1"/>
              <a:t>82</a:t>
            </a:fld>
            <a:endParaRPr lang="en-US" altLang="zh-CN" smtClean="0"/>
          </a:p>
        </p:txBody>
      </p:sp>
      <p:sp>
        <p:nvSpPr>
          <p:cNvPr id="107526" name="Rectangle 6"/>
          <p:cNvSpPr>
            <a:spLocks noChangeArrowheads="1"/>
          </p:cNvSpPr>
          <p:nvPr/>
        </p:nvSpPr>
        <p:spPr bwMode="auto">
          <a:xfrm>
            <a:off x="6443663" y="3459163"/>
            <a:ext cx="5873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4400" b="1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C</a:t>
            </a:r>
            <a:endParaRPr lang="zh-CN" altLang="en-US" sz="4400" b="1">
              <a:solidFill>
                <a:schemeClr val="hlink"/>
              </a:solidFill>
              <a:latin typeface="Times New Roman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思考题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如何在计算机中存储一个文法的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项目集规范族最节省空间？如果某文法有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个产生式，这些产生式的右部的最大长度为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m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，问：你所给出的存储方案需要的存储空间与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m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有什么样的关系？</a:t>
            </a:r>
          </a:p>
          <a:p>
            <a:pPr lvl="1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假设：一个字符占一个字节，一个整数占两个字节。</a:t>
            </a:r>
          </a:p>
        </p:txBody>
      </p:sp>
      <p:sp>
        <p:nvSpPr>
          <p:cNvPr id="1095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E201BB0-72B3-404E-86E0-251DFB3E35DE}" type="slidenum">
              <a:rPr lang="en-US" altLang="zh-CN" smtClean="0"/>
              <a:pPr eaLnBrk="1" hangingPunct="1"/>
              <a:t>83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914400"/>
            <a:ext cx="2743200" cy="7620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 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017713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按照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分析需求，分别构造识别下列文法的所有规范句型活前缀的</a:t>
            </a:r>
            <a:r>
              <a:rPr lang="en-US" altLang="zh-CN" sz="3600" b="1" smtClean="0">
                <a:latin typeface="Times New Roman" pitchFamily="18" charset="0"/>
                <a:ea typeface="楷体_GB2312" pitchFamily="49" charset="-122"/>
              </a:rPr>
              <a:t>DFA</a:t>
            </a:r>
          </a:p>
          <a:p>
            <a:pPr eaLnBrk="1" hangingPunct="1"/>
            <a:r>
              <a:rPr lang="en-US" altLang="zh-CN" sz="3600" b="1" smtClean="0">
                <a:latin typeface="Times New Roman" pitchFamily="18" charset="0"/>
                <a:ea typeface="楷体_GB2312" pitchFamily="49" charset="-122"/>
              </a:rPr>
              <a:t>S→A|B    A→aAb|c   B→aBb|d</a:t>
            </a:r>
          </a:p>
          <a:p>
            <a:pPr eaLnBrk="1" hangingPunct="1"/>
            <a:r>
              <a:rPr lang="en-US" altLang="zh-CN" sz="3600" b="1" smtClean="0">
                <a:latin typeface="Times New Roman" pitchFamily="18" charset="0"/>
                <a:ea typeface="楷体_GB2312" pitchFamily="49" charset="-122"/>
              </a:rPr>
              <a:t>S→SaA|BA   A→aA|aB    B→Bb|a	 A→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 </a:t>
            </a:r>
          </a:p>
        </p:txBody>
      </p:sp>
      <p:sp>
        <p:nvSpPr>
          <p:cNvPr id="11059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0F6C198-5D1C-4397-8E6E-097DE9A4D7E3}" type="slidenum">
              <a:rPr lang="en-US" altLang="zh-CN" smtClean="0"/>
              <a:pPr eaLnBrk="1" hangingPunct="1"/>
              <a:t>84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76250"/>
            <a:ext cx="8172450" cy="685800"/>
          </a:xfrm>
        </p:spPr>
        <p:txBody>
          <a:bodyPr/>
          <a:lstStyle/>
          <a:p>
            <a:pPr eaLnBrk="1" hangingPunct="1"/>
            <a:r>
              <a:rPr lang="en-US" altLang="zh-CN" sz="4000" b="1" smtClean="0">
                <a:latin typeface="Times New Roman" pitchFamily="18" charset="0"/>
                <a:ea typeface="华文新魏" pitchFamily="2" charset="-122"/>
              </a:rPr>
              <a:t>LR(0) </a:t>
            </a:r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方法能解决这个冲突吗</a:t>
            </a:r>
            <a:r>
              <a:rPr lang="en-US" altLang="zh-CN" sz="4000" b="1" smtClean="0">
                <a:latin typeface="Times New Roman" pitchFamily="18" charset="0"/>
                <a:ea typeface="华文新魏" pitchFamily="2" charset="-122"/>
              </a:rPr>
              <a:t>?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557338"/>
            <a:ext cx="3101975" cy="1781175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例 设文法为</a:t>
            </a:r>
            <a:r>
              <a:rPr lang="zh-CN" altLang="en-US" b="1" smtClean="0">
                <a:latin typeface="Times New Roman" pitchFamily="18" charset="0"/>
                <a:ea typeface="楷体_GB2312" pitchFamily="49" charset="-122"/>
              </a:rPr>
              <a:t>：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S→aAcBe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3200" b="1" smtClean="0">
                <a:solidFill>
                  <a:schemeClr val="tx2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→</a:t>
            </a:r>
            <a:r>
              <a:rPr lang="en-US" altLang="zh-CN" sz="3200" b="1" smtClean="0">
                <a:solidFill>
                  <a:schemeClr val="hlink"/>
                </a:solidFill>
                <a:latin typeface="Times New Roman" pitchFamily="18" charset="0"/>
                <a:ea typeface="楷体_GB2312" pitchFamily="49" charset="-122"/>
              </a:rPr>
              <a:t>A</a:t>
            </a: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b|b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sz="3200" b="1" smtClean="0">
                <a:latin typeface="Times New Roman" pitchFamily="18" charset="0"/>
                <a:ea typeface="楷体_GB2312" pitchFamily="49" charset="-122"/>
              </a:rPr>
              <a:t>B→d</a:t>
            </a:r>
          </a:p>
        </p:txBody>
      </p:sp>
      <p:sp>
        <p:nvSpPr>
          <p:cNvPr id="1116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0935FFD-B2E6-4140-9BB8-E4C7E8692DC7}" type="slidenum">
              <a:rPr lang="en-US" altLang="zh-CN" smtClean="0"/>
              <a:pPr eaLnBrk="1" hangingPunct="1"/>
              <a:t>85</a:t>
            </a:fld>
            <a:endParaRPr lang="en-US" altLang="zh-CN" smtClean="0"/>
          </a:p>
        </p:txBody>
      </p:sp>
      <p:sp>
        <p:nvSpPr>
          <p:cNvPr id="330756" name="Rectangle 4"/>
          <p:cNvSpPr>
            <a:spLocks noChangeArrowheads="1"/>
          </p:cNvSpPr>
          <p:nvPr/>
        </p:nvSpPr>
        <p:spPr bwMode="auto">
          <a:xfrm>
            <a:off x="900113" y="3646488"/>
            <a:ext cx="2057400" cy="227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85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句子分析</a:t>
            </a:r>
            <a:r>
              <a:rPr kumimoji="1"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：</a:t>
            </a:r>
          </a:p>
          <a:p>
            <a:pPr eaLnBrk="0" hangingPunct="0">
              <a:lnSpc>
                <a:spcPct val="85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   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28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bcde</a:t>
            </a:r>
          </a:p>
          <a:p>
            <a:pPr eaLnBrk="0" hangingPunct="0">
              <a:lnSpc>
                <a:spcPct val="85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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</a:t>
            </a:r>
            <a:r>
              <a:rPr kumimoji="1" lang="en-US" altLang="zh-CN" sz="28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Ab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cde</a:t>
            </a:r>
          </a:p>
          <a:p>
            <a:pPr eaLnBrk="0" hangingPunct="0">
              <a:lnSpc>
                <a:spcPct val="85000"/>
              </a:lnSpc>
              <a:buClr>
                <a:schemeClr val="tx2"/>
              </a:buClr>
              <a:buSzPct val="75000"/>
              <a:buFont typeface="Symbol" pitchFamily="18" charset="2"/>
              <a:buNone/>
              <a:defRPr/>
            </a:pP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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aAc</a:t>
            </a:r>
            <a:r>
              <a:rPr kumimoji="1" lang="en-US" altLang="zh-CN" sz="28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d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 </a:t>
            </a:r>
          </a:p>
          <a:p>
            <a:pPr eaLnBrk="0" hangingPunct="0">
              <a:lnSpc>
                <a:spcPct val="85000"/>
              </a:lnSpc>
              <a:buClr>
                <a:schemeClr val="tx2"/>
              </a:buClr>
              <a:buSzPct val="75000"/>
              <a:buFont typeface="Symbol" pitchFamily="18" charset="2"/>
              <a:buNone/>
              <a:defRPr/>
            </a:pP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</a:t>
            </a:r>
            <a:r>
              <a:rPr kumimoji="1" lang="en-US" altLang="zh-CN" sz="2800" b="1" u="sng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aAcBe</a:t>
            </a:r>
          </a:p>
          <a:p>
            <a:pPr eaLnBrk="0" hangingPunct="0">
              <a:lnSpc>
                <a:spcPct val="85000"/>
              </a:lnSpc>
              <a:buClr>
                <a:schemeClr val="tx2"/>
              </a:buClr>
              <a:buSzPct val="75000"/>
              <a:buFont typeface="Symbol" pitchFamily="18" charset="2"/>
              <a:buNone/>
              <a:defRPr/>
            </a:pP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sym typeface="Symbol" pitchFamily="18" charset="2"/>
              </a:rPr>
              <a:t></a:t>
            </a:r>
            <a:r>
              <a:rPr kumimoji="1" lang="en-US" altLang="zh-CN" sz="2800" b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S</a:t>
            </a:r>
          </a:p>
        </p:txBody>
      </p:sp>
      <p:grpSp>
        <p:nvGrpSpPr>
          <p:cNvPr id="111622" name="Group 5"/>
          <p:cNvGrpSpPr>
            <a:grpSpLocks/>
          </p:cNvGrpSpPr>
          <p:nvPr/>
        </p:nvGrpSpPr>
        <p:grpSpPr bwMode="auto">
          <a:xfrm>
            <a:off x="5508625" y="4149725"/>
            <a:ext cx="388938" cy="1320800"/>
            <a:chOff x="3456" y="2544"/>
            <a:chExt cx="245" cy="1104"/>
          </a:xfrm>
        </p:grpSpPr>
        <p:sp>
          <p:nvSpPr>
            <p:cNvPr id="111639" name="Line 6"/>
            <p:cNvSpPr>
              <a:spLocks noChangeShapeType="1"/>
            </p:cNvSpPr>
            <p:nvPr/>
          </p:nvSpPr>
          <p:spPr bwMode="auto">
            <a:xfrm flipV="1">
              <a:off x="3600" y="2832"/>
              <a:ext cx="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330759" name="Rectangle 7"/>
            <p:cNvSpPr>
              <a:spLocks noChangeArrowheads="1"/>
            </p:cNvSpPr>
            <p:nvPr/>
          </p:nvSpPr>
          <p:spPr bwMode="auto">
            <a:xfrm>
              <a:off x="3456" y="2544"/>
              <a:ext cx="245" cy="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32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A</a:t>
              </a:r>
            </a:p>
          </p:txBody>
        </p:sp>
      </p:grpSp>
      <p:sp>
        <p:nvSpPr>
          <p:cNvPr id="330760" name="Rectangle 8"/>
          <p:cNvSpPr>
            <a:spLocks noChangeArrowheads="1"/>
          </p:cNvSpPr>
          <p:nvPr/>
        </p:nvSpPr>
        <p:spPr bwMode="auto">
          <a:xfrm>
            <a:off x="4953000" y="5445125"/>
            <a:ext cx="3795713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a  b  </a:t>
            </a:r>
            <a:r>
              <a:rPr kumimoji="1" lang="en-US" altLang="zh-CN" sz="3200" b="1" dirty="0" err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b</a:t>
            </a:r>
            <a:r>
              <a:rPr kumimoji="1" lang="en-US" altLang="zh-CN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c  d  e</a:t>
            </a:r>
          </a:p>
        </p:txBody>
      </p:sp>
      <p:grpSp>
        <p:nvGrpSpPr>
          <p:cNvPr id="111624" name="Group 9"/>
          <p:cNvGrpSpPr>
            <a:grpSpLocks/>
          </p:cNvGrpSpPr>
          <p:nvPr/>
        </p:nvGrpSpPr>
        <p:grpSpPr bwMode="auto">
          <a:xfrm>
            <a:off x="7451725" y="4203700"/>
            <a:ext cx="388938" cy="1241425"/>
            <a:chOff x="4704" y="2544"/>
            <a:chExt cx="245" cy="1008"/>
          </a:xfrm>
        </p:grpSpPr>
        <p:sp>
          <p:nvSpPr>
            <p:cNvPr id="111637" name="Line 10"/>
            <p:cNvSpPr>
              <a:spLocks noChangeShapeType="1"/>
            </p:cNvSpPr>
            <p:nvPr/>
          </p:nvSpPr>
          <p:spPr bwMode="auto">
            <a:xfrm flipV="1">
              <a:off x="4800" y="2832"/>
              <a:ext cx="0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330763" name="Rectangle 11"/>
            <p:cNvSpPr>
              <a:spLocks noChangeArrowheads="1"/>
            </p:cNvSpPr>
            <p:nvPr/>
          </p:nvSpPr>
          <p:spPr bwMode="auto">
            <a:xfrm>
              <a:off x="4704" y="2544"/>
              <a:ext cx="245" cy="5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32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B</a:t>
              </a:r>
            </a:p>
          </p:txBody>
        </p:sp>
      </p:grpSp>
      <p:grpSp>
        <p:nvGrpSpPr>
          <p:cNvPr id="111625" name="Group 12"/>
          <p:cNvGrpSpPr>
            <a:grpSpLocks/>
          </p:cNvGrpSpPr>
          <p:nvPr/>
        </p:nvGrpSpPr>
        <p:grpSpPr bwMode="auto">
          <a:xfrm>
            <a:off x="5795963" y="2925763"/>
            <a:ext cx="609600" cy="2555875"/>
            <a:chOff x="3648" y="1584"/>
            <a:chExt cx="384" cy="2064"/>
          </a:xfrm>
        </p:grpSpPr>
        <p:sp>
          <p:nvSpPr>
            <p:cNvPr id="111634" name="Line 13"/>
            <p:cNvSpPr>
              <a:spLocks noChangeShapeType="1"/>
            </p:cNvSpPr>
            <p:nvPr/>
          </p:nvSpPr>
          <p:spPr bwMode="auto">
            <a:xfrm flipV="1">
              <a:off x="3648" y="1872"/>
              <a:ext cx="192" cy="76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11635" name="Line 14"/>
            <p:cNvSpPr>
              <a:spLocks noChangeShapeType="1"/>
            </p:cNvSpPr>
            <p:nvPr/>
          </p:nvSpPr>
          <p:spPr bwMode="auto">
            <a:xfrm flipH="1" flipV="1">
              <a:off x="3888" y="1872"/>
              <a:ext cx="144" cy="177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330767" name="Rectangle 15"/>
            <p:cNvSpPr>
              <a:spLocks noChangeArrowheads="1"/>
            </p:cNvSpPr>
            <p:nvPr/>
          </p:nvSpPr>
          <p:spPr bwMode="auto">
            <a:xfrm>
              <a:off x="3744" y="1584"/>
              <a:ext cx="244" cy="50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32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A</a:t>
              </a:r>
            </a:p>
          </p:txBody>
        </p:sp>
      </p:grpSp>
      <p:grpSp>
        <p:nvGrpSpPr>
          <p:cNvPr id="111626" name="Group 16"/>
          <p:cNvGrpSpPr>
            <a:grpSpLocks/>
          </p:cNvGrpSpPr>
          <p:nvPr/>
        </p:nvGrpSpPr>
        <p:grpSpPr bwMode="auto">
          <a:xfrm>
            <a:off x="5076825" y="1628775"/>
            <a:ext cx="3124200" cy="3944938"/>
            <a:chOff x="3216" y="440"/>
            <a:chExt cx="1968" cy="3256"/>
          </a:xfrm>
        </p:grpSpPr>
        <p:sp>
          <p:nvSpPr>
            <p:cNvPr id="111628" name="Line 17"/>
            <p:cNvSpPr>
              <a:spLocks noChangeShapeType="1"/>
            </p:cNvSpPr>
            <p:nvPr/>
          </p:nvSpPr>
          <p:spPr bwMode="auto">
            <a:xfrm flipH="1" flipV="1">
              <a:off x="4176" y="912"/>
              <a:ext cx="192" cy="27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11629" name="Line 18"/>
            <p:cNvSpPr>
              <a:spLocks noChangeShapeType="1"/>
            </p:cNvSpPr>
            <p:nvPr/>
          </p:nvSpPr>
          <p:spPr bwMode="auto">
            <a:xfrm flipV="1">
              <a:off x="3888" y="864"/>
              <a:ext cx="24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11630" name="Line 19"/>
            <p:cNvSpPr>
              <a:spLocks noChangeShapeType="1"/>
            </p:cNvSpPr>
            <p:nvPr/>
          </p:nvSpPr>
          <p:spPr bwMode="auto">
            <a:xfrm flipH="1" flipV="1">
              <a:off x="4176" y="864"/>
              <a:ext cx="624" cy="17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11631" name="Freeform 20"/>
            <p:cNvSpPr>
              <a:spLocks/>
            </p:cNvSpPr>
            <p:nvPr/>
          </p:nvSpPr>
          <p:spPr bwMode="auto">
            <a:xfrm>
              <a:off x="3216" y="440"/>
              <a:ext cx="888" cy="3256"/>
            </a:xfrm>
            <a:custGeom>
              <a:avLst/>
              <a:gdLst>
                <a:gd name="T0" fmla="*/ 0 w 888"/>
                <a:gd name="T1" fmla="*/ 3256 h 3256"/>
                <a:gd name="T2" fmla="*/ 336 w 888"/>
                <a:gd name="T3" fmla="*/ 1432 h 3256"/>
                <a:gd name="T4" fmla="*/ 864 w 888"/>
                <a:gd name="T5" fmla="*/ 424 h 3256"/>
                <a:gd name="T6" fmla="*/ 0 60000 65536"/>
                <a:gd name="T7" fmla="*/ 0 60000 65536"/>
                <a:gd name="T8" fmla="*/ 0 60000 65536"/>
                <a:gd name="T9" fmla="*/ 0 w 888"/>
                <a:gd name="T10" fmla="*/ 0 h 3256"/>
                <a:gd name="T11" fmla="*/ 888 w 888"/>
                <a:gd name="T12" fmla="*/ 3256 h 32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88" h="3256">
                  <a:moveTo>
                    <a:pt x="0" y="3256"/>
                  </a:moveTo>
                  <a:cubicBezTo>
                    <a:pt x="96" y="2580"/>
                    <a:pt x="192" y="1904"/>
                    <a:pt x="336" y="1432"/>
                  </a:cubicBezTo>
                  <a:cubicBezTo>
                    <a:pt x="480" y="960"/>
                    <a:pt x="888" y="0"/>
                    <a:pt x="864" y="42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111632" name="Freeform 21"/>
            <p:cNvSpPr>
              <a:spLocks/>
            </p:cNvSpPr>
            <p:nvPr/>
          </p:nvSpPr>
          <p:spPr bwMode="auto">
            <a:xfrm>
              <a:off x="4224" y="768"/>
              <a:ext cx="960" cy="2880"/>
            </a:xfrm>
            <a:custGeom>
              <a:avLst/>
              <a:gdLst>
                <a:gd name="T0" fmla="*/ 929 w 976"/>
                <a:gd name="T1" fmla="*/ 2880 h 2880"/>
                <a:gd name="T2" fmla="*/ 790 w 976"/>
                <a:gd name="T3" fmla="*/ 1440 h 2880"/>
                <a:gd name="T4" fmla="*/ 0 w 976"/>
                <a:gd name="T5" fmla="*/ 0 h 2880"/>
                <a:gd name="T6" fmla="*/ 0 60000 65536"/>
                <a:gd name="T7" fmla="*/ 0 60000 65536"/>
                <a:gd name="T8" fmla="*/ 0 60000 65536"/>
                <a:gd name="T9" fmla="*/ 0 w 976"/>
                <a:gd name="T10" fmla="*/ 0 h 2880"/>
                <a:gd name="T11" fmla="*/ 976 w 976"/>
                <a:gd name="T12" fmla="*/ 2880 h 28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6" h="2880">
                  <a:moveTo>
                    <a:pt x="960" y="2880"/>
                  </a:moveTo>
                  <a:cubicBezTo>
                    <a:pt x="968" y="2400"/>
                    <a:pt x="976" y="1920"/>
                    <a:pt x="816" y="1440"/>
                  </a:cubicBezTo>
                  <a:cubicBezTo>
                    <a:pt x="656" y="960"/>
                    <a:pt x="136" y="232"/>
                    <a:pt x="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330774" name="Rectangle 22"/>
            <p:cNvSpPr>
              <a:spLocks noChangeArrowheads="1"/>
            </p:cNvSpPr>
            <p:nvPr/>
          </p:nvSpPr>
          <p:spPr bwMode="auto">
            <a:xfrm>
              <a:off x="4032" y="528"/>
              <a:ext cx="245" cy="519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folHlink"/>
                </a:buClr>
                <a:buSzPct val="75000"/>
                <a:buFont typeface="Monotype Sorts" pitchFamily="2" charset="2"/>
                <a:buNone/>
              </a:pPr>
              <a:r>
                <a:rPr kumimoji="1" lang="en-US" altLang="zh-CN" sz="3200" b="1">
                  <a:solidFill>
                    <a:srgbClr val="0000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</a:rPr>
                <a:t>S</a:t>
              </a:r>
            </a:p>
          </p:txBody>
        </p:sp>
      </p:grpSp>
      <p:sp>
        <p:nvSpPr>
          <p:cNvPr id="330775" name="Text Box 23"/>
          <p:cNvSpPr txBox="1">
            <a:spLocks noChangeArrowheads="1"/>
          </p:cNvSpPr>
          <p:nvPr/>
        </p:nvSpPr>
        <p:spPr bwMode="auto">
          <a:xfrm>
            <a:off x="3419475" y="2925763"/>
            <a:ext cx="1676400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itchFamily="2" charset="-122"/>
                <a:ea typeface="华文新魏" pitchFamily="2" charset="-122"/>
              </a:rPr>
              <a:t>语法树的形成过程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2775" y="1916113"/>
            <a:ext cx="7920038" cy="2089150"/>
          </a:xfrm>
        </p:spPr>
        <p:txBody>
          <a:bodyPr/>
          <a:lstStyle/>
          <a:p>
            <a:pPr eaLnBrk="1" hangingPunct="1"/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用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5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分钟画出识别下列文法的所有规范句型活前缀的</a:t>
            </a:r>
            <a:r>
              <a:rPr lang="en-US" altLang="zh-CN" sz="3600" b="1" smtClean="0">
                <a:latin typeface="Times New Roman" pitchFamily="18" charset="0"/>
                <a:ea typeface="华文新魏" pitchFamily="2" charset="-122"/>
              </a:rPr>
              <a:t>FA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的状态转移图，指出相应的项目集规范族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4365625"/>
            <a:ext cx="7772400" cy="1636713"/>
          </a:xfrm>
        </p:spPr>
        <p:txBody>
          <a:bodyPr/>
          <a:lstStyle/>
          <a:p>
            <a:pPr eaLnBrk="1" hangingPunct="1"/>
            <a:r>
              <a:rPr lang="en-US" altLang="zh-CN" sz="4000" b="1" smtClean="0">
                <a:latin typeface="Times New Roman" pitchFamily="18" charset="0"/>
                <a:ea typeface="楷体_GB2312" pitchFamily="49" charset="-122"/>
              </a:rPr>
              <a:t>S→(L)|a    L→L,S|S</a:t>
            </a:r>
            <a:endParaRPr lang="en-US" altLang="zh-CN" sz="4000" smtClean="0">
              <a:latin typeface="Times New Roman" pitchFamily="18" charset="0"/>
            </a:endParaRPr>
          </a:p>
        </p:txBody>
      </p:sp>
      <p:sp>
        <p:nvSpPr>
          <p:cNvPr id="1126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6C7607B-0F01-4FA6-B530-399782F7459F}" type="slidenum">
              <a:rPr lang="en-US" altLang="zh-CN" smtClean="0"/>
              <a:pPr eaLnBrk="1" hangingPunct="1"/>
              <a:t>86</a:t>
            </a:fld>
            <a:endParaRPr lang="en-US" altLang="zh-CN" smtClean="0"/>
          </a:p>
        </p:txBody>
      </p:sp>
      <p:sp>
        <p:nvSpPr>
          <p:cNvPr id="112645" name="Rectangle 4"/>
          <p:cNvSpPr>
            <a:spLocks noChangeArrowheads="1"/>
          </p:cNvSpPr>
          <p:nvPr/>
        </p:nvSpPr>
        <p:spPr bwMode="auto">
          <a:xfrm>
            <a:off x="971550" y="333375"/>
            <a:ext cx="78486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zh-CN" altLang="en-US" sz="40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课堂练习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620713"/>
            <a:ext cx="7416800" cy="974725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七、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分析表构造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916113"/>
            <a:ext cx="8135938" cy="4343400"/>
          </a:xfrm>
        </p:spPr>
        <p:txBody>
          <a:bodyPr/>
          <a:lstStyle/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设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'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项目集规范族：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{I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0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,…,I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}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用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表示闭包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对应的分析器状态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即相应的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DFA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状态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1   0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为开始状态</a:t>
            </a:r>
          </a:p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2  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对</a:t>
            </a: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b="1" baseline="-25000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∈C</a:t>
            </a:r>
          </a:p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       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if A→α.aβ∈I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i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and go(I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,a)=I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j</a:t>
            </a:r>
          </a:p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 if A→α.Bβ∈I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i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and go(I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,B)=I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j </a:t>
            </a:r>
            <a:endParaRPr lang="en-US" altLang="zh-CN" sz="2400" b="1" smtClean="0">
              <a:latin typeface="Times New Roman" pitchFamily="18" charset="0"/>
              <a:ea typeface="华文新魏" pitchFamily="2" charset="-122"/>
            </a:endParaRPr>
          </a:p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 if A→α.∈I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endParaRPr lang="en-US" altLang="zh-CN" sz="2400" b="1" smtClean="0">
              <a:latin typeface="Times New Roman" pitchFamily="18" charset="0"/>
              <a:ea typeface="华文新魏" pitchFamily="2" charset="-122"/>
            </a:endParaRPr>
          </a:p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 if S'→S.∈I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</a:t>
            </a:r>
          </a:p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3  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所有空格置</a:t>
            </a:r>
            <a:r>
              <a:rPr lang="zh-CN" altLang="en-US" sz="2400" b="1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error</a:t>
            </a:r>
          </a:p>
        </p:txBody>
      </p:sp>
      <p:sp>
        <p:nvSpPr>
          <p:cNvPr id="1146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50AAD5D-061E-4CC3-917C-64186F49C2C6}" type="slidenum">
              <a:rPr lang="en-US" altLang="zh-CN" smtClean="0"/>
              <a:pPr eaLnBrk="1" hangingPunct="1"/>
              <a:t>87</a:t>
            </a:fld>
            <a:endParaRPr lang="en-US" altLang="zh-CN" smtClean="0"/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5292725" y="3789363"/>
            <a:ext cx="2719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then</a:t>
            </a:r>
            <a:r>
              <a:rPr lang="en-US" altLang="zh-CN" sz="2400">
                <a:solidFill>
                  <a:srgbClr val="000099"/>
                </a:solidFill>
                <a:latin typeface="Times New Roman" pitchFamily="18" charset="0"/>
              </a:rPr>
              <a:t> 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action[i,a]=sj ;</a:t>
            </a:r>
          </a:p>
        </p:txBody>
      </p:sp>
      <p:sp>
        <p:nvSpPr>
          <p:cNvPr id="98309" name="Rectangle 5"/>
          <p:cNvSpPr>
            <a:spLocks noChangeArrowheads="1"/>
          </p:cNvSpPr>
          <p:nvPr/>
        </p:nvSpPr>
        <p:spPr bwMode="auto">
          <a:xfrm>
            <a:off x="5437188" y="4221163"/>
            <a:ext cx="2414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then</a:t>
            </a:r>
            <a:r>
              <a:rPr lang="en-US" altLang="zh-CN" sz="2400">
                <a:solidFill>
                  <a:srgbClr val="000099"/>
                </a:solidFill>
                <a:latin typeface="Times New Roman" pitchFamily="18" charset="0"/>
              </a:rPr>
              <a:t> 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goto[i,B]=j ;</a:t>
            </a:r>
          </a:p>
        </p:txBody>
      </p:sp>
      <p:sp>
        <p:nvSpPr>
          <p:cNvPr id="98310" name="Rectangle 6"/>
          <p:cNvSpPr>
            <a:spLocks noChangeArrowheads="1"/>
          </p:cNvSpPr>
          <p:nvPr/>
        </p:nvSpPr>
        <p:spPr bwMode="auto">
          <a:xfrm>
            <a:off x="3059113" y="4724400"/>
            <a:ext cx="5443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then  for 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a∈T∪{#} do action[i,a]=rj ;</a:t>
            </a:r>
            <a:r>
              <a:rPr lang="en-US" altLang="zh-CN" sz="2400">
                <a:solidFill>
                  <a:srgbClr val="000099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98311" name="Rectangle 7"/>
          <p:cNvSpPr>
            <a:spLocks noChangeArrowheads="1"/>
          </p:cNvSpPr>
          <p:nvPr/>
        </p:nvSpPr>
        <p:spPr bwMode="auto">
          <a:xfrm>
            <a:off x="3059113" y="5181600"/>
            <a:ext cx="284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then</a:t>
            </a:r>
            <a:r>
              <a:rPr lang="en-US" altLang="zh-CN" sz="2400">
                <a:solidFill>
                  <a:srgbClr val="000099"/>
                </a:solidFill>
                <a:latin typeface="Times New Roman" pitchFamily="18" charset="0"/>
              </a:rPr>
              <a:t> 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action[i,#]=acc;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903FE76-FA80-4D99-9345-A991BCA21FD1}" type="slidenum">
              <a:rPr lang="en-US" altLang="zh-CN" smtClean="0"/>
              <a:pPr eaLnBrk="1" hangingPunct="1"/>
              <a:t>88</a:t>
            </a:fld>
            <a:endParaRPr lang="en-US" altLang="zh-CN" smtClean="0"/>
          </a:p>
        </p:txBody>
      </p:sp>
      <p:sp>
        <p:nvSpPr>
          <p:cNvPr id="182274" name="Text Box 2"/>
          <p:cNvSpPr txBox="1">
            <a:spLocks noChangeArrowheads="1"/>
          </p:cNvSpPr>
          <p:nvPr/>
        </p:nvSpPr>
        <p:spPr bwMode="auto">
          <a:xfrm>
            <a:off x="457200" y="304800"/>
            <a:ext cx="1219200" cy="2543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lang="en-US" altLang="zh-CN" b="1"/>
              <a:t>'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→.E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E→.E+T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</a:p>
        </p:txBody>
      </p:sp>
      <p:sp>
        <p:nvSpPr>
          <p:cNvPr id="115716" name="Line 3"/>
          <p:cNvSpPr>
            <a:spLocks noChangeShapeType="1"/>
          </p:cNvSpPr>
          <p:nvPr/>
        </p:nvSpPr>
        <p:spPr bwMode="auto">
          <a:xfrm>
            <a:off x="1676400" y="381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17" name="Text Box 4"/>
          <p:cNvSpPr txBox="1">
            <a:spLocks noChangeArrowheads="1"/>
          </p:cNvSpPr>
          <p:nvPr/>
        </p:nvSpPr>
        <p:spPr bwMode="auto">
          <a:xfrm>
            <a:off x="1905000" y="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E</a:t>
            </a:r>
          </a:p>
        </p:txBody>
      </p:sp>
      <p:sp>
        <p:nvSpPr>
          <p:cNvPr id="182277" name="Text Box 5"/>
          <p:cNvSpPr txBox="1">
            <a:spLocks noChangeArrowheads="1"/>
          </p:cNvSpPr>
          <p:nvPr/>
        </p:nvSpPr>
        <p:spPr bwMode="auto">
          <a:xfrm>
            <a:off x="2590800" y="2286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lang="en-US" altLang="zh-CN" b="1"/>
              <a:t>'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→E.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E→E.+T</a:t>
            </a:r>
          </a:p>
        </p:txBody>
      </p:sp>
      <p:sp>
        <p:nvSpPr>
          <p:cNvPr id="115719" name="Line 6"/>
          <p:cNvSpPr>
            <a:spLocks noChangeShapeType="1"/>
          </p:cNvSpPr>
          <p:nvPr/>
        </p:nvSpPr>
        <p:spPr bwMode="auto">
          <a:xfrm>
            <a:off x="1676400" y="2057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20" name="Text Box 7"/>
          <p:cNvSpPr txBox="1">
            <a:spLocks noChangeArrowheads="1"/>
          </p:cNvSpPr>
          <p:nvPr/>
        </p:nvSpPr>
        <p:spPr bwMode="auto">
          <a:xfrm>
            <a:off x="1905000" y="1752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182280" name="Text Box 8"/>
          <p:cNvSpPr txBox="1">
            <a:spLocks noChangeArrowheads="1"/>
          </p:cNvSpPr>
          <p:nvPr/>
        </p:nvSpPr>
        <p:spPr bwMode="auto">
          <a:xfrm>
            <a:off x="2590800" y="1419225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E→T.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T→T.*F</a:t>
            </a:r>
            <a:endParaRPr kumimoji="1" lang="en-US" altLang="zh-CN" sz="20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15722" name="Line 9"/>
          <p:cNvSpPr>
            <a:spLocks noChangeShapeType="1"/>
          </p:cNvSpPr>
          <p:nvPr/>
        </p:nvSpPr>
        <p:spPr bwMode="auto">
          <a:xfrm>
            <a:off x="1676400" y="2819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23" name="Text Box 10"/>
          <p:cNvSpPr txBox="1">
            <a:spLocks noChangeArrowheads="1"/>
          </p:cNvSpPr>
          <p:nvPr/>
        </p:nvSpPr>
        <p:spPr bwMode="auto">
          <a:xfrm>
            <a:off x="1981200" y="2498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82283" name="Text Box 11"/>
          <p:cNvSpPr txBox="1">
            <a:spLocks noChangeArrowheads="1"/>
          </p:cNvSpPr>
          <p:nvPr/>
        </p:nvSpPr>
        <p:spPr bwMode="auto">
          <a:xfrm>
            <a:off x="2590800" y="25908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T→F.</a:t>
            </a:r>
          </a:p>
        </p:txBody>
      </p:sp>
      <p:sp>
        <p:nvSpPr>
          <p:cNvPr id="115725" name="Freeform 12"/>
          <p:cNvSpPr>
            <a:spLocks/>
          </p:cNvSpPr>
          <p:nvPr/>
        </p:nvSpPr>
        <p:spPr bwMode="auto">
          <a:xfrm>
            <a:off x="1346200" y="2895600"/>
            <a:ext cx="1244600" cy="1219200"/>
          </a:xfrm>
          <a:custGeom>
            <a:avLst/>
            <a:gdLst>
              <a:gd name="T0" fmla="*/ 45754267 w 736"/>
              <a:gd name="T1" fmla="*/ 0 h 768"/>
              <a:gd name="T2" fmla="*/ 45754267 w 736"/>
              <a:gd name="T3" fmla="*/ 967740089 h 768"/>
              <a:gd name="T4" fmla="*/ 320274811 w 736"/>
              <a:gd name="T5" fmla="*/ 1451609935 h 768"/>
              <a:gd name="T6" fmla="*/ 869315820 w 736"/>
              <a:gd name="T7" fmla="*/ 1693545255 h 768"/>
              <a:gd name="T8" fmla="*/ 2104659332 w 736"/>
              <a:gd name="T9" fmla="*/ 1935480178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36"/>
              <a:gd name="T16" fmla="*/ 0 h 768"/>
              <a:gd name="T17" fmla="*/ 736 w 736"/>
              <a:gd name="T18" fmla="*/ 768 h 7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36" h="768">
                <a:moveTo>
                  <a:pt x="16" y="0"/>
                </a:moveTo>
                <a:cubicBezTo>
                  <a:pt x="8" y="144"/>
                  <a:pt x="0" y="288"/>
                  <a:pt x="16" y="384"/>
                </a:cubicBezTo>
                <a:cubicBezTo>
                  <a:pt x="32" y="480"/>
                  <a:pt x="64" y="528"/>
                  <a:pt x="112" y="576"/>
                </a:cubicBezTo>
                <a:cubicBezTo>
                  <a:pt x="160" y="624"/>
                  <a:pt x="200" y="640"/>
                  <a:pt x="304" y="672"/>
                </a:cubicBezTo>
                <a:cubicBezTo>
                  <a:pt x="408" y="704"/>
                  <a:pt x="572" y="736"/>
                  <a:pt x="736" y="7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26" name="Text Box 13"/>
          <p:cNvSpPr txBox="1">
            <a:spLocks noChangeArrowheads="1"/>
          </p:cNvSpPr>
          <p:nvPr/>
        </p:nvSpPr>
        <p:spPr bwMode="auto">
          <a:xfrm>
            <a:off x="1981200" y="36576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82286" name="Text Box 14"/>
          <p:cNvSpPr txBox="1">
            <a:spLocks noChangeArrowheads="1"/>
          </p:cNvSpPr>
          <p:nvPr/>
        </p:nvSpPr>
        <p:spPr bwMode="auto">
          <a:xfrm>
            <a:off x="2590800" y="3581400"/>
            <a:ext cx="1219200" cy="2543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4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F→(.E 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E→.E+T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15728" name="Line 15"/>
          <p:cNvSpPr>
            <a:spLocks noChangeShapeType="1"/>
          </p:cNvSpPr>
          <p:nvPr/>
        </p:nvSpPr>
        <p:spPr bwMode="auto">
          <a:xfrm>
            <a:off x="685800" y="28956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29" name="Text Box 16"/>
          <p:cNvSpPr txBox="1">
            <a:spLocks noChangeArrowheads="1"/>
          </p:cNvSpPr>
          <p:nvPr/>
        </p:nvSpPr>
        <p:spPr bwMode="auto">
          <a:xfrm>
            <a:off x="685800" y="34290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82289" name="Text Box 17"/>
          <p:cNvSpPr txBox="1">
            <a:spLocks noChangeArrowheads="1"/>
          </p:cNvSpPr>
          <p:nvPr/>
        </p:nvSpPr>
        <p:spPr bwMode="auto">
          <a:xfrm>
            <a:off x="381000" y="41910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5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F→id.</a:t>
            </a:r>
            <a:endParaRPr kumimoji="1" lang="en-US" altLang="zh-CN" sz="2000" b="1">
              <a:solidFill>
                <a:schemeClr val="folHlink"/>
              </a:solidFill>
              <a:latin typeface="Times New Roman" pitchFamily="18" charset="0"/>
            </a:endParaRPr>
          </a:p>
        </p:txBody>
      </p:sp>
      <p:sp>
        <p:nvSpPr>
          <p:cNvPr id="115731" name="Line 18"/>
          <p:cNvSpPr>
            <a:spLocks noChangeShapeType="1"/>
          </p:cNvSpPr>
          <p:nvPr/>
        </p:nvSpPr>
        <p:spPr bwMode="auto">
          <a:xfrm>
            <a:off x="3810000" y="3810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32" name="Text Box 19"/>
          <p:cNvSpPr txBox="1">
            <a:spLocks noChangeArrowheads="1"/>
          </p:cNvSpPr>
          <p:nvPr/>
        </p:nvSpPr>
        <p:spPr bwMode="auto">
          <a:xfrm>
            <a:off x="4114800" y="762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+</a:t>
            </a:r>
          </a:p>
        </p:txBody>
      </p:sp>
      <p:sp>
        <p:nvSpPr>
          <p:cNvPr id="182292" name="Text Box 20"/>
          <p:cNvSpPr txBox="1">
            <a:spLocks noChangeArrowheads="1"/>
          </p:cNvSpPr>
          <p:nvPr/>
        </p:nvSpPr>
        <p:spPr bwMode="auto">
          <a:xfrm>
            <a:off x="4648200" y="228600"/>
            <a:ext cx="1219200" cy="1933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6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E→E+.T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</a:p>
        </p:txBody>
      </p:sp>
      <p:sp>
        <p:nvSpPr>
          <p:cNvPr id="115734" name="Line 21"/>
          <p:cNvSpPr>
            <a:spLocks noChangeShapeType="1"/>
          </p:cNvSpPr>
          <p:nvPr/>
        </p:nvSpPr>
        <p:spPr bwMode="auto">
          <a:xfrm>
            <a:off x="3810000" y="1981200"/>
            <a:ext cx="8382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35" name="Text Box 22"/>
          <p:cNvSpPr txBox="1">
            <a:spLocks noChangeArrowheads="1"/>
          </p:cNvSpPr>
          <p:nvPr/>
        </p:nvSpPr>
        <p:spPr bwMode="auto">
          <a:xfrm>
            <a:off x="4038600" y="2133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*</a:t>
            </a:r>
          </a:p>
        </p:txBody>
      </p:sp>
      <p:sp>
        <p:nvSpPr>
          <p:cNvPr id="182295" name="Text Box 23"/>
          <p:cNvSpPr txBox="1">
            <a:spLocks noChangeArrowheads="1"/>
          </p:cNvSpPr>
          <p:nvPr/>
        </p:nvSpPr>
        <p:spPr bwMode="auto">
          <a:xfrm>
            <a:off x="4648200" y="2286000"/>
            <a:ext cx="1219200" cy="13239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T→T*.F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15737" name="Line 24"/>
          <p:cNvSpPr>
            <a:spLocks noChangeShapeType="1"/>
          </p:cNvSpPr>
          <p:nvPr/>
        </p:nvSpPr>
        <p:spPr bwMode="auto">
          <a:xfrm>
            <a:off x="3810000" y="4114800"/>
            <a:ext cx="3124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38" name="Text Box 25"/>
          <p:cNvSpPr txBox="1">
            <a:spLocks noChangeArrowheads="1"/>
          </p:cNvSpPr>
          <p:nvPr/>
        </p:nvSpPr>
        <p:spPr bwMode="auto">
          <a:xfrm>
            <a:off x="5029200" y="38100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E</a:t>
            </a:r>
          </a:p>
        </p:txBody>
      </p:sp>
      <p:sp>
        <p:nvSpPr>
          <p:cNvPr id="182298" name="Text Box 26"/>
          <p:cNvSpPr txBox="1">
            <a:spLocks noChangeArrowheads="1"/>
          </p:cNvSpPr>
          <p:nvPr/>
        </p:nvSpPr>
        <p:spPr bwMode="auto">
          <a:xfrm>
            <a:off x="6934200" y="36576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8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 (E.)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E→E.+T</a:t>
            </a:r>
          </a:p>
        </p:txBody>
      </p:sp>
      <p:sp>
        <p:nvSpPr>
          <p:cNvPr id="115740" name="Freeform 27"/>
          <p:cNvSpPr>
            <a:spLocks/>
          </p:cNvSpPr>
          <p:nvPr/>
        </p:nvSpPr>
        <p:spPr bwMode="auto">
          <a:xfrm>
            <a:off x="3810000" y="2286000"/>
            <a:ext cx="254000" cy="1600200"/>
          </a:xfrm>
          <a:custGeom>
            <a:avLst/>
            <a:gdLst>
              <a:gd name="T0" fmla="*/ 0 w 160"/>
              <a:gd name="T1" fmla="*/ 2147483647 h 1008"/>
              <a:gd name="T2" fmla="*/ 241935007 w 160"/>
              <a:gd name="T3" fmla="*/ 2147483647 h 1008"/>
              <a:gd name="T4" fmla="*/ 362902461 w 160"/>
              <a:gd name="T5" fmla="*/ 967740162 h 1008"/>
              <a:gd name="T6" fmla="*/ 0 w 160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160"/>
              <a:gd name="T13" fmla="*/ 0 h 1008"/>
              <a:gd name="T14" fmla="*/ 160 w 160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0" h="1008">
                <a:moveTo>
                  <a:pt x="0" y="1008"/>
                </a:moveTo>
                <a:cubicBezTo>
                  <a:pt x="36" y="988"/>
                  <a:pt x="72" y="968"/>
                  <a:pt x="96" y="864"/>
                </a:cubicBezTo>
                <a:cubicBezTo>
                  <a:pt x="120" y="760"/>
                  <a:pt x="160" y="528"/>
                  <a:pt x="144" y="384"/>
                </a:cubicBezTo>
                <a:cubicBezTo>
                  <a:pt x="128" y="240"/>
                  <a:pt x="64" y="120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41" name="Text Box 28"/>
          <p:cNvSpPr txBox="1">
            <a:spLocks noChangeArrowheads="1"/>
          </p:cNvSpPr>
          <p:nvPr/>
        </p:nvSpPr>
        <p:spPr bwMode="auto">
          <a:xfrm>
            <a:off x="3962400" y="2971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115742" name="Freeform 29"/>
          <p:cNvSpPr>
            <a:spLocks/>
          </p:cNvSpPr>
          <p:nvPr/>
        </p:nvSpPr>
        <p:spPr bwMode="auto">
          <a:xfrm>
            <a:off x="2413000" y="3124200"/>
            <a:ext cx="177800" cy="762000"/>
          </a:xfrm>
          <a:custGeom>
            <a:avLst/>
            <a:gdLst>
              <a:gd name="T0" fmla="*/ 282257522 w 112"/>
              <a:gd name="T1" fmla="*/ 1209675089 h 480"/>
              <a:gd name="T2" fmla="*/ 40322501 w 112"/>
              <a:gd name="T3" fmla="*/ 846772682 h 480"/>
              <a:gd name="T4" fmla="*/ 40322501 w 112"/>
              <a:gd name="T5" fmla="*/ 362902507 h 480"/>
              <a:gd name="T6" fmla="*/ 282257522 w 112"/>
              <a:gd name="T7" fmla="*/ 0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112"/>
              <a:gd name="T13" fmla="*/ 0 h 480"/>
              <a:gd name="T14" fmla="*/ 112 w 112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" h="480">
                <a:moveTo>
                  <a:pt x="112" y="480"/>
                </a:moveTo>
                <a:cubicBezTo>
                  <a:pt x="72" y="436"/>
                  <a:pt x="32" y="392"/>
                  <a:pt x="16" y="336"/>
                </a:cubicBezTo>
                <a:cubicBezTo>
                  <a:pt x="0" y="280"/>
                  <a:pt x="0" y="200"/>
                  <a:pt x="16" y="144"/>
                </a:cubicBezTo>
                <a:cubicBezTo>
                  <a:pt x="32" y="88"/>
                  <a:pt x="72" y="44"/>
                  <a:pt x="11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43" name="Text Box 30"/>
          <p:cNvSpPr txBox="1">
            <a:spLocks noChangeArrowheads="1"/>
          </p:cNvSpPr>
          <p:nvPr/>
        </p:nvSpPr>
        <p:spPr bwMode="auto">
          <a:xfrm>
            <a:off x="2133600" y="33528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15744" name="Freeform 31"/>
          <p:cNvSpPr>
            <a:spLocks/>
          </p:cNvSpPr>
          <p:nvPr/>
        </p:nvSpPr>
        <p:spPr bwMode="auto">
          <a:xfrm>
            <a:off x="2286000" y="5029200"/>
            <a:ext cx="330200" cy="762000"/>
          </a:xfrm>
          <a:custGeom>
            <a:avLst/>
            <a:gdLst>
              <a:gd name="T0" fmla="*/ 483870056 w 208"/>
              <a:gd name="T1" fmla="*/ 1209675089 h 480"/>
              <a:gd name="T2" fmla="*/ 0 w 208"/>
              <a:gd name="T3" fmla="*/ 604837545 h 480"/>
              <a:gd name="T4" fmla="*/ 483870056 w 208"/>
              <a:gd name="T5" fmla="*/ 0 h 480"/>
              <a:gd name="T6" fmla="*/ 0 60000 65536"/>
              <a:gd name="T7" fmla="*/ 0 60000 65536"/>
              <a:gd name="T8" fmla="*/ 0 60000 65536"/>
              <a:gd name="T9" fmla="*/ 0 w 208"/>
              <a:gd name="T10" fmla="*/ 0 h 480"/>
              <a:gd name="T11" fmla="*/ 208 w 208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8" h="480">
                <a:moveTo>
                  <a:pt x="192" y="480"/>
                </a:moveTo>
                <a:cubicBezTo>
                  <a:pt x="96" y="400"/>
                  <a:pt x="0" y="320"/>
                  <a:pt x="0" y="240"/>
                </a:cubicBezTo>
                <a:cubicBezTo>
                  <a:pt x="0" y="160"/>
                  <a:pt x="208" y="40"/>
                  <a:pt x="19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45" name="Text Box 32"/>
          <p:cNvSpPr txBox="1">
            <a:spLocks noChangeArrowheads="1"/>
          </p:cNvSpPr>
          <p:nvPr/>
        </p:nvSpPr>
        <p:spPr bwMode="auto">
          <a:xfrm>
            <a:off x="2057400" y="51816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15746" name="Line 33"/>
          <p:cNvSpPr>
            <a:spLocks noChangeShapeType="1"/>
          </p:cNvSpPr>
          <p:nvPr/>
        </p:nvSpPr>
        <p:spPr bwMode="auto">
          <a:xfrm flipH="1">
            <a:off x="1600200" y="4572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47" name="Text Box 34"/>
          <p:cNvSpPr txBox="1">
            <a:spLocks noChangeArrowheads="1"/>
          </p:cNvSpPr>
          <p:nvPr/>
        </p:nvSpPr>
        <p:spPr bwMode="auto">
          <a:xfrm>
            <a:off x="1905000" y="4267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15748" name="Line 35"/>
          <p:cNvSpPr>
            <a:spLocks noChangeShapeType="1"/>
          </p:cNvSpPr>
          <p:nvPr/>
        </p:nvSpPr>
        <p:spPr bwMode="auto">
          <a:xfrm>
            <a:off x="5867400" y="1524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49" name="Text Box 36"/>
          <p:cNvSpPr txBox="1">
            <a:spLocks noChangeArrowheads="1"/>
          </p:cNvSpPr>
          <p:nvPr/>
        </p:nvSpPr>
        <p:spPr bwMode="auto">
          <a:xfrm>
            <a:off x="6096000" y="1143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182309" name="Text Box 37"/>
          <p:cNvSpPr txBox="1">
            <a:spLocks noChangeArrowheads="1"/>
          </p:cNvSpPr>
          <p:nvPr/>
        </p:nvSpPr>
        <p:spPr bwMode="auto">
          <a:xfrm>
            <a:off x="6858000" y="11430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9</a:t>
            </a: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E→E+T.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T→T.*F</a:t>
            </a:r>
          </a:p>
        </p:txBody>
      </p:sp>
      <p:sp>
        <p:nvSpPr>
          <p:cNvPr id="115751" name="Freeform 38"/>
          <p:cNvSpPr>
            <a:spLocks/>
          </p:cNvSpPr>
          <p:nvPr/>
        </p:nvSpPr>
        <p:spPr bwMode="auto">
          <a:xfrm>
            <a:off x="3810000" y="838200"/>
            <a:ext cx="838200" cy="2057400"/>
          </a:xfrm>
          <a:custGeom>
            <a:avLst/>
            <a:gdLst>
              <a:gd name="T0" fmla="*/ 1330642282 w 528"/>
              <a:gd name="T1" fmla="*/ 0 h 1296"/>
              <a:gd name="T2" fmla="*/ 846772505 w 528"/>
              <a:gd name="T3" fmla="*/ 604837471 h 1296"/>
              <a:gd name="T4" fmla="*/ 362902431 w 528"/>
              <a:gd name="T5" fmla="*/ 2147483647 h 1296"/>
              <a:gd name="T6" fmla="*/ 0 w 528"/>
              <a:gd name="T7" fmla="*/ 2147483647 h 1296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1296"/>
              <a:gd name="T14" fmla="*/ 528 w 528"/>
              <a:gd name="T15" fmla="*/ 1296 h 12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1296">
                <a:moveTo>
                  <a:pt x="528" y="0"/>
                </a:moveTo>
                <a:cubicBezTo>
                  <a:pt x="464" y="36"/>
                  <a:pt x="400" y="72"/>
                  <a:pt x="336" y="240"/>
                </a:cubicBezTo>
                <a:cubicBezTo>
                  <a:pt x="272" y="408"/>
                  <a:pt x="200" y="832"/>
                  <a:pt x="144" y="1008"/>
                </a:cubicBezTo>
                <a:cubicBezTo>
                  <a:pt x="88" y="1184"/>
                  <a:pt x="44" y="1240"/>
                  <a:pt x="0" y="129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52" name="Text Box 39"/>
          <p:cNvSpPr txBox="1">
            <a:spLocks noChangeArrowheads="1"/>
          </p:cNvSpPr>
          <p:nvPr/>
        </p:nvSpPr>
        <p:spPr bwMode="auto">
          <a:xfrm>
            <a:off x="4038600" y="1143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15753" name="Freeform 40"/>
          <p:cNvSpPr>
            <a:spLocks/>
          </p:cNvSpPr>
          <p:nvPr/>
        </p:nvSpPr>
        <p:spPr bwMode="auto">
          <a:xfrm>
            <a:off x="3810000" y="1219200"/>
            <a:ext cx="838200" cy="2819400"/>
          </a:xfrm>
          <a:custGeom>
            <a:avLst/>
            <a:gdLst>
              <a:gd name="T0" fmla="*/ 1330642282 w 528"/>
              <a:gd name="T1" fmla="*/ 0 h 1488"/>
              <a:gd name="T2" fmla="*/ 1088707393 w 528"/>
              <a:gd name="T3" fmla="*/ 1033950663 h 1488"/>
              <a:gd name="T4" fmla="*/ 604837419 w 528"/>
              <a:gd name="T5" fmla="*/ 2147483647 h 1488"/>
              <a:gd name="T6" fmla="*/ 0 w 528"/>
              <a:gd name="T7" fmla="*/ 2147483647 h 1488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1488"/>
              <a:gd name="T14" fmla="*/ 528 w 528"/>
              <a:gd name="T15" fmla="*/ 1488 h 1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1488">
                <a:moveTo>
                  <a:pt x="528" y="0"/>
                </a:moveTo>
                <a:cubicBezTo>
                  <a:pt x="504" y="48"/>
                  <a:pt x="480" y="96"/>
                  <a:pt x="432" y="288"/>
                </a:cubicBezTo>
                <a:cubicBezTo>
                  <a:pt x="384" y="480"/>
                  <a:pt x="312" y="952"/>
                  <a:pt x="240" y="1152"/>
                </a:cubicBezTo>
                <a:cubicBezTo>
                  <a:pt x="168" y="1352"/>
                  <a:pt x="84" y="1420"/>
                  <a:pt x="0" y="14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54" name="Text Box 41"/>
          <p:cNvSpPr txBox="1">
            <a:spLocks noChangeArrowheads="1"/>
          </p:cNvSpPr>
          <p:nvPr/>
        </p:nvSpPr>
        <p:spPr bwMode="auto">
          <a:xfrm>
            <a:off x="4295775" y="1447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15755" name="Text Box 42"/>
          <p:cNvSpPr txBox="1">
            <a:spLocks noChangeArrowheads="1"/>
          </p:cNvSpPr>
          <p:nvPr/>
        </p:nvSpPr>
        <p:spPr bwMode="auto">
          <a:xfrm>
            <a:off x="914400" y="5410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15756" name="Line 43"/>
          <p:cNvSpPr>
            <a:spLocks noChangeShapeType="1"/>
          </p:cNvSpPr>
          <p:nvPr/>
        </p:nvSpPr>
        <p:spPr bwMode="auto">
          <a:xfrm>
            <a:off x="5867400" y="28956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57" name="Text Box 44"/>
          <p:cNvSpPr txBox="1">
            <a:spLocks noChangeArrowheads="1"/>
          </p:cNvSpPr>
          <p:nvPr/>
        </p:nvSpPr>
        <p:spPr bwMode="auto">
          <a:xfrm>
            <a:off x="6172200" y="2590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82317" name="Text Box 45"/>
          <p:cNvSpPr txBox="1">
            <a:spLocks noChangeArrowheads="1"/>
          </p:cNvSpPr>
          <p:nvPr/>
        </p:nvSpPr>
        <p:spPr bwMode="auto">
          <a:xfrm>
            <a:off x="6858000" y="23622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10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T→T*F.</a:t>
            </a:r>
          </a:p>
        </p:txBody>
      </p:sp>
      <p:sp>
        <p:nvSpPr>
          <p:cNvPr id="115759" name="Text Box 46"/>
          <p:cNvSpPr txBox="1">
            <a:spLocks noChangeArrowheads="1"/>
          </p:cNvSpPr>
          <p:nvPr/>
        </p:nvSpPr>
        <p:spPr bwMode="auto">
          <a:xfrm>
            <a:off x="4343400" y="4648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15760" name="Text Box 47"/>
          <p:cNvSpPr txBox="1">
            <a:spLocks noChangeArrowheads="1"/>
          </p:cNvSpPr>
          <p:nvPr/>
        </p:nvSpPr>
        <p:spPr bwMode="auto">
          <a:xfrm>
            <a:off x="7391400" y="48910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b="1">
                <a:latin typeface="Times New Roman" pitchFamily="18" charset="0"/>
              </a:rPr>
              <a:t>)</a:t>
            </a:r>
          </a:p>
        </p:txBody>
      </p:sp>
      <p:sp>
        <p:nvSpPr>
          <p:cNvPr id="182320" name="Text Box 48"/>
          <p:cNvSpPr txBox="1">
            <a:spLocks noChangeArrowheads="1"/>
          </p:cNvSpPr>
          <p:nvPr/>
        </p:nvSpPr>
        <p:spPr bwMode="auto">
          <a:xfrm>
            <a:off x="6934200" y="54864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11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F→(E).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15762" name="Text Box 49"/>
          <p:cNvSpPr txBox="1">
            <a:spLocks noChangeArrowheads="1"/>
          </p:cNvSpPr>
          <p:nvPr/>
        </p:nvSpPr>
        <p:spPr bwMode="auto">
          <a:xfrm>
            <a:off x="7924800" y="533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+</a:t>
            </a:r>
          </a:p>
        </p:txBody>
      </p:sp>
      <p:sp>
        <p:nvSpPr>
          <p:cNvPr id="115763" name="Line 50"/>
          <p:cNvSpPr>
            <a:spLocks noChangeShapeType="1"/>
          </p:cNvSpPr>
          <p:nvPr/>
        </p:nvSpPr>
        <p:spPr bwMode="auto">
          <a:xfrm flipH="1">
            <a:off x="5867400" y="1981200"/>
            <a:ext cx="9906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64" name="Text Box 51"/>
          <p:cNvSpPr txBox="1">
            <a:spLocks noChangeArrowheads="1"/>
          </p:cNvSpPr>
          <p:nvPr/>
        </p:nvSpPr>
        <p:spPr bwMode="auto">
          <a:xfrm>
            <a:off x="63246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*</a:t>
            </a:r>
          </a:p>
        </p:txBody>
      </p:sp>
      <p:sp>
        <p:nvSpPr>
          <p:cNvPr id="115765" name="Freeform 52"/>
          <p:cNvSpPr>
            <a:spLocks/>
          </p:cNvSpPr>
          <p:nvPr/>
        </p:nvSpPr>
        <p:spPr bwMode="auto">
          <a:xfrm>
            <a:off x="5867400" y="685800"/>
            <a:ext cx="2743200" cy="3429000"/>
          </a:xfrm>
          <a:custGeom>
            <a:avLst/>
            <a:gdLst>
              <a:gd name="T0" fmla="*/ 2147483647 w 1712"/>
              <a:gd name="T1" fmla="*/ 2147483647 h 2352"/>
              <a:gd name="T2" fmla="*/ 2147483647 w 1712"/>
              <a:gd name="T3" fmla="*/ 2147483647 h 2352"/>
              <a:gd name="T4" fmla="*/ 2147483647 w 1712"/>
              <a:gd name="T5" fmla="*/ 1428332810 h 2352"/>
              <a:gd name="T6" fmla="*/ 2147483647 w 1712"/>
              <a:gd name="T7" fmla="*/ 408094750 h 2352"/>
              <a:gd name="T8" fmla="*/ 2147483647 w 1712"/>
              <a:gd name="T9" fmla="*/ 102024416 h 2352"/>
              <a:gd name="T10" fmla="*/ 0 w 1712"/>
              <a:gd name="T11" fmla="*/ 0 h 23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12"/>
              <a:gd name="T19" fmla="*/ 0 h 2352"/>
              <a:gd name="T20" fmla="*/ 1712 w 1712"/>
              <a:gd name="T21" fmla="*/ 2352 h 23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12" h="2352">
                <a:moveTo>
                  <a:pt x="1440" y="2352"/>
                </a:moveTo>
                <a:cubicBezTo>
                  <a:pt x="1516" y="2060"/>
                  <a:pt x="1592" y="1768"/>
                  <a:pt x="1632" y="1488"/>
                </a:cubicBezTo>
                <a:cubicBezTo>
                  <a:pt x="1672" y="1208"/>
                  <a:pt x="1712" y="888"/>
                  <a:pt x="1680" y="672"/>
                </a:cubicBezTo>
                <a:cubicBezTo>
                  <a:pt x="1648" y="456"/>
                  <a:pt x="1536" y="296"/>
                  <a:pt x="1440" y="192"/>
                </a:cubicBezTo>
                <a:cubicBezTo>
                  <a:pt x="1344" y="88"/>
                  <a:pt x="1344" y="80"/>
                  <a:pt x="1104" y="48"/>
                </a:cubicBezTo>
                <a:cubicBezTo>
                  <a:pt x="864" y="16"/>
                  <a:pt x="152" y="0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66" name="Line 53"/>
          <p:cNvSpPr>
            <a:spLocks noChangeShapeType="1"/>
          </p:cNvSpPr>
          <p:nvPr/>
        </p:nvSpPr>
        <p:spPr bwMode="auto">
          <a:xfrm>
            <a:off x="7620000" y="47244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67" name="Freeform 54"/>
          <p:cNvSpPr>
            <a:spLocks/>
          </p:cNvSpPr>
          <p:nvPr/>
        </p:nvSpPr>
        <p:spPr bwMode="auto">
          <a:xfrm>
            <a:off x="3810000" y="3657600"/>
            <a:ext cx="1016000" cy="1752600"/>
          </a:xfrm>
          <a:custGeom>
            <a:avLst/>
            <a:gdLst>
              <a:gd name="T0" fmla="*/ 1572577297 w 640"/>
              <a:gd name="T1" fmla="*/ 0 h 1104"/>
              <a:gd name="T2" fmla="*/ 1572577297 w 640"/>
              <a:gd name="T3" fmla="*/ 967739969 h 1104"/>
              <a:gd name="T4" fmla="*/ 1330642389 w 640"/>
              <a:gd name="T5" fmla="*/ 1451609755 h 1104"/>
              <a:gd name="T6" fmla="*/ 0 w 640"/>
              <a:gd name="T7" fmla="*/ 2147483647 h 1104"/>
              <a:gd name="T8" fmla="*/ 0 60000 65536"/>
              <a:gd name="T9" fmla="*/ 0 60000 65536"/>
              <a:gd name="T10" fmla="*/ 0 60000 65536"/>
              <a:gd name="T11" fmla="*/ 0 60000 65536"/>
              <a:gd name="T12" fmla="*/ 0 w 640"/>
              <a:gd name="T13" fmla="*/ 0 h 1104"/>
              <a:gd name="T14" fmla="*/ 640 w 640"/>
              <a:gd name="T15" fmla="*/ 1104 h 11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0" h="1104">
                <a:moveTo>
                  <a:pt x="624" y="0"/>
                </a:moveTo>
                <a:cubicBezTo>
                  <a:pt x="632" y="144"/>
                  <a:pt x="640" y="288"/>
                  <a:pt x="624" y="384"/>
                </a:cubicBezTo>
                <a:cubicBezTo>
                  <a:pt x="608" y="480"/>
                  <a:pt x="632" y="456"/>
                  <a:pt x="528" y="576"/>
                </a:cubicBezTo>
                <a:cubicBezTo>
                  <a:pt x="424" y="696"/>
                  <a:pt x="212" y="900"/>
                  <a:pt x="0" y="110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68" name="Freeform 55"/>
          <p:cNvSpPr>
            <a:spLocks/>
          </p:cNvSpPr>
          <p:nvPr/>
        </p:nvSpPr>
        <p:spPr bwMode="auto">
          <a:xfrm>
            <a:off x="990600" y="3657600"/>
            <a:ext cx="4622800" cy="2794000"/>
          </a:xfrm>
          <a:custGeom>
            <a:avLst/>
            <a:gdLst>
              <a:gd name="T0" fmla="*/ 2147483647 w 2912"/>
              <a:gd name="T1" fmla="*/ 0 h 1760"/>
              <a:gd name="T2" fmla="*/ 2147483647 w 2912"/>
              <a:gd name="T3" fmla="*/ 2056447723 h 1760"/>
              <a:gd name="T4" fmla="*/ 2147483647 w 2912"/>
              <a:gd name="T5" fmla="*/ 2147483647 h 1760"/>
              <a:gd name="T6" fmla="*/ 2147483647 w 2912"/>
              <a:gd name="T7" fmla="*/ 2147483647 h 1760"/>
              <a:gd name="T8" fmla="*/ 2056447604 w 2912"/>
              <a:gd name="T9" fmla="*/ 2147483647 h 1760"/>
              <a:gd name="T10" fmla="*/ 1209674991 w 2912"/>
              <a:gd name="T11" fmla="*/ 2147483647 h 1760"/>
              <a:gd name="T12" fmla="*/ 362902478 w 2912"/>
              <a:gd name="T13" fmla="*/ 2147483647 h 1760"/>
              <a:gd name="T14" fmla="*/ 0 w 2912"/>
              <a:gd name="T15" fmla="*/ 1935480257 h 17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912"/>
              <a:gd name="T25" fmla="*/ 0 h 1760"/>
              <a:gd name="T26" fmla="*/ 2912 w 2912"/>
              <a:gd name="T27" fmla="*/ 1760 h 17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912" h="1760">
                <a:moveTo>
                  <a:pt x="2880" y="0"/>
                </a:moveTo>
                <a:cubicBezTo>
                  <a:pt x="2896" y="280"/>
                  <a:pt x="2912" y="560"/>
                  <a:pt x="2832" y="816"/>
                </a:cubicBezTo>
                <a:cubicBezTo>
                  <a:pt x="2752" y="1072"/>
                  <a:pt x="2544" y="1384"/>
                  <a:pt x="2400" y="1536"/>
                </a:cubicBezTo>
                <a:cubicBezTo>
                  <a:pt x="2256" y="1688"/>
                  <a:pt x="2232" y="1696"/>
                  <a:pt x="1968" y="1728"/>
                </a:cubicBezTo>
                <a:cubicBezTo>
                  <a:pt x="1704" y="1760"/>
                  <a:pt x="1064" y="1752"/>
                  <a:pt x="816" y="1728"/>
                </a:cubicBezTo>
                <a:cubicBezTo>
                  <a:pt x="568" y="1704"/>
                  <a:pt x="592" y="1672"/>
                  <a:pt x="480" y="1584"/>
                </a:cubicBezTo>
                <a:cubicBezTo>
                  <a:pt x="368" y="1496"/>
                  <a:pt x="224" y="1336"/>
                  <a:pt x="144" y="1200"/>
                </a:cubicBezTo>
                <a:cubicBezTo>
                  <a:pt x="64" y="1064"/>
                  <a:pt x="8" y="856"/>
                  <a:pt x="0" y="7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69" name="Text Box 56"/>
          <p:cNvSpPr txBox="1">
            <a:spLocks noChangeArrowheads="1"/>
          </p:cNvSpPr>
          <p:nvPr/>
        </p:nvSpPr>
        <p:spPr bwMode="auto">
          <a:xfrm>
            <a:off x="6629400" y="76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15770" name="Freeform 57"/>
          <p:cNvSpPr>
            <a:spLocks/>
          </p:cNvSpPr>
          <p:nvPr/>
        </p:nvSpPr>
        <p:spPr bwMode="auto">
          <a:xfrm>
            <a:off x="520700" y="444500"/>
            <a:ext cx="8572500" cy="6248400"/>
          </a:xfrm>
          <a:custGeom>
            <a:avLst/>
            <a:gdLst>
              <a:gd name="T0" fmla="*/ 2147483647 w 5400"/>
              <a:gd name="T1" fmla="*/ 20161251 h 3936"/>
              <a:gd name="T2" fmla="*/ 2147483647 w 5400"/>
              <a:gd name="T3" fmla="*/ 20161251 h 3936"/>
              <a:gd name="T4" fmla="*/ 2147483647 w 5400"/>
              <a:gd name="T5" fmla="*/ 141128765 h 3936"/>
              <a:gd name="T6" fmla="*/ 2147483647 w 5400"/>
              <a:gd name="T7" fmla="*/ 504031323 h 3936"/>
              <a:gd name="T8" fmla="*/ 2147483647 w 5400"/>
              <a:gd name="T9" fmla="*/ 987901402 h 3936"/>
              <a:gd name="T10" fmla="*/ 2147483647 w 5400"/>
              <a:gd name="T11" fmla="*/ 1834674089 h 3936"/>
              <a:gd name="T12" fmla="*/ 2147483647 w 5400"/>
              <a:gd name="T13" fmla="*/ 2147483647 h 3936"/>
              <a:gd name="T14" fmla="*/ 2147483647 w 5400"/>
              <a:gd name="T15" fmla="*/ 2147483647 h 3936"/>
              <a:gd name="T16" fmla="*/ 2147483647 w 5400"/>
              <a:gd name="T17" fmla="*/ 2147483647 h 3936"/>
              <a:gd name="T18" fmla="*/ 383063711 w 5400"/>
              <a:gd name="T19" fmla="*/ 2147483647 h 3936"/>
              <a:gd name="T20" fmla="*/ 20161249 w 5400"/>
              <a:gd name="T21" fmla="*/ 2147483647 h 39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400"/>
              <a:gd name="T34" fmla="*/ 0 h 3936"/>
              <a:gd name="T35" fmla="*/ 5400 w 5400"/>
              <a:gd name="T36" fmla="*/ 3936 h 39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400" h="3936">
                <a:moveTo>
                  <a:pt x="3368" y="8"/>
                </a:moveTo>
                <a:cubicBezTo>
                  <a:pt x="3884" y="4"/>
                  <a:pt x="4400" y="0"/>
                  <a:pt x="4664" y="8"/>
                </a:cubicBezTo>
                <a:cubicBezTo>
                  <a:pt x="4928" y="16"/>
                  <a:pt x="4880" y="24"/>
                  <a:pt x="4952" y="56"/>
                </a:cubicBezTo>
                <a:cubicBezTo>
                  <a:pt x="5024" y="88"/>
                  <a:pt x="5056" y="144"/>
                  <a:pt x="5096" y="200"/>
                </a:cubicBezTo>
                <a:cubicBezTo>
                  <a:pt x="5136" y="256"/>
                  <a:pt x="5168" y="304"/>
                  <a:pt x="5192" y="392"/>
                </a:cubicBezTo>
                <a:cubicBezTo>
                  <a:pt x="5216" y="480"/>
                  <a:pt x="5232" y="224"/>
                  <a:pt x="5240" y="728"/>
                </a:cubicBezTo>
                <a:cubicBezTo>
                  <a:pt x="5248" y="1232"/>
                  <a:pt x="5400" y="2896"/>
                  <a:pt x="5240" y="3416"/>
                </a:cubicBezTo>
                <a:cubicBezTo>
                  <a:pt x="5080" y="3936"/>
                  <a:pt x="5000" y="3776"/>
                  <a:pt x="4280" y="3848"/>
                </a:cubicBezTo>
                <a:cubicBezTo>
                  <a:pt x="3560" y="3920"/>
                  <a:pt x="1608" y="3904"/>
                  <a:pt x="920" y="3848"/>
                </a:cubicBezTo>
                <a:cubicBezTo>
                  <a:pt x="232" y="3792"/>
                  <a:pt x="304" y="3688"/>
                  <a:pt x="152" y="3512"/>
                </a:cubicBezTo>
                <a:cubicBezTo>
                  <a:pt x="0" y="3336"/>
                  <a:pt x="24" y="2904"/>
                  <a:pt x="8" y="279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71" name="Text Box 58"/>
          <p:cNvSpPr txBox="1">
            <a:spLocks noChangeArrowheads="1"/>
          </p:cNvSpPr>
          <p:nvPr/>
        </p:nvSpPr>
        <p:spPr bwMode="auto">
          <a:xfrm>
            <a:off x="4356100" y="5157788"/>
            <a:ext cx="259238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0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构造</a:t>
            </a:r>
            <a:r>
              <a:rPr lang="en-US" altLang="zh-CN" sz="40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4000" b="1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分析表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916" name="Group 180"/>
          <p:cNvGraphicFramePr>
            <a:graphicFrameLocks noGrp="1"/>
          </p:cNvGraphicFramePr>
          <p:nvPr>
            <p:ph sz="half" idx="2"/>
          </p:nvPr>
        </p:nvGraphicFramePr>
        <p:xfrm>
          <a:off x="250825" y="404813"/>
          <a:ext cx="8755380" cy="6408738"/>
        </p:xfrm>
        <a:graphic>
          <a:graphicData uri="http://schemas.openxmlformats.org/drawingml/2006/table">
            <a:tbl>
              <a:tblPr/>
              <a:tblGrid>
                <a:gridCol w="64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7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50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15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49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1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GOTO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r2/S7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r1/S7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" name="Group 191"/>
          <p:cNvGrpSpPr>
            <a:grpSpLocks/>
          </p:cNvGrpSpPr>
          <p:nvPr/>
        </p:nvGrpSpPr>
        <p:grpSpPr bwMode="auto">
          <a:xfrm>
            <a:off x="3730625" y="3644900"/>
            <a:ext cx="3865563" cy="2087563"/>
            <a:chOff x="2336" y="2160"/>
            <a:chExt cx="2435" cy="1179"/>
          </a:xfrm>
        </p:grpSpPr>
        <p:sp>
          <p:nvSpPr>
            <p:cNvPr id="116914" name="AutoShape 189"/>
            <p:cNvSpPr>
              <a:spLocks/>
            </p:cNvSpPr>
            <p:nvPr/>
          </p:nvSpPr>
          <p:spPr bwMode="auto">
            <a:xfrm>
              <a:off x="3243" y="2160"/>
              <a:ext cx="1528" cy="675"/>
            </a:xfrm>
            <a:prstGeom prst="borderCallout1">
              <a:avLst>
                <a:gd name="adj1" fmla="val 10667"/>
                <a:gd name="adj2" fmla="val -3144"/>
                <a:gd name="adj3" fmla="val -93630"/>
                <a:gd name="adj4" fmla="val -56347"/>
              </a:avLst>
            </a:prstGeom>
            <a:solidFill>
              <a:schemeClr val="tx1"/>
            </a:solidFill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</p:spPr>
          <p:txBody>
            <a:bodyPr/>
            <a:lstStyle/>
            <a:p>
              <a:pPr algn="ctr"/>
              <a:r>
                <a:rPr lang="zh-CN" altLang="en-US" sz="3600" b="1">
                  <a:solidFill>
                    <a:schemeClr val="bg1"/>
                  </a:solidFill>
                  <a:ea typeface="华文新魏" pitchFamily="2" charset="-122"/>
                </a:rPr>
                <a:t>移进归约冲突</a:t>
              </a:r>
            </a:p>
          </p:txBody>
        </p:sp>
        <p:sp>
          <p:nvSpPr>
            <p:cNvPr id="116915" name="Line 190"/>
            <p:cNvSpPr>
              <a:spLocks noChangeShapeType="1"/>
            </p:cNvSpPr>
            <p:nvPr/>
          </p:nvSpPr>
          <p:spPr bwMode="auto">
            <a:xfrm flipV="1">
              <a:off x="2336" y="2704"/>
              <a:ext cx="862" cy="6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6913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1293E897-0CA0-437D-8E8E-5E74BF1089E9}" type="slidenum">
              <a:rPr lang="en-US" altLang="zh-CN" sz="1400"/>
              <a:pPr algn="r" eaLnBrk="1" hangingPunct="1"/>
              <a:t>89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八、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不是总有效的</a:t>
            </a:r>
          </a:p>
        </p:txBody>
      </p:sp>
      <p:graphicFrame>
        <p:nvGraphicFramePr>
          <p:cNvPr id="100850" name="Group 498"/>
          <p:cNvGraphicFramePr>
            <a:graphicFrameLocks noGrp="1"/>
          </p:cNvGraphicFramePr>
          <p:nvPr>
            <p:ph type="tbl" idx="1"/>
          </p:nvPr>
        </p:nvGraphicFramePr>
        <p:xfrm>
          <a:off x="2268538" y="2387600"/>
          <a:ext cx="5948362" cy="1371600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6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3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8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r2/S7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r1/S7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779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C4DF765-B02B-4904-B1B4-E6F57CDAF9AB}" type="slidenum">
              <a:rPr lang="en-US" altLang="zh-CN" smtClean="0"/>
              <a:pPr eaLnBrk="1" hangingPunct="1"/>
              <a:t>90</a:t>
            </a:fld>
            <a:endParaRPr lang="en-US" altLang="zh-CN" smtClean="0"/>
          </a:p>
        </p:txBody>
      </p:sp>
      <p:sp>
        <p:nvSpPr>
          <p:cNvPr id="100356" name="Text Box 4"/>
          <p:cNvSpPr txBox="1">
            <a:spLocks noChangeArrowheads="1"/>
          </p:cNvSpPr>
          <p:nvPr/>
        </p:nvSpPr>
        <p:spPr bwMode="auto">
          <a:xfrm>
            <a:off x="684213" y="4365625"/>
            <a:ext cx="7848600" cy="1554163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 </a:t>
            </a:r>
            <a:r>
              <a:rPr kumimoji="1"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并不是所有</a:t>
            </a:r>
            <a:r>
              <a:rPr kumimoji="1"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CFG</a:t>
            </a:r>
            <a:r>
              <a:rPr kumimoji="1"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都能用</a:t>
            </a:r>
            <a:r>
              <a:rPr kumimoji="1"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LR(0)</a:t>
            </a:r>
            <a:r>
              <a:rPr kumimoji="1"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方法进行分析，即，</a:t>
            </a:r>
            <a:r>
              <a:rPr kumimoji="1"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CFG</a:t>
            </a:r>
            <a:r>
              <a:rPr kumimoji="1"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不一定是</a:t>
            </a:r>
            <a:r>
              <a:rPr kumimoji="1"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LR(0)</a:t>
            </a:r>
            <a:r>
              <a:rPr kumimoji="1"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方法能够处理的文法</a:t>
            </a:r>
          </a:p>
        </p:txBody>
      </p:sp>
      <p:sp>
        <p:nvSpPr>
          <p:cNvPr id="100358" name="Text Box 6"/>
          <p:cNvSpPr txBox="1">
            <a:spLocks noChangeArrowheads="1"/>
          </p:cNvSpPr>
          <p:nvPr/>
        </p:nvSpPr>
        <p:spPr bwMode="auto">
          <a:xfrm>
            <a:off x="971550" y="1989138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E→T.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T→T.*F</a:t>
            </a:r>
            <a:endParaRPr kumimoji="1" lang="en-US" altLang="zh-CN" sz="20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00359" name="Text Box 7"/>
          <p:cNvSpPr txBox="1">
            <a:spLocks noChangeArrowheads="1"/>
          </p:cNvSpPr>
          <p:nvPr/>
        </p:nvSpPr>
        <p:spPr bwMode="auto">
          <a:xfrm>
            <a:off x="971550" y="3068638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9</a:t>
            </a: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E→E+T.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T→T.*F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311150"/>
            <a:ext cx="6335712" cy="1268413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项目集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的相容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8280400" cy="4968875"/>
          </a:xfrm>
        </p:spPr>
        <p:txBody>
          <a:bodyPr/>
          <a:lstStyle/>
          <a:p>
            <a:pPr eaLnBrk="1" hangingPunct="1">
              <a:spcBef>
                <a:spcPct val="45000"/>
              </a:spcBef>
            </a:pP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归约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-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归约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冲突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(Reduce/Reduce Conflict): I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中至少含两个归约项目</a:t>
            </a:r>
          </a:p>
          <a:p>
            <a:pPr eaLnBrk="1" hangingPunct="1">
              <a:spcBef>
                <a:spcPct val="45000"/>
              </a:spcBef>
            </a:pP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移进</a:t>
            </a: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-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归约冲突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(Shift/Reduce Conflict):I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中既含归约项目，又含移进项目</a:t>
            </a:r>
          </a:p>
          <a:p>
            <a:pPr eaLnBrk="1" hangingPunct="1">
              <a:spcBef>
                <a:spcPct val="45000"/>
              </a:spcBef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 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相容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(Consistent): 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既无归约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归约冲突，又无移进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归约冲突</a:t>
            </a:r>
          </a:p>
          <a:p>
            <a:pPr eaLnBrk="1" hangingPunct="1">
              <a:spcBef>
                <a:spcPct val="4500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 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不相容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(Inconsistent): : I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中有归约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归约或者移进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-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归约冲突</a:t>
            </a:r>
          </a:p>
          <a:p>
            <a:pPr eaLnBrk="1" hangingPunct="1">
              <a:spcBef>
                <a:spcPct val="45000"/>
              </a:spcBef>
            </a:pPr>
            <a:r>
              <a:rPr lang="en-US" altLang="zh-CN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文法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I∈C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，都是相容的</a:t>
            </a:r>
          </a:p>
        </p:txBody>
      </p:sp>
      <p:sp>
        <p:nvSpPr>
          <p:cNvPr id="1187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E99D3C2-EFE7-4765-9665-92D7C23CBDC8}" type="slidenum">
              <a:rPr lang="en-US" altLang="zh-CN" smtClean="0"/>
              <a:pPr eaLnBrk="1" hangingPunct="1"/>
              <a:t>91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2"/>
          <p:cNvSpPr txBox="1">
            <a:spLocks noChangeArrowheads="1"/>
          </p:cNvSpPr>
          <p:nvPr/>
        </p:nvSpPr>
        <p:spPr bwMode="auto">
          <a:xfrm>
            <a:off x="533400" y="304800"/>
            <a:ext cx="1143000" cy="2543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  <a:r>
              <a:rPr lang="en-US" altLang="zh-CN" b="1"/>
              <a:t>'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→.S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S→.A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S→.B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A→.aAc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A→.a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B→.bBd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B→.b</a:t>
            </a:r>
          </a:p>
        </p:txBody>
      </p:sp>
      <p:sp>
        <p:nvSpPr>
          <p:cNvPr id="99331" name="Line 3"/>
          <p:cNvSpPr>
            <a:spLocks noChangeShapeType="1"/>
          </p:cNvSpPr>
          <p:nvPr/>
        </p:nvSpPr>
        <p:spPr bwMode="auto">
          <a:xfrm>
            <a:off x="1676400" y="609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1981200" y="3048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>
                <a:latin typeface="Times New Roman" pitchFamily="18" charset="0"/>
              </a:rPr>
              <a:t>S</a:t>
            </a:r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2590800" y="381000"/>
            <a:ext cx="129540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:S</a:t>
            </a:r>
            <a:r>
              <a:rPr lang="en-US" altLang="zh-CN" b="1"/>
              <a:t>'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→S.</a:t>
            </a:r>
          </a:p>
        </p:txBody>
      </p:sp>
      <p:sp>
        <p:nvSpPr>
          <p:cNvPr id="99334" name="Line 6"/>
          <p:cNvSpPr>
            <a:spLocks noChangeShapeType="1"/>
          </p:cNvSpPr>
          <p:nvPr/>
        </p:nvSpPr>
        <p:spPr bwMode="auto">
          <a:xfrm>
            <a:off x="1676400" y="1371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35" name="Text Box 7"/>
          <p:cNvSpPr txBox="1">
            <a:spLocks noChangeArrowheads="1"/>
          </p:cNvSpPr>
          <p:nvPr/>
        </p:nvSpPr>
        <p:spPr bwMode="auto">
          <a:xfrm>
            <a:off x="1981200" y="990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A</a:t>
            </a:r>
          </a:p>
        </p:txBody>
      </p:sp>
      <p:sp>
        <p:nvSpPr>
          <p:cNvPr id="99336" name="Text Box 8"/>
          <p:cNvSpPr txBox="1">
            <a:spLocks noChangeArrowheads="1"/>
          </p:cNvSpPr>
          <p:nvPr/>
        </p:nvSpPr>
        <p:spPr bwMode="auto">
          <a:xfrm>
            <a:off x="2590800" y="1066800"/>
            <a:ext cx="129540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:S→A.</a:t>
            </a:r>
          </a:p>
        </p:txBody>
      </p:sp>
      <p:sp>
        <p:nvSpPr>
          <p:cNvPr id="99337" name="Line 9"/>
          <p:cNvSpPr>
            <a:spLocks noChangeShapeType="1"/>
          </p:cNvSpPr>
          <p:nvPr/>
        </p:nvSpPr>
        <p:spPr bwMode="auto">
          <a:xfrm>
            <a:off x="1676400" y="2057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38" name="Text Box 10"/>
          <p:cNvSpPr txBox="1">
            <a:spLocks noChangeArrowheads="1"/>
          </p:cNvSpPr>
          <p:nvPr/>
        </p:nvSpPr>
        <p:spPr bwMode="auto">
          <a:xfrm>
            <a:off x="1981200" y="1676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B</a:t>
            </a:r>
          </a:p>
        </p:txBody>
      </p:sp>
      <p:sp>
        <p:nvSpPr>
          <p:cNvPr id="99339" name="Text Box 11"/>
          <p:cNvSpPr txBox="1">
            <a:spLocks noChangeArrowheads="1"/>
          </p:cNvSpPr>
          <p:nvPr/>
        </p:nvSpPr>
        <p:spPr bwMode="auto">
          <a:xfrm>
            <a:off x="2590800" y="1828800"/>
            <a:ext cx="129540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:S→B.</a:t>
            </a:r>
          </a:p>
        </p:txBody>
      </p:sp>
      <p:sp>
        <p:nvSpPr>
          <p:cNvPr id="99340" name="Line 12"/>
          <p:cNvSpPr>
            <a:spLocks noChangeShapeType="1"/>
          </p:cNvSpPr>
          <p:nvPr/>
        </p:nvSpPr>
        <p:spPr bwMode="auto">
          <a:xfrm>
            <a:off x="1676400" y="27432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41" name="Text Box 13"/>
          <p:cNvSpPr txBox="1">
            <a:spLocks noChangeArrowheads="1"/>
          </p:cNvSpPr>
          <p:nvPr/>
        </p:nvSpPr>
        <p:spPr bwMode="auto">
          <a:xfrm>
            <a:off x="1981200" y="2362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a</a:t>
            </a:r>
          </a:p>
        </p:txBody>
      </p:sp>
      <p:sp>
        <p:nvSpPr>
          <p:cNvPr id="99342" name="Text Box 14"/>
          <p:cNvSpPr txBox="1">
            <a:spLocks noChangeArrowheads="1"/>
          </p:cNvSpPr>
          <p:nvPr/>
        </p:nvSpPr>
        <p:spPr bwMode="auto">
          <a:xfrm>
            <a:off x="2590800" y="2438400"/>
            <a:ext cx="1295400" cy="16287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4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A→a.Ac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A→a.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A→.aAc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A→.a</a:t>
            </a:r>
          </a:p>
        </p:txBody>
      </p:sp>
      <p:sp>
        <p:nvSpPr>
          <p:cNvPr id="99343" name="Freeform 15"/>
          <p:cNvSpPr>
            <a:spLocks/>
          </p:cNvSpPr>
          <p:nvPr/>
        </p:nvSpPr>
        <p:spPr bwMode="auto">
          <a:xfrm>
            <a:off x="914400" y="2895600"/>
            <a:ext cx="1676400" cy="2362200"/>
          </a:xfrm>
          <a:custGeom>
            <a:avLst/>
            <a:gdLst>
              <a:gd name="T0" fmla="*/ 100916085 w 944"/>
              <a:gd name="T1" fmla="*/ 0 h 1600"/>
              <a:gd name="T2" fmla="*/ 403666116 w 944"/>
              <a:gd name="T3" fmla="*/ 1883246397 h 1600"/>
              <a:gd name="T4" fmla="*/ 2147483647 w 944"/>
              <a:gd name="T5" fmla="*/ 2147483647 h 1600"/>
              <a:gd name="T6" fmla="*/ 2147483647 w 944"/>
              <a:gd name="T7" fmla="*/ 2147483647 h 1600"/>
              <a:gd name="T8" fmla="*/ 0 60000 65536"/>
              <a:gd name="T9" fmla="*/ 0 60000 65536"/>
              <a:gd name="T10" fmla="*/ 0 60000 65536"/>
              <a:gd name="T11" fmla="*/ 0 60000 65536"/>
              <a:gd name="T12" fmla="*/ 0 w 944"/>
              <a:gd name="T13" fmla="*/ 0 h 1600"/>
              <a:gd name="T14" fmla="*/ 944 w 944"/>
              <a:gd name="T15" fmla="*/ 1600 h 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44" h="1600">
                <a:moveTo>
                  <a:pt x="32" y="0"/>
                </a:moveTo>
                <a:cubicBezTo>
                  <a:pt x="16" y="308"/>
                  <a:pt x="0" y="616"/>
                  <a:pt x="128" y="864"/>
                </a:cubicBezTo>
                <a:cubicBezTo>
                  <a:pt x="256" y="1112"/>
                  <a:pt x="664" y="1376"/>
                  <a:pt x="800" y="1488"/>
                </a:cubicBezTo>
                <a:cubicBezTo>
                  <a:pt x="936" y="1600"/>
                  <a:pt x="736" y="1488"/>
                  <a:pt x="944" y="153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44" name="Text Box 16"/>
          <p:cNvSpPr txBox="1">
            <a:spLocks noChangeArrowheads="1"/>
          </p:cNvSpPr>
          <p:nvPr/>
        </p:nvSpPr>
        <p:spPr bwMode="auto">
          <a:xfrm>
            <a:off x="1143000" y="38862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b</a:t>
            </a:r>
          </a:p>
        </p:txBody>
      </p:sp>
      <p:sp>
        <p:nvSpPr>
          <p:cNvPr id="99345" name="Text Box 17"/>
          <p:cNvSpPr txBox="1">
            <a:spLocks noChangeArrowheads="1"/>
          </p:cNvSpPr>
          <p:nvPr/>
        </p:nvSpPr>
        <p:spPr bwMode="auto">
          <a:xfrm>
            <a:off x="2590800" y="4648200"/>
            <a:ext cx="1295400" cy="16287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5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B→b.Bd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B→b.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B→.bBd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B→.b</a:t>
            </a:r>
          </a:p>
        </p:txBody>
      </p:sp>
      <p:sp>
        <p:nvSpPr>
          <p:cNvPr id="99346" name="Freeform 18"/>
          <p:cNvSpPr>
            <a:spLocks/>
          </p:cNvSpPr>
          <p:nvPr/>
        </p:nvSpPr>
        <p:spPr bwMode="auto">
          <a:xfrm>
            <a:off x="3886200" y="533400"/>
            <a:ext cx="1295400" cy="2133600"/>
          </a:xfrm>
          <a:custGeom>
            <a:avLst/>
            <a:gdLst>
              <a:gd name="T0" fmla="*/ 0 w 816"/>
              <a:gd name="T1" fmla="*/ 2147483647 h 1344"/>
              <a:gd name="T2" fmla="*/ 483870054 w 816"/>
              <a:gd name="T3" fmla="*/ 2147483647 h 1344"/>
              <a:gd name="T4" fmla="*/ 967740107 w 816"/>
              <a:gd name="T5" fmla="*/ 725804935 h 1344"/>
              <a:gd name="T6" fmla="*/ 2056447678 w 816"/>
              <a:gd name="T7" fmla="*/ 0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1344"/>
                </a:moveTo>
                <a:cubicBezTo>
                  <a:pt x="64" y="1264"/>
                  <a:pt x="128" y="1184"/>
                  <a:pt x="192" y="1008"/>
                </a:cubicBezTo>
                <a:cubicBezTo>
                  <a:pt x="256" y="832"/>
                  <a:pt x="280" y="456"/>
                  <a:pt x="384" y="288"/>
                </a:cubicBezTo>
                <a:cubicBezTo>
                  <a:pt x="488" y="120"/>
                  <a:pt x="744" y="40"/>
                  <a:pt x="816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47" name="Text Box 19"/>
          <p:cNvSpPr txBox="1">
            <a:spLocks noChangeArrowheads="1"/>
          </p:cNvSpPr>
          <p:nvPr/>
        </p:nvSpPr>
        <p:spPr bwMode="auto">
          <a:xfrm>
            <a:off x="4267200" y="1143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A</a:t>
            </a:r>
          </a:p>
        </p:txBody>
      </p:sp>
      <p:sp>
        <p:nvSpPr>
          <p:cNvPr id="99348" name="Text Box 20"/>
          <p:cNvSpPr txBox="1">
            <a:spLocks noChangeArrowheads="1"/>
          </p:cNvSpPr>
          <p:nvPr/>
        </p:nvSpPr>
        <p:spPr bwMode="auto">
          <a:xfrm>
            <a:off x="5181600" y="152400"/>
            <a:ext cx="152400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6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:A→aA.c</a:t>
            </a:r>
          </a:p>
        </p:txBody>
      </p:sp>
      <p:sp>
        <p:nvSpPr>
          <p:cNvPr id="99349" name="Freeform 21"/>
          <p:cNvSpPr>
            <a:spLocks/>
          </p:cNvSpPr>
          <p:nvPr/>
        </p:nvSpPr>
        <p:spPr bwMode="auto">
          <a:xfrm>
            <a:off x="2133600" y="3048000"/>
            <a:ext cx="457200" cy="838200"/>
          </a:xfrm>
          <a:custGeom>
            <a:avLst/>
            <a:gdLst>
              <a:gd name="T0" fmla="*/ 725804891 w 288"/>
              <a:gd name="T1" fmla="*/ 0 h 528"/>
              <a:gd name="T2" fmla="*/ 0 w 288"/>
              <a:gd name="T3" fmla="*/ 604837419 h 528"/>
              <a:gd name="T4" fmla="*/ 725804891 w 288"/>
              <a:gd name="T5" fmla="*/ 1330642282 h 528"/>
              <a:gd name="T6" fmla="*/ 0 60000 65536"/>
              <a:gd name="T7" fmla="*/ 0 60000 65536"/>
              <a:gd name="T8" fmla="*/ 0 60000 65536"/>
              <a:gd name="T9" fmla="*/ 0 w 288"/>
              <a:gd name="T10" fmla="*/ 0 h 528"/>
              <a:gd name="T11" fmla="*/ 288 w 288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528">
                <a:moveTo>
                  <a:pt x="288" y="0"/>
                </a:moveTo>
                <a:cubicBezTo>
                  <a:pt x="144" y="76"/>
                  <a:pt x="0" y="152"/>
                  <a:pt x="0" y="240"/>
                </a:cubicBezTo>
                <a:cubicBezTo>
                  <a:pt x="0" y="328"/>
                  <a:pt x="144" y="428"/>
                  <a:pt x="288" y="52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0" name="Text Box 22"/>
          <p:cNvSpPr txBox="1">
            <a:spLocks noChangeArrowheads="1"/>
          </p:cNvSpPr>
          <p:nvPr/>
        </p:nvSpPr>
        <p:spPr bwMode="auto">
          <a:xfrm>
            <a:off x="1828800" y="3276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a</a:t>
            </a:r>
          </a:p>
        </p:txBody>
      </p:sp>
      <p:sp>
        <p:nvSpPr>
          <p:cNvPr id="99351" name="Freeform 23"/>
          <p:cNvSpPr>
            <a:spLocks/>
          </p:cNvSpPr>
          <p:nvPr/>
        </p:nvSpPr>
        <p:spPr bwMode="auto">
          <a:xfrm>
            <a:off x="2133600" y="5257800"/>
            <a:ext cx="457200" cy="990600"/>
          </a:xfrm>
          <a:custGeom>
            <a:avLst/>
            <a:gdLst>
              <a:gd name="T0" fmla="*/ 870966017 w 240"/>
              <a:gd name="T1" fmla="*/ 0 h 432"/>
              <a:gd name="T2" fmla="*/ 0 w 240"/>
              <a:gd name="T3" fmla="*/ 1009556692 h 432"/>
              <a:gd name="T4" fmla="*/ 870966017 w 240"/>
              <a:gd name="T5" fmla="*/ 2147483647 h 432"/>
              <a:gd name="T6" fmla="*/ 0 60000 65536"/>
              <a:gd name="T7" fmla="*/ 0 60000 65536"/>
              <a:gd name="T8" fmla="*/ 0 60000 65536"/>
              <a:gd name="T9" fmla="*/ 0 w 240"/>
              <a:gd name="T10" fmla="*/ 0 h 432"/>
              <a:gd name="T11" fmla="*/ 240 w 24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432">
                <a:moveTo>
                  <a:pt x="240" y="0"/>
                </a:moveTo>
                <a:cubicBezTo>
                  <a:pt x="120" y="60"/>
                  <a:pt x="0" y="120"/>
                  <a:pt x="0" y="192"/>
                </a:cubicBezTo>
                <a:cubicBezTo>
                  <a:pt x="0" y="264"/>
                  <a:pt x="208" y="376"/>
                  <a:pt x="240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2" name="Text Box 24"/>
          <p:cNvSpPr txBox="1">
            <a:spLocks noChangeArrowheads="1"/>
          </p:cNvSpPr>
          <p:nvPr/>
        </p:nvSpPr>
        <p:spPr bwMode="auto">
          <a:xfrm>
            <a:off x="1828800" y="5410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b</a:t>
            </a:r>
          </a:p>
        </p:txBody>
      </p:sp>
      <p:sp>
        <p:nvSpPr>
          <p:cNvPr id="99353" name="Freeform 25"/>
          <p:cNvSpPr>
            <a:spLocks/>
          </p:cNvSpPr>
          <p:nvPr/>
        </p:nvSpPr>
        <p:spPr bwMode="auto">
          <a:xfrm flipV="1">
            <a:off x="3886200" y="5181600"/>
            <a:ext cx="1524000" cy="838200"/>
          </a:xfrm>
          <a:custGeom>
            <a:avLst/>
            <a:gdLst>
              <a:gd name="T0" fmla="*/ 0 w 912"/>
              <a:gd name="T1" fmla="*/ 332660570 h 2112"/>
              <a:gd name="T2" fmla="*/ 804215796 w 912"/>
              <a:gd name="T3" fmla="*/ 234374522 h 2112"/>
              <a:gd name="T4" fmla="*/ 1742468359 w 912"/>
              <a:gd name="T5" fmla="*/ 75604677 h 2112"/>
              <a:gd name="T6" fmla="*/ 2147483647 w 912"/>
              <a:gd name="T7" fmla="*/ 0 h 2112"/>
              <a:gd name="T8" fmla="*/ 0 60000 65536"/>
              <a:gd name="T9" fmla="*/ 0 60000 65536"/>
              <a:gd name="T10" fmla="*/ 0 60000 65536"/>
              <a:gd name="T11" fmla="*/ 0 60000 65536"/>
              <a:gd name="T12" fmla="*/ 0 w 912"/>
              <a:gd name="T13" fmla="*/ 0 h 2112"/>
              <a:gd name="T14" fmla="*/ 912 w 912"/>
              <a:gd name="T15" fmla="*/ 2112 h 2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2" h="2112">
                <a:moveTo>
                  <a:pt x="0" y="2112"/>
                </a:moveTo>
                <a:cubicBezTo>
                  <a:pt x="92" y="1936"/>
                  <a:pt x="184" y="1760"/>
                  <a:pt x="288" y="1488"/>
                </a:cubicBezTo>
                <a:cubicBezTo>
                  <a:pt x="392" y="1216"/>
                  <a:pt x="520" y="728"/>
                  <a:pt x="624" y="480"/>
                </a:cubicBezTo>
                <a:cubicBezTo>
                  <a:pt x="728" y="232"/>
                  <a:pt x="820" y="116"/>
                  <a:pt x="91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4" name="Text Box 26"/>
          <p:cNvSpPr txBox="1">
            <a:spLocks noChangeArrowheads="1"/>
          </p:cNvSpPr>
          <p:nvPr/>
        </p:nvSpPr>
        <p:spPr bwMode="auto">
          <a:xfrm>
            <a:off x="4648200" y="5257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B</a:t>
            </a:r>
          </a:p>
        </p:txBody>
      </p:sp>
      <p:sp>
        <p:nvSpPr>
          <p:cNvPr id="99355" name="Text Box 27"/>
          <p:cNvSpPr txBox="1">
            <a:spLocks noChangeArrowheads="1"/>
          </p:cNvSpPr>
          <p:nvPr/>
        </p:nvSpPr>
        <p:spPr bwMode="auto">
          <a:xfrm>
            <a:off x="5410200" y="5867400"/>
            <a:ext cx="152400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 B→bB.d</a:t>
            </a:r>
          </a:p>
        </p:txBody>
      </p:sp>
      <p:sp>
        <p:nvSpPr>
          <p:cNvPr id="99356" name="Line 28"/>
          <p:cNvSpPr>
            <a:spLocks noChangeShapeType="1"/>
          </p:cNvSpPr>
          <p:nvPr/>
        </p:nvSpPr>
        <p:spPr bwMode="auto">
          <a:xfrm flipH="1">
            <a:off x="5868988" y="609600"/>
            <a:ext cx="11112" cy="515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57" name="Text Box 29"/>
          <p:cNvSpPr txBox="1">
            <a:spLocks noChangeArrowheads="1"/>
          </p:cNvSpPr>
          <p:nvPr/>
        </p:nvSpPr>
        <p:spPr bwMode="auto">
          <a:xfrm>
            <a:off x="5940425" y="5492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c</a:t>
            </a:r>
          </a:p>
        </p:txBody>
      </p:sp>
      <p:sp>
        <p:nvSpPr>
          <p:cNvPr id="99358" name="Text Box 30"/>
          <p:cNvSpPr txBox="1">
            <a:spLocks noChangeArrowheads="1"/>
          </p:cNvSpPr>
          <p:nvPr/>
        </p:nvSpPr>
        <p:spPr bwMode="auto">
          <a:xfrm>
            <a:off x="5148263" y="1125538"/>
            <a:ext cx="152400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8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:A→aAc.</a:t>
            </a:r>
          </a:p>
        </p:txBody>
      </p:sp>
      <p:sp>
        <p:nvSpPr>
          <p:cNvPr id="99359" name="Line 31"/>
          <p:cNvSpPr>
            <a:spLocks noChangeShapeType="1"/>
          </p:cNvSpPr>
          <p:nvPr/>
        </p:nvSpPr>
        <p:spPr bwMode="auto">
          <a:xfrm flipH="1" flipV="1">
            <a:off x="6156325" y="5386388"/>
            <a:ext cx="15875" cy="490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60" name="Text Box 32"/>
          <p:cNvSpPr txBox="1">
            <a:spLocks noChangeArrowheads="1"/>
          </p:cNvSpPr>
          <p:nvPr/>
        </p:nvSpPr>
        <p:spPr bwMode="auto">
          <a:xfrm>
            <a:off x="6227763" y="537368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d</a:t>
            </a:r>
          </a:p>
        </p:txBody>
      </p:sp>
      <p:sp>
        <p:nvSpPr>
          <p:cNvPr id="99361" name="Text Box 33"/>
          <p:cNvSpPr txBox="1">
            <a:spLocks noChangeArrowheads="1"/>
          </p:cNvSpPr>
          <p:nvPr/>
        </p:nvSpPr>
        <p:spPr bwMode="auto">
          <a:xfrm>
            <a:off x="5292725" y="5013325"/>
            <a:ext cx="175260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9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 B→bBd.</a:t>
            </a:r>
          </a:p>
        </p:txBody>
      </p:sp>
      <p:sp>
        <p:nvSpPr>
          <p:cNvPr id="99363" name="AutoShape 35"/>
          <p:cNvSpPr>
            <a:spLocks noChangeArrowheads="1"/>
          </p:cNvSpPr>
          <p:nvPr/>
        </p:nvSpPr>
        <p:spPr bwMode="auto">
          <a:xfrm>
            <a:off x="4067175" y="2276475"/>
            <a:ext cx="2809875" cy="1801813"/>
          </a:xfrm>
          <a:prstGeom prst="cloudCallout">
            <a:avLst>
              <a:gd name="adj1" fmla="val -43787"/>
              <a:gd name="adj2" fmla="val 78019"/>
            </a:avLst>
          </a:prstGeom>
          <a:solidFill>
            <a:srgbClr val="0066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移进</a:t>
            </a:r>
            <a:r>
              <a:rPr lang="en-US" altLang="zh-CN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-</a:t>
            </a:r>
            <a:r>
              <a:rPr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归约冲突</a:t>
            </a:r>
          </a:p>
        </p:txBody>
      </p:sp>
      <p:sp>
        <p:nvSpPr>
          <p:cNvPr id="99364" name="AutoShape 36"/>
          <p:cNvSpPr>
            <a:spLocks/>
          </p:cNvSpPr>
          <p:nvPr/>
        </p:nvSpPr>
        <p:spPr bwMode="auto">
          <a:xfrm>
            <a:off x="3924300" y="3429000"/>
            <a:ext cx="287338" cy="2376488"/>
          </a:xfrm>
          <a:prstGeom prst="rightBrace">
            <a:avLst>
              <a:gd name="adj1" fmla="val 68923"/>
              <a:gd name="adj2" fmla="val 50000"/>
            </a:avLst>
          </a:prstGeom>
          <a:noFill/>
          <a:ln w="38100">
            <a:solidFill>
              <a:srgbClr val="00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65" name="Rectangle 37"/>
          <p:cNvSpPr>
            <a:spLocks noChangeArrowheads="1"/>
          </p:cNvSpPr>
          <p:nvPr/>
        </p:nvSpPr>
        <p:spPr bwMode="auto">
          <a:xfrm>
            <a:off x="7235825" y="1052513"/>
            <a:ext cx="1908175" cy="3889375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例 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  <a:ea typeface="华文新魏" pitchFamily="2" charset="-122"/>
            </a:endParaRP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0  S'→S 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1  S→A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2  S→B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3  A→aAc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4  A→a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5  B→bBd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6  B→b</a:t>
            </a:r>
          </a:p>
        </p:txBody>
      </p:sp>
      <p:sp>
        <p:nvSpPr>
          <p:cNvPr id="119845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C8150A5E-7DAB-428C-88C5-ADAF13254392}" type="slidenum">
              <a:rPr lang="en-US" altLang="zh-CN" sz="1400"/>
              <a:pPr algn="r" eaLnBrk="1" hangingPunct="1"/>
              <a:t>92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2"/>
          <p:cNvSpPr txBox="1">
            <a:spLocks noChangeArrowheads="1"/>
          </p:cNvSpPr>
          <p:nvPr/>
        </p:nvSpPr>
        <p:spPr bwMode="auto">
          <a:xfrm>
            <a:off x="533400" y="304800"/>
            <a:ext cx="1143000" cy="2543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</a:t>
            </a:r>
            <a:r>
              <a:rPr lang="en-US" altLang="zh-CN" b="1"/>
              <a:t>'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→.S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S→.A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S→.B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A→.aAc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A→.a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B→.bBd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B→.b</a:t>
            </a:r>
          </a:p>
        </p:txBody>
      </p:sp>
      <p:sp>
        <p:nvSpPr>
          <p:cNvPr id="120835" name="Line 3"/>
          <p:cNvSpPr>
            <a:spLocks noChangeShapeType="1"/>
          </p:cNvSpPr>
          <p:nvPr/>
        </p:nvSpPr>
        <p:spPr bwMode="auto">
          <a:xfrm>
            <a:off x="1676400" y="609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36" name="Text Box 4"/>
          <p:cNvSpPr txBox="1">
            <a:spLocks noChangeArrowheads="1"/>
          </p:cNvSpPr>
          <p:nvPr/>
        </p:nvSpPr>
        <p:spPr bwMode="auto">
          <a:xfrm>
            <a:off x="1981200" y="3048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>
                <a:latin typeface="Times New Roman" pitchFamily="18" charset="0"/>
              </a:rPr>
              <a:t>S</a:t>
            </a:r>
          </a:p>
        </p:txBody>
      </p:sp>
      <p:sp>
        <p:nvSpPr>
          <p:cNvPr id="102405" name="Text Box 5"/>
          <p:cNvSpPr txBox="1">
            <a:spLocks noChangeArrowheads="1"/>
          </p:cNvSpPr>
          <p:nvPr/>
        </p:nvSpPr>
        <p:spPr bwMode="auto">
          <a:xfrm>
            <a:off x="2590800" y="381000"/>
            <a:ext cx="129540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:S</a:t>
            </a:r>
            <a:r>
              <a:rPr lang="en-US" altLang="zh-CN" b="1"/>
              <a:t>'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→S.</a:t>
            </a:r>
          </a:p>
        </p:txBody>
      </p:sp>
      <p:sp>
        <p:nvSpPr>
          <p:cNvPr id="120838" name="Line 6"/>
          <p:cNvSpPr>
            <a:spLocks noChangeShapeType="1"/>
          </p:cNvSpPr>
          <p:nvPr/>
        </p:nvSpPr>
        <p:spPr bwMode="auto">
          <a:xfrm>
            <a:off x="1676400" y="13716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39" name="Text Box 7"/>
          <p:cNvSpPr txBox="1">
            <a:spLocks noChangeArrowheads="1"/>
          </p:cNvSpPr>
          <p:nvPr/>
        </p:nvSpPr>
        <p:spPr bwMode="auto">
          <a:xfrm>
            <a:off x="1981200" y="990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A</a:t>
            </a:r>
          </a:p>
        </p:txBody>
      </p:sp>
      <p:sp>
        <p:nvSpPr>
          <p:cNvPr id="102408" name="Text Box 8"/>
          <p:cNvSpPr txBox="1">
            <a:spLocks noChangeArrowheads="1"/>
          </p:cNvSpPr>
          <p:nvPr/>
        </p:nvSpPr>
        <p:spPr bwMode="auto">
          <a:xfrm>
            <a:off x="2590800" y="1066800"/>
            <a:ext cx="129540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:S→A.</a:t>
            </a:r>
          </a:p>
        </p:txBody>
      </p:sp>
      <p:sp>
        <p:nvSpPr>
          <p:cNvPr id="120841" name="Line 9"/>
          <p:cNvSpPr>
            <a:spLocks noChangeShapeType="1"/>
          </p:cNvSpPr>
          <p:nvPr/>
        </p:nvSpPr>
        <p:spPr bwMode="auto">
          <a:xfrm>
            <a:off x="1676400" y="2057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2" name="Text Box 10"/>
          <p:cNvSpPr txBox="1">
            <a:spLocks noChangeArrowheads="1"/>
          </p:cNvSpPr>
          <p:nvPr/>
        </p:nvSpPr>
        <p:spPr bwMode="auto">
          <a:xfrm>
            <a:off x="1981200" y="1676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B</a:t>
            </a:r>
          </a:p>
        </p:txBody>
      </p:sp>
      <p:sp>
        <p:nvSpPr>
          <p:cNvPr id="102411" name="Text Box 11"/>
          <p:cNvSpPr txBox="1">
            <a:spLocks noChangeArrowheads="1"/>
          </p:cNvSpPr>
          <p:nvPr/>
        </p:nvSpPr>
        <p:spPr bwMode="auto">
          <a:xfrm>
            <a:off x="2590800" y="1828800"/>
            <a:ext cx="129540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:S→B.</a:t>
            </a:r>
          </a:p>
        </p:txBody>
      </p:sp>
      <p:sp>
        <p:nvSpPr>
          <p:cNvPr id="120844" name="Line 12"/>
          <p:cNvSpPr>
            <a:spLocks noChangeShapeType="1"/>
          </p:cNvSpPr>
          <p:nvPr/>
        </p:nvSpPr>
        <p:spPr bwMode="auto">
          <a:xfrm>
            <a:off x="1676400" y="27432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5" name="Text Box 13"/>
          <p:cNvSpPr txBox="1">
            <a:spLocks noChangeArrowheads="1"/>
          </p:cNvSpPr>
          <p:nvPr/>
        </p:nvSpPr>
        <p:spPr bwMode="auto">
          <a:xfrm>
            <a:off x="1981200" y="2362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a</a:t>
            </a:r>
          </a:p>
        </p:txBody>
      </p:sp>
      <p:sp>
        <p:nvSpPr>
          <p:cNvPr id="102414" name="Text Box 14"/>
          <p:cNvSpPr txBox="1">
            <a:spLocks noChangeArrowheads="1"/>
          </p:cNvSpPr>
          <p:nvPr/>
        </p:nvSpPr>
        <p:spPr bwMode="auto">
          <a:xfrm>
            <a:off x="2590800" y="2438400"/>
            <a:ext cx="1295400" cy="16287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4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A→a.Ac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A→a.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A→.aAc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A→.a</a:t>
            </a:r>
          </a:p>
        </p:txBody>
      </p:sp>
      <p:sp>
        <p:nvSpPr>
          <p:cNvPr id="120847" name="Freeform 15"/>
          <p:cNvSpPr>
            <a:spLocks/>
          </p:cNvSpPr>
          <p:nvPr/>
        </p:nvSpPr>
        <p:spPr bwMode="auto">
          <a:xfrm>
            <a:off x="914400" y="2895600"/>
            <a:ext cx="1676400" cy="2362200"/>
          </a:xfrm>
          <a:custGeom>
            <a:avLst/>
            <a:gdLst>
              <a:gd name="T0" fmla="*/ 100916085 w 944"/>
              <a:gd name="T1" fmla="*/ 0 h 1600"/>
              <a:gd name="T2" fmla="*/ 403666116 w 944"/>
              <a:gd name="T3" fmla="*/ 1883246397 h 1600"/>
              <a:gd name="T4" fmla="*/ 2147483647 w 944"/>
              <a:gd name="T5" fmla="*/ 2147483647 h 1600"/>
              <a:gd name="T6" fmla="*/ 2147483647 w 944"/>
              <a:gd name="T7" fmla="*/ 2147483647 h 1600"/>
              <a:gd name="T8" fmla="*/ 0 60000 65536"/>
              <a:gd name="T9" fmla="*/ 0 60000 65536"/>
              <a:gd name="T10" fmla="*/ 0 60000 65536"/>
              <a:gd name="T11" fmla="*/ 0 60000 65536"/>
              <a:gd name="T12" fmla="*/ 0 w 944"/>
              <a:gd name="T13" fmla="*/ 0 h 1600"/>
              <a:gd name="T14" fmla="*/ 944 w 944"/>
              <a:gd name="T15" fmla="*/ 1600 h 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44" h="1600">
                <a:moveTo>
                  <a:pt x="32" y="0"/>
                </a:moveTo>
                <a:cubicBezTo>
                  <a:pt x="16" y="308"/>
                  <a:pt x="0" y="616"/>
                  <a:pt x="128" y="864"/>
                </a:cubicBezTo>
                <a:cubicBezTo>
                  <a:pt x="256" y="1112"/>
                  <a:pt x="664" y="1376"/>
                  <a:pt x="800" y="1488"/>
                </a:cubicBezTo>
                <a:cubicBezTo>
                  <a:pt x="936" y="1600"/>
                  <a:pt x="736" y="1488"/>
                  <a:pt x="944" y="153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48" name="Text Box 16"/>
          <p:cNvSpPr txBox="1">
            <a:spLocks noChangeArrowheads="1"/>
          </p:cNvSpPr>
          <p:nvPr/>
        </p:nvSpPr>
        <p:spPr bwMode="auto">
          <a:xfrm>
            <a:off x="1143000" y="38862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b</a:t>
            </a:r>
          </a:p>
        </p:txBody>
      </p:sp>
      <p:sp>
        <p:nvSpPr>
          <p:cNvPr id="102417" name="Text Box 17"/>
          <p:cNvSpPr txBox="1">
            <a:spLocks noChangeArrowheads="1"/>
          </p:cNvSpPr>
          <p:nvPr/>
        </p:nvSpPr>
        <p:spPr bwMode="auto">
          <a:xfrm>
            <a:off x="2590800" y="4648200"/>
            <a:ext cx="1295400" cy="16287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5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B→b.Bd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B→b.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B→.bBd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B→.b</a:t>
            </a:r>
          </a:p>
        </p:txBody>
      </p:sp>
      <p:sp>
        <p:nvSpPr>
          <p:cNvPr id="120850" name="Freeform 18"/>
          <p:cNvSpPr>
            <a:spLocks/>
          </p:cNvSpPr>
          <p:nvPr/>
        </p:nvSpPr>
        <p:spPr bwMode="auto">
          <a:xfrm>
            <a:off x="3886200" y="533400"/>
            <a:ext cx="1295400" cy="2133600"/>
          </a:xfrm>
          <a:custGeom>
            <a:avLst/>
            <a:gdLst>
              <a:gd name="T0" fmla="*/ 0 w 816"/>
              <a:gd name="T1" fmla="*/ 2147483647 h 1344"/>
              <a:gd name="T2" fmla="*/ 483870054 w 816"/>
              <a:gd name="T3" fmla="*/ 2147483647 h 1344"/>
              <a:gd name="T4" fmla="*/ 967740107 w 816"/>
              <a:gd name="T5" fmla="*/ 725804935 h 1344"/>
              <a:gd name="T6" fmla="*/ 2056447678 w 816"/>
              <a:gd name="T7" fmla="*/ 0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816"/>
              <a:gd name="T13" fmla="*/ 0 h 1344"/>
              <a:gd name="T14" fmla="*/ 816 w 81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6" h="1344">
                <a:moveTo>
                  <a:pt x="0" y="1344"/>
                </a:moveTo>
                <a:cubicBezTo>
                  <a:pt x="64" y="1264"/>
                  <a:pt x="128" y="1184"/>
                  <a:pt x="192" y="1008"/>
                </a:cubicBezTo>
                <a:cubicBezTo>
                  <a:pt x="256" y="832"/>
                  <a:pt x="280" y="456"/>
                  <a:pt x="384" y="288"/>
                </a:cubicBezTo>
                <a:cubicBezTo>
                  <a:pt x="488" y="120"/>
                  <a:pt x="744" y="40"/>
                  <a:pt x="816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1" name="Text Box 19"/>
          <p:cNvSpPr txBox="1">
            <a:spLocks noChangeArrowheads="1"/>
          </p:cNvSpPr>
          <p:nvPr/>
        </p:nvSpPr>
        <p:spPr bwMode="auto">
          <a:xfrm>
            <a:off x="4267200" y="1143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A</a:t>
            </a:r>
          </a:p>
        </p:txBody>
      </p:sp>
      <p:sp>
        <p:nvSpPr>
          <p:cNvPr id="102420" name="Text Box 20"/>
          <p:cNvSpPr txBox="1">
            <a:spLocks noChangeArrowheads="1"/>
          </p:cNvSpPr>
          <p:nvPr/>
        </p:nvSpPr>
        <p:spPr bwMode="auto">
          <a:xfrm>
            <a:off x="5181600" y="152400"/>
            <a:ext cx="152400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6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:A→aA.c</a:t>
            </a:r>
          </a:p>
        </p:txBody>
      </p:sp>
      <p:sp>
        <p:nvSpPr>
          <p:cNvPr id="120853" name="Freeform 21"/>
          <p:cNvSpPr>
            <a:spLocks/>
          </p:cNvSpPr>
          <p:nvPr/>
        </p:nvSpPr>
        <p:spPr bwMode="auto">
          <a:xfrm>
            <a:off x="2133600" y="3048000"/>
            <a:ext cx="457200" cy="838200"/>
          </a:xfrm>
          <a:custGeom>
            <a:avLst/>
            <a:gdLst>
              <a:gd name="T0" fmla="*/ 725804891 w 288"/>
              <a:gd name="T1" fmla="*/ 0 h 528"/>
              <a:gd name="T2" fmla="*/ 0 w 288"/>
              <a:gd name="T3" fmla="*/ 604837419 h 528"/>
              <a:gd name="T4" fmla="*/ 725804891 w 288"/>
              <a:gd name="T5" fmla="*/ 1330642282 h 528"/>
              <a:gd name="T6" fmla="*/ 0 60000 65536"/>
              <a:gd name="T7" fmla="*/ 0 60000 65536"/>
              <a:gd name="T8" fmla="*/ 0 60000 65536"/>
              <a:gd name="T9" fmla="*/ 0 w 288"/>
              <a:gd name="T10" fmla="*/ 0 h 528"/>
              <a:gd name="T11" fmla="*/ 288 w 288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" h="528">
                <a:moveTo>
                  <a:pt x="288" y="0"/>
                </a:moveTo>
                <a:cubicBezTo>
                  <a:pt x="144" y="76"/>
                  <a:pt x="0" y="152"/>
                  <a:pt x="0" y="240"/>
                </a:cubicBezTo>
                <a:cubicBezTo>
                  <a:pt x="0" y="328"/>
                  <a:pt x="144" y="428"/>
                  <a:pt x="288" y="52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4" name="Text Box 22"/>
          <p:cNvSpPr txBox="1">
            <a:spLocks noChangeArrowheads="1"/>
          </p:cNvSpPr>
          <p:nvPr/>
        </p:nvSpPr>
        <p:spPr bwMode="auto">
          <a:xfrm>
            <a:off x="1828800" y="3276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a</a:t>
            </a:r>
          </a:p>
        </p:txBody>
      </p:sp>
      <p:sp>
        <p:nvSpPr>
          <p:cNvPr id="120855" name="Freeform 23"/>
          <p:cNvSpPr>
            <a:spLocks/>
          </p:cNvSpPr>
          <p:nvPr/>
        </p:nvSpPr>
        <p:spPr bwMode="auto">
          <a:xfrm>
            <a:off x="2133600" y="5257800"/>
            <a:ext cx="457200" cy="990600"/>
          </a:xfrm>
          <a:custGeom>
            <a:avLst/>
            <a:gdLst>
              <a:gd name="T0" fmla="*/ 870966017 w 240"/>
              <a:gd name="T1" fmla="*/ 0 h 432"/>
              <a:gd name="T2" fmla="*/ 0 w 240"/>
              <a:gd name="T3" fmla="*/ 1009556692 h 432"/>
              <a:gd name="T4" fmla="*/ 870966017 w 240"/>
              <a:gd name="T5" fmla="*/ 2147483647 h 432"/>
              <a:gd name="T6" fmla="*/ 0 60000 65536"/>
              <a:gd name="T7" fmla="*/ 0 60000 65536"/>
              <a:gd name="T8" fmla="*/ 0 60000 65536"/>
              <a:gd name="T9" fmla="*/ 0 w 240"/>
              <a:gd name="T10" fmla="*/ 0 h 432"/>
              <a:gd name="T11" fmla="*/ 240 w 240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432">
                <a:moveTo>
                  <a:pt x="240" y="0"/>
                </a:moveTo>
                <a:cubicBezTo>
                  <a:pt x="120" y="60"/>
                  <a:pt x="0" y="120"/>
                  <a:pt x="0" y="192"/>
                </a:cubicBezTo>
                <a:cubicBezTo>
                  <a:pt x="0" y="264"/>
                  <a:pt x="208" y="376"/>
                  <a:pt x="240" y="43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6" name="Text Box 24"/>
          <p:cNvSpPr txBox="1">
            <a:spLocks noChangeArrowheads="1"/>
          </p:cNvSpPr>
          <p:nvPr/>
        </p:nvSpPr>
        <p:spPr bwMode="auto">
          <a:xfrm>
            <a:off x="1828800" y="5410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b</a:t>
            </a:r>
          </a:p>
        </p:txBody>
      </p:sp>
      <p:sp>
        <p:nvSpPr>
          <p:cNvPr id="120857" name="Freeform 25"/>
          <p:cNvSpPr>
            <a:spLocks/>
          </p:cNvSpPr>
          <p:nvPr/>
        </p:nvSpPr>
        <p:spPr bwMode="auto">
          <a:xfrm flipV="1">
            <a:off x="3886200" y="5181600"/>
            <a:ext cx="1524000" cy="838200"/>
          </a:xfrm>
          <a:custGeom>
            <a:avLst/>
            <a:gdLst>
              <a:gd name="T0" fmla="*/ 0 w 912"/>
              <a:gd name="T1" fmla="*/ 332660570 h 2112"/>
              <a:gd name="T2" fmla="*/ 804215796 w 912"/>
              <a:gd name="T3" fmla="*/ 234374522 h 2112"/>
              <a:gd name="T4" fmla="*/ 1742468359 w 912"/>
              <a:gd name="T5" fmla="*/ 75604677 h 2112"/>
              <a:gd name="T6" fmla="*/ 2147483647 w 912"/>
              <a:gd name="T7" fmla="*/ 0 h 2112"/>
              <a:gd name="T8" fmla="*/ 0 60000 65536"/>
              <a:gd name="T9" fmla="*/ 0 60000 65536"/>
              <a:gd name="T10" fmla="*/ 0 60000 65536"/>
              <a:gd name="T11" fmla="*/ 0 60000 65536"/>
              <a:gd name="T12" fmla="*/ 0 w 912"/>
              <a:gd name="T13" fmla="*/ 0 h 2112"/>
              <a:gd name="T14" fmla="*/ 912 w 912"/>
              <a:gd name="T15" fmla="*/ 2112 h 2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2" h="2112">
                <a:moveTo>
                  <a:pt x="0" y="2112"/>
                </a:moveTo>
                <a:cubicBezTo>
                  <a:pt x="92" y="1936"/>
                  <a:pt x="184" y="1760"/>
                  <a:pt x="288" y="1488"/>
                </a:cubicBezTo>
                <a:cubicBezTo>
                  <a:pt x="392" y="1216"/>
                  <a:pt x="520" y="728"/>
                  <a:pt x="624" y="480"/>
                </a:cubicBezTo>
                <a:cubicBezTo>
                  <a:pt x="728" y="232"/>
                  <a:pt x="820" y="116"/>
                  <a:pt x="91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58" name="Text Box 26"/>
          <p:cNvSpPr txBox="1">
            <a:spLocks noChangeArrowheads="1"/>
          </p:cNvSpPr>
          <p:nvPr/>
        </p:nvSpPr>
        <p:spPr bwMode="auto">
          <a:xfrm>
            <a:off x="4648200" y="5257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B</a:t>
            </a:r>
          </a:p>
        </p:txBody>
      </p:sp>
      <p:sp>
        <p:nvSpPr>
          <p:cNvPr id="102427" name="Text Box 27"/>
          <p:cNvSpPr txBox="1">
            <a:spLocks noChangeArrowheads="1"/>
          </p:cNvSpPr>
          <p:nvPr/>
        </p:nvSpPr>
        <p:spPr bwMode="auto">
          <a:xfrm>
            <a:off x="5410200" y="5867400"/>
            <a:ext cx="152400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 B→bB.d</a:t>
            </a:r>
          </a:p>
        </p:txBody>
      </p:sp>
      <p:sp>
        <p:nvSpPr>
          <p:cNvPr id="120860" name="Line 28"/>
          <p:cNvSpPr>
            <a:spLocks noChangeShapeType="1"/>
          </p:cNvSpPr>
          <p:nvPr/>
        </p:nvSpPr>
        <p:spPr bwMode="auto">
          <a:xfrm flipH="1">
            <a:off x="5880100" y="620713"/>
            <a:ext cx="11113" cy="5413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61" name="Text Box 29"/>
          <p:cNvSpPr txBox="1">
            <a:spLocks noChangeArrowheads="1"/>
          </p:cNvSpPr>
          <p:nvPr/>
        </p:nvSpPr>
        <p:spPr bwMode="auto">
          <a:xfrm>
            <a:off x="5951538" y="54768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c</a:t>
            </a:r>
          </a:p>
        </p:txBody>
      </p:sp>
      <p:sp>
        <p:nvSpPr>
          <p:cNvPr id="102430" name="Text Box 30"/>
          <p:cNvSpPr txBox="1">
            <a:spLocks noChangeArrowheads="1"/>
          </p:cNvSpPr>
          <p:nvPr/>
        </p:nvSpPr>
        <p:spPr bwMode="auto">
          <a:xfrm>
            <a:off x="5148263" y="1147763"/>
            <a:ext cx="152400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8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:A→aAc.</a:t>
            </a:r>
          </a:p>
        </p:txBody>
      </p:sp>
      <p:sp>
        <p:nvSpPr>
          <p:cNvPr id="120863" name="Line 31"/>
          <p:cNvSpPr>
            <a:spLocks noChangeShapeType="1"/>
          </p:cNvSpPr>
          <p:nvPr/>
        </p:nvSpPr>
        <p:spPr bwMode="auto">
          <a:xfrm flipH="1" flipV="1">
            <a:off x="6156325" y="5314950"/>
            <a:ext cx="15875" cy="561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864" name="Text Box 32"/>
          <p:cNvSpPr txBox="1">
            <a:spLocks noChangeArrowheads="1"/>
          </p:cNvSpPr>
          <p:nvPr/>
        </p:nvSpPr>
        <p:spPr bwMode="auto">
          <a:xfrm>
            <a:off x="6227763" y="537368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>
                <a:latin typeface="Times New Roman" pitchFamily="18" charset="0"/>
              </a:rPr>
              <a:t>d</a:t>
            </a:r>
          </a:p>
        </p:txBody>
      </p:sp>
      <p:sp>
        <p:nvSpPr>
          <p:cNvPr id="102433" name="Text Box 33"/>
          <p:cNvSpPr txBox="1">
            <a:spLocks noChangeArrowheads="1"/>
          </p:cNvSpPr>
          <p:nvPr/>
        </p:nvSpPr>
        <p:spPr bwMode="auto">
          <a:xfrm>
            <a:off x="5364163" y="4891088"/>
            <a:ext cx="1752600" cy="409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9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 B→bBd.</a:t>
            </a:r>
          </a:p>
        </p:txBody>
      </p:sp>
      <p:sp>
        <p:nvSpPr>
          <p:cNvPr id="102434" name="Rectangle 34"/>
          <p:cNvSpPr>
            <a:spLocks noChangeArrowheads="1"/>
          </p:cNvSpPr>
          <p:nvPr/>
        </p:nvSpPr>
        <p:spPr bwMode="auto">
          <a:xfrm>
            <a:off x="4067175" y="1989138"/>
            <a:ext cx="3097213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32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如何构造分析表</a:t>
            </a:r>
            <a:endParaRPr kumimoji="1" lang="zh-CN" altLang="en-US" sz="3200" b="1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  <a:ea typeface="华文新魏" pitchFamily="2" charset="-122"/>
            </a:endParaRPr>
          </a:p>
        </p:txBody>
      </p:sp>
      <p:sp>
        <p:nvSpPr>
          <p:cNvPr id="102435" name="Rectangle 35"/>
          <p:cNvSpPr>
            <a:spLocks noChangeArrowheads="1"/>
          </p:cNvSpPr>
          <p:nvPr/>
        </p:nvSpPr>
        <p:spPr bwMode="auto">
          <a:xfrm>
            <a:off x="7235825" y="1052513"/>
            <a:ext cx="1908175" cy="3889375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kumimoji="1" lang="zh-CN" altLang="en-US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华文新魏" pitchFamily="2" charset="-122"/>
              </a:rPr>
              <a:t>例 </a:t>
            </a:r>
            <a:endParaRPr lang="zh-CN" altLang="en-US" sz="2800" b="1">
              <a:solidFill>
                <a:schemeClr val="bg1"/>
              </a:solidFill>
              <a:latin typeface="Times New Roman" pitchFamily="18" charset="0"/>
              <a:ea typeface="华文新魏" pitchFamily="2" charset="-122"/>
            </a:endParaRP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0  S'→S 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1  S→A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2  S→B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3  A→aAc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4  A→a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5  B→bBd</a:t>
            </a:r>
          </a:p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6  B→b</a:t>
            </a:r>
          </a:p>
        </p:txBody>
      </p:sp>
      <p:sp>
        <p:nvSpPr>
          <p:cNvPr id="102436" name="Rectangle 36"/>
          <p:cNvSpPr>
            <a:spLocks noChangeArrowheads="1"/>
          </p:cNvSpPr>
          <p:nvPr/>
        </p:nvSpPr>
        <p:spPr bwMode="auto">
          <a:xfrm>
            <a:off x="4068763" y="3717925"/>
            <a:ext cx="3095625" cy="935038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algn="ctr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FOLLOW(A)={#,c}</a:t>
            </a:r>
          </a:p>
          <a:p>
            <a:pPr algn="ctr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FOLLOW(B)={#,d}</a:t>
            </a:r>
          </a:p>
        </p:txBody>
      </p:sp>
      <p:sp>
        <p:nvSpPr>
          <p:cNvPr id="102437" name="Rectangle 37"/>
          <p:cNvSpPr>
            <a:spLocks noChangeArrowheads="1"/>
          </p:cNvSpPr>
          <p:nvPr/>
        </p:nvSpPr>
        <p:spPr bwMode="auto">
          <a:xfrm>
            <a:off x="4067175" y="2708275"/>
            <a:ext cx="2881313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LL(1)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分析法如何选产生式</a:t>
            </a:r>
          </a:p>
        </p:txBody>
      </p:sp>
      <p:sp>
        <p:nvSpPr>
          <p:cNvPr id="120870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549D2DAD-503B-4B64-87D5-E0734CCDA792}" type="slidenum">
              <a:rPr lang="en-US" altLang="zh-CN" sz="1400"/>
              <a:pPr algn="r" eaLnBrk="1" hangingPunct="1"/>
              <a:t>93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691" name="Group 179"/>
          <p:cNvGraphicFramePr>
            <a:graphicFrameLocks noGrp="1"/>
          </p:cNvGraphicFramePr>
          <p:nvPr>
            <p:ph/>
          </p:nvPr>
        </p:nvGraphicFramePr>
        <p:xfrm>
          <a:off x="944563" y="549275"/>
          <a:ext cx="7804150" cy="5759452"/>
        </p:xfrm>
        <a:graphic>
          <a:graphicData uri="http://schemas.openxmlformats.org/drawingml/2006/table">
            <a:tbl>
              <a:tblPr/>
              <a:tblGrid>
                <a:gridCol w="868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942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动作表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转移表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GOTO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acc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r4/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r6/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S8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S9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1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CCCC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华文新魏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92693" name="Rectangle 181"/>
          <p:cNvSpPr>
            <a:spLocks noChangeArrowheads="1"/>
          </p:cNvSpPr>
          <p:nvPr/>
        </p:nvSpPr>
        <p:spPr bwMode="auto">
          <a:xfrm>
            <a:off x="6516688" y="5084763"/>
            <a:ext cx="2447925" cy="1079500"/>
          </a:xfrm>
          <a:prstGeom prst="rect">
            <a:avLst/>
          </a:prstGeom>
          <a:solidFill>
            <a:srgbClr val="006666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eaLnBrk="0" hangingPunct="0">
              <a:lnSpc>
                <a:spcPct val="95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FOLLOW(S)={#}</a:t>
            </a:r>
            <a:r>
              <a:rPr kumimoji="1" lang="en-US" altLang="zh-CN" sz="2000"/>
              <a:t> </a:t>
            </a: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FOLLOW(A)={#,c}</a:t>
            </a:r>
          </a:p>
          <a:p>
            <a:pPr eaLnBrk="0" hangingPunct="0">
              <a:lnSpc>
                <a:spcPct val="95000"/>
              </a:lnSpc>
              <a:spcBef>
                <a:spcPct val="25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FOLLOW(B)={#,d}</a:t>
            </a:r>
          </a:p>
        </p:txBody>
      </p:sp>
      <p:sp>
        <p:nvSpPr>
          <p:cNvPr id="121984" name="Rectangle 182"/>
          <p:cNvSpPr>
            <a:spLocks noChangeArrowheads="1"/>
          </p:cNvSpPr>
          <p:nvPr/>
        </p:nvSpPr>
        <p:spPr bwMode="auto">
          <a:xfrm>
            <a:off x="333375" y="3500438"/>
            <a:ext cx="827088" cy="2889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4  A→a</a:t>
            </a:r>
          </a:p>
        </p:txBody>
      </p:sp>
      <p:sp>
        <p:nvSpPr>
          <p:cNvPr id="121985" name="Rectangle 183"/>
          <p:cNvSpPr>
            <a:spLocks noChangeArrowheads="1"/>
          </p:cNvSpPr>
          <p:nvPr/>
        </p:nvSpPr>
        <p:spPr bwMode="auto">
          <a:xfrm>
            <a:off x="333375" y="2565400"/>
            <a:ext cx="792163" cy="2889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1  S→A</a:t>
            </a:r>
          </a:p>
        </p:txBody>
      </p:sp>
      <p:sp>
        <p:nvSpPr>
          <p:cNvPr id="121986" name="Rectangle 184"/>
          <p:cNvSpPr>
            <a:spLocks noChangeArrowheads="1"/>
          </p:cNvSpPr>
          <p:nvPr/>
        </p:nvSpPr>
        <p:spPr bwMode="auto">
          <a:xfrm>
            <a:off x="333375" y="3068638"/>
            <a:ext cx="827088" cy="288925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2  S→B</a:t>
            </a:r>
          </a:p>
        </p:txBody>
      </p:sp>
      <p:sp>
        <p:nvSpPr>
          <p:cNvPr id="121987" name="Rectangle 185"/>
          <p:cNvSpPr>
            <a:spLocks noChangeArrowheads="1"/>
          </p:cNvSpPr>
          <p:nvPr/>
        </p:nvSpPr>
        <p:spPr bwMode="auto">
          <a:xfrm>
            <a:off x="333375" y="4005263"/>
            <a:ext cx="827088" cy="287337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6  B→b</a:t>
            </a:r>
          </a:p>
        </p:txBody>
      </p:sp>
      <p:sp>
        <p:nvSpPr>
          <p:cNvPr id="121988" name="Rectangle 186"/>
          <p:cNvSpPr>
            <a:spLocks noChangeArrowheads="1"/>
          </p:cNvSpPr>
          <p:nvPr/>
        </p:nvSpPr>
        <p:spPr bwMode="auto">
          <a:xfrm>
            <a:off x="333375" y="5516563"/>
            <a:ext cx="900113" cy="21590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2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3  A→aAc</a:t>
            </a:r>
          </a:p>
        </p:txBody>
      </p:sp>
      <p:sp>
        <p:nvSpPr>
          <p:cNvPr id="121989" name="Rectangle 187"/>
          <p:cNvSpPr>
            <a:spLocks noChangeArrowheads="1"/>
          </p:cNvSpPr>
          <p:nvPr/>
        </p:nvSpPr>
        <p:spPr bwMode="auto">
          <a:xfrm>
            <a:off x="333375" y="5949950"/>
            <a:ext cx="900113" cy="21590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12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5  B→bBd</a:t>
            </a:r>
          </a:p>
        </p:txBody>
      </p:sp>
      <p:sp>
        <p:nvSpPr>
          <p:cNvPr id="121990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DE0A12F2-37D0-416D-9EE7-65303ADF6A2A}" type="slidenum">
              <a:rPr lang="en-US" altLang="zh-CN" sz="1400"/>
              <a:pPr algn="r" eaLnBrk="1" hangingPunct="1"/>
              <a:t>94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620713"/>
            <a:ext cx="7416800" cy="974725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九、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SLR(1)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分析表的构造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idx="1"/>
          </p:nvPr>
        </p:nvSpPr>
        <p:spPr>
          <a:xfrm>
            <a:off x="971550" y="1989138"/>
            <a:ext cx="7920038" cy="4343400"/>
          </a:xfrm>
        </p:spPr>
        <p:txBody>
          <a:bodyPr/>
          <a:lstStyle/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设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'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项目集规范族：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{I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0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,…,I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n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}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用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表示闭包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对应的分析器状态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即相应的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DFA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状态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1 0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为开始状态</a:t>
            </a:r>
          </a:p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2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对</a:t>
            </a: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b="1" baseline="-25000" smtClean="0">
                <a:latin typeface="Times New Roman" pitchFamily="18" charset="0"/>
                <a:ea typeface="楷体_GB2312" pitchFamily="49" charset="-122"/>
              </a:rPr>
              <a:t>i</a:t>
            </a: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∈C</a:t>
            </a:r>
          </a:p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 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if A→α.aβ∈I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i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and go(I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,a)=I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j</a:t>
            </a:r>
          </a:p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if A→α.Bβ∈I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i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and go(I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,B)=I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j </a:t>
            </a:r>
            <a:endParaRPr lang="en-US" altLang="zh-CN" sz="2400" b="1" smtClean="0">
              <a:latin typeface="Times New Roman" pitchFamily="18" charset="0"/>
              <a:ea typeface="华文新魏" pitchFamily="2" charset="-122"/>
            </a:endParaRPr>
          </a:p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if A→α.∈I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endParaRPr lang="en-US" altLang="zh-CN" sz="2400" b="1" smtClean="0">
              <a:latin typeface="Times New Roman" pitchFamily="18" charset="0"/>
              <a:ea typeface="华文新魏" pitchFamily="2" charset="-122"/>
            </a:endParaRPr>
          </a:p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if S'→S.∈I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</a:t>
            </a:r>
          </a:p>
          <a:p>
            <a:pPr marL="0" indent="0" eaLnBrk="1" hangingPunct="1">
              <a:spcBef>
                <a:spcPct val="25000"/>
              </a:spcBef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3  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所有空格置</a:t>
            </a:r>
            <a:r>
              <a:rPr lang="zh-CN" altLang="en-US" sz="2400" b="1" smtClean="0">
                <a:latin typeface="Times New Roman" pitchFamily="18" charset="0"/>
                <a:ea typeface="楷体_GB2312" pitchFamily="49" charset="-122"/>
              </a:rPr>
              <a:t> </a:t>
            </a:r>
            <a:r>
              <a:rPr lang="en-US" altLang="zh-CN" sz="2400" b="1" smtClean="0">
                <a:latin typeface="Times New Roman" pitchFamily="18" charset="0"/>
                <a:ea typeface="楷体_GB2312" pitchFamily="49" charset="-122"/>
              </a:rPr>
              <a:t>error</a:t>
            </a:r>
          </a:p>
        </p:txBody>
      </p:sp>
      <p:sp>
        <p:nvSpPr>
          <p:cNvPr id="1228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1B5E5859-E434-430A-BE9A-57D0388DED51}" type="slidenum">
              <a:rPr lang="en-US" altLang="zh-CN" smtClean="0"/>
              <a:pPr eaLnBrk="1" hangingPunct="1"/>
              <a:t>95</a:t>
            </a:fld>
            <a:endParaRPr lang="en-US" altLang="zh-CN" smtClean="0"/>
          </a:p>
        </p:txBody>
      </p:sp>
      <p:sp>
        <p:nvSpPr>
          <p:cNvPr id="318468" name="Rectangle 4"/>
          <p:cNvSpPr>
            <a:spLocks noChangeArrowheads="1"/>
          </p:cNvSpPr>
          <p:nvPr/>
        </p:nvSpPr>
        <p:spPr bwMode="auto">
          <a:xfrm>
            <a:off x="5219700" y="3908425"/>
            <a:ext cx="2719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then</a:t>
            </a:r>
            <a:r>
              <a:rPr lang="en-US" altLang="zh-CN" sz="2400">
                <a:solidFill>
                  <a:srgbClr val="000099"/>
                </a:solidFill>
                <a:latin typeface="Times New Roman" pitchFamily="18" charset="0"/>
              </a:rPr>
              <a:t> 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action[i,a]=sj ;</a:t>
            </a:r>
          </a:p>
        </p:txBody>
      </p:sp>
      <p:sp>
        <p:nvSpPr>
          <p:cNvPr id="318469" name="Rectangle 5"/>
          <p:cNvSpPr>
            <a:spLocks noChangeArrowheads="1"/>
          </p:cNvSpPr>
          <p:nvPr/>
        </p:nvSpPr>
        <p:spPr bwMode="auto">
          <a:xfrm>
            <a:off x="5364163" y="4340225"/>
            <a:ext cx="2414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then</a:t>
            </a:r>
            <a:r>
              <a:rPr lang="en-US" altLang="zh-CN" sz="2400">
                <a:solidFill>
                  <a:srgbClr val="000099"/>
                </a:solidFill>
                <a:latin typeface="Times New Roman" pitchFamily="18" charset="0"/>
              </a:rPr>
              <a:t> 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goto[i,B]=j ;</a:t>
            </a:r>
          </a:p>
        </p:txBody>
      </p:sp>
      <p:sp>
        <p:nvSpPr>
          <p:cNvPr id="318470" name="Rectangle 6"/>
          <p:cNvSpPr>
            <a:spLocks noChangeArrowheads="1"/>
          </p:cNvSpPr>
          <p:nvPr/>
        </p:nvSpPr>
        <p:spPr bwMode="auto">
          <a:xfrm>
            <a:off x="2916238" y="4843463"/>
            <a:ext cx="5443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then  for 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a∈T∪{#} do action[i,a]=rj ;</a:t>
            </a:r>
            <a:r>
              <a:rPr lang="en-US" altLang="zh-CN" sz="2400">
                <a:solidFill>
                  <a:srgbClr val="000099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318471" name="Rectangle 7"/>
          <p:cNvSpPr>
            <a:spLocks noChangeArrowheads="1"/>
          </p:cNvSpPr>
          <p:nvPr/>
        </p:nvSpPr>
        <p:spPr bwMode="auto">
          <a:xfrm>
            <a:off x="2916238" y="5276850"/>
            <a:ext cx="284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then</a:t>
            </a:r>
            <a:r>
              <a:rPr lang="en-US" altLang="zh-CN" sz="2400">
                <a:solidFill>
                  <a:srgbClr val="000099"/>
                </a:solidFill>
                <a:latin typeface="Times New Roman" pitchFamily="18" charset="0"/>
              </a:rPr>
              <a:t> 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action[i,#]=acc;</a:t>
            </a:r>
          </a:p>
        </p:txBody>
      </p:sp>
      <p:sp>
        <p:nvSpPr>
          <p:cNvPr id="318472" name="Rectangle 8"/>
          <p:cNvSpPr>
            <a:spLocks noChangeArrowheads="1"/>
          </p:cNvSpPr>
          <p:nvPr/>
        </p:nvSpPr>
        <p:spPr bwMode="auto">
          <a:xfrm>
            <a:off x="2914650" y="4843463"/>
            <a:ext cx="6229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then  for</a:t>
            </a:r>
            <a:r>
              <a:rPr lang="en-US" altLang="zh-CN" sz="2400" b="1">
                <a:latin typeface="Times New Roman" pitchFamily="18" charset="0"/>
              </a:rPr>
              <a:t> 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a∈</a:t>
            </a:r>
            <a:r>
              <a:rPr lang="en-US" altLang="zh-CN" sz="2400" b="1">
                <a:solidFill>
                  <a:schemeClr val="hlink"/>
                </a:solidFill>
                <a:latin typeface="Times New Roman" pitchFamily="18" charset="0"/>
              </a:rPr>
              <a:t>FOLLOW(A) </a:t>
            </a:r>
            <a:r>
              <a:rPr lang="en-US" altLang="zh-CN" sz="2400" b="1">
                <a:solidFill>
                  <a:srgbClr val="000099"/>
                </a:solidFill>
                <a:latin typeface="Times New Roman" pitchFamily="18" charset="0"/>
              </a:rPr>
              <a:t>do action[i,a]=rj 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2525" y="863600"/>
            <a:ext cx="7777163" cy="792163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例  表达式文法的</a:t>
            </a:r>
            <a:r>
              <a:rPr lang="en-US" altLang="zh-CN" sz="4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楷体_GB2312" pitchFamily="49" charset="-122"/>
              </a:rPr>
              <a:t>SLR(1)</a:t>
            </a:r>
            <a:r>
              <a:rPr kumimoji="1"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分析表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1258888" y="2246313"/>
            <a:ext cx="2971800" cy="3505200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拓广文法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(0)  E'→E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(1)  E→E+T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endParaRPr lang="en-US" altLang="zh-CN" b="1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(2)  E→T </a:t>
            </a:r>
          </a:p>
        </p:txBody>
      </p:sp>
      <p:sp>
        <p:nvSpPr>
          <p:cNvPr id="1239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083A96E-C50D-41B2-AEBA-245C29A4FDE2}" type="slidenum">
              <a:rPr lang="en-US" altLang="zh-CN" smtClean="0"/>
              <a:pPr eaLnBrk="1" hangingPunct="1"/>
              <a:t>96</a:t>
            </a:fld>
            <a:endParaRPr lang="en-US" altLang="zh-CN" smtClean="0"/>
          </a:p>
        </p:txBody>
      </p:sp>
      <p:sp>
        <p:nvSpPr>
          <p:cNvPr id="104452" name="Text Box 4"/>
          <p:cNvSpPr txBox="1">
            <a:spLocks noChangeArrowheads="1"/>
          </p:cNvSpPr>
          <p:nvPr/>
        </p:nvSpPr>
        <p:spPr bwMode="auto">
          <a:xfrm>
            <a:off x="4876800" y="2209800"/>
            <a:ext cx="3810000" cy="30813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(3)  T→T*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Ｆ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(4)  T→F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(5)  F→(E)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1" lang="en-US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华文新魏" pitchFamily="2" charset="-122"/>
            </a:endParaRP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 (6)  F→id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47664D1-FA30-4EA8-823E-857AD0E08064}" type="slidenum">
              <a:rPr lang="en-US" altLang="zh-CN" smtClean="0"/>
              <a:pPr eaLnBrk="1" hangingPunct="1"/>
              <a:t>97</a:t>
            </a:fld>
            <a:endParaRPr lang="en-US" altLang="zh-CN" smtClean="0"/>
          </a:p>
        </p:txBody>
      </p:sp>
      <p:sp>
        <p:nvSpPr>
          <p:cNvPr id="183298" name="Text Box 2"/>
          <p:cNvSpPr txBox="1">
            <a:spLocks noChangeArrowheads="1"/>
          </p:cNvSpPr>
          <p:nvPr/>
        </p:nvSpPr>
        <p:spPr bwMode="auto">
          <a:xfrm>
            <a:off x="457200" y="304800"/>
            <a:ext cx="1219200" cy="2543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lang="en-US" altLang="zh-CN" b="1"/>
              <a:t>'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→.E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E→.E+T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</a:p>
        </p:txBody>
      </p:sp>
      <p:sp>
        <p:nvSpPr>
          <p:cNvPr id="124932" name="Line 3"/>
          <p:cNvSpPr>
            <a:spLocks noChangeShapeType="1"/>
          </p:cNvSpPr>
          <p:nvPr/>
        </p:nvSpPr>
        <p:spPr bwMode="auto">
          <a:xfrm>
            <a:off x="1676400" y="381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33" name="Text Box 4"/>
          <p:cNvSpPr txBox="1">
            <a:spLocks noChangeArrowheads="1"/>
          </p:cNvSpPr>
          <p:nvPr/>
        </p:nvSpPr>
        <p:spPr bwMode="auto">
          <a:xfrm>
            <a:off x="1905000" y="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E</a:t>
            </a:r>
          </a:p>
        </p:txBody>
      </p:sp>
      <p:sp>
        <p:nvSpPr>
          <p:cNvPr id="183301" name="Text Box 5"/>
          <p:cNvSpPr txBox="1">
            <a:spLocks noChangeArrowheads="1"/>
          </p:cNvSpPr>
          <p:nvPr/>
        </p:nvSpPr>
        <p:spPr bwMode="auto">
          <a:xfrm>
            <a:off x="2590800" y="2286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lang="en-US" altLang="zh-CN" b="1"/>
              <a:t>'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→E.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E→E.+T</a:t>
            </a:r>
          </a:p>
        </p:txBody>
      </p:sp>
      <p:sp>
        <p:nvSpPr>
          <p:cNvPr id="124935" name="Line 6"/>
          <p:cNvSpPr>
            <a:spLocks noChangeShapeType="1"/>
          </p:cNvSpPr>
          <p:nvPr/>
        </p:nvSpPr>
        <p:spPr bwMode="auto">
          <a:xfrm>
            <a:off x="1676400" y="2057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36" name="Text Box 7"/>
          <p:cNvSpPr txBox="1">
            <a:spLocks noChangeArrowheads="1"/>
          </p:cNvSpPr>
          <p:nvPr/>
        </p:nvSpPr>
        <p:spPr bwMode="auto">
          <a:xfrm>
            <a:off x="1905000" y="1752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183304" name="Text Box 8"/>
          <p:cNvSpPr txBox="1">
            <a:spLocks noChangeArrowheads="1"/>
          </p:cNvSpPr>
          <p:nvPr/>
        </p:nvSpPr>
        <p:spPr bwMode="auto">
          <a:xfrm>
            <a:off x="2590800" y="1419225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E→T.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T→T.*F</a:t>
            </a:r>
            <a:endParaRPr kumimoji="1" lang="en-US" altLang="zh-CN" sz="20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24938" name="Line 9"/>
          <p:cNvSpPr>
            <a:spLocks noChangeShapeType="1"/>
          </p:cNvSpPr>
          <p:nvPr/>
        </p:nvSpPr>
        <p:spPr bwMode="auto">
          <a:xfrm>
            <a:off x="1676400" y="2819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39" name="Text Box 10"/>
          <p:cNvSpPr txBox="1">
            <a:spLocks noChangeArrowheads="1"/>
          </p:cNvSpPr>
          <p:nvPr/>
        </p:nvSpPr>
        <p:spPr bwMode="auto">
          <a:xfrm>
            <a:off x="1981200" y="2498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83307" name="Text Box 11"/>
          <p:cNvSpPr txBox="1">
            <a:spLocks noChangeArrowheads="1"/>
          </p:cNvSpPr>
          <p:nvPr/>
        </p:nvSpPr>
        <p:spPr bwMode="auto">
          <a:xfrm>
            <a:off x="2590800" y="25908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T→F.</a:t>
            </a:r>
          </a:p>
        </p:txBody>
      </p:sp>
      <p:sp>
        <p:nvSpPr>
          <p:cNvPr id="124941" name="Freeform 12"/>
          <p:cNvSpPr>
            <a:spLocks/>
          </p:cNvSpPr>
          <p:nvPr/>
        </p:nvSpPr>
        <p:spPr bwMode="auto">
          <a:xfrm>
            <a:off x="1346200" y="2895600"/>
            <a:ext cx="1244600" cy="1219200"/>
          </a:xfrm>
          <a:custGeom>
            <a:avLst/>
            <a:gdLst>
              <a:gd name="T0" fmla="*/ 45754267 w 736"/>
              <a:gd name="T1" fmla="*/ 0 h 768"/>
              <a:gd name="T2" fmla="*/ 45754267 w 736"/>
              <a:gd name="T3" fmla="*/ 967740089 h 768"/>
              <a:gd name="T4" fmla="*/ 320274811 w 736"/>
              <a:gd name="T5" fmla="*/ 1451609935 h 768"/>
              <a:gd name="T6" fmla="*/ 869315820 w 736"/>
              <a:gd name="T7" fmla="*/ 1693545255 h 768"/>
              <a:gd name="T8" fmla="*/ 2104659332 w 736"/>
              <a:gd name="T9" fmla="*/ 1935480178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36"/>
              <a:gd name="T16" fmla="*/ 0 h 768"/>
              <a:gd name="T17" fmla="*/ 736 w 736"/>
              <a:gd name="T18" fmla="*/ 768 h 7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36" h="768">
                <a:moveTo>
                  <a:pt x="16" y="0"/>
                </a:moveTo>
                <a:cubicBezTo>
                  <a:pt x="8" y="144"/>
                  <a:pt x="0" y="288"/>
                  <a:pt x="16" y="384"/>
                </a:cubicBezTo>
                <a:cubicBezTo>
                  <a:pt x="32" y="480"/>
                  <a:pt x="64" y="528"/>
                  <a:pt x="112" y="576"/>
                </a:cubicBezTo>
                <a:cubicBezTo>
                  <a:pt x="160" y="624"/>
                  <a:pt x="200" y="640"/>
                  <a:pt x="304" y="672"/>
                </a:cubicBezTo>
                <a:cubicBezTo>
                  <a:pt x="408" y="704"/>
                  <a:pt x="572" y="736"/>
                  <a:pt x="736" y="7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42" name="Text Box 13"/>
          <p:cNvSpPr txBox="1">
            <a:spLocks noChangeArrowheads="1"/>
          </p:cNvSpPr>
          <p:nvPr/>
        </p:nvSpPr>
        <p:spPr bwMode="auto">
          <a:xfrm>
            <a:off x="1981200" y="36576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83310" name="Text Box 14"/>
          <p:cNvSpPr txBox="1">
            <a:spLocks noChangeArrowheads="1"/>
          </p:cNvSpPr>
          <p:nvPr/>
        </p:nvSpPr>
        <p:spPr bwMode="auto">
          <a:xfrm>
            <a:off x="2590800" y="3581400"/>
            <a:ext cx="1219200" cy="2543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4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F→(.E 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E→.E+T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24944" name="Line 15"/>
          <p:cNvSpPr>
            <a:spLocks noChangeShapeType="1"/>
          </p:cNvSpPr>
          <p:nvPr/>
        </p:nvSpPr>
        <p:spPr bwMode="auto">
          <a:xfrm>
            <a:off x="685800" y="28956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45" name="Text Box 16"/>
          <p:cNvSpPr txBox="1">
            <a:spLocks noChangeArrowheads="1"/>
          </p:cNvSpPr>
          <p:nvPr/>
        </p:nvSpPr>
        <p:spPr bwMode="auto">
          <a:xfrm>
            <a:off x="685800" y="34290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83313" name="Text Box 17"/>
          <p:cNvSpPr txBox="1">
            <a:spLocks noChangeArrowheads="1"/>
          </p:cNvSpPr>
          <p:nvPr/>
        </p:nvSpPr>
        <p:spPr bwMode="auto">
          <a:xfrm>
            <a:off x="381000" y="41910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5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F→id.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24947" name="Line 18"/>
          <p:cNvSpPr>
            <a:spLocks noChangeShapeType="1"/>
          </p:cNvSpPr>
          <p:nvPr/>
        </p:nvSpPr>
        <p:spPr bwMode="auto">
          <a:xfrm>
            <a:off x="3810000" y="3810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48" name="Text Box 19"/>
          <p:cNvSpPr txBox="1">
            <a:spLocks noChangeArrowheads="1"/>
          </p:cNvSpPr>
          <p:nvPr/>
        </p:nvSpPr>
        <p:spPr bwMode="auto">
          <a:xfrm>
            <a:off x="4114800" y="762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+</a:t>
            </a:r>
          </a:p>
        </p:txBody>
      </p:sp>
      <p:sp>
        <p:nvSpPr>
          <p:cNvPr id="183316" name="Text Box 20"/>
          <p:cNvSpPr txBox="1">
            <a:spLocks noChangeArrowheads="1"/>
          </p:cNvSpPr>
          <p:nvPr/>
        </p:nvSpPr>
        <p:spPr bwMode="auto">
          <a:xfrm>
            <a:off x="4648200" y="228600"/>
            <a:ext cx="1219200" cy="1933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6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E→E+.T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</a:p>
        </p:txBody>
      </p:sp>
      <p:sp>
        <p:nvSpPr>
          <p:cNvPr id="124950" name="Line 21"/>
          <p:cNvSpPr>
            <a:spLocks noChangeShapeType="1"/>
          </p:cNvSpPr>
          <p:nvPr/>
        </p:nvSpPr>
        <p:spPr bwMode="auto">
          <a:xfrm>
            <a:off x="3810000" y="1981200"/>
            <a:ext cx="8382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1" name="Text Box 22"/>
          <p:cNvSpPr txBox="1">
            <a:spLocks noChangeArrowheads="1"/>
          </p:cNvSpPr>
          <p:nvPr/>
        </p:nvSpPr>
        <p:spPr bwMode="auto">
          <a:xfrm>
            <a:off x="4038600" y="2133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*</a:t>
            </a:r>
          </a:p>
        </p:txBody>
      </p:sp>
      <p:sp>
        <p:nvSpPr>
          <p:cNvPr id="183319" name="Text Box 23"/>
          <p:cNvSpPr txBox="1">
            <a:spLocks noChangeArrowheads="1"/>
          </p:cNvSpPr>
          <p:nvPr/>
        </p:nvSpPr>
        <p:spPr bwMode="auto">
          <a:xfrm>
            <a:off x="4648200" y="2286000"/>
            <a:ext cx="1219200" cy="13239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T→T*.F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24953" name="Line 24"/>
          <p:cNvSpPr>
            <a:spLocks noChangeShapeType="1"/>
          </p:cNvSpPr>
          <p:nvPr/>
        </p:nvSpPr>
        <p:spPr bwMode="auto">
          <a:xfrm>
            <a:off x="3810000" y="4114800"/>
            <a:ext cx="3124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4" name="Text Box 25"/>
          <p:cNvSpPr txBox="1">
            <a:spLocks noChangeArrowheads="1"/>
          </p:cNvSpPr>
          <p:nvPr/>
        </p:nvSpPr>
        <p:spPr bwMode="auto">
          <a:xfrm>
            <a:off x="5029200" y="38100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E</a:t>
            </a:r>
          </a:p>
        </p:txBody>
      </p:sp>
      <p:sp>
        <p:nvSpPr>
          <p:cNvPr id="183322" name="Text Box 26"/>
          <p:cNvSpPr txBox="1">
            <a:spLocks noChangeArrowheads="1"/>
          </p:cNvSpPr>
          <p:nvPr/>
        </p:nvSpPr>
        <p:spPr bwMode="auto">
          <a:xfrm>
            <a:off x="6934200" y="36576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8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 (E.)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E→E.+T</a:t>
            </a:r>
          </a:p>
        </p:txBody>
      </p:sp>
      <p:sp>
        <p:nvSpPr>
          <p:cNvPr id="124956" name="Freeform 27"/>
          <p:cNvSpPr>
            <a:spLocks/>
          </p:cNvSpPr>
          <p:nvPr/>
        </p:nvSpPr>
        <p:spPr bwMode="auto">
          <a:xfrm>
            <a:off x="3810000" y="2286000"/>
            <a:ext cx="254000" cy="1600200"/>
          </a:xfrm>
          <a:custGeom>
            <a:avLst/>
            <a:gdLst>
              <a:gd name="T0" fmla="*/ 0 w 160"/>
              <a:gd name="T1" fmla="*/ 2147483647 h 1008"/>
              <a:gd name="T2" fmla="*/ 241935007 w 160"/>
              <a:gd name="T3" fmla="*/ 2147483647 h 1008"/>
              <a:gd name="T4" fmla="*/ 362902461 w 160"/>
              <a:gd name="T5" fmla="*/ 967740162 h 1008"/>
              <a:gd name="T6" fmla="*/ 0 w 160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160"/>
              <a:gd name="T13" fmla="*/ 0 h 1008"/>
              <a:gd name="T14" fmla="*/ 160 w 160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0" h="1008">
                <a:moveTo>
                  <a:pt x="0" y="1008"/>
                </a:moveTo>
                <a:cubicBezTo>
                  <a:pt x="36" y="988"/>
                  <a:pt x="72" y="968"/>
                  <a:pt x="96" y="864"/>
                </a:cubicBezTo>
                <a:cubicBezTo>
                  <a:pt x="120" y="760"/>
                  <a:pt x="160" y="528"/>
                  <a:pt x="144" y="384"/>
                </a:cubicBezTo>
                <a:cubicBezTo>
                  <a:pt x="128" y="240"/>
                  <a:pt x="64" y="120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7" name="Text Box 28"/>
          <p:cNvSpPr txBox="1">
            <a:spLocks noChangeArrowheads="1"/>
          </p:cNvSpPr>
          <p:nvPr/>
        </p:nvSpPr>
        <p:spPr bwMode="auto">
          <a:xfrm>
            <a:off x="3962400" y="2971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124958" name="Freeform 29"/>
          <p:cNvSpPr>
            <a:spLocks/>
          </p:cNvSpPr>
          <p:nvPr/>
        </p:nvSpPr>
        <p:spPr bwMode="auto">
          <a:xfrm>
            <a:off x="2413000" y="3124200"/>
            <a:ext cx="177800" cy="762000"/>
          </a:xfrm>
          <a:custGeom>
            <a:avLst/>
            <a:gdLst>
              <a:gd name="T0" fmla="*/ 282257522 w 112"/>
              <a:gd name="T1" fmla="*/ 1209675089 h 480"/>
              <a:gd name="T2" fmla="*/ 40322501 w 112"/>
              <a:gd name="T3" fmla="*/ 846772682 h 480"/>
              <a:gd name="T4" fmla="*/ 40322501 w 112"/>
              <a:gd name="T5" fmla="*/ 362902507 h 480"/>
              <a:gd name="T6" fmla="*/ 282257522 w 112"/>
              <a:gd name="T7" fmla="*/ 0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112"/>
              <a:gd name="T13" fmla="*/ 0 h 480"/>
              <a:gd name="T14" fmla="*/ 112 w 112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" h="480">
                <a:moveTo>
                  <a:pt x="112" y="480"/>
                </a:moveTo>
                <a:cubicBezTo>
                  <a:pt x="72" y="436"/>
                  <a:pt x="32" y="392"/>
                  <a:pt x="16" y="336"/>
                </a:cubicBezTo>
                <a:cubicBezTo>
                  <a:pt x="0" y="280"/>
                  <a:pt x="0" y="200"/>
                  <a:pt x="16" y="144"/>
                </a:cubicBezTo>
                <a:cubicBezTo>
                  <a:pt x="32" y="88"/>
                  <a:pt x="72" y="44"/>
                  <a:pt x="11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59" name="Text Box 30"/>
          <p:cNvSpPr txBox="1">
            <a:spLocks noChangeArrowheads="1"/>
          </p:cNvSpPr>
          <p:nvPr/>
        </p:nvSpPr>
        <p:spPr bwMode="auto">
          <a:xfrm>
            <a:off x="2133600" y="33528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24960" name="Freeform 31"/>
          <p:cNvSpPr>
            <a:spLocks/>
          </p:cNvSpPr>
          <p:nvPr/>
        </p:nvSpPr>
        <p:spPr bwMode="auto">
          <a:xfrm>
            <a:off x="2286000" y="5029200"/>
            <a:ext cx="330200" cy="762000"/>
          </a:xfrm>
          <a:custGeom>
            <a:avLst/>
            <a:gdLst>
              <a:gd name="T0" fmla="*/ 483870056 w 208"/>
              <a:gd name="T1" fmla="*/ 1209675089 h 480"/>
              <a:gd name="T2" fmla="*/ 0 w 208"/>
              <a:gd name="T3" fmla="*/ 604837545 h 480"/>
              <a:gd name="T4" fmla="*/ 483870056 w 208"/>
              <a:gd name="T5" fmla="*/ 0 h 480"/>
              <a:gd name="T6" fmla="*/ 0 60000 65536"/>
              <a:gd name="T7" fmla="*/ 0 60000 65536"/>
              <a:gd name="T8" fmla="*/ 0 60000 65536"/>
              <a:gd name="T9" fmla="*/ 0 w 208"/>
              <a:gd name="T10" fmla="*/ 0 h 480"/>
              <a:gd name="T11" fmla="*/ 208 w 208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8" h="480">
                <a:moveTo>
                  <a:pt x="192" y="480"/>
                </a:moveTo>
                <a:cubicBezTo>
                  <a:pt x="96" y="400"/>
                  <a:pt x="0" y="320"/>
                  <a:pt x="0" y="240"/>
                </a:cubicBezTo>
                <a:cubicBezTo>
                  <a:pt x="0" y="160"/>
                  <a:pt x="208" y="40"/>
                  <a:pt x="19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61" name="Text Box 32"/>
          <p:cNvSpPr txBox="1">
            <a:spLocks noChangeArrowheads="1"/>
          </p:cNvSpPr>
          <p:nvPr/>
        </p:nvSpPr>
        <p:spPr bwMode="auto">
          <a:xfrm>
            <a:off x="2057400" y="51816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24962" name="Line 33"/>
          <p:cNvSpPr>
            <a:spLocks noChangeShapeType="1"/>
          </p:cNvSpPr>
          <p:nvPr/>
        </p:nvSpPr>
        <p:spPr bwMode="auto">
          <a:xfrm flipH="1">
            <a:off x="1600200" y="4572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63" name="Text Box 34"/>
          <p:cNvSpPr txBox="1">
            <a:spLocks noChangeArrowheads="1"/>
          </p:cNvSpPr>
          <p:nvPr/>
        </p:nvSpPr>
        <p:spPr bwMode="auto">
          <a:xfrm>
            <a:off x="1905000" y="4267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24964" name="Line 35"/>
          <p:cNvSpPr>
            <a:spLocks noChangeShapeType="1"/>
          </p:cNvSpPr>
          <p:nvPr/>
        </p:nvSpPr>
        <p:spPr bwMode="auto">
          <a:xfrm>
            <a:off x="5867400" y="1524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65" name="Text Box 36"/>
          <p:cNvSpPr txBox="1">
            <a:spLocks noChangeArrowheads="1"/>
          </p:cNvSpPr>
          <p:nvPr/>
        </p:nvSpPr>
        <p:spPr bwMode="auto">
          <a:xfrm>
            <a:off x="6096000" y="1143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183333" name="Text Box 37"/>
          <p:cNvSpPr txBox="1">
            <a:spLocks noChangeArrowheads="1"/>
          </p:cNvSpPr>
          <p:nvPr/>
        </p:nvSpPr>
        <p:spPr bwMode="auto">
          <a:xfrm>
            <a:off x="6858000" y="11430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9</a:t>
            </a: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E→E+T.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T→T.*F</a:t>
            </a:r>
          </a:p>
        </p:txBody>
      </p:sp>
      <p:sp>
        <p:nvSpPr>
          <p:cNvPr id="124967" name="Freeform 38"/>
          <p:cNvSpPr>
            <a:spLocks/>
          </p:cNvSpPr>
          <p:nvPr/>
        </p:nvSpPr>
        <p:spPr bwMode="auto">
          <a:xfrm>
            <a:off x="3810000" y="838200"/>
            <a:ext cx="838200" cy="2057400"/>
          </a:xfrm>
          <a:custGeom>
            <a:avLst/>
            <a:gdLst>
              <a:gd name="T0" fmla="*/ 1330642282 w 528"/>
              <a:gd name="T1" fmla="*/ 0 h 1296"/>
              <a:gd name="T2" fmla="*/ 846772505 w 528"/>
              <a:gd name="T3" fmla="*/ 604837471 h 1296"/>
              <a:gd name="T4" fmla="*/ 362902431 w 528"/>
              <a:gd name="T5" fmla="*/ 2147483647 h 1296"/>
              <a:gd name="T6" fmla="*/ 0 w 528"/>
              <a:gd name="T7" fmla="*/ 2147483647 h 1296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1296"/>
              <a:gd name="T14" fmla="*/ 528 w 528"/>
              <a:gd name="T15" fmla="*/ 1296 h 12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1296">
                <a:moveTo>
                  <a:pt x="528" y="0"/>
                </a:moveTo>
                <a:cubicBezTo>
                  <a:pt x="464" y="36"/>
                  <a:pt x="400" y="72"/>
                  <a:pt x="336" y="240"/>
                </a:cubicBezTo>
                <a:cubicBezTo>
                  <a:pt x="272" y="408"/>
                  <a:pt x="200" y="832"/>
                  <a:pt x="144" y="1008"/>
                </a:cubicBezTo>
                <a:cubicBezTo>
                  <a:pt x="88" y="1184"/>
                  <a:pt x="44" y="1240"/>
                  <a:pt x="0" y="129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68" name="Text Box 39"/>
          <p:cNvSpPr txBox="1">
            <a:spLocks noChangeArrowheads="1"/>
          </p:cNvSpPr>
          <p:nvPr/>
        </p:nvSpPr>
        <p:spPr bwMode="auto">
          <a:xfrm>
            <a:off x="4038600" y="1143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24969" name="Freeform 40"/>
          <p:cNvSpPr>
            <a:spLocks/>
          </p:cNvSpPr>
          <p:nvPr/>
        </p:nvSpPr>
        <p:spPr bwMode="auto">
          <a:xfrm>
            <a:off x="3810000" y="1219200"/>
            <a:ext cx="838200" cy="2819400"/>
          </a:xfrm>
          <a:custGeom>
            <a:avLst/>
            <a:gdLst>
              <a:gd name="T0" fmla="*/ 1330642282 w 528"/>
              <a:gd name="T1" fmla="*/ 0 h 1488"/>
              <a:gd name="T2" fmla="*/ 1088707393 w 528"/>
              <a:gd name="T3" fmla="*/ 1033950663 h 1488"/>
              <a:gd name="T4" fmla="*/ 604837419 w 528"/>
              <a:gd name="T5" fmla="*/ 2147483647 h 1488"/>
              <a:gd name="T6" fmla="*/ 0 w 528"/>
              <a:gd name="T7" fmla="*/ 2147483647 h 1488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1488"/>
              <a:gd name="T14" fmla="*/ 528 w 528"/>
              <a:gd name="T15" fmla="*/ 1488 h 1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1488">
                <a:moveTo>
                  <a:pt x="528" y="0"/>
                </a:moveTo>
                <a:cubicBezTo>
                  <a:pt x="504" y="48"/>
                  <a:pt x="480" y="96"/>
                  <a:pt x="432" y="288"/>
                </a:cubicBezTo>
                <a:cubicBezTo>
                  <a:pt x="384" y="480"/>
                  <a:pt x="312" y="952"/>
                  <a:pt x="240" y="1152"/>
                </a:cubicBezTo>
                <a:cubicBezTo>
                  <a:pt x="168" y="1352"/>
                  <a:pt x="84" y="1420"/>
                  <a:pt x="0" y="14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70" name="Text Box 41"/>
          <p:cNvSpPr txBox="1">
            <a:spLocks noChangeArrowheads="1"/>
          </p:cNvSpPr>
          <p:nvPr/>
        </p:nvSpPr>
        <p:spPr bwMode="auto">
          <a:xfrm>
            <a:off x="4295775" y="1447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24971" name="Text Box 42"/>
          <p:cNvSpPr txBox="1">
            <a:spLocks noChangeArrowheads="1"/>
          </p:cNvSpPr>
          <p:nvPr/>
        </p:nvSpPr>
        <p:spPr bwMode="auto">
          <a:xfrm>
            <a:off x="914400" y="5410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24972" name="Line 43"/>
          <p:cNvSpPr>
            <a:spLocks noChangeShapeType="1"/>
          </p:cNvSpPr>
          <p:nvPr/>
        </p:nvSpPr>
        <p:spPr bwMode="auto">
          <a:xfrm>
            <a:off x="5867400" y="28956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73" name="Text Box 44"/>
          <p:cNvSpPr txBox="1">
            <a:spLocks noChangeArrowheads="1"/>
          </p:cNvSpPr>
          <p:nvPr/>
        </p:nvSpPr>
        <p:spPr bwMode="auto">
          <a:xfrm>
            <a:off x="6172200" y="2590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83341" name="Text Box 45"/>
          <p:cNvSpPr txBox="1">
            <a:spLocks noChangeArrowheads="1"/>
          </p:cNvSpPr>
          <p:nvPr/>
        </p:nvSpPr>
        <p:spPr bwMode="auto">
          <a:xfrm>
            <a:off x="6858000" y="23622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10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T→T*F.</a:t>
            </a:r>
          </a:p>
        </p:txBody>
      </p:sp>
      <p:sp>
        <p:nvSpPr>
          <p:cNvPr id="124975" name="Text Box 46"/>
          <p:cNvSpPr txBox="1">
            <a:spLocks noChangeArrowheads="1"/>
          </p:cNvSpPr>
          <p:nvPr/>
        </p:nvSpPr>
        <p:spPr bwMode="auto">
          <a:xfrm>
            <a:off x="4343400" y="4648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24976" name="Text Box 47"/>
          <p:cNvSpPr txBox="1">
            <a:spLocks noChangeArrowheads="1"/>
          </p:cNvSpPr>
          <p:nvPr/>
        </p:nvSpPr>
        <p:spPr bwMode="auto">
          <a:xfrm>
            <a:off x="7391400" y="48910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b="1">
                <a:latin typeface="Times New Roman" pitchFamily="18" charset="0"/>
              </a:rPr>
              <a:t>)</a:t>
            </a:r>
          </a:p>
        </p:txBody>
      </p:sp>
      <p:sp>
        <p:nvSpPr>
          <p:cNvPr id="183344" name="Text Box 48"/>
          <p:cNvSpPr txBox="1">
            <a:spLocks noChangeArrowheads="1"/>
          </p:cNvSpPr>
          <p:nvPr/>
        </p:nvSpPr>
        <p:spPr bwMode="auto">
          <a:xfrm>
            <a:off x="6934200" y="54864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11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F→(E).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24978" name="Text Box 49"/>
          <p:cNvSpPr txBox="1">
            <a:spLocks noChangeArrowheads="1"/>
          </p:cNvSpPr>
          <p:nvPr/>
        </p:nvSpPr>
        <p:spPr bwMode="auto">
          <a:xfrm>
            <a:off x="7924800" y="533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+</a:t>
            </a:r>
          </a:p>
        </p:txBody>
      </p:sp>
      <p:sp>
        <p:nvSpPr>
          <p:cNvPr id="124979" name="Line 50"/>
          <p:cNvSpPr>
            <a:spLocks noChangeShapeType="1"/>
          </p:cNvSpPr>
          <p:nvPr/>
        </p:nvSpPr>
        <p:spPr bwMode="auto">
          <a:xfrm flipH="1">
            <a:off x="5867400" y="1981200"/>
            <a:ext cx="9906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80" name="Text Box 51"/>
          <p:cNvSpPr txBox="1">
            <a:spLocks noChangeArrowheads="1"/>
          </p:cNvSpPr>
          <p:nvPr/>
        </p:nvSpPr>
        <p:spPr bwMode="auto">
          <a:xfrm>
            <a:off x="63246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*</a:t>
            </a:r>
          </a:p>
        </p:txBody>
      </p:sp>
      <p:sp>
        <p:nvSpPr>
          <p:cNvPr id="124981" name="Freeform 52"/>
          <p:cNvSpPr>
            <a:spLocks/>
          </p:cNvSpPr>
          <p:nvPr/>
        </p:nvSpPr>
        <p:spPr bwMode="auto">
          <a:xfrm>
            <a:off x="5867400" y="685800"/>
            <a:ext cx="2743200" cy="3429000"/>
          </a:xfrm>
          <a:custGeom>
            <a:avLst/>
            <a:gdLst>
              <a:gd name="T0" fmla="*/ 2147483647 w 1712"/>
              <a:gd name="T1" fmla="*/ 2147483647 h 2352"/>
              <a:gd name="T2" fmla="*/ 2147483647 w 1712"/>
              <a:gd name="T3" fmla="*/ 2147483647 h 2352"/>
              <a:gd name="T4" fmla="*/ 2147483647 w 1712"/>
              <a:gd name="T5" fmla="*/ 1428332810 h 2352"/>
              <a:gd name="T6" fmla="*/ 2147483647 w 1712"/>
              <a:gd name="T7" fmla="*/ 408094750 h 2352"/>
              <a:gd name="T8" fmla="*/ 2147483647 w 1712"/>
              <a:gd name="T9" fmla="*/ 102024416 h 2352"/>
              <a:gd name="T10" fmla="*/ 0 w 1712"/>
              <a:gd name="T11" fmla="*/ 0 h 23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12"/>
              <a:gd name="T19" fmla="*/ 0 h 2352"/>
              <a:gd name="T20" fmla="*/ 1712 w 1712"/>
              <a:gd name="T21" fmla="*/ 2352 h 23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12" h="2352">
                <a:moveTo>
                  <a:pt x="1440" y="2352"/>
                </a:moveTo>
                <a:cubicBezTo>
                  <a:pt x="1516" y="2060"/>
                  <a:pt x="1592" y="1768"/>
                  <a:pt x="1632" y="1488"/>
                </a:cubicBezTo>
                <a:cubicBezTo>
                  <a:pt x="1672" y="1208"/>
                  <a:pt x="1712" y="888"/>
                  <a:pt x="1680" y="672"/>
                </a:cubicBezTo>
                <a:cubicBezTo>
                  <a:pt x="1648" y="456"/>
                  <a:pt x="1536" y="296"/>
                  <a:pt x="1440" y="192"/>
                </a:cubicBezTo>
                <a:cubicBezTo>
                  <a:pt x="1344" y="88"/>
                  <a:pt x="1344" y="80"/>
                  <a:pt x="1104" y="48"/>
                </a:cubicBezTo>
                <a:cubicBezTo>
                  <a:pt x="864" y="16"/>
                  <a:pt x="152" y="0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82" name="Line 53"/>
          <p:cNvSpPr>
            <a:spLocks noChangeShapeType="1"/>
          </p:cNvSpPr>
          <p:nvPr/>
        </p:nvSpPr>
        <p:spPr bwMode="auto">
          <a:xfrm>
            <a:off x="7620000" y="47244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83" name="Freeform 54"/>
          <p:cNvSpPr>
            <a:spLocks/>
          </p:cNvSpPr>
          <p:nvPr/>
        </p:nvSpPr>
        <p:spPr bwMode="auto">
          <a:xfrm>
            <a:off x="3810000" y="3657600"/>
            <a:ext cx="1016000" cy="1752600"/>
          </a:xfrm>
          <a:custGeom>
            <a:avLst/>
            <a:gdLst>
              <a:gd name="T0" fmla="*/ 1572577297 w 640"/>
              <a:gd name="T1" fmla="*/ 0 h 1104"/>
              <a:gd name="T2" fmla="*/ 1572577297 w 640"/>
              <a:gd name="T3" fmla="*/ 967739969 h 1104"/>
              <a:gd name="T4" fmla="*/ 1330642389 w 640"/>
              <a:gd name="T5" fmla="*/ 1451609755 h 1104"/>
              <a:gd name="T6" fmla="*/ 0 w 640"/>
              <a:gd name="T7" fmla="*/ 2147483647 h 1104"/>
              <a:gd name="T8" fmla="*/ 0 60000 65536"/>
              <a:gd name="T9" fmla="*/ 0 60000 65536"/>
              <a:gd name="T10" fmla="*/ 0 60000 65536"/>
              <a:gd name="T11" fmla="*/ 0 60000 65536"/>
              <a:gd name="T12" fmla="*/ 0 w 640"/>
              <a:gd name="T13" fmla="*/ 0 h 1104"/>
              <a:gd name="T14" fmla="*/ 640 w 640"/>
              <a:gd name="T15" fmla="*/ 1104 h 11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0" h="1104">
                <a:moveTo>
                  <a:pt x="624" y="0"/>
                </a:moveTo>
                <a:cubicBezTo>
                  <a:pt x="632" y="144"/>
                  <a:pt x="640" y="288"/>
                  <a:pt x="624" y="384"/>
                </a:cubicBezTo>
                <a:cubicBezTo>
                  <a:pt x="608" y="480"/>
                  <a:pt x="632" y="456"/>
                  <a:pt x="528" y="576"/>
                </a:cubicBezTo>
                <a:cubicBezTo>
                  <a:pt x="424" y="696"/>
                  <a:pt x="212" y="900"/>
                  <a:pt x="0" y="110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84" name="Freeform 55"/>
          <p:cNvSpPr>
            <a:spLocks/>
          </p:cNvSpPr>
          <p:nvPr/>
        </p:nvSpPr>
        <p:spPr bwMode="auto">
          <a:xfrm>
            <a:off x="990600" y="3657600"/>
            <a:ext cx="4622800" cy="2794000"/>
          </a:xfrm>
          <a:custGeom>
            <a:avLst/>
            <a:gdLst>
              <a:gd name="T0" fmla="*/ 2147483647 w 2912"/>
              <a:gd name="T1" fmla="*/ 0 h 1760"/>
              <a:gd name="T2" fmla="*/ 2147483647 w 2912"/>
              <a:gd name="T3" fmla="*/ 2056447723 h 1760"/>
              <a:gd name="T4" fmla="*/ 2147483647 w 2912"/>
              <a:gd name="T5" fmla="*/ 2147483647 h 1760"/>
              <a:gd name="T6" fmla="*/ 2147483647 w 2912"/>
              <a:gd name="T7" fmla="*/ 2147483647 h 1760"/>
              <a:gd name="T8" fmla="*/ 2056447604 w 2912"/>
              <a:gd name="T9" fmla="*/ 2147483647 h 1760"/>
              <a:gd name="T10" fmla="*/ 1209674991 w 2912"/>
              <a:gd name="T11" fmla="*/ 2147483647 h 1760"/>
              <a:gd name="T12" fmla="*/ 362902478 w 2912"/>
              <a:gd name="T13" fmla="*/ 2147483647 h 1760"/>
              <a:gd name="T14" fmla="*/ 0 w 2912"/>
              <a:gd name="T15" fmla="*/ 1935480257 h 17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912"/>
              <a:gd name="T25" fmla="*/ 0 h 1760"/>
              <a:gd name="T26" fmla="*/ 2912 w 2912"/>
              <a:gd name="T27" fmla="*/ 1760 h 17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912" h="1760">
                <a:moveTo>
                  <a:pt x="2880" y="0"/>
                </a:moveTo>
                <a:cubicBezTo>
                  <a:pt x="2896" y="280"/>
                  <a:pt x="2912" y="560"/>
                  <a:pt x="2832" y="816"/>
                </a:cubicBezTo>
                <a:cubicBezTo>
                  <a:pt x="2752" y="1072"/>
                  <a:pt x="2544" y="1384"/>
                  <a:pt x="2400" y="1536"/>
                </a:cubicBezTo>
                <a:cubicBezTo>
                  <a:pt x="2256" y="1688"/>
                  <a:pt x="2232" y="1696"/>
                  <a:pt x="1968" y="1728"/>
                </a:cubicBezTo>
                <a:cubicBezTo>
                  <a:pt x="1704" y="1760"/>
                  <a:pt x="1064" y="1752"/>
                  <a:pt x="816" y="1728"/>
                </a:cubicBezTo>
                <a:cubicBezTo>
                  <a:pt x="568" y="1704"/>
                  <a:pt x="592" y="1672"/>
                  <a:pt x="480" y="1584"/>
                </a:cubicBezTo>
                <a:cubicBezTo>
                  <a:pt x="368" y="1496"/>
                  <a:pt x="224" y="1336"/>
                  <a:pt x="144" y="1200"/>
                </a:cubicBezTo>
                <a:cubicBezTo>
                  <a:pt x="64" y="1064"/>
                  <a:pt x="8" y="856"/>
                  <a:pt x="0" y="7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85" name="Text Box 56"/>
          <p:cNvSpPr txBox="1">
            <a:spLocks noChangeArrowheads="1"/>
          </p:cNvSpPr>
          <p:nvPr/>
        </p:nvSpPr>
        <p:spPr bwMode="auto">
          <a:xfrm>
            <a:off x="6629400" y="76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24986" name="Freeform 57"/>
          <p:cNvSpPr>
            <a:spLocks/>
          </p:cNvSpPr>
          <p:nvPr/>
        </p:nvSpPr>
        <p:spPr bwMode="auto">
          <a:xfrm>
            <a:off x="520700" y="444500"/>
            <a:ext cx="8572500" cy="6248400"/>
          </a:xfrm>
          <a:custGeom>
            <a:avLst/>
            <a:gdLst>
              <a:gd name="T0" fmla="*/ 2147483647 w 5400"/>
              <a:gd name="T1" fmla="*/ 20161251 h 3936"/>
              <a:gd name="T2" fmla="*/ 2147483647 w 5400"/>
              <a:gd name="T3" fmla="*/ 20161251 h 3936"/>
              <a:gd name="T4" fmla="*/ 2147483647 w 5400"/>
              <a:gd name="T5" fmla="*/ 141128765 h 3936"/>
              <a:gd name="T6" fmla="*/ 2147483647 w 5400"/>
              <a:gd name="T7" fmla="*/ 504031323 h 3936"/>
              <a:gd name="T8" fmla="*/ 2147483647 w 5400"/>
              <a:gd name="T9" fmla="*/ 987901402 h 3936"/>
              <a:gd name="T10" fmla="*/ 2147483647 w 5400"/>
              <a:gd name="T11" fmla="*/ 1834674089 h 3936"/>
              <a:gd name="T12" fmla="*/ 2147483647 w 5400"/>
              <a:gd name="T13" fmla="*/ 2147483647 h 3936"/>
              <a:gd name="T14" fmla="*/ 2147483647 w 5400"/>
              <a:gd name="T15" fmla="*/ 2147483647 h 3936"/>
              <a:gd name="T16" fmla="*/ 2147483647 w 5400"/>
              <a:gd name="T17" fmla="*/ 2147483647 h 3936"/>
              <a:gd name="T18" fmla="*/ 383063711 w 5400"/>
              <a:gd name="T19" fmla="*/ 2147483647 h 3936"/>
              <a:gd name="T20" fmla="*/ 20161249 w 5400"/>
              <a:gd name="T21" fmla="*/ 2147483647 h 39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400"/>
              <a:gd name="T34" fmla="*/ 0 h 3936"/>
              <a:gd name="T35" fmla="*/ 5400 w 5400"/>
              <a:gd name="T36" fmla="*/ 3936 h 39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400" h="3936">
                <a:moveTo>
                  <a:pt x="3368" y="8"/>
                </a:moveTo>
                <a:cubicBezTo>
                  <a:pt x="3884" y="4"/>
                  <a:pt x="4400" y="0"/>
                  <a:pt x="4664" y="8"/>
                </a:cubicBezTo>
                <a:cubicBezTo>
                  <a:pt x="4928" y="16"/>
                  <a:pt x="4880" y="24"/>
                  <a:pt x="4952" y="56"/>
                </a:cubicBezTo>
                <a:cubicBezTo>
                  <a:pt x="5024" y="88"/>
                  <a:pt x="5056" y="144"/>
                  <a:pt x="5096" y="200"/>
                </a:cubicBezTo>
                <a:cubicBezTo>
                  <a:pt x="5136" y="256"/>
                  <a:pt x="5168" y="304"/>
                  <a:pt x="5192" y="392"/>
                </a:cubicBezTo>
                <a:cubicBezTo>
                  <a:pt x="5216" y="480"/>
                  <a:pt x="5232" y="224"/>
                  <a:pt x="5240" y="728"/>
                </a:cubicBezTo>
                <a:cubicBezTo>
                  <a:pt x="5248" y="1232"/>
                  <a:pt x="5400" y="2896"/>
                  <a:pt x="5240" y="3416"/>
                </a:cubicBezTo>
                <a:cubicBezTo>
                  <a:pt x="5080" y="3936"/>
                  <a:pt x="5000" y="3776"/>
                  <a:pt x="4280" y="3848"/>
                </a:cubicBezTo>
                <a:cubicBezTo>
                  <a:pt x="3560" y="3920"/>
                  <a:pt x="1608" y="3904"/>
                  <a:pt x="920" y="3848"/>
                </a:cubicBezTo>
                <a:cubicBezTo>
                  <a:pt x="232" y="3792"/>
                  <a:pt x="304" y="3688"/>
                  <a:pt x="152" y="3512"/>
                </a:cubicBezTo>
                <a:cubicBezTo>
                  <a:pt x="0" y="3336"/>
                  <a:pt x="24" y="2904"/>
                  <a:pt x="8" y="279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4987" name="Rectangle 58"/>
          <p:cNvSpPr>
            <a:spLocks noChangeArrowheads="1"/>
          </p:cNvSpPr>
          <p:nvPr/>
        </p:nvSpPr>
        <p:spPr bwMode="auto">
          <a:xfrm>
            <a:off x="3852863" y="4508500"/>
            <a:ext cx="3455987" cy="1512888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zh-CN" sz="3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在状态 </a:t>
            </a:r>
            <a:r>
              <a:rPr lang="en-US" altLang="zh-CN" sz="3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2</a:t>
            </a:r>
            <a:r>
              <a:rPr lang="zh-CN" altLang="en-US" sz="3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、</a:t>
            </a:r>
            <a:r>
              <a:rPr lang="en-US" altLang="zh-CN" sz="3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9 </a:t>
            </a:r>
            <a:r>
              <a:rPr lang="zh-CN" altLang="en-US" sz="3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出现移进归约冲突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该文法不是</a:t>
            </a:r>
            <a:r>
              <a:rPr lang="en-US" altLang="zh-CN" sz="2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26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文法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692150"/>
            <a:ext cx="7489825" cy="8763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构造表达式文法的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SLR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分析表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057400"/>
            <a:ext cx="5715000" cy="4191000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6000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求非终结符的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FOLLOW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集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FOLLOW( E ) =  { ), +, # }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FOLLOW( T ) =  { ), +, #, * }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FOLLOW( F ) =  { ), +, #, * } </a:t>
            </a:r>
          </a:p>
        </p:txBody>
      </p:sp>
      <p:sp>
        <p:nvSpPr>
          <p:cNvPr id="12595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927938D-0C4A-4076-BA93-569587669207}" type="slidenum">
              <a:rPr lang="en-US" altLang="zh-CN" smtClean="0"/>
              <a:pPr eaLnBrk="1" hangingPunct="1"/>
              <a:t>98</a:t>
            </a:fld>
            <a:endParaRPr lang="en-US" altLang="zh-CN" smtClean="0"/>
          </a:p>
        </p:txBody>
      </p:sp>
      <p:sp>
        <p:nvSpPr>
          <p:cNvPr id="107524" name="Rectangle 4"/>
          <p:cNvSpPr>
            <a:spLocks noChangeArrowheads="1"/>
          </p:cNvSpPr>
          <p:nvPr/>
        </p:nvSpPr>
        <p:spPr bwMode="auto">
          <a:xfrm>
            <a:off x="6172200" y="1752600"/>
            <a:ext cx="2576513" cy="448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20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(1)  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Ｅ→Ｅ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+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Ｔ</a:t>
            </a:r>
          </a:p>
          <a:p>
            <a:pPr marL="342900" indent="-342900" eaLnBrk="0" hangingPunct="0">
              <a:lnSpc>
                <a:spcPct val="20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(2)  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Ｅ→Ｔ</a:t>
            </a:r>
          </a:p>
          <a:p>
            <a:pPr marL="342900" indent="-342900" eaLnBrk="0" hangingPunct="0">
              <a:lnSpc>
                <a:spcPct val="20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(3)  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Ｔ→Ｔ*Ｆ</a:t>
            </a:r>
          </a:p>
          <a:p>
            <a:pPr marL="342900" indent="-342900" eaLnBrk="0" hangingPunct="0">
              <a:lnSpc>
                <a:spcPct val="20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(4)  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Ｔ→Ｆ</a:t>
            </a:r>
          </a:p>
          <a:p>
            <a:pPr marL="342900" indent="-342900" eaLnBrk="0" hangingPunct="0">
              <a:lnSpc>
                <a:spcPct val="20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(5)  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Ｆ→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(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Ｅ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)</a:t>
            </a:r>
          </a:p>
          <a:p>
            <a:pPr marL="342900" indent="-342900" eaLnBrk="0" hangingPunct="0">
              <a:lnSpc>
                <a:spcPct val="200000"/>
              </a:lnSpc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(6)  </a:t>
            </a:r>
            <a:r>
              <a:rPr kumimoji="1"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Ｆ→</a:t>
            </a:r>
            <a:r>
              <a:rPr kumimoji="1"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9DE29F83-DAAB-4063-A9DC-A3F94DD7460D}" type="slidenum">
              <a:rPr lang="en-US" altLang="zh-CN" smtClean="0"/>
              <a:pPr eaLnBrk="1" hangingPunct="1"/>
              <a:t>99</a:t>
            </a:fld>
            <a:endParaRPr lang="en-US" altLang="zh-CN" smtClean="0"/>
          </a:p>
        </p:txBody>
      </p:sp>
      <p:sp>
        <p:nvSpPr>
          <p:cNvPr id="325634" name="Text Box 2"/>
          <p:cNvSpPr txBox="1">
            <a:spLocks noChangeArrowheads="1"/>
          </p:cNvSpPr>
          <p:nvPr/>
        </p:nvSpPr>
        <p:spPr bwMode="auto">
          <a:xfrm>
            <a:off x="457200" y="304800"/>
            <a:ext cx="1219200" cy="2543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0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lang="en-US" altLang="zh-CN" b="1"/>
              <a:t>'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→.E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E→.E+T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</a:p>
        </p:txBody>
      </p:sp>
      <p:sp>
        <p:nvSpPr>
          <p:cNvPr id="126980" name="Line 3"/>
          <p:cNvSpPr>
            <a:spLocks noChangeShapeType="1"/>
          </p:cNvSpPr>
          <p:nvPr/>
        </p:nvSpPr>
        <p:spPr bwMode="auto">
          <a:xfrm>
            <a:off x="1676400" y="3810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81" name="Text Box 4"/>
          <p:cNvSpPr txBox="1">
            <a:spLocks noChangeArrowheads="1"/>
          </p:cNvSpPr>
          <p:nvPr/>
        </p:nvSpPr>
        <p:spPr bwMode="auto">
          <a:xfrm>
            <a:off x="1905000" y="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E</a:t>
            </a:r>
          </a:p>
        </p:txBody>
      </p:sp>
      <p:sp>
        <p:nvSpPr>
          <p:cNvPr id="325637" name="Text Box 5"/>
          <p:cNvSpPr txBox="1">
            <a:spLocks noChangeArrowheads="1"/>
          </p:cNvSpPr>
          <p:nvPr/>
        </p:nvSpPr>
        <p:spPr bwMode="auto">
          <a:xfrm>
            <a:off x="2590800" y="2286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</a:t>
            </a:r>
            <a:r>
              <a:rPr lang="en-US" altLang="zh-CN" b="1"/>
              <a:t>'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→E.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E→E.+T</a:t>
            </a:r>
          </a:p>
        </p:txBody>
      </p:sp>
      <p:sp>
        <p:nvSpPr>
          <p:cNvPr id="126983" name="Line 6"/>
          <p:cNvSpPr>
            <a:spLocks noChangeShapeType="1"/>
          </p:cNvSpPr>
          <p:nvPr/>
        </p:nvSpPr>
        <p:spPr bwMode="auto">
          <a:xfrm>
            <a:off x="1676400" y="2057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84" name="Text Box 7"/>
          <p:cNvSpPr txBox="1">
            <a:spLocks noChangeArrowheads="1"/>
          </p:cNvSpPr>
          <p:nvPr/>
        </p:nvSpPr>
        <p:spPr bwMode="auto">
          <a:xfrm>
            <a:off x="1905000" y="1752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325640" name="Text Box 8"/>
          <p:cNvSpPr txBox="1">
            <a:spLocks noChangeArrowheads="1"/>
          </p:cNvSpPr>
          <p:nvPr/>
        </p:nvSpPr>
        <p:spPr bwMode="auto">
          <a:xfrm>
            <a:off x="2590800" y="1419225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2</a:t>
            </a: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E→T.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T→T.*F</a:t>
            </a:r>
            <a:endParaRPr kumimoji="1" lang="en-US" altLang="zh-CN" sz="20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26986" name="Line 9"/>
          <p:cNvSpPr>
            <a:spLocks noChangeShapeType="1"/>
          </p:cNvSpPr>
          <p:nvPr/>
        </p:nvSpPr>
        <p:spPr bwMode="auto">
          <a:xfrm>
            <a:off x="1676400" y="2819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87" name="Text Box 10"/>
          <p:cNvSpPr txBox="1">
            <a:spLocks noChangeArrowheads="1"/>
          </p:cNvSpPr>
          <p:nvPr/>
        </p:nvSpPr>
        <p:spPr bwMode="auto">
          <a:xfrm>
            <a:off x="1981200" y="2498725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325643" name="Text Box 11"/>
          <p:cNvSpPr txBox="1">
            <a:spLocks noChangeArrowheads="1"/>
          </p:cNvSpPr>
          <p:nvPr/>
        </p:nvSpPr>
        <p:spPr bwMode="auto">
          <a:xfrm>
            <a:off x="2590800" y="25908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T→F.</a:t>
            </a:r>
          </a:p>
        </p:txBody>
      </p:sp>
      <p:sp>
        <p:nvSpPr>
          <p:cNvPr id="126989" name="Freeform 12"/>
          <p:cNvSpPr>
            <a:spLocks/>
          </p:cNvSpPr>
          <p:nvPr/>
        </p:nvSpPr>
        <p:spPr bwMode="auto">
          <a:xfrm>
            <a:off x="1346200" y="2895600"/>
            <a:ext cx="1244600" cy="1219200"/>
          </a:xfrm>
          <a:custGeom>
            <a:avLst/>
            <a:gdLst>
              <a:gd name="T0" fmla="*/ 45754267 w 736"/>
              <a:gd name="T1" fmla="*/ 0 h 768"/>
              <a:gd name="T2" fmla="*/ 45754267 w 736"/>
              <a:gd name="T3" fmla="*/ 967740089 h 768"/>
              <a:gd name="T4" fmla="*/ 320274811 w 736"/>
              <a:gd name="T5" fmla="*/ 1451609935 h 768"/>
              <a:gd name="T6" fmla="*/ 869315820 w 736"/>
              <a:gd name="T7" fmla="*/ 1693545255 h 768"/>
              <a:gd name="T8" fmla="*/ 2104659332 w 736"/>
              <a:gd name="T9" fmla="*/ 1935480178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36"/>
              <a:gd name="T16" fmla="*/ 0 h 768"/>
              <a:gd name="T17" fmla="*/ 736 w 736"/>
              <a:gd name="T18" fmla="*/ 768 h 7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36" h="768">
                <a:moveTo>
                  <a:pt x="16" y="0"/>
                </a:moveTo>
                <a:cubicBezTo>
                  <a:pt x="8" y="144"/>
                  <a:pt x="0" y="288"/>
                  <a:pt x="16" y="384"/>
                </a:cubicBezTo>
                <a:cubicBezTo>
                  <a:pt x="32" y="480"/>
                  <a:pt x="64" y="528"/>
                  <a:pt x="112" y="576"/>
                </a:cubicBezTo>
                <a:cubicBezTo>
                  <a:pt x="160" y="624"/>
                  <a:pt x="200" y="640"/>
                  <a:pt x="304" y="672"/>
                </a:cubicBezTo>
                <a:cubicBezTo>
                  <a:pt x="408" y="704"/>
                  <a:pt x="572" y="736"/>
                  <a:pt x="736" y="7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0" name="Text Box 13"/>
          <p:cNvSpPr txBox="1">
            <a:spLocks noChangeArrowheads="1"/>
          </p:cNvSpPr>
          <p:nvPr/>
        </p:nvSpPr>
        <p:spPr bwMode="auto">
          <a:xfrm>
            <a:off x="1981200" y="36576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325646" name="Text Box 14"/>
          <p:cNvSpPr txBox="1">
            <a:spLocks noChangeArrowheads="1"/>
          </p:cNvSpPr>
          <p:nvPr/>
        </p:nvSpPr>
        <p:spPr bwMode="auto">
          <a:xfrm>
            <a:off x="2590800" y="3581400"/>
            <a:ext cx="1219200" cy="2543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4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F→(.E 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E→.E+T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26992" name="Line 15"/>
          <p:cNvSpPr>
            <a:spLocks noChangeShapeType="1"/>
          </p:cNvSpPr>
          <p:nvPr/>
        </p:nvSpPr>
        <p:spPr bwMode="auto">
          <a:xfrm>
            <a:off x="685800" y="28956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3" name="Text Box 16"/>
          <p:cNvSpPr txBox="1">
            <a:spLocks noChangeArrowheads="1"/>
          </p:cNvSpPr>
          <p:nvPr/>
        </p:nvSpPr>
        <p:spPr bwMode="auto">
          <a:xfrm>
            <a:off x="685800" y="34290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325649" name="Text Box 17"/>
          <p:cNvSpPr txBox="1">
            <a:spLocks noChangeArrowheads="1"/>
          </p:cNvSpPr>
          <p:nvPr/>
        </p:nvSpPr>
        <p:spPr bwMode="auto">
          <a:xfrm>
            <a:off x="381000" y="41910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5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F→id.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26995" name="Line 18"/>
          <p:cNvSpPr>
            <a:spLocks noChangeShapeType="1"/>
          </p:cNvSpPr>
          <p:nvPr/>
        </p:nvSpPr>
        <p:spPr bwMode="auto">
          <a:xfrm>
            <a:off x="3810000" y="3810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6" name="Text Box 19"/>
          <p:cNvSpPr txBox="1">
            <a:spLocks noChangeArrowheads="1"/>
          </p:cNvSpPr>
          <p:nvPr/>
        </p:nvSpPr>
        <p:spPr bwMode="auto">
          <a:xfrm>
            <a:off x="4114800" y="762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+</a:t>
            </a:r>
          </a:p>
        </p:txBody>
      </p:sp>
      <p:sp>
        <p:nvSpPr>
          <p:cNvPr id="325652" name="Text Box 20"/>
          <p:cNvSpPr txBox="1">
            <a:spLocks noChangeArrowheads="1"/>
          </p:cNvSpPr>
          <p:nvPr/>
        </p:nvSpPr>
        <p:spPr bwMode="auto">
          <a:xfrm>
            <a:off x="4648200" y="228600"/>
            <a:ext cx="1219200" cy="19335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6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E→E+.T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T→.T*F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</a:p>
        </p:txBody>
      </p:sp>
      <p:sp>
        <p:nvSpPr>
          <p:cNvPr id="126998" name="Line 21"/>
          <p:cNvSpPr>
            <a:spLocks noChangeShapeType="1"/>
          </p:cNvSpPr>
          <p:nvPr/>
        </p:nvSpPr>
        <p:spPr bwMode="auto">
          <a:xfrm>
            <a:off x="3810000" y="1981200"/>
            <a:ext cx="8382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6999" name="Text Box 22"/>
          <p:cNvSpPr txBox="1">
            <a:spLocks noChangeArrowheads="1"/>
          </p:cNvSpPr>
          <p:nvPr/>
        </p:nvSpPr>
        <p:spPr bwMode="auto">
          <a:xfrm>
            <a:off x="4038600" y="21336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*</a:t>
            </a:r>
          </a:p>
        </p:txBody>
      </p:sp>
      <p:sp>
        <p:nvSpPr>
          <p:cNvPr id="325655" name="Text Box 23"/>
          <p:cNvSpPr txBox="1">
            <a:spLocks noChangeArrowheads="1"/>
          </p:cNvSpPr>
          <p:nvPr/>
        </p:nvSpPr>
        <p:spPr bwMode="auto">
          <a:xfrm>
            <a:off x="4648200" y="2286000"/>
            <a:ext cx="1219200" cy="13239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T→T*.F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F→.(E)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F→.id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27001" name="Line 24"/>
          <p:cNvSpPr>
            <a:spLocks noChangeShapeType="1"/>
          </p:cNvSpPr>
          <p:nvPr/>
        </p:nvSpPr>
        <p:spPr bwMode="auto">
          <a:xfrm>
            <a:off x="3810000" y="4114800"/>
            <a:ext cx="3124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2" name="Text Box 25"/>
          <p:cNvSpPr txBox="1">
            <a:spLocks noChangeArrowheads="1"/>
          </p:cNvSpPr>
          <p:nvPr/>
        </p:nvSpPr>
        <p:spPr bwMode="auto">
          <a:xfrm>
            <a:off x="5029200" y="38100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E</a:t>
            </a:r>
          </a:p>
        </p:txBody>
      </p:sp>
      <p:sp>
        <p:nvSpPr>
          <p:cNvPr id="325658" name="Text Box 26"/>
          <p:cNvSpPr txBox="1">
            <a:spLocks noChangeArrowheads="1"/>
          </p:cNvSpPr>
          <p:nvPr/>
        </p:nvSpPr>
        <p:spPr bwMode="auto">
          <a:xfrm>
            <a:off x="6934200" y="36576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8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 (E.)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E→E.+T</a:t>
            </a:r>
          </a:p>
        </p:txBody>
      </p:sp>
      <p:sp>
        <p:nvSpPr>
          <p:cNvPr id="127004" name="Freeform 27"/>
          <p:cNvSpPr>
            <a:spLocks/>
          </p:cNvSpPr>
          <p:nvPr/>
        </p:nvSpPr>
        <p:spPr bwMode="auto">
          <a:xfrm>
            <a:off x="3810000" y="2286000"/>
            <a:ext cx="254000" cy="1600200"/>
          </a:xfrm>
          <a:custGeom>
            <a:avLst/>
            <a:gdLst>
              <a:gd name="T0" fmla="*/ 0 w 160"/>
              <a:gd name="T1" fmla="*/ 2147483647 h 1008"/>
              <a:gd name="T2" fmla="*/ 241935007 w 160"/>
              <a:gd name="T3" fmla="*/ 2147483647 h 1008"/>
              <a:gd name="T4" fmla="*/ 362902461 w 160"/>
              <a:gd name="T5" fmla="*/ 967740162 h 1008"/>
              <a:gd name="T6" fmla="*/ 0 w 160"/>
              <a:gd name="T7" fmla="*/ 0 h 1008"/>
              <a:gd name="T8" fmla="*/ 0 60000 65536"/>
              <a:gd name="T9" fmla="*/ 0 60000 65536"/>
              <a:gd name="T10" fmla="*/ 0 60000 65536"/>
              <a:gd name="T11" fmla="*/ 0 60000 65536"/>
              <a:gd name="T12" fmla="*/ 0 w 160"/>
              <a:gd name="T13" fmla="*/ 0 h 1008"/>
              <a:gd name="T14" fmla="*/ 160 w 160"/>
              <a:gd name="T15" fmla="*/ 1008 h 10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0" h="1008">
                <a:moveTo>
                  <a:pt x="0" y="1008"/>
                </a:moveTo>
                <a:cubicBezTo>
                  <a:pt x="36" y="988"/>
                  <a:pt x="72" y="968"/>
                  <a:pt x="96" y="864"/>
                </a:cubicBezTo>
                <a:cubicBezTo>
                  <a:pt x="120" y="760"/>
                  <a:pt x="160" y="528"/>
                  <a:pt x="144" y="384"/>
                </a:cubicBezTo>
                <a:cubicBezTo>
                  <a:pt x="128" y="240"/>
                  <a:pt x="64" y="120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5" name="Text Box 28"/>
          <p:cNvSpPr txBox="1">
            <a:spLocks noChangeArrowheads="1"/>
          </p:cNvSpPr>
          <p:nvPr/>
        </p:nvSpPr>
        <p:spPr bwMode="auto">
          <a:xfrm>
            <a:off x="3962400" y="2971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127006" name="Freeform 29"/>
          <p:cNvSpPr>
            <a:spLocks/>
          </p:cNvSpPr>
          <p:nvPr/>
        </p:nvSpPr>
        <p:spPr bwMode="auto">
          <a:xfrm>
            <a:off x="2413000" y="3124200"/>
            <a:ext cx="177800" cy="762000"/>
          </a:xfrm>
          <a:custGeom>
            <a:avLst/>
            <a:gdLst>
              <a:gd name="T0" fmla="*/ 282257522 w 112"/>
              <a:gd name="T1" fmla="*/ 1209675089 h 480"/>
              <a:gd name="T2" fmla="*/ 40322501 w 112"/>
              <a:gd name="T3" fmla="*/ 846772682 h 480"/>
              <a:gd name="T4" fmla="*/ 40322501 w 112"/>
              <a:gd name="T5" fmla="*/ 362902507 h 480"/>
              <a:gd name="T6" fmla="*/ 282257522 w 112"/>
              <a:gd name="T7" fmla="*/ 0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112"/>
              <a:gd name="T13" fmla="*/ 0 h 480"/>
              <a:gd name="T14" fmla="*/ 112 w 112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2" h="480">
                <a:moveTo>
                  <a:pt x="112" y="480"/>
                </a:moveTo>
                <a:cubicBezTo>
                  <a:pt x="72" y="436"/>
                  <a:pt x="32" y="392"/>
                  <a:pt x="16" y="336"/>
                </a:cubicBezTo>
                <a:cubicBezTo>
                  <a:pt x="0" y="280"/>
                  <a:pt x="0" y="200"/>
                  <a:pt x="16" y="144"/>
                </a:cubicBezTo>
                <a:cubicBezTo>
                  <a:pt x="32" y="88"/>
                  <a:pt x="72" y="44"/>
                  <a:pt x="11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7" name="Text Box 30"/>
          <p:cNvSpPr txBox="1">
            <a:spLocks noChangeArrowheads="1"/>
          </p:cNvSpPr>
          <p:nvPr/>
        </p:nvSpPr>
        <p:spPr bwMode="auto">
          <a:xfrm>
            <a:off x="2133600" y="33528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27008" name="Freeform 31"/>
          <p:cNvSpPr>
            <a:spLocks/>
          </p:cNvSpPr>
          <p:nvPr/>
        </p:nvSpPr>
        <p:spPr bwMode="auto">
          <a:xfrm>
            <a:off x="2286000" y="5029200"/>
            <a:ext cx="330200" cy="762000"/>
          </a:xfrm>
          <a:custGeom>
            <a:avLst/>
            <a:gdLst>
              <a:gd name="T0" fmla="*/ 483870056 w 208"/>
              <a:gd name="T1" fmla="*/ 1209675089 h 480"/>
              <a:gd name="T2" fmla="*/ 0 w 208"/>
              <a:gd name="T3" fmla="*/ 604837545 h 480"/>
              <a:gd name="T4" fmla="*/ 483870056 w 208"/>
              <a:gd name="T5" fmla="*/ 0 h 480"/>
              <a:gd name="T6" fmla="*/ 0 60000 65536"/>
              <a:gd name="T7" fmla="*/ 0 60000 65536"/>
              <a:gd name="T8" fmla="*/ 0 60000 65536"/>
              <a:gd name="T9" fmla="*/ 0 w 208"/>
              <a:gd name="T10" fmla="*/ 0 h 480"/>
              <a:gd name="T11" fmla="*/ 208 w 208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8" h="480">
                <a:moveTo>
                  <a:pt x="192" y="480"/>
                </a:moveTo>
                <a:cubicBezTo>
                  <a:pt x="96" y="400"/>
                  <a:pt x="0" y="320"/>
                  <a:pt x="0" y="240"/>
                </a:cubicBezTo>
                <a:cubicBezTo>
                  <a:pt x="0" y="160"/>
                  <a:pt x="208" y="40"/>
                  <a:pt x="192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09" name="Text Box 32"/>
          <p:cNvSpPr txBox="1">
            <a:spLocks noChangeArrowheads="1"/>
          </p:cNvSpPr>
          <p:nvPr/>
        </p:nvSpPr>
        <p:spPr bwMode="auto">
          <a:xfrm>
            <a:off x="2057400" y="51816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27010" name="Line 33"/>
          <p:cNvSpPr>
            <a:spLocks noChangeShapeType="1"/>
          </p:cNvSpPr>
          <p:nvPr/>
        </p:nvSpPr>
        <p:spPr bwMode="auto">
          <a:xfrm flipH="1">
            <a:off x="1600200" y="4572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11" name="Text Box 34"/>
          <p:cNvSpPr txBox="1">
            <a:spLocks noChangeArrowheads="1"/>
          </p:cNvSpPr>
          <p:nvPr/>
        </p:nvSpPr>
        <p:spPr bwMode="auto">
          <a:xfrm>
            <a:off x="1905000" y="4267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27012" name="Line 35"/>
          <p:cNvSpPr>
            <a:spLocks noChangeShapeType="1"/>
          </p:cNvSpPr>
          <p:nvPr/>
        </p:nvSpPr>
        <p:spPr bwMode="auto">
          <a:xfrm>
            <a:off x="5867400" y="1524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13" name="Text Box 36"/>
          <p:cNvSpPr txBox="1">
            <a:spLocks noChangeArrowheads="1"/>
          </p:cNvSpPr>
          <p:nvPr/>
        </p:nvSpPr>
        <p:spPr bwMode="auto">
          <a:xfrm>
            <a:off x="6096000" y="1143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T</a:t>
            </a:r>
          </a:p>
        </p:txBody>
      </p:sp>
      <p:sp>
        <p:nvSpPr>
          <p:cNvPr id="325669" name="Text Box 37"/>
          <p:cNvSpPr txBox="1">
            <a:spLocks noChangeArrowheads="1"/>
          </p:cNvSpPr>
          <p:nvPr/>
        </p:nvSpPr>
        <p:spPr bwMode="auto">
          <a:xfrm>
            <a:off x="6858000" y="1143000"/>
            <a:ext cx="1219200" cy="10191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9</a:t>
            </a: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E→E+T.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T→T.*F</a:t>
            </a:r>
          </a:p>
        </p:txBody>
      </p:sp>
      <p:sp>
        <p:nvSpPr>
          <p:cNvPr id="127015" name="Freeform 38"/>
          <p:cNvSpPr>
            <a:spLocks/>
          </p:cNvSpPr>
          <p:nvPr/>
        </p:nvSpPr>
        <p:spPr bwMode="auto">
          <a:xfrm>
            <a:off x="3810000" y="838200"/>
            <a:ext cx="838200" cy="2057400"/>
          </a:xfrm>
          <a:custGeom>
            <a:avLst/>
            <a:gdLst>
              <a:gd name="T0" fmla="*/ 1330642282 w 528"/>
              <a:gd name="T1" fmla="*/ 0 h 1296"/>
              <a:gd name="T2" fmla="*/ 846772505 w 528"/>
              <a:gd name="T3" fmla="*/ 604837471 h 1296"/>
              <a:gd name="T4" fmla="*/ 362902431 w 528"/>
              <a:gd name="T5" fmla="*/ 2147483647 h 1296"/>
              <a:gd name="T6" fmla="*/ 0 w 528"/>
              <a:gd name="T7" fmla="*/ 2147483647 h 1296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1296"/>
              <a:gd name="T14" fmla="*/ 528 w 528"/>
              <a:gd name="T15" fmla="*/ 1296 h 12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1296">
                <a:moveTo>
                  <a:pt x="528" y="0"/>
                </a:moveTo>
                <a:cubicBezTo>
                  <a:pt x="464" y="36"/>
                  <a:pt x="400" y="72"/>
                  <a:pt x="336" y="240"/>
                </a:cubicBezTo>
                <a:cubicBezTo>
                  <a:pt x="272" y="408"/>
                  <a:pt x="200" y="832"/>
                  <a:pt x="144" y="1008"/>
                </a:cubicBezTo>
                <a:cubicBezTo>
                  <a:pt x="88" y="1184"/>
                  <a:pt x="44" y="1240"/>
                  <a:pt x="0" y="129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16" name="Text Box 39"/>
          <p:cNvSpPr txBox="1">
            <a:spLocks noChangeArrowheads="1"/>
          </p:cNvSpPr>
          <p:nvPr/>
        </p:nvSpPr>
        <p:spPr bwMode="auto">
          <a:xfrm>
            <a:off x="4038600" y="11430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127017" name="Freeform 40"/>
          <p:cNvSpPr>
            <a:spLocks/>
          </p:cNvSpPr>
          <p:nvPr/>
        </p:nvSpPr>
        <p:spPr bwMode="auto">
          <a:xfrm>
            <a:off x="3810000" y="1219200"/>
            <a:ext cx="838200" cy="2819400"/>
          </a:xfrm>
          <a:custGeom>
            <a:avLst/>
            <a:gdLst>
              <a:gd name="T0" fmla="*/ 1330642282 w 528"/>
              <a:gd name="T1" fmla="*/ 0 h 1488"/>
              <a:gd name="T2" fmla="*/ 1088707393 w 528"/>
              <a:gd name="T3" fmla="*/ 1033950663 h 1488"/>
              <a:gd name="T4" fmla="*/ 604837419 w 528"/>
              <a:gd name="T5" fmla="*/ 2147483647 h 1488"/>
              <a:gd name="T6" fmla="*/ 0 w 528"/>
              <a:gd name="T7" fmla="*/ 2147483647 h 1488"/>
              <a:gd name="T8" fmla="*/ 0 60000 65536"/>
              <a:gd name="T9" fmla="*/ 0 60000 65536"/>
              <a:gd name="T10" fmla="*/ 0 60000 65536"/>
              <a:gd name="T11" fmla="*/ 0 60000 65536"/>
              <a:gd name="T12" fmla="*/ 0 w 528"/>
              <a:gd name="T13" fmla="*/ 0 h 1488"/>
              <a:gd name="T14" fmla="*/ 528 w 528"/>
              <a:gd name="T15" fmla="*/ 1488 h 1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8" h="1488">
                <a:moveTo>
                  <a:pt x="528" y="0"/>
                </a:moveTo>
                <a:cubicBezTo>
                  <a:pt x="504" y="48"/>
                  <a:pt x="480" y="96"/>
                  <a:pt x="432" y="288"/>
                </a:cubicBezTo>
                <a:cubicBezTo>
                  <a:pt x="384" y="480"/>
                  <a:pt x="312" y="952"/>
                  <a:pt x="240" y="1152"/>
                </a:cubicBezTo>
                <a:cubicBezTo>
                  <a:pt x="168" y="1352"/>
                  <a:pt x="84" y="1420"/>
                  <a:pt x="0" y="148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18" name="Text Box 41"/>
          <p:cNvSpPr txBox="1">
            <a:spLocks noChangeArrowheads="1"/>
          </p:cNvSpPr>
          <p:nvPr/>
        </p:nvSpPr>
        <p:spPr bwMode="auto">
          <a:xfrm>
            <a:off x="4295775" y="1447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27019" name="Text Box 42"/>
          <p:cNvSpPr txBox="1">
            <a:spLocks noChangeArrowheads="1"/>
          </p:cNvSpPr>
          <p:nvPr/>
        </p:nvSpPr>
        <p:spPr bwMode="auto">
          <a:xfrm>
            <a:off x="914400" y="5410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27020" name="Line 43"/>
          <p:cNvSpPr>
            <a:spLocks noChangeShapeType="1"/>
          </p:cNvSpPr>
          <p:nvPr/>
        </p:nvSpPr>
        <p:spPr bwMode="auto">
          <a:xfrm>
            <a:off x="5867400" y="28956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21" name="Text Box 44"/>
          <p:cNvSpPr txBox="1">
            <a:spLocks noChangeArrowheads="1"/>
          </p:cNvSpPr>
          <p:nvPr/>
        </p:nvSpPr>
        <p:spPr bwMode="auto">
          <a:xfrm>
            <a:off x="6172200" y="25908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F</a:t>
            </a:r>
          </a:p>
        </p:txBody>
      </p:sp>
      <p:sp>
        <p:nvSpPr>
          <p:cNvPr id="325677" name="Text Box 45"/>
          <p:cNvSpPr txBox="1">
            <a:spLocks noChangeArrowheads="1"/>
          </p:cNvSpPr>
          <p:nvPr/>
        </p:nvSpPr>
        <p:spPr bwMode="auto">
          <a:xfrm>
            <a:off x="6858000" y="23622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10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T→T*F.</a:t>
            </a:r>
          </a:p>
        </p:txBody>
      </p:sp>
      <p:sp>
        <p:nvSpPr>
          <p:cNvPr id="127023" name="Text Box 46"/>
          <p:cNvSpPr txBox="1">
            <a:spLocks noChangeArrowheads="1"/>
          </p:cNvSpPr>
          <p:nvPr/>
        </p:nvSpPr>
        <p:spPr bwMode="auto">
          <a:xfrm>
            <a:off x="4343400" y="4648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(</a:t>
            </a:r>
          </a:p>
        </p:txBody>
      </p:sp>
      <p:sp>
        <p:nvSpPr>
          <p:cNvPr id="127024" name="Text Box 47"/>
          <p:cNvSpPr txBox="1">
            <a:spLocks noChangeArrowheads="1"/>
          </p:cNvSpPr>
          <p:nvPr/>
        </p:nvSpPr>
        <p:spPr bwMode="auto">
          <a:xfrm>
            <a:off x="7391400" y="4891088"/>
            <a:ext cx="381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b="1">
                <a:latin typeface="Times New Roman" pitchFamily="18" charset="0"/>
              </a:rPr>
              <a:t>)</a:t>
            </a:r>
          </a:p>
        </p:txBody>
      </p:sp>
      <p:sp>
        <p:nvSpPr>
          <p:cNvPr id="325680" name="Text Box 48"/>
          <p:cNvSpPr txBox="1">
            <a:spLocks noChangeArrowheads="1"/>
          </p:cNvSpPr>
          <p:nvPr/>
        </p:nvSpPr>
        <p:spPr bwMode="auto">
          <a:xfrm>
            <a:off x="6934200" y="5486400"/>
            <a:ext cx="1219200" cy="71437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11</a:t>
            </a: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F→(E).</a:t>
            </a:r>
            <a:endParaRPr kumimoji="1" lang="en-US" altLang="zh-CN" sz="2000" b="1">
              <a:latin typeface="Times New Roman" pitchFamily="18" charset="0"/>
            </a:endParaRPr>
          </a:p>
        </p:txBody>
      </p:sp>
      <p:sp>
        <p:nvSpPr>
          <p:cNvPr id="127026" name="Text Box 49"/>
          <p:cNvSpPr txBox="1">
            <a:spLocks noChangeArrowheads="1"/>
          </p:cNvSpPr>
          <p:nvPr/>
        </p:nvSpPr>
        <p:spPr bwMode="auto">
          <a:xfrm>
            <a:off x="7924800" y="533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+</a:t>
            </a:r>
          </a:p>
        </p:txBody>
      </p:sp>
      <p:sp>
        <p:nvSpPr>
          <p:cNvPr id="127027" name="Line 50"/>
          <p:cNvSpPr>
            <a:spLocks noChangeShapeType="1"/>
          </p:cNvSpPr>
          <p:nvPr/>
        </p:nvSpPr>
        <p:spPr bwMode="auto">
          <a:xfrm flipH="1">
            <a:off x="5867400" y="1981200"/>
            <a:ext cx="9906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28" name="Text Box 51"/>
          <p:cNvSpPr txBox="1">
            <a:spLocks noChangeArrowheads="1"/>
          </p:cNvSpPr>
          <p:nvPr/>
        </p:nvSpPr>
        <p:spPr bwMode="auto">
          <a:xfrm>
            <a:off x="6324600" y="190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*</a:t>
            </a:r>
          </a:p>
        </p:txBody>
      </p:sp>
      <p:sp>
        <p:nvSpPr>
          <p:cNvPr id="127029" name="Freeform 52"/>
          <p:cNvSpPr>
            <a:spLocks/>
          </p:cNvSpPr>
          <p:nvPr/>
        </p:nvSpPr>
        <p:spPr bwMode="auto">
          <a:xfrm>
            <a:off x="5867400" y="685800"/>
            <a:ext cx="2743200" cy="3429000"/>
          </a:xfrm>
          <a:custGeom>
            <a:avLst/>
            <a:gdLst>
              <a:gd name="T0" fmla="*/ 2147483647 w 1712"/>
              <a:gd name="T1" fmla="*/ 2147483647 h 2352"/>
              <a:gd name="T2" fmla="*/ 2147483647 w 1712"/>
              <a:gd name="T3" fmla="*/ 2147483647 h 2352"/>
              <a:gd name="T4" fmla="*/ 2147483647 w 1712"/>
              <a:gd name="T5" fmla="*/ 1428332810 h 2352"/>
              <a:gd name="T6" fmla="*/ 2147483647 w 1712"/>
              <a:gd name="T7" fmla="*/ 408094750 h 2352"/>
              <a:gd name="T8" fmla="*/ 2147483647 w 1712"/>
              <a:gd name="T9" fmla="*/ 102024416 h 2352"/>
              <a:gd name="T10" fmla="*/ 0 w 1712"/>
              <a:gd name="T11" fmla="*/ 0 h 235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712"/>
              <a:gd name="T19" fmla="*/ 0 h 2352"/>
              <a:gd name="T20" fmla="*/ 1712 w 1712"/>
              <a:gd name="T21" fmla="*/ 2352 h 235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712" h="2352">
                <a:moveTo>
                  <a:pt x="1440" y="2352"/>
                </a:moveTo>
                <a:cubicBezTo>
                  <a:pt x="1516" y="2060"/>
                  <a:pt x="1592" y="1768"/>
                  <a:pt x="1632" y="1488"/>
                </a:cubicBezTo>
                <a:cubicBezTo>
                  <a:pt x="1672" y="1208"/>
                  <a:pt x="1712" y="888"/>
                  <a:pt x="1680" y="672"/>
                </a:cubicBezTo>
                <a:cubicBezTo>
                  <a:pt x="1648" y="456"/>
                  <a:pt x="1536" y="296"/>
                  <a:pt x="1440" y="192"/>
                </a:cubicBezTo>
                <a:cubicBezTo>
                  <a:pt x="1344" y="88"/>
                  <a:pt x="1344" y="80"/>
                  <a:pt x="1104" y="48"/>
                </a:cubicBezTo>
                <a:cubicBezTo>
                  <a:pt x="864" y="16"/>
                  <a:pt x="152" y="0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30" name="Line 53"/>
          <p:cNvSpPr>
            <a:spLocks noChangeShapeType="1"/>
          </p:cNvSpPr>
          <p:nvPr/>
        </p:nvSpPr>
        <p:spPr bwMode="auto">
          <a:xfrm>
            <a:off x="7620000" y="47244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31" name="Freeform 54"/>
          <p:cNvSpPr>
            <a:spLocks/>
          </p:cNvSpPr>
          <p:nvPr/>
        </p:nvSpPr>
        <p:spPr bwMode="auto">
          <a:xfrm>
            <a:off x="3810000" y="3657600"/>
            <a:ext cx="1016000" cy="1752600"/>
          </a:xfrm>
          <a:custGeom>
            <a:avLst/>
            <a:gdLst>
              <a:gd name="T0" fmla="*/ 1572577297 w 640"/>
              <a:gd name="T1" fmla="*/ 0 h 1104"/>
              <a:gd name="T2" fmla="*/ 1572577297 w 640"/>
              <a:gd name="T3" fmla="*/ 967739969 h 1104"/>
              <a:gd name="T4" fmla="*/ 1330642389 w 640"/>
              <a:gd name="T5" fmla="*/ 1451609755 h 1104"/>
              <a:gd name="T6" fmla="*/ 0 w 640"/>
              <a:gd name="T7" fmla="*/ 2147483647 h 1104"/>
              <a:gd name="T8" fmla="*/ 0 60000 65536"/>
              <a:gd name="T9" fmla="*/ 0 60000 65536"/>
              <a:gd name="T10" fmla="*/ 0 60000 65536"/>
              <a:gd name="T11" fmla="*/ 0 60000 65536"/>
              <a:gd name="T12" fmla="*/ 0 w 640"/>
              <a:gd name="T13" fmla="*/ 0 h 1104"/>
              <a:gd name="T14" fmla="*/ 640 w 640"/>
              <a:gd name="T15" fmla="*/ 1104 h 11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40" h="1104">
                <a:moveTo>
                  <a:pt x="624" y="0"/>
                </a:moveTo>
                <a:cubicBezTo>
                  <a:pt x="632" y="144"/>
                  <a:pt x="640" y="288"/>
                  <a:pt x="624" y="384"/>
                </a:cubicBezTo>
                <a:cubicBezTo>
                  <a:pt x="608" y="480"/>
                  <a:pt x="632" y="456"/>
                  <a:pt x="528" y="576"/>
                </a:cubicBezTo>
                <a:cubicBezTo>
                  <a:pt x="424" y="696"/>
                  <a:pt x="212" y="900"/>
                  <a:pt x="0" y="1104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32" name="Freeform 55"/>
          <p:cNvSpPr>
            <a:spLocks/>
          </p:cNvSpPr>
          <p:nvPr/>
        </p:nvSpPr>
        <p:spPr bwMode="auto">
          <a:xfrm>
            <a:off x="990600" y="3657600"/>
            <a:ext cx="4622800" cy="2794000"/>
          </a:xfrm>
          <a:custGeom>
            <a:avLst/>
            <a:gdLst>
              <a:gd name="T0" fmla="*/ 2147483647 w 2912"/>
              <a:gd name="T1" fmla="*/ 0 h 1760"/>
              <a:gd name="T2" fmla="*/ 2147483647 w 2912"/>
              <a:gd name="T3" fmla="*/ 2056447723 h 1760"/>
              <a:gd name="T4" fmla="*/ 2147483647 w 2912"/>
              <a:gd name="T5" fmla="*/ 2147483647 h 1760"/>
              <a:gd name="T6" fmla="*/ 2147483647 w 2912"/>
              <a:gd name="T7" fmla="*/ 2147483647 h 1760"/>
              <a:gd name="T8" fmla="*/ 2056447604 w 2912"/>
              <a:gd name="T9" fmla="*/ 2147483647 h 1760"/>
              <a:gd name="T10" fmla="*/ 1209674991 w 2912"/>
              <a:gd name="T11" fmla="*/ 2147483647 h 1760"/>
              <a:gd name="T12" fmla="*/ 362902478 w 2912"/>
              <a:gd name="T13" fmla="*/ 2147483647 h 1760"/>
              <a:gd name="T14" fmla="*/ 0 w 2912"/>
              <a:gd name="T15" fmla="*/ 1935480257 h 176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912"/>
              <a:gd name="T25" fmla="*/ 0 h 1760"/>
              <a:gd name="T26" fmla="*/ 2912 w 2912"/>
              <a:gd name="T27" fmla="*/ 1760 h 176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912" h="1760">
                <a:moveTo>
                  <a:pt x="2880" y="0"/>
                </a:moveTo>
                <a:cubicBezTo>
                  <a:pt x="2896" y="280"/>
                  <a:pt x="2912" y="560"/>
                  <a:pt x="2832" y="816"/>
                </a:cubicBezTo>
                <a:cubicBezTo>
                  <a:pt x="2752" y="1072"/>
                  <a:pt x="2544" y="1384"/>
                  <a:pt x="2400" y="1536"/>
                </a:cubicBezTo>
                <a:cubicBezTo>
                  <a:pt x="2256" y="1688"/>
                  <a:pt x="2232" y="1696"/>
                  <a:pt x="1968" y="1728"/>
                </a:cubicBezTo>
                <a:cubicBezTo>
                  <a:pt x="1704" y="1760"/>
                  <a:pt x="1064" y="1752"/>
                  <a:pt x="816" y="1728"/>
                </a:cubicBezTo>
                <a:cubicBezTo>
                  <a:pt x="568" y="1704"/>
                  <a:pt x="592" y="1672"/>
                  <a:pt x="480" y="1584"/>
                </a:cubicBezTo>
                <a:cubicBezTo>
                  <a:pt x="368" y="1496"/>
                  <a:pt x="224" y="1336"/>
                  <a:pt x="144" y="1200"/>
                </a:cubicBezTo>
                <a:cubicBezTo>
                  <a:pt x="64" y="1064"/>
                  <a:pt x="8" y="856"/>
                  <a:pt x="0" y="768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7033" name="Text Box 56"/>
          <p:cNvSpPr txBox="1">
            <a:spLocks noChangeArrowheads="1"/>
          </p:cNvSpPr>
          <p:nvPr/>
        </p:nvSpPr>
        <p:spPr bwMode="auto">
          <a:xfrm>
            <a:off x="6629400" y="762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latin typeface="Times New Roman" pitchFamily="18" charset="0"/>
              </a:rPr>
              <a:t>id</a:t>
            </a:r>
          </a:p>
        </p:txBody>
      </p:sp>
      <p:sp>
        <p:nvSpPr>
          <p:cNvPr id="127034" name="Freeform 57"/>
          <p:cNvSpPr>
            <a:spLocks/>
          </p:cNvSpPr>
          <p:nvPr/>
        </p:nvSpPr>
        <p:spPr bwMode="auto">
          <a:xfrm>
            <a:off x="520700" y="444500"/>
            <a:ext cx="8572500" cy="6248400"/>
          </a:xfrm>
          <a:custGeom>
            <a:avLst/>
            <a:gdLst>
              <a:gd name="T0" fmla="*/ 2147483647 w 5400"/>
              <a:gd name="T1" fmla="*/ 20161251 h 3936"/>
              <a:gd name="T2" fmla="*/ 2147483647 w 5400"/>
              <a:gd name="T3" fmla="*/ 20161251 h 3936"/>
              <a:gd name="T4" fmla="*/ 2147483647 w 5400"/>
              <a:gd name="T5" fmla="*/ 141128765 h 3936"/>
              <a:gd name="T6" fmla="*/ 2147483647 w 5400"/>
              <a:gd name="T7" fmla="*/ 504031323 h 3936"/>
              <a:gd name="T8" fmla="*/ 2147483647 w 5400"/>
              <a:gd name="T9" fmla="*/ 987901402 h 3936"/>
              <a:gd name="T10" fmla="*/ 2147483647 w 5400"/>
              <a:gd name="T11" fmla="*/ 1834674089 h 3936"/>
              <a:gd name="T12" fmla="*/ 2147483647 w 5400"/>
              <a:gd name="T13" fmla="*/ 2147483647 h 3936"/>
              <a:gd name="T14" fmla="*/ 2147483647 w 5400"/>
              <a:gd name="T15" fmla="*/ 2147483647 h 3936"/>
              <a:gd name="T16" fmla="*/ 2147483647 w 5400"/>
              <a:gd name="T17" fmla="*/ 2147483647 h 3936"/>
              <a:gd name="T18" fmla="*/ 383063711 w 5400"/>
              <a:gd name="T19" fmla="*/ 2147483647 h 3936"/>
              <a:gd name="T20" fmla="*/ 20161249 w 5400"/>
              <a:gd name="T21" fmla="*/ 2147483647 h 39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400"/>
              <a:gd name="T34" fmla="*/ 0 h 3936"/>
              <a:gd name="T35" fmla="*/ 5400 w 5400"/>
              <a:gd name="T36" fmla="*/ 3936 h 39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400" h="3936">
                <a:moveTo>
                  <a:pt x="3368" y="8"/>
                </a:moveTo>
                <a:cubicBezTo>
                  <a:pt x="3884" y="4"/>
                  <a:pt x="4400" y="0"/>
                  <a:pt x="4664" y="8"/>
                </a:cubicBezTo>
                <a:cubicBezTo>
                  <a:pt x="4928" y="16"/>
                  <a:pt x="4880" y="24"/>
                  <a:pt x="4952" y="56"/>
                </a:cubicBezTo>
                <a:cubicBezTo>
                  <a:pt x="5024" y="88"/>
                  <a:pt x="5056" y="144"/>
                  <a:pt x="5096" y="200"/>
                </a:cubicBezTo>
                <a:cubicBezTo>
                  <a:pt x="5136" y="256"/>
                  <a:pt x="5168" y="304"/>
                  <a:pt x="5192" y="392"/>
                </a:cubicBezTo>
                <a:cubicBezTo>
                  <a:pt x="5216" y="480"/>
                  <a:pt x="5232" y="224"/>
                  <a:pt x="5240" y="728"/>
                </a:cubicBezTo>
                <a:cubicBezTo>
                  <a:pt x="5248" y="1232"/>
                  <a:pt x="5400" y="2896"/>
                  <a:pt x="5240" y="3416"/>
                </a:cubicBezTo>
                <a:cubicBezTo>
                  <a:pt x="5080" y="3936"/>
                  <a:pt x="5000" y="3776"/>
                  <a:pt x="4280" y="3848"/>
                </a:cubicBezTo>
                <a:cubicBezTo>
                  <a:pt x="3560" y="3920"/>
                  <a:pt x="1608" y="3904"/>
                  <a:pt x="920" y="3848"/>
                </a:cubicBezTo>
                <a:cubicBezTo>
                  <a:pt x="232" y="3792"/>
                  <a:pt x="304" y="3688"/>
                  <a:pt x="152" y="3512"/>
                </a:cubicBezTo>
                <a:cubicBezTo>
                  <a:pt x="0" y="3336"/>
                  <a:pt x="24" y="2904"/>
                  <a:pt x="8" y="279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5690" name="Rectangle 58"/>
          <p:cNvSpPr>
            <a:spLocks noChangeArrowheads="1"/>
          </p:cNvSpPr>
          <p:nvPr/>
        </p:nvSpPr>
        <p:spPr bwMode="auto">
          <a:xfrm>
            <a:off x="2771775" y="2708275"/>
            <a:ext cx="5040313" cy="649288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6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FOLLOW( E ) =  { ), +, # }</a:t>
            </a:r>
            <a:endParaRPr lang="en-US" altLang="zh-CN" sz="3600" b="1">
              <a:solidFill>
                <a:schemeClr val="bg1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257" name="Group 713"/>
          <p:cNvGraphicFramePr>
            <a:graphicFrameLocks noGrp="1"/>
          </p:cNvGraphicFramePr>
          <p:nvPr>
            <p:ph sz="half" idx="1"/>
          </p:nvPr>
        </p:nvGraphicFramePr>
        <p:xfrm>
          <a:off x="142875" y="3284538"/>
          <a:ext cx="1692275" cy="1641476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FOLLOW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93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),  +,  #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T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),  +,  #,  *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3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),  +,  #,  *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9246" name="Group 702"/>
          <p:cNvGraphicFramePr>
            <a:graphicFrameLocks noGrp="1"/>
          </p:cNvGraphicFramePr>
          <p:nvPr>
            <p:ph sz="half" idx="2"/>
          </p:nvPr>
        </p:nvGraphicFramePr>
        <p:xfrm>
          <a:off x="2266950" y="404813"/>
          <a:ext cx="6218555" cy="5547360"/>
        </p:xfrm>
        <a:graphic>
          <a:graphicData uri="http://schemas.openxmlformats.org/drawingml/2006/table">
            <a:tbl>
              <a:tblPr/>
              <a:tblGrid>
                <a:gridCol w="576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92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21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1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GOTO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acc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3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28189" name="Text Box 681"/>
          <p:cNvSpPr txBox="1">
            <a:spLocks noChangeArrowheads="1"/>
          </p:cNvSpPr>
          <p:nvPr/>
        </p:nvSpPr>
        <p:spPr bwMode="auto">
          <a:xfrm>
            <a:off x="3348038" y="6092825"/>
            <a:ext cx="3527425" cy="579438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状态转移图：</a:t>
            </a:r>
            <a:r>
              <a:rPr lang="en-US" altLang="zh-CN" sz="3200" b="1">
                <a:solidFill>
                  <a:schemeClr val="bg1"/>
                </a:solidFill>
                <a:latin typeface="Times New Roman" pitchFamily="18" charset="0"/>
                <a:ea typeface="华文新魏" pitchFamily="2" charset="-122"/>
              </a:rPr>
              <a:t>P180</a:t>
            </a:r>
          </a:p>
        </p:txBody>
      </p:sp>
      <p:sp>
        <p:nvSpPr>
          <p:cNvPr id="128190" name="Rectangle 687"/>
          <p:cNvSpPr>
            <a:spLocks noChangeArrowheads="1"/>
          </p:cNvSpPr>
          <p:nvPr/>
        </p:nvSpPr>
        <p:spPr bwMode="auto">
          <a:xfrm>
            <a:off x="1906588" y="3219450"/>
            <a:ext cx="323850" cy="366713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28191" name="Rectangle 703"/>
          <p:cNvSpPr>
            <a:spLocks noChangeArrowheads="1"/>
          </p:cNvSpPr>
          <p:nvPr/>
        </p:nvSpPr>
        <p:spPr bwMode="auto">
          <a:xfrm>
            <a:off x="1908175" y="5595938"/>
            <a:ext cx="323850" cy="366712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F</a:t>
            </a:r>
          </a:p>
        </p:txBody>
      </p:sp>
      <p:sp>
        <p:nvSpPr>
          <p:cNvPr id="128192" name="Rectangle 704"/>
          <p:cNvSpPr>
            <a:spLocks noChangeArrowheads="1"/>
          </p:cNvSpPr>
          <p:nvPr/>
        </p:nvSpPr>
        <p:spPr bwMode="auto">
          <a:xfrm>
            <a:off x="1906588" y="2427288"/>
            <a:ext cx="288925" cy="366712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T</a:t>
            </a:r>
          </a:p>
        </p:txBody>
      </p:sp>
      <p:sp>
        <p:nvSpPr>
          <p:cNvPr id="128193" name="Rectangle 705"/>
          <p:cNvSpPr>
            <a:spLocks noChangeArrowheads="1"/>
          </p:cNvSpPr>
          <p:nvPr/>
        </p:nvSpPr>
        <p:spPr bwMode="auto">
          <a:xfrm>
            <a:off x="1906588" y="5164138"/>
            <a:ext cx="288925" cy="366712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T</a:t>
            </a:r>
          </a:p>
        </p:txBody>
      </p:sp>
      <p:sp>
        <p:nvSpPr>
          <p:cNvPr id="128194" name="Rectangle 706"/>
          <p:cNvSpPr>
            <a:spLocks noChangeArrowheads="1"/>
          </p:cNvSpPr>
          <p:nvPr/>
        </p:nvSpPr>
        <p:spPr bwMode="auto">
          <a:xfrm>
            <a:off x="1906588" y="4730750"/>
            <a:ext cx="288925" cy="366713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28195" name="Rectangle 707"/>
          <p:cNvSpPr>
            <a:spLocks noChangeArrowheads="1"/>
          </p:cNvSpPr>
          <p:nvPr/>
        </p:nvSpPr>
        <p:spPr bwMode="auto">
          <a:xfrm>
            <a:off x="1906588" y="1995488"/>
            <a:ext cx="288925" cy="366712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1" lang="en-US" altLang="zh-CN" b="1">
                <a:solidFill>
                  <a:schemeClr val="bg1"/>
                </a:solidFill>
                <a:latin typeface="Times New Roman" pitchFamily="18" charset="0"/>
              </a:rPr>
              <a:t>E</a:t>
            </a:r>
          </a:p>
        </p:txBody>
      </p:sp>
      <p:sp>
        <p:nvSpPr>
          <p:cNvPr id="128196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DC750245-9363-4B96-BBEC-48C806822EB4}" type="slidenum">
              <a:rPr lang="en-US" altLang="zh-CN" sz="1400"/>
              <a:pPr algn="r" eaLnBrk="1" hangingPunct="1"/>
              <a:t>100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762000"/>
            <a:ext cx="6011862" cy="914400"/>
          </a:xfrm>
        </p:spPr>
        <p:txBody>
          <a:bodyPr/>
          <a:lstStyle/>
          <a:p>
            <a:pPr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SLR(1)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分析的特点</a:t>
            </a:r>
          </a:p>
        </p:txBody>
      </p:sp>
      <p:sp>
        <p:nvSpPr>
          <p:cNvPr id="129027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916113"/>
            <a:ext cx="7142162" cy="40370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描述能力强于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LL(1)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SLR(1)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还考虑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FOLLOW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集中的符号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LL(1)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仅考虑产生式的首符号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SLR(1) </a:t>
            </a:r>
            <a:r>
              <a:rPr lang="zh-CN" altLang="en-US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文法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：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SLR(1)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分析表无冲突的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CFG</a:t>
            </a:r>
          </a:p>
        </p:txBody>
      </p:sp>
      <p:sp>
        <p:nvSpPr>
          <p:cNvPr id="12902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8C71F5D-75AB-4082-B920-9C24B90ADC0D}" type="slidenum">
              <a:rPr lang="en-US" altLang="zh-CN" smtClean="0"/>
              <a:pPr eaLnBrk="1" hangingPunct="1"/>
              <a:t>101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635000" y="838200"/>
            <a:ext cx="8308975" cy="83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SLR(1)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分析的局限性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916113"/>
            <a:ext cx="8124825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如果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SLR(1)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分析表仍有多重入口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移进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-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归约冲突或归约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-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归约冲突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，则说明该文法不是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SLR(1)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文法；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说明仅使用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LR(0)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项目集和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FOLLOW </a:t>
            </a:r>
            <a:r>
              <a:rPr lang="zh-CN" altLang="zh-CN" b="1" smtClean="0">
                <a:latin typeface="Times New Roman" pitchFamily="18" charset="0"/>
                <a:ea typeface="华文新魏" pitchFamily="2" charset="-122"/>
              </a:rPr>
              <a:t>集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还不足以分析这种文法</a:t>
            </a:r>
          </a:p>
        </p:txBody>
      </p:sp>
      <p:sp>
        <p:nvSpPr>
          <p:cNvPr id="13005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6D33403-E653-4F42-8098-57D79C668B0F}" type="slidenum">
              <a:rPr lang="en-US" altLang="zh-CN" smtClean="0"/>
              <a:pPr eaLnBrk="1" hangingPunct="1"/>
              <a:t>102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2"/>
          <p:cNvSpPr txBox="1">
            <a:spLocks noChangeArrowheads="1"/>
          </p:cNvSpPr>
          <p:nvPr/>
        </p:nvSpPr>
        <p:spPr bwMode="auto">
          <a:xfrm>
            <a:off x="381000" y="228600"/>
            <a:ext cx="1447800" cy="266065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0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S</a:t>
            </a:r>
            <a:r>
              <a:rPr lang="en-US" altLang="zh-CN" b="1"/>
              <a:t>'</a:t>
            </a:r>
            <a:r>
              <a:rPr kumimoji="1" lang="en-US" altLang="zh-CN" sz="2400" b="1">
                <a:latin typeface="Times New Roman" pitchFamily="18" charset="0"/>
              </a:rPr>
              <a:t>→.S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S→.L=R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S→.R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L→.*R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L→.id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R→.L</a:t>
            </a:r>
          </a:p>
        </p:txBody>
      </p:sp>
      <p:sp>
        <p:nvSpPr>
          <p:cNvPr id="111619" name="Text Box 3"/>
          <p:cNvSpPr txBox="1">
            <a:spLocks noChangeArrowheads="1"/>
          </p:cNvSpPr>
          <p:nvPr/>
        </p:nvSpPr>
        <p:spPr bwMode="auto">
          <a:xfrm>
            <a:off x="2819400" y="304800"/>
            <a:ext cx="1447800" cy="8350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1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S</a:t>
            </a:r>
            <a:r>
              <a:rPr lang="en-US" altLang="zh-CN" b="1"/>
              <a:t>'</a:t>
            </a:r>
            <a:r>
              <a:rPr kumimoji="1" lang="en-US" altLang="zh-CN" sz="2400" b="1">
                <a:latin typeface="Times New Roman" pitchFamily="18" charset="0"/>
              </a:rPr>
              <a:t>→S.</a:t>
            </a:r>
          </a:p>
        </p:txBody>
      </p:sp>
      <p:sp>
        <p:nvSpPr>
          <p:cNvPr id="111620" name="Line 4"/>
          <p:cNvSpPr>
            <a:spLocks noChangeShapeType="1"/>
          </p:cNvSpPr>
          <p:nvPr/>
        </p:nvSpPr>
        <p:spPr bwMode="auto">
          <a:xfrm>
            <a:off x="1828800" y="762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2895600" y="1295400"/>
            <a:ext cx="1447800" cy="120015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2</a:t>
            </a:r>
            <a:r>
              <a:rPr kumimoji="1" lang="en-US" altLang="zh-CN" sz="2400" b="1">
                <a:solidFill>
                  <a:schemeClr val="folHlink"/>
                </a:solidFill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solidFill>
                  <a:schemeClr val="hlink"/>
                </a:solidFill>
                <a:latin typeface="Times New Roman" pitchFamily="18" charset="0"/>
              </a:rPr>
              <a:t>S→L.=R</a:t>
            </a:r>
          </a:p>
          <a:p>
            <a:r>
              <a:rPr kumimoji="1" lang="en-US" altLang="zh-CN" sz="2400" b="1">
                <a:solidFill>
                  <a:schemeClr val="hlink"/>
                </a:solidFill>
                <a:latin typeface="Times New Roman" pitchFamily="18" charset="0"/>
              </a:rPr>
              <a:t>R→L.</a:t>
            </a:r>
          </a:p>
        </p:txBody>
      </p:sp>
      <p:sp>
        <p:nvSpPr>
          <p:cNvPr id="111622" name="Line 6"/>
          <p:cNvSpPr>
            <a:spLocks noChangeShapeType="1"/>
          </p:cNvSpPr>
          <p:nvPr/>
        </p:nvSpPr>
        <p:spPr bwMode="auto">
          <a:xfrm>
            <a:off x="1828800" y="18288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23" name="Text Box 7"/>
          <p:cNvSpPr txBox="1">
            <a:spLocks noChangeArrowheads="1"/>
          </p:cNvSpPr>
          <p:nvPr/>
        </p:nvSpPr>
        <p:spPr bwMode="auto">
          <a:xfrm>
            <a:off x="1905000" y="1447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L</a:t>
            </a:r>
          </a:p>
        </p:txBody>
      </p:sp>
      <p:sp>
        <p:nvSpPr>
          <p:cNvPr id="111624" name="Text Box 8"/>
          <p:cNvSpPr txBox="1">
            <a:spLocks noChangeArrowheads="1"/>
          </p:cNvSpPr>
          <p:nvPr/>
        </p:nvSpPr>
        <p:spPr bwMode="auto">
          <a:xfrm>
            <a:off x="2971800" y="2819400"/>
            <a:ext cx="1447800" cy="8350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3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S→R.</a:t>
            </a:r>
          </a:p>
        </p:txBody>
      </p:sp>
      <p:sp>
        <p:nvSpPr>
          <p:cNvPr id="111625" name="Line 9"/>
          <p:cNvSpPr>
            <a:spLocks noChangeShapeType="1"/>
          </p:cNvSpPr>
          <p:nvPr/>
        </p:nvSpPr>
        <p:spPr bwMode="auto">
          <a:xfrm>
            <a:off x="1828800" y="289560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26" name="Text Box 10"/>
          <p:cNvSpPr txBox="1">
            <a:spLocks noChangeArrowheads="1"/>
          </p:cNvSpPr>
          <p:nvPr/>
        </p:nvSpPr>
        <p:spPr bwMode="auto">
          <a:xfrm>
            <a:off x="1981200" y="2514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R</a:t>
            </a:r>
          </a:p>
        </p:txBody>
      </p:sp>
      <p:sp>
        <p:nvSpPr>
          <p:cNvPr id="111627" name="Text Box 11"/>
          <p:cNvSpPr txBox="1">
            <a:spLocks noChangeArrowheads="1"/>
          </p:cNvSpPr>
          <p:nvPr/>
        </p:nvSpPr>
        <p:spPr bwMode="auto">
          <a:xfrm>
            <a:off x="3048000" y="3962400"/>
            <a:ext cx="1447800" cy="19304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4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L→*.R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R→.L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L→.*R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L→.id</a:t>
            </a:r>
          </a:p>
        </p:txBody>
      </p:sp>
      <p:sp>
        <p:nvSpPr>
          <p:cNvPr id="111628" name="Text Box 12"/>
          <p:cNvSpPr txBox="1">
            <a:spLocks noChangeArrowheads="1"/>
          </p:cNvSpPr>
          <p:nvPr/>
        </p:nvSpPr>
        <p:spPr bwMode="auto">
          <a:xfrm>
            <a:off x="6400800" y="5689600"/>
            <a:ext cx="1447800" cy="8350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5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L→id .</a:t>
            </a:r>
          </a:p>
        </p:txBody>
      </p:sp>
      <p:sp>
        <p:nvSpPr>
          <p:cNvPr id="111629" name="Text Box 13"/>
          <p:cNvSpPr txBox="1">
            <a:spLocks noChangeArrowheads="1"/>
          </p:cNvSpPr>
          <p:nvPr/>
        </p:nvSpPr>
        <p:spPr bwMode="auto">
          <a:xfrm>
            <a:off x="1662113" y="388620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*</a:t>
            </a:r>
          </a:p>
        </p:txBody>
      </p:sp>
      <p:sp>
        <p:nvSpPr>
          <p:cNvPr id="111630" name="Freeform 14"/>
          <p:cNvSpPr>
            <a:spLocks/>
          </p:cNvSpPr>
          <p:nvPr/>
        </p:nvSpPr>
        <p:spPr bwMode="auto">
          <a:xfrm>
            <a:off x="609600" y="2895600"/>
            <a:ext cx="5791200" cy="3197225"/>
          </a:xfrm>
          <a:custGeom>
            <a:avLst/>
            <a:gdLst>
              <a:gd name="T0" fmla="*/ 0 w 3648"/>
              <a:gd name="T1" fmla="*/ 0 h 2168"/>
              <a:gd name="T2" fmla="*/ 362902502 w 3648"/>
              <a:gd name="T3" fmla="*/ 1879064179 h 2168"/>
              <a:gd name="T4" fmla="*/ 1088707605 w 3648"/>
              <a:gd name="T5" fmla="*/ 2147483647 h 2168"/>
              <a:gd name="T6" fmla="*/ 2147483647 w 3648"/>
              <a:gd name="T7" fmla="*/ 2147483647 h 2168"/>
              <a:gd name="T8" fmla="*/ 2147483647 w 3648"/>
              <a:gd name="T9" fmla="*/ 2147483647 h 2168"/>
              <a:gd name="T10" fmla="*/ 2147483647 w 3648"/>
              <a:gd name="T11" fmla="*/ 2147483647 h 2168"/>
              <a:gd name="T12" fmla="*/ 2147483647 w 3648"/>
              <a:gd name="T13" fmla="*/ 2147483647 h 21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48"/>
              <a:gd name="T22" fmla="*/ 0 h 2168"/>
              <a:gd name="T23" fmla="*/ 3648 w 3648"/>
              <a:gd name="T24" fmla="*/ 2168 h 216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48" h="2168">
                <a:moveTo>
                  <a:pt x="0" y="0"/>
                </a:moveTo>
                <a:cubicBezTo>
                  <a:pt x="36" y="312"/>
                  <a:pt x="72" y="624"/>
                  <a:pt x="144" y="864"/>
                </a:cubicBezTo>
                <a:cubicBezTo>
                  <a:pt x="216" y="1104"/>
                  <a:pt x="304" y="1264"/>
                  <a:pt x="432" y="1440"/>
                </a:cubicBezTo>
                <a:cubicBezTo>
                  <a:pt x="560" y="1616"/>
                  <a:pt x="760" y="1808"/>
                  <a:pt x="912" y="1920"/>
                </a:cubicBezTo>
                <a:cubicBezTo>
                  <a:pt x="1064" y="2032"/>
                  <a:pt x="1224" y="2072"/>
                  <a:pt x="1344" y="2112"/>
                </a:cubicBezTo>
                <a:cubicBezTo>
                  <a:pt x="1464" y="2152"/>
                  <a:pt x="1248" y="2152"/>
                  <a:pt x="1632" y="2160"/>
                </a:cubicBezTo>
                <a:cubicBezTo>
                  <a:pt x="2016" y="2168"/>
                  <a:pt x="2832" y="2164"/>
                  <a:pt x="3648" y="216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1" name="Text Box 15"/>
          <p:cNvSpPr txBox="1">
            <a:spLocks noChangeArrowheads="1"/>
          </p:cNvSpPr>
          <p:nvPr/>
        </p:nvSpPr>
        <p:spPr bwMode="auto">
          <a:xfrm>
            <a:off x="1143000" y="4724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id</a:t>
            </a:r>
          </a:p>
        </p:txBody>
      </p:sp>
      <p:sp>
        <p:nvSpPr>
          <p:cNvPr id="111632" name="Freeform 16"/>
          <p:cNvSpPr>
            <a:spLocks/>
          </p:cNvSpPr>
          <p:nvPr/>
        </p:nvSpPr>
        <p:spPr bwMode="auto">
          <a:xfrm>
            <a:off x="1219200" y="2895600"/>
            <a:ext cx="1768475" cy="1685925"/>
          </a:xfrm>
          <a:custGeom>
            <a:avLst/>
            <a:gdLst>
              <a:gd name="T0" fmla="*/ 0 w 1152"/>
              <a:gd name="T1" fmla="*/ 0 h 1296"/>
              <a:gd name="T2" fmla="*/ 339355260 w 1152"/>
              <a:gd name="T3" fmla="*/ 974740392 h 1296"/>
              <a:gd name="T4" fmla="*/ 1131185288 w 1152"/>
              <a:gd name="T5" fmla="*/ 1868252011 h 1296"/>
              <a:gd name="T6" fmla="*/ 2147483647 w 1152"/>
              <a:gd name="T7" fmla="*/ 2147483647 h 1296"/>
              <a:gd name="T8" fmla="*/ 0 60000 65536"/>
              <a:gd name="T9" fmla="*/ 0 60000 65536"/>
              <a:gd name="T10" fmla="*/ 0 60000 65536"/>
              <a:gd name="T11" fmla="*/ 0 60000 65536"/>
              <a:gd name="T12" fmla="*/ 0 w 1152"/>
              <a:gd name="T13" fmla="*/ 0 h 1296"/>
              <a:gd name="T14" fmla="*/ 1152 w 1152"/>
              <a:gd name="T15" fmla="*/ 1296 h 12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52" h="1296">
                <a:moveTo>
                  <a:pt x="0" y="0"/>
                </a:moveTo>
                <a:cubicBezTo>
                  <a:pt x="32" y="196"/>
                  <a:pt x="64" y="392"/>
                  <a:pt x="144" y="576"/>
                </a:cubicBezTo>
                <a:cubicBezTo>
                  <a:pt x="224" y="760"/>
                  <a:pt x="312" y="984"/>
                  <a:pt x="480" y="1104"/>
                </a:cubicBezTo>
                <a:cubicBezTo>
                  <a:pt x="648" y="1224"/>
                  <a:pt x="1048" y="1248"/>
                  <a:pt x="1152" y="129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3" name="Text Box 17"/>
          <p:cNvSpPr txBox="1">
            <a:spLocks noChangeArrowheads="1"/>
          </p:cNvSpPr>
          <p:nvPr/>
        </p:nvSpPr>
        <p:spPr bwMode="auto">
          <a:xfrm>
            <a:off x="5638800" y="762000"/>
            <a:ext cx="1447800" cy="19304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6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S→L=.R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R→.L L→.*R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L→.id</a:t>
            </a:r>
          </a:p>
        </p:txBody>
      </p:sp>
      <p:sp>
        <p:nvSpPr>
          <p:cNvPr id="111634" name="Line 18"/>
          <p:cNvSpPr>
            <a:spLocks noChangeShapeType="1"/>
          </p:cNvSpPr>
          <p:nvPr/>
        </p:nvSpPr>
        <p:spPr bwMode="auto">
          <a:xfrm flipV="1">
            <a:off x="4343400" y="1752600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5" name="Text Box 19"/>
          <p:cNvSpPr txBox="1">
            <a:spLocks noChangeArrowheads="1"/>
          </p:cNvSpPr>
          <p:nvPr/>
        </p:nvSpPr>
        <p:spPr bwMode="auto">
          <a:xfrm>
            <a:off x="4724400" y="1371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=</a:t>
            </a:r>
          </a:p>
        </p:txBody>
      </p:sp>
      <p:sp>
        <p:nvSpPr>
          <p:cNvPr id="111636" name="Text Box 20"/>
          <p:cNvSpPr txBox="1">
            <a:spLocks noChangeArrowheads="1"/>
          </p:cNvSpPr>
          <p:nvPr/>
        </p:nvSpPr>
        <p:spPr bwMode="auto">
          <a:xfrm>
            <a:off x="5638800" y="3432175"/>
            <a:ext cx="1447800" cy="8350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7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L→*R.</a:t>
            </a:r>
          </a:p>
        </p:txBody>
      </p:sp>
      <p:sp>
        <p:nvSpPr>
          <p:cNvPr id="111637" name="Line 21"/>
          <p:cNvSpPr>
            <a:spLocks noChangeShapeType="1"/>
          </p:cNvSpPr>
          <p:nvPr/>
        </p:nvSpPr>
        <p:spPr bwMode="auto">
          <a:xfrm>
            <a:off x="4495800" y="403860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38" name="Text Box 22"/>
          <p:cNvSpPr txBox="1">
            <a:spLocks noChangeArrowheads="1"/>
          </p:cNvSpPr>
          <p:nvPr/>
        </p:nvSpPr>
        <p:spPr bwMode="auto">
          <a:xfrm>
            <a:off x="4800600" y="3657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R</a:t>
            </a:r>
          </a:p>
        </p:txBody>
      </p:sp>
      <p:sp>
        <p:nvSpPr>
          <p:cNvPr id="111639" name="Text Box 23"/>
          <p:cNvSpPr txBox="1">
            <a:spLocks noChangeArrowheads="1"/>
          </p:cNvSpPr>
          <p:nvPr/>
        </p:nvSpPr>
        <p:spPr bwMode="auto">
          <a:xfrm>
            <a:off x="5715000" y="4572000"/>
            <a:ext cx="1447800" cy="8350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8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R→L.</a:t>
            </a:r>
          </a:p>
        </p:txBody>
      </p:sp>
      <p:sp>
        <p:nvSpPr>
          <p:cNvPr id="111640" name="Line 24"/>
          <p:cNvSpPr>
            <a:spLocks noChangeShapeType="1"/>
          </p:cNvSpPr>
          <p:nvPr/>
        </p:nvSpPr>
        <p:spPr bwMode="auto">
          <a:xfrm>
            <a:off x="4495800" y="51054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1" name="Text Box 25"/>
          <p:cNvSpPr txBox="1">
            <a:spLocks noChangeArrowheads="1"/>
          </p:cNvSpPr>
          <p:nvPr/>
        </p:nvSpPr>
        <p:spPr bwMode="auto">
          <a:xfrm>
            <a:off x="4876800" y="4724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L</a:t>
            </a:r>
          </a:p>
        </p:txBody>
      </p:sp>
      <p:sp>
        <p:nvSpPr>
          <p:cNvPr id="111642" name="Text Box 26"/>
          <p:cNvSpPr txBox="1">
            <a:spLocks noChangeArrowheads="1"/>
          </p:cNvSpPr>
          <p:nvPr/>
        </p:nvSpPr>
        <p:spPr bwMode="auto">
          <a:xfrm>
            <a:off x="7620000" y="304800"/>
            <a:ext cx="1447800" cy="8350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9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S→L=R.</a:t>
            </a:r>
          </a:p>
        </p:txBody>
      </p:sp>
      <p:sp>
        <p:nvSpPr>
          <p:cNvPr id="111643" name="Line 27"/>
          <p:cNvSpPr>
            <a:spLocks noChangeShapeType="1"/>
          </p:cNvSpPr>
          <p:nvPr/>
        </p:nvSpPr>
        <p:spPr bwMode="auto">
          <a:xfrm flipV="1">
            <a:off x="7086600" y="990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4" name="Text Box 28"/>
          <p:cNvSpPr txBox="1">
            <a:spLocks noChangeArrowheads="1"/>
          </p:cNvSpPr>
          <p:nvPr/>
        </p:nvSpPr>
        <p:spPr bwMode="auto">
          <a:xfrm>
            <a:off x="7162800" y="609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R</a:t>
            </a:r>
          </a:p>
        </p:txBody>
      </p:sp>
      <p:sp>
        <p:nvSpPr>
          <p:cNvPr id="111645" name="Line 29"/>
          <p:cNvSpPr>
            <a:spLocks noChangeShapeType="1"/>
          </p:cNvSpPr>
          <p:nvPr/>
        </p:nvSpPr>
        <p:spPr bwMode="auto">
          <a:xfrm flipH="1">
            <a:off x="4495800" y="2209800"/>
            <a:ext cx="1143000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6" name="Text Box 30"/>
          <p:cNvSpPr txBox="1">
            <a:spLocks noChangeArrowheads="1"/>
          </p:cNvSpPr>
          <p:nvPr/>
        </p:nvSpPr>
        <p:spPr bwMode="auto">
          <a:xfrm>
            <a:off x="4800600" y="2895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*</a:t>
            </a:r>
          </a:p>
        </p:txBody>
      </p:sp>
      <p:sp>
        <p:nvSpPr>
          <p:cNvPr id="111647" name="Freeform 31"/>
          <p:cNvSpPr>
            <a:spLocks/>
          </p:cNvSpPr>
          <p:nvPr/>
        </p:nvSpPr>
        <p:spPr bwMode="auto">
          <a:xfrm>
            <a:off x="7086600" y="2438400"/>
            <a:ext cx="152400" cy="2667000"/>
          </a:xfrm>
          <a:custGeom>
            <a:avLst/>
            <a:gdLst>
              <a:gd name="T0" fmla="*/ 0 w 208"/>
              <a:gd name="T1" fmla="*/ 0 h 1680"/>
              <a:gd name="T2" fmla="*/ 77304900 w 208"/>
              <a:gd name="T3" fmla="*/ 1088707580 h 1680"/>
              <a:gd name="T4" fmla="*/ 103072971 w 208"/>
              <a:gd name="T5" fmla="*/ 2147483647 h 1680"/>
              <a:gd name="T6" fmla="*/ 25768060 w 208"/>
              <a:gd name="T7" fmla="*/ 2147483647 h 1680"/>
              <a:gd name="T8" fmla="*/ 0 60000 65536"/>
              <a:gd name="T9" fmla="*/ 0 60000 65536"/>
              <a:gd name="T10" fmla="*/ 0 60000 65536"/>
              <a:gd name="T11" fmla="*/ 0 60000 65536"/>
              <a:gd name="T12" fmla="*/ 0 w 208"/>
              <a:gd name="T13" fmla="*/ 0 h 1680"/>
              <a:gd name="T14" fmla="*/ 208 w 208"/>
              <a:gd name="T15" fmla="*/ 1680 h 16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8" h="1680">
                <a:moveTo>
                  <a:pt x="0" y="0"/>
                </a:moveTo>
                <a:cubicBezTo>
                  <a:pt x="56" y="132"/>
                  <a:pt x="112" y="264"/>
                  <a:pt x="144" y="432"/>
                </a:cubicBezTo>
                <a:cubicBezTo>
                  <a:pt x="176" y="600"/>
                  <a:pt x="208" y="800"/>
                  <a:pt x="192" y="1008"/>
                </a:cubicBezTo>
                <a:cubicBezTo>
                  <a:pt x="176" y="1216"/>
                  <a:pt x="112" y="1448"/>
                  <a:pt x="48" y="168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48" name="Text Box 32"/>
          <p:cNvSpPr txBox="1">
            <a:spLocks noChangeArrowheads="1"/>
          </p:cNvSpPr>
          <p:nvPr/>
        </p:nvSpPr>
        <p:spPr bwMode="auto">
          <a:xfrm>
            <a:off x="71628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L</a:t>
            </a:r>
          </a:p>
        </p:txBody>
      </p:sp>
      <p:sp>
        <p:nvSpPr>
          <p:cNvPr id="111649" name="Freeform 33"/>
          <p:cNvSpPr>
            <a:spLocks/>
          </p:cNvSpPr>
          <p:nvPr/>
        </p:nvSpPr>
        <p:spPr bwMode="auto">
          <a:xfrm>
            <a:off x="7086600" y="1676400"/>
            <a:ext cx="381000" cy="3984625"/>
          </a:xfrm>
          <a:custGeom>
            <a:avLst/>
            <a:gdLst>
              <a:gd name="T0" fmla="*/ 0 w 656"/>
              <a:gd name="T1" fmla="*/ 0 h 2592"/>
              <a:gd name="T2" fmla="*/ 178105310 w 656"/>
              <a:gd name="T3" fmla="*/ 1701521090 h 2592"/>
              <a:gd name="T4" fmla="*/ 210487974 w 656"/>
              <a:gd name="T5" fmla="*/ 2147483647 h 2592"/>
              <a:gd name="T6" fmla="*/ 113339363 w 656"/>
              <a:gd name="T7" fmla="*/ 2147483647 h 2592"/>
              <a:gd name="T8" fmla="*/ 0 60000 65536"/>
              <a:gd name="T9" fmla="*/ 0 60000 65536"/>
              <a:gd name="T10" fmla="*/ 0 60000 65536"/>
              <a:gd name="T11" fmla="*/ 0 60000 65536"/>
              <a:gd name="T12" fmla="*/ 0 w 656"/>
              <a:gd name="T13" fmla="*/ 0 h 2592"/>
              <a:gd name="T14" fmla="*/ 656 w 656"/>
              <a:gd name="T15" fmla="*/ 2592 h 25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56" h="2592">
                <a:moveTo>
                  <a:pt x="0" y="0"/>
                </a:moveTo>
                <a:cubicBezTo>
                  <a:pt x="212" y="224"/>
                  <a:pt x="424" y="448"/>
                  <a:pt x="528" y="720"/>
                </a:cubicBezTo>
                <a:cubicBezTo>
                  <a:pt x="632" y="992"/>
                  <a:pt x="656" y="1320"/>
                  <a:pt x="624" y="1632"/>
                </a:cubicBezTo>
                <a:cubicBezTo>
                  <a:pt x="592" y="1944"/>
                  <a:pt x="464" y="2268"/>
                  <a:pt x="336" y="259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650" name="Text Box 34"/>
          <p:cNvSpPr txBox="1">
            <a:spLocks noChangeArrowheads="1"/>
          </p:cNvSpPr>
          <p:nvPr/>
        </p:nvSpPr>
        <p:spPr bwMode="auto">
          <a:xfrm>
            <a:off x="7467600" y="4572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id</a:t>
            </a:r>
          </a:p>
        </p:txBody>
      </p:sp>
      <p:sp>
        <p:nvSpPr>
          <p:cNvPr id="111651" name="Text Box 35"/>
          <p:cNvSpPr txBox="1">
            <a:spLocks noChangeArrowheads="1"/>
          </p:cNvSpPr>
          <p:nvPr/>
        </p:nvSpPr>
        <p:spPr bwMode="auto">
          <a:xfrm>
            <a:off x="1905000" y="381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S</a:t>
            </a: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2339975" y="4724400"/>
            <a:ext cx="719138" cy="1081088"/>
            <a:chOff x="1474" y="3203"/>
            <a:chExt cx="499" cy="454"/>
          </a:xfrm>
        </p:grpSpPr>
        <p:sp>
          <p:nvSpPr>
            <p:cNvPr id="131118" name="Rectangle 38"/>
            <p:cNvSpPr>
              <a:spLocks noChangeArrowheads="1"/>
            </p:cNvSpPr>
            <p:nvPr/>
          </p:nvSpPr>
          <p:spPr bwMode="auto">
            <a:xfrm>
              <a:off x="1474" y="3294"/>
              <a:ext cx="227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131119" name="Freeform 39"/>
            <p:cNvSpPr>
              <a:spLocks/>
            </p:cNvSpPr>
            <p:nvPr/>
          </p:nvSpPr>
          <p:spPr bwMode="auto">
            <a:xfrm rot="480862">
              <a:off x="1656" y="3203"/>
              <a:ext cx="317" cy="454"/>
            </a:xfrm>
            <a:custGeom>
              <a:avLst/>
              <a:gdLst>
                <a:gd name="T0" fmla="*/ 428 w 235"/>
                <a:gd name="T1" fmla="*/ 568 h 363"/>
                <a:gd name="T2" fmla="*/ 15 w 235"/>
                <a:gd name="T3" fmla="*/ 285 h 363"/>
                <a:gd name="T4" fmla="*/ 344 w 235"/>
                <a:gd name="T5" fmla="*/ 0 h 363"/>
                <a:gd name="T6" fmla="*/ 0 60000 65536"/>
                <a:gd name="T7" fmla="*/ 0 60000 65536"/>
                <a:gd name="T8" fmla="*/ 0 60000 65536"/>
                <a:gd name="T9" fmla="*/ 0 w 235"/>
                <a:gd name="T10" fmla="*/ 0 h 363"/>
                <a:gd name="T11" fmla="*/ 235 w 235"/>
                <a:gd name="T12" fmla="*/ 363 h 3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" h="363">
                  <a:moveTo>
                    <a:pt x="235" y="363"/>
                  </a:moveTo>
                  <a:cubicBezTo>
                    <a:pt x="125" y="302"/>
                    <a:pt x="16" y="242"/>
                    <a:pt x="8" y="182"/>
                  </a:cubicBezTo>
                  <a:cubicBezTo>
                    <a:pt x="0" y="122"/>
                    <a:pt x="151" y="30"/>
                    <a:pt x="189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1661" name="Rectangle 45"/>
          <p:cNvSpPr>
            <a:spLocks noChangeArrowheads="1"/>
          </p:cNvSpPr>
          <p:nvPr/>
        </p:nvSpPr>
        <p:spPr bwMode="auto">
          <a:xfrm>
            <a:off x="1511300" y="2781300"/>
            <a:ext cx="5113338" cy="76200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en-US" altLang="zh-CN" sz="4400" b="1">
                <a:solidFill>
                  <a:schemeClr val="bg1"/>
                </a:solidFill>
                <a:latin typeface="Times New Roman" pitchFamily="18" charset="0"/>
              </a:rPr>
              <a:t>= </a:t>
            </a:r>
            <a:r>
              <a:rPr lang="en-US" altLang="zh-CN" sz="4400" b="1">
                <a:solidFill>
                  <a:schemeClr val="bg1"/>
                </a:solidFill>
                <a:latin typeface="Times New Roman" pitchFamily="18" charset="0"/>
              </a:rPr>
              <a:t>∈FOLLOW(R)</a:t>
            </a:r>
            <a:endParaRPr lang="en-US" altLang="zh-CN" sz="4400">
              <a:solidFill>
                <a:schemeClr val="bg1"/>
              </a:solidFill>
              <a:latin typeface="Times New Roman" pitchFamily="18" charset="0"/>
            </a:endParaRPr>
          </a:p>
        </p:txBody>
      </p:sp>
      <p:grpSp>
        <p:nvGrpSpPr>
          <p:cNvPr id="3" name="Group 47"/>
          <p:cNvGrpSpPr>
            <a:grpSpLocks/>
          </p:cNvGrpSpPr>
          <p:nvPr/>
        </p:nvGrpSpPr>
        <p:grpSpPr bwMode="auto">
          <a:xfrm>
            <a:off x="4500563" y="5734050"/>
            <a:ext cx="1871662" cy="396875"/>
            <a:chOff x="2835" y="3612"/>
            <a:chExt cx="1179" cy="250"/>
          </a:xfrm>
        </p:grpSpPr>
        <p:sp>
          <p:nvSpPr>
            <p:cNvPr id="131116" name="Rectangle 42"/>
            <p:cNvSpPr>
              <a:spLocks noChangeArrowheads="1"/>
            </p:cNvSpPr>
            <p:nvPr/>
          </p:nvSpPr>
          <p:spPr bwMode="auto">
            <a:xfrm>
              <a:off x="3288" y="3612"/>
              <a:ext cx="3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131117" name="Line 46"/>
            <p:cNvSpPr>
              <a:spLocks noChangeShapeType="1"/>
            </p:cNvSpPr>
            <p:nvPr/>
          </p:nvSpPr>
          <p:spPr bwMode="auto">
            <a:xfrm>
              <a:off x="2835" y="3657"/>
              <a:ext cx="117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1111" name="Text Box 49"/>
          <p:cNvSpPr txBox="1">
            <a:spLocks noChangeArrowheads="1"/>
          </p:cNvSpPr>
          <p:nvPr/>
        </p:nvSpPr>
        <p:spPr bwMode="auto">
          <a:xfrm>
            <a:off x="7775575" y="2133600"/>
            <a:ext cx="1368425" cy="243205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35000"/>
              </a:spcBef>
            </a:pP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S→L=R</a:t>
            </a:r>
          </a:p>
          <a:p>
            <a:pPr eaLnBrk="1" hangingPunct="1">
              <a:spcBef>
                <a:spcPct val="35000"/>
              </a:spcBef>
            </a:pP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S→R</a:t>
            </a:r>
          </a:p>
          <a:p>
            <a:pPr eaLnBrk="1" hangingPunct="1">
              <a:spcBef>
                <a:spcPct val="35000"/>
              </a:spcBef>
            </a:pP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L→*R</a:t>
            </a:r>
          </a:p>
          <a:p>
            <a:pPr eaLnBrk="1" hangingPunct="1">
              <a:spcBef>
                <a:spcPct val="35000"/>
              </a:spcBef>
            </a:pP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L→id</a:t>
            </a:r>
          </a:p>
          <a:p>
            <a:pPr eaLnBrk="1" hangingPunct="1">
              <a:spcBef>
                <a:spcPct val="35000"/>
              </a:spcBef>
            </a:pP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</a:rPr>
              <a:t>R→L</a:t>
            </a:r>
          </a:p>
        </p:txBody>
      </p:sp>
      <p:sp>
        <p:nvSpPr>
          <p:cNvPr id="111666" name="Rectangle 50"/>
          <p:cNvSpPr>
            <a:spLocks noChangeArrowheads="1"/>
          </p:cNvSpPr>
          <p:nvPr/>
        </p:nvSpPr>
        <p:spPr bwMode="auto">
          <a:xfrm>
            <a:off x="323850" y="6175375"/>
            <a:ext cx="2278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tx2"/>
                </a:solidFill>
                <a:latin typeface="Times New Roman" pitchFamily="18" charset="0"/>
              </a:rPr>
              <a:t>FOLLOW(R)</a:t>
            </a:r>
          </a:p>
        </p:txBody>
      </p:sp>
      <p:sp>
        <p:nvSpPr>
          <p:cNvPr id="111667" name="Rectangle 51"/>
          <p:cNvSpPr>
            <a:spLocks noChangeArrowheads="1"/>
          </p:cNvSpPr>
          <p:nvPr/>
        </p:nvSpPr>
        <p:spPr bwMode="auto">
          <a:xfrm>
            <a:off x="2484438" y="6165850"/>
            <a:ext cx="1062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tx2"/>
                </a:solidFill>
                <a:latin typeface="Times New Roman" pitchFamily="18" charset="0"/>
              </a:rPr>
              <a:t>={#</a:t>
            </a:r>
            <a:r>
              <a:rPr lang="zh-CN" altLang="en-US" sz="2800" b="1">
                <a:solidFill>
                  <a:schemeClr val="tx2"/>
                </a:solidFill>
                <a:latin typeface="Times New Roman" pitchFamily="18" charset="0"/>
              </a:rPr>
              <a:t>，</a:t>
            </a:r>
          </a:p>
        </p:txBody>
      </p:sp>
      <p:sp>
        <p:nvSpPr>
          <p:cNvPr id="111668" name="Rectangle 52"/>
          <p:cNvSpPr>
            <a:spLocks noChangeArrowheads="1"/>
          </p:cNvSpPr>
          <p:nvPr/>
        </p:nvSpPr>
        <p:spPr bwMode="auto">
          <a:xfrm>
            <a:off x="3348038" y="6180138"/>
            <a:ext cx="527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tx2"/>
                </a:solidFill>
                <a:latin typeface="Times New Roman" pitchFamily="18" charset="0"/>
              </a:rPr>
              <a:t>=}</a:t>
            </a:r>
          </a:p>
        </p:txBody>
      </p:sp>
      <p:sp>
        <p:nvSpPr>
          <p:cNvPr id="131115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B461499F-713D-4564-BE68-5B6823936FFE}" type="slidenum">
              <a:rPr lang="en-US" altLang="zh-CN" sz="1400"/>
              <a:pPr algn="r" eaLnBrk="1" hangingPunct="1"/>
              <a:t>103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134225" cy="1143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SLR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分析中的冲突</a:t>
            </a:r>
            <a:r>
              <a:rPr lang="en-US" altLang="zh-CN" sz="20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000" b="1" smtClean="0">
                <a:latin typeface="Times New Roman" pitchFamily="18" charset="0"/>
                <a:ea typeface="华文新魏" pitchFamily="2" charset="-122"/>
              </a:rPr>
              <a:t>更强的分析方法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916113"/>
            <a:ext cx="7777163" cy="4419600"/>
          </a:xfrm>
        </p:spPr>
        <p:txBody>
          <a:bodyPr lIns="92075" tIns="46038" rIns="92075" bIns="46038"/>
          <a:lstStyle/>
          <a:p>
            <a:pPr eaLnBrk="1" hangingPunct="1"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={S → L.=R, R → L. }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输入符号为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=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时，出现了移进归约冲突：</a:t>
            </a:r>
          </a:p>
          <a:p>
            <a:pPr eaLnBrk="1" hangingPunct="1"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  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S → L .=R ∈ 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且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go(I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,=)=I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6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</a:t>
            </a:r>
          </a:p>
          <a:p>
            <a:pPr eaLnBrk="1" hangingPunct="1"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  	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action[2,=] = Shift 6</a:t>
            </a:r>
          </a:p>
          <a:p>
            <a:pPr eaLnBrk="1" hangingPunct="1"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R → L . ∈ 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且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=∈FOLLOW(R)={=,# }</a:t>
            </a:r>
          </a:p>
          <a:p>
            <a:pPr eaLnBrk="1" hangingPunct="1">
              <a:spcBef>
                <a:spcPct val="30000"/>
              </a:spcBef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		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	action[2,=] = Reduce R → L</a:t>
            </a:r>
          </a:p>
          <a:p>
            <a:pPr eaLnBrk="1" hangingPunct="1">
              <a:spcBef>
                <a:spcPct val="3000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说明该文法不是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SLR(1)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文法，分析这种文法需要更多的信息</a:t>
            </a:r>
          </a:p>
        </p:txBody>
      </p:sp>
      <p:sp>
        <p:nvSpPr>
          <p:cNvPr id="13210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14C4263-82D1-428C-9008-385417D1488D}" type="slidenum">
              <a:rPr lang="en-US" altLang="zh-CN" smtClean="0"/>
              <a:pPr eaLnBrk="1" hangingPunct="1"/>
              <a:t>104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1D39A7A5-8E99-469F-84DF-627E60BFC8F3}" type="slidenum">
              <a:rPr lang="en-US" altLang="zh-CN" sz="1400"/>
              <a:pPr algn="r" eaLnBrk="1" hangingPunct="1"/>
              <a:t>105</a:t>
            </a:fld>
            <a:endParaRPr lang="en-US" altLang="zh-CN" sz="1400"/>
          </a:p>
        </p:txBody>
      </p:sp>
      <p:sp>
        <p:nvSpPr>
          <p:cNvPr id="133123" name="Rectangle 35"/>
          <p:cNvSpPr>
            <a:spLocks noChangeArrowheads="1"/>
          </p:cNvSpPr>
          <p:nvPr/>
        </p:nvSpPr>
        <p:spPr bwMode="auto">
          <a:xfrm>
            <a:off x="0" y="4248150"/>
            <a:ext cx="1339850" cy="191770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S→L=R</a:t>
            </a:r>
          </a:p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S→R</a:t>
            </a:r>
          </a:p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L→*R</a:t>
            </a:r>
          </a:p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L→id</a:t>
            </a:r>
          </a:p>
          <a:p>
            <a:pPr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</a:rPr>
              <a:t>R→L</a:t>
            </a:r>
          </a:p>
        </p:txBody>
      </p:sp>
      <p:sp>
        <p:nvSpPr>
          <p:cNvPr id="133124" name="Text Box 2"/>
          <p:cNvSpPr txBox="1">
            <a:spLocks noChangeArrowheads="1"/>
          </p:cNvSpPr>
          <p:nvPr/>
        </p:nvSpPr>
        <p:spPr bwMode="auto">
          <a:xfrm>
            <a:off x="381000" y="228600"/>
            <a:ext cx="1447800" cy="266065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0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S</a:t>
            </a:r>
            <a:r>
              <a:rPr lang="en-US" altLang="zh-CN" b="1"/>
              <a:t>'</a:t>
            </a:r>
            <a:r>
              <a:rPr kumimoji="1" lang="en-US" altLang="zh-CN" sz="2400" b="1">
                <a:latin typeface="Times New Roman" pitchFamily="18" charset="0"/>
              </a:rPr>
              <a:t>→.S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S→.L=R</a:t>
            </a:r>
          </a:p>
          <a:p>
            <a:r>
              <a:rPr kumimoji="1" lang="en-US" altLang="zh-CN" sz="2400" b="1">
                <a:solidFill>
                  <a:srgbClr val="FF3399"/>
                </a:solidFill>
                <a:latin typeface="Times New Roman" pitchFamily="18" charset="0"/>
              </a:rPr>
              <a:t>S→.R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L→.*R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L→.id</a:t>
            </a:r>
          </a:p>
          <a:p>
            <a:r>
              <a:rPr kumimoji="1" lang="en-US" altLang="zh-CN" sz="2400" b="1">
                <a:solidFill>
                  <a:srgbClr val="FF3399"/>
                </a:solidFill>
                <a:latin typeface="Times New Roman" pitchFamily="18" charset="0"/>
              </a:rPr>
              <a:t>R→.L</a:t>
            </a:r>
          </a:p>
        </p:txBody>
      </p:sp>
      <p:sp>
        <p:nvSpPr>
          <p:cNvPr id="133125" name="Text Box 3"/>
          <p:cNvSpPr txBox="1">
            <a:spLocks noChangeArrowheads="1"/>
          </p:cNvSpPr>
          <p:nvPr/>
        </p:nvSpPr>
        <p:spPr bwMode="auto">
          <a:xfrm>
            <a:off x="2819400" y="304800"/>
            <a:ext cx="1447800" cy="8350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1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S</a:t>
            </a:r>
            <a:r>
              <a:rPr lang="en-US" altLang="zh-CN" b="1"/>
              <a:t>'</a:t>
            </a:r>
            <a:r>
              <a:rPr kumimoji="1" lang="en-US" altLang="zh-CN" sz="2400" b="1">
                <a:latin typeface="Times New Roman" pitchFamily="18" charset="0"/>
              </a:rPr>
              <a:t>→S.</a:t>
            </a:r>
          </a:p>
        </p:txBody>
      </p:sp>
      <p:sp>
        <p:nvSpPr>
          <p:cNvPr id="133126" name="Line 4"/>
          <p:cNvSpPr>
            <a:spLocks noChangeShapeType="1"/>
          </p:cNvSpPr>
          <p:nvPr/>
        </p:nvSpPr>
        <p:spPr bwMode="auto">
          <a:xfrm>
            <a:off x="1828800" y="7620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27" name="Text Box 5"/>
          <p:cNvSpPr txBox="1">
            <a:spLocks noChangeArrowheads="1"/>
          </p:cNvSpPr>
          <p:nvPr/>
        </p:nvSpPr>
        <p:spPr bwMode="auto">
          <a:xfrm>
            <a:off x="2895600" y="1295400"/>
            <a:ext cx="1447800" cy="120015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2</a:t>
            </a:r>
            <a:r>
              <a:rPr kumimoji="1" lang="en-US" altLang="zh-CN" sz="2400" b="1">
                <a:solidFill>
                  <a:schemeClr val="folHlink"/>
                </a:solidFill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solidFill>
                  <a:schemeClr val="hlink"/>
                </a:solidFill>
                <a:latin typeface="Times New Roman" pitchFamily="18" charset="0"/>
              </a:rPr>
              <a:t>S→L.=R</a:t>
            </a:r>
          </a:p>
          <a:p>
            <a:r>
              <a:rPr kumimoji="1" lang="en-US" altLang="zh-CN" sz="2400" b="1">
                <a:solidFill>
                  <a:srgbClr val="FF3399"/>
                </a:solidFill>
                <a:latin typeface="Times New Roman" pitchFamily="18" charset="0"/>
              </a:rPr>
              <a:t>R→L.</a:t>
            </a:r>
          </a:p>
        </p:txBody>
      </p:sp>
      <p:sp>
        <p:nvSpPr>
          <p:cNvPr id="133128" name="Line 6"/>
          <p:cNvSpPr>
            <a:spLocks noChangeShapeType="1"/>
          </p:cNvSpPr>
          <p:nvPr/>
        </p:nvSpPr>
        <p:spPr bwMode="auto">
          <a:xfrm>
            <a:off x="1828800" y="18288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29" name="Text Box 7"/>
          <p:cNvSpPr txBox="1">
            <a:spLocks noChangeArrowheads="1"/>
          </p:cNvSpPr>
          <p:nvPr/>
        </p:nvSpPr>
        <p:spPr bwMode="auto">
          <a:xfrm>
            <a:off x="1905000" y="1447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L</a:t>
            </a:r>
          </a:p>
        </p:txBody>
      </p:sp>
      <p:sp>
        <p:nvSpPr>
          <p:cNvPr id="133130" name="Text Box 8"/>
          <p:cNvSpPr txBox="1">
            <a:spLocks noChangeArrowheads="1"/>
          </p:cNvSpPr>
          <p:nvPr/>
        </p:nvSpPr>
        <p:spPr bwMode="auto">
          <a:xfrm>
            <a:off x="2971800" y="2819400"/>
            <a:ext cx="1447800" cy="8350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3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S→R.</a:t>
            </a:r>
          </a:p>
        </p:txBody>
      </p:sp>
      <p:sp>
        <p:nvSpPr>
          <p:cNvPr id="133131" name="Line 9"/>
          <p:cNvSpPr>
            <a:spLocks noChangeShapeType="1"/>
          </p:cNvSpPr>
          <p:nvPr/>
        </p:nvSpPr>
        <p:spPr bwMode="auto">
          <a:xfrm>
            <a:off x="1828800" y="289560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32" name="Text Box 10"/>
          <p:cNvSpPr txBox="1">
            <a:spLocks noChangeArrowheads="1"/>
          </p:cNvSpPr>
          <p:nvPr/>
        </p:nvSpPr>
        <p:spPr bwMode="auto">
          <a:xfrm>
            <a:off x="1981200" y="25146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R</a:t>
            </a:r>
          </a:p>
        </p:txBody>
      </p:sp>
      <p:sp>
        <p:nvSpPr>
          <p:cNvPr id="133133" name="Text Box 11"/>
          <p:cNvSpPr txBox="1">
            <a:spLocks noChangeArrowheads="1"/>
          </p:cNvSpPr>
          <p:nvPr/>
        </p:nvSpPr>
        <p:spPr bwMode="auto">
          <a:xfrm>
            <a:off x="3048000" y="3962400"/>
            <a:ext cx="1447800" cy="19304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4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L→*.R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R→.L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L→.*R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L→.id</a:t>
            </a:r>
          </a:p>
        </p:txBody>
      </p:sp>
      <p:sp>
        <p:nvSpPr>
          <p:cNvPr id="133134" name="Text Box 12"/>
          <p:cNvSpPr txBox="1">
            <a:spLocks noChangeArrowheads="1"/>
          </p:cNvSpPr>
          <p:nvPr/>
        </p:nvSpPr>
        <p:spPr bwMode="auto">
          <a:xfrm>
            <a:off x="7524750" y="5949950"/>
            <a:ext cx="1447800" cy="8350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5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L→id .</a:t>
            </a:r>
          </a:p>
        </p:txBody>
      </p:sp>
      <p:sp>
        <p:nvSpPr>
          <p:cNvPr id="133135" name="Text Box 13"/>
          <p:cNvSpPr txBox="1">
            <a:spLocks noChangeArrowheads="1"/>
          </p:cNvSpPr>
          <p:nvPr/>
        </p:nvSpPr>
        <p:spPr bwMode="auto">
          <a:xfrm>
            <a:off x="1524000" y="364490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3200" b="1">
                <a:latin typeface="Times New Roman" pitchFamily="18" charset="0"/>
              </a:rPr>
              <a:t>*</a:t>
            </a:r>
          </a:p>
        </p:txBody>
      </p:sp>
      <p:sp>
        <p:nvSpPr>
          <p:cNvPr id="133136" name="Freeform 14"/>
          <p:cNvSpPr>
            <a:spLocks/>
          </p:cNvSpPr>
          <p:nvPr/>
        </p:nvSpPr>
        <p:spPr bwMode="auto">
          <a:xfrm>
            <a:off x="609600" y="2895600"/>
            <a:ext cx="6915150" cy="3270250"/>
          </a:xfrm>
          <a:custGeom>
            <a:avLst/>
            <a:gdLst>
              <a:gd name="T0" fmla="*/ 0 w 3648"/>
              <a:gd name="T1" fmla="*/ 0 h 2168"/>
              <a:gd name="T2" fmla="*/ 517434538 w 3648"/>
              <a:gd name="T3" fmla="*/ 1965880186 h 2168"/>
              <a:gd name="T4" fmla="*/ 1552305272 w 3648"/>
              <a:gd name="T5" fmla="*/ 2147483647 h 2168"/>
              <a:gd name="T6" fmla="*/ 2147483647 w 3648"/>
              <a:gd name="T7" fmla="*/ 2147483647 h 2168"/>
              <a:gd name="T8" fmla="*/ 2147483647 w 3648"/>
              <a:gd name="T9" fmla="*/ 2147483647 h 2168"/>
              <a:gd name="T10" fmla="*/ 2147483647 w 3648"/>
              <a:gd name="T11" fmla="*/ 2147483647 h 2168"/>
              <a:gd name="T12" fmla="*/ 2147483647 w 3648"/>
              <a:gd name="T13" fmla="*/ 2147483647 h 216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648"/>
              <a:gd name="T22" fmla="*/ 0 h 2168"/>
              <a:gd name="T23" fmla="*/ 3648 w 3648"/>
              <a:gd name="T24" fmla="*/ 2168 h 216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648" h="2168">
                <a:moveTo>
                  <a:pt x="0" y="0"/>
                </a:moveTo>
                <a:cubicBezTo>
                  <a:pt x="36" y="312"/>
                  <a:pt x="72" y="624"/>
                  <a:pt x="144" y="864"/>
                </a:cubicBezTo>
                <a:cubicBezTo>
                  <a:pt x="216" y="1104"/>
                  <a:pt x="304" y="1264"/>
                  <a:pt x="432" y="1440"/>
                </a:cubicBezTo>
                <a:cubicBezTo>
                  <a:pt x="560" y="1616"/>
                  <a:pt x="760" y="1808"/>
                  <a:pt x="912" y="1920"/>
                </a:cubicBezTo>
                <a:cubicBezTo>
                  <a:pt x="1064" y="2032"/>
                  <a:pt x="1224" y="2072"/>
                  <a:pt x="1344" y="2112"/>
                </a:cubicBezTo>
                <a:cubicBezTo>
                  <a:pt x="1464" y="2152"/>
                  <a:pt x="1248" y="2152"/>
                  <a:pt x="1632" y="2160"/>
                </a:cubicBezTo>
                <a:cubicBezTo>
                  <a:pt x="2016" y="2168"/>
                  <a:pt x="2832" y="2164"/>
                  <a:pt x="3648" y="216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37" name="Text Box 15"/>
          <p:cNvSpPr txBox="1">
            <a:spLocks noChangeArrowheads="1"/>
          </p:cNvSpPr>
          <p:nvPr/>
        </p:nvSpPr>
        <p:spPr bwMode="auto">
          <a:xfrm>
            <a:off x="1258888" y="4652963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id</a:t>
            </a:r>
          </a:p>
        </p:txBody>
      </p:sp>
      <p:sp>
        <p:nvSpPr>
          <p:cNvPr id="133138" name="Freeform 16"/>
          <p:cNvSpPr>
            <a:spLocks/>
          </p:cNvSpPr>
          <p:nvPr/>
        </p:nvSpPr>
        <p:spPr bwMode="auto">
          <a:xfrm>
            <a:off x="1219200" y="2895600"/>
            <a:ext cx="1768475" cy="1685925"/>
          </a:xfrm>
          <a:custGeom>
            <a:avLst/>
            <a:gdLst>
              <a:gd name="T0" fmla="*/ 0 w 1152"/>
              <a:gd name="T1" fmla="*/ 0 h 1296"/>
              <a:gd name="T2" fmla="*/ 339355260 w 1152"/>
              <a:gd name="T3" fmla="*/ 974740392 h 1296"/>
              <a:gd name="T4" fmla="*/ 1131185288 w 1152"/>
              <a:gd name="T5" fmla="*/ 1868252011 h 1296"/>
              <a:gd name="T6" fmla="*/ 2147483647 w 1152"/>
              <a:gd name="T7" fmla="*/ 2147483647 h 1296"/>
              <a:gd name="T8" fmla="*/ 0 60000 65536"/>
              <a:gd name="T9" fmla="*/ 0 60000 65536"/>
              <a:gd name="T10" fmla="*/ 0 60000 65536"/>
              <a:gd name="T11" fmla="*/ 0 60000 65536"/>
              <a:gd name="T12" fmla="*/ 0 w 1152"/>
              <a:gd name="T13" fmla="*/ 0 h 1296"/>
              <a:gd name="T14" fmla="*/ 1152 w 1152"/>
              <a:gd name="T15" fmla="*/ 1296 h 12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52" h="1296">
                <a:moveTo>
                  <a:pt x="0" y="0"/>
                </a:moveTo>
                <a:cubicBezTo>
                  <a:pt x="32" y="196"/>
                  <a:pt x="64" y="392"/>
                  <a:pt x="144" y="576"/>
                </a:cubicBezTo>
                <a:cubicBezTo>
                  <a:pt x="224" y="760"/>
                  <a:pt x="312" y="984"/>
                  <a:pt x="480" y="1104"/>
                </a:cubicBezTo>
                <a:cubicBezTo>
                  <a:pt x="648" y="1224"/>
                  <a:pt x="1048" y="1248"/>
                  <a:pt x="1152" y="1296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39" name="Text Box 17"/>
          <p:cNvSpPr txBox="1">
            <a:spLocks noChangeArrowheads="1"/>
          </p:cNvSpPr>
          <p:nvPr/>
        </p:nvSpPr>
        <p:spPr bwMode="auto">
          <a:xfrm>
            <a:off x="5435600" y="762000"/>
            <a:ext cx="1447800" cy="193040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6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S→L=.R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R→.L L→.*R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L→.id</a:t>
            </a:r>
          </a:p>
        </p:txBody>
      </p:sp>
      <p:sp>
        <p:nvSpPr>
          <p:cNvPr id="133140" name="Line 18"/>
          <p:cNvSpPr>
            <a:spLocks noChangeShapeType="1"/>
          </p:cNvSpPr>
          <p:nvPr/>
        </p:nvSpPr>
        <p:spPr bwMode="auto">
          <a:xfrm>
            <a:off x="4356100" y="1773238"/>
            <a:ext cx="10795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41" name="Text Box 19"/>
          <p:cNvSpPr txBox="1">
            <a:spLocks noChangeArrowheads="1"/>
          </p:cNvSpPr>
          <p:nvPr/>
        </p:nvSpPr>
        <p:spPr bwMode="auto">
          <a:xfrm>
            <a:off x="4724400" y="1371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=</a:t>
            </a:r>
          </a:p>
        </p:txBody>
      </p:sp>
      <p:sp>
        <p:nvSpPr>
          <p:cNvPr id="133142" name="Text Box 20"/>
          <p:cNvSpPr txBox="1">
            <a:spLocks noChangeArrowheads="1"/>
          </p:cNvSpPr>
          <p:nvPr/>
        </p:nvSpPr>
        <p:spPr bwMode="auto">
          <a:xfrm>
            <a:off x="5435600" y="3432175"/>
            <a:ext cx="1447800" cy="8350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7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L→*R.</a:t>
            </a:r>
          </a:p>
        </p:txBody>
      </p:sp>
      <p:sp>
        <p:nvSpPr>
          <p:cNvPr id="133143" name="Line 21"/>
          <p:cNvSpPr>
            <a:spLocks noChangeShapeType="1"/>
          </p:cNvSpPr>
          <p:nvPr/>
        </p:nvSpPr>
        <p:spPr bwMode="auto">
          <a:xfrm>
            <a:off x="4500563" y="4076700"/>
            <a:ext cx="863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44" name="Text Box 22"/>
          <p:cNvSpPr txBox="1">
            <a:spLocks noChangeArrowheads="1"/>
          </p:cNvSpPr>
          <p:nvPr/>
        </p:nvSpPr>
        <p:spPr bwMode="auto">
          <a:xfrm>
            <a:off x="4800600" y="3657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R</a:t>
            </a:r>
          </a:p>
        </p:txBody>
      </p:sp>
      <p:sp>
        <p:nvSpPr>
          <p:cNvPr id="133145" name="Text Box 23"/>
          <p:cNvSpPr txBox="1">
            <a:spLocks noChangeArrowheads="1"/>
          </p:cNvSpPr>
          <p:nvPr/>
        </p:nvSpPr>
        <p:spPr bwMode="auto">
          <a:xfrm>
            <a:off x="5511800" y="4572000"/>
            <a:ext cx="1447800" cy="8350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8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R→L.</a:t>
            </a:r>
          </a:p>
        </p:txBody>
      </p:sp>
      <p:sp>
        <p:nvSpPr>
          <p:cNvPr id="133146" name="Line 24"/>
          <p:cNvSpPr>
            <a:spLocks noChangeShapeType="1"/>
          </p:cNvSpPr>
          <p:nvPr/>
        </p:nvSpPr>
        <p:spPr bwMode="auto">
          <a:xfrm flipV="1">
            <a:off x="4500563" y="5157788"/>
            <a:ext cx="9350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47" name="Text Box 25"/>
          <p:cNvSpPr txBox="1">
            <a:spLocks noChangeArrowheads="1"/>
          </p:cNvSpPr>
          <p:nvPr/>
        </p:nvSpPr>
        <p:spPr bwMode="auto">
          <a:xfrm>
            <a:off x="4876800" y="4724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L</a:t>
            </a:r>
          </a:p>
        </p:txBody>
      </p:sp>
      <p:sp>
        <p:nvSpPr>
          <p:cNvPr id="133148" name="Text Box 26"/>
          <p:cNvSpPr txBox="1">
            <a:spLocks noChangeArrowheads="1"/>
          </p:cNvSpPr>
          <p:nvPr/>
        </p:nvSpPr>
        <p:spPr bwMode="auto">
          <a:xfrm>
            <a:off x="7410450" y="304800"/>
            <a:ext cx="1447800" cy="8350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9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S→L=R.</a:t>
            </a:r>
          </a:p>
        </p:txBody>
      </p:sp>
      <p:sp>
        <p:nvSpPr>
          <p:cNvPr id="133149" name="Line 27"/>
          <p:cNvSpPr>
            <a:spLocks noChangeShapeType="1"/>
          </p:cNvSpPr>
          <p:nvPr/>
        </p:nvSpPr>
        <p:spPr bwMode="auto">
          <a:xfrm flipV="1">
            <a:off x="6877050" y="9906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50" name="Text Box 28"/>
          <p:cNvSpPr txBox="1">
            <a:spLocks noChangeArrowheads="1"/>
          </p:cNvSpPr>
          <p:nvPr/>
        </p:nvSpPr>
        <p:spPr bwMode="auto">
          <a:xfrm>
            <a:off x="6953250" y="609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R</a:t>
            </a:r>
          </a:p>
        </p:txBody>
      </p:sp>
      <p:sp>
        <p:nvSpPr>
          <p:cNvPr id="237597" name="Line 29"/>
          <p:cNvSpPr>
            <a:spLocks noChangeShapeType="1"/>
          </p:cNvSpPr>
          <p:nvPr/>
        </p:nvSpPr>
        <p:spPr bwMode="auto">
          <a:xfrm flipH="1">
            <a:off x="4495800" y="2276475"/>
            <a:ext cx="868363" cy="1685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598" name="Text Box 30"/>
          <p:cNvSpPr txBox="1">
            <a:spLocks noChangeArrowheads="1"/>
          </p:cNvSpPr>
          <p:nvPr/>
        </p:nvSpPr>
        <p:spPr bwMode="auto">
          <a:xfrm>
            <a:off x="4800600" y="2895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*</a:t>
            </a:r>
          </a:p>
        </p:txBody>
      </p:sp>
      <p:sp>
        <p:nvSpPr>
          <p:cNvPr id="237599" name="Freeform 31"/>
          <p:cNvSpPr>
            <a:spLocks/>
          </p:cNvSpPr>
          <p:nvPr/>
        </p:nvSpPr>
        <p:spPr bwMode="auto">
          <a:xfrm>
            <a:off x="6877050" y="2420938"/>
            <a:ext cx="287338" cy="2663825"/>
          </a:xfrm>
          <a:custGeom>
            <a:avLst/>
            <a:gdLst>
              <a:gd name="T0" fmla="*/ 0 w 208"/>
              <a:gd name="T1" fmla="*/ 0 h 1680"/>
              <a:gd name="T2" fmla="*/ 274802885 w 208"/>
              <a:gd name="T3" fmla="*/ 1086117643 h 1680"/>
              <a:gd name="T4" fmla="*/ 366404365 w 208"/>
              <a:gd name="T5" fmla="*/ 2147483647 h 1680"/>
              <a:gd name="T6" fmla="*/ 91601437 w 208"/>
              <a:gd name="T7" fmla="*/ 2147483647 h 1680"/>
              <a:gd name="T8" fmla="*/ 0 60000 65536"/>
              <a:gd name="T9" fmla="*/ 0 60000 65536"/>
              <a:gd name="T10" fmla="*/ 0 60000 65536"/>
              <a:gd name="T11" fmla="*/ 0 60000 65536"/>
              <a:gd name="T12" fmla="*/ 0 w 208"/>
              <a:gd name="T13" fmla="*/ 0 h 1680"/>
              <a:gd name="T14" fmla="*/ 208 w 208"/>
              <a:gd name="T15" fmla="*/ 1680 h 16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8" h="1680">
                <a:moveTo>
                  <a:pt x="0" y="0"/>
                </a:moveTo>
                <a:cubicBezTo>
                  <a:pt x="56" y="132"/>
                  <a:pt x="112" y="264"/>
                  <a:pt x="144" y="432"/>
                </a:cubicBezTo>
                <a:cubicBezTo>
                  <a:pt x="176" y="600"/>
                  <a:pt x="208" y="800"/>
                  <a:pt x="192" y="1008"/>
                </a:cubicBezTo>
                <a:cubicBezTo>
                  <a:pt x="176" y="1216"/>
                  <a:pt x="112" y="1448"/>
                  <a:pt x="48" y="168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600" name="Text Box 32"/>
          <p:cNvSpPr txBox="1">
            <a:spLocks noChangeArrowheads="1"/>
          </p:cNvSpPr>
          <p:nvPr/>
        </p:nvSpPr>
        <p:spPr bwMode="auto">
          <a:xfrm>
            <a:off x="7067550" y="328453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L</a:t>
            </a:r>
          </a:p>
        </p:txBody>
      </p:sp>
      <p:sp>
        <p:nvSpPr>
          <p:cNvPr id="237601" name="Text Box 33"/>
          <p:cNvSpPr txBox="1">
            <a:spLocks noChangeArrowheads="1"/>
          </p:cNvSpPr>
          <p:nvPr/>
        </p:nvSpPr>
        <p:spPr bwMode="auto">
          <a:xfrm>
            <a:off x="7235825" y="2420938"/>
            <a:ext cx="503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id</a:t>
            </a:r>
          </a:p>
        </p:txBody>
      </p:sp>
      <p:sp>
        <p:nvSpPr>
          <p:cNvPr id="133156" name="Text Box 34"/>
          <p:cNvSpPr txBox="1">
            <a:spLocks noChangeArrowheads="1"/>
          </p:cNvSpPr>
          <p:nvPr/>
        </p:nvSpPr>
        <p:spPr bwMode="auto">
          <a:xfrm>
            <a:off x="1905000" y="381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S</a:t>
            </a:r>
          </a:p>
        </p:txBody>
      </p:sp>
      <p:grpSp>
        <p:nvGrpSpPr>
          <p:cNvPr id="133157" name="Group 36"/>
          <p:cNvGrpSpPr>
            <a:grpSpLocks/>
          </p:cNvGrpSpPr>
          <p:nvPr/>
        </p:nvGrpSpPr>
        <p:grpSpPr bwMode="auto">
          <a:xfrm>
            <a:off x="2339975" y="4724400"/>
            <a:ext cx="719138" cy="1081088"/>
            <a:chOff x="1474" y="3203"/>
            <a:chExt cx="499" cy="454"/>
          </a:xfrm>
        </p:grpSpPr>
        <p:sp>
          <p:nvSpPr>
            <p:cNvPr id="133216" name="Rectangle 37"/>
            <p:cNvSpPr>
              <a:spLocks noChangeArrowheads="1"/>
            </p:cNvSpPr>
            <p:nvPr/>
          </p:nvSpPr>
          <p:spPr bwMode="auto">
            <a:xfrm>
              <a:off x="1474" y="3294"/>
              <a:ext cx="227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/>
                <a:t>*</a:t>
              </a:r>
            </a:p>
          </p:txBody>
        </p:sp>
        <p:sp>
          <p:nvSpPr>
            <p:cNvPr id="133217" name="Freeform 38"/>
            <p:cNvSpPr>
              <a:spLocks/>
            </p:cNvSpPr>
            <p:nvPr/>
          </p:nvSpPr>
          <p:spPr bwMode="auto">
            <a:xfrm rot="480862">
              <a:off x="1656" y="3203"/>
              <a:ext cx="317" cy="454"/>
            </a:xfrm>
            <a:custGeom>
              <a:avLst/>
              <a:gdLst>
                <a:gd name="T0" fmla="*/ 428 w 235"/>
                <a:gd name="T1" fmla="*/ 568 h 363"/>
                <a:gd name="T2" fmla="*/ 15 w 235"/>
                <a:gd name="T3" fmla="*/ 285 h 363"/>
                <a:gd name="T4" fmla="*/ 344 w 235"/>
                <a:gd name="T5" fmla="*/ 0 h 363"/>
                <a:gd name="T6" fmla="*/ 0 60000 65536"/>
                <a:gd name="T7" fmla="*/ 0 60000 65536"/>
                <a:gd name="T8" fmla="*/ 0 60000 65536"/>
                <a:gd name="T9" fmla="*/ 0 w 235"/>
                <a:gd name="T10" fmla="*/ 0 h 363"/>
                <a:gd name="T11" fmla="*/ 235 w 235"/>
                <a:gd name="T12" fmla="*/ 363 h 3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" h="363">
                  <a:moveTo>
                    <a:pt x="235" y="363"/>
                  </a:moveTo>
                  <a:cubicBezTo>
                    <a:pt x="125" y="302"/>
                    <a:pt x="16" y="242"/>
                    <a:pt x="8" y="182"/>
                  </a:cubicBezTo>
                  <a:cubicBezTo>
                    <a:pt x="0" y="122"/>
                    <a:pt x="151" y="30"/>
                    <a:pt x="189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7610" name="Rectangle 42"/>
          <p:cNvSpPr>
            <a:spLocks noChangeArrowheads="1"/>
          </p:cNvSpPr>
          <p:nvPr/>
        </p:nvSpPr>
        <p:spPr bwMode="auto">
          <a:xfrm>
            <a:off x="2555875" y="2492375"/>
            <a:ext cx="4103688" cy="64135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en-US" altLang="zh-CN" sz="3600" b="1">
                <a:solidFill>
                  <a:schemeClr val="bg1"/>
                </a:solidFill>
                <a:latin typeface="Times New Roman" pitchFamily="18" charset="0"/>
              </a:rPr>
              <a:t>=</a:t>
            </a:r>
            <a:r>
              <a:rPr lang="en-US" altLang="zh-CN" sz="3600" b="1">
                <a:solidFill>
                  <a:schemeClr val="bg1"/>
                </a:solidFill>
                <a:latin typeface="Times New Roman" pitchFamily="18" charset="0"/>
              </a:rPr>
              <a:t>∈FOLLOW(R)</a:t>
            </a:r>
            <a:endParaRPr lang="en-US" altLang="zh-CN" sz="36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37611" name="Text Box 43"/>
          <p:cNvSpPr txBox="1">
            <a:spLocks noChangeArrowheads="1"/>
          </p:cNvSpPr>
          <p:nvPr/>
        </p:nvSpPr>
        <p:spPr bwMode="auto">
          <a:xfrm>
            <a:off x="1187450" y="620713"/>
            <a:ext cx="719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12" name="Text Box 44"/>
          <p:cNvSpPr txBox="1">
            <a:spLocks noChangeArrowheads="1"/>
          </p:cNvSpPr>
          <p:nvPr/>
        </p:nvSpPr>
        <p:spPr bwMode="auto">
          <a:xfrm>
            <a:off x="1547813" y="1052513"/>
            <a:ext cx="719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13" name="Text Box 45"/>
          <p:cNvSpPr txBox="1">
            <a:spLocks noChangeArrowheads="1"/>
          </p:cNvSpPr>
          <p:nvPr/>
        </p:nvSpPr>
        <p:spPr bwMode="auto">
          <a:xfrm>
            <a:off x="1187450" y="1412875"/>
            <a:ext cx="719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14" name="Text Box 46"/>
          <p:cNvSpPr txBox="1">
            <a:spLocks noChangeArrowheads="1"/>
          </p:cNvSpPr>
          <p:nvPr/>
        </p:nvSpPr>
        <p:spPr bwMode="auto">
          <a:xfrm>
            <a:off x="1404938" y="1700213"/>
            <a:ext cx="719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,=</a:t>
            </a:r>
          </a:p>
        </p:txBody>
      </p:sp>
      <p:sp>
        <p:nvSpPr>
          <p:cNvPr id="237615" name="Text Box 47"/>
          <p:cNvSpPr txBox="1">
            <a:spLocks noChangeArrowheads="1"/>
          </p:cNvSpPr>
          <p:nvPr/>
        </p:nvSpPr>
        <p:spPr bwMode="auto">
          <a:xfrm>
            <a:off x="1260475" y="2095500"/>
            <a:ext cx="719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,=</a:t>
            </a:r>
          </a:p>
        </p:txBody>
      </p:sp>
      <p:sp>
        <p:nvSpPr>
          <p:cNvPr id="237616" name="Text Box 48"/>
          <p:cNvSpPr txBox="1">
            <a:spLocks noChangeArrowheads="1"/>
          </p:cNvSpPr>
          <p:nvPr/>
        </p:nvSpPr>
        <p:spPr bwMode="auto">
          <a:xfrm>
            <a:off x="1187450" y="2527300"/>
            <a:ext cx="719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17" name="Text Box 49"/>
          <p:cNvSpPr txBox="1">
            <a:spLocks noChangeArrowheads="1"/>
          </p:cNvSpPr>
          <p:nvPr/>
        </p:nvSpPr>
        <p:spPr bwMode="auto">
          <a:xfrm>
            <a:off x="3708400" y="2060575"/>
            <a:ext cx="719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18" name="Text Box 50"/>
          <p:cNvSpPr txBox="1">
            <a:spLocks noChangeArrowheads="1"/>
          </p:cNvSpPr>
          <p:nvPr/>
        </p:nvSpPr>
        <p:spPr bwMode="auto">
          <a:xfrm>
            <a:off x="4067175" y="1736725"/>
            <a:ext cx="719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19" name="Text Box 51"/>
          <p:cNvSpPr txBox="1">
            <a:spLocks noChangeArrowheads="1"/>
          </p:cNvSpPr>
          <p:nvPr/>
        </p:nvSpPr>
        <p:spPr bwMode="auto">
          <a:xfrm>
            <a:off x="0" y="6216650"/>
            <a:ext cx="1512888" cy="64135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b="1">
                <a:solidFill>
                  <a:schemeClr val="bg1"/>
                </a:solidFill>
                <a:latin typeface="Times New Roman" pitchFamily="18" charset="0"/>
              </a:rPr>
              <a:t>LR(1)</a:t>
            </a:r>
          </a:p>
        </p:txBody>
      </p:sp>
      <p:sp>
        <p:nvSpPr>
          <p:cNvPr id="237620" name="Text Box 52"/>
          <p:cNvSpPr txBox="1">
            <a:spLocks noChangeArrowheads="1"/>
          </p:cNvSpPr>
          <p:nvPr/>
        </p:nvSpPr>
        <p:spPr bwMode="auto">
          <a:xfrm>
            <a:off x="3708400" y="692150"/>
            <a:ext cx="719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21" name="Text Box 53"/>
          <p:cNvSpPr txBox="1">
            <a:spLocks noChangeArrowheads="1"/>
          </p:cNvSpPr>
          <p:nvPr/>
        </p:nvSpPr>
        <p:spPr bwMode="auto">
          <a:xfrm>
            <a:off x="3779838" y="3213100"/>
            <a:ext cx="719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22" name="Text Box 54"/>
          <p:cNvSpPr txBox="1">
            <a:spLocks noChangeArrowheads="1"/>
          </p:cNvSpPr>
          <p:nvPr/>
        </p:nvSpPr>
        <p:spPr bwMode="auto">
          <a:xfrm>
            <a:off x="3995738" y="4365625"/>
            <a:ext cx="936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,=/#</a:t>
            </a:r>
          </a:p>
        </p:txBody>
      </p:sp>
      <p:sp>
        <p:nvSpPr>
          <p:cNvPr id="237623" name="Text Box 55"/>
          <p:cNvSpPr txBox="1">
            <a:spLocks noChangeArrowheads="1"/>
          </p:cNvSpPr>
          <p:nvPr/>
        </p:nvSpPr>
        <p:spPr bwMode="auto">
          <a:xfrm>
            <a:off x="3851275" y="4724400"/>
            <a:ext cx="936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,=/#</a:t>
            </a:r>
          </a:p>
        </p:txBody>
      </p:sp>
      <p:sp>
        <p:nvSpPr>
          <p:cNvPr id="237624" name="Text Box 56"/>
          <p:cNvSpPr txBox="1">
            <a:spLocks noChangeArrowheads="1"/>
          </p:cNvSpPr>
          <p:nvPr/>
        </p:nvSpPr>
        <p:spPr bwMode="auto">
          <a:xfrm>
            <a:off x="3997325" y="5084763"/>
            <a:ext cx="9350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,=/#</a:t>
            </a:r>
          </a:p>
        </p:txBody>
      </p:sp>
      <p:sp>
        <p:nvSpPr>
          <p:cNvPr id="237625" name="Text Box 57"/>
          <p:cNvSpPr txBox="1">
            <a:spLocks noChangeArrowheads="1"/>
          </p:cNvSpPr>
          <p:nvPr/>
        </p:nvSpPr>
        <p:spPr bwMode="auto">
          <a:xfrm>
            <a:off x="3924300" y="5516563"/>
            <a:ext cx="792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,=/#</a:t>
            </a:r>
          </a:p>
        </p:txBody>
      </p:sp>
      <p:sp>
        <p:nvSpPr>
          <p:cNvPr id="237626" name="Text Box 58"/>
          <p:cNvSpPr txBox="1">
            <a:spLocks noChangeArrowheads="1"/>
          </p:cNvSpPr>
          <p:nvPr/>
        </p:nvSpPr>
        <p:spPr bwMode="auto">
          <a:xfrm>
            <a:off x="6588125" y="1196975"/>
            <a:ext cx="719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27" name="Text Box 59"/>
          <p:cNvSpPr txBox="1">
            <a:spLocks noChangeArrowheads="1"/>
          </p:cNvSpPr>
          <p:nvPr/>
        </p:nvSpPr>
        <p:spPr bwMode="auto">
          <a:xfrm>
            <a:off x="6313488" y="1557338"/>
            <a:ext cx="719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28" name="Text Box 60"/>
          <p:cNvSpPr txBox="1">
            <a:spLocks noChangeArrowheads="1"/>
          </p:cNvSpPr>
          <p:nvPr/>
        </p:nvSpPr>
        <p:spPr bwMode="auto">
          <a:xfrm>
            <a:off x="6384925" y="1916113"/>
            <a:ext cx="719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29" name="Text Box 61"/>
          <p:cNvSpPr txBox="1">
            <a:spLocks noChangeArrowheads="1"/>
          </p:cNvSpPr>
          <p:nvPr/>
        </p:nvSpPr>
        <p:spPr bwMode="auto">
          <a:xfrm>
            <a:off x="6313488" y="2276475"/>
            <a:ext cx="719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30" name="Text Box 62"/>
          <p:cNvSpPr txBox="1">
            <a:spLocks noChangeArrowheads="1"/>
          </p:cNvSpPr>
          <p:nvPr/>
        </p:nvSpPr>
        <p:spPr bwMode="auto">
          <a:xfrm>
            <a:off x="8424863" y="5373688"/>
            <a:ext cx="539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31" name="Text Box 63"/>
          <p:cNvSpPr txBox="1">
            <a:spLocks noChangeArrowheads="1"/>
          </p:cNvSpPr>
          <p:nvPr/>
        </p:nvSpPr>
        <p:spPr bwMode="auto">
          <a:xfrm>
            <a:off x="8424863" y="6461125"/>
            <a:ext cx="719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,=/#</a:t>
            </a:r>
          </a:p>
        </p:txBody>
      </p:sp>
      <p:sp>
        <p:nvSpPr>
          <p:cNvPr id="237632" name="Rectangle 64"/>
          <p:cNvSpPr>
            <a:spLocks noChangeArrowheads="1"/>
          </p:cNvSpPr>
          <p:nvPr/>
        </p:nvSpPr>
        <p:spPr bwMode="auto">
          <a:xfrm>
            <a:off x="4356100" y="6311900"/>
            <a:ext cx="2933700" cy="519113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90000" tIns="46800" rIns="90000" bIns="4680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搜索</a:t>
            </a:r>
            <a:r>
              <a:rPr lang="en-US" altLang="zh-CN" sz="28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/</a:t>
            </a:r>
            <a:r>
              <a:rPr lang="zh-CN" altLang="en-US" sz="28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展望</a:t>
            </a:r>
            <a:r>
              <a:rPr lang="en-US" altLang="zh-CN" sz="28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/</a:t>
            </a:r>
            <a:r>
              <a:rPr lang="zh-CN" altLang="en-US" sz="28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后继符</a:t>
            </a:r>
          </a:p>
        </p:txBody>
      </p:sp>
      <p:sp>
        <p:nvSpPr>
          <p:cNvPr id="237633" name="Text Box 65"/>
          <p:cNvSpPr txBox="1">
            <a:spLocks noChangeArrowheads="1"/>
          </p:cNvSpPr>
          <p:nvPr/>
        </p:nvSpPr>
        <p:spPr bwMode="auto">
          <a:xfrm>
            <a:off x="7524750" y="4941888"/>
            <a:ext cx="1447800" cy="8350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5'-11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L→id .</a:t>
            </a:r>
          </a:p>
        </p:txBody>
      </p:sp>
      <p:sp>
        <p:nvSpPr>
          <p:cNvPr id="237634" name="Freeform 66"/>
          <p:cNvSpPr>
            <a:spLocks/>
          </p:cNvSpPr>
          <p:nvPr/>
        </p:nvSpPr>
        <p:spPr bwMode="auto">
          <a:xfrm>
            <a:off x="6877050" y="2060575"/>
            <a:ext cx="863600" cy="2881313"/>
          </a:xfrm>
          <a:custGeom>
            <a:avLst/>
            <a:gdLst>
              <a:gd name="T0" fmla="*/ 0 w 272"/>
              <a:gd name="T1" fmla="*/ 0 h 2042"/>
              <a:gd name="T2" fmla="*/ 2147483647 w 272"/>
              <a:gd name="T3" fmla="*/ 1897415414 h 2042"/>
              <a:gd name="T4" fmla="*/ 2147483647 w 272"/>
              <a:gd name="T5" fmla="*/ 2147483647 h 2042"/>
              <a:gd name="T6" fmla="*/ 2147483647 w 272"/>
              <a:gd name="T7" fmla="*/ 2147483647 h 2042"/>
              <a:gd name="T8" fmla="*/ 0 60000 65536"/>
              <a:gd name="T9" fmla="*/ 0 60000 65536"/>
              <a:gd name="T10" fmla="*/ 0 60000 65536"/>
              <a:gd name="T11" fmla="*/ 0 60000 65536"/>
              <a:gd name="T12" fmla="*/ 0 w 272"/>
              <a:gd name="T13" fmla="*/ 0 h 2042"/>
              <a:gd name="T14" fmla="*/ 272 w 272"/>
              <a:gd name="T15" fmla="*/ 2042 h 20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72" h="2042">
                <a:moveTo>
                  <a:pt x="0" y="0"/>
                </a:moveTo>
                <a:cubicBezTo>
                  <a:pt x="94" y="333"/>
                  <a:pt x="188" y="666"/>
                  <a:pt x="226" y="953"/>
                </a:cubicBezTo>
                <a:cubicBezTo>
                  <a:pt x="264" y="1240"/>
                  <a:pt x="218" y="1543"/>
                  <a:pt x="226" y="1724"/>
                </a:cubicBezTo>
                <a:cubicBezTo>
                  <a:pt x="234" y="1905"/>
                  <a:pt x="253" y="1973"/>
                  <a:pt x="272" y="204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635" name="Text Box 67"/>
          <p:cNvSpPr txBox="1">
            <a:spLocks noChangeArrowheads="1"/>
          </p:cNvSpPr>
          <p:nvPr/>
        </p:nvSpPr>
        <p:spPr bwMode="auto">
          <a:xfrm>
            <a:off x="2051050" y="6216650"/>
            <a:ext cx="2016125" cy="641350"/>
          </a:xfrm>
          <a:prstGeom prst="rect">
            <a:avLst/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b="1">
                <a:solidFill>
                  <a:schemeClr val="bg1"/>
                </a:solidFill>
                <a:latin typeface="Times New Roman" pitchFamily="18" charset="0"/>
              </a:rPr>
              <a:t>LALR(1)</a:t>
            </a:r>
          </a:p>
        </p:txBody>
      </p:sp>
      <p:grpSp>
        <p:nvGrpSpPr>
          <p:cNvPr id="133184" name="Group 70"/>
          <p:cNvGrpSpPr>
            <a:grpSpLocks/>
          </p:cNvGrpSpPr>
          <p:nvPr/>
        </p:nvGrpSpPr>
        <p:grpSpPr bwMode="auto">
          <a:xfrm>
            <a:off x="4500563" y="5589588"/>
            <a:ext cx="3024187" cy="503237"/>
            <a:chOff x="2835" y="3521"/>
            <a:chExt cx="1905" cy="317"/>
          </a:xfrm>
        </p:grpSpPr>
        <p:sp>
          <p:nvSpPr>
            <p:cNvPr id="133214" name="Rectangle 40"/>
            <p:cNvSpPr>
              <a:spLocks noChangeArrowheads="1"/>
            </p:cNvSpPr>
            <p:nvPr/>
          </p:nvSpPr>
          <p:spPr bwMode="auto">
            <a:xfrm>
              <a:off x="2971" y="3521"/>
              <a:ext cx="3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000" b="1">
                  <a:latin typeface="Times New Roman" pitchFamily="18" charset="0"/>
                </a:rPr>
                <a:t>id</a:t>
              </a:r>
            </a:p>
          </p:txBody>
        </p:sp>
        <p:sp>
          <p:nvSpPr>
            <p:cNvPr id="133215" name="Line 68"/>
            <p:cNvSpPr>
              <a:spLocks noChangeShapeType="1"/>
            </p:cNvSpPr>
            <p:nvPr/>
          </p:nvSpPr>
          <p:spPr bwMode="auto">
            <a:xfrm>
              <a:off x="2835" y="3521"/>
              <a:ext cx="1905" cy="3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7639" name="Text Box 71"/>
          <p:cNvSpPr txBox="1">
            <a:spLocks noChangeArrowheads="1"/>
          </p:cNvSpPr>
          <p:nvPr/>
        </p:nvSpPr>
        <p:spPr bwMode="auto">
          <a:xfrm>
            <a:off x="6313488" y="5013325"/>
            <a:ext cx="9223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,=/#</a:t>
            </a:r>
          </a:p>
        </p:txBody>
      </p:sp>
      <p:sp>
        <p:nvSpPr>
          <p:cNvPr id="237640" name="Text Box 72"/>
          <p:cNvSpPr txBox="1">
            <a:spLocks noChangeArrowheads="1"/>
          </p:cNvSpPr>
          <p:nvPr/>
        </p:nvSpPr>
        <p:spPr bwMode="auto">
          <a:xfrm>
            <a:off x="6386513" y="3860800"/>
            <a:ext cx="849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,=/#</a:t>
            </a:r>
          </a:p>
        </p:txBody>
      </p:sp>
      <p:sp>
        <p:nvSpPr>
          <p:cNvPr id="237641" name="Text Box 73"/>
          <p:cNvSpPr txBox="1">
            <a:spLocks noChangeArrowheads="1"/>
          </p:cNvSpPr>
          <p:nvPr/>
        </p:nvSpPr>
        <p:spPr bwMode="auto">
          <a:xfrm>
            <a:off x="8570913" y="765175"/>
            <a:ext cx="754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42" name="Text Box 74"/>
          <p:cNvSpPr txBox="1">
            <a:spLocks noChangeArrowheads="1"/>
          </p:cNvSpPr>
          <p:nvPr/>
        </p:nvSpPr>
        <p:spPr bwMode="auto">
          <a:xfrm>
            <a:off x="7380288" y="1412875"/>
            <a:ext cx="1447800" cy="8350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400" b="1">
                <a:latin typeface="Times New Roman" pitchFamily="18" charset="0"/>
              </a:rPr>
              <a:t>I</a:t>
            </a:r>
            <a:r>
              <a:rPr kumimoji="1" lang="en-US" altLang="zh-CN" sz="2400" b="1" baseline="-25000">
                <a:latin typeface="Times New Roman" pitchFamily="18" charset="0"/>
              </a:rPr>
              <a:t>8'-10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</a:p>
          <a:p>
            <a:r>
              <a:rPr kumimoji="1" lang="en-US" altLang="zh-CN" sz="2400" b="1">
                <a:latin typeface="Times New Roman" pitchFamily="18" charset="0"/>
              </a:rPr>
              <a:t>R→L.</a:t>
            </a:r>
          </a:p>
        </p:txBody>
      </p:sp>
      <p:sp>
        <p:nvSpPr>
          <p:cNvPr id="237643" name="Text Box 75"/>
          <p:cNvSpPr txBox="1">
            <a:spLocks noChangeArrowheads="1"/>
          </p:cNvSpPr>
          <p:nvPr/>
        </p:nvSpPr>
        <p:spPr bwMode="auto">
          <a:xfrm>
            <a:off x="8181975" y="1854200"/>
            <a:ext cx="719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sp>
        <p:nvSpPr>
          <p:cNvPr id="237644" name="Line 76"/>
          <p:cNvSpPr>
            <a:spLocks noChangeShapeType="1"/>
          </p:cNvSpPr>
          <p:nvPr/>
        </p:nvSpPr>
        <p:spPr bwMode="auto">
          <a:xfrm>
            <a:off x="6877050" y="1916113"/>
            <a:ext cx="5032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645" name="Text Box 77"/>
          <p:cNvSpPr txBox="1">
            <a:spLocks noChangeArrowheads="1"/>
          </p:cNvSpPr>
          <p:nvPr/>
        </p:nvSpPr>
        <p:spPr bwMode="auto">
          <a:xfrm>
            <a:off x="6877050" y="15351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L</a:t>
            </a:r>
          </a:p>
        </p:txBody>
      </p:sp>
      <p:sp>
        <p:nvSpPr>
          <p:cNvPr id="237646" name="Freeform 78"/>
          <p:cNvSpPr>
            <a:spLocks/>
          </p:cNvSpPr>
          <p:nvPr/>
        </p:nvSpPr>
        <p:spPr bwMode="auto">
          <a:xfrm>
            <a:off x="6877050" y="2276475"/>
            <a:ext cx="719138" cy="3744913"/>
          </a:xfrm>
          <a:custGeom>
            <a:avLst/>
            <a:gdLst>
              <a:gd name="T0" fmla="*/ 0 w 272"/>
              <a:gd name="T1" fmla="*/ 0 h 2042"/>
              <a:gd name="T2" fmla="*/ 1579774285 w 272"/>
              <a:gd name="T3" fmla="*/ 2147483647 h 2042"/>
              <a:gd name="T4" fmla="*/ 1579774285 w 272"/>
              <a:gd name="T5" fmla="*/ 2147483647 h 2042"/>
              <a:gd name="T6" fmla="*/ 1901321363 w 272"/>
              <a:gd name="T7" fmla="*/ 2147483647 h 2042"/>
              <a:gd name="T8" fmla="*/ 0 60000 65536"/>
              <a:gd name="T9" fmla="*/ 0 60000 65536"/>
              <a:gd name="T10" fmla="*/ 0 60000 65536"/>
              <a:gd name="T11" fmla="*/ 0 60000 65536"/>
              <a:gd name="T12" fmla="*/ 0 w 272"/>
              <a:gd name="T13" fmla="*/ 0 h 2042"/>
              <a:gd name="T14" fmla="*/ 272 w 272"/>
              <a:gd name="T15" fmla="*/ 2042 h 20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72" h="2042">
                <a:moveTo>
                  <a:pt x="0" y="0"/>
                </a:moveTo>
                <a:cubicBezTo>
                  <a:pt x="94" y="333"/>
                  <a:pt x="188" y="666"/>
                  <a:pt x="226" y="953"/>
                </a:cubicBezTo>
                <a:cubicBezTo>
                  <a:pt x="264" y="1240"/>
                  <a:pt x="218" y="1543"/>
                  <a:pt x="226" y="1724"/>
                </a:cubicBezTo>
                <a:cubicBezTo>
                  <a:pt x="234" y="1905"/>
                  <a:pt x="253" y="1973"/>
                  <a:pt x="272" y="2042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7647" name="Text Box 79"/>
          <p:cNvSpPr txBox="1">
            <a:spLocks noChangeArrowheads="1"/>
          </p:cNvSpPr>
          <p:nvPr/>
        </p:nvSpPr>
        <p:spPr bwMode="auto">
          <a:xfrm>
            <a:off x="7235825" y="2420938"/>
            <a:ext cx="503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id</a:t>
            </a:r>
          </a:p>
        </p:txBody>
      </p:sp>
      <p:sp>
        <p:nvSpPr>
          <p:cNvPr id="237648" name="Text Box 80"/>
          <p:cNvSpPr txBox="1">
            <a:spLocks noChangeArrowheads="1"/>
          </p:cNvSpPr>
          <p:nvPr/>
        </p:nvSpPr>
        <p:spPr bwMode="auto">
          <a:xfrm>
            <a:off x="1666875" y="1700213"/>
            <a:ext cx="528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/#</a:t>
            </a:r>
          </a:p>
        </p:txBody>
      </p:sp>
      <p:sp>
        <p:nvSpPr>
          <p:cNvPr id="237649" name="Text Box 81"/>
          <p:cNvSpPr txBox="1">
            <a:spLocks noChangeArrowheads="1"/>
          </p:cNvSpPr>
          <p:nvPr/>
        </p:nvSpPr>
        <p:spPr bwMode="auto">
          <a:xfrm>
            <a:off x="1547813" y="2095500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/#</a:t>
            </a:r>
          </a:p>
        </p:txBody>
      </p:sp>
      <p:sp>
        <p:nvSpPr>
          <p:cNvPr id="237650" name="AutoShape 82"/>
          <p:cNvSpPr>
            <a:spLocks noChangeArrowheads="1"/>
          </p:cNvSpPr>
          <p:nvPr/>
        </p:nvSpPr>
        <p:spPr bwMode="auto">
          <a:xfrm>
            <a:off x="1476375" y="6381750"/>
            <a:ext cx="574675" cy="404813"/>
          </a:xfrm>
          <a:prstGeom prst="rightArrow">
            <a:avLst>
              <a:gd name="adj1" fmla="val 50000"/>
              <a:gd name="adj2" fmla="val 35490"/>
            </a:avLst>
          </a:prstGeom>
          <a:solidFill>
            <a:srgbClr val="00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7651" name="Text Box 83"/>
          <p:cNvSpPr txBox="1">
            <a:spLocks noChangeArrowheads="1"/>
          </p:cNvSpPr>
          <p:nvPr/>
        </p:nvSpPr>
        <p:spPr bwMode="auto">
          <a:xfrm>
            <a:off x="7740650" y="2420938"/>
            <a:ext cx="1268413" cy="1327150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kumimoji="1" lang="en-US" altLang="zh-CN" sz="2000" b="1"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latin typeface="Times New Roman" pitchFamily="18" charset="0"/>
              </a:rPr>
              <a:t>6'-12</a:t>
            </a:r>
            <a:r>
              <a:rPr kumimoji="1" lang="en-US" altLang="zh-CN" sz="2000" b="1">
                <a:latin typeface="Times New Roman" pitchFamily="18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kumimoji="1" lang="en-US" altLang="zh-CN" sz="2000" b="1">
                <a:latin typeface="Times New Roman" pitchFamily="18" charset="0"/>
              </a:rPr>
              <a:t>L→*.R</a:t>
            </a: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  <a:p>
            <a:pPr>
              <a:lnSpc>
                <a:spcPct val="80000"/>
              </a:lnSpc>
            </a:pPr>
            <a:r>
              <a:rPr kumimoji="1" lang="en-US" altLang="zh-CN" sz="2000" b="1">
                <a:latin typeface="Times New Roman" pitchFamily="18" charset="0"/>
              </a:rPr>
              <a:t>R→.L</a:t>
            </a: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 </a:t>
            </a:r>
            <a:r>
              <a:rPr kumimoji="1" lang="en-US" altLang="zh-CN" sz="2000" b="1">
                <a:latin typeface="Times New Roman" pitchFamily="18" charset="0"/>
              </a:rPr>
              <a:t>L→.*R</a:t>
            </a: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  <a:p>
            <a:pPr>
              <a:lnSpc>
                <a:spcPct val="80000"/>
              </a:lnSpc>
            </a:pPr>
            <a:r>
              <a:rPr kumimoji="1" lang="en-US" altLang="zh-CN" sz="2000" b="1">
                <a:latin typeface="Times New Roman" pitchFamily="18" charset="0"/>
              </a:rPr>
              <a:t>L→.id</a:t>
            </a: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grpSp>
        <p:nvGrpSpPr>
          <p:cNvPr id="4" name="Group 86"/>
          <p:cNvGrpSpPr>
            <a:grpSpLocks/>
          </p:cNvGrpSpPr>
          <p:nvPr/>
        </p:nvGrpSpPr>
        <p:grpSpPr bwMode="auto">
          <a:xfrm>
            <a:off x="6877050" y="1916113"/>
            <a:ext cx="790575" cy="576262"/>
            <a:chOff x="4332" y="1207"/>
            <a:chExt cx="498" cy="363"/>
          </a:xfrm>
        </p:grpSpPr>
        <p:sp>
          <p:nvSpPr>
            <p:cNvPr id="133212" name="Line 84"/>
            <p:cNvSpPr>
              <a:spLocks noChangeShapeType="1"/>
            </p:cNvSpPr>
            <p:nvPr/>
          </p:nvSpPr>
          <p:spPr bwMode="auto">
            <a:xfrm>
              <a:off x="4332" y="1253"/>
              <a:ext cx="498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3" name="Text Box 85"/>
            <p:cNvSpPr txBox="1">
              <a:spLocks noChangeArrowheads="1"/>
            </p:cNvSpPr>
            <p:nvPr/>
          </p:nvSpPr>
          <p:spPr bwMode="auto">
            <a:xfrm>
              <a:off x="4422" y="1207"/>
              <a:ext cx="2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400" b="1">
                  <a:latin typeface="Times New Roman" pitchFamily="18" charset="0"/>
                </a:rPr>
                <a:t>*</a:t>
              </a:r>
            </a:p>
          </p:txBody>
        </p:sp>
      </p:grpSp>
      <p:sp>
        <p:nvSpPr>
          <p:cNvPr id="237655" name="Text Box 87"/>
          <p:cNvSpPr txBox="1">
            <a:spLocks noChangeArrowheads="1"/>
          </p:cNvSpPr>
          <p:nvPr/>
        </p:nvSpPr>
        <p:spPr bwMode="auto">
          <a:xfrm>
            <a:off x="7840663" y="4203700"/>
            <a:ext cx="1268412" cy="5937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kumimoji="1" lang="en-US" altLang="zh-CN" sz="2000" b="1">
                <a:latin typeface="Times New Roman" pitchFamily="18" charset="0"/>
              </a:rPr>
              <a:t>I</a:t>
            </a:r>
            <a:r>
              <a:rPr kumimoji="1" lang="en-US" altLang="zh-CN" sz="2000" b="1" baseline="-25000">
                <a:latin typeface="Times New Roman" pitchFamily="18" charset="0"/>
              </a:rPr>
              <a:t>6''-13</a:t>
            </a:r>
            <a:r>
              <a:rPr kumimoji="1" lang="en-US" altLang="zh-CN" sz="2000" b="1">
                <a:latin typeface="Times New Roman" pitchFamily="18" charset="0"/>
              </a:rPr>
              <a:t>:</a:t>
            </a:r>
          </a:p>
          <a:p>
            <a:pPr>
              <a:lnSpc>
                <a:spcPct val="80000"/>
              </a:lnSpc>
            </a:pPr>
            <a:r>
              <a:rPr kumimoji="1" lang="en-US" altLang="zh-CN" sz="2000" b="1">
                <a:latin typeface="Times New Roman" pitchFamily="18" charset="0"/>
              </a:rPr>
              <a:t>L→*R.</a:t>
            </a:r>
            <a:r>
              <a:rPr lang="en-US" altLang="zh-CN" sz="2000" b="1">
                <a:solidFill>
                  <a:srgbClr val="FF3300"/>
                </a:solidFill>
                <a:latin typeface="Arial" charset="0"/>
              </a:rPr>
              <a:t>,#</a:t>
            </a:r>
          </a:p>
        </p:txBody>
      </p:sp>
      <p:grpSp>
        <p:nvGrpSpPr>
          <p:cNvPr id="5" name="Group 90"/>
          <p:cNvGrpSpPr>
            <a:grpSpLocks/>
          </p:cNvGrpSpPr>
          <p:nvPr/>
        </p:nvGrpSpPr>
        <p:grpSpPr bwMode="auto">
          <a:xfrm>
            <a:off x="8459788" y="3716338"/>
            <a:ext cx="358775" cy="504825"/>
            <a:chOff x="5329" y="2341"/>
            <a:chExt cx="226" cy="318"/>
          </a:xfrm>
        </p:grpSpPr>
        <p:sp>
          <p:nvSpPr>
            <p:cNvPr id="133210" name="Line 88"/>
            <p:cNvSpPr>
              <a:spLocks noChangeShapeType="1"/>
            </p:cNvSpPr>
            <p:nvPr/>
          </p:nvSpPr>
          <p:spPr bwMode="auto">
            <a:xfrm>
              <a:off x="5375" y="2341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1" name="Text Box 89"/>
            <p:cNvSpPr txBox="1">
              <a:spLocks noChangeArrowheads="1"/>
            </p:cNvSpPr>
            <p:nvPr/>
          </p:nvSpPr>
          <p:spPr bwMode="auto">
            <a:xfrm>
              <a:off x="5329" y="2341"/>
              <a:ext cx="2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R</a:t>
              </a:r>
            </a:p>
          </p:txBody>
        </p:sp>
      </p:grpSp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8820150" y="1700213"/>
            <a:ext cx="239713" cy="720725"/>
            <a:chOff x="5556" y="1071"/>
            <a:chExt cx="151" cy="454"/>
          </a:xfrm>
        </p:grpSpPr>
        <p:sp>
          <p:nvSpPr>
            <p:cNvPr id="133208" name="Freeform 91"/>
            <p:cNvSpPr>
              <a:spLocks/>
            </p:cNvSpPr>
            <p:nvPr/>
          </p:nvSpPr>
          <p:spPr bwMode="auto">
            <a:xfrm>
              <a:off x="5556" y="1071"/>
              <a:ext cx="151" cy="454"/>
            </a:xfrm>
            <a:custGeom>
              <a:avLst/>
              <a:gdLst>
                <a:gd name="T0" fmla="*/ 91 w 151"/>
                <a:gd name="T1" fmla="*/ 454 h 454"/>
                <a:gd name="T2" fmla="*/ 136 w 151"/>
                <a:gd name="T3" fmla="*/ 182 h 454"/>
                <a:gd name="T4" fmla="*/ 0 w 151"/>
                <a:gd name="T5" fmla="*/ 0 h 454"/>
                <a:gd name="T6" fmla="*/ 0 60000 65536"/>
                <a:gd name="T7" fmla="*/ 0 60000 65536"/>
                <a:gd name="T8" fmla="*/ 0 60000 65536"/>
                <a:gd name="T9" fmla="*/ 0 w 151"/>
                <a:gd name="T10" fmla="*/ 0 h 454"/>
                <a:gd name="T11" fmla="*/ 151 w 151"/>
                <a:gd name="T12" fmla="*/ 454 h 4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" h="454">
                  <a:moveTo>
                    <a:pt x="91" y="454"/>
                  </a:moveTo>
                  <a:cubicBezTo>
                    <a:pt x="121" y="356"/>
                    <a:pt x="151" y="258"/>
                    <a:pt x="136" y="182"/>
                  </a:cubicBezTo>
                  <a:cubicBezTo>
                    <a:pt x="121" y="106"/>
                    <a:pt x="38" y="15"/>
                    <a:pt x="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9" name="Text Box 92"/>
            <p:cNvSpPr txBox="1">
              <a:spLocks noChangeArrowheads="1"/>
            </p:cNvSpPr>
            <p:nvPr/>
          </p:nvSpPr>
          <p:spPr bwMode="auto">
            <a:xfrm>
              <a:off x="5556" y="1162"/>
              <a:ext cx="1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L</a:t>
              </a:r>
            </a:p>
          </p:txBody>
        </p:sp>
      </p:grpSp>
      <p:grpSp>
        <p:nvGrpSpPr>
          <p:cNvPr id="7" name="Group 96"/>
          <p:cNvGrpSpPr>
            <a:grpSpLocks/>
          </p:cNvGrpSpPr>
          <p:nvPr/>
        </p:nvGrpSpPr>
        <p:grpSpPr bwMode="auto">
          <a:xfrm>
            <a:off x="7885113" y="3716338"/>
            <a:ext cx="503237" cy="469900"/>
            <a:chOff x="4967" y="2341"/>
            <a:chExt cx="317" cy="296"/>
          </a:xfrm>
        </p:grpSpPr>
        <p:sp>
          <p:nvSpPr>
            <p:cNvPr id="133206" name="Freeform 94"/>
            <p:cNvSpPr>
              <a:spLocks/>
            </p:cNvSpPr>
            <p:nvPr/>
          </p:nvSpPr>
          <p:spPr bwMode="auto">
            <a:xfrm>
              <a:off x="4967" y="2341"/>
              <a:ext cx="317" cy="257"/>
            </a:xfrm>
            <a:custGeom>
              <a:avLst/>
              <a:gdLst>
                <a:gd name="T0" fmla="*/ 317 w 317"/>
                <a:gd name="T1" fmla="*/ 46 h 257"/>
                <a:gd name="T2" fmla="*/ 226 w 317"/>
                <a:gd name="T3" fmla="*/ 182 h 257"/>
                <a:gd name="T4" fmla="*/ 136 w 317"/>
                <a:gd name="T5" fmla="*/ 227 h 257"/>
                <a:gd name="T6" fmla="*/ 0 w 317"/>
                <a:gd name="T7" fmla="*/ 0 h 25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7"/>
                <a:gd name="T13" fmla="*/ 0 h 257"/>
                <a:gd name="T14" fmla="*/ 317 w 317"/>
                <a:gd name="T15" fmla="*/ 257 h 25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7" h="257">
                  <a:moveTo>
                    <a:pt x="317" y="46"/>
                  </a:moveTo>
                  <a:cubicBezTo>
                    <a:pt x="286" y="99"/>
                    <a:pt x="256" y="152"/>
                    <a:pt x="226" y="182"/>
                  </a:cubicBezTo>
                  <a:cubicBezTo>
                    <a:pt x="196" y="212"/>
                    <a:pt x="173" y="257"/>
                    <a:pt x="136" y="227"/>
                  </a:cubicBezTo>
                  <a:cubicBezTo>
                    <a:pt x="99" y="197"/>
                    <a:pt x="23" y="30"/>
                    <a:pt x="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7" name="Text Box 95"/>
            <p:cNvSpPr txBox="1">
              <a:spLocks noChangeArrowheads="1"/>
            </p:cNvSpPr>
            <p:nvPr/>
          </p:nvSpPr>
          <p:spPr bwMode="auto">
            <a:xfrm>
              <a:off x="5012" y="2387"/>
              <a:ext cx="1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*</a:t>
              </a:r>
            </a:p>
          </p:txBody>
        </p:sp>
      </p:grpSp>
      <p:grpSp>
        <p:nvGrpSpPr>
          <p:cNvPr id="8" name="Group 99"/>
          <p:cNvGrpSpPr>
            <a:grpSpLocks/>
          </p:cNvGrpSpPr>
          <p:nvPr/>
        </p:nvGrpSpPr>
        <p:grpSpPr bwMode="auto">
          <a:xfrm>
            <a:off x="7596188" y="3716338"/>
            <a:ext cx="503237" cy="1225550"/>
            <a:chOff x="4785" y="2341"/>
            <a:chExt cx="317" cy="772"/>
          </a:xfrm>
        </p:grpSpPr>
        <p:sp>
          <p:nvSpPr>
            <p:cNvPr id="133204" name="Freeform 97"/>
            <p:cNvSpPr>
              <a:spLocks/>
            </p:cNvSpPr>
            <p:nvPr/>
          </p:nvSpPr>
          <p:spPr bwMode="auto">
            <a:xfrm>
              <a:off x="4876" y="2341"/>
              <a:ext cx="45" cy="772"/>
            </a:xfrm>
            <a:custGeom>
              <a:avLst/>
              <a:gdLst>
                <a:gd name="T0" fmla="*/ 45 w 45"/>
                <a:gd name="T1" fmla="*/ 0 h 772"/>
                <a:gd name="T2" fmla="*/ 0 w 45"/>
                <a:gd name="T3" fmla="*/ 409 h 772"/>
                <a:gd name="T4" fmla="*/ 45 w 45"/>
                <a:gd name="T5" fmla="*/ 772 h 772"/>
                <a:gd name="T6" fmla="*/ 0 60000 65536"/>
                <a:gd name="T7" fmla="*/ 0 60000 65536"/>
                <a:gd name="T8" fmla="*/ 0 60000 65536"/>
                <a:gd name="T9" fmla="*/ 0 w 45"/>
                <a:gd name="T10" fmla="*/ 0 h 772"/>
                <a:gd name="T11" fmla="*/ 45 w 45"/>
                <a:gd name="T12" fmla="*/ 772 h 7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" h="772">
                  <a:moveTo>
                    <a:pt x="45" y="0"/>
                  </a:moveTo>
                  <a:cubicBezTo>
                    <a:pt x="22" y="140"/>
                    <a:pt x="0" y="280"/>
                    <a:pt x="0" y="409"/>
                  </a:cubicBezTo>
                  <a:cubicBezTo>
                    <a:pt x="0" y="538"/>
                    <a:pt x="22" y="655"/>
                    <a:pt x="45" y="772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5" name="Text Box 98"/>
            <p:cNvSpPr txBox="1">
              <a:spLocks noChangeArrowheads="1"/>
            </p:cNvSpPr>
            <p:nvPr/>
          </p:nvSpPr>
          <p:spPr bwMode="auto">
            <a:xfrm>
              <a:off x="4785" y="2432"/>
              <a:ext cx="3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sz="2000" b="1">
                  <a:latin typeface="Times New Roman" pitchFamily="18" charset="0"/>
                </a:rPr>
                <a:t>id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en-US" b="1" smtClean="0">
                <a:latin typeface="Times New Roman" pitchFamily="18" charset="0"/>
                <a:ea typeface="华文新魏" pitchFamily="2" charset="-122"/>
              </a:rPr>
              <a:t>LR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分析的基本步骤</a:t>
            </a:r>
            <a:endParaRPr lang="zh-CN" altLang="en-US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34147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010400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、编写拓广文法，求</a:t>
            </a:r>
            <a:r>
              <a:rPr lang="en-US" altLang="en-US" b="1" smtClean="0">
                <a:latin typeface="Times New Roman" pitchFamily="18" charset="0"/>
                <a:ea typeface="华文新魏" pitchFamily="2" charset="-122"/>
              </a:rPr>
              <a:t>Follow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集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、求识别所有活前缀的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DFA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、构造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en-US" b="1" smtClean="0">
                <a:latin typeface="Times New Roman" pitchFamily="18" charset="0"/>
                <a:ea typeface="华文新魏" pitchFamily="2" charset="-122"/>
              </a:rPr>
              <a:t>LR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分析表</a:t>
            </a:r>
            <a:endParaRPr lang="zh-CN" altLang="en-US" sz="28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3414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87C798A5-C776-4727-A681-E446608A8E9A}" type="slidenum">
              <a:rPr lang="en-US" altLang="zh-CN" smtClean="0"/>
              <a:pPr eaLnBrk="1" hangingPunct="1"/>
              <a:t>106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92175" y="0"/>
            <a:ext cx="6992938" cy="1084263"/>
          </a:xfrm>
        </p:spPr>
        <p:txBody>
          <a:bodyPr/>
          <a:lstStyle/>
          <a:p>
            <a:pPr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Yacc </a:t>
            </a:r>
            <a:r>
              <a:rPr lang="en-US" altLang="zh-CN" sz="16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kumimoji="1" lang="en-US" altLang="zh-CN" sz="1600" b="1" smtClean="0">
                <a:latin typeface="Times New Roman" pitchFamily="18" charset="0"/>
                <a:ea typeface="华文新魏" pitchFamily="2" charset="-122"/>
              </a:rPr>
              <a:t>YET  ANOTHER  COMPILER'S  COMPILER)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简介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981075"/>
            <a:ext cx="7696200" cy="5329238"/>
          </a:xfrm>
        </p:spPr>
        <p:txBody>
          <a:bodyPr/>
          <a:lstStyle/>
          <a:p>
            <a:pPr eaLnBrk="1" hangingPunct="1"/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YSP(Yacc Specification)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：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%{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变量定义：头文件和全局变量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		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%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开始符号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		词汇表：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% token  n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,n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,…(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自动定义种别码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                     % token  n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用户指定种别码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                          ……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                     % token  n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h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,i</a:t>
            </a:r>
            <a:r>
              <a:rPr lang="en-US" altLang="zh-CN" sz="2400" b="1" baseline="-25000" smtClean="0">
                <a:latin typeface="Times New Roman" pitchFamily="18" charset="0"/>
                <a:ea typeface="华文新魏" pitchFamily="2" charset="-122"/>
              </a:rPr>
              <a:t>h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用户指定种别码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		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类型说明      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%type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                         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其它说明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%}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%%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规则部分     给出文法规则的描述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%%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程序部分     扫描器和语义动作程序</a:t>
            </a:r>
          </a:p>
          <a:p>
            <a:pPr eaLnBrk="1" hangingPunct="1"/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输出：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LALR(1)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分析器</a:t>
            </a:r>
          </a:p>
        </p:txBody>
      </p:sp>
      <p:sp>
        <p:nvSpPr>
          <p:cNvPr id="135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33F2BEA-DFD2-407F-BB1E-104B27E83972}" type="slidenum">
              <a:rPr lang="en-US" altLang="zh-CN" smtClean="0"/>
              <a:pPr eaLnBrk="1" hangingPunct="1"/>
              <a:t>107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0"/>
            <a:ext cx="4248150" cy="90805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示例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981075"/>
            <a:ext cx="4608513" cy="532765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/*  </a:t>
            </a:r>
            <a:r>
              <a:rPr kumimoji="1" lang="zh-CN" altLang="en-US" sz="2000" b="1" smtClean="0">
                <a:latin typeface="Times New Roman" pitchFamily="18" charset="0"/>
                <a:ea typeface="楷体_GB2312" pitchFamily="49" charset="-122"/>
              </a:rPr>
              <a:t>表达式计算  *</a:t>
            </a: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/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% line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% token  NUM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%%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line   : expr  ‘\n'	{ printf (“\n”, $1);}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         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expr  : expr ‘+' term     { $$ = $1 + $3; }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         |  expr ‘-' term      { $$ = $1 - $3; }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         |  term	   	 /* $$ = $1 */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         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term : term  ‘*' factor    { $$ = $1 * $3; }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         |  term ‘/' factor      { $$ = $1 / $3; }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         |  factor	      	 /* $$ = $1 */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         ;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factor:  ‘(‘ espr ‘)'	      { $$ = $2; }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         |  NUM	     	 /* $$ = $1 */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kumimoji="1" lang="en-US" altLang="zh-CN" sz="2000" b="1" smtClean="0">
                <a:latin typeface="Times New Roman" pitchFamily="18" charset="0"/>
                <a:ea typeface="楷体_GB2312" pitchFamily="49" charset="-122"/>
              </a:rPr>
              <a:t>         ;</a:t>
            </a:r>
          </a:p>
        </p:txBody>
      </p:sp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5076825" y="433388"/>
            <a:ext cx="3995738" cy="5957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marL="457200" indent="-457200">
              <a:spcBef>
                <a:spcPct val="40000"/>
              </a:spcBef>
            </a:pPr>
            <a:r>
              <a:rPr kumimoji="1" lang="en-US" altLang="zh-CN" sz="2000" b="1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%%</a:t>
            </a:r>
          </a:p>
          <a:p>
            <a:pPr marL="457200" indent="-457200">
              <a:spcBef>
                <a:spcPct val="40000"/>
              </a:spcBef>
            </a:pPr>
            <a:r>
              <a:rPr kumimoji="1" lang="en-US" altLang="zh-CN" sz="2000" b="1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#include	&lt;ctype.h&gt;</a:t>
            </a:r>
          </a:p>
          <a:p>
            <a:pPr marL="457200" indent="-457200">
              <a:spcBef>
                <a:spcPct val="40000"/>
              </a:spcBef>
            </a:pPr>
            <a:r>
              <a:rPr kumimoji="1" lang="en-US" altLang="zh-CN" sz="2000" b="1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yylex( )</a:t>
            </a:r>
          </a:p>
          <a:p>
            <a:pPr marL="457200" indent="-457200">
              <a:spcBef>
                <a:spcPct val="40000"/>
              </a:spcBef>
            </a:pPr>
            <a:r>
              <a:rPr kumimoji="1" lang="en-US" altLang="zh-CN" sz="2000" b="1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{</a:t>
            </a:r>
          </a:p>
          <a:p>
            <a:pPr marL="457200" indent="-457200">
              <a:spcBef>
                <a:spcPct val="40000"/>
              </a:spcBef>
            </a:pPr>
            <a:r>
              <a:rPr kumimoji="1" lang="en-US" altLang="zh-CN" sz="2000" b="1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  int	c;</a:t>
            </a:r>
          </a:p>
          <a:p>
            <a:pPr marL="457200" indent="-457200">
              <a:spcBef>
                <a:spcPct val="40000"/>
              </a:spcBef>
            </a:pPr>
            <a:r>
              <a:rPr kumimoji="1" lang="en-US" altLang="zh-CN" sz="2000" b="1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  while (( c = getchar( )) == ‘ ‘ );</a:t>
            </a:r>
          </a:p>
          <a:p>
            <a:pPr marL="457200" indent="-457200">
              <a:spcBef>
                <a:spcPct val="40000"/>
              </a:spcBef>
            </a:pPr>
            <a:r>
              <a:rPr kumimoji="1" lang="en-US" altLang="zh-CN" sz="2000" b="1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  if ( isdigit ( c ) )  {</a:t>
            </a:r>
          </a:p>
          <a:p>
            <a:pPr marL="457200" indent="-457200">
              <a:spcBef>
                <a:spcPct val="40000"/>
              </a:spcBef>
            </a:pPr>
            <a:r>
              <a:rPr kumimoji="1" lang="en-US" altLang="zh-CN" sz="2000" b="1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       yylval = c – ‘0';</a:t>
            </a:r>
          </a:p>
          <a:p>
            <a:pPr marL="457200" indent="-457200">
              <a:spcBef>
                <a:spcPct val="40000"/>
              </a:spcBef>
            </a:pPr>
            <a:r>
              <a:rPr kumimoji="1" lang="en-US" altLang="zh-CN" sz="2000" b="1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       while ( isdigit( c = getchar ()))</a:t>
            </a:r>
          </a:p>
          <a:p>
            <a:pPr marL="457200" indent="-457200">
              <a:spcBef>
                <a:spcPct val="40000"/>
              </a:spcBef>
            </a:pPr>
            <a:r>
              <a:rPr kumimoji="1" lang="en-US" altLang="zh-CN" sz="2000" b="1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           yylval = yylval*10 + ( c-'0' );</a:t>
            </a:r>
          </a:p>
          <a:p>
            <a:pPr marL="457200" indent="-457200">
              <a:spcBef>
                <a:spcPct val="40000"/>
              </a:spcBef>
            </a:pPr>
            <a:r>
              <a:rPr kumimoji="1" lang="en-US" altLang="zh-CN" sz="2000" b="1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       ungetc ( c, stdin );</a:t>
            </a:r>
          </a:p>
          <a:p>
            <a:pPr marL="457200" indent="-457200">
              <a:spcBef>
                <a:spcPct val="40000"/>
              </a:spcBef>
            </a:pPr>
            <a:r>
              <a:rPr kumimoji="1" lang="en-US" altLang="zh-CN" sz="2000" b="1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       retun  NUM;      }</a:t>
            </a:r>
          </a:p>
          <a:p>
            <a:pPr marL="457200" indent="-457200">
              <a:spcBef>
                <a:spcPct val="40000"/>
              </a:spcBef>
            </a:pPr>
            <a:r>
              <a:rPr kumimoji="1" lang="en-US" altLang="zh-CN" sz="2000" b="1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   else   return c; </a:t>
            </a:r>
          </a:p>
          <a:p>
            <a:pPr marL="457200" indent="-457200">
              <a:spcBef>
                <a:spcPct val="40000"/>
              </a:spcBef>
            </a:pPr>
            <a:r>
              <a:rPr kumimoji="1" lang="en-US" altLang="zh-CN" sz="2000" b="1">
                <a:solidFill>
                  <a:srgbClr val="000099"/>
                </a:solidFill>
                <a:latin typeface="Times New Roman" pitchFamily="18" charset="0"/>
                <a:ea typeface="楷体_GB2312" pitchFamily="49" charset="-122"/>
              </a:rPr>
              <a:t>}</a:t>
            </a:r>
          </a:p>
        </p:txBody>
      </p:sp>
      <p:sp>
        <p:nvSpPr>
          <p:cNvPr id="136197" name="灯片编号占位符 5"/>
          <p:cNvSpPr txBox="1">
            <a:spLocks noGrp="1"/>
          </p:cNvSpPr>
          <p:nvPr/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r" eaLnBrk="1" hangingPunct="1"/>
            <a:fld id="{0CD6DE5D-9889-4FFE-9E42-D8E58E55EA2B}" type="slidenum">
              <a:rPr lang="en-US" altLang="zh-CN" sz="1400"/>
              <a:pPr algn="r" eaLnBrk="1" hangingPunct="1"/>
              <a:t>108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476250"/>
            <a:ext cx="7091363" cy="1169988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自底向上分析小结</a:t>
            </a:r>
          </a:p>
        </p:txBody>
      </p:sp>
      <p:sp>
        <p:nvSpPr>
          <p:cNvPr id="24371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42672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基本框架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移进归约分析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核心：在句型中寻找句柄进行归约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分析器具有基本相同的逻辑结构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控制算法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基于算符优先关系表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基于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分析表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动作和状态转移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137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2C24C8B1-CE78-41B1-9B2C-391897597213}" type="slidenum">
              <a:rPr lang="en-US" altLang="zh-CN" smtClean="0"/>
              <a:pPr eaLnBrk="1" hangingPunct="1"/>
              <a:t>109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3"/>
          <p:cNvSpPr>
            <a:spLocks noGrp="1" noChangeArrowheads="1"/>
          </p:cNvSpPr>
          <p:nvPr>
            <p:ph type="title"/>
          </p:nvPr>
        </p:nvSpPr>
        <p:spPr>
          <a:xfrm>
            <a:off x="1042988" y="404813"/>
            <a:ext cx="6696075" cy="957262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习题与练习</a:t>
            </a:r>
          </a:p>
        </p:txBody>
      </p:sp>
      <p:sp>
        <p:nvSpPr>
          <p:cNvPr id="138243" name="Rectangle 2"/>
          <p:cNvSpPr>
            <a:spLocks noGrp="1" noChangeArrowheads="1"/>
          </p:cNvSpPr>
          <p:nvPr>
            <p:ph idx="1"/>
          </p:nvPr>
        </p:nvSpPr>
        <p:spPr>
          <a:xfrm>
            <a:off x="468313" y="1484313"/>
            <a:ext cx="8469312" cy="4868862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习题二</a:t>
            </a: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P212 12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、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13(SLR(1))</a:t>
            </a:r>
            <a:endParaRPr lang="en-US" altLang="zh-CN" sz="2800" b="1" i="1" smtClean="0">
              <a:latin typeface="Times New Roman" pitchFamily="18" charset="0"/>
              <a:ea typeface="华文新魏" pitchFamily="2" charset="-122"/>
            </a:endParaRPr>
          </a:p>
          <a:p>
            <a:pPr marL="0" indent="0" eaLnBrk="1" hangingPunct="1">
              <a:lnSpc>
                <a:spcPct val="90000"/>
              </a:lnSpc>
              <a:spcBef>
                <a:spcPct val="60000"/>
              </a:spcBef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练习</a:t>
            </a:r>
            <a:endParaRPr lang="zh-CN" altLang="en-US" sz="2400" b="1" smtClean="0">
              <a:latin typeface="Times New Roman" pitchFamily="18" charset="0"/>
              <a:ea typeface="华文新魏" pitchFamily="2" charset="-122"/>
            </a:endParaRP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、求给定文法的拓广文法的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项目集规范族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及相应的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分析表：</a:t>
            </a:r>
          </a:p>
          <a:p>
            <a:pPr marL="857250" lvl="1" indent="-38100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A      A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B A |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         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B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a B | b</a:t>
            </a: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、已知文法 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A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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a A d | a A b |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 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，判断该文法是否是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SLR(1)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文法，如果是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SLR(1)</a:t>
            </a:r>
            <a:r>
              <a:rPr lang="zh-CN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文法，则构造分析表；并对输入串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ab# </a:t>
            </a:r>
            <a:r>
              <a:rPr lang="zh-CN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给出分析过程。</a:t>
            </a:r>
            <a:endParaRPr lang="zh-CN" altLang="en-US" sz="2800" b="1" smtClean="0">
              <a:latin typeface="Times New Roman" pitchFamily="18" charset="0"/>
              <a:ea typeface="华文新魏" pitchFamily="2" charset="-122"/>
              <a:sym typeface="Symbol" pitchFamily="18" charset="2"/>
            </a:endParaRP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3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、证明下列文法不是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LR(0)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文法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,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是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SLR(1) </a:t>
            </a:r>
            <a:r>
              <a:rPr lang="zh-CN" altLang="zh-CN" sz="2800" b="1" smtClean="0">
                <a:latin typeface="Times New Roman" pitchFamily="18" charset="0"/>
                <a:ea typeface="华文新魏" pitchFamily="2" charset="-122"/>
              </a:rPr>
              <a:t>文法</a:t>
            </a:r>
          </a:p>
          <a:p>
            <a:pPr marL="857250" lvl="1" indent="-381000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A    A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A b | b B a     B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a A c | a | a A b</a:t>
            </a:r>
          </a:p>
        </p:txBody>
      </p:sp>
      <p:sp>
        <p:nvSpPr>
          <p:cNvPr id="138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0805B1F-7CDD-46F7-8011-2C86C7CDE08B}" type="slidenum">
              <a:rPr lang="en-US" altLang="zh-CN" smtClean="0"/>
              <a:pPr eaLnBrk="1" hangingPunct="1"/>
              <a:t>110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7300" y="420688"/>
            <a:ext cx="7570788" cy="109855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上机题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选</a:t>
            </a:r>
            <a:r>
              <a:rPr lang="en-US" altLang="zh-CN" b="1" smtClean="0">
                <a:solidFill>
                  <a:srgbClr val="000099"/>
                </a:solidFill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828800"/>
            <a:ext cx="8305800" cy="4267200"/>
          </a:xfrm>
        </p:spPr>
        <p:txBody>
          <a:bodyPr/>
          <a:lstStyle/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给定下列文法：</a:t>
            </a:r>
          </a:p>
          <a:p>
            <a:pPr lvl="1" eaLnBrk="1" hangingPunct="1">
              <a:spcBef>
                <a:spcPct val="0"/>
              </a:spcBef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     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S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id=E;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     S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if C then 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     S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while C do 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     C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E&gt;E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     C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→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E&lt;=E</a:t>
            </a:r>
          </a:p>
          <a:p>
            <a:pPr lvl="1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用自底向上的方法设计并实现语法分析程序，按照生成顺序输出产生式</a:t>
            </a:r>
          </a:p>
        </p:txBody>
      </p:sp>
      <p:sp>
        <p:nvSpPr>
          <p:cNvPr id="139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4CF0D48-8153-4CDB-825D-2054059C48E6}" type="slidenum">
              <a:rPr lang="en-US" altLang="zh-CN" smtClean="0"/>
              <a:pPr eaLnBrk="1" hangingPunct="1"/>
              <a:t>111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849438" y="311150"/>
            <a:ext cx="7091362" cy="1268413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附、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分析概述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2092325"/>
            <a:ext cx="8202612" cy="4037013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不考虑搜索符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3600" b="1" smtClean="0">
                <a:latin typeface="Times New Roman" pitchFamily="18" charset="0"/>
                <a:ea typeface="华文新魏" pitchFamily="2" charset="-122"/>
              </a:rPr>
              <a:t>展望符、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后继符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SLR(1)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仅在分析时考虑搜索符，因此，对搜索符所含信息量的利用有限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希望在构造状态时就考虑搜索符的作用：考虑对于产生式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A→α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的归约，不同使用位置的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A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会要求不同的后继符号</a:t>
            </a:r>
          </a:p>
        </p:txBody>
      </p:sp>
      <p:sp>
        <p:nvSpPr>
          <p:cNvPr id="14029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3DD520FB-CB35-400F-9A9A-5C9DA45C2BAB}" type="slidenum">
              <a:rPr lang="en-US" altLang="zh-CN" smtClean="0"/>
              <a:pPr eaLnBrk="1" hangingPunct="1"/>
              <a:t>112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692150"/>
            <a:ext cx="7489825" cy="974725"/>
          </a:xfrm>
        </p:spPr>
        <p:txBody>
          <a:bodyPr/>
          <a:lstStyle/>
          <a:p>
            <a:pPr eaLnBrk="1" hangingPunct="1"/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搜索符</a:t>
            </a:r>
            <a:r>
              <a:rPr lang="en-US" altLang="zh-CN" sz="40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展望符、</a:t>
            </a:r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后继符</a:t>
            </a:r>
            <a:r>
              <a:rPr lang="en-US" altLang="zh-CN" sz="4000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的概念</a:t>
            </a:r>
          </a:p>
        </p:txBody>
      </p:sp>
      <p:sp>
        <p:nvSpPr>
          <p:cNvPr id="14131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F20BAC43-6EA1-41B5-A1C4-79021C134C21}" type="slidenum">
              <a:rPr lang="en-US" altLang="zh-CN" smtClean="0"/>
              <a:pPr eaLnBrk="1" hangingPunct="1"/>
              <a:t>113</a:t>
            </a:fld>
            <a:endParaRPr lang="en-US" altLang="zh-CN" smtClean="0"/>
          </a:p>
        </p:txBody>
      </p:sp>
      <p:sp>
        <p:nvSpPr>
          <p:cNvPr id="118787" name="Text Box 3"/>
          <p:cNvSpPr txBox="1">
            <a:spLocks noChangeArrowheads="1"/>
          </p:cNvSpPr>
          <p:nvPr/>
        </p:nvSpPr>
        <p:spPr bwMode="auto">
          <a:xfrm>
            <a:off x="6161088" y="1900238"/>
            <a:ext cx="42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E</a:t>
            </a:r>
          </a:p>
        </p:txBody>
      </p:sp>
      <p:sp>
        <p:nvSpPr>
          <p:cNvPr id="118788" name="Text Box 4"/>
          <p:cNvSpPr txBox="1">
            <a:spLocks noChangeArrowheads="1"/>
          </p:cNvSpPr>
          <p:nvPr/>
        </p:nvSpPr>
        <p:spPr bwMode="auto">
          <a:xfrm>
            <a:off x="5286375" y="3414713"/>
            <a:ext cx="2282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E        +        T</a:t>
            </a:r>
          </a:p>
        </p:txBody>
      </p:sp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4524375" y="4781550"/>
            <a:ext cx="1992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(        E       )</a:t>
            </a:r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4572000" y="6078538"/>
            <a:ext cx="1971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T      *      F </a:t>
            </a:r>
          </a:p>
        </p:txBody>
      </p:sp>
      <p:sp>
        <p:nvSpPr>
          <p:cNvPr id="118791" name="AutoShape 7"/>
          <p:cNvSpPr>
            <a:spLocks noChangeArrowheads="1"/>
          </p:cNvSpPr>
          <p:nvPr/>
        </p:nvSpPr>
        <p:spPr bwMode="auto">
          <a:xfrm>
            <a:off x="5514975" y="2509838"/>
            <a:ext cx="1676400" cy="990600"/>
          </a:xfrm>
          <a:prstGeom prst="triangle">
            <a:avLst>
              <a:gd name="adj" fmla="val 50000"/>
            </a:avLst>
          </a:prstGeom>
          <a:solidFill>
            <a:srgbClr val="99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2" name="AutoShape 8"/>
          <p:cNvSpPr>
            <a:spLocks noChangeArrowheads="1"/>
          </p:cNvSpPr>
          <p:nvPr/>
        </p:nvSpPr>
        <p:spPr bwMode="auto">
          <a:xfrm>
            <a:off x="4600575" y="3878263"/>
            <a:ext cx="1676400" cy="990600"/>
          </a:xfrm>
          <a:prstGeom prst="triangle">
            <a:avLst>
              <a:gd name="adj" fmla="val 50000"/>
            </a:avLst>
          </a:prstGeom>
          <a:solidFill>
            <a:srgbClr val="99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3" name="AutoShape 9"/>
          <p:cNvSpPr>
            <a:spLocks noChangeArrowheads="1"/>
          </p:cNvSpPr>
          <p:nvPr/>
        </p:nvSpPr>
        <p:spPr bwMode="auto">
          <a:xfrm>
            <a:off x="4724400" y="5151438"/>
            <a:ext cx="1676400" cy="990600"/>
          </a:xfrm>
          <a:prstGeom prst="triangle">
            <a:avLst>
              <a:gd name="adj" fmla="val 50000"/>
            </a:avLst>
          </a:prstGeom>
          <a:solidFill>
            <a:srgbClr val="99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794" name="Text Box 10"/>
          <p:cNvSpPr txBox="1">
            <a:spLocks noChangeArrowheads="1"/>
          </p:cNvSpPr>
          <p:nvPr/>
        </p:nvSpPr>
        <p:spPr bwMode="auto">
          <a:xfrm>
            <a:off x="762000" y="2057400"/>
            <a:ext cx="3738563" cy="405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  <a:buFontTx/>
              <a:buChar char="•"/>
            </a:pPr>
            <a:r>
              <a:rPr kumimoji="1" lang="en-US" altLang="zh-CN" sz="32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 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不同的归约中有不同的搜索符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(lookahand symbol)/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展望符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(expected symbol)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。</a:t>
            </a:r>
          </a:p>
          <a:p>
            <a:pPr>
              <a:lnSpc>
                <a:spcPct val="130000"/>
              </a:lnSpc>
            </a:pPr>
            <a:endParaRPr kumimoji="1" lang="zh-CN" altLang="en-US" sz="2800" b="1">
              <a:solidFill>
                <a:schemeClr val="tx2"/>
              </a:solidFill>
              <a:latin typeface="Times New Roman" pitchFamily="18" charset="0"/>
              <a:ea typeface="华文新魏" pitchFamily="2" charset="-122"/>
            </a:endParaRPr>
          </a:p>
          <a:p>
            <a:pPr>
              <a:lnSpc>
                <a:spcPct val="130000"/>
              </a:lnSpc>
              <a:buFontTx/>
              <a:buChar char="•"/>
            </a:pPr>
            <a:r>
              <a:rPr kumimoji="1" lang="zh-CN" altLang="en-US" sz="28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 特定位置的搜索符是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FOLLOW</a:t>
            </a:r>
            <a:r>
              <a:rPr kumimoji="1" lang="zh-CN" altLang="zh-CN" sz="2800" b="1">
                <a:solidFill>
                  <a:schemeClr val="tx2"/>
                </a:solidFill>
                <a:latin typeface="Times New Roman" pitchFamily="18" charset="0"/>
                <a:ea typeface="华文新魏" pitchFamily="2" charset="-122"/>
              </a:rPr>
              <a:t>集的子集</a:t>
            </a:r>
            <a:endParaRPr kumimoji="1" lang="zh-CN" altLang="en-US" sz="2400">
              <a:solidFill>
                <a:schemeClr val="tx2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18795" name="AutoShape 11"/>
          <p:cNvSpPr>
            <a:spLocks noChangeArrowheads="1"/>
          </p:cNvSpPr>
          <p:nvPr/>
        </p:nvSpPr>
        <p:spPr bwMode="auto">
          <a:xfrm rot="-2340103">
            <a:off x="7010400" y="3579813"/>
            <a:ext cx="152400" cy="1676400"/>
          </a:xfrm>
          <a:prstGeom prst="upArrow">
            <a:avLst>
              <a:gd name="adj1" fmla="val 50000"/>
              <a:gd name="adj2" fmla="val 275000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18796" name="AutoShape 12"/>
          <p:cNvSpPr>
            <a:spLocks noChangeArrowheads="1"/>
          </p:cNvSpPr>
          <p:nvPr/>
        </p:nvSpPr>
        <p:spPr bwMode="auto">
          <a:xfrm rot="-2373257">
            <a:off x="6942138" y="5137150"/>
            <a:ext cx="152400" cy="1676400"/>
          </a:xfrm>
          <a:prstGeom prst="upArrow">
            <a:avLst>
              <a:gd name="adj1" fmla="val 50000"/>
              <a:gd name="adj2" fmla="val 275000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18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118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6" dur="500"/>
                                        <p:tgtEl>
                                          <p:spTgt spid="11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1" dur="500"/>
                                        <p:tgtEl>
                                          <p:spTgt spid="11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autoUpdateAnimBg="0"/>
      <p:bldP spid="118788" grpId="0" autoUpdateAnimBg="0"/>
      <p:bldP spid="118789" grpId="0" autoUpdateAnimBg="0"/>
      <p:bldP spid="118790" grpId="0" autoUpdateAnimBg="0"/>
      <p:bldP spid="118791" grpId="0" animBg="1"/>
      <p:bldP spid="118792" grpId="0" animBg="1"/>
      <p:bldP spid="118793" grpId="0" animBg="1"/>
      <p:bldP spid="118794" grpId="0" build="p" autoUpdateAnimBg="0"/>
      <p:bldP spid="118795" grpId="0" animBg="1"/>
      <p:bldP spid="118796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33525" y="311150"/>
            <a:ext cx="5041900" cy="1169988"/>
          </a:xfrm>
        </p:spPr>
        <p:txBody>
          <a:bodyPr/>
          <a:lstStyle/>
          <a:p>
            <a:pPr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LR(k)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8229600" cy="47244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定义：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[A→α.β,a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…a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k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]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归约项目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: [A→α.,a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…a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k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]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移进项目：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[A→α.aβ,a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…a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k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]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3200" b="1" smtClean="0">
                <a:latin typeface="Times New Roman" pitchFamily="18" charset="0"/>
                <a:ea typeface="华文新魏" pitchFamily="2" charset="-122"/>
              </a:rPr>
              <a:t>待约项目：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[A→α.Bβ,a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1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a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2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…a</a:t>
            </a:r>
            <a:r>
              <a:rPr lang="en-US" altLang="zh-CN" sz="3200" b="1" baseline="-25000" smtClean="0">
                <a:latin typeface="Times New Roman" pitchFamily="18" charset="0"/>
                <a:ea typeface="华文新魏" pitchFamily="2" charset="-122"/>
              </a:rPr>
              <a:t>k</a:t>
            </a:r>
            <a:r>
              <a:rPr lang="en-US" altLang="zh-CN" sz="3200" b="1" smtClean="0">
                <a:latin typeface="Times New Roman" pitchFamily="18" charset="0"/>
                <a:ea typeface="华文新魏" pitchFamily="2" charset="-122"/>
              </a:rPr>
              <a:t>]</a:t>
            </a:r>
            <a:endParaRPr lang="en-US" altLang="zh-CN" sz="3200" smtClean="0">
              <a:latin typeface="Times New Roman" pitchFamily="18" charset="0"/>
              <a:ea typeface="华文新魏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利用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LR(k)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项目进行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构造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)LR(k)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器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，当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k=1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时，为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项目，相应的分析叫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器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)</a:t>
            </a:r>
          </a:p>
        </p:txBody>
      </p:sp>
      <p:sp>
        <p:nvSpPr>
          <p:cNvPr id="142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B3A5891-60EB-4999-B031-525E9E6FEC54}" type="slidenum">
              <a:rPr lang="en-US" altLang="zh-CN" smtClean="0"/>
              <a:pPr eaLnBrk="1" hangingPunct="1"/>
              <a:t>114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549275"/>
            <a:ext cx="3984625" cy="11049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闭包的计算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2133600"/>
            <a:ext cx="5257800" cy="4114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closure(I)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的计算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将核心项目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[A→α.Bβ,a ]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扩展成等价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状态集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/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闭包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同时考虑可能出现的搜索符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B→.η&amp;  b ∈FIRST( βa ) </a:t>
            </a:r>
          </a:p>
        </p:txBody>
      </p:sp>
      <p:sp>
        <p:nvSpPr>
          <p:cNvPr id="143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D2482C00-570F-4B2F-8E73-20CD99470972}" type="slidenum">
              <a:rPr lang="en-US" altLang="zh-CN" smtClean="0"/>
              <a:pPr eaLnBrk="1" hangingPunct="1"/>
              <a:t>115</a:t>
            </a:fld>
            <a:endParaRPr lang="en-US" altLang="zh-CN" smtClean="0"/>
          </a:p>
        </p:txBody>
      </p:sp>
      <p:sp>
        <p:nvSpPr>
          <p:cNvPr id="120836" name="Text Box 4"/>
          <p:cNvSpPr txBox="1">
            <a:spLocks noChangeArrowheads="1"/>
          </p:cNvSpPr>
          <p:nvPr/>
        </p:nvSpPr>
        <p:spPr bwMode="auto">
          <a:xfrm>
            <a:off x="5486400" y="33528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宋体" pitchFamily="2" charset="-122"/>
              </a:rPr>
              <a:t>α   .  </a:t>
            </a:r>
            <a:r>
              <a:rPr kumimoji="1" lang="en-US" altLang="zh-CN" sz="2800" b="1">
                <a:latin typeface="Times New Roman" pitchFamily="18" charset="0"/>
              </a:rPr>
              <a:t>B         </a:t>
            </a:r>
            <a:r>
              <a:rPr kumimoji="1" lang="en-US" altLang="zh-CN" sz="2800" b="1">
                <a:latin typeface="宋体" pitchFamily="2" charset="-122"/>
              </a:rPr>
              <a:t>β </a:t>
            </a:r>
            <a:endParaRPr kumimoji="1" lang="en-US" altLang="zh-CN" sz="2800" b="1">
              <a:latin typeface="Times New Roman" pitchFamily="18" charset="0"/>
            </a:endParaRPr>
          </a:p>
        </p:txBody>
      </p:sp>
      <p:sp>
        <p:nvSpPr>
          <p:cNvPr id="120837" name="Text Box 5"/>
          <p:cNvSpPr txBox="1">
            <a:spLocks noChangeArrowheads="1"/>
          </p:cNvSpPr>
          <p:nvPr/>
        </p:nvSpPr>
        <p:spPr bwMode="auto">
          <a:xfrm>
            <a:off x="6934200" y="1219200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</p:txBody>
      </p:sp>
      <p:sp>
        <p:nvSpPr>
          <p:cNvPr id="120838" name="Text Box 6"/>
          <p:cNvSpPr txBox="1">
            <a:spLocks noChangeArrowheads="1"/>
          </p:cNvSpPr>
          <p:nvPr/>
        </p:nvSpPr>
        <p:spPr bwMode="auto">
          <a:xfrm>
            <a:off x="6019800" y="5181600"/>
            <a:ext cx="1914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宋体" pitchFamily="2" charset="-122"/>
              </a:rPr>
              <a:t>.    η</a:t>
            </a:r>
          </a:p>
        </p:txBody>
      </p:sp>
      <p:cxnSp>
        <p:nvCxnSpPr>
          <p:cNvPr id="120839" name="AutoShape 7"/>
          <p:cNvCxnSpPr>
            <a:cxnSpLocks noChangeShapeType="1"/>
            <a:stCxn id="120837" idx="2"/>
            <a:endCxn id="120836" idx="0"/>
          </p:cNvCxnSpPr>
          <p:nvPr/>
        </p:nvCxnSpPr>
        <p:spPr bwMode="auto">
          <a:xfrm>
            <a:off x="7154863" y="1738313"/>
            <a:ext cx="7937" cy="16144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0840" name="Freeform 8"/>
          <p:cNvSpPr>
            <a:spLocks/>
          </p:cNvSpPr>
          <p:nvPr/>
        </p:nvSpPr>
        <p:spPr bwMode="auto">
          <a:xfrm>
            <a:off x="5486400" y="1781175"/>
            <a:ext cx="1524000" cy="1524000"/>
          </a:xfrm>
          <a:custGeom>
            <a:avLst/>
            <a:gdLst>
              <a:gd name="T0" fmla="*/ 2147483647 w 960"/>
              <a:gd name="T1" fmla="*/ 0 h 960"/>
              <a:gd name="T2" fmla="*/ 0 w 960"/>
              <a:gd name="T3" fmla="*/ 2147483647 h 960"/>
              <a:gd name="T4" fmla="*/ 1693545363 w 960"/>
              <a:gd name="T5" fmla="*/ 2147483647 h 960"/>
              <a:gd name="T6" fmla="*/ 2147483647 w 960"/>
              <a:gd name="T7" fmla="*/ 0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960"/>
              <a:gd name="T13" fmla="*/ 0 h 960"/>
              <a:gd name="T14" fmla="*/ 960 w 960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0" h="960">
                <a:moveTo>
                  <a:pt x="960" y="0"/>
                </a:moveTo>
                <a:lnTo>
                  <a:pt x="0" y="960"/>
                </a:lnTo>
                <a:lnTo>
                  <a:pt x="672" y="960"/>
                </a:lnTo>
                <a:lnTo>
                  <a:pt x="96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1" name="Freeform 9"/>
          <p:cNvSpPr>
            <a:spLocks/>
          </p:cNvSpPr>
          <p:nvPr/>
        </p:nvSpPr>
        <p:spPr bwMode="auto">
          <a:xfrm>
            <a:off x="7315200" y="1781175"/>
            <a:ext cx="1447800" cy="1524000"/>
          </a:xfrm>
          <a:custGeom>
            <a:avLst/>
            <a:gdLst>
              <a:gd name="T0" fmla="*/ 0 w 912"/>
              <a:gd name="T1" fmla="*/ 0 h 960"/>
              <a:gd name="T2" fmla="*/ 2147483647 w 912"/>
              <a:gd name="T3" fmla="*/ 2147483647 h 960"/>
              <a:gd name="T4" fmla="*/ 604837537 w 912"/>
              <a:gd name="T5" fmla="*/ 2147483647 h 960"/>
              <a:gd name="T6" fmla="*/ 0 w 912"/>
              <a:gd name="T7" fmla="*/ 0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912"/>
              <a:gd name="T13" fmla="*/ 0 h 960"/>
              <a:gd name="T14" fmla="*/ 912 w 912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2" h="960">
                <a:moveTo>
                  <a:pt x="0" y="0"/>
                </a:moveTo>
                <a:lnTo>
                  <a:pt x="912" y="960"/>
                </a:lnTo>
                <a:lnTo>
                  <a:pt x="240" y="9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2" name="AutoShape 10"/>
          <p:cNvSpPr>
            <a:spLocks noChangeArrowheads="1"/>
          </p:cNvSpPr>
          <p:nvPr/>
        </p:nvSpPr>
        <p:spPr bwMode="auto">
          <a:xfrm>
            <a:off x="6629400" y="3838575"/>
            <a:ext cx="990600" cy="1371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843" name="AutoShape 11"/>
          <p:cNvSpPr>
            <a:spLocks noChangeArrowheads="1"/>
          </p:cNvSpPr>
          <p:nvPr/>
        </p:nvSpPr>
        <p:spPr bwMode="auto">
          <a:xfrm rot="669288">
            <a:off x="6324600" y="3860800"/>
            <a:ext cx="101600" cy="1473200"/>
          </a:xfrm>
          <a:prstGeom prst="upDownArrow">
            <a:avLst>
              <a:gd name="adj1" fmla="val 50000"/>
              <a:gd name="adj2" fmla="val 290000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20844" name="Text Box 12"/>
          <p:cNvSpPr txBox="1">
            <a:spLocks noChangeArrowheads="1"/>
          </p:cNvSpPr>
          <p:nvPr/>
        </p:nvSpPr>
        <p:spPr bwMode="auto">
          <a:xfrm>
            <a:off x="8213725" y="517207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b</a:t>
            </a:r>
          </a:p>
        </p:txBody>
      </p:sp>
      <p:sp>
        <p:nvSpPr>
          <p:cNvPr id="120845" name="AutoShape 13"/>
          <p:cNvSpPr>
            <a:spLocks noChangeArrowheads="1"/>
          </p:cNvSpPr>
          <p:nvPr/>
        </p:nvSpPr>
        <p:spPr bwMode="auto">
          <a:xfrm>
            <a:off x="8229600" y="3886200"/>
            <a:ext cx="152400" cy="1143000"/>
          </a:xfrm>
          <a:prstGeom prst="downArrow">
            <a:avLst>
              <a:gd name="adj1" fmla="val 50000"/>
              <a:gd name="adj2" fmla="val 187500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12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9" dur="500"/>
                                        <p:tgtEl>
                                          <p:spTgt spid="12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12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7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1" dur="500"/>
                                        <p:tgtEl>
                                          <p:spTgt spid="12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5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0" fill="hold"/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0" fill="hold"/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 autoUpdateAnimBg="0"/>
      <p:bldP spid="120836" grpId="0" autoUpdateAnimBg="0"/>
      <p:bldP spid="120837" grpId="0" autoUpdateAnimBg="0"/>
      <p:bldP spid="120838" grpId="0" autoUpdateAnimBg="0"/>
      <p:bldP spid="120840" grpId="0" animBg="1"/>
      <p:bldP spid="120841" grpId="0" animBg="1"/>
      <p:bldP spid="120842" grpId="0" animBg="1"/>
      <p:bldP spid="120843" grpId="0" animBg="1"/>
      <p:bldP spid="120844" grpId="0" autoUpdateAnimBg="0"/>
      <p:bldP spid="12084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28600"/>
            <a:ext cx="3810000" cy="13700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闭包的计算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905000"/>
            <a:ext cx="8077200" cy="47244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J:=I; 				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repeat 				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J=J∪{[B→.η,b]|[A→α.B</a:t>
            </a:r>
            <a:r>
              <a:rPr lang="en-US" altLang="zh-CN" sz="2800" b="1" u="sng" smtClean="0">
                <a:latin typeface="Times New Roman" pitchFamily="18" charset="0"/>
                <a:ea typeface="华文新魏" pitchFamily="2" charset="-122"/>
              </a:rPr>
              <a:t>β,a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]∈J,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           b∈</a:t>
            </a:r>
            <a:r>
              <a:rPr lang="en-US" altLang="zh-CN" sz="2800" b="1" u="sng" smtClean="0">
                <a:latin typeface="Times New Roman" pitchFamily="18" charset="0"/>
                <a:ea typeface="华文新魏" pitchFamily="2" charset="-122"/>
              </a:rPr>
              <a:t>FIRST(βa)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}	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until  J 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不再扩大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当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β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</a:t>
            </a:r>
            <a:r>
              <a:rPr lang="en-US" altLang="zh-CN" sz="2800" b="1" baseline="30000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+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ε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时，此时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b=a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叫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继承的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(inherited)/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传播的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(propagated)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搜索符，否则叫</a:t>
            </a:r>
            <a:r>
              <a:rPr lang="zh-CN" altLang="en-US" sz="28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自生的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(spontaneous)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搜索符</a:t>
            </a:r>
          </a:p>
        </p:txBody>
      </p:sp>
      <p:sp>
        <p:nvSpPr>
          <p:cNvPr id="144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522EED8B-FDC8-4917-A179-BF52EA3E7FCA}" type="slidenum">
              <a:rPr lang="en-US" altLang="zh-CN" smtClean="0"/>
              <a:pPr eaLnBrk="1" hangingPunct="1"/>
              <a:t>116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060575"/>
            <a:ext cx="4176713" cy="1524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状态 </a:t>
            </a:r>
            <a:r>
              <a:rPr lang="en-US" altLang="zh-CN" sz="4000" b="1" smtClean="0">
                <a:latin typeface="Times New Roman" pitchFamily="18" charset="0"/>
                <a:ea typeface="华文新魏" pitchFamily="2" charset="-122"/>
              </a:rPr>
              <a:t>I </a:t>
            </a:r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关于文法符号 </a:t>
            </a:r>
            <a:r>
              <a:rPr lang="en-US" altLang="zh-CN" sz="4000" b="1" smtClean="0">
                <a:latin typeface="Times New Roman" pitchFamily="18" charset="0"/>
                <a:ea typeface="华文新魏" pitchFamily="2" charset="-122"/>
              </a:rPr>
              <a:t>X </a:t>
            </a:r>
            <a:r>
              <a:rPr lang="zh-CN" altLang="en-US" sz="4000" b="1" smtClean="0">
                <a:latin typeface="Times New Roman" pitchFamily="18" charset="0"/>
                <a:ea typeface="华文新魏" pitchFamily="2" charset="-122"/>
              </a:rPr>
              <a:t>的转移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5257800"/>
            <a:ext cx="8070850" cy="12192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go(I,X) =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    closure([A→αX.β,a]|[A→α.Xβ,a]∈I)</a:t>
            </a:r>
          </a:p>
        </p:txBody>
      </p:sp>
      <p:sp>
        <p:nvSpPr>
          <p:cNvPr id="145412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0B9FCBC-E719-4E41-A5A2-F2114A0F1A02}" type="slidenum">
              <a:rPr lang="en-US" altLang="zh-CN" smtClean="0"/>
              <a:pPr eaLnBrk="1" hangingPunct="1"/>
              <a:t>117</a:t>
            </a:fld>
            <a:endParaRPr lang="en-US" altLang="zh-CN" smtClean="0"/>
          </a:p>
        </p:txBody>
      </p:sp>
      <p:sp>
        <p:nvSpPr>
          <p:cNvPr id="122884" name="Text Box 4"/>
          <p:cNvSpPr txBox="1">
            <a:spLocks noChangeArrowheads="1"/>
          </p:cNvSpPr>
          <p:nvPr/>
        </p:nvSpPr>
        <p:spPr bwMode="auto">
          <a:xfrm>
            <a:off x="6477000" y="609600"/>
            <a:ext cx="441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800" b="1">
                <a:latin typeface="Times New Roman" pitchFamily="18" charset="0"/>
              </a:rPr>
              <a:t>A</a:t>
            </a:r>
          </a:p>
        </p:txBody>
      </p:sp>
      <p:cxnSp>
        <p:nvCxnSpPr>
          <p:cNvPr id="122885" name="AutoShape 5"/>
          <p:cNvCxnSpPr>
            <a:cxnSpLocks noChangeShapeType="1"/>
            <a:stCxn id="122884" idx="2"/>
            <a:endCxn id="122891" idx="0"/>
          </p:cNvCxnSpPr>
          <p:nvPr/>
        </p:nvCxnSpPr>
        <p:spPr bwMode="auto">
          <a:xfrm flipH="1">
            <a:off x="6667500" y="1128713"/>
            <a:ext cx="30163" cy="11572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886" name="Freeform 6"/>
          <p:cNvSpPr>
            <a:spLocks/>
          </p:cNvSpPr>
          <p:nvPr/>
        </p:nvSpPr>
        <p:spPr bwMode="auto">
          <a:xfrm>
            <a:off x="5029200" y="1171575"/>
            <a:ext cx="1524000" cy="1524000"/>
          </a:xfrm>
          <a:custGeom>
            <a:avLst/>
            <a:gdLst>
              <a:gd name="T0" fmla="*/ 2147483647 w 960"/>
              <a:gd name="T1" fmla="*/ 0 h 960"/>
              <a:gd name="T2" fmla="*/ 0 w 960"/>
              <a:gd name="T3" fmla="*/ 2147483647 h 960"/>
              <a:gd name="T4" fmla="*/ 1693545363 w 960"/>
              <a:gd name="T5" fmla="*/ 2147483647 h 960"/>
              <a:gd name="T6" fmla="*/ 2147483647 w 960"/>
              <a:gd name="T7" fmla="*/ 0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960"/>
              <a:gd name="T13" fmla="*/ 0 h 960"/>
              <a:gd name="T14" fmla="*/ 960 w 960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0" h="960">
                <a:moveTo>
                  <a:pt x="960" y="0"/>
                </a:moveTo>
                <a:lnTo>
                  <a:pt x="0" y="960"/>
                </a:lnTo>
                <a:lnTo>
                  <a:pt x="672" y="960"/>
                </a:lnTo>
                <a:lnTo>
                  <a:pt x="960" y="0"/>
                </a:lnTo>
                <a:close/>
              </a:path>
            </a:pathLst>
          </a:custGeom>
          <a:solidFill>
            <a:srgbClr val="99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887" name="Freeform 7"/>
          <p:cNvSpPr>
            <a:spLocks/>
          </p:cNvSpPr>
          <p:nvPr/>
        </p:nvSpPr>
        <p:spPr bwMode="auto">
          <a:xfrm>
            <a:off x="6858000" y="1171575"/>
            <a:ext cx="1447800" cy="1524000"/>
          </a:xfrm>
          <a:custGeom>
            <a:avLst/>
            <a:gdLst>
              <a:gd name="T0" fmla="*/ 0 w 912"/>
              <a:gd name="T1" fmla="*/ 0 h 960"/>
              <a:gd name="T2" fmla="*/ 2147483647 w 912"/>
              <a:gd name="T3" fmla="*/ 2147483647 h 960"/>
              <a:gd name="T4" fmla="*/ 604837537 w 912"/>
              <a:gd name="T5" fmla="*/ 2147483647 h 960"/>
              <a:gd name="T6" fmla="*/ 0 w 912"/>
              <a:gd name="T7" fmla="*/ 0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912"/>
              <a:gd name="T13" fmla="*/ 0 h 960"/>
              <a:gd name="T14" fmla="*/ 912 w 912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2" h="960">
                <a:moveTo>
                  <a:pt x="0" y="0"/>
                </a:moveTo>
                <a:lnTo>
                  <a:pt x="912" y="960"/>
                </a:lnTo>
                <a:lnTo>
                  <a:pt x="240" y="960"/>
                </a:lnTo>
                <a:lnTo>
                  <a:pt x="0" y="0"/>
                </a:lnTo>
                <a:close/>
              </a:path>
            </a:pathLst>
          </a:custGeom>
          <a:solidFill>
            <a:srgbClr val="99FFCC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888" name="AutoShape 8"/>
          <p:cNvSpPr>
            <a:spLocks noChangeArrowheads="1"/>
          </p:cNvSpPr>
          <p:nvPr/>
        </p:nvSpPr>
        <p:spPr bwMode="auto">
          <a:xfrm>
            <a:off x="5486400" y="3581400"/>
            <a:ext cx="1143000" cy="1219200"/>
          </a:xfrm>
          <a:prstGeom prst="upArrowCallout">
            <a:avLst>
              <a:gd name="adj1" fmla="val 15833"/>
              <a:gd name="adj2" fmla="val 23750"/>
              <a:gd name="adj3" fmla="val 15141"/>
              <a:gd name="adj4" fmla="val 41407"/>
            </a:avLst>
          </a:prstGeom>
          <a:solidFill>
            <a:srgbClr val="99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r>
              <a:rPr kumimoji="1" lang="zh-CN" altLang="en-US" sz="2800" b="1" i="1">
                <a:solidFill>
                  <a:srgbClr val="CC0000"/>
                </a:solidFill>
                <a:latin typeface="Times New Roman" pitchFamily="18" charset="0"/>
                <a:ea typeface="华文新魏" pitchFamily="2" charset="-122"/>
              </a:rPr>
              <a:t>状态 </a:t>
            </a:r>
            <a:r>
              <a:rPr kumimoji="1" lang="en-US" altLang="zh-CN" sz="2800" b="1" i="1">
                <a:solidFill>
                  <a:srgbClr val="CC0000"/>
                </a:solidFill>
                <a:latin typeface="Times New Roman" pitchFamily="18" charset="0"/>
                <a:ea typeface="华文新魏" pitchFamily="2" charset="-122"/>
              </a:rPr>
              <a:t>I</a:t>
            </a:r>
          </a:p>
        </p:txBody>
      </p:sp>
      <p:sp>
        <p:nvSpPr>
          <p:cNvPr id="122889" name="AutoShape 9"/>
          <p:cNvSpPr>
            <a:spLocks noChangeArrowheads="1"/>
          </p:cNvSpPr>
          <p:nvPr/>
        </p:nvSpPr>
        <p:spPr bwMode="auto">
          <a:xfrm>
            <a:off x="6781800" y="3581400"/>
            <a:ext cx="1219200" cy="1219200"/>
          </a:xfrm>
          <a:prstGeom prst="upArrowCallout">
            <a:avLst>
              <a:gd name="adj1" fmla="val 16667"/>
              <a:gd name="adj2" fmla="val 25000"/>
              <a:gd name="adj3" fmla="val 20833"/>
              <a:gd name="adj4" fmla="val 39194"/>
            </a:avLst>
          </a:prstGeom>
          <a:solidFill>
            <a:srgbClr val="99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eaLnBrk="0" hangingPunct="0"/>
            <a:r>
              <a:rPr kumimoji="1" lang="zh-CN" altLang="en-US" sz="2800" b="1" i="1">
                <a:solidFill>
                  <a:srgbClr val="CC0000"/>
                </a:solidFill>
                <a:latin typeface="Times New Roman" pitchFamily="18" charset="0"/>
                <a:ea typeface="华文新魏" pitchFamily="2" charset="-122"/>
              </a:rPr>
              <a:t>核心 </a:t>
            </a:r>
            <a:r>
              <a:rPr kumimoji="1" lang="en-US" altLang="zh-CN" sz="2800" b="1" i="1">
                <a:solidFill>
                  <a:srgbClr val="CC0000"/>
                </a:solidFill>
                <a:latin typeface="Times New Roman" pitchFamily="18" charset="0"/>
                <a:ea typeface="华文新魏" pitchFamily="2" charset="-122"/>
              </a:rPr>
              <a:t>J</a:t>
            </a:r>
          </a:p>
        </p:txBody>
      </p:sp>
      <p:sp>
        <p:nvSpPr>
          <p:cNvPr id="122890" name="AutoShape 10"/>
          <p:cNvSpPr>
            <a:spLocks noChangeArrowheads="1"/>
          </p:cNvSpPr>
          <p:nvPr/>
        </p:nvSpPr>
        <p:spPr bwMode="auto">
          <a:xfrm>
            <a:off x="6096000" y="3200400"/>
            <a:ext cx="1295400" cy="304800"/>
          </a:xfrm>
          <a:prstGeom prst="curvedUpArrow">
            <a:avLst>
              <a:gd name="adj1" fmla="val 65521"/>
              <a:gd name="adj2" fmla="val 150521"/>
              <a:gd name="adj3" fmla="val 33333"/>
            </a:avLst>
          </a:prstGeom>
          <a:solidFill>
            <a:srgbClr val="CC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891" name="Text Box 11"/>
          <p:cNvSpPr txBox="1">
            <a:spLocks noChangeArrowheads="1"/>
          </p:cNvSpPr>
          <p:nvPr/>
        </p:nvSpPr>
        <p:spPr bwMode="auto">
          <a:xfrm>
            <a:off x="4876800" y="2286000"/>
            <a:ext cx="35814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endParaRPr kumimoji="1" lang="en-US" altLang="zh-CN" sz="2800" b="1">
              <a:latin typeface="宋体" pitchFamily="2" charset="-122"/>
            </a:endParaRPr>
          </a:p>
          <a:p>
            <a:r>
              <a:rPr kumimoji="1" lang="en-US" altLang="zh-CN" sz="2800" b="1">
                <a:latin typeface="宋体" pitchFamily="2" charset="-122"/>
              </a:rPr>
              <a:t>α   .   </a:t>
            </a:r>
            <a:r>
              <a:rPr kumimoji="1" lang="en-US" altLang="zh-CN" sz="2800" b="1">
                <a:latin typeface="Times New Roman" pitchFamily="18" charset="0"/>
              </a:rPr>
              <a:t>X      </a:t>
            </a:r>
            <a:r>
              <a:rPr kumimoji="1" lang="zh-CN" altLang="en-US" sz="2800" b="1">
                <a:latin typeface="Times New Roman" pitchFamily="18" charset="0"/>
              </a:rPr>
              <a:t>． </a:t>
            </a:r>
            <a:r>
              <a:rPr kumimoji="1" lang="en-US" altLang="zh-CN" sz="2800" b="1">
                <a:latin typeface="宋体" pitchFamily="2" charset="-122"/>
              </a:rPr>
              <a:t>β</a:t>
            </a:r>
          </a:p>
          <a:p>
            <a:r>
              <a:rPr kumimoji="1" lang="en-US" altLang="zh-CN" sz="2800" b="1" i="1">
                <a:latin typeface="宋体" pitchFamily="2" charset="-122"/>
              </a:rPr>
              <a:t>   </a:t>
            </a:r>
          </a:p>
        </p:txBody>
      </p:sp>
      <p:sp>
        <p:nvSpPr>
          <p:cNvPr id="122892" name="Line 12"/>
          <p:cNvSpPr>
            <a:spLocks noChangeShapeType="1"/>
          </p:cNvSpPr>
          <p:nvPr/>
        </p:nvSpPr>
        <p:spPr bwMode="auto">
          <a:xfrm flipV="1">
            <a:off x="4643438" y="4876800"/>
            <a:ext cx="2747962" cy="712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893" name="AutoShape 13"/>
          <p:cNvSpPr>
            <a:spLocks/>
          </p:cNvSpPr>
          <p:nvPr/>
        </p:nvSpPr>
        <p:spPr bwMode="auto">
          <a:xfrm rot="5335052">
            <a:off x="4464051" y="3249612"/>
            <a:ext cx="292100" cy="4968875"/>
          </a:xfrm>
          <a:prstGeom prst="leftBrace">
            <a:avLst>
              <a:gd name="adj1" fmla="val 14175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533400"/>
            <a:ext cx="5943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计算</a:t>
            </a:r>
            <a:r>
              <a:rPr lang="en-US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LR(1)</a:t>
            </a:r>
            <a:r>
              <a:rPr lang="zh-CN" altLang="zh-CN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项目集规范族</a:t>
            </a: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Ｃ</a:t>
            </a:r>
            <a:b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</a:br>
            <a:r>
              <a:rPr lang="zh-CN" altLang="en-US" sz="36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rPr>
              <a:t>即：分析器状态集合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981200"/>
            <a:ext cx="7772400" cy="45720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C={I</a:t>
            </a:r>
            <a:r>
              <a:rPr lang="en-US" altLang="zh-CN" sz="2800" b="1" baseline="-25000" smtClean="0">
                <a:latin typeface="Times New Roman" pitchFamily="18" charset="0"/>
                <a:ea typeface="华文新魏" pitchFamily="2" charset="-122"/>
              </a:rPr>
              <a:t>0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}∪{I|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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J∈C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X∈V∪T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I=go(J,X)}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称为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G'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LR(1)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项目集规范族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算法：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P181) 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begin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C:= {closure({ S'→.S,#})};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repeat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for 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I∈C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zh-CN" altLang="en-US" sz="26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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X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∈ V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∪T</a:t>
            </a:r>
            <a:endParaRPr lang="en-US" altLang="zh-CN" sz="2800" b="1" smtClean="0">
              <a:latin typeface="Times New Roman" pitchFamily="18" charset="0"/>
              <a:ea typeface="华文新魏" pitchFamily="2" charset="-122"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      if go(I,X)≠Φ &amp; go(I,X)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  <a:sym typeface="Symbol" pitchFamily="18" charset="2"/>
              </a:rPr>
              <a:t>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C then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				C=C</a:t>
            </a:r>
            <a:r>
              <a:rPr lang="en-US" altLang="zh-CN" sz="2600" b="1" smtClean="0">
                <a:latin typeface="Times New Roman" pitchFamily="18" charset="0"/>
                <a:ea typeface="华文新魏" pitchFamily="2" charset="-122"/>
              </a:rPr>
              <a:t>∪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go(I,X)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  until C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不变化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end.</a:t>
            </a:r>
          </a:p>
        </p:txBody>
      </p:sp>
      <p:sp>
        <p:nvSpPr>
          <p:cNvPr id="146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7DA071D-2454-4036-8C99-93DF4014D235}" type="slidenum">
              <a:rPr lang="en-US" altLang="zh-CN" smtClean="0"/>
              <a:pPr eaLnBrk="1" hangingPunct="1"/>
              <a:t>118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620713"/>
            <a:ext cx="8243887" cy="1062037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面向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LR(1)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的识别活前缀的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DFA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989138"/>
            <a:ext cx="8243887" cy="3816350"/>
          </a:xfrm>
        </p:spPr>
        <p:txBody>
          <a:bodyPr/>
          <a:lstStyle/>
          <a:p>
            <a:pPr eaLnBrk="1" hangingPunct="1">
              <a:spcBef>
                <a:spcPct val="5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识别文法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G=(V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T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P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，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的拓广文法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G'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的所有活前缀的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DFA M=(C, V∪T, go, I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0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, C)</a:t>
            </a:r>
          </a:p>
          <a:p>
            <a:pPr lvl="1" eaLnBrk="1" hangingPunct="1">
              <a:spcBef>
                <a:spcPct val="55000"/>
              </a:spcBef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I</a:t>
            </a:r>
            <a:r>
              <a:rPr lang="en-US" altLang="zh-CN" b="1" baseline="-25000" smtClean="0">
                <a:latin typeface="Times New Roman" pitchFamily="18" charset="0"/>
                <a:ea typeface="华文新魏" pitchFamily="2" charset="-122"/>
              </a:rPr>
              <a:t>0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=CLOSURE({S' →.S, #}</a:t>
            </a:r>
          </a:p>
          <a:p>
            <a:pPr eaLnBrk="1" hangingPunct="1">
              <a:spcBef>
                <a:spcPct val="55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CFG G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分析表无冲突则称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为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LR(1)</a:t>
            </a:r>
            <a:r>
              <a:rPr lang="zh-CN" altLang="zh-CN" b="1" smtClean="0">
                <a:latin typeface="Times New Roman" pitchFamily="18" charset="0"/>
                <a:ea typeface="华文新魏" pitchFamily="2" charset="-122"/>
              </a:rPr>
              <a:t>文法</a:t>
            </a: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47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A8C51054-312B-4852-9184-8BF84D001619}" type="slidenum">
              <a:rPr lang="en-US" altLang="zh-CN" smtClean="0"/>
              <a:pPr eaLnBrk="1" hangingPunct="1"/>
              <a:t>119</a:t>
            </a:fld>
            <a:endParaRPr lang="en-US" altLang="zh-CN" smtClean="0"/>
          </a:p>
        </p:txBody>
      </p:sp>
      <p:sp>
        <p:nvSpPr>
          <p:cNvPr id="147461" name="Text Box 4"/>
          <p:cNvSpPr txBox="1">
            <a:spLocks noChangeArrowheads="1"/>
          </p:cNvSpPr>
          <p:nvPr/>
        </p:nvSpPr>
        <p:spPr bwMode="auto">
          <a:xfrm>
            <a:off x="4876800" y="5715000"/>
            <a:ext cx="3429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838200"/>
            <a:ext cx="6011862" cy="838200"/>
          </a:xfrm>
        </p:spPr>
        <p:txBody>
          <a:bodyPr/>
          <a:lstStyle/>
          <a:p>
            <a:pPr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LR(1)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分析表的构造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057400"/>
            <a:ext cx="8305800" cy="35052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算法：见教材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P187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与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</a:t>
            </a:r>
            <a:r>
              <a:rPr lang="zh-CN" altLang="zh-CN" b="1" smtClean="0">
                <a:latin typeface="Times New Roman" pitchFamily="18" charset="0"/>
                <a:ea typeface="华文新魏" pitchFamily="2" charset="-122"/>
              </a:rPr>
              <a:t>不同点主要在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归约动作的选择：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LR(0)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分析考虑所有终结符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SLR(1)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分析参考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FOLLOW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集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LR(1) </a:t>
            </a:r>
            <a:r>
              <a:rPr lang="zh-CN" altLang="zh-CN" b="1" smtClean="0">
                <a:latin typeface="Times New Roman" pitchFamily="18" charset="0"/>
                <a:ea typeface="华文新魏" pitchFamily="2" charset="-122"/>
              </a:rPr>
              <a:t>分析仅考虑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项目中的搜索符</a:t>
            </a:r>
          </a:p>
        </p:txBody>
      </p:sp>
      <p:sp>
        <p:nvSpPr>
          <p:cNvPr id="14848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DAEA8A8-8475-429D-9A90-DBD3272EAE4D}" type="slidenum">
              <a:rPr lang="en-US" altLang="zh-CN" smtClean="0"/>
              <a:pPr eaLnBrk="1" hangingPunct="1"/>
              <a:t>120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765175"/>
            <a:ext cx="5999162" cy="83185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四、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LALR(1)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分析概述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981200"/>
            <a:ext cx="8153400" cy="45720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LR(1)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对应的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C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太大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？是否可以将某些闭包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/</a:t>
            </a: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状态合并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不同的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LR(1)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项目闭包可能有相同的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LR(0)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项目，但搜索符可能不同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——</a:t>
            </a:r>
            <a:r>
              <a:rPr lang="zh-CN" altLang="en-US" sz="2400" b="1" smtClean="0">
                <a:solidFill>
                  <a:schemeClr val="hlink"/>
                </a:solidFill>
                <a:latin typeface="Times New Roman" pitchFamily="18" charset="0"/>
                <a:ea typeface="华文新魏" pitchFamily="2" charset="-122"/>
              </a:rPr>
              <a:t>同心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合并后可能带来归约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-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归约冲突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合并那些不会带来冲突的同心的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LR(1)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闭包</a:t>
            </a:r>
            <a:r>
              <a:rPr lang="en-US" altLang="zh-CN" sz="2400" b="1" smtClean="0">
                <a:latin typeface="Times New Roman" pitchFamily="18" charset="0"/>
                <a:ea typeface="华文新魏" pitchFamily="2" charset="-122"/>
              </a:rPr>
              <a:t>/</a:t>
            </a: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状态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en-US" altLang="zh-CN" sz="2800" b="1" smtClean="0">
                <a:latin typeface="Times New Roman" pitchFamily="18" charset="0"/>
                <a:ea typeface="华文新魏" pitchFamily="2" charset="-122"/>
              </a:rPr>
              <a:t>( lookahead-LR )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b="1" smtClean="0">
                <a:latin typeface="Times New Roman" pitchFamily="18" charset="0"/>
                <a:ea typeface="华文新魏" pitchFamily="2" charset="-122"/>
              </a:rPr>
              <a:t>在不带来移进归约冲突的条件下，合并状态，重构分析表</a:t>
            </a:r>
          </a:p>
        </p:txBody>
      </p:sp>
      <p:sp>
        <p:nvSpPr>
          <p:cNvPr id="149508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477FE39B-EB0C-4953-9368-849336154139}" type="slidenum">
              <a:rPr lang="en-US" altLang="zh-CN" smtClean="0"/>
              <a:pPr eaLnBrk="1" hangingPunct="1"/>
              <a:t>121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836613"/>
            <a:ext cx="5629275" cy="838200"/>
          </a:xfrm>
        </p:spPr>
        <p:txBody>
          <a:bodyPr/>
          <a:lstStyle/>
          <a:p>
            <a:pPr eaLnBrk="1" hangingPunct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LALR(1) 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的分析能力</a:t>
            </a:r>
            <a:endParaRPr lang="zh-CN" altLang="en-US" sz="4800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017713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强于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SLR(1)</a:t>
            </a:r>
          </a:p>
          <a:p>
            <a:pPr lvl="1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合并的搜索符仍为 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FOLLOW </a:t>
            </a:r>
            <a:r>
              <a:rPr lang="zh-CN" altLang="zh-CN" b="1" smtClean="0">
                <a:latin typeface="Times New Roman" pitchFamily="18" charset="0"/>
                <a:ea typeface="华文新魏" pitchFamily="2" charset="-122"/>
              </a:rPr>
              <a:t>集的子集</a:t>
            </a:r>
          </a:p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局限性</a:t>
            </a:r>
          </a:p>
          <a:p>
            <a:pPr lvl="1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合并中不出现归约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-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归约冲突</a:t>
            </a:r>
          </a:p>
          <a:p>
            <a:pPr lvl="1"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如果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CFG G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的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LALR(1)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分析表无冲突则称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G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为</a:t>
            </a:r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LALR(1)</a:t>
            </a:r>
            <a:r>
              <a:rPr lang="zh-CN" altLang="zh-CN" b="1" smtClean="0">
                <a:latin typeface="Times New Roman" pitchFamily="18" charset="0"/>
                <a:ea typeface="华文新魏" pitchFamily="2" charset="-122"/>
              </a:rPr>
              <a:t>文法</a:t>
            </a:r>
            <a:endParaRPr lang="zh-CN" altLang="en-US" b="1" smtClean="0"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15053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C677A91C-CBF7-4DB8-888F-889B80E9DA86}" type="slidenum">
              <a:rPr lang="en-US" altLang="zh-CN" smtClean="0"/>
              <a:pPr eaLnBrk="1" hangingPunct="1"/>
              <a:t>122</a:t>
            </a:fld>
            <a:endParaRPr lang="en-US" altLang="zh-CN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91440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二义性文法问题</a:t>
            </a:r>
          </a:p>
        </p:txBody>
      </p:sp>
      <p:sp>
        <p:nvSpPr>
          <p:cNvPr id="15155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67ED307B-D66B-44A2-A222-2A71C8652C7F}" type="slidenum">
              <a:rPr lang="en-US" altLang="zh-CN" smtClean="0"/>
              <a:pPr eaLnBrk="1" hangingPunct="1"/>
              <a:t>123</a:t>
            </a:fld>
            <a:endParaRPr lang="en-US" altLang="zh-CN" smtClean="0"/>
          </a:p>
        </p:txBody>
      </p:sp>
      <p:sp>
        <p:nvSpPr>
          <p:cNvPr id="129027" name="Text Box 3"/>
          <p:cNvSpPr txBox="1">
            <a:spLocks noChangeArrowheads="1"/>
          </p:cNvSpPr>
          <p:nvPr/>
        </p:nvSpPr>
        <p:spPr bwMode="auto">
          <a:xfrm>
            <a:off x="838200" y="2438400"/>
            <a:ext cx="1981200" cy="20542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1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E'→E.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 . +E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E→E.*E</a:t>
            </a:r>
          </a:p>
        </p:txBody>
      </p:sp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4038600" y="2362200"/>
            <a:ext cx="1905000" cy="20542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7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E→E+E.</a:t>
            </a:r>
          </a:p>
          <a:p>
            <a:pPr eaLnBrk="0" hangingPunct="0">
              <a:defRPr/>
            </a:pPr>
            <a:r>
              <a:rPr kumimoji="1" lang="en-US" altLang="zh-CN" sz="3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E→E.+E E→E.*E</a:t>
            </a:r>
          </a:p>
        </p:txBody>
      </p:sp>
      <p:sp>
        <p:nvSpPr>
          <p:cNvPr id="129029" name="Text Box 5"/>
          <p:cNvSpPr txBox="1">
            <a:spLocks noChangeArrowheads="1"/>
          </p:cNvSpPr>
          <p:nvPr/>
        </p:nvSpPr>
        <p:spPr bwMode="auto">
          <a:xfrm>
            <a:off x="6781800" y="2362200"/>
            <a:ext cx="1828800" cy="2054225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8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E→E*E.</a:t>
            </a:r>
          </a:p>
          <a:p>
            <a:pPr eaLnBrk="0" hangingPunct="0">
              <a:defRPr/>
            </a:pPr>
            <a:r>
              <a:rPr kumimoji="1" lang="en-US" altLang="zh-CN" sz="3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E→E.+E E→E.*E</a:t>
            </a:r>
          </a:p>
        </p:txBody>
      </p:sp>
      <p:sp>
        <p:nvSpPr>
          <p:cNvPr id="129030" name="AutoShape 6"/>
          <p:cNvSpPr>
            <a:spLocks noChangeArrowheads="1"/>
          </p:cNvSpPr>
          <p:nvPr/>
        </p:nvSpPr>
        <p:spPr bwMode="auto">
          <a:xfrm>
            <a:off x="1143000" y="5105400"/>
            <a:ext cx="7620000" cy="1447800"/>
          </a:xfrm>
          <a:prstGeom prst="wedgeRectCallout">
            <a:avLst>
              <a:gd name="adj1" fmla="val -3417"/>
              <a:gd name="adj2" fmla="val -93968"/>
            </a:avLst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000" tIns="46800" rIns="90000" bIns="46800" anchor="ctr"/>
          <a:lstStyle/>
          <a:p>
            <a:pPr eaLnBrk="0" hangingPunct="0">
              <a:buClr>
                <a:schemeClr val="hlink"/>
              </a:buClr>
              <a:buFont typeface="Wingdings" pitchFamily="2" charset="2"/>
              <a:buChar char="Ø"/>
              <a:defRPr/>
            </a:pPr>
            <a:r>
              <a:rPr kumimoji="1" lang="zh-CN" altLang="en-US" sz="24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采用二义性文法，可以减少结果分析器的状态数，并能减少对单非终结符</a:t>
            </a:r>
            <a:r>
              <a:rPr kumimoji="1" lang="en-US" altLang="zh-CN" sz="24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( 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E→T</a:t>
            </a: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 </a:t>
            </a:r>
            <a:r>
              <a:rPr kumimoji="1" lang="en-US" altLang="zh-CN" sz="24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)</a:t>
            </a:r>
            <a:r>
              <a:rPr kumimoji="1" lang="zh-CN" altLang="en-US" sz="24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的归约。</a:t>
            </a:r>
          </a:p>
          <a:p>
            <a:pPr eaLnBrk="0" hangingPunct="0">
              <a:buClr>
                <a:schemeClr val="hlink"/>
              </a:buClr>
              <a:buFont typeface="Wingdings" pitchFamily="2" charset="2"/>
              <a:buChar char="Ø"/>
              <a:defRPr/>
            </a:pPr>
            <a:r>
              <a:rPr kumimoji="1" lang="zh-CN" altLang="en-US" sz="24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在构造分析表时采用消除二义性的规则</a:t>
            </a:r>
            <a:r>
              <a:rPr kumimoji="1" lang="en-US" altLang="zh-CN" sz="24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(</a:t>
            </a:r>
            <a:r>
              <a:rPr kumimoji="1" lang="zh-CN" altLang="en-US" sz="24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按优先级</a:t>
            </a:r>
            <a:r>
              <a:rPr kumimoji="1" lang="en-US" altLang="zh-CN" sz="24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762000"/>
            <a:ext cx="4868862" cy="914400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二义性文法问题</a:t>
            </a:r>
          </a:p>
        </p:txBody>
      </p:sp>
      <p:sp>
        <p:nvSpPr>
          <p:cNvPr id="15257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fld id="{BBB21C45-8B3F-40BE-B458-832B6545DCE2}" type="slidenum">
              <a:rPr lang="en-US" altLang="zh-CN" smtClean="0"/>
              <a:pPr eaLnBrk="1" hangingPunct="1"/>
              <a:t>124</a:t>
            </a:fld>
            <a:endParaRPr lang="en-US" altLang="zh-CN" smtClean="0"/>
          </a:p>
        </p:txBody>
      </p:sp>
      <p:sp>
        <p:nvSpPr>
          <p:cNvPr id="130051" name="Text Box 3"/>
          <p:cNvSpPr txBox="1">
            <a:spLocks noChangeArrowheads="1"/>
          </p:cNvSpPr>
          <p:nvPr/>
        </p:nvSpPr>
        <p:spPr bwMode="auto">
          <a:xfrm>
            <a:off x="1403350" y="1989138"/>
            <a:ext cx="1981200" cy="1566862"/>
          </a:xfrm>
          <a:prstGeom prst="rect">
            <a:avLst/>
          </a:prstGeom>
          <a:noFill/>
          <a:ln w="12700">
            <a:solidFill>
              <a:schemeClr val="folHlink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</a:t>
            </a:r>
            <a:r>
              <a:rPr kumimoji="1" lang="en-US" altLang="zh-CN" sz="32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4</a:t>
            </a:r>
            <a:r>
              <a:rPr kumimoji="1"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S→iS.eS </a:t>
            </a:r>
          </a:p>
          <a:p>
            <a:pPr eaLnBrk="0" hangingPunct="0"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r>
              <a:rPr kumimoji="1" lang="en-US" altLang="zh-CN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S→iS . </a:t>
            </a:r>
          </a:p>
        </p:txBody>
      </p:sp>
      <p:sp>
        <p:nvSpPr>
          <p:cNvPr id="152581" name="AutoShape 4"/>
          <p:cNvSpPr>
            <a:spLocks noChangeArrowheads="1"/>
          </p:cNvSpPr>
          <p:nvPr/>
        </p:nvSpPr>
        <p:spPr bwMode="auto">
          <a:xfrm>
            <a:off x="2627313" y="4076700"/>
            <a:ext cx="5832475" cy="1944688"/>
          </a:xfrm>
          <a:prstGeom prst="wedgeEllipseCallout">
            <a:avLst>
              <a:gd name="adj1" fmla="val -36528"/>
              <a:gd name="adj2" fmla="val -88856"/>
            </a:avLst>
          </a:prstGeom>
          <a:solidFill>
            <a:srgbClr val="00666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algn="ctr" eaLnBrk="0" hangingPunct="0"/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选择移进</a:t>
            </a:r>
            <a:r>
              <a:rPr kumimoji="1" lang="en-US" altLang="zh-CN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else</a:t>
            </a:r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，以便让它与前面的</a:t>
            </a:r>
            <a:r>
              <a:rPr kumimoji="1" lang="en-US" altLang="zh-CN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then</a:t>
            </a:r>
            <a:r>
              <a:rPr kumimoji="1" lang="zh-CN" altLang="en-US" sz="3200" b="1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配对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333375"/>
            <a:ext cx="8540750" cy="1143000"/>
          </a:xfrm>
        </p:spPr>
        <p:txBody>
          <a:bodyPr/>
          <a:lstStyle/>
          <a:p>
            <a:r>
              <a:rPr lang="zh-CN" altLang="en-US" b="1" smtClean="0">
                <a:ea typeface="华文新魏" pitchFamily="2" charset="-122"/>
              </a:rPr>
              <a:t>语法分析总结</a:t>
            </a:r>
            <a:endParaRPr lang="zh-CN" altLang="en-US" sz="2400" b="1" smtClean="0">
              <a:ea typeface="华文新魏" pitchFamily="2" charset="-122"/>
            </a:endParaRPr>
          </a:p>
        </p:txBody>
      </p:sp>
      <p:sp>
        <p:nvSpPr>
          <p:cNvPr id="905219" name="Rectangle 3"/>
          <p:cNvSpPr>
            <a:spLocks noGrp="1" noChangeArrowheads="1"/>
          </p:cNvSpPr>
          <p:nvPr>
            <p:ph idx="1"/>
          </p:nvPr>
        </p:nvSpPr>
        <p:spPr>
          <a:xfrm>
            <a:off x="611188" y="1730375"/>
            <a:ext cx="4105275" cy="4435475"/>
          </a:xfrm>
        </p:spPr>
        <p:txBody>
          <a:bodyPr/>
          <a:lstStyle/>
          <a:p>
            <a:r>
              <a:rPr lang="en-US" altLang="zh-CN" sz="3400" b="1" smtClean="0">
                <a:latin typeface="Times New Roman" pitchFamily="18" charset="0"/>
                <a:ea typeface="华文新魏" pitchFamily="2" charset="-122"/>
              </a:rPr>
              <a:t> </a:t>
            </a:r>
            <a:r>
              <a:rPr lang="zh-CN" altLang="en-US" sz="3400" b="1" smtClean="0">
                <a:latin typeface="Times New Roman" pitchFamily="18" charset="0"/>
                <a:ea typeface="华文新魏" pitchFamily="2" charset="-122"/>
              </a:rPr>
              <a:t>自顶向下：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派生</a:t>
            </a:r>
          </a:p>
          <a:p>
            <a:pPr lvl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LL(1)</a:t>
            </a:r>
          </a:p>
          <a:p>
            <a:pPr lvl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递归子程序法</a:t>
            </a:r>
          </a:p>
          <a:p>
            <a:pPr>
              <a:spcBef>
                <a:spcPct val="80000"/>
              </a:spcBef>
            </a:pP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自底向上：归约</a:t>
            </a:r>
          </a:p>
          <a:p>
            <a:pPr lvl="1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算符优先分析法</a:t>
            </a:r>
          </a:p>
          <a:p>
            <a:pPr lvl="2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最左素短语</a:t>
            </a:r>
          </a:p>
          <a:p>
            <a:pPr lvl="1"/>
            <a:r>
              <a:rPr lang="en-US" altLang="zh-CN" b="1" smtClean="0">
                <a:latin typeface="Times New Roman" pitchFamily="18" charset="0"/>
                <a:ea typeface="华文新魏" pitchFamily="2" charset="-122"/>
              </a:rPr>
              <a:t>LR</a:t>
            </a:r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分析法</a:t>
            </a:r>
          </a:p>
          <a:p>
            <a:pPr lvl="2"/>
            <a:r>
              <a:rPr lang="zh-CN" altLang="en-US" b="1" smtClean="0">
                <a:latin typeface="Times New Roman" pitchFamily="18" charset="0"/>
                <a:ea typeface="华文新魏" pitchFamily="2" charset="-122"/>
              </a:rPr>
              <a:t>句柄</a:t>
            </a:r>
          </a:p>
        </p:txBody>
      </p:sp>
      <p:sp>
        <p:nvSpPr>
          <p:cNvPr id="9220" name="日期占位符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3E4AD004-78C8-4B34-B2EA-D48DB2B85196}" type="datetime1">
              <a:rPr lang="zh-CN" altLang="en-US"/>
              <a:pPr eaLnBrk="1" hangingPunct="1"/>
              <a:t>2017/2/24</a:t>
            </a:fld>
            <a:endParaRPr lang="en-US" altLang="zh-CN"/>
          </a:p>
        </p:txBody>
      </p:sp>
      <p:sp>
        <p:nvSpPr>
          <p:cNvPr id="922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DFC469B6-F4DF-47F4-89F5-7CB466CDD497}" type="slidenum">
              <a:rPr lang="en-US" altLang="zh-CN"/>
              <a:pPr eaLnBrk="1" hangingPunct="1"/>
              <a:t>125</a:t>
            </a:fld>
            <a:endParaRPr lang="en-US" altLang="zh-CN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5292725" y="1268413"/>
            <a:ext cx="3455988" cy="2089150"/>
            <a:chOff x="3583" y="164"/>
            <a:chExt cx="2177" cy="1316"/>
          </a:xfrm>
        </p:grpSpPr>
        <p:sp>
          <p:nvSpPr>
            <p:cNvPr id="905240" name="Rectangle 24"/>
            <p:cNvSpPr>
              <a:spLocks noChangeArrowheads="1"/>
            </p:cNvSpPr>
            <p:nvPr/>
          </p:nvSpPr>
          <p:spPr bwMode="auto">
            <a:xfrm>
              <a:off x="3810" y="164"/>
              <a:ext cx="1452" cy="22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defRPr/>
              </a:pPr>
              <a:r>
                <a:rPr kumimoji="1" lang="en-US" altLang="zh-CN">
                  <a:latin typeface="Times New Roman" pitchFamily="18" charset="0"/>
                  <a:ea typeface="华文新魏" pitchFamily="2" charset="-122"/>
                </a:rPr>
                <a:t> </a:t>
              </a:r>
              <a:r>
                <a:rPr kumimoji="1" lang="zh-CN" altLang="en-US" b="1">
                  <a:latin typeface="Times New Roman" pitchFamily="18" charset="0"/>
                  <a:ea typeface="华文新魏" pitchFamily="2" charset="-122"/>
                </a:rPr>
                <a:t>输入缓冲区</a:t>
              </a:r>
              <a:r>
                <a:rPr kumimoji="1" lang="en-US" altLang="zh-CN" b="1">
                  <a:latin typeface="Times New Roman" pitchFamily="18" charset="0"/>
                  <a:ea typeface="华文新魏" pitchFamily="2" charset="-122"/>
                </a:rPr>
                <a:t>(</a:t>
              </a:r>
              <a:r>
                <a:rPr kumimoji="1" lang="zh-CN" altLang="en-US" b="1">
                  <a:latin typeface="Times New Roman" pitchFamily="18" charset="0"/>
                  <a:ea typeface="华文新魏" pitchFamily="2" charset="-122"/>
                </a:rPr>
                <a:t>符号序列</a:t>
              </a:r>
              <a:r>
                <a:rPr kumimoji="1" lang="en-US" altLang="zh-CN" b="1">
                  <a:latin typeface="Times New Roman" pitchFamily="18" charset="0"/>
                  <a:ea typeface="华文新魏" pitchFamily="2" charset="-122"/>
                </a:rPr>
                <a:t>)</a:t>
              </a:r>
              <a:endParaRPr kumimoji="1"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华文新魏" pitchFamily="2" charset="-122"/>
              </a:endParaRPr>
            </a:p>
          </p:txBody>
        </p:sp>
        <p:sp>
          <p:nvSpPr>
            <p:cNvPr id="9235" name="Rectangle 25"/>
            <p:cNvSpPr>
              <a:spLocks noChangeArrowheads="1"/>
            </p:cNvSpPr>
            <p:nvPr/>
          </p:nvSpPr>
          <p:spPr bwMode="auto">
            <a:xfrm>
              <a:off x="3583" y="617"/>
              <a:ext cx="271" cy="47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pPr eaLnBrk="0" hangingPunct="0">
                <a:lnSpc>
                  <a:spcPct val="120000"/>
                </a:lnSpc>
              </a:pPr>
              <a:r>
                <a:rPr kumimoji="1" lang="zh-CN" altLang="en-US" b="1">
                  <a:latin typeface="华文新魏" pitchFamily="2" charset="-122"/>
                  <a:ea typeface="华文新魏" pitchFamily="2" charset="-122"/>
                </a:rPr>
                <a:t>栈</a:t>
              </a:r>
            </a:p>
          </p:txBody>
        </p:sp>
        <p:sp>
          <p:nvSpPr>
            <p:cNvPr id="9236" name="Rectangle 26"/>
            <p:cNvSpPr>
              <a:spLocks noChangeArrowheads="1"/>
            </p:cNvSpPr>
            <p:nvPr/>
          </p:nvSpPr>
          <p:spPr bwMode="auto">
            <a:xfrm>
              <a:off x="4218" y="708"/>
              <a:ext cx="655" cy="36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kumimoji="1" lang="zh-CN" altLang="en-US" b="1">
                  <a:latin typeface="Times New Roman" pitchFamily="18" charset="0"/>
                  <a:ea typeface="华文新魏" pitchFamily="2" charset="-122"/>
                </a:rPr>
                <a:t>控制程序</a:t>
              </a:r>
            </a:p>
            <a:p>
              <a:pPr algn="ctr" eaLnBrk="0" hangingPunct="0"/>
              <a:r>
                <a:rPr kumimoji="1" lang="en-US" altLang="zh-CN" b="1">
                  <a:latin typeface="Times New Roman" pitchFamily="18" charset="0"/>
                  <a:ea typeface="华文新魏" pitchFamily="2" charset="-122"/>
                </a:rPr>
                <a:t>P132</a:t>
              </a:r>
            </a:p>
          </p:txBody>
        </p:sp>
        <p:sp>
          <p:nvSpPr>
            <p:cNvPr id="9237" name="Rectangle 27"/>
            <p:cNvSpPr>
              <a:spLocks noChangeArrowheads="1"/>
            </p:cNvSpPr>
            <p:nvPr/>
          </p:nvSpPr>
          <p:spPr bwMode="auto">
            <a:xfrm>
              <a:off x="4286" y="1298"/>
              <a:ext cx="522" cy="18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kumimoji="1" lang="zh-CN" altLang="en-US" b="1">
                  <a:latin typeface="华文新魏" pitchFamily="2" charset="-122"/>
                  <a:ea typeface="华文新魏" pitchFamily="2" charset="-122"/>
                </a:rPr>
                <a:t>分析表</a:t>
              </a:r>
            </a:p>
          </p:txBody>
        </p:sp>
        <p:sp>
          <p:nvSpPr>
            <p:cNvPr id="9238" name="Line 28"/>
            <p:cNvSpPr>
              <a:spLocks noChangeShapeType="1"/>
            </p:cNvSpPr>
            <p:nvPr/>
          </p:nvSpPr>
          <p:spPr bwMode="auto">
            <a:xfrm flipV="1">
              <a:off x="4581" y="391"/>
              <a:ext cx="0" cy="298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9" name="Line 29"/>
            <p:cNvSpPr>
              <a:spLocks noChangeShapeType="1"/>
            </p:cNvSpPr>
            <p:nvPr/>
          </p:nvSpPr>
          <p:spPr bwMode="auto">
            <a:xfrm flipH="1" flipV="1">
              <a:off x="3855" y="890"/>
              <a:ext cx="408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0" name="Line 30"/>
            <p:cNvSpPr>
              <a:spLocks noChangeShapeType="1"/>
            </p:cNvSpPr>
            <p:nvPr/>
          </p:nvSpPr>
          <p:spPr bwMode="auto">
            <a:xfrm flipV="1">
              <a:off x="4581" y="1071"/>
              <a:ext cx="1" cy="227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med" len="med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1" name="Line 31"/>
            <p:cNvSpPr>
              <a:spLocks noChangeShapeType="1"/>
            </p:cNvSpPr>
            <p:nvPr/>
          </p:nvSpPr>
          <p:spPr bwMode="auto">
            <a:xfrm>
              <a:off x="4853" y="890"/>
              <a:ext cx="272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5248" name="Rectangle 32"/>
            <p:cNvSpPr>
              <a:spLocks noChangeArrowheads="1"/>
            </p:cNvSpPr>
            <p:nvPr/>
          </p:nvSpPr>
          <p:spPr bwMode="auto">
            <a:xfrm>
              <a:off x="5125" y="753"/>
              <a:ext cx="635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kumimoji="1"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rPr>
                <a:t>输出的</a:t>
              </a:r>
            </a:p>
            <a:p>
              <a:pPr algn="ctr" eaLnBrk="0" hangingPunct="0">
                <a:defRPr/>
              </a:pPr>
              <a:r>
                <a:rPr kumimoji="1"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rPr>
                <a:t>产生式序列</a:t>
              </a:r>
            </a:p>
          </p:txBody>
        </p:sp>
      </p:grp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5076825" y="3789363"/>
            <a:ext cx="3887788" cy="2403475"/>
            <a:chOff x="3198" y="2642"/>
            <a:chExt cx="2449" cy="1514"/>
          </a:xfrm>
        </p:grpSpPr>
        <p:sp>
          <p:nvSpPr>
            <p:cNvPr id="905254" name="Rectangle 38"/>
            <p:cNvSpPr>
              <a:spLocks noChangeArrowheads="1"/>
            </p:cNvSpPr>
            <p:nvPr/>
          </p:nvSpPr>
          <p:spPr bwMode="auto">
            <a:xfrm>
              <a:off x="4967" y="3022"/>
              <a:ext cx="680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defRPr/>
              </a:pPr>
              <a:r>
                <a:rPr kumimoji="1"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rPr>
                <a:t>输出产生式序列</a:t>
              </a:r>
            </a:p>
          </p:txBody>
        </p:sp>
        <p:grpSp>
          <p:nvGrpSpPr>
            <p:cNvPr id="9225" name="Group 44"/>
            <p:cNvGrpSpPr>
              <a:grpSpLocks/>
            </p:cNvGrpSpPr>
            <p:nvPr/>
          </p:nvGrpSpPr>
          <p:grpSpPr bwMode="auto">
            <a:xfrm>
              <a:off x="3198" y="2642"/>
              <a:ext cx="2131" cy="1514"/>
              <a:chOff x="3198" y="2642"/>
              <a:chExt cx="2131" cy="1514"/>
            </a:xfrm>
          </p:grpSpPr>
          <p:sp>
            <p:nvSpPr>
              <p:cNvPr id="905249" name="Rectangle 33"/>
              <p:cNvSpPr>
                <a:spLocks noChangeArrowheads="1"/>
              </p:cNvSpPr>
              <p:nvPr/>
            </p:nvSpPr>
            <p:spPr bwMode="auto">
              <a:xfrm>
                <a:off x="3651" y="2642"/>
                <a:ext cx="1678" cy="24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kumimoji="1" lang="zh-CN" altLang="en-US" b="1">
                    <a:latin typeface="Times New Roman" pitchFamily="18" charset="0"/>
                    <a:ea typeface="华文新魏" pitchFamily="2" charset="-122"/>
                  </a:rPr>
                  <a:t>输入缓冲区</a:t>
                </a:r>
                <a:r>
                  <a:rPr kumimoji="1" lang="en-US" altLang="zh-CN" b="1">
                    <a:latin typeface="Times New Roman" pitchFamily="18" charset="0"/>
                    <a:ea typeface="华文新魏" pitchFamily="2" charset="-122"/>
                  </a:rPr>
                  <a:t>(</a:t>
                </a:r>
                <a:r>
                  <a:rPr kumimoji="1" lang="zh-CN" altLang="en-US" b="1">
                    <a:latin typeface="Times New Roman" pitchFamily="18" charset="0"/>
                    <a:ea typeface="华文新魏" pitchFamily="2" charset="-122"/>
                  </a:rPr>
                  <a:t>符号序列</a:t>
                </a:r>
                <a:r>
                  <a:rPr kumimoji="1" lang="en-US" altLang="zh-CN" b="1">
                    <a:latin typeface="Times New Roman" pitchFamily="18" charset="0"/>
                    <a:ea typeface="华文新魏" pitchFamily="2" charset="-122"/>
                  </a:rPr>
                  <a:t>)</a:t>
                </a:r>
                <a:endParaRPr kumimoji="1"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新魏" pitchFamily="2" charset="-122"/>
                </a:endParaRPr>
              </a:p>
            </p:txBody>
          </p:sp>
          <p:sp>
            <p:nvSpPr>
              <p:cNvPr id="905250" name="Rectangle 34"/>
              <p:cNvSpPr>
                <a:spLocks noChangeArrowheads="1"/>
              </p:cNvSpPr>
              <p:nvPr/>
            </p:nvSpPr>
            <p:spPr bwMode="auto">
              <a:xfrm>
                <a:off x="3198" y="3067"/>
                <a:ext cx="291" cy="81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130000"/>
                  </a:lnSpc>
                  <a:defRPr/>
                </a:pPr>
                <a:endParaRPr kumimoji="1"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endParaRPr>
              </a:p>
              <a:p>
                <a:pPr algn="ctr" eaLnBrk="0" hangingPunct="0">
                  <a:lnSpc>
                    <a:spcPct val="130000"/>
                  </a:lnSpc>
                  <a:defRPr/>
                </a:pPr>
                <a:r>
                  <a:rPr kumimoji="1" lang="zh-CN" altLang="en-US" b="1">
                    <a:latin typeface="华文新魏" pitchFamily="2" charset="-122"/>
                    <a:ea typeface="华文新魏" pitchFamily="2" charset="-122"/>
                  </a:rPr>
                  <a:t>栈</a:t>
                </a:r>
                <a:endParaRPr kumimoji="1" lang="zh-CN" altLang="en-US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endParaRPr>
              </a:p>
              <a:p>
                <a:pPr algn="ctr" eaLnBrk="0" hangingPunct="0">
                  <a:lnSpc>
                    <a:spcPct val="130000"/>
                  </a:lnSpc>
                  <a:defRPr/>
                </a:pPr>
                <a:endParaRPr kumimoji="1"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华文新魏" pitchFamily="2" charset="-122"/>
                  <a:ea typeface="华文新魏" pitchFamily="2" charset="-122"/>
                </a:endParaRPr>
              </a:p>
            </p:txBody>
          </p:sp>
          <p:sp>
            <p:nvSpPr>
              <p:cNvPr id="905251" name="Rectangle 35"/>
              <p:cNvSpPr>
                <a:spLocks noChangeArrowheads="1"/>
              </p:cNvSpPr>
              <p:nvPr/>
            </p:nvSpPr>
            <p:spPr bwMode="auto">
              <a:xfrm>
                <a:off x="3787" y="3113"/>
                <a:ext cx="813" cy="47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kumimoji="1" lang="zh-CN" altLang="en-US" b="1">
                    <a:latin typeface="Times New Roman" pitchFamily="18" charset="0"/>
                    <a:ea typeface="华文新魏" pitchFamily="2" charset="-122"/>
                  </a:rPr>
                  <a:t>移进归约</a:t>
                </a:r>
              </a:p>
              <a:p>
                <a:pPr algn="ctr" eaLnBrk="0" hangingPunct="0">
                  <a:defRPr/>
                </a:pPr>
                <a:r>
                  <a:rPr kumimoji="1" lang="en-US" altLang="zh-CN" b="1">
                    <a:latin typeface="Times New Roman" pitchFamily="18" charset="0"/>
                    <a:ea typeface="华文新魏" pitchFamily="2" charset="-122"/>
                  </a:rPr>
                  <a:t>P163/171</a:t>
                </a:r>
                <a:endParaRPr kumimoji="1" lang="en-US" altLang="zh-CN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  <a:ea typeface="华文新魏" pitchFamily="2" charset="-122"/>
                </a:endParaRPr>
              </a:p>
            </p:txBody>
          </p:sp>
          <p:sp>
            <p:nvSpPr>
              <p:cNvPr id="9229" name="Line 36"/>
              <p:cNvSpPr>
                <a:spLocks noChangeShapeType="1"/>
              </p:cNvSpPr>
              <p:nvPr/>
            </p:nvSpPr>
            <p:spPr bwMode="auto">
              <a:xfrm rot="21595748" flipV="1">
                <a:off x="4240" y="2886"/>
                <a:ext cx="1" cy="2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30" name="Line 37"/>
              <p:cNvSpPr>
                <a:spLocks noChangeShapeType="1"/>
              </p:cNvSpPr>
              <p:nvPr/>
            </p:nvSpPr>
            <p:spPr bwMode="auto">
              <a:xfrm>
                <a:off x="4604" y="3339"/>
                <a:ext cx="4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5257" name="Rectangle 41"/>
              <p:cNvSpPr>
                <a:spLocks noChangeArrowheads="1"/>
              </p:cNvSpPr>
              <p:nvPr/>
            </p:nvSpPr>
            <p:spPr bwMode="auto">
              <a:xfrm>
                <a:off x="3969" y="3884"/>
                <a:ext cx="590" cy="27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defRPr/>
                </a:pPr>
                <a:r>
                  <a:rPr kumimoji="1" lang="en-US" altLang="zh-CN" b="1">
                    <a:latin typeface="华文新魏" pitchFamily="2" charset="-122"/>
                    <a:ea typeface="华文新魏" pitchFamily="2" charset="-122"/>
                  </a:rPr>
                  <a:t> </a:t>
                </a:r>
                <a:r>
                  <a:rPr kumimoji="1" lang="zh-CN" altLang="en-US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华文新魏" pitchFamily="2" charset="-122"/>
                    <a:ea typeface="华文新魏" pitchFamily="2" charset="-122"/>
                  </a:rPr>
                  <a:t>分析表</a:t>
                </a:r>
              </a:p>
            </p:txBody>
          </p:sp>
          <p:sp>
            <p:nvSpPr>
              <p:cNvPr id="9232" name="Line 42"/>
              <p:cNvSpPr>
                <a:spLocks noChangeShapeType="1"/>
              </p:cNvSpPr>
              <p:nvPr/>
            </p:nvSpPr>
            <p:spPr bwMode="auto">
              <a:xfrm rot="-10751660" flipH="1" flipV="1">
                <a:off x="4240" y="3612"/>
                <a:ext cx="1" cy="2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33" name="Line 43"/>
              <p:cNvSpPr>
                <a:spLocks noChangeShapeType="1"/>
              </p:cNvSpPr>
              <p:nvPr/>
            </p:nvSpPr>
            <p:spPr bwMode="auto">
              <a:xfrm flipH="1">
                <a:off x="3470" y="3339"/>
                <a:ext cx="32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2075" tIns="46038" rIns="92075" bIns="46038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2106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05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0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05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05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05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05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5219" grpId="0" build="p"/>
    </p:bldLst>
  </p:timing>
</p:sld>
</file>

<file path=ppt/theme/theme1.xml><?xml version="1.0" encoding="utf-8"?>
<a:theme xmlns:a="http://schemas.openxmlformats.org/drawingml/2006/main" name="诗情画意">
  <a:themeElements>
    <a:clrScheme name="诗情画意 1">
      <a:dk1>
        <a:srgbClr val="007A77"/>
      </a:dk1>
      <a:lt1>
        <a:srgbClr val="FFFFFF"/>
      </a:lt1>
      <a:dk2>
        <a:srgbClr val="003399"/>
      </a:dk2>
      <a:lt2>
        <a:srgbClr val="C0C0C0"/>
      </a:lt2>
      <a:accent1>
        <a:srgbClr val="EBF7FF"/>
      </a:accent1>
      <a:accent2>
        <a:srgbClr val="3366FF"/>
      </a:accent2>
      <a:accent3>
        <a:srgbClr val="FFFFFF"/>
      </a:accent3>
      <a:accent4>
        <a:srgbClr val="006765"/>
      </a:accent4>
      <a:accent5>
        <a:srgbClr val="F3FAFF"/>
      </a:accent5>
      <a:accent6>
        <a:srgbClr val="2D5CE7"/>
      </a:accent6>
      <a:hlink>
        <a:srgbClr val="DC5900"/>
      </a:hlink>
      <a:folHlink>
        <a:srgbClr val="7979A5"/>
      </a:folHlink>
    </a:clrScheme>
    <a:fontScheme name="诗情画意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12编译原理-4</Template>
  <TotalTime>5879</TotalTime>
  <Words>10205</Words>
  <Application>Microsoft Office PowerPoint</Application>
  <PresentationFormat>全屏显示(4:3)</PresentationFormat>
  <Paragraphs>2726</Paragraphs>
  <Slides>125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125</vt:i4>
      </vt:variant>
    </vt:vector>
  </HeadingPairs>
  <TitlesOfParts>
    <vt:vector size="139" baseType="lpstr">
      <vt:lpstr>Monotype Sorts</vt:lpstr>
      <vt:lpstr>华文新魏</vt:lpstr>
      <vt:lpstr>楷体_GB2312</vt:lpstr>
      <vt:lpstr>宋体</vt:lpstr>
      <vt:lpstr>Arial</vt:lpstr>
      <vt:lpstr>Symbol</vt:lpstr>
      <vt:lpstr>Tahoma</vt:lpstr>
      <vt:lpstr>Times New Roman</vt:lpstr>
      <vt:lpstr>Verdana</vt:lpstr>
      <vt:lpstr>Wingdings</vt:lpstr>
      <vt:lpstr>诗情画意</vt:lpstr>
      <vt:lpstr>剪辑</vt:lpstr>
      <vt:lpstr>文档</vt:lpstr>
      <vt:lpstr>Document</vt:lpstr>
      <vt:lpstr>编译原理 (Principles of Compiling)</vt:lpstr>
      <vt:lpstr>第5章 自底向上的 语法分析</vt:lpstr>
      <vt:lpstr>5.1 自底向上分析</vt:lpstr>
      <vt:lpstr>一个简单的归约过程</vt:lpstr>
      <vt:lpstr>回忆几个概念</vt:lpstr>
      <vt:lpstr>回忆几个概念</vt:lpstr>
      <vt:lpstr>语法分析树的生成再演示                                                 ——寻找算法</vt:lpstr>
      <vt:lpstr>分析过程再演示                                                 ——寻找算法</vt:lpstr>
      <vt:lpstr>栈+输入缓冲区剩余= #当前“句型”#</vt:lpstr>
      <vt:lpstr>分析设想——分析器框架</vt:lpstr>
      <vt:lpstr>分析设想——分析器结构</vt:lpstr>
      <vt:lpstr>分析设想——系统运行</vt:lpstr>
      <vt:lpstr>例 体验id1+id2*id3的分析过程</vt:lpstr>
      <vt:lpstr>PowerPoint 演示文稿</vt:lpstr>
      <vt:lpstr>分析器的四种动作</vt:lpstr>
      <vt:lpstr>PowerPoint 演示文稿</vt:lpstr>
      <vt:lpstr>移进归约分析中的问题</vt:lpstr>
      <vt:lpstr>移进归约分析中的问题</vt:lpstr>
      <vt:lpstr>优先法</vt:lpstr>
      <vt:lpstr>状态法</vt:lpstr>
      <vt:lpstr>5.2 算符优先分析法</vt:lpstr>
      <vt:lpstr>算术表达式文法的再分析</vt:lpstr>
      <vt:lpstr>算符文法</vt:lpstr>
      <vt:lpstr>算符间的优先关系</vt:lpstr>
      <vt:lpstr>算符优先文法</vt:lpstr>
      <vt:lpstr>例  直观的算符优先关系</vt:lpstr>
      <vt:lpstr>例  直观的算符优先关系</vt:lpstr>
      <vt:lpstr>算符优先关系的确定</vt:lpstr>
      <vt:lpstr>求FIRSTOP 和LASTOP</vt:lpstr>
      <vt:lpstr>E→E+T|E-T|T  T→T*F|T/F|F  F→(E)|id</vt:lpstr>
      <vt:lpstr>算符优先关系的确定</vt:lpstr>
      <vt:lpstr>算符优先关系表的构造(P160)</vt:lpstr>
      <vt:lpstr>PowerPoint 演示文稿</vt:lpstr>
      <vt:lpstr>例  分析id+id*id</vt:lpstr>
      <vt:lpstr>问题</vt:lpstr>
      <vt:lpstr>素短语与最左素短语</vt:lpstr>
      <vt:lpstr>例  素短语</vt:lpstr>
      <vt:lpstr>例  素短语</vt:lpstr>
      <vt:lpstr>素短语与最左素短语</vt:lpstr>
      <vt:lpstr>算符优先分析算法</vt:lpstr>
      <vt:lpstr>算符优先分析的实现</vt:lpstr>
      <vt:lpstr>例  id+id*id 的分析过程</vt:lpstr>
      <vt:lpstr>算符优先函数</vt:lpstr>
      <vt:lpstr>PowerPoint 演示文稿</vt:lpstr>
      <vt:lpstr>优先函数构造算法</vt:lpstr>
      <vt:lpstr>PowerPoint 演示文稿</vt:lpstr>
      <vt:lpstr>算符优先分析法优缺点</vt:lpstr>
      <vt:lpstr>算符优先分析法的改进需求</vt:lpstr>
      <vt:lpstr>如何根据希望设计分析器</vt:lpstr>
      <vt:lpstr>5.3 LR(Left-Right)分析法                              ——LR分析法基本思想分析</vt:lpstr>
      <vt:lpstr>5.3 LR(Left-Right)分析法</vt:lpstr>
      <vt:lpstr>一、基本概念——拓广(Augmented)文法</vt:lpstr>
      <vt:lpstr>例 (0) S'→S (1) S→BB (2) B→aB (3) B→b</vt:lpstr>
      <vt:lpstr>一、基本概念——项目</vt:lpstr>
      <vt:lpstr>一、基本概念——项目的意义</vt:lpstr>
      <vt:lpstr>(0) S'→S  (1) S→BB (2) B→aB (3) B→b</vt:lpstr>
      <vt:lpstr>PowerPoint 演示文稿</vt:lpstr>
      <vt:lpstr>一、基本概念——项目集闭包</vt:lpstr>
      <vt:lpstr>例 (0) S'→S (1) S→BB (2) B→aB (3) B→b</vt:lpstr>
      <vt:lpstr>例 (0) S'→S (1) S→BB (2) B→aB (3) B→b</vt:lpstr>
      <vt:lpstr>二、LR(0) 分析表</vt:lpstr>
      <vt:lpstr>三、分析器总体结构</vt:lpstr>
      <vt:lpstr>四、LR分析器主控程序(LR分析算法)</vt:lpstr>
      <vt:lpstr>bab 的分析过程:  (1)   S→BB  (2)   B→aB  (3)   B→b</vt:lpstr>
      <vt:lpstr>五、LR分析器的基本动作</vt:lpstr>
      <vt:lpstr>当前格局   s0s1…sm                   #X1…Xm     aiai+1…an#</vt:lpstr>
      <vt:lpstr>PowerPoint 演示文稿</vt:lpstr>
      <vt:lpstr>bab 的分析过程中栈内容的变化</vt:lpstr>
      <vt:lpstr>六、栈内容</vt:lpstr>
      <vt:lpstr>六、栈内容</vt:lpstr>
      <vt:lpstr>六、栈内容</vt:lpstr>
      <vt:lpstr>七、LR(0)分析表的构造——计算项目集闭包</vt:lpstr>
      <vt:lpstr>例   表达式文法的处理</vt:lpstr>
      <vt:lpstr>PowerPoint 演示文稿</vt:lpstr>
      <vt:lpstr>七、LR(0)分析表的构造——闭包之间的转移</vt:lpstr>
      <vt:lpstr>七、LR(0)分析表的构造——闭包之间的转移</vt:lpstr>
      <vt:lpstr>PowerPoint 演示文稿</vt:lpstr>
      <vt:lpstr>七、LR(0)分析表的构造</vt:lpstr>
      <vt:lpstr>七、LR(0)分析表的构造           ——计算LR(0)项目集规范族C(分析器状态集合)</vt:lpstr>
      <vt:lpstr>表达式文法的项目集规范族</vt:lpstr>
      <vt:lpstr>PowerPoint 演示文稿</vt:lpstr>
      <vt:lpstr>七、LR(0)分析表的构造——识别拓广文法所有规范句型活前缀的DFA</vt:lpstr>
      <vt:lpstr>思考题</vt:lpstr>
      <vt:lpstr>例 </vt:lpstr>
      <vt:lpstr>LR(0) 方法能解决这个冲突吗?</vt:lpstr>
      <vt:lpstr>用5分钟画出识别下列文法的所有规范句型活前缀的FA的状态转移图，指出相应的项目集规范族</vt:lpstr>
      <vt:lpstr>七、LR(0)分析表构造</vt:lpstr>
      <vt:lpstr>PowerPoint 演示文稿</vt:lpstr>
      <vt:lpstr>PowerPoint 演示文稿</vt:lpstr>
      <vt:lpstr>八、LR(0)不是总有效的</vt:lpstr>
      <vt:lpstr>项目集 I 的相容</vt:lpstr>
      <vt:lpstr>PowerPoint 演示文稿</vt:lpstr>
      <vt:lpstr>PowerPoint 演示文稿</vt:lpstr>
      <vt:lpstr>PowerPoint 演示文稿</vt:lpstr>
      <vt:lpstr>九、SLR(1)分析表的构造</vt:lpstr>
      <vt:lpstr>例  表达式文法的SLR(1)分析表</vt:lpstr>
      <vt:lpstr>PowerPoint 演示文稿</vt:lpstr>
      <vt:lpstr>构造表达式文法的SLR分析表</vt:lpstr>
      <vt:lpstr>PowerPoint 演示文稿</vt:lpstr>
      <vt:lpstr>PowerPoint 演示文稿</vt:lpstr>
      <vt:lpstr>SLR(1) 分析的特点</vt:lpstr>
      <vt:lpstr>SLR(1)分析的局限性</vt:lpstr>
      <vt:lpstr>PowerPoint 演示文稿</vt:lpstr>
      <vt:lpstr>SLR分析中的冲突——更强的分析方法</vt:lpstr>
      <vt:lpstr>PowerPoint 演示文稿</vt:lpstr>
      <vt:lpstr>SLR(1)分析的基本步骤</vt:lpstr>
      <vt:lpstr>Yacc (YET  ANOTHER  COMPILER'S  COMPILER)简介</vt:lpstr>
      <vt:lpstr>示例</vt:lpstr>
      <vt:lpstr>自底向上分析小结</vt:lpstr>
      <vt:lpstr>习题与练习</vt:lpstr>
      <vt:lpstr>上机题(选)</vt:lpstr>
      <vt:lpstr>附、LR(1)分析概述</vt:lpstr>
      <vt:lpstr>搜索符(展望符、后继符)的概念</vt:lpstr>
      <vt:lpstr>LR(k) 项目</vt:lpstr>
      <vt:lpstr>闭包的计算</vt:lpstr>
      <vt:lpstr>闭包的计算</vt:lpstr>
      <vt:lpstr>状态 I 关于文法符号 X 的转移</vt:lpstr>
      <vt:lpstr>计算LR(1)项目集规范族Ｃ 即：分析器状态集合</vt:lpstr>
      <vt:lpstr>面向LR(1) 的识别活前缀的DFA</vt:lpstr>
      <vt:lpstr>LR(1) 分析表的构造</vt:lpstr>
      <vt:lpstr>四、LALR(1)分析概述</vt:lpstr>
      <vt:lpstr>LALR(1) 的分析能力</vt:lpstr>
      <vt:lpstr>二义性文法问题</vt:lpstr>
      <vt:lpstr>二义性文法问题</vt:lpstr>
      <vt:lpstr>语法分析总结</vt:lpstr>
    </vt:vector>
  </TitlesOfParts>
  <Company>bjut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</dc:title>
  <dc:creator>jzl</dc:creator>
  <cp:lastModifiedBy>Admin</cp:lastModifiedBy>
  <cp:revision>216</cp:revision>
  <dcterms:created xsi:type="dcterms:W3CDTF">2005-04-22T03:01:34Z</dcterms:created>
  <dcterms:modified xsi:type="dcterms:W3CDTF">2017-02-24T00:45:40Z</dcterms:modified>
</cp:coreProperties>
</file>