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60"/>
  </p:notesMasterIdLst>
  <p:handoutMasterIdLst>
    <p:handoutMasterId r:id="rId61"/>
  </p:handoutMasterIdLst>
  <p:sldIdLst>
    <p:sldId id="444" r:id="rId2"/>
    <p:sldId id="407" r:id="rId3"/>
    <p:sldId id="408" r:id="rId4"/>
    <p:sldId id="409" r:id="rId5"/>
    <p:sldId id="431" r:id="rId6"/>
    <p:sldId id="432" r:id="rId7"/>
    <p:sldId id="433" r:id="rId8"/>
    <p:sldId id="434" r:id="rId9"/>
    <p:sldId id="435" r:id="rId10"/>
    <p:sldId id="436" r:id="rId11"/>
    <p:sldId id="437" r:id="rId12"/>
    <p:sldId id="438" r:id="rId13"/>
    <p:sldId id="439" r:id="rId14"/>
    <p:sldId id="440" r:id="rId15"/>
    <p:sldId id="441" r:id="rId16"/>
    <p:sldId id="442" r:id="rId17"/>
    <p:sldId id="443" r:id="rId18"/>
    <p:sldId id="423" r:id="rId19"/>
    <p:sldId id="424" r:id="rId20"/>
    <p:sldId id="425" r:id="rId21"/>
    <p:sldId id="310" r:id="rId22"/>
    <p:sldId id="446" r:id="rId23"/>
    <p:sldId id="447" r:id="rId24"/>
    <p:sldId id="448" r:id="rId25"/>
    <p:sldId id="449" r:id="rId26"/>
    <p:sldId id="450" r:id="rId27"/>
    <p:sldId id="451" r:id="rId28"/>
    <p:sldId id="452" r:id="rId29"/>
    <p:sldId id="453" r:id="rId30"/>
    <p:sldId id="454" r:id="rId31"/>
    <p:sldId id="455" r:id="rId32"/>
    <p:sldId id="456" r:id="rId33"/>
    <p:sldId id="458" r:id="rId34"/>
    <p:sldId id="459" r:id="rId35"/>
    <p:sldId id="460" r:id="rId36"/>
    <p:sldId id="461" r:id="rId37"/>
    <p:sldId id="462" r:id="rId38"/>
    <p:sldId id="463" r:id="rId39"/>
    <p:sldId id="464" r:id="rId40"/>
    <p:sldId id="465" r:id="rId41"/>
    <p:sldId id="466" r:id="rId42"/>
    <p:sldId id="467" r:id="rId43"/>
    <p:sldId id="468" r:id="rId44"/>
    <p:sldId id="469" r:id="rId45"/>
    <p:sldId id="470" r:id="rId46"/>
    <p:sldId id="471" r:id="rId47"/>
    <p:sldId id="472" r:id="rId48"/>
    <p:sldId id="473" r:id="rId49"/>
    <p:sldId id="474" r:id="rId50"/>
    <p:sldId id="475" r:id="rId51"/>
    <p:sldId id="476" r:id="rId52"/>
    <p:sldId id="477" r:id="rId53"/>
    <p:sldId id="478" r:id="rId54"/>
    <p:sldId id="479" r:id="rId55"/>
    <p:sldId id="480" r:id="rId56"/>
    <p:sldId id="481" r:id="rId57"/>
    <p:sldId id="482" r:id="rId58"/>
    <p:sldId id="483" r:id="rId5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1813"/>
    <a:srgbClr val="00FF00"/>
    <a:srgbClr val="ECFB23"/>
    <a:srgbClr val="4D9760"/>
    <a:srgbClr val="CC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636" autoAdjust="0"/>
  </p:normalViewPr>
  <p:slideViewPr>
    <p:cSldViewPr>
      <p:cViewPr varScale="1">
        <p:scale>
          <a:sx n="119" d="100"/>
          <a:sy n="119" d="100"/>
        </p:scale>
        <p:origin x="129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35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Tahoma" pitchFamily="34" charset="0"/>
              </a:defRPr>
            </a:lvl1pPr>
          </a:lstStyle>
          <a:p>
            <a:pPr>
              <a:defRPr/>
            </a:pPr>
            <a:endParaRPr lang="zh-CN" altLang="en-US"/>
          </a:p>
        </p:txBody>
      </p:sp>
      <p:sp>
        <p:nvSpPr>
          <p:cNvPr id="3235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Tahoma" pitchFamily="34" charset="0"/>
              </a:defRPr>
            </a:lvl1pPr>
          </a:lstStyle>
          <a:p>
            <a:pPr>
              <a:defRPr/>
            </a:pPr>
            <a:endParaRPr lang="en-US" altLang="zh-CN"/>
          </a:p>
        </p:txBody>
      </p:sp>
      <p:sp>
        <p:nvSpPr>
          <p:cNvPr id="3235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Tahoma" pitchFamily="34" charset="0"/>
              </a:defRPr>
            </a:lvl1pPr>
          </a:lstStyle>
          <a:p>
            <a:pPr>
              <a:defRPr/>
            </a:pPr>
            <a:endParaRPr lang="en-US" altLang="zh-CN"/>
          </a:p>
        </p:txBody>
      </p:sp>
      <p:sp>
        <p:nvSpPr>
          <p:cNvPr id="3235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Tahoma" pitchFamily="34" charset="0"/>
              </a:defRPr>
            </a:lvl1pPr>
          </a:lstStyle>
          <a:p>
            <a:pPr>
              <a:defRPr/>
            </a:pPr>
            <a:fld id="{273A0A16-3BF0-46CB-B89B-860D17FD961F}" type="slidenum">
              <a:rPr lang="zh-CN" altLang="en-US"/>
              <a:pPr>
                <a:defRPr/>
              </a:pPr>
              <a:t>‹#›</a:t>
            </a:fld>
            <a:endParaRPr lang="en-US" altLang="zh-CN"/>
          </a:p>
        </p:txBody>
      </p:sp>
    </p:spTree>
    <p:extLst>
      <p:ext uri="{BB962C8B-B14F-4D97-AF65-F5344CB8AC3E}">
        <p14:creationId xmlns:p14="http://schemas.microsoft.com/office/powerpoint/2010/main" val="19487227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9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zh-CN" altLang="en-US"/>
          </a:p>
        </p:txBody>
      </p:sp>
      <p:sp>
        <p:nvSpPr>
          <p:cNvPr id="3399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99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399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altLang="zh-CN"/>
          </a:p>
        </p:txBody>
      </p:sp>
      <p:sp>
        <p:nvSpPr>
          <p:cNvPr id="3399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CCE3D245-78E3-4516-B67F-1C0280554390}" type="slidenum">
              <a:rPr lang="zh-CN" altLang="en-US"/>
              <a:pPr>
                <a:defRPr/>
              </a:pPr>
              <a:t>‹#›</a:t>
            </a:fld>
            <a:endParaRPr lang="en-US" altLang="zh-CN"/>
          </a:p>
        </p:txBody>
      </p:sp>
    </p:spTree>
    <p:extLst>
      <p:ext uri="{BB962C8B-B14F-4D97-AF65-F5344CB8AC3E}">
        <p14:creationId xmlns:p14="http://schemas.microsoft.com/office/powerpoint/2010/main" val="18544781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46114"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p>
        </p:txBody>
      </p:sp>
      <p:sp>
        <p:nvSpPr>
          <p:cNvPr id="346115"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smtClean="0"/>
            </a:lvl1pPr>
          </a:lstStyle>
          <a:p>
            <a:pPr>
              <a:defRPr/>
            </a:pPr>
            <a:endParaRPr lang="en-US" altLang="zh-CN"/>
          </a:p>
        </p:txBody>
      </p:sp>
      <p:sp>
        <p:nvSpPr>
          <p:cNvPr id="5" name="Rectangle 5"/>
          <p:cNvSpPr>
            <a:spLocks noGrp="1" noChangeArrowheads="1"/>
          </p:cNvSpPr>
          <p:nvPr>
            <p:ph type="ftr" sz="quarter" idx="11"/>
          </p:nvPr>
        </p:nvSpPr>
        <p:spPr/>
        <p:txBody>
          <a:bodyPr/>
          <a:lstStyle>
            <a:lvl1pPr>
              <a:defRPr smtClean="0"/>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smtClean="0"/>
            </a:lvl1pPr>
          </a:lstStyle>
          <a:p>
            <a:pPr>
              <a:defRPr/>
            </a:pPr>
            <a:fld id="{011E34BA-73CA-4BA6-AD1B-92CDB455AA6F}" type="slidenum">
              <a:rPr lang="zh-CN" altLang="en-US"/>
              <a:pPr>
                <a:defRPr/>
              </a:pPr>
              <a:t>‹#›</a:t>
            </a:fld>
            <a:endParaRPr lang="en-US" altLang="zh-CN"/>
          </a:p>
        </p:txBody>
      </p:sp>
    </p:spTree>
    <p:extLst>
      <p:ext uri="{BB962C8B-B14F-4D97-AF65-F5344CB8AC3E}">
        <p14:creationId xmlns:p14="http://schemas.microsoft.com/office/powerpoint/2010/main" val="3907243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2376E2D-9BF4-4FF8-8C1E-81C67BA4AE9D}" type="slidenum">
              <a:rPr lang="zh-CN" altLang="en-US"/>
              <a:pPr>
                <a:defRPr/>
              </a:pPr>
              <a:t>‹#›</a:t>
            </a:fld>
            <a:endParaRPr lang="en-US" altLang="zh-CN"/>
          </a:p>
        </p:txBody>
      </p:sp>
    </p:spTree>
    <p:extLst>
      <p:ext uri="{BB962C8B-B14F-4D97-AF65-F5344CB8AC3E}">
        <p14:creationId xmlns:p14="http://schemas.microsoft.com/office/powerpoint/2010/main" val="2409959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5CD8617-0D98-4A29-A8C5-8F5E05040EF4}" type="slidenum">
              <a:rPr lang="zh-CN" altLang="en-US"/>
              <a:pPr>
                <a:defRPr/>
              </a:pPr>
              <a:t>‹#›</a:t>
            </a:fld>
            <a:endParaRPr lang="en-US" altLang="zh-CN"/>
          </a:p>
        </p:txBody>
      </p:sp>
    </p:spTree>
    <p:extLst>
      <p:ext uri="{BB962C8B-B14F-4D97-AF65-F5344CB8AC3E}">
        <p14:creationId xmlns:p14="http://schemas.microsoft.com/office/powerpoint/2010/main" val="458941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6935F46-BB2B-4017-9C5D-4FE3A91C610D}" type="slidenum">
              <a:rPr lang="zh-CN" altLang="en-US"/>
              <a:pPr>
                <a:defRPr/>
              </a:pPr>
              <a:t>‹#›</a:t>
            </a:fld>
            <a:endParaRPr lang="en-US" altLang="zh-CN"/>
          </a:p>
        </p:txBody>
      </p:sp>
    </p:spTree>
    <p:extLst>
      <p:ext uri="{BB962C8B-B14F-4D97-AF65-F5344CB8AC3E}">
        <p14:creationId xmlns:p14="http://schemas.microsoft.com/office/powerpoint/2010/main" val="1828444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7348D67-3ED6-40A9-8D1F-99B21EBC5655}" type="slidenum">
              <a:rPr lang="zh-CN" altLang="en-US"/>
              <a:pPr>
                <a:defRPr/>
              </a:pPr>
              <a:t>‹#›</a:t>
            </a:fld>
            <a:endParaRPr lang="en-US" altLang="zh-CN"/>
          </a:p>
        </p:txBody>
      </p:sp>
    </p:spTree>
    <p:extLst>
      <p:ext uri="{BB962C8B-B14F-4D97-AF65-F5344CB8AC3E}">
        <p14:creationId xmlns:p14="http://schemas.microsoft.com/office/powerpoint/2010/main" val="4146021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2C56617A-255B-44C6-90AD-EC1F67475ED8}" type="slidenum">
              <a:rPr lang="zh-CN" altLang="en-US"/>
              <a:pPr>
                <a:defRPr/>
              </a:pPr>
              <a:t>‹#›</a:t>
            </a:fld>
            <a:endParaRPr lang="en-US" altLang="zh-CN"/>
          </a:p>
        </p:txBody>
      </p:sp>
    </p:spTree>
    <p:extLst>
      <p:ext uri="{BB962C8B-B14F-4D97-AF65-F5344CB8AC3E}">
        <p14:creationId xmlns:p14="http://schemas.microsoft.com/office/powerpoint/2010/main" val="902290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DB61C97-007E-4788-8F5F-0B76DE9F7636}" type="slidenum">
              <a:rPr lang="zh-CN" altLang="en-US"/>
              <a:pPr>
                <a:defRPr/>
              </a:pPr>
              <a:t>‹#›</a:t>
            </a:fld>
            <a:endParaRPr lang="en-US" altLang="zh-CN"/>
          </a:p>
        </p:txBody>
      </p:sp>
    </p:spTree>
    <p:extLst>
      <p:ext uri="{BB962C8B-B14F-4D97-AF65-F5344CB8AC3E}">
        <p14:creationId xmlns:p14="http://schemas.microsoft.com/office/powerpoint/2010/main" val="175676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A2DB009-ED2D-488C-9E11-D1FAA33D9E17}" type="slidenum">
              <a:rPr lang="zh-CN" altLang="en-US"/>
              <a:pPr>
                <a:defRPr/>
              </a:pPr>
              <a:t>‹#›</a:t>
            </a:fld>
            <a:endParaRPr lang="en-US" altLang="zh-CN"/>
          </a:p>
        </p:txBody>
      </p:sp>
    </p:spTree>
    <p:extLst>
      <p:ext uri="{BB962C8B-B14F-4D97-AF65-F5344CB8AC3E}">
        <p14:creationId xmlns:p14="http://schemas.microsoft.com/office/powerpoint/2010/main" val="360495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7A35290-70D0-4928-A12C-E26CF5AF88A6}" type="slidenum">
              <a:rPr lang="zh-CN" altLang="en-US"/>
              <a:pPr>
                <a:defRPr/>
              </a:pPr>
              <a:t>‹#›</a:t>
            </a:fld>
            <a:endParaRPr lang="en-US" altLang="zh-CN"/>
          </a:p>
        </p:txBody>
      </p:sp>
    </p:spTree>
    <p:extLst>
      <p:ext uri="{BB962C8B-B14F-4D97-AF65-F5344CB8AC3E}">
        <p14:creationId xmlns:p14="http://schemas.microsoft.com/office/powerpoint/2010/main" val="440858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AE73AD6-6416-4945-9D06-3D1F539EBF8F}" type="slidenum">
              <a:rPr lang="zh-CN" altLang="en-US"/>
              <a:pPr>
                <a:defRPr/>
              </a:pPr>
              <a:t>‹#›</a:t>
            </a:fld>
            <a:endParaRPr lang="en-US" altLang="zh-CN"/>
          </a:p>
        </p:txBody>
      </p:sp>
    </p:spTree>
    <p:extLst>
      <p:ext uri="{BB962C8B-B14F-4D97-AF65-F5344CB8AC3E}">
        <p14:creationId xmlns:p14="http://schemas.microsoft.com/office/powerpoint/2010/main" val="2734123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96A87B-1363-4278-9F5C-115CFB73C533}" type="slidenum">
              <a:rPr lang="zh-CN" altLang="en-US"/>
              <a:pPr>
                <a:defRPr/>
              </a:pPr>
              <a:t>‹#›</a:t>
            </a:fld>
            <a:endParaRPr lang="en-US" altLang="zh-CN"/>
          </a:p>
        </p:txBody>
      </p:sp>
    </p:spTree>
    <p:extLst>
      <p:ext uri="{BB962C8B-B14F-4D97-AF65-F5344CB8AC3E}">
        <p14:creationId xmlns:p14="http://schemas.microsoft.com/office/powerpoint/2010/main" val="2955741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1625" y="1905000"/>
            <a:ext cx="8540750" cy="4194175"/>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BDC1952-695D-4644-89AB-2E6D3A2A5ACE}" type="slidenum">
              <a:rPr lang="zh-CN" altLang="en-US"/>
              <a:pPr>
                <a:defRPr/>
              </a:pPr>
              <a:t>‹#›</a:t>
            </a:fld>
            <a:endParaRPr lang="en-US" altLang="zh-CN"/>
          </a:p>
        </p:txBody>
      </p:sp>
    </p:spTree>
    <p:extLst>
      <p:ext uri="{BB962C8B-B14F-4D97-AF65-F5344CB8AC3E}">
        <p14:creationId xmlns:p14="http://schemas.microsoft.com/office/powerpoint/2010/main" val="1682364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099" name="Rectangle 3"/>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45092"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Arial" charset="0"/>
              </a:defRPr>
            </a:lvl1pPr>
          </a:lstStyle>
          <a:p>
            <a:pPr>
              <a:defRPr/>
            </a:pPr>
            <a:endParaRPr lang="en-US" altLang="zh-CN"/>
          </a:p>
        </p:txBody>
      </p:sp>
      <p:sp>
        <p:nvSpPr>
          <p:cNvPr id="3450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Arial" charset="0"/>
              </a:defRPr>
            </a:lvl1pPr>
          </a:lstStyle>
          <a:p>
            <a:pPr>
              <a:defRPr/>
            </a:pPr>
            <a:endParaRPr lang="en-US" altLang="zh-CN"/>
          </a:p>
        </p:txBody>
      </p:sp>
      <p:sp>
        <p:nvSpPr>
          <p:cNvPr id="345094"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Arial" charset="0"/>
              </a:defRPr>
            </a:lvl1pPr>
          </a:lstStyle>
          <a:p>
            <a:pPr>
              <a:defRPr/>
            </a:pPr>
            <a:fld id="{7D71B925-20B2-46A8-A186-0A62AD00065F}"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2"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dt" sz="half" idx="4294967295"/>
          </p:nvPr>
        </p:nvSpPr>
        <p:spPr>
          <a:xfrm>
            <a:off x="301625" y="6245225"/>
            <a:ext cx="2289175" cy="476250"/>
          </a:xfrm>
          <a:prstGeom prst="rect">
            <a:avLst/>
          </a:prstGeom>
        </p:spPr>
        <p:txBody>
          <a:bodyPr/>
          <a:lstStyle/>
          <a:p>
            <a:fld id="{DDBC1D5D-22E5-4978-95BB-77EC19692485}" type="datetime1">
              <a:rPr lang="zh-CN" altLang="en-US"/>
              <a:pPr/>
              <a:t>2017/2/24</a:t>
            </a:fld>
            <a:endParaRPr lang="en-US" altLang="zh-CN"/>
          </a:p>
        </p:txBody>
      </p:sp>
      <p:sp>
        <p:nvSpPr>
          <p:cNvPr id="6" name="Rectangle 6"/>
          <p:cNvSpPr>
            <a:spLocks noGrp="1" noChangeArrowheads="1"/>
          </p:cNvSpPr>
          <p:nvPr>
            <p:ph type="sldNum" sz="quarter" idx="4294967295"/>
          </p:nvPr>
        </p:nvSpPr>
        <p:spPr>
          <a:xfrm>
            <a:off x="6553200" y="6245225"/>
            <a:ext cx="2289175" cy="476250"/>
          </a:xfrm>
          <a:prstGeom prst="rect">
            <a:avLst/>
          </a:prstGeom>
        </p:spPr>
        <p:txBody>
          <a:bodyPr/>
          <a:lstStyle/>
          <a:p>
            <a:fld id="{40C4311D-AC21-404A-8F49-F618F45B8246}" type="slidenum">
              <a:rPr lang="zh-CN" altLang="en-US"/>
              <a:pPr/>
              <a:t>1</a:t>
            </a:fld>
            <a:endParaRPr lang="en-US" altLang="zh-CN"/>
          </a:p>
        </p:txBody>
      </p:sp>
      <p:pic>
        <p:nvPicPr>
          <p:cNvPr id="336902" name="Picture 6" descr="A29058编译原理(正确)"/>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494338"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36900" name="Object 4">
            <a:hlinkClick r:id="" action="ppaction://ole?verb=0"/>
          </p:cNvPr>
          <p:cNvGraphicFramePr>
            <a:graphicFrameLocks/>
          </p:cNvGraphicFramePr>
          <p:nvPr/>
        </p:nvGraphicFramePr>
        <p:xfrm>
          <a:off x="6372225" y="3798888"/>
          <a:ext cx="1219200" cy="2438400"/>
        </p:xfrm>
        <a:graphic>
          <a:graphicData uri="http://schemas.openxmlformats.org/presentationml/2006/ole">
            <mc:AlternateContent xmlns:mc="http://schemas.openxmlformats.org/markup-compatibility/2006">
              <mc:Choice xmlns:v="urn:schemas-microsoft-com:vml" Requires="v">
                <p:oleObj spid="_x0000_s3076" name="剪辑" r:id="rId4" imgW="2641320" imgH="4586040" progId="MS_ClipArt_Gallery.2">
                  <p:embed/>
                </p:oleObj>
              </mc:Choice>
              <mc:Fallback>
                <p:oleObj name="剪辑" r:id="rId4" imgW="2641320" imgH="4586040" progId="MS_ClipArt_Gallery.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25" y="3798888"/>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6901" name="Text Box 5"/>
          <p:cNvSpPr txBox="1">
            <a:spLocks noChangeArrowheads="1"/>
          </p:cNvSpPr>
          <p:nvPr/>
        </p:nvSpPr>
        <p:spPr bwMode="auto">
          <a:xfrm>
            <a:off x="5076056" y="631825"/>
            <a:ext cx="3959994" cy="2850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主讲：</a:t>
            </a:r>
            <a:r>
              <a:rPr lang="zh-CN" altLang="en-US" sz="2800" b="1" dirty="0" smtClean="0">
                <a:latin typeface="Times New Roman" pitchFamily="18" charset="0"/>
                <a:ea typeface="华文新魏" pitchFamily="2" charset="-122"/>
              </a:rPr>
              <a:t>蒋宗礼、姜守旭</a:t>
            </a:r>
            <a:endParaRPr lang="zh-CN" altLang="en-US" sz="2800" b="1" dirty="0">
              <a:latin typeface="Times New Roman" pitchFamily="18" charset="0"/>
              <a:ea typeface="华文新魏" pitchFamily="2" charset="-122"/>
            </a:endParaRPr>
          </a:p>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办公室</a:t>
            </a:r>
            <a:r>
              <a:rPr lang="zh-CN" altLang="en-US" sz="2800" b="1" dirty="0" smtClean="0">
                <a:latin typeface="Times New Roman" pitchFamily="18" charset="0"/>
                <a:ea typeface="华文新魏" pitchFamily="2" charset="-122"/>
              </a:rPr>
              <a:t>：信北</a:t>
            </a:r>
            <a:r>
              <a:rPr lang="en-US" altLang="zh-CN" sz="2800" b="1" dirty="0" smtClean="0">
                <a:latin typeface="Times New Roman" pitchFamily="18" charset="0"/>
                <a:ea typeface="华文新魏" pitchFamily="2" charset="-122"/>
              </a:rPr>
              <a:t>212</a:t>
            </a:r>
            <a:endParaRPr lang="zh-CN" altLang="en-US" sz="2800" b="1" dirty="0">
              <a:latin typeface="Times New Roman" pitchFamily="18" charset="0"/>
              <a:ea typeface="华文新魏" pitchFamily="2" charset="-122"/>
            </a:endParaRPr>
          </a:p>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电话：</a:t>
            </a:r>
            <a:r>
              <a:rPr lang="zh-CN" altLang="en-US" sz="2800" b="1" dirty="0" smtClean="0">
                <a:latin typeface="Times New Roman" pitchFamily="18" charset="0"/>
                <a:ea typeface="华文新魏" pitchFamily="2" charset="-122"/>
              </a:rPr>
              <a:t>67392</a:t>
            </a:r>
            <a:r>
              <a:rPr lang="en-US" altLang="zh-CN" sz="2800" b="1" dirty="0" smtClean="0">
                <a:latin typeface="Times New Roman" pitchFamily="18" charset="0"/>
                <a:ea typeface="华文新魏" pitchFamily="2" charset="-122"/>
              </a:rPr>
              <a:t>397</a:t>
            </a:r>
            <a:endParaRPr lang="en-US" altLang="zh-CN" sz="2800" b="1" dirty="0">
              <a:latin typeface="Times New Roman" pitchFamily="18" charset="0"/>
              <a:ea typeface="华文新魏" pitchFamily="2" charset="-122"/>
            </a:endParaRPr>
          </a:p>
          <a:p>
            <a:pPr>
              <a:lnSpc>
                <a:spcPct val="90000"/>
              </a:lnSpc>
              <a:spcBef>
                <a:spcPct val="20000"/>
              </a:spcBef>
              <a:buClr>
                <a:schemeClr val="folHlink"/>
              </a:buClr>
              <a:buSzPct val="60000"/>
              <a:buFont typeface="Wingdings" pitchFamily="2" charset="2"/>
              <a:buChar char="n"/>
            </a:pPr>
            <a:r>
              <a:rPr lang="en-US" altLang="zh-CN" sz="2800" b="1" dirty="0">
                <a:latin typeface="Times New Roman" pitchFamily="18" charset="0"/>
                <a:ea typeface="华文新魏" pitchFamily="2" charset="-122"/>
              </a:rPr>
              <a:t>jiangzl@bjut.edu.cn</a:t>
            </a:r>
          </a:p>
          <a:p>
            <a:pPr>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答疑</a:t>
            </a:r>
            <a:r>
              <a:rPr lang="zh-CN" altLang="en-US" sz="2800" b="1" dirty="0" smtClean="0">
                <a:latin typeface="Times New Roman" pitchFamily="18" charset="0"/>
                <a:ea typeface="华文新魏" pitchFamily="2" charset="-122"/>
              </a:rPr>
              <a:t>：信北</a:t>
            </a:r>
            <a:r>
              <a:rPr lang="en-US" altLang="zh-CN" sz="2800" b="1" dirty="0" smtClean="0">
                <a:latin typeface="Times New Roman" pitchFamily="18" charset="0"/>
                <a:ea typeface="华文新魏" pitchFamily="2" charset="-122"/>
              </a:rPr>
              <a:t>212</a:t>
            </a:r>
          </a:p>
          <a:p>
            <a:pPr>
              <a:lnSpc>
                <a:spcPct val="90000"/>
              </a:lnSpc>
              <a:spcBef>
                <a:spcPct val="20000"/>
              </a:spcBef>
              <a:buClr>
                <a:schemeClr val="folHlink"/>
              </a:buClr>
              <a:buSzPct val="60000"/>
              <a:buFont typeface="Wingdings" pitchFamily="2" charset="2"/>
              <a:buChar char="n"/>
            </a:pPr>
            <a:r>
              <a:rPr lang="zh-CN" altLang="en-US" sz="2800" b="1" dirty="0" smtClean="0">
                <a:latin typeface="Times New Roman" pitchFamily="18" charset="0"/>
                <a:ea typeface="华文新魏" pitchFamily="2" charset="-122"/>
              </a:rPr>
              <a:t>作业</a:t>
            </a:r>
            <a:r>
              <a:rPr lang="zh-CN" altLang="en-US" sz="2800" b="1" dirty="0">
                <a:latin typeface="Times New Roman" pitchFamily="18" charset="0"/>
                <a:ea typeface="华文新魏" pitchFamily="2" charset="-122"/>
              </a:rPr>
              <a:t>：曹波</a:t>
            </a:r>
            <a:r>
              <a:rPr lang="en-US" altLang="zh-CN" sz="2800" b="1" dirty="0">
                <a:latin typeface="Times New Roman" pitchFamily="18" charset="0"/>
                <a:ea typeface="华文新魏" pitchFamily="2" charset="-122"/>
              </a:rPr>
              <a:t> (</a:t>
            </a:r>
            <a:r>
              <a:rPr lang="zh-CN" altLang="en-US" sz="2800" b="1" dirty="0">
                <a:latin typeface="Times New Roman" pitchFamily="18" charset="0"/>
                <a:ea typeface="华文新魏" pitchFamily="2" charset="-122"/>
              </a:rPr>
              <a:t>信南</a:t>
            </a:r>
            <a:r>
              <a:rPr lang="en-US" altLang="zh-CN" sz="2800" b="1" dirty="0">
                <a:latin typeface="Times New Roman" pitchFamily="18" charset="0"/>
                <a:ea typeface="华文新魏" pitchFamily="2" charset="-122"/>
              </a:rPr>
              <a:t>411)</a:t>
            </a:r>
          </a:p>
        </p:txBody>
      </p:sp>
    </p:spTree>
    <p:extLst>
      <p:ext uri="{BB962C8B-B14F-4D97-AF65-F5344CB8AC3E}">
        <p14:creationId xmlns:p14="http://schemas.microsoft.com/office/powerpoint/2010/main" val="20146703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BCD2721-17E1-42F2-869C-10B38164D018}" type="slidenum">
              <a:rPr lang="zh-CN" altLang="en-US"/>
              <a:pPr eaLnBrk="1" hangingPunct="1"/>
              <a:t>2</a:t>
            </a:fld>
            <a:endParaRPr lang="en-US" altLang="zh-CN"/>
          </a:p>
        </p:txBody>
      </p:sp>
      <p:sp>
        <p:nvSpPr>
          <p:cNvPr id="8195" name="Rectangle 2"/>
          <p:cNvSpPr>
            <a:spLocks noChangeArrowheads="1"/>
          </p:cNvSpPr>
          <p:nvPr/>
        </p:nvSpPr>
        <p:spPr bwMode="auto">
          <a:xfrm>
            <a:off x="684213" y="2060575"/>
            <a:ext cx="8208962"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buClr>
                <a:schemeClr val="hlink"/>
              </a:buClr>
              <a:buSzPct val="75000"/>
              <a:buFont typeface="Wingdings" pitchFamily="2" charset="2"/>
              <a:buNone/>
            </a:pPr>
            <a:r>
              <a:rPr lang="zh-CN" altLang="en-US" sz="6600" b="1">
                <a:solidFill>
                  <a:srgbClr val="CC6600"/>
                </a:solidFill>
                <a:latin typeface="华文新魏" pitchFamily="2" charset="-122"/>
                <a:ea typeface="华文新魏" pitchFamily="2" charset="-122"/>
              </a:rPr>
              <a:t>依照刻画语言的规则构造语言的识别系统</a:t>
            </a:r>
            <a:endParaRPr lang="en-US" altLang="zh-CN" sz="6600" b="1">
              <a:solidFill>
                <a:srgbClr val="CC6600"/>
              </a:solidFill>
              <a:latin typeface="华文新魏" pitchFamily="2" charset="-122"/>
              <a:ea typeface="华文新魏"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04F4F9A-70FF-4F2E-87AC-8F9F73D743A0}" type="slidenum">
              <a:rPr lang="zh-CN" altLang="en-US"/>
              <a:pPr eaLnBrk="1" hangingPunct="1"/>
              <a:t>3</a:t>
            </a:fld>
            <a:endParaRPr lang="en-US" altLang="zh-CN"/>
          </a:p>
        </p:txBody>
      </p:sp>
      <p:sp>
        <p:nvSpPr>
          <p:cNvPr id="9219" name="Rectangle 2"/>
          <p:cNvSpPr>
            <a:spLocks noGrp="1" noRot="1" noChangeArrowheads="1"/>
          </p:cNvSpPr>
          <p:nvPr>
            <p:ph type="title"/>
          </p:nvPr>
        </p:nvSpPr>
        <p:spPr>
          <a:xfrm>
            <a:off x="609600" y="152400"/>
            <a:ext cx="7772400" cy="685800"/>
          </a:xfrm>
        </p:spPr>
        <p:txBody>
          <a:bodyPr/>
          <a:lstStyle/>
          <a:p>
            <a:pPr eaLnBrk="1" hangingPunct="1"/>
            <a:r>
              <a:rPr lang="zh-CN" altLang="en-US" b="1" smtClean="0">
                <a:solidFill>
                  <a:schemeClr val="folHlink"/>
                </a:solidFill>
                <a:latin typeface="Times New Roman" pitchFamily="18" charset="0"/>
                <a:ea typeface="华文新魏" pitchFamily="2" charset="-122"/>
              </a:rPr>
              <a:t>编译程序总体结构</a:t>
            </a:r>
          </a:p>
        </p:txBody>
      </p:sp>
      <p:grpSp>
        <p:nvGrpSpPr>
          <p:cNvPr id="9220" name="Group 3"/>
          <p:cNvGrpSpPr>
            <a:grpSpLocks/>
          </p:cNvGrpSpPr>
          <p:nvPr/>
        </p:nvGrpSpPr>
        <p:grpSpPr bwMode="auto">
          <a:xfrm>
            <a:off x="860425" y="914400"/>
            <a:ext cx="7194550" cy="5791200"/>
            <a:chOff x="542" y="576"/>
            <a:chExt cx="4532" cy="3648"/>
          </a:xfrm>
        </p:grpSpPr>
        <p:sp>
          <p:nvSpPr>
            <p:cNvPr id="9221" name="AutoShape 4"/>
            <p:cNvSpPr>
              <a:spLocks noChangeArrowheads="1"/>
            </p:cNvSpPr>
            <p:nvPr/>
          </p:nvSpPr>
          <p:spPr bwMode="auto">
            <a:xfrm>
              <a:off x="2640" y="3312"/>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421893" name="Rectangle 5"/>
            <p:cNvSpPr>
              <a:spLocks noChangeArrowheads="1"/>
            </p:cNvSpPr>
            <p:nvPr/>
          </p:nvSpPr>
          <p:spPr bwMode="auto">
            <a:xfrm>
              <a:off x="2832" y="3312"/>
              <a:ext cx="768" cy="192"/>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1600" b="1">
                  <a:solidFill>
                    <a:schemeClr val="folHlink"/>
                  </a:solidFill>
                  <a:effectLst>
                    <a:outerShdw blurRad="38100" dist="38100" dir="2700000" algn="tl">
                      <a:srgbClr val="C0C0C0"/>
                    </a:outerShdw>
                  </a:effectLst>
                  <a:latin typeface="华文新魏" pitchFamily="2" charset="-122"/>
                  <a:ea typeface="华文新魏" pitchFamily="2" charset="-122"/>
                </a:rPr>
                <a:t>中间代码</a:t>
              </a:r>
            </a:p>
          </p:txBody>
        </p:sp>
        <p:sp>
          <p:nvSpPr>
            <p:cNvPr id="421894" name="Rectangle 6"/>
            <p:cNvSpPr>
              <a:spLocks noChangeArrowheads="1"/>
            </p:cNvSpPr>
            <p:nvPr/>
          </p:nvSpPr>
          <p:spPr bwMode="auto">
            <a:xfrm>
              <a:off x="1872" y="3552"/>
              <a:ext cx="1824" cy="384"/>
            </a:xfrm>
            <a:prstGeom prst="rect">
              <a:avLst/>
            </a:prstGeom>
            <a:no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目标代码生成器</a:t>
              </a:r>
            </a:p>
          </p:txBody>
        </p:sp>
        <p:sp>
          <p:nvSpPr>
            <p:cNvPr id="421895" name="Rectangle 7"/>
            <p:cNvSpPr>
              <a:spLocks noChangeArrowheads="1"/>
            </p:cNvSpPr>
            <p:nvPr/>
          </p:nvSpPr>
          <p:spPr bwMode="auto">
            <a:xfrm>
              <a:off x="2112" y="2880"/>
              <a:ext cx="1296" cy="384"/>
            </a:xfrm>
            <a:prstGeom prst="rect">
              <a:avLst/>
            </a:prstGeom>
            <a:no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代码优化器</a:t>
              </a:r>
            </a:p>
          </p:txBody>
        </p:sp>
        <p:sp>
          <p:nvSpPr>
            <p:cNvPr id="421896" name="Rectangle 8"/>
            <p:cNvSpPr>
              <a:spLocks noChangeArrowheads="1"/>
            </p:cNvSpPr>
            <p:nvPr/>
          </p:nvSpPr>
          <p:spPr bwMode="auto">
            <a:xfrm>
              <a:off x="1488" y="2208"/>
              <a:ext cx="2832" cy="384"/>
            </a:xfrm>
            <a:prstGeom prst="rect">
              <a:avLst/>
            </a:prstGeom>
            <a:no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语义分析与中间代码生成器</a:t>
              </a:r>
            </a:p>
          </p:txBody>
        </p:sp>
        <p:sp>
          <p:nvSpPr>
            <p:cNvPr id="421897" name="Rectangle 9"/>
            <p:cNvSpPr>
              <a:spLocks noChangeArrowheads="1"/>
            </p:cNvSpPr>
            <p:nvPr/>
          </p:nvSpPr>
          <p:spPr bwMode="auto">
            <a:xfrm>
              <a:off x="2112" y="1488"/>
              <a:ext cx="1296" cy="384"/>
            </a:xfrm>
            <a:prstGeom prst="rect">
              <a:avLst/>
            </a:prstGeom>
            <a:no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2800" b="1">
                  <a:effectLst>
                    <a:outerShdw blurRad="38100" dist="38100" dir="2700000" algn="tl">
                      <a:srgbClr val="C0C0C0"/>
                    </a:outerShdw>
                  </a:effectLst>
                  <a:latin typeface="华文新魏" pitchFamily="2" charset="-122"/>
                  <a:ea typeface="华文新魏" pitchFamily="2" charset="-122"/>
                </a:rPr>
                <a:t>语法分析器</a:t>
              </a:r>
            </a:p>
          </p:txBody>
        </p:sp>
        <p:grpSp>
          <p:nvGrpSpPr>
            <p:cNvPr id="9227" name="Group 10"/>
            <p:cNvGrpSpPr>
              <a:grpSpLocks/>
            </p:cNvGrpSpPr>
            <p:nvPr/>
          </p:nvGrpSpPr>
          <p:grpSpPr bwMode="auto">
            <a:xfrm>
              <a:off x="542" y="1008"/>
              <a:ext cx="1570" cy="2880"/>
              <a:chOff x="542" y="1104"/>
              <a:chExt cx="1570" cy="2880"/>
            </a:xfrm>
          </p:grpSpPr>
          <p:sp>
            <p:nvSpPr>
              <p:cNvPr id="421899" name="Text Box 11" descr="羊皮纸"/>
              <p:cNvSpPr txBox="1">
                <a:spLocks noChangeArrowheads="1"/>
              </p:cNvSpPr>
              <p:nvPr/>
            </p:nvSpPr>
            <p:spPr bwMode="auto">
              <a:xfrm>
                <a:off x="542" y="1104"/>
                <a:ext cx="418" cy="2880"/>
              </a:xfrm>
              <a:prstGeom prst="rect">
                <a:avLst/>
              </a:prstGeom>
              <a:blipFill dpi="0" rotWithShape="1">
                <a:blip r:embed="rId2"/>
                <a:srcRect/>
                <a:tile tx="0" ty="0" sx="100000" sy="100000" flip="none" algn="tl"/>
              </a:blipFill>
              <a:ln w="9525">
                <a:solidFill>
                  <a:schemeClr val="tx1"/>
                </a:solidFill>
                <a:miter lim="800000"/>
                <a:headEnd/>
                <a:tailEnd/>
              </a:ln>
              <a:effectLst/>
            </p:spPr>
            <p:txBody>
              <a:bodyPr vert="eaVert" lIns="92075" tIns="46038" rIns="92075" bIns="46038">
                <a:spAutoFit/>
              </a:bodyPr>
              <a:lstStyle/>
              <a:p>
                <a:pPr algn="ctr" eaLnBrk="0" hangingPunct="0">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000000"/>
                      </a:outerShdw>
                    </a:effectLst>
                    <a:latin typeface="华文新魏" pitchFamily="2" charset="-122"/>
                    <a:ea typeface="华文新魏" pitchFamily="2" charset="-122"/>
                  </a:rPr>
                  <a:t>表    格    管    理</a:t>
                </a:r>
              </a:p>
            </p:txBody>
          </p:sp>
          <p:sp>
            <p:nvSpPr>
              <p:cNvPr id="9249" name="Line 12"/>
              <p:cNvSpPr>
                <a:spLocks noChangeShapeType="1"/>
              </p:cNvSpPr>
              <p:nvPr/>
            </p:nvSpPr>
            <p:spPr bwMode="auto">
              <a:xfrm>
                <a:off x="960" y="1152"/>
                <a:ext cx="115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9250" name="Line 13"/>
              <p:cNvSpPr>
                <a:spLocks noChangeShapeType="1"/>
              </p:cNvSpPr>
              <p:nvPr/>
            </p:nvSpPr>
            <p:spPr bwMode="auto">
              <a:xfrm>
                <a:off x="960" y="1824"/>
                <a:ext cx="115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9251" name="Line 14"/>
              <p:cNvSpPr>
                <a:spLocks noChangeShapeType="1"/>
              </p:cNvSpPr>
              <p:nvPr/>
            </p:nvSpPr>
            <p:spPr bwMode="auto">
              <a:xfrm>
                <a:off x="960" y="2496"/>
                <a:ext cx="52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9252" name="Line 15"/>
              <p:cNvSpPr>
                <a:spLocks noChangeShapeType="1"/>
              </p:cNvSpPr>
              <p:nvPr/>
            </p:nvSpPr>
            <p:spPr bwMode="auto">
              <a:xfrm>
                <a:off x="960" y="3168"/>
                <a:ext cx="115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9253" name="Line 16"/>
              <p:cNvSpPr>
                <a:spLocks noChangeShapeType="1"/>
              </p:cNvSpPr>
              <p:nvPr/>
            </p:nvSpPr>
            <p:spPr bwMode="auto">
              <a:xfrm>
                <a:off x="1008" y="3840"/>
                <a:ext cx="81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grpSp>
        <p:grpSp>
          <p:nvGrpSpPr>
            <p:cNvPr id="9228" name="Group 17"/>
            <p:cNvGrpSpPr>
              <a:grpSpLocks/>
            </p:cNvGrpSpPr>
            <p:nvPr/>
          </p:nvGrpSpPr>
          <p:grpSpPr bwMode="auto">
            <a:xfrm>
              <a:off x="3408" y="912"/>
              <a:ext cx="1666" cy="2976"/>
              <a:chOff x="3408" y="1008"/>
              <a:chExt cx="1666" cy="2976"/>
            </a:xfrm>
          </p:grpSpPr>
          <p:grpSp>
            <p:nvGrpSpPr>
              <p:cNvPr id="9241" name="Group 18"/>
              <p:cNvGrpSpPr>
                <a:grpSpLocks/>
              </p:cNvGrpSpPr>
              <p:nvPr/>
            </p:nvGrpSpPr>
            <p:grpSpPr bwMode="auto">
              <a:xfrm>
                <a:off x="3408" y="1008"/>
                <a:ext cx="1666" cy="2976"/>
                <a:chOff x="3408" y="1008"/>
                <a:chExt cx="1666" cy="2976"/>
              </a:xfrm>
            </p:grpSpPr>
            <p:sp>
              <p:nvSpPr>
                <p:cNvPr id="421907" name="Text Box 19" descr="羊皮纸"/>
                <p:cNvSpPr txBox="1">
                  <a:spLocks noChangeArrowheads="1"/>
                </p:cNvSpPr>
                <p:nvPr/>
              </p:nvSpPr>
              <p:spPr bwMode="auto">
                <a:xfrm>
                  <a:off x="4656" y="1008"/>
                  <a:ext cx="418" cy="2976"/>
                </a:xfrm>
                <a:prstGeom prst="rect">
                  <a:avLst/>
                </a:prstGeom>
                <a:blipFill dpi="0" rotWithShape="1">
                  <a:blip r:embed="rId2"/>
                  <a:srcRect/>
                  <a:tile tx="0" ty="0" sx="100000" sy="100000" flip="none" algn="tl"/>
                </a:blipFill>
                <a:ln w="9525" algn="ctr">
                  <a:solidFill>
                    <a:schemeClr val="tx1"/>
                  </a:solidFill>
                  <a:miter lim="800000"/>
                  <a:headEnd/>
                  <a:tailEnd/>
                </a:ln>
                <a:effectLst/>
              </p:spPr>
              <p:txBody>
                <a:bodyPr vert="eaVert" lIns="92075" tIns="46038" rIns="92075" bIns="46038">
                  <a:spAutoFit/>
                </a:bodyPr>
                <a:lstStyle/>
                <a:p>
                  <a:pPr algn="ctr" eaLnBrk="0" hangingPunct="0">
                    <a:lnSpc>
                      <a:spcPct val="110000"/>
                    </a:lnSpc>
                    <a:spcBef>
                      <a:spcPct val="50000"/>
                    </a:spcBef>
                    <a:buClr>
                      <a:schemeClr val="folHlink"/>
                    </a:buClr>
                    <a:buSzPct val="75000"/>
                    <a:buFont typeface="Monotype Sorts" pitchFamily="2" charset="2"/>
                    <a:buNone/>
                    <a:defRPr/>
                  </a:pPr>
                  <a:r>
                    <a:rPr kumimoji="1" lang="zh-CN" altLang="en-US" sz="2800" b="1">
                      <a:effectLst>
                        <a:outerShdw blurRad="38100" dist="38100" dir="2700000" algn="tl">
                          <a:srgbClr val="000000"/>
                        </a:outerShdw>
                      </a:effectLst>
                      <a:latin typeface="华文新魏" pitchFamily="2" charset="-122"/>
                      <a:ea typeface="华文新魏" pitchFamily="2" charset="-122"/>
                    </a:rPr>
                    <a:t>出    错    处    理</a:t>
                  </a:r>
                </a:p>
              </p:txBody>
            </p:sp>
            <p:sp>
              <p:nvSpPr>
                <p:cNvPr id="9244" name="Line 20"/>
                <p:cNvSpPr>
                  <a:spLocks noChangeShapeType="1"/>
                </p:cNvSpPr>
                <p:nvPr/>
              </p:nvSpPr>
              <p:spPr bwMode="auto">
                <a:xfrm>
                  <a:off x="3456" y="1824"/>
                  <a:ext cx="115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9245" name="Line 21"/>
                <p:cNvSpPr>
                  <a:spLocks noChangeShapeType="1"/>
                </p:cNvSpPr>
                <p:nvPr/>
              </p:nvSpPr>
              <p:spPr bwMode="auto">
                <a:xfrm>
                  <a:off x="3408" y="1104"/>
                  <a:ext cx="115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9246" name="Line 22"/>
                <p:cNvSpPr>
                  <a:spLocks noChangeShapeType="1"/>
                </p:cNvSpPr>
                <p:nvPr/>
              </p:nvSpPr>
              <p:spPr bwMode="auto">
                <a:xfrm>
                  <a:off x="3408" y="3168"/>
                  <a:ext cx="115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sp>
              <p:nvSpPr>
                <p:cNvPr id="9247" name="Line 23"/>
                <p:cNvSpPr>
                  <a:spLocks noChangeShapeType="1"/>
                </p:cNvSpPr>
                <p:nvPr/>
              </p:nvSpPr>
              <p:spPr bwMode="auto">
                <a:xfrm>
                  <a:off x="4320" y="2544"/>
                  <a:ext cx="28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grpSp>
          <p:sp>
            <p:nvSpPr>
              <p:cNvPr id="9242" name="Line 24"/>
              <p:cNvSpPr>
                <a:spLocks noChangeShapeType="1"/>
              </p:cNvSpPr>
              <p:nvPr/>
            </p:nvSpPr>
            <p:spPr bwMode="auto">
              <a:xfrm>
                <a:off x="3744" y="3888"/>
                <a:ext cx="81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grpSp>
        <p:sp>
          <p:nvSpPr>
            <p:cNvPr id="421913" name="Rectangle 25"/>
            <p:cNvSpPr>
              <a:spLocks noChangeArrowheads="1"/>
            </p:cNvSpPr>
            <p:nvPr/>
          </p:nvSpPr>
          <p:spPr bwMode="auto">
            <a:xfrm>
              <a:off x="2832" y="2640"/>
              <a:ext cx="768" cy="192"/>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1600" b="1">
                  <a:solidFill>
                    <a:schemeClr val="folHlink"/>
                  </a:solidFill>
                  <a:effectLst>
                    <a:outerShdw blurRad="38100" dist="38100" dir="2700000" algn="tl">
                      <a:srgbClr val="C0C0C0"/>
                    </a:outerShdw>
                  </a:effectLst>
                  <a:latin typeface="华文新魏" pitchFamily="2" charset="-122"/>
                  <a:ea typeface="华文新魏" pitchFamily="2" charset="-122"/>
                </a:rPr>
                <a:t>中间代码</a:t>
              </a:r>
            </a:p>
          </p:txBody>
        </p:sp>
        <p:sp>
          <p:nvSpPr>
            <p:cNvPr id="9230" name="AutoShape 26"/>
            <p:cNvSpPr>
              <a:spLocks noChangeArrowheads="1"/>
            </p:cNvSpPr>
            <p:nvPr/>
          </p:nvSpPr>
          <p:spPr bwMode="auto">
            <a:xfrm>
              <a:off x="2640" y="2640"/>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9231" name="AutoShape 27"/>
            <p:cNvSpPr>
              <a:spLocks noChangeArrowheads="1"/>
            </p:cNvSpPr>
            <p:nvPr/>
          </p:nvSpPr>
          <p:spPr bwMode="auto">
            <a:xfrm>
              <a:off x="2640" y="3984"/>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421916" name="Rectangle 28"/>
            <p:cNvSpPr>
              <a:spLocks noChangeArrowheads="1"/>
            </p:cNvSpPr>
            <p:nvPr/>
          </p:nvSpPr>
          <p:spPr bwMode="auto">
            <a:xfrm>
              <a:off x="2784" y="3978"/>
              <a:ext cx="768" cy="192"/>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1600" b="1">
                  <a:solidFill>
                    <a:schemeClr val="folHlink"/>
                  </a:solidFill>
                  <a:effectLst>
                    <a:outerShdw blurRad="38100" dist="38100" dir="2700000" algn="tl">
                      <a:srgbClr val="C0C0C0"/>
                    </a:outerShdw>
                  </a:effectLst>
                  <a:latin typeface="华文新魏" pitchFamily="2" charset="-122"/>
                  <a:ea typeface="华文新魏" pitchFamily="2" charset="-122"/>
                </a:rPr>
                <a:t>目标代码</a:t>
              </a:r>
            </a:p>
          </p:txBody>
        </p:sp>
        <p:sp>
          <p:nvSpPr>
            <p:cNvPr id="9233" name="AutoShape 29"/>
            <p:cNvSpPr>
              <a:spLocks noChangeArrowheads="1"/>
            </p:cNvSpPr>
            <p:nvPr/>
          </p:nvSpPr>
          <p:spPr bwMode="auto">
            <a:xfrm>
              <a:off x="2640" y="1920"/>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421918" name="Rectangle 30"/>
            <p:cNvSpPr>
              <a:spLocks noChangeArrowheads="1"/>
            </p:cNvSpPr>
            <p:nvPr/>
          </p:nvSpPr>
          <p:spPr bwMode="auto">
            <a:xfrm>
              <a:off x="2880" y="1920"/>
              <a:ext cx="768" cy="192"/>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1600" b="1">
                  <a:solidFill>
                    <a:schemeClr val="folHlink"/>
                  </a:solidFill>
                  <a:effectLst>
                    <a:outerShdw blurRad="38100" dist="38100" dir="2700000" algn="tl">
                      <a:srgbClr val="C0C0C0"/>
                    </a:outerShdw>
                  </a:effectLst>
                  <a:latin typeface="华文新魏" pitchFamily="2" charset="-122"/>
                  <a:ea typeface="华文新魏" pitchFamily="2" charset="-122"/>
                </a:rPr>
                <a:t>语法单位</a:t>
              </a:r>
            </a:p>
          </p:txBody>
        </p:sp>
        <p:sp>
          <p:nvSpPr>
            <p:cNvPr id="9235" name="AutoShape 31"/>
            <p:cNvSpPr>
              <a:spLocks noChangeArrowheads="1"/>
            </p:cNvSpPr>
            <p:nvPr/>
          </p:nvSpPr>
          <p:spPr bwMode="auto">
            <a:xfrm>
              <a:off x="2640" y="1248"/>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421920" name="Rectangle 32"/>
            <p:cNvSpPr>
              <a:spLocks noChangeArrowheads="1"/>
            </p:cNvSpPr>
            <p:nvPr/>
          </p:nvSpPr>
          <p:spPr bwMode="auto">
            <a:xfrm>
              <a:off x="2880" y="1248"/>
              <a:ext cx="768" cy="192"/>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1600" b="1">
                  <a:solidFill>
                    <a:schemeClr val="folHlink"/>
                  </a:solidFill>
                  <a:effectLst>
                    <a:outerShdw blurRad="38100" dist="38100" dir="2700000" algn="tl">
                      <a:srgbClr val="C0C0C0"/>
                    </a:outerShdw>
                  </a:effectLst>
                  <a:latin typeface="华文新魏" pitchFamily="2" charset="-122"/>
                  <a:ea typeface="华文新魏" pitchFamily="2" charset="-122"/>
                </a:rPr>
                <a:t>单词符号</a:t>
              </a:r>
            </a:p>
          </p:txBody>
        </p:sp>
        <p:sp>
          <p:nvSpPr>
            <p:cNvPr id="421921" name="Rectangle 33"/>
            <p:cNvSpPr>
              <a:spLocks noChangeArrowheads="1"/>
            </p:cNvSpPr>
            <p:nvPr/>
          </p:nvSpPr>
          <p:spPr bwMode="auto">
            <a:xfrm>
              <a:off x="2112" y="816"/>
              <a:ext cx="1296" cy="384"/>
            </a:xfrm>
            <a:prstGeom prst="rect">
              <a:avLst/>
            </a:prstGeom>
            <a:solidFill>
              <a:srgbClr val="00FF00"/>
            </a:solid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2800" b="1">
                  <a:solidFill>
                    <a:schemeClr val="hlink"/>
                  </a:solidFill>
                  <a:effectLst>
                    <a:outerShdw blurRad="38100" dist="38100" dir="2700000" algn="tl">
                      <a:srgbClr val="000000"/>
                    </a:outerShdw>
                  </a:effectLst>
                  <a:latin typeface="华文新魏" pitchFamily="2" charset="-122"/>
                  <a:ea typeface="华文新魏" pitchFamily="2" charset="-122"/>
                </a:rPr>
                <a:t>词法分析器</a:t>
              </a:r>
            </a:p>
          </p:txBody>
        </p:sp>
        <p:sp>
          <p:nvSpPr>
            <p:cNvPr id="9238" name="AutoShape 34"/>
            <p:cNvSpPr>
              <a:spLocks noChangeArrowheads="1"/>
            </p:cNvSpPr>
            <p:nvPr/>
          </p:nvSpPr>
          <p:spPr bwMode="auto">
            <a:xfrm>
              <a:off x="2640" y="576"/>
              <a:ext cx="192" cy="240"/>
            </a:xfrm>
            <a:prstGeom prst="downArrow">
              <a:avLst>
                <a:gd name="adj1" fmla="val 50000"/>
                <a:gd name="adj2" fmla="val 31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421923" name="Rectangle 35"/>
            <p:cNvSpPr>
              <a:spLocks noChangeArrowheads="1"/>
            </p:cNvSpPr>
            <p:nvPr/>
          </p:nvSpPr>
          <p:spPr bwMode="auto">
            <a:xfrm>
              <a:off x="2832" y="576"/>
              <a:ext cx="768" cy="192"/>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1600" b="1">
                  <a:solidFill>
                    <a:schemeClr val="folHlink"/>
                  </a:solidFill>
                  <a:effectLst>
                    <a:outerShdw blurRad="38100" dist="38100" dir="2700000" algn="tl">
                      <a:srgbClr val="C0C0C0"/>
                    </a:outerShdw>
                  </a:effectLst>
                  <a:latin typeface="华文新魏" pitchFamily="2" charset="-122"/>
                  <a:ea typeface="华文新魏" pitchFamily="2" charset="-122"/>
                </a:rPr>
                <a:t>源程序</a:t>
              </a:r>
            </a:p>
          </p:txBody>
        </p:sp>
        <p:sp>
          <p:nvSpPr>
            <p:cNvPr id="9240" name="Line 36"/>
            <p:cNvSpPr>
              <a:spLocks noChangeShapeType="1"/>
            </p:cNvSpPr>
            <p:nvPr/>
          </p:nvSpPr>
          <p:spPr bwMode="auto">
            <a:xfrm>
              <a:off x="2592" y="2208"/>
              <a:ext cx="0" cy="384"/>
            </a:xfrm>
            <a:prstGeom prst="line">
              <a:avLst/>
            </a:prstGeom>
            <a:noFill/>
            <a:ln w="38100">
              <a:solidFill>
                <a:srgbClr val="FF9900"/>
              </a:solidFill>
              <a:prstDash val="sysDot"/>
              <a:round/>
              <a:headEnd/>
              <a:tailEnd/>
            </a:ln>
            <a:extLst>
              <a:ext uri="{909E8E84-426E-40DD-AFC4-6F175D3DCCD1}">
                <a14:hiddenFill xmlns:a14="http://schemas.microsoft.com/office/drawing/2010/main">
                  <a:noFill/>
                </a14:hiddenFill>
              </a:ext>
            </a:extLst>
          </p:spPr>
          <p:txBody>
            <a:bodyPr wrap="none" lIns="92075" tIns="46038" rIns="92075" bIns="46038"/>
            <a:lstStyle/>
            <a:p>
              <a:endParaRPr lang="zh-CN" altLang="en-US"/>
            </a:p>
          </p:txBody>
        </p:sp>
      </p:gr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183DB18D-6CF0-4888-AAC9-6C61C4BF0DC1}" type="slidenum">
              <a:rPr lang="zh-CN" altLang="en-US"/>
              <a:pPr eaLnBrk="1" hangingPunct="1"/>
              <a:t>4</a:t>
            </a:fld>
            <a:endParaRPr lang="en-US" altLang="zh-CN"/>
          </a:p>
        </p:txBody>
      </p:sp>
      <p:sp>
        <p:nvSpPr>
          <p:cNvPr id="2052" name="Rectangle 2"/>
          <p:cNvSpPr>
            <a:spLocks noGrp="1" noRot="1" noChangeArrowheads="1"/>
          </p:cNvSpPr>
          <p:nvPr>
            <p:ph type="ctrTitle"/>
          </p:nvPr>
        </p:nvSpPr>
        <p:spPr>
          <a:xfrm>
            <a:off x="882650" y="908050"/>
            <a:ext cx="6569075" cy="1152525"/>
          </a:xfrm>
        </p:spPr>
        <p:txBody>
          <a:bodyPr/>
          <a:lstStyle/>
          <a:p>
            <a:pPr eaLnBrk="1" hangingPunct="1"/>
            <a:r>
              <a:rPr lang="zh-CN" altLang="en-US" sz="5400" b="1" smtClean="0">
                <a:latin typeface="Times New Roman" pitchFamily="18" charset="0"/>
                <a:ea typeface="华文新魏" pitchFamily="2" charset="-122"/>
              </a:rPr>
              <a:t>第3章  词法分析</a:t>
            </a:r>
            <a:endParaRPr lang="en-US" altLang="zh-CN" sz="5400" b="1" smtClean="0">
              <a:latin typeface="Times New Roman" pitchFamily="18" charset="0"/>
              <a:ea typeface="华文新魏" pitchFamily="2" charset="-122"/>
            </a:endParaRPr>
          </a:p>
        </p:txBody>
      </p:sp>
      <p:graphicFrame>
        <p:nvGraphicFramePr>
          <p:cNvPr id="2050" name="Object 3">
            <a:hlinkClick r:id="" action="ppaction://ole?verb=0"/>
          </p:cNvPr>
          <p:cNvGraphicFramePr>
            <a:graphicFrameLocks/>
          </p:cNvGraphicFramePr>
          <p:nvPr/>
        </p:nvGraphicFramePr>
        <p:xfrm>
          <a:off x="7235825" y="2997200"/>
          <a:ext cx="1219200" cy="2438400"/>
        </p:xfrm>
        <a:graphic>
          <a:graphicData uri="http://schemas.openxmlformats.org/presentationml/2006/ole">
            <mc:AlternateContent xmlns:mc="http://schemas.openxmlformats.org/markup-compatibility/2006">
              <mc:Choice xmlns:v="urn:schemas-microsoft-com:vml" Requires="v">
                <p:oleObj spid="_x0000_s2057" name="剪辑" r:id="rId3" imgW="2641320" imgH="4586040" progId="MS_ClipArt_Gallery.2">
                  <p:embed/>
                </p:oleObj>
              </mc:Choice>
              <mc:Fallback>
                <p:oleObj name="剪辑" r:id="rId3" imgW="2641320" imgH="4586040" progId="MS_ClipArt_Gallery.2">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2997200"/>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3" name="Rectangle 4"/>
          <p:cNvSpPr>
            <a:spLocks noGrp="1" noChangeArrowheads="1"/>
          </p:cNvSpPr>
          <p:nvPr>
            <p:ph type="subTitle" idx="1"/>
          </p:nvPr>
        </p:nvSpPr>
        <p:spPr>
          <a:xfrm>
            <a:off x="1258888" y="2852738"/>
            <a:ext cx="6049962" cy="2736850"/>
          </a:xfrm>
          <a:noFill/>
        </p:spPr>
        <p:txBody>
          <a:bodyPr/>
          <a:lstStyle/>
          <a:p>
            <a:pPr eaLnBrk="1" hangingPunct="1">
              <a:spcBef>
                <a:spcPct val="50000"/>
              </a:spcBef>
            </a:pPr>
            <a:r>
              <a:rPr lang="zh-CN" altLang="en-US" b="1" smtClean="0">
                <a:latin typeface="Times New Roman" pitchFamily="18" charset="0"/>
                <a:ea typeface="华文新魏" pitchFamily="2" charset="-122"/>
              </a:rPr>
              <a:t>词法分析器</a:t>
            </a:r>
            <a:r>
              <a:rPr lang="en-US" altLang="zh-CN" b="1" smtClean="0">
                <a:latin typeface="Times New Roman" pitchFamily="18" charset="0"/>
                <a:ea typeface="华文新魏" pitchFamily="2" charset="-122"/>
              </a:rPr>
              <a:t>(Lexical Analyzer, Scanner)</a:t>
            </a:r>
            <a:r>
              <a:rPr lang="zh-CN" altLang="en-US" b="1" smtClean="0">
                <a:latin typeface="Times New Roman" pitchFamily="18" charset="0"/>
                <a:ea typeface="华文新魏" pitchFamily="2" charset="-122"/>
              </a:rPr>
              <a:t>的功能</a:t>
            </a:r>
          </a:p>
          <a:p>
            <a:pPr eaLnBrk="1" hangingPunct="1">
              <a:spcBef>
                <a:spcPct val="50000"/>
              </a:spcBef>
            </a:pPr>
            <a:r>
              <a:rPr lang="zh-CN" altLang="en-US" b="1" smtClean="0">
                <a:latin typeface="Times New Roman" pitchFamily="18" charset="0"/>
                <a:ea typeface="华文新魏" pitchFamily="2" charset="-122"/>
              </a:rPr>
              <a:t>词法的表示</a:t>
            </a:r>
            <a:r>
              <a:rPr lang="en-US" altLang="zh-CN" b="1" smtClean="0">
                <a:latin typeface="Times New Roman" pitchFamily="18" charset="0"/>
                <a:ea typeface="华文新魏" pitchFamily="2" charset="-122"/>
              </a:rPr>
              <a:t>(</a:t>
            </a:r>
            <a:r>
              <a:rPr lang="en-US" altLang="zh-CN" b="1" smtClean="0">
                <a:solidFill>
                  <a:schemeClr val="accent2"/>
                </a:solidFill>
                <a:latin typeface="Times New Roman" pitchFamily="18" charset="0"/>
                <a:ea typeface="华文新魏" pitchFamily="2" charset="-122"/>
              </a:rPr>
              <a:t>RG</a:t>
            </a:r>
            <a:r>
              <a:rPr lang="zh-CN" altLang="en-US" b="1" smtClean="0">
                <a:solidFill>
                  <a:schemeClr val="accent2"/>
                </a:solidFill>
                <a:latin typeface="Times New Roman" pitchFamily="18" charset="0"/>
                <a:ea typeface="华文新魏" pitchFamily="2" charset="-122"/>
              </a:rPr>
              <a:t>、</a:t>
            </a:r>
            <a:r>
              <a:rPr lang="en-US" altLang="zh-CN" b="1" smtClean="0">
                <a:latin typeface="Times New Roman" pitchFamily="18" charset="0"/>
                <a:ea typeface="华文新魏" pitchFamily="2" charset="-122"/>
              </a:rPr>
              <a:t>RE</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FA)</a:t>
            </a:r>
            <a:endParaRPr lang="en-US" altLang="zh-CN" b="1" i="1" smtClean="0">
              <a:latin typeface="Times New Roman" pitchFamily="18" charset="0"/>
              <a:ea typeface="华文新魏" pitchFamily="2" charset="-122"/>
            </a:endParaRPr>
          </a:p>
          <a:p>
            <a:pPr eaLnBrk="1" hangingPunct="1">
              <a:spcBef>
                <a:spcPct val="50000"/>
              </a:spcBef>
            </a:pPr>
            <a:r>
              <a:rPr lang="zh-CN" altLang="en-US" b="1" smtClean="0">
                <a:latin typeface="Times New Roman" pitchFamily="18" charset="0"/>
                <a:ea typeface="华文新魏" pitchFamily="2" charset="-122"/>
              </a:rPr>
              <a:t>词法分析器的设计与实现</a:t>
            </a:r>
            <a:endParaRPr lang="en-US" altLang="zh-CN"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5A7658E-BBA7-4CA4-9C98-7DA6720ECC27}" type="slidenum">
              <a:rPr lang="zh-CN" altLang="en-US"/>
              <a:pPr eaLnBrk="1" hangingPunct="1"/>
              <a:t>5</a:t>
            </a:fld>
            <a:endParaRPr lang="en-US" altLang="zh-CN"/>
          </a:p>
        </p:txBody>
      </p:sp>
      <p:sp>
        <p:nvSpPr>
          <p:cNvPr id="10243" name="Rectangle 2"/>
          <p:cNvSpPr>
            <a:spLocks noGrp="1" noRot="1" noChangeArrowheads="1"/>
          </p:cNvSpPr>
          <p:nvPr>
            <p:ph type="title"/>
          </p:nvPr>
        </p:nvSpPr>
        <p:spPr>
          <a:xfrm>
            <a:off x="301625" y="549275"/>
            <a:ext cx="8540750" cy="935038"/>
          </a:xfrm>
        </p:spPr>
        <p:txBody>
          <a:bodyPr/>
          <a:lstStyle/>
          <a:p>
            <a:pPr eaLnBrk="1" hangingPunct="1"/>
            <a:r>
              <a:rPr lang="zh-CN" altLang="en-US" b="1" smtClean="0">
                <a:solidFill>
                  <a:srgbClr val="000099"/>
                </a:solidFill>
                <a:latin typeface="Times New Roman" pitchFamily="18" charset="0"/>
                <a:ea typeface="华文新魏" pitchFamily="2" charset="-122"/>
              </a:rPr>
              <a:t>3</a:t>
            </a:r>
            <a:r>
              <a:rPr lang="zh-CN" altLang="en-US" sz="4000" b="1" smtClean="0">
                <a:solidFill>
                  <a:srgbClr val="000099"/>
                </a:solidFill>
                <a:latin typeface="Times New Roman" pitchFamily="18" charset="0"/>
                <a:ea typeface="华文新魏" pitchFamily="2" charset="-122"/>
              </a:rPr>
              <a:t>.1  词法分析</a:t>
            </a:r>
            <a:r>
              <a:rPr lang="en-US" altLang="zh-CN" sz="4000" b="1" smtClean="0">
                <a:solidFill>
                  <a:srgbClr val="000099"/>
                </a:solidFill>
                <a:latin typeface="Times New Roman" pitchFamily="18" charset="0"/>
                <a:ea typeface="华文新魏" pitchFamily="2" charset="-122"/>
              </a:rPr>
              <a:t>(</a:t>
            </a:r>
            <a:r>
              <a:rPr lang="zh-CN" altLang="en-US" sz="4000" b="1" smtClean="0">
                <a:solidFill>
                  <a:srgbClr val="000099"/>
                </a:solidFill>
                <a:latin typeface="Times New Roman" pitchFamily="18" charset="0"/>
                <a:ea typeface="华文新魏" pitchFamily="2" charset="-122"/>
              </a:rPr>
              <a:t>扫描</a:t>
            </a:r>
            <a:r>
              <a:rPr lang="en-US" altLang="zh-CN" sz="4000" b="1" smtClean="0">
                <a:solidFill>
                  <a:srgbClr val="000099"/>
                </a:solidFill>
                <a:latin typeface="Times New Roman" pitchFamily="18" charset="0"/>
                <a:ea typeface="华文新魏" pitchFamily="2" charset="-122"/>
              </a:rPr>
              <a:t>)</a:t>
            </a:r>
            <a:r>
              <a:rPr lang="zh-CN" altLang="en-US" sz="4000" b="1" smtClean="0">
                <a:solidFill>
                  <a:srgbClr val="000099"/>
                </a:solidFill>
                <a:latin typeface="Times New Roman" pitchFamily="18" charset="0"/>
                <a:ea typeface="华文新魏" pitchFamily="2" charset="-122"/>
              </a:rPr>
              <a:t>器的功能</a:t>
            </a:r>
          </a:p>
        </p:txBody>
      </p:sp>
      <p:sp>
        <p:nvSpPr>
          <p:cNvPr id="446467" name="Rectangle 3"/>
          <p:cNvSpPr>
            <a:spLocks noGrp="1" noRot="1" noChangeArrowheads="1"/>
          </p:cNvSpPr>
          <p:nvPr>
            <p:ph type="body" idx="1"/>
          </p:nvPr>
        </p:nvSpPr>
        <p:spPr>
          <a:xfrm>
            <a:off x="611188" y="1773238"/>
            <a:ext cx="8208962" cy="4537075"/>
          </a:xfrm>
        </p:spPr>
        <p:txBody>
          <a:bodyPr/>
          <a:lstStyle/>
          <a:p>
            <a:pPr eaLnBrk="1" hangingPunct="1"/>
            <a:r>
              <a:rPr lang="zh-CN" altLang="en-US" b="1" smtClean="0">
                <a:latin typeface="Times New Roman" pitchFamily="18" charset="0"/>
                <a:ea typeface="华文新魏" pitchFamily="2" charset="-122"/>
              </a:rPr>
              <a:t>功能：输入源程序，输出</a:t>
            </a:r>
            <a:r>
              <a:rPr lang="en-US" altLang="zh-CN" b="1" smtClean="0">
                <a:solidFill>
                  <a:srgbClr val="CD1C09"/>
                </a:solidFill>
                <a:latin typeface="Times New Roman" pitchFamily="18" charset="0"/>
                <a:ea typeface="华文新魏" pitchFamily="2" charset="-122"/>
              </a:rPr>
              <a:t>(</a:t>
            </a:r>
            <a:r>
              <a:rPr lang="zh-CN" altLang="en-US" b="1" smtClean="0">
                <a:solidFill>
                  <a:srgbClr val="CD1C09"/>
                </a:solidFill>
                <a:latin typeface="Times New Roman" pitchFamily="18" charset="0"/>
                <a:ea typeface="华文新魏" pitchFamily="2" charset="-122"/>
              </a:rPr>
              <a:t>单词</a:t>
            </a:r>
            <a:r>
              <a:rPr lang="en-US" altLang="zh-CN" b="1" smtClean="0">
                <a:solidFill>
                  <a:srgbClr val="CD1C09"/>
                </a:solidFill>
                <a:latin typeface="Times New Roman" pitchFamily="18" charset="0"/>
                <a:ea typeface="华文新魏" pitchFamily="2" charset="-122"/>
              </a:rPr>
              <a:t>)</a:t>
            </a:r>
            <a:r>
              <a:rPr lang="zh-CN" altLang="en-US" b="1" smtClean="0">
                <a:latin typeface="Times New Roman" pitchFamily="18" charset="0"/>
                <a:ea typeface="华文新魏" pitchFamily="2" charset="-122"/>
              </a:rPr>
              <a:t>符号</a:t>
            </a:r>
            <a:r>
              <a:rPr lang="en-US" altLang="zh-CN" b="1" smtClean="0">
                <a:latin typeface="Times New Roman" pitchFamily="18" charset="0"/>
                <a:ea typeface="华文新魏" pitchFamily="2" charset="-122"/>
              </a:rPr>
              <a:t>(token)。  </a:t>
            </a:r>
            <a:r>
              <a:rPr lang="zh-CN" altLang="en-US" b="1" smtClean="0">
                <a:latin typeface="Times New Roman" pitchFamily="18" charset="0"/>
                <a:ea typeface="华文新魏" pitchFamily="2" charset="-122"/>
              </a:rPr>
              <a:t>即：把构成源程序的</a:t>
            </a:r>
            <a:r>
              <a:rPr lang="zh-CN" altLang="en-US" b="1" smtClean="0">
                <a:solidFill>
                  <a:srgbClr val="000099"/>
                </a:solidFill>
                <a:latin typeface="Times New Roman" pitchFamily="18" charset="0"/>
                <a:ea typeface="华文新魏" pitchFamily="2" charset="-122"/>
              </a:rPr>
              <a:t>字符串</a:t>
            </a:r>
            <a:r>
              <a:rPr lang="zh-CN" altLang="en-US" b="1" smtClean="0">
                <a:latin typeface="Times New Roman" pitchFamily="18" charset="0"/>
                <a:ea typeface="华文新魏" pitchFamily="2" charset="-122"/>
              </a:rPr>
              <a:t>转换成</a:t>
            </a:r>
            <a:r>
              <a:rPr lang="en-US" altLang="zh-CN" b="1" smtClean="0">
                <a:solidFill>
                  <a:srgbClr val="CD1C09"/>
                </a:solidFill>
                <a:latin typeface="Times New Roman" pitchFamily="18" charset="0"/>
                <a:ea typeface="华文新魏" pitchFamily="2" charset="-122"/>
              </a:rPr>
              <a:t>(</a:t>
            </a:r>
            <a:r>
              <a:rPr lang="zh-CN" altLang="en-US" b="1" smtClean="0">
                <a:solidFill>
                  <a:srgbClr val="CD1C09"/>
                </a:solidFill>
                <a:latin typeface="Times New Roman" pitchFamily="18" charset="0"/>
                <a:ea typeface="华文新魏" pitchFamily="2" charset="-122"/>
              </a:rPr>
              <a:t>单词</a:t>
            </a:r>
            <a:r>
              <a:rPr lang="en-US" altLang="zh-CN" b="1" smtClean="0">
                <a:solidFill>
                  <a:srgbClr val="CD1C0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符号序列</a:t>
            </a:r>
          </a:p>
          <a:p>
            <a:pPr eaLnBrk="1" hangingPunct="1"/>
            <a:r>
              <a:rPr lang="zh-CN" altLang="en-US" b="1" smtClean="0">
                <a:latin typeface="Times New Roman" pitchFamily="18" charset="0"/>
                <a:ea typeface="华文新魏" pitchFamily="2" charset="-122"/>
              </a:rPr>
              <a:t>单词符号的形式</a:t>
            </a:r>
          </a:p>
          <a:p>
            <a:pPr lvl="1" eaLnBrk="1" hangingPunct="1"/>
            <a:r>
              <a:rPr lang="zh-CN" altLang="en-US" sz="3200" b="1" smtClean="0">
                <a:latin typeface="Times New Roman" pitchFamily="18" charset="0"/>
                <a:ea typeface="华文新魏" pitchFamily="2" charset="-122"/>
              </a:rPr>
              <a:t>按照最小的语义单位设计</a:t>
            </a:r>
          </a:p>
          <a:p>
            <a:pPr lvl="1" eaLnBrk="1" hangingPunct="1"/>
            <a:r>
              <a:rPr lang="zh-CN" altLang="en-US" sz="3200" b="1" smtClean="0">
                <a:latin typeface="Times New Roman" pitchFamily="18" charset="0"/>
                <a:ea typeface="华文新魏" pitchFamily="2" charset="-122"/>
              </a:rPr>
              <a:t>通常表示为二元组：</a:t>
            </a:r>
          </a:p>
          <a:p>
            <a:pPr lvl="1" eaLnBrk="1" hangingPunct="1">
              <a:buFont typeface="Wingdings" pitchFamily="2" charset="2"/>
              <a:buNone/>
            </a:pPr>
            <a:r>
              <a:rPr lang="zh-CN" altLang="en-US" sz="3200" b="1" smtClean="0">
                <a:latin typeface="Times New Roman" pitchFamily="18" charset="0"/>
                <a:ea typeface="华文新魏" pitchFamily="2" charset="-122"/>
              </a:rPr>
              <a:t>			</a:t>
            </a:r>
            <a:r>
              <a:rPr lang="en-US" altLang="zh-CN" sz="3200" b="1" smtClean="0">
                <a:latin typeface="Times New Roman" pitchFamily="18" charset="0"/>
                <a:ea typeface="华文新魏" pitchFamily="2" charset="-122"/>
              </a:rPr>
              <a:t>(</a:t>
            </a:r>
            <a:r>
              <a:rPr lang="zh-CN" altLang="en-US" sz="3200" b="1" smtClean="0">
                <a:latin typeface="Times New Roman" pitchFamily="18" charset="0"/>
                <a:ea typeface="华文新魏" pitchFamily="2" charset="-122"/>
              </a:rPr>
              <a:t>单词符号种别，属性值</a:t>
            </a:r>
            <a:r>
              <a:rPr lang="en-US" altLang="zh-CN" sz="3200" b="1" smtClean="0">
                <a:latin typeface="Times New Roman" pitchFamily="18" charset="0"/>
                <a:ea typeface="华文新魏" pitchFamily="2" charset="-122"/>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B7D9BF2-3268-49B9-9D36-72CDFFAC5F8D}" type="slidenum">
              <a:rPr lang="zh-CN" altLang="en-US"/>
              <a:pPr eaLnBrk="1" hangingPunct="1"/>
              <a:t>6</a:t>
            </a:fld>
            <a:endParaRPr lang="en-US" altLang="zh-CN"/>
          </a:p>
        </p:txBody>
      </p:sp>
      <p:sp>
        <p:nvSpPr>
          <p:cNvPr id="11267" name="Rectangle 2"/>
          <p:cNvSpPr>
            <a:spLocks noGrp="1" noRot="1" noChangeArrowheads="1"/>
          </p:cNvSpPr>
          <p:nvPr>
            <p:ph type="title"/>
          </p:nvPr>
        </p:nvSpPr>
        <p:spPr>
          <a:xfrm>
            <a:off x="301625" y="549275"/>
            <a:ext cx="8540750" cy="647700"/>
          </a:xfrm>
        </p:spPr>
        <p:txBody>
          <a:bodyPr/>
          <a:lstStyle/>
          <a:p>
            <a:pPr eaLnBrk="1" hangingPunct="1"/>
            <a:r>
              <a:rPr lang="zh-CN" altLang="en-US" b="1" smtClean="0">
                <a:solidFill>
                  <a:srgbClr val="000099"/>
                </a:solidFill>
                <a:latin typeface="Times New Roman" pitchFamily="18" charset="0"/>
                <a:ea typeface="华文新魏" pitchFamily="2" charset="-122"/>
              </a:rPr>
              <a:t>3</a:t>
            </a:r>
            <a:r>
              <a:rPr lang="zh-CN" altLang="en-US" sz="4000" b="1" smtClean="0">
                <a:solidFill>
                  <a:srgbClr val="000099"/>
                </a:solidFill>
                <a:latin typeface="Times New Roman" pitchFamily="18" charset="0"/>
                <a:ea typeface="华文新魏" pitchFamily="2" charset="-122"/>
              </a:rPr>
              <a:t>.1  词法分析</a:t>
            </a:r>
            <a:r>
              <a:rPr lang="en-US" altLang="zh-CN" sz="4000" b="1" smtClean="0">
                <a:solidFill>
                  <a:srgbClr val="000099"/>
                </a:solidFill>
                <a:latin typeface="Times New Roman" pitchFamily="18" charset="0"/>
                <a:ea typeface="华文新魏" pitchFamily="2" charset="-122"/>
              </a:rPr>
              <a:t>(</a:t>
            </a:r>
            <a:r>
              <a:rPr lang="zh-CN" altLang="en-US" sz="4000" b="1" smtClean="0">
                <a:solidFill>
                  <a:srgbClr val="000099"/>
                </a:solidFill>
                <a:latin typeface="Times New Roman" pitchFamily="18" charset="0"/>
                <a:ea typeface="华文新魏" pitchFamily="2" charset="-122"/>
              </a:rPr>
              <a:t>扫描</a:t>
            </a:r>
            <a:r>
              <a:rPr lang="en-US" altLang="zh-CN" sz="4000" b="1" smtClean="0">
                <a:solidFill>
                  <a:srgbClr val="000099"/>
                </a:solidFill>
                <a:latin typeface="Times New Roman" pitchFamily="18" charset="0"/>
                <a:ea typeface="华文新魏" pitchFamily="2" charset="-122"/>
              </a:rPr>
              <a:t>)</a:t>
            </a:r>
            <a:r>
              <a:rPr lang="zh-CN" altLang="en-US" sz="4000" b="1" smtClean="0">
                <a:solidFill>
                  <a:srgbClr val="000099"/>
                </a:solidFill>
                <a:latin typeface="Times New Roman" pitchFamily="18" charset="0"/>
                <a:ea typeface="华文新魏" pitchFamily="2" charset="-122"/>
              </a:rPr>
              <a:t>器的功能</a:t>
            </a:r>
          </a:p>
        </p:txBody>
      </p:sp>
      <p:sp>
        <p:nvSpPr>
          <p:cNvPr id="447491" name="Rectangle 3"/>
          <p:cNvSpPr>
            <a:spLocks noGrp="1" noRot="1" noChangeArrowheads="1"/>
          </p:cNvSpPr>
          <p:nvPr>
            <p:ph type="body" idx="1"/>
          </p:nvPr>
        </p:nvSpPr>
        <p:spPr>
          <a:xfrm>
            <a:off x="611188" y="1989138"/>
            <a:ext cx="8208962" cy="4319587"/>
          </a:xfrm>
        </p:spPr>
        <p:txBody>
          <a:bodyPr/>
          <a:lstStyle/>
          <a:p>
            <a:pPr eaLnBrk="1" hangingPunct="1">
              <a:spcBef>
                <a:spcPct val="55000"/>
              </a:spcBef>
            </a:pPr>
            <a:r>
              <a:rPr lang="zh-CN" altLang="en-US" b="1" smtClean="0">
                <a:latin typeface="Times New Roman" pitchFamily="18" charset="0"/>
                <a:ea typeface="华文新魏" pitchFamily="2" charset="-122"/>
              </a:rPr>
              <a:t>关键——找出符号的分割符</a:t>
            </a:r>
          </a:p>
          <a:p>
            <a:pPr lvl="1" eaLnBrk="1" hangingPunct="1">
              <a:spcBef>
                <a:spcPct val="55000"/>
              </a:spcBef>
            </a:pPr>
            <a:r>
              <a:rPr lang="zh-CN" altLang="en-US" sz="3200" b="1" smtClean="0">
                <a:latin typeface="Times New Roman" pitchFamily="18" charset="0"/>
                <a:ea typeface="华文新魏" pitchFamily="2" charset="-122"/>
              </a:rPr>
              <a:t>例如</a:t>
            </a:r>
          </a:p>
          <a:p>
            <a:pPr lvl="2" eaLnBrk="1" hangingPunct="1">
              <a:spcBef>
                <a:spcPct val="55000"/>
              </a:spcBef>
            </a:pPr>
            <a:r>
              <a:rPr lang="en-US" altLang="zh-CN" sz="2800" b="1" smtClean="0">
                <a:latin typeface="Times New Roman" pitchFamily="18" charset="0"/>
                <a:ea typeface="华文新魏" pitchFamily="2" charset="-122"/>
              </a:rPr>
              <a:t>acc=70.35+12+sin(x)+exp(2.7)</a:t>
            </a:r>
          </a:p>
          <a:p>
            <a:pPr lvl="1" eaLnBrk="1" hangingPunct="1">
              <a:spcBef>
                <a:spcPct val="55000"/>
              </a:spcBef>
            </a:pPr>
            <a:r>
              <a:rPr lang="en-US" altLang="zh-CN" sz="3200" b="1" smtClean="0">
                <a:latin typeface="Times New Roman" pitchFamily="18" charset="0"/>
                <a:ea typeface="华文新魏" pitchFamily="2" charset="-122"/>
              </a:rPr>
              <a:t>FORTRAN</a:t>
            </a:r>
            <a:r>
              <a:rPr lang="zh-CN" altLang="en-US" sz="3200" b="1" smtClean="0">
                <a:latin typeface="Times New Roman" pitchFamily="18" charset="0"/>
                <a:ea typeface="华文新魏" pitchFamily="2" charset="-122"/>
              </a:rPr>
              <a:t>语言忽略空格</a:t>
            </a:r>
          </a:p>
          <a:p>
            <a:pPr lvl="2" eaLnBrk="1" hangingPunct="1">
              <a:spcBef>
                <a:spcPct val="55000"/>
              </a:spcBef>
            </a:pPr>
            <a:r>
              <a:rPr lang="en-US" altLang="zh-CN" sz="2800" b="1" smtClean="0">
                <a:latin typeface="Times New Roman" pitchFamily="18" charset="0"/>
                <a:ea typeface="华文新魏" pitchFamily="2" charset="-122"/>
              </a:rPr>
              <a:t>DO 10 I=1,10</a:t>
            </a:r>
          </a:p>
          <a:p>
            <a:pPr lvl="2" eaLnBrk="1" hangingPunct="1">
              <a:spcBef>
                <a:spcPct val="55000"/>
              </a:spcBef>
            </a:pPr>
            <a:r>
              <a:rPr lang="en-US" altLang="zh-CN" sz="2800" b="1" smtClean="0">
                <a:latin typeface="Times New Roman" pitchFamily="18" charset="0"/>
                <a:ea typeface="华文新魏" pitchFamily="2" charset="-122"/>
              </a:rPr>
              <a:t>DO 10 I=1</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A30FD8D-F407-4DD0-984D-4A2224E92935}" type="slidenum">
              <a:rPr lang="zh-CN" altLang="en-US"/>
              <a:pPr eaLnBrk="1" hangingPunct="1"/>
              <a:t>7</a:t>
            </a:fld>
            <a:endParaRPr lang="en-US" altLang="zh-CN"/>
          </a:p>
        </p:txBody>
      </p:sp>
      <p:sp>
        <p:nvSpPr>
          <p:cNvPr id="12291" name="Rectangle 2"/>
          <p:cNvSpPr>
            <a:spLocks noGrp="1" noRot="1" noChangeArrowheads="1"/>
          </p:cNvSpPr>
          <p:nvPr>
            <p:ph type="title"/>
          </p:nvPr>
        </p:nvSpPr>
        <p:spPr>
          <a:xfrm>
            <a:off x="1331913" y="333375"/>
            <a:ext cx="6621462" cy="865188"/>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1</a:t>
            </a:r>
            <a:r>
              <a:rPr lang="en-US" altLang="zh-CN" b="1" smtClean="0">
                <a:solidFill>
                  <a:srgbClr val="000099"/>
                </a:solidFill>
                <a:latin typeface="Times New Roman" pitchFamily="18" charset="0"/>
                <a:ea typeface="华文新魏" pitchFamily="2" charset="-122"/>
              </a:rPr>
              <a:t>. </a:t>
            </a:r>
            <a:r>
              <a:rPr lang="zh-CN" altLang="en-US" b="1" smtClean="0">
                <a:solidFill>
                  <a:srgbClr val="000099"/>
                </a:solidFill>
                <a:latin typeface="Times New Roman" pitchFamily="18" charset="0"/>
                <a:ea typeface="华文新魏" pitchFamily="2" charset="-122"/>
              </a:rPr>
              <a:t>单词符号的表示</a:t>
            </a:r>
          </a:p>
        </p:txBody>
      </p:sp>
      <p:sp>
        <p:nvSpPr>
          <p:cNvPr id="448515" name="Rectangle 3"/>
          <p:cNvSpPr>
            <a:spLocks noGrp="1" noRot="1" noChangeArrowheads="1"/>
          </p:cNvSpPr>
          <p:nvPr>
            <p:ph type="body" idx="1"/>
          </p:nvPr>
        </p:nvSpPr>
        <p:spPr>
          <a:xfrm>
            <a:off x="457200" y="1981200"/>
            <a:ext cx="8458200" cy="4419600"/>
          </a:xfrm>
          <a:noFill/>
        </p:spPr>
        <p:txBody>
          <a:bodyPr lIns="92075" tIns="46038" rIns="92075" bIns="46038"/>
          <a:lstStyle/>
          <a:p>
            <a:pPr algn="just" eaLnBrk="1" hangingPunct="1"/>
            <a:r>
              <a:rPr lang="zh-CN" altLang="en-US" b="1" smtClean="0">
                <a:latin typeface="Times New Roman" pitchFamily="18" charset="0"/>
                <a:ea typeface="华文新魏" pitchFamily="2" charset="-122"/>
              </a:rPr>
              <a:t>常用单词符号</a:t>
            </a:r>
            <a:r>
              <a:rPr lang="zh-CN" altLang="en-US" b="1" smtClean="0">
                <a:solidFill>
                  <a:srgbClr val="000099"/>
                </a:solidFill>
                <a:latin typeface="Times New Roman" pitchFamily="18" charset="0"/>
                <a:ea typeface="华文新魏" pitchFamily="2" charset="-122"/>
              </a:rPr>
              <a:t>种别</a:t>
            </a:r>
            <a:r>
              <a:rPr lang="zh-CN" altLang="en-US" b="1" smtClean="0">
                <a:latin typeface="Times New Roman" pitchFamily="18" charset="0"/>
                <a:ea typeface="华文新魏" pitchFamily="2" charset="-122"/>
              </a:rPr>
              <a:t>——分类</a:t>
            </a:r>
          </a:p>
          <a:p>
            <a:pPr lvl="1" eaLnBrk="1" hangingPunct="1"/>
            <a:r>
              <a:rPr lang="zh-CN" altLang="en-US" b="1" smtClean="0">
                <a:latin typeface="Times New Roman" pitchFamily="18" charset="0"/>
                <a:ea typeface="华文新魏" pitchFamily="2" charset="-122"/>
              </a:rPr>
              <a:t>各种关键字</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保留字、基本字</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，各种运算符，各种分界符——各用一个种别码标识</a:t>
            </a:r>
          </a:p>
          <a:p>
            <a:pPr lvl="1" eaLnBrk="1" hangingPunct="1"/>
            <a:r>
              <a:rPr lang="zh-CN" altLang="en-US" b="1" smtClean="0">
                <a:latin typeface="Times New Roman" pitchFamily="18" charset="0"/>
                <a:ea typeface="华文新魏" pitchFamily="2" charset="-122"/>
              </a:rPr>
              <a:t>其它标识符——用一个种别码标识</a:t>
            </a:r>
            <a:endParaRPr lang="en-US" altLang="zh-CN" b="1" smtClean="0">
              <a:latin typeface="Times New Roman" pitchFamily="18" charset="0"/>
              <a:ea typeface="华文新魏" pitchFamily="2" charset="-122"/>
            </a:endParaRPr>
          </a:p>
          <a:p>
            <a:pPr lvl="1" eaLnBrk="1" hangingPunct="1"/>
            <a:r>
              <a:rPr lang="zh-CN" altLang="en-US" b="1" smtClean="0">
                <a:latin typeface="Times New Roman" pitchFamily="18" charset="0"/>
                <a:ea typeface="华文新魏" pitchFamily="2" charset="-122"/>
              </a:rPr>
              <a:t>常数——用一个种别码标识</a:t>
            </a:r>
          </a:p>
          <a:p>
            <a:pPr algn="just" eaLnBrk="1" hangingPunct="1"/>
            <a:r>
              <a:rPr lang="zh-CN" altLang="en-US" b="1" smtClean="0">
                <a:latin typeface="Times New Roman" pitchFamily="18" charset="0"/>
                <a:ea typeface="华文新魏" pitchFamily="2" charset="-122"/>
              </a:rPr>
              <a:t>单词符号的</a:t>
            </a:r>
            <a:r>
              <a:rPr lang="zh-CN" altLang="en-US" b="1" smtClean="0">
                <a:solidFill>
                  <a:srgbClr val="000099"/>
                </a:solidFill>
                <a:latin typeface="Times New Roman" pitchFamily="18" charset="0"/>
                <a:ea typeface="华文新魏" pitchFamily="2" charset="-122"/>
              </a:rPr>
              <a:t>值</a:t>
            </a:r>
            <a:r>
              <a:rPr lang="zh-CN" altLang="en-US" b="1" smtClean="0">
                <a:latin typeface="Times New Roman" pitchFamily="18" charset="0"/>
                <a:ea typeface="华文新魏" pitchFamily="2" charset="-122"/>
              </a:rPr>
              <a:t>——属性</a:t>
            </a:r>
          </a:p>
          <a:p>
            <a:pPr lvl="1" algn="just" eaLnBrk="1" hangingPunct="1"/>
            <a:r>
              <a:rPr lang="zh-CN" altLang="en-US" b="1" smtClean="0">
                <a:latin typeface="Times New Roman" pitchFamily="18" charset="0"/>
                <a:ea typeface="华文新魏" pitchFamily="2" charset="-122"/>
              </a:rPr>
              <a:t>常数的值，标识符的名字等</a:t>
            </a:r>
          </a:p>
          <a:p>
            <a:pPr lvl="1" eaLnBrk="1" hangingPunct="1"/>
            <a:r>
              <a:rPr lang="zh-CN" altLang="en-US" b="1" smtClean="0">
                <a:latin typeface="Times New Roman" pitchFamily="18" charset="0"/>
                <a:ea typeface="华文新魏" pitchFamily="2" charset="-122"/>
              </a:rPr>
              <a:t>保留字、运算符、分界符的属性值可以省略</a:t>
            </a:r>
          </a:p>
        </p:txBody>
      </p:sp>
      <p:sp>
        <p:nvSpPr>
          <p:cNvPr id="12293" name="Rectangle 4"/>
          <p:cNvSpPr>
            <a:spLocks noChangeArrowheads="1"/>
          </p:cNvSpPr>
          <p:nvPr/>
        </p:nvSpPr>
        <p:spPr bwMode="auto">
          <a:xfrm>
            <a:off x="1116013" y="1190625"/>
            <a:ext cx="6553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algn="ctr">
              <a:spcBef>
                <a:spcPct val="20000"/>
              </a:spcBef>
              <a:buClr>
                <a:schemeClr val="accent2"/>
              </a:buClr>
              <a:buSzPct val="85000"/>
              <a:buFont typeface="Wingdings" pitchFamily="2" charset="2"/>
              <a:buNone/>
            </a:pPr>
            <a:r>
              <a:rPr lang="en-US" altLang="zh-CN" sz="3600" b="1">
                <a:solidFill>
                  <a:srgbClr val="CD1C09"/>
                </a:solidFill>
                <a:latin typeface="Times New Roman" pitchFamily="18" charset="0"/>
                <a:ea typeface="华文新魏" pitchFamily="2" charset="-122"/>
              </a:rPr>
              <a:t>(</a:t>
            </a:r>
            <a:r>
              <a:rPr lang="zh-CN" altLang="en-US" sz="3600" b="1">
                <a:solidFill>
                  <a:srgbClr val="CD1C09"/>
                </a:solidFill>
                <a:latin typeface="Times New Roman" pitchFamily="18" charset="0"/>
                <a:ea typeface="华文新魏" pitchFamily="2" charset="-122"/>
              </a:rPr>
              <a:t>单词符号种别，属性值</a:t>
            </a:r>
            <a:r>
              <a:rPr lang="en-US" altLang="zh-CN" sz="3600" b="1">
                <a:solidFill>
                  <a:srgbClr val="CD1C09"/>
                </a:solidFill>
                <a:latin typeface="Times New Roman" pitchFamily="18" charset="0"/>
                <a:ea typeface="华文新魏" pitchFamily="2" charset="-122"/>
              </a:rPr>
              <a:t>)</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D98B158-F436-44E9-A6BB-A5053C0F940D}" type="slidenum">
              <a:rPr lang="zh-CN" altLang="en-US"/>
              <a:pPr eaLnBrk="1" hangingPunct="1"/>
              <a:t>8</a:t>
            </a:fld>
            <a:endParaRPr lang="en-US" altLang="zh-CN"/>
          </a:p>
        </p:txBody>
      </p:sp>
      <p:sp>
        <p:nvSpPr>
          <p:cNvPr id="13315" name="Rectangle 2"/>
          <p:cNvSpPr>
            <a:spLocks noGrp="1" noRot="1" noChangeArrowheads="1"/>
          </p:cNvSpPr>
          <p:nvPr>
            <p:ph type="title"/>
          </p:nvPr>
        </p:nvSpPr>
        <p:spPr>
          <a:xfrm>
            <a:off x="323850" y="188913"/>
            <a:ext cx="8540750" cy="373062"/>
          </a:xfrm>
        </p:spPr>
        <p:txBody>
          <a:bodyPr/>
          <a:lstStyle/>
          <a:p>
            <a:pPr eaLnBrk="1" hangingPunct="1"/>
            <a:r>
              <a:rPr lang="zh-CN" altLang="en-US" sz="4000" b="1" smtClean="0">
                <a:solidFill>
                  <a:srgbClr val="000099"/>
                </a:solidFill>
                <a:latin typeface="Times New Roman" pitchFamily="18" charset="0"/>
                <a:ea typeface="华文新魏" pitchFamily="2" charset="-122"/>
              </a:rPr>
              <a:t>单词符号编码举例</a:t>
            </a:r>
            <a:endParaRPr lang="en-US" altLang="zh-CN" sz="4000" b="1" smtClean="0">
              <a:solidFill>
                <a:srgbClr val="000099"/>
              </a:solidFill>
              <a:latin typeface="Times New Roman" pitchFamily="18" charset="0"/>
              <a:ea typeface="华文新魏" pitchFamily="2" charset="-122"/>
            </a:endParaRPr>
          </a:p>
        </p:txBody>
      </p:sp>
      <p:graphicFrame>
        <p:nvGraphicFramePr>
          <p:cNvPr id="449539" name="Group 3"/>
          <p:cNvGraphicFramePr>
            <a:graphicFrameLocks noGrp="1"/>
          </p:cNvGraphicFramePr>
          <p:nvPr>
            <p:ph idx="1"/>
          </p:nvPr>
        </p:nvGraphicFramePr>
        <p:xfrm>
          <a:off x="395288" y="765175"/>
          <a:ext cx="7561262" cy="5760720"/>
        </p:xfrm>
        <a:graphic>
          <a:graphicData uri="http://schemas.openxmlformats.org/drawingml/2006/table">
            <a:tbl>
              <a:tblPr/>
              <a:tblGrid>
                <a:gridCol w="1843087">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195513">
                  <a:extLst>
                    <a:ext uri="{9D8B030D-6E8A-4147-A177-3AD203B41FA5}">
                      <a16:colId xmlns:a16="http://schemas.microsoft.com/office/drawing/2014/main" val="20002"/>
                    </a:ext>
                  </a:extLst>
                </a:gridCol>
                <a:gridCol w="1770062">
                  <a:extLst>
                    <a:ext uri="{9D8B030D-6E8A-4147-A177-3AD203B41FA5}">
                      <a16:colId xmlns:a16="http://schemas.microsoft.com/office/drawing/2014/main" val="20003"/>
                    </a:ext>
                  </a:extLst>
                </a:gridCol>
              </a:tblGrid>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单词符号</a:t>
                      </a:r>
                      <a:endParaRPr kumimoji="0" lang="en-US" altLang="zh-CN" sz="28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种别编码</a:t>
                      </a:r>
                      <a:endParaRPr kumimoji="0" lang="en-US" altLang="zh-CN" sz="28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内部值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9875">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and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array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ARRAY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begin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BEGIN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9875">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case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CASE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en-US" altLang="zh-CN"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en-US" altLang="zh-CN"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标识符</a:t>
                      </a:r>
                      <a:endParaRPr kumimoji="0" lang="en-US" altLang="zh-CN" sz="28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华文新魏" pitchFamily="2" charset="-122"/>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内部符号串</a:t>
                      </a:r>
                      <a:endParaRPr kumimoji="0" lang="en-US" altLang="zh-CN" sz="28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ID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9875">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整常数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华文新魏" pitchFamily="2" charset="-122"/>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标准二进制</a:t>
                      </a:r>
                      <a:endParaRPr kumimoji="0" lang="en-US" altLang="zh-CN" sz="2800" b="1" i="0" u="none" strike="noStrike" cap="none" normalizeH="0" baseline="0" smtClean="0">
                        <a:ln>
                          <a:noFill/>
                        </a:ln>
                        <a:solidFill>
                          <a:schemeClr val="tx1"/>
                        </a:solidFill>
                        <a:effectLst/>
                        <a:latin typeface="Times New Roman" pitchFamily="18"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INT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实常数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标准二进制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REAL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华文新魏" pitchFamily="2" charset="-122"/>
                        </a:rPr>
                        <a:t>字符串</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ASCII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STRING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PLUS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69875">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MINUS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zh-CN" altLang="en-US" sz="28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1463">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r>
                        <a:rPr kumimoji="0" lang="en-US" altLang="zh-CN" sz="28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en-US" altLang="zh-CN"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ct val="0"/>
                        </a:spcBef>
                        <a:spcAft>
                          <a:spcPct val="0"/>
                        </a:spcAft>
                        <a:buClr>
                          <a:schemeClr val="hlink"/>
                        </a:buClr>
                        <a:buSzPct val="75000"/>
                        <a:buFont typeface="Wingdings" pitchFamily="2" charset="2"/>
                        <a:buNone/>
                        <a:tabLst/>
                      </a:pPr>
                      <a:endParaRPr kumimoji="0" lang="en-US" altLang="zh-CN" sz="28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13393" name="Rectangle 92"/>
          <p:cNvSpPr>
            <a:spLocks noChangeArrowheads="1"/>
          </p:cNvSpPr>
          <p:nvPr/>
        </p:nvSpPr>
        <p:spPr bwMode="auto">
          <a:xfrm>
            <a:off x="7956550" y="2636838"/>
            <a:ext cx="1008063"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3600" b="1">
                <a:latin typeface="Times New Roman" pitchFamily="18" charset="0"/>
                <a:ea typeface="华文新魏" pitchFamily="2" charset="-122"/>
              </a:rPr>
              <a:t>参考</a:t>
            </a:r>
            <a:r>
              <a:rPr lang="en-US" altLang="zh-CN" sz="3600" b="1">
                <a:latin typeface="Times New Roman" pitchFamily="18" charset="0"/>
                <a:ea typeface="华文新魏" pitchFamily="2" charset="-122"/>
              </a:rPr>
              <a:t>P66</a:t>
            </a:r>
            <a:endParaRPr lang="zh-CN" altLang="en-US" sz="3600" b="1">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01A6B388-478F-4D6D-A79C-D2493BB57B43}" type="slidenum">
              <a:rPr lang="zh-CN" altLang="en-US"/>
              <a:pPr eaLnBrk="1" hangingPunct="1"/>
              <a:t>9</a:t>
            </a:fld>
            <a:endParaRPr lang="en-US" altLang="zh-CN"/>
          </a:p>
        </p:txBody>
      </p:sp>
      <p:sp>
        <p:nvSpPr>
          <p:cNvPr id="14339" name="Rectangle 2"/>
          <p:cNvSpPr>
            <a:spLocks noGrp="1" noRot="1" noChangeArrowheads="1"/>
          </p:cNvSpPr>
          <p:nvPr>
            <p:ph type="title"/>
          </p:nvPr>
        </p:nvSpPr>
        <p:spPr>
          <a:xfrm>
            <a:off x="1042988" y="260350"/>
            <a:ext cx="7008812" cy="1584325"/>
          </a:xfrm>
          <a:noFill/>
        </p:spPr>
        <p:txBody>
          <a:bodyPr lIns="92075" tIns="46038" rIns="92075" bIns="46038"/>
          <a:lstStyle/>
          <a:p>
            <a:pPr eaLnBrk="1" hangingPunct="1"/>
            <a:r>
              <a:rPr lang="zh-CN" altLang="en-US" sz="4000" b="1" smtClean="0">
                <a:solidFill>
                  <a:schemeClr val="tx1"/>
                </a:solidFill>
                <a:latin typeface="Times New Roman" pitchFamily="18" charset="0"/>
                <a:ea typeface="华文新魏" pitchFamily="2" charset="-122"/>
              </a:rPr>
              <a:t>例 3-1:</a:t>
            </a:r>
            <a:r>
              <a:rPr lang="zh-CN" altLang="en-US" sz="4000" b="1" smtClean="0">
                <a:solidFill>
                  <a:schemeClr val="folHlink"/>
                </a:solidFill>
                <a:latin typeface="Times New Roman" pitchFamily="18" charset="0"/>
                <a:ea typeface="华文新魏" pitchFamily="2" charset="-122"/>
              </a:rPr>
              <a:t> 单词</a:t>
            </a:r>
            <a:r>
              <a:rPr lang="zh-CN" altLang="en-US" sz="4000" b="1" smtClean="0">
                <a:solidFill>
                  <a:schemeClr val="tx1"/>
                </a:solidFill>
                <a:latin typeface="Times New Roman" pitchFamily="18" charset="0"/>
                <a:ea typeface="华文新魏" pitchFamily="2" charset="-122"/>
              </a:rPr>
              <a:t>符号序列</a:t>
            </a:r>
            <a:r>
              <a:rPr lang="zh-CN" altLang="en-US" b="1" smtClean="0">
                <a:solidFill>
                  <a:schemeClr val="tx1"/>
                </a:solidFill>
                <a:latin typeface="Times New Roman" pitchFamily="18" charset="0"/>
                <a:ea typeface="华文新魏" pitchFamily="2" charset="-122"/>
              </a:rPr>
              <a:t/>
            </a:r>
            <a:br>
              <a:rPr lang="zh-CN" altLang="en-US" b="1" smtClean="0">
                <a:solidFill>
                  <a:schemeClr val="tx1"/>
                </a:solidFill>
                <a:latin typeface="Times New Roman" pitchFamily="18" charset="0"/>
                <a:ea typeface="华文新魏" pitchFamily="2" charset="-122"/>
              </a:rPr>
            </a:br>
            <a:r>
              <a:rPr lang="en-US" altLang="zh-CN" sz="3200" b="1" smtClean="0">
                <a:solidFill>
                  <a:schemeClr val="tx1"/>
                </a:solidFill>
                <a:latin typeface="Times New Roman" pitchFamily="18" charset="0"/>
                <a:ea typeface="华文新魏" pitchFamily="2" charset="-122"/>
              </a:rPr>
              <a:t>while( pointer!=N){S=S++; pointer++;}</a:t>
            </a:r>
            <a:r>
              <a:rPr lang="en-US" altLang="zh-CN" sz="4000" b="1" smtClean="0">
                <a:solidFill>
                  <a:schemeClr val="tx1"/>
                </a:solidFill>
                <a:latin typeface="Times New Roman" pitchFamily="18" charset="0"/>
                <a:ea typeface="华文新魏" pitchFamily="2" charset="-122"/>
              </a:rPr>
              <a:t> </a:t>
            </a:r>
          </a:p>
        </p:txBody>
      </p:sp>
      <p:sp>
        <p:nvSpPr>
          <p:cNvPr id="450563" name="Rectangle 3"/>
          <p:cNvSpPr>
            <a:spLocks noGrp="1" noRot="1" noChangeArrowheads="1"/>
          </p:cNvSpPr>
          <p:nvPr>
            <p:ph type="body" idx="1"/>
          </p:nvPr>
        </p:nvSpPr>
        <p:spPr>
          <a:xfrm>
            <a:off x="152400" y="1844675"/>
            <a:ext cx="5067300" cy="4537075"/>
          </a:xfrm>
          <a:noFill/>
        </p:spPr>
        <p:txBody>
          <a:bodyPr lIns="92075" tIns="46038" rIns="92075" bIns="46038"/>
          <a:lstStyle/>
          <a:p>
            <a:pPr marL="190500" lvl="1" indent="3175" algn="just"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while  	(WHILE,  _ )</a:t>
            </a:r>
          </a:p>
          <a:p>
            <a:pPr marL="190500" lvl="1" indent="3175" algn="just"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 		 (LR_BRAC,    _ )</a:t>
            </a:r>
          </a:p>
          <a:p>
            <a:pPr marL="190500" lvl="1" indent="3175" algn="just"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pointer      	(ID,</a:t>
            </a:r>
            <a:r>
              <a:rPr lang="zh-CN" altLang="en-US" sz="2400" b="1" smtClean="0">
                <a:latin typeface="Times New Roman" pitchFamily="18" charset="0"/>
                <a:ea typeface="华文新魏" pitchFamily="2" charset="-122"/>
              </a:rPr>
              <a:t>符号表项指针</a:t>
            </a:r>
            <a:r>
              <a:rPr lang="en-US" altLang="zh-CN" sz="2400" b="1" smtClean="0">
                <a:latin typeface="Times New Roman" pitchFamily="18" charset="0"/>
                <a:ea typeface="华文新魏" pitchFamily="2" charset="-122"/>
              </a:rPr>
              <a:t>)</a:t>
            </a:r>
          </a:p>
          <a:p>
            <a:pPr marL="190500" lvl="1" indent="3175" algn="just" eaLnBrk="1" hangingPunct="1">
              <a:lnSpc>
                <a:spcPct val="90000"/>
              </a:lnSpc>
              <a:spcBef>
                <a:spcPct val="50000"/>
              </a:spcBef>
              <a:buFont typeface="Wingdings" pitchFamily="2" charset="2"/>
              <a:buNone/>
            </a:pPr>
            <a:r>
              <a:rPr lang="zh-CN" altLang="en-US" sz="2400" b="1" smtClean="0">
                <a:solidFill>
                  <a:srgbClr val="CC6600"/>
                </a:solidFill>
                <a:latin typeface="Times New Roman" pitchFamily="18" charset="0"/>
                <a:ea typeface="华文新魏" pitchFamily="2" charset="-122"/>
              </a:rPr>
              <a:t>!=</a:t>
            </a:r>
            <a:r>
              <a:rPr lang="zh-CN" altLang="en-US" sz="2400" b="1" smtClean="0">
                <a:latin typeface="Times New Roman" pitchFamily="18" charset="0"/>
                <a:ea typeface="华文新魏" pitchFamily="2" charset="-122"/>
              </a:rPr>
              <a:t>		 </a:t>
            </a:r>
            <a:r>
              <a:rPr lang="en-US" altLang="zh-CN" sz="2400" b="1" smtClean="0">
                <a:latin typeface="Times New Roman" pitchFamily="18" charset="0"/>
                <a:ea typeface="华文新魏" pitchFamily="2" charset="-122"/>
              </a:rPr>
              <a:t>(NE, _ )</a:t>
            </a:r>
          </a:p>
          <a:p>
            <a:pPr marL="190500" lvl="1" indent="3175" algn="just"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N    		 (ID,</a:t>
            </a:r>
            <a:r>
              <a:rPr lang="zh-CN" altLang="en-US" sz="2400" b="1" smtClean="0">
                <a:latin typeface="Times New Roman" pitchFamily="18" charset="0"/>
                <a:ea typeface="华文新魏" pitchFamily="2" charset="-122"/>
              </a:rPr>
              <a:t>符号表项指针</a:t>
            </a:r>
            <a:r>
              <a:rPr lang="en-US" altLang="zh-CN" sz="2400" b="1" smtClean="0">
                <a:latin typeface="Times New Roman" pitchFamily="18" charset="0"/>
                <a:ea typeface="华文新魏" pitchFamily="2" charset="-122"/>
              </a:rPr>
              <a:t>)</a:t>
            </a:r>
          </a:p>
          <a:p>
            <a:pPr marL="190500" lvl="1" indent="3175" algn="just"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		 (RR_BRAC,  _ )</a:t>
            </a:r>
          </a:p>
          <a:p>
            <a:pPr marL="190500" lvl="1" indent="3175" algn="just"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         	(LP,    _ )</a:t>
            </a:r>
          </a:p>
          <a:p>
            <a:pPr marL="190500" lvl="1" indent="3175"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S		 (ID,</a:t>
            </a:r>
            <a:r>
              <a:rPr lang="zh-CN" altLang="en-US" sz="2400" b="1" smtClean="0">
                <a:latin typeface="Times New Roman" pitchFamily="18" charset="0"/>
                <a:ea typeface="华文新魏" pitchFamily="2" charset="-122"/>
              </a:rPr>
              <a:t>符号表项指针</a:t>
            </a:r>
            <a:r>
              <a:rPr lang="en-US" altLang="zh-CN" sz="2400" b="1" smtClean="0">
                <a:latin typeface="Times New Roman" pitchFamily="18" charset="0"/>
                <a:ea typeface="华文新魏" pitchFamily="2" charset="-122"/>
              </a:rPr>
              <a:t>)</a:t>
            </a:r>
          </a:p>
          <a:p>
            <a:pPr marL="190500" lvl="1" indent="3175" algn="just" eaLnBrk="1" hangingPunct="1">
              <a:lnSpc>
                <a:spcPct val="90000"/>
              </a:lnSpc>
              <a:spcBef>
                <a:spcPct val="50000"/>
              </a:spcBef>
              <a:buFont typeface="Wingdings" pitchFamily="2" charset="2"/>
              <a:buNone/>
            </a:pPr>
            <a:r>
              <a:rPr lang="en-US" altLang="zh-CN" sz="2400" b="1" smtClean="0">
                <a:latin typeface="Times New Roman" pitchFamily="18" charset="0"/>
                <a:ea typeface="华文新魏" pitchFamily="2" charset="-122"/>
              </a:rPr>
              <a:t>=		(EQ,  _)</a:t>
            </a:r>
          </a:p>
        </p:txBody>
      </p:sp>
      <p:sp>
        <p:nvSpPr>
          <p:cNvPr id="450564" name="Rectangle 4"/>
          <p:cNvSpPr>
            <a:spLocks noChangeArrowheads="1"/>
          </p:cNvSpPr>
          <p:nvPr/>
        </p:nvSpPr>
        <p:spPr bwMode="auto">
          <a:xfrm>
            <a:off x="5003800" y="2205038"/>
            <a:ext cx="4140200"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190500" lvl="1" indent="3175" algn="just">
              <a:spcBef>
                <a:spcPct val="40000"/>
              </a:spcBef>
              <a:buClr>
                <a:schemeClr val="accent2"/>
              </a:buClr>
              <a:buSzPct val="85000"/>
              <a:buFont typeface="Wingdings" pitchFamily="2" charset="2"/>
              <a:buNone/>
            </a:pPr>
            <a:r>
              <a:rPr lang="en-US" altLang="zh-CN" sz="2400" b="1">
                <a:latin typeface="Times New Roman" pitchFamily="18" charset="0"/>
                <a:ea typeface="华文新魏" pitchFamily="2" charset="-122"/>
              </a:rPr>
              <a:t>S	(ID,</a:t>
            </a:r>
            <a:r>
              <a:rPr lang="zh-CN" altLang="en-US" sz="2400" b="1">
                <a:latin typeface="Times New Roman" pitchFamily="18" charset="0"/>
                <a:ea typeface="华文新魏" pitchFamily="2" charset="-122"/>
              </a:rPr>
              <a:t>符号表项指针</a:t>
            </a:r>
            <a:r>
              <a:rPr lang="en-US" altLang="zh-CN" sz="2400" b="1">
                <a:latin typeface="Times New Roman" pitchFamily="18" charset="0"/>
                <a:ea typeface="华文新魏" pitchFamily="2" charset="-122"/>
              </a:rPr>
              <a:t>)</a:t>
            </a:r>
          </a:p>
          <a:p>
            <a:pPr marL="190500" lvl="1" indent="3175" algn="just">
              <a:spcBef>
                <a:spcPct val="40000"/>
              </a:spcBef>
              <a:buClr>
                <a:schemeClr val="accent2"/>
              </a:buClr>
              <a:buSzPct val="85000"/>
              <a:buFont typeface="Wingdings" pitchFamily="2" charset="2"/>
              <a:buNone/>
            </a:pPr>
            <a:r>
              <a:rPr lang="en-US" altLang="zh-CN" sz="2400" b="1">
                <a:solidFill>
                  <a:srgbClr val="CC6600"/>
                </a:solidFill>
                <a:latin typeface="Times New Roman" pitchFamily="18" charset="0"/>
                <a:ea typeface="华文新魏" pitchFamily="2" charset="-122"/>
              </a:rPr>
              <a:t>++</a:t>
            </a:r>
            <a:r>
              <a:rPr lang="en-US" altLang="zh-CN" sz="2400" b="1">
                <a:latin typeface="Times New Roman" pitchFamily="18" charset="0"/>
                <a:ea typeface="华文新魏" pitchFamily="2" charset="-122"/>
              </a:rPr>
              <a:t>	(INC,    _ )</a:t>
            </a:r>
          </a:p>
          <a:p>
            <a:pPr marL="190500" lvl="1" indent="3175" algn="just">
              <a:spcBef>
                <a:spcPct val="40000"/>
              </a:spcBef>
              <a:buClr>
                <a:schemeClr val="accent2"/>
              </a:buClr>
              <a:buSzPct val="85000"/>
              <a:buFont typeface="Wingdings" pitchFamily="2" charset="2"/>
              <a:buNone/>
            </a:pPr>
            <a:r>
              <a:rPr lang="en-US" altLang="zh-CN" sz="2400" b="1">
                <a:latin typeface="Times New Roman" pitchFamily="18" charset="0"/>
                <a:ea typeface="华文新魏" pitchFamily="2" charset="-122"/>
              </a:rPr>
              <a:t>;         (SEMIC,   _ )</a:t>
            </a:r>
          </a:p>
          <a:p>
            <a:pPr marL="190500" lvl="1" indent="3175" algn="just">
              <a:spcBef>
                <a:spcPct val="40000"/>
              </a:spcBef>
              <a:buClr>
                <a:schemeClr val="accent2"/>
              </a:buClr>
              <a:buSzPct val="85000"/>
              <a:buFont typeface="Wingdings" pitchFamily="2" charset="2"/>
              <a:buNone/>
            </a:pPr>
            <a:r>
              <a:rPr lang="en-US" altLang="zh-CN" sz="2400" b="1">
                <a:latin typeface="Times New Roman" pitchFamily="18" charset="0"/>
                <a:ea typeface="华文新魏" pitchFamily="2" charset="-122"/>
              </a:rPr>
              <a:t>pointer (ID,  </a:t>
            </a:r>
            <a:r>
              <a:rPr lang="zh-CN" altLang="en-US" sz="2400" b="1">
                <a:latin typeface="Times New Roman" pitchFamily="18" charset="0"/>
                <a:ea typeface="华文新魏" pitchFamily="2" charset="-122"/>
              </a:rPr>
              <a:t>符号表项指针</a:t>
            </a:r>
            <a:r>
              <a:rPr lang="en-US" altLang="zh-CN" sz="2400" b="1">
                <a:latin typeface="Times New Roman" pitchFamily="18" charset="0"/>
                <a:ea typeface="华文新魏" pitchFamily="2" charset="-122"/>
              </a:rPr>
              <a:t>)</a:t>
            </a:r>
          </a:p>
          <a:p>
            <a:pPr marL="190500" lvl="1" indent="3175" algn="just">
              <a:spcBef>
                <a:spcPct val="40000"/>
              </a:spcBef>
              <a:buClr>
                <a:schemeClr val="accent2"/>
              </a:buClr>
              <a:buSzPct val="85000"/>
              <a:buFont typeface="Wingdings" pitchFamily="2" charset="2"/>
              <a:buNone/>
            </a:pPr>
            <a:r>
              <a:rPr lang="zh-CN" altLang="en-US" sz="2400" b="1">
                <a:solidFill>
                  <a:srgbClr val="CC6600"/>
                </a:solidFill>
                <a:latin typeface="Times New Roman" pitchFamily="18" charset="0"/>
                <a:ea typeface="华文新魏" pitchFamily="2" charset="-122"/>
              </a:rPr>
              <a:t>++</a:t>
            </a:r>
            <a:r>
              <a:rPr lang="zh-CN" altLang="en-US" sz="2400" b="1">
                <a:latin typeface="Times New Roman" pitchFamily="18" charset="0"/>
                <a:ea typeface="华文新魏" pitchFamily="2" charset="-122"/>
              </a:rPr>
              <a:t>      </a:t>
            </a:r>
            <a:r>
              <a:rPr lang="en-US" altLang="zh-CN" sz="2400" b="1">
                <a:latin typeface="Times New Roman" pitchFamily="18" charset="0"/>
                <a:ea typeface="华文新魏" pitchFamily="2" charset="-122"/>
              </a:rPr>
              <a:t>(INC,    _ )</a:t>
            </a:r>
          </a:p>
          <a:p>
            <a:pPr marL="190500" lvl="1" indent="3175" algn="just">
              <a:spcBef>
                <a:spcPct val="40000"/>
              </a:spcBef>
              <a:buClr>
                <a:schemeClr val="accent2"/>
              </a:buClr>
              <a:buSzPct val="85000"/>
              <a:buFont typeface="Wingdings" pitchFamily="2" charset="2"/>
              <a:buNone/>
            </a:pPr>
            <a:r>
              <a:rPr lang="en-US" altLang="zh-CN" sz="2400" b="1">
                <a:latin typeface="Times New Roman" pitchFamily="18" charset="0"/>
                <a:ea typeface="华文新魏" pitchFamily="2" charset="-122"/>
              </a:rPr>
              <a:t>;         (SEMIC,   _ )</a:t>
            </a:r>
          </a:p>
          <a:p>
            <a:pPr marL="190500" lvl="1" indent="3175" algn="just">
              <a:spcBef>
                <a:spcPct val="40000"/>
              </a:spcBef>
              <a:buClr>
                <a:schemeClr val="accent2"/>
              </a:buClr>
              <a:buSzPct val="85000"/>
              <a:buFont typeface="Wingdings" pitchFamily="2" charset="2"/>
              <a:buNone/>
            </a:pPr>
            <a:r>
              <a:rPr lang="en-US" altLang="zh-CN" sz="2400" b="1">
                <a:latin typeface="Times New Roman" pitchFamily="18" charset="0"/>
                <a:ea typeface="华文新魏" pitchFamily="2" charset="-122"/>
              </a:rPr>
              <a:t>}      	(RP,     _ )    </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2D70CAB-F0F9-4093-B22F-8BA7EC0C67E6}" type="slidenum">
              <a:rPr lang="zh-CN" altLang="en-US"/>
              <a:pPr eaLnBrk="1" hangingPunct="1"/>
              <a:t>10</a:t>
            </a:fld>
            <a:endParaRPr lang="en-US" altLang="zh-CN"/>
          </a:p>
        </p:txBody>
      </p:sp>
      <p:sp>
        <p:nvSpPr>
          <p:cNvPr id="15363" name="Rectangle 2"/>
          <p:cNvSpPr>
            <a:spLocks noGrp="1" noRot="1" noChangeArrowheads="1"/>
          </p:cNvSpPr>
          <p:nvPr>
            <p:ph type="title"/>
          </p:nvPr>
        </p:nvSpPr>
        <p:spPr>
          <a:xfrm>
            <a:off x="1150938" y="838200"/>
            <a:ext cx="4487862" cy="877888"/>
          </a:xfrm>
        </p:spPr>
        <p:txBody>
          <a:bodyPr/>
          <a:lstStyle/>
          <a:p>
            <a:pPr eaLnBrk="1" hangingPunct="1"/>
            <a:r>
              <a:rPr lang="zh-CN" altLang="en-US" b="1" smtClean="0">
                <a:solidFill>
                  <a:srgbClr val="000099"/>
                </a:solidFill>
                <a:latin typeface="Times New Roman" pitchFamily="18" charset="0"/>
                <a:ea typeface="华文新魏" pitchFamily="2" charset="-122"/>
              </a:rPr>
              <a:t>2</a:t>
            </a:r>
            <a:r>
              <a:rPr lang="en-US" altLang="zh-CN" b="1" smtClean="0">
                <a:solidFill>
                  <a:srgbClr val="00009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相关问题</a:t>
            </a:r>
          </a:p>
        </p:txBody>
      </p:sp>
      <p:sp>
        <p:nvSpPr>
          <p:cNvPr id="451587" name="Rectangle 3"/>
          <p:cNvSpPr>
            <a:spLocks noGrp="1" noRot="1" noChangeArrowheads="1"/>
          </p:cNvSpPr>
          <p:nvPr>
            <p:ph type="body" idx="1"/>
          </p:nvPr>
        </p:nvSpPr>
        <p:spPr>
          <a:xfrm>
            <a:off x="685800" y="1981200"/>
            <a:ext cx="7918450" cy="1676400"/>
          </a:xfrm>
        </p:spPr>
        <p:txBody>
          <a:bodyPr/>
          <a:lstStyle/>
          <a:p>
            <a:pPr eaLnBrk="1" hangingPunct="1"/>
            <a:r>
              <a:rPr lang="zh-CN" altLang="en-US" b="1" smtClean="0">
                <a:latin typeface="Times New Roman" pitchFamily="18" charset="0"/>
                <a:ea typeface="华文新魏" pitchFamily="2" charset="-122"/>
              </a:rPr>
              <a:t>词法分析器可以作为一个独立的子程序，也可以作为一遍独立的扫描来安排。</a:t>
            </a:r>
          </a:p>
          <a:p>
            <a:pPr eaLnBrk="1" hangingPunct="1"/>
            <a:r>
              <a:rPr lang="zh-CN" altLang="en-US" b="1" smtClean="0">
                <a:latin typeface="Times New Roman" pitchFamily="18" charset="0"/>
                <a:ea typeface="华文新魏" pitchFamily="2" charset="-122"/>
              </a:rPr>
              <a:t>输入缓冲区   </a:t>
            </a:r>
          </a:p>
        </p:txBody>
      </p:sp>
      <p:sp>
        <p:nvSpPr>
          <p:cNvPr id="451588" name="Line 4"/>
          <p:cNvSpPr>
            <a:spLocks noChangeShapeType="1"/>
          </p:cNvSpPr>
          <p:nvPr/>
        </p:nvSpPr>
        <p:spPr bwMode="auto">
          <a:xfrm>
            <a:off x="1042988" y="3860800"/>
            <a:ext cx="76327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51589" name="Text Box 5"/>
          <p:cNvSpPr txBox="1">
            <a:spLocks noChangeArrowheads="1"/>
          </p:cNvSpPr>
          <p:nvPr/>
        </p:nvSpPr>
        <p:spPr bwMode="auto">
          <a:xfrm>
            <a:off x="6588125" y="4724400"/>
            <a:ext cx="1512888" cy="1031875"/>
          </a:xfrm>
          <a:prstGeom prst="rect">
            <a:avLst/>
          </a:prstGeom>
          <a:solidFill>
            <a:schemeClr val="tx1"/>
          </a:solidFill>
          <a:ln w="9525">
            <a:noFill/>
            <a:miter lim="800000"/>
            <a:headEnd/>
            <a:tailEnd/>
          </a:ln>
          <a:effectLst/>
        </p:spPr>
        <p:txBody>
          <a:bodyPr lIns="92075" tIns="46038" rIns="92075" bIns="46038">
            <a:spAutoFit/>
          </a:bodyPr>
          <a:lstStyle/>
          <a:p>
            <a:pPr algn="ctr" eaLnBrk="0" hangingPunct="0">
              <a:lnSpc>
                <a:spcPct val="110000"/>
              </a:lnSpc>
              <a:spcBef>
                <a:spcPct val="50000"/>
              </a:spcBef>
              <a:buClr>
                <a:schemeClr val="folHlink"/>
              </a:buClr>
              <a:buSzPct val="75000"/>
              <a:buFont typeface="Monotype Sorts" pitchFamily="2" charset="2"/>
              <a:buNone/>
              <a:defRPr/>
            </a:pPr>
            <a:r>
              <a:rPr kumimoji="1" lang="zh-CN" altLang="en-US" sz="2800" b="1">
                <a:solidFill>
                  <a:schemeClr val="bg1"/>
                </a:solidFill>
                <a:effectLst>
                  <a:outerShdw blurRad="38100" dist="38100" dir="2700000" algn="tl">
                    <a:srgbClr val="000000"/>
                  </a:outerShdw>
                </a:effectLst>
                <a:latin typeface="Times New Roman" pitchFamily="18" charset="0"/>
                <a:ea typeface="华文新魏" pitchFamily="2" charset="-122"/>
              </a:rPr>
              <a:t>工作区</a:t>
            </a:r>
            <a:r>
              <a:rPr kumimoji="1" lang="en-US" altLang="zh-CN" sz="2800" b="1">
                <a:solidFill>
                  <a:schemeClr val="bg1"/>
                </a:solidFill>
                <a:effectLst>
                  <a:outerShdw blurRad="38100" dist="38100" dir="2700000" algn="tl">
                    <a:srgbClr val="000000"/>
                  </a:outerShdw>
                </a:effectLst>
                <a:latin typeface="Times New Roman" pitchFamily="18" charset="0"/>
                <a:ea typeface="华文新魏" pitchFamily="2" charset="-122"/>
              </a:rPr>
              <a:t>(token)</a:t>
            </a:r>
          </a:p>
        </p:txBody>
      </p:sp>
      <p:sp>
        <p:nvSpPr>
          <p:cNvPr id="451590" name="Freeform 6"/>
          <p:cNvSpPr>
            <a:spLocks/>
          </p:cNvSpPr>
          <p:nvPr/>
        </p:nvSpPr>
        <p:spPr bwMode="auto">
          <a:xfrm>
            <a:off x="4191000" y="4495800"/>
            <a:ext cx="2397125" cy="733425"/>
          </a:xfrm>
          <a:custGeom>
            <a:avLst/>
            <a:gdLst>
              <a:gd name="T0" fmla="*/ 0 w 1440"/>
              <a:gd name="T1" fmla="*/ 0 h 672"/>
              <a:gd name="T2" fmla="*/ 240 w 1440"/>
              <a:gd name="T3" fmla="*/ 432 h 672"/>
              <a:gd name="T4" fmla="*/ 1440 w 1440"/>
              <a:gd name="T5" fmla="*/ 672 h 672"/>
              <a:gd name="T6" fmla="*/ 0 60000 65536"/>
              <a:gd name="T7" fmla="*/ 0 60000 65536"/>
              <a:gd name="T8" fmla="*/ 0 60000 65536"/>
              <a:gd name="T9" fmla="*/ 0 w 1440"/>
              <a:gd name="T10" fmla="*/ 0 h 672"/>
              <a:gd name="T11" fmla="*/ 1440 w 1440"/>
              <a:gd name="T12" fmla="*/ 672 h 672"/>
            </a:gdLst>
            <a:ahLst/>
            <a:cxnLst>
              <a:cxn ang="T6">
                <a:pos x="T0" y="T1"/>
              </a:cxn>
              <a:cxn ang="T7">
                <a:pos x="T2" y="T3"/>
              </a:cxn>
              <a:cxn ang="T8">
                <a:pos x="T4" y="T5"/>
              </a:cxn>
            </a:cxnLst>
            <a:rect l="T9" t="T10" r="T11" b="T12"/>
            <a:pathLst>
              <a:path w="1440" h="672">
                <a:moveTo>
                  <a:pt x="0" y="0"/>
                </a:moveTo>
                <a:cubicBezTo>
                  <a:pt x="0" y="160"/>
                  <a:pt x="0" y="320"/>
                  <a:pt x="240" y="432"/>
                </a:cubicBezTo>
                <a:cubicBezTo>
                  <a:pt x="480" y="544"/>
                  <a:pt x="1248" y="640"/>
                  <a:pt x="1440" y="672"/>
                </a:cubicBezTo>
              </a:path>
            </a:pathLst>
          </a:custGeom>
          <a:noFill/>
          <a:ln w="38100">
            <a:solidFill>
              <a:schemeClr val="tx1"/>
            </a:solidFill>
            <a:prstDash val="dash"/>
            <a:round/>
            <a:headEnd/>
            <a:tailEnd type="arrow"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grpSp>
        <p:nvGrpSpPr>
          <p:cNvPr id="2" name="Group 7"/>
          <p:cNvGrpSpPr>
            <a:grpSpLocks/>
          </p:cNvGrpSpPr>
          <p:nvPr/>
        </p:nvGrpSpPr>
        <p:grpSpPr bwMode="auto">
          <a:xfrm>
            <a:off x="900113" y="3860800"/>
            <a:ext cx="3024187" cy="1231900"/>
            <a:chOff x="672" y="2016"/>
            <a:chExt cx="1658" cy="785"/>
          </a:xfrm>
        </p:grpSpPr>
        <p:sp>
          <p:nvSpPr>
            <p:cNvPr id="15375" name="Line 8"/>
            <p:cNvSpPr>
              <a:spLocks noChangeShapeType="1"/>
            </p:cNvSpPr>
            <p:nvPr/>
          </p:nvSpPr>
          <p:spPr bwMode="auto">
            <a:xfrm flipV="1">
              <a:off x="1920" y="2016"/>
              <a:ext cx="0" cy="48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51593" name="Rectangle 9"/>
            <p:cNvSpPr>
              <a:spLocks noChangeArrowheads="1"/>
            </p:cNvSpPr>
            <p:nvPr/>
          </p:nvSpPr>
          <p:spPr bwMode="auto">
            <a:xfrm>
              <a:off x="672" y="2400"/>
              <a:ext cx="1658" cy="401"/>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defRPr/>
              </a:pPr>
              <a:r>
                <a:rPr kumimoji="1" lang="zh-CN" altLang="en-US" sz="3200" b="1">
                  <a:solidFill>
                    <a:srgbClr val="000099"/>
                  </a:solidFill>
                  <a:effectLst>
                    <a:outerShdw blurRad="38100" dist="38100" dir="2700000" algn="tl">
                      <a:srgbClr val="C0C0C0"/>
                    </a:outerShdw>
                  </a:effectLst>
                  <a:latin typeface="Times New Roman" pitchFamily="18" charset="0"/>
                  <a:ea typeface="华文新魏" pitchFamily="2" charset="-122"/>
                </a:rPr>
                <a:t>单词开始指针</a:t>
              </a:r>
            </a:p>
          </p:txBody>
        </p:sp>
      </p:grpSp>
      <p:grpSp>
        <p:nvGrpSpPr>
          <p:cNvPr id="3" name="Group 10"/>
          <p:cNvGrpSpPr>
            <a:grpSpLocks/>
          </p:cNvGrpSpPr>
          <p:nvPr/>
        </p:nvGrpSpPr>
        <p:grpSpPr bwMode="auto">
          <a:xfrm>
            <a:off x="4356100" y="3860800"/>
            <a:ext cx="2463800" cy="1157288"/>
            <a:chOff x="2832" y="2016"/>
            <a:chExt cx="1144" cy="735"/>
          </a:xfrm>
        </p:grpSpPr>
        <p:sp>
          <p:nvSpPr>
            <p:cNvPr id="15373" name="Line 11"/>
            <p:cNvSpPr>
              <a:spLocks noChangeShapeType="1"/>
            </p:cNvSpPr>
            <p:nvPr/>
          </p:nvSpPr>
          <p:spPr bwMode="auto">
            <a:xfrm flipV="1">
              <a:off x="3408" y="2016"/>
              <a:ext cx="0" cy="48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51596" name="Rectangle 12"/>
            <p:cNvSpPr>
              <a:spLocks noChangeArrowheads="1"/>
            </p:cNvSpPr>
            <p:nvPr/>
          </p:nvSpPr>
          <p:spPr bwMode="auto">
            <a:xfrm>
              <a:off x="2832" y="2352"/>
              <a:ext cx="1144" cy="399"/>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defRPr/>
              </a:pPr>
              <a:r>
                <a:rPr kumimoji="1" lang="zh-CN" altLang="en-US" sz="3200" b="1">
                  <a:solidFill>
                    <a:srgbClr val="000099"/>
                  </a:solidFill>
                  <a:effectLst>
                    <a:outerShdw blurRad="38100" dist="38100" dir="2700000" algn="tl">
                      <a:srgbClr val="C0C0C0"/>
                    </a:outerShdw>
                  </a:effectLst>
                  <a:latin typeface="Times New Roman" pitchFamily="18" charset="0"/>
                  <a:ea typeface="华文新魏" pitchFamily="2" charset="-122"/>
                </a:rPr>
                <a:t>扫描指针</a:t>
              </a:r>
            </a:p>
          </p:txBody>
        </p:sp>
      </p:grpSp>
      <p:grpSp>
        <p:nvGrpSpPr>
          <p:cNvPr id="4" name="Group 13"/>
          <p:cNvGrpSpPr>
            <a:grpSpLocks/>
          </p:cNvGrpSpPr>
          <p:nvPr/>
        </p:nvGrpSpPr>
        <p:grpSpPr bwMode="auto">
          <a:xfrm>
            <a:off x="3213100" y="3886200"/>
            <a:ext cx="2366963" cy="644525"/>
            <a:chOff x="2024" y="2448"/>
            <a:chExt cx="1491" cy="406"/>
          </a:xfrm>
        </p:grpSpPr>
        <p:sp>
          <p:nvSpPr>
            <p:cNvPr id="15371" name="AutoShape 14"/>
            <p:cNvSpPr>
              <a:spLocks/>
            </p:cNvSpPr>
            <p:nvPr/>
          </p:nvSpPr>
          <p:spPr bwMode="auto">
            <a:xfrm rot="-5360865">
              <a:off x="2679" y="1793"/>
              <a:ext cx="182" cy="1491"/>
            </a:xfrm>
            <a:prstGeom prst="leftBrace">
              <a:avLst>
                <a:gd name="adj1" fmla="val 68269"/>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451599" name="Rectangle 15"/>
            <p:cNvSpPr>
              <a:spLocks noChangeArrowheads="1"/>
            </p:cNvSpPr>
            <p:nvPr/>
          </p:nvSpPr>
          <p:spPr bwMode="auto">
            <a:xfrm>
              <a:off x="2380" y="2585"/>
              <a:ext cx="908" cy="269"/>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defRPr/>
              </a:pPr>
              <a:r>
                <a:rPr kumimoji="1" lang="zh-CN" altLang="en-US" sz="2000" b="1">
                  <a:solidFill>
                    <a:srgbClr val="000099"/>
                  </a:solidFill>
                  <a:effectLst>
                    <a:outerShdw blurRad="38100" dist="38100" dir="2700000" algn="tl">
                      <a:srgbClr val="C0C0C0"/>
                    </a:outerShdw>
                  </a:effectLst>
                  <a:latin typeface="Times New Roman" pitchFamily="18" charset="0"/>
                  <a:ea typeface="华文新魏" pitchFamily="2" charset="-122"/>
                </a:rPr>
                <a:t>正拼单词</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53805B3-F72D-4306-BA7E-E9D229144188}" type="slidenum">
              <a:rPr lang="zh-CN" altLang="en-US"/>
              <a:pPr eaLnBrk="1" hangingPunct="1"/>
              <a:t>11</a:t>
            </a:fld>
            <a:endParaRPr lang="en-US" altLang="zh-CN"/>
          </a:p>
        </p:txBody>
      </p:sp>
      <p:sp>
        <p:nvSpPr>
          <p:cNvPr id="16387" name="Rectangle 2"/>
          <p:cNvSpPr>
            <a:spLocks noGrp="1" noRot="1" noChangeArrowheads="1"/>
          </p:cNvSpPr>
          <p:nvPr>
            <p:ph type="title"/>
          </p:nvPr>
        </p:nvSpPr>
        <p:spPr>
          <a:xfrm>
            <a:off x="1150938" y="838200"/>
            <a:ext cx="5508625" cy="877888"/>
          </a:xfrm>
        </p:spPr>
        <p:txBody>
          <a:bodyPr/>
          <a:lstStyle/>
          <a:p>
            <a:pPr eaLnBrk="1" hangingPunct="1"/>
            <a:r>
              <a:rPr lang="zh-CN" altLang="en-US" b="1" smtClean="0">
                <a:solidFill>
                  <a:srgbClr val="000099"/>
                </a:solidFill>
                <a:latin typeface="Times New Roman" pitchFamily="18" charset="0"/>
                <a:ea typeface="华文新魏" pitchFamily="2" charset="-122"/>
              </a:rPr>
              <a:t>2</a:t>
            </a:r>
            <a:r>
              <a:rPr lang="en-US" altLang="zh-CN" b="1" smtClean="0">
                <a:solidFill>
                  <a:srgbClr val="000099"/>
                </a:solidFill>
                <a:latin typeface="Times New Roman" pitchFamily="18" charset="0"/>
                <a:ea typeface="华文新魏" pitchFamily="2" charset="-122"/>
              </a:rPr>
              <a:t>.</a:t>
            </a:r>
            <a:r>
              <a:rPr lang="zh-CN" altLang="en-US" b="1" smtClean="0">
                <a:solidFill>
                  <a:srgbClr val="000099"/>
                </a:solidFill>
                <a:latin typeface="Times New Roman" pitchFamily="18" charset="0"/>
                <a:ea typeface="华文新魏" pitchFamily="2" charset="-122"/>
              </a:rPr>
              <a:t>相关问题</a:t>
            </a:r>
            <a:r>
              <a:rPr lang="en-US" altLang="zh-CN" sz="2400" b="1" smtClean="0">
                <a:solidFill>
                  <a:srgbClr val="000099"/>
                </a:solidFill>
                <a:latin typeface="Times New Roman" pitchFamily="18" charset="0"/>
                <a:ea typeface="华文新魏" pitchFamily="2" charset="-122"/>
              </a:rPr>
              <a:t>——</a:t>
            </a:r>
            <a:r>
              <a:rPr lang="zh-CN" altLang="en-US" sz="2400" b="1" smtClean="0">
                <a:solidFill>
                  <a:srgbClr val="000099"/>
                </a:solidFill>
                <a:latin typeface="Times New Roman" pitchFamily="18" charset="0"/>
                <a:ea typeface="华文新魏" pitchFamily="2" charset="-122"/>
              </a:rPr>
              <a:t>双缓冲</a:t>
            </a:r>
            <a:endParaRPr lang="zh-CN" altLang="en-US" b="1" smtClean="0">
              <a:solidFill>
                <a:srgbClr val="000099"/>
              </a:solidFill>
              <a:latin typeface="Times New Roman" pitchFamily="18" charset="0"/>
              <a:ea typeface="华文新魏" pitchFamily="2" charset="-122"/>
            </a:endParaRPr>
          </a:p>
        </p:txBody>
      </p:sp>
      <p:sp>
        <p:nvSpPr>
          <p:cNvPr id="452611" name="Rectangle 3"/>
          <p:cNvSpPr>
            <a:spLocks noGrp="1" noRot="1" noChangeArrowheads="1"/>
          </p:cNvSpPr>
          <p:nvPr>
            <p:ph type="body" idx="1"/>
          </p:nvPr>
        </p:nvSpPr>
        <p:spPr>
          <a:xfrm>
            <a:off x="685800" y="1981200"/>
            <a:ext cx="7918450" cy="1231900"/>
          </a:xfrm>
        </p:spPr>
        <p:txBody>
          <a:bodyPr/>
          <a:lstStyle/>
          <a:p>
            <a:pPr eaLnBrk="1" hangingPunct="1">
              <a:defRPr/>
            </a:pPr>
            <a:r>
              <a:rPr kumimoji="1" lang="zh-CN" altLang="en-US" b="1" smtClean="0">
                <a:effectLst>
                  <a:outerShdw blurRad="38100" dist="38100" dir="2700000" algn="tl">
                    <a:srgbClr val="C0C0C0"/>
                  </a:outerShdw>
                </a:effectLst>
                <a:latin typeface="Times New Roman" pitchFamily="18" charset="0"/>
                <a:ea typeface="华文新魏" pitchFamily="2" charset="-122"/>
              </a:rPr>
              <a:t>捻接</a:t>
            </a:r>
          </a:p>
          <a:p>
            <a:pPr eaLnBrk="1" hangingPunct="1">
              <a:defRPr/>
            </a:pPr>
            <a:r>
              <a:rPr kumimoji="1" lang="zh-CN" altLang="en-US" b="1" smtClean="0">
                <a:effectLst>
                  <a:outerShdw blurRad="38100" dist="38100" dir="2700000" algn="tl">
                    <a:srgbClr val="C0C0C0"/>
                  </a:outerShdw>
                </a:effectLst>
                <a:latin typeface="Times New Roman" pitchFamily="18" charset="0"/>
                <a:ea typeface="华文新魏" pitchFamily="2" charset="-122"/>
              </a:rPr>
              <a:t>并行</a:t>
            </a:r>
          </a:p>
        </p:txBody>
      </p:sp>
      <p:sp>
        <p:nvSpPr>
          <p:cNvPr id="452612" name="Text Box 4"/>
          <p:cNvSpPr txBox="1">
            <a:spLocks noChangeArrowheads="1"/>
          </p:cNvSpPr>
          <p:nvPr/>
        </p:nvSpPr>
        <p:spPr bwMode="auto">
          <a:xfrm>
            <a:off x="6588125" y="5280025"/>
            <a:ext cx="1512888" cy="1031875"/>
          </a:xfrm>
          <a:prstGeom prst="rect">
            <a:avLst/>
          </a:prstGeom>
          <a:solidFill>
            <a:schemeClr val="tx1"/>
          </a:solidFill>
          <a:ln w="9525">
            <a:noFill/>
            <a:miter lim="800000"/>
            <a:headEnd/>
            <a:tailEnd/>
          </a:ln>
          <a:effectLst/>
        </p:spPr>
        <p:txBody>
          <a:bodyPr lIns="92075" tIns="46038" rIns="92075" bIns="46038">
            <a:spAutoFit/>
          </a:bodyPr>
          <a:lstStyle/>
          <a:p>
            <a:pPr algn="ctr" eaLnBrk="0" hangingPunct="0">
              <a:lnSpc>
                <a:spcPct val="110000"/>
              </a:lnSpc>
              <a:spcBef>
                <a:spcPct val="50000"/>
              </a:spcBef>
              <a:buClr>
                <a:schemeClr val="folHlink"/>
              </a:buClr>
              <a:buSzPct val="75000"/>
              <a:buFont typeface="Monotype Sorts" pitchFamily="2" charset="2"/>
              <a:buNone/>
              <a:defRPr/>
            </a:pPr>
            <a:r>
              <a:rPr kumimoji="1" lang="zh-CN" altLang="en-US" sz="2800" b="1">
                <a:solidFill>
                  <a:schemeClr val="bg1"/>
                </a:solidFill>
                <a:effectLst>
                  <a:outerShdw blurRad="38100" dist="38100" dir="2700000" algn="tl">
                    <a:srgbClr val="000000"/>
                  </a:outerShdw>
                </a:effectLst>
                <a:latin typeface="Times New Roman" pitchFamily="18" charset="0"/>
                <a:ea typeface="华文新魏" pitchFamily="2" charset="-122"/>
              </a:rPr>
              <a:t>工作区</a:t>
            </a:r>
            <a:r>
              <a:rPr kumimoji="1" lang="en-US" altLang="zh-CN" sz="2800" b="1">
                <a:solidFill>
                  <a:schemeClr val="bg1"/>
                </a:solidFill>
                <a:effectLst>
                  <a:outerShdw blurRad="38100" dist="38100" dir="2700000" algn="tl">
                    <a:srgbClr val="000000"/>
                  </a:outerShdw>
                </a:effectLst>
                <a:latin typeface="Times New Roman" pitchFamily="18" charset="0"/>
                <a:ea typeface="华文新魏" pitchFamily="2" charset="-122"/>
              </a:rPr>
              <a:t>(token)</a:t>
            </a:r>
          </a:p>
        </p:txBody>
      </p:sp>
      <p:sp>
        <p:nvSpPr>
          <p:cNvPr id="452613" name="Freeform 5"/>
          <p:cNvSpPr>
            <a:spLocks/>
          </p:cNvSpPr>
          <p:nvPr/>
        </p:nvSpPr>
        <p:spPr bwMode="auto">
          <a:xfrm>
            <a:off x="4191000" y="5051425"/>
            <a:ext cx="2397125" cy="733425"/>
          </a:xfrm>
          <a:custGeom>
            <a:avLst/>
            <a:gdLst>
              <a:gd name="T0" fmla="*/ 0 w 1440"/>
              <a:gd name="T1" fmla="*/ 0 h 672"/>
              <a:gd name="T2" fmla="*/ 240 w 1440"/>
              <a:gd name="T3" fmla="*/ 432 h 672"/>
              <a:gd name="T4" fmla="*/ 1440 w 1440"/>
              <a:gd name="T5" fmla="*/ 672 h 672"/>
              <a:gd name="T6" fmla="*/ 0 60000 65536"/>
              <a:gd name="T7" fmla="*/ 0 60000 65536"/>
              <a:gd name="T8" fmla="*/ 0 60000 65536"/>
              <a:gd name="T9" fmla="*/ 0 w 1440"/>
              <a:gd name="T10" fmla="*/ 0 h 672"/>
              <a:gd name="T11" fmla="*/ 1440 w 1440"/>
              <a:gd name="T12" fmla="*/ 672 h 672"/>
            </a:gdLst>
            <a:ahLst/>
            <a:cxnLst>
              <a:cxn ang="T6">
                <a:pos x="T0" y="T1"/>
              </a:cxn>
              <a:cxn ang="T7">
                <a:pos x="T2" y="T3"/>
              </a:cxn>
              <a:cxn ang="T8">
                <a:pos x="T4" y="T5"/>
              </a:cxn>
            </a:cxnLst>
            <a:rect l="T9" t="T10" r="T11" b="T12"/>
            <a:pathLst>
              <a:path w="1440" h="672">
                <a:moveTo>
                  <a:pt x="0" y="0"/>
                </a:moveTo>
                <a:cubicBezTo>
                  <a:pt x="0" y="160"/>
                  <a:pt x="0" y="320"/>
                  <a:pt x="240" y="432"/>
                </a:cubicBezTo>
                <a:cubicBezTo>
                  <a:pt x="480" y="544"/>
                  <a:pt x="1248" y="640"/>
                  <a:pt x="1440" y="672"/>
                </a:cubicBezTo>
              </a:path>
            </a:pathLst>
          </a:custGeom>
          <a:noFill/>
          <a:ln w="38100">
            <a:solidFill>
              <a:schemeClr val="tx1"/>
            </a:solidFill>
            <a:prstDash val="dash"/>
            <a:round/>
            <a:headEnd/>
            <a:tailEnd type="arrow"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grpSp>
        <p:nvGrpSpPr>
          <p:cNvPr id="2" name="Group 6"/>
          <p:cNvGrpSpPr>
            <a:grpSpLocks/>
          </p:cNvGrpSpPr>
          <p:nvPr/>
        </p:nvGrpSpPr>
        <p:grpSpPr bwMode="auto">
          <a:xfrm>
            <a:off x="900113" y="4416425"/>
            <a:ext cx="3024187" cy="1231900"/>
            <a:chOff x="672" y="2016"/>
            <a:chExt cx="1658" cy="785"/>
          </a:xfrm>
        </p:grpSpPr>
        <p:sp>
          <p:nvSpPr>
            <p:cNvPr id="16401" name="Line 7"/>
            <p:cNvSpPr>
              <a:spLocks noChangeShapeType="1"/>
            </p:cNvSpPr>
            <p:nvPr/>
          </p:nvSpPr>
          <p:spPr bwMode="auto">
            <a:xfrm flipV="1">
              <a:off x="1920" y="2016"/>
              <a:ext cx="0" cy="48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52616" name="Rectangle 8"/>
            <p:cNvSpPr>
              <a:spLocks noChangeArrowheads="1"/>
            </p:cNvSpPr>
            <p:nvPr/>
          </p:nvSpPr>
          <p:spPr bwMode="auto">
            <a:xfrm>
              <a:off x="672" y="2400"/>
              <a:ext cx="1658" cy="401"/>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defRPr/>
              </a:pPr>
              <a:r>
                <a:rPr kumimoji="1" lang="zh-CN" altLang="en-US" sz="3200" b="1">
                  <a:solidFill>
                    <a:srgbClr val="000099"/>
                  </a:solidFill>
                  <a:effectLst>
                    <a:outerShdw blurRad="38100" dist="38100" dir="2700000" algn="tl">
                      <a:srgbClr val="C0C0C0"/>
                    </a:outerShdw>
                  </a:effectLst>
                  <a:latin typeface="Times New Roman" pitchFamily="18" charset="0"/>
                  <a:ea typeface="华文新魏" pitchFamily="2" charset="-122"/>
                </a:rPr>
                <a:t>单词开始指针</a:t>
              </a:r>
            </a:p>
          </p:txBody>
        </p:sp>
      </p:grpSp>
      <p:grpSp>
        <p:nvGrpSpPr>
          <p:cNvPr id="3" name="Group 9"/>
          <p:cNvGrpSpPr>
            <a:grpSpLocks/>
          </p:cNvGrpSpPr>
          <p:nvPr/>
        </p:nvGrpSpPr>
        <p:grpSpPr bwMode="auto">
          <a:xfrm>
            <a:off x="4356100" y="4437063"/>
            <a:ext cx="2463800" cy="1190625"/>
            <a:chOff x="2832" y="2016"/>
            <a:chExt cx="1144" cy="712"/>
          </a:xfrm>
        </p:grpSpPr>
        <p:sp>
          <p:nvSpPr>
            <p:cNvPr id="16399" name="Line 10"/>
            <p:cNvSpPr>
              <a:spLocks noChangeShapeType="1"/>
            </p:cNvSpPr>
            <p:nvPr/>
          </p:nvSpPr>
          <p:spPr bwMode="auto">
            <a:xfrm flipV="1">
              <a:off x="3408" y="2016"/>
              <a:ext cx="0" cy="48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452619" name="Rectangle 11"/>
            <p:cNvSpPr>
              <a:spLocks noChangeArrowheads="1"/>
            </p:cNvSpPr>
            <p:nvPr/>
          </p:nvSpPr>
          <p:spPr bwMode="auto">
            <a:xfrm>
              <a:off x="2832" y="2352"/>
              <a:ext cx="1144" cy="376"/>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defRPr/>
              </a:pPr>
              <a:r>
                <a:rPr kumimoji="1" lang="zh-CN" altLang="en-US" sz="3200" b="1">
                  <a:solidFill>
                    <a:srgbClr val="000099"/>
                  </a:solidFill>
                  <a:effectLst>
                    <a:outerShdw blurRad="38100" dist="38100" dir="2700000" algn="tl">
                      <a:srgbClr val="C0C0C0"/>
                    </a:outerShdw>
                  </a:effectLst>
                  <a:latin typeface="Times New Roman" pitchFamily="18" charset="0"/>
                  <a:ea typeface="华文新魏" pitchFamily="2" charset="-122"/>
                </a:rPr>
                <a:t>扫描指针</a:t>
              </a:r>
            </a:p>
          </p:txBody>
        </p:sp>
      </p:grpSp>
      <p:grpSp>
        <p:nvGrpSpPr>
          <p:cNvPr id="4" name="Group 12"/>
          <p:cNvGrpSpPr>
            <a:grpSpLocks/>
          </p:cNvGrpSpPr>
          <p:nvPr/>
        </p:nvGrpSpPr>
        <p:grpSpPr bwMode="auto">
          <a:xfrm>
            <a:off x="3124200" y="4441825"/>
            <a:ext cx="2455863" cy="644525"/>
            <a:chOff x="1968" y="2064"/>
            <a:chExt cx="1295" cy="428"/>
          </a:xfrm>
        </p:grpSpPr>
        <p:sp>
          <p:nvSpPr>
            <p:cNvPr id="16397" name="AutoShape 13"/>
            <p:cNvSpPr>
              <a:spLocks/>
            </p:cNvSpPr>
            <p:nvPr/>
          </p:nvSpPr>
          <p:spPr bwMode="auto">
            <a:xfrm rot="-5360865">
              <a:off x="2543" y="1536"/>
              <a:ext cx="192" cy="1248"/>
            </a:xfrm>
            <a:prstGeom prst="leftBrace">
              <a:avLst>
                <a:gd name="adj1" fmla="val 54167"/>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452622" name="Rectangle 14"/>
            <p:cNvSpPr>
              <a:spLocks noChangeArrowheads="1"/>
            </p:cNvSpPr>
            <p:nvPr/>
          </p:nvSpPr>
          <p:spPr bwMode="auto">
            <a:xfrm>
              <a:off x="1968" y="2208"/>
              <a:ext cx="760" cy="284"/>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defRPr/>
              </a:pPr>
              <a:r>
                <a:rPr kumimoji="1" lang="zh-CN" altLang="en-US" sz="2000" b="1">
                  <a:solidFill>
                    <a:srgbClr val="000099"/>
                  </a:solidFill>
                  <a:effectLst>
                    <a:outerShdw blurRad="38100" dist="38100" dir="2700000" algn="tl">
                      <a:srgbClr val="C0C0C0"/>
                    </a:outerShdw>
                  </a:effectLst>
                  <a:latin typeface="Times New Roman" pitchFamily="18" charset="0"/>
                  <a:ea typeface="华文新魏" pitchFamily="2" charset="-122"/>
                </a:rPr>
                <a:t>正拼单词</a:t>
              </a:r>
            </a:p>
          </p:txBody>
        </p:sp>
      </p:grpSp>
      <p:grpSp>
        <p:nvGrpSpPr>
          <p:cNvPr id="5" name="Group 15"/>
          <p:cNvGrpSpPr>
            <a:grpSpLocks/>
          </p:cNvGrpSpPr>
          <p:nvPr/>
        </p:nvGrpSpPr>
        <p:grpSpPr bwMode="auto">
          <a:xfrm>
            <a:off x="323850" y="3808413"/>
            <a:ext cx="8208963" cy="608012"/>
            <a:chOff x="249" y="3793"/>
            <a:chExt cx="5171" cy="383"/>
          </a:xfrm>
        </p:grpSpPr>
        <p:sp>
          <p:nvSpPr>
            <p:cNvPr id="16395" name="Text Box 16"/>
            <p:cNvSpPr txBox="1">
              <a:spLocks noChangeArrowheads="1"/>
            </p:cNvSpPr>
            <p:nvPr/>
          </p:nvSpPr>
          <p:spPr bwMode="auto">
            <a:xfrm>
              <a:off x="249" y="3793"/>
              <a:ext cx="5171" cy="38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200" b="1">
                  <a:latin typeface="Times New Roman" pitchFamily="18" charset="0"/>
                </a:rPr>
                <a:t>Buffer1				Buffer2</a:t>
              </a:r>
            </a:p>
          </p:txBody>
        </p:sp>
        <p:sp>
          <p:nvSpPr>
            <p:cNvPr id="16396" name="Line 17"/>
            <p:cNvSpPr>
              <a:spLocks noChangeShapeType="1"/>
            </p:cNvSpPr>
            <p:nvPr/>
          </p:nvSpPr>
          <p:spPr bwMode="auto">
            <a:xfrm>
              <a:off x="2835" y="3793"/>
              <a:ext cx="0"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08C1C0D4-6F00-486A-9BD3-224C528F2181}" type="slidenum">
              <a:rPr lang="zh-CN" altLang="en-US"/>
              <a:pPr eaLnBrk="1" hangingPunct="1"/>
              <a:t>12</a:t>
            </a:fld>
            <a:endParaRPr lang="en-US" altLang="zh-CN"/>
          </a:p>
        </p:txBody>
      </p:sp>
      <p:sp>
        <p:nvSpPr>
          <p:cNvPr id="17411" name="Rectangle 2"/>
          <p:cNvSpPr>
            <a:spLocks noGrp="1" noRot="1" noChangeArrowheads="1"/>
          </p:cNvSpPr>
          <p:nvPr>
            <p:ph type="title"/>
          </p:nvPr>
        </p:nvSpPr>
        <p:spPr/>
        <p:txBody>
          <a:bodyPr/>
          <a:lstStyle/>
          <a:p>
            <a:pPr eaLnBrk="1" hangingPunct="1"/>
            <a:r>
              <a:rPr lang="zh-CN" altLang="en-US" b="1" smtClean="0">
                <a:solidFill>
                  <a:srgbClr val="000099"/>
                </a:solidFill>
                <a:latin typeface="Times New Roman" pitchFamily="18" charset="0"/>
                <a:ea typeface="华文新魏" pitchFamily="2" charset="-122"/>
              </a:rPr>
              <a:t>2</a:t>
            </a:r>
            <a:r>
              <a:rPr lang="en-US" altLang="zh-CN" b="1" smtClean="0">
                <a:solidFill>
                  <a:srgbClr val="000099"/>
                </a:solidFill>
                <a:latin typeface="Times New Roman" pitchFamily="18" charset="0"/>
                <a:ea typeface="华文新魏" pitchFamily="2" charset="-122"/>
              </a:rPr>
              <a:t>. </a:t>
            </a:r>
            <a:r>
              <a:rPr lang="zh-CN" altLang="en-US" b="1" smtClean="0">
                <a:solidFill>
                  <a:srgbClr val="000099"/>
                </a:solidFill>
                <a:latin typeface="Times New Roman" pitchFamily="18" charset="0"/>
                <a:ea typeface="华文新魏" pitchFamily="2" charset="-122"/>
              </a:rPr>
              <a:t>相关问题</a:t>
            </a:r>
            <a:r>
              <a:rPr lang="en-US" altLang="zh-CN" sz="2400" b="1" smtClean="0">
                <a:solidFill>
                  <a:srgbClr val="000099"/>
                </a:solidFill>
                <a:latin typeface="Times New Roman" pitchFamily="18" charset="0"/>
                <a:ea typeface="华文新魏" pitchFamily="2" charset="-122"/>
              </a:rPr>
              <a:t>——</a:t>
            </a:r>
            <a:r>
              <a:rPr lang="zh-CN" altLang="en-US" sz="2400" b="1" smtClean="0">
                <a:solidFill>
                  <a:srgbClr val="000099"/>
                </a:solidFill>
                <a:latin typeface="Times New Roman" pitchFamily="18" charset="0"/>
                <a:ea typeface="华文新魏" pitchFamily="2" charset="-122"/>
              </a:rPr>
              <a:t>双缓冲</a:t>
            </a:r>
          </a:p>
        </p:txBody>
      </p:sp>
      <p:sp>
        <p:nvSpPr>
          <p:cNvPr id="453636" name="Text Box 4"/>
          <p:cNvSpPr txBox="1">
            <a:spLocks noChangeArrowheads="1"/>
          </p:cNvSpPr>
          <p:nvPr/>
        </p:nvSpPr>
        <p:spPr bwMode="auto">
          <a:xfrm>
            <a:off x="611188" y="3368675"/>
            <a:ext cx="8064500" cy="287813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spcBef>
                <a:spcPct val="10000"/>
              </a:spcBef>
            </a:pPr>
            <a:r>
              <a:rPr lang="en-US" altLang="zh-CN" sz="2800" b="1" i="1">
                <a:latin typeface="Times New Roman" pitchFamily="18" charset="0"/>
                <a:ea typeface="华文新魏" pitchFamily="2" charset="-122"/>
                <a:cs typeface="Times New Roman" pitchFamily="18" charset="0"/>
              </a:rPr>
              <a:t>forward</a:t>
            </a:r>
            <a:r>
              <a:rPr lang="en-US" altLang="zh-CN" sz="2800" b="1">
                <a:latin typeface="Times New Roman" pitchFamily="18" charset="0"/>
                <a:ea typeface="华文新魏" pitchFamily="2" charset="-122"/>
                <a:cs typeface="Times New Roman" pitchFamily="18" charset="0"/>
              </a:rPr>
              <a:t> := </a:t>
            </a:r>
            <a:r>
              <a:rPr lang="en-US" altLang="zh-CN" sz="2800" b="1" i="1">
                <a:latin typeface="Times New Roman" pitchFamily="18" charset="0"/>
                <a:ea typeface="华文新魏" pitchFamily="2" charset="-122"/>
                <a:cs typeface="Times New Roman" pitchFamily="18" charset="0"/>
              </a:rPr>
              <a:t>forward</a:t>
            </a:r>
            <a:r>
              <a:rPr lang="en-US" altLang="zh-CN" sz="2800" b="1">
                <a:latin typeface="Times New Roman" pitchFamily="18" charset="0"/>
                <a:ea typeface="华文新魏" pitchFamily="2" charset="-122"/>
                <a:cs typeface="Times New Roman" pitchFamily="18" charset="0"/>
              </a:rPr>
              <a:t> +1;</a:t>
            </a:r>
            <a:endParaRPr lang="zh-CN" altLang="en-US" sz="2800" b="1">
              <a:latin typeface="Times New Roman" pitchFamily="18" charset="0"/>
              <a:ea typeface="华文新魏" pitchFamily="2" charset="-122"/>
              <a:cs typeface="Times New Roman" pitchFamily="18" charset="0"/>
            </a:endParaRPr>
          </a:p>
          <a:p>
            <a:pPr algn="just" eaLnBrk="1" hangingPunct="1">
              <a:spcBef>
                <a:spcPct val="10000"/>
              </a:spcBef>
            </a:pPr>
            <a:r>
              <a:rPr lang="en-US" altLang="zh-CN" sz="2800" b="1">
                <a:latin typeface="Times New Roman" pitchFamily="18" charset="0"/>
                <a:ea typeface="华文新魏" pitchFamily="2" charset="-122"/>
                <a:cs typeface="Times New Roman" pitchFamily="18" charset="0"/>
              </a:rPr>
              <a:t>if  </a:t>
            </a:r>
            <a:r>
              <a:rPr lang="en-US" altLang="zh-CN" sz="2800" b="1" i="1">
                <a:latin typeface="Times New Roman" pitchFamily="18" charset="0"/>
                <a:ea typeface="华文新魏" pitchFamily="2" charset="-122"/>
                <a:cs typeface="Times New Roman" pitchFamily="18" charset="0"/>
              </a:rPr>
              <a:t>forward</a:t>
            </a:r>
            <a:r>
              <a:rPr lang="zh-CN" altLang="en-US" sz="2800" b="1">
                <a:latin typeface="Times New Roman" pitchFamily="18" charset="0"/>
                <a:ea typeface="华文新魏" pitchFamily="2" charset="-122"/>
                <a:cs typeface="Times New Roman" pitchFamily="18" charset="0"/>
              </a:rPr>
              <a:t>在缓冲区</a:t>
            </a:r>
            <a:r>
              <a:rPr lang="en-US" altLang="zh-CN" sz="2800" b="1">
                <a:latin typeface="Times New Roman" pitchFamily="18" charset="0"/>
                <a:ea typeface="华文新魏" pitchFamily="2" charset="-122"/>
                <a:cs typeface="Times New Roman" pitchFamily="18" charset="0"/>
              </a:rPr>
              <a:t>1</a:t>
            </a:r>
            <a:r>
              <a:rPr lang="zh-CN" altLang="en-US" sz="2800" b="1">
                <a:latin typeface="Times New Roman" pitchFamily="18" charset="0"/>
                <a:ea typeface="华文新魏" pitchFamily="2" charset="-122"/>
                <a:cs typeface="Times New Roman" pitchFamily="18" charset="0"/>
              </a:rPr>
              <a:t>末尾  </a:t>
            </a:r>
            <a:r>
              <a:rPr lang="en-US" altLang="zh-CN" sz="2800" b="1">
                <a:latin typeface="Times New Roman" pitchFamily="18" charset="0"/>
                <a:ea typeface="华文新魏" pitchFamily="2" charset="-122"/>
                <a:cs typeface="Times New Roman" pitchFamily="18" charset="0"/>
              </a:rPr>
              <a:t>then </a:t>
            </a:r>
            <a:r>
              <a:rPr lang="zh-CN" altLang="en-US" sz="2800" b="1">
                <a:latin typeface="Times New Roman" pitchFamily="18" charset="0"/>
                <a:ea typeface="华文新魏" pitchFamily="2" charset="-122"/>
                <a:cs typeface="Times New Roman" pitchFamily="18" charset="0"/>
              </a:rPr>
              <a:t>重装缓冲区</a:t>
            </a:r>
            <a:r>
              <a:rPr lang="en-US" altLang="zh-CN" sz="2800" b="1">
                <a:latin typeface="Times New Roman" pitchFamily="18" charset="0"/>
                <a:ea typeface="华文新魏" pitchFamily="2" charset="-122"/>
                <a:cs typeface="Times New Roman" pitchFamily="18" charset="0"/>
              </a:rPr>
              <a:t>2</a:t>
            </a:r>
          </a:p>
          <a:p>
            <a:pPr algn="just" eaLnBrk="1" hangingPunct="1">
              <a:spcBef>
                <a:spcPct val="10000"/>
              </a:spcBef>
            </a:pPr>
            <a:r>
              <a:rPr lang="en-US" altLang="zh-CN" sz="2800" b="1">
                <a:latin typeface="Times New Roman" pitchFamily="18" charset="0"/>
                <a:ea typeface="华文新魏" pitchFamily="2" charset="-122"/>
                <a:cs typeface="Times New Roman" pitchFamily="18" charset="0"/>
              </a:rPr>
              <a:t>else if  </a:t>
            </a:r>
            <a:r>
              <a:rPr lang="en-US" altLang="zh-CN" sz="2800" b="1" i="1">
                <a:latin typeface="Times New Roman" pitchFamily="18" charset="0"/>
                <a:ea typeface="华文新魏" pitchFamily="2" charset="-122"/>
                <a:cs typeface="Times New Roman" pitchFamily="18" charset="0"/>
              </a:rPr>
              <a:t>forward</a:t>
            </a:r>
            <a:r>
              <a:rPr lang="zh-CN" altLang="en-US" sz="2800" b="1">
                <a:latin typeface="Times New Roman" pitchFamily="18" charset="0"/>
                <a:ea typeface="华文新魏" pitchFamily="2" charset="-122"/>
                <a:cs typeface="Times New Roman" pitchFamily="18" charset="0"/>
              </a:rPr>
              <a:t>在缓冲区</a:t>
            </a:r>
            <a:r>
              <a:rPr lang="en-US" altLang="zh-CN" sz="2800" b="1">
                <a:latin typeface="Times New Roman" pitchFamily="18" charset="0"/>
                <a:ea typeface="华文新魏" pitchFamily="2" charset="-122"/>
                <a:cs typeface="Times New Roman" pitchFamily="18" charset="0"/>
              </a:rPr>
              <a:t>2</a:t>
            </a:r>
            <a:r>
              <a:rPr lang="zh-CN" altLang="en-US" sz="2800" b="1">
                <a:latin typeface="Times New Roman" pitchFamily="18" charset="0"/>
                <a:ea typeface="华文新魏" pitchFamily="2" charset="-122"/>
                <a:cs typeface="Times New Roman" pitchFamily="18" charset="0"/>
              </a:rPr>
              <a:t>末尾  </a:t>
            </a:r>
            <a:r>
              <a:rPr lang="en-US" altLang="zh-CN" sz="2800" b="1">
                <a:latin typeface="Times New Roman" pitchFamily="18" charset="0"/>
                <a:ea typeface="华文新魏" pitchFamily="2" charset="-122"/>
                <a:cs typeface="Times New Roman" pitchFamily="18" charset="0"/>
              </a:rPr>
              <a:t>then </a:t>
            </a:r>
          </a:p>
          <a:p>
            <a:pPr algn="just" eaLnBrk="1" hangingPunct="1">
              <a:spcBef>
                <a:spcPct val="10000"/>
              </a:spcBef>
            </a:pPr>
            <a:r>
              <a:rPr lang="en-US" altLang="zh-CN" sz="2800" b="1">
                <a:latin typeface="Times New Roman" pitchFamily="18" charset="0"/>
                <a:ea typeface="华文新魏" pitchFamily="2" charset="-122"/>
                <a:cs typeface="Times New Roman" pitchFamily="18" charset="0"/>
              </a:rPr>
              <a:t>       begin   </a:t>
            </a:r>
            <a:r>
              <a:rPr lang="zh-CN" altLang="en-US" sz="2800" b="1">
                <a:latin typeface="Times New Roman" pitchFamily="18" charset="0"/>
                <a:ea typeface="华文新魏" pitchFamily="2" charset="-122"/>
                <a:cs typeface="Times New Roman" pitchFamily="18" charset="0"/>
              </a:rPr>
              <a:t>重装缓冲区</a:t>
            </a:r>
            <a:r>
              <a:rPr lang="en-US" altLang="zh-CN" sz="2800" b="1">
                <a:latin typeface="Times New Roman" pitchFamily="18" charset="0"/>
                <a:ea typeface="华文新魏" pitchFamily="2" charset="-122"/>
                <a:cs typeface="Times New Roman" pitchFamily="18" charset="0"/>
              </a:rPr>
              <a:t>1;</a:t>
            </a:r>
          </a:p>
          <a:p>
            <a:pPr algn="just" eaLnBrk="1" hangingPunct="1">
              <a:spcBef>
                <a:spcPct val="10000"/>
              </a:spcBef>
            </a:pPr>
            <a:r>
              <a:rPr lang="zh-CN" altLang="en-US" sz="2800" b="1">
                <a:latin typeface="Times New Roman" pitchFamily="18" charset="0"/>
                <a:ea typeface="华文新魏" pitchFamily="2" charset="-122"/>
                <a:cs typeface="Times New Roman" pitchFamily="18" charset="0"/>
              </a:rPr>
              <a:t>                    将</a:t>
            </a:r>
            <a:r>
              <a:rPr lang="en-US" altLang="zh-CN" sz="2800" b="1" i="1">
                <a:latin typeface="Times New Roman" pitchFamily="18" charset="0"/>
                <a:ea typeface="华文新魏" pitchFamily="2" charset="-122"/>
                <a:cs typeface="Times New Roman" pitchFamily="18" charset="0"/>
              </a:rPr>
              <a:t>forward</a:t>
            </a:r>
            <a:r>
              <a:rPr lang="zh-CN" altLang="en-US" sz="2800" b="1">
                <a:latin typeface="Times New Roman" pitchFamily="18" charset="0"/>
                <a:ea typeface="华文新魏" pitchFamily="2" charset="-122"/>
                <a:cs typeface="Times New Roman" pitchFamily="18" charset="0"/>
              </a:rPr>
              <a:t>移到缓冲区</a:t>
            </a:r>
            <a:r>
              <a:rPr lang="en-US" altLang="zh-CN" sz="2800" b="1">
                <a:latin typeface="Times New Roman" pitchFamily="18" charset="0"/>
                <a:ea typeface="华文新魏" pitchFamily="2" charset="-122"/>
                <a:cs typeface="Times New Roman" pitchFamily="18" charset="0"/>
              </a:rPr>
              <a:t>1</a:t>
            </a:r>
            <a:r>
              <a:rPr lang="zh-CN" altLang="en-US" sz="2800" b="1">
                <a:latin typeface="Times New Roman" pitchFamily="18" charset="0"/>
                <a:ea typeface="华文新魏" pitchFamily="2" charset="-122"/>
                <a:cs typeface="Times New Roman" pitchFamily="18" charset="0"/>
              </a:rPr>
              <a:t>开始</a:t>
            </a:r>
          </a:p>
          <a:p>
            <a:pPr algn="just" eaLnBrk="1" hangingPunct="1">
              <a:spcBef>
                <a:spcPct val="10000"/>
              </a:spcBef>
            </a:pPr>
            <a:r>
              <a:rPr lang="en-US" altLang="zh-CN" sz="2800" b="1">
                <a:latin typeface="Times New Roman" pitchFamily="18" charset="0"/>
                <a:ea typeface="华文新魏" pitchFamily="2" charset="-122"/>
                <a:cs typeface="Times New Roman" pitchFamily="18" charset="0"/>
              </a:rPr>
              <a:t>        end</a:t>
            </a:r>
            <a:endParaRPr lang="zh-CN" altLang="en-US" sz="2800" b="1">
              <a:latin typeface="Times New Roman" pitchFamily="18" charset="0"/>
              <a:ea typeface="华文新魏" pitchFamily="2" charset="-122"/>
              <a:cs typeface="Times New Roman" pitchFamily="18" charset="0"/>
            </a:endParaRPr>
          </a:p>
        </p:txBody>
      </p:sp>
      <p:graphicFrame>
        <p:nvGraphicFramePr>
          <p:cNvPr id="453853" name="Group 221"/>
          <p:cNvGraphicFramePr>
            <a:graphicFrameLocks noGrp="1"/>
          </p:cNvGraphicFramePr>
          <p:nvPr>
            <p:ph idx="1"/>
          </p:nvPr>
        </p:nvGraphicFramePr>
        <p:xfrm>
          <a:off x="250825" y="1773238"/>
          <a:ext cx="8540750" cy="457200"/>
        </p:xfrm>
        <a:graphic>
          <a:graphicData uri="http://schemas.openxmlformats.org/drawingml/2006/table">
            <a:tbl>
              <a:tblPr/>
              <a:tblGrid>
                <a:gridCol w="427038">
                  <a:extLst>
                    <a:ext uri="{9D8B030D-6E8A-4147-A177-3AD203B41FA5}">
                      <a16:colId xmlns:a16="http://schemas.microsoft.com/office/drawing/2014/main" val="20000"/>
                    </a:ext>
                  </a:extLst>
                </a:gridCol>
                <a:gridCol w="427037">
                  <a:extLst>
                    <a:ext uri="{9D8B030D-6E8A-4147-A177-3AD203B41FA5}">
                      <a16:colId xmlns:a16="http://schemas.microsoft.com/office/drawing/2014/main" val="20001"/>
                    </a:ext>
                  </a:extLst>
                </a:gridCol>
                <a:gridCol w="427038">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gridCol w="427038">
                  <a:extLst>
                    <a:ext uri="{9D8B030D-6E8A-4147-A177-3AD203B41FA5}">
                      <a16:colId xmlns:a16="http://schemas.microsoft.com/office/drawing/2014/main" val="20004"/>
                    </a:ext>
                  </a:extLst>
                </a:gridCol>
                <a:gridCol w="427037">
                  <a:extLst>
                    <a:ext uri="{9D8B030D-6E8A-4147-A177-3AD203B41FA5}">
                      <a16:colId xmlns:a16="http://schemas.microsoft.com/office/drawing/2014/main" val="20005"/>
                    </a:ext>
                  </a:extLst>
                </a:gridCol>
                <a:gridCol w="427038">
                  <a:extLst>
                    <a:ext uri="{9D8B030D-6E8A-4147-A177-3AD203B41FA5}">
                      <a16:colId xmlns:a16="http://schemas.microsoft.com/office/drawing/2014/main" val="20006"/>
                    </a:ext>
                  </a:extLst>
                </a:gridCol>
                <a:gridCol w="427037">
                  <a:extLst>
                    <a:ext uri="{9D8B030D-6E8A-4147-A177-3AD203B41FA5}">
                      <a16:colId xmlns:a16="http://schemas.microsoft.com/office/drawing/2014/main" val="20007"/>
                    </a:ext>
                  </a:extLst>
                </a:gridCol>
                <a:gridCol w="427038">
                  <a:extLst>
                    <a:ext uri="{9D8B030D-6E8A-4147-A177-3AD203B41FA5}">
                      <a16:colId xmlns:a16="http://schemas.microsoft.com/office/drawing/2014/main" val="20008"/>
                    </a:ext>
                  </a:extLst>
                </a:gridCol>
                <a:gridCol w="427037">
                  <a:extLst>
                    <a:ext uri="{9D8B030D-6E8A-4147-A177-3AD203B41FA5}">
                      <a16:colId xmlns:a16="http://schemas.microsoft.com/office/drawing/2014/main" val="20009"/>
                    </a:ext>
                  </a:extLst>
                </a:gridCol>
                <a:gridCol w="427038">
                  <a:extLst>
                    <a:ext uri="{9D8B030D-6E8A-4147-A177-3AD203B41FA5}">
                      <a16:colId xmlns:a16="http://schemas.microsoft.com/office/drawing/2014/main" val="20010"/>
                    </a:ext>
                  </a:extLst>
                </a:gridCol>
                <a:gridCol w="427037">
                  <a:extLst>
                    <a:ext uri="{9D8B030D-6E8A-4147-A177-3AD203B41FA5}">
                      <a16:colId xmlns:a16="http://schemas.microsoft.com/office/drawing/2014/main" val="20011"/>
                    </a:ext>
                  </a:extLst>
                </a:gridCol>
                <a:gridCol w="427038">
                  <a:extLst>
                    <a:ext uri="{9D8B030D-6E8A-4147-A177-3AD203B41FA5}">
                      <a16:colId xmlns:a16="http://schemas.microsoft.com/office/drawing/2014/main" val="20012"/>
                    </a:ext>
                  </a:extLst>
                </a:gridCol>
                <a:gridCol w="427037">
                  <a:extLst>
                    <a:ext uri="{9D8B030D-6E8A-4147-A177-3AD203B41FA5}">
                      <a16:colId xmlns:a16="http://schemas.microsoft.com/office/drawing/2014/main" val="20013"/>
                    </a:ext>
                  </a:extLst>
                </a:gridCol>
                <a:gridCol w="427038">
                  <a:extLst>
                    <a:ext uri="{9D8B030D-6E8A-4147-A177-3AD203B41FA5}">
                      <a16:colId xmlns:a16="http://schemas.microsoft.com/office/drawing/2014/main" val="20014"/>
                    </a:ext>
                  </a:extLst>
                </a:gridCol>
                <a:gridCol w="427037">
                  <a:extLst>
                    <a:ext uri="{9D8B030D-6E8A-4147-A177-3AD203B41FA5}">
                      <a16:colId xmlns:a16="http://schemas.microsoft.com/office/drawing/2014/main" val="20015"/>
                    </a:ext>
                  </a:extLst>
                </a:gridCol>
                <a:gridCol w="512763">
                  <a:extLst>
                    <a:ext uri="{9D8B030D-6E8A-4147-A177-3AD203B41FA5}">
                      <a16:colId xmlns:a16="http://schemas.microsoft.com/office/drawing/2014/main" val="20016"/>
                    </a:ext>
                  </a:extLst>
                </a:gridCol>
                <a:gridCol w="341312">
                  <a:extLst>
                    <a:ext uri="{9D8B030D-6E8A-4147-A177-3AD203B41FA5}">
                      <a16:colId xmlns:a16="http://schemas.microsoft.com/office/drawing/2014/main" val="20017"/>
                    </a:ext>
                  </a:extLst>
                </a:gridCol>
                <a:gridCol w="427038">
                  <a:extLst>
                    <a:ext uri="{9D8B030D-6E8A-4147-A177-3AD203B41FA5}">
                      <a16:colId xmlns:a16="http://schemas.microsoft.com/office/drawing/2014/main" val="20018"/>
                    </a:ext>
                  </a:extLst>
                </a:gridCol>
                <a:gridCol w="427037">
                  <a:extLst>
                    <a:ext uri="{9D8B030D-6E8A-4147-A177-3AD203B41FA5}">
                      <a16:colId xmlns:a16="http://schemas.microsoft.com/office/drawing/2014/main" val="20019"/>
                    </a:ext>
                  </a:extLst>
                </a:gridCol>
              </a:tblGrid>
              <a:tr h="3714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U</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altLang="zh-CN" sz="24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eof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en-US" altLang="zh-CN" sz="12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7457" name="Group 122"/>
          <p:cNvGrpSpPr>
            <a:grpSpLocks/>
          </p:cNvGrpSpPr>
          <p:nvPr/>
        </p:nvGrpSpPr>
        <p:grpSpPr bwMode="auto">
          <a:xfrm>
            <a:off x="2627313" y="2205038"/>
            <a:ext cx="1223962" cy="863600"/>
            <a:chOff x="2154" y="1389"/>
            <a:chExt cx="771" cy="544"/>
          </a:xfrm>
        </p:grpSpPr>
        <p:sp>
          <p:nvSpPr>
            <p:cNvPr id="17462" name="Line 82"/>
            <p:cNvSpPr>
              <a:spLocks noChangeShapeType="1"/>
            </p:cNvSpPr>
            <p:nvPr/>
          </p:nvSpPr>
          <p:spPr bwMode="auto">
            <a:xfrm flipV="1">
              <a:off x="2925" y="1389"/>
              <a:ext cx="0" cy="5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3" name="Text Box 119"/>
            <p:cNvSpPr txBox="1">
              <a:spLocks noChangeArrowheads="1"/>
            </p:cNvSpPr>
            <p:nvPr/>
          </p:nvSpPr>
          <p:spPr bwMode="auto">
            <a:xfrm>
              <a:off x="2154" y="1661"/>
              <a:ext cx="7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000" b="1">
                  <a:ea typeface="华文新魏" pitchFamily="2" charset="-122"/>
                </a:rPr>
                <a:t>单词开始</a:t>
              </a:r>
            </a:p>
          </p:txBody>
        </p:sp>
      </p:grpSp>
      <p:grpSp>
        <p:nvGrpSpPr>
          <p:cNvPr id="17458" name="Group 121"/>
          <p:cNvGrpSpPr>
            <a:grpSpLocks/>
          </p:cNvGrpSpPr>
          <p:nvPr/>
        </p:nvGrpSpPr>
        <p:grpSpPr bwMode="auto">
          <a:xfrm>
            <a:off x="5148263" y="2205038"/>
            <a:ext cx="1223962" cy="900112"/>
            <a:chOff x="3515" y="1389"/>
            <a:chExt cx="771" cy="567"/>
          </a:xfrm>
        </p:grpSpPr>
        <p:sp>
          <p:nvSpPr>
            <p:cNvPr id="17460" name="Line 118"/>
            <p:cNvSpPr>
              <a:spLocks noChangeShapeType="1"/>
            </p:cNvSpPr>
            <p:nvPr/>
          </p:nvSpPr>
          <p:spPr bwMode="auto">
            <a:xfrm flipV="1">
              <a:off x="3515" y="1389"/>
              <a:ext cx="0" cy="5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61" name="Text Box 120"/>
            <p:cNvSpPr txBox="1">
              <a:spLocks noChangeArrowheads="1"/>
            </p:cNvSpPr>
            <p:nvPr/>
          </p:nvSpPr>
          <p:spPr bwMode="auto">
            <a:xfrm>
              <a:off x="3515" y="1706"/>
              <a:ext cx="7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000" b="1">
                  <a:ea typeface="华文新魏" pitchFamily="2" charset="-122"/>
                </a:rPr>
                <a:t>向前指针</a:t>
              </a:r>
            </a:p>
          </p:txBody>
        </p:sp>
      </p:grpSp>
      <p:sp>
        <p:nvSpPr>
          <p:cNvPr id="17459" name="Line 123"/>
          <p:cNvSpPr>
            <a:spLocks noChangeShapeType="1"/>
          </p:cNvSpPr>
          <p:nvPr/>
        </p:nvSpPr>
        <p:spPr bwMode="auto">
          <a:xfrm>
            <a:off x="4514850" y="1773238"/>
            <a:ext cx="0" cy="431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34FFD7C-D2FB-4946-9A49-96D91AD7A649}" type="slidenum">
              <a:rPr lang="zh-CN" altLang="en-US"/>
              <a:pPr eaLnBrk="1" hangingPunct="1"/>
              <a:t>13</a:t>
            </a:fld>
            <a:endParaRPr lang="en-US" altLang="zh-CN"/>
          </a:p>
        </p:txBody>
      </p:sp>
      <p:sp>
        <p:nvSpPr>
          <p:cNvPr id="18435" name="Rectangle 2"/>
          <p:cNvSpPr>
            <a:spLocks noGrp="1" noRot="1" noChangeArrowheads="1"/>
          </p:cNvSpPr>
          <p:nvPr>
            <p:ph type="title"/>
          </p:nvPr>
        </p:nvSpPr>
        <p:spPr>
          <a:xfrm>
            <a:off x="323850" y="476250"/>
            <a:ext cx="7704138" cy="936625"/>
          </a:xfrm>
        </p:spPr>
        <p:txBody>
          <a:bodyPr/>
          <a:lstStyle/>
          <a:p>
            <a:pPr eaLnBrk="1" hangingPunct="1"/>
            <a:r>
              <a:rPr lang="zh-CN" altLang="en-US" b="1" smtClean="0">
                <a:solidFill>
                  <a:srgbClr val="000099"/>
                </a:solidFill>
                <a:latin typeface="Times New Roman" pitchFamily="18" charset="0"/>
                <a:ea typeface="华文新魏" pitchFamily="2" charset="-122"/>
              </a:rPr>
              <a:t>2</a:t>
            </a:r>
            <a:r>
              <a:rPr lang="en-US" altLang="zh-CN" b="1" smtClean="0">
                <a:solidFill>
                  <a:srgbClr val="000099"/>
                </a:solidFill>
                <a:latin typeface="Times New Roman" pitchFamily="18" charset="0"/>
                <a:ea typeface="华文新魏" pitchFamily="2" charset="-122"/>
              </a:rPr>
              <a:t>. </a:t>
            </a:r>
            <a:r>
              <a:rPr lang="zh-CN" altLang="en-US" b="1" smtClean="0">
                <a:solidFill>
                  <a:srgbClr val="000099"/>
                </a:solidFill>
                <a:latin typeface="Times New Roman" pitchFamily="18" charset="0"/>
                <a:ea typeface="华文新魏" pitchFamily="2" charset="-122"/>
              </a:rPr>
              <a:t>相关问题</a:t>
            </a:r>
            <a:r>
              <a:rPr lang="en-US" altLang="zh-CN" sz="2400" b="1" smtClean="0">
                <a:solidFill>
                  <a:srgbClr val="000099"/>
                </a:solidFill>
                <a:latin typeface="Times New Roman" pitchFamily="18" charset="0"/>
                <a:ea typeface="华文新魏" pitchFamily="2" charset="-122"/>
              </a:rPr>
              <a:t>——</a:t>
            </a:r>
            <a:r>
              <a:rPr lang="zh-CN" altLang="en-US" sz="2400" b="1" smtClean="0">
                <a:solidFill>
                  <a:srgbClr val="000099"/>
                </a:solidFill>
                <a:latin typeface="Times New Roman" pitchFamily="18" charset="0"/>
                <a:ea typeface="华文新魏" pitchFamily="2" charset="-122"/>
              </a:rPr>
              <a:t>带标记缓冲</a:t>
            </a:r>
            <a:endParaRPr lang="zh-CN" altLang="en-US" b="1" smtClean="0">
              <a:solidFill>
                <a:srgbClr val="000099"/>
              </a:solidFill>
              <a:latin typeface="Times New Roman" pitchFamily="18" charset="0"/>
              <a:ea typeface="华文新魏" pitchFamily="2" charset="-122"/>
            </a:endParaRPr>
          </a:p>
        </p:txBody>
      </p:sp>
      <p:sp>
        <p:nvSpPr>
          <p:cNvPr id="454660" name="Text Box 4"/>
          <p:cNvSpPr txBox="1">
            <a:spLocks noChangeArrowheads="1"/>
          </p:cNvSpPr>
          <p:nvPr/>
        </p:nvSpPr>
        <p:spPr bwMode="auto">
          <a:xfrm>
            <a:off x="682625" y="2924175"/>
            <a:ext cx="7921625" cy="35179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r>
              <a:rPr lang="en-US" altLang="zh-CN" sz="2800" b="1" i="1">
                <a:latin typeface="Times New Roman" pitchFamily="18" charset="0"/>
                <a:ea typeface="华文新魏" pitchFamily="2" charset="-122"/>
                <a:cs typeface="Times New Roman" pitchFamily="18" charset="0"/>
              </a:rPr>
              <a:t>forward</a:t>
            </a:r>
            <a:r>
              <a:rPr lang="en-US" altLang="zh-CN" sz="2800" b="1">
                <a:latin typeface="Times New Roman" pitchFamily="18" charset="0"/>
                <a:ea typeface="华文新魏" pitchFamily="2" charset="-122"/>
                <a:cs typeface="Times New Roman" pitchFamily="18" charset="0"/>
              </a:rPr>
              <a:t> := </a:t>
            </a:r>
            <a:r>
              <a:rPr lang="en-US" altLang="zh-CN" sz="2800" b="1" i="1">
                <a:latin typeface="Times New Roman" pitchFamily="18" charset="0"/>
                <a:ea typeface="华文新魏" pitchFamily="2" charset="-122"/>
                <a:cs typeface="Times New Roman" pitchFamily="18" charset="0"/>
              </a:rPr>
              <a:t>forward</a:t>
            </a:r>
            <a:r>
              <a:rPr lang="en-US" altLang="zh-CN" sz="2800" b="1">
                <a:latin typeface="Times New Roman" pitchFamily="18" charset="0"/>
                <a:ea typeface="华文新魏" pitchFamily="2" charset="-122"/>
                <a:cs typeface="Times New Roman" pitchFamily="18" charset="0"/>
              </a:rPr>
              <a:t> + 1;</a:t>
            </a:r>
          </a:p>
          <a:p>
            <a:pPr algn="just" eaLnBrk="1" hangingPunct="1"/>
            <a:r>
              <a:rPr lang="en-US" altLang="zh-CN" sz="2800" b="1">
                <a:latin typeface="Times New Roman" pitchFamily="18" charset="0"/>
                <a:ea typeface="华文新魏" pitchFamily="2" charset="-122"/>
                <a:cs typeface="Times New Roman" pitchFamily="18" charset="0"/>
              </a:rPr>
              <a:t>if  </a:t>
            </a:r>
            <a:r>
              <a:rPr lang="en-US" altLang="zh-CN" sz="2800" b="1" i="1">
                <a:solidFill>
                  <a:srgbClr val="000099"/>
                </a:solidFill>
                <a:latin typeface="Times New Roman" pitchFamily="18" charset="0"/>
                <a:ea typeface="华文新魏" pitchFamily="2" charset="-122"/>
                <a:cs typeface="Times New Roman" pitchFamily="18" charset="0"/>
              </a:rPr>
              <a:t>forward</a:t>
            </a:r>
            <a:r>
              <a:rPr lang="en-US" altLang="zh-CN" sz="2800" b="1">
                <a:solidFill>
                  <a:srgbClr val="000099"/>
                </a:solidFill>
                <a:latin typeface="Times New Roman" pitchFamily="18" charset="0"/>
                <a:ea typeface="华文新魏" pitchFamily="2" charset="-122"/>
                <a:cs typeface="Times New Roman" pitchFamily="18" charset="0"/>
              </a:rPr>
              <a:t>= eof</a:t>
            </a:r>
            <a:r>
              <a:rPr lang="en-US" altLang="zh-CN" sz="2800" b="1">
                <a:latin typeface="Times New Roman" pitchFamily="18" charset="0"/>
                <a:ea typeface="华文新魏" pitchFamily="2" charset="-122"/>
                <a:cs typeface="Times New Roman" pitchFamily="18" charset="0"/>
              </a:rPr>
              <a:t>  then </a:t>
            </a:r>
          </a:p>
          <a:p>
            <a:pPr algn="just" eaLnBrk="1" hangingPunct="1"/>
            <a:r>
              <a:rPr lang="en-US" altLang="zh-CN" sz="2800" b="1">
                <a:latin typeface="Times New Roman" pitchFamily="18" charset="0"/>
                <a:ea typeface="华文新魏" pitchFamily="2" charset="-122"/>
                <a:cs typeface="Times New Roman" pitchFamily="18" charset="0"/>
              </a:rPr>
              <a:t>       if</a:t>
            </a:r>
            <a:r>
              <a:rPr lang="en-US" altLang="zh-CN" sz="2800" b="1" i="1">
                <a:latin typeface="Times New Roman" pitchFamily="18" charset="0"/>
                <a:ea typeface="华文新魏" pitchFamily="2" charset="-122"/>
                <a:cs typeface="Times New Roman" pitchFamily="18" charset="0"/>
              </a:rPr>
              <a:t>  forward</a:t>
            </a:r>
            <a:r>
              <a:rPr lang="zh-CN" altLang="en-US" sz="2800" b="1">
                <a:latin typeface="Times New Roman" pitchFamily="18" charset="0"/>
                <a:ea typeface="华文新魏" pitchFamily="2" charset="-122"/>
                <a:cs typeface="Times New Roman" pitchFamily="18" charset="0"/>
              </a:rPr>
              <a:t>在缓冲区</a:t>
            </a:r>
            <a:r>
              <a:rPr lang="en-US" altLang="zh-CN" sz="2800" b="1">
                <a:latin typeface="Times New Roman" pitchFamily="18" charset="0"/>
                <a:ea typeface="华文新魏" pitchFamily="2" charset="-122"/>
                <a:cs typeface="Times New Roman" pitchFamily="18" charset="0"/>
              </a:rPr>
              <a:t>1</a:t>
            </a:r>
            <a:r>
              <a:rPr lang="zh-CN" altLang="en-US" sz="2800" b="1">
                <a:latin typeface="Times New Roman" pitchFamily="18" charset="0"/>
                <a:ea typeface="华文新魏" pitchFamily="2" charset="-122"/>
                <a:cs typeface="Times New Roman" pitchFamily="18" charset="0"/>
              </a:rPr>
              <a:t>末尾 </a:t>
            </a:r>
            <a:r>
              <a:rPr lang="en-US" altLang="zh-CN" sz="2800" b="1">
                <a:latin typeface="Times New Roman" pitchFamily="18" charset="0"/>
                <a:ea typeface="华文新魏" pitchFamily="2" charset="-122"/>
                <a:cs typeface="Times New Roman" pitchFamily="18" charset="0"/>
              </a:rPr>
              <a:t>then  </a:t>
            </a:r>
            <a:r>
              <a:rPr lang="zh-CN" altLang="en-US" sz="2800" b="1">
                <a:latin typeface="Times New Roman" pitchFamily="18" charset="0"/>
                <a:ea typeface="华文新魏" pitchFamily="2" charset="-122"/>
                <a:cs typeface="Times New Roman" pitchFamily="18" charset="0"/>
              </a:rPr>
              <a:t>重装缓冲区</a:t>
            </a:r>
            <a:r>
              <a:rPr lang="en-US" altLang="zh-CN" sz="2800" b="1">
                <a:latin typeface="Times New Roman" pitchFamily="18" charset="0"/>
                <a:ea typeface="华文新魏" pitchFamily="2" charset="-122"/>
                <a:cs typeface="Times New Roman" pitchFamily="18" charset="0"/>
              </a:rPr>
              <a:t>2</a:t>
            </a:r>
          </a:p>
          <a:p>
            <a:pPr algn="just" eaLnBrk="1" hangingPunct="1"/>
            <a:r>
              <a:rPr lang="en-US" altLang="zh-CN" sz="2800" b="1">
                <a:latin typeface="Times New Roman" pitchFamily="18" charset="0"/>
                <a:ea typeface="华文新魏" pitchFamily="2" charset="-122"/>
                <a:cs typeface="Times New Roman" pitchFamily="18" charset="0"/>
              </a:rPr>
              <a:t>      else if  </a:t>
            </a:r>
            <a:r>
              <a:rPr lang="en-US" altLang="zh-CN" sz="2800" b="1" i="1">
                <a:latin typeface="Times New Roman" pitchFamily="18" charset="0"/>
                <a:ea typeface="华文新魏" pitchFamily="2" charset="-122"/>
                <a:cs typeface="Times New Roman" pitchFamily="18" charset="0"/>
              </a:rPr>
              <a:t>forward</a:t>
            </a:r>
            <a:r>
              <a:rPr lang="zh-CN" altLang="en-US" sz="2800" b="1">
                <a:latin typeface="Times New Roman" pitchFamily="18" charset="0"/>
                <a:ea typeface="华文新魏" pitchFamily="2" charset="-122"/>
                <a:cs typeface="Times New Roman" pitchFamily="18" charset="0"/>
              </a:rPr>
              <a:t>在缓冲区</a:t>
            </a:r>
            <a:r>
              <a:rPr lang="en-US" altLang="zh-CN" sz="2800" b="1">
                <a:latin typeface="Times New Roman" pitchFamily="18" charset="0"/>
                <a:ea typeface="华文新魏" pitchFamily="2" charset="-122"/>
                <a:cs typeface="Times New Roman" pitchFamily="18" charset="0"/>
              </a:rPr>
              <a:t>2</a:t>
            </a:r>
            <a:r>
              <a:rPr lang="zh-CN" altLang="en-US" sz="2800" b="1">
                <a:latin typeface="Times New Roman" pitchFamily="18" charset="0"/>
                <a:ea typeface="华文新魏" pitchFamily="2" charset="-122"/>
                <a:cs typeface="Times New Roman" pitchFamily="18" charset="0"/>
              </a:rPr>
              <a:t>末尾 </a:t>
            </a:r>
            <a:r>
              <a:rPr lang="en-US" altLang="zh-CN" sz="2800" b="1">
                <a:latin typeface="Times New Roman" pitchFamily="18" charset="0"/>
                <a:ea typeface="华文新魏" pitchFamily="2" charset="-122"/>
                <a:cs typeface="Times New Roman" pitchFamily="18" charset="0"/>
              </a:rPr>
              <a:t>then</a:t>
            </a:r>
          </a:p>
          <a:p>
            <a:pPr algn="just" eaLnBrk="1" hangingPunct="1"/>
            <a:r>
              <a:rPr lang="en-US" altLang="zh-CN" sz="2800" b="1">
                <a:latin typeface="Times New Roman" pitchFamily="18" charset="0"/>
                <a:ea typeface="华文新魏" pitchFamily="2" charset="-122"/>
                <a:cs typeface="Times New Roman" pitchFamily="18" charset="0"/>
              </a:rPr>
              <a:t>	begin   </a:t>
            </a:r>
            <a:r>
              <a:rPr lang="zh-CN" altLang="en-US" sz="2800" b="1">
                <a:latin typeface="Times New Roman" pitchFamily="18" charset="0"/>
                <a:ea typeface="华文新魏" pitchFamily="2" charset="-122"/>
                <a:cs typeface="Times New Roman" pitchFamily="18" charset="0"/>
              </a:rPr>
              <a:t>重装缓冲区</a:t>
            </a:r>
            <a:r>
              <a:rPr lang="en-US" altLang="zh-CN" sz="2800" b="1">
                <a:latin typeface="Times New Roman" pitchFamily="18" charset="0"/>
                <a:ea typeface="华文新魏" pitchFamily="2" charset="-122"/>
                <a:cs typeface="Times New Roman" pitchFamily="18" charset="0"/>
              </a:rPr>
              <a:t>1;</a:t>
            </a:r>
          </a:p>
          <a:p>
            <a:pPr algn="just" eaLnBrk="1" hangingPunct="1"/>
            <a:r>
              <a:rPr lang="zh-CN" altLang="en-US" sz="2800" b="1">
                <a:latin typeface="Times New Roman" pitchFamily="18" charset="0"/>
                <a:ea typeface="华文新魏" pitchFamily="2" charset="-122"/>
                <a:cs typeface="Times New Roman" pitchFamily="18" charset="0"/>
              </a:rPr>
              <a:t>                        将</a:t>
            </a:r>
            <a:r>
              <a:rPr lang="en-US" altLang="zh-CN" sz="2800" b="1" i="1">
                <a:latin typeface="Times New Roman" pitchFamily="18" charset="0"/>
                <a:ea typeface="华文新魏" pitchFamily="2" charset="-122"/>
                <a:cs typeface="Times New Roman" pitchFamily="18" charset="0"/>
              </a:rPr>
              <a:t>forward</a:t>
            </a:r>
            <a:r>
              <a:rPr lang="en-US" altLang="zh-CN" sz="2800" b="1">
                <a:latin typeface="Times New Roman" pitchFamily="18" charset="0"/>
                <a:ea typeface="华文新魏" pitchFamily="2" charset="-122"/>
                <a:cs typeface="Times New Roman" pitchFamily="18" charset="0"/>
              </a:rPr>
              <a:t> </a:t>
            </a:r>
            <a:r>
              <a:rPr lang="zh-CN" altLang="en-US" sz="2800" b="1">
                <a:latin typeface="Times New Roman" pitchFamily="18" charset="0"/>
                <a:ea typeface="华文新魏" pitchFamily="2" charset="-122"/>
                <a:cs typeface="Times New Roman" pitchFamily="18" charset="0"/>
              </a:rPr>
              <a:t>移到缓冲区</a:t>
            </a:r>
            <a:r>
              <a:rPr lang="en-US" altLang="zh-CN" sz="2800" b="1">
                <a:latin typeface="Times New Roman" pitchFamily="18" charset="0"/>
                <a:ea typeface="华文新魏" pitchFamily="2" charset="-122"/>
                <a:cs typeface="Times New Roman" pitchFamily="18" charset="0"/>
              </a:rPr>
              <a:t>1</a:t>
            </a:r>
            <a:r>
              <a:rPr lang="zh-CN" altLang="en-US" sz="2800" b="1">
                <a:latin typeface="Times New Roman" pitchFamily="18" charset="0"/>
                <a:ea typeface="华文新魏" pitchFamily="2" charset="-122"/>
                <a:cs typeface="Times New Roman" pitchFamily="18" charset="0"/>
              </a:rPr>
              <a:t>开始</a:t>
            </a:r>
          </a:p>
          <a:p>
            <a:pPr algn="just" eaLnBrk="1" hangingPunct="1"/>
            <a:r>
              <a:rPr lang="en-US" altLang="zh-CN" sz="2800" b="1">
                <a:latin typeface="Times New Roman" pitchFamily="18" charset="0"/>
                <a:ea typeface="华文新魏" pitchFamily="2" charset="-122"/>
                <a:cs typeface="Times New Roman" pitchFamily="18" charset="0"/>
              </a:rPr>
              <a:t>           end</a:t>
            </a:r>
          </a:p>
          <a:p>
            <a:pPr algn="just" eaLnBrk="1" hangingPunct="1"/>
            <a:r>
              <a:rPr lang="en-US" altLang="zh-CN" sz="2800" b="1">
                <a:latin typeface="Times New Roman" pitchFamily="18" charset="0"/>
                <a:ea typeface="华文新魏" pitchFamily="2" charset="-122"/>
                <a:cs typeface="Times New Roman" pitchFamily="18" charset="0"/>
              </a:rPr>
              <a:t>   else</a:t>
            </a:r>
            <a:r>
              <a:rPr lang="zh-CN" altLang="en-US" sz="2800" b="1">
                <a:latin typeface="Times New Roman" pitchFamily="18" charset="0"/>
                <a:ea typeface="华文新魏" pitchFamily="2" charset="-122"/>
                <a:cs typeface="Times New Roman" pitchFamily="18" charset="0"/>
              </a:rPr>
              <a:t>终止词法分析</a:t>
            </a:r>
          </a:p>
        </p:txBody>
      </p:sp>
      <p:graphicFrame>
        <p:nvGraphicFramePr>
          <p:cNvPr id="454814" name="Group 158"/>
          <p:cNvGraphicFramePr>
            <a:graphicFrameLocks noGrp="1"/>
          </p:cNvGraphicFramePr>
          <p:nvPr/>
        </p:nvGraphicFramePr>
        <p:xfrm>
          <a:off x="323850" y="1557338"/>
          <a:ext cx="8640763" cy="457200"/>
        </p:xfrm>
        <a:graphic>
          <a:graphicData uri="http://schemas.openxmlformats.org/drawingml/2006/table">
            <a:tbl>
              <a:tblPr/>
              <a:tblGrid>
                <a:gridCol w="427038">
                  <a:extLst>
                    <a:ext uri="{9D8B030D-6E8A-4147-A177-3AD203B41FA5}">
                      <a16:colId xmlns:a16="http://schemas.microsoft.com/office/drawing/2014/main" val="20000"/>
                    </a:ext>
                  </a:extLst>
                </a:gridCol>
                <a:gridCol w="427037">
                  <a:extLst>
                    <a:ext uri="{9D8B030D-6E8A-4147-A177-3AD203B41FA5}">
                      <a16:colId xmlns:a16="http://schemas.microsoft.com/office/drawing/2014/main" val="20001"/>
                    </a:ext>
                  </a:extLst>
                </a:gridCol>
                <a:gridCol w="427038">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gridCol w="427038">
                  <a:extLst>
                    <a:ext uri="{9D8B030D-6E8A-4147-A177-3AD203B41FA5}">
                      <a16:colId xmlns:a16="http://schemas.microsoft.com/office/drawing/2014/main" val="20004"/>
                    </a:ext>
                  </a:extLst>
                </a:gridCol>
                <a:gridCol w="427037">
                  <a:extLst>
                    <a:ext uri="{9D8B030D-6E8A-4147-A177-3AD203B41FA5}">
                      <a16:colId xmlns:a16="http://schemas.microsoft.com/office/drawing/2014/main" val="20005"/>
                    </a:ext>
                  </a:extLst>
                </a:gridCol>
                <a:gridCol w="427038">
                  <a:extLst>
                    <a:ext uri="{9D8B030D-6E8A-4147-A177-3AD203B41FA5}">
                      <a16:colId xmlns:a16="http://schemas.microsoft.com/office/drawing/2014/main" val="20006"/>
                    </a:ext>
                  </a:extLst>
                </a:gridCol>
                <a:gridCol w="427037">
                  <a:extLst>
                    <a:ext uri="{9D8B030D-6E8A-4147-A177-3AD203B41FA5}">
                      <a16:colId xmlns:a16="http://schemas.microsoft.com/office/drawing/2014/main" val="20007"/>
                    </a:ext>
                  </a:extLst>
                </a:gridCol>
                <a:gridCol w="327025">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427038">
                  <a:extLst>
                    <a:ext uri="{9D8B030D-6E8A-4147-A177-3AD203B41FA5}">
                      <a16:colId xmlns:a16="http://schemas.microsoft.com/office/drawing/2014/main" val="20010"/>
                    </a:ext>
                  </a:extLst>
                </a:gridCol>
                <a:gridCol w="427037">
                  <a:extLst>
                    <a:ext uri="{9D8B030D-6E8A-4147-A177-3AD203B41FA5}">
                      <a16:colId xmlns:a16="http://schemas.microsoft.com/office/drawing/2014/main" val="20011"/>
                    </a:ext>
                  </a:extLst>
                </a:gridCol>
                <a:gridCol w="427038">
                  <a:extLst>
                    <a:ext uri="{9D8B030D-6E8A-4147-A177-3AD203B41FA5}">
                      <a16:colId xmlns:a16="http://schemas.microsoft.com/office/drawing/2014/main" val="20012"/>
                    </a:ext>
                  </a:extLst>
                </a:gridCol>
                <a:gridCol w="427037">
                  <a:extLst>
                    <a:ext uri="{9D8B030D-6E8A-4147-A177-3AD203B41FA5}">
                      <a16:colId xmlns:a16="http://schemas.microsoft.com/office/drawing/2014/main" val="20013"/>
                    </a:ext>
                  </a:extLst>
                </a:gridCol>
                <a:gridCol w="427038">
                  <a:extLst>
                    <a:ext uri="{9D8B030D-6E8A-4147-A177-3AD203B41FA5}">
                      <a16:colId xmlns:a16="http://schemas.microsoft.com/office/drawing/2014/main" val="20014"/>
                    </a:ext>
                  </a:extLst>
                </a:gridCol>
                <a:gridCol w="363537">
                  <a:extLst>
                    <a:ext uri="{9D8B030D-6E8A-4147-A177-3AD203B41FA5}">
                      <a16:colId xmlns:a16="http://schemas.microsoft.com/office/drawing/2014/main" val="20015"/>
                    </a:ext>
                  </a:extLst>
                </a:gridCol>
                <a:gridCol w="490538">
                  <a:extLst>
                    <a:ext uri="{9D8B030D-6E8A-4147-A177-3AD203B41FA5}">
                      <a16:colId xmlns:a16="http://schemas.microsoft.com/office/drawing/2014/main" val="20016"/>
                    </a:ext>
                  </a:extLst>
                </a:gridCol>
                <a:gridCol w="427037">
                  <a:extLst>
                    <a:ext uri="{9D8B030D-6E8A-4147-A177-3AD203B41FA5}">
                      <a16:colId xmlns:a16="http://schemas.microsoft.com/office/drawing/2014/main" val="20017"/>
                    </a:ext>
                  </a:extLst>
                </a:gridCol>
                <a:gridCol w="427038">
                  <a:extLst>
                    <a:ext uri="{9D8B030D-6E8A-4147-A177-3AD203B41FA5}">
                      <a16:colId xmlns:a16="http://schemas.microsoft.com/office/drawing/2014/main" val="20018"/>
                    </a:ext>
                  </a:extLst>
                </a:gridCol>
                <a:gridCol w="527050">
                  <a:extLst>
                    <a:ext uri="{9D8B030D-6E8A-4147-A177-3AD203B41FA5}">
                      <a16:colId xmlns:a16="http://schemas.microsoft.com/office/drawing/2014/main" val="20019"/>
                    </a:ext>
                  </a:extLst>
                </a:gridCol>
              </a:tblGrid>
              <a:tr h="3714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eof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U</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eof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eof</a:t>
                      </a: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8481" name="Group 57"/>
          <p:cNvGrpSpPr>
            <a:grpSpLocks/>
          </p:cNvGrpSpPr>
          <p:nvPr/>
        </p:nvGrpSpPr>
        <p:grpSpPr bwMode="auto">
          <a:xfrm>
            <a:off x="2700338" y="1989138"/>
            <a:ext cx="1223962" cy="863600"/>
            <a:chOff x="2154" y="1389"/>
            <a:chExt cx="771" cy="544"/>
          </a:xfrm>
        </p:grpSpPr>
        <p:sp>
          <p:nvSpPr>
            <p:cNvPr id="18486" name="Line 58"/>
            <p:cNvSpPr>
              <a:spLocks noChangeShapeType="1"/>
            </p:cNvSpPr>
            <p:nvPr/>
          </p:nvSpPr>
          <p:spPr bwMode="auto">
            <a:xfrm flipV="1">
              <a:off x="2925" y="1389"/>
              <a:ext cx="0" cy="5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7" name="Text Box 59"/>
            <p:cNvSpPr txBox="1">
              <a:spLocks noChangeArrowheads="1"/>
            </p:cNvSpPr>
            <p:nvPr/>
          </p:nvSpPr>
          <p:spPr bwMode="auto">
            <a:xfrm>
              <a:off x="2154" y="1661"/>
              <a:ext cx="7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000" b="1">
                  <a:ea typeface="华文新魏" pitchFamily="2" charset="-122"/>
                </a:rPr>
                <a:t>单词开始</a:t>
              </a:r>
            </a:p>
          </p:txBody>
        </p:sp>
      </p:grpSp>
      <p:grpSp>
        <p:nvGrpSpPr>
          <p:cNvPr id="18482" name="Group 60"/>
          <p:cNvGrpSpPr>
            <a:grpSpLocks/>
          </p:cNvGrpSpPr>
          <p:nvPr/>
        </p:nvGrpSpPr>
        <p:grpSpPr bwMode="auto">
          <a:xfrm>
            <a:off x="5653088" y="1989138"/>
            <a:ext cx="1223962" cy="900112"/>
            <a:chOff x="3515" y="1389"/>
            <a:chExt cx="771" cy="567"/>
          </a:xfrm>
        </p:grpSpPr>
        <p:sp>
          <p:nvSpPr>
            <p:cNvPr id="18484" name="Line 61"/>
            <p:cNvSpPr>
              <a:spLocks noChangeShapeType="1"/>
            </p:cNvSpPr>
            <p:nvPr/>
          </p:nvSpPr>
          <p:spPr bwMode="auto">
            <a:xfrm flipV="1">
              <a:off x="3515" y="1389"/>
              <a:ext cx="0" cy="5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5" name="Text Box 62"/>
            <p:cNvSpPr txBox="1">
              <a:spLocks noChangeArrowheads="1"/>
            </p:cNvSpPr>
            <p:nvPr/>
          </p:nvSpPr>
          <p:spPr bwMode="auto">
            <a:xfrm>
              <a:off x="3515" y="1706"/>
              <a:ext cx="7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000" b="1">
                  <a:ea typeface="华文新魏" pitchFamily="2" charset="-122"/>
                </a:rPr>
                <a:t>向前指针</a:t>
              </a:r>
            </a:p>
          </p:txBody>
        </p:sp>
      </p:grpSp>
      <p:sp>
        <p:nvSpPr>
          <p:cNvPr id="18483" name="Line 63"/>
          <p:cNvSpPr>
            <a:spLocks noChangeShapeType="1"/>
          </p:cNvSpPr>
          <p:nvPr/>
        </p:nvSpPr>
        <p:spPr bwMode="auto">
          <a:xfrm>
            <a:off x="4572000" y="1557338"/>
            <a:ext cx="0" cy="431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36E897E-F0BF-4B91-9577-CE9ECE85F97A}" type="slidenum">
              <a:rPr lang="zh-CN" altLang="en-US"/>
              <a:pPr eaLnBrk="1" hangingPunct="1"/>
              <a:t>14</a:t>
            </a:fld>
            <a:endParaRPr lang="en-US" altLang="zh-CN"/>
          </a:p>
        </p:txBody>
      </p:sp>
      <p:sp>
        <p:nvSpPr>
          <p:cNvPr id="19459" name="Rectangle 2"/>
          <p:cNvSpPr>
            <a:spLocks noGrp="1" noRot="1" noChangeArrowheads="1"/>
          </p:cNvSpPr>
          <p:nvPr>
            <p:ph type="title"/>
          </p:nvPr>
        </p:nvSpPr>
        <p:spPr>
          <a:xfrm>
            <a:off x="323850" y="476250"/>
            <a:ext cx="7488238" cy="655638"/>
          </a:xfrm>
        </p:spPr>
        <p:txBody>
          <a:bodyPr/>
          <a:lstStyle/>
          <a:p>
            <a:pPr eaLnBrk="1" hangingPunct="1"/>
            <a:r>
              <a:rPr lang="zh-CN" altLang="en-US" b="1" smtClean="0">
                <a:solidFill>
                  <a:srgbClr val="000099"/>
                </a:solidFill>
                <a:latin typeface="Times New Roman" pitchFamily="18" charset="0"/>
                <a:ea typeface="华文新魏" pitchFamily="2" charset="-122"/>
              </a:rPr>
              <a:t>2</a:t>
            </a:r>
            <a:r>
              <a:rPr lang="en-US" altLang="zh-CN" b="1" smtClean="0">
                <a:solidFill>
                  <a:srgbClr val="000099"/>
                </a:solidFill>
                <a:latin typeface="Times New Roman" pitchFamily="18" charset="0"/>
                <a:ea typeface="华文新魏" pitchFamily="2" charset="-122"/>
              </a:rPr>
              <a:t>. </a:t>
            </a:r>
            <a:r>
              <a:rPr lang="zh-CN" altLang="en-US" b="1" smtClean="0">
                <a:solidFill>
                  <a:srgbClr val="000099"/>
                </a:solidFill>
                <a:latin typeface="Times New Roman" pitchFamily="18" charset="0"/>
                <a:ea typeface="华文新魏" pitchFamily="2" charset="-122"/>
              </a:rPr>
              <a:t>相关问题</a:t>
            </a:r>
            <a:r>
              <a:rPr lang="en-US" altLang="zh-CN" sz="2400" b="1" smtClean="0">
                <a:solidFill>
                  <a:srgbClr val="000099"/>
                </a:solidFill>
                <a:latin typeface="Times New Roman" pitchFamily="18" charset="0"/>
                <a:ea typeface="华文新魏" pitchFamily="2" charset="-122"/>
              </a:rPr>
              <a:t>——</a:t>
            </a:r>
            <a:r>
              <a:rPr lang="zh-CN" altLang="en-US" sz="2400" b="1" smtClean="0">
                <a:solidFill>
                  <a:srgbClr val="000099"/>
                </a:solidFill>
                <a:latin typeface="Times New Roman" pitchFamily="18" charset="0"/>
                <a:ea typeface="华文新魏" pitchFamily="2" charset="-122"/>
              </a:rPr>
              <a:t>缓冲区的大小</a:t>
            </a:r>
          </a:p>
        </p:txBody>
      </p:sp>
      <p:sp>
        <p:nvSpPr>
          <p:cNvPr id="455683" name="Rectangle 3"/>
          <p:cNvSpPr>
            <a:spLocks noChangeArrowheads="1"/>
          </p:cNvSpPr>
          <p:nvPr/>
        </p:nvSpPr>
        <p:spPr bwMode="auto">
          <a:xfrm>
            <a:off x="684213" y="1628775"/>
            <a:ext cx="7993062" cy="4032250"/>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Char char="n"/>
              <a:defRPr/>
            </a:pPr>
            <a:r>
              <a:rPr kumimoji="1" lang="zh-CN" altLang="en-US" sz="3200" b="1">
                <a:effectLst>
                  <a:outerShdw blurRad="38100" dist="38100" dir="2700000" algn="tl">
                    <a:srgbClr val="C0C0C0"/>
                  </a:outerShdw>
                </a:effectLst>
                <a:latin typeface="Times New Roman" pitchFamily="18" charset="0"/>
                <a:ea typeface="华文新魏" pitchFamily="2" charset="-122"/>
              </a:rPr>
              <a:t>128</a:t>
            </a:r>
            <a:r>
              <a:rPr kumimoji="1" lang="en-US" altLang="zh-CN" sz="3200" b="1">
                <a:effectLst>
                  <a:outerShdw blurRad="38100" dist="38100" dir="2700000" algn="tl">
                    <a:srgbClr val="C0C0C0"/>
                  </a:outerShdw>
                </a:effectLst>
                <a:latin typeface="Times New Roman" pitchFamily="18" charset="0"/>
                <a:ea typeface="华文新魏" pitchFamily="2" charset="-122"/>
              </a:rPr>
              <a:t>Byte*2</a:t>
            </a:r>
          </a:p>
          <a:p>
            <a:pPr marL="342900" indent="-342900" eaLnBrk="0" hangingPunct="0">
              <a:spcBef>
                <a:spcPct val="20000"/>
              </a:spcBef>
              <a:buClr>
                <a:schemeClr val="tx2"/>
              </a:buClr>
              <a:buSzPct val="75000"/>
              <a:buFont typeface="Monotype Sorts" pitchFamily="2" charset="2"/>
              <a:buChar char="n"/>
              <a:defRPr/>
            </a:pPr>
            <a:r>
              <a:rPr kumimoji="1" lang="en-US" altLang="zh-CN" sz="3200" b="1">
                <a:effectLst>
                  <a:outerShdw blurRad="38100" dist="38100" dir="2700000" algn="tl">
                    <a:srgbClr val="C0C0C0"/>
                  </a:outerShdw>
                </a:effectLst>
                <a:latin typeface="Times New Roman" pitchFamily="18" charset="0"/>
                <a:ea typeface="华文新魏" pitchFamily="2" charset="-122"/>
              </a:rPr>
              <a:t>512Byte*2</a:t>
            </a:r>
          </a:p>
          <a:p>
            <a:pPr marL="342900" indent="-342900" eaLnBrk="0" hangingPunct="0">
              <a:spcBef>
                <a:spcPct val="20000"/>
              </a:spcBef>
              <a:buClr>
                <a:schemeClr val="tx2"/>
              </a:buClr>
              <a:buSzPct val="75000"/>
              <a:buFont typeface="Monotype Sorts" pitchFamily="2" charset="2"/>
              <a:buChar char="n"/>
              <a:defRPr/>
            </a:pPr>
            <a:r>
              <a:rPr kumimoji="1" lang="en-US" altLang="zh-CN" sz="3200" b="1">
                <a:effectLst>
                  <a:outerShdw blurRad="38100" dist="38100" dir="2700000" algn="tl">
                    <a:srgbClr val="C0C0C0"/>
                  </a:outerShdw>
                </a:effectLst>
                <a:latin typeface="Times New Roman" pitchFamily="18" charset="0"/>
                <a:ea typeface="华文新魏" pitchFamily="2" charset="-122"/>
              </a:rPr>
              <a:t>1024Byte*2</a:t>
            </a:r>
            <a:endParaRPr kumimoji="1" lang="zh-CN" altLang="en-US" sz="3200" b="1">
              <a:effectLst>
                <a:outerShdw blurRad="38100" dist="38100" dir="2700000" algn="tl">
                  <a:srgbClr val="C0C0C0"/>
                </a:outerShdw>
              </a:effectLst>
              <a:latin typeface="Times New Roman" pitchFamily="18" charset="0"/>
              <a:ea typeface="华文新魏" pitchFamily="2" charset="-122"/>
            </a:endParaRPr>
          </a:p>
          <a:p>
            <a:pPr marL="342900" indent="-342900" eaLnBrk="0" hangingPunct="0">
              <a:spcBef>
                <a:spcPct val="20000"/>
              </a:spcBef>
              <a:buClr>
                <a:schemeClr val="tx2"/>
              </a:buClr>
              <a:buSzPct val="75000"/>
              <a:buFont typeface="Monotype Sorts" pitchFamily="2" charset="2"/>
              <a:buChar char="n"/>
              <a:defRPr/>
            </a:pPr>
            <a:r>
              <a:rPr kumimoji="1" lang="en-US" altLang="zh-CN" sz="3200" b="1">
                <a:effectLst>
                  <a:outerShdw blurRad="38100" dist="38100" dir="2700000" algn="tl">
                    <a:srgbClr val="C0C0C0"/>
                  </a:outerShdw>
                </a:effectLst>
                <a:latin typeface="Times New Roman" pitchFamily="18" charset="0"/>
                <a:ea typeface="华文新魏" pitchFamily="2" charset="-122"/>
              </a:rPr>
              <a:t>4096Byte*2</a:t>
            </a:r>
          </a:p>
          <a:p>
            <a:pPr marL="342900" indent="-342900" eaLnBrk="0" hangingPunct="0">
              <a:spcBef>
                <a:spcPct val="20000"/>
              </a:spcBef>
              <a:buClr>
                <a:schemeClr val="tx2"/>
              </a:buClr>
              <a:buSzPct val="75000"/>
              <a:buFont typeface="Monotype Sorts" pitchFamily="2" charset="2"/>
              <a:buChar char="n"/>
              <a:defRPr/>
            </a:pPr>
            <a:endParaRPr kumimoji="1" lang="zh-CN" altLang="en-US" sz="3200" b="1">
              <a:effectLst>
                <a:outerShdw blurRad="38100" dist="38100" dir="2700000" algn="tl">
                  <a:srgbClr val="C0C0C0"/>
                </a:outerShdw>
              </a:effectLst>
              <a:latin typeface="Times New Roman" pitchFamily="18" charset="0"/>
              <a:ea typeface="华文新魏" pitchFamily="2" charset="-122"/>
            </a:endParaRPr>
          </a:p>
          <a:p>
            <a:pPr marL="342900" indent="-342900" eaLnBrk="0" hangingPunct="0">
              <a:spcBef>
                <a:spcPct val="20000"/>
              </a:spcBef>
              <a:buClr>
                <a:schemeClr val="tx2"/>
              </a:buClr>
              <a:buSzPct val="75000"/>
              <a:buFont typeface="Monotype Sorts" pitchFamily="2" charset="2"/>
              <a:buChar char="n"/>
              <a:defRPr/>
            </a:pPr>
            <a:r>
              <a:rPr kumimoji="1" lang="zh-CN" altLang="en-US" sz="3200" b="1">
                <a:effectLst>
                  <a:outerShdw blurRad="38100" dist="38100" dir="2700000" algn="tl">
                    <a:srgbClr val="C0C0C0"/>
                  </a:outerShdw>
                </a:effectLst>
                <a:latin typeface="Times New Roman" pitchFamily="18" charset="0"/>
                <a:ea typeface="华文新魏" pitchFamily="2" charset="-122"/>
              </a:rPr>
              <a:t>如何更有效地实现词法的描述？</a:t>
            </a:r>
            <a:endParaRPr kumimoji="1" lang="en-US" altLang="zh-CN" sz="3200" b="1">
              <a:effectLst>
                <a:outerShdw blurRad="38100" dist="38100" dir="2700000" algn="tl">
                  <a:srgbClr val="C0C0C0"/>
                </a:outerShdw>
              </a:effectLst>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D7092E8-16A3-4371-853E-2A06B05A3DFF}" type="slidenum">
              <a:rPr lang="zh-CN" altLang="en-US"/>
              <a:pPr eaLnBrk="1" hangingPunct="1"/>
              <a:t>15</a:t>
            </a:fld>
            <a:endParaRPr lang="en-US" altLang="zh-CN"/>
          </a:p>
        </p:txBody>
      </p:sp>
      <p:sp>
        <p:nvSpPr>
          <p:cNvPr id="456706" name="Rectangle 2"/>
          <p:cNvSpPr>
            <a:spLocks noGrp="1" noRot="1" noChangeArrowheads="1"/>
          </p:cNvSpPr>
          <p:nvPr>
            <p:ph type="title"/>
          </p:nvPr>
        </p:nvSpPr>
        <p:spPr>
          <a:xfrm>
            <a:off x="395288" y="476250"/>
            <a:ext cx="8353425" cy="1200150"/>
          </a:xfrm>
          <a:noFill/>
        </p:spPr>
        <p:txBody>
          <a:bodyPr lIns="92075" tIns="46038" rIns="92075" bIns="46038"/>
          <a:lstStyle/>
          <a:p>
            <a:pPr eaLnBrk="1" hangingPunct="1"/>
            <a:r>
              <a:rPr lang="zh-CN" altLang="en-US" sz="4800" b="1" smtClean="0">
                <a:solidFill>
                  <a:srgbClr val="000099"/>
                </a:solidFill>
                <a:latin typeface="Times New Roman" pitchFamily="18" charset="0"/>
                <a:ea typeface="华文新魏" pitchFamily="2" charset="-122"/>
              </a:rPr>
              <a:t>3.2  符号的正则表达式描述</a:t>
            </a:r>
          </a:p>
        </p:txBody>
      </p:sp>
      <p:sp>
        <p:nvSpPr>
          <p:cNvPr id="456707" name="Rectangle 3"/>
          <p:cNvSpPr>
            <a:spLocks noGrp="1" noRot="1" noChangeArrowheads="1"/>
          </p:cNvSpPr>
          <p:nvPr>
            <p:ph type="body" idx="1"/>
          </p:nvPr>
        </p:nvSpPr>
        <p:spPr>
          <a:xfrm>
            <a:off x="457200" y="1700213"/>
            <a:ext cx="8458200" cy="2305050"/>
          </a:xfrm>
          <a:noFill/>
        </p:spPr>
        <p:txBody>
          <a:bodyPr lIns="92075" tIns="46038" rIns="92075" bIns="46038"/>
          <a:lstStyle/>
          <a:p>
            <a:pPr eaLnBrk="1" hangingPunct="1">
              <a:lnSpc>
                <a:spcPct val="90000"/>
              </a:lnSpc>
            </a:pPr>
            <a:r>
              <a:rPr lang="zh-CN" altLang="en-US" b="1" smtClean="0">
                <a:latin typeface="Times New Roman" pitchFamily="18" charset="0"/>
                <a:ea typeface="华文新魏" pitchFamily="2" charset="-122"/>
              </a:rPr>
              <a:t>例：标识符的文法描述</a:t>
            </a:r>
          </a:p>
          <a:p>
            <a:pPr lvl="1" eaLnBrk="1" hangingPunct="1">
              <a:lnSpc>
                <a:spcPct val="90000"/>
              </a:lnSpc>
            </a:pPr>
            <a:r>
              <a:rPr lang="zh-CN" altLang="en-US" sz="3200" b="1" smtClean="0">
                <a:latin typeface="Times New Roman" pitchFamily="18" charset="0"/>
                <a:ea typeface="华文新魏" pitchFamily="2" charset="-122"/>
              </a:rPr>
              <a:t>约定：用</a:t>
            </a:r>
            <a:r>
              <a:rPr lang="en-US" altLang="zh-CN" sz="3200" b="1" smtClean="0">
                <a:latin typeface="Times New Roman" pitchFamily="18" charset="0"/>
                <a:ea typeface="华文新魏" pitchFamily="2" charset="-122"/>
              </a:rPr>
              <a:t>d</a:t>
            </a:r>
            <a:r>
              <a:rPr lang="zh-CN" altLang="en-US" sz="3200" b="1" smtClean="0">
                <a:latin typeface="Times New Roman" pitchFamily="18" charset="0"/>
                <a:ea typeface="华文新魏" pitchFamily="2" charset="-122"/>
              </a:rPr>
              <a:t>表示数字：0,1,2,…,9;</a:t>
            </a:r>
          </a:p>
          <a:p>
            <a:pPr lvl="1" eaLnBrk="1" hangingPunct="1">
              <a:lnSpc>
                <a:spcPct val="90000"/>
              </a:lnSpc>
              <a:buFont typeface="Wingdings" pitchFamily="2" charset="2"/>
              <a:buNone/>
            </a:pPr>
            <a:r>
              <a:rPr lang="zh-CN" altLang="en-US" sz="3200" b="1" smtClean="0">
                <a:latin typeface="Times New Roman" pitchFamily="18" charset="0"/>
                <a:ea typeface="华文新魏" pitchFamily="2" charset="-122"/>
              </a:rPr>
              <a:t>		     	  用</a:t>
            </a:r>
            <a:r>
              <a:rPr lang="en-US" altLang="zh-CN" sz="3200" b="1" smtClean="0">
                <a:latin typeface="Times New Roman" pitchFamily="18" charset="0"/>
                <a:ea typeface="华文新魏" pitchFamily="2" charset="-122"/>
              </a:rPr>
              <a:t>l</a:t>
            </a:r>
            <a:r>
              <a:rPr lang="zh-CN" altLang="en-US" sz="3200" b="1" smtClean="0">
                <a:latin typeface="Times New Roman" pitchFamily="18" charset="0"/>
                <a:ea typeface="华文新魏" pitchFamily="2" charset="-122"/>
              </a:rPr>
              <a:t>表示字母：</a:t>
            </a:r>
            <a:r>
              <a:rPr lang="en-US" altLang="zh-CN" sz="3200" b="1" smtClean="0">
                <a:latin typeface="Times New Roman" pitchFamily="18" charset="0"/>
                <a:ea typeface="华文新魏" pitchFamily="2" charset="-122"/>
              </a:rPr>
              <a:t>A,B,…,Z,a,b,…,z</a:t>
            </a:r>
          </a:p>
          <a:p>
            <a:pPr lvl="1" eaLnBrk="1" hangingPunct="1">
              <a:lnSpc>
                <a:spcPct val="90000"/>
              </a:lnSpc>
            </a:pPr>
            <a:r>
              <a:rPr lang="en-US" altLang="zh-CN" sz="3200" b="1" smtClean="0">
                <a:latin typeface="Times New Roman" pitchFamily="18" charset="0"/>
                <a:ea typeface="华文新魏" pitchFamily="2" charset="-122"/>
              </a:rPr>
              <a:t>G:</a:t>
            </a:r>
            <a:endParaRPr lang="zh-CN" altLang="en-US" sz="3200" b="1" smtClean="0">
              <a:latin typeface="Times New Roman" pitchFamily="18" charset="0"/>
              <a:ea typeface="华文新魏" pitchFamily="2" charset="-122"/>
            </a:endParaRPr>
          </a:p>
        </p:txBody>
      </p:sp>
      <p:sp>
        <p:nvSpPr>
          <p:cNvPr id="456708" name="Rectangle 4"/>
          <p:cNvSpPr>
            <a:spLocks noChangeArrowheads="1"/>
          </p:cNvSpPr>
          <p:nvPr/>
        </p:nvSpPr>
        <p:spPr bwMode="auto">
          <a:xfrm>
            <a:off x="5653088" y="3573463"/>
            <a:ext cx="3167062"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latin typeface="Times New Roman" pitchFamily="18" charset="0"/>
              </a:rPr>
              <a:t>S→l |lT</a:t>
            </a:r>
          </a:p>
          <a:p>
            <a:r>
              <a:rPr lang="en-US" altLang="zh-CN" sz="3200" b="1">
                <a:latin typeface="Times New Roman" pitchFamily="18" charset="0"/>
              </a:rPr>
              <a:t>T→l|d | lT|dT</a:t>
            </a:r>
          </a:p>
          <a:p>
            <a:r>
              <a:rPr lang="zh-CN" altLang="en-US" sz="3200" b="1">
                <a:latin typeface="Times New Roman" pitchFamily="18" charset="0"/>
                <a:ea typeface="华文新魏" pitchFamily="2" charset="-122"/>
              </a:rPr>
              <a:t>右线性文法</a:t>
            </a:r>
          </a:p>
        </p:txBody>
      </p:sp>
      <p:sp>
        <p:nvSpPr>
          <p:cNvPr id="456709" name="Rectangle 5"/>
          <p:cNvSpPr>
            <a:spLocks noChangeArrowheads="1"/>
          </p:cNvSpPr>
          <p:nvPr/>
        </p:nvSpPr>
        <p:spPr bwMode="auto">
          <a:xfrm>
            <a:off x="757238" y="5400675"/>
            <a:ext cx="33829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20000"/>
              </a:spcBef>
              <a:buClr>
                <a:schemeClr val="hlink"/>
              </a:buClr>
              <a:buSzPct val="55000"/>
              <a:buFont typeface="Wingdings" pitchFamily="2" charset="2"/>
              <a:buNone/>
            </a:pPr>
            <a:r>
              <a:rPr lang="zh-CN" altLang="en-US" sz="2800" b="1">
                <a:latin typeface="Times New Roman" pitchFamily="18" charset="0"/>
                <a:ea typeface="华文新魏" pitchFamily="2" charset="-122"/>
              </a:rPr>
              <a:t>表示集合：{</a:t>
            </a:r>
            <a:r>
              <a:rPr lang="en-US" altLang="zh-CN" sz="2800" b="1">
                <a:latin typeface="Times New Roman" pitchFamily="18" charset="0"/>
                <a:ea typeface="华文新魏" pitchFamily="2" charset="-122"/>
              </a:rPr>
              <a:t>l}{l,d}</a:t>
            </a:r>
            <a:r>
              <a:rPr lang="en-US" altLang="zh-CN" sz="2800" b="1" baseline="30000">
                <a:latin typeface="Times New Roman" pitchFamily="18" charset="0"/>
                <a:ea typeface="华文新魏" pitchFamily="2" charset="-122"/>
              </a:rPr>
              <a:t>*</a:t>
            </a:r>
            <a:endParaRPr lang="en-US" altLang="zh-CN" sz="2800">
              <a:latin typeface="Times New Roman" pitchFamily="18" charset="0"/>
              <a:ea typeface="华文新魏" pitchFamily="2" charset="-122"/>
            </a:endParaRPr>
          </a:p>
        </p:txBody>
      </p:sp>
      <p:sp>
        <p:nvSpPr>
          <p:cNvPr id="456710" name="Text Box 6"/>
          <p:cNvSpPr txBox="1">
            <a:spLocks noChangeArrowheads="1"/>
          </p:cNvSpPr>
          <p:nvPr/>
        </p:nvSpPr>
        <p:spPr bwMode="auto">
          <a:xfrm>
            <a:off x="1692275" y="3716338"/>
            <a:ext cx="25209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3200" b="1">
                <a:latin typeface="Times New Roman" pitchFamily="18" charset="0"/>
                <a:ea typeface="华文新魏" pitchFamily="2" charset="-122"/>
              </a:rPr>
              <a:t>S→l | Sd | Sl</a:t>
            </a:r>
          </a:p>
          <a:p>
            <a:pPr eaLnBrk="1" hangingPunct="1">
              <a:spcBef>
                <a:spcPct val="50000"/>
              </a:spcBef>
            </a:pPr>
            <a:r>
              <a:rPr lang="zh-CN" altLang="en-US" sz="3200" b="1">
                <a:latin typeface="Times New Roman" pitchFamily="18" charset="0"/>
                <a:ea typeface="华文新魏" pitchFamily="2" charset="-122"/>
              </a:rPr>
              <a:t>左线性文法</a:t>
            </a:r>
          </a:p>
        </p:txBody>
      </p:sp>
      <p:sp>
        <p:nvSpPr>
          <p:cNvPr id="456711" name="Rectangle 7"/>
          <p:cNvSpPr>
            <a:spLocks noChangeArrowheads="1"/>
          </p:cNvSpPr>
          <p:nvPr/>
        </p:nvSpPr>
        <p:spPr bwMode="auto">
          <a:xfrm>
            <a:off x="5005388" y="5400675"/>
            <a:ext cx="37449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20000"/>
              </a:spcBef>
              <a:buClr>
                <a:schemeClr val="hlink"/>
              </a:buClr>
              <a:buSzPct val="55000"/>
              <a:buFont typeface="Wingdings" pitchFamily="2" charset="2"/>
              <a:buNone/>
            </a:pPr>
            <a:r>
              <a:rPr lang="zh-CN" altLang="en-US" sz="2800" b="1">
                <a:latin typeface="Times New Roman" pitchFamily="18" charset="0"/>
                <a:ea typeface="华文新魏" pitchFamily="2" charset="-122"/>
              </a:rPr>
              <a:t>进一步简化：</a:t>
            </a:r>
            <a:r>
              <a:rPr lang="en-US" altLang="zh-CN" sz="2800" b="1">
                <a:latin typeface="Times New Roman" pitchFamily="18" charset="0"/>
                <a:ea typeface="华文新魏" pitchFamily="2" charset="-122"/>
              </a:rPr>
              <a:t>l(l|d)</a:t>
            </a:r>
            <a:r>
              <a:rPr lang="en-US" altLang="zh-CN" sz="2800" b="1" baseline="30000">
                <a:latin typeface="Times New Roman" pitchFamily="18" charset="0"/>
                <a:ea typeface="华文新魏" pitchFamily="2" charset="-122"/>
              </a:rPr>
              <a:t>*</a:t>
            </a:r>
            <a:r>
              <a:rPr lang="en-US" altLang="zh-CN" sz="2800">
                <a:latin typeface="Times New Roman" pitchFamily="18" charset="0"/>
                <a:ea typeface="华文新魏" pitchFamily="2" charset="-122"/>
              </a:rPr>
              <a:t> </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4CFA1A83-B936-46A5-A32A-C9806A1A4F54}" type="slidenum">
              <a:rPr lang="zh-CN" altLang="en-US"/>
              <a:pPr eaLnBrk="1" hangingPunct="1"/>
              <a:t>16</a:t>
            </a:fld>
            <a:endParaRPr lang="en-US" altLang="zh-CN"/>
          </a:p>
        </p:txBody>
      </p:sp>
      <p:sp>
        <p:nvSpPr>
          <p:cNvPr id="457730" name="Rectangle 2"/>
          <p:cNvSpPr>
            <a:spLocks noGrp="1" noRot="1" noChangeArrowheads="1"/>
          </p:cNvSpPr>
          <p:nvPr>
            <p:ph type="title"/>
          </p:nvPr>
        </p:nvSpPr>
        <p:spPr>
          <a:xfrm>
            <a:off x="323850" y="838200"/>
            <a:ext cx="8569325" cy="762000"/>
          </a:xfrm>
          <a:noFill/>
        </p:spPr>
        <p:txBody>
          <a:bodyPr lIns="92075" tIns="46038" rIns="92075" bIns="46038"/>
          <a:lstStyle/>
          <a:p>
            <a:pPr eaLnBrk="1" hangingPunct="1"/>
            <a:r>
              <a:rPr lang="zh-CN" altLang="en-US" sz="3600" b="1" smtClean="0">
                <a:solidFill>
                  <a:srgbClr val="000099"/>
                </a:solidFill>
                <a:latin typeface="Times New Roman" pitchFamily="18" charset="0"/>
                <a:ea typeface="华文新魏" pitchFamily="2" charset="-122"/>
              </a:rPr>
              <a:t>1</a:t>
            </a:r>
            <a:r>
              <a:rPr lang="en-US" altLang="zh-CN" sz="3600" b="1" smtClean="0">
                <a:solidFill>
                  <a:srgbClr val="000099"/>
                </a:solidFill>
                <a:latin typeface="Times New Roman" pitchFamily="18" charset="0"/>
                <a:ea typeface="华文新魏" pitchFamily="2" charset="-122"/>
              </a:rPr>
              <a:t>. </a:t>
            </a:r>
            <a:r>
              <a:rPr lang="zh-CN" altLang="en-US" sz="3600" b="1" smtClean="0">
                <a:solidFill>
                  <a:srgbClr val="000099"/>
                </a:solidFill>
                <a:latin typeface="Times New Roman" pitchFamily="18" charset="0"/>
                <a:ea typeface="华文新魏" pitchFamily="2" charset="-122"/>
              </a:rPr>
              <a:t>正则表达式：正则语言的另一种描述</a:t>
            </a:r>
          </a:p>
        </p:txBody>
      </p:sp>
      <p:sp>
        <p:nvSpPr>
          <p:cNvPr id="457731" name="Rectangle 3"/>
          <p:cNvSpPr>
            <a:spLocks noGrp="1" noRot="1" noChangeArrowheads="1"/>
          </p:cNvSpPr>
          <p:nvPr>
            <p:ph type="body" idx="1"/>
          </p:nvPr>
        </p:nvSpPr>
        <p:spPr>
          <a:xfrm>
            <a:off x="395288" y="2017713"/>
            <a:ext cx="8569325" cy="4364037"/>
          </a:xfrm>
          <a:noFill/>
        </p:spPr>
        <p:txBody>
          <a:bodyPr lIns="92075" tIns="46038" rIns="92075" bIns="46038"/>
          <a:lstStyle/>
          <a:p>
            <a:pPr algn="just" eaLnBrk="1" hangingPunct="1">
              <a:spcBef>
                <a:spcPct val="45000"/>
              </a:spcBef>
            </a:pPr>
            <a:r>
              <a:rPr lang="zh-CN" altLang="en-US" b="1" smtClean="0">
                <a:latin typeface="Times New Roman" pitchFamily="18" charset="0"/>
                <a:ea typeface="华文新魏" pitchFamily="2" charset="-122"/>
              </a:rPr>
              <a:t>例3-2：标识符的另一种表示</a:t>
            </a:r>
          </a:p>
          <a:p>
            <a:pPr lvl="1" eaLnBrk="1" hangingPunct="1">
              <a:spcBef>
                <a:spcPct val="45000"/>
              </a:spcBef>
            </a:pPr>
            <a:r>
              <a:rPr lang="en-US" altLang="zh-CN" b="1" smtClean="0">
                <a:latin typeface="Times New Roman" pitchFamily="18" charset="0"/>
                <a:ea typeface="华文新魏" pitchFamily="2" charset="-122"/>
              </a:rPr>
              <a:t>l (l|d)</a:t>
            </a:r>
            <a:r>
              <a:rPr lang="en-US" altLang="zh-CN" sz="3600" b="1" baseline="30000" smtClean="0">
                <a:latin typeface="Times New Roman" pitchFamily="18" charset="0"/>
                <a:ea typeface="华文新魏" pitchFamily="2" charset="-122"/>
              </a:rPr>
              <a:t>*</a:t>
            </a:r>
            <a:endParaRPr lang="en-US" altLang="zh-CN" b="1" smtClean="0">
              <a:latin typeface="Times New Roman" pitchFamily="18" charset="0"/>
              <a:ea typeface="华文新魏" pitchFamily="2" charset="-122"/>
            </a:endParaRPr>
          </a:p>
          <a:p>
            <a:pPr lvl="1" eaLnBrk="1" hangingPunct="1">
              <a:spcBef>
                <a:spcPct val="45000"/>
              </a:spcBef>
            </a:pPr>
            <a:r>
              <a:rPr lang="en-US" altLang="zh-CN" b="1" smtClean="0">
                <a:latin typeface="Times New Roman" pitchFamily="18" charset="0"/>
                <a:ea typeface="华文新魏" pitchFamily="2" charset="-122"/>
              </a:rPr>
              <a:t> | </a:t>
            </a:r>
            <a:r>
              <a:rPr lang="zh-CN" altLang="en-US" b="1" smtClean="0">
                <a:latin typeface="Times New Roman" pitchFamily="18" charset="0"/>
                <a:ea typeface="华文新魏" pitchFamily="2" charset="-122"/>
              </a:rPr>
              <a:t>表示“或”； </a:t>
            </a:r>
            <a:r>
              <a:rPr lang="zh-CN" altLang="en-US" b="1" baseline="30000" smtClean="0">
                <a:latin typeface="Times New Roman" pitchFamily="18" charset="0"/>
                <a:ea typeface="华文新魏" pitchFamily="2" charset="-122"/>
              </a:rPr>
              <a:t>*</a:t>
            </a:r>
            <a:r>
              <a:rPr lang="zh-CN" altLang="en-US" b="1" smtClean="0">
                <a:latin typeface="Times New Roman" pitchFamily="18" charset="0"/>
                <a:ea typeface="华文新魏" pitchFamily="2" charset="-122"/>
              </a:rPr>
              <a:t> 表示</a:t>
            </a:r>
            <a:r>
              <a:rPr lang="en-US" altLang="zh-CN" b="1" smtClean="0">
                <a:latin typeface="Times New Roman" pitchFamily="18" charset="0"/>
                <a:ea typeface="华文新魏" pitchFamily="2" charset="-122"/>
              </a:rPr>
              <a:t>Kleene</a:t>
            </a:r>
            <a:r>
              <a:rPr lang="zh-CN" altLang="en-US" b="1" smtClean="0">
                <a:latin typeface="Times New Roman" pitchFamily="18" charset="0"/>
                <a:ea typeface="华文新魏" pitchFamily="2" charset="-122"/>
              </a:rPr>
              <a:t>闭包</a:t>
            </a:r>
          </a:p>
          <a:p>
            <a:pPr lvl="1" eaLnBrk="1" hangingPunct="1">
              <a:spcBef>
                <a:spcPct val="45000"/>
              </a:spcBef>
            </a:pPr>
            <a:r>
              <a:rPr lang="zh-CN" altLang="en-US" b="1" smtClean="0">
                <a:latin typeface="Times New Roman" pitchFamily="18" charset="0"/>
                <a:ea typeface="华文新魏" pitchFamily="2" charset="-122"/>
              </a:rPr>
              <a:t>符号的并列表示符号连接关系：</a:t>
            </a:r>
            <a:r>
              <a:rPr lang="en-US" altLang="zh-CN" b="1" smtClean="0">
                <a:latin typeface="Times New Roman" pitchFamily="18" charset="0"/>
                <a:ea typeface="华文新魏" pitchFamily="2" charset="-122"/>
              </a:rPr>
              <a:t>ld</a:t>
            </a:r>
            <a:r>
              <a:rPr lang="zh-CN" altLang="en-US" b="1" smtClean="0">
                <a:latin typeface="Times New Roman" pitchFamily="18" charset="0"/>
                <a:ea typeface="华文新魏" pitchFamily="2" charset="-122"/>
              </a:rPr>
              <a:t>表示</a:t>
            </a:r>
            <a:r>
              <a:rPr lang="en-US" altLang="zh-CN" b="1" smtClean="0">
                <a:latin typeface="Times New Roman" pitchFamily="18" charset="0"/>
                <a:ea typeface="华文新魏" pitchFamily="2" charset="-122"/>
              </a:rPr>
              <a:t>l</a:t>
            </a:r>
            <a:r>
              <a:rPr lang="zh-CN" altLang="en-US" b="1" smtClean="0">
                <a:latin typeface="Times New Roman" pitchFamily="18" charset="0"/>
                <a:ea typeface="华文新魏" pitchFamily="2" charset="-122"/>
              </a:rPr>
              <a:t>和</a:t>
            </a:r>
            <a:r>
              <a:rPr lang="en-US" altLang="zh-CN" b="1" smtClean="0">
                <a:latin typeface="Times New Roman" pitchFamily="18" charset="0"/>
                <a:ea typeface="华文新魏" pitchFamily="2" charset="-122"/>
              </a:rPr>
              <a:t>d</a:t>
            </a:r>
            <a:r>
              <a:rPr lang="zh-CN" altLang="en-US" b="1" smtClean="0">
                <a:latin typeface="Times New Roman" pitchFamily="18" charset="0"/>
                <a:ea typeface="华文新魏" pitchFamily="2" charset="-122"/>
              </a:rPr>
              <a:t>连接</a:t>
            </a:r>
          </a:p>
          <a:p>
            <a:pPr eaLnBrk="1" hangingPunct="1">
              <a:spcBef>
                <a:spcPct val="45000"/>
              </a:spcBef>
            </a:pPr>
            <a:r>
              <a:rPr lang="zh-CN" altLang="en-US" b="1" smtClean="0">
                <a:latin typeface="Times New Roman" pitchFamily="18" charset="0"/>
                <a:ea typeface="华文新魏" pitchFamily="2" charset="-122"/>
              </a:rPr>
              <a:t>正则表达式 </a:t>
            </a:r>
            <a:r>
              <a:rPr lang="en-US" altLang="zh-CN" b="1" smtClean="0">
                <a:latin typeface="Times New Roman" pitchFamily="18" charset="0"/>
                <a:ea typeface="华文新魏" pitchFamily="2" charset="-122"/>
              </a:rPr>
              <a:t>r </a:t>
            </a:r>
            <a:r>
              <a:rPr lang="zh-CN" altLang="en-US" b="1" smtClean="0">
                <a:latin typeface="Times New Roman" pitchFamily="18" charset="0"/>
                <a:ea typeface="华文新魏" pitchFamily="2" charset="-122"/>
              </a:rPr>
              <a:t>表示正则集,相应的正则集记为 </a:t>
            </a:r>
            <a:r>
              <a:rPr lang="en-US" altLang="zh-CN" b="1" smtClean="0">
                <a:latin typeface="Times New Roman" pitchFamily="18" charset="0"/>
                <a:ea typeface="华文新魏" pitchFamily="2" charset="-122"/>
              </a:rPr>
              <a:t>L(r),</a:t>
            </a:r>
            <a:r>
              <a:rPr lang="zh-CN" altLang="en-US" b="1" smtClean="0">
                <a:latin typeface="Times New Roman" pitchFamily="18" charset="0"/>
                <a:ea typeface="华文新魏" pitchFamily="2" charset="-122"/>
              </a:rPr>
              <a:t>意思明确时也可以直接记为</a:t>
            </a:r>
            <a:r>
              <a:rPr lang="en-US" altLang="zh-CN" b="1" smtClean="0">
                <a:latin typeface="Times New Roman" pitchFamily="18" charset="0"/>
                <a:ea typeface="华文新魏" pitchFamily="2" charset="-122"/>
              </a:rPr>
              <a:t>r</a:t>
            </a:r>
            <a:r>
              <a:rPr lang="zh-CN" altLang="en-US" b="1" smtClean="0">
                <a:latin typeface="Times New Roman" pitchFamily="18" charset="0"/>
                <a:ea typeface="华文新魏" pitchFamily="2" charset="-122"/>
              </a:rPr>
              <a:t> </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9F4ADCC-889C-49F5-8A0B-EAC339F27BD0}" type="slidenum">
              <a:rPr lang="zh-CN" altLang="en-US"/>
              <a:pPr eaLnBrk="1" hangingPunct="1"/>
              <a:t>17</a:t>
            </a:fld>
            <a:endParaRPr lang="en-US" altLang="zh-CN"/>
          </a:p>
        </p:txBody>
      </p:sp>
      <p:sp>
        <p:nvSpPr>
          <p:cNvPr id="22531" name="Rectangle 2"/>
          <p:cNvSpPr>
            <a:spLocks noGrp="1" noRot="1" noChangeArrowheads="1"/>
          </p:cNvSpPr>
          <p:nvPr>
            <p:ph type="title"/>
          </p:nvPr>
        </p:nvSpPr>
        <p:spPr>
          <a:xfrm>
            <a:off x="255588" y="549275"/>
            <a:ext cx="8888412" cy="609600"/>
          </a:xfrm>
        </p:spPr>
        <p:txBody>
          <a:bodyPr/>
          <a:lstStyle/>
          <a:p>
            <a:pPr eaLnBrk="1" hangingPunct="1"/>
            <a:r>
              <a:rPr lang="zh-CN" altLang="en-US" sz="3600" b="1" smtClean="0">
                <a:solidFill>
                  <a:srgbClr val="000099"/>
                </a:solidFill>
                <a:latin typeface="Times New Roman" pitchFamily="18" charset="0"/>
                <a:ea typeface="华文新魏" pitchFamily="2" charset="-122"/>
              </a:rPr>
              <a:t>正则表达式</a:t>
            </a:r>
            <a:r>
              <a:rPr lang="en-US" altLang="zh-CN" sz="3600" b="1" smtClean="0">
                <a:solidFill>
                  <a:srgbClr val="000099"/>
                </a:solidFill>
                <a:latin typeface="Times New Roman" pitchFamily="18" charset="0"/>
                <a:ea typeface="华文新魏" pitchFamily="2" charset="-122"/>
              </a:rPr>
              <a:t>(Regular Expression——RE)</a:t>
            </a:r>
          </a:p>
        </p:txBody>
      </p:sp>
      <p:sp>
        <p:nvSpPr>
          <p:cNvPr id="458755" name="Rectangle 3"/>
          <p:cNvSpPr>
            <a:spLocks noGrp="1" noRot="1" noChangeArrowheads="1"/>
          </p:cNvSpPr>
          <p:nvPr>
            <p:ph type="body" idx="1"/>
          </p:nvPr>
        </p:nvSpPr>
        <p:spPr>
          <a:xfrm>
            <a:off x="468313" y="1557338"/>
            <a:ext cx="8315325" cy="5300662"/>
          </a:xfrm>
        </p:spPr>
        <p:txBody>
          <a:bodyPr/>
          <a:lstStyle/>
          <a:p>
            <a:pPr algn="just" eaLnBrk="1" hangingPunct="1">
              <a:lnSpc>
                <a:spcPct val="90000"/>
              </a:lnSpc>
              <a:buFont typeface="Wingdings" pitchFamily="2" charset="2"/>
              <a:buNone/>
            </a:pPr>
            <a:r>
              <a:rPr lang="zh-CN" altLang="en-US" sz="2800" b="1" smtClean="0">
                <a:latin typeface="Times New Roman" pitchFamily="18" charset="0"/>
                <a:ea typeface="华文新魏" pitchFamily="2" charset="-122"/>
              </a:rPr>
              <a:t>设∑是一个字母表，</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(1)Φ</a:t>
            </a:r>
            <a:r>
              <a:rPr lang="zh-CN" altLang="en-US" sz="2800" b="1" smtClean="0">
                <a:latin typeface="Times New Roman" pitchFamily="18" charset="0"/>
                <a:ea typeface="华文新魏" pitchFamily="2" charset="-122"/>
              </a:rPr>
              <a:t>是∑上的</a:t>
            </a:r>
            <a:r>
              <a:rPr lang="en-US" altLang="zh-CN" sz="2800" b="1" smtClean="0">
                <a:latin typeface="Times New Roman" pitchFamily="18" charset="0"/>
                <a:ea typeface="华文新魏" pitchFamily="2" charset="-122"/>
              </a:rPr>
              <a:t>RE，L(Φ)=Φ；</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(2) ε</a:t>
            </a:r>
            <a:r>
              <a:rPr lang="zh-CN" altLang="en-US" sz="2800" b="1" smtClean="0">
                <a:latin typeface="Times New Roman" pitchFamily="18" charset="0"/>
                <a:ea typeface="华文新魏" pitchFamily="2" charset="-122"/>
              </a:rPr>
              <a:t>是∑上的</a:t>
            </a:r>
            <a:r>
              <a:rPr lang="en-US" altLang="zh-CN" sz="2800" b="1" smtClean="0">
                <a:latin typeface="Times New Roman" pitchFamily="18" charset="0"/>
                <a:ea typeface="华文新魏" pitchFamily="2" charset="-122"/>
              </a:rPr>
              <a:t>RE，L(ε)={ε}；</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(3) </a:t>
            </a:r>
            <a:r>
              <a:rPr lang="zh-CN" altLang="en-US" sz="2800" b="1" smtClean="0">
                <a:latin typeface="Times New Roman" pitchFamily="18" charset="0"/>
                <a:ea typeface="华文新魏" pitchFamily="2" charset="-122"/>
              </a:rPr>
              <a:t>对于</a:t>
            </a:r>
            <a:r>
              <a:rPr lang="zh-CN" altLang="en-US" sz="2800" b="1" smtClean="0">
                <a:latin typeface="Times New Roman" pitchFamily="18" charset="0"/>
                <a:ea typeface="华文新魏" pitchFamily="2" charset="-122"/>
                <a:sym typeface="Symbol" pitchFamily="18" charset="2"/>
              </a:rPr>
              <a:t></a:t>
            </a:r>
            <a:r>
              <a:rPr lang="en-US" altLang="zh-CN" sz="2800" b="1" smtClean="0">
                <a:latin typeface="Times New Roman" pitchFamily="18" charset="0"/>
                <a:ea typeface="华文新魏" pitchFamily="2" charset="-122"/>
              </a:rPr>
              <a:t>a∈∑，a</a:t>
            </a:r>
            <a:r>
              <a:rPr lang="zh-CN" altLang="en-US" sz="2800" b="1" smtClean="0">
                <a:latin typeface="Times New Roman" pitchFamily="18" charset="0"/>
                <a:ea typeface="华文新魏" pitchFamily="2" charset="-122"/>
              </a:rPr>
              <a:t>是</a:t>
            </a:r>
            <a:r>
              <a:rPr lang="en-US" altLang="zh-CN" sz="2800" b="1" smtClean="0">
                <a:latin typeface="Times New Roman" pitchFamily="18" charset="0"/>
                <a:ea typeface="华文新魏" pitchFamily="2" charset="-122"/>
              </a:rPr>
              <a:t>RE，L(a)={a}；</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(4)</a:t>
            </a:r>
            <a:r>
              <a:rPr lang="zh-CN" altLang="en-US" sz="2800" b="1" smtClean="0">
                <a:latin typeface="Times New Roman" pitchFamily="18" charset="0"/>
                <a:ea typeface="华文新魏" pitchFamily="2" charset="-122"/>
              </a:rPr>
              <a:t>如果</a:t>
            </a:r>
            <a:r>
              <a:rPr lang="en-US" altLang="zh-CN" sz="2800" b="1" smtClean="0">
                <a:latin typeface="Times New Roman" pitchFamily="18" charset="0"/>
                <a:ea typeface="华文新魏" pitchFamily="2" charset="-122"/>
              </a:rPr>
              <a:t>r</a:t>
            </a:r>
            <a:r>
              <a:rPr lang="zh-CN" altLang="en-US" sz="2800" b="1" smtClean="0">
                <a:latin typeface="Times New Roman" pitchFamily="18" charset="0"/>
                <a:ea typeface="华文新魏" pitchFamily="2" charset="-122"/>
              </a:rPr>
              <a:t>和</a:t>
            </a:r>
            <a:r>
              <a:rPr lang="en-US" altLang="zh-CN" sz="2800" b="1" smtClean="0">
                <a:latin typeface="Times New Roman" pitchFamily="18" charset="0"/>
                <a:ea typeface="华文新魏" pitchFamily="2" charset="-122"/>
              </a:rPr>
              <a:t>s</a:t>
            </a:r>
            <a:r>
              <a:rPr lang="zh-CN" altLang="en-US" sz="2800" b="1" smtClean="0">
                <a:latin typeface="Times New Roman" pitchFamily="18" charset="0"/>
                <a:ea typeface="华文新魏" pitchFamily="2" charset="-122"/>
              </a:rPr>
              <a:t>是</a:t>
            </a:r>
            <a:r>
              <a:rPr lang="en-US" altLang="zh-CN" sz="2800" b="1" smtClean="0">
                <a:latin typeface="Times New Roman" pitchFamily="18" charset="0"/>
                <a:ea typeface="华文新魏" pitchFamily="2" charset="-122"/>
              </a:rPr>
              <a:t>RE，L(r)=R,L(s)=S，</a:t>
            </a:r>
            <a:r>
              <a:rPr lang="zh-CN" altLang="en-US" sz="2800" b="1" smtClean="0">
                <a:latin typeface="Times New Roman" pitchFamily="18" charset="0"/>
                <a:ea typeface="华文新魏" pitchFamily="2" charset="-122"/>
              </a:rPr>
              <a:t>则：</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		r</a:t>
            </a:r>
            <a:r>
              <a:rPr lang="zh-CN" altLang="en-US" sz="2800" b="1" smtClean="0">
                <a:latin typeface="Times New Roman" pitchFamily="18" charset="0"/>
                <a:ea typeface="华文新魏" pitchFamily="2" charset="-122"/>
              </a:rPr>
              <a:t>与</a:t>
            </a:r>
            <a:r>
              <a:rPr lang="en-US" altLang="zh-CN" sz="2800" b="1" smtClean="0">
                <a:latin typeface="Times New Roman" pitchFamily="18" charset="0"/>
                <a:ea typeface="华文新魏" pitchFamily="2" charset="-122"/>
              </a:rPr>
              <a:t>s</a:t>
            </a:r>
            <a:r>
              <a:rPr lang="zh-CN" altLang="en-US" sz="2800" b="1" smtClean="0">
                <a:latin typeface="Times New Roman" pitchFamily="18" charset="0"/>
                <a:ea typeface="华文新魏" pitchFamily="2" charset="-122"/>
              </a:rPr>
              <a:t>的“或” </a:t>
            </a:r>
            <a:r>
              <a:rPr lang="en-US" altLang="zh-CN" sz="2800" b="1" smtClean="0">
                <a:latin typeface="Times New Roman" pitchFamily="18" charset="0"/>
                <a:ea typeface="华文新魏" pitchFamily="2" charset="-122"/>
              </a:rPr>
              <a:t>(r|s)</a:t>
            </a:r>
            <a:r>
              <a:rPr lang="zh-CN" altLang="en-US" sz="2800" b="1" smtClean="0">
                <a:latin typeface="Times New Roman" pitchFamily="18" charset="0"/>
                <a:ea typeface="华文新魏" pitchFamily="2" charset="-122"/>
              </a:rPr>
              <a:t>是</a:t>
            </a:r>
            <a:r>
              <a:rPr lang="en-US" altLang="zh-CN" sz="2800" b="1" smtClean="0">
                <a:latin typeface="Times New Roman" pitchFamily="18" charset="0"/>
                <a:ea typeface="华文新魏" pitchFamily="2" charset="-122"/>
              </a:rPr>
              <a:t>RE，L((r|s))=R∪S</a:t>
            </a:r>
            <a:r>
              <a:rPr lang="zh-CN" altLang="en-US" sz="2800" b="1" smtClean="0">
                <a:latin typeface="Times New Roman" pitchFamily="18" charset="0"/>
                <a:ea typeface="华文新魏" pitchFamily="2" charset="-122"/>
              </a:rPr>
              <a:t>，</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		r</a:t>
            </a:r>
            <a:r>
              <a:rPr lang="zh-CN" altLang="en-US" sz="2800" b="1" smtClean="0">
                <a:latin typeface="Times New Roman" pitchFamily="18" charset="0"/>
                <a:ea typeface="华文新魏" pitchFamily="2" charset="-122"/>
              </a:rPr>
              <a:t>与</a:t>
            </a:r>
            <a:r>
              <a:rPr lang="en-US" altLang="zh-CN" sz="2800" b="1" smtClean="0">
                <a:latin typeface="Times New Roman" pitchFamily="18" charset="0"/>
                <a:ea typeface="华文新魏" pitchFamily="2" charset="-122"/>
              </a:rPr>
              <a:t>s</a:t>
            </a:r>
            <a:r>
              <a:rPr lang="zh-CN" altLang="en-US" sz="2800" b="1" smtClean="0">
                <a:latin typeface="Times New Roman" pitchFamily="18" charset="0"/>
                <a:ea typeface="华文新魏" pitchFamily="2" charset="-122"/>
              </a:rPr>
              <a:t>的“乘积</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连接” </a:t>
            </a:r>
            <a:r>
              <a:rPr lang="en-US" altLang="zh-CN" sz="2800" b="1" smtClean="0">
                <a:latin typeface="Times New Roman" pitchFamily="18" charset="0"/>
                <a:ea typeface="华文新魏" pitchFamily="2" charset="-122"/>
              </a:rPr>
              <a:t>(rs)</a:t>
            </a:r>
            <a:r>
              <a:rPr lang="zh-CN" altLang="en-US" sz="2800" b="1" smtClean="0">
                <a:latin typeface="Times New Roman" pitchFamily="18" charset="0"/>
                <a:ea typeface="华文新魏" pitchFamily="2" charset="-122"/>
              </a:rPr>
              <a:t>是</a:t>
            </a:r>
            <a:r>
              <a:rPr lang="en-US" altLang="zh-CN" sz="2800" b="1" smtClean="0">
                <a:latin typeface="Times New Roman" pitchFamily="18" charset="0"/>
                <a:ea typeface="华文新魏" pitchFamily="2" charset="-122"/>
              </a:rPr>
              <a:t>RE，L((rs))=RS</a:t>
            </a:r>
            <a:r>
              <a:rPr lang="zh-CN" altLang="en-US" sz="2800" b="1" smtClean="0">
                <a:latin typeface="Times New Roman" pitchFamily="18" charset="0"/>
                <a:ea typeface="华文新魏" pitchFamily="2" charset="-122"/>
              </a:rPr>
              <a:t>，</a:t>
            </a:r>
          </a:p>
          <a:p>
            <a:pPr algn="just" eaLnBrk="1" hangingPunct="1">
              <a:lnSpc>
                <a:spcPct val="90000"/>
              </a:lnSpc>
              <a:buFont typeface="Wingdings" pitchFamily="2" charset="2"/>
              <a:buNone/>
            </a:pPr>
            <a:r>
              <a:rPr lang="en-US" altLang="zh-CN" sz="2800" b="1" smtClean="0">
                <a:latin typeface="Times New Roman" pitchFamily="18" charset="0"/>
                <a:ea typeface="华文新魏" pitchFamily="2" charset="-122"/>
              </a:rPr>
              <a:t>		r</a:t>
            </a:r>
            <a:r>
              <a:rPr lang="zh-CN" altLang="en-US" sz="2800" b="1" smtClean="0">
                <a:latin typeface="Times New Roman" pitchFamily="18" charset="0"/>
                <a:ea typeface="华文新魏" pitchFamily="2" charset="-122"/>
              </a:rPr>
              <a:t>的克林闭包</a:t>
            </a:r>
            <a:r>
              <a:rPr lang="en-US" altLang="zh-CN" sz="2800" b="1" smtClean="0">
                <a:latin typeface="Times New Roman" pitchFamily="18" charset="0"/>
                <a:ea typeface="华文新魏" pitchFamily="2" charset="-122"/>
              </a:rPr>
              <a:t>(r</a:t>
            </a:r>
            <a:r>
              <a:rPr lang="en-US" altLang="zh-CN" sz="2800" b="1" baseline="30000"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是</a:t>
            </a:r>
            <a:r>
              <a:rPr lang="en-US" altLang="zh-CN" sz="2800" b="1" smtClean="0">
                <a:latin typeface="Times New Roman" pitchFamily="18" charset="0"/>
                <a:ea typeface="华文新魏" pitchFamily="2" charset="-122"/>
              </a:rPr>
              <a:t>RE，L((r</a:t>
            </a:r>
            <a:r>
              <a:rPr lang="en-US" altLang="zh-CN" sz="2800" b="1" baseline="30000"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))=R</a:t>
            </a:r>
            <a:r>
              <a:rPr lang="en-US" altLang="zh-CN" sz="2800" b="1" baseline="30000"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a:t>
            </a:r>
          </a:p>
          <a:p>
            <a:pPr algn="just" eaLnBrk="1" hangingPunct="1">
              <a:lnSpc>
                <a:spcPct val="90000"/>
              </a:lnSpc>
              <a:buFont typeface="Wingdings" pitchFamily="2" charset="2"/>
              <a:buNone/>
            </a:pP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(r)</a:t>
            </a:r>
            <a:r>
              <a:rPr lang="zh-CN" altLang="en-US" sz="2800" b="1" smtClean="0">
                <a:latin typeface="Times New Roman" pitchFamily="18" charset="0"/>
                <a:ea typeface="华文新魏" pitchFamily="2" charset="-122"/>
              </a:rPr>
              <a:t>是</a:t>
            </a:r>
            <a:r>
              <a:rPr lang="en-US" altLang="zh-CN" sz="2800" b="1" smtClean="0">
                <a:latin typeface="Times New Roman" pitchFamily="18" charset="0"/>
                <a:ea typeface="华文新魏" pitchFamily="2" charset="-122"/>
              </a:rPr>
              <a:t>RE，L((r))=R</a:t>
            </a:r>
            <a:endParaRPr lang="zh-CN" altLang="en-US" sz="2800" b="1" smtClean="0">
              <a:latin typeface="Times New Roman" pitchFamily="18" charset="0"/>
              <a:ea typeface="华文新魏" pitchFamily="2" charset="-122"/>
            </a:endParaRPr>
          </a:p>
          <a:p>
            <a:pPr algn="just" eaLnBrk="1" hangingPunct="1">
              <a:lnSpc>
                <a:spcPct val="90000"/>
              </a:lnSpc>
              <a:buFont typeface="Wingdings" pitchFamily="2" charset="2"/>
              <a:buNone/>
            </a:pPr>
            <a:r>
              <a:rPr lang="zh-CN" altLang="en-US" sz="2800" b="1" smtClean="0">
                <a:latin typeface="Times New Roman" pitchFamily="18" charset="0"/>
                <a:ea typeface="华文新魏" pitchFamily="2" charset="-122"/>
              </a:rPr>
              <a:t>正则表达式又译为</a:t>
            </a:r>
            <a:r>
              <a:rPr lang="zh-CN" altLang="en-US" sz="2800" b="1" smtClean="0">
                <a:solidFill>
                  <a:srgbClr val="DF1813"/>
                </a:solidFill>
                <a:latin typeface="Times New Roman" pitchFamily="18" charset="0"/>
                <a:ea typeface="华文新魏" pitchFamily="2" charset="-122"/>
              </a:rPr>
              <a:t>正规式</a:t>
            </a:r>
            <a:r>
              <a:rPr lang="zh-CN" altLang="en-US" sz="2800" b="1" smtClean="0">
                <a:latin typeface="Times New Roman" pitchFamily="18" charset="0"/>
                <a:ea typeface="华文新魏" pitchFamily="2" charset="-122"/>
              </a:rPr>
              <a:t>，正则集又译为</a:t>
            </a:r>
            <a:r>
              <a:rPr lang="zh-CN" altLang="en-US" sz="2800" b="1" smtClean="0">
                <a:solidFill>
                  <a:srgbClr val="DF1813"/>
                </a:solidFill>
                <a:latin typeface="Times New Roman" pitchFamily="18" charset="0"/>
                <a:ea typeface="华文新魏" pitchFamily="2" charset="-122"/>
              </a:rPr>
              <a:t>正规集</a:t>
            </a:r>
            <a:r>
              <a:rPr lang="zh-CN" altLang="en-US" sz="2800" b="1" smtClean="0">
                <a:latin typeface="Times New Roman" pitchFamily="18" charset="0"/>
                <a:ea typeface="华文新魏" pitchFamily="2" charset="-122"/>
              </a:rPr>
              <a:t>；意义明确时，</a:t>
            </a:r>
            <a:r>
              <a:rPr lang="en-US" altLang="zh-CN" sz="2800" b="1" smtClean="0">
                <a:latin typeface="Times New Roman" pitchFamily="18" charset="0"/>
                <a:ea typeface="华文新魏" pitchFamily="2" charset="-122"/>
              </a:rPr>
              <a:t>L(r)</a:t>
            </a:r>
            <a:r>
              <a:rPr lang="zh-CN" altLang="en-US" sz="2800" b="1" smtClean="0">
                <a:latin typeface="Times New Roman" pitchFamily="18" charset="0"/>
                <a:ea typeface="华文新魏" pitchFamily="2" charset="-122"/>
              </a:rPr>
              <a:t>可以直接记为</a:t>
            </a:r>
            <a:r>
              <a:rPr lang="en-US" altLang="zh-CN" sz="2800" b="1" smtClean="0">
                <a:latin typeface="Times New Roman" pitchFamily="18" charset="0"/>
                <a:ea typeface="华文新魏" pitchFamily="2" charset="-122"/>
              </a:rPr>
              <a:t>r</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7668B19-1024-4CF7-BEF4-80387A2CC81B}" type="slidenum">
              <a:rPr lang="zh-CN" altLang="en-US"/>
              <a:pPr eaLnBrk="1" hangingPunct="1"/>
              <a:t>18</a:t>
            </a:fld>
            <a:endParaRPr lang="en-US" altLang="zh-CN"/>
          </a:p>
        </p:txBody>
      </p:sp>
      <p:sp>
        <p:nvSpPr>
          <p:cNvPr id="23555" name="Rectangle 2"/>
          <p:cNvSpPr>
            <a:spLocks noGrp="1" noRot="1" noChangeArrowheads="1"/>
          </p:cNvSpPr>
          <p:nvPr>
            <p:ph type="title"/>
          </p:nvPr>
        </p:nvSpPr>
        <p:spPr>
          <a:xfrm>
            <a:off x="971550" y="549275"/>
            <a:ext cx="7223125" cy="1012825"/>
          </a:xfrm>
          <a:noFill/>
        </p:spPr>
        <p:txBody>
          <a:bodyPr lIns="92075" tIns="46038" rIns="92075" bIns="46038"/>
          <a:lstStyle/>
          <a:p>
            <a:pPr eaLnBrk="1" hangingPunct="1"/>
            <a:r>
              <a:rPr lang="zh-CN" altLang="en-US" sz="4800" b="1" smtClean="0">
                <a:solidFill>
                  <a:srgbClr val="000099"/>
                </a:solidFill>
                <a:latin typeface="Times New Roman" pitchFamily="18" charset="0"/>
                <a:ea typeface="华文新魏" pitchFamily="2" charset="-122"/>
              </a:rPr>
              <a:t>运算的优先级</a:t>
            </a:r>
          </a:p>
        </p:txBody>
      </p:sp>
      <p:sp>
        <p:nvSpPr>
          <p:cNvPr id="437251" name="Rectangle 3"/>
          <p:cNvSpPr>
            <a:spLocks noGrp="1" noRot="1" noChangeArrowheads="1"/>
          </p:cNvSpPr>
          <p:nvPr>
            <p:ph type="body" idx="1"/>
          </p:nvPr>
        </p:nvSpPr>
        <p:spPr>
          <a:xfrm>
            <a:off x="468313" y="1773238"/>
            <a:ext cx="8351837" cy="4392612"/>
          </a:xfrm>
          <a:noFill/>
        </p:spPr>
        <p:txBody>
          <a:bodyPr lIns="92075" tIns="46038" rIns="92075" bIns="46038"/>
          <a:lstStyle/>
          <a:p>
            <a:pPr marL="536575" indent="-536575" eaLnBrk="1" hangingPunct="1">
              <a:spcBef>
                <a:spcPct val="50000"/>
              </a:spcBef>
            </a:pP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={0,1}</a:t>
            </a:r>
          </a:p>
          <a:p>
            <a:pPr marL="536575" indent="-536575" eaLnBrk="1" hangingPunct="1">
              <a:spcBef>
                <a:spcPct val="50000"/>
              </a:spcBef>
            </a:pPr>
            <a:r>
              <a:rPr lang="en-US" altLang="zh-CN" b="1" smtClean="0">
                <a:latin typeface="Times New Roman" pitchFamily="18" charset="0"/>
                <a:ea typeface="华文新魏" pitchFamily="2" charset="-122"/>
              </a:rPr>
              <a:t>0</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(0)				L(0)={0}</a:t>
            </a:r>
          </a:p>
          <a:p>
            <a:pPr marL="536575" indent="-536575" eaLnBrk="1" hangingPunct="1">
              <a:spcBef>
                <a:spcPct val="50000"/>
              </a:spcBef>
            </a:pPr>
            <a:r>
              <a:rPr lang="en-US" altLang="zh-CN" b="1" smtClean="0">
                <a:solidFill>
                  <a:srgbClr val="990099"/>
                </a:solidFill>
                <a:latin typeface="Times New Roman" pitchFamily="18" charset="0"/>
                <a:ea typeface="华文新魏" pitchFamily="2" charset="-122"/>
              </a:rPr>
              <a:t>0|1,</a:t>
            </a:r>
            <a:r>
              <a:rPr lang="en-US" altLang="zh-CN" b="1" smtClean="0">
                <a:latin typeface="Times New Roman" pitchFamily="18" charset="0"/>
                <a:ea typeface="华文新魏" pitchFamily="2" charset="-122"/>
              </a:rPr>
              <a:t> </a:t>
            </a:r>
            <a:r>
              <a:rPr lang="en-US" altLang="zh-CN" b="1" smtClean="0">
                <a:solidFill>
                  <a:srgbClr val="990099"/>
                </a:solidFill>
                <a:latin typeface="Times New Roman" pitchFamily="18" charset="0"/>
                <a:ea typeface="华文新魏" pitchFamily="2" charset="-122"/>
              </a:rPr>
              <a:t>(0)|(1),</a:t>
            </a:r>
            <a:r>
              <a:rPr lang="en-US" altLang="zh-CN" b="1" smtClean="0">
                <a:latin typeface="Times New Roman" pitchFamily="18" charset="0"/>
                <a:ea typeface="华文新魏" pitchFamily="2" charset="-122"/>
              </a:rPr>
              <a:t> (0|1)		L((0|1))={0,1}</a:t>
            </a:r>
          </a:p>
          <a:p>
            <a:pPr marL="536575" indent="-536575" eaLnBrk="1" hangingPunct="1">
              <a:spcBef>
                <a:spcPct val="50000"/>
              </a:spcBef>
            </a:pPr>
            <a:r>
              <a:rPr lang="en-US" altLang="zh-CN" b="1" smtClean="0">
                <a:solidFill>
                  <a:srgbClr val="990099"/>
                </a:solidFill>
                <a:latin typeface="Times New Roman" pitchFamily="18" charset="0"/>
                <a:ea typeface="华文新魏" pitchFamily="2" charset="-122"/>
              </a:rPr>
              <a:t>01,</a:t>
            </a:r>
            <a:r>
              <a:rPr lang="en-US" altLang="zh-CN" b="1" smtClean="0">
                <a:latin typeface="Times New Roman" pitchFamily="18" charset="0"/>
                <a:ea typeface="华文新魏" pitchFamily="2" charset="-122"/>
              </a:rPr>
              <a:t> (01)	</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L((01))={01}</a:t>
            </a:r>
          </a:p>
          <a:p>
            <a:pPr marL="536575" indent="-536575" eaLnBrk="1" hangingPunct="1">
              <a:spcBef>
                <a:spcPct val="50000"/>
              </a:spcBef>
            </a:pPr>
            <a:r>
              <a:rPr lang="en-US" altLang="zh-CN" b="1" smtClean="0">
                <a:latin typeface="Times New Roman" pitchFamily="18" charset="0"/>
                <a:ea typeface="华文新魏" pitchFamily="2" charset="-122"/>
              </a:rPr>
              <a:t>((01)|((10)(0*)))</a:t>
            </a:r>
          </a:p>
          <a:p>
            <a:pPr marL="536575" indent="-536575" eaLnBrk="1" hangingPunct="1">
              <a:spcBef>
                <a:spcPct val="50000"/>
              </a:spcBef>
            </a:pPr>
            <a:r>
              <a:rPr lang="zh-CN" altLang="en-US" b="1" smtClean="0">
                <a:latin typeface="Times New Roman" pitchFamily="18" charset="0"/>
                <a:ea typeface="华文新魏" pitchFamily="2" charset="-122"/>
              </a:rPr>
              <a:t>括号太多了！</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解决优先级问题</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8516FDA-A6A3-4081-A322-6528B9776D19}" type="slidenum">
              <a:rPr lang="zh-CN" altLang="en-US"/>
              <a:pPr eaLnBrk="1" hangingPunct="1"/>
              <a:t>19</a:t>
            </a:fld>
            <a:endParaRPr lang="en-US" altLang="zh-CN"/>
          </a:p>
        </p:txBody>
      </p:sp>
      <p:sp>
        <p:nvSpPr>
          <p:cNvPr id="24579" name="Rectangle 2"/>
          <p:cNvSpPr>
            <a:spLocks noGrp="1" noRot="1" noChangeArrowheads="1"/>
          </p:cNvSpPr>
          <p:nvPr>
            <p:ph type="title"/>
          </p:nvPr>
        </p:nvSpPr>
        <p:spPr>
          <a:xfrm>
            <a:off x="971550" y="549275"/>
            <a:ext cx="7223125" cy="1012825"/>
          </a:xfrm>
          <a:noFill/>
        </p:spPr>
        <p:txBody>
          <a:bodyPr lIns="92075" tIns="46038" rIns="92075" bIns="46038"/>
          <a:lstStyle/>
          <a:p>
            <a:pPr eaLnBrk="1" hangingPunct="1"/>
            <a:r>
              <a:rPr lang="zh-CN" altLang="en-US" sz="4800" b="1" smtClean="0">
                <a:solidFill>
                  <a:srgbClr val="000099"/>
                </a:solidFill>
                <a:latin typeface="Times New Roman" pitchFamily="18" charset="0"/>
                <a:ea typeface="华文新魏" pitchFamily="2" charset="-122"/>
              </a:rPr>
              <a:t>运算的优先级</a:t>
            </a:r>
          </a:p>
        </p:txBody>
      </p:sp>
      <p:sp>
        <p:nvSpPr>
          <p:cNvPr id="438275" name="Rectangle 3"/>
          <p:cNvSpPr>
            <a:spLocks noGrp="1" noRot="1" noChangeArrowheads="1"/>
          </p:cNvSpPr>
          <p:nvPr>
            <p:ph type="body" idx="1"/>
          </p:nvPr>
        </p:nvSpPr>
        <p:spPr>
          <a:xfrm>
            <a:off x="323528" y="1773238"/>
            <a:ext cx="8424936" cy="4537075"/>
          </a:xfrm>
          <a:noFill/>
        </p:spPr>
        <p:txBody>
          <a:bodyPr lIns="92075" tIns="46038" rIns="92075" bIns="46038"/>
          <a:lstStyle/>
          <a:p>
            <a:pPr marL="536575" indent="-536575" eaLnBrk="1" hangingPunct="1">
              <a:spcBef>
                <a:spcPct val="50000"/>
              </a:spcBef>
            </a:pPr>
            <a:r>
              <a:rPr lang="zh-CN" altLang="en-US" b="1" dirty="0" smtClean="0">
                <a:latin typeface="Times New Roman" pitchFamily="18" charset="0"/>
                <a:ea typeface="华文新魏" pitchFamily="2" charset="-122"/>
              </a:rPr>
              <a:t>约定：运算优先级和结合律，意义明确时括号可以省略:</a:t>
            </a:r>
          </a:p>
          <a:p>
            <a:pPr marL="1349375" lvl="1" indent="-633413" eaLnBrk="1" hangingPunct="1">
              <a:spcBef>
                <a:spcPct val="50000"/>
              </a:spcBef>
            </a:pPr>
            <a:r>
              <a:rPr lang="zh-CN" altLang="en-US" sz="3200" b="1" dirty="0" smtClean="0">
                <a:latin typeface="Times New Roman" pitchFamily="18" charset="0"/>
                <a:ea typeface="华文新魏" pitchFamily="2" charset="-122"/>
              </a:rPr>
              <a:t>*高于“连接” 和| ， “连接” 高于 |</a:t>
            </a:r>
          </a:p>
          <a:p>
            <a:pPr marL="1349375" lvl="1" indent="-633413" eaLnBrk="1" hangingPunct="1">
              <a:spcBef>
                <a:spcPct val="50000"/>
              </a:spcBef>
            </a:pPr>
            <a:r>
              <a:rPr lang="zh-CN" altLang="en-US" sz="3200" b="1" dirty="0" smtClean="0">
                <a:latin typeface="Times New Roman" pitchFamily="18" charset="0"/>
                <a:ea typeface="华文新魏" pitchFamily="2" charset="-122"/>
              </a:rPr>
              <a:t>| 具有交换律、结合律</a:t>
            </a:r>
          </a:p>
          <a:p>
            <a:pPr marL="1349375" lvl="1" indent="-633413" eaLnBrk="1" hangingPunct="1">
              <a:spcBef>
                <a:spcPct val="50000"/>
              </a:spcBef>
            </a:pPr>
            <a:r>
              <a:rPr lang="zh-CN" altLang="en-US" sz="3200" b="1" dirty="0" smtClean="0">
                <a:latin typeface="Times New Roman" pitchFamily="18" charset="0"/>
                <a:ea typeface="华文新魏" pitchFamily="2" charset="-122"/>
              </a:rPr>
              <a:t>“连接” 具有结合律、和对|的分配律</a:t>
            </a:r>
          </a:p>
          <a:p>
            <a:pPr marL="1349375" lvl="1" indent="-633413" eaLnBrk="1" hangingPunct="1">
              <a:spcBef>
                <a:spcPct val="50000"/>
              </a:spcBef>
            </a:pPr>
            <a:r>
              <a:rPr lang="en-US" altLang="zh-CN" sz="3200" b="1" dirty="0" smtClean="0">
                <a:latin typeface="Times New Roman" pitchFamily="18" charset="0"/>
                <a:ea typeface="华文新魏" pitchFamily="2" charset="-122"/>
              </a:rPr>
              <a:t>( )  </a:t>
            </a:r>
            <a:r>
              <a:rPr lang="zh-CN" altLang="en-US" sz="3200" b="1" dirty="0" smtClean="0">
                <a:latin typeface="Times New Roman" pitchFamily="18" charset="0"/>
                <a:ea typeface="华文新魏" pitchFamily="2" charset="-122"/>
              </a:rPr>
              <a:t>指定优先关系</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930F060-C71F-4770-8666-CCDD0DB25B6E}" type="slidenum">
              <a:rPr lang="zh-CN" altLang="en-US"/>
              <a:pPr eaLnBrk="1" hangingPunct="1"/>
              <a:t>20</a:t>
            </a:fld>
            <a:endParaRPr lang="en-US" altLang="zh-CN"/>
          </a:p>
        </p:txBody>
      </p:sp>
      <p:sp>
        <p:nvSpPr>
          <p:cNvPr id="25603" name="Rectangle 2"/>
          <p:cNvSpPr>
            <a:spLocks noGrp="1" noRot="1" noChangeArrowheads="1"/>
          </p:cNvSpPr>
          <p:nvPr>
            <p:ph type="title"/>
          </p:nvPr>
        </p:nvSpPr>
        <p:spPr>
          <a:xfrm>
            <a:off x="971550" y="549275"/>
            <a:ext cx="7223125" cy="1012825"/>
          </a:xfrm>
          <a:noFill/>
        </p:spPr>
        <p:txBody>
          <a:bodyPr lIns="92075" tIns="46038" rIns="92075" bIns="46038"/>
          <a:lstStyle/>
          <a:p>
            <a:pPr eaLnBrk="1" hangingPunct="1"/>
            <a:r>
              <a:rPr lang="zh-CN" altLang="en-US" sz="4800" b="1" smtClean="0">
                <a:solidFill>
                  <a:srgbClr val="000099"/>
                </a:solidFill>
                <a:latin typeface="Times New Roman" pitchFamily="18" charset="0"/>
                <a:ea typeface="华文新魏" pitchFamily="2" charset="-122"/>
              </a:rPr>
              <a:t>运算的优先级</a:t>
            </a:r>
          </a:p>
        </p:txBody>
      </p:sp>
      <p:sp>
        <p:nvSpPr>
          <p:cNvPr id="439299" name="Rectangle 3"/>
          <p:cNvSpPr>
            <a:spLocks noGrp="1" noRot="1" noChangeArrowheads="1"/>
          </p:cNvSpPr>
          <p:nvPr>
            <p:ph type="body" idx="1"/>
          </p:nvPr>
        </p:nvSpPr>
        <p:spPr>
          <a:xfrm>
            <a:off x="468313" y="1557338"/>
            <a:ext cx="8351837" cy="5040312"/>
          </a:xfrm>
          <a:noFill/>
        </p:spPr>
        <p:txBody>
          <a:bodyPr lIns="92075" tIns="46038" rIns="92075" bIns="46038"/>
          <a:lstStyle/>
          <a:p>
            <a:pPr marL="536575" indent="-536575" eaLnBrk="1" hangingPunct="1">
              <a:spcBef>
                <a:spcPct val="60000"/>
              </a:spcBef>
            </a:pPr>
            <a:r>
              <a:rPr lang="zh-CN" altLang="en-US" b="1" smtClean="0">
                <a:latin typeface="Times New Roman" pitchFamily="18" charset="0"/>
                <a:ea typeface="华文新魏" pitchFamily="2" charset="-122"/>
              </a:rPr>
              <a:t>例：</a:t>
            </a:r>
            <a:r>
              <a:rPr lang="en-US" altLang="zh-CN" b="1" smtClean="0">
                <a:latin typeface="Times New Roman" pitchFamily="18" charset="0"/>
                <a:ea typeface="华文新魏" pitchFamily="2" charset="-122"/>
              </a:rPr>
              <a:t>L(l(l|d)</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(ε|((.|_)(l|d)(l|d)</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a:t>
            </a:r>
          </a:p>
          <a:p>
            <a:pPr marL="536575" indent="-536575" eaLnBrk="1" hangingPunct="1">
              <a:buFont typeface="Wingdings" pitchFamily="2" charset="2"/>
              <a:buNone/>
            </a:pPr>
            <a:r>
              <a:rPr lang="en-US" altLang="zh-CN" b="1" smtClean="0">
                <a:latin typeface="Times New Roman" pitchFamily="18" charset="0"/>
                <a:ea typeface="华文新魏" pitchFamily="2" charset="-122"/>
              </a:rPr>
              <a:t>		    {l}{l,d}</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({ε}∪{.,_}{l,d}{l,d}</a:t>
            </a:r>
            <a:r>
              <a:rPr lang="en-US" altLang="zh-CN" b="1" baseline="30000"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a:t>
            </a:r>
          </a:p>
          <a:p>
            <a:pPr marL="536575" indent="-536575" eaLnBrk="1" hangingPunct="1">
              <a:spcBef>
                <a:spcPct val="60000"/>
              </a:spcBef>
            </a:pPr>
            <a:r>
              <a:rPr lang="zh-CN" altLang="en-US" b="1" smtClean="0">
                <a:latin typeface="Times New Roman" pitchFamily="18" charset="0"/>
                <a:ea typeface="华文新魏" pitchFamily="2" charset="-122"/>
              </a:rPr>
              <a:t>约定：正闭包</a:t>
            </a:r>
          </a:p>
          <a:p>
            <a:pPr marL="1349375" lvl="1" indent="-633413" eaLnBrk="1" hangingPunct="1"/>
            <a:r>
              <a:rPr lang="en-US" altLang="zh-CN" b="1" smtClean="0">
                <a:latin typeface="Times New Roman" pitchFamily="18" charset="0"/>
                <a:ea typeface="华文新魏" pitchFamily="2" charset="-122"/>
              </a:rPr>
              <a:t>rr</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=r</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r=r</a:t>
            </a:r>
            <a:r>
              <a:rPr lang="en-US" altLang="zh-CN" b="1" baseline="30000" smtClean="0">
                <a:latin typeface="Times New Roman" pitchFamily="18" charset="0"/>
                <a:ea typeface="华文新魏" pitchFamily="2" charset="-122"/>
              </a:rPr>
              <a:t>+</a:t>
            </a:r>
            <a:endParaRPr lang="en-US" altLang="zh-CN" b="1" smtClean="0">
              <a:latin typeface="Times New Roman" pitchFamily="18" charset="0"/>
              <a:ea typeface="华文新魏" pitchFamily="2"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AACA573-383C-41BA-8562-6D8B599EA6FE}" type="slidenum">
              <a:rPr lang="zh-CN" altLang="en-US"/>
              <a:pPr eaLnBrk="1" hangingPunct="1"/>
              <a:t>21</a:t>
            </a:fld>
            <a:endParaRPr lang="en-US" altLang="zh-CN"/>
          </a:p>
        </p:txBody>
      </p:sp>
      <p:sp>
        <p:nvSpPr>
          <p:cNvPr id="26627" name="Rectangle 2"/>
          <p:cNvSpPr>
            <a:spLocks noGrp="1" noRot="1" noChangeArrowheads="1"/>
          </p:cNvSpPr>
          <p:nvPr>
            <p:ph type="title"/>
          </p:nvPr>
        </p:nvSpPr>
        <p:spPr>
          <a:xfrm>
            <a:off x="990600" y="990600"/>
            <a:ext cx="7326313" cy="6096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2</a:t>
            </a:r>
            <a:r>
              <a:rPr lang="en-US" altLang="zh-CN" b="1" smtClean="0">
                <a:solidFill>
                  <a:srgbClr val="000099"/>
                </a:solidFill>
                <a:latin typeface="Times New Roman" pitchFamily="18" charset="0"/>
                <a:ea typeface="华文新魏" pitchFamily="2" charset="-122"/>
              </a:rPr>
              <a:t>. </a:t>
            </a:r>
            <a:r>
              <a:rPr lang="zh-CN" altLang="en-US" b="1" smtClean="0">
                <a:solidFill>
                  <a:srgbClr val="000099"/>
                </a:solidFill>
                <a:latin typeface="Times New Roman" pitchFamily="18" charset="0"/>
                <a:ea typeface="华文新魏" pitchFamily="2" charset="-122"/>
              </a:rPr>
              <a:t>正则文法与正则表达式</a:t>
            </a:r>
          </a:p>
        </p:txBody>
      </p:sp>
      <p:sp>
        <p:nvSpPr>
          <p:cNvPr id="26628" name="Rectangle 3"/>
          <p:cNvSpPr>
            <a:spLocks noGrp="1" noRot="1" noChangeArrowheads="1"/>
          </p:cNvSpPr>
          <p:nvPr>
            <p:ph type="body" idx="1"/>
          </p:nvPr>
        </p:nvSpPr>
        <p:spPr>
          <a:xfrm>
            <a:off x="838200" y="2057400"/>
            <a:ext cx="7391400" cy="3962400"/>
          </a:xfrm>
          <a:noFill/>
        </p:spPr>
        <p:txBody>
          <a:bodyPr lIns="92075" tIns="46038" rIns="92075" bIns="46038"/>
          <a:lstStyle/>
          <a:p>
            <a:pPr algn="just" eaLnBrk="1" hangingPunct="1">
              <a:lnSpc>
                <a:spcPct val="120000"/>
              </a:lnSpc>
            </a:pPr>
            <a:r>
              <a:rPr lang="zh-CN" altLang="en-US" sz="3600" b="1" smtClean="0">
                <a:latin typeface="Times New Roman" pitchFamily="18" charset="0"/>
                <a:ea typeface="华文新魏" pitchFamily="2" charset="-122"/>
              </a:rPr>
              <a:t>正则文法与正则表达式</a:t>
            </a:r>
            <a:r>
              <a:rPr lang="zh-CN" altLang="en-US" sz="3600" b="1" smtClean="0">
                <a:solidFill>
                  <a:schemeClr val="hlink"/>
                </a:solidFill>
                <a:latin typeface="Times New Roman" pitchFamily="18" charset="0"/>
                <a:ea typeface="华文新魏" pitchFamily="2" charset="-122"/>
              </a:rPr>
              <a:t>等价</a:t>
            </a:r>
          </a:p>
          <a:p>
            <a:pPr lvl="1" algn="just" eaLnBrk="1" hangingPunct="1">
              <a:lnSpc>
                <a:spcPct val="120000"/>
              </a:lnSpc>
            </a:pPr>
            <a:r>
              <a:rPr lang="zh-CN" altLang="en-US" sz="3600" b="1" smtClean="0">
                <a:latin typeface="Times New Roman" pitchFamily="18" charset="0"/>
                <a:ea typeface="华文新魏" pitchFamily="2" charset="-122"/>
              </a:rPr>
              <a:t>对任何正则文法，存在定义同一语言的正则表达式</a:t>
            </a:r>
          </a:p>
          <a:p>
            <a:pPr lvl="1" algn="just" eaLnBrk="1" hangingPunct="1">
              <a:lnSpc>
                <a:spcPct val="120000"/>
              </a:lnSpc>
            </a:pPr>
            <a:r>
              <a:rPr lang="zh-CN" altLang="en-US" sz="3600" b="1" smtClean="0">
                <a:latin typeface="Times New Roman" pitchFamily="18" charset="0"/>
                <a:ea typeface="华文新魏" pitchFamily="2" charset="-122"/>
              </a:rPr>
              <a:t>对任何正则表达式，存在生成同一语言的正则文法</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4CDE649-91D3-4448-B3CE-79EA7E4ABCB0}" type="slidenum">
              <a:rPr lang="zh-CN" altLang="en-US"/>
              <a:pPr eaLnBrk="1" hangingPunct="1"/>
              <a:t>22</a:t>
            </a:fld>
            <a:endParaRPr lang="en-US" altLang="zh-CN"/>
          </a:p>
        </p:txBody>
      </p:sp>
      <p:sp>
        <p:nvSpPr>
          <p:cNvPr id="27651" name="Rectangle 2"/>
          <p:cNvSpPr>
            <a:spLocks noGrp="1" noRot="1" noChangeArrowheads="1"/>
          </p:cNvSpPr>
          <p:nvPr>
            <p:ph type="title"/>
          </p:nvPr>
        </p:nvSpPr>
        <p:spPr/>
        <p:txBody>
          <a:bodyPr/>
          <a:lstStyle/>
          <a:p>
            <a:pPr eaLnBrk="1" hangingPunct="1"/>
            <a:r>
              <a:rPr lang="zh-CN" altLang="en-US" b="1" smtClean="0">
                <a:solidFill>
                  <a:srgbClr val="000099"/>
                </a:solidFill>
                <a:latin typeface="Times New Roman" pitchFamily="18" charset="0"/>
                <a:ea typeface="华文新魏" pitchFamily="2" charset="-122"/>
              </a:rPr>
              <a:t>2</a:t>
            </a:r>
            <a:r>
              <a:rPr lang="en-US" altLang="zh-CN" b="1" smtClean="0">
                <a:solidFill>
                  <a:srgbClr val="000099"/>
                </a:solidFill>
                <a:latin typeface="Times New Roman" pitchFamily="18" charset="0"/>
                <a:ea typeface="华文新魏" pitchFamily="2" charset="-122"/>
              </a:rPr>
              <a:t>. </a:t>
            </a:r>
            <a:r>
              <a:rPr lang="zh-CN" altLang="en-US" b="1" smtClean="0">
                <a:solidFill>
                  <a:srgbClr val="000099"/>
                </a:solidFill>
                <a:latin typeface="Times New Roman" pitchFamily="18" charset="0"/>
                <a:ea typeface="华文新魏" pitchFamily="2" charset="-122"/>
              </a:rPr>
              <a:t>正则文法与正则表达式</a:t>
            </a:r>
          </a:p>
        </p:txBody>
      </p:sp>
      <p:sp>
        <p:nvSpPr>
          <p:cNvPr id="27652" name="Rectangle 3"/>
          <p:cNvSpPr>
            <a:spLocks noGrp="1" noRot="1" noChangeArrowheads="1"/>
          </p:cNvSpPr>
          <p:nvPr>
            <p:ph type="body" idx="1"/>
          </p:nvPr>
        </p:nvSpPr>
        <p:spPr>
          <a:xfrm>
            <a:off x="611188" y="2017713"/>
            <a:ext cx="8343900" cy="4114800"/>
          </a:xfrm>
        </p:spPr>
        <p:txBody>
          <a:bodyPr/>
          <a:lstStyle/>
          <a:p>
            <a:pPr algn="just" eaLnBrk="1" hangingPunct="1">
              <a:lnSpc>
                <a:spcPct val="120000"/>
              </a:lnSpc>
            </a:pPr>
            <a:r>
              <a:rPr lang="zh-CN" altLang="en-US" sz="3600" b="1" smtClean="0">
                <a:latin typeface="Times New Roman" pitchFamily="18" charset="0"/>
                <a:ea typeface="华文新魏" pitchFamily="2" charset="-122"/>
              </a:rPr>
              <a:t>正则定义式</a:t>
            </a:r>
            <a:r>
              <a:rPr lang="en-US" altLang="zh-CN" sz="3600" b="1" smtClean="0">
                <a:latin typeface="Times New Roman" pitchFamily="18" charset="0"/>
                <a:ea typeface="华文新魏" pitchFamily="2" charset="-122"/>
              </a:rPr>
              <a:t>(</a:t>
            </a:r>
            <a:r>
              <a:rPr lang="zh-CN" altLang="en-US" sz="3600" b="1" smtClean="0">
                <a:solidFill>
                  <a:schemeClr val="hlink"/>
                </a:solidFill>
                <a:latin typeface="Times New Roman" pitchFamily="18" charset="0"/>
                <a:ea typeface="华文新魏" pitchFamily="2" charset="-122"/>
              </a:rPr>
              <a:t>正规定义式</a:t>
            </a:r>
            <a:r>
              <a:rPr lang="en-US" altLang="zh-CN" sz="3600" b="1" smtClean="0">
                <a:latin typeface="Times New Roman" pitchFamily="18" charset="0"/>
                <a:ea typeface="华文新魏" pitchFamily="2" charset="-122"/>
              </a:rPr>
              <a:t>)</a:t>
            </a:r>
          </a:p>
          <a:p>
            <a:pPr lvl="1" eaLnBrk="1" hangingPunct="1">
              <a:lnSpc>
                <a:spcPct val="150000"/>
              </a:lnSpc>
            </a:pPr>
            <a:r>
              <a:rPr lang="zh-CN" altLang="en-US" sz="3200" b="1" smtClean="0">
                <a:latin typeface="Times New Roman" pitchFamily="18" charset="0"/>
                <a:ea typeface="华文新魏" pitchFamily="2" charset="-122"/>
              </a:rPr>
              <a:t>形如</a:t>
            </a:r>
            <a:r>
              <a:rPr lang="en-US" altLang="zh-CN" sz="3200" b="1" smtClean="0">
                <a:latin typeface="Times New Roman" pitchFamily="18" charset="0"/>
                <a:ea typeface="华文新魏" pitchFamily="2" charset="-122"/>
              </a:rPr>
              <a:t>A →</a:t>
            </a:r>
            <a:r>
              <a:rPr lang="el-GR" altLang="zh-CN" sz="3200" b="1" smtClean="0">
                <a:latin typeface="Times New Roman" pitchFamily="18" charset="0"/>
                <a:ea typeface="华文新魏" pitchFamily="2" charset="-122"/>
                <a:cs typeface="Times New Roman" pitchFamily="18" charset="0"/>
              </a:rPr>
              <a:t>α</a:t>
            </a:r>
            <a:r>
              <a:rPr lang="zh-CN" altLang="el-GR" sz="3200" b="1" smtClean="0">
                <a:latin typeface="Times New Roman" pitchFamily="18" charset="0"/>
                <a:ea typeface="华文新魏" pitchFamily="2" charset="-122"/>
                <a:cs typeface="Times New Roman" pitchFamily="18" charset="0"/>
              </a:rPr>
              <a:t>的式子</a:t>
            </a:r>
            <a:r>
              <a:rPr lang="zh-CN" altLang="en-US" sz="3200" b="1" smtClean="0">
                <a:latin typeface="Times New Roman" pitchFamily="18" charset="0"/>
                <a:ea typeface="华文新魏" pitchFamily="2" charset="-122"/>
                <a:cs typeface="Times New Roman" pitchFamily="18" charset="0"/>
              </a:rPr>
              <a:t>称</a:t>
            </a:r>
            <a:r>
              <a:rPr lang="zh-CN" altLang="el-GR" sz="3200" b="1" smtClean="0">
                <a:latin typeface="Times New Roman" pitchFamily="18" charset="0"/>
                <a:ea typeface="华文新魏" pitchFamily="2" charset="-122"/>
                <a:cs typeface="Times New Roman" pitchFamily="18" charset="0"/>
              </a:rPr>
              <a:t>为正</a:t>
            </a:r>
            <a:r>
              <a:rPr lang="zh-CN" altLang="en-US" sz="3200" b="1" smtClean="0">
                <a:latin typeface="Times New Roman" pitchFamily="18" charset="0"/>
                <a:ea typeface="华文新魏" pitchFamily="2" charset="-122"/>
                <a:cs typeface="Times New Roman" pitchFamily="18" charset="0"/>
              </a:rPr>
              <a:t>则</a:t>
            </a:r>
            <a:r>
              <a:rPr lang="zh-CN" altLang="el-GR" sz="3200" b="1" smtClean="0">
                <a:latin typeface="Times New Roman" pitchFamily="18" charset="0"/>
                <a:ea typeface="华文新魏" pitchFamily="2" charset="-122"/>
                <a:cs typeface="Times New Roman" pitchFamily="18" charset="0"/>
              </a:rPr>
              <a:t>定义式，其中</a:t>
            </a:r>
            <a:r>
              <a:rPr lang="el-GR" altLang="zh-CN" sz="3200" b="1" smtClean="0">
                <a:latin typeface="Times New Roman" pitchFamily="18" charset="0"/>
                <a:ea typeface="华文新魏" pitchFamily="2" charset="-122"/>
                <a:cs typeface="Times New Roman" pitchFamily="18" charset="0"/>
              </a:rPr>
              <a:t>α</a:t>
            </a:r>
            <a:r>
              <a:rPr lang="zh-CN" altLang="el-GR" sz="3200" b="1" smtClean="0">
                <a:latin typeface="Times New Roman" pitchFamily="18" charset="0"/>
                <a:ea typeface="华文新魏" pitchFamily="2" charset="-122"/>
                <a:cs typeface="Times New Roman" pitchFamily="18" charset="0"/>
              </a:rPr>
              <a:t>为语法变量与终结符组成的正则表达式</a:t>
            </a:r>
            <a:endParaRPr lang="zh-CN" altLang="en-US" sz="3200" smtClean="0">
              <a:latin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7EFE492-4CE5-4F70-8381-24A7BA52B3F1}" type="slidenum">
              <a:rPr lang="zh-CN" altLang="en-US"/>
              <a:pPr eaLnBrk="1" hangingPunct="1"/>
              <a:t>23</a:t>
            </a:fld>
            <a:endParaRPr lang="en-US" altLang="zh-CN"/>
          </a:p>
        </p:txBody>
      </p:sp>
      <p:sp>
        <p:nvSpPr>
          <p:cNvPr id="28675" name="Rectangle 2"/>
          <p:cNvSpPr>
            <a:spLocks noGrp="1" noRot="1" noChangeArrowheads="1"/>
          </p:cNvSpPr>
          <p:nvPr>
            <p:ph type="title"/>
          </p:nvPr>
        </p:nvSpPr>
        <p:spPr>
          <a:xfrm>
            <a:off x="1150938" y="681038"/>
            <a:ext cx="7154862" cy="1071562"/>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例 3-3 标识符定义的转换</a:t>
            </a:r>
          </a:p>
        </p:txBody>
      </p:sp>
      <p:sp>
        <p:nvSpPr>
          <p:cNvPr id="288771" name="Rectangle 3"/>
          <p:cNvSpPr>
            <a:spLocks noGrp="1" noRot="1" noChangeArrowheads="1"/>
          </p:cNvSpPr>
          <p:nvPr>
            <p:ph type="body" idx="1"/>
          </p:nvPr>
        </p:nvSpPr>
        <p:spPr>
          <a:xfrm>
            <a:off x="762000" y="2057400"/>
            <a:ext cx="4457700" cy="4343400"/>
          </a:xfrm>
          <a:noFill/>
        </p:spPr>
        <p:txBody>
          <a:bodyPr lIns="92075" tIns="46038" rIns="92075" bIns="46038"/>
          <a:lstStyle/>
          <a:p>
            <a:pPr algn="just" eaLnBrk="1" hangingPunct="1">
              <a:lnSpc>
                <a:spcPct val="90000"/>
              </a:lnSpc>
            </a:pPr>
            <a:r>
              <a:rPr lang="zh-CN" altLang="en-US" b="1" smtClean="0">
                <a:latin typeface="Times New Roman" pitchFamily="18" charset="0"/>
                <a:ea typeface="华文新魏" pitchFamily="2" charset="-122"/>
              </a:rPr>
              <a:t>引入 </a:t>
            </a:r>
            <a:r>
              <a:rPr lang="en-US" altLang="zh-CN" b="1" smtClean="0">
                <a:latin typeface="Times New Roman" pitchFamily="18" charset="0"/>
                <a:ea typeface="华文新魏" pitchFamily="2" charset="-122"/>
              </a:rPr>
              <a:t>S   </a:t>
            </a:r>
          </a:p>
          <a:p>
            <a:pPr lvl="1" eaLnBrk="1" hangingPunct="1">
              <a:lnSpc>
                <a:spcPct val="90000"/>
              </a:lnSpc>
              <a:buFont typeface="Wingdings" pitchFamily="2" charset="2"/>
              <a:buNone/>
            </a:pPr>
            <a:r>
              <a:rPr lang="en-US" altLang="zh-CN" b="1" smtClean="0">
                <a:latin typeface="Times New Roman" pitchFamily="18" charset="0"/>
                <a:ea typeface="华文新魏" pitchFamily="2" charset="-122"/>
              </a:rPr>
              <a:t> S→l (l|d)</a:t>
            </a:r>
            <a:r>
              <a:rPr lang="en-US" altLang="zh-CN" b="1" baseline="30000" smtClean="0">
                <a:latin typeface="Times New Roman" pitchFamily="18" charset="0"/>
                <a:ea typeface="华文新魏" pitchFamily="2" charset="-122"/>
              </a:rPr>
              <a:t>*</a:t>
            </a:r>
            <a:endParaRPr lang="en-US" altLang="zh-CN" b="1" smtClean="0">
              <a:latin typeface="Times New Roman" pitchFamily="18" charset="0"/>
              <a:ea typeface="华文新魏" pitchFamily="2" charset="-122"/>
            </a:endParaRPr>
          </a:p>
          <a:p>
            <a:pPr eaLnBrk="1" hangingPunct="1">
              <a:lnSpc>
                <a:spcPct val="90000"/>
              </a:lnSpc>
            </a:pPr>
            <a:r>
              <a:rPr lang="zh-CN" altLang="en-US" b="1" smtClean="0">
                <a:latin typeface="Times New Roman" pitchFamily="18" charset="0"/>
                <a:ea typeface="华文新魏" pitchFamily="2" charset="-122"/>
              </a:rPr>
              <a:t>引入</a:t>
            </a:r>
            <a:r>
              <a:rPr lang="en-US" altLang="zh-CN" b="1" smtClean="0">
                <a:latin typeface="Times New Roman" pitchFamily="18" charset="0"/>
                <a:ea typeface="华文新魏" pitchFamily="2" charset="-122"/>
              </a:rPr>
              <a:t>A</a:t>
            </a:r>
            <a:r>
              <a:rPr lang="zh-CN" altLang="en-US" b="1" smtClean="0">
                <a:latin typeface="Times New Roman" pitchFamily="18" charset="0"/>
                <a:ea typeface="华文新魏" pitchFamily="2" charset="-122"/>
              </a:rPr>
              <a:t>消除闭包 </a:t>
            </a:r>
          </a:p>
          <a:p>
            <a:pPr lvl="1" eaLnBrk="1" hangingPunct="1">
              <a:lnSpc>
                <a:spcPct val="90000"/>
              </a:lnSpc>
              <a:buFont typeface="Wingdings" pitchFamily="2" charset="2"/>
              <a:buNone/>
            </a:pPr>
            <a:r>
              <a:rPr lang="en-US" altLang="zh-CN" b="1" smtClean="0">
                <a:latin typeface="Times New Roman" pitchFamily="18" charset="0"/>
                <a:ea typeface="华文新魏" pitchFamily="2" charset="-122"/>
              </a:rPr>
              <a:t>S→l A </a:t>
            </a:r>
          </a:p>
          <a:p>
            <a:pPr lvl="1" eaLnBrk="1" hangingPunct="1">
              <a:lnSpc>
                <a:spcPct val="90000"/>
              </a:lnSpc>
              <a:buFont typeface="Wingdings" pitchFamily="2" charset="2"/>
              <a:buNone/>
            </a:pPr>
            <a:r>
              <a:rPr lang="en-US" altLang="zh-CN" b="1" smtClean="0">
                <a:latin typeface="Times New Roman" pitchFamily="18" charset="0"/>
                <a:ea typeface="华文新魏" pitchFamily="2" charset="-122"/>
              </a:rPr>
              <a:t>A→(l|d)A|</a:t>
            </a:r>
            <a:r>
              <a:rPr lang="en-US" altLang="zh-CN" sz="3200" b="1" smtClean="0">
                <a:latin typeface="Times New Roman" pitchFamily="18" charset="0"/>
                <a:ea typeface="华文新魏" pitchFamily="2" charset="-122"/>
              </a:rPr>
              <a:t>ε</a:t>
            </a:r>
            <a:endParaRPr lang="en-US" altLang="zh-CN" b="1" smtClean="0">
              <a:latin typeface="Times New Roman" pitchFamily="18" charset="0"/>
              <a:ea typeface="华文新魏" pitchFamily="2" charset="-122"/>
            </a:endParaRPr>
          </a:p>
          <a:p>
            <a:pPr eaLnBrk="1" hangingPunct="1">
              <a:lnSpc>
                <a:spcPct val="90000"/>
              </a:lnSpc>
            </a:pPr>
            <a:r>
              <a:rPr lang="zh-CN" altLang="en-US" b="1" smtClean="0">
                <a:latin typeface="Times New Roman" pitchFamily="18" charset="0"/>
                <a:ea typeface="华文新魏" pitchFamily="2" charset="-122"/>
              </a:rPr>
              <a:t>执行连接对|的分配律</a:t>
            </a:r>
          </a:p>
          <a:p>
            <a:pPr lvl="1" eaLnBrk="1" hangingPunct="1">
              <a:lnSpc>
                <a:spcPct val="90000"/>
              </a:lnSpc>
            </a:pP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S→lA </a:t>
            </a:r>
          </a:p>
          <a:p>
            <a:pPr lvl="1" eaLnBrk="1" hangingPunct="1">
              <a:lnSpc>
                <a:spcPct val="90000"/>
              </a:lnSpc>
            </a:pPr>
            <a:r>
              <a:rPr lang="en-US" altLang="zh-CN" b="1" smtClean="0">
                <a:latin typeface="Times New Roman" pitchFamily="18" charset="0"/>
                <a:ea typeface="华文新魏" pitchFamily="2" charset="-122"/>
              </a:rPr>
              <a:t> A→lA|dA|</a:t>
            </a:r>
            <a:r>
              <a:rPr lang="en-US" altLang="zh-CN" sz="3200" b="1" smtClean="0">
                <a:latin typeface="Times New Roman" pitchFamily="18" charset="0"/>
                <a:ea typeface="华文新魏" pitchFamily="2" charset="-122"/>
              </a:rPr>
              <a:t>ε</a:t>
            </a:r>
            <a:r>
              <a:rPr lang="en-US" altLang="zh-CN" b="1" smtClean="0">
                <a:latin typeface="Times New Roman" pitchFamily="18" charset="0"/>
                <a:ea typeface="华文新魏" pitchFamily="2" charset="-122"/>
              </a:rPr>
              <a:t> </a:t>
            </a:r>
          </a:p>
        </p:txBody>
      </p:sp>
      <p:sp>
        <p:nvSpPr>
          <p:cNvPr id="288772" name="Text Box 4"/>
          <p:cNvSpPr txBox="1">
            <a:spLocks noChangeArrowheads="1"/>
          </p:cNvSpPr>
          <p:nvPr/>
        </p:nvSpPr>
        <p:spPr bwMode="auto">
          <a:xfrm>
            <a:off x="6084888" y="1989138"/>
            <a:ext cx="2590800"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3200" b="1">
                <a:latin typeface="Times New Roman" pitchFamily="18" charset="0"/>
                <a:ea typeface="华文新魏" pitchFamily="2" charset="-122"/>
              </a:rPr>
              <a:t>实数：</a:t>
            </a:r>
          </a:p>
          <a:p>
            <a:pPr eaLnBrk="1" hangingPunct="1">
              <a:spcBef>
                <a:spcPct val="50000"/>
              </a:spcBef>
            </a:pPr>
            <a:r>
              <a:rPr lang="en-US" altLang="zh-CN" sz="3200" b="1">
                <a:latin typeface="Times New Roman" pitchFamily="18" charset="0"/>
              </a:rPr>
              <a:t>d</a:t>
            </a:r>
            <a:r>
              <a:rPr lang="en-US" altLang="zh-CN" sz="3200" b="1" baseline="30000">
                <a:latin typeface="Times New Roman" pitchFamily="18" charset="0"/>
              </a:rPr>
              <a:t>+</a:t>
            </a:r>
            <a:r>
              <a:rPr lang="en-US" altLang="zh-CN" sz="3200" b="1">
                <a:latin typeface="Times New Roman" pitchFamily="18" charset="0"/>
              </a:rPr>
              <a:t>(ε|.d</a:t>
            </a:r>
            <a:r>
              <a:rPr lang="en-US" altLang="zh-CN" sz="3200" b="1" baseline="30000">
                <a:latin typeface="Times New Roman" pitchFamily="18" charset="0"/>
              </a:rPr>
              <a:t>+</a:t>
            </a:r>
            <a:r>
              <a:rPr lang="en-US" altLang="zh-CN" sz="3200" b="1">
                <a:latin typeface="Times New Roman" pitchFamily="18" charset="0"/>
              </a:rPr>
              <a:t>)</a:t>
            </a:r>
            <a:endParaRPr lang="en-US" altLang="zh-CN" sz="3200" b="1" baseline="30000">
              <a:latin typeface="Times New Roman" pitchFamily="18" charset="0"/>
            </a:endParaRPr>
          </a:p>
          <a:p>
            <a:pPr eaLnBrk="1" hangingPunct="1">
              <a:spcBef>
                <a:spcPct val="50000"/>
              </a:spcBef>
            </a:pPr>
            <a:r>
              <a:rPr lang="en-US" altLang="zh-CN" sz="3200" b="1">
                <a:latin typeface="Times New Roman" pitchFamily="18" charset="0"/>
              </a:rPr>
              <a:t>= d</a:t>
            </a:r>
            <a:r>
              <a:rPr lang="en-US" altLang="zh-CN" sz="3200" b="1" baseline="30000">
                <a:latin typeface="Times New Roman" pitchFamily="18" charset="0"/>
              </a:rPr>
              <a:t>+</a:t>
            </a:r>
            <a:r>
              <a:rPr lang="en-US" altLang="zh-CN" sz="3200" b="1">
                <a:latin typeface="Times New Roman" pitchFamily="18" charset="0"/>
              </a:rPr>
              <a:t>| d</a:t>
            </a:r>
            <a:r>
              <a:rPr lang="en-US" altLang="zh-CN" sz="3200" b="1" baseline="30000">
                <a:latin typeface="Times New Roman" pitchFamily="18" charset="0"/>
              </a:rPr>
              <a:t>+</a:t>
            </a:r>
            <a:r>
              <a:rPr lang="en-US" altLang="zh-CN" sz="3200" b="1">
                <a:latin typeface="Times New Roman" pitchFamily="18" charset="0"/>
              </a:rPr>
              <a:t>.d</a:t>
            </a:r>
            <a:r>
              <a:rPr lang="en-US" altLang="zh-CN" sz="3200" b="1" baseline="30000">
                <a:latin typeface="Times New Roman" pitchFamily="18" charset="0"/>
              </a:rPr>
              <a:t>+</a:t>
            </a:r>
          </a:p>
        </p:txBody>
      </p:sp>
      <p:sp>
        <p:nvSpPr>
          <p:cNvPr id="288775" name="Text Box 7"/>
          <p:cNvSpPr txBox="1">
            <a:spLocks noChangeArrowheads="1"/>
          </p:cNvSpPr>
          <p:nvPr/>
        </p:nvSpPr>
        <p:spPr bwMode="auto">
          <a:xfrm>
            <a:off x="6084888" y="4292600"/>
            <a:ext cx="2735262"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800" b="1">
                <a:latin typeface="Times New Roman" pitchFamily="18" charset="0"/>
              </a:rPr>
              <a:t>S→d | dS | dA</a:t>
            </a:r>
          </a:p>
          <a:p>
            <a:pPr eaLnBrk="1" hangingPunct="1">
              <a:spcBef>
                <a:spcPct val="50000"/>
              </a:spcBef>
            </a:pPr>
            <a:r>
              <a:rPr lang="en-US" altLang="zh-CN" sz="2800" b="1">
                <a:latin typeface="Times New Roman" pitchFamily="18" charset="0"/>
              </a:rPr>
              <a:t>A→.B</a:t>
            </a:r>
          </a:p>
          <a:p>
            <a:pPr eaLnBrk="1" hangingPunct="1">
              <a:spcBef>
                <a:spcPct val="50000"/>
              </a:spcBef>
            </a:pPr>
            <a:r>
              <a:rPr lang="en-US" altLang="zh-CN" sz="2800" b="1">
                <a:latin typeface="Times New Roman" pitchFamily="18" charset="0"/>
              </a:rPr>
              <a:t>B→ d | dB</a:t>
            </a:r>
            <a:endParaRPr lang="zh-CN" altLang="en-US" sz="2800" b="1">
              <a:latin typeface="Times New Roman" pitchFamily="18" charset="0"/>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DD43207-30BE-4CC6-B7C6-197FE24117BB}" type="slidenum">
              <a:rPr lang="zh-CN" altLang="en-US"/>
              <a:pPr eaLnBrk="1" hangingPunct="1"/>
              <a:t>24</a:t>
            </a:fld>
            <a:endParaRPr lang="en-US" altLang="zh-CN"/>
          </a:p>
        </p:txBody>
      </p:sp>
      <p:sp>
        <p:nvSpPr>
          <p:cNvPr id="29699" name="Rectangle 2"/>
          <p:cNvSpPr>
            <a:spLocks noGrp="1" noRot="1" noChangeArrowheads="1"/>
          </p:cNvSpPr>
          <p:nvPr>
            <p:ph type="title"/>
          </p:nvPr>
        </p:nvSpPr>
        <p:spPr>
          <a:xfrm>
            <a:off x="468313" y="476250"/>
            <a:ext cx="8223250" cy="609600"/>
          </a:xfrm>
        </p:spPr>
        <p:txBody>
          <a:bodyPr/>
          <a:lstStyle/>
          <a:p>
            <a:pPr eaLnBrk="1" hangingPunct="1"/>
            <a:r>
              <a:rPr lang="zh-CN" altLang="en-US" sz="4000" b="1" smtClean="0">
                <a:solidFill>
                  <a:srgbClr val="000099"/>
                </a:solidFill>
                <a:latin typeface="Times New Roman" pitchFamily="18" charset="0"/>
                <a:ea typeface="华文新魏" pitchFamily="2" charset="-122"/>
              </a:rPr>
              <a:t>例3-4正则表达式到正则文法的转换</a:t>
            </a:r>
          </a:p>
        </p:txBody>
      </p:sp>
      <p:sp>
        <p:nvSpPr>
          <p:cNvPr id="289795" name="Rectangle 3"/>
          <p:cNvSpPr>
            <a:spLocks noGrp="1" noRot="1" noChangeArrowheads="1"/>
          </p:cNvSpPr>
          <p:nvPr>
            <p:ph type="body" idx="1"/>
          </p:nvPr>
        </p:nvSpPr>
        <p:spPr>
          <a:xfrm>
            <a:off x="533400" y="1125538"/>
            <a:ext cx="4470400" cy="5472112"/>
          </a:xfrm>
        </p:spPr>
        <p:txBody>
          <a:bodyPr/>
          <a:lstStyle/>
          <a:p>
            <a:pPr algn="just" eaLnBrk="1" hangingPunct="1">
              <a:lnSpc>
                <a:spcPct val="140000"/>
              </a:lnSpc>
              <a:defRPr/>
            </a:pPr>
            <a:r>
              <a:rPr lang="en-US" altLang="zh-CN" sz="2800" b="1" smtClean="0">
                <a:latin typeface="Times New Roman" pitchFamily="18" charset="0"/>
                <a:ea typeface="华文新魏" pitchFamily="2" charset="-122"/>
              </a:rPr>
              <a:t>l(l|d)</a:t>
            </a:r>
            <a:r>
              <a:rPr lang="en-US" altLang="zh-CN" sz="2800" b="1" baseline="30000"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(ε|((.|_)(l|d)(l|d)</a:t>
            </a:r>
            <a:r>
              <a:rPr lang="en-US" altLang="zh-CN" sz="2800" b="1" baseline="30000" smtClean="0">
                <a:latin typeface="Times New Roman" pitchFamily="18" charset="0"/>
                <a:ea typeface="华文新魏" pitchFamily="2" charset="-122"/>
              </a:rPr>
              <a:t>*</a:t>
            </a:r>
            <a:r>
              <a:rPr lang="en-US" altLang="zh-CN" sz="2800" b="1" smtClean="0">
                <a:latin typeface="Times New Roman" pitchFamily="18" charset="0"/>
                <a:ea typeface="华文新魏" pitchFamily="2" charset="-122"/>
              </a:rPr>
              <a:t>))</a:t>
            </a:r>
          </a:p>
          <a:p>
            <a:pPr algn="just" eaLnBrk="1" hangingPunct="1">
              <a:lnSpc>
                <a:spcPct val="140000"/>
              </a:lnSpc>
              <a:buFont typeface="Wingdings" pitchFamily="2" charset="2"/>
              <a:buNone/>
              <a:defRPr/>
            </a:pPr>
            <a:r>
              <a:rPr lang="en-US" altLang="zh-CN" sz="2800" b="1" smtClean="0">
                <a:latin typeface="Times New Roman" pitchFamily="18" charset="0"/>
                <a:ea typeface="华文新魏" pitchFamily="2" charset="-122"/>
              </a:rPr>
              <a:t>	= l</a:t>
            </a:r>
            <a:r>
              <a:rPr lang="en-US" altLang="zh-CN" sz="2800" b="1" smtClean="0">
                <a:solidFill>
                  <a:schemeClr val="hlink"/>
                </a:solidFill>
                <a:latin typeface="Times New Roman" pitchFamily="18" charset="0"/>
                <a:ea typeface="华文新魏" pitchFamily="2" charset="-122"/>
              </a:rPr>
              <a:t>(l|d)</a:t>
            </a:r>
            <a:r>
              <a:rPr lang="en-US" altLang="zh-CN" sz="2800" b="1" baseline="30000" smtClean="0">
                <a:solidFill>
                  <a:schemeClr val="hlink"/>
                </a:solidFill>
                <a:latin typeface="Times New Roman" pitchFamily="18" charset="0"/>
                <a:ea typeface="华文新魏" pitchFamily="2" charset="-122"/>
              </a:rPr>
              <a:t>*</a:t>
            </a:r>
          </a:p>
          <a:p>
            <a:pPr algn="just" eaLnBrk="1" hangingPunct="1">
              <a:lnSpc>
                <a:spcPct val="140000"/>
              </a:lnSpc>
              <a:buFont typeface="Wingdings" pitchFamily="2" charset="2"/>
              <a:buNone/>
              <a:defRPr/>
            </a:pPr>
            <a:r>
              <a:rPr lang="en-US" altLang="zh-CN" sz="2800" b="1" smtClean="0">
                <a:latin typeface="Times New Roman" pitchFamily="18" charset="0"/>
                <a:ea typeface="华文新魏" pitchFamily="2" charset="-122"/>
              </a:rPr>
              <a:t> 	 |l</a:t>
            </a:r>
            <a:r>
              <a:rPr lang="en-US" altLang="zh-CN" sz="2800" b="1" smtClean="0">
                <a:solidFill>
                  <a:schemeClr val="tx2"/>
                </a:solidFill>
                <a:latin typeface="Times New Roman" pitchFamily="18" charset="0"/>
                <a:ea typeface="华文新魏" pitchFamily="2" charset="-122"/>
              </a:rPr>
              <a:t>(l|d)</a:t>
            </a:r>
            <a:r>
              <a:rPr lang="en-US" altLang="zh-CN" sz="2800" b="1" baseline="30000" smtClean="0">
                <a:solidFill>
                  <a:schemeClr val="tx2"/>
                </a:solidFill>
                <a:latin typeface="Times New Roman" pitchFamily="18" charset="0"/>
                <a:ea typeface="华文新魏" pitchFamily="2" charset="-122"/>
              </a:rPr>
              <a:t>*</a:t>
            </a:r>
            <a:r>
              <a:rPr lang="en-US" altLang="zh-CN" sz="2800" b="1" smtClean="0">
                <a:solidFill>
                  <a:schemeClr val="tx2"/>
                </a:solidFill>
                <a:latin typeface="Times New Roman" pitchFamily="18" charset="0"/>
                <a:ea typeface="华文新魏" pitchFamily="2" charset="-122"/>
              </a:rPr>
              <a:t>.(l(l|d)</a:t>
            </a:r>
            <a:r>
              <a:rPr lang="en-US" altLang="zh-CN" sz="2800" b="1" baseline="30000" smtClean="0">
                <a:solidFill>
                  <a:schemeClr val="tx2"/>
                </a:solidFill>
                <a:latin typeface="Times New Roman" pitchFamily="18" charset="0"/>
                <a:ea typeface="华文新魏" pitchFamily="2" charset="-122"/>
              </a:rPr>
              <a:t>*</a:t>
            </a:r>
            <a:r>
              <a:rPr lang="en-US" altLang="zh-CN" sz="2800" b="1" smtClean="0">
                <a:solidFill>
                  <a:schemeClr val="tx2"/>
                </a:solidFill>
                <a:latin typeface="Times New Roman" pitchFamily="18" charset="0"/>
                <a:ea typeface="华文新魏" pitchFamily="2" charset="-122"/>
              </a:rPr>
              <a:t>|d(l|d)</a:t>
            </a:r>
            <a:r>
              <a:rPr lang="en-US" altLang="zh-CN" sz="2800" b="1" baseline="30000" smtClean="0">
                <a:solidFill>
                  <a:schemeClr val="tx2"/>
                </a:solidFill>
                <a:latin typeface="Times New Roman" pitchFamily="18" charset="0"/>
                <a:ea typeface="华文新魏" pitchFamily="2" charset="-122"/>
              </a:rPr>
              <a:t>*</a:t>
            </a:r>
            <a:r>
              <a:rPr lang="en-US" altLang="zh-CN" sz="2800" b="1" smtClean="0">
                <a:solidFill>
                  <a:schemeClr val="tx2"/>
                </a:solidFill>
                <a:latin typeface="Times New Roman" pitchFamily="18" charset="0"/>
                <a:ea typeface="华文新魏" pitchFamily="2" charset="-122"/>
              </a:rPr>
              <a:t>)</a:t>
            </a:r>
          </a:p>
          <a:p>
            <a:pPr algn="just" eaLnBrk="1" hangingPunct="1">
              <a:lnSpc>
                <a:spcPct val="140000"/>
              </a:lnSpc>
              <a:buFont typeface="Wingdings" pitchFamily="2" charset="2"/>
              <a:buNone/>
              <a:defRPr/>
            </a:pPr>
            <a:r>
              <a:rPr lang="en-US" altLang="zh-CN" sz="2800" b="1" smtClean="0">
                <a:latin typeface="Times New Roman" pitchFamily="18" charset="0"/>
                <a:ea typeface="华文新魏" pitchFamily="2" charset="-122"/>
              </a:rPr>
              <a:t>	 |l</a:t>
            </a:r>
            <a:r>
              <a:rPr lang="en-US" altLang="zh-CN" sz="2800" b="1" smtClean="0">
                <a:solidFill>
                  <a:schemeClr val="tx2"/>
                </a:solidFill>
                <a:latin typeface="Times New Roman" pitchFamily="18" charset="0"/>
                <a:ea typeface="华文新魏" pitchFamily="2" charset="-122"/>
              </a:rPr>
              <a:t>(l|d)</a:t>
            </a:r>
            <a:r>
              <a:rPr lang="en-US" altLang="zh-CN" sz="2800" b="1" baseline="30000" smtClean="0">
                <a:solidFill>
                  <a:schemeClr val="tx2"/>
                </a:solidFill>
                <a:latin typeface="Times New Roman" pitchFamily="18" charset="0"/>
                <a:ea typeface="华文新魏" pitchFamily="2" charset="-122"/>
              </a:rPr>
              <a:t>*</a:t>
            </a:r>
            <a:r>
              <a:rPr lang="en-US" altLang="zh-CN" sz="2800" b="1" smtClean="0">
                <a:solidFill>
                  <a:schemeClr val="tx2"/>
                </a:solidFill>
                <a:latin typeface="Times New Roman" pitchFamily="18" charset="0"/>
                <a:ea typeface="华文新魏" pitchFamily="2" charset="-122"/>
              </a:rPr>
              <a:t>_(l(l|d)</a:t>
            </a:r>
            <a:r>
              <a:rPr lang="en-US" altLang="zh-CN" sz="2800" b="1" baseline="30000" smtClean="0">
                <a:solidFill>
                  <a:schemeClr val="tx2"/>
                </a:solidFill>
                <a:latin typeface="Times New Roman" pitchFamily="18" charset="0"/>
                <a:ea typeface="华文新魏" pitchFamily="2" charset="-122"/>
              </a:rPr>
              <a:t>*</a:t>
            </a:r>
            <a:r>
              <a:rPr lang="en-US" altLang="zh-CN" sz="2800" b="1" smtClean="0">
                <a:solidFill>
                  <a:schemeClr val="tx2"/>
                </a:solidFill>
                <a:latin typeface="Times New Roman" pitchFamily="18" charset="0"/>
                <a:ea typeface="华文新魏" pitchFamily="2" charset="-122"/>
              </a:rPr>
              <a:t>|d(l|d)</a:t>
            </a:r>
            <a:r>
              <a:rPr lang="en-US" altLang="zh-CN" sz="2800" b="1" baseline="30000" smtClean="0">
                <a:solidFill>
                  <a:schemeClr val="tx2"/>
                </a:solidFill>
                <a:latin typeface="Times New Roman" pitchFamily="18" charset="0"/>
                <a:ea typeface="华文新魏" pitchFamily="2" charset="-122"/>
              </a:rPr>
              <a:t>*</a:t>
            </a:r>
            <a:r>
              <a:rPr lang="en-US" altLang="zh-CN" sz="2800" b="1" smtClean="0">
                <a:solidFill>
                  <a:schemeClr val="tx2"/>
                </a:solidFill>
                <a:latin typeface="Times New Roman" pitchFamily="18" charset="0"/>
                <a:ea typeface="华文新魏" pitchFamily="2" charset="-122"/>
              </a:rPr>
              <a:t>)</a:t>
            </a:r>
          </a:p>
          <a:p>
            <a:pPr algn="just" eaLnBrk="1" hangingPunct="1">
              <a:lnSpc>
                <a:spcPct val="140000"/>
              </a:lnSpc>
              <a:buFont typeface="Wingdings" pitchFamily="2" charset="2"/>
              <a:buNone/>
              <a:defRPr/>
            </a:pPr>
            <a:r>
              <a:rPr lang="en-US" altLang="zh-CN" sz="2800" b="1" smtClean="0">
                <a:latin typeface="Times New Roman" pitchFamily="18" charset="0"/>
                <a:ea typeface="华文新魏" pitchFamily="2" charset="-122"/>
              </a:rPr>
              <a:t>	=l</a:t>
            </a:r>
            <a:r>
              <a:rPr lang="en-US" altLang="zh-CN" sz="2800" b="1" smtClean="0">
                <a:solidFill>
                  <a:schemeClr val="hlink"/>
                </a:solidFill>
                <a:latin typeface="Times New Roman" pitchFamily="18" charset="0"/>
                <a:ea typeface="华文新魏" pitchFamily="2" charset="-122"/>
              </a:rPr>
              <a:t>A</a:t>
            </a:r>
            <a:r>
              <a:rPr lang="en-US" altLang="zh-CN" sz="2800" b="1" smtClean="0">
                <a:latin typeface="Times New Roman" pitchFamily="18" charset="0"/>
                <a:ea typeface="华文新魏" pitchFamily="2" charset="-122"/>
              </a:rPr>
              <a:t>|l</a:t>
            </a:r>
            <a:r>
              <a:rPr lang="en-US" altLang="zh-CN" sz="2800" b="1" smtClean="0">
                <a:solidFill>
                  <a:schemeClr val="tx2"/>
                </a:solidFill>
                <a:latin typeface="Times New Roman" pitchFamily="18" charset="0"/>
                <a:ea typeface="华文新魏" pitchFamily="2" charset="-122"/>
              </a:rPr>
              <a:t>C</a:t>
            </a:r>
          </a:p>
          <a:p>
            <a:pPr algn="just" eaLnBrk="1" hangingPunct="1">
              <a:lnSpc>
                <a:spcPct val="140000"/>
              </a:lnSpc>
              <a:buFont typeface="Wingdings" pitchFamily="2" charset="2"/>
              <a:buNone/>
              <a:defRPr/>
            </a:pPr>
            <a:r>
              <a:rPr lang="en-US" altLang="zh-CN" sz="2800" b="1" smtClean="0">
                <a:latin typeface="Times New Roman" pitchFamily="18" charset="0"/>
                <a:ea typeface="华文新魏" pitchFamily="2" charset="-122"/>
              </a:rPr>
              <a:t>A</a:t>
            </a:r>
            <a:r>
              <a:rPr kumimoji="1" lang="en-US" altLang="zh-CN" sz="2800" b="1" smtClean="0">
                <a:solidFill>
                  <a:schemeClr val="folHlink"/>
                </a:solidFill>
                <a:effectLst>
                  <a:outerShdw blurRad="38100" dist="38100" dir="2700000" algn="tl">
                    <a:srgbClr val="C0C0C0"/>
                  </a:outerShdw>
                </a:effectLst>
                <a:latin typeface="Times New Roman" pitchFamily="18" charset="0"/>
              </a:rPr>
              <a:t>→</a:t>
            </a:r>
            <a:r>
              <a:rPr lang="en-US" altLang="zh-CN" sz="2800" b="1" smtClean="0">
                <a:latin typeface="Times New Roman" pitchFamily="18" charset="0"/>
                <a:ea typeface="华文新魏" pitchFamily="2" charset="-122"/>
              </a:rPr>
              <a:t>lA|dA|ε</a:t>
            </a:r>
          </a:p>
          <a:p>
            <a:pPr algn="just" eaLnBrk="1" hangingPunct="1">
              <a:lnSpc>
                <a:spcPct val="140000"/>
              </a:lnSpc>
              <a:buFont typeface="Wingdings" pitchFamily="2" charset="2"/>
              <a:buNone/>
              <a:defRPr/>
            </a:pPr>
            <a:r>
              <a:rPr lang="en-US" altLang="zh-CN" sz="2800" b="1" smtClean="0">
                <a:latin typeface="Times New Roman" pitchFamily="18" charset="0"/>
                <a:ea typeface="华文新魏" pitchFamily="2" charset="-122"/>
              </a:rPr>
              <a:t>C</a:t>
            </a:r>
            <a:r>
              <a:rPr kumimoji="1" lang="en-US" altLang="zh-CN" sz="2800" b="1" smtClean="0">
                <a:solidFill>
                  <a:schemeClr val="folHlink"/>
                </a:solidFill>
                <a:effectLst>
                  <a:outerShdw blurRad="38100" dist="38100" dir="2700000" algn="tl">
                    <a:srgbClr val="C0C0C0"/>
                  </a:outerShdw>
                </a:effectLst>
                <a:latin typeface="Times New Roman" pitchFamily="18" charset="0"/>
              </a:rPr>
              <a:t>→</a:t>
            </a:r>
            <a:r>
              <a:rPr lang="en-US" altLang="zh-CN" sz="2800" b="1" smtClean="0">
                <a:latin typeface="Times New Roman" pitchFamily="18" charset="0"/>
                <a:ea typeface="华文新魏" pitchFamily="2" charset="-122"/>
              </a:rPr>
              <a:t>lC|dC|.B|_B</a:t>
            </a:r>
          </a:p>
          <a:p>
            <a:pPr algn="just" eaLnBrk="1" hangingPunct="1">
              <a:lnSpc>
                <a:spcPct val="140000"/>
              </a:lnSpc>
              <a:buFont typeface="Wingdings" pitchFamily="2" charset="2"/>
              <a:buNone/>
              <a:defRPr/>
            </a:pPr>
            <a:r>
              <a:rPr lang="en-US" altLang="zh-CN" sz="2800" b="1" smtClean="0">
                <a:latin typeface="Times New Roman" pitchFamily="18" charset="0"/>
                <a:ea typeface="华文新魏" pitchFamily="2" charset="-122"/>
              </a:rPr>
              <a:t>B</a:t>
            </a:r>
            <a:r>
              <a:rPr kumimoji="1" lang="en-US" altLang="zh-CN" sz="2800" b="1" smtClean="0">
                <a:solidFill>
                  <a:schemeClr val="folHlink"/>
                </a:solidFill>
                <a:effectLst>
                  <a:outerShdw blurRad="38100" dist="38100" dir="2700000" algn="tl">
                    <a:srgbClr val="C0C0C0"/>
                  </a:outerShdw>
                </a:effectLst>
                <a:latin typeface="Times New Roman" pitchFamily="18" charset="0"/>
              </a:rPr>
              <a:t>→</a:t>
            </a:r>
            <a:r>
              <a:rPr lang="en-US" altLang="zh-CN" sz="2800" b="1" smtClean="0">
                <a:latin typeface="Times New Roman" pitchFamily="18" charset="0"/>
                <a:ea typeface="华文新魏" pitchFamily="2" charset="-122"/>
              </a:rPr>
              <a:t>lA | dA | l | d</a:t>
            </a:r>
          </a:p>
        </p:txBody>
      </p:sp>
      <p:sp>
        <p:nvSpPr>
          <p:cNvPr id="289796" name="Text Box 4"/>
          <p:cNvSpPr txBox="1">
            <a:spLocks noChangeArrowheads="1"/>
          </p:cNvSpPr>
          <p:nvPr/>
        </p:nvSpPr>
        <p:spPr bwMode="auto">
          <a:xfrm>
            <a:off x="5292725" y="1341438"/>
            <a:ext cx="3429000" cy="2505075"/>
          </a:xfrm>
          <a:prstGeom prst="rect">
            <a:avLst/>
          </a:prstGeom>
          <a:noFill/>
          <a:ln w="9525">
            <a:noFill/>
            <a:miter lim="800000"/>
            <a:headEnd/>
            <a:tailEnd/>
          </a:ln>
          <a:effectLst/>
        </p:spPr>
        <p:txBody>
          <a:bodyPr lIns="92075" tIns="46038" rIns="92075" bIns="46038">
            <a:spAutoFit/>
          </a:bodyPr>
          <a:lstStyle/>
          <a:p>
            <a:pPr eaLnBrk="0" hangingPunct="0">
              <a:spcBef>
                <a:spcPct val="55000"/>
              </a:spcBef>
              <a:buClr>
                <a:schemeClr val="folHlink"/>
              </a:buClr>
              <a:buSzPct val="75000"/>
              <a:buFont typeface="Monotype Sorts" pitchFamily="2" charset="2"/>
              <a:buNone/>
              <a:defRPr/>
            </a:pPr>
            <a:r>
              <a:rPr kumimoji="1" lang="en-US" altLang="zh-CN" sz="2800" b="1">
                <a:solidFill>
                  <a:srgbClr val="000099"/>
                </a:solidFill>
                <a:effectLst>
                  <a:outerShdw blurRad="38100" dist="38100" dir="2700000" algn="tl">
                    <a:srgbClr val="C0C0C0"/>
                  </a:outerShdw>
                </a:effectLst>
                <a:latin typeface="Times New Roman" pitchFamily="18" charset="0"/>
              </a:rPr>
              <a:t>S→lA|lC</a:t>
            </a:r>
          </a:p>
          <a:p>
            <a:pPr eaLnBrk="0" hangingPunct="0">
              <a:spcBef>
                <a:spcPct val="55000"/>
              </a:spcBef>
              <a:buClr>
                <a:schemeClr val="folHlink"/>
              </a:buClr>
              <a:buSzPct val="75000"/>
              <a:buFont typeface="Monotype Sorts" pitchFamily="2" charset="2"/>
              <a:buNone/>
              <a:defRPr/>
            </a:pPr>
            <a:r>
              <a:rPr kumimoji="1" lang="en-US" altLang="zh-CN" sz="2800" b="1">
                <a:solidFill>
                  <a:srgbClr val="000099"/>
                </a:solidFill>
                <a:effectLst>
                  <a:outerShdw blurRad="38100" dist="38100" dir="2700000" algn="tl">
                    <a:srgbClr val="C0C0C0"/>
                  </a:outerShdw>
                </a:effectLst>
                <a:latin typeface="Times New Roman" pitchFamily="18" charset="0"/>
              </a:rPr>
              <a:t>A→lA|dA|ε</a:t>
            </a:r>
          </a:p>
          <a:p>
            <a:pPr eaLnBrk="0" hangingPunct="0">
              <a:spcBef>
                <a:spcPct val="55000"/>
              </a:spcBef>
              <a:buClr>
                <a:schemeClr val="folHlink"/>
              </a:buClr>
              <a:buSzPct val="75000"/>
              <a:buFont typeface="Monotype Sorts" pitchFamily="2" charset="2"/>
              <a:buNone/>
              <a:defRPr/>
            </a:pPr>
            <a:r>
              <a:rPr kumimoji="1" lang="en-US" altLang="zh-CN" sz="2800" b="1">
                <a:solidFill>
                  <a:srgbClr val="000099"/>
                </a:solidFill>
                <a:effectLst>
                  <a:outerShdw blurRad="38100" dist="38100" dir="2700000" algn="tl">
                    <a:srgbClr val="C0C0C0"/>
                  </a:outerShdw>
                </a:effectLst>
                <a:latin typeface="Times New Roman" pitchFamily="18" charset="0"/>
              </a:rPr>
              <a:t>C→lC|dC|.B|_B</a:t>
            </a:r>
          </a:p>
          <a:p>
            <a:pPr eaLnBrk="0" hangingPunct="0">
              <a:spcBef>
                <a:spcPct val="55000"/>
              </a:spcBef>
              <a:buClr>
                <a:schemeClr val="folHlink"/>
              </a:buClr>
              <a:buSzPct val="75000"/>
              <a:buFont typeface="Monotype Sorts" pitchFamily="2" charset="2"/>
              <a:buNone/>
              <a:defRPr/>
            </a:pPr>
            <a:r>
              <a:rPr kumimoji="1" lang="en-US" altLang="zh-CN" sz="2800" b="1">
                <a:solidFill>
                  <a:srgbClr val="000099"/>
                </a:solidFill>
                <a:effectLst>
                  <a:outerShdw blurRad="38100" dist="38100" dir="2700000" algn="tl">
                    <a:srgbClr val="C0C0C0"/>
                  </a:outerShdw>
                </a:effectLst>
                <a:latin typeface="Times New Roman" pitchFamily="18" charset="0"/>
              </a:rPr>
              <a:t>B→lA|dA|l|d</a:t>
            </a:r>
          </a:p>
        </p:txBody>
      </p:sp>
      <p:sp>
        <p:nvSpPr>
          <p:cNvPr id="289797" name="Text Box 5"/>
          <p:cNvSpPr txBox="1">
            <a:spLocks noChangeArrowheads="1"/>
          </p:cNvSpPr>
          <p:nvPr/>
        </p:nvSpPr>
        <p:spPr bwMode="auto">
          <a:xfrm>
            <a:off x="5292725" y="4465638"/>
            <a:ext cx="3429000" cy="1843087"/>
          </a:xfrm>
          <a:prstGeom prst="rect">
            <a:avLst/>
          </a:prstGeom>
          <a:noFill/>
          <a:ln w="9525">
            <a:noFill/>
            <a:miter lim="800000"/>
            <a:headEnd/>
            <a:tailEnd/>
          </a:ln>
          <a:effectLst/>
        </p:spPr>
        <p:txBody>
          <a:bodyPr lIns="92075" tIns="46038" rIns="92075" bIns="46038">
            <a:spAutoFit/>
          </a:bodyPr>
          <a:lstStyle/>
          <a:p>
            <a:pPr eaLnBrk="0" hangingPunct="0">
              <a:spcBef>
                <a:spcPct val="55000"/>
              </a:spcBef>
              <a:buClr>
                <a:schemeClr val="folHlink"/>
              </a:buClr>
              <a:buSzPct val="75000"/>
              <a:buFont typeface="Monotype Sorts" pitchFamily="2" charset="2"/>
              <a:buNone/>
              <a:defRPr/>
            </a:pPr>
            <a:r>
              <a:rPr kumimoji="1" lang="en-US" altLang="zh-CN" sz="2800" b="1">
                <a:solidFill>
                  <a:srgbClr val="000099"/>
                </a:solidFill>
                <a:effectLst>
                  <a:outerShdw blurRad="38100" dist="38100" dir="2700000" algn="tl">
                    <a:srgbClr val="C0C0C0"/>
                  </a:outerShdw>
                </a:effectLst>
                <a:latin typeface="Times New Roman" pitchFamily="18" charset="0"/>
              </a:rPr>
              <a:t>S→lA</a:t>
            </a:r>
          </a:p>
          <a:p>
            <a:pPr eaLnBrk="0" hangingPunct="0">
              <a:spcBef>
                <a:spcPct val="55000"/>
              </a:spcBef>
              <a:buClr>
                <a:schemeClr val="folHlink"/>
              </a:buClr>
              <a:buSzPct val="75000"/>
              <a:buFont typeface="Monotype Sorts" pitchFamily="2" charset="2"/>
              <a:buNone/>
              <a:defRPr/>
            </a:pPr>
            <a:r>
              <a:rPr kumimoji="1" lang="en-US" altLang="zh-CN" sz="2800" b="1">
                <a:solidFill>
                  <a:srgbClr val="000099"/>
                </a:solidFill>
                <a:effectLst>
                  <a:outerShdw blurRad="38100" dist="38100" dir="2700000" algn="tl">
                    <a:srgbClr val="C0C0C0"/>
                  </a:outerShdw>
                </a:effectLst>
                <a:latin typeface="Times New Roman" pitchFamily="18" charset="0"/>
              </a:rPr>
              <a:t>A→lA|dA|ε|.B|_B</a:t>
            </a:r>
          </a:p>
          <a:p>
            <a:pPr eaLnBrk="0" hangingPunct="0">
              <a:spcBef>
                <a:spcPct val="55000"/>
              </a:spcBef>
              <a:buClr>
                <a:schemeClr val="folHlink"/>
              </a:buClr>
              <a:buSzPct val="75000"/>
              <a:buFont typeface="Monotype Sorts" pitchFamily="2" charset="2"/>
              <a:buNone/>
              <a:defRPr/>
            </a:pPr>
            <a:r>
              <a:rPr kumimoji="1" lang="en-US" altLang="zh-CN" sz="2800" b="1">
                <a:solidFill>
                  <a:srgbClr val="000099"/>
                </a:solidFill>
                <a:effectLst>
                  <a:outerShdw blurRad="38100" dist="38100" dir="2700000" algn="tl">
                    <a:srgbClr val="C0C0C0"/>
                  </a:outerShdw>
                </a:effectLst>
                <a:latin typeface="Times New Roman" pitchFamily="18" charset="0"/>
              </a:rPr>
              <a:t>B→lB|dB|l|d</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32459637-F13B-4AEB-B26F-A97B71B817D9}" type="slidenum">
              <a:rPr lang="zh-CN" altLang="en-US"/>
              <a:pPr eaLnBrk="1" hangingPunct="1"/>
              <a:t>25</a:t>
            </a:fld>
            <a:endParaRPr lang="en-US" altLang="zh-CN"/>
          </a:p>
        </p:txBody>
      </p:sp>
      <p:sp>
        <p:nvSpPr>
          <p:cNvPr id="30723" name="Rectangle 2"/>
          <p:cNvSpPr>
            <a:spLocks noGrp="1" noRot="1" noChangeArrowheads="1"/>
          </p:cNvSpPr>
          <p:nvPr>
            <p:ph type="title"/>
          </p:nvPr>
        </p:nvSpPr>
        <p:spPr>
          <a:xfrm>
            <a:off x="323850" y="476250"/>
            <a:ext cx="8516938" cy="844550"/>
          </a:xfrm>
        </p:spPr>
        <p:txBody>
          <a:bodyPr/>
          <a:lstStyle/>
          <a:p>
            <a:pPr eaLnBrk="1" hangingPunct="1"/>
            <a:r>
              <a:rPr lang="zh-CN" altLang="en-US" b="1" smtClean="0">
                <a:solidFill>
                  <a:srgbClr val="000099"/>
                </a:solidFill>
                <a:latin typeface="Times New Roman" pitchFamily="18" charset="0"/>
                <a:ea typeface="华文新魏" pitchFamily="2" charset="-122"/>
              </a:rPr>
              <a:t>正则表达式到正则文法的转换</a:t>
            </a:r>
          </a:p>
        </p:txBody>
      </p:sp>
      <p:sp>
        <p:nvSpPr>
          <p:cNvPr id="290819" name="Rectangle 3"/>
          <p:cNvSpPr>
            <a:spLocks noGrp="1" noRot="1" noChangeArrowheads="1"/>
          </p:cNvSpPr>
          <p:nvPr>
            <p:ph type="body" idx="1"/>
          </p:nvPr>
        </p:nvSpPr>
        <p:spPr>
          <a:xfrm>
            <a:off x="762000" y="1981200"/>
            <a:ext cx="7848600" cy="4327525"/>
          </a:xfrm>
        </p:spPr>
        <p:txBody>
          <a:bodyPr/>
          <a:lstStyle/>
          <a:p>
            <a:pPr eaLnBrk="1" hangingPunct="1">
              <a:lnSpc>
                <a:spcPct val="90000"/>
              </a:lnSpc>
            </a:pPr>
            <a:r>
              <a:rPr lang="zh-CN" altLang="en-US" b="1" smtClean="0">
                <a:latin typeface="Times New Roman" pitchFamily="18" charset="0"/>
                <a:ea typeface="华文新魏" pitchFamily="2" charset="-122"/>
              </a:rPr>
              <a:t>按如下方法构造正则定义式，并逐步将其转换成正则文法</a:t>
            </a:r>
          </a:p>
          <a:p>
            <a:pPr eaLnBrk="1" hangingPunct="1">
              <a:lnSpc>
                <a:spcPct val="90000"/>
              </a:lnSpc>
            </a:pPr>
            <a:r>
              <a:rPr lang="zh-CN" altLang="en-US" b="1" smtClean="0">
                <a:latin typeface="Times New Roman" pitchFamily="18" charset="0"/>
                <a:ea typeface="华文新魏" pitchFamily="2" charset="-122"/>
              </a:rPr>
              <a:t>引入开始符号</a:t>
            </a:r>
            <a:r>
              <a:rPr lang="en-US" altLang="zh-CN" b="1" smtClean="0">
                <a:latin typeface="Times New Roman" pitchFamily="18" charset="0"/>
                <a:ea typeface="华文新魏" pitchFamily="2" charset="-122"/>
              </a:rPr>
              <a:t>S，</a:t>
            </a:r>
            <a:r>
              <a:rPr lang="zh-CN" altLang="en-US" b="1" smtClean="0">
                <a:latin typeface="Times New Roman" pitchFamily="18" charset="0"/>
                <a:ea typeface="华文新魏" pitchFamily="2" charset="-122"/>
              </a:rPr>
              <a:t>从如下</a:t>
            </a:r>
            <a:r>
              <a:rPr lang="zh-CN" altLang="en-US" b="1" smtClean="0">
                <a:solidFill>
                  <a:srgbClr val="DF1813"/>
                </a:solidFill>
                <a:latin typeface="Times New Roman" pitchFamily="18" charset="0"/>
                <a:ea typeface="华文新魏" pitchFamily="2" charset="-122"/>
              </a:rPr>
              <a:t>正则定义式</a:t>
            </a:r>
            <a:r>
              <a:rPr lang="zh-CN" altLang="en-US" b="1" smtClean="0">
                <a:latin typeface="Times New Roman" pitchFamily="18" charset="0"/>
                <a:ea typeface="华文新魏" pitchFamily="2" charset="-122"/>
              </a:rPr>
              <a:t>开始</a:t>
            </a:r>
          </a:p>
          <a:p>
            <a:pPr lvl="1" eaLnBrk="1" hangingPunct="1">
              <a:lnSpc>
                <a:spcPct val="90000"/>
              </a:lnSpc>
            </a:pPr>
            <a:r>
              <a:rPr lang="en-US" altLang="zh-CN" b="1" smtClean="0">
                <a:latin typeface="Times New Roman" pitchFamily="18" charset="0"/>
                <a:ea typeface="华文新魏" pitchFamily="2" charset="-122"/>
              </a:rPr>
              <a:t>S→r</a:t>
            </a:r>
          </a:p>
          <a:p>
            <a:pPr eaLnBrk="1" hangingPunct="1">
              <a:lnSpc>
                <a:spcPct val="90000"/>
              </a:lnSpc>
            </a:pPr>
            <a:r>
              <a:rPr lang="zh-CN" altLang="en-US" b="1" smtClean="0">
                <a:latin typeface="Times New Roman" pitchFamily="18" charset="0"/>
                <a:ea typeface="华文新魏" pitchFamily="2" charset="-122"/>
              </a:rPr>
              <a:t>对</a:t>
            </a:r>
            <a:r>
              <a:rPr lang="en-US" altLang="zh-CN" b="1" smtClean="0">
                <a:latin typeface="Times New Roman" pitchFamily="18" charset="0"/>
                <a:ea typeface="华文新魏" pitchFamily="2" charset="-122"/>
              </a:rPr>
              <a:t>r</a:t>
            </a:r>
            <a:r>
              <a:rPr lang="zh-CN" altLang="en-US" b="1" smtClean="0">
                <a:latin typeface="Times New Roman" pitchFamily="18" charset="0"/>
                <a:ea typeface="华文新魏" pitchFamily="2" charset="-122"/>
              </a:rPr>
              <a:t>中的形如</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n</a:t>
            </a:r>
            <a:r>
              <a:rPr lang="zh-CN" altLang="en-US" b="1" smtClean="0">
                <a:latin typeface="Times New Roman" pitchFamily="18" charset="0"/>
                <a:ea typeface="华文新魏" pitchFamily="2" charset="-122"/>
              </a:rPr>
              <a:t>的子串</a:t>
            </a:r>
          </a:p>
          <a:p>
            <a:pPr lvl="1" eaLnBrk="1" hangingPunct="1">
              <a:lnSpc>
                <a:spcPct val="90000"/>
              </a:lnSpc>
            </a:pPr>
            <a:r>
              <a:rPr lang="zh-CN" altLang="en-US" b="1" smtClean="0">
                <a:latin typeface="Times New Roman" pitchFamily="18" charset="0"/>
                <a:ea typeface="华文新魏" pitchFamily="2" charset="-122"/>
              </a:rPr>
              <a:t>用产生式组	</a:t>
            </a:r>
            <a:r>
              <a:rPr lang="en-US" altLang="zh-CN" b="1" smtClean="0">
                <a:latin typeface="Times New Roman" pitchFamily="18" charset="0"/>
                <a:ea typeface="华文新魏" pitchFamily="2" charset="-122"/>
              </a:rPr>
              <a:t>A→ r</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n  </a:t>
            </a:r>
            <a:r>
              <a:rPr lang="zh-CN" altLang="en-US" b="1" smtClean="0">
                <a:latin typeface="Times New Roman" pitchFamily="18" charset="0"/>
                <a:ea typeface="华文新魏" pitchFamily="2" charset="-122"/>
              </a:rPr>
              <a:t>表示</a:t>
            </a:r>
          </a:p>
          <a:p>
            <a:pPr eaLnBrk="1" hangingPunct="1">
              <a:lnSpc>
                <a:spcPct val="90000"/>
              </a:lnSpc>
              <a:spcBef>
                <a:spcPct val="40000"/>
              </a:spcBef>
            </a:pPr>
            <a:r>
              <a:rPr lang="zh-CN" altLang="en-US" b="1" smtClean="0">
                <a:latin typeface="Times New Roman" pitchFamily="18" charset="0"/>
                <a:ea typeface="华文新魏" pitchFamily="2" charset="-122"/>
              </a:rPr>
              <a:t>对</a:t>
            </a:r>
            <a:r>
              <a:rPr lang="en-US" altLang="zh-CN" b="1" smtClean="0">
                <a:latin typeface="Times New Roman" pitchFamily="18" charset="0"/>
                <a:ea typeface="华文新魏" pitchFamily="2" charset="-122"/>
              </a:rPr>
              <a:t>r</a:t>
            </a:r>
            <a:r>
              <a:rPr lang="zh-CN" altLang="en-US" b="1" smtClean="0">
                <a:latin typeface="Times New Roman" pitchFamily="18" charset="0"/>
                <a:ea typeface="华文新魏" pitchFamily="2" charset="-122"/>
              </a:rPr>
              <a:t>中的形如</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1</a:t>
            </a:r>
            <a:r>
              <a:rPr lang="en-US" altLang="zh-CN" b="1" baseline="30000" smtClean="0">
                <a:latin typeface="Times New Roman" pitchFamily="18" charset="0"/>
                <a:ea typeface="华文新魏" pitchFamily="2" charset="-122"/>
              </a:rPr>
              <a:t>*</a:t>
            </a:r>
            <a:r>
              <a:rPr lang="zh-CN" altLang="en-US" b="1" smtClean="0">
                <a:latin typeface="Times New Roman" pitchFamily="18" charset="0"/>
                <a:ea typeface="华文新魏" pitchFamily="2" charset="-122"/>
              </a:rPr>
              <a:t>的子式子</a:t>
            </a:r>
          </a:p>
          <a:p>
            <a:pPr lvl="1" eaLnBrk="1" hangingPunct="1">
              <a:lnSpc>
                <a:spcPct val="90000"/>
              </a:lnSpc>
              <a:spcBef>
                <a:spcPct val="40000"/>
              </a:spcBef>
            </a:pPr>
            <a:r>
              <a:rPr lang="zh-CN" altLang="en-US" b="1" smtClean="0">
                <a:latin typeface="Times New Roman" pitchFamily="18" charset="0"/>
                <a:ea typeface="华文新魏" pitchFamily="2" charset="-122"/>
              </a:rPr>
              <a:t>用产生式组  </a:t>
            </a:r>
            <a:r>
              <a:rPr lang="en-US" altLang="zh-CN" b="1" smtClean="0">
                <a:latin typeface="Times New Roman" pitchFamily="18" charset="0"/>
                <a:ea typeface="华文新魏" pitchFamily="2" charset="-122"/>
              </a:rPr>
              <a:t>A→ε|r</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A  </a:t>
            </a:r>
            <a:r>
              <a:rPr lang="zh-CN" altLang="en-US" b="1" smtClean="0">
                <a:latin typeface="Times New Roman" pitchFamily="18" charset="0"/>
                <a:ea typeface="华文新魏" pitchFamily="2" charset="-122"/>
              </a:rPr>
              <a:t>表示</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457F6E6-1269-448E-8744-9630733047F0}" type="slidenum">
              <a:rPr lang="zh-CN" altLang="en-US"/>
              <a:pPr eaLnBrk="1" hangingPunct="1"/>
              <a:t>26</a:t>
            </a:fld>
            <a:endParaRPr lang="en-US" altLang="zh-CN"/>
          </a:p>
        </p:txBody>
      </p:sp>
      <p:sp>
        <p:nvSpPr>
          <p:cNvPr id="31747" name="Rectangle 2"/>
          <p:cNvSpPr>
            <a:spLocks noGrp="1" noRot="1" noChangeArrowheads="1"/>
          </p:cNvSpPr>
          <p:nvPr>
            <p:ph type="title"/>
          </p:nvPr>
        </p:nvSpPr>
        <p:spPr>
          <a:xfrm>
            <a:off x="552450" y="476250"/>
            <a:ext cx="8591550" cy="655638"/>
          </a:xfrm>
        </p:spPr>
        <p:txBody>
          <a:bodyPr/>
          <a:lstStyle/>
          <a:p>
            <a:pPr eaLnBrk="1" hangingPunct="1"/>
            <a:r>
              <a:rPr lang="zh-CN" altLang="en-US" b="1" smtClean="0">
                <a:solidFill>
                  <a:srgbClr val="000099"/>
                </a:solidFill>
                <a:latin typeface="Times New Roman" pitchFamily="18" charset="0"/>
                <a:ea typeface="华文新魏" pitchFamily="2" charset="-122"/>
              </a:rPr>
              <a:t>正则表达式到正则文法的转换</a:t>
            </a:r>
          </a:p>
        </p:txBody>
      </p:sp>
      <p:sp>
        <p:nvSpPr>
          <p:cNvPr id="291843" name="Rectangle 3"/>
          <p:cNvSpPr>
            <a:spLocks noGrp="1" noRot="1" noChangeArrowheads="1"/>
          </p:cNvSpPr>
          <p:nvPr>
            <p:ph type="body" idx="1"/>
          </p:nvPr>
        </p:nvSpPr>
        <p:spPr>
          <a:xfrm>
            <a:off x="250825" y="1412875"/>
            <a:ext cx="8713788" cy="4968875"/>
          </a:xfrm>
        </p:spPr>
        <p:txBody>
          <a:bodyPr/>
          <a:lstStyle/>
          <a:p>
            <a:pPr eaLnBrk="1" hangingPunct="1">
              <a:spcBef>
                <a:spcPct val="40000"/>
              </a:spcBef>
            </a:pPr>
            <a:r>
              <a:rPr lang="zh-CN" altLang="en-US" b="1" smtClean="0">
                <a:latin typeface="Times New Roman" pitchFamily="18" charset="0"/>
                <a:ea typeface="华文新魏" pitchFamily="2" charset="-122"/>
              </a:rPr>
              <a:t>对</a:t>
            </a:r>
            <a:r>
              <a:rPr lang="en-US" altLang="zh-CN" b="1" smtClean="0">
                <a:latin typeface="Times New Roman" pitchFamily="18" charset="0"/>
                <a:ea typeface="华文新魏" pitchFamily="2" charset="-122"/>
              </a:rPr>
              <a:t>r</a:t>
            </a:r>
            <a:r>
              <a:rPr lang="zh-CN" altLang="en-US" b="1" smtClean="0">
                <a:latin typeface="Times New Roman" pitchFamily="18" charset="0"/>
                <a:ea typeface="华文新魏" pitchFamily="2" charset="-122"/>
              </a:rPr>
              <a:t>中的形如</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1</a:t>
            </a:r>
            <a:r>
              <a:rPr lang="en-US" altLang="zh-CN" b="1" baseline="30000" smtClean="0">
                <a:latin typeface="Times New Roman" pitchFamily="18" charset="0"/>
                <a:ea typeface="华文新魏" pitchFamily="2" charset="-122"/>
              </a:rPr>
              <a:t>+</a:t>
            </a:r>
            <a:r>
              <a:rPr lang="zh-CN" altLang="en-US" b="1" smtClean="0">
                <a:latin typeface="Times New Roman" pitchFamily="18" charset="0"/>
                <a:ea typeface="华文新魏" pitchFamily="2" charset="-122"/>
              </a:rPr>
              <a:t>的子式子，</a:t>
            </a:r>
          </a:p>
          <a:p>
            <a:pPr lvl="1" eaLnBrk="1" hangingPunct="1">
              <a:spcBef>
                <a:spcPct val="40000"/>
              </a:spcBef>
            </a:pPr>
            <a:r>
              <a:rPr lang="zh-CN" altLang="en-US" b="1" smtClean="0">
                <a:latin typeface="Times New Roman" pitchFamily="18" charset="0"/>
                <a:ea typeface="华文新魏" pitchFamily="2" charset="-122"/>
              </a:rPr>
              <a:t>用产生式组  </a:t>
            </a:r>
            <a:r>
              <a:rPr lang="en-US" altLang="zh-CN" b="1" smtClean="0">
                <a:latin typeface="Times New Roman" pitchFamily="18" charset="0"/>
                <a:ea typeface="华文新魏" pitchFamily="2" charset="-122"/>
              </a:rPr>
              <a:t>A→ r</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 r</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A   </a:t>
            </a:r>
            <a:r>
              <a:rPr lang="zh-CN" altLang="en-US" b="1" smtClean="0">
                <a:latin typeface="Times New Roman" pitchFamily="18" charset="0"/>
                <a:ea typeface="华文新魏" pitchFamily="2" charset="-122"/>
              </a:rPr>
              <a:t>表示</a:t>
            </a:r>
          </a:p>
          <a:p>
            <a:pPr eaLnBrk="1" hangingPunct="1">
              <a:spcBef>
                <a:spcPct val="40000"/>
              </a:spcBef>
            </a:pPr>
            <a:r>
              <a:rPr lang="zh-CN" altLang="en-US" b="1" smtClean="0">
                <a:latin typeface="Times New Roman" pitchFamily="18" charset="0"/>
                <a:ea typeface="华文新魏" pitchFamily="2" charset="-122"/>
              </a:rPr>
              <a:t>执行连接对|的分配律</a:t>
            </a:r>
          </a:p>
          <a:p>
            <a:pPr eaLnBrk="1" hangingPunct="1">
              <a:spcBef>
                <a:spcPct val="40000"/>
              </a:spcBef>
            </a:pPr>
            <a:r>
              <a:rPr lang="zh-CN" altLang="en-US" b="1" smtClean="0">
                <a:latin typeface="Times New Roman" pitchFamily="18" charset="0"/>
                <a:ea typeface="华文新魏" pitchFamily="2" charset="-122"/>
              </a:rPr>
              <a:t>对连接运算，前项结束后加新变量： </a:t>
            </a:r>
            <a:r>
              <a:rPr lang="en-US" altLang="zh-CN" b="1" smtClean="0">
                <a:latin typeface="Times New Roman" pitchFamily="18" charset="0"/>
                <a:ea typeface="华文新魏" pitchFamily="2" charset="-122"/>
              </a:rPr>
              <a:t>A→</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 r</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 </a:t>
            </a:r>
          </a:p>
          <a:p>
            <a:pPr lvl="1" eaLnBrk="1" hangingPunct="1">
              <a:spcBef>
                <a:spcPct val="40000"/>
              </a:spcBef>
            </a:pPr>
            <a:r>
              <a:rPr lang="zh-CN" altLang="en-US" b="1" smtClean="0">
                <a:latin typeface="Times New Roman" pitchFamily="18" charset="0"/>
                <a:ea typeface="华文新魏" pitchFamily="2" charset="-122"/>
              </a:rPr>
              <a:t>设</a:t>
            </a:r>
            <a:r>
              <a:rPr lang="en-US" altLang="zh-CN" b="1" smtClean="0">
                <a:latin typeface="Times New Roman" pitchFamily="18" charset="0"/>
                <a:ea typeface="华文新魏" pitchFamily="2" charset="-122"/>
              </a:rPr>
              <a:t>A</a:t>
            </a:r>
            <a:r>
              <a:rPr lang="zh-CN" altLang="en-US" b="1" smtClean="0">
                <a:latin typeface="Times New Roman" pitchFamily="18" charset="0"/>
                <a:ea typeface="华文新魏" pitchFamily="2" charset="-122"/>
              </a:rPr>
              <a:t>关于</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的产生式系列为</a:t>
            </a:r>
            <a:r>
              <a:rPr lang="en-US" altLang="zh-CN" b="1" smtClean="0">
                <a:latin typeface="Times New Roman" pitchFamily="18" charset="0"/>
                <a:ea typeface="华文新魏" pitchFamily="2" charset="-122"/>
              </a:rPr>
              <a:t>A →a</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B|a</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C|…|a</a:t>
            </a:r>
            <a:r>
              <a:rPr lang="en-US" altLang="zh-CN" b="1" baseline="-25000" smtClean="0">
                <a:latin typeface="Times New Roman" pitchFamily="18" charset="0"/>
                <a:ea typeface="华文新魏" pitchFamily="2" charset="-122"/>
              </a:rPr>
              <a:t>n</a:t>
            </a:r>
            <a:r>
              <a:rPr lang="en-US" altLang="zh-CN" b="1" smtClean="0">
                <a:latin typeface="Times New Roman" pitchFamily="18" charset="0"/>
                <a:ea typeface="华文新魏" pitchFamily="2" charset="-122"/>
              </a:rPr>
              <a:t>D| b</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|b</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|…|b</a:t>
            </a:r>
            <a:r>
              <a:rPr lang="en-US" altLang="zh-CN" b="1" baseline="-25000" smtClean="0">
                <a:latin typeface="Times New Roman" pitchFamily="18" charset="0"/>
                <a:ea typeface="华文新魏" pitchFamily="2" charset="-122"/>
              </a:rPr>
              <a:t>m</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则加入</a:t>
            </a:r>
            <a:r>
              <a:rPr lang="en-US" altLang="zh-CN" b="1" smtClean="0">
                <a:latin typeface="Times New Roman" pitchFamily="18" charset="0"/>
                <a:ea typeface="华文新魏" pitchFamily="2" charset="-122"/>
              </a:rPr>
              <a:t>A →a</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B|a</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C|…|a</a:t>
            </a:r>
            <a:r>
              <a:rPr lang="en-US" altLang="zh-CN" b="1" baseline="-25000" smtClean="0">
                <a:latin typeface="Times New Roman" pitchFamily="18" charset="0"/>
                <a:ea typeface="华文新魏" pitchFamily="2" charset="-122"/>
              </a:rPr>
              <a:t>n</a:t>
            </a:r>
            <a:r>
              <a:rPr lang="en-US" altLang="zh-CN" b="1" smtClean="0">
                <a:latin typeface="Times New Roman" pitchFamily="18" charset="0"/>
                <a:ea typeface="华文新魏" pitchFamily="2" charset="-122"/>
              </a:rPr>
              <a:t>D| b</a:t>
            </a:r>
            <a:r>
              <a:rPr lang="en-US" altLang="zh-CN" b="1" baseline="-25000" smtClean="0">
                <a:latin typeface="Times New Roman" pitchFamily="18" charset="0"/>
                <a:ea typeface="华文新魏" pitchFamily="2" charset="-122"/>
              </a:rPr>
              <a:t>1</a:t>
            </a:r>
            <a:r>
              <a:rPr lang="en-US" altLang="zh-CN" b="1" smtClean="0">
                <a:latin typeface="Times New Roman" pitchFamily="18" charset="0"/>
                <a:ea typeface="华文新魏" pitchFamily="2" charset="-122"/>
              </a:rPr>
              <a:t>E|b</a:t>
            </a:r>
            <a:r>
              <a:rPr lang="en-US" altLang="zh-CN" b="1" baseline="-25000" smtClean="0">
                <a:latin typeface="Times New Roman" pitchFamily="18" charset="0"/>
                <a:ea typeface="华文新魏" pitchFamily="2" charset="-122"/>
              </a:rPr>
              <a:t>2</a:t>
            </a:r>
            <a:r>
              <a:rPr lang="en-US" altLang="zh-CN" b="1" smtClean="0">
                <a:latin typeface="Times New Roman" pitchFamily="18" charset="0"/>
                <a:ea typeface="华文新魏" pitchFamily="2" charset="-122"/>
              </a:rPr>
              <a:t>E|…|b</a:t>
            </a:r>
            <a:r>
              <a:rPr lang="en-US" altLang="zh-CN" b="1" baseline="-25000" smtClean="0">
                <a:latin typeface="Times New Roman" pitchFamily="18" charset="0"/>
                <a:ea typeface="华文新魏" pitchFamily="2" charset="-122"/>
              </a:rPr>
              <a:t>m</a:t>
            </a:r>
            <a:r>
              <a:rPr lang="en-US" altLang="zh-CN" b="1" smtClean="0">
                <a:latin typeface="Times New Roman" pitchFamily="18" charset="0"/>
                <a:ea typeface="华文新魏" pitchFamily="2" charset="-122"/>
              </a:rPr>
              <a:t>E</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E</a:t>
            </a:r>
            <a:r>
              <a:rPr lang="zh-CN" altLang="en-US" b="1" smtClean="0">
                <a:latin typeface="Times New Roman" pitchFamily="18" charset="0"/>
                <a:ea typeface="华文新魏" pitchFamily="2" charset="-122"/>
              </a:rPr>
              <a:t>将表示</a:t>
            </a:r>
            <a:r>
              <a:rPr lang="en-US" altLang="zh-CN" b="1" smtClean="0">
                <a:latin typeface="Times New Roman" pitchFamily="18" charset="0"/>
                <a:ea typeface="华文新魏" pitchFamily="2" charset="-122"/>
              </a:rPr>
              <a:t>r</a:t>
            </a:r>
            <a:r>
              <a:rPr lang="en-US" altLang="zh-CN" b="1" baseline="-25000" smtClean="0">
                <a:latin typeface="Times New Roman" pitchFamily="18" charset="0"/>
                <a:ea typeface="华文新魏" pitchFamily="2" charset="-122"/>
              </a:rPr>
              <a:t>2</a:t>
            </a:r>
            <a:endParaRPr lang="zh-CN" altLang="en-US" b="1" smtClean="0">
              <a:latin typeface="Times New Roman" pitchFamily="18" charset="0"/>
              <a:ea typeface="华文新魏" pitchFamily="2" charset="-122"/>
            </a:endParaRPr>
          </a:p>
          <a:p>
            <a:pPr eaLnBrk="1" hangingPunct="1">
              <a:spcBef>
                <a:spcPct val="40000"/>
              </a:spcBef>
            </a:pPr>
            <a:r>
              <a:rPr lang="en-US" altLang="zh-CN" b="1" smtClean="0">
                <a:latin typeface="Times New Roman" pitchFamily="18" charset="0"/>
                <a:ea typeface="华文新魏" pitchFamily="2" charset="-122"/>
              </a:rPr>
              <a:t>RE</a:t>
            </a:r>
            <a:r>
              <a:rPr lang="zh-CN" altLang="en-US" b="1" smtClean="0">
                <a:latin typeface="Times New Roman" pitchFamily="18" charset="0"/>
                <a:ea typeface="华文新魏" pitchFamily="2" charset="-122"/>
              </a:rPr>
              <a:t>到</a:t>
            </a:r>
            <a:r>
              <a:rPr lang="en-US" altLang="zh-CN" b="1" smtClean="0">
                <a:latin typeface="Times New Roman" pitchFamily="18" charset="0"/>
                <a:ea typeface="华文新魏" pitchFamily="2" charset="-122"/>
              </a:rPr>
              <a:t>RG</a:t>
            </a:r>
            <a:r>
              <a:rPr lang="zh-CN" altLang="en-US" b="1" smtClean="0">
                <a:latin typeface="Times New Roman" pitchFamily="18" charset="0"/>
                <a:ea typeface="华文新魏" pitchFamily="2" charset="-122"/>
              </a:rPr>
              <a:t>的转换用到了</a:t>
            </a:r>
            <a:r>
              <a:rPr lang="zh-CN" altLang="en-US" b="1" smtClean="0">
                <a:solidFill>
                  <a:srgbClr val="DF1813"/>
                </a:solidFill>
                <a:latin typeface="Times New Roman" pitchFamily="18" charset="0"/>
                <a:ea typeface="华文新魏" pitchFamily="2" charset="-122"/>
              </a:rPr>
              <a:t>正则定义式</a:t>
            </a:r>
            <a:r>
              <a:rPr lang="zh-CN" altLang="en-US" b="1" smtClean="0">
                <a:latin typeface="Times New Roman" pitchFamily="18" charset="0"/>
                <a:ea typeface="华文新魏" pitchFamily="2" charset="-122"/>
              </a:rPr>
              <a:t>的概念</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4FF146D-9711-405E-85F0-3857ADA4498A}" type="slidenum">
              <a:rPr lang="zh-CN" altLang="en-US"/>
              <a:pPr eaLnBrk="1" hangingPunct="1"/>
              <a:t>27</a:t>
            </a:fld>
            <a:endParaRPr lang="en-US" altLang="zh-CN"/>
          </a:p>
        </p:txBody>
      </p:sp>
      <p:sp>
        <p:nvSpPr>
          <p:cNvPr id="32771" name="Rectangle 2"/>
          <p:cNvSpPr>
            <a:spLocks noGrp="1" noRot="1" noChangeArrowheads="1"/>
          </p:cNvSpPr>
          <p:nvPr>
            <p:ph type="title"/>
          </p:nvPr>
        </p:nvSpPr>
        <p:spPr>
          <a:xfrm>
            <a:off x="539750" y="685800"/>
            <a:ext cx="8223250" cy="914400"/>
          </a:xfrm>
          <a:noFill/>
        </p:spPr>
        <p:txBody>
          <a:bodyPr lIns="92075" tIns="46038" rIns="92075" bIns="46038"/>
          <a:lstStyle/>
          <a:p>
            <a:pPr eaLnBrk="1" hangingPunct="1"/>
            <a:r>
              <a:rPr lang="zh-CN" altLang="en-US" sz="4000" b="1" smtClean="0">
                <a:solidFill>
                  <a:srgbClr val="000099"/>
                </a:solidFill>
                <a:latin typeface="Times New Roman" pitchFamily="18" charset="0"/>
                <a:ea typeface="华文新魏" pitchFamily="2" charset="-122"/>
              </a:rPr>
              <a:t>例 3-5：一个简单的词法正则定义式</a:t>
            </a:r>
          </a:p>
        </p:txBody>
      </p:sp>
      <p:sp>
        <p:nvSpPr>
          <p:cNvPr id="294915" name="Rectangle 3"/>
          <p:cNvSpPr>
            <a:spLocks noGrp="1" noRot="1" noChangeArrowheads="1"/>
          </p:cNvSpPr>
          <p:nvPr>
            <p:ph type="body" idx="1"/>
          </p:nvPr>
        </p:nvSpPr>
        <p:spPr>
          <a:xfrm>
            <a:off x="228600" y="2057400"/>
            <a:ext cx="8610600" cy="4251325"/>
          </a:xfrm>
          <a:noFill/>
        </p:spPr>
        <p:txBody>
          <a:bodyPr lIns="92075" tIns="46038" rIns="92075" bIns="46038"/>
          <a:lstStyle/>
          <a:p>
            <a:pPr eaLnBrk="1" hangingPunct="1">
              <a:lnSpc>
                <a:spcPct val="90000"/>
              </a:lnSpc>
              <a:spcBef>
                <a:spcPct val="50000"/>
              </a:spcBef>
              <a:buFont typeface="Wingdings" pitchFamily="2" charset="2"/>
              <a:buNone/>
            </a:pPr>
            <a:r>
              <a:rPr lang="zh-CN" altLang="en-US" sz="2400" b="1" smtClean="0">
                <a:latin typeface="Times New Roman" pitchFamily="18" charset="0"/>
                <a:ea typeface="华文新魏" pitchFamily="2" charset="-122"/>
              </a:rPr>
              <a:t>    词法规则            				</a:t>
            </a:r>
            <a:r>
              <a:rPr lang="zh-CN" altLang="en-US" sz="2400" b="1" i="1" smtClean="0">
                <a:latin typeface="Times New Roman" pitchFamily="18" charset="0"/>
                <a:ea typeface="华文新魏" pitchFamily="2" charset="-122"/>
              </a:rPr>
              <a:t>单词种别	属性</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zh-CN" altLang="en-US" sz="2400" b="1" smtClean="0">
                <a:latin typeface="Times New Roman" pitchFamily="18" charset="0"/>
                <a:ea typeface="华文新魏" pitchFamily="2" charset="-122"/>
              </a:rPr>
              <a:t>&lt;标识符&gt;→&lt;字母&gt;</a:t>
            </a: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字母&gt;|&lt;数字&gt;</a:t>
            </a:r>
            <a:r>
              <a:rPr lang="en-US" altLang="zh-CN" sz="2400" b="1" smtClean="0">
                <a:latin typeface="Times New Roman" pitchFamily="18" charset="0"/>
                <a:ea typeface="华文新魏" pitchFamily="2" charset="-122"/>
              </a:rPr>
              <a:t>)</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 	</a:t>
            </a:r>
            <a:r>
              <a:rPr lang="en-US" altLang="zh-CN" sz="2400" b="1" i="1" smtClean="0">
                <a:latin typeface="Times New Roman" pitchFamily="18" charset="0"/>
                <a:ea typeface="华文新魏" pitchFamily="2" charset="-122"/>
              </a:rPr>
              <a:t>ID	</a:t>
            </a:r>
            <a:r>
              <a:rPr lang="zh-CN" altLang="en-US" sz="2400" b="1" i="1" smtClean="0">
                <a:latin typeface="Times New Roman" pitchFamily="18" charset="0"/>
                <a:ea typeface="华文新魏" pitchFamily="2" charset="-122"/>
              </a:rPr>
              <a:t>符号表项入口</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zh-CN" altLang="en-US" sz="2400" b="1" smtClean="0">
                <a:latin typeface="Times New Roman" pitchFamily="18" charset="0"/>
                <a:ea typeface="华文新魏" pitchFamily="2" charset="-122"/>
              </a:rPr>
              <a:t>&lt;无符号整数&gt;→ &lt;数字&gt; </a:t>
            </a: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数字&gt;</a:t>
            </a:r>
            <a:r>
              <a:rPr lang="en-US" altLang="zh-CN" sz="2400" b="1" smtClean="0">
                <a:latin typeface="Times New Roman" pitchFamily="18" charset="0"/>
                <a:ea typeface="华文新魏" pitchFamily="2" charset="-122"/>
              </a:rPr>
              <a:t>)</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 	</a:t>
            </a:r>
            <a:r>
              <a:rPr lang="en-US" altLang="zh-CN" sz="2400" b="1" i="1" smtClean="0">
                <a:latin typeface="Times New Roman" pitchFamily="18" charset="0"/>
                <a:ea typeface="华文新魏" pitchFamily="2" charset="-122"/>
              </a:rPr>
              <a:t>NUM		</a:t>
            </a:r>
            <a:r>
              <a:rPr lang="zh-CN" altLang="en-US" sz="2400" b="1" i="1" smtClean="0">
                <a:latin typeface="Times New Roman" pitchFamily="18" charset="0"/>
                <a:ea typeface="华文新魏" pitchFamily="2" charset="-122"/>
              </a:rPr>
              <a:t>数值</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zh-CN" altLang="en-US" sz="2400" b="1" smtClean="0">
                <a:latin typeface="Times New Roman" pitchFamily="18" charset="0"/>
                <a:ea typeface="华文新魏" pitchFamily="2" charset="-122"/>
              </a:rPr>
              <a:t>&lt;赋值符&gt;→ := 				</a:t>
            </a:r>
            <a:r>
              <a:rPr lang="en-US" altLang="zh-CN" sz="2400" b="1" i="1" smtClean="0">
                <a:latin typeface="Times New Roman" pitchFamily="18" charset="0"/>
                <a:ea typeface="华文新魏" pitchFamily="2" charset="-122"/>
              </a:rPr>
              <a:t>ASSIGN 	</a:t>
            </a:r>
            <a:r>
              <a:rPr lang="zh-CN" altLang="en-US" sz="2400" b="1" i="1" smtClean="0">
                <a:latin typeface="Times New Roman" pitchFamily="18" charset="0"/>
                <a:ea typeface="华文新魏" pitchFamily="2" charset="-122"/>
              </a:rPr>
              <a:t>无</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加号</a:t>
            </a:r>
            <a:r>
              <a:rPr lang="en-US" altLang="zh-CN" sz="2400" b="1" smtClean="0">
                <a:latin typeface="Times New Roman" pitchFamily="18" charset="0"/>
                <a:ea typeface="华文新魏" pitchFamily="2" charset="-122"/>
              </a:rPr>
              <a:t>&gt;→+		      			</a:t>
            </a:r>
            <a:r>
              <a:rPr lang="en-US" altLang="zh-CN" sz="2400" b="1" i="1" smtClean="0">
                <a:latin typeface="Times New Roman" pitchFamily="18" charset="0"/>
                <a:ea typeface="华文新魏" pitchFamily="2" charset="-122"/>
              </a:rPr>
              <a:t>+		</a:t>
            </a:r>
            <a:r>
              <a:rPr lang="zh-CN" altLang="en-US" sz="2400" b="1" i="1" smtClean="0">
                <a:latin typeface="Times New Roman" pitchFamily="18" charset="0"/>
                <a:ea typeface="华文新魏" pitchFamily="2" charset="-122"/>
              </a:rPr>
              <a:t>无</a:t>
            </a:r>
            <a:r>
              <a:rPr lang="zh-CN" altLang="en-US" sz="2400" b="1" smtClean="0">
                <a:latin typeface="Times New Roman" pitchFamily="18" charset="0"/>
                <a:ea typeface="华文新魏" pitchFamily="2" charset="-122"/>
              </a:rPr>
              <a:t> </a:t>
            </a:r>
          </a:p>
          <a:p>
            <a:pPr eaLnBrk="1" hangingPunct="1">
              <a:lnSpc>
                <a:spcPct val="120000"/>
              </a:lnSpc>
              <a:spcBef>
                <a:spcPct val="50000"/>
              </a:spcBef>
              <a:buFont typeface="Wingdings" pitchFamily="2" charset="2"/>
              <a:buNone/>
            </a:pP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减号</a:t>
            </a:r>
            <a:r>
              <a:rPr lang="en-US" altLang="zh-CN" sz="2400" b="1" smtClean="0">
                <a:latin typeface="Times New Roman" pitchFamily="18" charset="0"/>
                <a:ea typeface="华文新魏" pitchFamily="2" charset="-122"/>
              </a:rPr>
              <a:t>&gt;→-					MINUS	</a:t>
            </a:r>
            <a:r>
              <a:rPr lang="zh-CN" altLang="en-US" sz="2400" b="1" smtClean="0">
                <a:latin typeface="Times New Roman" pitchFamily="18" charset="0"/>
                <a:ea typeface="华文新魏" pitchFamily="2" charset="-122"/>
              </a:rPr>
              <a:t>无</a:t>
            </a:r>
          </a:p>
          <a:p>
            <a:pPr eaLnBrk="1" hangingPunct="1">
              <a:lnSpc>
                <a:spcPct val="120000"/>
              </a:lnSpc>
              <a:spcBef>
                <a:spcPct val="50000"/>
              </a:spcBef>
              <a:buFont typeface="Wingdings" pitchFamily="2" charset="2"/>
              <a:buNone/>
            </a:pP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乘号</a:t>
            </a:r>
            <a:r>
              <a:rPr lang="en-US" altLang="zh-CN" sz="2400" b="1" smtClean="0">
                <a:latin typeface="Times New Roman" pitchFamily="18" charset="0"/>
                <a:ea typeface="华文新魏" pitchFamily="2" charset="-122"/>
              </a:rPr>
              <a:t>&gt;→*</a:t>
            </a:r>
            <a:r>
              <a:rPr lang="zh-CN" altLang="en-US" sz="2400" b="1" smtClean="0">
                <a:latin typeface="Times New Roman" pitchFamily="18" charset="0"/>
                <a:ea typeface="华文新魏" pitchFamily="2" charset="-122"/>
              </a:rPr>
              <a:t> 					</a:t>
            </a:r>
            <a:r>
              <a:rPr lang="en-US" altLang="zh-CN" sz="2400" b="1" smtClean="0">
                <a:latin typeface="Times New Roman" pitchFamily="18" charset="0"/>
                <a:ea typeface="华文新魏" pitchFamily="2" charset="-122"/>
              </a:rPr>
              <a:t>MULTI	</a:t>
            </a:r>
            <a:r>
              <a:rPr lang="zh-CN" altLang="en-US" sz="2400" b="1" smtClean="0">
                <a:latin typeface="Times New Roman" pitchFamily="18" charset="0"/>
                <a:ea typeface="华文新魏" pitchFamily="2" charset="-122"/>
              </a:rPr>
              <a:t>无</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17CEEF88-3497-4614-9FEA-03A1F360BA40}" type="slidenum">
              <a:rPr lang="zh-CN" altLang="en-US"/>
              <a:pPr eaLnBrk="1" hangingPunct="1"/>
              <a:t>28</a:t>
            </a:fld>
            <a:endParaRPr lang="en-US" altLang="zh-CN"/>
          </a:p>
        </p:txBody>
      </p:sp>
      <p:sp>
        <p:nvSpPr>
          <p:cNvPr id="33795" name="Rectangle 2"/>
          <p:cNvSpPr>
            <a:spLocks noGrp="1" noRot="1" noChangeArrowheads="1"/>
          </p:cNvSpPr>
          <p:nvPr>
            <p:ph type="title"/>
          </p:nvPr>
        </p:nvSpPr>
        <p:spPr>
          <a:xfrm>
            <a:off x="395288" y="476250"/>
            <a:ext cx="8443912" cy="720725"/>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变换为正则文法</a:t>
            </a:r>
          </a:p>
        </p:txBody>
      </p:sp>
      <p:sp>
        <p:nvSpPr>
          <p:cNvPr id="295939" name="Rectangle 3"/>
          <p:cNvSpPr>
            <a:spLocks noGrp="1" noRot="1" noChangeArrowheads="1"/>
          </p:cNvSpPr>
          <p:nvPr>
            <p:ph type="body" idx="1"/>
          </p:nvPr>
        </p:nvSpPr>
        <p:spPr>
          <a:xfrm>
            <a:off x="395288" y="1268413"/>
            <a:ext cx="8424862" cy="5219700"/>
          </a:xfrm>
          <a:noFill/>
        </p:spPr>
        <p:txBody>
          <a:bodyPr lIns="92075" tIns="46038" rIns="92075" bIns="46038"/>
          <a:lstStyle/>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&lt;标识符&gt;→</a:t>
            </a:r>
            <a:r>
              <a:rPr lang="en-US" altLang="zh-CN" sz="2800" b="1" smtClean="0">
                <a:latin typeface="Times New Roman" pitchFamily="18" charset="0"/>
                <a:ea typeface="华文新魏" pitchFamily="2" charset="-122"/>
              </a:rPr>
              <a:t>l</a:t>
            </a:r>
            <a:r>
              <a:rPr lang="en-US" altLang="zh-CN" sz="2800" b="1" smtClean="0">
                <a:solidFill>
                  <a:schemeClr val="folHlink"/>
                </a:solidFill>
                <a:latin typeface="Times New Roman" pitchFamily="18" charset="0"/>
                <a:ea typeface="华文新魏" pitchFamily="2" charset="-122"/>
              </a:rPr>
              <a:t>etter</a:t>
            </a:r>
            <a:r>
              <a:rPr lang="en-US" altLang="zh-CN" sz="2800" b="1" smtClean="0">
                <a:latin typeface="Times New Roman" pitchFamily="18" charset="0"/>
                <a:ea typeface="华文新魏" pitchFamily="2" charset="-122"/>
              </a:rPr>
              <a:t>&lt;</a:t>
            </a:r>
            <a:r>
              <a:rPr lang="zh-CN" altLang="en-US" sz="2800" b="1" smtClean="0">
                <a:latin typeface="Times New Roman" pitchFamily="18" charset="0"/>
                <a:ea typeface="华文新魏" pitchFamily="2" charset="-122"/>
              </a:rPr>
              <a:t>标识符尾&gt;</a:t>
            </a:r>
          </a:p>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&lt;标识符尾&gt;→</a:t>
            </a:r>
            <a:r>
              <a:rPr lang="en-US" altLang="zh-CN" sz="2800" b="1" smtClean="0">
                <a:latin typeface="Times New Roman" pitchFamily="18" charset="0"/>
                <a:ea typeface="华文新魏" pitchFamily="2" charset="-122"/>
              </a:rPr>
              <a:t>ε|l</a:t>
            </a:r>
            <a:r>
              <a:rPr lang="en-US" altLang="zh-CN" sz="2800" b="1" smtClean="0">
                <a:solidFill>
                  <a:schemeClr val="folHlink"/>
                </a:solidFill>
                <a:latin typeface="Times New Roman" pitchFamily="18" charset="0"/>
                <a:ea typeface="华文新魏" pitchFamily="2" charset="-122"/>
              </a:rPr>
              <a:t>etter</a:t>
            </a:r>
            <a:r>
              <a:rPr lang="en-US" altLang="zh-CN" sz="2800" b="1" smtClean="0">
                <a:latin typeface="Times New Roman" pitchFamily="18" charset="0"/>
                <a:ea typeface="华文新魏" pitchFamily="2" charset="-122"/>
              </a:rPr>
              <a:t>&lt;</a:t>
            </a:r>
            <a:r>
              <a:rPr lang="zh-CN" altLang="en-US" sz="2800" b="1" smtClean="0">
                <a:latin typeface="Times New Roman" pitchFamily="18" charset="0"/>
                <a:ea typeface="华文新魏" pitchFamily="2" charset="-122"/>
              </a:rPr>
              <a:t>标识符尾&gt;|</a:t>
            </a:r>
            <a:r>
              <a:rPr lang="en-US" altLang="zh-CN" sz="2800" b="1" smtClean="0">
                <a:latin typeface="Times New Roman" pitchFamily="18" charset="0"/>
                <a:ea typeface="华文新魏" pitchFamily="2" charset="-122"/>
              </a:rPr>
              <a:t>d</a:t>
            </a:r>
            <a:r>
              <a:rPr lang="en-US" altLang="zh-CN" sz="2800" b="1" smtClean="0">
                <a:solidFill>
                  <a:schemeClr val="folHlink"/>
                </a:solidFill>
                <a:latin typeface="Times New Roman" pitchFamily="18" charset="0"/>
                <a:ea typeface="华文新魏" pitchFamily="2" charset="-122"/>
              </a:rPr>
              <a:t>igit</a:t>
            </a:r>
            <a:r>
              <a:rPr lang="en-US" altLang="zh-CN" sz="2800" b="1" smtClean="0">
                <a:latin typeface="Times New Roman" pitchFamily="18" charset="0"/>
                <a:ea typeface="华文新魏" pitchFamily="2" charset="-122"/>
              </a:rPr>
              <a:t>&lt;</a:t>
            </a:r>
            <a:r>
              <a:rPr lang="zh-CN" altLang="en-US" sz="2800" b="1" smtClean="0">
                <a:latin typeface="Times New Roman" pitchFamily="18" charset="0"/>
                <a:ea typeface="华文新魏" pitchFamily="2" charset="-122"/>
              </a:rPr>
              <a:t>标识符尾&gt;</a:t>
            </a:r>
          </a:p>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&lt;整数&gt;→</a:t>
            </a:r>
            <a:r>
              <a:rPr lang="en-US" altLang="zh-CN" sz="2800" b="1" smtClean="0">
                <a:latin typeface="Times New Roman" pitchFamily="18" charset="0"/>
                <a:ea typeface="华文新魏" pitchFamily="2" charset="-122"/>
              </a:rPr>
              <a:t>d</a:t>
            </a:r>
            <a:r>
              <a:rPr lang="en-US" altLang="zh-CN" sz="2800" b="1" smtClean="0">
                <a:solidFill>
                  <a:schemeClr val="folHlink"/>
                </a:solidFill>
                <a:latin typeface="Times New Roman" pitchFamily="18" charset="0"/>
                <a:ea typeface="华文新魏" pitchFamily="2" charset="-122"/>
              </a:rPr>
              <a:t>igit</a:t>
            </a:r>
            <a:r>
              <a:rPr lang="en-US" altLang="zh-CN" sz="2800" b="1" smtClean="0">
                <a:latin typeface="Times New Roman" pitchFamily="18" charset="0"/>
                <a:ea typeface="华文新魏" pitchFamily="2" charset="-122"/>
              </a:rPr>
              <a:t> &lt;</a:t>
            </a:r>
            <a:r>
              <a:rPr lang="zh-CN" altLang="en-US" sz="2800" b="1" smtClean="0">
                <a:latin typeface="Times New Roman" pitchFamily="18" charset="0"/>
                <a:ea typeface="华文新魏" pitchFamily="2" charset="-122"/>
              </a:rPr>
              <a:t>整数尾&gt;</a:t>
            </a:r>
          </a:p>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&lt;整数尾&gt;→</a:t>
            </a:r>
            <a:r>
              <a:rPr lang="en-US" altLang="zh-CN" sz="2800" b="1" smtClean="0">
                <a:latin typeface="Times New Roman" pitchFamily="18" charset="0"/>
                <a:ea typeface="华文新魏" pitchFamily="2" charset="-122"/>
              </a:rPr>
              <a:t>ε| d</a:t>
            </a:r>
            <a:r>
              <a:rPr lang="en-US" altLang="zh-CN" sz="2800" b="1" smtClean="0">
                <a:solidFill>
                  <a:schemeClr val="folHlink"/>
                </a:solidFill>
                <a:latin typeface="Times New Roman" pitchFamily="18" charset="0"/>
                <a:ea typeface="华文新魏" pitchFamily="2" charset="-122"/>
              </a:rPr>
              <a:t>igit</a:t>
            </a:r>
            <a:r>
              <a:rPr lang="en-US" altLang="zh-CN" sz="2800" b="1" smtClean="0">
                <a:latin typeface="Times New Roman" pitchFamily="18" charset="0"/>
                <a:ea typeface="华文新魏" pitchFamily="2" charset="-122"/>
              </a:rPr>
              <a:t>&lt;</a:t>
            </a:r>
            <a:r>
              <a:rPr lang="zh-CN" altLang="en-US" sz="2800" b="1" smtClean="0">
                <a:latin typeface="Times New Roman" pitchFamily="18" charset="0"/>
                <a:ea typeface="华文新魏" pitchFamily="2" charset="-122"/>
              </a:rPr>
              <a:t>整数尾&gt; 	</a:t>
            </a:r>
          </a:p>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&lt;赋值号&gt;→:=</a:t>
            </a:r>
          </a:p>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&lt;加号&gt;→+</a:t>
            </a:r>
          </a:p>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&lt;等号&gt;→=</a:t>
            </a:r>
          </a:p>
          <a:p>
            <a:pPr algn="just" eaLnBrk="1" hangingPunct="1">
              <a:spcBef>
                <a:spcPct val="40000"/>
              </a:spcBef>
              <a:buFont typeface="Wingdings" pitchFamily="2" charset="2"/>
              <a:buNone/>
            </a:pPr>
            <a:r>
              <a:rPr lang="zh-CN" altLang="en-US" sz="2800" b="1" smtClean="0">
                <a:latin typeface="Times New Roman" pitchFamily="18" charset="0"/>
                <a:ea typeface="华文新魏" pitchFamily="2" charset="-122"/>
              </a:rPr>
              <a:t>…</a:t>
            </a:r>
          </a:p>
          <a:p>
            <a:pPr algn="just" eaLnBrk="1" hangingPunct="1">
              <a:spcBef>
                <a:spcPct val="40000"/>
              </a:spcBef>
              <a:buFont typeface="Wingdings" pitchFamily="2" charset="2"/>
              <a:buNone/>
            </a:pPr>
            <a:r>
              <a:rPr lang="en-US" altLang="zh-CN" sz="2400"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其它：实数、算术运算符、关系运算符、分号、括号等</a:t>
            </a:r>
            <a:r>
              <a:rPr lang="en-US" altLang="zh-CN" sz="2400" b="1" smtClean="0">
                <a:latin typeface="Times New Roman" pitchFamily="18" charset="0"/>
                <a:ea typeface="华文新魏" pitchFamily="2" charset="-122"/>
              </a:rPr>
              <a:t>)</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9EACA07-862F-4C9A-8262-B81E89C1D3D6}" type="slidenum">
              <a:rPr lang="zh-CN" altLang="en-US"/>
              <a:pPr eaLnBrk="1" hangingPunct="1"/>
              <a:t>29</a:t>
            </a:fld>
            <a:endParaRPr lang="en-US" altLang="zh-CN"/>
          </a:p>
        </p:txBody>
      </p:sp>
      <p:sp>
        <p:nvSpPr>
          <p:cNvPr id="34819" name="Rectangle 2"/>
          <p:cNvSpPr>
            <a:spLocks noGrp="1" noRot="1" noChangeArrowheads="1"/>
          </p:cNvSpPr>
          <p:nvPr>
            <p:ph type="title"/>
          </p:nvPr>
        </p:nvSpPr>
        <p:spPr>
          <a:xfrm>
            <a:off x="301625" y="404813"/>
            <a:ext cx="8540750" cy="720725"/>
          </a:xfrm>
        </p:spPr>
        <p:txBody>
          <a:bodyPr/>
          <a:lstStyle/>
          <a:p>
            <a:pPr eaLnBrk="1" hangingPunct="1"/>
            <a:r>
              <a:rPr lang="zh-CN" altLang="en-US" b="1" smtClean="0">
                <a:solidFill>
                  <a:srgbClr val="000099"/>
                </a:solidFill>
                <a:latin typeface="Times New Roman" pitchFamily="18" charset="0"/>
                <a:ea typeface="华文新魏" pitchFamily="2" charset="-122"/>
              </a:rPr>
              <a:t>正则文法到正则定义式的转换</a:t>
            </a:r>
          </a:p>
        </p:txBody>
      </p:sp>
      <p:sp>
        <p:nvSpPr>
          <p:cNvPr id="292867" name="Rectangle 3"/>
          <p:cNvSpPr>
            <a:spLocks noGrp="1" noRot="1" noChangeArrowheads="1"/>
          </p:cNvSpPr>
          <p:nvPr>
            <p:ph type="body" idx="1"/>
          </p:nvPr>
        </p:nvSpPr>
        <p:spPr>
          <a:xfrm>
            <a:off x="762000" y="1268413"/>
            <a:ext cx="8153400" cy="4827587"/>
          </a:xfrm>
        </p:spPr>
        <p:txBody>
          <a:bodyPr/>
          <a:lstStyle/>
          <a:p>
            <a:pPr eaLnBrk="1" hangingPunct="1">
              <a:spcBef>
                <a:spcPct val="40000"/>
              </a:spcBef>
            </a:pPr>
            <a:r>
              <a:rPr lang="zh-CN" altLang="en-US" b="1" smtClean="0">
                <a:latin typeface="Times New Roman" pitchFamily="18" charset="0"/>
                <a:ea typeface="华文新魏" pitchFamily="2" charset="-122"/>
              </a:rPr>
              <a:t>代入：对于 </a:t>
            </a:r>
            <a:r>
              <a:rPr lang="en-US" altLang="zh-CN" b="1" smtClean="0">
                <a:latin typeface="Times New Roman" pitchFamily="18" charset="0"/>
                <a:ea typeface="华文新魏" pitchFamily="2" charset="-122"/>
              </a:rPr>
              <a:t>A→xB, B→y，</a:t>
            </a:r>
            <a:r>
              <a:rPr lang="zh-CN" altLang="en-US" b="1" smtClean="0">
                <a:latin typeface="Times New Roman" pitchFamily="18" charset="0"/>
                <a:ea typeface="华文新魏" pitchFamily="2" charset="-122"/>
              </a:rPr>
              <a:t>构造 </a:t>
            </a:r>
            <a:r>
              <a:rPr lang="en-US" altLang="zh-CN" b="1" smtClean="0">
                <a:latin typeface="Times New Roman" pitchFamily="18" charset="0"/>
                <a:ea typeface="华文新魏" pitchFamily="2" charset="-122"/>
              </a:rPr>
              <a:t>A→xy</a:t>
            </a:r>
          </a:p>
          <a:p>
            <a:pPr eaLnBrk="1" hangingPunct="1">
              <a:spcBef>
                <a:spcPct val="40000"/>
              </a:spcBef>
            </a:pPr>
            <a:r>
              <a:rPr lang="zh-CN" altLang="en-US" b="1" smtClean="0">
                <a:latin typeface="Times New Roman" pitchFamily="18" charset="0"/>
                <a:ea typeface="华文新魏" pitchFamily="2" charset="-122"/>
              </a:rPr>
              <a:t>递归：对于 </a:t>
            </a:r>
            <a:r>
              <a:rPr lang="en-US" altLang="zh-CN" b="1" smtClean="0">
                <a:latin typeface="Times New Roman" pitchFamily="18" charset="0"/>
                <a:ea typeface="华文新魏" pitchFamily="2" charset="-122"/>
              </a:rPr>
              <a:t>A→xA|y，</a:t>
            </a:r>
            <a:r>
              <a:rPr lang="zh-CN" altLang="en-US" b="1" smtClean="0">
                <a:latin typeface="Times New Roman" pitchFamily="18" charset="0"/>
                <a:ea typeface="华文新魏" pitchFamily="2" charset="-122"/>
              </a:rPr>
              <a:t>构造 </a:t>
            </a:r>
            <a:r>
              <a:rPr lang="en-US" altLang="zh-CN" b="1" smtClean="0">
                <a:latin typeface="Times New Roman" pitchFamily="18" charset="0"/>
                <a:ea typeface="华文新魏" pitchFamily="2" charset="-122"/>
              </a:rPr>
              <a:t>A→x</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y</a:t>
            </a:r>
          </a:p>
          <a:p>
            <a:pPr eaLnBrk="1" hangingPunct="1">
              <a:spcBef>
                <a:spcPct val="40000"/>
              </a:spcBef>
            </a:pPr>
            <a:r>
              <a:rPr lang="zh-CN" altLang="en-US" b="1" smtClean="0">
                <a:latin typeface="Times New Roman" pitchFamily="18" charset="0"/>
                <a:ea typeface="华文新魏" pitchFamily="2" charset="-122"/>
              </a:rPr>
              <a:t>多候选式</a:t>
            </a:r>
            <a:r>
              <a:rPr lang="zh-CN" altLang="en-US" sz="2800"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对于 </a:t>
            </a:r>
            <a:r>
              <a:rPr lang="en-US" altLang="zh-CN" b="1" smtClean="0">
                <a:latin typeface="Times New Roman" pitchFamily="18" charset="0"/>
                <a:ea typeface="华文新魏" pitchFamily="2" charset="-122"/>
              </a:rPr>
              <a:t>A→x，A→y，</a:t>
            </a:r>
            <a:r>
              <a:rPr lang="zh-CN" altLang="en-US" b="1" smtClean="0">
                <a:latin typeface="Times New Roman" pitchFamily="18" charset="0"/>
                <a:ea typeface="华文新魏" pitchFamily="2" charset="-122"/>
              </a:rPr>
              <a:t>构造</a:t>
            </a:r>
            <a:r>
              <a:rPr lang="en-US" altLang="zh-CN" b="1" smtClean="0">
                <a:latin typeface="Times New Roman" pitchFamily="18" charset="0"/>
                <a:ea typeface="华文新魏" pitchFamily="2" charset="-122"/>
              </a:rPr>
              <a:t>A→x|y</a:t>
            </a:r>
          </a:p>
          <a:p>
            <a:pPr eaLnBrk="1" hangingPunct="1">
              <a:spcBef>
                <a:spcPct val="40000"/>
              </a:spcBef>
              <a:buFont typeface="Wingdings" pitchFamily="2" charset="2"/>
              <a:buNone/>
            </a:pPr>
            <a:r>
              <a:rPr lang="en-US" altLang="zh-CN" b="1" smtClean="0">
                <a:latin typeface="Times New Roman" pitchFamily="18" charset="0"/>
                <a:ea typeface="华文新魏" pitchFamily="2" charset="-122"/>
              </a:rPr>
              <a:t>S→0A  A→1B  B→2B|2C	  C→3C|3</a:t>
            </a:r>
          </a:p>
          <a:p>
            <a:pPr eaLnBrk="1" hangingPunct="1">
              <a:spcBef>
                <a:spcPct val="40000"/>
              </a:spcBef>
              <a:buFont typeface="Wingdings" pitchFamily="2" charset="2"/>
              <a:buNone/>
            </a:pPr>
            <a:r>
              <a:rPr lang="en-US" altLang="zh-CN" b="1" smtClean="0">
                <a:latin typeface="Times New Roman" pitchFamily="18" charset="0"/>
                <a:ea typeface="华文新魏" pitchFamily="2" charset="-122"/>
              </a:rPr>
              <a:t>S→01B  S→012</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2C   S→012</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23</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3</a:t>
            </a:r>
          </a:p>
          <a:p>
            <a:pPr eaLnBrk="1" hangingPunct="1">
              <a:spcBef>
                <a:spcPct val="40000"/>
              </a:spcBef>
              <a:buFont typeface="Wingdings" pitchFamily="2" charset="2"/>
              <a:buNone/>
            </a:pPr>
            <a:r>
              <a:rPr lang="en-US" altLang="zh-CN" b="1" smtClean="0">
                <a:latin typeface="Times New Roman" pitchFamily="18" charset="0"/>
                <a:ea typeface="华文新魏" pitchFamily="2" charset="-122"/>
              </a:rPr>
              <a:t>S→ 012</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3</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 </a:t>
            </a:r>
          </a:p>
          <a:p>
            <a:pPr eaLnBrk="1" hangingPunct="1">
              <a:spcBef>
                <a:spcPct val="40000"/>
              </a:spcBef>
            </a:pPr>
            <a:r>
              <a:rPr lang="zh-CN" altLang="en-US" b="1" smtClean="0">
                <a:latin typeface="Times New Roman" pitchFamily="18" charset="0"/>
                <a:ea typeface="华文新魏" pitchFamily="2" charset="-122"/>
              </a:rPr>
              <a:t>研究</a:t>
            </a:r>
            <a:r>
              <a:rPr lang="en-US" altLang="zh-CN" b="1" smtClean="0">
                <a:latin typeface="Times New Roman" pitchFamily="18" charset="0"/>
                <a:ea typeface="华文新魏" pitchFamily="2" charset="-122"/>
              </a:rPr>
              <a:t>0122333</a:t>
            </a:r>
            <a:r>
              <a:rPr lang="zh-CN" altLang="en-US" b="1" smtClean="0">
                <a:latin typeface="Times New Roman" pitchFamily="18" charset="0"/>
                <a:ea typeface="华文新魏" pitchFamily="2" charset="-122"/>
              </a:rPr>
              <a:t>的识别过程</a:t>
            </a:r>
            <a:endParaRPr lang="en-US" altLang="zh-CN"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EF12EFF-AA78-4078-A1B7-800730C69EEF}" type="slidenum">
              <a:rPr lang="zh-CN" altLang="en-US"/>
              <a:pPr eaLnBrk="1" hangingPunct="1"/>
              <a:t>30</a:t>
            </a:fld>
            <a:endParaRPr lang="en-US" altLang="zh-CN"/>
          </a:p>
        </p:txBody>
      </p:sp>
      <p:sp>
        <p:nvSpPr>
          <p:cNvPr id="35843" name="Rectangle 2"/>
          <p:cNvSpPr>
            <a:spLocks noGrp="1" noRot="1" noChangeArrowheads="1"/>
          </p:cNvSpPr>
          <p:nvPr>
            <p:ph type="title"/>
          </p:nvPr>
        </p:nvSpPr>
        <p:spPr>
          <a:xfrm>
            <a:off x="468313" y="404813"/>
            <a:ext cx="8077200" cy="7620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3.3 符号的识别</a:t>
            </a:r>
          </a:p>
        </p:txBody>
      </p:sp>
      <p:sp>
        <p:nvSpPr>
          <p:cNvPr id="35844" name="Rectangle 3"/>
          <p:cNvSpPr>
            <a:spLocks noGrp="1" noRot="1" noChangeArrowheads="1"/>
          </p:cNvSpPr>
          <p:nvPr>
            <p:ph type="body" idx="1"/>
          </p:nvPr>
        </p:nvSpPr>
        <p:spPr>
          <a:xfrm>
            <a:off x="323850" y="1196975"/>
            <a:ext cx="8651875" cy="3960813"/>
          </a:xfrm>
          <a:noFill/>
        </p:spPr>
        <p:txBody>
          <a:bodyPr lIns="92075" tIns="46038" rIns="92075" bIns="46038"/>
          <a:lstStyle/>
          <a:p>
            <a:pPr marL="0" indent="0" eaLnBrk="1" hangingPunct="1">
              <a:lnSpc>
                <a:spcPct val="90000"/>
              </a:lnSpc>
              <a:buFont typeface="Wingdings" pitchFamily="2" charset="2"/>
              <a:buNone/>
            </a:pPr>
            <a:r>
              <a:rPr lang="zh-CN" altLang="en-US" sz="4800" b="1" smtClean="0">
                <a:solidFill>
                  <a:srgbClr val="000099"/>
                </a:solidFill>
                <a:latin typeface="Times New Roman" pitchFamily="18" charset="0"/>
                <a:ea typeface="华文新魏" pitchFamily="2" charset="-122"/>
              </a:rPr>
              <a:t>1</a:t>
            </a:r>
            <a:r>
              <a:rPr lang="en-US" altLang="zh-CN" sz="4800" b="1" smtClean="0">
                <a:solidFill>
                  <a:srgbClr val="000099"/>
                </a:solidFill>
                <a:latin typeface="Times New Roman" pitchFamily="18" charset="0"/>
                <a:ea typeface="华文新魏" pitchFamily="2" charset="-122"/>
              </a:rPr>
              <a:t>. </a:t>
            </a:r>
            <a:r>
              <a:rPr lang="zh-CN" altLang="en-US" sz="4800" b="1" smtClean="0">
                <a:solidFill>
                  <a:srgbClr val="000099"/>
                </a:solidFill>
                <a:latin typeface="Times New Roman" pitchFamily="18" charset="0"/>
                <a:ea typeface="华文新魏" pitchFamily="2" charset="-122"/>
              </a:rPr>
              <a:t>状态转换图</a:t>
            </a:r>
          </a:p>
          <a:p>
            <a:pPr marL="0" indent="0" eaLnBrk="1" hangingPunct="1">
              <a:lnSpc>
                <a:spcPct val="90000"/>
              </a:lnSpc>
              <a:buFont typeface="Wingdings" pitchFamily="2" charset="2"/>
              <a:buNone/>
            </a:pP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有穷自动机 </a:t>
            </a:r>
            <a:r>
              <a:rPr lang="en-US" altLang="zh-CN" b="1" smtClean="0">
                <a:latin typeface="Times New Roman" pitchFamily="18" charset="0"/>
                <a:ea typeface="华文新魏" pitchFamily="2" charset="-122"/>
              </a:rPr>
              <a:t>FA M=(Q，∑，δ，q</a:t>
            </a:r>
            <a:r>
              <a:rPr lang="en-US" altLang="zh-CN" b="1" baseline="-30000" smtClean="0">
                <a:latin typeface="Times New Roman" pitchFamily="18" charset="0"/>
                <a:ea typeface="华文新魏" pitchFamily="2" charset="-122"/>
              </a:rPr>
              <a:t>0</a:t>
            </a:r>
            <a:r>
              <a:rPr lang="en-US" altLang="zh-CN" b="1" smtClean="0">
                <a:latin typeface="Times New Roman" pitchFamily="18" charset="0"/>
                <a:ea typeface="华文新魏" pitchFamily="2" charset="-122"/>
              </a:rPr>
              <a:t>，F) )</a:t>
            </a:r>
          </a:p>
          <a:p>
            <a:pPr marL="0" indent="0" eaLnBrk="1" hangingPunct="1">
              <a:lnSpc>
                <a:spcPct val="90000"/>
              </a:lnSpc>
              <a:buFont typeface="Wingdings" pitchFamily="2" charset="2"/>
              <a:buNone/>
            </a:pPr>
            <a:r>
              <a:rPr lang="en-US" altLang="zh-CN" b="1" smtClean="0">
                <a:latin typeface="Times New Roman" pitchFamily="18" charset="0"/>
                <a:ea typeface="华文新魏" pitchFamily="2" charset="-122"/>
              </a:rPr>
              <a:t>	</a:t>
            </a:r>
            <a:r>
              <a:rPr lang="zh-CN" altLang="en-US" b="1" smtClean="0">
                <a:solidFill>
                  <a:schemeClr val="tx2"/>
                </a:solidFill>
                <a:latin typeface="Times New Roman" pitchFamily="18" charset="0"/>
                <a:ea typeface="华文新魏" pitchFamily="2" charset="-122"/>
              </a:rPr>
              <a:t>用来描述词法分析器识别记号的分析过程</a:t>
            </a:r>
            <a:endParaRPr lang="en-US" altLang="zh-CN" b="1" smtClean="0">
              <a:solidFill>
                <a:schemeClr val="tx2"/>
              </a:solidFill>
              <a:latin typeface="Times New Roman" pitchFamily="18" charset="0"/>
              <a:ea typeface="华文新魏" pitchFamily="2" charset="-122"/>
            </a:endParaRPr>
          </a:p>
          <a:p>
            <a:pPr marL="282575" lvl="1" indent="0" algn="just" eaLnBrk="1" hangingPunct="1">
              <a:lnSpc>
                <a:spcPct val="90000"/>
              </a:lnSpc>
            </a:pPr>
            <a:r>
              <a:rPr lang="zh-CN" altLang="en-US" sz="3200" b="1" smtClean="0">
                <a:latin typeface="Times New Roman" pitchFamily="18" charset="0"/>
                <a:ea typeface="华文新魏" pitchFamily="2" charset="-122"/>
              </a:rPr>
              <a:t>结点：状态用○表示；终态用◎表示</a:t>
            </a:r>
          </a:p>
          <a:p>
            <a:pPr marL="282575" lvl="1" indent="0" eaLnBrk="1" hangingPunct="1">
              <a:lnSpc>
                <a:spcPct val="90000"/>
              </a:lnSpc>
            </a:pPr>
            <a:r>
              <a:rPr lang="zh-CN" altLang="en-US" sz="3200" b="1" smtClean="0">
                <a:latin typeface="Times New Roman" pitchFamily="18" charset="0"/>
                <a:ea typeface="华文新魏" pitchFamily="2" charset="-122"/>
              </a:rPr>
              <a:t>  有向弧  ── 箭头</a:t>
            </a:r>
          </a:p>
          <a:p>
            <a:pPr marL="282575" lvl="1" indent="0" eaLnBrk="1" hangingPunct="1">
              <a:lnSpc>
                <a:spcPct val="90000"/>
              </a:lnSpc>
            </a:pPr>
            <a:r>
              <a:rPr lang="zh-CN" altLang="en-US" sz="3200" b="1" smtClean="0">
                <a:latin typeface="Times New Roman" pitchFamily="18" charset="0"/>
                <a:ea typeface="华文新魏" pitchFamily="2" charset="-122"/>
              </a:rPr>
              <a:t>  弧标记  ── 输入字符</a:t>
            </a:r>
          </a:p>
          <a:p>
            <a:pPr marL="0" indent="0" eaLnBrk="1" hangingPunct="1">
              <a:lnSpc>
                <a:spcPct val="90000"/>
              </a:lnSpc>
            </a:pPr>
            <a:r>
              <a:rPr lang="zh-CN" altLang="en-US" b="1" smtClean="0">
                <a:latin typeface="Times New Roman" pitchFamily="18" charset="0"/>
                <a:ea typeface="华文新魏" pitchFamily="2" charset="-122"/>
              </a:rPr>
              <a:t>标识符的状态图&lt;标识符&gt;→</a:t>
            </a:r>
            <a:r>
              <a:rPr lang="en-US" altLang="zh-CN" b="1" smtClean="0">
                <a:latin typeface="Times New Roman" pitchFamily="18" charset="0"/>
                <a:ea typeface="华文新魏" pitchFamily="2" charset="-122"/>
              </a:rPr>
              <a:t>l</a:t>
            </a:r>
            <a:r>
              <a:rPr lang="en-US" altLang="zh-CN" b="1" smtClean="0">
                <a:solidFill>
                  <a:schemeClr val="folHlink"/>
                </a:solidFill>
                <a:latin typeface="Times New Roman" pitchFamily="18" charset="0"/>
                <a:ea typeface="华文新魏" pitchFamily="2" charset="-122"/>
              </a:rPr>
              <a:t>etter</a:t>
            </a:r>
            <a:r>
              <a:rPr lang="en-US" altLang="zh-CN" b="1" smtClean="0">
                <a:latin typeface="Times New Roman" pitchFamily="18" charset="0"/>
                <a:ea typeface="华文新魏" pitchFamily="2" charset="-122"/>
              </a:rPr>
              <a:t>(l</a:t>
            </a:r>
            <a:r>
              <a:rPr lang="en-US" altLang="zh-CN" b="1" smtClean="0">
                <a:solidFill>
                  <a:schemeClr val="folHlink"/>
                </a:solidFill>
                <a:latin typeface="Times New Roman" pitchFamily="18" charset="0"/>
                <a:ea typeface="华文新魏" pitchFamily="2" charset="-122"/>
              </a:rPr>
              <a:t>etter</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d</a:t>
            </a:r>
            <a:r>
              <a:rPr lang="en-US" altLang="zh-CN" b="1" smtClean="0">
                <a:solidFill>
                  <a:schemeClr val="folHlink"/>
                </a:solidFill>
                <a:latin typeface="Times New Roman" pitchFamily="18" charset="0"/>
                <a:ea typeface="华文新魏" pitchFamily="2" charset="-122"/>
              </a:rPr>
              <a:t>igit</a:t>
            </a:r>
            <a:r>
              <a:rPr lang="en-US" altLang="zh-CN" b="1" smtClean="0">
                <a:latin typeface="Times New Roman" pitchFamily="18" charset="0"/>
                <a:ea typeface="华文新魏" pitchFamily="2" charset="-122"/>
              </a:rPr>
              <a: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 </a:t>
            </a:r>
          </a:p>
        </p:txBody>
      </p:sp>
      <p:sp>
        <p:nvSpPr>
          <p:cNvPr id="297988" name="Oval 4"/>
          <p:cNvSpPr>
            <a:spLocks noChangeArrowheads="1"/>
          </p:cNvSpPr>
          <p:nvPr/>
        </p:nvSpPr>
        <p:spPr bwMode="auto">
          <a:xfrm>
            <a:off x="2789238" y="5892800"/>
            <a:ext cx="457200" cy="4572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b="1">
                <a:solidFill>
                  <a:srgbClr val="000099"/>
                </a:solidFill>
                <a:latin typeface="Times New Roman" pitchFamily="18" charset="0"/>
                <a:ea typeface="华文新魏" pitchFamily="2" charset="-122"/>
              </a:rPr>
              <a:t>1</a:t>
            </a:r>
          </a:p>
        </p:txBody>
      </p:sp>
      <p:sp>
        <p:nvSpPr>
          <p:cNvPr id="297989" name="Oval 5"/>
          <p:cNvSpPr>
            <a:spLocks noChangeArrowheads="1"/>
          </p:cNvSpPr>
          <p:nvPr/>
        </p:nvSpPr>
        <p:spPr bwMode="auto">
          <a:xfrm>
            <a:off x="4541838" y="5892800"/>
            <a:ext cx="457200" cy="4572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b="1">
                <a:solidFill>
                  <a:srgbClr val="000099"/>
                </a:solidFill>
                <a:latin typeface="Times New Roman" pitchFamily="18" charset="0"/>
                <a:ea typeface="华文新魏" pitchFamily="2" charset="-122"/>
              </a:rPr>
              <a:t>2</a:t>
            </a:r>
          </a:p>
        </p:txBody>
      </p:sp>
      <p:sp>
        <p:nvSpPr>
          <p:cNvPr id="297990" name="Oval 6"/>
          <p:cNvSpPr>
            <a:spLocks noChangeArrowheads="1"/>
          </p:cNvSpPr>
          <p:nvPr/>
        </p:nvSpPr>
        <p:spPr bwMode="auto">
          <a:xfrm>
            <a:off x="6370638" y="5892800"/>
            <a:ext cx="457200" cy="457200"/>
          </a:xfrm>
          <a:prstGeom prst="ellipse">
            <a:avLst/>
          </a:prstGeom>
          <a:noFill/>
          <a:ln w="76200" cmpd="tri">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b="1">
                <a:solidFill>
                  <a:srgbClr val="000099"/>
                </a:solidFill>
                <a:latin typeface="Times New Roman" pitchFamily="18" charset="0"/>
                <a:ea typeface="华文新魏" pitchFamily="2" charset="-122"/>
              </a:rPr>
              <a:t>3</a:t>
            </a:r>
          </a:p>
        </p:txBody>
      </p:sp>
      <p:sp>
        <p:nvSpPr>
          <p:cNvPr id="297991" name="Line 7"/>
          <p:cNvSpPr>
            <a:spLocks noChangeShapeType="1"/>
          </p:cNvSpPr>
          <p:nvPr/>
        </p:nvSpPr>
        <p:spPr bwMode="auto">
          <a:xfrm>
            <a:off x="3246438" y="6121400"/>
            <a:ext cx="1295400" cy="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992" name="Line 8"/>
          <p:cNvSpPr>
            <a:spLocks noChangeShapeType="1"/>
          </p:cNvSpPr>
          <p:nvPr/>
        </p:nvSpPr>
        <p:spPr bwMode="auto">
          <a:xfrm>
            <a:off x="5075238" y="6121400"/>
            <a:ext cx="1295400" cy="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993" name="Text Box 9"/>
          <p:cNvSpPr txBox="1">
            <a:spLocks noChangeArrowheads="1"/>
          </p:cNvSpPr>
          <p:nvPr/>
        </p:nvSpPr>
        <p:spPr bwMode="auto">
          <a:xfrm>
            <a:off x="3335338" y="6067425"/>
            <a:ext cx="1020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l</a:t>
            </a:r>
            <a:r>
              <a:rPr kumimoji="1" lang="en-US" altLang="zh-CN" sz="2400" b="1">
                <a:solidFill>
                  <a:schemeClr val="folHlink"/>
                </a:solidFill>
                <a:latin typeface="Times New Roman" pitchFamily="18" charset="0"/>
                <a:ea typeface="华文新魏" pitchFamily="2" charset="-122"/>
              </a:rPr>
              <a:t>etter</a:t>
            </a:r>
          </a:p>
        </p:txBody>
      </p:sp>
      <p:sp>
        <p:nvSpPr>
          <p:cNvPr id="297994" name="Text Box 10"/>
          <p:cNvSpPr txBox="1">
            <a:spLocks noChangeArrowheads="1"/>
          </p:cNvSpPr>
          <p:nvPr/>
        </p:nvSpPr>
        <p:spPr bwMode="auto">
          <a:xfrm>
            <a:off x="5303838" y="5164138"/>
            <a:ext cx="178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l</a:t>
            </a:r>
            <a:r>
              <a:rPr kumimoji="1" lang="en-US" altLang="zh-CN" sz="2400" b="1">
                <a:solidFill>
                  <a:schemeClr val="folHlink"/>
                </a:solidFill>
                <a:latin typeface="Times New Roman" pitchFamily="18" charset="0"/>
                <a:ea typeface="华文新魏" pitchFamily="2" charset="-122"/>
              </a:rPr>
              <a:t>etter</a:t>
            </a:r>
            <a:r>
              <a:rPr kumimoji="1" lang="en-US" altLang="zh-CN" sz="2400" b="1">
                <a:solidFill>
                  <a:srgbClr val="000099"/>
                </a:solidFill>
                <a:latin typeface="Times New Roman" pitchFamily="18" charset="0"/>
                <a:ea typeface="华文新魏" pitchFamily="2" charset="-122"/>
              </a:rPr>
              <a:t>,</a:t>
            </a:r>
            <a:r>
              <a:rPr kumimoji="1" lang="en-US" altLang="zh-CN" sz="2400" b="1">
                <a:latin typeface="Times New Roman" pitchFamily="18" charset="0"/>
                <a:ea typeface="华文新魏" pitchFamily="2" charset="-122"/>
              </a:rPr>
              <a:t>d</a:t>
            </a:r>
            <a:r>
              <a:rPr kumimoji="1" lang="en-US" altLang="zh-CN" sz="2400" b="1">
                <a:solidFill>
                  <a:schemeClr val="folHlink"/>
                </a:solidFill>
                <a:latin typeface="Times New Roman" pitchFamily="18" charset="0"/>
                <a:ea typeface="华文新魏" pitchFamily="2" charset="-122"/>
              </a:rPr>
              <a:t>igit</a:t>
            </a:r>
          </a:p>
        </p:txBody>
      </p:sp>
      <p:sp>
        <p:nvSpPr>
          <p:cNvPr id="297995" name="Text Box 11"/>
          <p:cNvSpPr txBox="1">
            <a:spLocks noChangeArrowheads="1"/>
          </p:cNvSpPr>
          <p:nvPr/>
        </p:nvSpPr>
        <p:spPr bwMode="auto">
          <a:xfrm>
            <a:off x="5380038" y="6080125"/>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b="1">
                <a:latin typeface="Times New Roman" pitchFamily="18" charset="0"/>
                <a:ea typeface="华文新魏" pitchFamily="2" charset="-122"/>
              </a:rPr>
              <a:t>其它</a:t>
            </a:r>
          </a:p>
        </p:txBody>
      </p:sp>
      <p:sp>
        <p:nvSpPr>
          <p:cNvPr id="297997" name="Text Box 13"/>
          <p:cNvSpPr txBox="1">
            <a:spLocks noChangeArrowheads="1"/>
          </p:cNvSpPr>
          <p:nvPr/>
        </p:nvSpPr>
        <p:spPr bwMode="auto">
          <a:xfrm>
            <a:off x="1417638" y="591343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solidFill>
                  <a:srgbClr val="000099"/>
                </a:solidFill>
                <a:latin typeface="Times New Roman" pitchFamily="18" charset="0"/>
                <a:ea typeface="华文新魏" pitchFamily="2" charset="-122"/>
              </a:rPr>
              <a:t>开始</a:t>
            </a:r>
            <a:endParaRPr kumimoji="1" lang="zh-CN" altLang="en-US" sz="2400">
              <a:solidFill>
                <a:srgbClr val="000099"/>
              </a:solidFill>
              <a:latin typeface="Times New Roman" pitchFamily="18" charset="0"/>
              <a:ea typeface="华文新魏" pitchFamily="2" charset="-122"/>
            </a:endParaRPr>
          </a:p>
        </p:txBody>
      </p:sp>
      <p:sp>
        <p:nvSpPr>
          <p:cNvPr id="297998" name="Text Box 14"/>
          <p:cNvSpPr txBox="1">
            <a:spLocks noChangeArrowheads="1"/>
          </p:cNvSpPr>
          <p:nvPr/>
        </p:nvSpPr>
        <p:spPr bwMode="auto">
          <a:xfrm>
            <a:off x="6888163" y="5857875"/>
            <a:ext cx="113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solidFill>
                  <a:srgbClr val="000099"/>
                </a:solidFill>
                <a:latin typeface="Times New Roman" pitchFamily="18" charset="0"/>
                <a:ea typeface="华文新魏" pitchFamily="2" charset="-122"/>
              </a:rPr>
              <a:t>终态</a:t>
            </a:r>
            <a:endParaRPr kumimoji="1" lang="zh-CN" altLang="en-US" sz="2400">
              <a:solidFill>
                <a:srgbClr val="000099"/>
              </a:solidFill>
              <a:latin typeface="Times New Roman" pitchFamily="18" charset="0"/>
              <a:ea typeface="华文新魏" pitchFamily="2" charset="-122"/>
            </a:endParaRPr>
          </a:p>
        </p:txBody>
      </p:sp>
      <p:sp>
        <p:nvSpPr>
          <p:cNvPr id="297999" name="Line 15"/>
          <p:cNvSpPr>
            <a:spLocks noChangeShapeType="1"/>
          </p:cNvSpPr>
          <p:nvPr/>
        </p:nvSpPr>
        <p:spPr bwMode="auto">
          <a:xfrm>
            <a:off x="2179638" y="6142038"/>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8000" name="Text Box 16"/>
          <p:cNvSpPr txBox="1">
            <a:spLocks noChangeArrowheads="1"/>
          </p:cNvSpPr>
          <p:nvPr/>
        </p:nvSpPr>
        <p:spPr bwMode="auto">
          <a:xfrm>
            <a:off x="2560638" y="5303838"/>
            <a:ext cx="93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solidFill>
                  <a:srgbClr val="000099"/>
                </a:solidFill>
                <a:latin typeface="Times New Roman" pitchFamily="18" charset="0"/>
                <a:ea typeface="华文新魏" pitchFamily="2" charset="-122"/>
              </a:rPr>
              <a:t>初态</a:t>
            </a:r>
            <a:endParaRPr kumimoji="1" lang="zh-CN" altLang="en-US" sz="2400">
              <a:solidFill>
                <a:srgbClr val="000099"/>
              </a:solidFill>
              <a:latin typeface="Times New Roman" pitchFamily="18" charset="0"/>
              <a:ea typeface="华文新魏" pitchFamily="2" charset="-122"/>
            </a:endParaRPr>
          </a:p>
        </p:txBody>
      </p:sp>
      <p:sp>
        <p:nvSpPr>
          <p:cNvPr id="298001" name="Freeform 17"/>
          <p:cNvSpPr>
            <a:spLocks/>
          </p:cNvSpPr>
          <p:nvPr/>
        </p:nvSpPr>
        <p:spPr bwMode="auto">
          <a:xfrm>
            <a:off x="4351338" y="5210175"/>
            <a:ext cx="889000" cy="800100"/>
          </a:xfrm>
          <a:custGeom>
            <a:avLst/>
            <a:gdLst>
              <a:gd name="T0" fmla="*/ 408 w 560"/>
              <a:gd name="T1" fmla="*/ 504 h 504"/>
              <a:gd name="T2" fmla="*/ 552 w 560"/>
              <a:gd name="T3" fmla="*/ 360 h 504"/>
              <a:gd name="T4" fmla="*/ 456 w 560"/>
              <a:gd name="T5" fmla="*/ 72 h 504"/>
              <a:gd name="T6" fmla="*/ 168 w 560"/>
              <a:gd name="T7" fmla="*/ 24 h 504"/>
              <a:gd name="T8" fmla="*/ 24 w 560"/>
              <a:gd name="T9" fmla="*/ 216 h 504"/>
              <a:gd name="T10" fmla="*/ 24 w 560"/>
              <a:gd name="T11" fmla="*/ 360 h 504"/>
              <a:gd name="T12" fmla="*/ 120 w 560"/>
              <a:gd name="T13" fmla="*/ 504 h 504"/>
              <a:gd name="T14" fmla="*/ 0 60000 65536"/>
              <a:gd name="T15" fmla="*/ 0 60000 65536"/>
              <a:gd name="T16" fmla="*/ 0 60000 65536"/>
              <a:gd name="T17" fmla="*/ 0 60000 65536"/>
              <a:gd name="T18" fmla="*/ 0 60000 65536"/>
              <a:gd name="T19" fmla="*/ 0 60000 65536"/>
              <a:gd name="T20" fmla="*/ 0 60000 65536"/>
              <a:gd name="T21" fmla="*/ 0 w 560"/>
              <a:gd name="T22" fmla="*/ 0 h 504"/>
              <a:gd name="T23" fmla="*/ 560 w 560"/>
              <a:gd name="T24" fmla="*/ 504 h 5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0" h="504">
                <a:moveTo>
                  <a:pt x="408" y="504"/>
                </a:moveTo>
                <a:cubicBezTo>
                  <a:pt x="476" y="468"/>
                  <a:pt x="544" y="432"/>
                  <a:pt x="552" y="360"/>
                </a:cubicBezTo>
                <a:cubicBezTo>
                  <a:pt x="560" y="288"/>
                  <a:pt x="520" y="128"/>
                  <a:pt x="456" y="72"/>
                </a:cubicBezTo>
                <a:cubicBezTo>
                  <a:pt x="392" y="16"/>
                  <a:pt x="240" y="0"/>
                  <a:pt x="168" y="24"/>
                </a:cubicBezTo>
                <a:cubicBezTo>
                  <a:pt x="96" y="48"/>
                  <a:pt x="48" y="160"/>
                  <a:pt x="24" y="216"/>
                </a:cubicBezTo>
                <a:cubicBezTo>
                  <a:pt x="0" y="272"/>
                  <a:pt x="8" y="312"/>
                  <a:pt x="24" y="360"/>
                </a:cubicBezTo>
                <a:cubicBezTo>
                  <a:pt x="40" y="408"/>
                  <a:pt x="16" y="416"/>
                  <a:pt x="120" y="504"/>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F11DC26-2FA2-446C-A1E5-AD7C98DD56BA}" type="slidenum">
              <a:rPr lang="zh-CN" altLang="en-US"/>
              <a:pPr eaLnBrk="1" hangingPunct="1"/>
              <a:t>31</a:t>
            </a:fld>
            <a:endParaRPr lang="en-US" altLang="zh-CN"/>
          </a:p>
        </p:txBody>
      </p:sp>
      <p:sp>
        <p:nvSpPr>
          <p:cNvPr id="336898" name="Rectangle 2"/>
          <p:cNvSpPr>
            <a:spLocks noGrp="1" noRot="1" noChangeArrowheads="1"/>
          </p:cNvSpPr>
          <p:nvPr>
            <p:ph type="title"/>
          </p:nvPr>
        </p:nvSpPr>
        <p:spPr>
          <a:xfrm>
            <a:off x="990600" y="476250"/>
            <a:ext cx="7772400" cy="1123950"/>
          </a:xfrm>
        </p:spPr>
        <p:txBody>
          <a:bodyPr lIns="92075" tIns="46038" rIns="92075" bIns="46038"/>
          <a:lstStyle/>
          <a:p>
            <a:pPr eaLnBrk="1" hangingPunct="1">
              <a:defRPr/>
            </a:pPr>
            <a:r>
              <a:rPr lang="zh-CN" altLang="en-US" b="1" smtClean="0">
                <a:effectLst>
                  <a:outerShdw blurRad="38100" dist="38100" dir="2700000" algn="tl">
                    <a:srgbClr val="C0C0C0"/>
                  </a:outerShdw>
                </a:effectLst>
                <a:latin typeface="Times New Roman" pitchFamily="18" charset="0"/>
                <a:ea typeface="华文新魏" pitchFamily="2" charset="-122"/>
              </a:rPr>
              <a:t>例3-5的状态图</a:t>
            </a:r>
          </a:p>
        </p:txBody>
      </p:sp>
      <p:sp>
        <p:nvSpPr>
          <p:cNvPr id="336899" name="Rectangle 3"/>
          <p:cNvSpPr>
            <a:spLocks noGrp="1" noRot="1" noChangeArrowheads="1"/>
          </p:cNvSpPr>
          <p:nvPr>
            <p:ph type="body" idx="1"/>
          </p:nvPr>
        </p:nvSpPr>
        <p:spPr>
          <a:xfrm>
            <a:off x="804863" y="2057400"/>
            <a:ext cx="7799387" cy="4251325"/>
          </a:xfrm>
          <a:noFill/>
        </p:spPr>
        <p:txBody>
          <a:bodyPr lIns="92075" tIns="46038" rIns="92075" bIns="46038"/>
          <a:lstStyle/>
          <a:p>
            <a:pPr eaLnBrk="1" hangingPunct="1">
              <a:lnSpc>
                <a:spcPct val="90000"/>
              </a:lnSpc>
              <a:spcBef>
                <a:spcPct val="50000"/>
              </a:spcBef>
              <a:buFont typeface="Wingdings" pitchFamily="2" charset="2"/>
              <a:buNone/>
            </a:pPr>
            <a:r>
              <a:rPr lang="zh-CN" altLang="en-US" sz="2400" b="1" smtClean="0">
                <a:latin typeface="Times New Roman" pitchFamily="18" charset="0"/>
                <a:ea typeface="华文新魏" pitchFamily="2" charset="-122"/>
              </a:rPr>
              <a:t>    词法规则            			</a:t>
            </a:r>
            <a:r>
              <a:rPr lang="zh-CN" altLang="en-US" sz="2400" b="1" i="1" smtClean="0">
                <a:latin typeface="Times New Roman" pitchFamily="18" charset="0"/>
                <a:ea typeface="华文新魏" pitchFamily="2" charset="-122"/>
              </a:rPr>
              <a:t>单词种别	属性</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zh-CN" altLang="en-US" sz="2400" b="1" smtClean="0">
                <a:latin typeface="Times New Roman" pitchFamily="18" charset="0"/>
                <a:ea typeface="华文新魏" pitchFamily="2" charset="-122"/>
              </a:rPr>
              <a:t>&lt;标识符&gt;→</a:t>
            </a:r>
            <a:r>
              <a:rPr lang="en-US" altLang="zh-CN" sz="2400" b="1" smtClean="0">
                <a:latin typeface="Times New Roman" pitchFamily="18" charset="0"/>
                <a:ea typeface="华文新魏" pitchFamily="2" charset="-122"/>
              </a:rPr>
              <a:t>l</a:t>
            </a:r>
            <a:r>
              <a:rPr lang="en-US" altLang="zh-CN" sz="2400" b="1" smtClean="0">
                <a:solidFill>
                  <a:schemeClr val="folHlink"/>
                </a:solidFill>
                <a:latin typeface="Times New Roman" pitchFamily="18" charset="0"/>
                <a:ea typeface="华文新魏" pitchFamily="2" charset="-122"/>
              </a:rPr>
              <a:t>etter</a:t>
            </a:r>
            <a:r>
              <a:rPr lang="en-US" altLang="zh-CN" sz="2400" b="1" smtClean="0">
                <a:latin typeface="Times New Roman" pitchFamily="18" charset="0"/>
                <a:ea typeface="华文新魏" pitchFamily="2" charset="-122"/>
              </a:rPr>
              <a:t>(l</a:t>
            </a:r>
            <a:r>
              <a:rPr lang="en-US" altLang="zh-CN" sz="2400" b="1" smtClean="0">
                <a:solidFill>
                  <a:schemeClr val="folHlink"/>
                </a:solidFill>
                <a:latin typeface="Times New Roman" pitchFamily="18" charset="0"/>
                <a:ea typeface="华文新魏" pitchFamily="2" charset="-122"/>
              </a:rPr>
              <a:t>etter</a:t>
            </a:r>
            <a:r>
              <a:rPr lang="zh-CN" altLang="en-US" sz="2400" b="1"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d</a:t>
            </a:r>
            <a:r>
              <a:rPr lang="en-US" altLang="zh-CN" sz="2400" b="1" smtClean="0">
                <a:solidFill>
                  <a:schemeClr val="folHlink"/>
                </a:solidFill>
                <a:latin typeface="Times New Roman" pitchFamily="18" charset="0"/>
                <a:ea typeface="华文新魏" pitchFamily="2" charset="-122"/>
              </a:rPr>
              <a:t>igit</a:t>
            </a:r>
            <a:r>
              <a:rPr lang="en-US" altLang="zh-CN" sz="2400" b="1" smtClean="0">
                <a:latin typeface="Times New Roman" pitchFamily="18" charset="0"/>
                <a:ea typeface="华文新魏" pitchFamily="2" charset="-122"/>
              </a:rPr>
              <a:t>)</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 	</a:t>
            </a:r>
            <a:r>
              <a:rPr lang="en-US" altLang="zh-CN" sz="2400" b="1" i="1" smtClean="0">
                <a:latin typeface="Times New Roman" pitchFamily="18" charset="0"/>
                <a:ea typeface="华文新魏" pitchFamily="2" charset="-122"/>
              </a:rPr>
              <a:t>ID	</a:t>
            </a:r>
            <a:r>
              <a:rPr lang="zh-CN" altLang="en-US" sz="2400" b="1" i="1" smtClean="0">
                <a:latin typeface="Times New Roman" pitchFamily="18" charset="0"/>
                <a:ea typeface="华文新魏" pitchFamily="2" charset="-122"/>
              </a:rPr>
              <a:t>符号表项入口</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zh-CN" altLang="en-US" sz="2400" b="1" smtClean="0">
                <a:latin typeface="Times New Roman" pitchFamily="18" charset="0"/>
                <a:ea typeface="华文新魏" pitchFamily="2" charset="-122"/>
              </a:rPr>
              <a:t>&lt;无符号整数&gt;→</a:t>
            </a:r>
            <a:r>
              <a:rPr lang="en-US" altLang="zh-CN" sz="2400" b="1" smtClean="0">
                <a:latin typeface="Times New Roman" pitchFamily="18" charset="0"/>
                <a:ea typeface="华文新魏" pitchFamily="2" charset="-122"/>
              </a:rPr>
              <a:t>d</a:t>
            </a:r>
            <a:r>
              <a:rPr lang="en-US" altLang="zh-CN" sz="2400" b="1" smtClean="0">
                <a:solidFill>
                  <a:schemeClr val="folHlink"/>
                </a:solidFill>
                <a:latin typeface="Times New Roman" pitchFamily="18" charset="0"/>
                <a:ea typeface="华文新魏" pitchFamily="2" charset="-122"/>
              </a:rPr>
              <a:t>igit</a:t>
            </a:r>
            <a:r>
              <a:rPr lang="en-US" altLang="zh-CN" sz="2400" b="1" smtClean="0">
                <a:latin typeface="Times New Roman" pitchFamily="18" charset="0"/>
                <a:ea typeface="华文新魏" pitchFamily="2" charset="-122"/>
              </a:rPr>
              <a:t> (d</a:t>
            </a:r>
            <a:r>
              <a:rPr lang="en-US" altLang="zh-CN" sz="2400" b="1" smtClean="0">
                <a:solidFill>
                  <a:schemeClr val="folHlink"/>
                </a:solidFill>
                <a:latin typeface="Times New Roman" pitchFamily="18" charset="0"/>
                <a:ea typeface="华文新魏" pitchFamily="2" charset="-122"/>
              </a:rPr>
              <a:t>igit</a:t>
            </a:r>
            <a:r>
              <a:rPr lang="en-US" altLang="zh-CN" sz="2400" b="1" smtClean="0">
                <a:latin typeface="Times New Roman" pitchFamily="18" charset="0"/>
                <a:ea typeface="华文新魏" pitchFamily="2" charset="-122"/>
              </a:rPr>
              <a:t>)</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 	</a:t>
            </a:r>
            <a:r>
              <a:rPr lang="en-US" altLang="zh-CN" sz="2400" b="1" i="1" smtClean="0">
                <a:latin typeface="Times New Roman" pitchFamily="18" charset="0"/>
                <a:ea typeface="华文新魏" pitchFamily="2" charset="-122"/>
              </a:rPr>
              <a:t>NUM		</a:t>
            </a:r>
            <a:r>
              <a:rPr lang="zh-CN" altLang="en-US" sz="2400" b="1" i="1" smtClean="0">
                <a:latin typeface="Times New Roman" pitchFamily="18" charset="0"/>
                <a:ea typeface="华文新魏" pitchFamily="2" charset="-122"/>
              </a:rPr>
              <a:t>数值</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zh-CN" altLang="en-US" sz="2400" b="1" smtClean="0">
                <a:latin typeface="Times New Roman" pitchFamily="18" charset="0"/>
                <a:ea typeface="华文新魏" pitchFamily="2" charset="-122"/>
              </a:rPr>
              <a:t>&lt;赋值符&gt;→ := 			</a:t>
            </a:r>
            <a:r>
              <a:rPr lang="en-US" altLang="zh-CN" sz="2400" b="1" i="1" smtClean="0">
                <a:latin typeface="Times New Roman" pitchFamily="18" charset="0"/>
                <a:ea typeface="华文新魏" pitchFamily="2" charset="-122"/>
              </a:rPr>
              <a:t>ASSIGN 	</a:t>
            </a:r>
            <a:r>
              <a:rPr lang="zh-CN" altLang="en-US" sz="2400" b="1" i="1" smtClean="0">
                <a:latin typeface="Times New Roman" pitchFamily="18" charset="0"/>
                <a:ea typeface="华文新魏" pitchFamily="2" charset="-122"/>
              </a:rPr>
              <a:t>无</a:t>
            </a:r>
            <a:endParaRPr lang="zh-CN" altLang="en-US" sz="2400" b="1" smtClean="0">
              <a:latin typeface="Times New Roman" pitchFamily="18" charset="0"/>
              <a:ea typeface="华文新魏" pitchFamily="2" charset="-122"/>
            </a:endParaRPr>
          </a:p>
          <a:p>
            <a:pPr eaLnBrk="1" hangingPunct="1">
              <a:lnSpc>
                <a:spcPct val="120000"/>
              </a:lnSpc>
              <a:spcBef>
                <a:spcPct val="50000"/>
              </a:spcBef>
              <a:buFont typeface="Wingdings" pitchFamily="2" charset="2"/>
              <a:buNone/>
            </a:pP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加号</a:t>
            </a:r>
            <a:r>
              <a:rPr lang="en-US" altLang="zh-CN" sz="2400" b="1" smtClean="0">
                <a:latin typeface="Times New Roman" pitchFamily="18" charset="0"/>
                <a:ea typeface="华文新魏" pitchFamily="2" charset="-122"/>
              </a:rPr>
              <a:t>&gt;→+		      		</a:t>
            </a:r>
            <a:r>
              <a:rPr lang="en-US" altLang="zh-CN" sz="2400" b="1" i="1" smtClean="0">
                <a:latin typeface="Times New Roman" pitchFamily="18" charset="0"/>
                <a:ea typeface="华文新魏" pitchFamily="2" charset="-122"/>
              </a:rPr>
              <a:t>+		</a:t>
            </a:r>
            <a:r>
              <a:rPr lang="zh-CN" altLang="en-US" sz="2400" b="1" i="1" smtClean="0">
                <a:latin typeface="Times New Roman" pitchFamily="18" charset="0"/>
                <a:ea typeface="华文新魏" pitchFamily="2" charset="-122"/>
              </a:rPr>
              <a:t>无</a:t>
            </a:r>
            <a:r>
              <a:rPr lang="zh-CN" altLang="en-US" sz="2400" b="1" smtClean="0">
                <a:latin typeface="Times New Roman" pitchFamily="18" charset="0"/>
                <a:ea typeface="华文新魏" pitchFamily="2" charset="-122"/>
              </a:rPr>
              <a:t> </a:t>
            </a:r>
          </a:p>
          <a:p>
            <a:pPr eaLnBrk="1" hangingPunct="1">
              <a:lnSpc>
                <a:spcPct val="120000"/>
              </a:lnSpc>
              <a:spcBef>
                <a:spcPct val="50000"/>
              </a:spcBef>
              <a:buFont typeface="Wingdings" pitchFamily="2" charset="2"/>
              <a:buNone/>
            </a:pP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减号</a:t>
            </a:r>
            <a:r>
              <a:rPr lang="en-US" altLang="zh-CN" sz="2400" b="1" smtClean="0">
                <a:latin typeface="Times New Roman" pitchFamily="18" charset="0"/>
                <a:ea typeface="华文新魏" pitchFamily="2" charset="-122"/>
              </a:rPr>
              <a:t>&gt;→-				MINUS	</a:t>
            </a:r>
            <a:r>
              <a:rPr lang="zh-CN" altLang="en-US" sz="2400" b="1" smtClean="0">
                <a:latin typeface="Times New Roman" pitchFamily="18" charset="0"/>
                <a:ea typeface="华文新魏" pitchFamily="2" charset="-122"/>
              </a:rPr>
              <a:t>无</a:t>
            </a:r>
          </a:p>
          <a:p>
            <a:pPr eaLnBrk="1" hangingPunct="1">
              <a:lnSpc>
                <a:spcPct val="120000"/>
              </a:lnSpc>
              <a:spcBef>
                <a:spcPct val="50000"/>
              </a:spcBef>
              <a:buFont typeface="Wingdings" pitchFamily="2" charset="2"/>
              <a:buNone/>
            </a:pP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乘号</a:t>
            </a:r>
            <a:r>
              <a:rPr lang="en-US" altLang="zh-CN" sz="2400" b="1" smtClean="0">
                <a:latin typeface="Times New Roman" pitchFamily="18" charset="0"/>
                <a:ea typeface="华文新魏" pitchFamily="2" charset="-122"/>
              </a:rPr>
              <a:t>&gt;→*</a:t>
            </a:r>
            <a:r>
              <a:rPr lang="zh-CN" altLang="en-US" sz="2400" b="1" smtClean="0">
                <a:latin typeface="Times New Roman" pitchFamily="18" charset="0"/>
                <a:ea typeface="华文新魏" pitchFamily="2" charset="-122"/>
              </a:rPr>
              <a:t> 				</a:t>
            </a:r>
            <a:r>
              <a:rPr lang="en-US" altLang="zh-CN" sz="2400" b="1" smtClean="0">
                <a:latin typeface="Times New Roman" pitchFamily="18" charset="0"/>
                <a:ea typeface="华文新魏" pitchFamily="2" charset="-122"/>
              </a:rPr>
              <a:t>MULTI	</a:t>
            </a:r>
            <a:r>
              <a:rPr lang="zh-CN" altLang="en-US" sz="2400" b="1" smtClean="0">
                <a:latin typeface="Times New Roman" pitchFamily="18" charset="0"/>
                <a:ea typeface="华文新魏" pitchFamily="2" charset="-122"/>
              </a:rPr>
              <a:t>无</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C6BDDB3-3FF6-44D5-956A-777F7173FC4B}" type="slidenum">
              <a:rPr lang="zh-CN" altLang="en-US"/>
              <a:pPr eaLnBrk="1" hangingPunct="1"/>
              <a:t>32</a:t>
            </a:fld>
            <a:endParaRPr lang="en-US" altLang="zh-CN"/>
          </a:p>
        </p:txBody>
      </p:sp>
      <p:sp>
        <p:nvSpPr>
          <p:cNvPr id="299010" name="Rectangle 2"/>
          <p:cNvSpPr>
            <a:spLocks noGrp="1" noRot="1" noChangeArrowheads="1"/>
          </p:cNvSpPr>
          <p:nvPr>
            <p:ph type="title"/>
          </p:nvPr>
        </p:nvSpPr>
        <p:spPr>
          <a:xfrm>
            <a:off x="1066800" y="228600"/>
            <a:ext cx="4114800" cy="990600"/>
          </a:xfrm>
        </p:spPr>
        <p:txBody>
          <a:bodyPr lIns="92075" tIns="46038" rIns="92075" bIns="46038"/>
          <a:lstStyle/>
          <a:p>
            <a:pPr eaLnBrk="1" hangingPunct="1">
              <a:defRPr/>
            </a:pPr>
            <a:r>
              <a:rPr lang="zh-CN" altLang="en-US" b="1" smtClean="0">
                <a:effectLst>
                  <a:outerShdw blurRad="38100" dist="38100" dir="2700000" algn="tl">
                    <a:srgbClr val="C0C0C0"/>
                  </a:outerShdw>
                </a:effectLst>
                <a:latin typeface="Times New Roman" pitchFamily="18" charset="0"/>
                <a:ea typeface="华文新魏" pitchFamily="2" charset="-122"/>
              </a:rPr>
              <a:t>例3-5的状态图</a:t>
            </a:r>
          </a:p>
        </p:txBody>
      </p:sp>
      <p:sp>
        <p:nvSpPr>
          <p:cNvPr id="299011" name="Oval 3"/>
          <p:cNvSpPr>
            <a:spLocks noChangeArrowheads="1"/>
          </p:cNvSpPr>
          <p:nvPr/>
        </p:nvSpPr>
        <p:spPr bwMode="auto">
          <a:xfrm>
            <a:off x="457200" y="2168525"/>
            <a:ext cx="381000" cy="381000"/>
          </a:xfrm>
          <a:prstGeom prst="ellipse">
            <a:avLst/>
          </a:prstGeom>
          <a:noFill/>
          <a:ln w="28575">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2" name="Oval 4"/>
          <p:cNvSpPr>
            <a:spLocks noChangeArrowheads="1"/>
          </p:cNvSpPr>
          <p:nvPr/>
        </p:nvSpPr>
        <p:spPr bwMode="auto">
          <a:xfrm>
            <a:off x="3429000" y="2168525"/>
            <a:ext cx="381000" cy="381000"/>
          </a:xfrm>
          <a:prstGeom prst="ellipse">
            <a:avLst/>
          </a:prstGeom>
          <a:noFill/>
          <a:ln w="28575">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3" name="Oval 5"/>
          <p:cNvSpPr>
            <a:spLocks noChangeArrowheads="1"/>
          </p:cNvSpPr>
          <p:nvPr/>
        </p:nvSpPr>
        <p:spPr bwMode="auto">
          <a:xfrm>
            <a:off x="3429000" y="3692525"/>
            <a:ext cx="381000" cy="381000"/>
          </a:xfrm>
          <a:prstGeom prst="ellipse">
            <a:avLst/>
          </a:prstGeom>
          <a:noFill/>
          <a:ln w="28575">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4" name="Oval 6"/>
          <p:cNvSpPr>
            <a:spLocks noChangeArrowheads="1"/>
          </p:cNvSpPr>
          <p:nvPr/>
        </p:nvSpPr>
        <p:spPr bwMode="auto">
          <a:xfrm>
            <a:off x="2514600" y="4800600"/>
            <a:ext cx="381000" cy="381000"/>
          </a:xfrm>
          <a:prstGeom prst="ellipse">
            <a:avLst/>
          </a:prstGeom>
          <a:noFill/>
          <a:ln w="28575">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5" name="Oval 7"/>
          <p:cNvSpPr>
            <a:spLocks noChangeArrowheads="1"/>
          </p:cNvSpPr>
          <p:nvPr/>
        </p:nvSpPr>
        <p:spPr bwMode="auto">
          <a:xfrm>
            <a:off x="6096000" y="2168525"/>
            <a:ext cx="381000" cy="381000"/>
          </a:xfrm>
          <a:prstGeom prst="ellipse">
            <a:avLst/>
          </a:prstGeom>
          <a:noFill/>
          <a:ln w="76200" cmpd="tri">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6" name="Oval 8"/>
          <p:cNvSpPr>
            <a:spLocks noChangeArrowheads="1"/>
          </p:cNvSpPr>
          <p:nvPr/>
        </p:nvSpPr>
        <p:spPr bwMode="auto">
          <a:xfrm>
            <a:off x="6096000" y="3387725"/>
            <a:ext cx="381000" cy="381000"/>
          </a:xfrm>
          <a:prstGeom prst="ellipse">
            <a:avLst/>
          </a:prstGeom>
          <a:noFill/>
          <a:ln w="76200" cmpd="tri">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7" name="Oval 9"/>
          <p:cNvSpPr>
            <a:spLocks noChangeArrowheads="1"/>
          </p:cNvSpPr>
          <p:nvPr/>
        </p:nvSpPr>
        <p:spPr bwMode="auto">
          <a:xfrm>
            <a:off x="4419600" y="4419600"/>
            <a:ext cx="381000" cy="381000"/>
          </a:xfrm>
          <a:prstGeom prst="ellipse">
            <a:avLst/>
          </a:prstGeom>
          <a:noFill/>
          <a:ln w="76200" cmpd="tri">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18" name="Oval 10"/>
          <p:cNvSpPr>
            <a:spLocks noChangeArrowheads="1"/>
          </p:cNvSpPr>
          <p:nvPr/>
        </p:nvSpPr>
        <p:spPr bwMode="auto">
          <a:xfrm>
            <a:off x="1905000" y="6019800"/>
            <a:ext cx="381000" cy="381000"/>
          </a:xfrm>
          <a:prstGeom prst="ellipse">
            <a:avLst/>
          </a:prstGeom>
          <a:noFill/>
          <a:ln w="76200" cmpd="tri">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299019" name="AutoShape 11"/>
          <p:cNvCxnSpPr>
            <a:cxnSpLocks noChangeShapeType="1"/>
            <a:stCxn id="299012" idx="2"/>
            <a:endCxn id="299012" idx="6"/>
          </p:cNvCxnSpPr>
          <p:nvPr/>
        </p:nvCxnSpPr>
        <p:spPr bwMode="auto">
          <a:xfrm rot="10800000" flipH="1" flipV="1">
            <a:off x="3414713" y="2359025"/>
            <a:ext cx="409575" cy="1588"/>
          </a:xfrm>
          <a:prstGeom prst="curvedConnector5">
            <a:avLst>
              <a:gd name="adj1" fmla="val -52324"/>
              <a:gd name="adj2" fmla="val -26400009"/>
              <a:gd name="adj3" fmla="val 152324"/>
            </a:avLst>
          </a:prstGeom>
          <a:noFill/>
          <a:ln w="28575">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299020" name="AutoShape 12"/>
          <p:cNvCxnSpPr>
            <a:cxnSpLocks noChangeShapeType="1"/>
            <a:stCxn id="299013" idx="2"/>
            <a:endCxn id="299013" idx="6"/>
          </p:cNvCxnSpPr>
          <p:nvPr/>
        </p:nvCxnSpPr>
        <p:spPr bwMode="auto">
          <a:xfrm rot="10800000" flipH="1" flipV="1">
            <a:off x="3414713" y="3883025"/>
            <a:ext cx="409575" cy="1588"/>
          </a:xfrm>
          <a:prstGeom prst="curvedConnector5">
            <a:avLst>
              <a:gd name="adj1" fmla="val -52324"/>
              <a:gd name="adj2" fmla="val -26400009"/>
              <a:gd name="adj3" fmla="val 152324"/>
            </a:avLst>
          </a:prstGeom>
          <a:noFill/>
          <a:ln w="28575">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299021" name="AutoShape 13"/>
          <p:cNvCxnSpPr>
            <a:cxnSpLocks noChangeShapeType="1"/>
            <a:stCxn id="299014" idx="6"/>
            <a:endCxn id="299017" idx="3"/>
          </p:cNvCxnSpPr>
          <p:nvPr/>
        </p:nvCxnSpPr>
        <p:spPr bwMode="auto">
          <a:xfrm flipV="1">
            <a:off x="2909888" y="4783138"/>
            <a:ext cx="1565275" cy="207962"/>
          </a:xfrm>
          <a:prstGeom prst="curvedConnector2">
            <a:avLst/>
          </a:prstGeom>
          <a:noFill/>
          <a:ln w="28575">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299022" name="AutoShape 14"/>
          <p:cNvCxnSpPr>
            <a:cxnSpLocks noChangeShapeType="1"/>
            <a:stCxn id="299011" idx="4"/>
          </p:cNvCxnSpPr>
          <p:nvPr/>
        </p:nvCxnSpPr>
        <p:spPr bwMode="auto">
          <a:xfrm rot="16200000" flipH="1">
            <a:off x="-1258888" y="4470401"/>
            <a:ext cx="3851275" cy="38100"/>
          </a:xfrm>
          <a:prstGeom prst="curvedConnector3">
            <a:avLst>
              <a:gd name="adj1" fmla="val 50000"/>
            </a:avLst>
          </a:prstGeom>
          <a:noFill/>
          <a:ln w="28575">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299023" name="Text Box 15"/>
          <p:cNvSpPr txBox="1">
            <a:spLocks noChangeArrowheads="1"/>
          </p:cNvSpPr>
          <p:nvPr/>
        </p:nvSpPr>
        <p:spPr bwMode="auto">
          <a:xfrm>
            <a:off x="3657600" y="1376363"/>
            <a:ext cx="154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l</a:t>
            </a:r>
            <a:r>
              <a:rPr kumimoji="1" lang="en-US" altLang="zh-CN" sz="2400" b="1">
                <a:solidFill>
                  <a:schemeClr val="folHlink"/>
                </a:solidFill>
                <a:latin typeface="Times New Roman" pitchFamily="18" charset="0"/>
                <a:ea typeface="华文新魏" pitchFamily="2" charset="-122"/>
              </a:rPr>
              <a:t>etter</a:t>
            </a:r>
            <a:r>
              <a:rPr kumimoji="1" lang="en-US" altLang="zh-CN" sz="2400" b="1">
                <a:latin typeface="Times New Roman" pitchFamily="18" charset="0"/>
                <a:ea typeface="华文新魏" pitchFamily="2" charset="-122"/>
              </a:rPr>
              <a:t>,d</a:t>
            </a:r>
            <a:r>
              <a:rPr kumimoji="1" lang="en-US" altLang="zh-CN" sz="2400" b="1">
                <a:solidFill>
                  <a:schemeClr val="folHlink"/>
                </a:solidFill>
                <a:latin typeface="Times New Roman" pitchFamily="18" charset="0"/>
                <a:ea typeface="华文新魏" pitchFamily="2" charset="-122"/>
              </a:rPr>
              <a:t>igit</a:t>
            </a:r>
            <a:endParaRPr kumimoji="1" lang="en-US" altLang="zh-CN" sz="2400">
              <a:solidFill>
                <a:schemeClr val="folHlink"/>
              </a:solidFill>
              <a:latin typeface="Times New Roman" pitchFamily="18" charset="0"/>
              <a:ea typeface="华文新魏" pitchFamily="2" charset="-122"/>
            </a:endParaRPr>
          </a:p>
        </p:txBody>
      </p:sp>
      <p:sp>
        <p:nvSpPr>
          <p:cNvPr id="299024" name="Text Box 16"/>
          <p:cNvSpPr txBox="1">
            <a:spLocks noChangeArrowheads="1"/>
          </p:cNvSpPr>
          <p:nvPr/>
        </p:nvSpPr>
        <p:spPr bwMode="auto">
          <a:xfrm>
            <a:off x="1279525" y="2062163"/>
            <a:ext cx="87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l</a:t>
            </a:r>
            <a:r>
              <a:rPr kumimoji="1" lang="en-US" altLang="zh-CN" sz="2400" b="1">
                <a:solidFill>
                  <a:schemeClr val="folHlink"/>
                </a:solidFill>
                <a:latin typeface="Times New Roman" pitchFamily="18" charset="0"/>
                <a:ea typeface="华文新魏" pitchFamily="2" charset="-122"/>
              </a:rPr>
              <a:t>etter</a:t>
            </a:r>
            <a:endParaRPr kumimoji="1" lang="en-US" altLang="zh-CN" sz="2400">
              <a:solidFill>
                <a:schemeClr val="folHlink"/>
              </a:solidFill>
              <a:latin typeface="Times New Roman" pitchFamily="18" charset="0"/>
              <a:ea typeface="华文新魏" pitchFamily="2" charset="-122"/>
            </a:endParaRPr>
          </a:p>
        </p:txBody>
      </p:sp>
      <p:sp>
        <p:nvSpPr>
          <p:cNvPr id="299025" name="Text Box 17"/>
          <p:cNvSpPr txBox="1">
            <a:spLocks noChangeArrowheads="1"/>
          </p:cNvSpPr>
          <p:nvPr/>
        </p:nvSpPr>
        <p:spPr bwMode="auto">
          <a:xfrm>
            <a:off x="5767388" y="2473325"/>
            <a:ext cx="2476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(IDN，</a:t>
            </a:r>
            <a:r>
              <a:rPr kumimoji="1" lang="zh-CN" altLang="en-US" sz="2400" b="1">
                <a:latin typeface="Times New Roman" pitchFamily="18" charset="0"/>
                <a:ea typeface="华文新魏" pitchFamily="2" charset="-122"/>
              </a:rPr>
              <a:t>入口</a:t>
            </a:r>
            <a:r>
              <a:rPr kumimoji="1" lang="en-US" altLang="zh-CN" sz="2400" b="1">
                <a:latin typeface="Times New Roman" pitchFamily="18" charset="0"/>
                <a:ea typeface="华文新魏" pitchFamily="2" charset="-122"/>
              </a:rPr>
              <a:t>)</a:t>
            </a:r>
          </a:p>
        </p:txBody>
      </p:sp>
      <p:sp>
        <p:nvSpPr>
          <p:cNvPr id="299026" name="Text Box 18"/>
          <p:cNvSpPr txBox="1">
            <a:spLocks noChangeArrowheads="1"/>
          </p:cNvSpPr>
          <p:nvPr/>
        </p:nvSpPr>
        <p:spPr bwMode="auto">
          <a:xfrm>
            <a:off x="1355725" y="2976563"/>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d</a:t>
            </a:r>
            <a:r>
              <a:rPr kumimoji="1" lang="en-US" altLang="zh-CN" sz="2400" b="1">
                <a:solidFill>
                  <a:schemeClr val="folHlink"/>
                </a:solidFill>
                <a:latin typeface="Times New Roman" pitchFamily="18" charset="0"/>
                <a:ea typeface="华文新魏" pitchFamily="2" charset="-122"/>
              </a:rPr>
              <a:t>igit</a:t>
            </a:r>
            <a:endParaRPr kumimoji="1" lang="en-US" altLang="zh-CN" sz="2400">
              <a:solidFill>
                <a:schemeClr val="folHlink"/>
              </a:solidFill>
              <a:latin typeface="Times New Roman" pitchFamily="18" charset="0"/>
              <a:ea typeface="华文新魏" pitchFamily="2" charset="-122"/>
            </a:endParaRPr>
          </a:p>
        </p:txBody>
      </p:sp>
      <p:sp>
        <p:nvSpPr>
          <p:cNvPr id="299027" name="Text Box 19"/>
          <p:cNvSpPr txBox="1">
            <a:spLocks noChangeArrowheads="1"/>
          </p:cNvSpPr>
          <p:nvPr/>
        </p:nvSpPr>
        <p:spPr bwMode="auto">
          <a:xfrm>
            <a:off x="3657600" y="3128963"/>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d</a:t>
            </a:r>
            <a:r>
              <a:rPr kumimoji="1" lang="en-US" altLang="zh-CN" sz="2400" b="1">
                <a:solidFill>
                  <a:schemeClr val="folHlink"/>
                </a:solidFill>
                <a:latin typeface="Times New Roman" pitchFamily="18" charset="0"/>
                <a:ea typeface="华文新魏" pitchFamily="2" charset="-122"/>
              </a:rPr>
              <a:t>igit</a:t>
            </a:r>
          </a:p>
        </p:txBody>
      </p:sp>
      <p:sp>
        <p:nvSpPr>
          <p:cNvPr id="299028" name="Text Box 20"/>
          <p:cNvSpPr txBox="1">
            <a:spLocks noChangeArrowheads="1"/>
          </p:cNvSpPr>
          <p:nvPr/>
        </p:nvSpPr>
        <p:spPr bwMode="auto">
          <a:xfrm>
            <a:off x="4648200" y="20574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a:t>
            </a:r>
            <a:r>
              <a:rPr kumimoji="1" lang="en-US" altLang="zh-CN" sz="1600" b="1">
                <a:latin typeface="Times New Roman" pitchFamily="18" charset="0"/>
                <a:ea typeface="华文新魏" pitchFamily="2" charset="-122"/>
                <a:sym typeface="Symbol" pitchFamily="18" charset="2"/>
              </a:rPr>
              <a:t>(</a:t>
            </a:r>
            <a:r>
              <a:rPr kumimoji="1" lang="zh-CN" altLang="en-US" sz="1600" b="1">
                <a:latin typeface="Times New Roman" pitchFamily="18" charset="0"/>
                <a:ea typeface="华文新魏" pitchFamily="2" charset="-122"/>
                <a:sym typeface="Symbol" pitchFamily="18" charset="2"/>
              </a:rPr>
              <a:t>其它</a:t>
            </a:r>
            <a:r>
              <a:rPr kumimoji="1" lang="en-US" altLang="zh-CN" sz="1600" b="1">
                <a:latin typeface="Times New Roman" pitchFamily="18" charset="0"/>
                <a:ea typeface="华文新魏" pitchFamily="2" charset="-122"/>
                <a:sym typeface="Symbol" pitchFamily="18" charset="2"/>
              </a:rPr>
              <a:t>)</a:t>
            </a:r>
            <a:endParaRPr kumimoji="1" lang="en-US" altLang="zh-CN" sz="1600">
              <a:latin typeface="Times New Roman" pitchFamily="18" charset="0"/>
              <a:ea typeface="华文新魏" pitchFamily="2" charset="-122"/>
            </a:endParaRPr>
          </a:p>
        </p:txBody>
      </p:sp>
      <p:sp>
        <p:nvSpPr>
          <p:cNvPr id="299029" name="Text Box 21"/>
          <p:cNvSpPr txBox="1">
            <a:spLocks noChangeArrowheads="1"/>
          </p:cNvSpPr>
          <p:nvPr/>
        </p:nvSpPr>
        <p:spPr bwMode="auto">
          <a:xfrm>
            <a:off x="4787900" y="3692525"/>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 </a:t>
            </a:r>
            <a:r>
              <a:rPr kumimoji="1" lang="en-US" altLang="zh-CN" sz="1600" b="1">
                <a:latin typeface="Times New Roman" pitchFamily="18" charset="0"/>
                <a:ea typeface="华文新魏" pitchFamily="2" charset="-122"/>
                <a:sym typeface="Symbol" pitchFamily="18" charset="2"/>
              </a:rPr>
              <a:t>(</a:t>
            </a:r>
            <a:r>
              <a:rPr kumimoji="1" lang="zh-CN" altLang="en-US" sz="1600" b="1">
                <a:latin typeface="Times New Roman" pitchFamily="18" charset="0"/>
                <a:ea typeface="华文新魏" pitchFamily="2" charset="-122"/>
                <a:sym typeface="Symbol" pitchFamily="18" charset="2"/>
              </a:rPr>
              <a:t>其它</a:t>
            </a:r>
            <a:r>
              <a:rPr kumimoji="1" lang="en-US" altLang="zh-CN" sz="1600" b="1">
                <a:latin typeface="Times New Roman" pitchFamily="18" charset="0"/>
                <a:ea typeface="华文新魏" pitchFamily="2" charset="-122"/>
                <a:sym typeface="Symbol" pitchFamily="18" charset="2"/>
              </a:rPr>
              <a:t>)</a:t>
            </a:r>
          </a:p>
        </p:txBody>
      </p:sp>
      <p:sp>
        <p:nvSpPr>
          <p:cNvPr id="299030" name="Text Box 22"/>
          <p:cNvSpPr txBox="1">
            <a:spLocks noChangeArrowheads="1"/>
          </p:cNvSpPr>
          <p:nvPr/>
        </p:nvSpPr>
        <p:spPr bwMode="auto">
          <a:xfrm>
            <a:off x="5791200" y="3692525"/>
            <a:ext cx="2381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(NUM，</a:t>
            </a:r>
            <a:r>
              <a:rPr kumimoji="1" lang="zh-CN" altLang="en-US" sz="2400" b="1">
                <a:latin typeface="Times New Roman" pitchFamily="18" charset="0"/>
                <a:ea typeface="华文新魏" pitchFamily="2" charset="-122"/>
              </a:rPr>
              <a:t>值</a:t>
            </a:r>
            <a:r>
              <a:rPr kumimoji="1" lang="en-US" altLang="zh-CN" sz="2400" b="1">
                <a:latin typeface="Times New Roman" pitchFamily="18" charset="0"/>
                <a:ea typeface="华文新魏" pitchFamily="2" charset="-122"/>
              </a:rPr>
              <a:t>)</a:t>
            </a:r>
          </a:p>
        </p:txBody>
      </p:sp>
      <p:sp>
        <p:nvSpPr>
          <p:cNvPr id="299031" name="Text Box 23"/>
          <p:cNvSpPr txBox="1">
            <a:spLocks noChangeArrowheads="1"/>
          </p:cNvSpPr>
          <p:nvPr/>
        </p:nvSpPr>
        <p:spPr bwMode="auto">
          <a:xfrm>
            <a:off x="4648200" y="4267200"/>
            <a:ext cx="2084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(ASG，_)</a:t>
            </a:r>
            <a:endParaRPr kumimoji="1" lang="en-US" altLang="zh-CN" sz="2400">
              <a:latin typeface="Times New Roman" pitchFamily="18" charset="0"/>
              <a:ea typeface="华文新魏" pitchFamily="2" charset="-122"/>
            </a:endParaRPr>
          </a:p>
        </p:txBody>
      </p:sp>
      <p:sp>
        <p:nvSpPr>
          <p:cNvPr id="299032" name="Text Box 24"/>
          <p:cNvSpPr txBox="1">
            <a:spLocks noChangeArrowheads="1"/>
          </p:cNvSpPr>
          <p:nvPr/>
        </p:nvSpPr>
        <p:spPr bwMode="auto">
          <a:xfrm>
            <a:off x="3260725" y="4922838"/>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rPr>
              <a:t>=</a:t>
            </a:r>
            <a:endParaRPr kumimoji="1" lang="zh-CN" altLang="en-US" sz="2400">
              <a:latin typeface="Times New Roman" pitchFamily="18" charset="0"/>
              <a:ea typeface="华文新魏" pitchFamily="2" charset="-122"/>
            </a:endParaRPr>
          </a:p>
        </p:txBody>
      </p:sp>
      <p:sp>
        <p:nvSpPr>
          <p:cNvPr id="299033" name="Text Box 25"/>
          <p:cNvSpPr txBox="1">
            <a:spLocks noChangeArrowheads="1"/>
          </p:cNvSpPr>
          <p:nvPr/>
        </p:nvSpPr>
        <p:spPr bwMode="auto">
          <a:xfrm>
            <a:off x="1524000" y="36909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rPr>
              <a:t>：</a:t>
            </a:r>
            <a:endParaRPr kumimoji="1" lang="zh-CN" altLang="en-US" sz="2400">
              <a:latin typeface="Times New Roman" pitchFamily="18" charset="0"/>
              <a:ea typeface="华文新魏" pitchFamily="2" charset="-122"/>
            </a:endParaRPr>
          </a:p>
        </p:txBody>
      </p:sp>
      <p:sp>
        <p:nvSpPr>
          <p:cNvPr id="299034" name="Text Box 26"/>
          <p:cNvSpPr txBox="1">
            <a:spLocks noChangeArrowheads="1"/>
          </p:cNvSpPr>
          <p:nvPr/>
        </p:nvSpPr>
        <p:spPr bwMode="auto">
          <a:xfrm>
            <a:off x="1219200" y="4424363"/>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rPr>
              <a:t>+</a:t>
            </a:r>
            <a:endParaRPr kumimoji="1" lang="zh-CN" altLang="en-US" sz="2400">
              <a:latin typeface="Times New Roman" pitchFamily="18" charset="0"/>
              <a:ea typeface="华文新魏" pitchFamily="2" charset="-122"/>
            </a:endParaRPr>
          </a:p>
        </p:txBody>
      </p:sp>
      <p:sp>
        <p:nvSpPr>
          <p:cNvPr id="299035" name="Text Box 27"/>
          <p:cNvSpPr txBox="1">
            <a:spLocks noChangeArrowheads="1"/>
          </p:cNvSpPr>
          <p:nvPr/>
        </p:nvSpPr>
        <p:spPr bwMode="auto">
          <a:xfrm>
            <a:off x="1752600" y="5562600"/>
            <a:ext cx="2098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(ADD，_)</a:t>
            </a:r>
            <a:endParaRPr kumimoji="1" lang="en-US" altLang="zh-CN" sz="2400">
              <a:latin typeface="Times New Roman" pitchFamily="18" charset="0"/>
              <a:ea typeface="华文新魏" pitchFamily="2" charset="-122"/>
            </a:endParaRPr>
          </a:p>
        </p:txBody>
      </p:sp>
      <p:sp>
        <p:nvSpPr>
          <p:cNvPr id="299036" name="Line 28"/>
          <p:cNvSpPr>
            <a:spLocks noChangeShapeType="1"/>
          </p:cNvSpPr>
          <p:nvPr/>
        </p:nvSpPr>
        <p:spPr bwMode="auto">
          <a:xfrm>
            <a:off x="3810000" y="2438400"/>
            <a:ext cx="2286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9037" name="Line 29"/>
          <p:cNvSpPr>
            <a:spLocks noChangeShapeType="1"/>
          </p:cNvSpPr>
          <p:nvPr/>
        </p:nvSpPr>
        <p:spPr bwMode="auto">
          <a:xfrm>
            <a:off x="838200" y="2438400"/>
            <a:ext cx="2590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9038" name="Freeform 30"/>
          <p:cNvSpPr>
            <a:spLocks/>
          </p:cNvSpPr>
          <p:nvPr/>
        </p:nvSpPr>
        <p:spPr bwMode="auto">
          <a:xfrm>
            <a:off x="762000" y="2514600"/>
            <a:ext cx="2743200" cy="1549400"/>
          </a:xfrm>
          <a:custGeom>
            <a:avLst/>
            <a:gdLst>
              <a:gd name="T0" fmla="*/ 0 w 1728"/>
              <a:gd name="T1" fmla="*/ 0 h 976"/>
              <a:gd name="T2" fmla="*/ 864 w 1728"/>
              <a:gd name="T3" fmla="*/ 816 h 976"/>
              <a:gd name="T4" fmla="*/ 1728 w 1728"/>
              <a:gd name="T5" fmla="*/ 960 h 976"/>
              <a:gd name="T6" fmla="*/ 0 60000 65536"/>
              <a:gd name="T7" fmla="*/ 0 60000 65536"/>
              <a:gd name="T8" fmla="*/ 0 60000 65536"/>
              <a:gd name="T9" fmla="*/ 0 w 1728"/>
              <a:gd name="T10" fmla="*/ 0 h 976"/>
              <a:gd name="T11" fmla="*/ 1728 w 1728"/>
              <a:gd name="T12" fmla="*/ 976 h 976"/>
            </a:gdLst>
            <a:ahLst/>
            <a:cxnLst>
              <a:cxn ang="T6">
                <a:pos x="T0" y="T1"/>
              </a:cxn>
              <a:cxn ang="T7">
                <a:pos x="T2" y="T3"/>
              </a:cxn>
              <a:cxn ang="T8">
                <a:pos x="T4" y="T5"/>
              </a:cxn>
            </a:cxnLst>
            <a:rect l="T9" t="T10" r="T11" b="T12"/>
            <a:pathLst>
              <a:path w="1728" h="976">
                <a:moveTo>
                  <a:pt x="0" y="0"/>
                </a:moveTo>
                <a:cubicBezTo>
                  <a:pt x="288" y="328"/>
                  <a:pt x="576" y="656"/>
                  <a:pt x="864" y="816"/>
                </a:cubicBezTo>
                <a:cubicBezTo>
                  <a:pt x="1152" y="976"/>
                  <a:pt x="1544" y="904"/>
                  <a:pt x="1728" y="96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sp>
        <p:nvSpPr>
          <p:cNvPr id="299039" name="Line 31"/>
          <p:cNvSpPr>
            <a:spLocks noChangeShapeType="1"/>
          </p:cNvSpPr>
          <p:nvPr/>
        </p:nvSpPr>
        <p:spPr bwMode="auto">
          <a:xfrm>
            <a:off x="0" y="2438400"/>
            <a:ext cx="533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9040" name="Text Box 32"/>
          <p:cNvSpPr txBox="1">
            <a:spLocks noChangeArrowheads="1"/>
          </p:cNvSpPr>
          <p:nvPr/>
        </p:nvSpPr>
        <p:spPr bwMode="auto">
          <a:xfrm>
            <a:off x="-76200" y="1905000"/>
            <a:ext cx="990600" cy="561975"/>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chemeClr val="folHlink"/>
                </a:solidFill>
                <a:effectLst>
                  <a:outerShdw blurRad="38100" dist="38100" dir="2700000" algn="tl">
                    <a:srgbClr val="C0C0C0"/>
                  </a:outerShdw>
                </a:effectLst>
                <a:latin typeface="Times New Roman" pitchFamily="18" charset="0"/>
                <a:ea typeface="华文新魏" pitchFamily="2" charset="-122"/>
              </a:rPr>
              <a:t>s</a:t>
            </a:r>
          </a:p>
        </p:txBody>
      </p:sp>
      <p:sp>
        <p:nvSpPr>
          <p:cNvPr id="299041" name="Line 33"/>
          <p:cNvSpPr>
            <a:spLocks noChangeShapeType="1"/>
          </p:cNvSpPr>
          <p:nvPr/>
        </p:nvSpPr>
        <p:spPr bwMode="auto">
          <a:xfrm flipV="1">
            <a:off x="3810000" y="3657600"/>
            <a:ext cx="2362200" cy="3048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9042" name="Line 34"/>
          <p:cNvSpPr>
            <a:spLocks noChangeShapeType="1"/>
          </p:cNvSpPr>
          <p:nvPr/>
        </p:nvSpPr>
        <p:spPr bwMode="auto">
          <a:xfrm>
            <a:off x="685800" y="2514600"/>
            <a:ext cx="1905000" cy="2438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9043" name="Line 35"/>
          <p:cNvSpPr>
            <a:spLocks noChangeShapeType="1"/>
          </p:cNvSpPr>
          <p:nvPr/>
        </p:nvSpPr>
        <p:spPr bwMode="auto">
          <a:xfrm>
            <a:off x="685800" y="2590800"/>
            <a:ext cx="1371600" cy="3429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9044" name="Oval 36"/>
          <p:cNvSpPr>
            <a:spLocks noChangeArrowheads="1"/>
          </p:cNvSpPr>
          <p:nvPr/>
        </p:nvSpPr>
        <p:spPr bwMode="auto">
          <a:xfrm>
            <a:off x="5562600" y="5943600"/>
            <a:ext cx="381000" cy="381000"/>
          </a:xfrm>
          <a:prstGeom prst="ellipse">
            <a:avLst/>
          </a:prstGeom>
          <a:noFill/>
          <a:ln w="76200" cmpd="tri">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9045" name="Line 37"/>
          <p:cNvSpPr>
            <a:spLocks noChangeShapeType="1"/>
          </p:cNvSpPr>
          <p:nvPr/>
        </p:nvSpPr>
        <p:spPr bwMode="auto">
          <a:xfrm>
            <a:off x="2286000" y="6248400"/>
            <a:ext cx="3352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99046" name="Text Box 38"/>
          <p:cNvSpPr txBox="1">
            <a:spLocks noChangeArrowheads="1"/>
          </p:cNvSpPr>
          <p:nvPr/>
        </p:nvSpPr>
        <p:spPr bwMode="auto">
          <a:xfrm>
            <a:off x="3910013" y="5872163"/>
            <a:ext cx="357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rPr>
              <a:t>+</a:t>
            </a:r>
            <a:endParaRPr kumimoji="1" lang="zh-CN" altLang="en-US" sz="2400">
              <a:latin typeface="Times New Roman" pitchFamily="18" charset="0"/>
              <a:ea typeface="华文新魏" pitchFamily="2" charset="-122"/>
            </a:endParaRPr>
          </a:p>
        </p:txBody>
      </p:sp>
      <p:sp>
        <p:nvSpPr>
          <p:cNvPr id="299047" name="Text Box 39"/>
          <p:cNvSpPr txBox="1">
            <a:spLocks noChangeArrowheads="1"/>
          </p:cNvSpPr>
          <p:nvPr/>
        </p:nvSpPr>
        <p:spPr bwMode="auto">
          <a:xfrm>
            <a:off x="6019800" y="5943600"/>
            <a:ext cx="2008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b="1">
                <a:latin typeface="Times New Roman" pitchFamily="18" charset="0"/>
                <a:ea typeface="华文新魏" pitchFamily="2" charset="-122"/>
              </a:rPr>
              <a:t>(INC，_)</a:t>
            </a:r>
            <a:endParaRPr kumimoji="1" lang="en-US" altLang="zh-CN" sz="2400">
              <a:latin typeface="Times New Roman" pitchFamily="18" charset="0"/>
              <a:ea typeface="华文新魏" pitchFamily="2" charset="-122"/>
            </a:endParaRPr>
          </a:p>
        </p:txBody>
      </p:sp>
      <p:sp>
        <p:nvSpPr>
          <p:cNvPr id="299048" name="Text Box 40"/>
          <p:cNvSpPr txBox="1">
            <a:spLocks noChangeArrowheads="1"/>
          </p:cNvSpPr>
          <p:nvPr/>
        </p:nvSpPr>
        <p:spPr bwMode="auto">
          <a:xfrm>
            <a:off x="0" y="3789363"/>
            <a:ext cx="971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rPr>
              <a:t>其它</a:t>
            </a:r>
          </a:p>
        </p:txBody>
      </p:sp>
      <p:sp>
        <p:nvSpPr>
          <p:cNvPr id="299049" name="Text Box 41"/>
          <p:cNvSpPr txBox="1">
            <a:spLocks noChangeArrowheads="1"/>
          </p:cNvSpPr>
          <p:nvPr/>
        </p:nvSpPr>
        <p:spPr bwMode="auto">
          <a:xfrm>
            <a:off x="4419600" y="914400"/>
            <a:ext cx="4724400" cy="493713"/>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r>
              <a:rPr kumimoji="1" lang="en-US" altLang="zh-CN" sz="2400" b="1">
                <a:solidFill>
                  <a:srgbClr val="000099"/>
                </a:solidFill>
                <a:effectLst>
                  <a:outerShdw blurRad="38100" dist="38100" dir="2700000" algn="tl">
                    <a:srgbClr val="C0C0C0"/>
                  </a:outerShdw>
                </a:effectLst>
                <a:latin typeface="Times New Roman" pitchFamily="18" charset="0"/>
                <a:ea typeface="华文新魏" pitchFamily="2" charset="-122"/>
              </a:rPr>
              <a:t>IDN</a:t>
            </a:r>
            <a:r>
              <a:rPr kumimoji="1" lang="en-US" altLang="zh-CN" sz="2400" b="1">
                <a:solidFill>
                  <a:srgbClr val="000099"/>
                </a:solidFill>
                <a:latin typeface="Times New Roman" pitchFamily="18" charset="0"/>
                <a:ea typeface="华文新魏" pitchFamily="2" charset="-122"/>
              </a:rPr>
              <a:t>→l</a:t>
            </a:r>
            <a:r>
              <a:rPr kumimoji="1" lang="en-US" altLang="zh-CN" sz="2400" b="1">
                <a:solidFill>
                  <a:schemeClr val="folHlink"/>
                </a:solidFill>
                <a:latin typeface="Times New Roman" pitchFamily="18" charset="0"/>
                <a:ea typeface="华文新魏" pitchFamily="2" charset="-122"/>
              </a:rPr>
              <a:t>etter</a:t>
            </a:r>
            <a:r>
              <a:rPr kumimoji="1" lang="en-US" altLang="zh-CN" sz="2400" b="1">
                <a:solidFill>
                  <a:srgbClr val="000099"/>
                </a:solidFill>
                <a:latin typeface="Times New Roman" pitchFamily="18" charset="0"/>
                <a:ea typeface="华文新魏" pitchFamily="2" charset="-122"/>
              </a:rPr>
              <a:t>(l</a:t>
            </a:r>
            <a:r>
              <a:rPr kumimoji="1" lang="en-US" altLang="zh-CN" sz="2400" b="1">
                <a:solidFill>
                  <a:schemeClr val="folHlink"/>
                </a:solidFill>
                <a:latin typeface="Times New Roman" pitchFamily="18" charset="0"/>
                <a:ea typeface="华文新魏" pitchFamily="2" charset="-122"/>
              </a:rPr>
              <a:t>etter</a:t>
            </a:r>
            <a:r>
              <a:rPr kumimoji="1" lang="en-US" altLang="zh-CN" sz="2400" b="1">
                <a:solidFill>
                  <a:srgbClr val="000099"/>
                </a:solidFill>
                <a:latin typeface="Times New Roman" pitchFamily="18" charset="0"/>
                <a:ea typeface="华文新魏" pitchFamily="2" charset="-122"/>
              </a:rPr>
              <a:t>|d</a:t>
            </a:r>
            <a:r>
              <a:rPr kumimoji="1" lang="en-US" altLang="zh-CN" sz="2400" b="1">
                <a:solidFill>
                  <a:schemeClr val="folHlink"/>
                </a:solidFill>
                <a:latin typeface="Times New Roman" pitchFamily="18" charset="0"/>
                <a:ea typeface="华文新魏" pitchFamily="2" charset="-122"/>
              </a:rPr>
              <a:t>igit</a:t>
            </a:r>
            <a:r>
              <a:rPr kumimoji="1" lang="en-US" altLang="zh-CN" sz="2400" b="1">
                <a:solidFill>
                  <a:srgbClr val="000099"/>
                </a:solidFill>
                <a:latin typeface="Times New Roman" pitchFamily="18" charset="0"/>
                <a:ea typeface="华文新魏" pitchFamily="2" charset="-122"/>
              </a:rPr>
              <a:t>)</a:t>
            </a:r>
            <a:r>
              <a:rPr kumimoji="1" lang="en-US" altLang="zh-CN" sz="2400" b="1" baseline="30000">
                <a:solidFill>
                  <a:srgbClr val="000099"/>
                </a:solidFill>
                <a:latin typeface="Times New Roman" pitchFamily="18" charset="0"/>
                <a:ea typeface="华文新魏" pitchFamily="2" charset="-122"/>
              </a:rPr>
              <a:t>*</a:t>
            </a:r>
            <a:endParaRPr kumimoji="1" lang="en-US" altLang="zh-CN" sz="2400" b="1">
              <a:solidFill>
                <a:srgbClr val="000099"/>
              </a:solidFill>
              <a:latin typeface="Times New Roman" pitchFamily="18" charset="0"/>
              <a:ea typeface="华文新魏" pitchFamily="2" charset="-122"/>
            </a:endParaRPr>
          </a:p>
        </p:txBody>
      </p:sp>
      <p:sp>
        <p:nvSpPr>
          <p:cNvPr id="299050" name="Text Box 42"/>
          <p:cNvSpPr txBox="1">
            <a:spLocks noChangeArrowheads="1"/>
          </p:cNvSpPr>
          <p:nvPr/>
        </p:nvSpPr>
        <p:spPr bwMode="auto">
          <a:xfrm>
            <a:off x="4800600" y="2895600"/>
            <a:ext cx="4038600" cy="493713"/>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r>
              <a:rPr kumimoji="1" lang="en-US" altLang="zh-CN" sz="2400" b="1">
                <a:solidFill>
                  <a:srgbClr val="000099"/>
                </a:solidFill>
                <a:effectLst>
                  <a:outerShdw blurRad="38100" dist="38100" dir="2700000" algn="tl">
                    <a:srgbClr val="C0C0C0"/>
                  </a:outerShdw>
                </a:effectLst>
                <a:latin typeface="Times New Roman" pitchFamily="18" charset="0"/>
                <a:ea typeface="华文新魏" pitchFamily="2" charset="-122"/>
              </a:rPr>
              <a:t>NUM</a:t>
            </a:r>
            <a:r>
              <a:rPr kumimoji="1" lang="en-US" altLang="zh-CN" sz="2400" b="1">
                <a:solidFill>
                  <a:srgbClr val="000099"/>
                </a:solidFill>
                <a:latin typeface="Times New Roman" pitchFamily="18" charset="0"/>
                <a:ea typeface="华文新魏" pitchFamily="2" charset="-122"/>
              </a:rPr>
              <a:t>→d</a:t>
            </a:r>
            <a:r>
              <a:rPr kumimoji="1" lang="en-US" altLang="zh-CN" sz="2400" b="1">
                <a:solidFill>
                  <a:schemeClr val="folHlink"/>
                </a:solidFill>
                <a:latin typeface="Times New Roman" pitchFamily="18" charset="0"/>
                <a:ea typeface="华文新魏" pitchFamily="2" charset="-122"/>
              </a:rPr>
              <a:t>igit</a:t>
            </a:r>
            <a:r>
              <a:rPr kumimoji="1" lang="en-US" altLang="zh-CN" sz="2400" b="1">
                <a:solidFill>
                  <a:srgbClr val="000099"/>
                </a:solidFill>
                <a:latin typeface="Times New Roman" pitchFamily="18" charset="0"/>
                <a:ea typeface="华文新魏" pitchFamily="2" charset="-122"/>
              </a:rPr>
              <a:t>(d</a:t>
            </a:r>
            <a:r>
              <a:rPr kumimoji="1" lang="en-US" altLang="zh-CN" sz="2400" b="1">
                <a:solidFill>
                  <a:schemeClr val="folHlink"/>
                </a:solidFill>
                <a:latin typeface="Times New Roman" pitchFamily="18" charset="0"/>
                <a:ea typeface="华文新魏" pitchFamily="2" charset="-122"/>
              </a:rPr>
              <a:t>igit</a:t>
            </a:r>
            <a:r>
              <a:rPr kumimoji="1" lang="en-US" altLang="zh-CN" sz="2400" b="1">
                <a:solidFill>
                  <a:srgbClr val="000099"/>
                </a:solidFill>
                <a:latin typeface="Times New Roman" pitchFamily="18" charset="0"/>
                <a:ea typeface="华文新魏" pitchFamily="2" charset="-122"/>
              </a:rPr>
              <a:t>)</a:t>
            </a:r>
            <a:r>
              <a:rPr kumimoji="1" lang="en-US" altLang="zh-CN" sz="2400" b="1" baseline="30000">
                <a:solidFill>
                  <a:srgbClr val="000099"/>
                </a:solidFill>
                <a:latin typeface="Times New Roman" pitchFamily="18" charset="0"/>
                <a:ea typeface="华文新魏" pitchFamily="2" charset="-122"/>
              </a:rPr>
              <a:t>*</a:t>
            </a:r>
            <a:endParaRPr kumimoji="1" lang="en-US" altLang="zh-CN" sz="2400" b="1">
              <a:solidFill>
                <a:srgbClr val="000099"/>
              </a:solidFill>
              <a:latin typeface="Times New Roman" pitchFamily="18" charset="0"/>
              <a:ea typeface="华文新魏" pitchFamily="2" charset="-122"/>
            </a:endParaRPr>
          </a:p>
        </p:txBody>
      </p:sp>
      <p:sp>
        <p:nvSpPr>
          <p:cNvPr id="299051" name="Text Box 43"/>
          <p:cNvSpPr txBox="1">
            <a:spLocks noChangeArrowheads="1"/>
          </p:cNvSpPr>
          <p:nvPr/>
        </p:nvSpPr>
        <p:spPr bwMode="auto">
          <a:xfrm>
            <a:off x="5410200" y="4800600"/>
            <a:ext cx="2057400" cy="493713"/>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r>
              <a:rPr kumimoji="1" lang="en-US" altLang="zh-CN" sz="2400" b="1">
                <a:solidFill>
                  <a:srgbClr val="000099"/>
                </a:solidFill>
                <a:effectLst>
                  <a:outerShdw blurRad="38100" dist="38100" dir="2700000" algn="tl">
                    <a:srgbClr val="C0C0C0"/>
                  </a:outerShdw>
                </a:effectLst>
                <a:latin typeface="Times New Roman" pitchFamily="18" charset="0"/>
                <a:ea typeface="华文新魏" pitchFamily="2" charset="-122"/>
              </a:rPr>
              <a:t>ASG</a:t>
            </a:r>
            <a:r>
              <a:rPr kumimoji="1" lang="en-US" altLang="zh-CN" sz="2400" b="1">
                <a:solidFill>
                  <a:srgbClr val="000099"/>
                </a:solidFill>
                <a:latin typeface="Times New Roman" pitchFamily="18" charset="0"/>
                <a:ea typeface="华文新魏" pitchFamily="2" charset="-122"/>
              </a:rPr>
              <a:t>→:=</a:t>
            </a:r>
          </a:p>
        </p:txBody>
      </p:sp>
      <p:sp>
        <p:nvSpPr>
          <p:cNvPr id="299052" name="Text Box 44"/>
          <p:cNvSpPr txBox="1">
            <a:spLocks noChangeArrowheads="1"/>
          </p:cNvSpPr>
          <p:nvPr/>
        </p:nvSpPr>
        <p:spPr bwMode="auto">
          <a:xfrm>
            <a:off x="6477000" y="6364288"/>
            <a:ext cx="1905000" cy="493712"/>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r>
              <a:rPr kumimoji="1" lang="en-US" altLang="zh-CN" sz="2400" b="1">
                <a:solidFill>
                  <a:srgbClr val="000099"/>
                </a:solidFill>
                <a:effectLst>
                  <a:outerShdw blurRad="38100" dist="38100" dir="2700000" algn="tl">
                    <a:srgbClr val="C0C0C0"/>
                  </a:outerShdw>
                </a:effectLst>
                <a:latin typeface="Times New Roman" pitchFamily="18" charset="0"/>
                <a:ea typeface="华文新魏" pitchFamily="2" charset="-122"/>
              </a:rPr>
              <a:t>INC</a:t>
            </a:r>
            <a:r>
              <a:rPr kumimoji="1" lang="en-US" altLang="zh-CN" sz="2400" b="1">
                <a:solidFill>
                  <a:srgbClr val="000099"/>
                </a:solidFill>
                <a:latin typeface="Times New Roman" pitchFamily="18" charset="0"/>
                <a:ea typeface="华文新魏" pitchFamily="2" charset="-122"/>
              </a:rPr>
              <a:t>→++</a:t>
            </a:r>
          </a:p>
        </p:txBody>
      </p:sp>
      <p:sp>
        <p:nvSpPr>
          <p:cNvPr id="299053" name="Text Box 45"/>
          <p:cNvSpPr txBox="1">
            <a:spLocks noChangeArrowheads="1"/>
          </p:cNvSpPr>
          <p:nvPr/>
        </p:nvSpPr>
        <p:spPr bwMode="auto">
          <a:xfrm>
            <a:off x="2124075" y="6364288"/>
            <a:ext cx="1905000" cy="493712"/>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r>
              <a:rPr kumimoji="1" lang="en-US" altLang="zh-CN" sz="2400" b="1">
                <a:solidFill>
                  <a:srgbClr val="000099"/>
                </a:solidFill>
                <a:effectLst>
                  <a:outerShdw blurRad="38100" dist="38100" dir="2700000" algn="tl">
                    <a:srgbClr val="C0C0C0"/>
                  </a:outerShdw>
                </a:effectLst>
                <a:latin typeface="Times New Roman" pitchFamily="18" charset="0"/>
                <a:ea typeface="华文新魏" pitchFamily="2" charset="-122"/>
              </a:rPr>
              <a:t>ADD</a:t>
            </a:r>
            <a:r>
              <a:rPr kumimoji="1" lang="en-US" altLang="zh-CN" sz="2400" b="1">
                <a:solidFill>
                  <a:srgbClr val="000099"/>
                </a:solidFill>
                <a:latin typeface="Times New Roman" pitchFamily="18" charset="0"/>
                <a:ea typeface="华文新魏" pitchFamily="2" charset="-122"/>
              </a:rPr>
              <a:t>→+</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2F6E173-B00A-4374-9394-C413B0002289}" type="slidenum">
              <a:rPr lang="zh-CN" altLang="en-US"/>
              <a:pPr eaLnBrk="1" hangingPunct="1"/>
              <a:t>33</a:t>
            </a:fld>
            <a:endParaRPr lang="en-US" altLang="zh-CN"/>
          </a:p>
        </p:txBody>
      </p:sp>
      <p:sp>
        <p:nvSpPr>
          <p:cNvPr id="38915" name="Rectangle 2"/>
          <p:cNvSpPr>
            <a:spLocks noGrp="1" noRot="1" noChangeArrowheads="1"/>
          </p:cNvSpPr>
          <p:nvPr>
            <p:ph type="title"/>
          </p:nvPr>
        </p:nvSpPr>
        <p:spPr/>
        <p:txBody>
          <a:bodyPr/>
          <a:lstStyle/>
          <a:p>
            <a:pPr eaLnBrk="1" hangingPunct="1"/>
            <a:r>
              <a:rPr lang="zh-CN" altLang="en-US" b="1" smtClean="0">
                <a:solidFill>
                  <a:srgbClr val="000099"/>
                </a:solidFill>
                <a:latin typeface="Times New Roman" pitchFamily="18" charset="0"/>
                <a:ea typeface="华文新魏" pitchFamily="2" charset="-122"/>
              </a:rPr>
              <a:t>从正则表达式到状态转换图</a:t>
            </a:r>
          </a:p>
        </p:txBody>
      </p:sp>
      <p:grpSp>
        <p:nvGrpSpPr>
          <p:cNvPr id="2" name="Group 56"/>
          <p:cNvGrpSpPr>
            <a:grpSpLocks/>
          </p:cNvGrpSpPr>
          <p:nvPr/>
        </p:nvGrpSpPr>
        <p:grpSpPr bwMode="auto">
          <a:xfrm>
            <a:off x="539750" y="4413250"/>
            <a:ext cx="2971800" cy="1247775"/>
            <a:chOff x="3775" y="2886"/>
            <a:chExt cx="1872" cy="786"/>
          </a:xfrm>
        </p:grpSpPr>
        <p:grpSp>
          <p:nvGrpSpPr>
            <p:cNvPr id="38964" name="Group 55"/>
            <p:cNvGrpSpPr>
              <a:grpSpLocks/>
            </p:cNvGrpSpPr>
            <p:nvPr/>
          </p:nvGrpSpPr>
          <p:grpSpPr bwMode="auto">
            <a:xfrm>
              <a:off x="3919" y="3528"/>
              <a:ext cx="1536" cy="144"/>
              <a:chOff x="3919" y="3528"/>
              <a:chExt cx="1536" cy="144"/>
            </a:xfrm>
          </p:grpSpPr>
          <p:sp>
            <p:nvSpPr>
              <p:cNvPr id="38969" name="Oval 6"/>
              <p:cNvSpPr>
                <a:spLocks noChangeArrowheads="1"/>
              </p:cNvSpPr>
              <p:nvPr/>
            </p:nvSpPr>
            <p:spPr bwMode="auto">
              <a:xfrm>
                <a:off x="3919" y="352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70" name="Oval 7"/>
              <p:cNvSpPr>
                <a:spLocks noChangeArrowheads="1"/>
              </p:cNvSpPr>
              <p:nvPr/>
            </p:nvSpPr>
            <p:spPr bwMode="auto">
              <a:xfrm>
                <a:off x="5311" y="3528"/>
                <a:ext cx="144" cy="14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71" name="Line 8"/>
              <p:cNvSpPr>
                <a:spLocks noChangeShapeType="1"/>
              </p:cNvSpPr>
              <p:nvPr/>
            </p:nvSpPr>
            <p:spPr bwMode="auto">
              <a:xfrm>
                <a:off x="4063" y="3603"/>
                <a:ext cx="12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sp>
          <p:nvSpPr>
            <p:cNvPr id="368649" name="Text Box 9"/>
            <p:cNvSpPr txBox="1">
              <a:spLocks noChangeArrowheads="1"/>
            </p:cNvSpPr>
            <p:nvPr/>
          </p:nvSpPr>
          <p:spPr bwMode="auto">
            <a:xfrm>
              <a:off x="3775" y="3240"/>
              <a:ext cx="384" cy="354"/>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endParaRPr kumimoji="1" lang="en-US" altLang="zh-CN" sz="2800" b="1">
                <a:effectLst>
                  <a:outerShdw blurRad="38100" dist="38100" dir="2700000" algn="tl">
                    <a:srgbClr val="C0C0C0"/>
                  </a:outerShdw>
                </a:effectLst>
                <a:latin typeface="Times New Roman" pitchFamily="18" charset="0"/>
              </a:endParaRPr>
            </a:p>
          </p:txBody>
        </p:sp>
        <p:sp>
          <p:nvSpPr>
            <p:cNvPr id="368650" name="Text Box 10"/>
            <p:cNvSpPr txBox="1">
              <a:spLocks noChangeArrowheads="1"/>
            </p:cNvSpPr>
            <p:nvPr/>
          </p:nvSpPr>
          <p:spPr bwMode="auto">
            <a:xfrm>
              <a:off x="5263" y="2886"/>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s</a:t>
              </a:r>
            </a:p>
          </p:txBody>
        </p:sp>
        <p:sp>
          <p:nvSpPr>
            <p:cNvPr id="368651" name="Text Box 11"/>
            <p:cNvSpPr txBox="1">
              <a:spLocks noChangeArrowheads="1"/>
            </p:cNvSpPr>
            <p:nvPr/>
          </p:nvSpPr>
          <p:spPr bwMode="auto">
            <a:xfrm>
              <a:off x="4604" y="3294"/>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r</a:t>
              </a:r>
            </a:p>
          </p:txBody>
        </p:sp>
        <p:sp>
          <p:nvSpPr>
            <p:cNvPr id="38968" name="Freeform 12"/>
            <p:cNvSpPr>
              <a:spLocks/>
            </p:cNvSpPr>
            <p:nvPr/>
          </p:nvSpPr>
          <p:spPr bwMode="auto">
            <a:xfrm>
              <a:off x="5124" y="3192"/>
              <a:ext cx="464" cy="384"/>
            </a:xfrm>
            <a:custGeom>
              <a:avLst/>
              <a:gdLst>
                <a:gd name="T0" fmla="*/ 160 w 464"/>
                <a:gd name="T1" fmla="*/ 384 h 384"/>
                <a:gd name="T2" fmla="*/ 16 w 464"/>
                <a:gd name="T3" fmla="*/ 192 h 384"/>
                <a:gd name="T4" fmla="*/ 256 w 464"/>
                <a:gd name="T5" fmla="*/ 0 h 384"/>
                <a:gd name="T6" fmla="*/ 448 w 464"/>
                <a:gd name="T7" fmla="*/ 192 h 384"/>
                <a:gd name="T8" fmla="*/ 352 w 464"/>
                <a:gd name="T9" fmla="*/ 384 h 384"/>
                <a:gd name="T10" fmla="*/ 0 60000 65536"/>
                <a:gd name="T11" fmla="*/ 0 60000 65536"/>
                <a:gd name="T12" fmla="*/ 0 60000 65536"/>
                <a:gd name="T13" fmla="*/ 0 60000 65536"/>
                <a:gd name="T14" fmla="*/ 0 60000 65536"/>
                <a:gd name="T15" fmla="*/ 0 w 464"/>
                <a:gd name="T16" fmla="*/ 0 h 384"/>
                <a:gd name="T17" fmla="*/ 464 w 464"/>
                <a:gd name="T18" fmla="*/ 384 h 384"/>
              </a:gdLst>
              <a:ahLst/>
              <a:cxnLst>
                <a:cxn ang="T10">
                  <a:pos x="T0" y="T1"/>
                </a:cxn>
                <a:cxn ang="T11">
                  <a:pos x="T2" y="T3"/>
                </a:cxn>
                <a:cxn ang="T12">
                  <a:pos x="T4" y="T5"/>
                </a:cxn>
                <a:cxn ang="T13">
                  <a:pos x="T6" y="T7"/>
                </a:cxn>
                <a:cxn ang="T14">
                  <a:pos x="T8" y="T9"/>
                </a:cxn>
              </a:cxnLst>
              <a:rect l="T15" t="T16" r="T17" b="T18"/>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grpSp>
      <p:grpSp>
        <p:nvGrpSpPr>
          <p:cNvPr id="4" name="Group 20"/>
          <p:cNvGrpSpPr>
            <a:grpSpLocks/>
          </p:cNvGrpSpPr>
          <p:nvPr/>
        </p:nvGrpSpPr>
        <p:grpSpPr bwMode="auto">
          <a:xfrm>
            <a:off x="541338" y="1916113"/>
            <a:ext cx="1366837" cy="228600"/>
            <a:chOff x="1565" y="1434"/>
            <a:chExt cx="861" cy="144"/>
          </a:xfrm>
        </p:grpSpPr>
        <p:sp>
          <p:nvSpPr>
            <p:cNvPr id="38962" name="Oval 14"/>
            <p:cNvSpPr>
              <a:spLocks noChangeArrowheads="1"/>
            </p:cNvSpPr>
            <p:nvPr/>
          </p:nvSpPr>
          <p:spPr bwMode="auto">
            <a:xfrm>
              <a:off x="1565" y="1434"/>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63" name="Oval 17"/>
            <p:cNvSpPr>
              <a:spLocks noChangeArrowheads="1"/>
            </p:cNvSpPr>
            <p:nvPr/>
          </p:nvSpPr>
          <p:spPr bwMode="auto">
            <a:xfrm>
              <a:off x="2282" y="1434"/>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grpSp>
      <p:grpSp>
        <p:nvGrpSpPr>
          <p:cNvPr id="5" name="Group 21"/>
          <p:cNvGrpSpPr>
            <a:grpSpLocks/>
          </p:cNvGrpSpPr>
          <p:nvPr/>
        </p:nvGrpSpPr>
        <p:grpSpPr bwMode="auto">
          <a:xfrm>
            <a:off x="3419475" y="1557338"/>
            <a:ext cx="1439863" cy="588962"/>
            <a:chOff x="1565" y="1661"/>
            <a:chExt cx="907" cy="371"/>
          </a:xfrm>
        </p:grpSpPr>
        <p:sp>
          <p:nvSpPr>
            <p:cNvPr id="38958" name="Oval 13"/>
            <p:cNvSpPr>
              <a:spLocks noChangeArrowheads="1"/>
            </p:cNvSpPr>
            <p:nvPr/>
          </p:nvSpPr>
          <p:spPr bwMode="auto">
            <a:xfrm>
              <a:off x="1565" y="188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59" name="Oval 15"/>
            <p:cNvSpPr>
              <a:spLocks noChangeArrowheads="1"/>
            </p:cNvSpPr>
            <p:nvPr/>
          </p:nvSpPr>
          <p:spPr bwMode="auto">
            <a:xfrm>
              <a:off x="2328" y="188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60" name="Line 18"/>
            <p:cNvSpPr>
              <a:spLocks noChangeShapeType="1"/>
            </p:cNvSpPr>
            <p:nvPr/>
          </p:nvSpPr>
          <p:spPr bwMode="auto">
            <a:xfrm>
              <a:off x="1701" y="1979"/>
              <a:ext cx="58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1" name="Text Box 19"/>
            <p:cNvSpPr txBox="1">
              <a:spLocks noChangeArrowheads="1"/>
            </p:cNvSpPr>
            <p:nvPr/>
          </p:nvSpPr>
          <p:spPr bwMode="auto">
            <a:xfrm>
              <a:off x="1791" y="1661"/>
              <a:ext cx="384"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lang="en-US" altLang="zh-CN" sz="2800" b="1">
                  <a:latin typeface="Times New Roman" pitchFamily="18" charset="0"/>
                </a:rPr>
                <a:t>ε</a:t>
              </a:r>
            </a:p>
          </p:txBody>
        </p:sp>
      </p:grpSp>
      <p:grpSp>
        <p:nvGrpSpPr>
          <p:cNvPr id="6" name="Group 22"/>
          <p:cNvGrpSpPr>
            <a:grpSpLocks/>
          </p:cNvGrpSpPr>
          <p:nvPr/>
        </p:nvGrpSpPr>
        <p:grpSpPr bwMode="auto">
          <a:xfrm>
            <a:off x="6877050" y="1557338"/>
            <a:ext cx="1439863" cy="588962"/>
            <a:chOff x="1565" y="1661"/>
            <a:chExt cx="907" cy="371"/>
          </a:xfrm>
        </p:grpSpPr>
        <p:sp>
          <p:nvSpPr>
            <p:cNvPr id="38954" name="Oval 23"/>
            <p:cNvSpPr>
              <a:spLocks noChangeArrowheads="1"/>
            </p:cNvSpPr>
            <p:nvPr/>
          </p:nvSpPr>
          <p:spPr bwMode="auto">
            <a:xfrm>
              <a:off x="1565" y="188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55" name="Oval 24"/>
            <p:cNvSpPr>
              <a:spLocks noChangeArrowheads="1"/>
            </p:cNvSpPr>
            <p:nvPr/>
          </p:nvSpPr>
          <p:spPr bwMode="auto">
            <a:xfrm>
              <a:off x="2328" y="188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56" name="Line 25"/>
            <p:cNvSpPr>
              <a:spLocks noChangeShapeType="1"/>
            </p:cNvSpPr>
            <p:nvPr/>
          </p:nvSpPr>
          <p:spPr bwMode="auto">
            <a:xfrm>
              <a:off x="1701" y="1979"/>
              <a:ext cx="58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7" name="Text Box 26"/>
            <p:cNvSpPr txBox="1">
              <a:spLocks noChangeArrowheads="1"/>
            </p:cNvSpPr>
            <p:nvPr/>
          </p:nvSpPr>
          <p:spPr bwMode="auto">
            <a:xfrm>
              <a:off x="1791" y="1661"/>
              <a:ext cx="384"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lang="en-US" altLang="zh-CN" sz="2800" b="1">
                  <a:latin typeface="Times New Roman" pitchFamily="18" charset="0"/>
                </a:rPr>
                <a:t>a</a:t>
              </a:r>
            </a:p>
          </p:txBody>
        </p:sp>
      </p:grpSp>
      <p:sp>
        <p:nvSpPr>
          <p:cNvPr id="368667" name="Rectangle 27"/>
          <p:cNvSpPr>
            <a:spLocks noChangeArrowheads="1"/>
          </p:cNvSpPr>
          <p:nvPr/>
        </p:nvSpPr>
        <p:spPr bwMode="auto">
          <a:xfrm>
            <a:off x="900113" y="220503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Φ</a:t>
            </a:r>
            <a:endParaRPr lang="zh-CN" altLang="en-US" sz="2800" b="1">
              <a:latin typeface="Times New Roman" pitchFamily="18" charset="0"/>
            </a:endParaRPr>
          </a:p>
        </p:txBody>
      </p:sp>
      <p:sp>
        <p:nvSpPr>
          <p:cNvPr id="368668" name="Rectangle 28"/>
          <p:cNvSpPr>
            <a:spLocks noChangeArrowheads="1"/>
          </p:cNvSpPr>
          <p:nvPr/>
        </p:nvSpPr>
        <p:spPr bwMode="auto">
          <a:xfrm>
            <a:off x="3779838" y="220503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ε</a:t>
            </a:r>
            <a:endParaRPr lang="zh-CN" altLang="en-US" sz="2800" b="1">
              <a:latin typeface="Times New Roman" pitchFamily="18" charset="0"/>
            </a:endParaRPr>
          </a:p>
        </p:txBody>
      </p:sp>
      <p:sp>
        <p:nvSpPr>
          <p:cNvPr id="368669" name="Rectangle 29"/>
          <p:cNvSpPr>
            <a:spLocks noChangeArrowheads="1"/>
          </p:cNvSpPr>
          <p:nvPr/>
        </p:nvSpPr>
        <p:spPr bwMode="auto">
          <a:xfrm>
            <a:off x="7308850" y="22066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a</a:t>
            </a:r>
            <a:endParaRPr lang="zh-CN" altLang="en-US" sz="2800" b="1">
              <a:latin typeface="Times New Roman" pitchFamily="18" charset="0"/>
            </a:endParaRPr>
          </a:p>
        </p:txBody>
      </p:sp>
      <p:sp>
        <p:nvSpPr>
          <p:cNvPr id="368670" name="Rectangle 30"/>
          <p:cNvSpPr>
            <a:spLocks noChangeArrowheads="1"/>
          </p:cNvSpPr>
          <p:nvPr/>
        </p:nvSpPr>
        <p:spPr bwMode="auto">
          <a:xfrm>
            <a:off x="900113" y="3935413"/>
            <a:ext cx="7350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r | s</a:t>
            </a:r>
            <a:endParaRPr lang="zh-CN" altLang="en-US" sz="2800" b="1">
              <a:latin typeface="Times New Roman" pitchFamily="18" charset="0"/>
            </a:endParaRPr>
          </a:p>
        </p:txBody>
      </p:sp>
      <p:grpSp>
        <p:nvGrpSpPr>
          <p:cNvPr id="7" name="Group 66"/>
          <p:cNvGrpSpPr>
            <a:grpSpLocks/>
          </p:cNvGrpSpPr>
          <p:nvPr/>
        </p:nvGrpSpPr>
        <p:grpSpPr bwMode="auto">
          <a:xfrm>
            <a:off x="468313" y="3173413"/>
            <a:ext cx="1668462" cy="628650"/>
            <a:chOff x="295" y="1999"/>
            <a:chExt cx="1051" cy="396"/>
          </a:xfrm>
        </p:grpSpPr>
        <p:sp>
          <p:nvSpPr>
            <p:cNvPr id="38950" name="Oval 32"/>
            <p:cNvSpPr>
              <a:spLocks noChangeArrowheads="1"/>
            </p:cNvSpPr>
            <p:nvPr/>
          </p:nvSpPr>
          <p:spPr bwMode="auto">
            <a:xfrm>
              <a:off x="1202" y="2251"/>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51" name="Oval 33"/>
            <p:cNvSpPr>
              <a:spLocks noChangeArrowheads="1"/>
            </p:cNvSpPr>
            <p:nvPr/>
          </p:nvSpPr>
          <p:spPr bwMode="auto">
            <a:xfrm>
              <a:off x="295" y="2251"/>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52" name="Freeform 37"/>
            <p:cNvSpPr>
              <a:spLocks/>
            </p:cNvSpPr>
            <p:nvPr/>
          </p:nvSpPr>
          <p:spPr bwMode="auto">
            <a:xfrm>
              <a:off x="431" y="2341"/>
              <a:ext cx="725" cy="1"/>
            </a:xfrm>
            <a:custGeom>
              <a:avLst/>
              <a:gdLst>
                <a:gd name="T0" fmla="*/ 0 w 725"/>
                <a:gd name="T1" fmla="*/ 0 h 1"/>
                <a:gd name="T2" fmla="*/ 725 w 725"/>
                <a:gd name="T3" fmla="*/ 0 h 1"/>
                <a:gd name="T4" fmla="*/ 0 60000 65536"/>
                <a:gd name="T5" fmla="*/ 0 60000 65536"/>
                <a:gd name="T6" fmla="*/ 0 w 725"/>
                <a:gd name="T7" fmla="*/ 0 h 1"/>
                <a:gd name="T8" fmla="*/ 725 w 725"/>
                <a:gd name="T9" fmla="*/ 1 h 1"/>
              </a:gdLst>
              <a:ahLst/>
              <a:cxnLst>
                <a:cxn ang="T4">
                  <a:pos x="T0" y="T1"/>
                </a:cxn>
                <a:cxn ang="T5">
                  <a:pos x="T2" y="T3"/>
                </a:cxn>
              </a:cxnLst>
              <a:rect l="T6" t="T7" r="T8" b="T9"/>
              <a:pathLst>
                <a:path w="725" h="1">
                  <a:moveTo>
                    <a:pt x="0" y="0"/>
                  </a:moveTo>
                  <a:cubicBezTo>
                    <a:pt x="298" y="0"/>
                    <a:pt x="597" y="0"/>
                    <a:pt x="725"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53" name="Rectangle 38"/>
            <p:cNvSpPr>
              <a:spLocks noChangeArrowheads="1"/>
            </p:cNvSpPr>
            <p:nvPr/>
          </p:nvSpPr>
          <p:spPr bwMode="auto">
            <a:xfrm>
              <a:off x="592" y="1999"/>
              <a:ext cx="3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r,s</a:t>
              </a:r>
              <a:endParaRPr lang="zh-CN" altLang="en-US" sz="2800" b="1">
                <a:latin typeface="Times New Roman" pitchFamily="18" charset="0"/>
              </a:endParaRPr>
            </a:p>
          </p:txBody>
        </p:sp>
      </p:grpSp>
      <p:grpSp>
        <p:nvGrpSpPr>
          <p:cNvPr id="8" name="Group 68"/>
          <p:cNvGrpSpPr>
            <a:grpSpLocks/>
          </p:cNvGrpSpPr>
          <p:nvPr/>
        </p:nvGrpSpPr>
        <p:grpSpPr bwMode="auto">
          <a:xfrm>
            <a:off x="6694488" y="2757488"/>
            <a:ext cx="830262" cy="1247775"/>
            <a:chOff x="4217" y="1737"/>
            <a:chExt cx="523" cy="786"/>
          </a:xfrm>
        </p:grpSpPr>
        <p:sp>
          <p:nvSpPr>
            <p:cNvPr id="38947" name="Oval 39"/>
            <p:cNvSpPr>
              <a:spLocks noChangeArrowheads="1"/>
            </p:cNvSpPr>
            <p:nvPr/>
          </p:nvSpPr>
          <p:spPr bwMode="auto">
            <a:xfrm>
              <a:off x="4404" y="2379"/>
              <a:ext cx="144" cy="14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68680" name="Text Box 40"/>
            <p:cNvSpPr txBox="1">
              <a:spLocks noChangeArrowheads="1"/>
            </p:cNvSpPr>
            <p:nvPr/>
          </p:nvSpPr>
          <p:spPr bwMode="auto">
            <a:xfrm>
              <a:off x="4356" y="1737"/>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r</a:t>
              </a:r>
            </a:p>
          </p:txBody>
        </p:sp>
        <p:sp>
          <p:nvSpPr>
            <p:cNvPr id="38949" name="Freeform 41"/>
            <p:cNvSpPr>
              <a:spLocks/>
            </p:cNvSpPr>
            <p:nvPr/>
          </p:nvSpPr>
          <p:spPr bwMode="auto">
            <a:xfrm>
              <a:off x="4217" y="2043"/>
              <a:ext cx="464" cy="384"/>
            </a:xfrm>
            <a:custGeom>
              <a:avLst/>
              <a:gdLst>
                <a:gd name="T0" fmla="*/ 160 w 464"/>
                <a:gd name="T1" fmla="*/ 384 h 384"/>
                <a:gd name="T2" fmla="*/ 16 w 464"/>
                <a:gd name="T3" fmla="*/ 192 h 384"/>
                <a:gd name="T4" fmla="*/ 256 w 464"/>
                <a:gd name="T5" fmla="*/ 0 h 384"/>
                <a:gd name="T6" fmla="*/ 448 w 464"/>
                <a:gd name="T7" fmla="*/ 192 h 384"/>
                <a:gd name="T8" fmla="*/ 352 w 464"/>
                <a:gd name="T9" fmla="*/ 384 h 384"/>
                <a:gd name="T10" fmla="*/ 0 60000 65536"/>
                <a:gd name="T11" fmla="*/ 0 60000 65536"/>
                <a:gd name="T12" fmla="*/ 0 60000 65536"/>
                <a:gd name="T13" fmla="*/ 0 60000 65536"/>
                <a:gd name="T14" fmla="*/ 0 60000 65536"/>
                <a:gd name="T15" fmla="*/ 0 w 464"/>
                <a:gd name="T16" fmla="*/ 0 h 384"/>
                <a:gd name="T17" fmla="*/ 464 w 464"/>
                <a:gd name="T18" fmla="*/ 384 h 384"/>
              </a:gdLst>
              <a:ahLst/>
              <a:cxnLst>
                <a:cxn ang="T10">
                  <a:pos x="T0" y="T1"/>
                </a:cxn>
                <a:cxn ang="T11">
                  <a:pos x="T2" y="T3"/>
                </a:cxn>
                <a:cxn ang="T12">
                  <a:pos x="T4" y="T5"/>
                </a:cxn>
                <a:cxn ang="T13">
                  <a:pos x="T6" y="T7"/>
                </a:cxn>
                <a:cxn ang="T14">
                  <a:pos x="T8" y="T9"/>
                </a:cxn>
              </a:cxnLst>
              <a:rect l="T15" t="T16" r="T17" b="T18"/>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grpSp>
      <p:sp>
        <p:nvSpPr>
          <p:cNvPr id="368688" name="Rectangle 48"/>
          <p:cNvSpPr>
            <a:spLocks noChangeArrowheads="1"/>
          </p:cNvSpPr>
          <p:nvPr/>
        </p:nvSpPr>
        <p:spPr bwMode="auto">
          <a:xfrm>
            <a:off x="4283075" y="3954463"/>
            <a:ext cx="479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rs</a:t>
            </a:r>
            <a:endParaRPr lang="zh-CN" altLang="en-US" sz="2800" b="1">
              <a:latin typeface="Times New Roman" pitchFamily="18" charset="0"/>
            </a:endParaRPr>
          </a:p>
        </p:txBody>
      </p:sp>
      <p:grpSp>
        <p:nvGrpSpPr>
          <p:cNvPr id="9" name="Group 67"/>
          <p:cNvGrpSpPr>
            <a:grpSpLocks/>
          </p:cNvGrpSpPr>
          <p:nvPr/>
        </p:nvGrpSpPr>
        <p:grpSpPr bwMode="auto">
          <a:xfrm>
            <a:off x="3348038" y="3162300"/>
            <a:ext cx="2303462" cy="639763"/>
            <a:chOff x="1837" y="1992"/>
            <a:chExt cx="1451" cy="403"/>
          </a:xfrm>
        </p:grpSpPr>
        <p:sp>
          <p:nvSpPr>
            <p:cNvPr id="38940" name="Oval 42"/>
            <p:cNvSpPr>
              <a:spLocks noChangeArrowheads="1"/>
            </p:cNvSpPr>
            <p:nvPr/>
          </p:nvSpPr>
          <p:spPr bwMode="auto">
            <a:xfrm>
              <a:off x="3144" y="2251"/>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41" name="Freeform 44"/>
            <p:cNvSpPr>
              <a:spLocks/>
            </p:cNvSpPr>
            <p:nvPr/>
          </p:nvSpPr>
          <p:spPr bwMode="auto">
            <a:xfrm>
              <a:off x="2608" y="2341"/>
              <a:ext cx="544" cy="46"/>
            </a:xfrm>
            <a:custGeom>
              <a:avLst/>
              <a:gdLst>
                <a:gd name="T0" fmla="*/ 0 w 725"/>
                <a:gd name="T1" fmla="*/ 0 h 1"/>
                <a:gd name="T2" fmla="*/ 725 w 725"/>
                <a:gd name="T3" fmla="*/ 0 h 1"/>
                <a:gd name="T4" fmla="*/ 0 60000 65536"/>
                <a:gd name="T5" fmla="*/ 0 60000 65536"/>
                <a:gd name="T6" fmla="*/ 0 w 725"/>
                <a:gd name="T7" fmla="*/ 0 h 1"/>
                <a:gd name="T8" fmla="*/ 725 w 725"/>
                <a:gd name="T9" fmla="*/ 1 h 1"/>
              </a:gdLst>
              <a:ahLst/>
              <a:cxnLst>
                <a:cxn ang="T4">
                  <a:pos x="T0" y="T1"/>
                </a:cxn>
                <a:cxn ang="T5">
                  <a:pos x="T2" y="T3"/>
                </a:cxn>
              </a:cxnLst>
              <a:rect l="T6" t="T7" r="T8" b="T9"/>
              <a:pathLst>
                <a:path w="725" h="1">
                  <a:moveTo>
                    <a:pt x="0" y="0"/>
                  </a:moveTo>
                  <a:cubicBezTo>
                    <a:pt x="298" y="0"/>
                    <a:pt x="597" y="0"/>
                    <a:pt x="725"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42" name="Oval 45"/>
            <p:cNvSpPr>
              <a:spLocks noChangeArrowheads="1"/>
            </p:cNvSpPr>
            <p:nvPr/>
          </p:nvSpPr>
          <p:spPr bwMode="auto">
            <a:xfrm>
              <a:off x="2472" y="2251"/>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43" name="Oval 46"/>
            <p:cNvSpPr>
              <a:spLocks noChangeArrowheads="1"/>
            </p:cNvSpPr>
            <p:nvPr/>
          </p:nvSpPr>
          <p:spPr bwMode="auto">
            <a:xfrm>
              <a:off x="1837" y="2251"/>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44" name="Freeform 47"/>
            <p:cNvSpPr>
              <a:spLocks/>
            </p:cNvSpPr>
            <p:nvPr/>
          </p:nvSpPr>
          <p:spPr bwMode="auto">
            <a:xfrm>
              <a:off x="1973" y="2341"/>
              <a:ext cx="499" cy="46"/>
            </a:xfrm>
            <a:custGeom>
              <a:avLst/>
              <a:gdLst>
                <a:gd name="T0" fmla="*/ 0 w 725"/>
                <a:gd name="T1" fmla="*/ 0 h 1"/>
                <a:gd name="T2" fmla="*/ 725 w 725"/>
                <a:gd name="T3" fmla="*/ 0 h 1"/>
                <a:gd name="T4" fmla="*/ 0 60000 65536"/>
                <a:gd name="T5" fmla="*/ 0 60000 65536"/>
                <a:gd name="T6" fmla="*/ 0 w 725"/>
                <a:gd name="T7" fmla="*/ 0 h 1"/>
                <a:gd name="T8" fmla="*/ 725 w 725"/>
                <a:gd name="T9" fmla="*/ 1 h 1"/>
              </a:gdLst>
              <a:ahLst/>
              <a:cxnLst>
                <a:cxn ang="T4">
                  <a:pos x="T0" y="T1"/>
                </a:cxn>
                <a:cxn ang="T5">
                  <a:pos x="T2" y="T3"/>
                </a:cxn>
              </a:cxnLst>
              <a:rect l="T6" t="T7" r="T8" b="T9"/>
              <a:pathLst>
                <a:path w="725" h="1">
                  <a:moveTo>
                    <a:pt x="0" y="0"/>
                  </a:moveTo>
                  <a:cubicBezTo>
                    <a:pt x="298" y="0"/>
                    <a:pt x="597" y="0"/>
                    <a:pt x="725"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45" name="Rectangle 49"/>
            <p:cNvSpPr>
              <a:spLocks noChangeArrowheads="1"/>
            </p:cNvSpPr>
            <p:nvPr/>
          </p:nvSpPr>
          <p:spPr bwMode="auto">
            <a:xfrm>
              <a:off x="2744" y="1992"/>
              <a:ext cx="2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s</a:t>
              </a:r>
              <a:endParaRPr lang="zh-CN" altLang="en-US" sz="2800" b="1">
                <a:latin typeface="Times New Roman" pitchFamily="18" charset="0"/>
              </a:endParaRPr>
            </a:p>
          </p:txBody>
        </p:sp>
        <p:sp>
          <p:nvSpPr>
            <p:cNvPr id="38946" name="Rectangle 50"/>
            <p:cNvSpPr>
              <a:spLocks noChangeArrowheads="1"/>
            </p:cNvSpPr>
            <p:nvPr/>
          </p:nvSpPr>
          <p:spPr bwMode="auto">
            <a:xfrm>
              <a:off x="2109" y="1992"/>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r</a:t>
              </a:r>
              <a:endParaRPr lang="zh-CN" altLang="en-US" sz="2800" b="1">
                <a:latin typeface="Times New Roman" pitchFamily="18" charset="0"/>
              </a:endParaRPr>
            </a:p>
          </p:txBody>
        </p:sp>
      </p:grpSp>
      <p:sp>
        <p:nvSpPr>
          <p:cNvPr id="368691" name="Rectangle 51"/>
          <p:cNvSpPr>
            <a:spLocks noChangeArrowheads="1"/>
          </p:cNvSpPr>
          <p:nvPr/>
        </p:nvSpPr>
        <p:spPr bwMode="auto">
          <a:xfrm>
            <a:off x="6948488" y="4005263"/>
            <a:ext cx="519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spcBef>
                <a:spcPct val="20000"/>
              </a:spcBef>
              <a:buClr>
                <a:schemeClr val="hlink"/>
              </a:buClr>
              <a:buSzPct val="75000"/>
              <a:buFont typeface="Wingdings" pitchFamily="2" charset="2"/>
              <a:buNone/>
            </a:pPr>
            <a:r>
              <a:rPr lang="en-US" altLang="zh-CN" sz="2800" b="1">
                <a:latin typeface="Times New Roman" pitchFamily="18" charset="0"/>
              </a:rPr>
              <a:t>r*</a:t>
            </a:r>
          </a:p>
        </p:txBody>
      </p:sp>
      <p:sp>
        <p:nvSpPr>
          <p:cNvPr id="368692" name="Rectangle 52"/>
          <p:cNvSpPr>
            <a:spLocks noChangeArrowheads="1"/>
          </p:cNvSpPr>
          <p:nvPr/>
        </p:nvSpPr>
        <p:spPr bwMode="auto">
          <a:xfrm>
            <a:off x="6659563" y="5754688"/>
            <a:ext cx="5445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r+</a:t>
            </a:r>
            <a:endParaRPr lang="zh-CN" altLang="en-US" sz="2800" b="1">
              <a:latin typeface="Times New Roman" pitchFamily="18" charset="0"/>
            </a:endParaRPr>
          </a:p>
        </p:txBody>
      </p:sp>
      <p:sp>
        <p:nvSpPr>
          <p:cNvPr id="368693" name="Rectangle 53"/>
          <p:cNvSpPr>
            <a:spLocks noChangeArrowheads="1"/>
          </p:cNvSpPr>
          <p:nvPr/>
        </p:nvSpPr>
        <p:spPr bwMode="auto">
          <a:xfrm>
            <a:off x="1692275" y="5718175"/>
            <a:ext cx="658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latin typeface="Times New Roman" pitchFamily="18" charset="0"/>
              </a:rPr>
              <a:t>rs*</a:t>
            </a:r>
            <a:endParaRPr lang="zh-CN" altLang="en-US" sz="2800" b="1">
              <a:latin typeface="Times New Roman" pitchFamily="18" charset="0"/>
            </a:endParaRPr>
          </a:p>
        </p:txBody>
      </p:sp>
      <p:grpSp>
        <p:nvGrpSpPr>
          <p:cNvPr id="10" name="Group 57"/>
          <p:cNvGrpSpPr>
            <a:grpSpLocks/>
          </p:cNvGrpSpPr>
          <p:nvPr/>
        </p:nvGrpSpPr>
        <p:grpSpPr bwMode="auto">
          <a:xfrm>
            <a:off x="5219700" y="4437063"/>
            <a:ext cx="2971800" cy="1247775"/>
            <a:chOff x="3775" y="2886"/>
            <a:chExt cx="1872" cy="786"/>
          </a:xfrm>
        </p:grpSpPr>
        <p:grpSp>
          <p:nvGrpSpPr>
            <p:cNvPr id="38932" name="Group 58"/>
            <p:cNvGrpSpPr>
              <a:grpSpLocks/>
            </p:cNvGrpSpPr>
            <p:nvPr/>
          </p:nvGrpSpPr>
          <p:grpSpPr bwMode="auto">
            <a:xfrm>
              <a:off x="3919" y="3528"/>
              <a:ext cx="1536" cy="144"/>
              <a:chOff x="3919" y="3528"/>
              <a:chExt cx="1536" cy="144"/>
            </a:xfrm>
          </p:grpSpPr>
          <p:sp>
            <p:nvSpPr>
              <p:cNvPr id="38937" name="Oval 59"/>
              <p:cNvSpPr>
                <a:spLocks noChangeArrowheads="1"/>
              </p:cNvSpPr>
              <p:nvPr/>
            </p:nvSpPr>
            <p:spPr bwMode="auto">
              <a:xfrm>
                <a:off x="3919" y="352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38" name="Oval 60"/>
              <p:cNvSpPr>
                <a:spLocks noChangeArrowheads="1"/>
              </p:cNvSpPr>
              <p:nvPr/>
            </p:nvSpPr>
            <p:spPr bwMode="auto">
              <a:xfrm>
                <a:off x="5311" y="3528"/>
                <a:ext cx="144" cy="14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8939" name="Line 61"/>
              <p:cNvSpPr>
                <a:spLocks noChangeShapeType="1"/>
              </p:cNvSpPr>
              <p:nvPr/>
            </p:nvSpPr>
            <p:spPr bwMode="auto">
              <a:xfrm>
                <a:off x="4063" y="3603"/>
                <a:ext cx="12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sp>
          <p:nvSpPr>
            <p:cNvPr id="368702" name="Text Box 62"/>
            <p:cNvSpPr txBox="1">
              <a:spLocks noChangeArrowheads="1"/>
            </p:cNvSpPr>
            <p:nvPr/>
          </p:nvSpPr>
          <p:spPr bwMode="auto">
            <a:xfrm>
              <a:off x="3775" y="3240"/>
              <a:ext cx="384" cy="354"/>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endParaRPr kumimoji="1" lang="en-US" altLang="zh-CN" sz="2800" b="1">
                <a:effectLst>
                  <a:outerShdw blurRad="38100" dist="38100" dir="2700000" algn="tl">
                    <a:srgbClr val="C0C0C0"/>
                  </a:outerShdw>
                </a:effectLst>
                <a:latin typeface="Times New Roman" pitchFamily="18" charset="0"/>
              </a:endParaRPr>
            </a:p>
          </p:txBody>
        </p:sp>
        <p:sp>
          <p:nvSpPr>
            <p:cNvPr id="368703" name="Text Box 63"/>
            <p:cNvSpPr txBox="1">
              <a:spLocks noChangeArrowheads="1"/>
            </p:cNvSpPr>
            <p:nvPr/>
          </p:nvSpPr>
          <p:spPr bwMode="auto">
            <a:xfrm>
              <a:off x="5263" y="2886"/>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r</a:t>
              </a:r>
            </a:p>
          </p:txBody>
        </p:sp>
        <p:sp>
          <p:nvSpPr>
            <p:cNvPr id="368704" name="Text Box 64"/>
            <p:cNvSpPr txBox="1">
              <a:spLocks noChangeArrowheads="1"/>
            </p:cNvSpPr>
            <p:nvPr/>
          </p:nvSpPr>
          <p:spPr bwMode="auto">
            <a:xfrm>
              <a:off x="4604" y="3294"/>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effectLst>
                    <a:outerShdw blurRad="38100" dist="38100" dir="2700000" algn="tl">
                      <a:srgbClr val="C0C0C0"/>
                    </a:outerShdw>
                  </a:effectLst>
                  <a:latin typeface="Times New Roman" pitchFamily="18" charset="0"/>
                </a:rPr>
                <a:t>r</a:t>
              </a:r>
            </a:p>
          </p:txBody>
        </p:sp>
        <p:sp>
          <p:nvSpPr>
            <p:cNvPr id="38936" name="Freeform 65"/>
            <p:cNvSpPr>
              <a:spLocks/>
            </p:cNvSpPr>
            <p:nvPr/>
          </p:nvSpPr>
          <p:spPr bwMode="auto">
            <a:xfrm>
              <a:off x="5124" y="3192"/>
              <a:ext cx="464" cy="384"/>
            </a:xfrm>
            <a:custGeom>
              <a:avLst/>
              <a:gdLst>
                <a:gd name="T0" fmla="*/ 160 w 464"/>
                <a:gd name="T1" fmla="*/ 384 h 384"/>
                <a:gd name="T2" fmla="*/ 16 w 464"/>
                <a:gd name="T3" fmla="*/ 192 h 384"/>
                <a:gd name="T4" fmla="*/ 256 w 464"/>
                <a:gd name="T5" fmla="*/ 0 h 384"/>
                <a:gd name="T6" fmla="*/ 448 w 464"/>
                <a:gd name="T7" fmla="*/ 192 h 384"/>
                <a:gd name="T8" fmla="*/ 352 w 464"/>
                <a:gd name="T9" fmla="*/ 384 h 384"/>
                <a:gd name="T10" fmla="*/ 0 60000 65536"/>
                <a:gd name="T11" fmla="*/ 0 60000 65536"/>
                <a:gd name="T12" fmla="*/ 0 60000 65536"/>
                <a:gd name="T13" fmla="*/ 0 60000 65536"/>
                <a:gd name="T14" fmla="*/ 0 60000 65536"/>
                <a:gd name="T15" fmla="*/ 0 w 464"/>
                <a:gd name="T16" fmla="*/ 0 h 384"/>
                <a:gd name="T17" fmla="*/ 464 w 464"/>
                <a:gd name="T18" fmla="*/ 384 h 384"/>
              </a:gdLst>
              <a:ahLst/>
              <a:cxnLst>
                <a:cxn ang="T10">
                  <a:pos x="T0" y="T1"/>
                </a:cxn>
                <a:cxn ang="T11">
                  <a:pos x="T2" y="T3"/>
                </a:cxn>
                <a:cxn ang="T12">
                  <a:pos x="T4" y="T5"/>
                </a:cxn>
                <a:cxn ang="T13">
                  <a:pos x="T6" y="T7"/>
                </a:cxn>
                <a:cxn ang="T14">
                  <a:pos x="T8" y="T9"/>
                </a:cxn>
              </a:cxnLst>
              <a:rect l="T15" t="T16" r="T17" b="T18"/>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5A70B60-3A7B-4A2B-BC16-B720D1A536E5}" type="slidenum">
              <a:rPr lang="zh-CN" altLang="en-US"/>
              <a:pPr eaLnBrk="1" hangingPunct="1"/>
              <a:t>34</a:t>
            </a:fld>
            <a:endParaRPr lang="en-US" altLang="zh-CN"/>
          </a:p>
        </p:txBody>
      </p:sp>
      <p:sp>
        <p:nvSpPr>
          <p:cNvPr id="39939" name="Rectangle 2"/>
          <p:cNvSpPr>
            <a:spLocks noGrp="1" noRot="1" noChangeArrowheads="1"/>
          </p:cNvSpPr>
          <p:nvPr>
            <p:ph type="title"/>
          </p:nvPr>
        </p:nvSpPr>
        <p:spPr>
          <a:xfrm>
            <a:off x="1042988" y="476250"/>
            <a:ext cx="7620000" cy="936625"/>
          </a:xfrm>
          <a:noFill/>
        </p:spPr>
        <p:txBody>
          <a:bodyPr lIns="92075" tIns="46038" rIns="92075" bIns="46038"/>
          <a:lstStyle/>
          <a:p>
            <a:pPr eaLnBrk="1" hangingPunct="1"/>
            <a:r>
              <a:rPr lang="zh-CN" altLang="en-US" sz="4000" b="1" smtClean="0">
                <a:latin typeface="Times New Roman" pitchFamily="18" charset="0"/>
                <a:ea typeface="华文新魏" pitchFamily="2" charset="-122"/>
              </a:rPr>
              <a:t>例 3-6 	Ｃ语言无符号整数的识别</a:t>
            </a:r>
            <a:endParaRPr lang="zh-CN" altLang="en-US" sz="3200" b="1" smtClean="0">
              <a:latin typeface="Times New Roman" pitchFamily="18" charset="0"/>
              <a:ea typeface="华文新魏" pitchFamily="2" charset="-122"/>
            </a:endParaRPr>
          </a:p>
        </p:txBody>
      </p:sp>
      <p:sp>
        <p:nvSpPr>
          <p:cNvPr id="303107" name="Rectangle 3"/>
          <p:cNvSpPr>
            <a:spLocks noGrp="1" noRot="1" noChangeArrowheads="1"/>
          </p:cNvSpPr>
          <p:nvPr>
            <p:ph type="body" idx="1"/>
          </p:nvPr>
        </p:nvSpPr>
        <p:spPr>
          <a:xfrm>
            <a:off x="431800" y="1916113"/>
            <a:ext cx="8712200" cy="4181475"/>
          </a:xfrm>
          <a:noFill/>
        </p:spPr>
        <p:txBody>
          <a:bodyPr lIns="92075" tIns="46038" rIns="92075" bIns="46038"/>
          <a:lstStyle/>
          <a:p>
            <a:pPr algn="just" eaLnBrk="1" hangingPunct="1">
              <a:lnSpc>
                <a:spcPct val="120000"/>
              </a:lnSpc>
              <a:buFont typeface="Wingdings" pitchFamily="2" charset="2"/>
              <a:buNone/>
            </a:pPr>
            <a:r>
              <a:rPr lang="zh-CN" altLang="en-US" b="1" smtClean="0">
                <a:solidFill>
                  <a:schemeClr val="tx2"/>
                </a:solidFill>
                <a:latin typeface="Times New Roman" pitchFamily="18" charset="0"/>
                <a:ea typeface="华文新魏" pitchFamily="2" charset="-122"/>
              </a:rPr>
              <a:t>1</a:t>
            </a:r>
            <a:r>
              <a:rPr lang="en-US" altLang="zh-CN" b="1" smtClean="0">
                <a:solidFill>
                  <a:schemeClr val="tx2"/>
                </a:solidFill>
                <a:latin typeface="Times New Roman" pitchFamily="18" charset="0"/>
                <a:ea typeface="华文新魏" pitchFamily="2" charset="-122"/>
              </a:rPr>
              <a:t>. </a:t>
            </a:r>
            <a:r>
              <a:rPr lang="zh-CN" altLang="en-US" b="1" smtClean="0">
                <a:solidFill>
                  <a:schemeClr val="tx2"/>
                </a:solidFill>
                <a:latin typeface="Times New Roman" pitchFamily="18" charset="0"/>
                <a:ea typeface="华文新魏" pitchFamily="2" charset="-122"/>
              </a:rPr>
              <a:t>正则定义式描述</a:t>
            </a:r>
          </a:p>
          <a:p>
            <a:pPr algn="just" eaLnBrk="1" hangingPunct="1">
              <a:lnSpc>
                <a:spcPct val="120000"/>
              </a:lnSpc>
            </a:pPr>
            <a:r>
              <a:rPr lang="zh-CN" altLang="en-US" b="1" smtClean="0">
                <a:latin typeface="Times New Roman" pitchFamily="18" charset="0"/>
                <a:ea typeface="华文新魏" pitchFamily="2" charset="-122"/>
              </a:rPr>
              <a:t>八进制数:       </a:t>
            </a:r>
            <a:r>
              <a:rPr lang="en-US" altLang="zh-CN" b="1" smtClean="0">
                <a:latin typeface="Times New Roman" pitchFamily="18" charset="0"/>
                <a:ea typeface="华文新魏" pitchFamily="2" charset="-122"/>
              </a:rPr>
              <a:t>( OCT，</a:t>
            </a:r>
            <a:r>
              <a:rPr lang="zh-CN" altLang="en-US" b="1" smtClean="0">
                <a:latin typeface="Times New Roman" pitchFamily="18" charset="0"/>
                <a:ea typeface="华文新魏" pitchFamily="2" charset="-122"/>
              </a:rPr>
              <a:t>值 </a:t>
            </a:r>
            <a:r>
              <a:rPr lang="en-US" altLang="zh-CN" b="1" smtClean="0">
                <a:latin typeface="Times New Roman" pitchFamily="18" charset="0"/>
                <a:ea typeface="华文新魏" pitchFamily="2" charset="-122"/>
              </a:rPr>
              <a:t>)</a:t>
            </a:r>
          </a:p>
          <a:p>
            <a:pPr lvl="1" algn="just" eaLnBrk="1" hangingPunct="1">
              <a:spcBef>
                <a:spcPct val="0"/>
              </a:spcBef>
            </a:pPr>
            <a:r>
              <a:rPr lang="en-US" altLang="zh-CN" sz="3200" b="1" smtClean="0">
                <a:latin typeface="Times New Roman" pitchFamily="18" charset="0"/>
                <a:ea typeface="华文新魏" pitchFamily="2" charset="-122"/>
              </a:rPr>
              <a:t>oct→0(0|1|2|3|4|5|6|7)(0|1|2|3|4|5|6|7)</a:t>
            </a:r>
            <a:r>
              <a:rPr lang="en-US" altLang="zh-CN" sz="3200" b="1" baseline="30000" smtClean="0">
                <a:latin typeface="Times New Roman" pitchFamily="18" charset="0"/>
                <a:ea typeface="华文新魏" pitchFamily="2" charset="-122"/>
              </a:rPr>
              <a:t>*</a:t>
            </a:r>
            <a:endParaRPr lang="en-US" altLang="zh-CN" sz="3200" b="1" smtClean="0">
              <a:latin typeface="Times New Roman" pitchFamily="18" charset="0"/>
              <a:ea typeface="华文新魏" pitchFamily="2" charset="-122"/>
            </a:endParaRPr>
          </a:p>
          <a:p>
            <a:pPr algn="just" eaLnBrk="1" hangingPunct="1">
              <a:lnSpc>
                <a:spcPct val="120000"/>
              </a:lnSpc>
            </a:pPr>
            <a:r>
              <a:rPr lang="zh-CN" altLang="en-US" b="1" smtClean="0">
                <a:latin typeface="Times New Roman" pitchFamily="18" charset="0"/>
                <a:ea typeface="华文新魏" pitchFamily="2" charset="-122"/>
              </a:rPr>
              <a:t>十进制数:       </a:t>
            </a:r>
            <a:r>
              <a:rPr lang="en-US" altLang="zh-CN" b="1" smtClean="0">
                <a:latin typeface="Times New Roman" pitchFamily="18" charset="0"/>
                <a:ea typeface="华文新魏" pitchFamily="2" charset="-122"/>
              </a:rPr>
              <a:t>( DEC，</a:t>
            </a:r>
            <a:r>
              <a:rPr lang="zh-CN" altLang="en-US" b="1" smtClean="0">
                <a:latin typeface="Times New Roman" pitchFamily="18" charset="0"/>
                <a:ea typeface="华文新魏" pitchFamily="2" charset="-122"/>
              </a:rPr>
              <a:t>值 </a:t>
            </a:r>
            <a:r>
              <a:rPr lang="en-US" altLang="zh-CN" b="1" smtClean="0">
                <a:latin typeface="Times New Roman" pitchFamily="18" charset="0"/>
                <a:ea typeface="华文新魏" pitchFamily="2" charset="-122"/>
              </a:rPr>
              <a:t>)</a:t>
            </a:r>
          </a:p>
          <a:p>
            <a:pPr lvl="1" algn="just" eaLnBrk="1" hangingPunct="1">
              <a:spcBef>
                <a:spcPct val="0"/>
              </a:spcBef>
            </a:pPr>
            <a:r>
              <a:rPr lang="en-US" altLang="zh-CN" sz="3200" b="1" smtClean="0">
                <a:latin typeface="Times New Roman" pitchFamily="18" charset="0"/>
                <a:ea typeface="华文新魏" pitchFamily="2" charset="-122"/>
              </a:rPr>
              <a:t>dec→(1|...|9)(0|...|9)</a:t>
            </a:r>
            <a:r>
              <a:rPr lang="en-US" altLang="zh-CN" sz="3200" b="1" baseline="30000" smtClean="0">
                <a:latin typeface="Times New Roman" pitchFamily="18" charset="0"/>
                <a:ea typeface="华文新魏" pitchFamily="2" charset="-122"/>
              </a:rPr>
              <a:t>* </a:t>
            </a:r>
            <a:r>
              <a:rPr lang="en-US" altLang="zh-CN" sz="3200" b="1" smtClean="0">
                <a:latin typeface="Times New Roman" pitchFamily="18" charset="0"/>
                <a:ea typeface="华文新魏" pitchFamily="2" charset="-122"/>
              </a:rPr>
              <a:t>|0</a:t>
            </a:r>
          </a:p>
          <a:p>
            <a:pPr algn="just" eaLnBrk="1" hangingPunct="1">
              <a:lnSpc>
                <a:spcPct val="120000"/>
              </a:lnSpc>
            </a:pPr>
            <a:r>
              <a:rPr lang="zh-CN" altLang="en-US" b="1" smtClean="0">
                <a:latin typeface="Times New Roman" pitchFamily="18" charset="0"/>
                <a:ea typeface="华文新魏" pitchFamily="2" charset="-122"/>
              </a:rPr>
              <a:t>十六进制数:     </a:t>
            </a:r>
            <a:r>
              <a:rPr lang="en-US" altLang="zh-CN" b="1" smtClean="0">
                <a:latin typeface="Times New Roman" pitchFamily="18" charset="0"/>
                <a:ea typeface="华文新魏" pitchFamily="2" charset="-122"/>
              </a:rPr>
              <a:t>( HEX，</a:t>
            </a:r>
            <a:r>
              <a:rPr lang="zh-CN" altLang="en-US" b="1" smtClean="0">
                <a:latin typeface="Times New Roman" pitchFamily="18" charset="0"/>
                <a:ea typeface="华文新魏" pitchFamily="2" charset="-122"/>
              </a:rPr>
              <a:t>值 </a:t>
            </a:r>
            <a:r>
              <a:rPr lang="en-US" altLang="zh-CN" b="1" smtClean="0">
                <a:latin typeface="Times New Roman" pitchFamily="18" charset="0"/>
                <a:ea typeface="华文新魏" pitchFamily="2" charset="-122"/>
              </a:rPr>
              <a:t>)</a:t>
            </a:r>
          </a:p>
          <a:p>
            <a:pPr lvl="1" algn="just" eaLnBrk="1" hangingPunct="1">
              <a:spcBef>
                <a:spcPct val="0"/>
              </a:spcBef>
            </a:pPr>
            <a:r>
              <a:rPr lang="en-US" altLang="zh-CN" b="1" smtClean="0">
                <a:latin typeface="Times New Roman" pitchFamily="18" charset="0"/>
                <a:ea typeface="华文新魏" pitchFamily="2" charset="-122"/>
              </a:rPr>
              <a:t>hex→0x(0|1|...|9|a|...|f|A|…|F)(0|...|9|a|...|f |A|…|F)</a:t>
            </a:r>
            <a:r>
              <a:rPr lang="en-US" altLang="zh-CN" b="1" baseline="30000" smtClean="0">
                <a:latin typeface="Times New Roman" pitchFamily="18" charset="0"/>
                <a:ea typeface="华文新魏" pitchFamily="2" charset="-122"/>
              </a:rPr>
              <a:t>*</a:t>
            </a:r>
          </a:p>
        </p:txBody>
      </p:sp>
      <p:grpSp>
        <p:nvGrpSpPr>
          <p:cNvPr id="2" name="Group 4"/>
          <p:cNvGrpSpPr>
            <a:grpSpLocks/>
          </p:cNvGrpSpPr>
          <p:nvPr/>
        </p:nvGrpSpPr>
        <p:grpSpPr bwMode="auto">
          <a:xfrm>
            <a:off x="5867400" y="1484313"/>
            <a:ext cx="2971800" cy="1247775"/>
            <a:chOff x="3600" y="2430"/>
            <a:chExt cx="1872" cy="786"/>
          </a:xfrm>
        </p:grpSpPr>
        <p:grpSp>
          <p:nvGrpSpPr>
            <p:cNvPr id="39942" name="Group 5"/>
            <p:cNvGrpSpPr>
              <a:grpSpLocks/>
            </p:cNvGrpSpPr>
            <p:nvPr/>
          </p:nvGrpSpPr>
          <p:grpSpPr bwMode="auto">
            <a:xfrm>
              <a:off x="3744" y="3072"/>
              <a:ext cx="1536" cy="144"/>
              <a:chOff x="3600" y="960"/>
              <a:chExt cx="1536" cy="144"/>
            </a:xfrm>
          </p:grpSpPr>
          <p:sp>
            <p:nvSpPr>
              <p:cNvPr id="39947" name="Oval 6"/>
              <p:cNvSpPr>
                <a:spLocks noChangeArrowheads="1"/>
              </p:cNvSpPr>
              <p:nvPr/>
            </p:nvSpPr>
            <p:spPr bwMode="auto">
              <a:xfrm>
                <a:off x="3600" y="960"/>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9948" name="Oval 7"/>
              <p:cNvSpPr>
                <a:spLocks noChangeArrowheads="1"/>
              </p:cNvSpPr>
              <p:nvPr/>
            </p:nvSpPr>
            <p:spPr bwMode="auto">
              <a:xfrm>
                <a:off x="4992" y="960"/>
                <a:ext cx="144" cy="14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9949" name="Line 8"/>
              <p:cNvSpPr>
                <a:spLocks noChangeShapeType="1"/>
              </p:cNvSpPr>
              <p:nvPr/>
            </p:nvSpPr>
            <p:spPr bwMode="auto">
              <a:xfrm>
                <a:off x="3744" y="1035"/>
                <a:ext cx="12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sp>
          <p:nvSpPr>
            <p:cNvPr id="303113" name="Text Box 9"/>
            <p:cNvSpPr txBox="1">
              <a:spLocks noChangeArrowheads="1"/>
            </p:cNvSpPr>
            <p:nvPr/>
          </p:nvSpPr>
          <p:spPr bwMode="auto">
            <a:xfrm>
              <a:off x="3600" y="2784"/>
              <a:ext cx="384" cy="354"/>
            </a:xfrm>
            <a:prstGeom prst="rect">
              <a:avLst/>
            </a:prstGeom>
            <a:noFill/>
            <a:ln w="9525">
              <a:noFill/>
              <a:miter lim="800000"/>
              <a:headEnd/>
              <a:tailEnd/>
            </a:ln>
            <a:effectLst/>
          </p:spPr>
          <p:txBody>
            <a:bodyPr lIns="92075" tIns="46038" rIns="92075" bIns="46038">
              <a:spAutoFit/>
            </a:bodyPr>
            <a:lstStyle/>
            <a:p>
              <a:pPr eaLnBrk="0" hangingPunct="0">
                <a:lnSpc>
                  <a:spcPct val="110000"/>
                </a:lnSpc>
                <a:spcBef>
                  <a:spcPct val="50000"/>
                </a:spcBef>
                <a:buClr>
                  <a:schemeClr val="folHlink"/>
                </a:buClr>
                <a:buSzPct val="75000"/>
                <a:buFont typeface="Monotype Sorts" pitchFamily="2" charset="2"/>
                <a:buNone/>
                <a:defRPr/>
              </a:pPr>
              <a:endParaRPr kumimoji="1" lang="en-US" altLang="zh-CN" sz="2800" b="1">
                <a:solidFill>
                  <a:schemeClr val="folHlink"/>
                </a:solidFill>
                <a:effectLst>
                  <a:outerShdw blurRad="38100" dist="38100" dir="2700000" algn="tl">
                    <a:srgbClr val="C0C0C0"/>
                  </a:outerShdw>
                </a:effectLst>
                <a:latin typeface="宋体" pitchFamily="2" charset="-122"/>
              </a:endParaRPr>
            </a:p>
          </p:txBody>
        </p:sp>
        <p:sp>
          <p:nvSpPr>
            <p:cNvPr id="303114" name="Text Box 10"/>
            <p:cNvSpPr txBox="1">
              <a:spLocks noChangeArrowheads="1"/>
            </p:cNvSpPr>
            <p:nvPr/>
          </p:nvSpPr>
          <p:spPr bwMode="auto">
            <a:xfrm>
              <a:off x="5088" y="2430"/>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chemeClr val="folHlink"/>
                  </a:solidFill>
                  <a:effectLst>
                    <a:outerShdw blurRad="38100" dist="38100" dir="2700000" algn="tl">
                      <a:srgbClr val="C0C0C0"/>
                    </a:outerShdw>
                  </a:effectLst>
                  <a:latin typeface="宋体" pitchFamily="2" charset="-122"/>
                </a:rPr>
                <a:t>s</a:t>
              </a:r>
            </a:p>
          </p:txBody>
        </p:sp>
        <p:sp>
          <p:nvSpPr>
            <p:cNvPr id="303115" name="Text Box 11"/>
            <p:cNvSpPr txBox="1">
              <a:spLocks noChangeArrowheads="1"/>
            </p:cNvSpPr>
            <p:nvPr/>
          </p:nvSpPr>
          <p:spPr bwMode="auto">
            <a:xfrm>
              <a:off x="4416" y="2832"/>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chemeClr val="folHlink"/>
                  </a:solidFill>
                  <a:effectLst>
                    <a:outerShdw blurRad="38100" dist="38100" dir="2700000" algn="tl">
                      <a:srgbClr val="C0C0C0"/>
                    </a:outerShdw>
                  </a:effectLst>
                  <a:latin typeface="宋体" pitchFamily="2" charset="-122"/>
                </a:rPr>
                <a:t>r</a:t>
              </a:r>
            </a:p>
          </p:txBody>
        </p:sp>
        <p:sp>
          <p:nvSpPr>
            <p:cNvPr id="39946" name="Freeform 12"/>
            <p:cNvSpPr>
              <a:spLocks/>
            </p:cNvSpPr>
            <p:nvPr/>
          </p:nvSpPr>
          <p:spPr bwMode="auto">
            <a:xfrm>
              <a:off x="4949" y="2736"/>
              <a:ext cx="464" cy="384"/>
            </a:xfrm>
            <a:custGeom>
              <a:avLst/>
              <a:gdLst>
                <a:gd name="T0" fmla="*/ 160 w 464"/>
                <a:gd name="T1" fmla="*/ 384 h 384"/>
                <a:gd name="T2" fmla="*/ 16 w 464"/>
                <a:gd name="T3" fmla="*/ 192 h 384"/>
                <a:gd name="T4" fmla="*/ 256 w 464"/>
                <a:gd name="T5" fmla="*/ 0 h 384"/>
                <a:gd name="T6" fmla="*/ 448 w 464"/>
                <a:gd name="T7" fmla="*/ 192 h 384"/>
                <a:gd name="T8" fmla="*/ 352 w 464"/>
                <a:gd name="T9" fmla="*/ 384 h 384"/>
                <a:gd name="T10" fmla="*/ 0 60000 65536"/>
                <a:gd name="T11" fmla="*/ 0 60000 65536"/>
                <a:gd name="T12" fmla="*/ 0 60000 65536"/>
                <a:gd name="T13" fmla="*/ 0 60000 65536"/>
                <a:gd name="T14" fmla="*/ 0 60000 65536"/>
                <a:gd name="T15" fmla="*/ 0 w 464"/>
                <a:gd name="T16" fmla="*/ 0 h 384"/>
                <a:gd name="T17" fmla="*/ 464 w 464"/>
                <a:gd name="T18" fmla="*/ 384 h 384"/>
              </a:gdLst>
              <a:ahLst/>
              <a:cxnLst>
                <a:cxn ang="T10">
                  <a:pos x="T0" y="T1"/>
                </a:cxn>
                <a:cxn ang="T11">
                  <a:pos x="T2" y="T3"/>
                </a:cxn>
                <a:cxn ang="T12">
                  <a:pos x="T4" y="T5"/>
                </a:cxn>
                <a:cxn ang="T13">
                  <a:pos x="T6" y="T7"/>
                </a:cxn>
                <a:cxn ang="T14">
                  <a:pos x="T8" y="T9"/>
                </a:cxn>
              </a:cxnLst>
              <a:rect l="T15" t="T16" r="T17" b="T18"/>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gr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175EEE6D-A197-435C-98A6-78DCF318F8B1}" type="slidenum">
              <a:rPr lang="zh-CN" altLang="en-US"/>
              <a:pPr eaLnBrk="1" hangingPunct="1"/>
              <a:t>35</a:t>
            </a:fld>
            <a:endParaRPr lang="en-US" altLang="zh-CN"/>
          </a:p>
        </p:txBody>
      </p:sp>
      <p:sp>
        <p:nvSpPr>
          <p:cNvPr id="304130" name="Rectangle 2"/>
          <p:cNvSpPr>
            <a:spLocks noGrp="1" noRot="1" noChangeArrowheads="1"/>
          </p:cNvSpPr>
          <p:nvPr>
            <p:ph type="title"/>
          </p:nvPr>
        </p:nvSpPr>
        <p:spPr>
          <a:xfrm>
            <a:off x="539750" y="188913"/>
            <a:ext cx="8299450" cy="863600"/>
          </a:xfrm>
        </p:spPr>
        <p:txBody>
          <a:bodyPr lIns="92075" tIns="46038" rIns="92075" bIns="46038"/>
          <a:lstStyle/>
          <a:p>
            <a:pPr algn="l" eaLnBrk="1" hangingPunct="1">
              <a:defRPr/>
            </a:pPr>
            <a:r>
              <a:rPr lang="zh-CN" altLang="en-US" b="1" smtClean="0">
                <a:solidFill>
                  <a:srgbClr val="000099"/>
                </a:solidFill>
                <a:effectLst>
                  <a:outerShdw blurRad="38100" dist="38100" dir="2700000" algn="tl">
                    <a:srgbClr val="C0C0C0"/>
                  </a:outerShdw>
                </a:effectLst>
                <a:latin typeface="Times New Roman" pitchFamily="18" charset="0"/>
                <a:ea typeface="华文新魏" pitchFamily="2" charset="-122"/>
              </a:rPr>
              <a:t>2</a:t>
            </a:r>
            <a:r>
              <a:rPr lang="en-US" altLang="zh-CN" b="1" smtClean="0">
                <a:solidFill>
                  <a:srgbClr val="000099"/>
                </a:solidFill>
                <a:effectLst>
                  <a:outerShdw blurRad="38100" dist="38100" dir="2700000" algn="tl">
                    <a:srgbClr val="C0C0C0"/>
                  </a:outerShdw>
                </a:effectLst>
                <a:latin typeface="Times New Roman" pitchFamily="18" charset="0"/>
                <a:ea typeface="华文新魏" pitchFamily="2" charset="-122"/>
              </a:rPr>
              <a:t>. </a:t>
            </a:r>
            <a:r>
              <a:rPr lang="zh-CN" altLang="en-US" b="1" smtClean="0">
                <a:solidFill>
                  <a:srgbClr val="000099"/>
                </a:solidFill>
                <a:effectLst>
                  <a:outerShdw blurRad="38100" dist="38100" dir="2700000" algn="tl">
                    <a:srgbClr val="C0C0C0"/>
                  </a:outerShdw>
                </a:effectLst>
                <a:latin typeface="Times New Roman" pitchFamily="18" charset="0"/>
                <a:ea typeface="华文新魏" pitchFamily="2" charset="-122"/>
              </a:rPr>
              <a:t>识别不同进制数的状态图</a:t>
            </a:r>
            <a:endParaRPr lang="zh-CN" altLang="en-US" b="1" smtClean="0">
              <a:solidFill>
                <a:srgbClr val="000099"/>
              </a:solidFill>
              <a:latin typeface="Times New Roman" pitchFamily="18" charset="0"/>
              <a:ea typeface="华文新魏" pitchFamily="2" charset="-122"/>
            </a:endParaRPr>
          </a:p>
        </p:txBody>
      </p:sp>
      <p:sp>
        <p:nvSpPr>
          <p:cNvPr id="304131" name="Oval 3"/>
          <p:cNvSpPr>
            <a:spLocks noChangeArrowheads="1"/>
          </p:cNvSpPr>
          <p:nvPr/>
        </p:nvSpPr>
        <p:spPr bwMode="auto">
          <a:xfrm>
            <a:off x="3976688" y="1828800"/>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3</a:t>
            </a:r>
          </a:p>
        </p:txBody>
      </p:sp>
      <p:sp>
        <p:nvSpPr>
          <p:cNvPr id="304132" name="Oval 4"/>
          <p:cNvSpPr>
            <a:spLocks noChangeArrowheads="1"/>
          </p:cNvSpPr>
          <p:nvPr/>
        </p:nvSpPr>
        <p:spPr bwMode="auto">
          <a:xfrm>
            <a:off x="5729288" y="1828800"/>
            <a:ext cx="381000" cy="38100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4</a:t>
            </a:r>
          </a:p>
        </p:txBody>
      </p:sp>
      <p:sp>
        <p:nvSpPr>
          <p:cNvPr id="304133" name="Oval 5"/>
          <p:cNvSpPr>
            <a:spLocks noChangeArrowheads="1"/>
          </p:cNvSpPr>
          <p:nvPr/>
        </p:nvSpPr>
        <p:spPr bwMode="auto">
          <a:xfrm>
            <a:off x="2452688" y="1828800"/>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2</a:t>
            </a:r>
            <a:endParaRPr kumimoji="1" lang="zh-CN" altLang="en-US" sz="2400">
              <a:latin typeface="Times New Roman" pitchFamily="18" charset="0"/>
            </a:endParaRPr>
          </a:p>
        </p:txBody>
      </p:sp>
      <p:cxnSp>
        <p:nvCxnSpPr>
          <p:cNvPr id="304134" name="AutoShape 6"/>
          <p:cNvCxnSpPr>
            <a:cxnSpLocks noChangeShapeType="1"/>
            <a:stCxn id="304133" idx="6"/>
            <a:endCxn id="304131" idx="2"/>
          </p:cNvCxnSpPr>
          <p:nvPr/>
        </p:nvCxnSpPr>
        <p:spPr bwMode="auto">
          <a:xfrm>
            <a:off x="2833688" y="2019300"/>
            <a:ext cx="1143000" cy="0"/>
          </a:xfrm>
          <a:prstGeom prst="straightConnector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4135" name="AutoShape 7"/>
          <p:cNvCxnSpPr>
            <a:cxnSpLocks noChangeShapeType="1"/>
            <a:stCxn id="304131" idx="2"/>
            <a:endCxn id="304131" idx="6"/>
          </p:cNvCxnSpPr>
          <p:nvPr/>
        </p:nvCxnSpPr>
        <p:spPr bwMode="auto">
          <a:xfrm rot="10800000" flipH="1" flipV="1">
            <a:off x="3976688" y="2019300"/>
            <a:ext cx="381000" cy="1588"/>
          </a:xfrm>
          <a:prstGeom prst="curvedConnector5">
            <a:avLst>
              <a:gd name="adj1" fmla="val -60000"/>
              <a:gd name="adj2" fmla="val -30700009"/>
              <a:gd name="adj3" fmla="val 160000"/>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4136" name="AutoShape 8"/>
          <p:cNvCxnSpPr>
            <a:cxnSpLocks noChangeShapeType="1"/>
            <a:stCxn id="304131" idx="6"/>
            <a:endCxn id="304132" idx="2"/>
          </p:cNvCxnSpPr>
          <p:nvPr/>
        </p:nvCxnSpPr>
        <p:spPr bwMode="auto">
          <a:xfrm>
            <a:off x="4357688" y="2019300"/>
            <a:ext cx="1346200" cy="0"/>
          </a:xfrm>
          <a:prstGeom prst="straightConnector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4137" name="AutoShape 9"/>
          <p:cNvCxnSpPr>
            <a:cxnSpLocks noChangeShapeType="1"/>
            <a:stCxn id="304138" idx="6"/>
            <a:endCxn id="304133" idx="2"/>
          </p:cNvCxnSpPr>
          <p:nvPr/>
        </p:nvCxnSpPr>
        <p:spPr bwMode="auto">
          <a:xfrm>
            <a:off x="1309688" y="2019300"/>
            <a:ext cx="1143000" cy="0"/>
          </a:xfrm>
          <a:prstGeom prst="straightConnector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4138" name="Oval 10"/>
          <p:cNvSpPr>
            <a:spLocks noChangeArrowheads="1"/>
          </p:cNvSpPr>
          <p:nvPr/>
        </p:nvSpPr>
        <p:spPr bwMode="auto">
          <a:xfrm>
            <a:off x="928688" y="1828800"/>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1</a:t>
            </a:r>
          </a:p>
        </p:txBody>
      </p:sp>
      <p:sp>
        <p:nvSpPr>
          <p:cNvPr id="304139" name="Text Box 11"/>
          <p:cNvSpPr txBox="1">
            <a:spLocks noChangeArrowheads="1"/>
          </p:cNvSpPr>
          <p:nvPr/>
        </p:nvSpPr>
        <p:spPr bwMode="auto">
          <a:xfrm>
            <a:off x="1547813" y="19161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a:t>
            </a:r>
          </a:p>
        </p:txBody>
      </p:sp>
      <p:sp>
        <p:nvSpPr>
          <p:cNvPr id="304140" name="Text Box 12"/>
          <p:cNvSpPr txBox="1">
            <a:spLocks noChangeArrowheads="1"/>
          </p:cNvSpPr>
          <p:nvPr/>
        </p:nvSpPr>
        <p:spPr bwMode="auto">
          <a:xfrm>
            <a:off x="2894013" y="1971675"/>
            <a:ext cx="658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0-7</a:t>
            </a:r>
          </a:p>
        </p:txBody>
      </p:sp>
      <p:sp>
        <p:nvSpPr>
          <p:cNvPr id="304141" name="Text Box 13"/>
          <p:cNvSpPr txBox="1">
            <a:spLocks noChangeArrowheads="1"/>
          </p:cNvSpPr>
          <p:nvPr/>
        </p:nvSpPr>
        <p:spPr bwMode="auto">
          <a:xfrm>
            <a:off x="4687888" y="1412875"/>
            <a:ext cx="658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0-7</a:t>
            </a:r>
          </a:p>
        </p:txBody>
      </p:sp>
      <p:sp>
        <p:nvSpPr>
          <p:cNvPr id="304142" name="Text Box 14"/>
          <p:cNvSpPr txBox="1">
            <a:spLocks noChangeArrowheads="1"/>
          </p:cNvSpPr>
          <p:nvPr/>
        </p:nvSpPr>
        <p:spPr bwMode="auto">
          <a:xfrm>
            <a:off x="4570413" y="1889125"/>
            <a:ext cx="1198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sym typeface="Symbol" pitchFamily="18" charset="2"/>
              </a:rPr>
              <a:t></a:t>
            </a:r>
            <a:r>
              <a:rPr kumimoji="1" lang="en-US" altLang="zh-CN" sz="2000" b="1">
                <a:latin typeface="Times New Roman" pitchFamily="18" charset="0"/>
                <a:sym typeface="Symbol" pitchFamily="18" charset="2"/>
              </a:rPr>
              <a:t>(</a:t>
            </a:r>
            <a:r>
              <a:rPr kumimoji="1" lang="zh-CN" altLang="en-US" sz="2000" b="1">
                <a:latin typeface="Times New Roman" pitchFamily="18" charset="0"/>
                <a:sym typeface="Symbol" pitchFamily="18" charset="2"/>
              </a:rPr>
              <a:t>其它</a:t>
            </a:r>
            <a:r>
              <a:rPr kumimoji="1" lang="en-US" altLang="zh-CN" sz="2000" b="1">
                <a:latin typeface="Times New Roman" pitchFamily="18" charset="0"/>
                <a:sym typeface="Symbol" pitchFamily="18" charset="2"/>
              </a:rPr>
              <a:t>)</a:t>
            </a:r>
            <a:endParaRPr kumimoji="1" lang="en-US" altLang="zh-CN" sz="2000">
              <a:latin typeface="Times New Roman" pitchFamily="18" charset="0"/>
            </a:endParaRPr>
          </a:p>
        </p:txBody>
      </p:sp>
      <p:sp>
        <p:nvSpPr>
          <p:cNvPr id="304143" name="Oval 15"/>
          <p:cNvSpPr>
            <a:spLocks noChangeArrowheads="1"/>
          </p:cNvSpPr>
          <p:nvPr/>
        </p:nvSpPr>
        <p:spPr bwMode="auto">
          <a:xfrm>
            <a:off x="3733800" y="3659188"/>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5</a:t>
            </a:r>
            <a:endParaRPr kumimoji="1" lang="zh-CN" altLang="en-US" sz="2400">
              <a:latin typeface="Times New Roman" pitchFamily="18" charset="0"/>
            </a:endParaRPr>
          </a:p>
        </p:txBody>
      </p:sp>
      <p:sp>
        <p:nvSpPr>
          <p:cNvPr id="304144" name="Oval 16"/>
          <p:cNvSpPr>
            <a:spLocks noChangeArrowheads="1"/>
          </p:cNvSpPr>
          <p:nvPr/>
        </p:nvSpPr>
        <p:spPr bwMode="auto">
          <a:xfrm>
            <a:off x="5486400" y="3659188"/>
            <a:ext cx="381000" cy="38100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6</a:t>
            </a:r>
            <a:endParaRPr kumimoji="1" lang="zh-CN" altLang="en-US" sz="2400">
              <a:latin typeface="Times New Roman" pitchFamily="18" charset="0"/>
            </a:endParaRPr>
          </a:p>
        </p:txBody>
      </p:sp>
      <p:sp>
        <p:nvSpPr>
          <p:cNvPr id="304145" name="Oval 17"/>
          <p:cNvSpPr>
            <a:spLocks noChangeArrowheads="1"/>
          </p:cNvSpPr>
          <p:nvPr/>
        </p:nvSpPr>
        <p:spPr bwMode="auto">
          <a:xfrm>
            <a:off x="2209800" y="3659188"/>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1</a:t>
            </a:r>
          </a:p>
        </p:txBody>
      </p:sp>
      <p:cxnSp>
        <p:nvCxnSpPr>
          <p:cNvPr id="304146" name="AutoShape 18"/>
          <p:cNvCxnSpPr>
            <a:cxnSpLocks noChangeShapeType="1"/>
            <a:stCxn id="304145" idx="6"/>
            <a:endCxn id="304143" idx="2"/>
          </p:cNvCxnSpPr>
          <p:nvPr/>
        </p:nvCxnSpPr>
        <p:spPr bwMode="auto">
          <a:xfrm>
            <a:off x="2590800" y="3849688"/>
            <a:ext cx="1143000" cy="0"/>
          </a:xfrm>
          <a:prstGeom prst="straightConnector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4147" name="AutoShape 19"/>
          <p:cNvCxnSpPr>
            <a:cxnSpLocks noChangeShapeType="1"/>
            <a:stCxn id="304143" idx="2"/>
            <a:endCxn id="304143" idx="6"/>
          </p:cNvCxnSpPr>
          <p:nvPr/>
        </p:nvCxnSpPr>
        <p:spPr bwMode="auto">
          <a:xfrm rot="10800000" flipH="1" flipV="1">
            <a:off x="3733800" y="3849688"/>
            <a:ext cx="381000" cy="1587"/>
          </a:xfrm>
          <a:prstGeom prst="curvedConnector5">
            <a:avLst>
              <a:gd name="adj1" fmla="val -60000"/>
              <a:gd name="adj2" fmla="val -26100009"/>
              <a:gd name="adj3" fmla="val 160000"/>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4148" name="AutoShape 20"/>
          <p:cNvCxnSpPr>
            <a:cxnSpLocks noChangeShapeType="1"/>
            <a:stCxn id="304143" idx="6"/>
            <a:endCxn id="304144" idx="2"/>
          </p:cNvCxnSpPr>
          <p:nvPr/>
        </p:nvCxnSpPr>
        <p:spPr bwMode="auto">
          <a:xfrm>
            <a:off x="4114800" y="3849688"/>
            <a:ext cx="1346200" cy="0"/>
          </a:xfrm>
          <a:prstGeom prst="straightConnector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4149" name="AutoShape 21"/>
          <p:cNvCxnSpPr>
            <a:cxnSpLocks noChangeShapeType="1"/>
            <a:stCxn id="304145" idx="4"/>
            <a:endCxn id="304144" idx="4"/>
          </p:cNvCxnSpPr>
          <p:nvPr/>
        </p:nvCxnSpPr>
        <p:spPr bwMode="auto">
          <a:xfrm rot="16200000" flipH="1">
            <a:off x="4025900" y="2414588"/>
            <a:ext cx="25400" cy="3276600"/>
          </a:xfrm>
          <a:prstGeom prst="curvedConnector3">
            <a:avLst>
              <a:gd name="adj1" fmla="val 1006250"/>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4150" name="Text Box 22"/>
          <p:cNvSpPr txBox="1">
            <a:spLocks noChangeArrowheads="1"/>
          </p:cNvSpPr>
          <p:nvPr/>
        </p:nvSpPr>
        <p:spPr bwMode="auto">
          <a:xfrm>
            <a:off x="3851275" y="42338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a:t>
            </a:r>
          </a:p>
        </p:txBody>
      </p:sp>
      <p:sp>
        <p:nvSpPr>
          <p:cNvPr id="304151" name="Text Box 23"/>
          <p:cNvSpPr txBox="1">
            <a:spLocks noChangeArrowheads="1"/>
          </p:cNvSpPr>
          <p:nvPr/>
        </p:nvSpPr>
        <p:spPr bwMode="auto">
          <a:xfrm>
            <a:off x="2651125" y="3802063"/>
            <a:ext cx="6588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1-9</a:t>
            </a:r>
          </a:p>
        </p:txBody>
      </p:sp>
      <p:sp>
        <p:nvSpPr>
          <p:cNvPr id="304152" name="Text Box 24"/>
          <p:cNvSpPr txBox="1">
            <a:spLocks noChangeArrowheads="1"/>
          </p:cNvSpPr>
          <p:nvPr/>
        </p:nvSpPr>
        <p:spPr bwMode="auto">
          <a:xfrm>
            <a:off x="3563938" y="3038475"/>
            <a:ext cx="658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0-9</a:t>
            </a:r>
          </a:p>
        </p:txBody>
      </p:sp>
      <p:sp>
        <p:nvSpPr>
          <p:cNvPr id="304153" name="Text Box 25"/>
          <p:cNvSpPr txBox="1">
            <a:spLocks noChangeArrowheads="1"/>
          </p:cNvSpPr>
          <p:nvPr/>
        </p:nvSpPr>
        <p:spPr bwMode="auto">
          <a:xfrm>
            <a:off x="4327525" y="3719513"/>
            <a:ext cx="12525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sym typeface="Symbol" pitchFamily="18" charset="2"/>
              </a:rPr>
              <a:t> </a:t>
            </a:r>
            <a:r>
              <a:rPr kumimoji="1" lang="en-US" altLang="zh-CN" sz="2000" b="1">
                <a:latin typeface="Times New Roman" pitchFamily="18" charset="0"/>
                <a:sym typeface="Symbol" pitchFamily="18" charset="2"/>
              </a:rPr>
              <a:t>(</a:t>
            </a:r>
            <a:r>
              <a:rPr kumimoji="1" lang="zh-CN" altLang="en-US" sz="2000" b="1">
                <a:latin typeface="Times New Roman" pitchFamily="18" charset="0"/>
                <a:sym typeface="Symbol" pitchFamily="18" charset="2"/>
              </a:rPr>
              <a:t>其它</a:t>
            </a:r>
            <a:r>
              <a:rPr kumimoji="1" lang="en-US" altLang="zh-CN" sz="2000" b="1">
                <a:latin typeface="Times New Roman" pitchFamily="18" charset="0"/>
                <a:sym typeface="Symbol" pitchFamily="18" charset="2"/>
              </a:rPr>
              <a:t>)</a:t>
            </a:r>
          </a:p>
        </p:txBody>
      </p:sp>
      <p:sp>
        <p:nvSpPr>
          <p:cNvPr id="304154" name="Text Box 26"/>
          <p:cNvSpPr txBox="1">
            <a:spLocks noChangeArrowheads="1"/>
          </p:cNvSpPr>
          <p:nvPr/>
        </p:nvSpPr>
        <p:spPr bwMode="auto">
          <a:xfrm>
            <a:off x="6151563" y="3436938"/>
            <a:ext cx="2092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十进制整数</a:t>
            </a:r>
          </a:p>
        </p:txBody>
      </p:sp>
      <p:sp>
        <p:nvSpPr>
          <p:cNvPr id="304155" name="Text Box 27"/>
          <p:cNvSpPr txBox="1">
            <a:spLocks noChangeArrowheads="1"/>
          </p:cNvSpPr>
          <p:nvPr/>
        </p:nvSpPr>
        <p:spPr bwMode="auto">
          <a:xfrm>
            <a:off x="6172200" y="1700213"/>
            <a:ext cx="2071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八进制整数</a:t>
            </a:r>
          </a:p>
        </p:txBody>
      </p:sp>
      <p:sp>
        <p:nvSpPr>
          <p:cNvPr id="304156" name="Line 28"/>
          <p:cNvSpPr>
            <a:spLocks noChangeShapeType="1"/>
          </p:cNvSpPr>
          <p:nvPr/>
        </p:nvSpPr>
        <p:spPr bwMode="auto">
          <a:xfrm>
            <a:off x="395288" y="2033588"/>
            <a:ext cx="533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04157" name="Line 29"/>
          <p:cNvSpPr>
            <a:spLocks noChangeShapeType="1"/>
          </p:cNvSpPr>
          <p:nvPr/>
        </p:nvSpPr>
        <p:spPr bwMode="auto">
          <a:xfrm>
            <a:off x="1371600" y="3849688"/>
            <a:ext cx="838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04158" name="Rectangle 30"/>
          <p:cNvSpPr>
            <a:spLocks noChangeArrowheads="1"/>
          </p:cNvSpPr>
          <p:nvPr/>
        </p:nvSpPr>
        <p:spPr bwMode="auto">
          <a:xfrm>
            <a:off x="684213" y="981075"/>
            <a:ext cx="77184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pPr>
            <a:r>
              <a:rPr kumimoji="1" lang="en-US" altLang="zh-CN" sz="2800" b="1">
                <a:solidFill>
                  <a:srgbClr val="000099"/>
                </a:solidFill>
                <a:latin typeface="Times New Roman" pitchFamily="18" charset="0"/>
              </a:rPr>
              <a:t>oct→0(0|1|2|3|4|5|6|7)(0|1|2|3|4|5|6|7)</a:t>
            </a:r>
            <a:r>
              <a:rPr kumimoji="1" lang="en-US" altLang="zh-CN" sz="3600" b="1" baseline="30000">
                <a:solidFill>
                  <a:srgbClr val="000099"/>
                </a:solidFill>
                <a:latin typeface="Times New Roman" pitchFamily="18" charset="0"/>
              </a:rPr>
              <a:t>*</a:t>
            </a:r>
          </a:p>
        </p:txBody>
      </p:sp>
      <p:sp>
        <p:nvSpPr>
          <p:cNvPr id="304159" name="Rectangle 31"/>
          <p:cNvSpPr>
            <a:spLocks noChangeArrowheads="1"/>
          </p:cNvSpPr>
          <p:nvPr/>
        </p:nvSpPr>
        <p:spPr bwMode="auto">
          <a:xfrm>
            <a:off x="755650" y="2732088"/>
            <a:ext cx="35702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pPr>
            <a:r>
              <a:rPr kumimoji="1" lang="en-US" altLang="zh-CN" sz="2800" b="1">
                <a:solidFill>
                  <a:srgbClr val="000099"/>
                </a:solidFill>
                <a:latin typeface="Times New Roman" pitchFamily="18" charset="0"/>
              </a:rPr>
              <a:t>dec→(1|...|9)(0|...|9)</a:t>
            </a:r>
            <a:r>
              <a:rPr kumimoji="1" lang="en-US" altLang="zh-CN" sz="3600" b="1" baseline="30000">
                <a:solidFill>
                  <a:srgbClr val="000099"/>
                </a:solidFill>
                <a:latin typeface="Times New Roman" pitchFamily="18" charset="0"/>
              </a:rPr>
              <a:t>* </a:t>
            </a:r>
            <a:r>
              <a:rPr kumimoji="1" lang="en-US" altLang="zh-CN" sz="2800" b="1">
                <a:solidFill>
                  <a:srgbClr val="000099"/>
                </a:solidFill>
                <a:latin typeface="Times New Roman" pitchFamily="18" charset="0"/>
              </a:rPr>
              <a:t>|0</a:t>
            </a:r>
          </a:p>
        </p:txBody>
      </p:sp>
      <p:sp>
        <p:nvSpPr>
          <p:cNvPr id="304160" name="Rectangle 32"/>
          <p:cNvSpPr>
            <a:spLocks noChangeArrowheads="1"/>
          </p:cNvSpPr>
          <p:nvPr/>
        </p:nvSpPr>
        <p:spPr bwMode="auto">
          <a:xfrm>
            <a:off x="179388" y="4935538"/>
            <a:ext cx="896461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pPr>
            <a:r>
              <a:rPr kumimoji="1" lang="en-US" altLang="zh-CN" sz="2400" b="1">
                <a:solidFill>
                  <a:srgbClr val="000099"/>
                </a:solidFill>
                <a:latin typeface="Times New Roman" pitchFamily="18" charset="0"/>
              </a:rPr>
              <a:t>hex→0x(0|1|…|9|a|…|f|A|…|F)(0|…|9|a|…|f |A|…|F)</a:t>
            </a:r>
            <a:r>
              <a:rPr kumimoji="1" lang="en-US" altLang="zh-CN" sz="2400" b="1" baseline="30000">
                <a:solidFill>
                  <a:srgbClr val="000099"/>
                </a:solidFill>
                <a:latin typeface="Times New Roman" pitchFamily="18" charset="0"/>
              </a:rPr>
              <a:t>*</a:t>
            </a:r>
          </a:p>
        </p:txBody>
      </p:sp>
      <p:sp>
        <p:nvSpPr>
          <p:cNvPr id="304161" name="Oval 33"/>
          <p:cNvSpPr>
            <a:spLocks noChangeArrowheads="1"/>
          </p:cNvSpPr>
          <p:nvPr/>
        </p:nvSpPr>
        <p:spPr bwMode="auto">
          <a:xfrm>
            <a:off x="5418138" y="5840413"/>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9</a:t>
            </a:r>
          </a:p>
        </p:txBody>
      </p:sp>
      <p:sp>
        <p:nvSpPr>
          <p:cNvPr id="304162" name="Oval 34"/>
          <p:cNvSpPr>
            <a:spLocks noChangeArrowheads="1"/>
          </p:cNvSpPr>
          <p:nvPr/>
        </p:nvSpPr>
        <p:spPr bwMode="auto">
          <a:xfrm>
            <a:off x="6942138" y="5840413"/>
            <a:ext cx="381000" cy="38100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10</a:t>
            </a:r>
          </a:p>
        </p:txBody>
      </p:sp>
      <p:sp>
        <p:nvSpPr>
          <p:cNvPr id="304163" name="Oval 35"/>
          <p:cNvSpPr>
            <a:spLocks noChangeArrowheads="1"/>
          </p:cNvSpPr>
          <p:nvPr/>
        </p:nvSpPr>
        <p:spPr bwMode="auto">
          <a:xfrm>
            <a:off x="3741738" y="5840413"/>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8</a:t>
            </a:r>
          </a:p>
        </p:txBody>
      </p:sp>
      <p:cxnSp>
        <p:nvCxnSpPr>
          <p:cNvPr id="304164" name="AutoShape 36"/>
          <p:cNvCxnSpPr>
            <a:cxnSpLocks noChangeShapeType="1"/>
            <a:stCxn id="304161" idx="6"/>
            <a:endCxn id="304162" idx="2"/>
          </p:cNvCxnSpPr>
          <p:nvPr/>
        </p:nvCxnSpPr>
        <p:spPr bwMode="auto">
          <a:xfrm>
            <a:off x="5799138" y="6030913"/>
            <a:ext cx="1117600" cy="0"/>
          </a:xfrm>
          <a:prstGeom prst="straightConnector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4165" name="Oval 37"/>
          <p:cNvSpPr>
            <a:spLocks noChangeArrowheads="1"/>
          </p:cNvSpPr>
          <p:nvPr/>
        </p:nvSpPr>
        <p:spPr bwMode="auto">
          <a:xfrm>
            <a:off x="846138" y="5816600"/>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1</a:t>
            </a:r>
          </a:p>
        </p:txBody>
      </p:sp>
      <p:sp>
        <p:nvSpPr>
          <p:cNvPr id="304166" name="Text Box 38"/>
          <p:cNvSpPr txBox="1">
            <a:spLocks noChangeArrowheads="1"/>
          </p:cNvSpPr>
          <p:nvPr/>
        </p:nvSpPr>
        <p:spPr bwMode="auto">
          <a:xfrm>
            <a:off x="1550988" y="5526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a:t>
            </a:r>
          </a:p>
        </p:txBody>
      </p:sp>
      <p:sp>
        <p:nvSpPr>
          <p:cNvPr id="304167" name="Text Box 39"/>
          <p:cNvSpPr txBox="1">
            <a:spLocks noChangeArrowheads="1"/>
          </p:cNvSpPr>
          <p:nvPr/>
        </p:nvSpPr>
        <p:spPr bwMode="auto">
          <a:xfrm>
            <a:off x="5722938" y="5511800"/>
            <a:ext cx="1296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sym typeface="Symbol" pitchFamily="18" charset="2"/>
              </a:rPr>
              <a:t> </a:t>
            </a:r>
            <a:r>
              <a:rPr kumimoji="1" lang="en-US" altLang="zh-CN" sz="2000" b="1">
                <a:latin typeface="Times New Roman" pitchFamily="18" charset="0"/>
                <a:sym typeface="Symbol" pitchFamily="18" charset="2"/>
              </a:rPr>
              <a:t>(</a:t>
            </a:r>
            <a:r>
              <a:rPr kumimoji="1" lang="zh-CN" altLang="en-US" sz="2000" b="1">
                <a:latin typeface="Times New Roman" pitchFamily="18" charset="0"/>
                <a:sym typeface="Symbol" pitchFamily="18" charset="2"/>
              </a:rPr>
              <a:t>其它</a:t>
            </a:r>
            <a:r>
              <a:rPr kumimoji="1" lang="en-US" altLang="zh-CN" sz="2000" b="1">
                <a:latin typeface="Times New Roman" pitchFamily="18" charset="0"/>
                <a:sym typeface="Symbol" pitchFamily="18" charset="2"/>
              </a:rPr>
              <a:t>)</a:t>
            </a:r>
          </a:p>
        </p:txBody>
      </p:sp>
      <p:sp>
        <p:nvSpPr>
          <p:cNvPr id="304168" name="Text Box 40"/>
          <p:cNvSpPr txBox="1">
            <a:spLocks noChangeArrowheads="1"/>
          </p:cNvSpPr>
          <p:nvPr/>
        </p:nvSpPr>
        <p:spPr bwMode="auto">
          <a:xfrm>
            <a:off x="7610475" y="5645150"/>
            <a:ext cx="14255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十六进制整数</a:t>
            </a:r>
          </a:p>
        </p:txBody>
      </p:sp>
      <p:sp>
        <p:nvSpPr>
          <p:cNvPr id="304169" name="Oval 41"/>
          <p:cNvSpPr>
            <a:spLocks noChangeArrowheads="1"/>
          </p:cNvSpPr>
          <p:nvPr/>
        </p:nvSpPr>
        <p:spPr bwMode="auto">
          <a:xfrm>
            <a:off x="2217738" y="5816600"/>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7</a:t>
            </a:r>
            <a:endParaRPr kumimoji="1" lang="zh-CN" altLang="en-US" sz="2400">
              <a:latin typeface="Times New Roman" pitchFamily="18" charset="0"/>
            </a:endParaRPr>
          </a:p>
        </p:txBody>
      </p:sp>
      <p:cxnSp>
        <p:nvCxnSpPr>
          <p:cNvPr id="304170" name="AutoShape 42"/>
          <p:cNvCxnSpPr>
            <a:cxnSpLocks noChangeShapeType="1"/>
          </p:cNvCxnSpPr>
          <p:nvPr/>
        </p:nvCxnSpPr>
        <p:spPr bwMode="auto">
          <a:xfrm>
            <a:off x="1227138" y="6045200"/>
            <a:ext cx="990600" cy="0"/>
          </a:xfrm>
          <a:prstGeom prst="straightConnector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4171" name="Text Box 43"/>
          <p:cNvSpPr txBox="1">
            <a:spLocks noChangeArrowheads="1"/>
          </p:cNvSpPr>
          <p:nvPr/>
        </p:nvSpPr>
        <p:spPr bwMode="auto">
          <a:xfrm>
            <a:off x="2979738" y="5511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rPr>
              <a:t>x</a:t>
            </a:r>
            <a:endParaRPr kumimoji="1" lang="en-US" altLang="zh-CN" sz="2400">
              <a:latin typeface="Times New Roman" pitchFamily="18" charset="0"/>
            </a:endParaRPr>
          </a:p>
        </p:txBody>
      </p:sp>
      <p:sp>
        <p:nvSpPr>
          <p:cNvPr id="304172" name="Text Box 44"/>
          <p:cNvSpPr txBox="1">
            <a:spLocks noChangeArrowheads="1"/>
          </p:cNvSpPr>
          <p:nvPr/>
        </p:nvSpPr>
        <p:spPr bwMode="auto">
          <a:xfrm>
            <a:off x="4122738" y="5602288"/>
            <a:ext cx="1163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0-9,</a:t>
            </a:r>
            <a:r>
              <a:rPr kumimoji="1" lang="en-US" altLang="zh-CN" sz="2800" b="1">
                <a:latin typeface="Times New Roman" pitchFamily="18" charset="0"/>
              </a:rPr>
              <a:t>a-f</a:t>
            </a:r>
          </a:p>
        </p:txBody>
      </p:sp>
      <p:cxnSp>
        <p:nvCxnSpPr>
          <p:cNvPr id="304173" name="AutoShape 45"/>
          <p:cNvCxnSpPr>
            <a:cxnSpLocks noChangeShapeType="1"/>
            <a:stCxn id="304161" idx="6"/>
            <a:endCxn id="304161" idx="3"/>
          </p:cNvCxnSpPr>
          <p:nvPr/>
        </p:nvCxnSpPr>
        <p:spPr bwMode="auto">
          <a:xfrm flipH="1">
            <a:off x="5473700" y="6030913"/>
            <a:ext cx="325438" cy="134937"/>
          </a:xfrm>
          <a:prstGeom prst="curvedConnector4">
            <a:avLst>
              <a:gd name="adj1" fmla="val -190245"/>
              <a:gd name="adj2" fmla="val 372940"/>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4174" name="Text Box 46"/>
          <p:cNvSpPr txBox="1">
            <a:spLocks noChangeArrowheads="1"/>
          </p:cNvSpPr>
          <p:nvPr/>
        </p:nvSpPr>
        <p:spPr bwMode="auto">
          <a:xfrm>
            <a:off x="6288088" y="6149975"/>
            <a:ext cx="1163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rPr>
              <a:t>0-9,</a:t>
            </a:r>
            <a:r>
              <a:rPr kumimoji="1" lang="en-US" altLang="zh-CN" sz="2800" b="1">
                <a:latin typeface="Times New Roman" pitchFamily="18" charset="0"/>
              </a:rPr>
              <a:t>a-f</a:t>
            </a:r>
          </a:p>
        </p:txBody>
      </p:sp>
      <p:sp>
        <p:nvSpPr>
          <p:cNvPr id="304175" name="Line 47"/>
          <p:cNvSpPr>
            <a:spLocks noChangeShapeType="1"/>
          </p:cNvSpPr>
          <p:nvPr/>
        </p:nvSpPr>
        <p:spPr bwMode="auto">
          <a:xfrm>
            <a:off x="4122738" y="6045200"/>
            <a:ext cx="1295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04176" name="Line 48"/>
          <p:cNvSpPr>
            <a:spLocks noChangeShapeType="1"/>
          </p:cNvSpPr>
          <p:nvPr/>
        </p:nvSpPr>
        <p:spPr bwMode="auto">
          <a:xfrm>
            <a:off x="2598738" y="6045200"/>
            <a:ext cx="1219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04177" name="Line 49"/>
          <p:cNvSpPr>
            <a:spLocks noChangeShapeType="1"/>
          </p:cNvSpPr>
          <p:nvPr/>
        </p:nvSpPr>
        <p:spPr bwMode="auto">
          <a:xfrm>
            <a:off x="236538" y="60452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04178" name="Line 50"/>
          <p:cNvSpPr>
            <a:spLocks noChangeShapeType="1"/>
          </p:cNvSpPr>
          <p:nvPr/>
        </p:nvSpPr>
        <p:spPr bwMode="auto">
          <a:xfrm>
            <a:off x="0" y="2565400"/>
            <a:ext cx="9144000" cy="0"/>
          </a:xfrm>
          <a:prstGeom prst="line">
            <a:avLst/>
          </a:prstGeom>
          <a:noFill/>
          <a:ln w="57150">
            <a:solidFill>
              <a:srgbClr val="DF181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4179" name="Line 51"/>
          <p:cNvSpPr>
            <a:spLocks noChangeShapeType="1"/>
          </p:cNvSpPr>
          <p:nvPr/>
        </p:nvSpPr>
        <p:spPr bwMode="auto">
          <a:xfrm>
            <a:off x="0" y="4797425"/>
            <a:ext cx="9144000" cy="0"/>
          </a:xfrm>
          <a:prstGeom prst="line">
            <a:avLst/>
          </a:prstGeom>
          <a:noFill/>
          <a:ln w="57150">
            <a:solidFill>
              <a:srgbClr val="DF1813"/>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67BFEED-8488-4263-ACBF-81AD76E821A3}" type="slidenum">
              <a:rPr lang="zh-CN" altLang="en-US"/>
              <a:pPr eaLnBrk="1" hangingPunct="1"/>
              <a:t>36</a:t>
            </a:fld>
            <a:endParaRPr lang="en-US" altLang="zh-CN"/>
          </a:p>
        </p:txBody>
      </p:sp>
      <p:sp>
        <p:nvSpPr>
          <p:cNvPr id="306178" name="Text Box 2"/>
          <p:cNvSpPr txBox="1">
            <a:spLocks noChangeArrowheads="1"/>
          </p:cNvSpPr>
          <p:nvPr/>
        </p:nvSpPr>
        <p:spPr bwMode="auto">
          <a:xfrm>
            <a:off x="6516688" y="2528888"/>
            <a:ext cx="2465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(HEX，</a:t>
            </a:r>
            <a:r>
              <a:rPr kumimoji="1" lang="zh-CN" altLang="en-US" sz="2800" b="1">
                <a:latin typeface="Times New Roman" pitchFamily="18" charset="0"/>
                <a:ea typeface="华文新魏" pitchFamily="2" charset="-122"/>
              </a:rPr>
              <a:t>值</a:t>
            </a:r>
            <a:r>
              <a:rPr kumimoji="1" lang="en-US" altLang="zh-CN" sz="2800" b="1">
                <a:latin typeface="Times New Roman" pitchFamily="18" charset="0"/>
                <a:ea typeface="华文新魏" pitchFamily="2" charset="-122"/>
              </a:rPr>
              <a:t>)</a:t>
            </a:r>
          </a:p>
        </p:txBody>
      </p:sp>
      <p:sp>
        <p:nvSpPr>
          <p:cNvPr id="306179" name="Text Box 3"/>
          <p:cNvSpPr txBox="1">
            <a:spLocks noChangeArrowheads="1"/>
          </p:cNvSpPr>
          <p:nvPr/>
        </p:nvSpPr>
        <p:spPr bwMode="auto">
          <a:xfrm>
            <a:off x="6403975" y="838200"/>
            <a:ext cx="2560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(OCT，</a:t>
            </a:r>
            <a:r>
              <a:rPr kumimoji="1" lang="zh-CN" altLang="en-US" sz="2800" b="1">
                <a:latin typeface="Times New Roman" pitchFamily="18" charset="0"/>
                <a:ea typeface="华文新魏" pitchFamily="2" charset="-122"/>
              </a:rPr>
              <a:t>值</a:t>
            </a:r>
            <a:r>
              <a:rPr kumimoji="1" lang="en-US" altLang="zh-CN" sz="2800" b="1">
                <a:latin typeface="Times New Roman" pitchFamily="18" charset="0"/>
                <a:ea typeface="华文新魏" pitchFamily="2" charset="-122"/>
              </a:rPr>
              <a:t>)</a:t>
            </a:r>
          </a:p>
        </p:txBody>
      </p:sp>
      <p:sp>
        <p:nvSpPr>
          <p:cNvPr id="306180" name="Rectangle 4"/>
          <p:cNvSpPr>
            <a:spLocks noGrp="1" noRot="1" noChangeArrowheads="1"/>
          </p:cNvSpPr>
          <p:nvPr>
            <p:ph type="title"/>
          </p:nvPr>
        </p:nvSpPr>
        <p:spPr>
          <a:xfrm>
            <a:off x="323850" y="152400"/>
            <a:ext cx="8640763" cy="684213"/>
          </a:xfrm>
        </p:spPr>
        <p:txBody>
          <a:bodyPr lIns="92075" tIns="46038" rIns="92075" bIns="46038"/>
          <a:lstStyle/>
          <a:p>
            <a:pPr algn="l" eaLnBrk="1" hangingPunct="1">
              <a:defRPr/>
            </a:pPr>
            <a:r>
              <a:rPr lang="en-US" altLang="zh-CN" sz="4000" b="1" smtClean="0">
                <a:solidFill>
                  <a:srgbClr val="000099"/>
                </a:solidFill>
                <a:latin typeface="Times New Roman" pitchFamily="18" charset="0"/>
                <a:ea typeface="华文新魏" pitchFamily="2" charset="-122"/>
              </a:rPr>
              <a:t>3. </a:t>
            </a:r>
            <a:r>
              <a:rPr lang="zh-CN" altLang="en-US" sz="4000" b="1" smtClean="0">
                <a:solidFill>
                  <a:srgbClr val="000099"/>
                </a:solidFill>
                <a:latin typeface="Times New Roman" pitchFamily="18" charset="0"/>
                <a:ea typeface="华文新魏" pitchFamily="2" charset="-122"/>
              </a:rPr>
              <a:t>Ｃ语言无符号整数识别</a:t>
            </a:r>
            <a:r>
              <a:rPr lang="zh-CN" altLang="en-US" sz="4000" b="1" smtClean="0">
                <a:solidFill>
                  <a:srgbClr val="000099"/>
                </a:solidFill>
                <a:effectLst>
                  <a:outerShdw blurRad="38100" dist="38100" dir="2700000" algn="tl">
                    <a:srgbClr val="C0C0C0"/>
                  </a:outerShdw>
                </a:effectLst>
                <a:latin typeface="Times New Roman" pitchFamily="18" charset="0"/>
                <a:ea typeface="华文新魏" pitchFamily="2" charset="-122"/>
              </a:rPr>
              <a:t>的状态图</a:t>
            </a:r>
          </a:p>
        </p:txBody>
      </p:sp>
      <p:sp>
        <p:nvSpPr>
          <p:cNvPr id="306181" name="Oval 5"/>
          <p:cNvSpPr>
            <a:spLocks noChangeArrowheads="1"/>
          </p:cNvSpPr>
          <p:nvPr/>
        </p:nvSpPr>
        <p:spPr bwMode="auto">
          <a:xfrm>
            <a:off x="5410200" y="2971800"/>
            <a:ext cx="685800" cy="3429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ea typeface="华文新魏" pitchFamily="2" charset="-122"/>
              </a:rPr>
              <a:t>9</a:t>
            </a:r>
            <a:endParaRPr kumimoji="1" lang="zh-CN" altLang="en-US" sz="2400">
              <a:latin typeface="Times New Roman" pitchFamily="18" charset="0"/>
              <a:ea typeface="华文新魏" pitchFamily="2" charset="-122"/>
            </a:endParaRPr>
          </a:p>
        </p:txBody>
      </p:sp>
      <p:sp>
        <p:nvSpPr>
          <p:cNvPr id="306182" name="Oval 6"/>
          <p:cNvSpPr>
            <a:spLocks noChangeArrowheads="1"/>
          </p:cNvSpPr>
          <p:nvPr/>
        </p:nvSpPr>
        <p:spPr bwMode="auto">
          <a:xfrm>
            <a:off x="3960813" y="2933700"/>
            <a:ext cx="38100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ea typeface="华文新魏" pitchFamily="2" charset="-122"/>
              </a:rPr>
              <a:t>8</a:t>
            </a:r>
          </a:p>
        </p:txBody>
      </p:sp>
      <p:cxnSp>
        <p:nvCxnSpPr>
          <p:cNvPr id="306183" name="AutoShape 7"/>
          <p:cNvCxnSpPr>
            <a:cxnSpLocks noChangeShapeType="1"/>
            <a:stCxn id="306181" idx="6"/>
            <a:endCxn id="42028" idx="2"/>
          </p:cNvCxnSpPr>
          <p:nvPr/>
        </p:nvCxnSpPr>
        <p:spPr bwMode="auto">
          <a:xfrm>
            <a:off x="6096000" y="3143250"/>
            <a:ext cx="1346200" cy="19050"/>
          </a:xfrm>
          <a:prstGeom prst="curvedConnector3">
            <a:avLst>
              <a:gd name="adj1" fmla="val 50944"/>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6184" name="Oval 8"/>
          <p:cNvSpPr>
            <a:spLocks noChangeArrowheads="1"/>
          </p:cNvSpPr>
          <p:nvPr/>
        </p:nvSpPr>
        <p:spPr bwMode="auto">
          <a:xfrm>
            <a:off x="1065213" y="2881313"/>
            <a:ext cx="458787" cy="471487"/>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1</a:t>
            </a:r>
          </a:p>
        </p:txBody>
      </p:sp>
      <p:sp>
        <p:nvSpPr>
          <p:cNvPr id="306185" name="Text Box 9"/>
          <p:cNvSpPr txBox="1">
            <a:spLocks noChangeArrowheads="1"/>
          </p:cNvSpPr>
          <p:nvPr/>
        </p:nvSpPr>
        <p:spPr bwMode="auto">
          <a:xfrm>
            <a:off x="1770063" y="26257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a:t>
            </a:r>
          </a:p>
        </p:txBody>
      </p:sp>
      <p:sp>
        <p:nvSpPr>
          <p:cNvPr id="306186" name="Text Box 10"/>
          <p:cNvSpPr txBox="1">
            <a:spLocks noChangeArrowheads="1"/>
          </p:cNvSpPr>
          <p:nvPr/>
        </p:nvSpPr>
        <p:spPr bwMode="auto">
          <a:xfrm>
            <a:off x="6324600" y="3048000"/>
            <a:ext cx="1055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其它</a:t>
            </a:r>
            <a:endParaRPr kumimoji="1" lang="zh-CN" altLang="en-US" sz="2400">
              <a:latin typeface="Times New Roman" pitchFamily="18" charset="0"/>
              <a:ea typeface="华文新魏" pitchFamily="2" charset="-122"/>
            </a:endParaRPr>
          </a:p>
        </p:txBody>
      </p:sp>
      <p:sp>
        <p:nvSpPr>
          <p:cNvPr id="306187" name="Oval 11"/>
          <p:cNvSpPr>
            <a:spLocks noChangeArrowheads="1"/>
          </p:cNvSpPr>
          <p:nvPr/>
        </p:nvSpPr>
        <p:spPr bwMode="auto">
          <a:xfrm>
            <a:off x="2286000" y="2895600"/>
            <a:ext cx="609600" cy="5334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ea typeface="华文新魏" pitchFamily="2" charset="-122"/>
              </a:rPr>
              <a:t>2,6,7</a:t>
            </a:r>
            <a:endParaRPr kumimoji="1" lang="zh-CN" altLang="en-US" sz="2400">
              <a:latin typeface="Times New Roman" pitchFamily="18" charset="0"/>
              <a:ea typeface="华文新魏" pitchFamily="2" charset="-122"/>
            </a:endParaRPr>
          </a:p>
        </p:txBody>
      </p:sp>
      <p:cxnSp>
        <p:nvCxnSpPr>
          <p:cNvPr id="306188" name="AutoShape 12"/>
          <p:cNvCxnSpPr>
            <a:cxnSpLocks noChangeShapeType="1"/>
          </p:cNvCxnSpPr>
          <p:nvPr/>
        </p:nvCxnSpPr>
        <p:spPr bwMode="auto">
          <a:xfrm rot="5400000" flipH="1" flipV="1">
            <a:off x="3365500" y="2582863"/>
            <a:ext cx="92075" cy="1209675"/>
          </a:xfrm>
          <a:prstGeom prst="curvedConnector3">
            <a:avLst>
              <a:gd name="adj1" fmla="val 18963"/>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6189" name="Text Box 13"/>
          <p:cNvSpPr txBox="1">
            <a:spLocks noChangeArrowheads="1"/>
          </p:cNvSpPr>
          <p:nvPr/>
        </p:nvSpPr>
        <p:spPr bwMode="auto">
          <a:xfrm>
            <a:off x="3203575" y="27876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x</a:t>
            </a:r>
            <a:endParaRPr kumimoji="1" lang="en-US" altLang="zh-CN" sz="2400">
              <a:latin typeface="Times New Roman" pitchFamily="18" charset="0"/>
              <a:ea typeface="华文新魏" pitchFamily="2" charset="-122"/>
            </a:endParaRPr>
          </a:p>
        </p:txBody>
      </p:sp>
      <p:cxnSp>
        <p:nvCxnSpPr>
          <p:cNvPr id="306190" name="AutoShape 14"/>
          <p:cNvCxnSpPr>
            <a:cxnSpLocks noChangeShapeType="1"/>
          </p:cNvCxnSpPr>
          <p:nvPr/>
        </p:nvCxnSpPr>
        <p:spPr bwMode="auto">
          <a:xfrm rot="5400000" flipV="1">
            <a:off x="4881563" y="2584450"/>
            <a:ext cx="33337" cy="1223963"/>
          </a:xfrm>
          <a:prstGeom prst="curvedConnector3">
            <a:avLst>
              <a:gd name="adj1" fmla="val 9523"/>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6191" name="Text Box 15"/>
          <p:cNvSpPr txBox="1">
            <a:spLocks noChangeArrowheads="1"/>
          </p:cNvSpPr>
          <p:nvPr/>
        </p:nvSpPr>
        <p:spPr bwMode="auto">
          <a:xfrm>
            <a:off x="4356100" y="2643188"/>
            <a:ext cx="12525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0-9 ,</a:t>
            </a:r>
            <a:r>
              <a:rPr kumimoji="1" lang="en-US" altLang="zh-CN" sz="2800" b="1">
                <a:latin typeface="Times New Roman" pitchFamily="18" charset="0"/>
                <a:ea typeface="华文新魏" pitchFamily="2" charset="-122"/>
              </a:rPr>
              <a:t>a-f</a:t>
            </a:r>
          </a:p>
        </p:txBody>
      </p:sp>
      <p:cxnSp>
        <p:nvCxnSpPr>
          <p:cNvPr id="306192" name="AutoShape 16"/>
          <p:cNvCxnSpPr>
            <a:cxnSpLocks noChangeShapeType="1"/>
            <a:stCxn id="306181" idx="6"/>
            <a:endCxn id="306181" idx="3"/>
          </p:cNvCxnSpPr>
          <p:nvPr/>
        </p:nvCxnSpPr>
        <p:spPr bwMode="auto">
          <a:xfrm flipH="1">
            <a:off x="5510213" y="3143250"/>
            <a:ext cx="585787" cy="120650"/>
          </a:xfrm>
          <a:prstGeom prst="curvedConnector4">
            <a:avLst>
              <a:gd name="adj1" fmla="val -39023"/>
              <a:gd name="adj2" fmla="val 871051"/>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6193" name="Text Box 17"/>
          <p:cNvSpPr txBox="1">
            <a:spLocks noChangeArrowheads="1"/>
          </p:cNvSpPr>
          <p:nvPr/>
        </p:nvSpPr>
        <p:spPr bwMode="auto">
          <a:xfrm>
            <a:off x="5364163" y="3995738"/>
            <a:ext cx="1252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0-9,</a:t>
            </a:r>
            <a:r>
              <a:rPr kumimoji="1" lang="en-US" altLang="zh-CN" sz="2800" b="1">
                <a:latin typeface="Times New Roman" pitchFamily="18" charset="0"/>
                <a:ea typeface="华文新魏" pitchFamily="2" charset="-122"/>
              </a:rPr>
              <a:t>a-f </a:t>
            </a:r>
          </a:p>
        </p:txBody>
      </p:sp>
      <p:sp>
        <p:nvSpPr>
          <p:cNvPr id="306194" name="Oval 18"/>
          <p:cNvSpPr>
            <a:spLocks noChangeArrowheads="1"/>
          </p:cNvSpPr>
          <p:nvPr/>
        </p:nvSpPr>
        <p:spPr bwMode="auto">
          <a:xfrm>
            <a:off x="5724525" y="1196975"/>
            <a:ext cx="457200" cy="404813"/>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ea typeface="华文新魏" pitchFamily="2" charset="-122"/>
              </a:rPr>
              <a:t>3</a:t>
            </a:r>
          </a:p>
        </p:txBody>
      </p:sp>
      <p:cxnSp>
        <p:nvCxnSpPr>
          <p:cNvPr id="306195" name="AutoShape 19"/>
          <p:cNvCxnSpPr>
            <a:cxnSpLocks noChangeShapeType="1"/>
            <a:stCxn id="306187" idx="0"/>
            <a:endCxn id="306194" idx="2"/>
          </p:cNvCxnSpPr>
          <p:nvPr/>
        </p:nvCxnSpPr>
        <p:spPr bwMode="auto">
          <a:xfrm rot="-5400000">
            <a:off x="3409950" y="581025"/>
            <a:ext cx="1495425" cy="3133725"/>
          </a:xfrm>
          <a:prstGeom prst="curvedConnector2">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6196" name="AutoShape 20"/>
          <p:cNvCxnSpPr>
            <a:cxnSpLocks noChangeShapeType="1"/>
            <a:stCxn id="306194" idx="2"/>
            <a:endCxn id="306194" idx="6"/>
          </p:cNvCxnSpPr>
          <p:nvPr/>
        </p:nvCxnSpPr>
        <p:spPr bwMode="auto">
          <a:xfrm rot="10800000" flipH="1" flipV="1">
            <a:off x="5724525" y="1400175"/>
            <a:ext cx="457200" cy="1588"/>
          </a:xfrm>
          <a:prstGeom prst="curvedConnector5">
            <a:avLst>
              <a:gd name="adj1" fmla="val -50000"/>
              <a:gd name="adj2" fmla="val 27200009"/>
              <a:gd name="adj3" fmla="val 150000"/>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6197" name="AutoShape 21"/>
          <p:cNvCxnSpPr>
            <a:cxnSpLocks noChangeShapeType="1"/>
            <a:stCxn id="306194" idx="6"/>
            <a:endCxn id="42030" idx="2"/>
          </p:cNvCxnSpPr>
          <p:nvPr/>
        </p:nvCxnSpPr>
        <p:spPr bwMode="auto">
          <a:xfrm>
            <a:off x="6181725" y="1400175"/>
            <a:ext cx="1260475" cy="33338"/>
          </a:xfrm>
          <a:prstGeom prst="curvedConnector3">
            <a:avLst>
              <a:gd name="adj1" fmla="val 51009"/>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6198" name="Text Box 22"/>
          <p:cNvSpPr txBox="1">
            <a:spLocks noChangeArrowheads="1"/>
          </p:cNvSpPr>
          <p:nvPr/>
        </p:nvSpPr>
        <p:spPr bwMode="auto">
          <a:xfrm>
            <a:off x="4191000" y="1073150"/>
            <a:ext cx="658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0-7</a:t>
            </a:r>
          </a:p>
        </p:txBody>
      </p:sp>
      <p:sp>
        <p:nvSpPr>
          <p:cNvPr id="306199" name="Text Box 23"/>
          <p:cNvSpPr txBox="1">
            <a:spLocks noChangeArrowheads="1"/>
          </p:cNvSpPr>
          <p:nvPr/>
        </p:nvSpPr>
        <p:spPr bwMode="auto">
          <a:xfrm>
            <a:off x="5651500" y="1706563"/>
            <a:ext cx="6588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0-7</a:t>
            </a:r>
          </a:p>
        </p:txBody>
      </p:sp>
      <p:sp>
        <p:nvSpPr>
          <p:cNvPr id="306200" name="Text Box 24"/>
          <p:cNvSpPr txBox="1">
            <a:spLocks noChangeArrowheads="1"/>
          </p:cNvSpPr>
          <p:nvPr/>
        </p:nvSpPr>
        <p:spPr bwMode="auto">
          <a:xfrm>
            <a:off x="6248400" y="1371600"/>
            <a:ext cx="987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其它</a:t>
            </a:r>
            <a:endParaRPr kumimoji="1" lang="zh-CN" altLang="en-US" sz="2800">
              <a:latin typeface="Times New Roman" pitchFamily="18" charset="0"/>
              <a:ea typeface="华文新魏" pitchFamily="2" charset="-122"/>
            </a:endParaRPr>
          </a:p>
        </p:txBody>
      </p:sp>
      <p:sp>
        <p:nvSpPr>
          <p:cNvPr id="306201" name="Oval 25"/>
          <p:cNvSpPr>
            <a:spLocks noChangeArrowheads="1"/>
          </p:cNvSpPr>
          <p:nvPr/>
        </p:nvSpPr>
        <p:spPr bwMode="auto">
          <a:xfrm>
            <a:off x="4210050" y="5715000"/>
            <a:ext cx="438150" cy="381000"/>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ea typeface="华文新魏" pitchFamily="2" charset="-122"/>
              </a:rPr>
              <a:t>5</a:t>
            </a:r>
            <a:endParaRPr kumimoji="1" lang="zh-CN" altLang="en-US" sz="2400">
              <a:latin typeface="Times New Roman" pitchFamily="18" charset="0"/>
              <a:ea typeface="华文新魏" pitchFamily="2" charset="-122"/>
            </a:endParaRPr>
          </a:p>
        </p:txBody>
      </p:sp>
      <p:cxnSp>
        <p:nvCxnSpPr>
          <p:cNvPr id="306203" name="AutoShape 27"/>
          <p:cNvCxnSpPr>
            <a:cxnSpLocks noChangeShapeType="1"/>
            <a:stCxn id="306184" idx="4"/>
            <a:endCxn id="306201" idx="2"/>
          </p:cNvCxnSpPr>
          <p:nvPr/>
        </p:nvCxnSpPr>
        <p:spPr bwMode="auto">
          <a:xfrm rot="16200000" flipH="1">
            <a:off x="1476375" y="3171825"/>
            <a:ext cx="2552700" cy="2914650"/>
          </a:xfrm>
          <a:prstGeom prst="curvedConnector2">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6204" name="AutoShape 28"/>
          <p:cNvCxnSpPr>
            <a:cxnSpLocks noChangeShapeType="1"/>
            <a:stCxn id="306201" idx="2"/>
            <a:endCxn id="306201" idx="6"/>
          </p:cNvCxnSpPr>
          <p:nvPr/>
        </p:nvCxnSpPr>
        <p:spPr bwMode="auto">
          <a:xfrm rot="10800000" flipH="1" flipV="1">
            <a:off x="4210050" y="5905500"/>
            <a:ext cx="438150" cy="1588"/>
          </a:xfrm>
          <a:prstGeom prst="curvedConnector5">
            <a:avLst>
              <a:gd name="adj1" fmla="val -52176"/>
              <a:gd name="adj2" fmla="val -26400009"/>
              <a:gd name="adj3" fmla="val 152176"/>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6205" name="AutoShape 29"/>
          <p:cNvCxnSpPr>
            <a:cxnSpLocks noChangeShapeType="1"/>
            <a:stCxn id="306201" idx="6"/>
            <a:endCxn id="42026" idx="2"/>
          </p:cNvCxnSpPr>
          <p:nvPr/>
        </p:nvCxnSpPr>
        <p:spPr bwMode="auto">
          <a:xfrm flipV="1">
            <a:off x="4648200" y="5853113"/>
            <a:ext cx="1289050" cy="52387"/>
          </a:xfrm>
          <a:prstGeom prst="curvedConnector3">
            <a:avLst>
              <a:gd name="adj1" fmla="val 50986"/>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cxnSp>
        <p:nvCxnSpPr>
          <p:cNvPr id="306206" name="AutoShape 30"/>
          <p:cNvCxnSpPr>
            <a:cxnSpLocks noChangeShapeType="1"/>
            <a:stCxn id="306187" idx="4"/>
            <a:endCxn id="42026" idx="0"/>
          </p:cNvCxnSpPr>
          <p:nvPr/>
        </p:nvCxnSpPr>
        <p:spPr bwMode="auto">
          <a:xfrm rot="16200000" flipH="1">
            <a:off x="3267868" y="2751932"/>
            <a:ext cx="2208213" cy="3562350"/>
          </a:xfrm>
          <a:prstGeom prst="curvedConnector3">
            <a:avLst>
              <a:gd name="adj1" fmla="val 50537"/>
            </a:avLst>
          </a:prstGeom>
          <a:noFill/>
          <a:ln w="38100">
            <a:solidFill>
              <a:schemeClr val="tx1"/>
            </a:solidFill>
            <a:round/>
            <a:headEnd type="none" w="sm" len="sm"/>
            <a:tailEnd type="triangle" w="med" len="lg"/>
          </a:ln>
          <a:extLst>
            <a:ext uri="{909E8E84-426E-40DD-AFC4-6F175D3DCCD1}">
              <a14:hiddenFill xmlns:a14="http://schemas.microsoft.com/office/drawing/2010/main">
                <a:noFill/>
              </a14:hiddenFill>
            </a:ext>
          </a:extLst>
        </p:spPr>
      </p:cxnSp>
      <p:sp>
        <p:nvSpPr>
          <p:cNvPr id="306207" name="Text Box 31"/>
          <p:cNvSpPr txBox="1">
            <a:spLocks noChangeArrowheads="1"/>
          </p:cNvSpPr>
          <p:nvPr/>
        </p:nvSpPr>
        <p:spPr bwMode="auto">
          <a:xfrm>
            <a:off x="1547813" y="4803775"/>
            <a:ext cx="658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1-9</a:t>
            </a:r>
          </a:p>
        </p:txBody>
      </p:sp>
      <p:sp>
        <p:nvSpPr>
          <p:cNvPr id="306208" name="Text Box 32"/>
          <p:cNvSpPr txBox="1">
            <a:spLocks noChangeArrowheads="1"/>
          </p:cNvSpPr>
          <p:nvPr/>
        </p:nvSpPr>
        <p:spPr bwMode="auto">
          <a:xfrm>
            <a:off x="4038600" y="5035550"/>
            <a:ext cx="658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0-9</a:t>
            </a:r>
          </a:p>
        </p:txBody>
      </p:sp>
      <p:sp>
        <p:nvSpPr>
          <p:cNvPr id="306209" name="Text Box 33"/>
          <p:cNvSpPr txBox="1">
            <a:spLocks noChangeArrowheads="1"/>
          </p:cNvSpPr>
          <p:nvPr/>
        </p:nvSpPr>
        <p:spPr bwMode="auto">
          <a:xfrm>
            <a:off x="4876800" y="5891213"/>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rPr>
              <a:t>其它</a:t>
            </a:r>
            <a:endParaRPr kumimoji="1" lang="zh-CN" altLang="en-US" sz="2400">
              <a:latin typeface="Times New Roman" pitchFamily="18" charset="0"/>
              <a:ea typeface="华文新魏" pitchFamily="2" charset="-122"/>
            </a:endParaRPr>
          </a:p>
        </p:txBody>
      </p:sp>
      <p:sp>
        <p:nvSpPr>
          <p:cNvPr id="306210" name="Text Box 34"/>
          <p:cNvSpPr txBox="1">
            <a:spLocks noChangeArrowheads="1"/>
          </p:cNvSpPr>
          <p:nvPr/>
        </p:nvSpPr>
        <p:spPr bwMode="auto">
          <a:xfrm>
            <a:off x="6011863" y="6021388"/>
            <a:ext cx="2584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(DEC，</a:t>
            </a:r>
            <a:r>
              <a:rPr kumimoji="1" lang="zh-CN" altLang="en-US" sz="2800" b="1">
                <a:latin typeface="Times New Roman" pitchFamily="18" charset="0"/>
                <a:ea typeface="华文新魏" pitchFamily="2" charset="-122"/>
              </a:rPr>
              <a:t>值</a:t>
            </a:r>
            <a:r>
              <a:rPr kumimoji="1" lang="en-US" altLang="zh-CN" sz="2800" b="1">
                <a:latin typeface="Times New Roman" pitchFamily="18" charset="0"/>
                <a:ea typeface="华文新魏" pitchFamily="2" charset="-122"/>
              </a:rPr>
              <a:t>)</a:t>
            </a:r>
          </a:p>
        </p:txBody>
      </p:sp>
      <p:sp>
        <p:nvSpPr>
          <p:cNvPr id="306213" name="Text Box 37"/>
          <p:cNvSpPr txBox="1">
            <a:spLocks noChangeArrowheads="1"/>
          </p:cNvSpPr>
          <p:nvPr/>
        </p:nvSpPr>
        <p:spPr bwMode="auto">
          <a:xfrm>
            <a:off x="2667000" y="4267200"/>
            <a:ext cx="104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其它</a:t>
            </a:r>
            <a:endParaRPr kumimoji="1" lang="zh-CN" altLang="en-US" sz="2800" b="1">
              <a:latin typeface="Times New Roman" pitchFamily="18" charset="0"/>
              <a:ea typeface="华文新魏" pitchFamily="2" charset="-122"/>
            </a:endParaRPr>
          </a:p>
        </p:txBody>
      </p:sp>
      <p:sp>
        <p:nvSpPr>
          <p:cNvPr id="306214" name="Line 38"/>
          <p:cNvSpPr>
            <a:spLocks noChangeShapeType="1"/>
          </p:cNvSpPr>
          <p:nvPr/>
        </p:nvSpPr>
        <p:spPr bwMode="auto">
          <a:xfrm>
            <a:off x="304800" y="3200400"/>
            <a:ext cx="762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306215" name="Line 39"/>
          <p:cNvSpPr>
            <a:spLocks noChangeShapeType="1"/>
          </p:cNvSpPr>
          <p:nvPr/>
        </p:nvSpPr>
        <p:spPr bwMode="auto">
          <a:xfrm>
            <a:off x="1524000" y="3200400"/>
            <a:ext cx="762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nvGrpSpPr>
          <p:cNvPr id="2" name="Group 42"/>
          <p:cNvGrpSpPr>
            <a:grpSpLocks/>
          </p:cNvGrpSpPr>
          <p:nvPr/>
        </p:nvGrpSpPr>
        <p:grpSpPr bwMode="auto">
          <a:xfrm>
            <a:off x="7451725" y="1196975"/>
            <a:ext cx="576263" cy="457200"/>
            <a:chOff x="4694" y="754"/>
            <a:chExt cx="363" cy="288"/>
          </a:xfrm>
        </p:grpSpPr>
        <p:sp>
          <p:nvSpPr>
            <p:cNvPr id="42030" name="Oval 35"/>
            <p:cNvSpPr>
              <a:spLocks noChangeArrowheads="1"/>
            </p:cNvSpPr>
            <p:nvPr/>
          </p:nvSpPr>
          <p:spPr bwMode="auto">
            <a:xfrm>
              <a:off x="4704" y="783"/>
              <a:ext cx="240" cy="24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031" name="Text Box 40"/>
            <p:cNvSpPr txBox="1">
              <a:spLocks noChangeArrowheads="1"/>
            </p:cNvSpPr>
            <p:nvPr/>
          </p:nvSpPr>
          <p:spPr bwMode="auto">
            <a:xfrm>
              <a:off x="4694" y="754"/>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zh-CN" altLang="en-US" sz="2400">
                  <a:solidFill>
                    <a:srgbClr val="000066"/>
                  </a:solidFill>
                  <a:latin typeface="Times New Roman" pitchFamily="18" charset="0"/>
                  <a:ea typeface="华文新魏" pitchFamily="2" charset="-122"/>
                </a:rPr>
                <a:t>4</a:t>
              </a:r>
            </a:p>
          </p:txBody>
        </p:sp>
      </p:grpSp>
      <p:grpSp>
        <p:nvGrpSpPr>
          <p:cNvPr id="3" name="Group 45"/>
          <p:cNvGrpSpPr>
            <a:grpSpLocks/>
          </p:cNvGrpSpPr>
          <p:nvPr/>
        </p:nvGrpSpPr>
        <p:grpSpPr bwMode="auto">
          <a:xfrm>
            <a:off x="7380288" y="2924175"/>
            <a:ext cx="1368425" cy="428625"/>
            <a:chOff x="4649" y="1842"/>
            <a:chExt cx="862" cy="270"/>
          </a:xfrm>
        </p:grpSpPr>
        <p:sp>
          <p:nvSpPr>
            <p:cNvPr id="42028" name="Oval 36"/>
            <p:cNvSpPr>
              <a:spLocks noChangeArrowheads="1"/>
            </p:cNvSpPr>
            <p:nvPr/>
          </p:nvSpPr>
          <p:spPr bwMode="auto">
            <a:xfrm>
              <a:off x="4704" y="1872"/>
              <a:ext cx="240" cy="24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029" name="Text Box 41"/>
            <p:cNvSpPr txBox="1">
              <a:spLocks noChangeArrowheads="1"/>
            </p:cNvSpPr>
            <p:nvPr/>
          </p:nvSpPr>
          <p:spPr bwMode="auto">
            <a:xfrm>
              <a:off x="4649" y="1842"/>
              <a:ext cx="8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000">
                  <a:solidFill>
                    <a:srgbClr val="000066"/>
                  </a:solidFill>
                  <a:latin typeface="Times New Roman" pitchFamily="18" charset="0"/>
                  <a:ea typeface="华文新魏" pitchFamily="2" charset="-122"/>
                </a:rPr>
                <a:t>10</a:t>
              </a:r>
            </a:p>
          </p:txBody>
        </p:sp>
      </p:grpSp>
      <p:grpSp>
        <p:nvGrpSpPr>
          <p:cNvPr id="4" name="Group 44"/>
          <p:cNvGrpSpPr>
            <a:grpSpLocks/>
          </p:cNvGrpSpPr>
          <p:nvPr/>
        </p:nvGrpSpPr>
        <p:grpSpPr bwMode="auto">
          <a:xfrm>
            <a:off x="5962650" y="5661025"/>
            <a:ext cx="914400" cy="382588"/>
            <a:chOff x="3756" y="3566"/>
            <a:chExt cx="576" cy="241"/>
          </a:xfrm>
        </p:grpSpPr>
        <p:sp>
          <p:nvSpPr>
            <p:cNvPr id="42026" name="Oval 26"/>
            <p:cNvSpPr>
              <a:spLocks noChangeArrowheads="1"/>
            </p:cNvSpPr>
            <p:nvPr/>
          </p:nvSpPr>
          <p:spPr bwMode="auto">
            <a:xfrm>
              <a:off x="3756" y="3567"/>
              <a:ext cx="240" cy="24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027" name="Text Box 43"/>
            <p:cNvSpPr txBox="1">
              <a:spLocks noChangeArrowheads="1"/>
            </p:cNvSpPr>
            <p:nvPr/>
          </p:nvSpPr>
          <p:spPr bwMode="auto">
            <a:xfrm>
              <a:off x="3787" y="3566"/>
              <a:ext cx="5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latin typeface="Times New Roman" pitchFamily="18" charset="0"/>
                  <a:ea typeface="华文新魏" pitchFamily="2" charset="-122"/>
                </a:rPr>
                <a:t>6</a:t>
              </a:r>
            </a:p>
          </p:txBody>
        </p:sp>
      </p:grpSp>
      <p:sp>
        <p:nvSpPr>
          <p:cNvPr id="42025" name="Text Box 46"/>
          <p:cNvSpPr txBox="1">
            <a:spLocks noChangeArrowheads="1"/>
          </p:cNvSpPr>
          <p:nvPr/>
        </p:nvSpPr>
        <p:spPr bwMode="auto">
          <a:xfrm>
            <a:off x="323850" y="5805488"/>
            <a:ext cx="1944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400" b="1">
                <a:solidFill>
                  <a:srgbClr val="000099"/>
                </a:solidFill>
                <a:latin typeface="Times New Roman" pitchFamily="18" charset="0"/>
                <a:ea typeface="华文新魏" pitchFamily="2" charset="-122"/>
              </a:rPr>
              <a:t>对照教材</a:t>
            </a:r>
            <a:r>
              <a:rPr lang="en-US" altLang="zh-CN" sz="2400" b="1">
                <a:solidFill>
                  <a:srgbClr val="000099"/>
                </a:solidFill>
                <a:latin typeface="Times New Roman" pitchFamily="18" charset="0"/>
                <a:ea typeface="华文新魏" pitchFamily="2" charset="-122"/>
              </a:rPr>
              <a:t>P91</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4072774D-FFD9-4BF6-9C97-F399126EEFAF}" type="slidenum">
              <a:rPr lang="zh-CN" altLang="en-US"/>
              <a:pPr eaLnBrk="1" hangingPunct="1"/>
              <a:t>37</a:t>
            </a:fld>
            <a:endParaRPr lang="en-US" altLang="zh-CN"/>
          </a:p>
        </p:txBody>
      </p:sp>
      <p:sp>
        <p:nvSpPr>
          <p:cNvPr id="305154" name="Rectangle 2"/>
          <p:cNvSpPr>
            <a:spLocks noGrp="1" noRot="1" noChangeArrowheads="1"/>
          </p:cNvSpPr>
          <p:nvPr>
            <p:ph type="title"/>
          </p:nvPr>
        </p:nvSpPr>
        <p:spPr>
          <a:xfrm>
            <a:off x="611188" y="620713"/>
            <a:ext cx="7772400" cy="685800"/>
          </a:xfrm>
        </p:spPr>
        <p:txBody>
          <a:bodyPr/>
          <a:lstStyle/>
          <a:p>
            <a:pPr algn="l" eaLnBrk="1" hangingPunct="1">
              <a:defRPr/>
            </a:pPr>
            <a:r>
              <a:rPr lang="en-US" altLang="zh-CN" b="1" smtClean="0">
                <a:solidFill>
                  <a:srgbClr val="000099"/>
                </a:solidFill>
                <a:effectLst>
                  <a:outerShdw blurRad="38100" dist="38100" dir="2700000" algn="tl">
                    <a:srgbClr val="C0C0C0"/>
                  </a:outerShdw>
                </a:effectLst>
                <a:latin typeface="Times New Roman" pitchFamily="18" charset="0"/>
                <a:ea typeface="华文新魏" pitchFamily="2" charset="-122"/>
              </a:rPr>
              <a:t>4.</a:t>
            </a:r>
            <a:r>
              <a:rPr lang="zh-CN" altLang="en-US" b="1" smtClean="0">
                <a:solidFill>
                  <a:srgbClr val="000099"/>
                </a:solidFill>
                <a:effectLst>
                  <a:outerShdw blurRad="38100" dist="38100" dir="2700000" algn="tl">
                    <a:srgbClr val="C0C0C0"/>
                  </a:outerShdw>
                </a:effectLst>
                <a:latin typeface="Times New Roman" pitchFamily="18" charset="0"/>
                <a:ea typeface="华文新魏" pitchFamily="2" charset="-122"/>
              </a:rPr>
              <a:t>状态图合并</a:t>
            </a:r>
          </a:p>
        </p:txBody>
      </p:sp>
      <p:sp>
        <p:nvSpPr>
          <p:cNvPr id="305172" name="Rectangle 20"/>
          <p:cNvSpPr>
            <a:spLocks noGrp="1" noRot="1" noChangeArrowheads="1"/>
          </p:cNvSpPr>
          <p:nvPr>
            <p:ph type="body" idx="1"/>
          </p:nvPr>
        </p:nvSpPr>
        <p:spPr>
          <a:xfrm>
            <a:off x="755650" y="1700213"/>
            <a:ext cx="8064500" cy="4713287"/>
          </a:xfrm>
        </p:spPr>
        <p:txBody>
          <a:bodyPr/>
          <a:lstStyle/>
          <a:p>
            <a:pPr marL="609600" indent="-609600" eaLnBrk="1" hangingPunct="1">
              <a:spcBef>
                <a:spcPct val="75000"/>
              </a:spcBef>
              <a:buClrTx/>
              <a:buSzTx/>
              <a:buFontTx/>
              <a:buAutoNum type="arabicPeriod"/>
            </a:pPr>
            <a:r>
              <a:rPr lang="zh-CN" altLang="en-US" b="1" smtClean="0">
                <a:latin typeface="Times New Roman" pitchFamily="18" charset="0"/>
                <a:ea typeface="华文新魏" pitchFamily="2" charset="-122"/>
              </a:rPr>
              <a:t>从开始状态出发；</a:t>
            </a:r>
          </a:p>
          <a:p>
            <a:pPr marL="609600" indent="-609600" eaLnBrk="1" hangingPunct="1">
              <a:spcBef>
                <a:spcPct val="75000"/>
              </a:spcBef>
              <a:buClrTx/>
              <a:buSzTx/>
              <a:buFontTx/>
              <a:buAutoNum type="arabicPeriod"/>
            </a:pPr>
            <a:r>
              <a:rPr lang="zh-CN" altLang="en-US" b="1" smtClean="0">
                <a:latin typeface="Times New Roman" pitchFamily="18" charset="0"/>
                <a:ea typeface="华文新魏" pitchFamily="2" charset="-122"/>
              </a:rPr>
              <a:t>选择输入符号，构成目标状态集</a:t>
            </a:r>
          </a:p>
          <a:p>
            <a:pPr marL="609600" indent="-609600" eaLnBrk="1" hangingPunct="1">
              <a:spcBef>
                <a:spcPct val="75000"/>
              </a:spcBef>
              <a:buClrTx/>
              <a:buSzTx/>
              <a:buFontTx/>
              <a:buAutoNum type="arabicPeriod"/>
            </a:pPr>
            <a:r>
              <a:rPr lang="zh-CN" altLang="en-US" b="1" smtClean="0">
                <a:latin typeface="Times New Roman" pitchFamily="18" charset="0"/>
                <a:ea typeface="华文新魏" pitchFamily="2" charset="-122"/>
              </a:rPr>
              <a:t>从新状态集出发，重复1、2</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FC3419C-B3B0-48D4-8E42-7B9910328F08}" type="slidenum">
              <a:rPr lang="zh-CN" altLang="en-US"/>
              <a:pPr eaLnBrk="1" hangingPunct="1"/>
              <a:t>38</a:t>
            </a:fld>
            <a:endParaRPr lang="en-US" altLang="zh-CN"/>
          </a:p>
        </p:txBody>
      </p:sp>
      <p:sp>
        <p:nvSpPr>
          <p:cNvPr id="49155" name="Rectangle 2"/>
          <p:cNvSpPr>
            <a:spLocks noGrp="1" noRot="1" noChangeArrowheads="1"/>
          </p:cNvSpPr>
          <p:nvPr>
            <p:ph type="title"/>
          </p:nvPr>
        </p:nvSpPr>
        <p:spPr>
          <a:xfrm>
            <a:off x="34925" y="549275"/>
            <a:ext cx="865188" cy="3035300"/>
          </a:xfrm>
        </p:spPr>
        <p:txBody>
          <a:bodyPr/>
          <a:lstStyle/>
          <a:p>
            <a:pPr eaLnBrk="1" hangingPunct="1">
              <a:lnSpc>
                <a:spcPct val="70000"/>
              </a:lnSpc>
            </a:pPr>
            <a:r>
              <a:rPr lang="zh-CN" altLang="en-US" sz="4800" b="1" smtClean="0">
                <a:solidFill>
                  <a:srgbClr val="000099"/>
                </a:solidFill>
                <a:latin typeface="Times New Roman" pitchFamily="18" charset="0"/>
                <a:ea typeface="华文新魏" pitchFamily="2" charset="-122"/>
              </a:rPr>
              <a:t>另一种做法</a:t>
            </a:r>
            <a:endParaRPr lang="en-US" altLang="zh-CN" sz="4800" b="1" smtClean="0">
              <a:solidFill>
                <a:srgbClr val="000099"/>
              </a:solidFill>
              <a:latin typeface="Times New Roman" pitchFamily="18" charset="0"/>
              <a:ea typeface="华文新魏" pitchFamily="2" charset="-122"/>
            </a:endParaRPr>
          </a:p>
        </p:txBody>
      </p:sp>
      <p:grpSp>
        <p:nvGrpSpPr>
          <p:cNvPr id="2" name="Group 55"/>
          <p:cNvGrpSpPr>
            <a:grpSpLocks/>
          </p:cNvGrpSpPr>
          <p:nvPr/>
        </p:nvGrpSpPr>
        <p:grpSpPr bwMode="auto">
          <a:xfrm>
            <a:off x="250825" y="3902075"/>
            <a:ext cx="1684338" cy="614363"/>
            <a:chOff x="158" y="2115"/>
            <a:chExt cx="1061" cy="387"/>
          </a:xfrm>
        </p:grpSpPr>
        <p:sp>
          <p:nvSpPr>
            <p:cNvPr id="49207" name="Text Box 54"/>
            <p:cNvSpPr txBox="1">
              <a:spLocks noChangeArrowheads="1"/>
            </p:cNvSpPr>
            <p:nvPr/>
          </p:nvSpPr>
          <p:spPr bwMode="auto">
            <a:xfrm>
              <a:off x="158" y="2115"/>
              <a:ext cx="5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开始</a:t>
              </a:r>
            </a:p>
          </p:txBody>
        </p:sp>
        <p:sp>
          <p:nvSpPr>
            <p:cNvPr id="49208" name="Oval 7"/>
            <p:cNvSpPr>
              <a:spLocks noChangeArrowheads="1"/>
            </p:cNvSpPr>
            <p:nvPr/>
          </p:nvSpPr>
          <p:spPr bwMode="auto">
            <a:xfrm>
              <a:off x="930" y="2205"/>
              <a:ext cx="289" cy="297"/>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zh-CN" altLang="en-US" sz="2400">
                  <a:solidFill>
                    <a:srgbClr val="000066"/>
                  </a:solidFill>
                  <a:latin typeface="Times New Roman" pitchFamily="18" charset="0"/>
                </a:rPr>
                <a:t>1</a:t>
              </a:r>
            </a:p>
          </p:txBody>
        </p:sp>
        <p:sp>
          <p:nvSpPr>
            <p:cNvPr id="49209" name="Line 14"/>
            <p:cNvSpPr>
              <a:spLocks noChangeShapeType="1"/>
            </p:cNvSpPr>
            <p:nvPr/>
          </p:nvSpPr>
          <p:spPr bwMode="auto">
            <a:xfrm>
              <a:off x="385" y="2377"/>
              <a:ext cx="4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6"/>
          <p:cNvGrpSpPr>
            <a:grpSpLocks/>
          </p:cNvGrpSpPr>
          <p:nvPr/>
        </p:nvGrpSpPr>
        <p:grpSpPr bwMode="auto">
          <a:xfrm>
            <a:off x="1908175" y="3835400"/>
            <a:ext cx="1898650" cy="681038"/>
            <a:chOff x="1202" y="2073"/>
            <a:chExt cx="1196" cy="429"/>
          </a:xfrm>
        </p:grpSpPr>
        <p:sp>
          <p:nvSpPr>
            <p:cNvPr id="49203" name="Oval 9"/>
            <p:cNvSpPr>
              <a:spLocks noChangeArrowheads="1"/>
            </p:cNvSpPr>
            <p:nvPr/>
          </p:nvSpPr>
          <p:spPr bwMode="auto">
            <a:xfrm>
              <a:off x="2109" y="2205"/>
              <a:ext cx="289" cy="297"/>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en-US" altLang="zh-CN" sz="2400">
                  <a:solidFill>
                    <a:srgbClr val="000066"/>
                  </a:solidFill>
                  <a:latin typeface="Times New Roman" pitchFamily="18" charset="0"/>
                  <a:ea typeface="华文新魏" pitchFamily="2" charset="-122"/>
                </a:rPr>
                <a:t>2</a:t>
              </a:r>
            </a:p>
          </p:txBody>
        </p:sp>
        <p:grpSp>
          <p:nvGrpSpPr>
            <p:cNvPr id="49204" name="Group 25"/>
            <p:cNvGrpSpPr>
              <a:grpSpLocks/>
            </p:cNvGrpSpPr>
            <p:nvPr/>
          </p:nvGrpSpPr>
          <p:grpSpPr bwMode="auto">
            <a:xfrm>
              <a:off x="1202" y="2073"/>
              <a:ext cx="907" cy="327"/>
              <a:chOff x="1202" y="2073"/>
              <a:chExt cx="907" cy="327"/>
            </a:xfrm>
          </p:grpSpPr>
          <p:sp>
            <p:nvSpPr>
              <p:cNvPr id="49205" name="Line 15"/>
              <p:cNvSpPr>
                <a:spLocks noChangeShapeType="1"/>
              </p:cNvSpPr>
              <p:nvPr/>
            </p:nvSpPr>
            <p:spPr bwMode="auto">
              <a:xfrm>
                <a:off x="1202" y="2377"/>
                <a:ext cx="90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06" name="Text Box 16"/>
              <p:cNvSpPr txBox="1">
                <a:spLocks noChangeArrowheads="1"/>
              </p:cNvSpPr>
              <p:nvPr/>
            </p:nvSpPr>
            <p:spPr bwMode="auto">
              <a:xfrm>
                <a:off x="1565" y="2073"/>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a:t>
                </a:r>
              </a:p>
            </p:txBody>
          </p:sp>
        </p:grpSp>
      </p:grpSp>
      <p:grpSp>
        <p:nvGrpSpPr>
          <p:cNvPr id="5" name="Group 39"/>
          <p:cNvGrpSpPr>
            <a:grpSpLocks/>
          </p:cNvGrpSpPr>
          <p:nvPr/>
        </p:nvGrpSpPr>
        <p:grpSpPr bwMode="auto">
          <a:xfrm>
            <a:off x="1763713" y="4478338"/>
            <a:ext cx="2114550" cy="1676400"/>
            <a:chOff x="1111" y="2478"/>
            <a:chExt cx="1332" cy="1056"/>
          </a:xfrm>
        </p:grpSpPr>
        <p:sp>
          <p:nvSpPr>
            <p:cNvPr id="49200" name="Oval 11"/>
            <p:cNvSpPr>
              <a:spLocks noChangeArrowheads="1"/>
            </p:cNvSpPr>
            <p:nvPr/>
          </p:nvSpPr>
          <p:spPr bwMode="auto">
            <a:xfrm>
              <a:off x="2154" y="3158"/>
              <a:ext cx="289" cy="297"/>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en-US" altLang="zh-CN" sz="2400">
                  <a:solidFill>
                    <a:srgbClr val="000066"/>
                  </a:solidFill>
                  <a:latin typeface="Times New Roman" pitchFamily="18" charset="0"/>
                  <a:ea typeface="华文新魏" pitchFamily="2" charset="-122"/>
                </a:rPr>
                <a:t>6</a:t>
              </a:r>
            </a:p>
          </p:txBody>
        </p:sp>
        <p:sp>
          <p:nvSpPr>
            <p:cNvPr id="49201" name="Freeform 17"/>
            <p:cNvSpPr>
              <a:spLocks/>
            </p:cNvSpPr>
            <p:nvPr/>
          </p:nvSpPr>
          <p:spPr bwMode="auto">
            <a:xfrm>
              <a:off x="1111" y="2478"/>
              <a:ext cx="1089" cy="861"/>
            </a:xfrm>
            <a:custGeom>
              <a:avLst/>
              <a:gdLst>
                <a:gd name="T0" fmla="*/ 0 w 1089"/>
                <a:gd name="T1" fmla="*/ 0 h 861"/>
                <a:gd name="T2" fmla="*/ 318 w 1089"/>
                <a:gd name="T3" fmla="*/ 680 h 861"/>
                <a:gd name="T4" fmla="*/ 1089 w 1089"/>
                <a:gd name="T5" fmla="*/ 861 h 861"/>
                <a:gd name="T6" fmla="*/ 0 60000 65536"/>
                <a:gd name="T7" fmla="*/ 0 60000 65536"/>
                <a:gd name="T8" fmla="*/ 0 60000 65536"/>
                <a:gd name="T9" fmla="*/ 0 w 1089"/>
                <a:gd name="T10" fmla="*/ 0 h 861"/>
                <a:gd name="T11" fmla="*/ 1089 w 1089"/>
                <a:gd name="T12" fmla="*/ 861 h 861"/>
              </a:gdLst>
              <a:ahLst/>
              <a:cxnLst>
                <a:cxn ang="T6">
                  <a:pos x="T0" y="T1"/>
                </a:cxn>
                <a:cxn ang="T7">
                  <a:pos x="T2" y="T3"/>
                </a:cxn>
                <a:cxn ang="T8">
                  <a:pos x="T4" y="T5"/>
                </a:cxn>
              </a:cxnLst>
              <a:rect l="T9" t="T10" r="T11" b="T12"/>
              <a:pathLst>
                <a:path w="1089" h="861">
                  <a:moveTo>
                    <a:pt x="0" y="0"/>
                  </a:moveTo>
                  <a:cubicBezTo>
                    <a:pt x="68" y="268"/>
                    <a:pt x="137" y="537"/>
                    <a:pt x="318" y="680"/>
                  </a:cubicBezTo>
                  <a:cubicBezTo>
                    <a:pt x="499" y="823"/>
                    <a:pt x="794" y="842"/>
                    <a:pt x="1089" y="861"/>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202" name="Text Box 18"/>
            <p:cNvSpPr txBox="1">
              <a:spLocks noChangeArrowheads="1"/>
            </p:cNvSpPr>
            <p:nvPr/>
          </p:nvSpPr>
          <p:spPr bwMode="auto">
            <a:xfrm>
              <a:off x="1202" y="3207"/>
              <a:ext cx="4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1-9</a:t>
              </a:r>
            </a:p>
          </p:txBody>
        </p:sp>
      </p:grpSp>
      <p:grpSp>
        <p:nvGrpSpPr>
          <p:cNvPr id="6" name="Group 27"/>
          <p:cNvGrpSpPr>
            <a:grpSpLocks/>
          </p:cNvGrpSpPr>
          <p:nvPr/>
        </p:nvGrpSpPr>
        <p:grpSpPr bwMode="auto">
          <a:xfrm>
            <a:off x="3856038" y="3908425"/>
            <a:ext cx="1319212" cy="608013"/>
            <a:chOff x="2429" y="2119"/>
            <a:chExt cx="831" cy="383"/>
          </a:xfrm>
        </p:grpSpPr>
        <p:sp>
          <p:nvSpPr>
            <p:cNvPr id="49197" name="Oval 12"/>
            <p:cNvSpPr>
              <a:spLocks noChangeArrowheads="1"/>
            </p:cNvSpPr>
            <p:nvPr/>
          </p:nvSpPr>
          <p:spPr bwMode="auto">
            <a:xfrm>
              <a:off x="2971" y="2205"/>
              <a:ext cx="289" cy="297"/>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en-US" altLang="zh-CN" sz="2400">
                  <a:solidFill>
                    <a:srgbClr val="000066"/>
                  </a:solidFill>
                  <a:latin typeface="Times New Roman" pitchFamily="18" charset="0"/>
                  <a:ea typeface="华文新魏" pitchFamily="2" charset="-122"/>
                </a:rPr>
                <a:t>3</a:t>
              </a:r>
            </a:p>
          </p:txBody>
        </p:sp>
        <p:sp>
          <p:nvSpPr>
            <p:cNvPr id="49198" name="Line 19"/>
            <p:cNvSpPr>
              <a:spLocks noChangeShapeType="1"/>
            </p:cNvSpPr>
            <p:nvPr/>
          </p:nvSpPr>
          <p:spPr bwMode="auto">
            <a:xfrm>
              <a:off x="2429" y="2377"/>
              <a:ext cx="54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9" name="Text Box 20"/>
            <p:cNvSpPr txBox="1">
              <a:spLocks noChangeArrowheads="1"/>
            </p:cNvSpPr>
            <p:nvPr/>
          </p:nvSpPr>
          <p:spPr bwMode="auto">
            <a:xfrm>
              <a:off x="2517" y="2119"/>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x</a:t>
              </a:r>
              <a:endParaRPr kumimoji="1" lang="en-US" altLang="zh-CN" sz="2400">
                <a:latin typeface="Times New Roman" pitchFamily="18" charset="0"/>
                <a:ea typeface="华文新魏" pitchFamily="2" charset="-122"/>
              </a:endParaRPr>
            </a:p>
          </p:txBody>
        </p:sp>
      </p:grpSp>
      <p:grpSp>
        <p:nvGrpSpPr>
          <p:cNvPr id="7" name="Group 28"/>
          <p:cNvGrpSpPr>
            <a:grpSpLocks/>
          </p:cNvGrpSpPr>
          <p:nvPr/>
        </p:nvGrpSpPr>
        <p:grpSpPr bwMode="auto">
          <a:xfrm>
            <a:off x="5076825" y="3908425"/>
            <a:ext cx="1682750" cy="608013"/>
            <a:chOff x="3198" y="2119"/>
            <a:chExt cx="1060" cy="383"/>
          </a:xfrm>
        </p:grpSpPr>
        <p:sp>
          <p:nvSpPr>
            <p:cNvPr id="49194" name="Text Box 23"/>
            <p:cNvSpPr txBox="1">
              <a:spLocks noChangeArrowheads="1"/>
            </p:cNvSpPr>
            <p:nvPr/>
          </p:nvSpPr>
          <p:spPr bwMode="auto">
            <a:xfrm>
              <a:off x="3198" y="2119"/>
              <a:ext cx="7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0-9 ,</a:t>
              </a:r>
              <a:r>
                <a:rPr kumimoji="1" lang="en-US" altLang="zh-CN" sz="2800" b="1">
                  <a:latin typeface="Times New Roman" pitchFamily="18" charset="0"/>
                  <a:ea typeface="华文新魏" pitchFamily="2" charset="-122"/>
                </a:rPr>
                <a:t>a-f</a:t>
              </a:r>
            </a:p>
          </p:txBody>
        </p:sp>
        <p:sp>
          <p:nvSpPr>
            <p:cNvPr id="49195" name="Oval 13"/>
            <p:cNvSpPr>
              <a:spLocks noChangeArrowheads="1"/>
            </p:cNvSpPr>
            <p:nvPr/>
          </p:nvSpPr>
          <p:spPr bwMode="auto">
            <a:xfrm>
              <a:off x="3969" y="2205"/>
              <a:ext cx="289" cy="297"/>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en-US" altLang="zh-CN" sz="2400">
                  <a:solidFill>
                    <a:srgbClr val="000066"/>
                  </a:solidFill>
                  <a:latin typeface="Times New Roman" pitchFamily="18" charset="0"/>
                  <a:ea typeface="华文新魏" pitchFamily="2" charset="-122"/>
                </a:rPr>
                <a:t>4</a:t>
              </a:r>
            </a:p>
          </p:txBody>
        </p:sp>
        <p:sp>
          <p:nvSpPr>
            <p:cNvPr id="49196" name="Line 21"/>
            <p:cNvSpPr>
              <a:spLocks noChangeShapeType="1"/>
            </p:cNvSpPr>
            <p:nvPr/>
          </p:nvSpPr>
          <p:spPr bwMode="auto">
            <a:xfrm>
              <a:off x="3243" y="2365"/>
              <a:ext cx="72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29"/>
          <p:cNvGrpSpPr>
            <a:grpSpLocks/>
          </p:cNvGrpSpPr>
          <p:nvPr/>
        </p:nvGrpSpPr>
        <p:grpSpPr bwMode="auto">
          <a:xfrm>
            <a:off x="5940425" y="4478338"/>
            <a:ext cx="1252538" cy="812800"/>
            <a:chOff x="3742" y="2478"/>
            <a:chExt cx="789" cy="512"/>
          </a:xfrm>
        </p:grpSpPr>
        <p:sp>
          <p:nvSpPr>
            <p:cNvPr id="49192" name="Text Box 22"/>
            <p:cNvSpPr txBox="1">
              <a:spLocks noChangeArrowheads="1"/>
            </p:cNvSpPr>
            <p:nvPr/>
          </p:nvSpPr>
          <p:spPr bwMode="auto">
            <a:xfrm>
              <a:off x="3742" y="2663"/>
              <a:ext cx="7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0-9 ,</a:t>
              </a:r>
              <a:r>
                <a:rPr kumimoji="1" lang="en-US" altLang="zh-CN" sz="2800" b="1">
                  <a:latin typeface="Times New Roman" pitchFamily="18" charset="0"/>
                  <a:ea typeface="华文新魏" pitchFamily="2" charset="-122"/>
                </a:rPr>
                <a:t>a-f</a:t>
              </a:r>
            </a:p>
          </p:txBody>
        </p:sp>
        <p:sp>
          <p:nvSpPr>
            <p:cNvPr id="49193" name="Freeform 24"/>
            <p:cNvSpPr>
              <a:spLocks/>
            </p:cNvSpPr>
            <p:nvPr/>
          </p:nvSpPr>
          <p:spPr bwMode="auto">
            <a:xfrm>
              <a:off x="3772" y="2478"/>
              <a:ext cx="726" cy="295"/>
            </a:xfrm>
            <a:custGeom>
              <a:avLst/>
              <a:gdLst>
                <a:gd name="T0" fmla="*/ 242 w 726"/>
                <a:gd name="T1" fmla="*/ 0 h 295"/>
                <a:gd name="T2" fmla="*/ 15 w 726"/>
                <a:gd name="T3" fmla="*/ 136 h 295"/>
                <a:gd name="T4" fmla="*/ 151 w 726"/>
                <a:gd name="T5" fmla="*/ 272 h 295"/>
                <a:gd name="T6" fmla="*/ 605 w 726"/>
                <a:gd name="T7" fmla="*/ 272 h 295"/>
                <a:gd name="T8" fmla="*/ 696 w 726"/>
                <a:gd name="T9" fmla="*/ 136 h 295"/>
                <a:gd name="T10" fmla="*/ 423 w 726"/>
                <a:gd name="T11" fmla="*/ 0 h 295"/>
                <a:gd name="T12" fmla="*/ 0 60000 65536"/>
                <a:gd name="T13" fmla="*/ 0 60000 65536"/>
                <a:gd name="T14" fmla="*/ 0 60000 65536"/>
                <a:gd name="T15" fmla="*/ 0 60000 65536"/>
                <a:gd name="T16" fmla="*/ 0 60000 65536"/>
                <a:gd name="T17" fmla="*/ 0 60000 65536"/>
                <a:gd name="T18" fmla="*/ 0 w 726"/>
                <a:gd name="T19" fmla="*/ 0 h 295"/>
                <a:gd name="T20" fmla="*/ 726 w 726"/>
                <a:gd name="T21" fmla="*/ 295 h 295"/>
              </a:gdLst>
              <a:ahLst/>
              <a:cxnLst>
                <a:cxn ang="T12">
                  <a:pos x="T0" y="T1"/>
                </a:cxn>
                <a:cxn ang="T13">
                  <a:pos x="T2" y="T3"/>
                </a:cxn>
                <a:cxn ang="T14">
                  <a:pos x="T4" y="T5"/>
                </a:cxn>
                <a:cxn ang="T15">
                  <a:pos x="T6" y="T7"/>
                </a:cxn>
                <a:cxn ang="T16">
                  <a:pos x="T8" y="T9"/>
                </a:cxn>
                <a:cxn ang="T17">
                  <a:pos x="T10" y="T11"/>
                </a:cxn>
              </a:cxnLst>
              <a:rect l="T18" t="T19" r="T20" b="T21"/>
              <a:pathLst>
                <a:path w="726" h="295">
                  <a:moveTo>
                    <a:pt x="242" y="0"/>
                  </a:moveTo>
                  <a:cubicBezTo>
                    <a:pt x="136" y="45"/>
                    <a:pt x="30" y="91"/>
                    <a:pt x="15" y="136"/>
                  </a:cubicBezTo>
                  <a:cubicBezTo>
                    <a:pt x="0" y="181"/>
                    <a:pt x="53" y="249"/>
                    <a:pt x="151" y="272"/>
                  </a:cubicBezTo>
                  <a:cubicBezTo>
                    <a:pt x="249" y="295"/>
                    <a:pt x="514" y="295"/>
                    <a:pt x="605" y="272"/>
                  </a:cubicBezTo>
                  <a:cubicBezTo>
                    <a:pt x="696" y="249"/>
                    <a:pt x="726" y="181"/>
                    <a:pt x="696" y="136"/>
                  </a:cubicBezTo>
                  <a:cubicBezTo>
                    <a:pt x="666" y="91"/>
                    <a:pt x="544" y="45"/>
                    <a:pt x="423" y="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 name="Group 35"/>
          <p:cNvGrpSpPr>
            <a:grpSpLocks/>
          </p:cNvGrpSpPr>
          <p:nvPr/>
        </p:nvGrpSpPr>
        <p:grpSpPr bwMode="auto">
          <a:xfrm>
            <a:off x="6732588" y="3973513"/>
            <a:ext cx="1533525" cy="525462"/>
            <a:chOff x="4241" y="2160"/>
            <a:chExt cx="966" cy="331"/>
          </a:xfrm>
        </p:grpSpPr>
        <p:sp>
          <p:nvSpPr>
            <p:cNvPr id="49189" name="Text Box 33"/>
            <p:cNvSpPr txBox="1">
              <a:spLocks noChangeArrowheads="1"/>
            </p:cNvSpPr>
            <p:nvPr/>
          </p:nvSpPr>
          <p:spPr bwMode="auto">
            <a:xfrm>
              <a:off x="4286" y="2160"/>
              <a:ext cx="6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其它</a:t>
              </a:r>
              <a:endParaRPr kumimoji="1" lang="zh-CN" altLang="en-US" sz="2400">
                <a:latin typeface="Times New Roman" pitchFamily="18" charset="0"/>
                <a:ea typeface="华文新魏" pitchFamily="2" charset="-122"/>
              </a:endParaRPr>
            </a:p>
          </p:txBody>
        </p:sp>
        <p:sp>
          <p:nvSpPr>
            <p:cNvPr id="49190" name="Oval 6"/>
            <p:cNvSpPr>
              <a:spLocks noChangeArrowheads="1"/>
            </p:cNvSpPr>
            <p:nvPr/>
          </p:nvSpPr>
          <p:spPr bwMode="auto">
            <a:xfrm>
              <a:off x="4967" y="2251"/>
              <a:ext cx="240" cy="24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91" name="Line 34"/>
            <p:cNvSpPr>
              <a:spLocks noChangeShapeType="1"/>
            </p:cNvSpPr>
            <p:nvPr/>
          </p:nvSpPr>
          <p:spPr bwMode="auto">
            <a:xfrm>
              <a:off x="4241" y="2377"/>
              <a:ext cx="72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36"/>
          <p:cNvGrpSpPr>
            <a:grpSpLocks/>
          </p:cNvGrpSpPr>
          <p:nvPr/>
        </p:nvGrpSpPr>
        <p:grpSpPr bwMode="auto">
          <a:xfrm>
            <a:off x="3059113" y="6061075"/>
            <a:ext cx="1200150" cy="812800"/>
            <a:chOff x="3742" y="2478"/>
            <a:chExt cx="756" cy="512"/>
          </a:xfrm>
        </p:grpSpPr>
        <p:sp>
          <p:nvSpPr>
            <p:cNvPr id="49187" name="Text Box 37"/>
            <p:cNvSpPr txBox="1">
              <a:spLocks noChangeArrowheads="1"/>
            </p:cNvSpPr>
            <p:nvPr/>
          </p:nvSpPr>
          <p:spPr bwMode="auto">
            <a:xfrm>
              <a:off x="3742" y="2663"/>
              <a:ext cx="4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0-9 </a:t>
              </a:r>
              <a:endParaRPr kumimoji="1" lang="en-US" altLang="zh-CN" sz="2800" b="1">
                <a:latin typeface="Times New Roman" pitchFamily="18" charset="0"/>
                <a:ea typeface="华文新魏" pitchFamily="2" charset="-122"/>
              </a:endParaRPr>
            </a:p>
          </p:txBody>
        </p:sp>
        <p:sp>
          <p:nvSpPr>
            <p:cNvPr id="49188" name="Freeform 38"/>
            <p:cNvSpPr>
              <a:spLocks/>
            </p:cNvSpPr>
            <p:nvPr/>
          </p:nvSpPr>
          <p:spPr bwMode="auto">
            <a:xfrm>
              <a:off x="3772" y="2478"/>
              <a:ext cx="726" cy="295"/>
            </a:xfrm>
            <a:custGeom>
              <a:avLst/>
              <a:gdLst>
                <a:gd name="T0" fmla="*/ 242 w 726"/>
                <a:gd name="T1" fmla="*/ 0 h 295"/>
                <a:gd name="T2" fmla="*/ 15 w 726"/>
                <a:gd name="T3" fmla="*/ 136 h 295"/>
                <a:gd name="T4" fmla="*/ 151 w 726"/>
                <a:gd name="T5" fmla="*/ 272 h 295"/>
                <a:gd name="T6" fmla="*/ 605 w 726"/>
                <a:gd name="T7" fmla="*/ 272 h 295"/>
                <a:gd name="T8" fmla="*/ 696 w 726"/>
                <a:gd name="T9" fmla="*/ 136 h 295"/>
                <a:gd name="T10" fmla="*/ 423 w 726"/>
                <a:gd name="T11" fmla="*/ 0 h 295"/>
                <a:gd name="T12" fmla="*/ 0 60000 65536"/>
                <a:gd name="T13" fmla="*/ 0 60000 65536"/>
                <a:gd name="T14" fmla="*/ 0 60000 65536"/>
                <a:gd name="T15" fmla="*/ 0 60000 65536"/>
                <a:gd name="T16" fmla="*/ 0 60000 65536"/>
                <a:gd name="T17" fmla="*/ 0 60000 65536"/>
                <a:gd name="T18" fmla="*/ 0 w 726"/>
                <a:gd name="T19" fmla="*/ 0 h 295"/>
                <a:gd name="T20" fmla="*/ 726 w 726"/>
                <a:gd name="T21" fmla="*/ 295 h 295"/>
              </a:gdLst>
              <a:ahLst/>
              <a:cxnLst>
                <a:cxn ang="T12">
                  <a:pos x="T0" y="T1"/>
                </a:cxn>
                <a:cxn ang="T13">
                  <a:pos x="T2" y="T3"/>
                </a:cxn>
                <a:cxn ang="T14">
                  <a:pos x="T4" y="T5"/>
                </a:cxn>
                <a:cxn ang="T15">
                  <a:pos x="T6" y="T7"/>
                </a:cxn>
                <a:cxn ang="T16">
                  <a:pos x="T8" y="T9"/>
                </a:cxn>
                <a:cxn ang="T17">
                  <a:pos x="T10" y="T11"/>
                </a:cxn>
              </a:cxnLst>
              <a:rect l="T18" t="T19" r="T20" b="T21"/>
              <a:pathLst>
                <a:path w="726" h="295">
                  <a:moveTo>
                    <a:pt x="242" y="0"/>
                  </a:moveTo>
                  <a:cubicBezTo>
                    <a:pt x="136" y="45"/>
                    <a:pt x="30" y="91"/>
                    <a:pt x="15" y="136"/>
                  </a:cubicBezTo>
                  <a:cubicBezTo>
                    <a:pt x="0" y="181"/>
                    <a:pt x="53" y="249"/>
                    <a:pt x="151" y="272"/>
                  </a:cubicBezTo>
                  <a:cubicBezTo>
                    <a:pt x="249" y="295"/>
                    <a:pt x="514" y="295"/>
                    <a:pt x="605" y="272"/>
                  </a:cubicBezTo>
                  <a:cubicBezTo>
                    <a:pt x="696" y="249"/>
                    <a:pt x="726" y="181"/>
                    <a:pt x="696" y="136"/>
                  </a:cubicBezTo>
                  <a:cubicBezTo>
                    <a:pt x="666" y="91"/>
                    <a:pt x="544" y="45"/>
                    <a:pt x="423" y="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 name="Group 58"/>
          <p:cNvGrpSpPr>
            <a:grpSpLocks/>
          </p:cNvGrpSpPr>
          <p:nvPr/>
        </p:nvGrpSpPr>
        <p:grpSpPr bwMode="auto">
          <a:xfrm>
            <a:off x="3851275" y="5413375"/>
            <a:ext cx="1944688" cy="457200"/>
            <a:chOff x="2426" y="3067"/>
            <a:chExt cx="1225" cy="288"/>
          </a:xfrm>
        </p:grpSpPr>
        <p:sp>
          <p:nvSpPr>
            <p:cNvPr id="49185" name="Text Box 30"/>
            <p:cNvSpPr txBox="1">
              <a:spLocks noChangeArrowheads="1"/>
            </p:cNvSpPr>
            <p:nvPr/>
          </p:nvSpPr>
          <p:spPr bwMode="auto">
            <a:xfrm>
              <a:off x="2744" y="3067"/>
              <a:ext cx="6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其它</a:t>
              </a:r>
              <a:endParaRPr kumimoji="1" lang="zh-CN" altLang="en-US" sz="2400">
                <a:latin typeface="Times New Roman" pitchFamily="18" charset="0"/>
                <a:ea typeface="华文新魏" pitchFamily="2" charset="-122"/>
              </a:endParaRPr>
            </a:p>
          </p:txBody>
        </p:sp>
        <p:sp>
          <p:nvSpPr>
            <p:cNvPr id="49186" name="Line 40"/>
            <p:cNvSpPr>
              <a:spLocks noChangeShapeType="1"/>
            </p:cNvSpPr>
            <p:nvPr/>
          </p:nvSpPr>
          <p:spPr bwMode="auto">
            <a:xfrm>
              <a:off x="2426" y="3309"/>
              <a:ext cx="12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59"/>
          <p:cNvGrpSpPr>
            <a:grpSpLocks/>
          </p:cNvGrpSpPr>
          <p:nvPr/>
        </p:nvGrpSpPr>
        <p:grpSpPr bwMode="auto">
          <a:xfrm>
            <a:off x="3563938" y="2749550"/>
            <a:ext cx="1538287" cy="1295400"/>
            <a:chOff x="2245" y="1389"/>
            <a:chExt cx="969" cy="816"/>
          </a:xfrm>
        </p:grpSpPr>
        <p:sp>
          <p:nvSpPr>
            <p:cNvPr id="49182" name="Oval 8"/>
            <p:cNvSpPr>
              <a:spLocks noChangeArrowheads="1"/>
            </p:cNvSpPr>
            <p:nvPr/>
          </p:nvSpPr>
          <p:spPr bwMode="auto">
            <a:xfrm>
              <a:off x="2925" y="1389"/>
              <a:ext cx="289" cy="297"/>
            </a:xfrm>
            <a:prstGeom prst="ellipse">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kumimoji="1" lang="en-US" altLang="zh-CN" sz="2400">
                  <a:solidFill>
                    <a:srgbClr val="000066"/>
                  </a:solidFill>
                  <a:latin typeface="Times New Roman" pitchFamily="18" charset="0"/>
                  <a:ea typeface="华文新魏" pitchFamily="2" charset="-122"/>
                </a:rPr>
                <a:t>5</a:t>
              </a:r>
            </a:p>
          </p:txBody>
        </p:sp>
        <p:sp>
          <p:nvSpPr>
            <p:cNvPr id="49183" name="Line 42"/>
            <p:cNvSpPr>
              <a:spLocks noChangeShapeType="1"/>
            </p:cNvSpPr>
            <p:nvPr/>
          </p:nvSpPr>
          <p:spPr bwMode="auto">
            <a:xfrm flipV="1">
              <a:off x="2341" y="1661"/>
              <a:ext cx="680" cy="5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4" name="Text Box 43"/>
            <p:cNvSpPr txBox="1">
              <a:spLocks noChangeArrowheads="1"/>
            </p:cNvSpPr>
            <p:nvPr/>
          </p:nvSpPr>
          <p:spPr bwMode="auto">
            <a:xfrm>
              <a:off x="2245" y="1756"/>
              <a:ext cx="4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0-7</a:t>
              </a:r>
            </a:p>
          </p:txBody>
        </p:sp>
      </p:grpSp>
      <p:grpSp>
        <p:nvGrpSpPr>
          <p:cNvPr id="13" name="Group 48"/>
          <p:cNvGrpSpPr>
            <a:grpSpLocks/>
          </p:cNvGrpSpPr>
          <p:nvPr/>
        </p:nvGrpSpPr>
        <p:grpSpPr bwMode="auto">
          <a:xfrm>
            <a:off x="3635375" y="2317750"/>
            <a:ext cx="1801813" cy="525463"/>
            <a:chOff x="2290" y="1117"/>
            <a:chExt cx="1135" cy="331"/>
          </a:xfrm>
        </p:grpSpPr>
        <p:sp>
          <p:nvSpPr>
            <p:cNvPr id="49180" name="Text Box 46"/>
            <p:cNvSpPr txBox="1">
              <a:spLocks noChangeArrowheads="1"/>
            </p:cNvSpPr>
            <p:nvPr/>
          </p:nvSpPr>
          <p:spPr bwMode="auto">
            <a:xfrm>
              <a:off x="2290" y="1121"/>
              <a:ext cx="4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800" b="1">
                  <a:latin typeface="Times New Roman" pitchFamily="18" charset="0"/>
                  <a:ea typeface="华文新魏" pitchFamily="2" charset="-122"/>
                </a:rPr>
                <a:t>0-</a:t>
              </a:r>
              <a:r>
                <a:rPr kumimoji="1" lang="en-US" altLang="zh-CN" sz="2800" b="1">
                  <a:latin typeface="Times New Roman" pitchFamily="18" charset="0"/>
                  <a:ea typeface="华文新魏" pitchFamily="2" charset="-122"/>
                </a:rPr>
                <a:t>7 </a:t>
              </a:r>
            </a:p>
          </p:txBody>
        </p:sp>
        <p:sp>
          <p:nvSpPr>
            <p:cNvPr id="49181" name="Freeform 47"/>
            <p:cNvSpPr>
              <a:spLocks/>
            </p:cNvSpPr>
            <p:nvPr/>
          </p:nvSpPr>
          <p:spPr bwMode="auto">
            <a:xfrm flipV="1">
              <a:off x="2699" y="1117"/>
              <a:ext cx="726" cy="295"/>
            </a:xfrm>
            <a:custGeom>
              <a:avLst/>
              <a:gdLst>
                <a:gd name="T0" fmla="*/ 242 w 726"/>
                <a:gd name="T1" fmla="*/ 0 h 295"/>
                <a:gd name="T2" fmla="*/ 15 w 726"/>
                <a:gd name="T3" fmla="*/ 136 h 295"/>
                <a:gd name="T4" fmla="*/ 151 w 726"/>
                <a:gd name="T5" fmla="*/ 272 h 295"/>
                <a:gd name="T6" fmla="*/ 605 w 726"/>
                <a:gd name="T7" fmla="*/ 272 h 295"/>
                <a:gd name="T8" fmla="*/ 696 w 726"/>
                <a:gd name="T9" fmla="*/ 136 h 295"/>
                <a:gd name="T10" fmla="*/ 423 w 726"/>
                <a:gd name="T11" fmla="*/ 0 h 295"/>
                <a:gd name="T12" fmla="*/ 0 60000 65536"/>
                <a:gd name="T13" fmla="*/ 0 60000 65536"/>
                <a:gd name="T14" fmla="*/ 0 60000 65536"/>
                <a:gd name="T15" fmla="*/ 0 60000 65536"/>
                <a:gd name="T16" fmla="*/ 0 60000 65536"/>
                <a:gd name="T17" fmla="*/ 0 60000 65536"/>
                <a:gd name="T18" fmla="*/ 0 w 726"/>
                <a:gd name="T19" fmla="*/ 0 h 295"/>
                <a:gd name="T20" fmla="*/ 726 w 726"/>
                <a:gd name="T21" fmla="*/ 295 h 295"/>
              </a:gdLst>
              <a:ahLst/>
              <a:cxnLst>
                <a:cxn ang="T12">
                  <a:pos x="T0" y="T1"/>
                </a:cxn>
                <a:cxn ang="T13">
                  <a:pos x="T2" y="T3"/>
                </a:cxn>
                <a:cxn ang="T14">
                  <a:pos x="T4" y="T5"/>
                </a:cxn>
                <a:cxn ang="T15">
                  <a:pos x="T6" y="T7"/>
                </a:cxn>
                <a:cxn ang="T16">
                  <a:pos x="T8" y="T9"/>
                </a:cxn>
                <a:cxn ang="T17">
                  <a:pos x="T10" y="T11"/>
                </a:cxn>
              </a:cxnLst>
              <a:rect l="T18" t="T19" r="T20" b="T21"/>
              <a:pathLst>
                <a:path w="726" h="295">
                  <a:moveTo>
                    <a:pt x="242" y="0"/>
                  </a:moveTo>
                  <a:cubicBezTo>
                    <a:pt x="136" y="45"/>
                    <a:pt x="30" y="91"/>
                    <a:pt x="15" y="136"/>
                  </a:cubicBezTo>
                  <a:cubicBezTo>
                    <a:pt x="0" y="181"/>
                    <a:pt x="53" y="249"/>
                    <a:pt x="151" y="272"/>
                  </a:cubicBezTo>
                  <a:cubicBezTo>
                    <a:pt x="249" y="295"/>
                    <a:pt x="514" y="295"/>
                    <a:pt x="605" y="272"/>
                  </a:cubicBezTo>
                  <a:cubicBezTo>
                    <a:pt x="696" y="249"/>
                    <a:pt x="726" y="181"/>
                    <a:pt x="696" y="136"/>
                  </a:cubicBezTo>
                  <a:cubicBezTo>
                    <a:pt x="666" y="91"/>
                    <a:pt x="544" y="45"/>
                    <a:pt x="423" y="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 name="Group 50"/>
          <p:cNvGrpSpPr>
            <a:grpSpLocks/>
          </p:cNvGrpSpPr>
          <p:nvPr/>
        </p:nvGrpSpPr>
        <p:grpSpPr bwMode="auto">
          <a:xfrm>
            <a:off x="5148263" y="2636838"/>
            <a:ext cx="2252662" cy="525462"/>
            <a:chOff x="3198" y="1298"/>
            <a:chExt cx="1419" cy="331"/>
          </a:xfrm>
        </p:grpSpPr>
        <p:sp>
          <p:nvSpPr>
            <p:cNvPr id="49177" name="Oval 4"/>
            <p:cNvSpPr>
              <a:spLocks noChangeArrowheads="1"/>
            </p:cNvSpPr>
            <p:nvPr/>
          </p:nvSpPr>
          <p:spPr bwMode="auto">
            <a:xfrm>
              <a:off x="4377" y="1389"/>
              <a:ext cx="240" cy="24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78" name="Text Box 32"/>
            <p:cNvSpPr txBox="1">
              <a:spLocks noChangeArrowheads="1"/>
            </p:cNvSpPr>
            <p:nvPr/>
          </p:nvSpPr>
          <p:spPr bwMode="auto">
            <a:xfrm>
              <a:off x="3560" y="1298"/>
              <a:ext cx="6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其它</a:t>
              </a:r>
              <a:endParaRPr kumimoji="1" lang="zh-CN" altLang="en-US" sz="2400">
                <a:latin typeface="Times New Roman" pitchFamily="18" charset="0"/>
                <a:ea typeface="华文新魏" pitchFamily="2" charset="-122"/>
              </a:endParaRPr>
            </a:p>
          </p:txBody>
        </p:sp>
        <p:sp>
          <p:nvSpPr>
            <p:cNvPr id="49179" name="Line 49"/>
            <p:cNvSpPr>
              <a:spLocks noChangeShapeType="1"/>
            </p:cNvSpPr>
            <p:nvPr/>
          </p:nvSpPr>
          <p:spPr bwMode="auto">
            <a:xfrm>
              <a:off x="3198" y="1525"/>
              <a:ext cx="117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4899" name="Text Box 51"/>
          <p:cNvSpPr txBox="1">
            <a:spLocks noChangeArrowheads="1"/>
          </p:cNvSpPr>
          <p:nvPr/>
        </p:nvSpPr>
        <p:spPr bwMode="auto">
          <a:xfrm>
            <a:off x="5076825" y="5918200"/>
            <a:ext cx="2584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(DEC，</a:t>
            </a:r>
            <a:r>
              <a:rPr kumimoji="1" lang="zh-CN" altLang="en-US" sz="2800" b="1">
                <a:latin typeface="Times New Roman" pitchFamily="18" charset="0"/>
                <a:ea typeface="华文新魏" pitchFamily="2" charset="-122"/>
              </a:rPr>
              <a:t>值</a:t>
            </a:r>
            <a:r>
              <a:rPr kumimoji="1" lang="en-US" altLang="zh-CN" sz="2800" b="1">
                <a:latin typeface="Times New Roman" pitchFamily="18" charset="0"/>
                <a:ea typeface="华文新魏" pitchFamily="2" charset="-122"/>
              </a:rPr>
              <a:t>)</a:t>
            </a:r>
          </a:p>
        </p:txBody>
      </p:sp>
      <p:sp>
        <p:nvSpPr>
          <p:cNvPr id="334900" name="Text Box 52"/>
          <p:cNvSpPr txBox="1">
            <a:spLocks noChangeArrowheads="1"/>
          </p:cNvSpPr>
          <p:nvPr/>
        </p:nvSpPr>
        <p:spPr bwMode="auto">
          <a:xfrm>
            <a:off x="7099300" y="4508500"/>
            <a:ext cx="2009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(HEX，</a:t>
            </a:r>
            <a:r>
              <a:rPr kumimoji="1" lang="zh-CN" altLang="en-US" sz="2800" b="1">
                <a:latin typeface="Times New Roman" pitchFamily="18" charset="0"/>
                <a:ea typeface="华文新魏" pitchFamily="2" charset="-122"/>
              </a:rPr>
              <a:t>值</a:t>
            </a:r>
            <a:r>
              <a:rPr kumimoji="1" lang="en-US" altLang="zh-CN" sz="2800" b="1">
                <a:latin typeface="Times New Roman" pitchFamily="18" charset="0"/>
                <a:ea typeface="华文新魏" pitchFamily="2" charset="-122"/>
              </a:rPr>
              <a:t>)</a:t>
            </a:r>
          </a:p>
        </p:txBody>
      </p:sp>
      <p:sp>
        <p:nvSpPr>
          <p:cNvPr id="334901" name="Text Box 53"/>
          <p:cNvSpPr txBox="1">
            <a:spLocks noChangeArrowheads="1"/>
          </p:cNvSpPr>
          <p:nvPr/>
        </p:nvSpPr>
        <p:spPr bwMode="auto">
          <a:xfrm>
            <a:off x="6588125" y="3141663"/>
            <a:ext cx="19446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800" b="1">
                <a:latin typeface="Times New Roman" pitchFamily="18" charset="0"/>
                <a:ea typeface="华文新魏" pitchFamily="2" charset="-122"/>
              </a:rPr>
              <a:t>(OCT，</a:t>
            </a:r>
            <a:r>
              <a:rPr kumimoji="1" lang="zh-CN" altLang="en-US" sz="2800" b="1">
                <a:latin typeface="Times New Roman" pitchFamily="18" charset="0"/>
                <a:ea typeface="华文新魏" pitchFamily="2" charset="-122"/>
              </a:rPr>
              <a:t>值</a:t>
            </a:r>
            <a:r>
              <a:rPr kumimoji="1" lang="en-US" altLang="zh-CN" sz="2800" b="1">
                <a:latin typeface="Times New Roman" pitchFamily="18" charset="0"/>
                <a:ea typeface="华文新魏" pitchFamily="2" charset="-122"/>
              </a:rPr>
              <a:t>)</a:t>
            </a:r>
          </a:p>
        </p:txBody>
      </p:sp>
      <p:grpSp>
        <p:nvGrpSpPr>
          <p:cNvPr id="15" name="Group 60"/>
          <p:cNvGrpSpPr>
            <a:grpSpLocks/>
          </p:cNvGrpSpPr>
          <p:nvPr/>
        </p:nvGrpSpPr>
        <p:grpSpPr bwMode="auto">
          <a:xfrm>
            <a:off x="3635375" y="4478338"/>
            <a:ext cx="2541588" cy="1460500"/>
            <a:chOff x="2290" y="2478"/>
            <a:chExt cx="1601" cy="920"/>
          </a:xfrm>
        </p:grpSpPr>
        <p:sp>
          <p:nvSpPr>
            <p:cNvPr id="49173" name="Oval 5"/>
            <p:cNvSpPr>
              <a:spLocks noChangeArrowheads="1"/>
            </p:cNvSpPr>
            <p:nvPr/>
          </p:nvSpPr>
          <p:spPr bwMode="auto">
            <a:xfrm>
              <a:off x="3651" y="3158"/>
              <a:ext cx="240" cy="240"/>
            </a:xfrm>
            <a:prstGeom prst="ellipse">
              <a:avLst/>
            </a:prstGeom>
            <a:noFill/>
            <a:ln w="50800" cmpd="dbl">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9174" name="Group 57"/>
            <p:cNvGrpSpPr>
              <a:grpSpLocks/>
            </p:cNvGrpSpPr>
            <p:nvPr/>
          </p:nvGrpSpPr>
          <p:grpSpPr bwMode="auto">
            <a:xfrm>
              <a:off x="2290" y="2478"/>
              <a:ext cx="1406" cy="680"/>
              <a:chOff x="2290" y="2478"/>
              <a:chExt cx="1406" cy="680"/>
            </a:xfrm>
          </p:grpSpPr>
          <p:sp>
            <p:nvSpPr>
              <p:cNvPr id="49175" name="Text Box 31"/>
              <p:cNvSpPr txBox="1">
                <a:spLocks noChangeArrowheads="1"/>
              </p:cNvSpPr>
              <p:nvPr/>
            </p:nvSpPr>
            <p:spPr bwMode="auto">
              <a:xfrm>
                <a:off x="2789" y="2614"/>
                <a:ext cx="6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b="1">
                    <a:latin typeface="Times New Roman" pitchFamily="18" charset="0"/>
                    <a:ea typeface="华文新魏" pitchFamily="2" charset="-122"/>
                    <a:sym typeface="Symbol" pitchFamily="18" charset="2"/>
                  </a:rPr>
                  <a:t>其它</a:t>
                </a:r>
                <a:endParaRPr kumimoji="1" lang="zh-CN" altLang="en-US" sz="2400">
                  <a:latin typeface="Times New Roman" pitchFamily="18" charset="0"/>
                  <a:ea typeface="华文新魏" pitchFamily="2" charset="-122"/>
                </a:endParaRPr>
              </a:p>
            </p:txBody>
          </p:sp>
          <p:sp>
            <p:nvSpPr>
              <p:cNvPr id="49176" name="Line 56"/>
              <p:cNvSpPr>
                <a:spLocks noChangeShapeType="1"/>
              </p:cNvSpPr>
              <p:nvPr/>
            </p:nvSpPr>
            <p:spPr bwMode="auto">
              <a:xfrm>
                <a:off x="2290" y="2478"/>
                <a:ext cx="1406" cy="6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9172" name="Rectangle 61"/>
          <p:cNvSpPr>
            <a:spLocks noChangeArrowheads="1"/>
          </p:cNvSpPr>
          <p:nvPr/>
        </p:nvSpPr>
        <p:spPr bwMode="auto">
          <a:xfrm>
            <a:off x="1042988" y="460375"/>
            <a:ext cx="795655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lnSpc>
                <a:spcPct val="110000"/>
              </a:lnSpc>
              <a:spcBef>
                <a:spcPct val="20000"/>
              </a:spcBef>
              <a:buClr>
                <a:schemeClr val="folHlink"/>
              </a:buClr>
              <a:buSzPct val="75000"/>
              <a:buFont typeface="Monotype Sorts" pitchFamily="2" charset="2"/>
              <a:buNone/>
            </a:pPr>
            <a:r>
              <a:rPr kumimoji="1" lang="en-US" altLang="zh-CN" sz="2800" b="1">
                <a:solidFill>
                  <a:srgbClr val="000099"/>
                </a:solidFill>
                <a:latin typeface="Times New Roman" pitchFamily="18" charset="0"/>
              </a:rPr>
              <a:t>oct→0(0|1|2|3|4|5|6|7)(0|1|2|3|4|5|6|7)</a:t>
            </a:r>
            <a:r>
              <a:rPr kumimoji="1" lang="en-US" altLang="zh-CN" sz="2800" b="1" baseline="30000">
                <a:solidFill>
                  <a:srgbClr val="000099"/>
                </a:solidFill>
                <a:latin typeface="Times New Roman" pitchFamily="18" charset="0"/>
              </a:rPr>
              <a:t>+</a:t>
            </a:r>
          </a:p>
          <a:p>
            <a:pPr eaLnBrk="0" hangingPunct="0">
              <a:lnSpc>
                <a:spcPct val="110000"/>
              </a:lnSpc>
              <a:spcBef>
                <a:spcPct val="20000"/>
              </a:spcBef>
              <a:buClr>
                <a:schemeClr val="folHlink"/>
              </a:buClr>
              <a:buSzPct val="75000"/>
              <a:buFont typeface="Monotype Sorts" pitchFamily="2" charset="2"/>
              <a:buNone/>
            </a:pPr>
            <a:r>
              <a:rPr kumimoji="1" lang="en-US" altLang="zh-CN" sz="2800" b="1">
                <a:solidFill>
                  <a:srgbClr val="000099"/>
                </a:solidFill>
                <a:latin typeface="Times New Roman" pitchFamily="18" charset="0"/>
              </a:rPr>
              <a:t>dec→(1|...|9)(0|...|9)* |0</a:t>
            </a:r>
          </a:p>
          <a:p>
            <a:pPr eaLnBrk="0" hangingPunct="0">
              <a:lnSpc>
                <a:spcPct val="110000"/>
              </a:lnSpc>
              <a:spcBef>
                <a:spcPct val="20000"/>
              </a:spcBef>
              <a:buClr>
                <a:schemeClr val="folHlink"/>
              </a:buClr>
              <a:buSzPct val="75000"/>
              <a:buFont typeface="Monotype Sorts" pitchFamily="2" charset="2"/>
              <a:buNone/>
            </a:pPr>
            <a:r>
              <a:rPr kumimoji="1" lang="en-US" altLang="zh-CN" sz="2800" b="1">
                <a:solidFill>
                  <a:srgbClr val="000099"/>
                </a:solidFill>
                <a:latin typeface="Times New Roman" pitchFamily="18" charset="0"/>
              </a:rPr>
              <a:t>hex→0x(0|…|9|a|…|f |A|…|F)(0|…|9|a|…|f |A|…|F)*</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67501DE-DE91-4055-8838-D84FDDFBB565}" type="slidenum">
              <a:rPr lang="zh-CN" altLang="en-US"/>
              <a:pPr eaLnBrk="1" hangingPunct="1"/>
              <a:t>39</a:t>
            </a:fld>
            <a:endParaRPr lang="en-US" altLang="zh-CN"/>
          </a:p>
        </p:txBody>
      </p:sp>
      <p:sp>
        <p:nvSpPr>
          <p:cNvPr id="50179" name="Rectangle 2"/>
          <p:cNvSpPr>
            <a:spLocks noGrp="1" noRot="1" noChangeArrowheads="1"/>
          </p:cNvSpPr>
          <p:nvPr>
            <p:ph type="title"/>
          </p:nvPr>
        </p:nvSpPr>
        <p:spPr/>
        <p:txBody>
          <a:bodyPr/>
          <a:lstStyle/>
          <a:p>
            <a:pPr eaLnBrk="1" hangingPunct="1"/>
            <a:r>
              <a:rPr lang="en-US" altLang="zh-CN" b="1" smtClean="0">
                <a:solidFill>
                  <a:srgbClr val="000099"/>
                </a:solidFill>
                <a:latin typeface="Times New Roman" pitchFamily="18" charset="0"/>
                <a:ea typeface="华文新魏" pitchFamily="2" charset="-122"/>
              </a:rPr>
              <a:t>4.  </a:t>
            </a:r>
            <a:r>
              <a:rPr lang="zh-CN" altLang="en-US" b="1" smtClean="0">
                <a:solidFill>
                  <a:srgbClr val="000099"/>
                </a:solidFill>
                <a:latin typeface="Times New Roman" pitchFamily="18" charset="0"/>
                <a:ea typeface="华文新魏" pitchFamily="2" charset="-122"/>
              </a:rPr>
              <a:t>从正则文法出发，构造状态图</a:t>
            </a:r>
          </a:p>
        </p:txBody>
      </p:sp>
      <p:sp>
        <p:nvSpPr>
          <p:cNvPr id="363523" name="Rectangle 3"/>
          <p:cNvSpPr>
            <a:spLocks noGrp="1" noRot="1" noChangeArrowheads="1"/>
          </p:cNvSpPr>
          <p:nvPr>
            <p:ph type="body" idx="1"/>
          </p:nvPr>
        </p:nvSpPr>
        <p:spPr/>
        <p:txBody>
          <a:bodyPr/>
          <a:lstStyle/>
          <a:p>
            <a:pPr eaLnBrk="1" hangingPunct="1"/>
            <a:r>
              <a:rPr lang="en-US" altLang="zh-CN" b="1" smtClean="0">
                <a:latin typeface="Times New Roman" pitchFamily="18" charset="0"/>
                <a:ea typeface="华文新魏" pitchFamily="2" charset="-122"/>
              </a:rPr>
              <a:t>S→0A  A→1B  B→2B|2C	  C→3C|3</a:t>
            </a:r>
          </a:p>
          <a:p>
            <a:pPr eaLnBrk="1" hangingPunct="1">
              <a:spcBef>
                <a:spcPct val="160000"/>
              </a:spcBef>
            </a:pPr>
            <a:r>
              <a:rPr lang="en-US" altLang="zh-CN" b="1" smtClean="0">
                <a:latin typeface="Times New Roman" pitchFamily="18" charset="0"/>
                <a:ea typeface="华文新魏" pitchFamily="2" charset="-122"/>
              </a:rPr>
              <a:t>oct→0A</a:t>
            </a:r>
          </a:p>
          <a:p>
            <a:pPr eaLnBrk="1" hangingPunct="1"/>
            <a:r>
              <a:rPr lang="en-US" altLang="zh-CN" b="1" smtClean="0">
                <a:latin typeface="Times New Roman" pitchFamily="18" charset="0"/>
                <a:ea typeface="华文新魏" pitchFamily="2" charset="-122"/>
              </a:rPr>
              <a:t>A →0B|1B|2B|3B|4B|5B|6B|7B</a:t>
            </a:r>
          </a:p>
          <a:p>
            <a:pPr eaLnBrk="1" hangingPunct="1"/>
            <a:r>
              <a:rPr lang="en-US" altLang="zh-CN" b="1" smtClean="0">
                <a:latin typeface="Times New Roman" pitchFamily="18" charset="0"/>
                <a:ea typeface="华文新魏" pitchFamily="2" charset="-122"/>
              </a:rPr>
              <a:t>B →0B|1B|2B|3B|4B|5B|6B|7B |</a:t>
            </a:r>
            <a:r>
              <a:rPr lang="en-US" altLang="zh-CN" b="1" smtClean="0">
                <a:solidFill>
                  <a:schemeClr val="hlink"/>
                </a:solidFill>
                <a:latin typeface="Times New Roman" pitchFamily="18" charset="0"/>
                <a:ea typeface="华文新魏" pitchFamily="2" charset="-122"/>
              </a:rPr>
              <a:t>ε</a:t>
            </a:r>
          </a:p>
          <a:p>
            <a:pPr eaLnBrk="1" hangingPunct="1"/>
            <a:r>
              <a:rPr lang="en-US" altLang="zh-CN" b="1" smtClean="0">
                <a:latin typeface="Times New Roman" pitchFamily="18" charset="0"/>
                <a:ea typeface="华文新魏" pitchFamily="2" charset="-122"/>
              </a:rPr>
              <a:t>B →.C</a:t>
            </a:r>
          </a:p>
          <a:p>
            <a:pPr eaLnBrk="1" hangingPunct="1"/>
            <a:r>
              <a:rPr lang="en-US" altLang="zh-CN" b="1" smtClean="0">
                <a:latin typeface="Times New Roman" pitchFamily="18" charset="0"/>
                <a:ea typeface="华文新魏" pitchFamily="2" charset="-122"/>
              </a:rPr>
              <a:t>C → 0C|1C|2C|3C|4C|5C|6C|7C |0|1|2|3|4|5|6|7</a:t>
            </a:r>
            <a:endParaRPr lang="zh-CN" altLang="en-US"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C0866FD-CA61-4ADF-8035-B2379A0F3BF0}" type="slidenum">
              <a:rPr lang="zh-CN" altLang="en-US"/>
              <a:pPr eaLnBrk="1" hangingPunct="1"/>
              <a:t>40</a:t>
            </a:fld>
            <a:endParaRPr lang="en-US" altLang="zh-CN"/>
          </a:p>
        </p:txBody>
      </p:sp>
      <p:sp>
        <p:nvSpPr>
          <p:cNvPr id="51203" name="Rectangle 2"/>
          <p:cNvSpPr>
            <a:spLocks noGrp="1" noRot="1" noChangeArrowheads="1"/>
          </p:cNvSpPr>
          <p:nvPr>
            <p:ph type="title"/>
          </p:nvPr>
        </p:nvSpPr>
        <p:spPr>
          <a:xfrm>
            <a:off x="1066800" y="609600"/>
            <a:ext cx="7543800" cy="838200"/>
          </a:xfrm>
          <a:noFill/>
        </p:spPr>
        <p:txBody>
          <a:bodyPr lIns="92075" tIns="46038" rIns="92075" bIns="46038"/>
          <a:lstStyle/>
          <a:p>
            <a:pPr eaLnBrk="1" hangingPunct="1"/>
            <a:r>
              <a:rPr lang="en-US" altLang="zh-CN" sz="4000" b="1" smtClean="0">
                <a:solidFill>
                  <a:srgbClr val="000099"/>
                </a:solidFill>
                <a:latin typeface="Times New Roman" pitchFamily="18" charset="0"/>
                <a:ea typeface="华文新魏" pitchFamily="2" charset="-122"/>
              </a:rPr>
              <a:t>4.  </a:t>
            </a:r>
            <a:r>
              <a:rPr lang="zh-CN" altLang="en-US" sz="4000" b="1" smtClean="0">
                <a:solidFill>
                  <a:srgbClr val="000099"/>
                </a:solidFill>
                <a:latin typeface="Times New Roman" pitchFamily="18" charset="0"/>
                <a:ea typeface="华文新魏" pitchFamily="2" charset="-122"/>
              </a:rPr>
              <a:t>从正则文法出发，构造状态图</a:t>
            </a:r>
          </a:p>
        </p:txBody>
      </p:sp>
      <p:sp>
        <p:nvSpPr>
          <p:cNvPr id="302083" name="Rectangle 3"/>
          <p:cNvSpPr>
            <a:spLocks noGrp="1" noRot="1" noChangeArrowheads="1"/>
          </p:cNvSpPr>
          <p:nvPr>
            <p:ph type="body" idx="1"/>
          </p:nvPr>
        </p:nvSpPr>
        <p:spPr>
          <a:xfrm>
            <a:off x="179388" y="1557338"/>
            <a:ext cx="8964612" cy="1150937"/>
          </a:xfrm>
          <a:noFill/>
        </p:spPr>
        <p:txBody>
          <a:bodyPr lIns="92075" tIns="46038" rIns="92075" bIns="46038"/>
          <a:lstStyle/>
          <a:p>
            <a:pPr algn="just" eaLnBrk="1" hangingPunct="1">
              <a:lnSpc>
                <a:spcPct val="110000"/>
              </a:lnSpc>
              <a:buFont typeface="Wingdings" pitchFamily="2" charset="2"/>
              <a:buNone/>
            </a:pPr>
            <a:r>
              <a:rPr lang="en-US" altLang="zh-CN" sz="2800" b="1" smtClean="0">
                <a:latin typeface="Times New Roman" pitchFamily="18" charset="0"/>
                <a:ea typeface="华文新魏" pitchFamily="2" charset="-122"/>
              </a:rPr>
              <a:t>(1)</a:t>
            </a:r>
            <a:r>
              <a:rPr lang="zh-CN" altLang="en-US" sz="2800" b="1" smtClean="0">
                <a:latin typeface="Times New Roman" pitchFamily="18" charset="0"/>
                <a:ea typeface="华文新魏" pitchFamily="2" charset="-122"/>
              </a:rPr>
              <a:t>以每个非终结符为状态，开始符号对应初态 </a:t>
            </a:r>
            <a:r>
              <a:rPr lang="en-US" altLang="zh-CN" sz="2800" b="1" smtClean="0">
                <a:latin typeface="Times New Roman" pitchFamily="18" charset="0"/>
                <a:ea typeface="华文新魏" pitchFamily="2" charset="-122"/>
              </a:rPr>
              <a:t>S</a:t>
            </a:r>
          </a:p>
          <a:p>
            <a:pPr algn="just" eaLnBrk="1" hangingPunct="1">
              <a:lnSpc>
                <a:spcPct val="110000"/>
              </a:lnSpc>
              <a:buFont typeface="Wingdings" pitchFamily="2" charset="2"/>
              <a:buNone/>
            </a:pPr>
            <a:r>
              <a:rPr lang="en-US" altLang="zh-CN" sz="2800" b="1" smtClean="0">
                <a:latin typeface="Times New Roman" pitchFamily="18" charset="0"/>
                <a:ea typeface="华文新魏" pitchFamily="2" charset="-122"/>
              </a:rPr>
              <a:t>(2)</a:t>
            </a:r>
            <a:r>
              <a:rPr lang="zh-CN" altLang="en-US" sz="2800" b="1" smtClean="0">
                <a:latin typeface="Times New Roman" pitchFamily="18" charset="0"/>
                <a:ea typeface="华文新魏" pitchFamily="2" charset="-122"/>
              </a:rPr>
              <a:t>增设一个终态 </a:t>
            </a:r>
            <a:r>
              <a:rPr lang="en-US" altLang="zh-CN" sz="2800" b="1" smtClean="0">
                <a:latin typeface="Times New Roman" pitchFamily="18" charset="0"/>
                <a:ea typeface="华文新魏" pitchFamily="2" charset="-122"/>
              </a:rPr>
              <a:t>T</a:t>
            </a:r>
            <a:endParaRPr lang="zh-CN" altLang="en-US" sz="2800" b="1" smtClean="0">
              <a:latin typeface="Times New Roman" pitchFamily="18" charset="0"/>
              <a:ea typeface="华文新魏" pitchFamily="2" charset="-122"/>
            </a:endParaRPr>
          </a:p>
        </p:txBody>
      </p:sp>
      <p:grpSp>
        <p:nvGrpSpPr>
          <p:cNvPr id="2" name="Group 13"/>
          <p:cNvGrpSpPr>
            <a:grpSpLocks/>
          </p:cNvGrpSpPr>
          <p:nvPr/>
        </p:nvGrpSpPr>
        <p:grpSpPr bwMode="auto">
          <a:xfrm>
            <a:off x="5715000" y="2819400"/>
            <a:ext cx="3048000" cy="762000"/>
            <a:chOff x="3456" y="624"/>
            <a:chExt cx="1920" cy="480"/>
          </a:xfrm>
        </p:grpSpPr>
        <p:grpSp>
          <p:nvGrpSpPr>
            <p:cNvPr id="51231" name="Group 14"/>
            <p:cNvGrpSpPr>
              <a:grpSpLocks/>
            </p:cNvGrpSpPr>
            <p:nvPr/>
          </p:nvGrpSpPr>
          <p:grpSpPr bwMode="auto">
            <a:xfrm>
              <a:off x="3600" y="960"/>
              <a:ext cx="1536" cy="144"/>
              <a:chOff x="3600" y="960"/>
              <a:chExt cx="1536" cy="144"/>
            </a:xfrm>
          </p:grpSpPr>
          <p:sp>
            <p:nvSpPr>
              <p:cNvPr id="51235" name="Oval 15"/>
              <p:cNvSpPr>
                <a:spLocks noChangeArrowheads="1"/>
              </p:cNvSpPr>
              <p:nvPr/>
            </p:nvSpPr>
            <p:spPr bwMode="auto">
              <a:xfrm>
                <a:off x="3600" y="960"/>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51236" name="Oval 16"/>
              <p:cNvSpPr>
                <a:spLocks noChangeArrowheads="1"/>
              </p:cNvSpPr>
              <p:nvPr/>
            </p:nvSpPr>
            <p:spPr bwMode="auto">
              <a:xfrm>
                <a:off x="4992" y="960"/>
                <a:ext cx="144" cy="14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51237" name="Line 17"/>
              <p:cNvSpPr>
                <a:spLocks noChangeShapeType="1"/>
              </p:cNvSpPr>
              <p:nvPr/>
            </p:nvSpPr>
            <p:spPr bwMode="auto">
              <a:xfrm>
                <a:off x="3744" y="1035"/>
                <a:ext cx="12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sp>
          <p:nvSpPr>
            <p:cNvPr id="302098" name="Text Box 18"/>
            <p:cNvSpPr txBox="1">
              <a:spLocks noChangeArrowheads="1"/>
            </p:cNvSpPr>
            <p:nvPr/>
          </p:nvSpPr>
          <p:spPr bwMode="auto">
            <a:xfrm>
              <a:off x="3456" y="672"/>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A</a:t>
              </a:r>
            </a:p>
          </p:txBody>
        </p:sp>
        <p:sp>
          <p:nvSpPr>
            <p:cNvPr id="302099" name="Text Box 19"/>
            <p:cNvSpPr txBox="1">
              <a:spLocks noChangeArrowheads="1"/>
            </p:cNvSpPr>
            <p:nvPr/>
          </p:nvSpPr>
          <p:spPr bwMode="auto">
            <a:xfrm>
              <a:off x="4992" y="624"/>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B</a:t>
              </a:r>
            </a:p>
          </p:txBody>
        </p:sp>
        <p:sp>
          <p:nvSpPr>
            <p:cNvPr id="302100" name="Text Box 20"/>
            <p:cNvSpPr txBox="1">
              <a:spLocks noChangeArrowheads="1"/>
            </p:cNvSpPr>
            <p:nvPr/>
          </p:nvSpPr>
          <p:spPr bwMode="auto">
            <a:xfrm>
              <a:off x="4272" y="720"/>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a</a:t>
              </a:r>
            </a:p>
          </p:txBody>
        </p:sp>
      </p:grpSp>
      <p:sp>
        <p:nvSpPr>
          <p:cNvPr id="302110" name="Rectangle 30"/>
          <p:cNvSpPr>
            <a:spLocks noChangeArrowheads="1"/>
          </p:cNvSpPr>
          <p:nvPr/>
        </p:nvSpPr>
        <p:spPr bwMode="auto">
          <a:xfrm>
            <a:off x="149225" y="2781300"/>
            <a:ext cx="48545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8925" indent="-288925"/>
            <a:r>
              <a:rPr lang="en-US" altLang="zh-CN" sz="2800" b="1">
                <a:solidFill>
                  <a:schemeClr val="hlink"/>
                </a:solidFill>
                <a:latin typeface="Times New Roman" pitchFamily="18" charset="0"/>
                <a:ea typeface="华文新魏" pitchFamily="2" charset="-122"/>
              </a:rPr>
              <a:t>(3)</a:t>
            </a:r>
            <a:r>
              <a:rPr lang="zh-CN" altLang="en-US" sz="2800" b="1">
                <a:solidFill>
                  <a:schemeClr val="hlink"/>
                </a:solidFill>
                <a:latin typeface="Times New Roman" pitchFamily="18" charset="0"/>
                <a:ea typeface="华文新魏" pitchFamily="2" charset="-122"/>
              </a:rPr>
              <a:t>对于规则 </a:t>
            </a:r>
            <a:r>
              <a:rPr lang="en-US" altLang="zh-CN" sz="2800" b="1">
                <a:solidFill>
                  <a:schemeClr val="hlink"/>
                </a:solidFill>
                <a:latin typeface="Times New Roman" pitchFamily="18" charset="0"/>
                <a:ea typeface="华文新魏" pitchFamily="2" charset="-122"/>
              </a:rPr>
              <a:t>A→aB，</a:t>
            </a:r>
            <a:r>
              <a:rPr lang="zh-CN" altLang="en-US" sz="2800" b="1">
                <a:solidFill>
                  <a:schemeClr val="hlink"/>
                </a:solidFill>
                <a:latin typeface="Times New Roman" pitchFamily="18" charset="0"/>
                <a:ea typeface="华文新魏" pitchFamily="2" charset="-122"/>
              </a:rPr>
              <a:t>画从状态 </a:t>
            </a:r>
            <a:r>
              <a:rPr lang="en-US" altLang="zh-CN" sz="2800" b="1">
                <a:solidFill>
                  <a:schemeClr val="hlink"/>
                </a:solidFill>
                <a:latin typeface="Times New Roman" pitchFamily="18" charset="0"/>
                <a:ea typeface="华文新魏" pitchFamily="2" charset="-122"/>
              </a:rPr>
              <a:t>A </a:t>
            </a:r>
            <a:r>
              <a:rPr lang="zh-CN" altLang="en-US" sz="2800" b="1">
                <a:solidFill>
                  <a:schemeClr val="hlink"/>
                </a:solidFill>
                <a:latin typeface="Times New Roman" pitchFamily="18" charset="0"/>
                <a:ea typeface="华文新魏" pitchFamily="2" charset="-122"/>
              </a:rPr>
              <a:t>到 </a:t>
            </a:r>
            <a:r>
              <a:rPr lang="en-US" altLang="zh-CN" sz="2800" b="1">
                <a:solidFill>
                  <a:schemeClr val="hlink"/>
                </a:solidFill>
                <a:latin typeface="Times New Roman" pitchFamily="18" charset="0"/>
                <a:ea typeface="华文新魏" pitchFamily="2" charset="-122"/>
              </a:rPr>
              <a:t>B </a:t>
            </a:r>
            <a:r>
              <a:rPr lang="zh-CN" altLang="en-US" sz="2800" b="1">
                <a:solidFill>
                  <a:schemeClr val="hlink"/>
                </a:solidFill>
                <a:latin typeface="Times New Roman" pitchFamily="18" charset="0"/>
                <a:ea typeface="华文新魏" pitchFamily="2" charset="-122"/>
              </a:rPr>
              <a:t>的弧，标为 </a:t>
            </a:r>
            <a:r>
              <a:rPr lang="en-US" altLang="zh-CN" sz="2800" b="1">
                <a:solidFill>
                  <a:schemeClr val="hlink"/>
                </a:solidFill>
                <a:latin typeface="Times New Roman" pitchFamily="18" charset="0"/>
                <a:ea typeface="华文新魏" pitchFamily="2" charset="-122"/>
              </a:rPr>
              <a:t>a</a:t>
            </a:r>
            <a:endParaRPr lang="zh-CN" altLang="en-US" sz="2800" b="1">
              <a:solidFill>
                <a:schemeClr val="hlink"/>
              </a:solidFill>
              <a:latin typeface="Times New Roman" pitchFamily="18" charset="0"/>
              <a:ea typeface="华文新魏" pitchFamily="2" charset="-122"/>
            </a:endParaRPr>
          </a:p>
        </p:txBody>
      </p:sp>
      <p:sp>
        <p:nvSpPr>
          <p:cNvPr id="302111" name="Rectangle 31"/>
          <p:cNvSpPr>
            <a:spLocks noChangeArrowheads="1"/>
          </p:cNvSpPr>
          <p:nvPr/>
        </p:nvSpPr>
        <p:spPr bwMode="auto">
          <a:xfrm>
            <a:off x="107950" y="3902075"/>
            <a:ext cx="48498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74650" indent="-374650"/>
            <a:r>
              <a:rPr lang="en-US" altLang="zh-CN" sz="2800" b="1">
                <a:solidFill>
                  <a:schemeClr val="hlink"/>
                </a:solidFill>
                <a:latin typeface="Times New Roman" pitchFamily="18" charset="0"/>
                <a:ea typeface="华文新魏" pitchFamily="2" charset="-122"/>
              </a:rPr>
              <a:t>(4) </a:t>
            </a:r>
            <a:r>
              <a:rPr lang="zh-CN" altLang="en-US" sz="2800" b="1">
                <a:solidFill>
                  <a:schemeClr val="hlink"/>
                </a:solidFill>
                <a:latin typeface="Times New Roman" pitchFamily="18" charset="0"/>
                <a:ea typeface="华文新魏" pitchFamily="2" charset="-122"/>
              </a:rPr>
              <a:t>对于规则 </a:t>
            </a:r>
            <a:r>
              <a:rPr lang="en-US" altLang="zh-CN" sz="2800" b="1">
                <a:solidFill>
                  <a:schemeClr val="hlink"/>
                </a:solidFill>
                <a:latin typeface="Times New Roman" pitchFamily="18" charset="0"/>
                <a:ea typeface="华文新魏" pitchFamily="2" charset="-122"/>
              </a:rPr>
              <a:t>A→a，</a:t>
            </a:r>
            <a:r>
              <a:rPr lang="zh-CN" altLang="en-US" sz="2800" b="1">
                <a:solidFill>
                  <a:schemeClr val="hlink"/>
                </a:solidFill>
                <a:latin typeface="Times New Roman" pitchFamily="18" charset="0"/>
                <a:ea typeface="华文新魏" pitchFamily="2" charset="-122"/>
              </a:rPr>
              <a:t>画从状态 </a:t>
            </a:r>
            <a:r>
              <a:rPr lang="en-US" altLang="zh-CN" sz="2800" b="1">
                <a:solidFill>
                  <a:schemeClr val="hlink"/>
                </a:solidFill>
                <a:latin typeface="Times New Roman" pitchFamily="18" charset="0"/>
                <a:ea typeface="华文新魏" pitchFamily="2" charset="-122"/>
              </a:rPr>
              <a:t>A </a:t>
            </a:r>
            <a:r>
              <a:rPr lang="zh-CN" altLang="en-US" sz="2800" b="1">
                <a:solidFill>
                  <a:schemeClr val="hlink"/>
                </a:solidFill>
                <a:latin typeface="Times New Roman" pitchFamily="18" charset="0"/>
                <a:ea typeface="华文新魏" pitchFamily="2" charset="-122"/>
              </a:rPr>
              <a:t>到终态 </a:t>
            </a:r>
            <a:r>
              <a:rPr lang="en-US" altLang="zh-CN" sz="2800" b="1">
                <a:solidFill>
                  <a:schemeClr val="hlink"/>
                </a:solidFill>
                <a:latin typeface="Times New Roman" pitchFamily="18" charset="0"/>
                <a:ea typeface="华文新魏" pitchFamily="2" charset="-122"/>
              </a:rPr>
              <a:t>T </a:t>
            </a:r>
            <a:r>
              <a:rPr lang="zh-CN" altLang="en-US" sz="2800" b="1">
                <a:solidFill>
                  <a:schemeClr val="hlink"/>
                </a:solidFill>
                <a:latin typeface="Times New Roman" pitchFamily="18" charset="0"/>
                <a:ea typeface="华文新魏" pitchFamily="2" charset="-122"/>
              </a:rPr>
              <a:t>的弧，标为 </a:t>
            </a:r>
            <a:r>
              <a:rPr lang="en-US" altLang="zh-CN" sz="2800" b="1">
                <a:solidFill>
                  <a:schemeClr val="hlink"/>
                </a:solidFill>
                <a:latin typeface="Times New Roman" pitchFamily="18" charset="0"/>
                <a:ea typeface="华文新魏" pitchFamily="2" charset="-122"/>
              </a:rPr>
              <a:t>a</a:t>
            </a:r>
            <a:endParaRPr lang="zh-CN" altLang="en-US" sz="2800" b="1">
              <a:solidFill>
                <a:schemeClr val="hlink"/>
              </a:solidFill>
              <a:latin typeface="Times New Roman" pitchFamily="18" charset="0"/>
              <a:ea typeface="华文新魏" pitchFamily="2" charset="-122"/>
            </a:endParaRPr>
          </a:p>
        </p:txBody>
      </p:sp>
      <p:sp>
        <p:nvSpPr>
          <p:cNvPr id="302112" name="Rectangle 32"/>
          <p:cNvSpPr>
            <a:spLocks noChangeArrowheads="1"/>
          </p:cNvSpPr>
          <p:nvPr/>
        </p:nvSpPr>
        <p:spPr bwMode="auto">
          <a:xfrm>
            <a:off x="0" y="4953000"/>
            <a:ext cx="5257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74650" indent="-374650"/>
            <a:r>
              <a:rPr lang="en-US" altLang="zh-CN" sz="2800" b="1">
                <a:latin typeface="Times New Roman" pitchFamily="18" charset="0"/>
                <a:ea typeface="华文新魏" pitchFamily="2" charset="-122"/>
              </a:rPr>
              <a:t>* </a:t>
            </a:r>
            <a:r>
              <a:rPr lang="zh-CN" altLang="en-US" sz="2800" b="1">
                <a:latin typeface="Times New Roman" pitchFamily="18" charset="0"/>
                <a:ea typeface="华文新魏" pitchFamily="2" charset="-122"/>
              </a:rPr>
              <a:t>对于规则 </a:t>
            </a:r>
            <a:r>
              <a:rPr lang="en-US" altLang="zh-CN" sz="2800" b="1">
                <a:latin typeface="Times New Roman" pitchFamily="18" charset="0"/>
                <a:ea typeface="华文新魏" pitchFamily="2" charset="-122"/>
              </a:rPr>
              <a:t>A→rB, B</a:t>
            </a:r>
            <a:r>
              <a:rPr lang="en-US" altLang="zh-CN" sz="2800" b="1">
                <a:latin typeface="Tahoma" pitchFamily="34" charset="0"/>
              </a:rPr>
              <a:t>→</a:t>
            </a:r>
            <a:r>
              <a:rPr lang="en-US" altLang="zh-CN" sz="2800" b="1">
                <a:latin typeface="Times New Roman" pitchFamily="18" charset="0"/>
                <a:ea typeface="华文新魏" pitchFamily="2" charset="-122"/>
              </a:rPr>
              <a:t>sB，</a:t>
            </a:r>
            <a:r>
              <a:rPr lang="zh-CN" altLang="en-US" sz="2800" b="1">
                <a:latin typeface="Times New Roman" pitchFamily="18" charset="0"/>
                <a:ea typeface="华文新魏" pitchFamily="2" charset="-122"/>
              </a:rPr>
              <a:t>画从状态 </a:t>
            </a:r>
            <a:r>
              <a:rPr lang="en-US" altLang="zh-CN" sz="2800" b="1">
                <a:latin typeface="Times New Roman" pitchFamily="18" charset="0"/>
                <a:ea typeface="华文新魏" pitchFamily="2" charset="-122"/>
              </a:rPr>
              <a:t>A </a:t>
            </a:r>
            <a:r>
              <a:rPr lang="zh-CN" altLang="en-US" sz="2800" b="1">
                <a:latin typeface="Times New Roman" pitchFamily="18" charset="0"/>
                <a:ea typeface="华文新魏" pitchFamily="2" charset="-122"/>
              </a:rPr>
              <a:t>到状态 </a:t>
            </a:r>
            <a:r>
              <a:rPr lang="en-US" altLang="zh-CN" sz="2800" b="1">
                <a:latin typeface="Times New Roman" pitchFamily="18" charset="0"/>
                <a:ea typeface="华文新魏" pitchFamily="2" charset="-122"/>
              </a:rPr>
              <a:t>B</a:t>
            </a:r>
            <a:r>
              <a:rPr lang="zh-CN" altLang="en-US" sz="2800" b="1">
                <a:latin typeface="Times New Roman" pitchFamily="18" charset="0"/>
                <a:ea typeface="华文新魏" pitchFamily="2" charset="-122"/>
              </a:rPr>
              <a:t>标为 </a:t>
            </a:r>
            <a:r>
              <a:rPr lang="en-US" altLang="zh-CN" sz="2800" b="1">
                <a:latin typeface="Times New Roman" pitchFamily="18" charset="0"/>
                <a:ea typeface="华文新魏" pitchFamily="2" charset="-122"/>
              </a:rPr>
              <a:t>r</a:t>
            </a:r>
            <a:r>
              <a:rPr lang="zh-CN" altLang="en-US" sz="2800" b="1">
                <a:latin typeface="Times New Roman" pitchFamily="18" charset="0"/>
                <a:ea typeface="华文新魏" pitchFamily="2" charset="-122"/>
              </a:rPr>
              <a:t>的弧，从状态</a:t>
            </a:r>
            <a:r>
              <a:rPr lang="en-US" altLang="zh-CN" sz="2800" b="1">
                <a:latin typeface="Times New Roman" pitchFamily="18" charset="0"/>
                <a:ea typeface="华文新魏" pitchFamily="2" charset="-122"/>
              </a:rPr>
              <a:t>B</a:t>
            </a:r>
            <a:r>
              <a:rPr lang="zh-CN" altLang="en-US" sz="2800" b="1">
                <a:latin typeface="Times New Roman" pitchFamily="18" charset="0"/>
                <a:ea typeface="华文新魏" pitchFamily="2" charset="-122"/>
              </a:rPr>
              <a:t>到</a:t>
            </a:r>
            <a:r>
              <a:rPr lang="en-US" altLang="zh-CN" sz="2800" b="1">
                <a:latin typeface="Times New Roman" pitchFamily="18" charset="0"/>
                <a:ea typeface="华文新魏" pitchFamily="2" charset="-122"/>
              </a:rPr>
              <a:t>B</a:t>
            </a:r>
            <a:r>
              <a:rPr lang="zh-CN" altLang="en-US" sz="2800" b="1">
                <a:latin typeface="Times New Roman" pitchFamily="18" charset="0"/>
                <a:ea typeface="华文新魏" pitchFamily="2" charset="-122"/>
              </a:rPr>
              <a:t>的标记为</a:t>
            </a:r>
            <a:r>
              <a:rPr lang="en-US" altLang="zh-CN" sz="2800" b="1">
                <a:latin typeface="Times New Roman" pitchFamily="18" charset="0"/>
                <a:ea typeface="华文新魏" pitchFamily="2" charset="-122"/>
              </a:rPr>
              <a:t>s</a:t>
            </a:r>
            <a:r>
              <a:rPr lang="zh-CN" altLang="en-US" sz="2800" b="1">
                <a:latin typeface="Times New Roman" pitchFamily="18" charset="0"/>
                <a:ea typeface="华文新魏" pitchFamily="2" charset="-122"/>
              </a:rPr>
              <a:t>的弧</a:t>
            </a:r>
          </a:p>
        </p:txBody>
      </p:sp>
      <p:grpSp>
        <p:nvGrpSpPr>
          <p:cNvPr id="4" name="Group 42"/>
          <p:cNvGrpSpPr>
            <a:grpSpLocks/>
          </p:cNvGrpSpPr>
          <p:nvPr/>
        </p:nvGrpSpPr>
        <p:grpSpPr bwMode="auto">
          <a:xfrm>
            <a:off x="5715000" y="4648200"/>
            <a:ext cx="2971800" cy="1676400"/>
            <a:chOff x="3600" y="2928"/>
            <a:chExt cx="1872" cy="1056"/>
          </a:xfrm>
        </p:grpSpPr>
        <p:grpSp>
          <p:nvGrpSpPr>
            <p:cNvPr id="51221" name="Group 4"/>
            <p:cNvGrpSpPr>
              <a:grpSpLocks/>
            </p:cNvGrpSpPr>
            <p:nvPr/>
          </p:nvGrpSpPr>
          <p:grpSpPr bwMode="auto">
            <a:xfrm>
              <a:off x="3600" y="2928"/>
              <a:ext cx="1872" cy="786"/>
              <a:chOff x="3600" y="2430"/>
              <a:chExt cx="1872" cy="786"/>
            </a:xfrm>
          </p:grpSpPr>
          <p:grpSp>
            <p:nvGrpSpPr>
              <p:cNvPr id="51223" name="Group 5"/>
              <p:cNvGrpSpPr>
                <a:grpSpLocks/>
              </p:cNvGrpSpPr>
              <p:nvPr/>
            </p:nvGrpSpPr>
            <p:grpSpPr bwMode="auto">
              <a:xfrm>
                <a:off x="3744" y="3072"/>
                <a:ext cx="1536" cy="144"/>
                <a:chOff x="3600" y="960"/>
                <a:chExt cx="1536" cy="144"/>
              </a:xfrm>
            </p:grpSpPr>
            <p:sp>
              <p:nvSpPr>
                <p:cNvPr id="51228" name="Oval 6"/>
                <p:cNvSpPr>
                  <a:spLocks noChangeArrowheads="1"/>
                </p:cNvSpPr>
                <p:nvPr/>
              </p:nvSpPr>
              <p:spPr bwMode="auto">
                <a:xfrm>
                  <a:off x="3600" y="960"/>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51229" name="Oval 7"/>
                <p:cNvSpPr>
                  <a:spLocks noChangeArrowheads="1"/>
                </p:cNvSpPr>
                <p:nvPr/>
              </p:nvSpPr>
              <p:spPr bwMode="auto">
                <a:xfrm>
                  <a:off x="4992" y="960"/>
                  <a:ext cx="144" cy="14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51230" name="Line 8"/>
                <p:cNvSpPr>
                  <a:spLocks noChangeShapeType="1"/>
                </p:cNvSpPr>
                <p:nvPr/>
              </p:nvSpPr>
              <p:spPr bwMode="auto">
                <a:xfrm>
                  <a:off x="3744" y="1035"/>
                  <a:ext cx="12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sp>
            <p:nvSpPr>
              <p:cNvPr id="302089" name="Text Box 9"/>
              <p:cNvSpPr txBox="1">
                <a:spLocks noChangeArrowheads="1"/>
              </p:cNvSpPr>
              <p:nvPr/>
            </p:nvSpPr>
            <p:spPr bwMode="auto">
              <a:xfrm>
                <a:off x="3600" y="2784"/>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A</a:t>
                </a:r>
              </a:p>
            </p:txBody>
          </p:sp>
          <p:sp>
            <p:nvSpPr>
              <p:cNvPr id="302090" name="Text Box 10"/>
              <p:cNvSpPr txBox="1">
                <a:spLocks noChangeArrowheads="1"/>
              </p:cNvSpPr>
              <p:nvPr/>
            </p:nvSpPr>
            <p:spPr bwMode="auto">
              <a:xfrm>
                <a:off x="5088" y="2430"/>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s</a:t>
                </a:r>
              </a:p>
            </p:txBody>
          </p:sp>
          <p:sp>
            <p:nvSpPr>
              <p:cNvPr id="302091" name="Text Box 11"/>
              <p:cNvSpPr txBox="1">
                <a:spLocks noChangeArrowheads="1"/>
              </p:cNvSpPr>
              <p:nvPr/>
            </p:nvSpPr>
            <p:spPr bwMode="auto">
              <a:xfrm>
                <a:off x="4416" y="2832"/>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r</a:t>
                </a:r>
              </a:p>
            </p:txBody>
          </p:sp>
          <p:sp>
            <p:nvSpPr>
              <p:cNvPr id="51227" name="Freeform 12"/>
              <p:cNvSpPr>
                <a:spLocks/>
              </p:cNvSpPr>
              <p:nvPr/>
            </p:nvSpPr>
            <p:spPr bwMode="auto">
              <a:xfrm>
                <a:off x="4949" y="2736"/>
                <a:ext cx="464" cy="384"/>
              </a:xfrm>
              <a:custGeom>
                <a:avLst/>
                <a:gdLst>
                  <a:gd name="T0" fmla="*/ 160 w 464"/>
                  <a:gd name="T1" fmla="*/ 384 h 384"/>
                  <a:gd name="T2" fmla="*/ 16 w 464"/>
                  <a:gd name="T3" fmla="*/ 192 h 384"/>
                  <a:gd name="T4" fmla="*/ 256 w 464"/>
                  <a:gd name="T5" fmla="*/ 0 h 384"/>
                  <a:gd name="T6" fmla="*/ 448 w 464"/>
                  <a:gd name="T7" fmla="*/ 192 h 384"/>
                  <a:gd name="T8" fmla="*/ 352 w 464"/>
                  <a:gd name="T9" fmla="*/ 384 h 384"/>
                  <a:gd name="T10" fmla="*/ 0 60000 65536"/>
                  <a:gd name="T11" fmla="*/ 0 60000 65536"/>
                  <a:gd name="T12" fmla="*/ 0 60000 65536"/>
                  <a:gd name="T13" fmla="*/ 0 60000 65536"/>
                  <a:gd name="T14" fmla="*/ 0 60000 65536"/>
                  <a:gd name="T15" fmla="*/ 0 w 464"/>
                  <a:gd name="T16" fmla="*/ 0 h 384"/>
                  <a:gd name="T17" fmla="*/ 464 w 464"/>
                  <a:gd name="T18" fmla="*/ 384 h 384"/>
                </a:gdLst>
                <a:ahLst/>
                <a:cxnLst>
                  <a:cxn ang="T10">
                    <a:pos x="T0" y="T1"/>
                  </a:cxn>
                  <a:cxn ang="T11">
                    <a:pos x="T2" y="T3"/>
                  </a:cxn>
                  <a:cxn ang="T12">
                    <a:pos x="T4" y="T5"/>
                  </a:cxn>
                  <a:cxn ang="T13">
                    <a:pos x="T6" y="T7"/>
                  </a:cxn>
                  <a:cxn ang="T14">
                    <a:pos x="T8" y="T9"/>
                  </a:cxn>
                </a:cxnLst>
                <a:rect l="T15" t="T16" r="T17" b="T18"/>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92075" tIns="46038" rIns="92075" bIns="46038"/>
              <a:lstStyle/>
              <a:p>
                <a:endParaRPr lang="zh-CN" altLang="en-US"/>
              </a:p>
            </p:txBody>
          </p:sp>
        </p:grpSp>
        <p:sp>
          <p:nvSpPr>
            <p:cNvPr id="302121" name="Text Box 41"/>
            <p:cNvSpPr txBox="1">
              <a:spLocks noChangeArrowheads="1"/>
            </p:cNvSpPr>
            <p:nvPr/>
          </p:nvSpPr>
          <p:spPr bwMode="auto">
            <a:xfrm>
              <a:off x="5102" y="3657"/>
              <a:ext cx="363" cy="327"/>
            </a:xfrm>
            <a:prstGeom prst="rect">
              <a:avLst/>
            </a:prstGeom>
            <a:noFill/>
            <a:ln w="9525">
              <a:noFill/>
              <a:miter lim="800000"/>
              <a:headEnd/>
              <a:tailEnd/>
            </a:ln>
            <a:effec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800" b="1">
                  <a:solidFill>
                    <a:srgbClr val="000099"/>
                  </a:solidFill>
                  <a:effectLst>
                    <a:outerShdw blurRad="38100" dist="38100" dir="2700000" algn="tl">
                      <a:srgbClr val="C0C0C0"/>
                    </a:outerShdw>
                  </a:effectLst>
                  <a:latin typeface="Times New Roman" pitchFamily="18" charset="0"/>
                </a:rPr>
                <a:t>B</a:t>
              </a:r>
            </a:p>
          </p:txBody>
        </p:sp>
      </p:grpSp>
      <p:grpSp>
        <p:nvGrpSpPr>
          <p:cNvPr id="7" name="Group 44"/>
          <p:cNvGrpSpPr>
            <a:grpSpLocks/>
          </p:cNvGrpSpPr>
          <p:nvPr/>
        </p:nvGrpSpPr>
        <p:grpSpPr bwMode="auto">
          <a:xfrm>
            <a:off x="5638800" y="3860800"/>
            <a:ext cx="2965450" cy="863600"/>
            <a:chOff x="3552" y="2432"/>
            <a:chExt cx="1868" cy="544"/>
          </a:xfrm>
        </p:grpSpPr>
        <p:grpSp>
          <p:nvGrpSpPr>
            <p:cNvPr id="51211" name="Group 21"/>
            <p:cNvGrpSpPr>
              <a:grpSpLocks/>
            </p:cNvGrpSpPr>
            <p:nvPr/>
          </p:nvGrpSpPr>
          <p:grpSpPr bwMode="auto">
            <a:xfrm>
              <a:off x="3552" y="2448"/>
              <a:ext cx="1680" cy="528"/>
              <a:chOff x="3456" y="1392"/>
              <a:chExt cx="1680" cy="528"/>
            </a:xfrm>
          </p:grpSpPr>
          <p:grpSp>
            <p:nvGrpSpPr>
              <p:cNvPr id="51213" name="Group 22"/>
              <p:cNvGrpSpPr>
                <a:grpSpLocks/>
              </p:cNvGrpSpPr>
              <p:nvPr/>
            </p:nvGrpSpPr>
            <p:grpSpPr bwMode="auto">
              <a:xfrm>
                <a:off x="3648" y="1680"/>
                <a:ext cx="1488" cy="240"/>
                <a:chOff x="3648" y="1680"/>
                <a:chExt cx="1488" cy="240"/>
              </a:xfrm>
            </p:grpSpPr>
            <p:grpSp>
              <p:nvGrpSpPr>
                <p:cNvPr id="51216" name="Group 23"/>
                <p:cNvGrpSpPr>
                  <a:grpSpLocks/>
                </p:cNvGrpSpPr>
                <p:nvPr/>
              </p:nvGrpSpPr>
              <p:grpSpPr bwMode="auto">
                <a:xfrm>
                  <a:off x="3648" y="1680"/>
                  <a:ext cx="1488" cy="240"/>
                  <a:chOff x="3648" y="1680"/>
                  <a:chExt cx="1488" cy="240"/>
                </a:xfrm>
              </p:grpSpPr>
              <p:sp>
                <p:nvSpPr>
                  <p:cNvPr id="51218" name="Oval 24"/>
                  <p:cNvSpPr>
                    <a:spLocks noChangeArrowheads="1"/>
                  </p:cNvSpPr>
                  <p:nvPr/>
                </p:nvSpPr>
                <p:spPr bwMode="auto">
                  <a:xfrm>
                    <a:off x="3648" y="172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51219" name="Oval 25"/>
                  <p:cNvSpPr>
                    <a:spLocks noChangeArrowheads="1"/>
                  </p:cNvSpPr>
                  <p:nvPr/>
                </p:nvSpPr>
                <p:spPr bwMode="auto">
                  <a:xfrm>
                    <a:off x="4944" y="1728"/>
                    <a:ext cx="144" cy="1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51220" name="Oval 26"/>
                  <p:cNvSpPr>
                    <a:spLocks noChangeArrowheads="1"/>
                  </p:cNvSpPr>
                  <p:nvPr/>
                </p:nvSpPr>
                <p:spPr bwMode="auto">
                  <a:xfrm>
                    <a:off x="4896" y="1680"/>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grpSp>
            <p:sp>
              <p:nvSpPr>
                <p:cNvPr id="51217" name="Line 27"/>
                <p:cNvSpPr>
                  <a:spLocks noChangeShapeType="1"/>
                </p:cNvSpPr>
                <p:nvPr/>
              </p:nvSpPr>
              <p:spPr bwMode="auto">
                <a:xfrm>
                  <a:off x="3792" y="1803"/>
                  <a:ext cx="110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grpSp>
          <p:sp>
            <p:nvSpPr>
              <p:cNvPr id="302108" name="Text Box 28"/>
              <p:cNvSpPr txBox="1">
                <a:spLocks noChangeArrowheads="1"/>
              </p:cNvSpPr>
              <p:nvPr/>
            </p:nvSpPr>
            <p:spPr bwMode="auto">
              <a:xfrm>
                <a:off x="3456" y="1392"/>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A</a:t>
                </a:r>
              </a:p>
            </p:txBody>
          </p:sp>
          <p:sp>
            <p:nvSpPr>
              <p:cNvPr id="302109" name="Text Box 29"/>
              <p:cNvSpPr txBox="1">
                <a:spLocks noChangeArrowheads="1"/>
              </p:cNvSpPr>
              <p:nvPr/>
            </p:nvSpPr>
            <p:spPr bwMode="auto">
              <a:xfrm>
                <a:off x="4272" y="1440"/>
                <a:ext cx="384" cy="354"/>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10000"/>
                  </a:lnSpc>
                  <a:spcBef>
                    <a:spcPct val="50000"/>
                  </a:spcBef>
                  <a:buClr>
                    <a:schemeClr val="folHlink"/>
                  </a:buClr>
                  <a:buSzPct val="75000"/>
                  <a:buFont typeface="Monotype Sorts" pitchFamily="2" charset="2"/>
                  <a:buNone/>
                </a:pPr>
                <a:r>
                  <a:rPr kumimoji="1" lang="en-US" altLang="zh-CN" sz="2800" b="1">
                    <a:solidFill>
                      <a:srgbClr val="000099"/>
                    </a:solidFill>
                    <a:effectLst>
                      <a:outerShdw blurRad="38100" dist="38100" dir="2700000" algn="tl">
                        <a:srgbClr val="C0C0C0"/>
                      </a:outerShdw>
                    </a:effectLst>
                    <a:latin typeface="Times New Roman" pitchFamily="18" charset="0"/>
                  </a:rPr>
                  <a:t>a</a:t>
                </a:r>
              </a:p>
            </p:txBody>
          </p:sp>
        </p:grpSp>
        <p:sp>
          <p:nvSpPr>
            <p:cNvPr id="302123" name="Rectangle 43"/>
            <p:cNvSpPr>
              <a:spLocks noChangeArrowheads="1"/>
            </p:cNvSpPr>
            <p:nvPr/>
          </p:nvSpPr>
          <p:spPr bwMode="auto">
            <a:xfrm>
              <a:off x="5103" y="2432"/>
              <a:ext cx="317" cy="327"/>
            </a:xfrm>
            <a:prstGeom prst="rect">
              <a:avLst/>
            </a:prstGeom>
            <a:noFill/>
            <a:ln w="9525">
              <a:noFill/>
              <a:miter lim="800000"/>
              <a:headEnd/>
              <a:tailEnd/>
            </a:ln>
            <a:effectLst/>
          </p:spPr>
          <p:txBody>
            <a:bodyPr>
              <a:spAutoFit/>
            </a:bodyPr>
            <a:lstStyle/>
            <a:p>
              <a:pPr>
                <a:defRPr/>
              </a:pPr>
              <a:r>
                <a:rPr kumimoji="1" lang="en-US" altLang="zh-CN" sz="2800" b="1">
                  <a:solidFill>
                    <a:srgbClr val="000099"/>
                  </a:solidFill>
                  <a:effectLst>
                    <a:outerShdw blurRad="38100" dist="38100" dir="2700000" algn="tl">
                      <a:srgbClr val="C0C0C0"/>
                    </a:outerShdw>
                  </a:effectLst>
                  <a:latin typeface="Times New Roman" pitchFamily="18" charset="0"/>
                </a:rPr>
                <a:t>T</a:t>
              </a:r>
              <a:endParaRPr kumimoji="1" lang="zh-CN" altLang="en-US" sz="2800" b="1">
                <a:solidFill>
                  <a:srgbClr val="000099"/>
                </a:solidFill>
                <a:effectLst>
                  <a:outerShdw blurRad="38100" dist="38100" dir="2700000" algn="tl">
                    <a:srgbClr val="C0C0C0"/>
                  </a:outerShdw>
                </a:effectLst>
                <a:latin typeface="Times New Roman" pitchFamily="18" charset="0"/>
              </a:endParaRPr>
            </a:p>
          </p:txBody>
        </p:sp>
      </p:gr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71A1A79-1373-4210-B1AA-1ED3222928FF}" type="slidenum">
              <a:rPr lang="zh-CN" altLang="en-US"/>
              <a:pPr eaLnBrk="1" hangingPunct="1"/>
              <a:t>41</a:t>
            </a:fld>
            <a:endParaRPr lang="en-US" altLang="zh-CN"/>
          </a:p>
        </p:txBody>
      </p:sp>
      <p:sp>
        <p:nvSpPr>
          <p:cNvPr id="52227" name="Rectangle 2"/>
          <p:cNvSpPr>
            <a:spLocks noGrp="1" noRot="1" noChangeArrowheads="1"/>
          </p:cNvSpPr>
          <p:nvPr>
            <p:ph type="title"/>
          </p:nvPr>
        </p:nvSpPr>
        <p:spPr>
          <a:xfrm>
            <a:off x="838200" y="609600"/>
            <a:ext cx="7766050" cy="10668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利用状态转换图识别单词符号</a:t>
            </a:r>
          </a:p>
        </p:txBody>
      </p:sp>
      <p:sp>
        <p:nvSpPr>
          <p:cNvPr id="370691" name="Rectangle 3"/>
          <p:cNvSpPr>
            <a:spLocks noGrp="1" noRot="1" noChangeArrowheads="1"/>
          </p:cNvSpPr>
          <p:nvPr>
            <p:ph type="body" idx="1"/>
          </p:nvPr>
        </p:nvSpPr>
        <p:spPr>
          <a:xfrm>
            <a:off x="539750" y="1989138"/>
            <a:ext cx="8316913" cy="4319587"/>
          </a:xfrm>
          <a:noFill/>
        </p:spPr>
        <p:txBody>
          <a:bodyPr lIns="92075" tIns="46038" rIns="92075" bIns="46038"/>
          <a:lstStyle/>
          <a:p>
            <a:pPr algn="just" eaLnBrk="1" hangingPunct="1">
              <a:lnSpc>
                <a:spcPct val="90000"/>
              </a:lnSpc>
              <a:buFont typeface="Wingdings" pitchFamily="2" charset="2"/>
              <a:buNone/>
            </a:pPr>
            <a:r>
              <a:rPr lang="en-US" altLang="zh-CN" b="1" smtClean="0">
                <a:latin typeface="Times New Roman" pitchFamily="18" charset="0"/>
                <a:ea typeface="华文新魏" pitchFamily="2" charset="-122"/>
              </a:rPr>
              <a:t>(1) </a:t>
            </a:r>
            <a:r>
              <a:rPr lang="zh-CN" altLang="en-US" b="1" smtClean="0">
                <a:latin typeface="Times New Roman" pitchFamily="18" charset="0"/>
                <a:ea typeface="华文新魏" pitchFamily="2" charset="-122"/>
              </a:rPr>
              <a:t>从初始状态出发</a:t>
            </a:r>
            <a:endParaRPr lang="en-US" altLang="zh-CN" b="1" smtClean="0">
              <a:latin typeface="Times New Roman" pitchFamily="18" charset="0"/>
              <a:ea typeface="华文新魏" pitchFamily="2" charset="-122"/>
            </a:endParaRPr>
          </a:p>
          <a:p>
            <a:pPr algn="just" eaLnBrk="1" hangingPunct="1">
              <a:lnSpc>
                <a:spcPct val="90000"/>
              </a:lnSpc>
              <a:buFont typeface="Wingdings" pitchFamily="2" charset="2"/>
              <a:buNone/>
            </a:pPr>
            <a:r>
              <a:rPr lang="en-US" altLang="zh-CN" b="1" smtClean="0">
                <a:latin typeface="Times New Roman" pitchFamily="18" charset="0"/>
                <a:ea typeface="华文新魏" pitchFamily="2" charset="-122"/>
              </a:rPr>
              <a:t>(2) </a:t>
            </a:r>
            <a:r>
              <a:rPr lang="zh-CN" altLang="en-US" b="1" smtClean="0">
                <a:latin typeface="Times New Roman" pitchFamily="18" charset="0"/>
                <a:ea typeface="华文新魏" pitchFamily="2" charset="-122"/>
              </a:rPr>
              <a:t>读入一字符</a:t>
            </a:r>
          </a:p>
          <a:p>
            <a:pPr algn="just" eaLnBrk="1" hangingPunct="1">
              <a:lnSpc>
                <a:spcPct val="90000"/>
              </a:lnSpc>
              <a:buFont typeface="Wingdings" pitchFamily="2" charset="2"/>
              <a:buNone/>
            </a:pPr>
            <a:r>
              <a:rPr lang="en-US" altLang="zh-CN" b="1" smtClean="0">
                <a:latin typeface="Times New Roman" pitchFamily="18" charset="0"/>
                <a:ea typeface="华文新魏" pitchFamily="2" charset="-122"/>
              </a:rPr>
              <a:t>(3) </a:t>
            </a:r>
            <a:r>
              <a:rPr lang="zh-CN" altLang="en-US" b="1" smtClean="0">
                <a:latin typeface="Times New Roman" pitchFamily="18" charset="0"/>
                <a:ea typeface="华文新魏" pitchFamily="2" charset="-122"/>
              </a:rPr>
              <a:t>按当前字符转入下一状态</a:t>
            </a:r>
          </a:p>
          <a:p>
            <a:pPr algn="just" eaLnBrk="1" hangingPunct="1">
              <a:lnSpc>
                <a:spcPct val="90000"/>
              </a:lnSpc>
              <a:buFont typeface="Wingdings" pitchFamily="2" charset="2"/>
              <a:buNone/>
            </a:pPr>
            <a:r>
              <a:rPr lang="en-US" altLang="zh-CN" b="1" smtClean="0">
                <a:latin typeface="Times New Roman" pitchFamily="18" charset="0"/>
                <a:ea typeface="华文新魏" pitchFamily="2" charset="-122"/>
              </a:rPr>
              <a:t>(4) </a:t>
            </a:r>
            <a:r>
              <a:rPr lang="zh-CN" altLang="en-US" b="1" smtClean="0">
                <a:latin typeface="Times New Roman" pitchFamily="18" charset="0"/>
                <a:ea typeface="华文新魏" pitchFamily="2" charset="-122"/>
              </a:rPr>
              <a:t>重复 2,3 直到完成一个单词的识别或者发现错误</a:t>
            </a:r>
            <a:endParaRPr lang="en-US" altLang="zh-CN" b="1" smtClean="0">
              <a:latin typeface="Times New Roman" pitchFamily="18" charset="0"/>
              <a:ea typeface="华文新魏" pitchFamily="2" charset="-122"/>
            </a:endParaRPr>
          </a:p>
          <a:p>
            <a:pPr eaLnBrk="1" hangingPunct="1">
              <a:lnSpc>
                <a:spcPct val="90000"/>
              </a:lnSpc>
            </a:pPr>
            <a:r>
              <a:rPr lang="zh-CN" altLang="en-US" b="1" smtClean="0">
                <a:latin typeface="Times New Roman" pitchFamily="18" charset="0"/>
                <a:ea typeface="华文新魏" pitchFamily="2" charset="-122"/>
              </a:rPr>
              <a:t> 在遇到读入的字符是</a:t>
            </a:r>
            <a:r>
              <a:rPr lang="en-US" altLang="zh-CN" b="1" smtClean="0">
                <a:latin typeface="Times New Roman" pitchFamily="18" charset="0"/>
                <a:ea typeface="华文新魏" pitchFamily="2" charset="-122"/>
              </a:rPr>
              <a:t>Token</a:t>
            </a:r>
            <a:r>
              <a:rPr lang="zh-CN" altLang="en-US" b="1" smtClean="0">
                <a:latin typeface="Times New Roman" pitchFamily="18" charset="0"/>
                <a:ea typeface="华文新魏" pitchFamily="2" charset="-122"/>
              </a:rPr>
              <a:t>的分界符时，若进入的状态是终止状态，说明读入的字符组成一单词；否则，说明输入不符合词法规则</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59311A0-7B41-4BEE-86E0-6085828418C5}" type="slidenum">
              <a:rPr lang="zh-CN" altLang="en-US"/>
              <a:pPr eaLnBrk="1" hangingPunct="1"/>
              <a:t>42</a:t>
            </a:fld>
            <a:endParaRPr lang="en-US" altLang="zh-CN"/>
          </a:p>
        </p:txBody>
      </p:sp>
      <p:sp>
        <p:nvSpPr>
          <p:cNvPr id="53251" name="Rectangle 2"/>
          <p:cNvSpPr>
            <a:spLocks noGrp="1" noRot="1" noChangeArrowheads="1"/>
          </p:cNvSpPr>
          <p:nvPr>
            <p:ph type="title"/>
          </p:nvPr>
        </p:nvSpPr>
        <p:spPr>
          <a:xfrm>
            <a:off x="914400" y="762000"/>
            <a:ext cx="7848600" cy="762000"/>
          </a:xfrm>
          <a:noFill/>
        </p:spPr>
        <p:txBody>
          <a:bodyPr lIns="92075" tIns="46038" rIns="92075" bIns="46038"/>
          <a:lstStyle/>
          <a:p>
            <a:pPr eaLnBrk="1" hangingPunct="1"/>
            <a:r>
              <a:rPr lang="zh-CN" altLang="en-US" b="1" smtClean="0">
                <a:solidFill>
                  <a:srgbClr val="000099"/>
                </a:solidFill>
                <a:latin typeface="Times New Roman" pitchFamily="18" charset="0"/>
                <a:ea typeface="华文新魏" pitchFamily="2" charset="-122"/>
              </a:rPr>
              <a:t>3.4 </a:t>
            </a:r>
            <a:r>
              <a:rPr lang="zh-CN" altLang="en-US" sz="4000" b="1" smtClean="0">
                <a:solidFill>
                  <a:srgbClr val="000099"/>
                </a:solidFill>
                <a:latin typeface="Times New Roman" pitchFamily="18" charset="0"/>
                <a:ea typeface="华文新魏" pitchFamily="2" charset="-122"/>
              </a:rPr>
              <a:t>词法分析程序的设计与实现</a:t>
            </a:r>
            <a:endParaRPr lang="zh-CN" altLang="en-US" b="1" smtClean="0">
              <a:solidFill>
                <a:srgbClr val="000099"/>
              </a:solidFill>
              <a:latin typeface="Times New Roman" pitchFamily="18" charset="0"/>
              <a:ea typeface="华文新魏" pitchFamily="2" charset="-122"/>
            </a:endParaRPr>
          </a:p>
        </p:txBody>
      </p:sp>
      <p:sp>
        <p:nvSpPr>
          <p:cNvPr id="53252" name="Rectangle 3"/>
          <p:cNvSpPr>
            <a:spLocks noGrp="1" noRot="1" noChangeArrowheads="1"/>
          </p:cNvSpPr>
          <p:nvPr>
            <p:ph type="body" idx="1"/>
          </p:nvPr>
        </p:nvSpPr>
        <p:spPr>
          <a:xfrm>
            <a:off x="395288" y="2060575"/>
            <a:ext cx="8348662" cy="4267200"/>
          </a:xfrm>
          <a:noFill/>
        </p:spPr>
        <p:txBody>
          <a:bodyPr lIns="92075" tIns="46038" rIns="92075" bIns="46038"/>
          <a:lstStyle/>
          <a:p>
            <a:pPr algn="just" eaLnBrk="1" hangingPunct="1"/>
            <a:r>
              <a:rPr lang="zh-CN" altLang="en-US" b="1" smtClean="0">
                <a:latin typeface="Times New Roman" pitchFamily="18" charset="0"/>
                <a:ea typeface="华文新魏" pitchFamily="2" charset="-122"/>
              </a:rPr>
              <a:t>状态转移图——教材</a:t>
            </a:r>
            <a:r>
              <a:rPr lang="en-US" altLang="zh-CN" b="1" smtClean="0">
                <a:latin typeface="Times New Roman" pitchFamily="18" charset="0"/>
                <a:ea typeface="华文新魏" pitchFamily="2" charset="-122"/>
              </a:rPr>
              <a:t>P93</a:t>
            </a:r>
            <a:endParaRPr lang="zh-CN" altLang="en-US" b="1" smtClean="0">
              <a:latin typeface="Times New Roman" pitchFamily="18" charset="0"/>
              <a:ea typeface="华文新魏" pitchFamily="2" charset="-122"/>
            </a:endParaRPr>
          </a:p>
          <a:p>
            <a:pPr algn="just" eaLnBrk="1" hangingPunct="1"/>
            <a:r>
              <a:rPr lang="zh-CN" altLang="en-US" b="1" smtClean="0">
                <a:latin typeface="Times New Roman" pitchFamily="18" charset="0"/>
                <a:ea typeface="华文新魏" pitchFamily="2" charset="-122"/>
              </a:rPr>
              <a:t>状态转移图的实现——教材</a:t>
            </a:r>
            <a:r>
              <a:rPr lang="en-US" altLang="zh-CN" b="1" smtClean="0">
                <a:latin typeface="Times New Roman" pitchFamily="18" charset="0"/>
                <a:ea typeface="华文新魏" pitchFamily="2" charset="-122"/>
              </a:rPr>
              <a:t>P102-105</a:t>
            </a:r>
          </a:p>
          <a:p>
            <a:pPr algn="just" eaLnBrk="1" hangingPunct="1"/>
            <a:r>
              <a:rPr lang="zh-CN" altLang="en-US" b="1" smtClean="0">
                <a:latin typeface="Times New Roman" pitchFamily="18" charset="0"/>
                <a:ea typeface="华文新魏" pitchFamily="2" charset="-122"/>
              </a:rPr>
              <a:t>另一种实现：子程序 </a:t>
            </a:r>
            <a:r>
              <a:rPr lang="en-US" altLang="zh-CN" b="1" smtClean="0">
                <a:latin typeface="Times New Roman" pitchFamily="18" charset="0"/>
                <a:ea typeface="华文新魏" pitchFamily="2" charset="-122"/>
              </a:rPr>
              <a:t>scan( )</a:t>
            </a:r>
          </a:p>
          <a:p>
            <a:pPr lvl="1" algn="just" eaLnBrk="1" hangingPunct="1"/>
            <a:r>
              <a:rPr lang="zh-CN" altLang="en-US" b="1" smtClean="0">
                <a:latin typeface="Times New Roman" pitchFamily="18" charset="0"/>
                <a:ea typeface="华文新魏" pitchFamily="2" charset="-122"/>
              </a:rPr>
              <a:t>输入：字符流</a:t>
            </a:r>
          </a:p>
          <a:p>
            <a:pPr lvl="1" algn="just" eaLnBrk="1" hangingPunct="1"/>
            <a:r>
              <a:rPr lang="zh-CN" altLang="en-US" b="1" smtClean="0">
                <a:latin typeface="Times New Roman" pitchFamily="18" charset="0"/>
                <a:ea typeface="华文新魏" pitchFamily="2" charset="-122"/>
              </a:rPr>
              <a:t>输出：</a:t>
            </a:r>
          </a:p>
          <a:p>
            <a:pPr lvl="2" eaLnBrk="1" hangingPunct="1"/>
            <a:r>
              <a:rPr lang="en-US" altLang="zh-CN" sz="2800" b="1" smtClean="0">
                <a:latin typeface="Times New Roman" pitchFamily="18" charset="0"/>
                <a:ea typeface="华文新魏" pitchFamily="2" charset="-122"/>
              </a:rPr>
              <a:t>Symbol :</a:t>
            </a:r>
            <a:r>
              <a:rPr lang="zh-CN" altLang="en-US" sz="2800" b="1" smtClean="0">
                <a:latin typeface="Times New Roman" pitchFamily="18" charset="0"/>
                <a:ea typeface="华文新魏" pitchFamily="2" charset="-122"/>
              </a:rPr>
              <a:t>单词种别</a:t>
            </a:r>
            <a:endParaRPr lang="en-US" altLang="zh-CN" sz="2800" b="1" smtClean="0">
              <a:latin typeface="Times New Roman" pitchFamily="18" charset="0"/>
              <a:ea typeface="华文新魏" pitchFamily="2" charset="-122"/>
            </a:endParaRPr>
          </a:p>
          <a:p>
            <a:pPr lvl="2" eaLnBrk="1" hangingPunct="1"/>
            <a:r>
              <a:rPr lang="en-US" altLang="zh-CN" sz="2800" b="1" smtClean="0">
                <a:latin typeface="Times New Roman" pitchFamily="18" charset="0"/>
                <a:ea typeface="华文新魏" pitchFamily="2" charset="-122"/>
              </a:rPr>
              <a:t>Attr:</a:t>
            </a:r>
            <a:r>
              <a:rPr lang="zh-CN" altLang="en-US" sz="2800" b="1" smtClean="0">
                <a:latin typeface="Times New Roman" pitchFamily="18" charset="0"/>
                <a:ea typeface="华文新魏" pitchFamily="2" charset="-122"/>
              </a:rPr>
              <a:t>属性</a:t>
            </a:r>
            <a:r>
              <a:rPr lang="en-US" altLang="zh-CN" sz="2800" b="1" smtClean="0">
                <a:latin typeface="Times New Roman" pitchFamily="18" charset="0"/>
                <a:ea typeface="华文新魏" pitchFamily="2" charset="-122"/>
              </a:rPr>
              <a:t>(</a:t>
            </a:r>
            <a:r>
              <a:rPr lang="zh-CN" altLang="en-US" sz="2800" b="1" smtClean="0">
                <a:latin typeface="Times New Roman" pitchFamily="18" charset="0"/>
                <a:ea typeface="华文新魏" pitchFamily="2" charset="-122"/>
              </a:rPr>
              <a:t>全局变量</a:t>
            </a:r>
            <a:r>
              <a:rPr lang="en-US" altLang="zh-CN" sz="2800" b="1" smtClean="0">
                <a:latin typeface="Times New Roman" pitchFamily="18" charset="0"/>
                <a:ea typeface="华文新魏" pitchFamily="2" charset="-122"/>
              </a:rPr>
              <a:t>)</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634FD69-97C6-4C5E-964F-3A37120514E1}" type="slidenum">
              <a:rPr lang="zh-CN" altLang="en-US"/>
              <a:pPr eaLnBrk="1" hangingPunct="1"/>
              <a:t>43</a:t>
            </a:fld>
            <a:endParaRPr lang="en-US" altLang="zh-CN"/>
          </a:p>
        </p:txBody>
      </p:sp>
      <p:sp>
        <p:nvSpPr>
          <p:cNvPr id="54275" name="Rectangle 2"/>
          <p:cNvSpPr>
            <a:spLocks noGrp="1" noRot="1" noChangeArrowheads="1"/>
          </p:cNvSpPr>
          <p:nvPr>
            <p:ph type="title"/>
          </p:nvPr>
        </p:nvSpPr>
        <p:spPr>
          <a:xfrm>
            <a:off x="542925" y="549275"/>
            <a:ext cx="8061325" cy="863600"/>
          </a:xfrm>
          <a:noFill/>
        </p:spPr>
        <p:txBody>
          <a:bodyPr lIns="92075" tIns="46038" rIns="92075" bIns="46038"/>
          <a:lstStyle/>
          <a:p>
            <a:pPr eaLnBrk="1" hangingPunct="1"/>
            <a:r>
              <a:rPr lang="en-US" altLang="zh-CN" b="1" smtClean="0">
                <a:solidFill>
                  <a:srgbClr val="000099"/>
                </a:solidFill>
                <a:latin typeface="Times New Roman" pitchFamily="18" charset="0"/>
                <a:ea typeface="华文新魏" pitchFamily="2" charset="-122"/>
              </a:rPr>
              <a:t>1. </a:t>
            </a:r>
            <a:r>
              <a:rPr lang="zh-CN" altLang="en-US" b="1" smtClean="0">
                <a:solidFill>
                  <a:srgbClr val="000099"/>
                </a:solidFill>
                <a:latin typeface="Times New Roman" pitchFamily="18" charset="0"/>
                <a:ea typeface="华文新魏" pitchFamily="2" charset="-122"/>
              </a:rPr>
              <a:t>数据结构与子例程</a:t>
            </a:r>
          </a:p>
        </p:txBody>
      </p:sp>
      <p:sp>
        <p:nvSpPr>
          <p:cNvPr id="308227" name="Rectangle 3"/>
          <p:cNvSpPr>
            <a:spLocks noGrp="1" noRot="1" noChangeArrowheads="1"/>
          </p:cNvSpPr>
          <p:nvPr>
            <p:ph type="body" idx="1"/>
          </p:nvPr>
        </p:nvSpPr>
        <p:spPr>
          <a:xfrm>
            <a:off x="685800" y="1628775"/>
            <a:ext cx="8229600" cy="4924425"/>
          </a:xfrm>
          <a:noFill/>
        </p:spPr>
        <p:txBody>
          <a:bodyPr lIns="92075" tIns="46038" rIns="92075" bIns="46038"/>
          <a:lstStyle/>
          <a:p>
            <a:pPr algn="just" eaLnBrk="1" hangingPunct="1"/>
            <a:r>
              <a:rPr lang="zh-CN" altLang="en-US" sz="2800" b="1" smtClean="0">
                <a:latin typeface="Times New Roman" pitchFamily="18" charset="0"/>
                <a:ea typeface="华文新魏" pitchFamily="2" charset="-122"/>
              </a:rPr>
              <a:t>数据结构</a:t>
            </a:r>
          </a:p>
          <a:p>
            <a:pPr lvl="1" algn="just" eaLnBrk="1" hangingPunct="1"/>
            <a:r>
              <a:rPr lang="en-US" altLang="zh-CN" sz="2400" b="1" smtClean="0">
                <a:latin typeface="Times New Roman" pitchFamily="18" charset="0"/>
                <a:ea typeface="华文新魏" pitchFamily="2" charset="-122"/>
              </a:rPr>
              <a:t>ch        </a:t>
            </a:r>
            <a:r>
              <a:rPr lang="zh-CN" altLang="en-US" sz="2400" b="1" smtClean="0">
                <a:latin typeface="Times New Roman" pitchFamily="18" charset="0"/>
                <a:ea typeface="华文新魏" pitchFamily="2" charset="-122"/>
              </a:rPr>
              <a:t>当前输入字符</a:t>
            </a:r>
          </a:p>
          <a:p>
            <a:pPr lvl="1" algn="just" eaLnBrk="1" hangingPunct="1"/>
            <a:r>
              <a:rPr lang="en-US" altLang="zh-CN" sz="2400" b="1" smtClean="0">
                <a:latin typeface="Times New Roman" pitchFamily="18" charset="0"/>
                <a:ea typeface="华文新魏" pitchFamily="2" charset="-122"/>
              </a:rPr>
              <a:t>token     </a:t>
            </a:r>
            <a:r>
              <a:rPr lang="zh-CN" altLang="en-US" sz="2400" b="1" smtClean="0">
                <a:latin typeface="Times New Roman" pitchFamily="18" charset="0"/>
                <a:ea typeface="华文新魏" pitchFamily="2" charset="-122"/>
              </a:rPr>
              <a:t>输入工作区</a:t>
            </a:r>
            <a:r>
              <a:rPr lang="en-US" altLang="zh-CN" sz="2400"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字符数组</a:t>
            </a:r>
            <a:r>
              <a:rPr lang="en-US" altLang="zh-CN" sz="2400" b="1" smtClean="0">
                <a:latin typeface="Times New Roman" pitchFamily="18" charset="0"/>
                <a:ea typeface="华文新魏" pitchFamily="2" charset="-122"/>
              </a:rPr>
              <a:t>)</a:t>
            </a:r>
          </a:p>
          <a:p>
            <a:pPr lvl="1" algn="just" eaLnBrk="1" hangingPunct="1"/>
            <a:r>
              <a:rPr lang="en-US" altLang="zh-CN" sz="2400" b="1" smtClean="0">
                <a:latin typeface="Times New Roman" pitchFamily="18" charset="0"/>
                <a:ea typeface="华文新魏" pitchFamily="2" charset="-122"/>
              </a:rPr>
              <a:t>symbol    </a:t>
            </a:r>
            <a:r>
              <a:rPr lang="zh-CN" altLang="en-US" sz="2400" b="1" smtClean="0">
                <a:latin typeface="Times New Roman" pitchFamily="18" charset="0"/>
                <a:ea typeface="华文新魏" pitchFamily="2" charset="-122"/>
              </a:rPr>
              <a:t>单词种别</a:t>
            </a:r>
            <a:r>
              <a:rPr lang="en-US" altLang="zh-CN" sz="2400"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子程序的返回值</a:t>
            </a:r>
            <a:r>
              <a:rPr lang="en-US" altLang="zh-CN" sz="2400" b="1" smtClean="0">
                <a:latin typeface="Times New Roman" pitchFamily="18" charset="0"/>
                <a:ea typeface="华文新魏" pitchFamily="2" charset="-122"/>
              </a:rPr>
              <a:t>)</a:t>
            </a:r>
          </a:p>
          <a:p>
            <a:pPr lvl="1" algn="just" eaLnBrk="1" hangingPunct="1"/>
            <a:r>
              <a:rPr lang="en-US" altLang="zh-CN" sz="2400" b="1" smtClean="0">
                <a:latin typeface="Times New Roman" pitchFamily="18" charset="0"/>
                <a:ea typeface="华文新魏" pitchFamily="2" charset="-122"/>
              </a:rPr>
              <a:t>attr      </a:t>
            </a:r>
            <a:r>
              <a:rPr lang="zh-CN" altLang="en-US" sz="2400" b="1" smtClean="0">
                <a:latin typeface="Times New Roman" pitchFamily="18" charset="0"/>
                <a:ea typeface="华文新魏" pitchFamily="2" charset="-122"/>
              </a:rPr>
              <a:t>属性</a:t>
            </a:r>
            <a:r>
              <a:rPr lang="en-US" altLang="zh-CN" sz="2400"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全局变量</a:t>
            </a:r>
            <a:r>
              <a:rPr lang="en-US" altLang="zh-CN" sz="2400" b="1" smtClean="0">
                <a:latin typeface="Times New Roman" pitchFamily="18" charset="0"/>
                <a:ea typeface="华文新魏" pitchFamily="2" charset="-122"/>
              </a:rPr>
              <a:t>)</a:t>
            </a:r>
          </a:p>
          <a:p>
            <a:pPr eaLnBrk="1" hangingPunct="1"/>
            <a:r>
              <a:rPr lang="zh-CN" altLang="en-US" sz="2800" b="1" smtClean="0">
                <a:latin typeface="Times New Roman" pitchFamily="18" charset="0"/>
                <a:ea typeface="华文新魏" pitchFamily="2" charset="-122"/>
              </a:rPr>
              <a:t>子程序</a:t>
            </a:r>
          </a:p>
          <a:p>
            <a:pPr lvl="1" eaLnBrk="1" hangingPunct="1"/>
            <a:r>
              <a:rPr lang="en-US" altLang="zh-CN" sz="2400" b="1" smtClean="0">
                <a:latin typeface="Times New Roman" pitchFamily="18" charset="0"/>
                <a:ea typeface="华文新魏" pitchFamily="2" charset="-122"/>
              </a:rPr>
              <a:t>Lookup(token):</a:t>
            </a:r>
            <a:r>
              <a:rPr lang="zh-CN" altLang="en-US" sz="2400" b="1" smtClean="0">
                <a:latin typeface="Times New Roman" pitchFamily="18" charset="0"/>
                <a:ea typeface="华文新魏" pitchFamily="2" charset="-122"/>
              </a:rPr>
              <a:t>将 </a:t>
            </a:r>
            <a:r>
              <a:rPr lang="en-US" altLang="zh-CN" sz="2400" b="1" smtClean="0">
                <a:latin typeface="Times New Roman" pitchFamily="18" charset="0"/>
                <a:ea typeface="华文新魏" pitchFamily="2" charset="-122"/>
              </a:rPr>
              <a:t>token </a:t>
            </a:r>
            <a:r>
              <a:rPr lang="zh-CN" altLang="en-US" sz="2400" b="1" smtClean="0">
                <a:latin typeface="Times New Roman" pitchFamily="18" charset="0"/>
                <a:ea typeface="华文新魏" pitchFamily="2" charset="-122"/>
              </a:rPr>
              <a:t>存入符号表，返回入口指针</a:t>
            </a:r>
          </a:p>
          <a:p>
            <a:pPr lvl="1" eaLnBrk="1" hangingPunct="1"/>
            <a:r>
              <a:rPr lang="en-US" altLang="zh-CN" sz="2400" b="1" smtClean="0">
                <a:latin typeface="Times New Roman" pitchFamily="18" charset="0"/>
                <a:ea typeface="华文新魏" pitchFamily="2" charset="-122"/>
              </a:rPr>
              <a:t>isKeyword(token):</a:t>
            </a:r>
            <a:r>
              <a:rPr lang="zh-CN" altLang="en-US" sz="2400" b="1" smtClean="0">
                <a:latin typeface="Times New Roman" pitchFamily="18" charset="0"/>
                <a:ea typeface="华文新魏" pitchFamily="2" charset="-122"/>
              </a:rPr>
              <a:t>判别 </a:t>
            </a:r>
            <a:r>
              <a:rPr lang="en-US" altLang="zh-CN" sz="2400" b="1" smtClean="0">
                <a:latin typeface="Times New Roman" pitchFamily="18" charset="0"/>
                <a:ea typeface="华文新魏" pitchFamily="2" charset="-122"/>
              </a:rPr>
              <a:t>token</a:t>
            </a:r>
            <a:r>
              <a:rPr lang="zh-CN" altLang="en-US" sz="2400" b="1" smtClean="0">
                <a:latin typeface="Times New Roman" pitchFamily="18" charset="0"/>
                <a:ea typeface="华文新魏" pitchFamily="2" charset="-122"/>
              </a:rPr>
              <a:t>是关键字？返回关键字种别或 -1</a:t>
            </a:r>
          </a:p>
          <a:p>
            <a:pPr lvl="1" eaLnBrk="1" hangingPunct="1"/>
            <a:r>
              <a:rPr lang="en-US" altLang="zh-CN" sz="2400" b="1" smtClean="0">
                <a:latin typeface="Times New Roman" pitchFamily="18" charset="0"/>
                <a:ea typeface="华文新魏" pitchFamily="2" charset="-122"/>
              </a:rPr>
              <a:t>getchar():</a:t>
            </a:r>
            <a:r>
              <a:rPr lang="zh-CN" altLang="en-US" sz="2400" b="1" smtClean="0">
                <a:latin typeface="Times New Roman" pitchFamily="18" charset="0"/>
                <a:ea typeface="华文新魏" pitchFamily="2" charset="-122"/>
              </a:rPr>
              <a:t>从输入缓冲区中读入一个字符放入</a:t>
            </a:r>
            <a:r>
              <a:rPr lang="en-US" altLang="zh-CN" sz="2400" b="1" smtClean="0">
                <a:latin typeface="Times New Roman" pitchFamily="18" charset="0"/>
                <a:ea typeface="华文新魏" pitchFamily="2" charset="-122"/>
              </a:rPr>
              <a:t>ch</a:t>
            </a:r>
          </a:p>
          <a:p>
            <a:pPr lvl="1" eaLnBrk="1" hangingPunct="1"/>
            <a:r>
              <a:rPr lang="en-US" altLang="zh-CN" sz="2400" b="1" smtClean="0">
                <a:latin typeface="Times New Roman" pitchFamily="18" charset="0"/>
                <a:ea typeface="华文新魏" pitchFamily="2" charset="-122"/>
              </a:rPr>
              <a:t>isdigit()  isalpha() </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55114CE-2296-4E54-9F61-D3AC2EB4234F}" type="slidenum">
              <a:rPr lang="zh-CN" altLang="en-US"/>
              <a:pPr eaLnBrk="1" hangingPunct="1"/>
              <a:t>44</a:t>
            </a:fld>
            <a:endParaRPr lang="en-US" altLang="zh-CN"/>
          </a:p>
        </p:txBody>
      </p:sp>
      <p:sp>
        <p:nvSpPr>
          <p:cNvPr id="55299" name="Rectangle 2"/>
          <p:cNvSpPr>
            <a:spLocks noGrp="1" noRot="1" noChangeArrowheads="1"/>
          </p:cNvSpPr>
          <p:nvPr>
            <p:ph type="title"/>
          </p:nvPr>
        </p:nvSpPr>
        <p:spPr>
          <a:xfrm>
            <a:off x="1042988" y="404813"/>
            <a:ext cx="7239000" cy="863600"/>
          </a:xfrm>
          <a:noFill/>
        </p:spPr>
        <p:txBody>
          <a:bodyPr lIns="92075" tIns="46038" rIns="92075" bIns="46038"/>
          <a:lstStyle/>
          <a:p>
            <a:pPr eaLnBrk="1" hangingPunct="1"/>
            <a:r>
              <a:rPr lang="zh-CN" altLang="en-US" b="1" smtClean="0">
                <a:latin typeface="Times New Roman" pitchFamily="18" charset="0"/>
                <a:ea typeface="华文新魏" pitchFamily="2" charset="-122"/>
              </a:rPr>
              <a:t>例图</a:t>
            </a:r>
            <a:r>
              <a:rPr lang="en-US" altLang="zh-CN" b="1" smtClean="0">
                <a:latin typeface="Times New Roman" pitchFamily="18" charset="0"/>
                <a:ea typeface="华文新魏" pitchFamily="2" charset="-122"/>
              </a:rPr>
              <a:t>3.15 (P93)</a:t>
            </a:r>
            <a:r>
              <a:rPr lang="zh-CN" altLang="en-US" b="1" smtClean="0">
                <a:latin typeface="Times New Roman" pitchFamily="18" charset="0"/>
                <a:ea typeface="华文新魏" pitchFamily="2" charset="-122"/>
              </a:rPr>
              <a:t>的实现算法</a:t>
            </a:r>
            <a:endParaRPr lang="en-US" altLang="zh-CN" b="1" smtClean="0">
              <a:latin typeface="Times New Roman" pitchFamily="18" charset="0"/>
              <a:ea typeface="华文新魏" pitchFamily="2" charset="-122"/>
            </a:endParaRPr>
          </a:p>
        </p:txBody>
      </p:sp>
      <p:sp>
        <p:nvSpPr>
          <p:cNvPr id="309251" name="Rectangle 3"/>
          <p:cNvSpPr>
            <a:spLocks noGrp="1" noRot="1" noChangeArrowheads="1"/>
          </p:cNvSpPr>
          <p:nvPr>
            <p:ph type="body" idx="1"/>
          </p:nvPr>
        </p:nvSpPr>
        <p:spPr>
          <a:xfrm>
            <a:off x="511175" y="1268413"/>
            <a:ext cx="8382000" cy="5184775"/>
          </a:xfrm>
          <a:noFill/>
        </p:spPr>
        <p:txBody>
          <a:bodyPr lIns="92075" tIns="46038" rIns="92075" bIns="46038"/>
          <a:lstStyle/>
          <a:p>
            <a:pPr algn="just" eaLnBrk="1" hangingPunct="1">
              <a:buFont typeface="Wingdings" pitchFamily="2" charset="2"/>
              <a:buNone/>
            </a:pPr>
            <a:r>
              <a:rPr lang="zh-CN" altLang="en-US" sz="2800" b="1" smtClean="0">
                <a:latin typeface="Times New Roman" pitchFamily="18" charset="0"/>
                <a:ea typeface="华文新魏" pitchFamily="2" charset="-122"/>
              </a:rPr>
              <a:t>1   </a:t>
            </a:r>
            <a:r>
              <a:rPr lang="en-US" altLang="zh-CN" sz="2800" b="1" smtClean="0">
                <a:latin typeface="Times New Roman" pitchFamily="18" charset="0"/>
                <a:ea typeface="华文新魏" pitchFamily="2" charset="-122"/>
              </a:rPr>
              <a:t>getchar()</a:t>
            </a:r>
          </a:p>
          <a:p>
            <a:pPr algn="just" eaLnBrk="1" hangingPunct="1">
              <a:buFont typeface="Wingdings" pitchFamily="2" charset="2"/>
              <a:buNone/>
            </a:pPr>
            <a:r>
              <a:rPr lang="en-US" altLang="zh-CN" sz="2800" b="1" smtClean="0">
                <a:latin typeface="Times New Roman" pitchFamily="18" charset="0"/>
                <a:ea typeface="华文新魏" pitchFamily="2" charset="-122"/>
              </a:rPr>
              <a:t>2   WHILE ch </a:t>
            </a:r>
            <a:r>
              <a:rPr lang="zh-CN" altLang="en-US" sz="2800" b="1" smtClean="0">
                <a:latin typeface="Times New Roman" pitchFamily="18" charset="0"/>
                <a:ea typeface="华文新魏" pitchFamily="2" charset="-122"/>
              </a:rPr>
              <a:t>是空格			//</a:t>
            </a:r>
            <a:r>
              <a:rPr lang="zh-CN" altLang="en-US" sz="2800" b="1" i="1" smtClean="0">
                <a:latin typeface="Times New Roman" pitchFamily="18" charset="0"/>
                <a:ea typeface="华文新魏" pitchFamily="2" charset="-122"/>
              </a:rPr>
              <a:t>跳过空格</a:t>
            </a:r>
            <a:endParaRPr lang="zh-CN" altLang="en-US" sz="2800" b="1" smtClean="0">
              <a:latin typeface="Times New Roman" pitchFamily="18" charset="0"/>
              <a:ea typeface="华文新魏" pitchFamily="2" charset="-122"/>
            </a:endParaRPr>
          </a:p>
          <a:p>
            <a:pPr algn="just" eaLnBrk="1" hangingPunct="1">
              <a:buFont typeface="Wingdings" pitchFamily="2" charset="2"/>
              <a:buNone/>
            </a:pPr>
            <a:r>
              <a:rPr lang="zh-CN" altLang="en-US" sz="2800" b="1" smtClean="0">
                <a:latin typeface="Times New Roman" pitchFamily="18" charset="0"/>
                <a:ea typeface="华文新魏" pitchFamily="2" charset="-122"/>
              </a:rPr>
              <a:t>    2.1 </a:t>
            </a:r>
            <a:r>
              <a:rPr lang="en-US" altLang="zh-CN" sz="2800" b="1" smtClean="0">
                <a:latin typeface="Times New Roman" pitchFamily="18" charset="0"/>
                <a:ea typeface="华文新魏" pitchFamily="2" charset="-122"/>
              </a:rPr>
              <a:t>DO getchar();</a:t>
            </a:r>
          </a:p>
          <a:p>
            <a:pPr algn="just" eaLnBrk="1" hangingPunct="1">
              <a:buFont typeface="Wingdings" pitchFamily="2" charset="2"/>
              <a:buNone/>
            </a:pPr>
            <a:r>
              <a:rPr lang="en-US" altLang="zh-CN" sz="2800" b="1" smtClean="0">
                <a:latin typeface="Times New Roman" pitchFamily="18" charset="0"/>
                <a:ea typeface="华文新魏" pitchFamily="2" charset="-122"/>
              </a:rPr>
              <a:t>3    CASE ch OF</a:t>
            </a:r>
          </a:p>
          <a:p>
            <a:pPr algn="just" eaLnBrk="1" hangingPunct="1">
              <a:buFont typeface="Wingdings" pitchFamily="2" charset="2"/>
              <a:buNone/>
            </a:pPr>
            <a:r>
              <a:rPr lang="en-US" altLang="zh-CN" sz="2800" b="1" smtClean="0">
                <a:latin typeface="Times New Roman" pitchFamily="18" charset="0"/>
                <a:ea typeface="华文新魏" pitchFamily="2" charset="-122"/>
              </a:rPr>
              <a:t>4      isdigit(ch) :</a:t>
            </a:r>
          </a:p>
          <a:p>
            <a:pPr algn="just" eaLnBrk="1" hangingPunct="1">
              <a:buFont typeface="Wingdings" pitchFamily="2" charset="2"/>
              <a:buNone/>
            </a:pPr>
            <a:r>
              <a:rPr lang="en-US" altLang="zh-CN" sz="2800" b="1" smtClean="0">
                <a:latin typeface="Times New Roman" pitchFamily="18" charset="0"/>
                <a:ea typeface="华文新魏" pitchFamily="2" charset="-122"/>
              </a:rPr>
              <a:t>    4.1 ch→token; getchar();</a:t>
            </a:r>
          </a:p>
          <a:p>
            <a:pPr algn="just" eaLnBrk="1" hangingPunct="1">
              <a:buFont typeface="Wingdings" pitchFamily="2" charset="2"/>
              <a:buNone/>
            </a:pPr>
            <a:r>
              <a:rPr lang="en-US" altLang="zh-CN" sz="2800" b="1" smtClean="0">
                <a:latin typeface="Times New Roman" pitchFamily="18" charset="0"/>
                <a:ea typeface="华文新魏" pitchFamily="2" charset="-122"/>
              </a:rPr>
              <a:t>    4.2  WHILE isdigit(ch) DO { ch→token; getchar();}</a:t>
            </a:r>
          </a:p>
          <a:p>
            <a:pPr algn="just" eaLnBrk="1" hangingPunct="1">
              <a:buFont typeface="Wingdings" pitchFamily="2" charset="2"/>
              <a:buNone/>
            </a:pPr>
            <a:r>
              <a:rPr lang="en-US" altLang="zh-CN" sz="2800" b="1" smtClean="0">
                <a:latin typeface="Times New Roman" pitchFamily="18" charset="0"/>
                <a:ea typeface="华文新魏" pitchFamily="2" charset="-122"/>
              </a:rPr>
              <a:t>    4.3 </a:t>
            </a:r>
            <a:r>
              <a:rPr lang="zh-CN" altLang="en-US" sz="2800" b="1" smtClean="0">
                <a:latin typeface="Times New Roman" pitchFamily="18" charset="0"/>
                <a:ea typeface="华文新魏" pitchFamily="2" charset="-122"/>
              </a:rPr>
              <a:t>输入指针回退一个字符；</a:t>
            </a:r>
          </a:p>
          <a:p>
            <a:pPr algn="just" eaLnBrk="1" hangingPunct="1">
              <a:buFont typeface="Wingdings" pitchFamily="2" charset="2"/>
              <a:buNone/>
            </a:pPr>
            <a:r>
              <a:rPr lang="zh-CN" altLang="en-US" sz="2800" b="1" smtClean="0">
                <a:latin typeface="Times New Roman" pitchFamily="18" charset="0"/>
                <a:ea typeface="华文新魏" pitchFamily="2" charset="-122"/>
              </a:rPr>
              <a:t>    4.4 将</a:t>
            </a:r>
            <a:r>
              <a:rPr lang="en-US" altLang="zh-CN" sz="2800" b="1" smtClean="0">
                <a:latin typeface="Times New Roman" pitchFamily="18" charset="0"/>
                <a:ea typeface="华文新魏" pitchFamily="2" charset="-122"/>
              </a:rPr>
              <a:t>token</a:t>
            </a:r>
            <a:r>
              <a:rPr lang="zh-CN" altLang="en-US" sz="2800" b="1" smtClean="0">
                <a:latin typeface="Times New Roman" pitchFamily="18" charset="0"/>
                <a:ea typeface="华文新魏" pitchFamily="2" charset="-122"/>
              </a:rPr>
              <a:t>中的字符串变成数值→</a:t>
            </a:r>
            <a:r>
              <a:rPr lang="en-US" altLang="zh-CN" sz="2800" b="1" smtClean="0">
                <a:latin typeface="Times New Roman" pitchFamily="18" charset="0"/>
                <a:ea typeface="华文新魏" pitchFamily="2" charset="-122"/>
              </a:rPr>
              <a:t>attr</a:t>
            </a:r>
          </a:p>
          <a:p>
            <a:pPr algn="just" eaLnBrk="1" hangingPunct="1">
              <a:buFont typeface="Wingdings" pitchFamily="2" charset="2"/>
              <a:buNone/>
            </a:pPr>
            <a:r>
              <a:rPr lang="en-US" altLang="zh-CN" sz="2800" b="1" smtClean="0">
                <a:latin typeface="Times New Roman" pitchFamily="18" charset="0"/>
                <a:ea typeface="华文新魏" pitchFamily="2" charset="-122"/>
              </a:rPr>
              <a:t>    4.5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INT</a:t>
            </a:r>
          </a:p>
        </p:txBody>
      </p:sp>
      <p:sp>
        <p:nvSpPr>
          <p:cNvPr id="309252" name="AutoShape 4"/>
          <p:cNvSpPr>
            <a:spLocks noChangeArrowheads="1"/>
          </p:cNvSpPr>
          <p:nvPr/>
        </p:nvSpPr>
        <p:spPr bwMode="auto">
          <a:xfrm>
            <a:off x="5003800" y="2492375"/>
            <a:ext cx="3455988" cy="1728788"/>
          </a:xfrm>
          <a:prstGeom prst="wedgeRoundRectCallout">
            <a:avLst>
              <a:gd name="adj1" fmla="val -55468"/>
              <a:gd name="adj2" fmla="val 61755"/>
              <a:gd name="adj3" fmla="val 16667"/>
            </a:avLst>
          </a:prstGeom>
          <a:solidFill>
            <a:schemeClr val="tx1"/>
          </a:solidFill>
          <a:ln w="9525">
            <a:solidFill>
              <a:schemeClr val="tx1"/>
            </a:solidFill>
            <a:prstDash val="dash"/>
            <a:miter lim="800000"/>
            <a:headEnd/>
            <a:tailEnd/>
          </a:ln>
        </p:spPr>
        <p:txBody>
          <a:bodyPr/>
          <a:lstStyle/>
          <a:p>
            <a:pPr algn="ctr"/>
            <a:r>
              <a:rPr lang="zh-CN" altLang="en-US" sz="3200" b="1">
                <a:solidFill>
                  <a:schemeClr val="bg1"/>
                </a:solidFill>
                <a:latin typeface="Times New Roman" pitchFamily="18" charset="0"/>
                <a:ea typeface="华文新魏" pitchFamily="2" charset="-122"/>
              </a:rPr>
              <a:t>如果需要识别实数</a:t>
            </a:r>
            <a:r>
              <a:rPr lang="en-US" altLang="zh-CN" sz="3200" b="1">
                <a:solidFill>
                  <a:schemeClr val="bg1"/>
                </a:solidFill>
                <a:latin typeface="Times New Roman" pitchFamily="18" charset="0"/>
                <a:ea typeface="华文新魏" pitchFamily="2" charset="-122"/>
              </a:rPr>
              <a:t>{a.b</a:t>
            </a:r>
            <a:r>
              <a:rPr lang="zh-CN" altLang="en-US" sz="3200" b="1">
                <a:solidFill>
                  <a:schemeClr val="bg1"/>
                </a:solidFill>
                <a:latin typeface="Times New Roman" pitchFamily="18" charset="0"/>
                <a:ea typeface="华文新魏" pitchFamily="2" charset="-122"/>
              </a:rPr>
              <a:t>，</a:t>
            </a:r>
            <a:r>
              <a:rPr lang="en-US" altLang="zh-CN" sz="3200" b="1">
                <a:solidFill>
                  <a:schemeClr val="bg1"/>
                </a:solidFill>
                <a:latin typeface="Times New Roman" pitchFamily="18" charset="0"/>
                <a:ea typeface="华文新魏" pitchFamily="2" charset="-122"/>
              </a:rPr>
              <a:t>a</a:t>
            </a:r>
            <a:r>
              <a:rPr lang="zh-CN" altLang="en-US" sz="3200" b="1">
                <a:solidFill>
                  <a:schemeClr val="bg1"/>
                </a:solidFill>
                <a:latin typeface="Times New Roman" pitchFamily="18" charset="0"/>
                <a:ea typeface="华文新魏" pitchFamily="2" charset="-122"/>
              </a:rPr>
              <a:t>，</a:t>
            </a:r>
            <a:r>
              <a:rPr lang="en-US" altLang="zh-CN" sz="3200" b="1">
                <a:solidFill>
                  <a:schemeClr val="bg1"/>
                </a:solidFill>
                <a:latin typeface="Times New Roman" pitchFamily="18" charset="0"/>
                <a:ea typeface="华文新魏" pitchFamily="2" charset="-122"/>
              </a:rPr>
              <a:t>.b}</a:t>
            </a:r>
            <a:r>
              <a:rPr lang="zh-CN" altLang="en-US" sz="3200" b="1">
                <a:solidFill>
                  <a:schemeClr val="bg1"/>
                </a:solidFill>
                <a:latin typeface="Times New Roman" pitchFamily="18" charset="0"/>
                <a:ea typeface="华文新魏" pitchFamily="2" charset="-122"/>
              </a:rPr>
              <a:t>应该如何处理？</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0274" name="Rectangle 2"/>
          <p:cNvSpPr>
            <a:spLocks noGrp="1" noRot="1" noChangeArrowheads="1"/>
          </p:cNvSpPr>
          <p:nvPr>
            <p:ph type="body" idx="1"/>
          </p:nvPr>
        </p:nvSpPr>
        <p:spPr>
          <a:xfrm>
            <a:off x="304800" y="692150"/>
            <a:ext cx="8610600" cy="5616575"/>
          </a:xfrm>
        </p:spPr>
        <p:txBody>
          <a:bodyPr/>
          <a:lstStyle/>
          <a:p>
            <a:pPr eaLnBrk="1" hangingPunct="1">
              <a:buFont typeface="Wingdings" pitchFamily="2" charset="2"/>
              <a:buNone/>
            </a:pPr>
            <a:r>
              <a:rPr lang="zh-CN" altLang="en-US" b="1" smtClean="0">
                <a:latin typeface="Times New Roman" pitchFamily="18" charset="0"/>
                <a:ea typeface="华文新魏" pitchFamily="2" charset="-122"/>
              </a:rPr>
              <a:t>5      </a:t>
            </a:r>
            <a:r>
              <a:rPr lang="en-US" altLang="zh-CN" b="1" smtClean="0">
                <a:latin typeface="Times New Roman" pitchFamily="18" charset="0"/>
                <a:ea typeface="华文新魏" pitchFamily="2" charset="-122"/>
              </a:rPr>
              <a:t>isalpha(ch) :</a:t>
            </a:r>
          </a:p>
          <a:p>
            <a:pPr eaLnBrk="1" hangingPunct="1">
              <a:buFont typeface="Wingdings" pitchFamily="2" charset="2"/>
              <a:buNone/>
            </a:pPr>
            <a:r>
              <a:rPr lang="en-US" altLang="zh-CN" b="1" smtClean="0">
                <a:latin typeface="Times New Roman" pitchFamily="18" charset="0"/>
                <a:ea typeface="华文新魏" pitchFamily="2" charset="-122"/>
              </a:rPr>
              <a:t>    5.1 ch→token; getchar();</a:t>
            </a:r>
          </a:p>
          <a:p>
            <a:pPr eaLnBrk="1" hangingPunct="1">
              <a:buFont typeface="Wingdings" pitchFamily="2" charset="2"/>
              <a:buNone/>
            </a:pPr>
            <a:r>
              <a:rPr lang="en-US" altLang="zh-CN" b="1" smtClean="0">
                <a:latin typeface="Times New Roman" pitchFamily="18" charset="0"/>
                <a:ea typeface="华文新魏" pitchFamily="2" charset="-122"/>
              </a:rPr>
              <a:t>    5.2 </a:t>
            </a:r>
            <a:r>
              <a:rPr lang="en-US" altLang="zh-CN" b="1" smtClean="0">
                <a:solidFill>
                  <a:srgbClr val="CC6600"/>
                </a:solidFill>
                <a:latin typeface="Times New Roman" pitchFamily="18" charset="0"/>
                <a:ea typeface="华文新魏" pitchFamily="2" charset="-122"/>
              </a:rPr>
              <a:t>WHILE isalpha(ch) OR isdigit(ch)</a:t>
            </a:r>
          </a:p>
          <a:p>
            <a:pPr eaLnBrk="1" hangingPunct="1">
              <a:buFont typeface="Wingdings" pitchFamily="2" charset="2"/>
              <a:buNone/>
            </a:pPr>
            <a:r>
              <a:rPr lang="en-US" altLang="zh-CN" b="1" smtClean="0">
                <a:solidFill>
                  <a:srgbClr val="CC6600"/>
                </a:solidFill>
                <a:latin typeface="Times New Roman" pitchFamily="18" charset="0"/>
                <a:ea typeface="华文新魏" pitchFamily="2" charset="-122"/>
              </a:rPr>
              <a:t>            DO   {ch→token; getchar()};</a:t>
            </a:r>
          </a:p>
          <a:p>
            <a:pPr eaLnBrk="1" hangingPunct="1">
              <a:buFont typeface="Wingdings" pitchFamily="2" charset="2"/>
              <a:buNone/>
            </a:pPr>
            <a:r>
              <a:rPr lang="en-US" altLang="zh-CN" b="1" smtClean="0">
                <a:latin typeface="Times New Roman" pitchFamily="18" charset="0"/>
                <a:ea typeface="华文新魏" pitchFamily="2" charset="-122"/>
              </a:rPr>
              <a:t>    5.3   </a:t>
            </a:r>
            <a:r>
              <a:rPr lang="zh-CN" altLang="en-US" b="1" smtClean="0">
                <a:latin typeface="Times New Roman" pitchFamily="18" charset="0"/>
                <a:ea typeface="华文新魏" pitchFamily="2" charset="-122"/>
              </a:rPr>
              <a:t>输入指针回退一个字符;</a:t>
            </a:r>
          </a:p>
          <a:p>
            <a:pPr eaLnBrk="1" hangingPunct="1">
              <a:buFont typeface="Wingdings" pitchFamily="2" charset="2"/>
              <a:buNone/>
            </a:pPr>
            <a:r>
              <a:rPr lang="zh-CN" altLang="en-US" b="1" smtClean="0">
                <a:latin typeface="Times New Roman" pitchFamily="18" charset="0"/>
                <a:ea typeface="华文新魏" pitchFamily="2" charset="-122"/>
              </a:rPr>
              <a:t>    5.4   </a:t>
            </a:r>
            <a:r>
              <a:rPr lang="en-US" altLang="zh-CN" b="1" smtClean="0">
                <a:solidFill>
                  <a:schemeClr val="hlink"/>
                </a:solidFill>
                <a:latin typeface="Times New Roman" pitchFamily="18" charset="0"/>
                <a:ea typeface="华文新魏" pitchFamily="2" charset="-122"/>
              </a:rPr>
              <a:t>key = isKeyword(token);</a:t>
            </a:r>
          </a:p>
          <a:p>
            <a:pPr eaLnBrk="1" hangingPunct="1">
              <a:buFont typeface="Wingdings" pitchFamily="2" charset="2"/>
              <a:buNone/>
            </a:pPr>
            <a:r>
              <a:rPr lang="en-US" altLang="zh-CN" b="1" smtClean="0">
                <a:latin typeface="Times New Roman" pitchFamily="18" charset="0"/>
                <a:ea typeface="华文新魏" pitchFamily="2" charset="-122"/>
              </a:rPr>
              <a:t>    5.5  IF key≥0 THEN  </a:t>
            </a:r>
            <a:r>
              <a:rPr lang="zh-CN" altLang="en-US" b="1" smtClean="0">
                <a:latin typeface="Times New Roman" pitchFamily="18" charset="0"/>
                <a:ea typeface="华文新魏" pitchFamily="2" charset="-122"/>
              </a:rPr>
              <a:t>返回 </a:t>
            </a:r>
            <a:r>
              <a:rPr lang="en-US" altLang="zh-CN" b="1" smtClean="0">
                <a:latin typeface="Times New Roman" pitchFamily="18" charset="0"/>
                <a:ea typeface="华文新魏" pitchFamily="2" charset="-122"/>
              </a:rPr>
              <a:t>key</a:t>
            </a:r>
          </a:p>
          <a:p>
            <a:pPr eaLnBrk="1" hangingPunct="1">
              <a:buFont typeface="Wingdings" pitchFamily="2" charset="2"/>
              <a:buNone/>
            </a:pPr>
            <a:r>
              <a:rPr lang="en-US" altLang="zh-CN" b="1" smtClean="0">
                <a:latin typeface="Times New Roman" pitchFamily="18" charset="0"/>
                <a:ea typeface="华文新魏" pitchFamily="2" charset="-122"/>
              </a:rPr>
              <a:t>    5.6  Lookup(token)→attr;</a:t>
            </a:r>
          </a:p>
          <a:p>
            <a:pPr eaLnBrk="1" hangingPunct="1">
              <a:buFont typeface="Wingdings" pitchFamily="2" charset="2"/>
              <a:buNone/>
            </a:pPr>
            <a:r>
              <a:rPr lang="en-US" altLang="zh-CN" b="1" smtClean="0">
                <a:latin typeface="Times New Roman" pitchFamily="18" charset="0"/>
                <a:ea typeface="华文新魏" pitchFamily="2" charset="-122"/>
              </a:rPr>
              <a:t>    5.7</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RETURN</a:t>
            </a:r>
            <a:r>
              <a:rPr lang="zh-CN" altLang="en-US" b="1" smtClean="0">
                <a:latin typeface="Times New Roman" pitchFamily="18" charset="0"/>
                <a:ea typeface="华文新魏" pitchFamily="2" charset="-122"/>
              </a:rPr>
              <a:t> </a:t>
            </a:r>
            <a:r>
              <a:rPr lang="en-US" altLang="zh-CN" b="1" smtClean="0">
                <a:latin typeface="Times New Roman" pitchFamily="18" charset="0"/>
                <a:ea typeface="华文新魏" pitchFamily="2" charset="-122"/>
              </a:rPr>
              <a:t>ID</a:t>
            </a:r>
          </a:p>
          <a:p>
            <a:pPr eaLnBrk="1" hangingPunct="1">
              <a:buFont typeface="Wingdings" pitchFamily="2" charset="2"/>
              <a:buNone/>
            </a:pPr>
            <a:endParaRPr lang="en-US" altLang="zh-CN"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1298" name="Rectangle 2"/>
          <p:cNvSpPr>
            <a:spLocks noGrp="1" noRot="1" noChangeArrowheads="1"/>
          </p:cNvSpPr>
          <p:nvPr>
            <p:ph type="body" idx="1"/>
          </p:nvPr>
        </p:nvSpPr>
        <p:spPr>
          <a:xfrm>
            <a:off x="381000" y="609600"/>
            <a:ext cx="8458200" cy="5638800"/>
          </a:xfrm>
          <a:noFill/>
        </p:spPr>
        <p:txBody>
          <a:bodyPr lIns="92075" tIns="46038" rIns="92075" bIns="46038"/>
          <a:lstStyle/>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6       ':' : getchar(); </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6.1  IF ch</a:t>
            </a:r>
            <a:r>
              <a:rPr lang="zh-CN" altLang="en-US" sz="2800" b="1" smtClean="0">
                <a:latin typeface="Times New Roman" pitchFamily="18" charset="0"/>
                <a:ea typeface="华文新魏" pitchFamily="2" charset="-122"/>
              </a:rPr>
              <a:t>等于'='  </a:t>
            </a:r>
            <a:r>
              <a:rPr lang="en-US" altLang="zh-CN" sz="2800" b="1" smtClean="0">
                <a:latin typeface="Times New Roman" pitchFamily="18" charset="0"/>
                <a:ea typeface="华文新魏" pitchFamily="2" charset="-122"/>
              </a:rPr>
              <a:t>THEN </a:t>
            </a:r>
            <a:r>
              <a:rPr lang="zh-CN" altLang="en-US" sz="2800" b="1" smtClean="0">
                <a:latin typeface="Times New Roman" pitchFamily="18" charset="0"/>
                <a:ea typeface="华文新魏" pitchFamily="2" charset="-122"/>
              </a:rPr>
              <a:t>返回 </a:t>
            </a:r>
            <a:r>
              <a:rPr lang="en-US" altLang="zh-CN" sz="2800" b="1" smtClean="0">
                <a:latin typeface="Times New Roman" pitchFamily="18" charset="0"/>
                <a:ea typeface="华文新魏" pitchFamily="2" charset="-122"/>
              </a:rPr>
              <a:t>ASGIGN</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6.2</a:t>
            </a:r>
            <a:r>
              <a:rPr lang="zh-CN" altLang="en-US" sz="2800" b="1" smtClean="0">
                <a:latin typeface="Times New Roman" pitchFamily="18" charset="0"/>
                <a:ea typeface="华文新魏" pitchFamily="2" charset="-122"/>
              </a:rPr>
              <a:t>输入指针回退一个字符;返回</a:t>
            </a:r>
            <a:r>
              <a:rPr lang="en-US" altLang="zh-CN" sz="2800" b="1" smtClean="0">
                <a:latin typeface="Times New Roman" pitchFamily="18" charset="0"/>
                <a:ea typeface="华文新魏" pitchFamily="2" charset="-122"/>
              </a:rPr>
              <a:t>COLON</a:t>
            </a:r>
            <a:r>
              <a:rPr lang="zh-CN" altLang="en-US" sz="2800" b="1" smtClean="0">
                <a:latin typeface="Times New Roman" pitchFamily="18" charset="0"/>
                <a:ea typeface="华文新魏" pitchFamily="2" charset="-122"/>
              </a:rPr>
              <a:t> </a:t>
            </a:r>
          </a:p>
          <a:p>
            <a:pPr eaLnBrk="1" hangingPunct="1">
              <a:lnSpc>
                <a:spcPct val="80000"/>
              </a:lnSpc>
              <a:buFont typeface="Wingdings" pitchFamily="2" charset="2"/>
              <a:buNone/>
            </a:pPr>
            <a:r>
              <a:rPr lang="zh-CN" altLang="en-US" sz="2800" b="1" smtClean="0">
                <a:latin typeface="Times New Roman" pitchFamily="18" charset="0"/>
                <a:ea typeface="华文新魏" pitchFamily="2" charset="-122"/>
              </a:rPr>
              <a:t>7      '+' : </a:t>
            </a:r>
            <a:r>
              <a:rPr lang="en-US" altLang="zh-CN" sz="2800" b="1" smtClean="0">
                <a:latin typeface="Times New Roman" pitchFamily="18" charset="0"/>
                <a:ea typeface="华文新魏" pitchFamily="2" charset="-122"/>
              </a:rPr>
              <a:t>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ADD			</a:t>
            </a:r>
            <a:r>
              <a:rPr lang="en-US" altLang="zh-CN" sz="2800" b="1" smtClean="0">
                <a:solidFill>
                  <a:srgbClr val="DF1813"/>
                </a:solidFill>
                <a:latin typeface="Times New Roman" pitchFamily="18" charset="0"/>
                <a:ea typeface="华文新魏" pitchFamily="2" charset="-122"/>
              </a:rPr>
              <a:t>?++</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8      '-' :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MINUS			</a:t>
            </a:r>
            <a:r>
              <a:rPr lang="en-US" altLang="zh-CN" sz="2800" b="1" smtClean="0">
                <a:solidFill>
                  <a:srgbClr val="DF1813"/>
                </a:solidFill>
                <a:latin typeface="Times New Roman" pitchFamily="18" charset="0"/>
                <a:ea typeface="华文新魏" pitchFamily="2" charset="-122"/>
              </a:rPr>
              <a:t>?--</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9      '*' : getchar(); </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9.1  IF ch</a:t>
            </a:r>
            <a:r>
              <a:rPr lang="zh-CN" altLang="en-US" sz="2800" b="1" smtClean="0">
                <a:latin typeface="Times New Roman" pitchFamily="18" charset="0"/>
                <a:ea typeface="华文新魏" pitchFamily="2" charset="-122"/>
              </a:rPr>
              <a:t>等于' *'  </a:t>
            </a:r>
            <a:r>
              <a:rPr lang="en-US" altLang="zh-CN" sz="2800" b="1" smtClean="0">
                <a:latin typeface="Times New Roman" pitchFamily="18" charset="0"/>
                <a:ea typeface="华文新魏" pitchFamily="2" charset="-122"/>
              </a:rPr>
              <a:t>THEN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EXP</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9.2</a:t>
            </a:r>
            <a:r>
              <a:rPr lang="zh-CN" altLang="en-US" sz="2800" b="1" smtClean="0">
                <a:latin typeface="Times New Roman" pitchFamily="18" charset="0"/>
                <a:ea typeface="华文新魏" pitchFamily="2" charset="-122"/>
              </a:rPr>
              <a:t>输入指针回退一个字符;</a:t>
            </a:r>
            <a:r>
              <a:rPr lang="en-US" altLang="zh-CN" sz="2800" b="1" smtClean="0">
                <a:latin typeface="Times New Roman" pitchFamily="18" charset="0"/>
                <a:ea typeface="华文新魏" pitchFamily="2" charset="-122"/>
              </a:rPr>
              <a:t>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MULTI</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10     '/' :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RDIV</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11     '=' :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EQ</a:t>
            </a:r>
          </a:p>
          <a:p>
            <a:pPr algn="just" eaLnBrk="1" hangingPunct="1">
              <a:lnSpc>
                <a:spcPct val="80000"/>
              </a:lnSpc>
              <a:buFont typeface="Wingdings" pitchFamily="2" charset="2"/>
              <a:buNone/>
            </a:pPr>
            <a:r>
              <a:rPr lang="en-US" altLang="zh-CN" sz="2800" b="1" smtClean="0">
                <a:latin typeface="Times New Roman" pitchFamily="18" charset="0"/>
                <a:ea typeface="华文新魏" pitchFamily="2" charset="-122"/>
              </a:rPr>
              <a:t>12     '&gt;' : getchar(); </a:t>
            </a:r>
          </a:p>
          <a:p>
            <a:pPr algn="just" eaLnBrk="1" hangingPunct="1">
              <a:lnSpc>
                <a:spcPct val="80000"/>
              </a:lnSpc>
              <a:buFont typeface="Wingdings" pitchFamily="2" charset="2"/>
              <a:buNone/>
            </a:pPr>
            <a:r>
              <a:rPr lang="en-US" altLang="zh-CN" sz="2800" b="1" smtClean="0">
                <a:latin typeface="Times New Roman" pitchFamily="18" charset="0"/>
                <a:ea typeface="华文新魏" pitchFamily="2" charset="-122"/>
              </a:rPr>
              <a:t> 	12.1  IF ch</a:t>
            </a:r>
            <a:r>
              <a:rPr lang="zh-CN" altLang="en-US" sz="2800" b="1" smtClean="0">
                <a:latin typeface="Times New Roman" pitchFamily="18" charset="0"/>
                <a:ea typeface="华文新魏" pitchFamily="2" charset="-122"/>
              </a:rPr>
              <a:t>等于' </a:t>
            </a:r>
            <a:r>
              <a:rPr lang="en-US" altLang="zh-CN" sz="2800" b="1" smtClean="0">
                <a:latin typeface="Times New Roman" pitchFamily="18" charset="0"/>
                <a:ea typeface="华文新魏" pitchFamily="2" charset="-122"/>
              </a:rPr>
              <a:t>='  THEN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GE</a:t>
            </a:r>
          </a:p>
          <a:p>
            <a:pPr eaLnBrk="1" hangingPunct="1">
              <a:lnSpc>
                <a:spcPct val="80000"/>
              </a:lnSpc>
              <a:buFont typeface="Wingdings" pitchFamily="2" charset="2"/>
              <a:buNone/>
            </a:pPr>
            <a:r>
              <a:rPr lang="en-US" altLang="zh-CN" sz="2800" b="1" smtClean="0">
                <a:latin typeface="Times New Roman" pitchFamily="18" charset="0"/>
                <a:ea typeface="华文新魏" pitchFamily="2" charset="-122"/>
              </a:rPr>
              <a:t>	12.2</a:t>
            </a:r>
            <a:r>
              <a:rPr lang="zh-CN" altLang="en-US" sz="2800" b="1" smtClean="0">
                <a:latin typeface="Times New Roman" pitchFamily="18" charset="0"/>
                <a:ea typeface="华文新魏" pitchFamily="2" charset="-122"/>
              </a:rPr>
              <a:t>输入指针回退一个字符;</a:t>
            </a:r>
            <a:r>
              <a:rPr lang="en-US" altLang="zh-CN" sz="2800" b="1" smtClean="0">
                <a:latin typeface="Times New Roman" pitchFamily="18" charset="0"/>
                <a:ea typeface="华文新魏" pitchFamily="2" charset="-122"/>
              </a:rPr>
              <a:t>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GT</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0C5C4621-CD33-46FF-8B75-42D51460B1E9}" type="slidenum">
              <a:rPr lang="zh-CN" altLang="en-US"/>
              <a:pPr eaLnBrk="1" hangingPunct="1"/>
              <a:t>47</a:t>
            </a:fld>
            <a:endParaRPr lang="en-US" altLang="zh-CN"/>
          </a:p>
        </p:txBody>
      </p:sp>
      <p:sp>
        <p:nvSpPr>
          <p:cNvPr id="403458" name="Rectangle 2"/>
          <p:cNvSpPr>
            <a:spLocks noGrp="1" noRot="1" noChangeArrowheads="1"/>
          </p:cNvSpPr>
          <p:nvPr>
            <p:ph type="body" idx="1"/>
          </p:nvPr>
        </p:nvSpPr>
        <p:spPr>
          <a:xfrm>
            <a:off x="381000" y="908050"/>
            <a:ext cx="8458200" cy="5340350"/>
          </a:xfrm>
          <a:noFill/>
        </p:spPr>
        <p:txBody>
          <a:bodyPr lIns="92075" tIns="46038" rIns="92075" bIns="46038"/>
          <a:lstStyle/>
          <a:p>
            <a:pPr algn="just" eaLnBrk="1" hangingPunct="1">
              <a:buFont typeface="Wingdings" pitchFamily="2" charset="2"/>
              <a:buNone/>
            </a:pPr>
            <a:r>
              <a:rPr lang="en-US" altLang="zh-CN" sz="2800" b="1" smtClean="0">
                <a:latin typeface="Times New Roman" pitchFamily="18" charset="0"/>
                <a:ea typeface="华文新魏" pitchFamily="2" charset="-122"/>
              </a:rPr>
              <a:t>13     '&lt;' : getchar(); </a:t>
            </a:r>
          </a:p>
          <a:p>
            <a:pPr algn="just" eaLnBrk="1" hangingPunct="1">
              <a:buFont typeface="Wingdings" pitchFamily="2" charset="2"/>
              <a:buNone/>
            </a:pPr>
            <a:r>
              <a:rPr lang="en-US" altLang="zh-CN" sz="2800" b="1" smtClean="0">
                <a:latin typeface="Times New Roman" pitchFamily="18" charset="0"/>
                <a:ea typeface="华文新魏" pitchFamily="2" charset="-122"/>
              </a:rPr>
              <a:t> 	13.1  IF ch</a:t>
            </a:r>
            <a:r>
              <a:rPr lang="zh-CN" altLang="en-US" sz="2800" b="1" smtClean="0">
                <a:latin typeface="Times New Roman" pitchFamily="18" charset="0"/>
                <a:ea typeface="华文新魏" pitchFamily="2" charset="-122"/>
              </a:rPr>
              <a:t>等于' </a:t>
            </a:r>
            <a:r>
              <a:rPr lang="en-US" altLang="zh-CN" sz="2800" b="1" smtClean="0">
                <a:latin typeface="Times New Roman" pitchFamily="18" charset="0"/>
                <a:ea typeface="华文新魏" pitchFamily="2" charset="-122"/>
              </a:rPr>
              <a:t>='  THEN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LE</a:t>
            </a:r>
          </a:p>
          <a:p>
            <a:pPr eaLnBrk="1" hangingPunct="1">
              <a:buFont typeface="Wingdings" pitchFamily="2" charset="2"/>
              <a:buNone/>
            </a:pPr>
            <a:r>
              <a:rPr lang="en-US" altLang="zh-CN" sz="2800" b="1" smtClean="0">
                <a:latin typeface="Times New Roman" pitchFamily="18" charset="0"/>
                <a:ea typeface="华文新魏" pitchFamily="2" charset="-122"/>
              </a:rPr>
              <a:t>	13.2  IF ch</a:t>
            </a:r>
            <a:r>
              <a:rPr lang="zh-CN" altLang="en-US" sz="2800" b="1" smtClean="0">
                <a:latin typeface="Times New Roman" pitchFamily="18" charset="0"/>
                <a:ea typeface="华文新魏" pitchFamily="2" charset="-122"/>
              </a:rPr>
              <a:t>等于' </a:t>
            </a:r>
            <a:r>
              <a:rPr lang="en-US" altLang="zh-CN" sz="2800" b="1" smtClean="0">
                <a:latin typeface="Times New Roman" pitchFamily="18" charset="0"/>
                <a:ea typeface="华文新魏" pitchFamily="2" charset="-122"/>
              </a:rPr>
              <a:t>&gt;'  THEN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NE</a:t>
            </a:r>
          </a:p>
          <a:p>
            <a:pPr eaLnBrk="1" hangingPunct="1">
              <a:buFont typeface="Wingdings" pitchFamily="2" charset="2"/>
              <a:buNone/>
            </a:pPr>
            <a:r>
              <a:rPr lang="en-US" altLang="zh-CN" sz="2800" b="1" smtClean="0">
                <a:latin typeface="Times New Roman" pitchFamily="18" charset="0"/>
                <a:ea typeface="华文新魏" pitchFamily="2" charset="-122"/>
              </a:rPr>
              <a:t>    13.3</a:t>
            </a:r>
            <a:r>
              <a:rPr lang="zh-CN" altLang="en-US" sz="2800" b="1" smtClean="0">
                <a:latin typeface="Times New Roman" pitchFamily="18" charset="0"/>
                <a:ea typeface="华文新魏" pitchFamily="2" charset="-122"/>
              </a:rPr>
              <a:t>输入指针回退一个字符;</a:t>
            </a:r>
            <a:r>
              <a:rPr lang="en-US" altLang="zh-CN" sz="2800" b="1" smtClean="0">
                <a:latin typeface="Times New Roman" pitchFamily="18" charset="0"/>
                <a:ea typeface="华文新魏" pitchFamily="2" charset="-122"/>
              </a:rPr>
              <a:t>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LT</a:t>
            </a:r>
          </a:p>
          <a:p>
            <a:pPr algn="just" eaLnBrk="1" hangingPunct="1">
              <a:buFont typeface="Wingdings" pitchFamily="2" charset="2"/>
              <a:buNone/>
            </a:pPr>
            <a:r>
              <a:rPr lang="en-US" altLang="zh-CN" sz="2800" b="1" smtClean="0">
                <a:latin typeface="Times New Roman" pitchFamily="18" charset="0"/>
                <a:ea typeface="华文新魏" pitchFamily="2" charset="-122"/>
              </a:rPr>
              <a:t>14     '(' :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LR_BRAC</a:t>
            </a:r>
          </a:p>
          <a:p>
            <a:pPr algn="just" eaLnBrk="1" hangingPunct="1">
              <a:buFont typeface="Wingdings" pitchFamily="2" charset="2"/>
              <a:buNone/>
            </a:pPr>
            <a:r>
              <a:rPr lang="en-US" altLang="zh-CN" sz="2800" b="1" smtClean="0">
                <a:latin typeface="Times New Roman" pitchFamily="18" charset="0"/>
                <a:ea typeface="华文新魏" pitchFamily="2" charset="-122"/>
              </a:rPr>
              <a:t>15     ')' :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RR_BRAC</a:t>
            </a:r>
          </a:p>
          <a:p>
            <a:pPr algn="just" eaLnBrk="1" hangingPunct="1">
              <a:buFont typeface="Wingdings" pitchFamily="2" charset="2"/>
              <a:buNone/>
            </a:pPr>
            <a:r>
              <a:rPr lang="en-US" altLang="zh-CN" sz="2800" b="1" smtClean="0">
                <a:latin typeface="Times New Roman" pitchFamily="18" charset="0"/>
                <a:ea typeface="华文新魏" pitchFamily="2" charset="-122"/>
              </a:rPr>
              <a:t>16     ';' :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SEMI</a:t>
            </a:r>
          </a:p>
          <a:p>
            <a:pPr algn="just" eaLnBrk="1" hangingPunct="1">
              <a:buFont typeface="Wingdings" pitchFamily="2" charset="2"/>
              <a:buNone/>
            </a:pPr>
            <a:r>
              <a:rPr lang="en-US" altLang="zh-CN" sz="2800" b="1" smtClean="0">
                <a:latin typeface="Times New Roman" pitchFamily="18" charset="0"/>
                <a:ea typeface="华文新魏" pitchFamily="2" charset="-122"/>
              </a:rPr>
              <a:t>17     ‘,' : RETURN </a:t>
            </a:r>
            <a:r>
              <a:rPr lang="zh-CN" altLang="en-US" sz="2800" b="1" smtClean="0">
                <a:latin typeface="Times New Roman" pitchFamily="18" charset="0"/>
                <a:ea typeface="华文新魏" pitchFamily="2" charset="-122"/>
              </a:rPr>
              <a:t> </a:t>
            </a:r>
            <a:r>
              <a:rPr lang="en-US" altLang="zh-CN" sz="2800" b="1" smtClean="0">
                <a:latin typeface="Times New Roman" pitchFamily="18" charset="0"/>
                <a:ea typeface="华文新魏" pitchFamily="2" charset="-122"/>
              </a:rPr>
              <a:t>COMMA</a:t>
            </a:r>
          </a:p>
          <a:p>
            <a:pPr algn="just" eaLnBrk="1" hangingPunct="1">
              <a:buFont typeface="Wingdings" pitchFamily="2" charset="2"/>
              <a:buNone/>
            </a:pPr>
            <a:r>
              <a:rPr lang="en-US" altLang="zh-CN" sz="2800" b="1" smtClean="0">
                <a:latin typeface="Times New Roman" pitchFamily="18" charset="0"/>
                <a:ea typeface="华文新魏" pitchFamily="2" charset="-122"/>
              </a:rPr>
              <a:t>18    </a:t>
            </a:r>
            <a:r>
              <a:rPr lang="zh-CN" altLang="en-US" sz="2800" b="1" smtClean="0">
                <a:latin typeface="Times New Roman" pitchFamily="18" charset="0"/>
                <a:ea typeface="华文新魏" pitchFamily="2" charset="-122"/>
              </a:rPr>
              <a:t>其它 :  出错处理</a:t>
            </a:r>
          </a:p>
          <a:p>
            <a:pPr algn="just" eaLnBrk="1" hangingPunct="1">
              <a:buFont typeface="Wingdings" pitchFamily="2" charset="2"/>
              <a:buNone/>
            </a:pPr>
            <a:r>
              <a:rPr lang="zh-CN" altLang="en-US" sz="2800" b="1" smtClean="0">
                <a:latin typeface="Times New Roman" pitchFamily="18" charset="0"/>
                <a:ea typeface="华文新魏" pitchFamily="2" charset="-122"/>
              </a:rPr>
              <a:t>1</a:t>
            </a:r>
            <a:r>
              <a:rPr lang="en-US" altLang="zh-CN" sz="2800" b="1" smtClean="0">
                <a:latin typeface="Times New Roman" pitchFamily="18" charset="0"/>
                <a:ea typeface="华文新魏" pitchFamily="2" charset="-122"/>
              </a:rPr>
              <a:t>9   END OF CASE</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B57EBF-23E2-4D1A-A85C-5A2CCC2FB4A4}" type="slidenum">
              <a:rPr lang="zh-CN" altLang="en-US"/>
              <a:pPr eaLnBrk="1" hangingPunct="1"/>
              <a:t>48</a:t>
            </a:fld>
            <a:endParaRPr lang="en-US" altLang="zh-CN"/>
          </a:p>
        </p:txBody>
      </p:sp>
      <p:sp>
        <p:nvSpPr>
          <p:cNvPr id="59395" name="Rectangle 2"/>
          <p:cNvSpPr>
            <a:spLocks noGrp="1" noRot="1" noChangeArrowheads="1"/>
          </p:cNvSpPr>
          <p:nvPr>
            <p:ph type="title"/>
          </p:nvPr>
        </p:nvSpPr>
        <p:spPr>
          <a:xfrm>
            <a:off x="303213" y="188913"/>
            <a:ext cx="7940675" cy="1008062"/>
          </a:xfrm>
          <a:noFill/>
        </p:spPr>
        <p:txBody>
          <a:bodyPr lIns="92075" tIns="46038" rIns="92075" bIns="46038"/>
          <a:lstStyle/>
          <a:p>
            <a:pPr eaLnBrk="1" hangingPunct="1"/>
            <a:r>
              <a:rPr lang="en-US" altLang="zh-CN" sz="4800" b="1" smtClean="0">
                <a:solidFill>
                  <a:srgbClr val="000099"/>
                </a:solidFill>
                <a:latin typeface="Times New Roman" pitchFamily="18" charset="0"/>
                <a:ea typeface="华文新魏" pitchFamily="2" charset="-122"/>
              </a:rPr>
              <a:t>2. </a:t>
            </a:r>
            <a:r>
              <a:rPr lang="zh-CN" altLang="en-US" sz="4800" b="1" smtClean="0">
                <a:solidFill>
                  <a:srgbClr val="000099"/>
                </a:solidFill>
                <a:latin typeface="Times New Roman" pitchFamily="18" charset="0"/>
                <a:ea typeface="华文新魏" pitchFamily="2" charset="-122"/>
              </a:rPr>
              <a:t>需要说明的问题</a:t>
            </a:r>
          </a:p>
        </p:txBody>
      </p:sp>
      <p:sp>
        <p:nvSpPr>
          <p:cNvPr id="312323" name="Rectangle 3"/>
          <p:cNvSpPr>
            <a:spLocks noGrp="1" noRot="1" noChangeArrowheads="1"/>
          </p:cNvSpPr>
          <p:nvPr>
            <p:ph type="body" idx="1"/>
          </p:nvPr>
        </p:nvSpPr>
        <p:spPr>
          <a:xfrm>
            <a:off x="468313" y="1125538"/>
            <a:ext cx="8447087" cy="5472112"/>
          </a:xfrm>
          <a:noFill/>
        </p:spPr>
        <p:txBody>
          <a:bodyPr lIns="92075" tIns="46038" rIns="92075" bIns="46038"/>
          <a:lstStyle/>
          <a:p>
            <a:pPr algn="just" eaLnBrk="1" hangingPunct="1">
              <a:spcBef>
                <a:spcPct val="30000"/>
              </a:spcBef>
            </a:pPr>
            <a:r>
              <a:rPr lang="zh-CN" altLang="en-US" b="1" smtClean="0">
                <a:latin typeface="Times New Roman" pitchFamily="18" charset="0"/>
                <a:ea typeface="华文新魏" pitchFamily="2" charset="-122"/>
              </a:rPr>
              <a:t>缓冲区预处理</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去无用字符</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，超前搜索</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回退</a:t>
            </a:r>
            <a:r>
              <a:rPr lang="en-US" altLang="zh-CN" b="1" smtClean="0">
                <a:latin typeface="Times New Roman" pitchFamily="18" charset="0"/>
                <a:ea typeface="华文新魏" pitchFamily="2" charset="-122"/>
              </a:rPr>
              <a:t>)</a:t>
            </a:r>
          </a:p>
          <a:p>
            <a:pPr algn="just" eaLnBrk="1" hangingPunct="1">
              <a:spcBef>
                <a:spcPct val="30000"/>
              </a:spcBef>
            </a:pPr>
            <a:r>
              <a:rPr lang="zh-CN" altLang="en-US" b="1" smtClean="0">
                <a:latin typeface="Times New Roman" pitchFamily="18" charset="0"/>
                <a:ea typeface="华文新魏" pitchFamily="2" charset="-122"/>
              </a:rPr>
              <a:t>关键字的处理，符号表的实现</a:t>
            </a:r>
          </a:p>
          <a:p>
            <a:pPr algn="just" eaLnBrk="1" hangingPunct="1">
              <a:spcBef>
                <a:spcPct val="30000"/>
              </a:spcBef>
            </a:pPr>
            <a:r>
              <a:rPr lang="en-US" altLang="zh-CN" b="1" smtClean="0">
                <a:latin typeface="Times New Roman" pitchFamily="18" charset="0"/>
                <a:ea typeface="华文新魏" pitchFamily="2" charset="-122"/>
              </a:rPr>
              <a:t>Lookup：</a:t>
            </a:r>
            <a:r>
              <a:rPr lang="zh-CN" altLang="en-US" b="1" smtClean="0">
                <a:latin typeface="Times New Roman" pitchFamily="18" charset="0"/>
                <a:ea typeface="华文新魏" pitchFamily="2" charset="-122"/>
              </a:rPr>
              <a:t>查找效率，算法的优化实现</a:t>
            </a:r>
          </a:p>
          <a:p>
            <a:pPr algn="just" eaLnBrk="1" hangingPunct="1">
              <a:spcBef>
                <a:spcPct val="30000"/>
              </a:spcBef>
            </a:pPr>
            <a:r>
              <a:rPr lang="zh-CN" altLang="en-US" b="1" smtClean="0">
                <a:latin typeface="Times New Roman" pitchFamily="18" charset="0"/>
                <a:ea typeface="华文新魏" pitchFamily="2" charset="-122"/>
              </a:rPr>
              <a:t>词法错误处理</a:t>
            </a:r>
          </a:p>
          <a:p>
            <a:pPr algn="just" eaLnBrk="1" hangingPunct="1">
              <a:spcBef>
                <a:spcPct val="30000"/>
              </a:spcBef>
            </a:pPr>
            <a:r>
              <a:rPr lang="zh-CN" altLang="en-US" b="1" smtClean="0">
                <a:latin typeface="Times New Roman" pitchFamily="18" charset="0"/>
                <a:ea typeface="华文新魏" pitchFamily="2" charset="-122"/>
              </a:rPr>
              <a:t>由于高级语言的词组成的集合为3型语言，所以，这里讨论的词法分析技术可以用于处理所有的3型语言，也就是所有的可以用3型文法描述的语言。如：信息检索系统的查询语言、命令语言等</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0AA894A5-E286-4230-AE72-5E3DEB7555DC}" type="slidenum">
              <a:rPr lang="zh-CN" altLang="en-US"/>
              <a:pPr eaLnBrk="1" hangingPunct="1"/>
              <a:t>49</a:t>
            </a:fld>
            <a:endParaRPr lang="en-US" altLang="zh-CN"/>
          </a:p>
        </p:txBody>
      </p:sp>
      <p:sp>
        <p:nvSpPr>
          <p:cNvPr id="60419" name="Rectangle 2"/>
          <p:cNvSpPr>
            <a:spLocks noGrp="1" noRot="1" noChangeArrowheads="1"/>
          </p:cNvSpPr>
          <p:nvPr>
            <p:ph type="title"/>
          </p:nvPr>
        </p:nvSpPr>
        <p:spPr>
          <a:xfrm>
            <a:off x="301625" y="476250"/>
            <a:ext cx="7870825" cy="1276350"/>
          </a:xfrm>
        </p:spPr>
        <p:txBody>
          <a:bodyPr/>
          <a:lstStyle/>
          <a:p>
            <a:pPr algn="l" eaLnBrk="1" hangingPunct="1"/>
            <a:r>
              <a:rPr lang="en-US" altLang="zh-CN" b="1" smtClean="0">
                <a:solidFill>
                  <a:srgbClr val="000099"/>
                </a:solidFill>
                <a:latin typeface="Times New Roman" pitchFamily="18" charset="0"/>
                <a:ea typeface="华文新魏" pitchFamily="2" charset="-122"/>
              </a:rPr>
              <a:t>3. </a:t>
            </a:r>
            <a:r>
              <a:rPr lang="zh-CN" altLang="en-US" b="1" smtClean="0">
                <a:solidFill>
                  <a:srgbClr val="000099"/>
                </a:solidFill>
                <a:latin typeface="Times New Roman" pitchFamily="18" charset="0"/>
                <a:ea typeface="华文新魏" pitchFamily="2" charset="-122"/>
              </a:rPr>
              <a:t>扫描器的自动生成</a:t>
            </a:r>
            <a:br>
              <a:rPr lang="zh-CN" altLang="en-US" b="1" smtClean="0">
                <a:solidFill>
                  <a:srgbClr val="000099"/>
                </a:solidFill>
                <a:latin typeface="Times New Roman" pitchFamily="18" charset="0"/>
                <a:ea typeface="华文新魏" pitchFamily="2" charset="-122"/>
              </a:rPr>
            </a:br>
            <a:r>
              <a:rPr lang="zh-CN" altLang="en-US" sz="3600" b="1" smtClean="0">
                <a:solidFill>
                  <a:srgbClr val="000099"/>
                </a:solidFill>
                <a:latin typeface="Times New Roman" pitchFamily="18" charset="0"/>
                <a:ea typeface="华文新魏" pitchFamily="2" charset="-122"/>
              </a:rPr>
              <a:t>			</a:t>
            </a:r>
            <a:r>
              <a:rPr lang="en-US" altLang="zh-CN" sz="3600" b="1" smtClean="0">
                <a:solidFill>
                  <a:srgbClr val="000099"/>
                </a:solidFill>
                <a:latin typeface="Times New Roman" pitchFamily="18" charset="0"/>
                <a:ea typeface="华文新魏" pitchFamily="2" charset="-122"/>
              </a:rPr>
              <a:t>——</a:t>
            </a:r>
            <a:r>
              <a:rPr lang="zh-CN" altLang="en-US" sz="3600" b="1" smtClean="0">
                <a:solidFill>
                  <a:srgbClr val="000099"/>
                </a:solidFill>
                <a:latin typeface="Times New Roman" pitchFamily="18" charset="0"/>
                <a:ea typeface="华文新魏" pitchFamily="2" charset="-122"/>
              </a:rPr>
              <a:t>实现过程</a:t>
            </a:r>
          </a:p>
        </p:txBody>
      </p:sp>
      <p:sp>
        <p:nvSpPr>
          <p:cNvPr id="314371" name="Rectangle 3"/>
          <p:cNvSpPr>
            <a:spLocks noGrp="1" noRot="1" noChangeArrowheads="1"/>
          </p:cNvSpPr>
          <p:nvPr>
            <p:ph type="body" idx="1"/>
          </p:nvPr>
        </p:nvSpPr>
        <p:spPr>
          <a:xfrm>
            <a:off x="381000" y="2286000"/>
            <a:ext cx="2133600" cy="609600"/>
          </a:xfrm>
        </p:spPr>
        <p:txBody>
          <a:bodyPr/>
          <a:lstStyle/>
          <a:p>
            <a:pPr eaLnBrk="1" hangingPunct="1">
              <a:buFont typeface="Wingdings" pitchFamily="2" charset="2"/>
              <a:buNone/>
            </a:pPr>
            <a:r>
              <a:rPr lang="en-US" altLang="zh-CN" b="1" smtClean="0">
                <a:latin typeface="Times New Roman" pitchFamily="18" charset="0"/>
                <a:ea typeface="华文新魏" pitchFamily="2" charset="-122"/>
              </a:rPr>
              <a:t>Lex</a:t>
            </a:r>
            <a:r>
              <a:rPr lang="zh-CN" altLang="en-US" b="1" smtClean="0">
                <a:latin typeface="Times New Roman" pitchFamily="18" charset="0"/>
                <a:ea typeface="华文新魏" pitchFamily="2" charset="-122"/>
              </a:rPr>
              <a:t>源程序</a:t>
            </a:r>
          </a:p>
        </p:txBody>
      </p:sp>
      <p:sp>
        <p:nvSpPr>
          <p:cNvPr id="314372" name="Rectangle 4"/>
          <p:cNvSpPr>
            <a:spLocks noChangeArrowheads="1"/>
          </p:cNvSpPr>
          <p:nvPr/>
        </p:nvSpPr>
        <p:spPr bwMode="auto">
          <a:xfrm>
            <a:off x="6705600" y="2209800"/>
            <a:ext cx="2133600" cy="609600"/>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latin typeface="Times New Roman" pitchFamily="18" charset="0"/>
              </a:rPr>
              <a:t>Lex.yy.c</a:t>
            </a:r>
          </a:p>
        </p:txBody>
      </p:sp>
      <p:sp>
        <p:nvSpPr>
          <p:cNvPr id="314373" name="Rectangle 5"/>
          <p:cNvSpPr>
            <a:spLocks noChangeArrowheads="1"/>
          </p:cNvSpPr>
          <p:nvPr/>
        </p:nvSpPr>
        <p:spPr bwMode="auto">
          <a:xfrm>
            <a:off x="3124200" y="2286000"/>
            <a:ext cx="2133600" cy="609600"/>
          </a:xfrm>
          <a:prstGeom prst="rect">
            <a:avLst/>
          </a:prstGeom>
          <a:no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latin typeface="Times New Roman" pitchFamily="18" charset="0"/>
                <a:ea typeface="华文新魏" pitchFamily="2" charset="-122"/>
              </a:rPr>
              <a:t>Lex</a:t>
            </a:r>
            <a:r>
              <a:rPr kumimoji="1" lang="zh-CN" altLang="en-US" sz="3200" b="1">
                <a:effectLst>
                  <a:outerShdw blurRad="38100" dist="38100" dir="2700000" algn="tl">
                    <a:srgbClr val="C0C0C0"/>
                  </a:outerShdw>
                </a:effectLst>
                <a:latin typeface="Times New Roman" pitchFamily="18" charset="0"/>
                <a:ea typeface="华文新魏" pitchFamily="2" charset="-122"/>
              </a:rPr>
              <a:t>编译器</a:t>
            </a:r>
          </a:p>
        </p:txBody>
      </p:sp>
      <p:sp>
        <p:nvSpPr>
          <p:cNvPr id="314374" name="Rectangle 6"/>
          <p:cNvSpPr>
            <a:spLocks noChangeArrowheads="1"/>
          </p:cNvSpPr>
          <p:nvPr/>
        </p:nvSpPr>
        <p:spPr bwMode="auto">
          <a:xfrm>
            <a:off x="6477000" y="3581400"/>
            <a:ext cx="2667000" cy="609600"/>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3200" b="1">
                <a:effectLst>
                  <a:outerShdw blurRad="38100" dist="38100" dir="2700000" algn="tl">
                    <a:srgbClr val="C0C0C0"/>
                  </a:outerShdw>
                </a:effectLst>
                <a:latin typeface="Times New Roman" pitchFamily="18" charset="0"/>
                <a:ea typeface="华文新魏" pitchFamily="2" charset="-122"/>
              </a:rPr>
              <a:t>词法分析器</a:t>
            </a:r>
            <a:r>
              <a:rPr kumimoji="1" lang="en-US" altLang="zh-CN" sz="3200" b="1">
                <a:effectLst>
                  <a:outerShdw blurRad="38100" dist="38100" dir="2700000" algn="tl">
                    <a:srgbClr val="C0C0C0"/>
                  </a:outerShdw>
                </a:effectLst>
                <a:latin typeface="Times New Roman" pitchFamily="18" charset="0"/>
                <a:ea typeface="华文新魏" pitchFamily="2" charset="-122"/>
              </a:rPr>
              <a:t>L</a:t>
            </a:r>
          </a:p>
        </p:txBody>
      </p:sp>
      <p:sp>
        <p:nvSpPr>
          <p:cNvPr id="314375" name="Rectangle 7"/>
          <p:cNvSpPr>
            <a:spLocks noChangeArrowheads="1"/>
          </p:cNvSpPr>
          <p:nvPr/>
        </p:nvSpPr>
        <p:spPr bwMode="auto">
          <a:xfrm>
            <a:off x="457200" y="3581400"/>
            <a:ext cx="2133600" cy="609600"/>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latin typeface="Times New Roman" pitchFamily="18" charset="0"/>
              </a:rPr>
              <a:t>Lex.yy.c</a:t>
            </a:r>
          </a:p>
        </p:txBody>
      </p:sp>
      <p:sp>
        <p:nvSpPr>
          <p:cNvPr id="314376" name="Rectangle 8"/>
          <p:cNvSpPr>
            <a:spLocks noChangeArrowheads="1"/>
          </p:cNvSpPr>
          <p:nvPr/>
        </p:nvSpPr>
        <p:spPr bwMode="auto">
          <a:xfrm>
            <a:off x="3276600" y="3581400"/>
            <a:ext cx="1828800" cy="609600"/>
          </a:xfrm>
          <a:prstGeom prst="rect">
            <a:avLst/>
          </a:prstGeom>
          <a:no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latin typeface="Times New Roman" pitchFamily="18" charset="0"/>
                <a:ea typeface="华文新魏" pitchFamily="2" charset="-122"/>
              </a:rPr>
              <a:t>C</a:t>
            </a:r>
            <a:r>
              <a:rPr kumimoji="1" lang="zh-CN" altLang="en-US" sz="3200" b="1">
                <a:effectLst>
                  <a:outerShdw blurRad="38100" dist="38100" dir="2700000" algn="tl">
                    <a:srgbClr val="C0C0C0"/>
                  </a:outerShdw>
                </a:effectLst>
                <a:latin typeface="Times New Roman" pitchFamily="18" charset="0"/>
                <a:ea typeface="华文新魏" pitchFamily="2" charset="-122"/>
              </a:rPr>
              <a:t>编译器</a:t>
            </a:r>
          </a:p>
        </p:txBody>
      </p:sp>
      <p:sp>
        <p:nvSpPr>
          <p:cNvPr id="314377" name="Rectangle 9"/>
          <p:cNvSpPr>
            <a:spLocks noChangeArrowheads="1"/>
          </p:cNvSpPr>
          <p:nvPr/>
        </p:nvSpPr>
        <p:spPr bwMode="auto">
          <a:xfrm>
            <a:off x="6477000" y="5105400"/>
            <a:ext cx="2133600" cy="609600"/>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en-US" altLang="zh-CN" sz="3200" b="1">
                <a:effectLst>
                  <a:outerShdw blurRad="38100" dist="38100" dir="2700000" algn="tl">
                    <a:srgbClr val="C0C0C0"/>
                  </a:outerShdw>
                </a:effectLst>
                <a:latin typeface="Times New Roman" pitchFamily="18" charset="0"/>
                <a:ea typeface="华文新魏" pitchFamily="2" charset="-122"/>
              </a:rPr>
              <a:t>Token</a:t>
            </a:r>
            <a:r>
              <a:rPr kumimoji="1" lang="zh-CN" altLang="en-US" sz="3200" b="1">
                <a:effectLst>
                  <a:outerShdw blurRad="38100" dist="38100" dir="2700000" algn="tl">
                    <a:srgbClr val="C0C0C0"/>
                  </a:outerShdw>
                </a:effectLst>
                <a:latin typeface="Times New Roman" pitchFamily="18" charset="0"/>
                <a:ea typeface="华文新魏" pitchFamily="2" charset="-122"/>
              </a:rPr>
              <a:t>序列</a:t>
            </a:r>
          </a:p>
        </p:txBody>
      </p:sp>
      <p:sp>
        <p:nvSpPr>
          <p:cNvPr id="314378" name="Rectangle 10"/>
          <p:cNvSpPr>
            <a:spLocks noChangeArrowheads="1"/>
          </p:cNvSpPr>
          <p:nvPr/>
        </p:nvSpPr>
        <p:spPr bwMode="auto">
          <a:xfrm>
            <a:off x="2971800" y="5105400"/>
            <a:ext cx="2590800" cy="609600"/>
          </a:xfrm>
          <a:prstGeom prst="rect">
            <a:avLst/>
          </a:prstGeom>
          <a:noFill/>
          <a:ln w="9525">
            <a:solidFill>
              <a:schemeClr val="tx1"/>
            </a:solid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3200" b="1">
                <a:effectLst>
                  <a:outerShdw blurRad="38100" dist="38100" dir="2700000" algn="tl">
                    <a:srgbClr val="C0C0C0"/>
                  </a:outerShdw>
                </a:effectLst>
                <a:latin typeface="Times New Roman" pitchFamily="18" charset="0"/>
                <a:ea typeface="华文新魏" pitchFamily="2" charset="-122"/>
              </a:rPr>
              <a:t>词法分析器</a:t>
            </a:r>
            <a:r>
              <a:rPr kumimoji="1" lang="en-US" altLang="zh-CN" sz="3200" b="1">
                <a:effectLst>
                  <a:outerShdw blurRad="38100" dist="38100" dir="2700000" algn="tl">
                    <a:srgbClr val="C0C0C0"/>
                  </a:outerShdw>
                </a:effectLst>
                <a:latin typeface="Times New Roman" pitchFamily="18" charset="0"/>
                <a:ea typeface="华文新魏" pitchFamily="2" charset="-122"/>
              </a:rPr>
              <a:t>L</a:t>
            </a:r>
          </a:p>
        </p:txBody>
      </p:sp>
      <p:sp>
        <p:nvSpPr>
          <p:cNvPr id="314379" name="Rectangle 11"/>
          <p:cNvSpPr>
            <a:spLocks noChangeArrowheads="1"/>
          </p:cNvSpPr>
          <p:nvPr/>
        </p:nvSpPr>
        <p:spPr bwMode="auto">
          <a:xfrm>
            <a:off x="457200" y="5181600"/>
            <a:ext cx="2133600" cy="609600"/>
          </a:xfrm>
          <a:prstGeom prst="rect">
            <a:avLst/>
          </a:prstGeom>
          <a:noFill/>
          <a:ln w="9525">
            <a:noFill/>
            <a:miter lim="800000"/>
            <a:headEnd/>
            <a:tailEnd/>
          </a:ln>
          <a:effectLst/>
        </p:spPr>
        <p:txBody>
          <a:bodyPr lIns="92075" tIns="46038" rIns="92075" bIns="46038"/>
          <a:lstStyle/>
          <a:p>
            <a:pPr marL="342900" indent="-342900" eaLnBrk="0" hangingPunct="0">
              <a:spcBef>
                <a:spcPct val="20000"/>
              </a:spcBef>
              <a:buClr>
                <a:schemeClr val="tx2"/>
              </a:buClr>
              <a:buSzPct val="75000"/>
              <a:buFont typeface="Monotype Sorts" pitchFamily="2" charset="2"/>
              <a:buNone/>
              <a:defRPr/>
            </a:pPr>
            <a:r>
              <a:rPr kumimoji="1" lang="zh-CN" altLang="en-US" sz="3200" b="1">
                <a:effectLst>
                  <a:outerShdw blurRad="38100" dist="38100" dir="2700000" algn="tl">
                    <a:srgbClr val="C0C0C0"/>
                  </a:outerShdw>
                </a:effectLst>
                <a:latin typeface="Times New Roman" pitchFamily="18" charset="0"/>
                <a:ea typeface="华文新魏" pitchFamily="2" charset="-122"/>
              </a:rPr>
              <a:t>输入流</a:t>
            </a:r>
          </a:p>
        </p:txBody>
      </p:sp>
      <p:sp>
        <p:nvSpPr>
          <p:cNvPr id="314380" name="AutoShape 12"/>
          <p:cNvSpPr>
            <a:spLocks noChangeArrowheads="1"/>
          </p:cNvSpPr>
          <p:nvPr/>
        </p:nvSpPr>
        <p:spPr bwMode="auto">
          <a:xfrm>
            <a:off x="1981200" y="5410200"/>
            <a:ext cx="990600" cy="76200"/>
          </a:xfrm>
          <a:prstGeom prst="rightArrow">
            <a:avLst>
              <a:gd name="adj1" fmla="val 50000"/>
              <a:gd name="adj2" fmla="val 3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14381" name="AutoShape 13"/>
          <p:cNvSpPr>
            <a:spLocks noChangeArrowheads="1"/>
          </p:cNvSpPr>
          <p:nvPr/>
        </p:nvSpPr>
        <p:spPr bwMode="auto">
          <a:xfrm>
            <a:off x="5562600" y="5410200"/>
            <a:ext cx="990600" cy="76200"/>
          </a:xfrm>
          <a:prstGeom prst="rightArrow">
            <a:avLst>
              <a:gd name="adj1" fmla="val 50000"/>
              <a:gd name="adj2" fmla="val 3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14382" name="AutoShape 14"/>
          <p:cNvSpPr>
            <a:spLocks noChangeArrowheads="1"/>
          </p:cNvSpPr>
          <p:nvPr/>
        </p:nvSpPr>
        <p:spPr bwMode="auto">
          <a:xfrm flipV="1">
            <a:off x="5105400" y="3810000"/>
            <a:ext cx="1524000" cy="152400"/>
          </a:xfrm>
          <a:prstGeom prst="rightArrow">
            <a:avLst>
              <a:gd name="adj1" fmla="val 50000"/>
              <a:gd name="adj2" fmla="val 2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14383" name="AutoShape 15"/>
          <p:cNvSpPr>
            <a:spLocks noChangeArrowheads="1"/>
          </p:cNvSpPr>
          <p:nvPr/>
        </p:nvSpPr>
        <p:spPr bwMode="auto">
          <a:xfrm>
            <a:off x="2057400" y="3886200"/>
            <a:ext cx="1219200" cy="152400"/>
          </a:xfrm>
          <a:prstGeom prst="rightArrow">
            <a:avLst>
              <a:gd name="adj1" fmla="val 50000"/>
              <a:gd name="adj2" fmla="val 20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14384" name="AutoShape 16"/>
          <p:cNvSpPr>
            <a:spLocks noChangeArrowheads="1"/>
          </p:cNvSpPr>
          <p:nvPr/>
        </p:nvSpPr>
        <p:spPr bwMode="auto">
          <a:xfrm flipV="1">
            <a:off x="2286000" y="2514600"/>
            <a:ext cx="838200" cy="152400"/>
          </a:xfrm>
          <a:prstGeom prst="rightArrow">
            <a:avLst>
              <a:gd name="adj1" fmla="val 50000"/>
              <a:gd name="adj2" fmla="val 1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14385" name="AutoShape 17"/>
          <p:cNvSpPr>
            <a:spLocks noChangeArrowheads="1"/>
          </p:cNvSpPr>
          <p:nvPr/>
        </p:nvSpPr>
        <p:spPr bwMode="auto">
          <a:xfrm flipV="1">
            <a:off x="5257800" y="2514600"/>
            <a:ext cx="1524000" cy="152400"/>
          </a:xfrm>
          <a:prstGeom prst="rightArrow">
            <a:avLst>
              <a:gd name="adj1" fmla="val 50000"/>
              <a:gd name="adj2" fmla="val 2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73D388D-F2B2-4C40-9C98-BE8E29D56B4E}" type="slidenum">
              <a:rPr lang="zh-CN" altLang="en-US"/>
              <a:pPr eaLnBrk="1" hangingPunct="1"/>
              <a:t>50</a:t>
            </a:fld>
            <a:endParaRPr lang="en-US" altLang="zh-CN"/>
          </a:p>
        </p:txBody>
      </p:sp>
      <p:sp>
        <p:nvSpPr>
          <p:cNvPr id="61443" name="Rectangle 2"/>
          <p:cNvSpPr>
            <a:spLocks noGrp="1" noRot="1" noChangeArrowheads="1"/>
          </p:cNvSpPr>
          <p:nvPr>
            <p:ph type="title"/>
          </p:nvPr>
        </p:nvSpPr>
        <p:spPr>
          <a:xfrm>
            <a:off x="301625" y="620713"/>
            <a:ext cx="8447088" cy="1131887"/>
          </a:xfrm>
        </p:spPr>
        <p:txBody>
          <a:bodyPr/>
          <a:lstStyle/>
          <a:p>
            <a:pPr algn="l" eaLnBrk="1" hangingPunct="1"/>
            <a:r>
              <a:rPr lang="en-US" altLang="zh-CN" b="1" smtClean="0">
                <a:solidFill>
                  <a:srgbClr val="000099"/>
                </a:solidFill>
                <a:latin typeface="Times New Roman" pitchFamily="18" charset="0"/>
                <a:ea typeface="华文新魏" pitchFamily="2" charset="-122"/>
              </a:rPr>
              <a:t>3. </a:t>
            </a:r>
            <a:r>
              <a:rPr lang="zh-CN" altLang="en-US" b="1" smtClean="0">
                <a:solidFill>
                  <a:srgbClr val="000099"/>
                </a:solidFill>
                <a:latin typeface="Times New Roman" pitchFamily="18" charset="0"/>
                <a:ea typeface="华文新魏" pitchFamily="2" charset="-122"/>
              </a:rPr>
              <a:t>扫描器的自动生成</a:t>
            </a:r>
            <a:br>
              <a:rPr lang="zh-CN" altLang="en-US" b="1" smtClean="0">
                <a:solidFill>
                  <a:srgbClr val="000099"/>
                </a:solidFill>
                <a:latin typeface="Times New Roman" pitchFamily="18" charset="0"/>
                <a:ea typeface="华文新魏" pitchFamily="2" charset="-122"/>
              </a:rPr>
            </a:br>
            <a:r>
              <a:rPr lang="zh-CN" altLang="en-US" sz="3600" b="1" smtClean="0">
                <a:solidFill>
                  <a:srgbClr val="000099"/>
                </a:solidFill>
                <a:latin typeface="Times New Roman" pitchFamily="18" charset="0"/>
                <a:ea typeface="华文新魏" pitchFamily="2" charset="-122"/>
              </a:rPr>
              <a:t>			</a:t>
            </a:r>
            <a:r>
              <a:rPr lang="en-US" altLang="zh-CN" sz="3600" b="1" smtClean="0">
                <a:solidFill>
                  <a:srgbClr val="000099"/>
                </a:solidFill>
                <a:latin typeface="Times New Roman" pitchFamily="18" charset="0"/>
                <a:ea typeface="华文新魏" pitchFamily="2" charset="-122"/>
              </a:rPr>
              <a:t>——Lex</a:t>
            </a:r>
            <a:r>
              <a:rPr lang="zh-CN" altLang="en-US" sz="3600" b="1" smtClean="0">
                <a:solidFill>
                  <a:srgbClr val="000099"/>
                </a:solidFill>
                <a:latin typeface="Times New Roman" pitchFamily="18" charset="0"/>
                <a:ea typeface="华文新魏" pitchFamily="2" charset="-122"/>
              </a:rPr>
              <a:t>程序结构</a:t>
            </a:r>
            <a:r>
              <a:rPr lang="en-US" altLang="zh-CN" sz="3600" b="1" smtClean="0">
                <a:solidFill>
                  <a:srgbClr val="000099"/>
                </a:solidFill>
                <a:latin typeface="Times New Roman" pitchFamily="18" charset="0"/>
                <a:ea typeface="华文新魏" pitchFamily="2" charset="-122"/>
              </a:rPr>
              <a:t>(P109)</a:t>
            </a:r>
          </a:p>
        </p:txBody>
      </p:sp>
      <p:sp>
        <p:nvSpPr>
          <p:cNvPr id="315395" name="Rectangle 3"/>
          <p:cNvSpPr>
            <a:spLocks noGrp="1" noRot="1" noChangeArrowheads="1"/>
          </p:cNvSpPr>
          <p:nvPr>
            <p:ph type="body" idx="1"/>
          </p:nvPr>
        </p:nvSpPr>
        <p:spPr>
          <a:xfrm>
            <a:off x="1371600" y="2286000"/>
            <a:ext cx="2133600" cy="3962400"/>
          </a:xfrm>
        </p:spPr>
        <p:txBody>
          <a:bodyPr/>
          <a:lstStyle/>
          <a:p>
            <a:pPr eaLnBrk="1" hangingPunct="1">
              <a:buFont typeface="Wingdings" pitchFamily="2" charset="2"/>
              <a:buNone/>
            </a:pPr>
            <a:r>
              <a:rPr lang="zh-CN" altLang="en-US" b="1" smtClean="0">
                <a:latin typeface="Times New Roman" pitchFamily="18" charset="0"/>
                <a:ea typeface="华文新魏" pitchFamily="2" charset="-122"/>
              </a:rPr>
              <a:t>声明部分</a:t>
            </a:r>
          </a:p>
          <a:p>
            <a:pPr eaLnBrk="1" hangingPunct="1">
              <a:buFont typeface="Wingdings" pitchFamily="2" charset="2"/>
              <a:buNone/>
            </a:pPr>
            <a:r>
              <a:rPr lang="en-US" altLang="zh-CN" sz="2400"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正则定义式</a:t>
            </a:r>
            <a:r>
              <a:rPr lang="en-US" altLang="zh-CN" sz="2400" b="1" smtClean="0">
                <a:latin typeface="Times New Roman" pitchFamily="18" charset="0"/>
                <a:ea typeface="华文新魏" pitchFamily="2" charset="-122"/>
              </a:rPr>
              <a:t>)</a:t>
            </a:r>
          </a:p>
          <a:p>
            <a:pPr eaLnBrk="1" hangingPunct="1">
              <a:buFont typeface="Wingdings" pitchFamily="2" charset="2"/>
              <a:buNone/>
            </a:pPr>
            <a:r>
              <a:rPr lang="zh-CN" altLang="en-US" b="1" smtClean="0">
                <a:latin typeface="Times New Roman" pitchFamily="18" charset="0"/>
                <a:ea typeface="华文新魏" pitchFamily="2" charset="-122"/>
              </a:rPr>
              <a:t>%%</a:t>
            </a:r>
          </a:p>
          <a:p>
            <a:pPr eaLnBrk="1" hangingPunct="1">
              <a:buFont typeface="Wingdings" pitchFamily="2" charset="2"/>
              <a:buNone/>
            </a:pPr>
            <a:r>
              <a:rPr lang="zh-CN" altLang="en-US" b="1" smtClean="0">
                <a:latin typeface="Times New Roman" pitchFamily="18" charset="0"/>
                <a:ea typeface="华文新魏" pitchFamily="2" charset="-122"/>
              </a:rPr>
              <a:t>转换规则</a:t>
            </a:r>
          </a:p>
          <a:p>
            <a:pPr eaLnBrk="1" hangingPunct="1">
              <a:buFont typeface="Wingdings" pitchFamily="2" charset="2"/>
              <a:buNone/>
            </a:pPr>
            <a:r>
              <a:rPr lang="en-US" altLang="zh-CN" sz="2400" b="1" smtClean="0">
                <a:latin typeface="Times New Roman" pitchFamily="18" charset="0"/>
                <a:ea typeface="华文新魏" pitchFamily="2" charset="-122"/>
              </a:rPr>
              <a:t>(</a:t>
            </a:r>
            <a:r>
              <a:rPr lang="zh-CN" altLang="en-US" sz="2400" b="1" smtClean="0">
                <a:latin typeface="Times New Roman" pitchFamily="18" charset="0"/>
                <a:ea typeface="华文新魏" pitchFamily="2" charset="-122"/>
              </a:rPr>
              <a:t>识别规则</a:t>
            </a:r>
            <a:r>
              <a:rPr lang="en-US" altLang="zh-CN" sz="2400" b="1" smtClean="0">
                <a:latin typeface="Times New Roman" pitchFamily="18" charset="0"/>
                <a:ea typeface="华文新魏" pitchFamily="2" charset="-122"/>
              </a:rPr>
              <a:t>)</a:t>
            </a:r>
          </a:p>
          <a:p>
            <a:pPr eaLnBrk="1" hangingPunct="1">
              <a:buFont typeface="Wingdings" pitchFamily="2" charset="2"/>
              <a:buNone/>
            </a:pPr>
            <a:r>
              <a:rPr lang="zh-CN" altLang="en-US" b="1" smtClean="0">
                <a:latin typeface="Times New Roman" pitchFamily="18" charset="0"/>
                <a:ea typeface="华文新魏" pitchFamily="2" charset="-122"/>
              </a:rPr>
              <a:t>%%</a:t>
            </a:r>
          </a:p>
          <a:p>
            <a:pPr eaLnBrk="1" hangingPunct="1">
              <a:buFont typeface="Wingdings" pitchFamily="2" charset="2"/>
              <a:buNone/>
            </a:pPr>
            <a:r>
              <a:rPr lang="zh-CN" altLang="en-US" b="1" smtClean="0">
                <a:latin typeface="Times New Roman" pitchFamily="18" charset="0"/>
                <a:ea typeface="华文新魏" pitchFamily="2" charset="-122"/>
              </a:rPr>
              <a:t>辅助过程</a:t>
            </a:r>
          </a:p>
        </p:txBody>
      </p:sp>
      <p:sp>
        <p:nvSpPr>
          <p:cNvPr id="315396" name="Rectangle 4"/>
          <p:cNvSpPr>
            <a:spLocks noChangeArrowheads="1"/>
          </p:cNvSpPr>
          <p:nvPr/>
        </p:nvSpPr>
        <p:spPr bwMode="auto">
          <a:xfrm>
            <a:off x="5638800" y="1828800"/>
            <a:ext cx="3181350" cy="2286000"/>
          </a:xfrm>
          <a:prstGeom prst="rect">
            <a:avLst/>
          </a:prstGeom>
          <a:noFill/>
          <a:ln w="9525">
            <a:noFill/>
            <a:miter lim="800000"/>
            <a:headEnd/>
            <a:tailEnd/>
          </a:ln>
          <a:effectLst/>
        </p:spPr>
        <p:txBody>
          <a:bodyPr lIns="92075" tIns="46038" rIns="92075" bIns="46038"/>
          <a:lstStyle/>
          <a:p>
            <a:pPr marL="342900" indent="-342900" eaLnBrk="0" hangingPunct="0">
              <a:lnSpc>
                <a:spcPct val="90000"/>
              </a:lnSpc>
              <a:spcBef>
                <a:spcPct val="20000"/>
              </a:spcBef>
              <a:buClr>
                <a:schemeClr val="tx2"/>
              </a:buClr>
              <a:buSzPct val="75000"/>
              <a:buFont typeface="Monotype Sorts" pitchFamily="2" charset="2"/>
              <a:buNone/>
              <a:defRPr/>
            </a:pPr>
            <a:r>
              <a:rPr kumimoji="1" lang="zh-CN" altLang="en-US" sz="3200" b="1">
                <a:effectLst>
                  <a:outerShdw blurRad="38100" dist="38100" dir="2700000" algn="tl">
                    <a:srgbClr val="C0C0C0"/>
                  </a:outerShdw>
                </a:effectLst>
                <a:latin typeface="Times New Roman" pitchFamily="18" charset="0"/>
                <a:ea typeface="华文新魏" pitchFamily="2" charset="-122"/>
              </a:rPr>
              <a:t>%{</a:t>
            </a:r>
          </a:p>
          <a:p>
            <a:pPr marL="342900" indent="-342900" eaLnBrk="0" hangingPunct="0">
              <a:lnSpc>
                <a:spcPct val="90000"/>
              </a:lnSpc>
              <a:spcBef>
                <a:spcPct val="20000"/>
              </a:spcBef>
              <a:buClr>
                <a:schemeClr val="tx2"/>
              </a:buClr>
              <a:buSzPct val="75000"/>
              <a:buFont typeface="Monotype Sorts" pitchFamily="2" charset="2"/>
              <a:buNone/>
              <a:defRPr/>
            </a:pPr>
            <a:r>
              <a:rPr kumimoji="1" lang="zh-CN" altLang="en-US" sz="3200" b="1">
                <a:effectLst>
                  <a:outerShdw blurRad="38100" dist="38100" dir="2700000" algn="tl">
                    <a:srgbClr val="C0C0C0"/>
                  </a:outerShdw>
                </a:effectLst>
                <a:latin typeface="Times New Roman" pitchFamily="18" charset="0"/>
                <a:ea typeface="华文新魏" pitchFamily="2" charset="-122"/>
              </a:rPr>
              <a:t>常量定义</a:t>
            </a:r>
          </a:p>
          <a:p>
            <a:pPr marL="342900" indent="-342900" eaLnBrk="0" hangingPunct="0">
              <a:lnSpc>
                <a:spcPct val="90000"/>
              </a:lnSpc>
              <a:spcBef>
                <a:spcPct val="20000"/>
              </a:spcBef>
              <a:buClr>
                <a:schemeClr val="tx2"/>
              </a:buClr>
              <a:buSzPct val="75000"/>
              <a:buFont typeface="Monotype Sorts" pitchFamily="2" charset="2"/>
              <a:buNone/>
              <a:defRPr/>
            </a:pPr>
            <a:r>
              <a:rPr kumimoji="1" lang="zh-CN" altLang="en-US" sz="3200" b="1">
                <a:effectLst>
                  <a:outerShdw blurRad="38100" dist="38100" dir="2700000" algn="tl">
                    <a:srgbClr val="C0C0C0"/>
                  </a:outerShdw>
                </a:effectLst>
                <a:latin typeface="Times New Roman" pitchFamily="18" charset="0"/>
                <a:ea typeface="华文新魏" pitchFamily="2" charset="-122"/>
              </a:rPr>
              <a:t>%}</a:t>
            </a:r>
          </a:p>
          <a:p>
            <a:pPr marL="342900" indent="-342900" eaLnBrk="0" hangingPunct="0">
              <a:lnSpc>
                <a:spcPct val="90000"/>
              </a:lnSpc>
              <a:spcBef>
                <a:spcPct val="20000"/>
              </a:spcBef>
              <a:buClr>
                <a:schemeClr val="tx2"/>
              </a:buClr>
              <a:buSzPct val="75000"/>
              <a:buFont typeface="Monotype Sorts" pitchFamily="2" charset="2"/>
              <a:buNone/>
              <a:defRPr/>
            </a:pPr>
            <a:r>
              <a:rPr kumimoji="1" lang="zh-CN" altLang="en-US" sz="3200" b="1">
                <a:effectLst>
                  <a:outerShdw blurRad="38100" dist="38100" dir="2700000" algn="tl">
                    <a:srgbClr val="C0C0C0"/>
                  </a:outerShdw>
                </a:effectLst>
                <a:latin typeface="Times New Roman" pitchFamily="18" charset="0"/>
                <a:ea typeface="华文新魏" pitchFamily="2" charset="-122"/>
              </a:rPr>
              <a:t>正则定义式</a:t>
            </a:r>
          </a:p>
        </p:txBody>
      </p:sp>
      <p:sp>
        <p:nvSpPr>
          <p:cNvPr id="315397" name="AutoShape 5"/>
          <p:cNvSpPr>
            <a:spLocks noChangeArrowheads="1"/>
          </p:cNvSpPr>
          <p:nvPr/>
        </p:nvSpPr>
        <p:spPr bwMode="auto">
          <a:xfrm>
            <a:off x="3505200" y="2743200"/>
            <a:ext cx="1828800" cy="304800"/>
          </a:xfrm>
          <a:prstGeom prst="rightArrow">
            <a:avLst>
              <a:gd name="adj1" fmla="val 50000"/>
              <a:gd name="adj2" fmla="val 1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315398" name="AutoShape 6"/>
          <p:cNvSpPr>
            <a:spLocks/>
          </p:cNvSpPr>
          <p:nvPr/>
        </p:nvSpPr>
        <p:spPr bwMode="auto">
          <a:xfrm>
            <a:off x="5334000" y="1828800"/>
            <a:ext cx="228600" cy="2133600"/>
          </a:xfrm>
          <a:prstGeom prst="leftBrace">
            <a:avLst>
              <a:gd name="adj1" fmla="val 77778"/>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858A308-8D66-4D9C-8E89-0BFC50F4B266}" type="slidenum">
              <a:rPr lang="zh-CN" altLang="en-US"/>
              <a:pPr eaLnBrk="1" hangingPunct="1"/>
              <a:t>51</a:t>
            </a:fld>
            <a:endParaRPr lang="en-US" altLang="zh-CN"/>
          </a:p>
        </p:txBody>
      </p:sp>
      <p:sp>
        <p:nvSpPr>
          <p:cNvPr id="62467" name="Rectangle 2"/>
          <p:cNvSpPr>
            <a:spLocks noGrp="1" noRot="1" noChangeArrowheads="1"/>
          </p:cNvSpPr>
          <p:nvPr>
            <p:ph type="title"/>
          </p:nvPr>
        </p:nvSpPr>
        <p:spPr>
          <a:xfrm>
            <a:off x="611188" y="549275"/>
            <a:ext cx="7923212" cy="1050925"/>
          </a:xfrm>
        </p:spPr>
        <p:txBody>
          <a:bodyPr/>
          <a:lstStyle/>
          <a:p>
            <a:pPr algn="l" eaLnBrk="1" hangingPunct="1"/>
            <a:r>
              <a:rPr lang="en-US" altLang="zh-CN" b="1" smtClean="0">
                <a:solidFill>
                  <a:srgbClr val="000099"/>
                </a:solidFill>
                <a:latin typeface="Times New Roman" pitchFamily="18" charset="0"/>
                <a:ea typeface="华文新魏" pitchFamily="2" charset="-122"/>
              </a:rPr>
              <a:t>3. </a:t>
            </a:r>
            <a:r>
              <a:rPr lang="zh-CN" altLang="en-US" b="1" smtClean="0">
                <a:solidFill>
                  <a:srgbClr val="000099"/>
                </a:solidFill>
                <a:latin typeface="Times New Roman" pitchFamily="18" charset="0"/>
                <a:ea typeface="华文新魏" pitchFamily="2" charset="-122"/>
              </a:rPr>
              <a:t>扫描器的自动生成</a:t>
            </a:r>
          </a:p>
        </p:txBody>
      </p:sp>
      <p:sp>
        <p:nvSpPr>
          <p:cNvPr id="316419" name="Rectangle 3"/>
          <p:cNvSpPr>
            <a:spLocks noGrp="1" noRot="1" noChangeArrowheads="1"/>
          </p:cNvSpPr>
          <p:nvPr>
            <p:ph type="body" idx="1"/>
          </p:nvPr>
        </p:nvSpPr>
        <p:spPr>
          <a:xfrm>
            <a:off x="395288" y="1773238"/>
            <a:ext cx="4105275" cy="4535487"/>
          </a:xfrm>
        </p:spPr>
        <p:txBody>
          <a:bodyPr/>
          <a:lstStyle/>
          <a:p>
            <a:pPr eaLnBrk="1" hangingPunct="1">
              <a:buFont typeface="Wingdings" pitchFamily="2" charset="2"/>
              <a:buNone/>
            </a:pPr>
            <a:r>
              <a:rPr lang="zh-CN" altLang="en-US" b="1" smtClean="0">
                <a:latin typeface="Times New Roman" pitchFamily="18" charset="0"/>
                <a:ea typeface="华文新魏" pitchFamily="2" charset="-122"/>
              </a:rPr>
              <a:t>1、正则定义式</a:t>
            </a:r>
          </a:p>
          <a:p>
            <a:pPr eaLnBrk="1" hangingPunct="1">
              <a:buClrTx/>
              <a:buSzTx/>
              <a:buFontTx/>
              <a:buNone/>
            </a:pPr>
            <a:r>
              <a:rPr lang="en-US" altLang="zh-CN" b="1" smtClean="0">
                <a:latin typeface="Times New Roman" pitchFamily="18" charset="0"/>
                <a:ea typeface="华文新魏" pitchFamily="2" charset="-122"/>
              </a:rPr>
              <a:t>letter→A|B|C|…|Z|a|b|c|…|z</a:t>
            </a:r>
          </a:p>
          <a:p>
            <a:pPr eaLnBrk="1" hangingPunct="1">
              <a:buClrTx/>
              <a:buSzTx/>
              <a:buFontTx/>
              <a:buNone/>
            </a:pPr>
            <a:r>
              <a:rPr lang="en-US" altLang="zh-CN" b="1" smtClean="0">
                <a:latin typeface="Times New Roman" pitchFamily="18" charset="0"/>
                <a:ea typeface="华文新魏" pitchFamily="2" charset="-122"/>
              </a:rPr>
              <a:t>digit→0|1|2|…|9</a:t>
            </a:r>
          </a:p>
          <a:p>
            <a:pPr eaLnBrk="1" hangingPunct="1">
              <a:buClrTx/>
              <a:buSzTx/>
              <a:buFontTx/>
              <a:buNone/>
            </a:pPr>
            <a:r>
              <a:rPr lang="en-US" altLang="zh-CN" b="1" smtClean="0">
                <a:latin typeface="Times New Roman" pitchFamily="18" charset="0"/>
                <a:ea typeface="华文新魏" pitchFamily="2" charset="-122"/>
              </a:rPr>
              <a:t>identifier→letter(letter|digit)</a:t>
            </a:r>
            <a:r>
              <a:rPr lang="en-US" altLang="zh-CN" b="1" baseline="30000" smtClean="0">
                <a:latin typeface="Times New Roman" pitchFamily="18" charset="0"/>
                <a:ea typeface="华文新魏" pitchFamily="2" charset="-122"/>
              </a:rPr>
              <a:t>*</a:t>
            </a:r>
            <a:endParaRPr lang="en-US" altLang="zh-CN" b="1" smtClean="0">
              <a:latin typeface="Times New Roman" pitchFamily="18" charset="0"/>
              <a:ea typeface="华文新魏" pitchFamily="2" charset="-122"/>
            </a:endParaRPr>
          </a:p>
          <a:p>
            <a:pPr eaLnBrk="1" hangingPunct="1">
              <a:buClrTx/>
              <a:buSzTx/>
              <a:buFontTx/>
              <a:buNone/>
            </a:pPr>
            <a:r>
              <a:rPr lang="en-US" altLang="zh-CN" b="1" smtClean="0">
                <a:latin typeface="Times New Roman" pitchFamily="18" charset="0"/>
                <a:ea typeface="华文新魏" pitchFamily="2" charset="-122"/>
              </a:rPr>
              <a:t>integer→digit(digit)</a:t>
            </a:r>
            <a:r>
              <a:rPr lang="en-US" altLang="zh-CN" b="1" baseline="30000" smtClean="0">
                <a:latin typeface="Times New Roman" pitchFamily="18" charset="0"/>
                <a:ea typeface="华文新魏" pitchFamily="2" charset="-122"/>
              </a:rPr>
              <a:t>*</a:t>
            </a:r>
            <a:r>
              <a:rPr lang="en-US" altLang="zh-CN" b="1" smtClean="0">
                <a:latin typeface="Times New Roman" pitchFamily="18" charset="0"/>
                <a:ea typeface="华文新魏" pitchFamily="2" charset="-122"/>
              </a:rPr>
              <a:t> </a:t>
            </a:r>
          </a:p>
        </p:txBody>
      </p:sp>
      <p:sp>
        <p:nvSpPr>
          <p:cNvPr id="316420" name="Rectangle 4"/>
          <p:cNvSpPr>
            <a:spLocks noRot="1" noChangeArrowheads="1"/>
          </p:cNvSpPr>
          <p:nvPr/>
        </p:nvSpPr>
        <p:spPr bwMode="auto">
          <a:xfrm>
            <a:off x="5076825" y="1773238"/>
            <a:ext cx="3781425" cy="432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hlink"/>
              </a:buClr>
              <a:buSzPct val="75000"/>
              <a:buFont typeface="Wingdings" pitchFamily="2" charset="2"/>
              <a:buNone/>
            </a:pPr>
            <a:r>
              <a:rPr lang="en-US" altLang="zh-CN" sz="3200" b="1">
                <a:latin typeface="Times New Roman" pitchFamily="18" charset="0"/>
                <a:ea typeface="华文新魏" pitchFamily="2" charset="-122"/>
              </a:rPr>
              <a:t>2、</a:t>
            </a:r>
            <a:r>
              <a:rPr lang="zh-CN" altLang="en-US" sz="3200" b="1">
                <a:latin typeface="Times New Roman" pitchFamily="18" charset="0"/>
                <a:ea typeface="华文新魏" pitchFamily="2" charset="-122"/>
              </a:rPr>
              <a:t>识别规则</a:t>
            </a:r>
          </a:p>
          <a:p>
            <a:pPr marL="342900" indent="-342900">
              <a:spcBef>
                <a:spcPct val="20000"/>
              </a:spcBef>
            </a:pPr>
            <a:r>
              <a:rPr lang="en-US" altLang="zh-CN" sz="3200" b="1">
                <a:latin typeface="Times New Roman" pitchFamily="18" charset="0"/>
                <a:ea typeface="华文新魏" pitchFamily="2" charset="-122"/>
              </a:rPr>
              <a:t>RE		</a:t>
            </a:r>
            <a:r>
              <a:rPr lang="zh-CN" altLang="en-US" sz="3200" b="1">
                <a:latin typeface="Times New Roman" pitchFamily="18" charset="0"/>
                <a:ea typeface="华文新魏" pitchFamily="2" charset="-122"/>
              </a:rPr>
              <a:t>动作描述</a:t>
            </a:r>
          </a:p>
          <a:p>
            <a:pPr marL="342900" indent="-342900">
              <a:spcBef>
                <a:spcPct val="20000"/>
              </a:spcBef>
            </a:pPr>
            <a:r>
              <a:rPr lang="en-US" altLang="zh-CN" sz="3200" b="1">
                <a:latin typeface="Times New Roman" pitchFamily="18" charset="0"/>
                <a:ea typeface="华文新魏" pitchFamily="2" charset="-122"/>
              </a:rPr>
              <a:t>token</a:t>
            </a:r>
            <a:r>
              <a:rPr lang="en-US" altLang="zh-CN" sz="3200" b="1" baseline="-25000">
                <a:latin typeface="Times New Roman" pitchFamily="18" charset="0"/>
                <a:ea typeface="华文新魏" pitchFamily="2" charset="-122"/>
              </a:rPr>
              <a:t>1</a:t>
            </a:r>
            <a:r>
              <a:rPr lang="en-US" altLang="zh-CN" sz="3200" b="1">
                <a:latin typeface="Times New Roman" pitchFamily="18" charset="0"/>
                <a:ea typeface="华文新魏" pitchFamily="2" charset="-122"/>
              </a:rPr>
              <a:t>	{action</a:t>
            </a:r>
            <a:r>
              <a:rPr lang="en-US" altLang="zh-CN" sz="3200" b="1" baseline="-25000">
                <a:latin typeface="Times New Roman" pitchFamily="18" charset="0"/>
                <a:ea typeface="华文新魏" pitchFamily="2" charset="-122"/>
              </a:rPr>
              <a:t>1</a:t>
            </a:r>
            <a:r>
              <a:rPr lang="en-US" altLang="zh-CN" sz="3200" b="1">
                <a:latin typeface="Times New Roman" pitchFamily="18" charset="0"/>
                <a:ea typeface="华文新魏" pitchFamily="2" charset="-122"/>
              </a:rPr>
              <a:t>}</a:t>
            </a:r>
          </a:p>
          <a:p>
            <a:pPr marL="342900" indent="-342900">
              <a:spcBef>
                <a:spcPct val="20000"/>
              </a:spcBef>
            </a:pPr>
            <a:r>
              <a:rPr lang="en-US" altLang="zh-CN" sz="3200" b="1">
                <a:latin typeface="Times New Roman" pitchFamily="18" charset="0"/>
                <a:ea typeface="华文新魏" pitchFamily="2" charset="-122"/>
              </a:rPr>
              <a:t>token</a:t>
            </a:r>
            <a:r>
              <a:rPr lang="en-US" altLang="zh-CN" sz="3200" b="1" baseline="-25000">
                <a:latin typeface="Times New Roman" pitchFamily="18" charset="0"/>
                <a:ea typeface="华文新魏" pitchFamily="2" charset="-122"/>
              </a:rPr>
              <a:t>2</a:t>
            </a:r>
            <a:r>
              <a:rPr lang="en-US" altLang="zh-CN" sz="3200" b="1">
                <a:latin typeface="Times New Roman" pitchFamily="18" charset="0"/>
                <a:ea typeface="华文新魏" pitchFamily="2" charset="-122"/>
              </a:rPr>
              <a:t>	{action</a:t>
            </a:r>
            <a:r>
              <a:rPr lang="en-US" altLang="zh-CN" sz="3200" b="1" baseline="-25000">
                <a:latin typeface="Times New Roman" pitchFamily="18" charset="0"/>
                <a:ea typeface="华文新魏" pitchFamily="2" charset="-122"/>
              </a:rPr>
              <a:t>2</a:t>
            </a:r>
            <a:r>
              <a:rPr lang="en-US" altLang="zh-CN" sz="3200" b="1">
                <a:latin typeface="Times New Roman" pitchFamily="18" charset="0"/>
                <a:ea typeface="华文新魏" pitchFamily="2" charset="-122"/>
              </a:rPr>
              <a:t>}</a:t>
            </a:r>
          </a:p>
          <a:p>
            <a:pPr marL="342900" indent="-342900">
              <a:spcBef>
                <a:spcPct val="20000"/>
              </a:spcBef>
            </a:pPr>
            <a:r>
              <a:rPr lang="en-US" altLang="zh-CN" sz="3200" b="1">
                <a:latin typeface="Times New Roman" pitchFamily="18" charset="0"/>
                <a:ea typeface="华文新魏" pitchFamily="2" charset="-122"/>
              </a:rPr>
              <a:t>……</a:t>
            </a:r>
          </a:p>
          <a:p>
            <a:pPr marL="342900" indent="-342900">
              <a:spcBef>
                <a:spcPct val="20000"/>
              </a:spcBef>
            </a:pPr>
            <a:r>
              <a:rPr lang="en-US" altLang="zh-CN" sz="3200" b="1">
                <a:latin typeface="Times New Roman" pitchFamily="18" charset="0"/>
                <a:ea typeface="华文新魏" pitchFamily="2" charset="-122"/>
              </a:rPr>
              <a:t>token</a:t>
            </a:r>
            <a:r>
              <a:rPr lang="en-US" altLang="zh-CN" sz="3200" b="1" baseline="-25000">
                <a:latin typeface="Times New Roman" pitchFamily="18" charset="0"/>
                <a:ea typeface="华文新魏" pitchFamily="2" charset="-122"/>
              </a:rPr>
              <a:t>n</a:t>
            </a:r>
            <a:r>
              <a:rPr lang="en-US" altLang="zh-CN" sz="3200" b="1">
                <a:latin typeface="Times New Roman" pitchFamily="18" charset="0"/>
                <a:ea typeface="华文新魏" pitchFamily="2" charset="-122"/>
              </a:rPr>
              <a:t>	{action</a:t>
            </a:r>
            <a:r>
              <a:rPr lang="en-US" altLang="zh-CN" sz="3200" b="1" baseline="-25000">
                <a:latin typeface="Times New Roman" pitchFamily="18" charset="0"/>
                <a:ea typeface="华文新魏" pitchFamily="2" charset="-122"/>
              </a:rPr>
              <a:t>n</a:t>
            </a:r>
            <a:r>
              <a:rPr lang="en-US" altLang="zh-CN" sz="3200" b="1">
                <a:latin typeface="Times New Roman" pitchFamily="18" charset="0"/>
                <a:ea typeface="华文新魏" pitchFamily="2" charset="-122"/>
              </a:rPr>
              <a:t>}</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0B5DAF3B-F8C0-444F-A50D-ABB31337CF21}" type="slidenum">
              <a:rPr lang="zh-CN" altLang="en-US"/>
              <a:pPr eaLnBrk="1" hangingPunct="1"/>
              <a:t>52</a:t>
            </a:fld>
            <a:endParaRPr lang="en-US" altLang="zh-CN"/>
          </a:p>
        </p:txBody>
      </p:sp>
      <p:sp>
        <p:nvSpPr>
          <p:cNvPr id="63491" name="Rectangle 3"/>
          <p:cNvSpPr>
            <a:spLocks noGrp="1" noRot="1" noChangeArrowheads="1"/>
          </p:cNvSpPr>
          <p:nvPr>
            <p:ph type="body" idx="1"/>
          </p:nvPr>
        </p:nvSpPr>
        <p:spPr>
          <a:xfrm>
            <a:off x="395288" y="692150"/>
            <a:ext cx="8569325" cy="5689600"/>
          </a:xfrm>
          <a:noFill/>
        </p:spPr>
        <p:txBody>
          <a:bodyPr lIns="92075" tIns="46038" rIns="92075" bIns="46038"/>
          <a:lstStyle/>
          <a:p>
            <a:pPr eaLnBrk="1" hangingPunct="1">
              <a:lnSpc>
                <a:spcPct val="110000"/>
              </a:lnSpc>
              <a:buFont typeface="Wingdings" pitchFamily="2" charset="2"/>
              <a:buNone/>
            </a:pPr>
            <a:r>
              <a:rPr lang="zh-CN" altLang="en-US" sz="4800" b="1" smtClean="0">
                <a:solidFill>
                  <a:srgbClr val="000099"/>
                </a:solidFill>
                <a:latin typeface="Times New Roman" pitchFamily="18" charset="0"/>
                <a:ea typeface="华文新魏" pitchFamily="2" charset="-122"/>
              </a:rPr>
              <a:t>习题</a:t>
            </a:r>
          </a:p>
          <a:p>
            <a:pPr marL="819150" lvl="1" eaLnBrk="1" hangingPunct="1">
              <a:lnSpc>
                <a:spcPct val="110000"/>
              </a:lnSpc>
            </a:pPr>
            <a:r>
              <a:rPr lang="en-US" altLang="zh-CN" b="1" smtClean="0">
                <a:latin typeface="Times New Roman" pitchFamily="18" charset="0"/>
                <a:ea typeface="华文新魏" pitchFamily="2" charset="-122"/>
              </a:rPr>
              <a:t>P115   23</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8</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 27</a:t>
            </a:r>
          </a:p>
          <a:p>
            <a:pPr marL="819150" lvl="1" eaLnBrk="1" hangingPunct="1">
              <a:lnSpc>
                <a:spcPct val="110000"/>
              </a:lnSpc>
            </a:pPr>
            <a:r>
              <a:rPr lang="en-US" altLang="zh-CN" b="1" smtClean="0">
                <a:latin typeface="Times New Roman" pitchFamily="18" charset="0"/>
                <a:ea typeface="华文新魏" pitchFamily="2" charset="-122"/>
              </a:rPr>
              <a:t>P116   31.2</a:t>
            </a:r>
            <a:endParaRPr lang="en-US" altLang="zh-CN" b="1" smtClean="0">
              <a:solidFill>
                <a:srgbClr val="DF1813"/>
              </a:solidFill>
              <a:latin typeface="Times New Roman" pitchFamily="18" charset="0"/>
              <a:ea typeface="华文新魏" pitchFamily="2" charset="-122"/>
            </a:endParaRPr>
          </a:p>
          <a:p>
            <a:pPr eaLnBrk="1" hangingPunct="1">
              <a:lnSpc>
                <a:spcPct val="110000"/>
              </a:lnSpc>
              <a:buFont typeface="Wingdings" pitchFamily="2" charset="2"/>
              <a:buNone/>
            </a:pPr>
            <a:r>
              <a:rPr lang="zh-CN" altLang="en-US" sz="4400" b="1" smtClean="0">
                <a:solidFill>
                  <a:srgbClr val="000099"/>
                </a:solidFill>
                <a:latin typeface="Times New Roman" pitchFamily="18" charset="0"/>
                <a:ea typeface="华文新魏" pitchFamily="2" charset="-122"/>
              </a:rPr>
              <a:t>练习题</a:t>
            </a:r>
          </a:p>
          <a:p>
            <a:pPr marL="819150" lvl="1" eaLnBrk="1" hangingPunct="1">
              <a:lnSpc>
                <a:spcPct val="110000"/>
              </a:lnSpc>
            </a:pPr>
            <a:r>
              <a:rPr lang="en-US" altLang="zh-CN" b="1" smtClean="0">
                <a:latin typeface="Times New Roman" pitchFamily="18" charset="0"/>
                <a:ea typeface="华文新魏" pitchFamily="2" charset="-122"/>
              </a:rPr>
              <a:t>P112 </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113  1</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4</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6</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8</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12</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14</a:t>
            </a:r>
            <a:r>
              <a:rPr lang="zh-CN" altLang="en-US" b="1" smtClean="0">
                <a:latin typeface="Times New Roman" pitchFamily="18" charset="0"/>
                <a:ea typeface="华文新魏" pitchFamily="2" charset="-122"/>
              </a:rPr>
              <a:t>；</a:t>
            </a:r>
            <a:endParaRPr lang="en-US" altLang="zh-CN" b="1" smtClean="0">
              <a:latin typeface="Times New Roman" pitchFamily="18" charset="0"/>
              <a:ea typeface="华文新魏" pitchFamily="2" charset="-122"/>
            </a:endParaRPr>
          </a:p>
          <a:p>
            <a:pPr marL="819150" lvl="1" eaLnBrk="1" hangingPunct="1">
              <a:lnSpc>
                <a:spcPct val="90000"/>
              </a:lnSpc>
            </a:pPr>
            <a:r>
              <a:rPr lang="en-US" altLang="zh-CN" b="1" smtClean="0">
                <a:latin typeface="Times New Roman" pitchFamily="18" charset="0"/>
                <a:ea typeface="华文新魏" pitchFamily="2" charset="-122"/>
              </a:rPr>
              <a:t>P114   22.1</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22.3</a:t>
            </a:r>
          </a:p>
          <a:p>
            <a:pPr eaLnBrk="1" hangingPunct="1">
              <a:lnSpc>
                <a:spcPct val="90000"/>
              </a:lnSpc>
              <a:buFont typeface="Wingdings" pitchFamily="2" charset="2"/>
              <a:buNone/>
            </a:pPr>
            <a:r>
              <a:rPr lang="zh-CN" altLang="en-US" sz="4400" b="1" smtClean="0">
                <a:solidFill>
                  <a:srgbClr val="000099"/>
                </a:solidFill>
                <a:latin typeface="Times New Roman" pitchFamily="18" charset="0"/>
                <a:ea typeface="华文新魏" pitchFamily="2" charset="-122"/>
              </a:rPr>
              <a:t>实验</a:t>
            </a:r>
          </a:p>
          <a:p>
            <a:pPr marL="819150" lvl="1" eaLnBrk="1" hangingPunct="1">
              <a:lnSpc>
                <a:spcPct val="90000"/>
              </a:lnSpc>
            </a:pPr>
            <a:r>
              <a:rPr lang="zh-CN" altLang="en-US" b="1" smtClean="0">
                <a:latin typeface="Times New Roman" pitchFamily="18" charset="0"/>
                <a:ea typeface="华文新魏" pitchFamily="2" charset="-122"/>
              </a:rPr>
              <a:t> 网站：实验指导书 </a:t>
            </a:r>
          </a:p>
          <a:p>
            <a:pPr marL="819150" lvl="1" eaLnBrk="1" hangingPunct="1">
              <a:lnSpc>
                <a:spcPct val="90000"/>
              </a:lnSpc>
            </a:pPr>
            <a:r>
              <a:rPr lang="zh-CN" altLang="en-US" b="1" smtClean="0">
                <a:latin typeface="Times New Roman" pitchFamily="18" charset="0"/>
                <a:ea typeface="华文新魏" pitchFamily="2" charset="-122"/>
              </a:rPr>
              <a:t>教材：</a:t>
            </a:r>
            <a:r>
              <a:rPr lang="en-US" altLang="zh-CN" b="1" smtClean="0">
                <a:latin typeface="Times New Roman" pitchFamily="18" charset="0"/>
                <a:ea typeface="华文新魏" pitchFamily="2" charset="-122"/>
              </a:rPr>
              <a:t>P116</a:t>
            </a:r>
          </a:p>
        </p:txBody>
      </p:sp>
      <p:sp>
        <p:nvSpPr>
          <p:cNvPr id="63492" name="Rectangle 4"/>
          <p:cNvSpPr>
            <a:spLocks noRot="1" noChangeArrowheads="1"/>
          </p:cNvSpPr>
          <p:nvPr/>
        </p:nvSpPr>
        <p:spPr bwMode="auto">
          <a:xfrm>
            <a:off x="4643438" y="1844675"/>
            <a:ext cx="3887787"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lnSpc>
                <a:spcPct val="110000"/>
              </a:lnSpc>
              <a:spcBef>
                <a:spcPct val="20000"/>
              </a:spcBef>
              <a:buClr>
                <a:schemeClr val="hlink"/>
              </a:buClr>
              <a:buSzPct val="75000"/>
              <a:buFont typeface="Wingdings" pitchFamily="2" charset="2"/>
              <a:buNone/>
            </a:pPr>
            <a:endParaRPr lang="en-US" altLang="zh-CN" sz="3200" b="1">
              <a:latin typeface="Times New Roman" pitchFamily="18" charset="0"/>
              <a:ea typeface="华文新魏" pitchFamily="2"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4302228-BB9A-48EF-BC84-195FA8D2BCBC}" type="slidenum">
              <a:rPr lang="zh-CN" altLang="en-US"/>
              <a:pPr eaLnBrk="1" hangingPunct="1"/>
              <a:t>53</a:t>
            </a:fld>
            <a:endParaRPr lang="en-US" altLang="zh-CN"/>
          </a:p>
        </p:txBody>
      </p:sp>
      <p:sp>
        <p:nvSpPr>
          <p:cNvPr id="64515" name="Rectangle 2"/>
          <p:cNvSpPr>
            <a:spLocks noGrp="1" noRot="1" noChangeArrowheads="1"/>
          </p:cNvSpPr>
          <p:nvPr>
            <p:ph type="title"/>
          </p:nvPr>
        </p:nvSpPr>
        <p:spPr/>
        <p:txBody>
          <a:bodyPr/>
          <a:lstStyle/>
          <a:p>
            <a:pPr eaLnBrk="1" hangingPunct="1"/>
            <a:r>
              <a:rPr lang="zh-CN" altLang="en-US" b="1" smtClean="0">
                <a:latin typeface="Times New Roman" pitchFamily="18" charset="0"/>
                <a:ea typeface="华文新魏" pitchFamily="2" charset="-122"/>
              </a:rPr>
              <a:t>实验</a:t>
            </a:r>
            <a:r>
              <a:rPr lang="en-US" altLang="zh-CN" b="1"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：词法分析器的设计与实现</a:t>
            </a:r>
            <a:endParaRPr lang="en-US" altLang="zh-CN" b="1" smtClean="0">
              <a:latin typeface="Times New Roman" pitchFamily="18" charset="0"/>
              <a:ea typeface="华文新魏" pitchFamily="2" charset="-122"/>
            </a:endParaRPr>
          </a:p>
        </p:txBody>
      </p:sp>
      <p:sp>
        <p:nvSpPr>
          <p:cNvPr id="64516" name="Rectangle 3"/>
          <p:cNvSpPr>
            <a:spLocks noGrp="1" noRot="1" noChangeArrowheads="1"/>
          </p:cNvSpPr>
          <p:nvPr>
            <p:ph type="body" idx="1"/>
          </p:nvPr>
        </p:nvSpPr>
        <p:spPr/>
        <p:txBody>
          <a:bodyPr/>
          <a:lstStyle/>
          <a:p>
            <a:pPr eaLnBrk="1" hangingPunct="1"/>
            <a:r>
              <a:rPr lang="zh-CN" altLang="en-US" sz="2800" b="1" smtClean="0">
                <a:latin typeface="Times New Roman" pitchFamily="18" charset="0"/>
                <a:ea typeface="华文新魏" pitchFamily="2" charset="-122"/>
              </a:rPr>
              <a:t>基本要求</a:t>
            </a:r>
          </a:p>
          <a:p>
            <a:pPr lvl="1" eaLnBrk="1" hangingPunct="1"/>
            <a:r>
              <a:rPr lang="zh-CN" altLang="en-US" sz="2400" b="1" smtClean="0">
                <a:latin typeface="Times New Roman" pitchFamily="18" charset="0"/>
                <a:ea typeface="华文新魏" pitchFamily="2" charset="-122"/>
              </a:rPr>
              <a:t>标识符	</a:t>
            </a: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字母</a:t>
            </a:r>
            <a:r>
              <a:rPr lang="en-US" altLang="zh-CN" sz="2400" b="1" smtClean="0">
                <a:latin typeface="Times New Roman" pitchFamily="18" charset="0"/>
                <a:ea typeface="华文新魏" pitchFamily="2" charset="-122"/>
              </a:rPr>
              <a:t>&gt;(&lt;</a:t>
            </a:r>
            <a:r>
              <a:rPr lang="zh-CN" altLang="en-US" sz="2400" b="1" smtClean="0">
                <a:latin typeface="Times New Roman" pitchFamily="18" charset="0"/>
                <a:ea typeface="华文新魏" pitchFamily="2" charset="-122"/>
              </a:rPr>
              <a:t>字母</a:t>
            </a:r>
            <a:r>
              <a:rPr lang="en-US" altLang="zh-CN" sz="2400" b="1" smtClean="0">
                <a:latin typeface="Times New Roman" pitchFamily="18" charset="0"/>
                <a:ea typeface="华文新魏" pitchFamily="2" charset="-122"/>
              </a:rPr>
              <a:t>&gt;|&lt;</a:t>
            </a:r>
            <a:r>
              <a:rPr lang="zh-CN" altLang="en-US" sz="2400" b="1" smtClean="0">
                <a:latin typeface="Times New Roman" pitchFamily="18" charset="0"/>
                <a:ea typeface="华文新魏" pitchFamily="2" charset="-122"/>
              </a:rPr>
              <a:t>数字字符</a:t>
            </a:r>
            <a:r>
              <a:rPr lang="en-US" altLang="zh-CN" sz="2400" b="1" smtClean="0">
                <a:latin typeface="Times New Roman" pitchFamily="18" charset="0"/>
                <a:ea typeface="华文新魏" pitchFamily="2" charset="-122"/>
              </a:rPr>
              <a:t>&gt;)*</a:t>
            </a:r>
          </a:p>
          <a:p>
            <a:pPr lvl="1" eaLnBrk="1" hangingPunct="1"/>
            <a:r>
              <a:rPr lang="zh-CN" altLang="en-US" sz="2400" b="1" smtClean="0">
                <a:latin typeface="Times New Roman" pitchFamily="18" charset="0"/>
                <a:ea typeface="华文新魏" pitchFamily="2" charset="-122"/>
              </a:rPr>
              <a:t>十进制整数</a:t>
            </a:r>
            <a:r>
              <a:rPr lang="en-US" altLang="zh-CN" sz="2400" b="1" smtClean="0">
                <a:latin typeface="Times New Roman" pitchFamily="18" charset="0"/>
                <a:ea typeface="华文新魏" pitchFamily="2" charset="-122"/>
              </a:rPr>
              <a:t>0|(1|2|3|4|5|6|7|8|9)(0|1|2|3|4|5|6|7|8|9)*</a:t>
            </a:r>
          </a:p>
          <a:p>
            <a:pPr lvl="1" eaLnBrk="1" hangingPunct="1"/>
            <a:r>
              <a:rPr lang="zh-CN" altLang="en-US" sz="2400" b="1" smtClean="0">
                <a:latin typeface="Times New Roman" pitchFamily="18" charset="0"/>
                <a:ea typeface="华文新魏" pitchFamily="2" charset="-122"/>
              </a:rPr>
              <a:t>八进制整数  	</a:t>
            </a:r>
            <a:r>
              <a:rPr lang="en-US" altLang="zh-CN" sz="2400" b="1" smtClean="0">
                <a:latin typeface="Times New Roman" pitchFamily="18" charset="0"/>
                <a:ea typeface="华文新魏" pitchFamily="2" charset="-122"/>
              </a:rPr>
              <a:t>0(1|2|3|4|5|6|7)(0|1|2|3|4|5|6|7)*</a:t>
            </a:r>
          </a:p>
          <a:p>
            <a:pPr lvl="1" eaLnBrk="1" hangingPunct="1"/>
            <a:r>
              <a:rPr lang="zh-CN" altLang="en-US" sz="2400" b="1" smtClean="0">
                <a:latin typeface="Times New Roman" pitchFamily="18" charset="0"/>
                <a:ea typeface="华文新魏" pitchFamily="2" charset="-122"/>
              </a:rPr>
              <a:t>十六进制整数  </a:t>
            </a:r>
            <a:r>
              <a:rPr lang="en-US" altLang="zh-CN" sz="2400" b="1" smtClean="0">
                <a:latin typeface="Times New Roman" pitchFamily="18" charset="0"/>
                <a:ea typeface="华文新魏" pitchFamily="2" charset="-122"/>
              </a:rPr>
              <a:t>0x(0|1|2|3|4|5|6|7|8|9|a|b|c|d|e|f)</a:t>
            </a:r>
          </a:p>
          <a:p>
            <a:pPr lvl="1" eaLnBrk="1" hangingPunct="1">
              <a:buFont typeface="Wingdings" pitchFamily="2" charset="2"/>
              <a:buNone/>
            </a:pPr>
            <a:r>
              <a:rPr lang="en-US" altLang="zh-CN" sz="2400" b="1" smtClean="0">
                <a:latin typeface="Times New Roman" pitchFamily="18" charset="0"/>
                <a:ea typeface="华文新魏" pitchFamily="2" charset="-122"/>
              </a:rPr>
              <a:t>                             (0|1|2|3|4|5|6|7|8|9|a|b|c|d|e|f)*</a:t>
            </a:r>
          </a:p>
          <a:p>
            <a:pPr lvl="1" eaLnBrk="1" hangingPunct="1"/>
            <a:r>
              <a:rPr lang="zh-CN" altLang="en-US" sz="2400" b="1" smtClean="0">
                <a:latin typeface="Times New Roman" pitchFamily="18" charset="0"/>
                <a:ea typeface="华文新魏" pitchFamily="2" charset="-122"/>
              </a:rPr>
              <a:t>运算符和分隔符     </a:t>
            </a:r>
            <a:r>
              <a:rPr lang="en-US" altLang="zh-CN" sz="2400" b="1" smtClean="0">
                <a:latin typeface="Times New Roman" pitchFamily="18" charset="0"/>
                <a:ea typeface="华文新魏" pitchFamily="2" charset="-122"/>
              </a:rPr>
              <a:t>+ | - | </a:t>
            </a:r>
            <a:r>
              <a:rPr lang="zh-CN" altLang="en-US" sz="2400" b="1" smtClean="0">
                <a:latin typeface="Times New Roman" pitchFamily="18" charset="0"/>
                <a:ea typeface="华文新魏" pitchFamily="2" charset="-122"/>
              </a:rPr>
              <a:t>* </a:t>
            </a:r>
            <a:r>
              <a:rPr lang="en-US" altLang="zh-CN" sz="2400" b="1" smtClean="0">
                <a:latin typeface="Times New Roman" pitchFamily="18" charset="0"/>
                <a:ea typeface="华文新魏" pitchFamily="2" charset="-122"/>
              </a:rPr>
              <a:t>| / | &gt; | &lt; | = | ( | ) | </a:t>
            </a:r>
            <a:r>
              <a:rPr lang="zh-CN" altLang="en-US" sz="2400" b="1" smtClean="0">
                <a:latin typeface="Times New Roman" pitchFamily="18" charset="0"/>
                <a:ea typeface="华文新魏" pitchFamily="2" charset="-122"/>
              </a:rPr>
              <a:t>；</a:t>
            </a:r>
          </a:p>
          <a:p>
            <a:pPr lvl="1" eaLnBrk="1" hangingPunct="1"/>
            <a:r>
              <a:rPr lang="zh-CN" altLang="en-US" sz="2400" b="1" smtClean="0">
                <a:latin typeface="Times New Roman" pitchFamily="18" charset="0"/>
                <a:ea typeface="华文新魏" pitchFamily="2" charset="-122"/>
              </a:rPr>
              <a:t>关键字	</a:t>
            </a:r>
            <a:r>
              <a:rPr lang="en-US" altLang="zh-CN" sz="2400" b="1" smtClean="0">
                <a:latin typeface="Times New Roman" pitchFamily="18" charset="0"/>
                <a:ea typeface="华文新魏" pitchFamily="2" charset="-122"/>
              </a:rPr>
              <a:t>if | then | else | while | do </a:t>
            </a:r>
            <a:endParaRPr lang="zh-CN" altLang="en-US" sz="2400"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F2025EB-7FE2-413A-A74B-21C05B3384D7}" type="slidenum">
              <a:rPr lang="zh-CN" altLang="en-US"/>
              <a:pPr eaLnBrk="1" hangingPunct="1"/>
              <a:t>54</a:t>
            </a:fld>
            <a:endParaRPr lang="en-US" altLang="zh-CN"/>
          </a:p>
        </p:txBody>
      </p:sp>
      <p:sp>
        <p:nvSpPr>
          <p:cNvPr id="65539" name="Rectangle 2"/>
          <p:cNvSpPr>
            <a:spLocks noGrp="1" noRot="1" noChangeArrowheads="1"/>
          </p:cNvSpPr>
          <p:nvPr>
            <p:ph type="title"/>
          </p:nvPr>
        </p:nvSpPr>
        <p:spPr/>
        <p:txBody>
          <a:bodyPr/>
          <a:lstStyle/>
          <a:p>
            <a:pPr eaLnBrk="1" hangingPunct="1"/>
            <a:r>
              <a:rPr lang="zh-CN" altLang="en-US" b="1" smtClean="0">
                <a:latin typeface="Times New Roman" pitchFamily="18" charset="0"/>
                <a:ea typeface="华文新魏" pitchFamily="2" charset="-122"/>
              </a:rPr>
              <a:t>实验</a:t>
            </a:r>
            <a:r>
              <a:rPr lang="en-US" altLang="zh-CN" b="1"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：词法分析器的设计与实现</a:t>
            </a:r>
          </a:p>
        </p:txBody>
      </p:sp>
      <p:sp>
        <p:nvSpPr>
          <p:cNvPr id="65540" name="Rectangle 3"/>
          <p:cNvSpPr>
            <a:spLocks noGrp="1" noRot="1" noChangeArrowheads="1"/>
          </p:cNvSpPr>
          <p:nvPr>
            <p:ph type="body" idx="1"/>
          </p:nvPr>
        </p:nvSpPr>
        <p:spPr/>
        <p:txBody>
          <a:bodyPr/>
          <a:lstStyle/>
          <a:p>
            <a:pPr eaLnBrk="1" hangingPunct="1"/>
            <a:r>
              <a:rPr lang="zh-CN" altLang="en-US" b="1" smtClean="0">
                <a:latin typeface="Times New Roman" pitchFamily="18" charset="0"/>
                <a:ea typeface="华文新魏" pitchFamily="2" charset="-122"/>
              </a:rPr>
              <a:t>基本要求</a:t>
            </a:r>
          </a:p>
          <a:p>
            <a:pPr lvl="1" eaLnBrk="1" hangingPunct="1"/>
            <a:r>
              <a:rPr lang="zh-CN" altLang="en-US" b="1" smtClean="0">
                <a:latin typeface="Times New Roman" pitchFamily="18" charset="0"/>
                <a:ea typeface="华文新魏" pitchFamily="2" charset="-122"/>
              </a:rPr>
              <a:t>从键盘读入数据，分析出一个单词；</a:t>
            </a:r>
          </a:p>
          <a:p>
            <a:pPr lvl="1" eaLnBrk="1" hangingPunct="1"/>
            <a:r>
              <a:rPr lang="zh-CN" altLang="en-US" b="1" smtClean="0">
                <a:latin typeface="Times New Roman" pitchFamily="18" charset="0"/>
                <a:ea typeface="华文新魏" pitchFamily="2" charset="-122"/>
              </a:rPr>
              <a:t>返回单词种别</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用整数表示</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a:t>
            </a:r>
          </a:p>
          <a:p>
            <a:pPr lvl="1" eaLnBrk="1" hangingPunct="1"/>
            <a:r>
              <a:rPr lang="zh-CN" altLang="en-US" b="1" smtClean="0">
                <a:latin typeface="Times New Roman" pitchFamily="18" charset="0"/>
                <a:ea typeface="华文新魏" pitchFamily="2" charset="-122"/>
              </a:rPr>
              <a:t>返回单词属性。 </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6620483-5EBE-4061-9831-07F170471684}" type="slidenum">
              <a:rPr lang="zh-CN" altLang="en-US"/>
              <a:pPr eaLnBrk="1" hangingPunct="1"/>
              <a:t>55</a:t>
            </a:fld>
            <a:endParaRPr lang="en-US" altLang="zh-CN"/>
          </a:p>
        </p:txBody>
      </p:sp>
      <p:sp>
        <p:nvSpPr>
          <p:cNvPr id="66563" name="Rectangle 2"/>
          <p:cNvSpPr>
            <a:spLocks noGrp="1" noRot="1" noChangeArrowheads="1"/>
          </p:cNvSpPr>
          <p:nvPr>
            <p:ph type="title"/>
          </p:nvPr>
        </p:nvSpPr>
        <p:spPr>
          <a:xfrm>
            <a:off x="301625" y="115888"/>
            <a:ext cx="8540750" cy="1081087"/>
          </a:xfrm>
        </p:spPr>
        <p:txBody>
          <a:bodyPr/>
          <a:lstStyle/>
          <a:p>
            <a:pPr eaLnBrk="1" hangingPunct="1"/>
            <a:r>
              <a:rPr lang="zh-CN" altLang="en-US" b="1" smtClean="0">
                <a:latin typeface="Times New Roman" pitchFamily="18" charset="0"/>
                <a:ea typeface="华文新魏" pitchFamily="2" charset="-122"/>
              </a:rPr>
              <a:t>实验</a:t>
            </a:r>
            <a:r>
              <a:rPr lang="en-US" altLang="zh-CN" b="1"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：词法分析器的设计与实现</a:t>
            </a:r>
          </a:p>
        </p:txBody>
      </p:sp>
      <p:sp>
        <p:nvSpPr>
          <p:cNvPr id="66564" name="Rectangle 3"/>
          <p:cNvSpPr>
            <a:spLocks noGrp="1" noRot="1" noChangeArrowheads="1"/>
          </p:cNvSpPr>
          <p:nvPr>
            <p:ph type="body" idx="1"/>
          </p:nvPr>
        </p:nvSpPr>
        <p:spPr>
          <a:xfrm>
            <a:off x="301625" y="1052513"/>
            <a:ext cx="8540750" cy="5673725"/>
          </a:xfrm>
        </p:spPr>
        <p:txBody>
          <a:bodyPr/>
          <a:lstStyle/>
          <a:p>
            <a:pPr eaLnBrk="1" hangingPunct="1">
              <a:lnSpc>
                <a:spcPct val="90000"/>
              </a:lnSpc>
            </a:pPr>
            <a:r>
              <a:rPr lang="zh-CN" altLang="en-US" b="1" smtClean="0">
                <a:latin typeface="Times New Roman" pitchFamily="18" charset="0"/>
                <a:ea typeface="华文新魏" pitchFamily="2" charset="-122"/>
              </a:rPr>
              <a:t>附加要求</a:t>
            </a:r>
          </a:p>
          <a:p>
            <a:pPr lvl="1" eaLnBrk="1" hangingPunct="1">
              <a:lnSpc>
                <a:spcPct val="90000"/>
              </a:lnSpc>
            </a:pPr>
            <a:r>
              <a:rPr lang="zh-CN" altLang="en-US" b="1" smtClean="0">
                <a:solidFill>
                  <a:srgbClr val="CC6600"/>
                </a:solidFill>
                <a:latin typeface="Times New Roman" pitchFamily="18" charset="0"/>
                <a:ea typeface="华文新魏" pitchFamily="2" charset="-122"/>
              </a:rPr>
              <a:t>加后缀标识符、允许实数</a:t>
            </a:r>
            <a:endParaRPr lang="en-US" altLang="zh-CN" b="1" smtClean="0">
              <a:solidFill>
                <a:srgbClr val="CC6600"/>
              </a:solidFill>
              <a:latin typeface="Times New Roman" pitchFamily="18" charset="0"/>
              <a:ea typeface="华文新魏" pitchFamily="2" charset="-122"/>
            </a:endParaRPr>
          </a:p>
          <a:p>
            <a:pPr lvl="1" eaLnBrk="1" hangingPunct="1">
              <a:lnSpc>
                <a:spcPct val="90000"/>
              </a:lnSpc>
            </a:pPr>
            <a:r>
              <a:rPr lang="zh-CN" altLang="en-US" sz="2400" b="1" smtClean="0">
                <a:latin typeface="Times New Roman" pitchFamily="18" charset="0"/>
                <a:ea typeface="华文新魏" pitchFamily="2" charset="-122"/>
              </a:rPr>
              <a:t>标识符	</a:t>
            </a:r>
            <a:r>
              <a:rPr lang="en-US" altLang="zh-CN" sz="2400" b="1" smtClean="0">
                <a:latin typeface="Times New Roman" pitchFamily="18" charset="0"/>
                <a:ea typeface="华文新魏" pitchFamily="2" charset="-122"/>
              </a:rPr>
              <a:t>&lt;</a:t>
            </a:r>
            <a:r>
              <a:rPr lang="zh-CN" altLang="en-US" sz="2400" b="1" smtClean="0">
                <a:latin typeface="Times New Roman" pitchFamily="18" charset="0"/>
                <a:ea typeface="华文新魏" pitchFamily="2" charset="-122"/>
              </a:rPr>
              <a:t>字母</a:t>
            </a:r>
            <a:r>
              <a:rPr lang="en-US" altLang="zh-CN" sz="2400" b="1" smtClean="0">
                <a:latin typeface="Times New Roman" pitchFamily="18" charset="0"/>
                <a:ea typeface="华文新魏" pitchFamily="2" charset="-122"/>
              </a:rPr>
              <a:t>&gt;(&lt;</a:t>
            </a:r>
            <a:r>
              <a:rPr lang="zh-CN" altLang="en-US" sz="2400" b="1" smtClean="0">
                <a:latin typeface="Times New Roman" pitchFamily="18" charset="0"/>
                <a:ea typeface="华文新魏" pitchFamily="2" charset="-122"/>
              </a:rPr>
              <a:t>字母</a:t>
            </a:r>
            <a:r>
              <a:rPr lang="en-US" altLang="zh-CN" sz="2400" b="1" smtClean="0">
                <a:latin typeface="Times New Roman" pitchFamily="18" charset="0"/>
                <a:ea typeface="华文新魏" pitchFamily="2" charset="-122"/>
              </a:rPr>
              <a:t>&gt;|&lt;</a:t>
            </a:r>
            <a:r>
              <a:rPr lang="zh-CN" altLang="en-US" sz="2400" b="1" smtClean="0">
                <a:latin typeface="Times New Roman" pitchFamily="18" charset="0"/>
                <a:ea typeface="华文新魏" pitchFamily="2" charset="-122"/>
              </a:rPr>
              <a:t>数字字符</a:t>
            </a:r>
            <a:r>
              <a:rPr lang="en-US" altLang="zh-CN" sz="2400" b="1" smtClean="0">
                <a:latin typeface="Times New Roman" pitchFamily="18" charset="0"/>
                <a:ea typeface="华文新魏" pitchFamily="2" charset="-122"/>
              </a:rPr>
              <a:t>&gt;)*(ε|((_|.)(&lt;</a:t>
            </a:r>
            <a:r>
              <a:rPr lang="zh-CN" altLang="en-US" sz="2400" b="1" smtClean="0">
                <a:latin typeface="Times New Roman" pitchFamily="18" charset="0"/>
                <a:ea typeface="华文新魏" pitchFamily="2" charset="-122"/>
              </a:rPr>
              <a:t>字母</a:t>
            </a:r>
            <a:r>
              <a:rPr lang="en-US" altLang="zh-CN" sz="2400" b="1" smtClean="0">
                <a:latin typeface="Times New Roman" pitchFamily="18" charset="0"/>
                <a:ea typeface="华文新魏" pitchFamily="2" charset="-122"/>
              </a:rPr>
              <a:t>&gt;|&lt;</a:t>
            </a:r>
            <a:r>
              <a:rPr lang="zh-CN" altLang="en-US" sz="2400" b="1" smtClean="0">
                <a:latin typeface="Times New Roman" pitchFamily="18" charset="0"/>
                <a:ea typeface="华文新魏" pitchFamily="2" charset="-122"/>
              </a:rPr>
              <a:t>数字字符</a:t>
            </a:r>
            <a:r>
              <a:rPr lang="en-US" altLang="zh-CN" sz="2400" b="1" smtClean="0">
                <a:latin typeface="Times New Roman" pitchFamily="18" charset="0"/>
                <a:ea typeface="华文新魏" pitchFamily="2" charset="-122"/>
              </a:rPr>
              <a:t>&gt;)</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a:t>
            </a:r>
            <a:endParaRPr lang="zh-CN" altLang="en-US" sz="2400" b="1" baseline="30000" smtClean="0">
              <a:latin typeface="Times New Roman" pitchFamily="18" charset="0"/>
              <a:ea typeface="华文新魏" pitchFamily="2" charset="-122"/>
            </a:endParaRPr>
          </a:p>
          <a:p>
            <a:pPr lvl="1" eaLnBrk="1" hangingPunct="1">
              <a:lnSpc>
                <a:spcPct val="90000"/>
              </a:lnSpc>
            </a:pPr>
            <a:r>
              <a:rPr lang="zh-CN" altLang="en-US" sz="2400" b="1" smtClean="0">
                <a:latin typeface="Times New Roman" pitchFamily="18" charset="0"/>
                <a:ea typeface="华文新魏" pitchFamily="2" charset="-122"/>
              </a:rPr>
              <a:t>十进制数		</a:t>
            </a:r>
            <a:r>
              <a:rPr lang="en-US" altLang="zh-CN" sz="2400" b="1" smtClean="0">
                <a:latin typeface="Times New Roman" pitchFamily="18" charset="0"/>
                <a:ea typeface="华文新魏" pitchFamily="2" charset="-122"/>
              </a:rPr>
              <a:t>(0|1|2|3|4|5|6|7|8|9)(0|1|2|3|4|5|6|7|8|9)</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(ε|(. (0|1|2|3|4|5|6|7|8|9)(0|1|2|3|4|5|6|7|8|9)</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a:t>
            </a:r>
          </a:p>
          <a:p>
            <a:pPr lvl="1" eaLnBrk="1" hangingPunct="1">
              <a:lnSpc>
                <a:spcPct val="90000"/>
              </a:lnSpc>
            </a:pPr>
            <a:r>
              <a:rPr lang="zh-CN" altLang="en-US" sz="2400" b="1" smtClean="0">
                <a:latin typeface="Times New Roman" pitchFamily="18" charset="0"/>
                <a:ea typeface="华文新魏" pitchFamily="2" charset="-122"/>
              </a:rPr>
              <a:t>八进制数  </a:t>
            </a:r>
            <a:r>
              <a:rPr lang="en-US" altLang="zh-CN" sz="2400" b="1" smtClean="0">
                <a:latin typeface="Times New Roman" pitchFamily="18" charset="0"/>
                <a:ea typeface="华文新魏" pitchFamily="2" charset="-122"/>
              </a:rPr>
              <a:t>0(1|2|3|4|5|6|7)(0|1|2|3|4|5|6|7)</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 (ε|(. (0|1|2|3|4|5|6|7)(0|1|2|3|4|5|6|7)</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a:t>
            </a:r>
          </a:p>
          <a:p>
            <a:pPr lvl="1" eaLnBrk="1" hangingPunct="1">
              <a:lnSpc>
                <a:spcPct val="90000"/>
              </a:lnSpc>
            </a:pPr>
            <a:r>
              <a:rPr lang="zh-CN" altLang="en-US" sz="2400" b="1" smtClean="0">
                <a:latin typeface="Times New Roman" pitchFamily="18" charset="0"/>
                <a:ea typeface="华文新魏" pitchFamily="2" charset="-122"/>
              </a:rPr>
              <a:t>十六进制数    </a:t>
            </a:r>
            <a:r>
              <a:rPr lang="en-US" altLang="zh-CN" sz="2400" b="1" smtClean="0">
                <a:latin typeface="Times New Roman" pitchFamily="18" charset="0"/>
                <a:ea typeface="华文新魏" pitchFamily="2" charset="-122"/>
              </a:rPr>
              <a:t>0x(0|1|2|3|4|5|6|7|8|9|a|b|c|d|e|f)(0|1|2|3|4|5|6|7|8|9|a|b|c|d|e|f)</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 (ε|(. (0|1|2|3|4|5|6|7|8|9|a|b|c|d|e|f)(0|1|2|3|4|5|6|7|8|9|a|b|c|d|e|f)</a:t>
            </a:r>
            <a:r>
              <a:rPr lang="en-US" altLang="zh-CN" sz="2400" b="1" baseline="30000" smtClean="0">
                <a:latin typeface="Times New Roman" pitchFamily="18" charset="0"/>
                <a:ea typeface="华文新魏" pitchFamily="2" charset="-122"/>
              </a:rPr>
              <a:t>+</a:t>
            </a:r>
            <a:r>
              <a:rPr lang="en-US" altLang="zh-CN" sz="2400" b="1" smtClean="0">
                <a:latin typeface="Times New Roman" pitchFamily="18" charset="0"/>
                <a:ea typeface="华文新魏" pitchFamily="2" charset="-122"/>
              </a:rPr>
              <a:t>))</a:t>
            </a:r>
            <a:endParaRPr lang="zh-CN" altLang="en-US" sz="2400" b="1" smtClean="0">
              <a:latin typeface="Times New Roman" pitchFamily="18" charset="0"/>
              <a:ea typeface="华文新魏"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84BF093-14ED-4300-9068-223DA1736FEF}" type="slidenum">
              <a:rPr lang="zh-CN" altLang="en-US"/>
              <a:pPr eaLnBrk="1" hangingPunct="1"/>
              <a:t>56</a:t>
            </a:fld>
            <a:endParaRPr lang="en-US" altLang="zh-CN"/>
          </a:p>
        </p:txBody>
      </p:sp>
      <p:sp>
        <p:nvSpPr>
          <p:cNvPr id="67587" name="Rectangle 2"/>
          <p:cNvSpPr>
            <a:spLocks noGrp="1" noRot="1" noChangeArrowheads="1"/>
          </p:cNvSpPr>
          <p:nvPr>
            <p:ph type="title"/>
          </p:nvPr>
        </p:nvSpPr>
        <p:spPr/>
        <p:txBody>
          <a:bodyPr/>
          <a:lstStyle/>
          <a:p>
            <a:pPr eaLnBrk="1" hangingPunct="1"/>
            <a:r>
              <a:rPr lang="zh-CN" altLang="en-US" b="1" smtClean="0">
                <a:latin typeface="Times New Roman" pitchFamily="18" charset="0"/>
                <a:ea typeface="华文新魏" pitchFamily="2" charset="-122"/>
              </a:rPr>
              <a:t>实验</a:t>
            </a:r>
            <a:r>
              <a:rPr lang="en-US" altLang="zh-CN" b="1" smtClean="0">
                <a:latin typeface="Times New Roman" pitchFamily="18" charset="0"/>
                <a:ea typeface="华文新魏" pitchFamily="2" charset="-122"/>
              </a:rPr>
              <a:t>1</a:t>
            </a:r>
            <a:r>
              <a:rPr lang="zh-CN" altLang="en-US" b="1" smtClean="0">
                <a:latin typeface="Times New Roman" pitchFamily="18" charset="0"/>
                <a:ea typeface="华文新魏" pitchFamily="2" charset="-122"/>
              </a:rPr>
              <a:t>：词法分析器的设计与实现</a:t>
            </a:r>
          </a:p>
        </p:txBody>
      </p:sp>
      <p:sp>
        <p:nvSpPr>
          <p:cNvPr id="67588" name="Rectangle 3"/>
          <p:cNvSpPr>
            <a:spLocks noGrp="1" noRot="1" noChangeArrowheads="1"/>
          </p:cNvSpPr>
          <p:nvPr>
            <p:ph type="body" idx="1"/>
          </p:nvPr>
        </p:nvSpPr>
        <p:spPr>
          <a:xfrm>
            <a:off x="301625" y="1905000"/>
            <a:ext cx="8842375" cy="4692650"/>
          </a:xfrm>
        </p:spPr>
        <p:txBody>
          <a:bodyPr/>
          <a:lstStyle/>
          <a:p>
            <a:pPr eaLnBrk="1" hangingPunct="1"/>
            <a:r>
              <a:rPr lang="zh-CN" altLang="en-US" b="1" smtClean="0">
                <a:latin typeface="Times New Roman" pitchFamily="18" charset="0"/>
                <a:ea typeface="华文新魏" pitchFamily="2" charset="-122"/>
              </a:rPr>
              <a:t>附加要求</a:t>
            </a:r>
          </a:p>
          <a:p>
            <a:pPr lvl="1" eaLnBrk="1" hangingPunct="1"/>
            <a:r>
              <a:rPr lang="zh-CN" altLang="en-US" b="1" smtClean="0">
                <a:latin typeface="Times New Roman" pitchFamily="18" charset="0"/>
                <a:ea typeface="华文新魏" pitchFamily="2" charset="-122"/>
              </a:rPr>
              <a:t>作为一个独立的程序，从</a:t>
            </a:r>
            <a:r>
              <a:rPr lang="zh-CN" altLang="en-US" b="1" smtClean="0">
                <a:solidFill>
                  <a:srgbClr val="CC6600"/>
                </a:solidFill>
                <a:latin typeface="Times New Roman" pitchFamily="18" charset="0"/>
                <a:ea typeface="华文新魏" pitchFamily="2" charset="-122"/>
              </a:rPr>
              <a:t>文件</a:t>
            </a:r>
            <a:r>
              <a:rPr lang="zh-CN" altLang="en-US" b="1" smtClean="0">
                <a:latin typeface="Times New Roman" pitchFamily="18" charset="0"/>
                <a:ea typeface="华文新魏" pitchFamily="2" charset="-122"/>
              </a:rPr>
              <a:t>中读取源程序，将其变换成相应的符号序列</a:t>
            </a:r>
          </a:p>
          <a:p>
            <a:pPr lvl="1" eaLnBrk="1" hangingPunct="1"/>
            <a:r>
              <a:rPr lang="zh-CN" altLang="en-US" b="1" smtClean="0">
                <a:latin typeface="Times New Roman" pitchFamily="18" charset="0"/>
                <a:ea typeface="华文新魏" pitchFamily="2" charset="-122"/>
              </a:rPr>
              <a:t>作为一个独立的子程序设计，从文件中读取源程序，每被调用一次，返回当前的一个单词</a:t>
            </a:r>
          </a:p>
          <a:p>
            <a:pPr lvl="1" eaLnBrk="1" hangingPunct="1"/>
            <a:r>
              <a:rPr lang="zh-CN" altLang="en-US" b="1" smtClean="0">
                <a:latin typeface="Times New Roman" pitchFamily="18" charset="0"/>
                <a:ea typeface="华文新魏" pitchFamily="2" charset="-122"/>
              </a:rPr>
              <a:t>将</a:t>
            </a:r>
            <a:r>
              <a:rPr lang="en-US" altLang="zh-CN" b="1" smtClean="0">
                <a:latin typeface="Times New Roman" pitchFamily="18" charset="0"/>
                <a:ea typeface="华文新魏" pitchFamily="2" charset="-122"/>
              </a:rPr>
              <a:t>if</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then</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else</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while</a:t>
            </a:r>
            <a:r>
              <a:rPr lang="zh-CN" altLang="en-US" b="1" smtClean="0">
                <a:latin typeface="Times New Roman" pitchFamily="18" charset="0"/>
                <a:ea typeface="华文新魏" pitchFamily="2" charset="-122"/>
              </a:rPr>
              <a:t>、</a:t>
            </a:r>
            <a:r>
              <a:rPr lang="en-US" altLang="zh-CN" b="1" smtClean="0">
                <a:latin typeface="Times New Roman" pitchFamily="18" charset="0"/>
                <a:ea typeface="华文新魏" pitchFamily="2" charset="-122"/>
              </a:rPr>
              <a:t>do</a:t>
            </a:r>
            <a:r>
              <a:rPr lang="zh-CN" altLang="en-US" b="1" smtClean="0">
                <a:latin typeface="Times New Roman" pitchFamily="18" charset="0"/>
                <a:ea typeface="华文新魏" pitchFamily="2" charset="-122"/>
              </a:rPr>
              <a:t>等作为非保留字处理</a:t>
            </a:r>
          </a:p>
          <a:p>
            <a:pPr lvl="1" eaLnBrk="1" hangingPunct="1"/>
            <a:r>
              <a:rPr lang="zh-CN" altLang="en-US" b="1" smtClean="0">
                <a:latin typeface="Times New Roman" pitchFamily="18" charset="0"/>
                <a:ea typeface="华文新魏" pitchFamily="2" charset="-122"/>
              </a:rPr>
              <a:t>注意构建相应的符号表，记录切分出的标识符、常量的有关信息</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你估计后面会用得到的，而现在又能知道的信息</a:t>
            </a:r>
            <a:r>
              <a:rPr lang="en-US" altLang="zh-CN" b="1" smtClean="0">
                <a:latin typeface="Times New Roman" pitchFamily="18" charset="0"/>
                <a:ea typeface="华文新魏" pitchFamily="2" charset="-122"/>
              </a:rPr>
              <a:t>)</a:t>
            </a:r>
            <a:r>
              <a:rPr lang="zh-CN" altLang="en-US" b="1" smtClean="0">
                <a:latin typeface="Times New Roman" pitchFamily="18" charset="0"/>
                <a:ea typeface="华文新魏" pitchFamily="2" charset="-122"/>
              </a:rPr>
              <a:t>。 </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933663C-9A98-45B3-A451-C0A30BE632A3}" type="slidenum">
              <a:rPr lang="zh-CN" altLang="en-US"/>
              <a:pPr eaLnBrk="1" hangingPunct="1"/>
              <a:t>57</a:t>
            </a:fld>
            <a:endParaRPr lang="en-US" altLang="zh-CN"/>
          </a:p>
        </p:txBody>
      </p:sp>
      <p:sp>
        <p:nvSpPr>
          <p:cNvPr id="68611" name="Rectangle 2"/>
          <p:cNvSpPr>
            <a:spLocks noGrp="1" noRot="1" noChangeArrowheads="1"/>
          </p:cNvSpPr>
          <p:nvPr>
            <p:ph type="title"/>
          </p:nvPr>
        </p:nvSpPr>
        <p:spPr>
          <a:xfrm>
            <a:off x="1066800" y="762000"/>
            <a:ext cx="3495675" cy="974725"/>
          </a:xfrm>
        </p:spPr>
        <p:txBody>
          <a:bodyPr/>
          <a:lstStyle/>
          <a:p>
            <a:pPr eaLnBrk="1" hangingPunct="1"/>
            <a:r>
              <a:rPr lang="zh-CN" altLang="en-US" b="1" smtClean="0">
                <a:solidFill>
                  <a:srgbClr val="000099"/>
                </a:solidFill>
                <a:latin typeface="Times New Roman" pitchFamily="18" charset="0"/>
                <a:ea typeface="华文新魏" pitchFamily="2" charset="-122"/>
              </a:rPr>
              <a:t>本章总结</a:t>
            </a:r>
          </a:p>
        </p:txBody>
      </p:sp>
      <p:sp>
        <p:nvSpPr>
          <p:cNvPr id="317443" name="Rectangle 3"/>
          <p:cNvSpPr>
            <a:spLocks noGrp="1" noRot="1" noChangeArrowheads="1"/>
          </p:cNvSpPr>
          <p:nvPr>
            <p:ph type="body" idx="1"/>
          </p:nvPr>
        </p:nvSpPr>
        <p:spPr>
          <a:xfrm>
            <a:off x="457200" y="1981200"/>
            <a:ext cx="8229600" cy="4114800"/>
          </a:xfrm>
        </p:spPr>
        <p:txBody>
          <a:bodyPr/>
          <a:lstStyle/>
          <a:p>
            <a:pPr algn="just" eaLnBrk="1" hangingPunct="1">
              <a:lnSpc>
                <a:spcPct val="110000"/>
              </a:lnSpc>
            </a:pPr>
            <a:r>
              <a:rPr lang="zh-CN" altLang="en-US" b="1" smtClean="0">
                <a:latin typeface="Times New Roman" pitchFamily="18" charset="0"/>
                <a:ea typeface="华文新魏" pitchFamily="2" charset="-122"/>
              </a:rPr>
              <a:t>词法分析器从组成源程序的字符行中寻找出单词，并给出它们的种别和属性——输出二元组序列</a:t>
            </a:r>
          </a:p>
          <a:p>
            <a:pPr algn="just" eaLnBrk="1" hangingPunct="1">
              <a:lnSpc>
                <a:spcPct val="110000"/>
              </a:lnSpc>
            </a:pPr>
            <a:r>
              <a:rPr lang="zh-CN" altLang="en-US" b="1" smtClean="0">
                <a:latin typeface="Times New Roman" pitchFamily="18" charset="0"/>
                <a:ea typeface="华文新魏" pitchFamily="2" charset="-122"/>
              </a:rPr>
              <a:t>高级语言的单词组成一个3型语言</a:t>
            </a:r>
          </a:p>
          <a:p>
            <a:pPr eaLnBrk="1" hangingPunct="1"/>
            <a:r>
              <a:rPr lang="zh-CN" altLang="en-US" b="1" smtClean="0">
                <a:latin typeface="Times New Roman" pitchFamily="18" charset="0"/>
                <a:ea typeface="华文新魏" pitchFamily="2" charset="-122"/>
              </a:rPr>
              <a:t>3型语言可以用</a:t>
            </a:r>
            <a:r>
              <a:rPr lang="en-US" altLang="zh-CN" b="1" smtClean="0">
                <a:latin typeface="Times New Roman" pitchFamily="18" charset="0"/>
                <a:ea typeface="华文新魏" pitchFamily="2" charset="-122"/>
              </a:rPr>
              <a:t>RE、RG、FA</a:t>
            </a:r>
            <a:r>
              <a:rPr lang="zh-CN" altLang="en-US" b="1" smtClean="0">
                <a:latin typeface="Times New Roman" pitchFamily="18" charset="0"/>
                <a:ea typeface="华文新魏" pitchFamily="2" charset="-122"/>
              </a:rPr>
              <a:t>描述</a:t>
            </a:r>
          </a:p>
          <a:p>
            <a:pPr eaLnBrk="1" hangingPunct="1"/>
            <a:r>
              <a:rPr lang="en-US" altLang="zh-CN" b="1" smtClean="0">
                <a:latin typeface="Times New Roman" pitchFamily="18" charset="0"/>
                <a:ea typeface="华文新魏" pitchFamily="2" charset="-122"/>
              </a:rPr>
              <a:t>FA</a:t>
            </a:r>
            <a:r>
              <a:rPr lang="zh-CN" altLang="en-US" b="1" smtClean="0">
                <a:latin typeface="Times New Roman" pitchFamily="18" charset="0"/>
                <a:ea typeface="华文新魏" pitchFamily="2" charset="-122"/>
              </a:rPr>
              <a:t>的状态转移图，可以被用来指导相应的词法分析器的设计与实现</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30E88B2-8705-41DC-BF6A-9AF8B513D06F}" type="slidenum">
              <a:rPr lang="zh-CN" altLang="en-US"/>
              <a:pPr eaLnBrk="1" hangingPunct="1"/>
              <a:t>58</a:t>
            </a:fld>
            <a:endParaRPr lang="en-US" altLang="zh-CN"/>
          </a:p>
        </p:txBody>
      </p:sp>
      <p:sp>
        <p:nvSpPr>
          <p:cNvPr id="69635" name="Rectangle 2"/>
          <p:cNvSpPr>
            <a:spLocks noGrp="1" noRot="1" noChangeArrowheads="1"/>
          </p:cNvSpPr>
          <p:nvPr>
            <p:ph type="title"/>
          </p:nvPr>
        </p:nvSpPr>
        <p:spPr>
          <a:xfrm>
            <a:off x="1227138" y="747713"/>
            <a:ext cx="3573462" cy="1081087"/>
          </a:xfrm>
          <a:noFill/>
        </p:spPr>
        <p:txBody>
          <a:bodyPr lIns="92075" tIns="46038" rIns="92075" bIns="46038"/>
          <a:lstStyle/>
          <a:p>
            <a:pPr eaLnBrk="1" hangingPunct="1"/>
            <a:r>
              <a:rPr lang="zh-CN" altLang="en-US" b="1" smtClean="0">
                <a:latin typeface="Times New Roman" pitchFamily="18" charset="0"/>
                <a:ea typeface="华文新魏" pitchFamily="2" charset="-122"/>
              </a:rPr>
              <a:t>本章总结</a:t>
            </a:r>
          </a:p>
        </p:txBody>
      </p:sp>
      <p:sp>
        <p:nvSpPr>
          <p:cNvPr id="318467" name="Rectangle 3"/>
          <p:cNvSpPr>
            <a:spLocks noGrp="1" noRot="1" noChangeArrowheads="1"/>
          </p:cNvSpPr>
          <p:nvPr>
            <p:ph type="body" idx="1"/>
          </p:nvPr>
        </p:nvSpPr>
        <p:spPr>
          <a:xfrm>
            <a:off x="838200" y="2209800"/>
            <a:ext cx="3505200" cy="3200400"/>
          </a:xfrm>
          <a:noFill/>
        </p:spPr>
        <p:txBody>
          <a:bodyPr lIns="92075" tIns="46038" rIns="92075" bIns="46038"/>
          <a:lstStyle/>
          <a:p>
            <a:pPr marL="0" indent="0" algn="just" eaLnBrk="1" hangingPunct="1">
              <a:lnSpc>
                <a:spcPct val="110000"/>
              </a:lnSpc>
            </a:pPr>
            <a:r>
              <a:rPr lang="zh-CN" altLang="en-US" b="1" smtClean="0">
                <a:latin typeface="Times New Roman" pitchFamily="18" charset="0"/>
                <a:ea typeface="华文新魏" pitchFamily="2" charset="-122"/>
              </a:rPr>
              <a:t>3型语言相应的理论指导人们构造出了高级语言的词法分析器的自动生成器——如：</a:t>
            </a:r>
            <a:r>
              <a:rPr lang="en-US" altLang="zh-CN" b="1" smtClean="0">
                <a:latin typeface="Times New Roman" pitchFamily="18" charset="0"/>
                <a:ea typeface="华文新魏" pitchFamily="2" charset="-122"/>
              </a:rPr>
              <a:t>Lex</a:t>
            </a:r>
          </a:p>
        </p:txBody>
      </p:sp>
      <p:sp>
        <p:nvSpPr>
          <p:cNvPr id="318468" name="Rectangle 4"/>
          <p:cNvSpPr>
            <a:spLocks noChangeArrowheads="1"/>
          </p:cNvSpPr>
          <p:nvPr/>
        </p:nvSpPr>
        <p:spPr bwMode="auto">
          <a:xfrm>
            <a:off x="4267200" y="228600"/>
            <a:ext cx="4635500" cy="608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75" tIns="46038" rIns="92075" bIns="46038" anchor="ctr"/>
          <a:lstStyle/>
          <a:p>
            <a:pPr algn="ctr" eaLnBrk="0" hangingPunct="0">
              <a:spcBef>
                <a:spcPct val="20000"/>
              </a:spcBef>
            </a:pPr>
            <a:r>
              <a:rPr kumimoji="1" lang="zh-CN" altLang="en-US" sz="3200" b="1">
                <a:solidFill>
                  <a:srgbClr val="000099"/>
                </a:solidFill>
                <a:ea typeface="华文新魏" pitchFamily="2" charset="-122"/>
              </a:rPr>
              <a:t>正则表达式</a:t>
            </a:r>
          </a:p>
          <a:p>
            <a:pPr algn="ctr" eaLnBrk="0" hangingPunct="0">
              <a:spcBef>
                <a:spcPct val="20000"/>
              </a:spcBef>
            </a:pPr>
            <a:r>
              <a:rPr kumimoji="1" lang="zh-CN" altLang="en-US" sz="3200" b="1">
                <a:solidFill>
                  <a:srgbClr val="000099"/>
                </a:solidFill>
                <a:ea typeface="华文新魏" pitchFamily="2" charset="-122"/>
              </a:rPr>
              <a:t>↓</a:t>
            </a:r>
          </a:p>
          <a:p>
            <a:pPr algn="ctr" eaLnBrk="0" hangingPunct="0">
              <a:spcBef>
                <a:spcPct val="20000"/>
              </a:spcBef>
            </a:pPr>
            <a:r>
              <a:rPr kumimoji="1" lang="zh-CN" altLang="en-US" sz="3200" b="1">
                <a:solidFill>
                  <a:srgbClr val="000099"/>
                </a:solidFill>
                <a:ea typeface="华文新魏" pitchFamily="2" charset="-122"/>
              </a:rPr>
              <a:t>正则定义式</a:t>
            </a:r>
          </a:p>
          <a:p>
            <a:pPr algn="ctr" eaLnBrk="0" hangingPunct="0">
              <a:spcBef>
                <a:spcPct val="20000"/>
              </a:spcBef>
            </a:pPr>
            <a:r>
              <a:rPr kumimoji="1" lang="zh-CN" altLang="en-US" sz="3200" b="1">
                <a:solidFill>
                  <a:srgbClr val="000099"/>
                </a:solidFill>
                <a:ea typeface="华文新魏" pitchFamily="2" charset="-122"/>
              </a:rPr>
              <a:t>↓</a:t>
            </a:r>
          </a:p>
          <a:p>
            <a:pPr algn="ctr" eaLnBrk="0" hangingPunct="0">
              <a:spcBef>
                <a:spcPct val="20000"/>
              </a:spcBef>
            </a:pPr>
            <a:r>
              <a:rPr kumimoji="1" lang="zh-CN" altLang="en-US" sz="3200" b="1">
                <a:solidFill>
                  <a:srgbClr val="000099"/>
                </a:solidFill>
                <a:ea typeface="华文新魏" pitchFamily="2" charset="-122"/>
              </a:rPr>
              <a:t>状态图</a:t>
            </a:r>
          </a:p>
          <a:p>
            <a:pPr algn="ctr" eaLnBrk="0" hangingPunct="0">
              <a:spcBef>
                <a:spcPct val="20000"/>
              </a:spcBef>
            </a:pPr>
            <a:r>
              <a:rPr kumimoji="1" lang="zh-CN" altLang="en-US" sz="3200" b="1">
                <a:solidFill>
                  <a:srgbClr val="000099"/>
                </a:solidFill>
                <a:ea typeface="华文新魏" pitchFamily="2" charset="-122"/>
              </a:rPr>
              <a:t>↓</a:t>
            </a:r>
          </a:p>
          <a:p>
            <a:pPr algn="ctr" eaLnBrk="0" hangingPunct="0">
              <a:spcBef>
                <a:spcPct val="20000"/>
              </a:spcBef>
            </a:pPr>
            <a:r>
              <a:rPr kumimoji="1" lang="zh-CN" altLang="en-US" sz="3200" b="1">
                <a:solidFill>
                  <a:srgbClr val="000099"/>
                </a:solidFill>
                <a:ea typeface="华文新魏" pitchFamily="2" charset="-122"/>
              </a:rPr>
              <a:t>识别过程的实现算法</a:t>
            </a:r>
          </a:p>
          <a:p>
            <a:pPr algn="ctr" eaLnBrk="0" hangingPunct="0">
              <a:spcBef>
                <a:spcPct val="20000"/>
              </a:spcBef>
            </a:pPr>
            <a:r>
              <a:rPr kumimoji="1" lang="zh-CN" altLang="en-US" sz="3200" b="1">
                <a:solidFill>
                  <a:srgbClr val="000099"/>
                </a:solidFill>
                <a:ea typeface="华文新魏" pitchFamily="2" charset="-122"/>
              </a:rPr>
              <a:t>↓</a:t>
            </a:r>
          </a:p>
          <a:p>
            <a:pPr algn="ctr" eaLnBrk="0" hangingPunct="0">
              <a:spcBef>
                <a:spcPct val="20000"/>
              </a:spcBef>
            </a:pPr>
            <a:r>
              <a:rPr kumimoji="1" lang="zh-CN" altLang="en-US" sz="3200" b="1">
                <a:solidFill>
                  <a:srgbClr val="000099"/>
                </a:solidFill>
                <a:ea typeface="华文新魏" pitchFamily="2" charset="-122"/>
              </a:rPr>
              <a:t>程序实现和测试</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CDESIGNL</Template>
  <TotalTime>4646</TotalTime>
  <Words>2817</Words>
  <Application>Microsoft Office PowerPoint</Application>
  <PresentationFormat>全屏显示(4:3)</PresentationFormat>
  <Paragraphs>719</Paragraphs>
  <Slides>58</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58</vt:i4>
      </vt:variant>
    </vt:vector>
  </HeadingPairs>
  <TitlesOfParts>
    <vt:vector size="68" baseType="lpstr">
      <vt:lpstr>Monotype Sorts</vt:lpstr>
      <vt:lpstr>华文新魏</vt:lpstr>
      <vt:lpstr>宋体</vt:lpstr>
      <vt:lpstr>Arial</vt:lpstr>
      <vt:lpstr>Symbol</vt:lpstr>
      <vt:lpstr>Tahoma</vt:lpstr>
      <vt:lpstr>Times New Roman</vt:lpstr>
      <vt:lpstr>Wingdings</vt:lpstr>
      <vt:lpstr>诗情画意</vt:lpstr>
      <vt:lpstr>剪辑</vt:lpstr>
      <vt:lpstr>PowerPoint 演示文稿</vt:lpstr>
      <vt:lpstr>PowerPoint 演示文稿</vt:lpstr>
      <vt:lpstr>编译程序总体结构</vt:lpstr>
      <vt:lpstr>第3章  词法分析</vt:lpstr>
      <vt:lpstr>3.1  词法分析(扫描)器的功能</vt:lpstr>
      <vt:lpstr>3.1  词法分析(扫描)器的功能</vt:lpstr>
      <vt:lpstr>1. 单词符号的表示</vt:lpstr>
      <vt:lpstr>单词符号编码举例</vt:lpstr>
      <vt:lpstr>例 3-1: 单词符号序列 while( pointer!=N){S=S++; pointer++;} </vt:lpstr>
      <vt:lpstr>2.相关问题</vt:lpstr>
      <vt:lpstr>2.相关问题——双缓冲</vt:lpstr>
      <vt:lpstr>2. 相关问题——双缓冲</vt:lpstr>
      <vt:lpstr>2. 相关问题——带标记缓冲</vt:lpstr>
      <vt:lpstr>2. 相关问题——缓冲区的大小</vt:lpstr>
      <vt:lpstr>3.2  符号的正则表达式描述</vt:lpstr>
      <vt:lpstr>1. 正则表达式：正则语言的另一种描述</vt:lpstr>
      <vt:lpstr>正则表达式(Regular Expression——RE)</vt:lpstr>
      <vt:lpstr>运算的优先级</vt:lpstr>
      <vt:lpstr>运算的优先级</vt:lpstr>
      <vt:lpstr>运算的优先级</vt:lpstr>
      <vt:lpstr>2. 正则文法与正则表达式</vt:lpstr>
      <vt:lpstr>2. 正则文法与正则表达式</vt:lpstr>
      <vt:lpstr>例 3-3 标识符定义的转换</vt:lpstr>
      <vt:lpstr>例3-4正则表达式到正则文法的转换</vt:lpstr>
      <vt:lpstr>正则表达式到正则文法的转换</vt:lpstr>
      <vt:lpstr>正则表达式到正则文法的转换</vt:lpstr>
      <vt:lpstr>例 3-5：一个简单的词法正则定义式</vt:lpstr>
      <vt:lpstr>变换为正则文法</vt:lpstr>
      <vt:lpstr>正则文法到正则定义式的转换</vt:lpstr>
      <vt:lpstr>3.3 符号的识别</vt:lpstr>
      <vt:lpstr>例3-5的状态图</vt:lpstr>
      <vt:lpstr>例3-5的状态图</vt:lpstr>
      <vt:lpstr>从正则表达式到状态转换图</vt:lpstr>
      <vt:lpstr>例 3-6  Ｃ语言无符号整数的识别</vt:lpstr>
      <vt:lpstr>2. 识别不同进制数的状态图</vt:lpstr>
      <vt:lpstr>3. Ｃ语言无符号整数识别的状态图</vt:lpstr>
      <vt:lpstr>4.状态图合并</vt:lpstr>
      <vt:lpstr>另一种做法</vt:lpstr>
      <vt:lpstr>4.  从正则文法出发，构造状态图</vt:lpstr>
      <vt:lpstr>4.  从正则文法出发，构造状态图</vt:lpstr>
      <vt:lpstr>利用状态转换图识别单词符号</vt:lpstr>
      <vt:lpstr>3.4 词法分析程序的设计与实现</vt:lpstr>
      <vt:lpstr>1. 数据结构与子例程</vt:lpstr>
      <vt:lpstr>例图3.15 (P93)的实现算法</vt:lpstr>
      <vt:lpstr>PowerPoint 演示文稿</vt:lpstr>
      <vt:lpstr>PowerPoint 演示文稿</vt:lpstr>
      <vt:lpstr>PowerPoint 演示文稿</vt:lpstr>
      <vt:lpstr>2. 需要说明的问题</vt:lpstr>
      <vt:lpstr>3. 扫描器的自动生成    ——实现过程</vt:lpstr>
      <vt:lpstr>3. 扫描器的自动生成    ——Lex程序结构(P109)</vt:lpstr>
      <vt:lpstr>3. 扫描器的自动生成</vt:lpstr>
      <vt:lpstr>PowerPoint 演示文稿</vt:lpstr>
      <vt:lpstr>实验1：词法分析器的设计与实现</vt:lpstr>
      <vt:lpstr>实验1：词法分析器的设计与实现</vt:lpstr>
      <vt:lpstr>实验1：词法分析器的设计与实现</vt:lpstr>
      <vt:lpstr>实验1：词法分析器的设计与实现</vt:lpstr>
      <vt:lpstr>本章总结</vt:lpstr>
      <vt:lpstr>本章总结</vt:lpstr>
    </vt:vector>
  </TitlesOfParts>
  <Company>bjut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jzl</dc:creator>
  <cp:lastModifiedBy>Admin</cp:lastModifiedBy>
  <cp:revision>189</cp:revision>
  <cp:lastPrinted>1601-01-01T00:00:00Z</cp:lastPrinted>
  <dcterms:created xsi:type="dcterms:W3CDTF">2003-07-09T14:46:46Z</dcterms:created>
  <dcterms:modified xsi:type="dcterms:W3CDTF">2017-02-24T00:46:26Z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