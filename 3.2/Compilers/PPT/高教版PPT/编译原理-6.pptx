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39"/>
  </p:notesMasterIdLst>
  <p:handoutMasterIdLst>
    <p:handoutMasterId r:id="rId40"/>
  </p:handoutMasterIdLst>
  <p:sldIdLst>
    <p:sldId id="995" r:id="rId2"/>
    <p:sldId id="961" r:id="rId3"/>
    <p:sldId id="473" r:id="rId4"/>
    <p:sldId id="939" r:id="rId5"/>
    <p:sldId id="941" r:id="rId6"/>
    <p:sldId id="996" r:id="rId7"/>
    <p:sldId id="994" r:id="rId8"/>
    <p:sldId id="954" r:id="rId9"/>
    <p:sldId id="953" r:id="rId10"/>
    <p:sldId id="997" r:id="rId11"/>
    <p:sldId id="993" r:id="rId12"/>
    <p:sldId id="775" r:id="rId13"/>
    <p:sldId id="942" r:id="rId14"/>
    <p:sldId id="776" r:id="rId15"/>
    <p:sldId id="778" r:id="rId16"/>
    <p:sldId id="477" r:id="rId17"/>
    <p:sldId id="784" r:id="rId18"/>
    <p:sldId id="945" r:id="rId19"/>
    <p:sldId id="786" r:id="rId20"/>
    <p:sldId id="476" r:id="rId21"/>
    <p:sldId id="949" r:id="rId22"/>
    <p:sldId id="948" r:id="rId23"/>
    <p:sldId id="950" r:id="rId24"/>
    <p:sldId id="943" r:id="rId25"/>
    <p:sldId id="946" r:id="rId26"/>
    <p:sldId id="782" r:id="rId27"/>
    <p:sldId id="783" r:id="rId28"/>
    <p:sldId id="481" r:id="rId29"/>
    <p:sldId id="484" r:id="rId30"/>
    <p:sldId id="959" r:id="rId31"/>
    <p:sldId id="947" r:id="rId32"/>
    <p:sldId id="787" r:id="rId33"/>
    <p:sldId id="788" r:id="rId34"/>
    <p:sldId id="968" r:id="rId35"/>
    <p:sldId id="937" r:id="rId36"/>
    <p:sldId id="944" r:id="rId37"/>
    <p:sldId id="973" r:id="rId3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66"/>
    <a:srgbClr val="FFFF00"/>
    <a:srgbClr val="99FF33"/>
    <a:srgbClr val="00CC00"/>
    <a:srgbClr val="339966"/>
    <a:srgbClr val="0000FF"/>
    <a:srgbClr val="FF3300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0" autoAdjust="0"/>
    <p:restoredTop sz="94683" autoAdjust="0"/>
  </p:normalViewPr>
  <p:slideViewPr>
    <p:cSldViewPr>
      <p:cViewPr varScale="1">
        <p:scale>
          <a:sx n="119" d="100"/>
          <a:sy n="119" d="100"/>
        </p:scale>
        <p:origin x="129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952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100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00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1" sz="100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000" i="1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9FBE3FA-D8D9-4BDE-842B-EDD85BB3CE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9548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4611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4710CB3-82AB-4124-A94D-528BEBDE13F7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B3F812-0C79-4F7D-ABF3-4A30E19BF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25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46807-F569-40EC-B231-D3E4B42836C4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178A87-4DD6-4104-A009-24790D2141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590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1371D-F0F1-41DA-BAAB-2C5476D5DB7C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8401-66E9-49CE-8AB0-7BA039CD6F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84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B2E73-1E0B-4B29-B1CD-702AF50C8B9E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FFFC1-5942-4A73-9849-8E6D761419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9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856B9-B873-495C-9940-ECB8653BEEE0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D6B02-84C6-4E1A-A59A-E6DFACEC19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163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30B4A-E38C-46D8-93ED-8EAE44DCD5B2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116DD-9EC6-4EEC-8844-FAF923135D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5280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BEF19-4097-485D-B2DC-69E19C0BC71D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E1C40-B8F3-40C5-BC88-E093AE9AA3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58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37E92-9EDD-4D57-B9E9-19C02E403D20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BD70E-8464-47DD-9085-3DEE258D25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13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95A3F-A75A-4B93-8FCD-029417F83E98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29015-F90F-4D80-B927-B521764B8B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30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2AF2B-CCB0-431D-AE77-903A590089A6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32FF8-3208-4018-87D0-EA4EB86897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CF20C8-709A-4D94-B9BF-94A51AD37D76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90731-997D-464E-A205-A45C2D0F17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841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1625" y="1905000"/>
            <a:ext cx="8540750" cy="4194175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721A9-EBEB-4E41-8BAF-F9D989B3C176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0084C-462C-433D-829B-50CC9B3DF3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983771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2950BF96-19F6-45E1-AFE0-F0C66FDB9473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634D9DC-880E-4938-B0A2-DD1118073F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47E1E14F-AE74-465E-843F-437A693BA94B}" type="slidenum">
              <a:rPr lang="zh-CN" altLang="en-US"/>
              <a:pPr eaLnBrk="1" hangingPunct="1"/>
              <a:t>1</a:t>
            </a:fld>
            <a:endParaRPr lang="en-US" altLang="zh-CN"/>
          </a:p>
        </p:txBody>
      </p:sp>
      <p:sp>
        <p:nvSpPr>
          <p:cNvPr id="102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187450" y="1143000"/>
            <a:ext cx="6965950" cy="1524000"/>
          </a:xfrm>
        </p:spPr>
        <p:txBody>
          <a:bodyPr/>
          <a:lstStyle/>
          <a:p>
            <a:pPr eaLnBrk="1" hangingPunct="1"/>
            <a:r>
              <a:rPr lang="zh-CN" altLang="en-US" sz="6000" b="1" smtClean="0">
                <a:latin typeface="Times New Roman" pitchFamily="18" charset="0"/>
                <a:ea typeface="华文新魏" pitchFamily="2" charset="-122"/>
              </a:rPr>
              <a:t>编译原理</a:t>
            </a:r>
            <a:r>
              <a:rPr lang="zh-CN" altLang="en-US" b="1" smtClean="0">
                <a:latin typeface="Times New Roman" pitchFamily="18" charset="0"/>
              </a:rPr>
              <a:t/>
            </a:r>
            <a:br>
              <a:rPr lang="zh-CN" altLang="en-US" b="1" smtClean="0">
                <a:latin typeface="Times New Roman" pitchFamily="18" charset="0"/>
              </a:rPr>
            </a:br>
            <a:r>
              <a:rPr lang="en-US" altLang="zh-CN" b="1" smtClean="0">
                <a:latin typeface="Times New Roman" pitchFamily="18" charset="0"/>
              </a:rPr>
              <a:t>(Principles of Compiling)</a:t>
            </a:r>
            <a:endParaRPr lang="zh-CN" altLang="en-US" b="1" smtClean="0">
              <a:latin typeface="Times New Roman" pitchFamily="18" charset="0"/>
            </a:endParaRPr>
          </a:p>
        </p:txBody>
      </p:sp>
      <p:graphicFrame>
        <p:nvGraphicFramePr>
          <p:cNvPr id="1026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5" name="剪辑" r:id="rId3" imgW="2641320" imgH="4586040" progId="MS_ClipArt_Gallery.2">
                  <p:embed/>
                </p:oleObj>
              </mc:Choice>
              <mc:Fallback>
                <p:oleObj name="剪辑" r:id="rId3" imgW="2641320" imgH="458604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1476375" y="3500438"/>
            <a:ext cx="6048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主讲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蒋宗礼、姜守旭</a:t>
            </a:r>
            <a:endParaRPr lang="zh-CN" altLang="en-US" sz="2800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办公室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信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北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212</a:t>
            </a:r>
            <a:endParaRPr lang="en-US" altLang="zh-CN" sz="2800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电话：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67392397</a:t>
            </a:r>
            <a:endParaRPr lang="en-US" altLang="zh-CN" sz="2800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Email：jiangzl@bjut.edu.cn</a:t>
            </a:r>
          </a:p>
        </p:txBody>
      </p:sp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813"/>
            <a:ext cx="16192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89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95288" y="620713"/>
            <a:ext cx="8497887" cy="1752600"/>
          </a:xfrm>
        </p:spPr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第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6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章  语法制导翻译</a:t>
            </a:r>
            <a:br>
              <a:rPr lang="zh-CN" altLang="en-US" b="1" smtClean="0">
                <a:latin typeface="Times New Roman" pitchFamily="18" charset="0"/>
                <a:ea typeface="华文新魏" pitchFamily="2" charset="-122"/>
              </a:rPr>
            </a:b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与属性文法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ED9341AD-4E12-49D3-BBF3-FEA9ECC389C6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053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1F6B35FC-E98D-471C-B139-0FE806BBBC91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graphicFrame>
        <p:nvGraphicFramePr>
          <p:cNvPr id="2050" name="Object 1028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剪辑" r:id="rId3" imgW="2641320" imgH="4586040" progId="MS_ClipArt_Gallery.2">
                  <p:embed/>
                </p:oleObj>
              </mc:Choice>
              <mc:Fallback>
                <p:oleObj name="剪辑" r:id="rId3" imgW="2641320" imgH="4586040" progId="MS_ClipArt_Gallery.2">
                  <p:embed/>
                  <p:pic>
                    <p:nvPicPr>
                      <p:cNvPr id="0" name="Object 102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1029"/>
          <p:cNvSpPr>
            <a:spLocks noRot="1" noChangeArrowheads="1"/>
          </p:cNvSpPr>
          <p:nvPr/>
        </p:nvSpPr>
        <p:spPr bwMode="auto">
          <a:xfrm>
            <a:off x="1187450" y="2781300"/>
            <a:ext cx="540067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语法制导翻译概述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属性文法</a:t>
            </a:r>
          </a:p>
          <a:p>
            <a:pPr lvl="1" indent="142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综合属性与继承属性</a:t>
            </a:r>
          </a:p>
          <a:p>
            <a:pPr lvl="1" indent="142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S_</a:t>
            </a: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属性文法</a:t>
            </a:r>
          </a:p>
          <a:p>
            <a:pPr lvl="1" indent="142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L_</a:t>
            </a: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属性文法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翻译模式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09625" y="304800"/>
            <a:ext cx="6667500" cy="1216025"/>
          </a:xfrm>
          <a:noFill/>
        </p:spPr>
        <p:txBody>
          <a:bodyPr lIns="92075" tIns="46038" rIns="92075" bIns="46038"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6.1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语法制导翻译概述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8228012" cy="4319587"/>
          </a:xfrm>
        </p:spPr>
        <p:txBody>
          <a:bodyPr lIns="92075" tIns="46038" rIns="92075" bIns="46038"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制导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翻译的概念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语法成分具有规定的语义</a:t>
            </a:r>
          </a:p>
          <a:p>
            <a:pPr lvl="1"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+ E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在进行语法分析的同时，完成相应的语义处理</a:t>
            </a:r>
          </a:p>
          <a:p>
            <a:pPr>
              <a:spcBef>
                <a:spcPct val="7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如何根据被识别出的语法成分进行语义处理？有哪些工作要做？</a:t>
            </a:r>
          </a:p>
        </p:txBody>
      </p:sp>
      <p:sp>
        <p:nvSpPr>
          <p:cNvPr id="102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9565B1AA-7ABB-4BC5-B693-E1A2EBA7F09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2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DAC106CA-0C65-4C89-BD6A-BAF317833850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3851275" y="2960688"/>
            <a:ext cx="30607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600" b="1">
                <a:latin typeface="Times New Roman" pitchFamily="18" charset="0"/>
              </a:rPr>
              <a:t>E.val:=E</a:t>
            </a:r>
            <a:r>
              <a:rPr lang="en-US" altLang="zh-CN" sz="2600" b="1" baseline="-25000">
                <a:latin typeface="Times New Roman" pitchFamily="18" charset="0"/>
              </a:rPr>
              <a:t>1</a:t>
            </a:r>
            <a:r>
              <a:rPr lang="en-US" altLang="zh-CN" sz="2600" b="1">
                <a:latin typeface="Times New Roman" pitchFamily="18" charset="0"/>
              </a:rPr>
              <a:t>.val+E</a:t>
            </a:r>
            <a:r>
              <a:rPr lang="en-US" altLang="zh-CN" sz="2600" b="1" baseline="-25000">
                <a:latin typeface="Times New Roman" pitchFamily="18" charset="0"/>
              </a:rPr>
              <a:t>2</a:t>
            </a:r>
            <a:r>
              <a:rPr lang="en-US" altLang="zh-CN" sz="2600" b="1">
                <a:latin typeface="Times New Roman" pitchFamily="18" charset="0"/>
              </a:rPr>
              <a:t>.val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7280275" cy="1216025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1.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语义分析的任务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语义检查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例如：类型、运算、维数、越界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翻译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例如：变量的存储分配、表达式的求值、语句的翻译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总目标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生成等价的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中间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代码</a:t>
            </a:r>
          </a:p>
        </p:txBody>
      </p:sp>
      <p:sp>
        <p:nvSpPr>
          <p:cNvPr id="112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A6C71C88-CBD4-41A7-A9FF-B8FB9AF785D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12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F2D1D40-F554-4189-8253-345353E96815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280275" cy="1216025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2.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代码结构</a:t>
            </a:r>
          </a:p>
        </p:txBody>
      </p:sp>
      <p:sp>
        <p:nvSpPr>
          <p:cNvPr id="826371" name="Rectangle 3"/>
          <p:cNvSpPr>
            <a:spLocks noGrp="1" noChangeArrowheads="1"/>
          </p:cNvSpPr>
          <p:nvPr>
            <p:ph idx="1"/>
          </p:nvPr>
        </p:nvSpPr>
        <p:spPr>
          <a:xfrm>
            <a:off x="592138" y="1844675"/>
            <a:ext cx="7867650" cy="5111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朴素理解：我们编写的程序在如何工作？</a:t>
            </a:r>
          </a:p>
        </p:txBody>
      </p:sp>
      <p:sp>
        <p:nvSpPr>
          <p:cNvPr id="122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7A0DA23-1FC4-487A-9A16-36D62C868DA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22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2ED786D-F76C-4B1E-BFDB-747467983317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826372" name="Rectangle 4"/>
          <p:cNvSpPr>
            <a:spLocks noChangeArrowheads="1"/>
          </p:cNvSpPr>
          <p:nvPr/>
        </p:nvSpPr>
        <p:spPr bwMode="auto">
          <a:xfrm>
            <a:off x="642938" y="4038600"/>
            <a:ext cx="74580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语句的代码结构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源、目标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826373" name="Rectangle 5"/>
          <p:cNvSpPr>
            <a:spLocks noChangeArrowheads="1"/>
          </p:cNvSpPr>
          <p:nvPr/>
        </p:nvSpPr>
        <p:spPr bwMode="auto">
          <a:xfrm>
            <a:off x="642938" y="4572000"/>
            <a:ext cx="738663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语句分类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说明语句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符号表的查填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可执行语句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生成指令代码</a:t>
            </a:r>
          </a:p>
        </p:txBody>
      </p:sp>
      <p:sp>
        <p:nvSpPr>
          <p:cNvPr id="826374" name="Text Box 6"/>
          <p:cNvSpPr txBox="1">
            <a:spLocks noChangeArrowheads="1"/>
          </p:cNvSpPr>
          <p:nvPr/>
        </p:nvSpPr>
        <p:spPr bwMode="auto">
          <a:xfrm>
            <a:off x="971550" y="2836863"/>
            <a:ext cx="720725" cy="1116012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lIns="90000" tIns="46800" rIns="90000" bIns="46800"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源程序</a:t>
            </a:r>
          </a:p>
        </p:txBody>
      </p:sp>
      <p:sp>
        <p:nvSpPr>
          <p:cNvPr id="826375" name="Text Box 7"/>
          <p:cNvSpPr txBox="1">
            <a:spLocks noChangeArrowheads="1"/>
          </p:cNvSpPr>
          <p:nvPr/>
        </p:nvSpPr>
        <p:spPr bwMode="auto">
          <a:xfrm>
            <a:off x="6804025" y="2692400"/>
            <a:ext cx="720725" cy="1457325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lIns="90000" tIns="46800" rIns="90000" bIns="46800"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目标程序</a:t>
            </a:r>
          </a:p>
        </p:txBody>
      </p:sp>
      <p:sp>
        <p:nvSpPr>
          <p:cNvPr id="826377" name="Text Box 9"/>
          <p:cNvSpPr txBox="1">
            <a:spLocks noChangeArrowheads="1"/>
          </p:cNvSpPr>
          <p:nvPr/>
        </p:nvSpPr>
        <p:spPr bwMode="auto">
          <a:xfrm>
            <a:off x="2627313" y="2852738"/>
            <a:ext cx="237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华文新魏" pitchFamily="2" charset="-122"/>
              </a:rPr>
              <a:t>源到目的变换</a:t>
            </a:r>
          </a:p>
        </p:txBody>
      </p:sp>
      <p:sp>
        <p:nvSpPr>
          <p:cNvPr id="826379" name="AutoShape 11"/>
          <p:cNvSpPr>
            <a:spLocks noChangeArrowheads="1"/>
          </p:cNvSpPr>
          <p:nvPr/>
        </p:nvSpPr>
        <p:spPr bwMode="auto">
          <a:xfrm>
            <a:off x="1763713" y="3284538"/>
            <a:ext cx="5040312" cy="215900"/>
          </a:xfrm>
          <a:prstGeom prst="rightArrow">
            <a:avLst>
              <a:gd name="adj1" fmla="val 50000"/>
              <a:gd name="adj2" fmla="val 583640"/>
            </a:avLst>
          </a:prstGeom>
          <a:solidFill>
            <a:srgbClr val="C5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280275" cy="1216025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2.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代码结构</a:t>
            </a:r>
          </a:p>
        </p:txBody>
      </p:sp>
      <p:sp>
        <p:nvSpPr>
          <p:cNvPr id="826371" name="Rectangle 3"/>
          <p:cNvSpPr>
            <a:spLocks noGrp="1" noChangeArrowheads="1"/>
          </p:cNvSpPr>
          <p:nvPr>
            <p:ph idx="1"/>
          </p:nvPr>
        </p:nvSpPr>
        <p:spPr>
          <a:xfrm>
            <a:off x="592138" y="1844675"/>
            <a:ext cx="7867650" cy="5111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朴素理解：我们编写的程序在如何工作？</a:t>
            </a:r>
          </a:p>
        </p:txBody>
      </p:sp>
      <p:sp>
        <p:nvSpPr>
          <p:cNvPr id="122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7A0DA23-1FC4-487A-9A16-36D62C868DA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22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2ED786D-F76C-4B1E-BFDB-747467983317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826372" name="Rectangle 4"/>
          <p:cNvSpPr>
            <a:spLocks noChangeArrowheads="1"/>
          </p:cNvSpPr>
          <p:nvPr/>
        </p:nvSpPr>
        <p:spPr bwMode="auto">
          <a:xfrm>
            <a:off x="642938" y="4038600"/>
            <a:ext cx="74580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语句的代码结构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源、目标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826373" name="Rectangle 5"/>
          <p:cNvSpPr>
            <a:spLocks noChangeArrowheads="1"/>
          </p:cNvSpPr>
          <p:nvPr/>
        </p:nvSpPr>
        <p:spPr bwMode="auto">
          <a:xfrm>
            <a:off x="642938" y="4572000"/>
            <a:ext cx="738663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语句分类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说明语句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符号表的查填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可执行语句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生成指令代码</a:t>
            </a:r>
          </a:p>
        </p:txBody>
      </p:sp>
      <p:sp>
        <p:nvSpPr>
          <p:cNvPr id="826374" name="Text Box 6"/>
          <p:cNvSpPr txBox="1">
            <a:spLocks noChangeArrowheads="1"/>
          </p:cNvSpPr>
          <p:nvPr/>
        </p:nvSpPr>
        <p:spPr bwMode="auto">
          <a:xfrm>
            <a:off x="971550" y="2836863"/>
            <a:ext cx="720725" cy="1116012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lIns="90000" tIns="46800" rIns="90000" bIns="46800"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源程序</a:t>
            </a:r>
          </a:p>
        </p:txBody>
      </p:sp>
      <p:sp>
        <p:nvSpPr>
          <p:cNvPr id="826375" name="Text Box 7"/>
          <p:cNvSpPr txBox="1">
            <a:spLocks noChangeArrowheads="1"/>
          </p:cNvSpPr>
          <p:nvPr/>
        </p:nvSpPr>
        <p:spPr bwMode="auto">
          <a:xfrm>
            <a:off x="6804025" y="2692400"/>
            <a:ext cx="720725" cy="1457325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lIns="90000" tIns="46800" rIns="90000" bIns="46800"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目标程序</a:t>
            </a:r>
          </a:p>
        </p:txBody>
      </p:sp>
      <p:sp>
        <p:nvSpPr>
          <p:cNvPr id="826377" name="Text Box 9"/>
          <p:cNvSpPr txBox="1">
            <a:spLocks noChangeArrowheads="1"/>
          </p:cNvSpPr>
          <p:nvPr/>
        </p:nvSpPr>
        <p:spPr bwMode="auto">
          <a:xfrm>
            <a:off x="2627313" y="2852738"/>
            <a:ext cx="237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华文新魏" pitchFamily="2" charset="-122"/>
              </a:rPr>
              <a:t>源到目的变换</a:t>
            </a:r>
          </a:p>
        </p:txBody>
      </p:sp>
      <p:sp>
        <p:nvSpPr>
          <p:cNvPr id="826378" name="AutoShape 10"/>
          <p:cNvSpPr>
            <a:spLocks noChangeArrowheads="1"/>
          </p:cNvSpPr>
          <p:nvPr/>
        </p:nvSpPr>
        <p:spPr bwMode="auto">
          <a:xfrm>
            <a:off x="3995738" y="0"/>
            <a:ext cx="4968875" cy="2592388"/>
          </a:xfrm>
          <a:prstGeom prst="cloudCallout">
            <a:avLst>
              <a:gd name="adj1" fmla="val -28019"/>
              <a:gd name="adj2" fmla="val 74986"/>
            </a:avLst>
          </a:prstGeom>
          <a:solidFill>
            <a:srgbClr val="0066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 anchor="ctr"/>
          <a:lstStyle/>
          <a:p>
            <a:pPr algn="ctr">
              <a:defRPr/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计算学科：对信息描述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数据表示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和变换算法的系统研究</a:t>
            </a:r>
          </a:p>
        </p:txBody>
      </p:sp>
      <p:sp>
        <p:nvSpPr>
          <p:cNvPr id="826379" name="AutoShape 11"/>
          <p:cNvSpPr>
            <a:spLocks noChangeArrowheads="1"/>
          </p:cNvSpPr>
          <p:nvPr/>
        </p:nvSpPr>
        <p:spPr bwMode="auto">
          <a:xfrm>
            <a:off x="1763713" y="3284538"/>
            <a:ext cx="5040312" cy="215900"/>
          </a:xfrm>
          <a:prstGeom prst="rightArrow">
            <a:avLst>
              <a:gd name="adj1" fmla="val 50000"/>
              <a:gd name="adj2" fmla="val 583640"/>
            </a:avLst>
          </a:prstGeom>
          <a:solidFill>
            <a:srgbClr val="C5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19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7300912" cy="1046162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典型处理方法</a:t>
            </a:r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>
          <a:xfrm>
            <a:off x="677863" y="1752600"/>
            <a:ext cx="7854950" cy="426878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对应每一个产生式编制一个语义子程序，当一个产生式获得匹配时，调用相应的语义子程序实现语义检查与翻译，要求给出语法成分语义的形式化描述</a:t>
            </a:r>
          </a:p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对应基本的语法分析方法，语义分析动作将在不同的时机完成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Top-down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Bottom-up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</a:t>
            </a:r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331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9354850-A633-4591-960A-986DDF4F49D5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33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FE8C04ED-DCB4-4C0E-B589-F0CB210565C3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931845" name="Rectangle 5"/>
          <p:cNvSpPr>
            <a:spLocks noChangeArrowheads="1"/>
          </p:cNvSpPr>
          <p:nvPr/>
        </p:nvSpPr>
        <p:spPr bwMode="auto">
          <a:xfrm>
            <a:off x="3492500" y="5084763"/>
            <a:ext cx="24923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 b="1">
                <a:ea typeface="华文新魏" pitchFamily="2" charset="-122"/>
              </a:rPr>
              <a:t>派生过程中完成</a:t>
            </a:r>
          </a:p>
        </p:txBody>
      </p:sp>
      <p:sp>
        <p:nvSpPr>
          <p:cNvPr id="931846" name="Rectangle 6"/>
          <p:cNvSpPr>
            <a:spLocks noChangeArrowheads="1"/>
          </p:cNvSpPr>
          <p:nvPr/>
        </p:nvSpPr>
        <p:spPr bwMode="auto">
          <a:xfrm>
            <a:off x="3460750" y="5603875"/>
            <a:ext cx="18319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 b="1">
                <a:ea typeface="华文新魏" pitchFamily="2" charset="-122"/>
              </a:rPr>
              <a:t>归约时完成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7300912" cy="1046162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典型处理方法</a:t>
            </a:r>
          </a:p>
        </p:txBody>
      </p:sp>
      <p:sp>
        <p:nvSpPr>
          <p:cNvPr id="845827" name="Rectangle 1027"/>
          <p:cNvSpPr>
            <a:spLocks noGrp="1" noChangeArrowheads="1"/>
          </p:cNvSpPr>
          <p:nvPr>
            <p:ph idx="1"/>
          </p:nvPr>
        </p:nvSpPr>
        <p:spPr>
          <a:xfrm>
            <a:off x="677863" y="1752600"/>
            <a:ext cx="7854950" cy="426878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自底向上的分析</a:t>
            </a:r>
          </a:p>
          <a:p>
            <a:pPr lvl="1"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+ T</a:t>
            </a:r>
          </a:p>
          <a:p>
            <a:pPr lvl="1"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T→T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* F</a:t>
            </a:r>
          </a:p>
          <a:p>
            <a:pPr lvl="1"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 →id</a:t>
            </a:r>
          </a:p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语义动作和产生式关联，当用产生式进行归约时，执行该产生式关联的语义动作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完成归约的时候“计算”语义值</a:t>
            </a:r>
          </a:p>
        </p:txBody>
      </p:sp>
      <p:sp>
        <p:nvSpPr>
          <p:cNvPr id="143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E742CBE-A6DE-42DA-811B-56309B377F0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43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B0491BF2-EF29-4D52-AF7F-AE1D93FD5D69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" name="Rectangle 1027"/>
          <p:cNvSpPr>
            <a:spLocks noChangeArrowheads="1"/>
          </p:cNvSpPr>
          <p:nvPr/>
        </p:nvSpPr>
        <p:spPr bwMode="auto">
          <a:xfrm>
            <a:off x="3419475" y="2420938"/>
            <a:ext cx="4321175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45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E.val:=E</a:t>
            </a:r>
            <a:r>
              <a:rPr lang="en-US" altLang="zh-CN" sz="28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.val+T.val</a:t>
            </a:r>
          </a:p>
          <a:p>
            <a:pPr marL="342900" indent="-342900">
              <a:spcBef>
                <a:spcPct val="45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T.val:=T</a:t>
            </a:r>
            <a:r>
              <a:rPr lang="en-US" altLang="zh-CN" sz="28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.val*F.val</a:t>
            </a:r>
          </a:p>
          <a:p>
            <a:pPr marL="342900" indent="-342900">
              <a:spcBef>
                <a:spcPct val="45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F.val:=id.val</a:t>
            </a:r>
            <a:endParaRPr lang="zh-CN" altLang="en-US" sz="28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4345" name="AutoShape 9"/>
          <p:cNvSpPr>
            <a:spLocks noChangeArrowheads="1"/>
          </p:cNvSpPr>
          <p:nvPr/>
        </p:nvSpPr>
        <p:spPr bwMode="auto">
          <a:xfrm>
            <a:off x="4572000" y="1196975"/>
            <a:ext cx="4249738" cy="792163"/>
          </a:xfrm>
          <a:prstGeom prst="wedgeRectCallout">
            <a:avLst>
              <a:gd name="adj1" fmla="val -87167"/>
              <a:gd name="adj2" fmla="val 135773"/>
            </a:avLst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</a:rPr>
              <a:t>E.Val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</a:rPr>
              <a:t>T.val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</a:rPr>
              <a:t>F.val</a:t>
            </a:r>
            <a:endParaRPr lang="zh-CN" altLang="en-US" sz="32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280275" cy="973138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典型处理方法</a:t>
            </a:r>
          </a:p>
        </p:txBody>
      </p:sp>
      <p:sp>
        <p:nvSpPr>
          <p:cNvPr id="844803" name="Rectangle 2051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7921625" cy="43926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自顶向下的分析</a:t>
            </a:r>
          </a:p>
          <a:p>
            <a:pPr lvl="1">
              <a:lnSpc>
                <a:spcPct val="90000"/>
              </a:lnSpc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D → T { L.in := T.type } L</a:t>
            </a:r>
          </a:p>
          <a:p>
            <a:pPr lvl="1">
              <a:lnSpc>
                <a:spcPct val="90000"/>
              </a:lnSpc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T → int { T.type := integer }</a:t>
            </a:r>
          </a:p>
          <a:p>
            <a:pPr lvl="1">
              <a:lnSpc>
                <a:spcPct val="90000"/>
              </a:lnSpc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T → real { T.type := real }</a:t>
            </a:r>
          </a:p>
          <a:p>
            <a:pPr lvl="1">
              <a:lnSpc>
                <a:spcPct val="90000"/>
              </a:lnSpc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L → { L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.in := L.in }L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,id{…}</a:t>
            </a:r>
          </a:p>
          <a:p>
            <a:pPr lvl="1">
              <a:lnSpc>
                <a:spcPct val="90000"/>
              </a:lnSpc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L → id{…}</a:t>
            </a:r>
          </a:p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在产生式的右部的适当位置，插入相应的语义动作，按照分析的进程，执行</a:t>
            </a:r>
            <a:r>
              <a:rPr lang="zh-CN" altLang="en-US" b="1" smtClean="0">
                <a:solidFill>
                  <a:srgbClr val="FF0066"/>
                </a:solidFill>
                <a:latin typeface="Times New Roman" pitchFamily="18" charset="0"/>
                <a:ea typeface="华文新魏" pitchFamily="2" charset="-122"/>
              </a:rPr>
              <a:t>遇到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的语义动作</a:t>
            </a:r>
          </a:p>
        </p:txBody>
      </p:sp>
      <p:sp>
        <p:nvSpPr>
          <p:cNvPr id="153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DE2A07F-86E7-4896-AF41-330AF725C61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53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11F03534-D249-49D0-9AFE-68BE8F4027C3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典型处理方法</a:t>
            </a:r>
          </a:p>
        </p:txBody>
      </p:sp>
      <p:sp>
        <p:nvSpPr>
          <p:cNvPr id="93081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108950" cy="668337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语义表示</a:t>
            </a: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448D51CA-E078-4868-9E32-796BF848370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63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5117701-B7CF-4E5A-9F5B-0FDE901137E9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930822" name="Text Box 6"/>
          <p:cNvSpPr txBox="1">
            <a:spLocks noChangeArrowheads="1"/>
          </p:cNvSpPr>
          <p:nvPr/>
        </p:nvSpPr>
        <p:spPr bwMode="auto">
          <a:xfrm>
            <a:off x="5508625" y="3641725"/>
            <a:ext cx="3167063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文法符号的属性</a:t>
            </a:r>
          </a:p>
        </p:txBody>
      </p:sp>
      <p:sp>
        <p:nvSpPr>
          <p:cNvPr id="930823" name="Text Box 7"/>
          <p:cNvSpPr txBox="1">
            <a:spLocks noChangeArrowheads="1"/>
          </p:cNvSpPr>
          <p:nvPr/>
        </p:nvSpPr>
        <p:spPr bwMode="auto">
          <a:xfrm>
            <a:off x="6443663" y="2781300"/>
            <a:ext cx="1223962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语义</a:t>
            </a:r>
          </a:p>
        </p:txBody>
      </p:sp>
      <p:sp>
        <p:nvSpPr>
          <p:cNvPr id="930824" name="Text Box 8"/>
          <p:cNvSpPr txBox="1">
            <a:spLocks noChangeArrowheads="1"/>
          </p:cNvSpPr>
          <p:nvPr/>
        </p:nvSpPr>
        <p:spPr bwMode="auto">
          <a:xfrm>
            <a:off x="2339975" y="3641725"/>
            <a:ext cx="1871663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文法符号</a:t>
            </a:r>
          </a:p>
        </p:txBody>
      </p:sp>
      <p:sp>
        <p:nvSpPr>
          <p:cNvPr id="930825" name="Text Box 9"/>
          <p:cNvSpPr txBox="1">
            <a:spLocks noChangeArrowheads="1"/>
          </p:cNvSpPr>
          <p:nvPr/>
        </p:nvSpPr>
        <p:spPr bwMode="auto">
          <a:xfrm>
            <a:off x="2339975" y="2781300"/>
            <a:ext cx="1871663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语法成分</a:t>
            </a:r>
          </a:p>
        </p:txBody>
      </p:sp>
      <p:sp>
        <p:nvSpPr>
          <p:cNvPr id="930826" name="Rectangle 10"/>
          <p:cNvSpPr>
            <a:spLocks noChangeArrowheads="1"/>
          </p:cNvSpPr>
          <p:nvPr/>
        </p:nvSpPr>
        <p:spPr bwMode="auto">
          <a:xfrm>
            <a:off x="1908175" y="4724400"/>
            <a:ext cx="6124575" cy="6413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ea typeface="华文新魏" pitchFamily="2" charset="-122"/>
              </a:rPr>
              <a:t>通过属性的计算，来完成翻译</a:t>
            </a:r>
          </a:p>
        </p:txBody>
      </p:sp>
      <p:sp>
        <p:nvSpPr>
          <p:cNvPr id="930827" name="Rectangle 11"/>
          <p:cNvSpPr>
            <a:spLocks noChangeArrowheads="1"/>
          </p:cNvSpPr>
          <p:nvPr/>
        </p:nvSpPr>
        <p:spPr bwMode="auto">
          <a:xfrm>
            <a:off x="827088" y="2786063"/>
            <a:ext cx="1079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 b="1">
                <a:ea typeface="华文新魏" pitchFamily="2" charset="-122"/>
              </a:rPr>
              <a:t>对象</a:t>
            </a:r>
          </a:p>
        </p:txBody>
      </p:sp>
      <p:sp>
        <p:nvSpPr>
          <p:cNvPr id="930828" name="Rectangle 12"/>
          <p:cNvSpPr>
            <a:spLocks noChangeArrowheads="1"/>
          </p:cNvSpPr>
          <p:nvPr/>
        </p:nvSpPr>
        <p:spPr bwMode="auto">
          <a:xfrm>
            <a:off x="827088" y="3641725"/>
            <a:ext cx="1079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 b="1">
                <a:ea typeface="华文新魏" pitchFamily="2" charset="-122"/>
              </a:rPr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318074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典型处理方法</a:t>
            </a:r>
          </a:p>
        </p:txBody>
      </p:sp>
      <p:sp>
        <p:nvSpPr>
          <p:cNvPr id="93081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108950" cy="668337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语义表示</a:t>
            </a: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448D51CA-E078-4868-9E32-796BF848370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63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5117701-B7CF-4E5A-9F5B-0FDE901137E9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930820" name="AutoShape 4"/>
          <p:cNvSpPr>
            <a:spLocks noChangeArrowheads="1"/>
          </p:cNvSpPr>
          <p:nvPr/>
        </p:nvSpPr>
        <p:spPr bwMode="auto">
          <a:xfrm>
            <a:off x="4356100" y="260350"/>
            <a:ext cx="1871663" cy="1368425"/>
          </a:xfrm>
          <a:prstGeom prst="wedgeRectCallout">
            <a:avLst>
              <a:gd name="adj1" fmla="val -100213"/>
              <a:gd name="adj2" fmla="val 131093"/>
            </a:avLst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90000" tIns="46800" rIns="90000" bIns="4680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语法分析的结果</a:t>
            </a:r>
          </a:p>
        </p:txBody>
      </p:sp>
      <p:sp>
        <p:nvSpPr>
          <p:cNvPr id="930821" name="AutoShape 5"/>
          <p:cNvSpPr>
            <a:spLocks noChangeArrowheads="1"/>
          </p:cNvSpPr>
          <p:nvPr/>
        </p:nvSpPr>
        <p:spPr bwMode="auto">
          <a:xfrm>
            <a:off x="7092950" y="260350"/>
            <a:ext cx="1871663" cy="1368425"/>
          </a:xfrm>
          <a:prstGeom prst="wedgeRectCallout">
            <a:avLst>
              <a:gd name="adj1" fmla="val -51356"/>
              <a:gd name="adj2" fmla="val 133412"/>
            </a:avLst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90000" tIns="46800" rIns="90000" bIns="46800" anchor="ctr"/>
          <a:lstStyle/>
          <a:p>
            <a:pPr algn="ctr"/>
            <a:r>
              <a:rPr lang="zh-CN" altLang="en-US" sz="2600" b="1">
                <a:solidFill>
                  <a:schemeClr val="bg1"/>
                </a:solidFill>
                <a:ea typeface="华文新魏" pitchFamily="2" charset="-122"/>
              </a:rPr>
              <a:t>语义分析结果：追求语义等价</a:t>
            </a:r>
          </a:p>
        </p:txBody>
      </p:sp>
      <p:sp>
        <p:nvSpPr>
          <p:cNvPr id="930822" name="Text Box 6"/>
          <p:cNvSpPr txBox="1">
            <a:spLocks noChangeArrowheads="1"/>
          </p:cNvSpPr>
          <p:nvPr/>
        </p:nvSpPr>
        <p:spPr bwMode="auto">
          <a:xfrm>
            <a:off x="5508625" y="3641725"/>
            <a:ext cx="3167063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文法符号的属性</a:t>
            </a:r>
          </a:p>
        </p:txBody>
      </p:sp>
      <p:sp>
        <p:nvSpPr>
          <p:cNvPr id="930823" name="Text Box 7"/>
          <p:cNvSpPr txBox="1">
            <a:spLocks noChangeArrowheads="1"/>
          </p:cNvSpPr>
          <p:nvPr/>
        </p:nvSpPr>
        <p:spPr bwMode="auto">
          <a:xfrm>
            <a:off x="6443663" y="2781300"/>
            <a:ext cx="1223962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语义</a:t>
            </a:r>
          </a:p>
        </p:txBody>
      </p:sp>
      <p:sp>
        <p:nvSpPr>
          <p:cNvPr id="930824" name="Text Box 8"/>
          <p:cNvSpPr txBox="1">
            <a:spLocks noChangeArrowheads="1"/>
          </p:cNvSpPr>
          <p:nvPr/>
        </p:nvSpPr>
        <p:spPr bwMode="auto">
          <a:xfrm>
            <a:off x="2339975" y="3641725"/>
            <a:ext cx="1871663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文法符号</a:t>
            </a:r>
          </a:p>
        </p:txBody>
      </p:sp>
      <p:sp>
        <p:nvSpPr>
          <p:cNvPr id="930825" name="Text Box 9"/>
          <p:cNvSpPr txBox="1">
            <a:spLocks noChangeArrowheads="1"/>
          </p:cNvSpPr>
          <p:nvPr/>
        </p:nvSpPr>
        <p:spPr bwMode="auto">
          <a:xfrm>
            <a:off x="2339975" y="2781300"/>
            <a:ext cx="1871663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华文新魏" pitchFamily="2" charset="-122"/>
              </a:rPr>
              <a:t>语法成分</a:t>
            </a:r>
          </a:p>
        </p:txBody>
      </p:sp>
      <p:sp>
        <p:nvSpPr>
          <p:cNvPr id="930826" name="Rectangle 10"/>
          <p:cNvSpPr>
            <a:spLocks noChangeArrowheads="1"/>
          </p:cNvSpPr>
          <p:nvPr/>
        </p:nvSpPr>
        <p:spPr bwMode="auto">
          <a:xfrm>
            <a:off x="1908175" y="4724400"/>
            <a:ext cx="6124575" cy="6413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ea typeface="华文新魏" pitchFamily="2" charset="-122"/>
              </a:rPr>
              <a:t>通过属性的计算，来完成翻译</a:t>
            </a:r>
          </a:p>
        </p:txBody>
      </p:sp>
      <p:sp>
        <p:nvSpPr>
          <p:cNvPr id="930827" name="Rectangle 11"/>
          <p:cNvSpPr>
            <a:spLocks noChangeArrowheads="1"/>
          </p:cNvSpPr>
          <p:nvPr/>
        </p:nvSpPr>
        <p:spPr bwMode="auto">
          <a:xfrm>
            <a:off x="827088" y="2786063"/>
            <a:ext cx="1079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 b="1">
                <a:ea typeface="华文新魏" pitchFamily="2" charset="-122"/>
              </a:rPr>
              <a:t>对象</a:t>
            </a:r>
          </a:p>
        </p:txBody>
      </p:sp>
      <p:sp>
        <p:nvSpPr>
          <p:cNvPr id="930828" name="Rectangle 12"/>
          <p:cNvSpPr>
            <a:spLocks noChangeArrowheads="1"/>
          </p:cNvSpPr>
          <p:nvPr/>
        </p:nvSpPr>
        <p:spPr bwMode="auto">
          <a:xfrm>
            <a:off x="827088" y="3641725"/>
            <a:ext cx="1079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 b="1">
                <a:ea typeface="华文新魏" pitchFamily="2" charset="-122"/>
              </a:rPr>
              <a:t>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6.2 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(Attribute)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文法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00213"/>
            <a:ext cx="7772400" cy="4392612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属性文法是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Knuth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1968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年提出的</a:t>
            </a:r>
          </a:p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属性文法的特点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是一种接近形式化的语义描述形式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长于描述静态语义、短于描述动态语义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每个语法符号对应相应的属性符号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每个产生式对应相应计算属性的规则</a:t>
            </a:r>
          </a:p>
          <a:p>
            <a:pPr lvl="2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属性变量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:=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属性表达式</a:t>
            </a:r>
          </a:p>
        </p:txBody>
      </p:sp>
      <p:sp>
        <p:nvSpPr>
          <p:cNvPr id="174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F491D432-10D9-442C-9C63-C707DB722CD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74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698DF9C-C16A-46B2-AC1A-B6925DBE94B3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6084888" y="0"/>
            <a:ext cx="3059112" cy="70167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Knuth</a:t>
            </a:r>
            <a:r>
              <a:rPr lang="zh-CN" altLang="en-US" sz="20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，算法、数据结构、双向链表、</a:t>
            </a:r>
            <a:r>
              <a:rPr lang="en-US" altLang="zh-CN" sz="20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LR</a:t>
            </a:r>
            <a:r>
              <a:rPr lang="zh-CN" altLang="en-US" sz="20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分析法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60350"/>
            <a:ext cx="8540750" cy="11430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属性文法举例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889000" y="1423988"/>
            <a:ext cx="8075613" cy="7112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		        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属性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计算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规则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语义规则</a:t>
            </a: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F3427BA-1536-41B7-B525-B56F9CD8244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84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E2A1A47F-BC14-4B83-982F-C3B1871B3688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684213" y="2062163"/>
            <a:ext cx="2519362" cy="281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 + E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2</a:t>
            </a:r>
            <a:endParaRPr lang="en-US" altLang="zh-CN" sz="3000" b="1">
              <a:latin typeface="Times New Roman" pitchFamily="18" charset="0"/>
              <a:ea typeface="华文新魏" pitchFamily="2" charset="-122"/>
            </a:endParaRPr>
          </a:p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 * E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2</a:t>
            </a:r>
            <a:endParaRPr lang="en-US" altLang="zh-CN" sz="3000" b="1">
              <a:latin typeface="Times New Roman" pitchFamily="18" charset="0"/>
              <a:ea typeface="华文新魏" pitchFamily="2" charset="-122"/>
            </a:endParaRPr>
          </a:p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E →(E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)	</a:t>
            </a:r>
          </a:p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E →id</a:t>
            </a:r>
          </a:p>
        </p:txBody>
      </p:sp>
      <p:sp>
        <p:nvSpPr>
          <p:cNvPr id="827397" name="Rectangle 5"/>
          <p:cNvSpPr>
            <a:spLocks noChangeArrowheads="1"/>
          </p:cNvSpPr>
          <p:nvPr/>
        </p:nvSpPr>
        <p:spPr bwMode="auto">
          <a:xfrm>
            <a:off x="3922713" y="2062163"/>
            <a:ext cx="4537075" cy="281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E.val := E</a:t>
            </a:r>
            <a:r>
              <a:rPr lang="en-US" altLang="zh-CN" sz="30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.val + E</a:t>
            </a:r>
            <a:r>
              <a:rPr lang="en-US" altLang="zh-CN" sz="30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.val</a:t>
            </a:r>
          </a:p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E.val := E</a:t>
            </a:r>
            <a:r>
              <a:rPr lang="en-US" altLang="zh-CN" sz="30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.val * E</a:t>
            </a:r>
            <a:r>
              <a:rPr lang="en-US" altLang="zh-CN" sz="30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.val</a:t>
            </a:r>
          </a:p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E.val := E</a:t>
            </a:r>
            <a:r>
              <a:rPr lang="en-US" altLang="zh-CN" sz="30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.val</a:t>
            </a:r>
          </a:p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30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E.val := id .val</a:t>
            </a:r>
          </a:p>
        </p:txBody>
      </p:sp>
      <p:sp>
        <p:nvSpPr>
          <p:cNvPr id="827398" name="Text Box 6"/>
          <p:cNvSpPr txBox="1">
            <a:spLocks noChangeArrowheads="1"/>
          </p:cNvSpPr>
          <p:nvPr/>
        </p:nvSpPr>
        <p:spPr bwMode="auto">
          <a:xfrm>
            <a:off x="396875" y="5445125"/>
            <a:ext cx="8278813" cy="1125538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lIns="90000" tIns="46800" rIns="90000" bIns="46800"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 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表达式值的计算需要考虑类型，如何解决？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 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属性文法如何构成？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属性文法的定义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idx="1"/>
          </p:nvPr>
        </p:nvSpPr>
        <p:spPr>
          <a:xfrm>
            <a:off x="538163" y="1268413"/>
            <a:ext cx="8137525" cy="48974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三元组：</a:t>
            </a:r>
            <a:r>
              <a:rPr lang="en-US" altLang="zh-CN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＝</a:t>
            </a:r>
            <a:r>
              <a:rPr lang="en-US" altLang="zh-CN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(G</a:t>
            </a: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F)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是上下文无关文法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属性的有穷集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关于属性的计算规则</a:t>
            </a:r>
          </a:p>
          <a:p>
            <a:pPr>
              <a:lnSpc>
                <a:spcPct val="110000"/>
              </a:lnSpc>
            </a:pP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属性及其计算规则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语义信息作为语法符号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∈T∪V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的属性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语义分析变成语法符号相关属性计算：每个产生式设置语义规则，描述各语法符号属性的关系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计算规则</a:t>
            </a:r>
          </a:p>
        </p:txBody>
      </p:sp>
      <p:sp>
        <p:nvSpPr>
          <p:cNvPr id="194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BECF379B-A0D4-4D76-AFBB-D379C50F4276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94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A955B8A-4805-4539-8524-ED85601E5C84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7280275" cy="730250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属性的设定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00213"/>
            <a:ext cx="7854950" cy="4724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根据文法符号的语义，为文法符号设置属性，用来表示文法符号的语义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终结符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使用单词的属性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(id.val)</a:t>
            </a:r>
          </a:p>
          <a:p>
            <a:pPr lvl="2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保留字：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if, begin, function,……</a:t>
            </a:r>
          </a:p>
          <a:p>
            <a:pPr lvl="2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常数：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40.12,  232, 80, “TCP/IP”</a:t>
            </a:r>
          </a:p>
          <a:p>
            <a:pPr lvl="2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标识符：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语法变量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根据实际需要设定属性</a:t>
            </a:r>
          </a:p>
          <a:p>
            <a:pPr lvl="2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表达式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E.type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， 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E.val</a:t>
            </a:r>
          </a:p>
          <a:p>
            <a:pPr lvl="2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变量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：</a:t>
            </a:r>
          </a:p>
        </p:txBody>
      </p:sp>
      <p:sp>
        <p:nvSpPr>
          <p:cNvPr id="2048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F3AB1D7D-ADD8-426C-880B-CDC108B4923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04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47A13E83-41D1-4324-A632-BB1BE51BCF74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541700" name="Rectangle 4"/>
          <p:cNvSpPr>
            <a:spLocks noChangeArrowheads="1"/>
          </p:cNvSpPr>
          <p:nvPr/>
        </p:nvSpPr>
        <p:spPr bwMode="auto">
          <a:xfrm>
            <a:off x="3132138" y="4235450"/>
            <a:ext cx="20335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</a:rPr>
              <a:t>.entry</a:t>
            </a:r>
            <a:r>
              <a:rPr lang="zh-CN" altLang="en-US" sz="2600" b="1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</a:rPr>
              <a:t>.type</a:t>
            </a:r>
          </a:p>
        </p:txBody>
      </p:sp>
      <p:sp>
        <p:nvSpPr>
          <p:cNvPr id="541701" name="Rectangle 5"/>
          <p:cNvSpPr>
            <a:spLocks noChangeArrowheads="1"/>
          </p:cNvSpPr>
          <p:nvPr/>
        </p:nvSpPr>
        <p:spPr bwMode="auto">
          <a:xfrm>
            <a:off x="3003550" y="5819775"/>
            <a:ext cx="35099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</a:rPr>
              <a:t>X.addr</a:t>
            </a:r>
            <a:r>
              <a:rPr lang="zh-CN" altLang="en-US" sz="2600" b="1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</a:rPr>
              <a:t>X.type</a:t>
            </a:r>
            <a:r>
              <a:rPr lang="zh-CN" altLang="en-US" sz="2600" b="1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</a:rPr>
              <a:t>X.val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280275" cy="892175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计算器的属性文法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3860800" y="2581275"/>
            <a:ext cx="4471988" cy="2846388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 → E          </a:t>
            </a:r>
          </a:p>
          <a:p>
            <a:pPr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+ T | T   </a:t>
            </a:r>
          </a:p>
          <a:p>
            <a:pPr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→ T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* F | F</a:t>
            </a:r>
          </a:p>
          <a:p>
            <a:pPr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 → ( E ) | digit</a:t>
            </a:r>
          </a:p>
        </p:txBody>
      </p:sp>
      <p:sp>
        <p:nvSpPr>
          <p:cNvPr id="215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F00544DE-4267-4130-89EB-01C72BF316C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15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B43DBAD-196F-4670-AF1E-FB51EC5DFE67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533400" y="2632075"/>
            <a:ext cx="2743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任务：</a:t>
            </a:r>
          </a:p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完成一个输入表达式值的计算和结果显示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2124075" y="5516563"/>
            <a:ext cx="4535488" cy="6286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indent="444500" eaLnBrk="0" hangingPunct="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95000"/>
              <a:buFont typeface="Wingdings" pitchFamily="2" charset="2"/>
              <a:buChar char="o"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如何描述翻译过程？</a:t>
            </a:r>
          </a:p>
        </p:txBody>
      </p:sp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3779838" y="1916113"/>
            <a:ext cx="4654550" cy="6286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用文法描述输入的表达式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8382000" cy="11430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计算器的属性文法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续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22531" name="Rectangle 1027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2154238" cy="367982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L → E         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 + T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 → T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T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 * F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F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F → ( E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F → digit</a:t>
            </a:r>
          </a:p>
        </p:txBody>
      </p:sp>
      <p:sp>
        <p:nvSpPr>
          <p:cNvPr id="225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E46FC214-92DE-45CD-A17E-3EFC5B7A0624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25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FC6373A-78D0-4D03-A058-D5FEF8930E77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612356" name="Rectangle 1028"/>
          <p:cNvSpPr>
            <a:spLocks noChangeArrowheads="1"/>
          </p:cNvSpPr>
          <p:nvPr/>
        </p:nvSpPr>
        <p:spPr bwMode="auto">
          <a:xfrm>
            <a:off x="3203575" y="1987550"/>
            <a:ext cx="388937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print( E.val )</a:t>
            </a: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E.val := E</a:t>
            </a:r>
            <a:r>
              <a:rPr lang="en-US" altLang="zh-CN" sz="2600" b="1" baseline="-2500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.val + T.val</a:t>
            </a: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E.val := T.val</a:t>
            </a: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T.val := T</a:t>
            </a:r>
            <a:r>
              <a:rPr lang="en-US" altLang="zh-CN" sz="2600" b="1" baseline="-2500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.val * F.val</a:t>
            </a: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T.val := F.val</a:t>
            </a: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F.val := E.val</a:t>
            </a: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F.val := digit.lexval</a:t>
            </a:r>
            <a:endParaRPr lang="en-US" altLang="zh-CN" sz="3000" b="1">
              <a:solidFill>
                <a:srgbClr val="0000FF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12357" name="Rectangle 1029"/>
          <p:cNvSpPr>
            <a:spLocks noChangeArrowheads="1"/>
          </p:cNvSpPr>
          <p:nvPr/>
        </p:nvSpPr>
        <p:spPr bwMode="auto">
          <a:xfrm>
            <a:off x="5780088" y="1978025"/>
            <a:ext cx="2078037" cy="519113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ctr" eaLnBrk="0" hangingPunct="0"/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(L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的虚属性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612358" name="Rectangle 1030"/>
          <p:cNvSpPr>
            <a:spLocks noChangeArrowheads="1"/>
          </p:cNvSpPr>
          <p:nvPr/>
        </p:nvSpPr>
        <p:spPr bwMode="auto">
          <a:xfrm>
            <a:off x="2776538" y="5722938"/>
            <a:ext cx="4459287" cy="519112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algn="ctr" eaLnBrk="0" hangingPunct="0"/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lexval </a:t>
            </a:r>
            <a:r>
              <a:rPr lang="zh-CN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是单词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digit </a:t>
            </a:r>
            <a:r>
              <a:rPr lang="zh-CN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的属性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765175"/>
            <a:ext cx="5397500" cy="730250"/>
          </a:xfrm>
        </p:spPr>
        <p:txBody>
          <a:bodyPr/>
          <a:lstStyle/>
          <a:p>
            <a:pPr>
              <a:defRPr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说明语句的属性文法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00213"/>
            <a:ext cx="3640137" cy="418623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说明语句的文法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 → T L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→ int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→ real     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 → L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,id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 → id</a:t>
            </a:r>
          </a:p>
        </p:txBody>
      </p:sp>
      <p:sp>
        <p:nvSpPr>
          <p:cNvPr id="2355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0EFA51D-AE66-410F-9737-EB3C1B56E5C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35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F1BD8DF-1055-4196-8B0D-A6498336CF3F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831492" name="Text Box 4"/>
          <p:cNvSpPr txBox="1">
            <a:spLocks noChangeArrowheads="1"/>
          </p:cNvSpPr>
          <p:nvPr/>
        </p:nvSpPr>
        <p:spPr bwMode="auto">
          <a:xfrm>
            <a:off x="4643438" y="3213100"/>
            <a:ext cx="4038600" cy="1554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要解决的问题：</a:t>
            </a:r>
          </a:p>
          <a:p>
            <a:pPr>
              <a:buFontTx/>
              <a:buAutoNum type="arabicPeriod"/>
            </a:pPr>
            <a:r>
              <a:rPr kumimoji="1" lang="zh-CN" altLang="en-US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纪录标识符的类型</a:t>
            </a:r>
          </a:p>
          <a:p>
            <a:pPr>
              <a:buFontTx/>
              <a:buAutoNum type="arabicPeriod"/>
            </a:pPr>
            <a:r>
              <a:rPr kumimoji="1" lang="zh-CN" altLang="en-US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类型信息传递</a:t>
            </a:r>
          </a:p>
        </p:txBody>
      </p:sp>
      <p:sp>
        <p:nvSpPr>
          <p:cNvPr id="831493" name="Rectangle 5"/>
          <p:cNvSpPr>
            <a:spLocks noChangeArrowheads="1"/>
          </p:cNvSpPr>
          <p:nvPr/>
        </p:nvSpPr>
        <p:spPr bwMode="auto">
          <a:xfrm>
            <a:off x="4572000" y="4797425"/>
            <a:ext cx="4176713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方法：用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T.type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记录类型信息，并传给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L.in</a:t>
            </a:r>
          </a:p>
        </p:txBody>
      </p:sp>
      <p:sp>
        <p:nvSpPr>
          <p:cNvPr id="831494" name="Text Box 6"/>
          <p:cNvSpPr txBox="1">
            <a:spLocks noChangeArrowheads="1"/>
          </p:cNvSpPr>
          <p:nvPr/>
        </p:nvSpPr>
        <p:spPr bwMode="auto">
          <a:xfrm>
            <a:off x="4716463" y="1916113"/>
            <a:ext cx="41767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real operand, length, sum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int   add, sub, mult</a:t>
            </a:r>
          </a:p>
        </p:txBody>
      </p:sp>
      <p:sp>
        <p:nvSpPr>
          <p:cNvPr id="831496" name="AutoShape 8"/>
          <p:cNvSpPr>
            <a:spLocks noChangeArrowheads="1"/>
          </p:cNvSpPr>
          <p:nvPr/>
        </p:nvSpPr>
        <p:spPr bwMode="auto">
          <a:xfrm>
            <a:off x="6011863" y="476250"/>
            <a:ext cx="720725" cy="576263"/>
          </a:xfrm>
          <a:prstGeom prst="wedgeRectCallout">
            <a:avLst>
              <a:gd name="adj1" fmla="val -173569"/>
              <a:gd name="adj2" fmla="val 234847"/>
            </a:avLst>
          </a:prstGeom>
          <a:solidFill>
            <a:srgbClr val="C5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3200" b="1">
                <a:latin typeface="Times New Roman" pitchFamily="18" charset="0"/>
              </a:rPr>
              <a:t>T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580063" y="476250"/>
            <a:ext cx="2881312" cy="1584325"/>
            <a:chOff x="3515" y="300"/>
            <a:chExt cx="1815" cy="998"/>
          </a:xfrm>
        </p:grpSpPr>
        <p:sp>
          <p:nvSpPr>
            <p:cNvPr id="23563" name="AutoShape 7"/>
            <p:cNvSpPr>
              <a:spLocks/>
            </p:cNvSpPr>
            <p:nvPr/>
          </p:nvSpPr>
          <p:spPr bwMode="auto">
            <a:xfrm rot="-5400000">
              <a:off x="4332" y="345"/>
              <a:ext cx="136" cy="1769"/>
            </a:xfrm>
            <a:prstGeom prst="rightBrace">
              <a:avLst>
                <a:gd name="adj1" fmla="val 10839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23564" name="AutoShape 9"/>
            <p:cNvSpPr>
              <a:spLocks noChangeArrowheads="1"/>
            </p:cNvSpPr>
            <p:nvPr/>
          </p:nvSpPr>
          <p:spPr bwMode="auto">
            <a:xfrm>
              <a:off x="4876" y="300"/>
              <a:ext cx="454" cy="363"/>
            </a:xfrm>
            <a:prstGeom prst="wedgeRectCallout">
              <a:avLst>
                <a:gd name="adj1" fmla="val -153523"/>
                <a:gd name="adj2" fmla="val 184986"/>
              </a:avLst>
            </a:prstGeom>
            <a:solidFill>
              <a:srgbClr val="C5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/>
            <a:lstStyle/>
            <a:p>
              <a:pPr algn="ctr"/>
              <a:r>
                <a:rPr lang="en-US" altLang="zh-CN" sz="3200" b="1">
                  <a:latin typeface="Times New Roman" pitchFamily="18" charset="0"/>
                </a:rPr>
                <a:t>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928688"/>
          </a:xfrm>
        </p:spPr>
        <p:txBody>
          <a:bodyPr/>
          <a:lstStyle/>
          <a:p>
            <a:pPr>
              <a:defRPr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说明语句的属性文法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557338"/>
            <a:ext cx="1938338" cy="383698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D → T L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int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real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L → L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,id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en-US" altLang="zh-CN" sz="2600" b="1" smtClean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L → id</a:t>
            </a:r>
          </a:p>
        </p:txBody>
      </p:sp>
      <p:sp>
        <p:nvSpPr>
          <p:cNvPr id="245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571FB63-7B84-4483-A736-2A32A352E1EE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45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6F2E1DD4-C79E-43F3-8088-2AD7BF225AC1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614404" name="Rectangle 4"/>
          <p:cNvSpPr>
            <a:spLocks noChangeArrowheads="1"/>
          </p:cNvSpPr>
          <p:nvPr/>
        </p:nvSpPr>
        <p:spPr bwMode="auto">
          <a:xfrm>
            <a:off x="3065463" y="1557338"/>
            <a:ext cx="4170362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L.in := T.type</a:t>
            </a: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T.type := ‘integer’</a:t>
            </a: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T.type := ‘real’</a:t>
            </a: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L</a:t>
            </a:r>
            <a:r>
              <a:rPr lang="en-US" altLang="zh-CN" sz="26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.in := L.in</a:t>
            </a: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addtype( id.entry, L.in )</a:t>
            </a: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addtype( id.entry, L.in )</a:t>
            </a:r>
          </a:p>
        </p:txBody>
      </p:sp>
      <p:sp>
        <p:nvSpPr>
          <p:cNvPr id="614405" name="Rectangle 5"/>
          <p:cNvSpPr>
            <a:spLocks noChangeArrowheads="1"/>
          </p:cNvSpPr>
          <p:nvPr/>
        </p:nvSpPr>
        <p:spPr bwMode="auto">
          <a:xfrm>
            <a:off x="539750" y="5178425"/>
            <a:ext cx="8208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/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entry 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： 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id 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zh-CN" altLang="zh-CN" sz="2800" b="1">
                <a:latin typeface="Times New Roman" pitchFamily="18" charset="0"/>
                <a:ea typeface="华文新魏" pitchFamily="2" charset="-122"/>
              </a:rPr>
              <a:t>属性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zh-CN" altLang="zh-CN" sz="2800" b="1">
                <a:latin typeface="Times New Roman" pitchFamily="18" charset="0"/>
                <a:ea typeface="华文新魏" pitchFamily="2" charset="-122"/>
              </a:rPr>
              <a:t>可以是它在符号表中的地址</a:t>
            </a:r>
            <a:endParaRPr lang="zh-CN" altLang="en-US" sz="2800" b="1">
              <a:latin typeface="Times New Roman" pitchFamily="18" charset="0"/>
              <a:ea typeface="华文新魏" pitchFamily="2" charset="-122"/>
            </a:endParaRPr>
          </a:p>
          <a:p>
            <a:pPr eaLnBrk="0" hangingPunct="0"/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Addtype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：在符号表中为变量填加类型信息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20713"/>
            <a:ext cx="6264275" cy="86360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属性分类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2420938"/>
            <a:ext cx="6872287" cy="2165350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 + T		E.val := E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.val + T.val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E → T		E.val := T.val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T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 * F		T.val := T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.val * F.val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int		T.type := ‘integer’</a:t>
            </a:r>
          </a:p>
        </p:txBody>
      </p:sp>
      <p:sp>
        <p:nvSpPr>
          <p:cNvPr id="2560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16A265DD-70A2-493A-97D0-2A7F54741DD5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56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6B6ABAB7-9C6E-4415-B7B0-69BCCA0A495F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1079500" y="4525963"/>
            <a:ext cx="7164388" cy="163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 → T L		L.in := T.type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 → L</a:t>
            </a:r>
            <a:r>
              <a:rPr kumimoji="1" lang="en-US" altLang="zh-CN" sz="26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,id		L</a:t>
            </a:r>
            <a:r>
              <a:rPr kumimoji="1" lang="en-US" altLang="zh-CN" sz="26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.in := L.in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	addtype(id.entry,L.in )</a:t>
            </a:r>
          </a:p>
        </p:txBody>
      </p:sp>
      <p:sp>
        <p:nvSpPr>
          <p:cNvPr id="183301" name="Rectangle 5"/>
          <p:cNvSpPr>
            <a:spLocks noChangeArrowheads="1"/>
          </p:cNvSpPr>
          <p:nvPr/>
        </p:nvSpPr>
        <p:spPr bwMode="auto">
          <a:xfrm>
            <a:off x="611188" y="1700213"/>
            <a:ext cx="7343775" cy="6286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属性的计算存在着不同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属性分类</a:t>
            </a:r>
            <a:r>
              <a:rPr lang="en-US" altLang="zh-CN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综合属性</a:t>
            </a:r>
          </a:p>
        </p:txBody>
      </p:sp>
      <p:sp>
        <p:nvSpPr>
          <p:cNvPr id="2662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4AAFDD6-4F7D-4C23-B9EE-A1E6B27F4F83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AB0FE903-7060-429F-B015-132D5897C357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grpSp>
        <p:nvGrpSpPr>
          <p:cNvPr id="2" name="Group 1041"/>
          <p:cNvGrpSpPr>
            <a:grpSpLocks/>
          </p:cNvGrpSpPr>
          <p:nvPr/>
        </p:nvGrpSpPr>
        <p:grpSpPr bwMode="auto">
          <a:xfrm>
            <a:off x="2057400" y="3124200"/>
            <a:ext cx="4495800" cy="2332038"/>
            <a:chOff x="1296" y="1440"/>
            <a:chExt cx="2832" cy="1469"/>
          </a:xfrm>
        </p:grpSpPr>
        <p:sp>
          <p:nvSpPr>
            <p:cNvPr id="26642" name="Text Box 1028"/>
            <p:cNvSpPr txBox="1">
              <a:spLocks noChangeArrowheads="1"/>
            </p:cNvSpPr>
            <p:nvPr/>
          </p:nvSpPr>
          <p:spPr bwMode="auto">
            <a:xfrm>
              <a:off x="2448" y="1440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6643" name="Text Box 1030"/>
            <p:cNvSpPr txBox="1">
              <a:spLocks noChangeArrowheads="1"/>
            </p:cNvSpPr>
            <p:nvPr/>
          </p:nvSpPr>
          <p:spPr bwMode="auto">
            <a:xfrm>
              <a:off x="1296" y="2544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1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sp>
          <p:nvSpPr>
            <p:cNvPr id="26644" name="Text Box 1032"/>
            <p:cNvSpPr txBox="1">
              <a:spLocks noChangeArrowheads="1"/>
            </p:cNvSpPr>
            <p:nvPr/>
          </p:nvSpPr>
          <p:spPr bwMode="auto">
            <a:xfrm>
              <a:off x="2208" y="2544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2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sp>
          <p:nvSpPr>
            <p:cNvPr id="26645" name="Text Box 1033"/>
            <p:cNvSpPr txBox="1">
              <a:spLocks noChangeArrowheads="1"/>
            </p:cNvSpPr>
            <p:nvPr/>
          </p:nvSpPr>
          <p:spPr bwMode="auto">
            <a:xfrm>
              <a:off x="3744" y="2544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n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grpSp>
          <p:nvGrpSpPr>
            <p:cNvPr id="26646" name="Group 1040"/>
            <p:cNvGrpSpPr>
              <a:grpSpLocks/>
            </p:cNvGrpSpPr>
            <p:nvPr/>
          </p:nvGrpSpPr>
          <p:grpSpPr bwMode="auto">
            <a:xfrm>
              <a:off x="1440" y="1680"/>
              <a:ext cx="2400" cy="1008"/>
              <a:chOff x="1440" y="1680"/>
              <a:chExt cx="2400" cy="1008"/>
            </a:xfrm>
          </p:grpSpPr>
          <p:sp>
            <p:nvSpPr>
              <p:cNvPr id="26647" name="Line 1036"/>
              <p:cNvSpPr>
                <a:spLocks noChangeShapeType="1"/>
              </p:cNvSpPr>
              <p:nvPr/>
            </p:nvSpPr>
            <p:spPr bwMode="auto">
              <a:xfrm flipH="1">
                <a:off x="1440" y="1680"/>
                <a:ext cx="1056" cy="9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Line 1037"/>
              <p:cNvSpPr>
                <a:spLocks noChangeShapeType="1"/>
              </p:cNvSpPr>
              <p:nvPr/>
            </p:nvSpPr>
            <p:spPr bwMode="auto">
              <a:xfrm flipH="1">
                <a:off x="2352" y="1680"/>
                <a:ext cx="24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9" name="Line 1038"/>
              <p:cNvSpPr>
                <a:spLocks noChangeShapeType="1"/>
              </p:cNvSpPr>
              <p:nvPr/>
            </p:nvSpPr>
            <p:spPr bwMode="auto">
              <a:xfrm>
                <a:off x="2640" y="1680"/>
                <a:ext cx="120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39705" name="Rectangle 1049"/>
          <p:cNvSpPr>
            <a:spLocks noChangeArrowheads="1"/>
          </p:cNvSpPr>
          <p:nvPr/>
        </p:nvSpPr>
        <p:spPr bwMode="auto">
          <a:xfrm>
            <a:off x="2843213" y="5661025"/>
            <a:ext cx="4654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3200" b="1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完成归约时计算比较自然</a:t>
            </a:r>
          </a:p>
        </p:txBody>
      </p:sp>
      <p:sp>
        <p:nvSpPr>
          <p:cNvPr id="839706" name="Rectangle 1050"/>
          <p:cNvSpPr>
            <a:spLocks noChangeArrowheads="1"/>
          </p:cNvSpPr>
          <p:nvPr/>
        </p:nvSpPr>
        <p:spPr bwMode="auto">
          <a:xfrm>
            <a:off x="762000" y="2163763"/>
            <a:ext cx="7391400" cy="5794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A→X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…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		A.s=f(c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,c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,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…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,c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</a:t>
            </a:r>
          </a:p>
        </p:txBody>
      </p:sp>
      <p:grpSp>
        <p:nvGrpSpPr>
          <p:cNvPr id="4" name="Group 1053"/>
          <p:cNvGrpSpPr>
            <a:grpSpLocks/>
          </p:cNvGrpSpPr>
          <p:nvPr/>
        </p:nvGrpSpPr>
        <p:grpSpPr bwMode="auto">
          <a:xfrm>
            <a:off x="2438400" y="3200400"/>
            <a:ext cx="4495800" cy="2362200"/>
            <a:chOff x="1536" y="2016"/>
            <a:chExt cx="2832" cy="1488"/>
          </a:xfrm>
        </p:grpSpPr>
        <p:sp>
          <p:nvSpPr>
            <p:cNvPr id="26633" name="Text Box 1029"/>
            <p:cNvSpPr txBox="1">
              <a:spLocks noChangeArrowheads="1"/>
            </p:cNvSpPr>
            <p:nvPr/>
          </p:nvSpPr>
          <p:spPr bwMode="auto">
            <a:xfrm>
              <a:off x="3312" y="201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99"/>
                  </a:solidFill>
                  <a:latin typeface="Times New Roman" pitchFamily="18" charset="0"/>
                </a:rPr>
                <a:t>A.s</a:t>
              </a:r>
            </a:p>
          </p:txBody>
        </p:sp>
        <p:sp>
          <p:nvSpPr>
            <p:cNvPr id="26634" name="Text Box 1031"/>
            <p:cNvSpPr txBox="1">
              <a:spLocks noChangeArrowheads="1"/>
            </p:cNvSpPr>
            <p:nvPr/>
          </p:nvSpPr>
          <p:spPr bwMode="auto">
            <a:xfrm>
              <a:off x="1536" y="316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endParaRPr kumimoji="1" lang="en-US" altLang="zh-CN" sz="24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26635" name="Text Box 1034"/>
            <p:cNvSpPr txBox="1">
              <a:spLocks noChangeArrowheads="1"/>
            </p:cNvSpPr>
            <p:nvPr/>
          </p:nvSpPr>
          <p:spPr bwMode="auto">
            <a:xfrm>
              <a:off x="2496" y="321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solidFill>
                    <a:srgbClr val="000099"/>
                  </a:solidFill>
                  <a:latin typeface="Times New Roman" pitchFamily="18" charset="0"/>
                </a:rPr>
                <a:t>2</a:t>
              </a:r>
              <a:endParaRPr kumimoji="1" lang="en-US" altLang="zh-CN" sz="24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26636" name="Text Box 1035"/>
            <p:cNvSpPr txBox="1">
              <a:spLocks noChangeArrowheads="1"/>
            </p:cNvSpPr>
            <p:nvPr/>
          </p:nvSpPr>
          <p:spPr bwMode="auto">
            <a:xfrm>
              <a:off x="3984" y="321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solidFill>
                    <a:srgbClr val="000099"/>
                  </a:solidFill>
                  <a:latin typeface="Times New Roman" pitchFamily="18" charset="0"/>
                </a:rPr>
                <a:t>n</a:t>
              </a:r>
              <a:endParaRPr kumimoji="1" lang="en-US" altLang="zh-CN" sz="24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26637" name="Line 1043"/>
            <p:cNvSpPr>
              <a:spLocks noChangeShapeType="1"/>
            </p:cNvSpPr>
            <p:nvPr/>
          </p:nvSpPr>
          <p:spPr bwMode="auto">
            <a:xfrm flipH="1">
              <a:off x="1728" y="2208"/>
              <a:ext cx="1728" cy="1104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Line 1044"/>
            <p:cNvSpPr>
              <a:spLocks noChangeShapeType="1"/>
            </p:cNvSpPr>
            <p:nvPr/>
          </p:nvSpPr>
          <p:spPr bwMode="auto">
            <a:xfrm flipH="1">
              <a:off x="2688" y="2256"/>
              <a:ext cx="768" cy="105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Line 1045"/>
            <p:cNvSpPr>
              <a:spLocks noChangeShapeType="1"/>
            </p:cNvSpPr>
            <p:nvPr/>
          </p:nvSpPr>
          <p:spPr bwMode="auto">
            <a:xfrm>
              <a:off x="3504" y="2208"/>
              <a:ext cx="576" cy="1104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Text Box 1051"/>
            <p:cNvSpPr txBox="1">
              <a:spLocks noChangeArrowheads="1"/>
            </p:cNvSpPr>
            <p:nvPr/>
          </p:nvSpPr>
          <p:spPr bwMode="auto">
            <a:xfrm>
              <a:off x="2736" y="201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99"/>
                  </a:solidFill>
                  <a:latin typeface="Times New Roman" pitchFamily="18" charset="0"/>
                </a:rPr>
                <a:t>A.in</a:t>
              </a:r>
            </a:p>
          </p:txBody>
        </p:sp>
        <p:sp>
          <p:nvSpPr>
            <p:cNvPr id="26641" name="Line 1052"/>
            <p:cNvSpPr>
              <a:spLocks noChangeShapeType="1"/>
            </p:cNvSpPr>
            <p:nvPr/>
          </p:nvSpPr>
          <p:spPr bwMode="auto">
            <a:xfrm>
              <a:off x="3168" y="2160"/>
              <a:ext cx="240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772400" cy="795338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属性分类</a:t>
            </a:r>
            <a:r>
              <a:rPr lang="en-US" altLang="zh-CN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综合属性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536700"/>
            <a:ext cx="8397875" cy="4556125"/>
          </a:xfrm>
        </p:spPr>
        <p:txBody>
          <a:bodyPr/>
          <a:lstStyle/>
          <a:p>
            <a:pPr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设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为一个产生式</a:t>
            </a:r>
          </a:p>
          <a:p>
            <a:pPr lvl="1">
              <a:spcBef>
                <a:spcPct val="55000"/>
              </a:spcBef>
            </a:pP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A.s=f(c</a:t>
            </a:r>
            <a:r>
              <a:rPr lang="en-US" altLang="zh-CN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,c</a:t>
            </a:r>
            <a:r>
              <a:rPr lang="en-US" altLang="zh-CN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,…,c</a:t>
            </a:r>
            <a:r>
              <a:rPr lang="en-US" altLang="zh-CN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>
              <a:spcBef>
                <a:spcPct val="55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,c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,…,c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22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22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…</a:t>
            </a:r>
            <a:r>
              <a:rPr lang="zh-CN" altLang="en-US" sz="22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的属性和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的继承属性</a:t>
            </a:r>
          </a:p>
          <a:p>
            <a:pPr lvl="1">
              <a:lnSpc>
                <a:spcPct val="110000"/>
              </a:lnSpc>
              <a:spcBef>
                <a:spcPct val="55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A.s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是根据其子结点的属性值和其自身的继承属性值计算出来的</a:t>
            </a:r>
          </a:p>
          <a:p>
            <a:pPr lvl="1">
              <a:lnSpc>
                <a:spcPct val="110000"/>
              </a:lnSpc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如：例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E.val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T.type</a:t>
            </a:r>
          </a:p>
          <a:p>
            <a:pPr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这种属性叫做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综合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(Synthesized)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属性</a:t>
            </a:r>
          </a:p>
        </p:txBody>
      </p:sp>
      <p:sp>
        <p:nvSpPr>
          <p:cNvPr id="2765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A83E9CA-BAF8-42B3-A581-B561E167BE7F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76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7B585ADF-B660-488D-813A-64523DA786E4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404813"/>
            <a:ext cx="8540750" cy="1143000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属性分类</a:t>
            </a:r>
            <a:r>
              <a:rPr lang="en-US" altLang="zh-CN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继承属性</a:t>
            </a:r>
          </a:p>
        </p:txBody>
      </p:sp>
      <p:sp>
        <p:nvSpPr>
          <p:cNvPr id="840707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547813"/>
            <a:ext cx="8001000" cy="79057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en-US" altLang="zh-CN" sz="34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400" b="1" smtClean="0">
                <a:latin typeface="Times New Roman" pitchFamily="18" charset="0"/>
                <a:ea typeface="华文新魏" pitchFamily="2" charset="-122"/>
              </a:rPr>
              <a:t>.in=f(c,c</a:t>
            </a:r>
            <a:r>
              <a:rPr lang="en-US" altLang="zh-CN" sz="3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400" b="1" smtClean="0">
                <a:latin typeface="Times New Roman" pitchFamily="18" charset="0"/>
                <a:ea typeface="华文新魏" pitchFamily="2" charset="-122"/>
              </a:rPr>
              <a:t>,c</a:t>
            </a:r>
            <a:r>
              <a:rPr lang="en-US" altLang="zh-CN" sz="3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400" b="1" smtClean="0">
                <a:latin typeface="Times New Roman" pitchFamily="18" charset="0"/>
                <a:ea typeface="华文新魏" pitchFamily="2" charset="-122"/>
              </a:rPr>
              <a:t>,…,c</a:t>
            </a:r>
            <a:r>
              <a:rPr lang="en-US" altLang="zh-CN" sz="34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3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2867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00BAA46-3A24-45EB-9EED-8762D03633C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86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7895D336-06D0-4E85-97F5-FF33EE8BE69C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85800" y="2438400"/>
            <a:ext cx="6324600" cy="2179638"/>
            <a:chOff x="1296" y="1968"/>
            <a:chExt cx="3984" cy="1373"/>
          </a:xfrm>
        </p:grpSpPr>
        <p:sp>
          <p:nvSpPr>
            <p:cNvPr id="28694" name="Text Box 5"/>
            <p:cNvSpPr txBox="1">
              <a:spLocks noChangeArrowheads="1"/>
            </p:cNvSpPr>
            <p:nvPr/>
          </p:nvSpPr>
          <p:spPr bwMode="auto">
            <a:xfrm>
              <a:off x="2917" y="1968"/>
              <a:ext cx="4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8695" name="Text Box 6"/>
            <p:cNvSpPr txBox="1">
              <a:spLocks noChangeArrowheads="1"/>
            </p:cNvSpPr>
            <p:nvPr/>
          </p:nvSpPr>
          <p:spPr bwMode="auto">
            <a:xfrm>
              <a:off x="1296" y="2960"/>
              <a:ext cx="5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1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sp>
          <p:nvSpPr>
            <p:cNvPr id="28696" name="Text Box 7"/>
            <p:cNvSpPr txBox="1">
              <a:spLocks noChangeArrowheads="1"/>
            </p:cNvSpPr>
            <p:nvPr/>
          </p:nvSpPr>
          <p:spPr bwMode="auto">
            <a:xfrm>
              <a:off x="1920" y="2976"/>
              <a:ext cx="5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2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sp>
          <p:nvSpPr>
            <p:cNvPr id="28697" name="Text Box 8"/>
            <p:cNvSpPr txBox="1">
              <a:spLocks noChangeArrowheads="1"/>
            </p:cNvSpPr>
            <p:nvPr/>
          </p:nvSpPr>
          <p:spPr bwMode="auto">
            <a:xfrm>
              <a:off x="4740" y="2958"/>
              <a:ext cx="54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n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sp>
          <p:nvSpPr>
            <p:cNvPr id="28698" name="Line 10"/>
            <p:cNvSpPr>
              <a:spLocks noChangeShapeType="1"/>
            </p:cNvSpPr>
            <p:nvPr/>
          </p:nvSpPr>
          <p:spPr bwMode="auto">
            <a:xfrm flipH="1">
              <a:off x="1499" y="2184"/>
              <a:ext cx="1485" cy="8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9" name="Line 11"/>
            <p:cNvSpPr>
              <a:spLocks noChangeShapeType="1"/>
            </p:cNvSpPr>
            <p:nvPr/>
          </p:nvSpPr>
          <p:spPr bwMode="auto">
            <a:xfrm flipH="1">
              <a:off x="2976" y="2184"/>
              <a:ext cx="143" cy="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0" name="Line 12"/>
            <p:cNvSpPr>
              <a:spLocks noChangeShapeType="1"/>
            </p:cNvSpPr>
            <p:nvPr/>
          </p:nvSpPr>
          <p:spPr bwMode="auto">
            <a:xfrm>
              <a:off x="3187" y="2184"/>
              <a:ext cx="1688" cy="9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1" name="Text Box 25"/>
            <p:cNvSpPr txBox="1">
              <a:spLocks noChangeArrowheads="1"/>
            </p:cNvSpPr>
            <p:nvPr/>
          </p:nvSpPr>
          <p:spPr bwMode="auto">
            <a:xfrm>
              <a:off x="2832" y="2947"/>
              <a:ext cx="5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x</a:t>
              </a:r>
              <a:r>
                <a:rPr kumimoji="1" lang="en-US" altLang="zh-CN" sz="3200" b="1" baseline="-25000">
                  <a:latin typeface="Times New Roman" pitchFamily="18" charset="0"/>
                </a:rPr>
                <a:t>k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  <p:sp>
          <p:nvSpPr>
            <p:cNvPr id="28702" name="Line 26"/>
            <p:cNvSpPr>
              <a:spLocks noChangeShapeType="1"/>
            </p:cNvSpPr>
            <p:nvPr/>
          </p:nvSpPr>
          <p:spPr bwMode="auto">
            <a:xfrm flipH="1">
              <a:off x="2112" y="2256"/>
              <a:ext cx="911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3" name="Text Box 27"/>
            <p:cNvSpPr txBox="1">
              <a:spLocks noChangeArrowheads="1"/>
            </p:cNvSpPr>
            <p:nvPr/>
          </p:nvSpPr>
          <p:spPr bwMode="auto">
            <a:xfrm>
              <a:off x="2388" y="2928"/>
              <a:ext cx="5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latin typeface="Times New Roman" pitchFamily="18" charset="0"/>
                </a:rPr>
                <a:t>…</a:t>
              </a:r>
            </a:p>
          </p:txBody>
        </p:sp>
      </p:grpSp>
      <p:sp>
        <p:nvSpPr>
          <p:cNvPr id="840733" name="Freeform 29"/>
          <p:cNvSpPr>
            <a:spLocks/>
          </p:cNvSpPr>
          <p:nvPr/>
        </p:nvSpPr>
        <p:spPr bwMode="auto">
          <a:xfrm>
            <a:off x="3352800" y="4699000"/>
            <a:ext cx="1295400" cy="254000"/>
          </a:xfrm>
          <a:custGeom>
            <a:avLst/>
            <a:gdLst>
              <a:gd name="T0" fmla="*/ 0 w 816"/>
              <a:gd name="T1" fmla="*/ 160 h 160"/>
              <a:gd name="T2" fmla="*/ 336 w 816"/>
              <a:gd name="T3" fmla="*/ 16 h 160"/>
              <a:gd name="T4" fmla="*/ 816 w 816"/>
              <a:gd name="T5" fmla="*/ 64 h 160"/>
              <a:gd name="T6" fmla="*/ 0 60000 65536"/>
              <a:gd name="T7" fmla="*/ 0 60000 65536"/>
              <a:gd name="T8" fmla="*/ 0 60000 65536"/>
              <a:gd name="T9" fmla="*/ 0 w 816"/>
              <a:gd name="T10" fmla="*/ 0 h 160"/>
              <a:gd name="T11" fmla="*/ 816 w 816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60">
                <a:moveTo>
                  <a:pt x="0" y="160"/>
                </a:moveTo>
                <a:cubicBezTo>
                  <a:pt x="100" y="96"/>
                  <a:pt x="200" y="32"/>
                  <a:pt x="336" y="16"/>
                </a:cubicBezTo>
                <a:cubicBezTo>
                  <a:pt x="472" y="0"/>
                  <a:pt x="644" y="32"/>
                  <a:pt x="816" y="64"/>
                </a:cubicBezTo>
              </a:path>
            </a:pathLst>
          </a:custGeom>
          <a:noFill/>
          <a:ln w="28575">
            <a:solidFill>
              <a:srgbClr val="FF9900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734" name="Freeform 30"/>
          <p:cNvSpPr>
            <a:spLocks/>
          </p:cNvSpPr>
          <p:nvPr/>
        </p:nvSpPr>
        <p:spPr bwMode="auto">
          <a:xfrm rot="347131">
            <a:off x="1905000" y="4343400"/>
            <a:ext cx="2743200" cy="533400"/>
          </a:xfrm>
          <a:custGeom>
            <a:avLst/>
            <a:gdLst>
              <a:gd name="T0" fmla="*/ 0 w 816"/>
              <a:gd name="T1" fmla="*/ 160 h 160"/>
              <a:gd name="T2" fmla="*/ 336 w 816"/>
              <a:gd name="T3" fmla="*/ 16 h 160"/>
              <a:gd name="T4" fmla="*/ 816 w 816"/>
              <a:gd name="T5" fmla="*/ 64 h 160"/>
              <a:gd name="T6" fmla="*/ 0 60000 65536"/>
              <a:gd name="T7" fmla="*/ 0 60000 65536"/>
              <a:gd name="T8" fmla="*/ 0 60000 65536"/>
              <a:gd name="T9" fmla="*/ 0 w 816"/>
              <a:gd name="T10" fmla="*/ 0 h 160"/>
              <a:gd name="T11" fmla="*/ 816 w 816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60">
                <a:moveTo>
                  <a:pt x="0" y="160"/>
                </a:moveTo>
                <a:cubicBezTo>
                  <a:pt x="100" y="96"/>
                  <a:pt x="200" y="32"/>
                  <a:pt x="336" y="16"/>
                </a:cubicBezTo>
                <a:cubicBezTo>
                  <a:pt x="472" y="0"/>
                  <a:pt x="644" y="32"/>
                  <a:pt x="816" y="64"/>
                </a:cubicBezTo>
              </a:path>
            </a:pathLst>
          </a:custGeom>
          <a:noFill/>
          <a:ln w="28575">
            <a:solidFill>
              <a:srgbClr val="FF9900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735" name="Freeform 31"/>
          <p:cNvSpPr>
            <a:spLocks/>
          </p:cNvSpPr>
          <p:nvPr/>
        </p:nvSpPr>
        <p:spPr bwMode="auto">
          <a:xfrm rot="21167613" flipV="1">
            <a:off x="990600" y="4800600"/>
            <a:ext cx="3733800" cy="584200"/>
          </a:xfrm>
          <a:custGeom>
            <a:avLst/>
            <a:gdLst>
              <a:gd name="T0" fmla="*/ 0 w 816"/>
              <a:gd name="T1" fmla="*/ 160 h 160"/>
              <a:gd name="T2" fmla="*/ 336 w 816"/>
              <a:gd name="T3" fmla="*/ 16 h 160"/>
              <a:gd name="T4" fmla="*/ 816 w 816"/>
              <a:gd name="T5" fmla="*/ 64 h 160"/>
              <a:gd name="T6" fmla="*/ 0 60000 65536"/>
              <a:gd name="T7" fmla="*/ 0 60000 65536"/>
              <a:gd name="T8" fmla="*/ 0 60000 65536"/>
              <a:gd name="T9" fmla="*/ 0 w 816"/>
              <a:gd name="T10" fmla="*/ 0 h 160"/>
              <a:gd name="T11" fmla="*/ 816 w 816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60">
                <a:moveTo>
                  <a:pt x="0" y="160"/>
                </a:moveTo>
                <a:cubicBezTo>
                  <a:pt x="100" y="96"/>
                  <a:pt x="200" y="32"/>
                  <a:pt x="336" y="16"/>
                </a:cubicBezTo>
                <a:cubicBezTo>
                  <a:pt x="472" y="0"/>
                  <a:pt x="644" y="32"/>
                  <a:pt x="816" y="64"/>
                </a:cubicBezTo>
              </a:path>
            </a:pathLst>
          </a:custGeom>
          <a:noFill/>
          <a:ln w="28575">
            <a:solidFill>
              <a:srgbClr val="FF9900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736" name="Freeform 32"/>
          <p:cNvSpPr>
            <a:spLocks/>
          </p:cNvSpPr>
          <p:nvPr/>
        </p:nvSpPr>
        <p:spPr bwMode="auto">
          <a:xfrm>
            <a:off x="4038600" y="2819400"/>
            <a:ext cx="685800" cy="1905000"/>
          </a:xfrm>
          <a:custGeom>
            <a:avLst/>
            <a:gdLst>
              <a:gd name="T0" fmla="*/ 0 w 672"/>
              <a:gd name="T1" fmla="*/ 0 h 1200"/>
              <a:gd name="T2" fmla="*/ 672 w 672"/>
              <a:gd name="T3" fmla="*/ 1200 h 1200"/>
              <a:gd name="T4" fmla="*/ 0 60000 65536"/>
              <a:gd name="T5" fmla="*/ 0 60000 65536"/>
              <a:gd name="T6" fmla="*/ 0 w 672"/>
              <a:gd name="T7" fmla="*/ 0 h 1200"/>
              <a:gd name="T8" fmla="*/ 672 w 672"/>
              <a:gd name="T9" fmla="*/ 1200 h 12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2" h="1200">
                <a:moveTo>
                  <a:pt x="0" y="0"/>
                </a:moveTo>
                <a:cubicBezTo>
                  <a:pt x="280" y="492"/>
                  <a:pt x="560" y="984"/>
                  <a:pt x="672" y="1200"/>
                </a:cubicBezTo>
              </a:path>
            </a:pathLst>
          </a:custGeom>
          <a:noFill/>
          <a:ln w="28575">
            <a:solidFill>
              <a:srgbClr val="FF0066"/>
            </a:solidFill>
            <a:prstDash val="dash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738" name="Text Box 34"/>
          <p:cNvSpPr txBox="1">
            <a:spLocks noChangeArrowheads="1"/>
          </p:cNvSpPr>
          <p:nvPr/>
        </p:nvSpPr>
        <p:spPr bwMode="auto">
          <a:xfrm>
            <a:off x="6629400" y="3505200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1</a:t>
            </a:r>
            <a:r>
              <a:rPr kumimoji="1" lang="en-US" altLang="zh-CN" sz="3200" b="1">
                <a:latin typeface="Times New Roman" pitchFamily="18" charset="0"/>
                <a:ea typeface="华文中宋" pitchFamily="2" charset="-122"/>
              </a:rPr>
              <a:t>≤k&lt;i≤n</a:t>
            </a:r>
            <a:endParaRPr kumimoji="1" lang="en-US" altLang="zh-CN" sz="3200" b="1">
              <a:latin typeface="Times New Roman" pitchFamily="18" charset="0"/>
            </a:endParaRPr>
          </a:p>
        </p:txBody>
      </p:sp>
      <p:sp>
        <p:nvSpPr>
          <p:cNvPr id="840740" name="Text Box 36"/>
          <p:cNvSpPr txBox="1">
            <a:spLocks noChangeArrowheads="1"/>
          </p:cNvSpPr>
          <p:nvPr/>
        </p:nvSpPr>
        <p:spPr bwMode="auto">
          <a:xfrm>
            <a:off x="1547813" y="5456238"/>
            <a:ext cx="5184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在派生过程中计算比较自然</a:t>
            </a:r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685800" y="2438400"/>
            <a:ext cx="6629400" cy="2667000"/>
            <a:chOff x="432" y="1776"/>
            <a:chExt cx="4176" cy="1680"/>
          </a:xfrm>
        </p:grpSpPr>
        <p:grpSp>
          <p:nvGrpSpPr>
            <p:cNvPr id="28686" name="Group 38"/>
            <p:cNvGrpSpPr>
              <a:grpSpLocks/>
            </p:cNvGrpSpPr>
            <p:nvPr/>
          </p:nvGrpSpPr>
          <p:grpSpPr bwMode="auto">
            <a:xfrm>
              <a:off x="432" y="3120"/>
              <a:ext cx="4176" cy="336"/>
              <a:chOff x="432" y="3120"/>
              <a:chExt cx="4176" cy="336"/>
            </a:xfrm>
          </p:grpSpPr>
          <p:grpSp>
            <p:nvGrpSpPr>
              <p:cNvPr id="28688" name="Group 37"/>
              <p:cNvGrpSpPr>
                <a:grpSpLocks/>
              </p:cNvGrpSpPr>
              <p:nvPr/>
            </p:nvGrpSpPr>
            <p:grpSpPr bwMode="auto">
              <a:xfrm>
                <a:off x="432" y="3120"/>
                <a:ext cx="3072" cy="336"/>
                <a:chOff x="432" y="3120"/>
                <a:chExt cx="3072" cy="336"/>
              </a:xfrm>
            </p:grpSpPr>
            <p:sp>
              <p:nvSpPr>
                <p:cNvPr id="28690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928" y="3120"/>
                  <a:ext cx="57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solidFill>
                        <a:srgbClr val="000099"/>
                      </a:solidFill>
                      <a:latin typeface="Times New Roman" pitchFamily="18" charset="0"/>
                    </a:rPr>
                    <a:t>X</a:t>
                  </a:r>
                  <a:r>
                    <a:rPr kumimoji="1" lang="en-US" altLang="zh-CN" sz="2400" b="1" baseline="-25000">
                      <a:solidFill>
                        <a:srgbClr val="000099"/>
                      </a:solidFill>
                      <a:latin typeface="Times New Roman" pitchFamily="18" charset="0"/>
                    </a:rPr>
                    <a:t>i</a:t>
                  </a:r>
                  <a:r>
                    <a:rPr kumimoji="1" lang="en-US" altLang="zh-CN" sz="2400" b="1">
                      <a:solidFill>
                        <a:srgbClr val="000099"/>
                      </a:solidFill>
                      <a:latin typeface="Times New Roman" pitchFamily="18" charset="0"/>
                    </a:rPr>
                    <a:t>.in</a:t>
                  </a:r>
                </a:p>
              </p:txBody>
            </p:sp>
            <p:sp>
              <p:nvSpPr>
                <p:cNvPr id="28691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32" y="3120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solidFill>
                        <a:srgbClr val="000099"/>
                      </a:solidFill>
                      <a:latin typeface="Times New Roman" pitchFamily="18" charset="0"/>
                    </a:rPr>
                    <a:t>c</a:t>
                  </a:r>
                  <a:r>
                    <a:rPr kumimoji="1" lang="en-US" altLang="zh-CN" sz="2400" b="1" baseline="-25000">
                      <a:solidFill>
                        <a:srgbClr val="000099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 b="1">
                    <a:solidFill>
                      <a:srgbClr val="000099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2869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056" y="3168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solidFill>
                        <a:srgbClr val="000099"/>
                      </a:solidFill>
                      <a:latin typeface="Times New Roman" pitchFamily="18" charset="0"/>
                    </a:rPr>
                    <a:t>c</a:t>
                  </a:r>
                  <a:r>
                    <a:rPr kumimoji="1" lang="en-US" altLang="zh-CN" sz="2400" b="1" baseline="-25000">
                      <a:solidFill>
                        <a:srgbClr val="000099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 b="1">
                    <a:solidFill>
                      <a:srgbClr val="000099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2869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920" y="3168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solidFill>
                        <a:srgbClr val="000099"/>
                      </a:solidFill>
                      <a:latin typeface="Times New Roman" pitchFamily="18" charset="0"/>
                    </a:rPr>
                    <a:t>c</a:t>
                  </a:r>
                  <a:r>
                    <a:rPr kumimoji="1" lang="en-US" altLang="zh-CN" sz="2400" b="1" baseline="-25000">
                      <a:solidFill>
                        <a:srgbClr val="000099"/>
                      </a:solidFill>
                      <a:latin typeface="Times New Roman" pitchFamily="18" charset="0"/>
                    </a:rPr>
                    <a:t>k</a:t>
                  </a:r>
                  <a:endParaRPr kumimoji="1" lang="en-US" altLang="zh-CN" sz="2400" b="1">
                    <a:solidFill>
                      <a:srgbClr val="000099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28689" name="Text Box 24"/>
              <p:cNvSpPr txBox="1">
                <a:spLocks noChangeArrowheads="1"/>
              </p:cNvSpPr>
              <p:nvPr/>
            </p:nvSpPr>
            <p:spPr bwMode="auto">
              <a:xfrm>
                <a:off x="4224" y="316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itchFamily="18" charset="0"/>
                  </a:rPr>
                  <a:t>c</a:t>
                </a:r>
                <a:r>
                  <a:rPr kumimoji="1" lang="en-US" altLang="zh-CN" sz="2400" b="1" baseline="-25000">
                    <a:solidFill>
                      <a:srgbClr val="000099"/>
                    </a:solidFill>
                    <a:latin typeface="Times New Roman" pitchFamily="18" charset="0"/>
                  </a:rPr>
                  <a:t>n</a:t>
                </a:r>
                <a:endParaRPr kumimoji="1" lang="en-US" altLang="zh-CN" sz="2400" b="1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28687" name="Text Box 39"/>
            <p:cNvSpPr txBox="1">
              <a:spLocks noChangeArrowheads="1"/>
            </p:cNvSpPr>
            <p:nvPr/>
          </p:nvSpPr>
          <p:spPr bwMode="auto">
            <a:xfrm>
              <a:off x="2400" y="177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188" y="692150"/>
            <a:ext cx="7280275" cy="892175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属性分类</a:t>
            </a:r>
            <a:r>
              <a:rPr lang="en-US" altLang="zh-CN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继承属性</a:t>
            </a:r>
          </a:p>
        </p:txBody>
      </p:sp>
      <p:sp>
        <p:nvSpPr>
          <p:cNvPr id="828419" name="Rectangle 1027"/>
          <p:cNvSpPr>
            <a:spLocks noGrp="1" noChangeArrowheads="1"/>
          </p:cNvSpPr>
          <p:nvPr>
            <p:ph idx="1"/>
          </p:nvPr>
        </p:nvSpPr>
        <p:spPr>
          <a:xfrm>
            <a:off x="533400" y="1700213"/>
            <a:ext cx="8382000" cy="447198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设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为一个产生式，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的属性</a:t>
            </a:r>
          </a:p>
          <a:p>
            <a:pPr lvl="1"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en-US" altLang="zh-CN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.in=f(c,c</a:t>
            </a:r>
            <a:r>
              <a:rPr lang="en-US" altLang="zh-CN" sz="30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,c</a:t>
            </a:r>
            <a:r>
              <a:rPr lang="en-US" altLang="zh-CN" sz="30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,…,c</a:t>
            </a:r>
            <a:r>
              <a:rPr lang="en-US" altLang="zh-CN" sz="30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en-US" altLang="zh-CN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c,c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,c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,…,c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A, 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的属性</a:t>
            </a:r>
          </a:p>
          <a:p>
            <a:pPr lvl="1"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如： </a:t>
            </a:r>
            <a:r>
              <a:rPr kumimoji="1" lang="en-US" altLang="zh-CN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 → L</a:t>
            </a:r>
            <a:r>
              <a:rPr kumimoji="1" lang="en-US" altLang="zh-CN" b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,id	L</a:t>
            </a:r>
            <a:r>
              <a:rPr kumimoji="1" lang="en-US" altLang="zh-CN" b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.in := L.in</a:t>
            </a:r>
            <a:r>
              <a:rPr lang="en-US" altLang="zh-CN" smtClean="0">
                <a:latin typeface="Times New Roman" pitchFamily="18" charset="0"/>
              </a:rPr>
              <a:t>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中的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L.in</a:t>
            </a:r>
          </a:p>
          <a:p>
            <a:pPr>
              <a:lnSpc>
                <a:spcPct val="110000"/>
              </a:lnSpc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这种属性叫做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继承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(Inherited)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属性</a:t>
            </a:r>
          </a:p>
        </p:txBody>
      </p:sp>
      <p:sp>
        <p:nvSpPr>
          <p:cNvPr id="2970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1EB0F3FD-782F-4F61-80B8-F6A060704883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97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A899AB5-94EC-4C32-8326-3806EDE10B82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属性分类</a:t>
            </a:r>
            <a:r>
              <a:rPr lang="en-US" altLang="zh-CN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5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固有属性</a:t>
            </a:r>
          </a:p>
        </p:txBody>
      </p:sp>
      <p:sp>
        <p:nvSpPr>
          <p:cNvPr id="83251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8064500" cy="17827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语言中的标识符、常数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数值的、符号的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、常量，它们的属性是用户给定的、固有不变的</a:t>
            </a:r>
          </a:p>
        </p:txBody>
      </p:sp>
      <p:sp>
        <p:nvSpPr>
          <p:cNvPr id="3072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B465B26A-00E6-4A45-9DB3-25A07056244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07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1A535C9-7594-4E8E-904B-44E485496BD4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832516" name="Rectangle 4"/>
          <p:cNvSpPr>
            <a:spLocks noChangeArrowheads="1"/>
          </p:cNvSpPr>
          <p:nvPr/>
        </p:nvSpPr>
        <p:spPr bwMode="auto">
          <a:xfrm>
            <a:off x="1371600" y="3962400"/>
            <a:ext cx="6872288" cy="561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 → int		T.type := ‘integer’</a:t>
            </a:r>
          </a:p>
        </p:txBody>
      </p:sp>
      <p:sp>
        <p:nvSpPr>
          <p:cNvPr id="832517" name="Rectangle 5"/>
          <p:cNvSpPr>
            <a:spLocks noChangeArrowheads="1"/>
          </p:cNvSpPr>
          <p:nvPr/>
        </p:nvSpPr>
        <p:spPr bwMode="auto">
          <a:xfrm>
            <a:off x="1219200" y="4724400"/>
            <a:ext cx="71628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固有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(Inherent)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属性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kumimoji="1"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单词属性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kumimoji="1"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归类于综合属性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20713"/>
            <a:ext cx="7281862" cy="809625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4.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属性的计算</a:t>
            </a:r>
          </a:p>
        </p:txBody>
      </p:sp>
      <p:sp>
        <p:nvSpPr>
          <p:cNvPr id="5498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7338"/>
            <a:ext cx="8458200" cy="471805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综合属性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自底向上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按照语义规则来计算各结点的综合属性值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在归约时进行计算</a:t>
            </a: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继承属性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根据依赖关系决定计算顺序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依赖图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(P223)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的任意一个</a:t>
            </a:r>
            <a:r>
              <a:rPr lang="zh-CN" altLang="en-US" sz="3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拓扑排序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(Topological Sort)</a:t>
            </a: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固有属性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词法分析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时计算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174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1EB83D5-A42F-4504-9F15-67A2FC887056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17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9288ACA-6AB7-4989-8868-8473AB7E5A41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77838"/>
            <a:ext cx="4752975" cy="1295400"/>
          </a:xfrm>
        </p:spPr>
        <p:txBody>
          <a:bodyPr/>
          <a:lstStyle/>
          <a:p>
            <a:pPr>
              <a:defRPr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3*5+4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的分析树与属性计算</a:t>
            </a:r>
          </a:p>
        </p:txBody>
      </p:sp>
      <p:sp>
        <p:nvSpPr>
          <p:cNvPr id="32771" name="Rectangle 36"/>
          <p:cNvSpPr>
            <a:spLocks noGrp="1" noChangeArrowheads="1"/>
          </p:cNvSpPr>
          <p:nvPr>
            <p:ph idx="1"/>
          </p:nvPr>
        </p:nvSpPr>
        <p:spPr>
          <a:xfrm>
            <a:off x="179388" y="1773238"/>
            <a:ext cx="2154237" cy="3095625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L → E  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E → E</a:t>
            </a:r>
            <a:r>
              <a:rPr lang="en-US" altLang="zh-CN" sz="2800" b="1" baseline="-25000" smtClean="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 + T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E → T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T → T</a:t>
            </a:r>
            <a:r>
              <a:rPr lang="en-US" altLang="zh-CN" sz="2800" b="1" baseline="-25000" smtClean="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 * F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T → F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F → ( E 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F → digit</a:t>
            </a:r>
          </a:p>
        </p:txBody>
      </p:sp>
      <p:sp>
        <p:nvSpPr>
          <p:cNvPr id="327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1C00870-CD63-4974-ACAA-9272D0C7068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27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4341B5E7-E8C9-4315-AFDA-B065E0AD93B3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sp>
        <p:nvSpPr>
          <p:cNvPr id="551971" name="Text Box 35"/>
          <p:cNvSpPr txBox="1">
            <a:spLocks noChangeArrowheads="1"/>
          </p:cNvSpPr>
          <p:nvPr/>
        </p:nvSpPr>
        <p:spPr bwMode="auto">
          <a:xfrm>
            <a:off x="6264275" y="5330825"/>
            <a:ext cx="2700338" cy="968375"/>
          </a:xfrm>
          <a:prstGeom prst="rect">
            <a:avLst/>
          </a:prstGeom>
          <a:solidFill>
            <a:srgbClr val="006666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注释分析树</a:t>
            </a:r>
          </a:p>
          <a:p>
            <a:pPr>
              <a:lnSpc>
                <a:spcPct val="90000"/>
              </a:lnSpc>
              <a:defRPr/>
            </a:pP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带注释语法树</a:t>
            </a:r>
          </a:p>
        </p:txBody>
      </p:sp>
      <p:sp>
        <p:nvSpPr>
          <p:cNvPr id="551973" name="Text Box 37"/>
          <p:cNvSpPr txBox="1">
            <a:spLocks noChangeArrowheads="1"/>
          </p:cNvSpPr>
          <p:nvPr/>
        </p:nvSpPr>
        <p:spPr bwMode="auto">
          <a:xfrm>
            <a:off x="4716463" y="5272088"/>
            <a:ext cx="1439862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结点带属性值</a:t>
            </a:r>
          </a:p>
        </p:txBody>
      </p:sp>
      <p:sp>
        <p:nvSpPr>
          <p:cNvPr id="551943" name="Text Box 7"/>
          <p:cNvSpPr txBox="1">
            <a:spLocks noChangeArrowheads="1"/>
          </p:cNvSpPr>
          <p:nvPr/>
        </p:nvSpPr>
        <p:spPr bwMode="auto">
          <a:xfrm>
            <a:off x="5508625" y="476250"/>
            <a:ext cx="1944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L  Print(19)</a:t>
            </a:r>
          </a:p>
        </p:txBody>
      </p:sp>
      <p:sp>
        <p:nvSpPr>
          <p:cNvPr id="551944" name="Text Box 8"/>
          <p:cNvSpPr txBox="1">
            <a:spLocks noChangeArrowheads="1"/>
          </p:cNvSpPr>
          <p:nvPr/>
        </p:nvSpPr>
        <p:spPr bwMode="auto">
          <a:xfrm>
            <a:off x="5651500" y="1211263"/>
            <a:ext cx="194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E.val=19</a:t>
            </a:r>
          </a:p>
        </p:txBody>
      </p:sp>
      <p:sp>
        <p:nvSpPr>
          <p:cNvPr id="551946" name="Text Box 10"/>
          <p:cNvSpPr txBox="1">
            <a:spLocks noChangeArrowheads="1"/>
          </p:cNvSpPr>
          <p:nvPr/>
        </p:nvSpPr>
        <p:spPr bwMode="auto">
          <a:xfrm>
            <a:off x="7453313" y="2003425"/>
            <a:ext cx="1655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T.val=4</a:t>
            </a:r>
          </a:p>
        </p:txBody>
      </p:sp>
      <p:sp>
        <p:nvSpPr>
          <p:cNvPr id="551947" name="Text Box 11"/>
          <p:cNvSpPr txBox="1">
            <a:spLocks noChangeArrowheads="1"/>
          </p:cNvSpPr>
          <p:nvPr/>
        </p:nvSpPr>
        <p:spPr bwMode="auto">
          <a:xfrm>
            <a:off x="6156325" y="2003425"/>
            <a:ext cx="647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+</a:t>
            </a:r>
          </a:p>
        </p:txBody>
      </p:sp>
      <p:sp>
        <p:nvSpPr>
          <p:cNvPr id="551948" name="Text Box 12"/>
          <p:cNvSpPr txBox="1">
            <a:spLocks noChangeArrowheads="1"/>
          </p:cNvSpPr>
          <p:nvPr/>
        </p:nvSpPr>
        <p:spPr bwMode="auto">
          <a:xfrm>
            <a:off x="3203575" y="2074863"/>
            <a:ext cx="194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E.val=15</a:t>
            </a:r>
          </a:p>
        </p:txBody>
      </p:sp>
      <p:sp>
        <p:nvSpPr>
          <p:cNvPr id="551949" name="Text Box 13"/>
          <p:cNvSpPr txBox="1">
            <a:spLocks noChangeArrowheads="1"/>
          </p:cNvSpPr>
          <p:nvPr/>
        </p:nvSpPr>
        <p:spPr bwMode="auto">
          <a:xfrm>
            <a:off x="3130550" y="2924175"/>
            <a:ext cx="1944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T.val=15</a:t>
            </a:r>
          </a:p>
        </p:txBody>
      </p:sp>
      <p:sp>
        <p:nvSpPr>
          <p:cNvPr id="551950" name="Text Box 14"/>
          <p:cNvSpPr txBox="1">
            <a:spLocks noChangeArrowheads="1"/>
          </p:cNvSpPr>
          <p:nvPr/>
        </p:nvSpPr>
        <p:spPr bwMode="auto">
          <a:xfrm>
            <a:off x="3706813" y="3875088"/>
            <a:ext cx="5032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Times New Roman" pitchFamily="18" charset="0"/>
              </a:rPr>
              <a:t>*</a:t>
            </a:r>
          </a:p>
        </p:txBody>
      </p:sp>
      <p:sp>
        <p:nvSpPr>
          <p:cNvPr id="551951" name="Text Box 15"/>
          <p:cNvSpPr txBox="1">
            <a:spLocks noChangeArrowheads="1"/>
          </p:cNvSpPr>
          <p:nvPr/>
        </p:nvSpPr>
        <p:spPr bwMode="auto">
          <a:xfrm>
            <a:off x="2051050" y="474027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F.val=3</a:t>
            </a:r>
          </a:p>
        </p:txBody>
      </p:sp>
      <p:sp>
        <p:nvSpPr>
          <p:cNvPr id="551952" name="Text Box 16"/>
          <p:cNvSpPr txBox="1">
            <a:spLocks noChangeArrowheads="1"/>
          </p:cNvSpPr>
          <p:nvPr/>
        </p:nvSpPr>
        <p:spPr bwMode="auto">
          <a:xfrm>
            <a:off x="7453313" y="2995613"/>
            <a:ext cx="1582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F.val=4</a:t>
            </a:r>
          </a:p>
        </p:txBody>
      </p:sp>
      <p:sp>
        <p:nvSpPr>
          <p:cNvPr id="551953" name="Text Box 17"/>
          <p:cNvSpPr txBox="1">
            <a:spLocks noChangeArrowheads="1"/>
          </p:cNvSpPr>
          <p:nvPr/>
        </p:nvSpPr>
        <p:spPr bwMode="auto">
          <a:xfrm>
            <a:off x="4356100" y="3948113"/>
            <a:ext cx="194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F.val=5</a:t>
            </a:r>
          </a:p>
        </p:txBody>
      </p:sp>
      <p:sp>
        <p:nvSpPr>
          <p:cNvPr id="551954" name="Text Box 18"/>
          <p:cNvSpPr txBox="1">
            <a:spLocks noChangeArrowheads="1"/>
          </p:cNvSpPr>
          <p:nvPr/>
        </p:nvSpPr>
        <p:spPr bwMode="auto">
          <a:xfrm>
            <a:off x="1979613" y="3875088"/>
            <a:ext cx="1655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T.val=3</a:t>
            </a:r>
          </a:p>
        </p:txBody>
      </p:sp>
      <p:sp>
        <p:nvSpPr>
          <p:cNvPr id="551955" name="Text Box 19"/>
          <p:cNvSpPr txBox="1">
            <a:spLocks noChangeArrowheads="1"/>
          </p:cNvSpPr>
          <p:nvPr/>
        </p:nvSpPr>
        <p:spPr bwMode="auto">
          <a:xfrm>
            <a:off x="1403350" y="5387975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digit.lexval=3</a:t>
            </a:r>
          </a:p>
        </p:txBody>
      </p:sp>
      <p:sp>
        <p:nvSpPr>
          <p:cNvPr id="551956" name="Text Box 20"/>
          <p:cNvSpPr txBox="1">
            <a:spLocks noChangeArrowheads="1"/>
          </p:cNvSpPr>
          <p:nvPr/>
        </p:nvSpPr>
        <p:spPr bwMode="auto">
          <a:xfrm>
            <a:off x="3851275" y="4724400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digit.lexval=5</a:t>
            </a:r>
          </a:p>
        </p:txBody>
      </p:sp>
      <p:sp>
        <p:nvSpPr>
          <p:cNvPr id="551957" name="Text Box 21"/>
          <p:cNvSpPr txBox="1">
            <a:spLocks noChangeArrowheads="1"/>
          </p:cNvSpPr>
          <p:nvPr/>
        </p:nvSpPr>
        <p:spPr bwMode="auto">
          <a:xfrm>
            <a:off x="6443663" y="3948113"/>
            <a:ext cx="2592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digit.lexval=4</a:t>
            </a:r>
          </a:p>
        </p:txBody>
      </p:sp>
      <p:sp>
        <p:nvSpPr>
          <p:cNvPr id="551958" name="Line 22"/>
          <p:cNvSpPr>
            <a:spLocks noChangeShapeType="1"/>
          </p:cNvSpPr>
          <p:nvPr/>
        </p:nvSpPr>
        <p:spPr bwMode="auto">
          <a:xfrm>
            <a:off x="3203575" y="5172075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59" name="Line 23"/>
          <p:cNvSpPr>
            <a:spLocks noChangeShapeType="1"/>
          </p:cNvSpPr>
          <p:nvPr/>
        </p:nvSpPr>
        <p:spPr bwMode="auto">
          <a:xfrm>
            <a:off x="5075238" y="437991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0" name="Line 24"/>
          <p:cNvSpPr>
            <a:spLocks noChangeShapeType="1"/>
          </p:cNvSpPr>
          <p:nvPr/>
        </p:nvSpPr>
        <p:spPr bwMode="auto">
          <a:xfrm flipH="1">
            <a:off x="3922713" y="3371850"/>
            <a:ext cx="1587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1" name="Line 25"/>
          <p:cNvSpPr>
            <a:spLocks noChangeShapeType="1"/>
          </p:cNvSpPr>
          <p:nvPr/>
        </p:nvSpPr>
        <p:spPr bwMode="auto">
          <a:xfrm flipH="1">
            <a:off x="2627313" y="3443288"/>
            <a:ext cx="1081087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2" name="Line 26"/>
          <p:cNvSpPr>
            <a:spLocks noChangeShapeType="1"/>
          </p:cNvSpPr>
          <p:nvPr/>
        </p:nvSpPr>
        <p:spPr bwMode="auto">
          <a:xfrm>
            <a:off x="3203575" y="43068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3" name="Line 27"/>
          <p:cNvSpPr>
            <a:spLocks noChangeShapeType="1"/>
          </p:cNvSpPr>
          <p:nvPr/>
        </p:nvSpPr>
        <p:spPr bwMode="auto">
          <a:xfrm flipH="1">
            <a:off x="8172450" y="2435225"/>
            <a:ext cx="1588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4" name="Line 28"/>
          <p:cNvSpPr>
            <a:spLocks noChangeShapeType="1"/>
          </p:cNvSpPr>
          <p:nvPr/>
        </p:nvSpPr>
        <p:spPr bwMode="auto">
          <a:xfrm>
            <a:off x="3922713" y="2579688"/>
            <a:ext cx="158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5" name="Line 29"/>
          <p:cNvSpPr>
            <a:spLocks noChangeShapeType="1"/>
          </p:cNvSpPr>
          <p:nvPr/>
        </p:nvSpPr>
        <p:spPr bwMode="auto">
          <a:xfrm>
            <a:off x="4140200" y="3443288"/>
            <a:ext cx="935038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6" name="Line 30"/>
          <p:cNvSpPr>
            <a:spLocks noChangeShapeType="1"/>
          </p:cNvSpPr>
          <p:nvPr/>
        </p:nvSpPr>
        <p:spPr bwMode="auto">
          <a:xfrm>
            <a:off x="6372225" y="922338"/>
            <a:ext cx="0" cy="433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7" name="Line 31"/>
          <p:cNvSpPr>
            <a:spLocks noChangeShapeType="1"/>
          </p:cNvSpPr>
          <p:nvPr/>
        </p:nvSpPr>
        <p:spPr bwMode="auto">
          <a:xfrm>
            <a:off x="8172450" y="344328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8" name="Line 32"/>
          <p:cNvSpPr>
            <a:spLocks noChangeShapeType="1"/>
          </p:cNvSpPr>
          <p:nvPr/>
        </p:nvSpPr>
        <p:spPr bwMode="auto">
          <a:xfrm>
            <a:off x="6372225" y="16430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69" name="Line 33"/>
          <p:cNvSpPr>
            <a:spLocks noChangeShapeType="1"/>
          </p:cNvSpPr>
          <p:nvPr/>
        </p:nvSpPr>
        <p:spPr bwMode="auto">
          <a:xfrm flipH="1">
            <a:off x="3852863" y="1643063"/>
            <a:ext cx="2447925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551970" name="Line 34"/>
          <p:cNvSpPr>
            <a:spLocks noChangeShapeType="1"/>
          </p:cNvSpPr>
          <p:nvPr/>
        </p:nvSpPr>
        <p:spPr bwMode="auto">
          <a:xfrm>
            <a:off x="6445250" y="1643063"/>
            <a:ext cx="172720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438150"/>
            <a:ext cx="8642350" cy="649288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real id1,id2,id3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的分析树和属性计算</a:t>
            </a:r>
          </a:p>
        </p:txBody>
      </p:sp>
      <p:sp>
        <p:nvSpPr>
          <p:cNvPr id="188437" name="Text Box 21"/>
          <p:cNvSpPr txBox="1">
            <a:spLocks noChangeArrowheads="1"/>
          </p:cNvSpPr>
          <p:nvPr/>
        </p:nvSpPr>
        <p:spPr bwMode="auto">
          <a:xfrm>
            <a:off x="2843213" y="4843463"/>
            <a:ext cx="29511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addtype </a:t>
            </a:r>
            <a:r>
              <a:rPr lang="en-US" altLang="zh-CN" b="1">
                <a:latin typeface="Times New Roman" pitchFamily="18" charset="0"/>
              </a:rPr>
              <a:t>( id.entry, L.in )}</a:t>
            </a:r>
          </a:p>
        </p:txBody>
      </p:sp>
      <p:sp>
        <p:nvSpPr>
          <p:cNvPr id="188458" name="Text Box 42"/>
          <p:cNvSpPr txBox="1">
            <a:spLocks noChangeArrowheads="1"/>
          </p:cNvSpPr>
          <p:nvPr/>
        </p:nvSpPr>
        <p:spPr bwMode="auto">
          <a:xfrm>
            <a:off x="3995738" y="3692525"/>
            <a:ext cx="29511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addtype </a:t>
            </a:r>
            <a:r>
              <a:rPr lang="en-US" altLang="zh-CN" b="1">
                <a:latin typeface="Times New Roman" pitchFamily="18" charset="0"/>
              </a:rPr>
              <a:t>( id.entry, L.in )}</a:t>
            </a:r>
          </a:p>
        </p:txBody>
      </p:sp>
      <p:sp>
        <p:nvSpPr>
          <p:cNvPr id="33797" name="Rectangle 43"/>
          <p:cNvSpPr>
            <a:spLocks noChangeArrowheads="1"/>
          </p:cNvSpPr>
          <p:nvPr/>
        </p:nvSpPr>
        <p:spPr bwMode="auto">
          <a:xfrm>
            <a:off x="4829175" y="1304925"/>
            <a:ext cx="3846513" cy="11874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D → T { L.in := T.type } L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T → int { T.type := integer }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T → real { T.type := real }</a:t>
            </a:r>
          </a:p>
        </p:txBody>
      </p:sp>
      <p:sp>
        <p:nvSpPr>
          <p:cNvPr id="188463" name="Text Box 47"/>
          <p:cNvSpPr txBox="1">
            <a:spLocks noChangeArrowheads="1"/>
          </p:cNvSpPr>
          <p:nvPr/>
        </p:nvSpPr>
        <p:spPr bwMode="auto">
          <a:xfrm>
            <a:off x="754063" y="5780088"/>
            <a:ext cx="29511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addtype </a:t>
            </a:r>
            <a:r>
              <a:rPr lang="en-US" altLang="zh-CN" b="1">
                <a:latin typeface="Times New Roman" pitchFamily="18" charset="0"/>
              </a:rPr>
              <a:t>( id.entry, L.in )}</a:t>
            </a:r>
          </a:p>
        </p:txBody>
      </p:sp>
      <p:sp>
        <p:nvSpPr>
          <p:cNvPr id="188464" name="Text Box 48"/>
          <p:cNvSpPr txBox="1">
            <a:spLocks noChangeArrowheads="1"/>
          </p:cNvSpPr>
          <p:nvPr/>
        </p:nvSpPr>
        <p:spPr bwMode="auto">
          <a:xfrm>
            <a:off x="1619250" y="1100138"/>
            <a:ext cx="404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65" name="Text Box 49"/>
          <p:cNvSpPr txBox="1">
            <a:spLocks noChangeArrowheads="1"/>
          </p:cNvSpPr>
          <p:nvPr/>
        </p:nvSpPr>
        <p:spPr bwMode="auto">
          <a:xfrm>
            <a:off x="395288" y="2179638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66" name="Text Box 50"/>
          <p:cNvSpPr txBox="1">
            <a:spLocks noChangeArrowheads="1"/>
          </p:cNvSpPr>
          <p:nvPr/>
        </p:nvSpPr>
        <p:spPr bwMode="auto">
          <a:xfrm>
            <a:off x="2986088" y="2179638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67" name="Text Box 51"/>
          <p:cNvSpPr txBox="1">
            <a:spLocks noChangeArrowheads="1"/>
          </p:cNvSpPr>
          <p:nvPr/>
        </p:nvSpPr>
        <p:spPr bwMode="auto">
          <a:xfrm>
            <a:off x="250825" y="3476625"/>
            <a:ext cx="863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real</a:t>
            </a:r>
          </a:p>
        </p:txBody>
      </p:sp>
      <p:sp>
        <p:nvSpPr>
          <p:cNvPr id="188468" name="Rectangle 52"/>
          <p:cNvSpPr>
            <a:spLocks noChangeArrowheads="1"/>
          </p:cNvSpPr>
          <p:nvPr/>
        </p:nvSpPr>
        <p:spPr bwMode="auto">
          <a:xfrm>
            <a:off x="682625" y="2179638"/>
            <a:ext cx="1495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.type=real</a:t>
            </a:r>
          </a:p>
        </p:txBody>
      </p:sp>
      <p:sp>
        <p:nvSpPr>
          <p:cNvPr id="188469" name="Rectangle 53"/>
          <p:cNvSpPr>
            <a:spLocks noChangeArrowheads="1"/>
          </p:cNvSpPr>
          <p:nvPr/>
        </p:nvSpPr>
        <p:spPr bwMode="auto">
          <a:xfrm>
            <a:off x="3203575" y="2181225"/>
            <a:ext cx="119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.in=real</a:t>
            </a:r>
          </a:p>
        </p:txBody>
      </p:sp>
      <p:sp>
        <p:nvSpPr>
          <p:cNvPr id="188470" name="Text Box 54"/>
          <p:cNvSpPr txBox="1">
            <a:spLocks noChangeArrowheads="1"/>
          </p:cNvSpPr>
          <p:nvPr/>
        </p:nvSpPr>
        <p:spPr bwMode="auto">
          <a:xfrm>
            <a:off x="2338388" y="3476625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71" name="Text Box 55"/>
          <p:cNvSpPr txBox="1">
            <a:spLocks noChangeArrowheads="1"/>
          </p:cNvSpPr>
          <p:nvPr/>
        </p:nvSpPr>
        <p:spPr bwMode="auto">
          <a:xfrm>
            <a:off x="5003800" y="3403600"/>
            <a:ext cx="5905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id3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72" name="Rectangle 56"/>
          <p:cNvSpPr>
            <a:spLocks noChangeArrowheads="1"/>
          </p:cNvSpPr>
          <p:nvPr/>
        </p:nvSpPr>
        <p:spPr bwMode="auto">
          <a:xfrm>
            <a:off x="2554288" y="3478213"/>
            <a:ext cx="119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.in=real</a:t>
            </a:r>
          </a:p>
        </p:txBody>
      </p:sp>
      <p:sp>
        <p:nvSpPr>
          <p:cNvPr id="188476" name="Rectangle 60"/>
          <p:cNvSpPr>
            <a:spLocks noChangeArrowheads="1"/>
          </p:cNvSpPr>
          <p:nvPr/>
        </p:nvSpPr>
        <p:spPr bwMode="auto">
          <a:xfrm>
            <a:off x="1546225" y="4387850"/>
            <a:ext cx="119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.in=real</a:t>
            </a:r>
          </a:p>
        </p:txBody>
      </p:sp>
      <p:sp>
        <p:nvSpPr>
          <p:cNvPr id="188477" name="Text Box 61"/>
          <p:cNvSpPr txBox="1">
            <a:spLocks noChangeArrowheads="1"/>
          </p:cNvSpPr>
          <p:nvPr/>
        </p:nvSpPr>
        <p:spPr bwMode="auto">
          <a:xfrm>
            <a:off x="3706813" y="4340225"/>
            <a:ext cx="5905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id2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78" name="Text Box 62"/>
          <p:cNvSpPr txBox="1">
            <a:spLocks noChangeArrowheads="1"/>
          </p:cNvSpPr>
          <p:nvPr/>
        </p:nvSpPr>
        <p:spPr bwMode="auto">
          <a:xfrm>
            <a:off x="1330325" y="4411663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79" name="Text Box 63"/>
          <p:cNvSpPr txBox="1">
            <a:spLocks noChangeArrowheads="1"/>
          </p:cNvSpPr>
          <p:nvPr/>
        </p:nvSpPr>
        <p:spPr bwMode="auto">
          <a:xfrm>
            <a:off x="1185863" y="5276850"/>
            <a:ext cx="5905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id1</a:t>
            </a:r>
            <a:endParaRPr kumimoji="1" lang="en-US" altLang="zh-CN" sz="2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88480" name="Line 64"/>
          <p:cNvSpPr>
            <a:spLocks noChangeShapeType="1"/>
          </p:cNvSpPr>
          <p:nvPr/>
        </p:nvSpPr>
        <p:spPr bwMode="auto">
          <a:xfrm flipH="1">
            <a:off x="611188" y="1460500"/>
            <a:ext cx="1079500" cy="7905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1" name="Line 65"/>
          <p:cNvSpPr>
            <a:spLocks noChangeShapeType="1"/>
          </p:cNvSpPr>
          <p:nvPr/>
        </p:nvSpPr>
        <p:spPr bwMode="auto">
          <a:xfrm>
            <a:off x="1835150" y="1460500"/>
            <a:ext cx="1295400" cy="7905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3" name="Line 67"/>
          <p:cNvSpPr>
            <a:spLocks noChangeShapeType="1"/>
          </p:cNvSpPr>
          <p:nvPr/>
        </p:nvSpPr>
        <p:spPr bwMode="auto">
          <a:xfrm flipH="1">
            <a:off x="538163" y="2611438"/>
            <a:ext cx="0" cy="10080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4" name="Line 68"/>
          <p:cNvSpPr>
            <a:spLocks noChangeShapeType="1"/>
          </p:cNvSpPr>
          <p:nvPr/>
        </p:nvSpPr>
        <p:spPr bwMode="auto">
          <a:xfrm flipH="1">
            <a:off x="1474788" y="3835400"/>
            <a:ext cx="1008062" cy="7921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5" name="Line 69"/>
          <p:cNvSpPr>
            <a:spLocks noChangeShapeType="1"/>
          </p:cNvSpPr>
          <p:nvPr/>
        </p:nvSpPr>
        <p:spPr bwMode="auto">
          <a:xfrm flipH="1">
            <a:off x="1474788" y="4772025"/>
            <a:ext cx="0" cy="647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6" name="Line 70"/>
          <p:cNvSpPr>
            <a:spLocks noChangeShapeType="1"/>
          </p:cNvSpPr>
          <p:nvPr/>
        </p:nvSpPr>
        <p:spPr bwMode="auto">
          <a:xfrm>
            <a:off x="2627313" y="3835400"/>
            <a:ext cx="1150937" cy="64928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7" name="Line 71"/>
          <p:cNvSpPr>
            <a:spLocks noChangeShapeType="1"/>
          </p:cNvSpPr>
          <p:nvPr/>
        </p:nvSpPr>
        <p:spPr bwMode="auto">
          <a:xfrm>
            <a:off x="3562350" y="2540000"/>
            <a:ext cx="1441450" cy="9366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8" name="Line 72"/>
          <p:cNvSpPr>
            <a:spLocks noChangeShapeType="1"/>
          </p:cNvSpPr>
          <p:nvPr/>
        </p:nvSpPr>
        <p:spPr bwMode="auto">
          <a:xfrm flipH="1">
            <a:off x="2411413" y="2540000"/>
            <a:ext cx="647700" cy="10795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89" name="Freeform 73"/>
          <p:cNvSpPr>
            <a:spLocks/>
          </p:cNvSpPr>
          <p:nvPr/>
        </p:nvSpPr>
        <p:spPr bwMode="auto">
          <a:xfrm>
            <a:off x="827088" y="2540000"/>
            <a:ext cx="647700" cy="1189038"/>
          </a:xfrm>
          <a:custGeom>
            <a:avLst/>
            <a:gdLst>
              <a:gd name="T0" fmla="*/ 0 w 408"/>
              <a:gd name="T1" fmla="*/ 726 h 749"/>
              <a:gd name="T2" fmla="*/ 181 w 408"/>
              <a:gd name="T3" fmla="*/ 726 h 749"/>
              <a:gd name="T4" fmla="*/ 272 w 408"/>
              <a:gd name="T5" fmla="*/ 590 h 749"/>
              <a:gd name="T6" fmla="*/ 363 w 408"/>
              <a:gd name="T7" fmla="*/ 272 h 749"/>
              <a:gd name="T8" fmla="*/ 408 w 408"/>
              <a:gd name="T9" fmla="*/ 0 h 7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8"/>
              <a:gd name="T16" fmla="*/ 0 h 749"/>
              <a:gd name="T17" fmla="*/ 408 w 408"/>
              <a:gd name="T18" fmla="*/ 749 h 7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8" h="749">
                <a:moveTo>
                  <a:pt x="0" y="726"/>
                </a:moveTo>
                <a:cubicBezTo>
                  <a:pt x="68" y="737"/>
                  <a:pt x="136" y="749"/>
                  <a:pt x="181" y="726"/>
                </a:cubicBezTo>
                <a:cubicBezTo>
                  <a:pt x="226" y="703"/>
                  <a:pt x="242" y="666"/>
                  <a:pt x="272" y="590"/>
                </a:cubicBezTo>
                <a:cubicBezTo>
                  <a:pt x="302" y="514"/>
                  <a:pt x="340" y="370"/>
                  <a:pt x="363" y="272"/>
                </a:cubicBezTo>
                <a:cubicBezTo>
                  <a:pt x="386" y="174"/>
                  <a:pt x="397" y="87"/>
                  <a:pt x="408" y="0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92" name="Freeform 76"/>
          <p:cNvSpPr>
            <a:spLocks/>
          </p:cNvSpPr>
          <p:nvPr/>
        </p:nvSpPr>
        <p:spPr bwMode="auto">
          <a:xfrm>
            <a:off x="1476375" y="1819275"/>
            <a:ext cx="2303463" cy="492125"/>
          </a:xfrm>
          <a:custGeom>
            <a:avLst/>
            <a:gdLst>
              <a:gd name="T0" fmla="*/ 0 w 1451"/>
              <a:gd name="T1" fmla="*/ 310 h 310"/>
              <a:gd name="T2" fmla="*/ 363 w 1451"/>
              <a:gd name="T3" fmla="*/ 83 h 310"/>
              <a:gd name="T4" fmla="*/ 907 w 1451"/>
              <a:gd name="T5" fmla="*/ 38 h 310"/>
              <a:gd name="T6" fmla="*/ 1451 w 1451"/>
              <a:gd name="T7" fmla="*/ 310 h 310"/>
              <a:gd name="T8" fmla="*/ 0 60000 65536"/>
              <a:gd name="T9" fmla="*/ 0 60000 65536"/>
              <a:gd name="T10" fmla="*/ 0 60000 65536"/>
              <a:gd name="T11" fmla="*/ 0 60000 65536"/>
              <a:gd name="T12" fmla="*/ 0 w 1451"/>
              <a:gd name="T13" fmla="*/ 0 h 310"/>
              <a:gd name="T14" fmla="*/ 1451 w 1451"/>
              <a:gd name="T15" fmla="*/ 310 h 3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1" h="310">
                <a:moveTo>
                  <a:pt x="0" y="310"/>
                </a:moveTo>
                <a:cubicBezTo>
                  <a:pt x="106" y="219"/>
                  <a:pt x="212" y="128"/>
                  <a:pt x="363" y="83"/>
                </a:cubicBezTo>
                <a:cubicBezTo>
                  <a:pt x="514" y="38"/>
                  <a:pt x="726" y="0"/>
                  <a:pt x="907" y="38"/>
                </a:cubicBezTo>
                <a:cubicBezTo>
                  <a:pt x="1088" y="76"/>
                  <a:pt x="1269" y="193"/>
                  <a:pt x="1451" y="310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93" name="Freeform 77"/>
          <p:cNvSpPr>
            <a:spLocks/>
          </p:cNvSpPr>
          <p:nvPr/>
        </p:nvSpPr>
        <p:spPr bwMode="auto">
          <a:xfrm>
            <a:off x="2782888" y="2468563"/>
            <a:ext cx="984250" cy="1163637"/>
          </a:xfrm>
          <a:custGeom>
            <a:avLst/>
            <a:gdLst>
              <a:gd name="T0" fmla="*/ 582 w 620"/>
              <a:gd name="T1" fmla="*/ 0 h 733"/>
              <a:gd name="T2" fmla="*/ 537 w 620"/>
              <a:gd name="T3" fmla="*/ 136 h 733"/>
              <a:gd name="T4" fmla="*/ 83 w 620"/>
              <a:gd name="T5" fmla="*/ 635 h 733"/>
              <a:gd name="T6" fmla="*/ 38 w 620"/>
              <a:gd name="T7" fmla="*/ 725 h 733"/>
              <a:gd name="T8" fmla="*/ 0 60000 65536"/>
              <a:gd name="T9" fmla="*/ 0 60000 65536"/>
              <a:gd name="T10" fmla="*/ 0 60000 65536"/>
              <a:gd name="T11" fmla="*/ 0 60000 65536"/>
              <a:gd name="T12" fmla="*/ 0 w 620"/>
              <a:gd name="T13" fmla="*/ 0 h 733"/>
              <a:gd name="T14" fmla="*/ 620 w 620"/>
              <a:gd name="T15" fmla="*/ 733 h 7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0" h="733">
                <a:moveTo>
                  <a:pt x="582" y="0"/>
                </a:moveTo>
                <a:cubicBezTo>
                  <a:pt x="601" y="15"/>
                  <a:pt x="620" y="30"/>
                  <a:pt x="537" y="136"/>
                </a:cubicBezTo>
                <a:cubicBezTo>
                  <a:pt x="454" y="242"/>
                  <a:pt x="166" y="537"/>
                  <a:pt x="83" y="635"/>
                </a:cubicBezTo>
                <a:cubicBezTo>
                  <a:pt x="0" y="733"/>
                  <a:pt x="19" y="729"/>
                  <a:pt x="38" y="725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94" name="Freeform 78"/>
          <p:cNvSpPr>
            <a:spLocks/>
          </p:cNvSpPr>
          <p:nvPr/>
        </p:nvSpPr>
        <p:spPr bwMode="auto">
          <a:xfrm>
            <a:off x="1978025" y="3835400"/>
            <a:ext cx="1081088" cy="720725"/>
          </a:xfrm>
          <a:custGeom>
            <a:avLst/>
            <a:gdLst>
              <a:gd name="T0" fmla="*/ 681 w 681"/>
              <a:gd name="T1" fmla="*/ 0 h 454"/>
              <a:gd name="T2" fmla="*/ 545 w 681"/>
              <a:gd name="T3" fmla="*/ 91 h 454"/>
              <a:gd name="T4" fmla="*/ 91 w 681"/>
              <a:gd name="T5" fmla="*/ 318 h 454"/>
              <a:gd name="T6" fmla="*/ 0 w 681"/>
              <a:gd name="T7" fmla="*/ 454 h 454"/>
              <a:gd name="T8" fmla="*/ 0 60000 65536"/>
              <a:gd name="T9" fmla="*/ 0 60000 65536"/>
              <a:gd name="T10" fmla="*/ 0 60000 65536"/>
              <a:gd name="T11" fmla="*/ 0 60000 65536"/>
              <a:gd name="T12" fmla="*/ 0 w 681"/>
              <a:gd name="T13" fmla="*/ 0 h 454"/>
              <a:gd name="T14" fmla="*/ 681 w 681"/>
              <a:gd name="T15" fmla="*/ 454 h 4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1" h="454">
                <a:moveTo>
                  <a:pt x="681" y="0"/>
                </a:moveTo>
                <a:cubicBezTo>
                  <a:pt x="662" y="19"/>
                  <a:pt x="643" y="38"/>
                  <a:pt x="545" y="91"/>
                </a:cubicBezTo>
                <a:cubicBezTo>
                  <a:pt x="447" y="144"/>
                  <a:pt x="182" y="258"/>
                  <a:pt x="91" y="318"/>
                </a:cubicBezTo>
                <a:cubicBezTo>
                  <a:pt x="0" y="378"/>
                  <a:pt x="0" y="416"/>
                  <a:pt x="0" y="454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95" name="Freeform 79"/>
          <p:cNvSpPr>
            <a:spLocks/>
          </p:cNvSpPr>
          <p:nvPr/>
        </p:nvSpPr>
        <p:spPr bwMode="auto">
          <a:xfrm>
            <a:off x="1893888" y="4772025"/>
            <a:ext cx="157162" cy="1152525"/>
          </a:xfrm>
          <a:custGeom>
            <a:avLst/>
            <a:gdLst>
              <a:gd name="T0" fmla="*/ 53 w 99"/>
              <a:gd name="T1" fmla="*/ 0 h 726"/>
              <a:gd name="T2" fmla="*/ 8 w 99"/>
              <a:gd name="T3" fmla="*/ 318 h 726"/>
              <a:gd name="T4" fmla="*/ 99 w 99"/>
              <a:gd name="T5" fmla="*/ 726 h 726"/>
              <a:gd name="T6" fmla="*/ 0 60000 65536"/>
              <a:gd name="T7" fmla="*/ 0 60000 65536"/>
              <a:gd name="T8" fmla="*/ 0 60000 65536"/>
              <a:gd name="T9" fmla="*/ 0 w 99"/>
              <a:gd name="T10" fmla="*/ 0 h 726"/>
              <a:gd name="T11" fmla="*/ 99 w 99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" h="726">
                <a:moveTo>
                  <a:pt x="53" y="0"/>
                </a:moveTo>
                <a:cubicBezTo>
                  <a:pt x="26" y="98"/>
                  <a:pt x="0" y="197"/>
                  <a:pt x="8" y="318"/>
                </a:cubicBezTo>
                <a:cubicBezTo>
                  <a:pt x="16" y="439"/>
                  <a:pt x="57" y="582"/>
                  <a:pt x="99" y="726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96" name="Freeform 80"/>
          <p:cNvSpPr>
            <a:spLocks/>
          </p:cNvSpPr>
          <p:nvPr/>
        </p:nvSpPr>
        <p:spPr bwMode="auto">
          <a:xfrm>
            <a:off x="3346450" y="3835400"/>
            <a:ext cx="1512888" cy="1152525"/>
          </a:xfrm>
          <a:custGeom>
            <a:avLst/>
            <a:gdLst>
              <a:gd name="T0" fmla="*/ 0 w 953"/>
              <a:gd name="T1" fmla="*/ 0 h 726"/>
              <a:gd name="T2" fmla="*/ 726 w 953"/>
              <a:gd name="T3" fmla="*/ 363 h 726"/>
              <a:gd name="T4" fmla="*/ 953 w 953"/>
              <a:gd name="T5" fmla="*/ 726 h 726"/>
              <a:gd name="T6" fmla="*/ 0 60000 65536"/>
              <a:gd name="T7" fmla="*/ 0 60000 65536"/>
              <a:gd name="T8" fmla="*/ 0 60000 65536"/>
              <a:gd name="T9" fmla="*/ 0 w 953"/>
              <a:gd name="T10" fmla="*/ 0 h 726"/>
              <a:gd name="T11" fmla="*/ 953 w 953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53" h="726">
                <a:moveTo>
                  <a:pt x="0" y="0"/>
                </a:moveTo>
                <a:cubicBezTo>
                  <a:pt x="283" y="121"/>
                  <a:pt x="567" y="242"/>
                  <a:pt x="726" y="363"/>
                </a:cubicBezTo>
                <a:cubicBezTo>
                  <a:pt x="885" y="484"/>
                  <a:pt x="915" y="666"/>
                  <a:pt x="953" y="726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188497" name="Freeform 81"/>
          <p:cNvSpPr>
            <a:spLocks/>
          </p:cNvSpPr>
          <p:nvPr/>
        </p:nvSpPr>
        <p:spPr bwMode="auto">
          <a:xfrm>
            <a:off x="4067175" y="2540000"/>
            <a:ext cx="1728788" cy="1295400"/>
          </a:xfrm>
          <a:custGeom>
            <a:avLst/>
            <a:gdLst>
              <a:gd name="T0" fmla="*/ 0 w 1315"/>
              <a:gd name="T1" fmla="*/ 0 h 998"/>
              <a:gd name="T2" fmla="*/ 499 w 1315"/>
              <a:gd name="T3" fmla="*/ 181 h 998"/>
              <a:gd name="T4" fmla="*/ 1134 w 1315"/>
              <a:gd name="T5" fmla="*/ 590 h 998"/>
              <a:gd name="T6" fmla="*/ 1315 w 1315"/>
              <a:gd name="T7" fmla="*/ 998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1315"/>
              <a:gd name="T13" fmla="*/ 0 h 998"/>
              <a:gd name="T14" fmla="*/ 1315 w 1315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15" h="998">
                <a:moveTo>
                  <a:pt x="0" y="0"/>
                </a:moveTo>
                <a:cubicBezTo>
                  <a:pt x="155" y="41"/>
                  <a:pt x="310" y="83"/>
                  <a:pt x="499" y="181"/>
                </a:cubicBezTo>
                <a:cubicBezTo>
                  <a:pt x="688" y="279"/>
                  <a:pt x="998" y="454"/>
                  <a:pt x="1134" y="590"/>
                </a:cubicBezTo>
                <a:cubicBezTo>
                  <a:pt x="1270" y="726"/>
                  <a:pt x="1292" y="862"/>
                  <a:pt x="1315" y="998"/>
                </a:cubicBezTo>
              </a:path>
            </a:pathLst>
          </a:custGeom>
          <a:noFill/>
          <a:ln w="38100">
            <a:solidFill>
              <a:srgbClr val="0033CC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zh-CN" altLang="en-US"/>
          </a:p>
        </p:txBody>
      </p:sp>
      <p:sp>
        <p:nvSpPr>
          <p:cNvPr id="33827" name="Rectangle 82"/>
          <p:cNvSpPr>
            <a:spLocks noChangeArrowheads="1"/>
          </p:cNvSpPr>
          <p:nvPr/>
        </p:nvSpPr>
        <p:spPr bwMode="auto">
          <a:xfrm>
            <a:off x="4643438" y="5230813"/>
            <a:ext cx="4014787" cy="11874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L → { L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.in := L.in }L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,id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        {addtype 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( id.entry, L.in )}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}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L → id{addtype 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( id.entry, L.in )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6629400" cy="1216025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5. S-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属性定义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(S-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属性文法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 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idx="1"/>
          </p:nvPr>
        </p:nvSpPr>
        <p:spPr>
          <a:xfrm>
            <a:off x="611188" y="1700213"/>
            <a:ext cx="8062912" cy="4465637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S-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属性定义：仅包含综合属性的属性文法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语法制导定义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S-attributed Definition</a:t>
            </a:r>
          </a:p>
          <a:p>
            <a:pPr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S-attributed Grammar</a:t>
            </a:r>
          </a:p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如：算术表达式求值的属性文法</a:t>
            </a:r>
          </a:p>
        </p:txBody>
      </p:sp>
      <p:sp>
        <p:nvSpPr>
          <p:cNvPr id="3482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0C515C7-FC39-4CE2-8FFE-BE7AB43771C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48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6079DA3C-BED6-4222-8D76-F403B4C396B4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7772400" cy="12192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非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属性定义</a:t>
            </a:r>
          </a:p>
        </p:txBody>
      </p:sp>
      <p:sp>
        <p:nvSpPr>
          <p:cNvPr id="85299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772400" cy="42672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D→T L	L.in := T.type		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继承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T→int	T.type := ‘integer’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固有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T→real	T.type := ‘real’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固有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L→L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,id	L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.in := L.in		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继承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         	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addtype(id.entry, L.in)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 → id   	addtype(id.entry, L.in)</a:t>
            </a:r>
          </a:p>
        </p:txBody>
      </p:sp>
      <p:sp>
        <p:nvSpPr>
          <p:cNvPr id="358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7E27152F-C56F-49FB-ACF6-F2CAEE56E42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58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EE059283-AB15-48F8-A5F0-BF4519F55864}" type="slidenum">
              <a:rPr lang="en-US" altLang="zh-CN"/>
              <a:pPr eaLnBrk="1" hangingPunct="1"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207250" cy="1143000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6.L-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属性定义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(L-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属性文法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7993062" cy="43926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包含综合属性和继承属性的属性文法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语法制导定义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L-attributed Definition</a:t>
            </a:r>
          </a:p>
          <a:p>
            <a:pPr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L-attributed Grammar</a:t>
            </a:r>
          </a:p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如：算术表达式求值的属性文法、说明语句的属性文法</a:t>
            </a:r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68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E8CBB770-ED29-4C75-80A5-0A4B8BE414A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68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4EF6C8A-DD90-483A-A948-B84225C1C33B}" type="slidenum">
              <a:rPr lang="en-US" altLang="zh-CN"/>
              <a:pPr eaLnBrk="1" hangingPunct="1"/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620713"/>
            <a:ext cx="7216775" cy="892175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6.L-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属性定义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(L-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属性文法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61542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050213" cy="43195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其属性可用深度优先的顺序从左至右计算</a:t>
            </a:r>
          </a:p>
          <a:p>
            <a:pPr lvl="1">
              <a:lnSpc>
                <a:spcPct val="120000"/>
              </a:lnSpc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对于所有 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 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 … 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endParaRPr lang="en-US" altLang="zh-CN" sz="3000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属性计算仅使用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…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的属性和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的继承属性</a:t>
            </a:r>
          </a:p>
          <a:p>
            <a:pPr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S-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属性文法为特殊的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L-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属性文法</a:t>
            </a:r>
          </a:p>
        </p:txBody>
      </p:sp>
      <p:sp>
        <p:nvSpPr>
          <p:cNvPr id="378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2DBD476B-1777-482E-A9E5-1C911A2EBB0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78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2C70BB82-F973-4D21-B7F2-1E3F68193754}" type="slidenum">
              <a:rPr lang="en-US" altLang="zh-CN"/>
              <a:pPr eaLnBrk="1" hangingPunct="1"/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7280275" cy="730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zh-CN" altLang="en-US" sz="3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建立说明语句的翻译方案</a:t>
            </a:r>
            <a:endParaRPr lang="zh-CN" altLang="en-US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1645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00213"/>
            <a:ext cx="8280400" cy="446563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语法制导定义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(L-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属性文法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：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D → T L		L.in := T.type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T → int		T.type := integer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T → real		T.type := real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L → L</a:t>
            </a:r>
            <a:r>
              <a:rPr lang="en-US" altLang="zh-CN" sz="2600" b="1" baseline="-2500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,id		L</a:t>
            </a:r>
            <a:r>
              <a:rPr lang="en-US" altLang="zh-CN" sz="26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.in := L.in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				addtype(id.entry, L.in)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L → id		addtype(id.entry, L.in)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上述动作的执行时机分析</a:t>
            </a: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600" b="1">
                <a:latin typeface="Times New Roman" pitchFamily="18" charset="0"/>
                <a:ea typeface="华文新魏" pitchFamily="2" charset="-122"/>
              </a:rPr>
              <a:t>依照自顶向下分析</a:t>
            </a:r>
            <a:r>
              <a:rPr lang="en-US" altLang="zh-CN" sz="2600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891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0D60D99-C2EA-4831-BD9E-0A022B6B46BC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89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1749A6F-AF2C-44F4-99BB-D24F1EFA7563}" type="slidenum">
              <a:rPr lang="en-US" altLang="zh-CN"/>
              <a:pPr eaLnBrk="1" hangingPunct="1"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300912" cy="93345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zh-CN" altLang="en-US" sz="3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建立说明语句的翻译方案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7704137" cy="4572000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将语义动作中</a:t>
            </a: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继承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属性的计算前移，使它出现在其相应文法符号</a:t>
            </a:r>
            <a:r>
              <a:rPr lang="zh-CN" altLang="en-US" b="1" smtClean="0">
                <a:solidFill>
                  <a:srgbClr val="0033CC"/>
                </a:solidFill>
                <a:latin typeface="Times New Roman" pitchFamily="18" charset="0"/>
                <a:ea typeface="华文新魏" pitchFamily="2" charset="-122"/>
              </a:rPr>
              <a:t>之前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D → T 			 L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int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T → real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L →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        L</a:t>
            </a:r>
            <a:r>
              <a:rPr lang="en-US" altLang="zh-CN" sz="2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 , id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L → id</a:t>
            </a:r>
          </a:p>
        </p:txBody>
      </p:sp>
      <p:sp>
        <p:nvSpPr>
          <p:cNvPr id="399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4394772-969F-437C-8C24-DE57D10D807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99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42FC651D-266F-42E0-9AB4-F31EE8CFD133}" type="slidenum">
              <a:rPr lang="en-US" altLang="zh-CN"/>
              <a:pPr eaLnBrk="1" hangingPunct="1"/>
              <a:t>34</a:t>
            </a:fld>
            <a:endParaRPr lang="en-US" altLang="zh-CN"/>
          </a:p>
        </p:txBody>
      </p:sp>
      <p:sp>
        <p:nvSpPr>
          <p:cNvPr id="867332" name="Rectangle 4"/>
          <p:cNvSpPr>
            <a:spLocks noChangeArrowheads="1"/>
          </p:cNvSpPr>
          <p:nvPr/>
        </p:nvSpPr>
        <p:spPr bwMode="auto">
          <a:xfrm>
            <a:off x="1908175" y="3044825"/>
            <a:ext cx="2224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{L.in := T.type}</a:t>
            </a:r>
          </a:p>
        </p:txBody>
      </p:sp>
      <p:sp>
        <p:nvSpPr>
          <p:cNvPr id="867333" name="Rectangle 5"/>
          <p:cNvSpPr>
            <a:spLocks noChangeArrowheads="1"/>
          </p:cNvSpPr>
          <p:nvPr/>
        </p:nvSpPr>
        <p:spPr bwMode="auto">
          <a:xfrm>
            <a:off x="2052638" y="3573463"/>
            <a:ext cx="260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{T.type := integer}</a:t>
            </a:r>
          </a:p>
        </p:txBody>
      </p:sp>
      <p:sp>
        <p:nvSpPr>
          <p:cNvPr id="867334" name="Rectangle 6"/>
          <p:cNvSpPr>
            <a:spLocks noChangeArrowheads="1"/>
          </p:cNvSpPr>
          <p:nvPr/>
        </p:nvSpPr>
        <p:spPr bwMode="auto">
          <a:xfrm>
            <a:off x="2197100" y="4125913"/>
            <a:ext cx="2197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{T.type := real}</a:t>
            </a:r>
          </a:p>
        </p:txBody>
      </p:sp>
      <p:sp>
        <p:nvSpPr>
          <p:cNvPr id="867335" name="Rectangle 7"/>
          <p:cNvSpPr>
            <a:spLocks noChangeArrowheads="1"/>
          </p:cNvSpPr>
          <p:nvPr/>
        </p:nvSpPr>
        <p:spPr bwMode="auto">
          <a:xfrm>
            <a:off x="1547813" y="4567238"/>
            <a:ext cx="202088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{L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.in := L.in}</a:t>
            </a:r>
          </a:p>
        </p:txBody>
      </p:sp>
      <p:sp>
        <p:nvSpPr>
          <p:cNvPr id="867336" name="Rectangle 8"/>
          <p:cNvSpPr>
            <a:spLocks noChangeArrowheads="1"/>
          </p:cNvSpPr>
          <p:nvPr/>
        </p:nvSpPr>
        <p:spPr bwMode="auto">
          <a:xfrm>
            <a:off x="2484438" y="5059363"/>
            <a:ext cx="3389312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{addtype(id.entry, L.in)}</a:t>
            </a:r>
          </a:p>
        </p:txBody>
      </p:sp>
      <p:sp>
        <p:nvSpPr>
          <p:cNvPr id="867337" name="Rectangle 9"/>
          <p:cNvSpPr>
            <a:spLocks noChangeArrowheads="1"/>
          </p:cNvSpPr>
          <p:nvPr/>
        </p:nvSpPr>
        <p:spPr bwMode="auto">
          <a:xfrm>
            <a:off x="1836738" y="5637213"/>
            <a:ext cx="33893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{addtype(id.entry, L.in)}</a:t>
            </a:r>
          </a:p>
        </p:txBody>
      </p:sp>
      <p:sp>
        <p:nvSpPr>
          <p:cNvPr id="867338" name="Rectangle 10"/>
          <p:cNvSpPr>
            <a:spLocks noChangeArrowheads="1"/>
          </p:cNvSpPr>
          <p:nvPr/>
        </p:nvSpPr>
        <p:spPr bwMode="auto">
          <a:xfrm>
            <a:off x="7380288" y="2852738"/>
            <a:ext cx="792162" cy="3019425"/>
          </a:xfrm>
          <a:prstGeom prst="rect">
            <a:avLst/>
          </a:prstGeom>
          <a:solidFill>
            <a:srgbClr val="006666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zh-CN" altLang="en-US"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翻译模式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7993062" cy="762000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7.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翻译模式</a:t>
            </a:r>
            <a:r>
              <a:rPr lang="en-US" altLang="zh-CN" sz="3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(Translation Scheme)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8015287" cy="4251325"/>
          </a:xfrm>
        </p:spPr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将语义动作插入到产生式的某个位置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特征</a:t>
            </a:r>
          </a:p>
          <a:p>
            <a:pPr lvl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规定在语法分析中使用语义规则进行计算的次序</a:t>
            </a:r>
          </a:p>
          <a:p>
            <a:pPr lvl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保证当动作使用某属性时，该属性是有效的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最左派生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表示形式：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{……}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相当于在推导过程中完成语义处理</a:t>
            </a:r>
          </a:p>
        </p:txBody>
      </p:sp>
      <p:sp>
        <p:nvSpPr>
          <p:cNvPr id="409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63C4772-CC38-4FFC-96CF-64E3913A531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409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2ADC3FD5-50B1-4272-B9C6-232BB3C51477}" type="slidenum">
              <a:rPr lang="en-US" altLang="zh-CN"/>
              <a:pPr eaLnBrk="1" hangingPunct="1"/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28775"/>
            <a:ext cx="8534400" cy="4648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real  id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,id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的处理过程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T{L.in:=T.type}L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real{T.type:=real}{L.in:=T.type}L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real{L.in=real}L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 real{L.in=real}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{L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.in:=L.in}L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{addtype(id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.entry,L.in)}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 real{L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.in=real}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{addtype(id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.entry,L.in)}</a:t>
            </a:r>
            <a:endParaRPr lang="en-US" altLang="zh-CN" sz="2400" b="1" smtClean="0"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 real{L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.in=real}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{addtype(id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.entry,L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.in)},id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{addtype(id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.entry,L.in)}</a:t>
            </a:r>
            <a:endParaRPr lang="en-US" altLang="zh-CN" sz="2400" b="1" smtClean="0"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 real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{(id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.entry,real)},id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{(id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.entry,real)}</a:t>
            </a:r>
          </a:p>
        </p:txBody>
      </p:sp>
      <p:sp>
        <p:nvSpPr>
          <p:cNvPr id="4198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CE40572B-A6A5-4E52-A4B5-2B9E6D6BC70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D3DC01E-1800-4F3B-8C42-2914FE7DCA8B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  <p:sp>
        <p:nvSpPr>
          <p:cNvPr id="829445" name="Rectangle 5"/>
          <p:cNvSpPr>
            <a:spLocks noChangeArrowheads="1"/>
          </p:cNvSpPr>
          <p:nvPr/>
        </p:nvSpPr>
        <p:spPr bwMode="auto">
          <a:xfrm>
            <a:off x="4500563" y="115888"/>
            <a:ext cx="4572000" cy="2720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 → T {L.in := T.type} L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 → int {T.type := integer}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 → real {T.type := real}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 → {L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.in := L.in}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L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,id{addtype(id.entry,L.in)}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 → id {addtype(id.entry, L.in)}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404813"/>
            <a:ext cx="8540750" cy="1143000"/>
          </a:xfrm>
        </p:spPr>
        <p:txBody>
          <a:bodyPr/>
          <a:lstStyle/>
          <a:p>
            <a:pPr algn="l"/>
            <a:r>
              <a:rPr lang="zh-CN" altLang="en-US" b="1" smtClean="0">
                <a:latin typeface="华文新魏" pitchFamily="2" charset="-122"/>
                <a:ea typeface="华文新魏" pitchFamily="2" charset="-122"/>
              </a:rPr>
              <a:t>习题与练习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01625" y="1484313"/>
            <a:ext cx="8540750" cy="4752975"/>
          </a:xfrm>
        </p:spPr>
        <p:txBody>
          <a:bodyPr/>
          <a:lstStyle/>
          <a:p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习题</a:t>
            </a:r>
          </a:p>
          <a:p>
            <a:pPr lvl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P249  8.3(“-”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视同“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+”)</a:t>
            </a:r>
          </a:p>
          <a:p>
            <a:pPr lvl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P251  14</a:t>
            </a:r>
          </a:p>
          <a:p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练习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参照下列表达式文法编写语法制导定义，描述表达式的类型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实型、整型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计算。要求在不同精度数的计算中，结果取精度高的类型。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提示：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type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n-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串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值、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tran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类型判定与转换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			E → E + T | T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			T → n.n | n</a:t>
            </a:r>
          </a:p>
        </p:txBody>
      </p:sp>
      <p:sp>
        <p:nvSpPr>
          <p:cNvPr id="430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AD1A76D-4A7F-47E4-9E7E-2C5680DC5B5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430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6D9A812-8295-457D-AE44-807119233716}" type="slidenum">
              <a:rPr lang="en-US" altLang="zh-CN"/>
              <a:pPr eaLnBrk="1" hangingPunct="1"/>
              <a:t>37</a:t>
            </a:fld>
            <a:endParaRPr lang="en-US" altLang="zh-CN"/>
          </a:p>
        </p:txBody>
      </p:sp>
      <p:sp>
        <p:nvSpPr>
          <p:cNvPr id="829445" name="Rectangle 5"/>
          <p:cNvSpPr>
            <a:spLocks noChangeArrowheads="1"/>
          </p:cNvSpPr>
          <p:nvPr/>
        </p:nvSpPr>
        <p:spPr bwMode="auto">
          <a:xfrm>
            <a:off x="4500563" y="115888"/>
            <a:ext cx="4572000" cy="2720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 → T {L.in := T.type} L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 → int {T.type := integer}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 → real {T.type := real}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 → {L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.in := L.in}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L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,id{addtype(id.entry,L.in)}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 → id {addtype(id.entry, L.in)}</a:t>
            </a: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187450" y="260350"/>
            <a:ext cx="3178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int  i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j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k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的处理过程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12编译原理-3</Template>
  <TotalTime>9503</TotalTime>
  <Words>1971</Words>
  <Application>Microsoft Office PowerPoint</Application>
  <PresentationFormat>全屏显示(4:3)</PresentationFormat>
  <Paragraphs>450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Monotype Sorts</vt:lpstr>
      <vt:lpstr>华文新魏</vt:lpstr>
      <vt:lpstr>华文中宋</vt:lpstr>
      <vt:lpstr>宋体</vt:lpstr>
      <vt:lpstr>Arial</vt:lpstr>
      <vt:lpstr>Symbol</vt:lpstr>
      <vt:lpstr>Times New Roman</vt:lpstr>
      <vt:lpstr>Verdana</vt:lpstr>
      <vt:lpstr>Wingdings</vt:lpstr>
      <vt:lpstr>诗情画意</vt:lpstr>
      <vt:lpstr>剪辑</vt:lpstr>
      <vt:lpstr>编译原理 (Principles of Compiling)</vt:lpstr>
      <vt:lpstr>第6章  语法制导翻译 与属性文法</vt:lpstr>
      <vt:lpstr>6.1 语法制导翻译概述</vt:lpstr>
      <vt:lpstr>1. 语义分析的任务</vt:lpstr>
      <vt:lpstr>2. 代码结构</vt:lpstr>
      <vt:lpstr>2. 代码结构</vt:lpstr>
      <vt:lpstr>3. 典型处理方法</vt:lpstr>
      <vt:lpstr>3. 典型处理方法</vt:lpstr>
      <vt:lpstr>3. 典型处理方法</vt:lpstr>
      <vt:lpstr>3. 典型处理方法</vt:lpstr>
      <vt:lpstr>3. 典型处理方法</vt:lpstr>
      <vt:lpstr>6.2  属性(Attribute)文法</vt:lpstr>
      <vt:lpstr>属性文法举例</vt:lpstr>
      <vt:lpstr>1. 属性文法的定义</vt:lpstr>
      <vt:lpstr>2. 属性的设定</vt:lpstr>
      <vt:lpstr>例   计算器的属性文法</vt:lpstr>
      <vt:lpstr>例   计算器的属性文法(续)</vt:lpstr>
      <vt:lpstr>例  说明语句的属性文法</vt:lpstr>
      <vt:lpstr>例  说明语句的属性文法</vt:lpstr>
      <vt:lpstr>3. 属性分类</vt:lpstr>
      <vt:lpstr>3. 属性分类——综合属性</vt:lpstr>
      <vt:lpstr>3. 属性分类——综合属性</vt:lpstr>
      <vt:lpstr>3. 属性分类——继承属性</vt:lpstr>
      <vt:lpstr>3. 属性分类——继承属性</vt:lpstr>
      <vt:lpstr>3. 属性分类——固有属性</vt:lpstr>
      <vt:lpstr>4. 属性的计算</vt:lpstr>
      <vt:lpstr>例  3*5+4 的分析树与属性计算</vt:lpstr>
      <vt:lpstr>例   real id1,id2,id3 的分析树和属性计算</vt:lpstr>
      <vt:lpstr>5. S-属性定义(S-属性文法) </vt:lpstr>
      <vt:lpstr>非S-属性定义</vt:lpstr>
      <vt:lpstr>6.L-属性定义(L-属性文法)</vt:lpstr>
      <vt:lpstr>6.L-属性定义(L-属性文法)</vt:lpstr>
      <vt:lpstr>例：建立说明语句的翻译方案</vt:lpstr>
      <vt:lpstr>例：建立说明语句的翻译方案</vt:lpstr>
      <vt:lpstr>7. 翻译模式(Translation Scheme)</vt:lpstr>
      <vt:lpstr>PowerPoint 演示文稿</vt:lpstr>
      <vt:lpstr>习题与练习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《编译程序设计原理》</dc:title>
  <dc:subject>第5章</dc:subject>
  <dc:creator>蒋宗礼</dc:creator>
  <cp:keywords>语法制导翻译</cp:keywords>
  <cp:lastModifiedBy>Admin</cp:lastModifiedBy>
  <cp:revision>253</cp:revision>
  <dcterms:created xsi:type="dcterms:W3CDTF">1995-06-17T23:31:02Z</dcterms:created>
  <dcterms:modified xsi:type="dcterms:W3CDTF">2017-02-24T00:45:23Z</dcterms:modified>
</cp:coreProperties>
</file>