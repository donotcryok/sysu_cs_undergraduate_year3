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316" r:id="rId2"/>
    <p:sldId id="317" r:id="rId3"/>
    <p:sldId id="321" r:id="rId4"/>
    <p:sldId id="324" r:id="rId5"/>
    <p:sldId id="327" r:id="rId6"/>
    <p:sldId id="319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52" autoAdjust="0"/>
    <p:restoredTop sz="82266" autoAdjust="0"/>
  </p:normalViewPr>
  <p:slideViewPr>
    <p:cSldViewPr>
      <p:cViewPr varScale="1">
        <p:scale>
          <a:sx n="104" d="100"/>
          <a:sy n="104" d="100"/>
        </p:scale>
        <p:origin x="1963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E6459F-225C-4AA8-B12F-7D0F44785B1A}" type="datetimeFigureOut">
              <a:rPr lang="en-SG" smtClean="0"/>
              <a:t>9/4/2025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393A7-4FB6-4BF3-96F1-9E4FE826998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7999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53D191B-14C9-4E44-80DA-01C77658321C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899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B2A1-8233-44BD-A498-681F5159FCD5}" type="datetime1">
              <a:rPr lang="en-SG" altLang="zh-SG" smtClean="0"/>
              <a:t>9/4/2025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429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/>
              <a:t>Click to edit Master title style</a:t>
            </a:r>
            <a:endParaRPr lang="zh-SG" alt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262D9-0388-44B2-9659-7ED6750167E0}" type="datetime1">
              <a:rPr lang="en-SG" altLang="zh-SG" smtClean="0"/>
              <a:t>9/4/2025</a:t>
            </a:fld>
            <a:endParaRPr lang="en-SG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383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6E90-0914-4178-BA22-8F1A8D788802}" type="datetime1">
              <a:rPr lang="en-SG" altLang="zh-SG" smtClean="0"/>
              <a:t>9/4/2025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4621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E17-0C7B-4A35-A18C-89DE60B5BE13}" type="datetime1">
              <a:rPr lang="en-SG" altLang="zh-SG" smtClean="0"/>
              <a:t>9/4/2025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8690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BCC10-5197-492F-A74B-3B77355C7237}" type="datetime1">
              <a:rPr lang="en-SG" altLang="zh-SG" smtClean="0"/>
              <a:t>9/4/2025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67014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0EBC-8D29-4AA6-A353-A4EDC1D6AC50}" type="datetime1">
              <a:rPr lang="en-SG" altLang="zh-SG" smtClean="0"/>
              <a:t>9/4/2025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5839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542A-AFC2-4BD4-A4E6-E870AFF62A64}" type="datetime1">
              <a:rPr lang="en-SG" altLang="zh-SG" smtClean="0"/>
              <a:t>9/4/2025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8636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B15CE-4E91-4B9B-8728-9E9AF6AFB403}" type="datetime1">
              <a:rPr lang="en-SG" altLang="zh-SG" smtClean="0"/>
              <a:t>9/4/2025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9718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4FD5F-22C5-4B1A-ADCD-44CCB852255F}" type="datetime1">
              <a:rPr lang="en-SG" altLang="zh-SG" smtClean="0"/>
              <a:t>9/4/2025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45776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1520-D923-4264-BEEB-B16F792BE9F5}" type="datetime1">
              <a:rPr lang="en-SG" altLang="zh-SG" smtClean="0"/>
              <a:t>9/4/2025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0582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A1F38-1DA2-43D2-BD1E-DF8E36BDA9E2}" type="datetime1">
              <a:rPr lang="en-SG" altLang="zh-SG" smtClean="0"/>
              <a:t>9/4/2025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7736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DB1D0-31BE-4DA1-8061-6C8C0AEF1DE5}" type="datetime1">
              <a:rPr lang="en-SG" altLang="zh-SG" smtClean="0"/>
              <a:t>9/4/2025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08667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baseline="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 txBox="1">
            <a:spLocks noChangeArrowheads="1"/>
          </p:cNvSpPr>
          <p:nvPr/>
        </p:nvSpPr>
        <p:spPr bwMode="auto">
          <a:xfrm>
            <a:off x="179512" y="2924944"/>
            <a:ext cx="8767762" cy="133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zh-CN" sz="48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Questions</a:t>
            </a:r>
          </a:p>
        </p:txBody>
      </p:sp>
      <p:sp>
        <p:nvSpPr>
          <p:cNvPr id="13" name="副标题 2"/>
          <p:cNvSpPr>
            <a:spLocks noChangeArrowheads="1"/>
          </p:cNvSpPr>
          <p:nvPr/>
        </p:nvSpPr>
        <p:spPr bwMode="auto">
          <a:xfrm>
            <a:off x="1036638" y="4778375"/>
            <a:ext cx="6858000" cy="12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defRPr/>
            </a:pPr>
            <a:endParaRPr lang="zh-CN" altLang="en-US" sz="3200">
              <a:solidFill>
                <a:schemeClr val="tx2"/>
              </a:solidFill>
              <a:latin typeface="+mj-ea"/>
              <a:ea typeface="+mj-ea"/>
              <a:cs typeface="Times New Roman" pitchFamily="18" charset="0"/>
              <a:sym typeface="Times New Roman" pitchFamily="18" charset="0"/>
            </a:endParaRPr>
          </a:p>
          <a:p>
            <a:pPr algn="ctr" eaLnBrk="1" hangingPunct="1">
              <a:lnSpc>
                <a:spcPct val="120000"/>
              </a:lnSpc>
              <a:defRPr/>
            </a:pPr>
            <a:endParaRPr lang="zh-CN" altLang="en-US" sz="3200">
              <a:solidFill>
                <a:srgbClr val="000000"/>
              </a:solidFill>
              <a:latin typeface="+mj-ea"/>
              <a:ea typeface="+mj-ea"/>
              <a:cs typeface="Times New Roman" pitchFamily="18" charset="0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7846598"/>
      </p:ext>
    </p:extLst>
  </p:cSld>
  <p:clrMapOvr>
    <a:masterClrMapping/>
  </p:clrMapOvr>
  <p:transition spd="slow" advTm="184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2</a:t>
            </a:fld>
            <a:endParaRPr lang="en-SG"/>
          </a:p>
        </p:txBody>
      </p:sp>
      <p:sp>
        <p:nvSpPr>
          <p:cNvPr id="5" name="AutoShape 2" descr="https://mail.sysu.edu.cn/coremail/s?func=mbox:getMessageData&amp;mid=1:1tbiAQALCFykhnc8fQAAsK&amp;part=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95536" y="620688"/>
            <a:ext cx="8496944" cy="20882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Q1: #pragma </a:t>
            </a:r>
            <a:r>
              <a:rPr lang="en-US" altLang="zh-CN" sz="28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omp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parallel for 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编译指令和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#pragma </a:t>
            </a:r>
            <a:r>
              <a:rPr lang="en-US" altLang="zh-CN" sz="28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omp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for 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编译指令有何区别？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哪个效率更高？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683568" y="3501008"/>
            <a:ext cx="792088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3200" dirty="0" smtClean="0">
                <a:solidFill>
                  <a:srgbClr val="FF0000"/>
                </a:solidFill>
              </a:rPr>
              <a:t>#pragma </a:t>
            </a:r>
            <a:r>
              <a:rPr lang="en-US" sz="3200" dirty="0" err="1" smtClean="0">
                <a:solidFill>
                  <a:srgbClr val="FF0000"/>
                </a:solidFill>
              </a:rPr>
              <a:t>omp</a:t>
            </a:r>
            <a:r>
              <a:rPr lang="en-US" sz="3200" dirty="0" smtClean="0">
                <a:solidFill>
                  <a:srgbClr val="FF0000"/>
                </a:solidFill>
              </a:rPr>
              <a:t> for </a:t>
            </a:r>
            <a:r>
              <a:rPr lang="en-US" sz="3200" dirty="0" smtClean="0">
                <a:solidFill>
                  <a:srgbClr val="0000FF"/>
                </a:solidFill>
              </a:rPr>
              <a:t>tells </a:t>
            </a:r>
            <a:r>
              <a:rPr lang="en-US" sz="3200" dirty="0" err="1">
                <a:solidFill>
                  <a:srgbClr val="0000FF"/>
                </a:solidFill>
              </a:rPr>
              <a:t>OpenMP</a:t>
            </a:r>
            <a:r>
              <a:rPr lang="en-US" sz="3200" dirty="0">
                <a:solidFill>
                  <a:srgbClr val="0000FF"/>
                </a:solidFill>
              </a:rPr>
              <a:t> to parallelize the for loop with existing team of </a:t>
            </a:r>
            <a:r>
              <a:rPr lang="en-US" sz="3200" dirty="0" smtClean="0">
                <a:solidFill>
                  <a:srgbClr val="0000FF"/>
                </a:solidFill>
              </a:rPr>
              <a:t>threads</a:t>
            </a:r>
            <a:endParaRPr lang="en-US" sz="3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053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3</a:t>
            </a:fld>
            <a:endParaRPr lang="en-SG"/>
          </a:p>
        </p:txBody>
      </p:sp>
      <p:sp>
        <p:nvSpPr>
          <p:cNvPr id="6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23528" y="644715"/>
            <a:ext cx="8496944" cy="1368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Q2:  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为何要对循环体进行调度（把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iterations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分配到不同线程）？有哪些调度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2276872"/>
            <a:ext cx="7488832" cy="927150"/>
          </a:xfrm>
        </p:spPr>
        <p:txBody>
          <a:bodyPr/>
          <a:lstStyle/>
          <a:p>
            <a:r>
              <a:rPr lang="en-US" altLang="zh-CN" sz="4000" dirty="0">
                <a:solidFill>
                  <a:srgbClr val="0066FF"/>
                </a:solidFill>
              </a:rPr>
              <a:t>schedule ( type , </a:t>
            </a:r>
            <a:r>
              <a:rPr lang="en-US" altLang="zh-CN" sz="4000" dirty="0" err="1">
                <a:solidFill>
                  <a:srgbClr val="0066FF"/>
                </a:solidFill>
              </a:rPr>
              <a:t>chunksize</a:t>
            </a:r>
            <a:r>
              <a:rPr lang="en-US" altLang="zh-CN" sz="4000" dirty="0">
                <a:solidFill>
                  <a:srgbClr val="0066FF"/>
                </a:solidFill>
              </a:rPr>
              <a:t> )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755576" y="3312855"/>
            <a:ext cx="7488832" cy="304349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800" dirty="0"/>
              <a:t>Type can be:</a:t>
            </a:r>
          </a:p>
          <a:p>
            <a:r>
              <a:rPr lang="en-US" altLang="zh-CN" sz="2800" b="1" dirty="0">
                <a:solidFill>
                  <a:srgbClr val="C00000"/>
                </a:solidFill>
              </a:rPr>
              <a:t>static</a:t>
            </a:r>
            <a:r>
              <a:rPr lang="en-US" altLang="zh-CN" sz="2800" dirty="0"/>
              <a:t>: the iterations can be assigned to the threads </a:t>
            </a:r>
            <a:r>
              <a:rPr lang="en-US" altLang="zh-CN" sz="2800" dirty="0">
                <a:solidFill>
                  <a:srgbClr val="0000FF"/>
                </a:solidFill>
              </a:rPr>
              <a:t>before</a:t>
            </a:r>
            <a:r>
              <a:rPr lang="en-US" altLang="zh-CN" sz="2800" dirty="0"/>
              <a:t> the loop is executed.</a:t>
            </a:r>
          </a:p>
          <a:p>
            <a:r>
              <a:rPr lang="en-US" altLang="zh-CN" sz="2800" b="1" dirty="0">
                <a:solidFill>
                  <a:srgbClr val="C00000"/>
                </a:solidFill>
              </a:rPr>
              <a:t>dynamic or guided</a:t>
            </a:r>
            <a:r>
              <a:rPr lang="en-US" altLang="zh-CN" sz="2800" dirty="0"/>
              <a:t>: the iterations are assigned to the threads </a:t>
            </a:r>
            <a:r>
              <a:rPr lang="en-US" altLang="zh-CN" sz="2800" dirty="0">
                <a:solidFill>
                  <a:srgbClr val="0000FF"/>
                </a:solidFill>
              </a:rPr>
              <a:t>while </a:t>
            </a:r>
            <a:r>
              <a:rPr lang="en-US" altLang="zh-CN" sz="2800" dirty="0"/>
              <a:t>the loop is executing.</a:t>
            </a:r>
          </a:p>
          <a:p>
            <a:r>
              <a:rPr lang="en-US" altLang="zh-CN" sz="2800" b="1" dirty="0">
                <a:solidFill>
                  <a:srgbClr val="C00000"/>
                </a:solidFill>
              </a:rPr>
              <a:t>auto</a:t>
            </a:r>
            <a:r>
              <a:rPr lang="en-US" altLang="zh-CN" sz="2800" dirty="0"/>
              <a:t>: the </a:t>
            </a:r>
            <a:r>
              <a:rPr lang="en-US" altLang="zh-CN" sz="2800" dirty="0">
                <a:solidFill>
                  <a:srgbClr val="0000FF"/>
                </a:solidFill>
              </a:rPr>
              <a:t>compiler</a:t>
            </a:r>
            <a:r>
              <a:rPr lang="en-US" altLang="zh-CN" sz="2800" dirty="0"/>
              <a:t> and/or the </a:t>
            </a:r>
            <a:r>
              <a:rPr lang="en-US" altLang="zh-CN" sz="2800" dirty="0">
                <a:solidFill>
                  <a:srgbClr val="0000FF"/>
                </a:solidFill>
              </a:rPr>
              <a:t>run-time</a:t>
            </a:r>
            <a:r>
              <a:rPr lang="en-US" altLang="zh-CN" sz="2800" dirty="0"/>
              <a:t> system determine the schedule.</a:t>
            </a:r>
          </a:p>
          <a:p>
            <a:r>
              <a:rPr lang="en-US" altLang="zh-CN" sz="2800" b="1" dirty="0">
                <a:solidFill>
                  <a:srgbClr val="C00000"/>
                </a:solidFill>
              </a:rPr>
              <a:t>runtime</a:t>
            </a:r>
            <a:r>
              <a:rPr lang="en-US" altLang="zh-CN" sz="2800" dirty="0"/>
              <a:t>: the schedule is determined at </a:t>
            </a:r>
            <a:r>
              <a:rPr lang="en-US" altLang="zh-CN" sz="2800" dirty="0">
                <a:solidFill>
                  <a:srgbClr val="0000FF"/>
                </a:solidFill>
              </a:rPr>
              <a:t>run-time.</a:t>
            </a:r>
          </a:p>
        </p:txBody>
      </p:sp>
    </p:spTree>
    <p:extLst>
      <p:ext uri="{BB962C8B-B14F-4D97-AF65-F5344CB8AC3E}">
        <p14:creationId xmlns:p14="http://schemas.microsoft.com/office/powerpoint/2010/main" val="323421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4</a:t>
            </a:fld>
            <a:endParaRPr lang="en-SG"/>
          </a:p>
        </p:txBody>
      </p:sp>
      <p:sp>
        <p:nvSpPr>
          <p:cNvPr id="6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95536" y="980728"/>
            <a:ext cx="8496944" cy="1800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Q3:  Dynamic schedule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Guided schedule</a:t>
            </a:r>
          </a:p>
          <a:p>
            <a:pPr algn="ctr"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有何区别？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83568" y="3429000"/>
            <a:ext cx="7886700" cy="2088232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Each thread also executes a chunk, and when a thread </a:t>
            </a:r>
            <a:r>
              <a:rPr lang="en-US" altLang="zh-CN" dirty="0">
                <a:solidFill>
                  <a:srgbClr val="C00000"/>
                </a:solidFill>
              </a:rPr>
              <a:t>finishes</a:t>
            </a:r>
            <a:r>
              <a:rPr lang="en-US" altLang="zh-CN" dirty="0"/>
              <a:t> a chunk, it </a:t>
            </a:r>
            <a:r>
              <a:rPr lang="en-US" altLang="zh-CN" dirty="0">
                <a:solidFill>
                  <a:srgbClr val="C00000"/>
                </a:solidFill>
              </a:rPr>
              <a:t>requests another </a:t>
            </a:r>
            <a:r>
              <a:rPr lang="en-US" altLang="zh-CN" dirty="0"/>
              <a:t>one. </a:t>
            </a:r>
          </a:p>
          <a:p>
            <a:endParaRPr lang="en-US" altLang="zh-CN" dirty="0"/>
          </a:p>
          <a:p>
            <a:r>
              <a:rPr lang="en-US" altLang="zh-CN" dirty="0"/>
              <a:t>However, in a guided schedule, as chunks are completed, </a:t>
            </a:r>
            <a:r>
              <a:rPr lang="en-US" altLang="zh-CN" dirty="0">
                <a:solidFill>
                  <a:srgbClr val="C00000"/>
                </a:solidFill>
              </a:rPr>
              <a:t>the size of the new chunks decreases</a:t>
            </a:r>
            <a:r>
              <a:rPr lang="en-US" altLang="zh-C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417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5</a:t>
            </a:fld>
            <a:endParaRPr lang="en-SG"/>
          </a:p>
        </p:txBody>
      </p:sp>
      <p:sp>
        <p:nvSpPr>
          <p:cNvPr id="6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95536" y="980728"/>
            <a:ext cx="8496944" cy="1800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Q4:  </a:t>
            </a:r>
            <a:r>
              <a:rPr lang="en-US" altLang="zh-CN" sz="28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OpenMP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提供了哪些机制来保障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对于临界区访问的互斥？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83568" y="3429000"/>
            <a:ext cx="7886700" cy="2088232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 err="1"/>
              <a:t>OpenMP</a:t>
            </a:r>
            <a:r>
              <a:rPr lang="en-US" altLang="zh-CN" dirty="0"/>
              <a:t> provides </a:t>
            </a:r>
            <a:r>
              <a:rPr lang="en-US" altLang="zh-CN" dirty="0">
                <a:solidFill>
                  <a:srgbClr val="FF0000"/>
                </a:solidFill>
              </a:rPr>
              <a:t>several mechanisms </a:t>
            </a:r>
            <a:r>
              <a:rPr lang="en-US" altLang="zh-CN" dirty="0"/>
              <a:t>for insuring mutual exclusion in critical sections.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Critical directives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Named critical directives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Atomic directives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Simple locks</a:t>
            </a:r>
          </a:p>
        </p:txBody>
      </p:sp>
    </p:spTree>
    <p:extLst>
      <p:ext uri="{BB962C8B-B14F-4D97-AF65-F5344CB8AC3E}">
        <p14:creationId xmlns:p14="http://schemas.microsoft.com/office/powerpoint/2010/main" val="104209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6</a:t>
            </a:fld>
            <a:endParaRPr lang="en-SG"/>
          </a:p>
        </p:txBody>
      </p:sp>
      <p:sp>
        <p:nvSpPr>
          <p:cNvPr id="6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23528" y="836712"/>
            <a:ext cx="8496944" cy="21602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Q5: #pragma </a:t>
            </a:r>
            <a:r>
              <a:rPr lang="en-US" altLang="zh-CN" sz="28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omp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critical(name) 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pragma </a:t>
            </a:r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omp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critical 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有何区别</a:t>
            </a:r>
            <a:r>
              <a:rPr lang="zh-CN" altLang="en-US" sz="2800" dirty="0" smtClean="0">
                <a:solidFill>
                  <a:schemeClr val="tx1"/>
                </a:solidFill>
                <a:latin typeface="Bodoni MT" panose="02070603080606020203" pitchFamily="18" charset="0"/>
                <a:ea typeface="微软雅黑" panose="020B0503020204020204" pitchFamily="34" charset="-122"/>
              </a:rPr>
              <a:t>？用处在哪里？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71600" y="4005064"/>
            <a:ext cx="748883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>
                <a:solidFill>
                  <a:srgbClr val="C00000"/>
                </a:solidFill>
              </a:rPr>
              <a:t>two </a:t>
            </a:r>
            <a:r>
              <a:rPr lang="en-US" altLang="zh-CN" sz="2800" dirty="0">
                <a:solidFill>
                  <a:srgbClr val="C00000"/>
                </a:solidFill>
              </a:rPr>
              <a:t>blocks </a:t>
            </a:r>
            <a:r>
              <a:rPr lang="en-US" altLang="zh-CN" sz="2800" dirty="0"/>
              <a:t>protected with critical directives with </a:t>
            </a:r>
            <a:r>
              <a:rPr lang="en-US" altLang="zh-CN" sz="2800" dirty="0">
                <a:solidFill>
                  <a:srgbClr val="C00000"/>
                </a:solidFill>
              </a:rPr>
              <a:t>different names </a:t>
            </a:r>
            <a:r>
              <a:rPr lang="en-US" altLang="zh-CN" sz="2800" dirty="0"/>
              <a:t>can be </a:t>
            </a:r>
            <a:r>
              <a:rPr lang="en-US" altLang="zh-CN" sz="2800" dirty="0">
                <a:solidFill>
                  <a:srgbClr val="C00000"/>
                </a:solidFill>
              </a:rPr>
              <a:t>executed simultaneously</a:t>
            </a:r>
            <a:r>
              <a:rPr lang="en-US" altLang="zh-CN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6291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255</Words>
  <Application>Microsoft Office PowerPoint</Application>
  <PresentationFormat>全屏显示(4:3)</PresentationFormat>
  <Paragraphs>33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宋体</vt:lpstr>
      <vt:lpstr>微软雅黑</vt:lpstr>
      <vt:lpstr>Arial</vt:lpstr>
      <vt:lpstr>Bodoni MT</vt:lpstr>
      <vt:lpstr>Calibri</vt:lpstr>
      <vt:lpstr>Times New Roman</vt:lpstr>
      <vt:lpstr>Wingdings</vt:lpstr>
      <vt:lpstr>Office Theme</vt:lpstr>
      <vt:lpstr>PowerPoint 演示文稿</vt:lpstr>
      <vt:lpstr>PowerPoint 演示文稿</vt:lpstr>
      <vt:lpstr>schedule ( type , chunksize )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Storm for Real-Time Stream Data Analytic</dc:title>
  <dc:creator>Tom Fu</dc:creator>
  <cp:lastModifiedBy>Windows 用户</cp:lastModifiedBy>
  <cp:revision>427</cp:revision>
  <dcterms:created xsi:type="dcterms:W3CDTF">2015-08-27T02:23:10Z</dcterms:created>
  <dcterms:modified xsi:type="dcterms:W3CDTF">2025-04-09T00:22:28Z</dcterms:modified>
</cp:coreProperties>
</file>