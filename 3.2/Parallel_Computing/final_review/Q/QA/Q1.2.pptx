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sldIdLst>
    <p:sldId id="316" r:id="rId2"/>
    <p:sldId id="317" r:id="rId3"/>
    <p:sldId id="321" r:id="rId4"/>
    <p:sldId id="324" r:id="rId5"/>
    <p:sldId id="328" r:id="rId6"/>
    <p:sldId id="327" r:id="rId7"/>
    <p:sldId id="329" r:id="rId8"/>
    <p:sldId id="319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52" autoAdjust="0"/>
    <p:restoredTop sz="82266" autoAdjust="0"/>
  </p:normalViewPr>
  <p:slideViewPr>
    <p:cSldViewPr>
      <p:cViewPr varScale="1">
        <p:scale>
          <a:sx n="104" d="100"/>
          <a:sy n="104" d="100"/>
        </p:scale>
        <p:origin x="1963" y="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E6459F-225C-4AA8-B12F-7D0F44785B1A}" type="datetimeFigureOut">
              <a:rPr lang="en-SG" smtClean="0"/>
              <a:t>2/6/2025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5393A7-4FB6-4BF3-96F1-9E4FE826998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7999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53D191B-14C9-4E44-80DA-01C77658321C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9899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2B2A1-8233-44BD-A498-681F5159FCD5}" type="datetime1">
              <a:rPr lang="en-SG" altLang="zh-SG" smtClean="0"/>
              <a:t>2/6/2025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24298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/>
              <a:t>Click to edit Master title style</a:t>
            </a:r>
            <a:endParaRPr lang="zh-SG" alt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262D9-0388-44B2-9659-7ED6750167E0}" type="datetime1">
              <a:rPr lang="en-SG" altLang="zh-SG" smtClean="0"/>
              <a:t>2/6/2025</a:t>
            </a:fld>
            <a:endParaRPr lang="en-SG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383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B6E90-0914-4178-BA22-8F1A8D788802}" type="datetime1">
              <a:rPr lang="en-SG" altLang="zh-SG" smtClean="0"/>
              <a:t>2/6/2025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46217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DE17-0C7B-4A35-A18C-89DE60B5BE13}" type="datetime1">
              <a:rPr lang="en-SG" altLang="zh-SG" smtClean="0"/>
              <a:t>2/6/2025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8690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BCC10-5197-492F-A74B-3B77355C7237}" type="datetime1">
              <a:rPr lang="en-SG" altLang="zh-SG" smtClean="0"/>
              <a:t>2/6/2025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67014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0EBC-8D29-4AA6-A353-A4EDC1D6AC50}" type="datetime1">
              <a:rPr lang="en-SG" altLang="zh-SG" smtClean="0"/>
              <a:t>2/6/2025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58391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E542A-AFC2-4BD4-A4E6-E870AFF62A64}" type="datetime1">
              <a:rPr lang="en-SG" altLang="zh-SG" smtClean="0"/>
              <a:t>2/6/2025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8636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B15CE-4E91-4B9B-8728-9E9AF6AFB403}" type="datetime1">
              <a:rPr lang="en-SG" altLang="zh-SG" smtClean="0"/>
              <a:t>2/6/2025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39718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4FD5F-22C5-4B1A-ADCD-44CCB852255F}" type="datetime1">
              <a:rPr lang="en-SG" altLang="zh-SG" smtClean="0"/>
              <a:t>2/6/2025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45776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51520-D923-4264-BEEB-B16F792BE9F5}" type="datetime1">
              <a:rPr lang="en-SG" altLang="zh-SG" smtClean="0"/>
              <a:t>2/6/2025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0582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A1F38-1DA2-43D2-BD1E-DF8E36BDA9E2}" type="datetime1">
              <a:rPr lang="en-SG" altLang="zh-SG" smtClean="0"/>
              <a:t>2/6/2025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77736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CDB1D0-31BE-4DA1-8061-6C8C0AEF1DE5}" type="datetime1">
              <a:rPr lang="en-SG" altLang="zh-SG" smtClean="0"/>
              <a:t>2/6/2025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08667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baseline="0">
          <a:solidFill>
            <a:schemeClr val="tx1"/>
          </a:solidFill>
          <a:latin typeface="+mj-lt"/>
          <a:ea typeface="微软雅黑" panose="020B0503020204020204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 baseline="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 baseline="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 baseline="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 baseline="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/>
          <p:cNvSpPr txBox="1">
            <a:spLocks noChangeArrowheads="1"/>
          </p:cNvSpPr>
          <p:nvPr/>
        </p:nvSpPr>
        <p:spPr bwMode="auto">
          <a:xfrm>
            <a:off x="179512" y="2924944"/>
            <a:ext cx="8767762" cy="133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j-cs"/>
                <a:sym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ill Sans MT" pitchFamily="34" charset="0"/>
                <a:ea typeface="微软雅黑" pitchFamily="34" charset="-122"/>
                <a:sym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ill Sans MT" pitchFamily="34" charset="0"/>
                <a:ea typeface="微软雅黑" pitchFamily="34" charset="-122"/>
                <a:sym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ill Sans MT" pitchFamily="34" charset="0"/>
                <a:ea typeface="微软雅黑" pitchFamily="34" charset="-122"/>
                <a:sym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ill Sans MT" pitchFamily="34" charset="0"/>
                <a:ea typeface="微软雅黑" pitchFamily="34" charset="-122"/>
                <a:sym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itchFamily="34" charset="0"/>
                <a:ea typeface="黑体" pitchFamily="49" charset="-122"/>
                <a:sym typeface="Arial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itchFamily="34" charset="0"/>
                <a:ea typeface="黑体" pitchFamily="49" charset="-122"/>
                <a:sym typeface="Arial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itchFamily="34" charset="0"/>
                <a:ea typeface="黑体" pitchFamily="49" charset="-122"/>
                <a:sym typeface="Arial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itchFamily="34" charset="0"/>
                <a:ea typeface="黑体" pitchFamily="49" charset="-122"/>
                <a:sym typeface="Arial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zh-CN" sz="48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Questions</a:t>
            </a:r>
          </a:p>
        </p:txBody>
      </p:sp>
      <p:sp>
        <p:nvSpPr>
          <p:cNvPr id="13" name="副标题 2"/>
          <p:cNvSpPr>
            <a:spLocks noChangeArrowheads="1"/>
          </p:cNvSpPr>
          <p:nvPr/>
        </p:nvSpPr>
        <p:spPr bwMode="auto">
          <a:xfrm>
            <a:off x="1036638" y="4778375"/>
            <a:ext cx="6858000" cy="120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defRPr/>
            </a:pPr>
            <a:endParaRPr lang="zh-CN" altLang="en-US" sz="3200">
              <a:solidFill>
                <a:schemeClr val="tx2"/>
              </a:solidFill>
              <a:latin typeface="+mj-ea"/>
              <a:ea typeface="+mj-ea"/>
              <a:cs typeface="Times New Roman" pitchFamily="18" charset="0"/>
              <a:sym typeface="Times New Roman" pitchFamily="18" charset="0"/>
            </a:endParaRPr>
          </a:p>
          <a:p>
            <a:pPr algn="ctr" eaLnBrk="1" hangingPunct="1">
              <a:lnSpc>
                <a:spcPct val="120000"/>
              </a:lnSpc>
              <a:defRPr/>
            </a:pPr>
            <a:endParaRPr lang="zh-CN" altLang="en-US" sz="3200">
              <a:solidFill>
                <a:srgbClr val="000000"/>
              </a:solidFill>
              <a:latin typeface="+mj-ea"/>
              <a:ea typeface="+mj-ea"/>
              <a:cs typeface="Times New Roman" pitchFamily="18" charset="0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7846598"/>
      </p:ext>
    </p:extLst>
  </p:cSld>
  <p:clrMapOvr>
    <a:masterClrMapping/>
  </p:clrMapOvr>
  <p:transition spd="slow" advTm="184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2</a:t>
            </a:fld>
            <a:endParaRPr lang="en-SG"/>
          </a:p>
        </p:txBody>
      </p:sp>
      <p:sp>
        <p:nvSpPr>
          <p:cNvPr id="5" name="AutoShape 2" descr="https://mail.sysu.edu.cn/coremail/s?func=mbox:getMessageData&amp;mid=1:1tbiAQALCFykhnc8fQAAsK&amp;part=5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137BB19-9698-4E80-94CD-4E636789BE1C}"/>
              </a:ext>
            </a:extLst>
          </p:cNvPr>
          <p:cNvSpPr/>
          <p:nvPr/>
        </p:nvSpPr>
        <p:spPr>
          <a:xfrm>
            <a:off x="395536" y="620688"/>
            <a:ext cx="8496944" cy="208823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Q1: 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阐述一下</a:t>
            </a:r>
            <a:r>
              <a:rPr lang="en-US" altLang="zh-CN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CUDA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的编程模型和执行模型的区别和联系</a:t>
            </a:r>
            <a:endParaRPr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4"/>
          <p:cNvSpPr/>
          <p:nvPr/>
        </p:nvSpPr>
        <p:spPr>
          <a:xfrm>
            <a:off x="683568" y="3055355"/>
            <a:ext cx="7920880" cy="36379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编程模型是开发者视角的抽象，描述了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如何利用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CUDA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编写并行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</a:t>
            </a:r>
            <a:r>
              <a:rPr lang="zh-CN" altLang="en-US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模型定义了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逻辑抽象（如网格、块）</a:t>
            </a:r>
            <a:r>
              <a:rPr lang="zh-CN" altLang="en-US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，开发者无需直接处理硬件</a:t>
            </a:r>
            <a:r>
              <a:rPr lang="zh-CN" altLang="en-US" sz="2400" dirty="0" smtClean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细节</a:t>
            </a:r>
            <a:endParaRPr lang="zh-CN" altLang="en-US" sz="2400" dirty="0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defRPr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执行模型描述了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硬件如何实际运行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CUDA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zh-CN" altLang="en-US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，涉及硬件架构和调度</a:t>
            </a:r>
            <a:r>
              <a:rPr lang="zh-CN" altLang="en-US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机制</a:t>
            </a:r>
            <a:endParaRPr lang="en-US" altLang="zh-CN" sz="2400" dirty="0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</a:t>
            </a:r>
            <a:r>
              <a:rPr lang="zh-CN" altLang="en-US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模型将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逻辑抽象映射到物理硬件</a:t>
            </a:r>
            <a:r>
              <a:rPr lang="zh-CN" altLang="en-US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（如</a:t>
            </a:r>
            <a:r>
              <a:rPr lang="en-US" altLang="zh-CN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</a:t>
            </a:r>
            <a:r>
              <a:rPr lang="zh-CN" altLang="en-US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warp</a:t>
            </a:r>
            <a:r>
              <a:rPr lang="zh-CN" altLang="en-US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），由</a:t>
            </a:r>
            <a:r>
              <a:rPr lang="en-US" altLang="zh-CN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驱动和硬件自动</a:t>
            </a:r>
            <a:r>
              <a:rPr lang="zh-CN" altLang="en-US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</a:t>
            </a:r>
            <a:endParaRPr lang="zh-CN" altLang="en-US" sz="2400" dirty="0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2053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3</a:t>
            </a:fld>
            <a:endParaRPr lang="en-SG"/>
          </a:p>
        </p:txBody>
      </p:sp>
      <p:sp>
        <p:nvSpPr>
          <p:cNvPr id="6" name="矩形: 圆角 7">
            <a:extLst>
              <a:ext uri="{FF2B5EF4-FFF2-40B4-BE49-F238E27FC236}">
                <a16:creationId xmlns:a16="http://schemas.microsoft.com/office/drawing/2014/main" id="{B137BB19-9698-4E80-94CD-4E636789BE1C}"/>
              </a:ext>
            </a:extLst>
          </p:cNvPr>
          <p:cNvSpPr/>
          <p:nvPr/>
        </p:nvSpPr>
        <p:spPr>
          <a:xfrm>
            <a:off x="323528" y="644715"/>
            <a:ext cx="8496944" cy="13681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Q2:  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CUDA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核函数（</a:t>
            </a:r>
            <a:r>
              <a:rPr lang="en-US" altLang="zh-CN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Kernel Function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）？</a:t>
            </a:r>
            <a:endParaRPr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39552" y="2852936"/>
            <a:ext cx="8280920" cy="1944216"/>
          </a:xfrm>
        </p:spPr>
        <p:txBody>
          <a:bodyPr>
            <a:noAutofit/>
          </a:bodyPr>
          <a:lstStyle/>
          <a:p>
            <a:pPr algn="l"/>
            <a:r>
              <a:rPr lang="en-US" altLang="zh-CN" sz="2800" dirty="0" smtClean="0">
                <a:solidFill>
                  <a:srgbClr val="0066FF"/>
                </a:solidFill>
              </a:rPr>
              <a:t>CUDA</a:t>
            </a:r>
            <a:r>
              <a:rPr lang="zh-CN" altLang="en-US" sz="2800" dirty="0" smtClean="0">
                <a:solidFill>
                  <a:srgbClr val="0066FF"/>
                </a:solidFill>
              </a:rPr>
              <a:t>核函数指</a:t>
            </a:r>
            <a:r>
              <a:rPr lang="zh-CN" altLang="en-US" sz="2800" dirty="0">
                <a:solidFill>
                  <a:srgbClr val="0066FF"/>
                </a:solidFill>
              </a:rPr>
              <a:t>在</a:t>
            </a:r>
            <a:r>
              <a:rPr lang="en-US" altLang="zh-CN" sz="2800" dirty="0">
                <a:solidFill>
                  <a:srgbClr val="FF0000"/>
                </a:solidFill>
              </a:rPr>
              <a:t>GPU</a:t>
            </a:r>
            <a:r>
              <a:rPr lang="zh-CN" altLang="en-US" sz="2800" dirty="0">
                <a:solidFill>
                  <a:srgbClr val="FF0000"/>
                </a:solidFill>
              </a:rPr>
              <a:t>上并行执行的函数</a:t>
            </a:r>
            <a:r>
              <a:rPr lang="zh-CN" altLang="en-US" sz="2800" dirty="0" smtClean="0">
                <a:solidFill>
                  <a:srgbClr val="0066FF"/>
                </a:solidFill>
              </a:rPr>
              <a:t>。</a:t>
            </a:r>
            <a:r>
              <a:rPr lang="en-US" altLang="zh-CN" sz="2800" dirty="0" smtClean="0">
                <a:solidFill>
                  <a:srgbClr val="0066FF"/>
                </a:solidFill>
              </a:rPr>
              <a:t/>
            </a:r>
            <a:br>
              <a:rPr lang="en-US" altLang="zh-CN" sz="2800" dirty="0" smtClean="0">
                <a:solidFill>
                  <a:srgbClr val="0066FF"/>
                </a:solidFill>
              </a:rPr>
            </a:br>
            <a:r>
              <a:rPr lang="en-US" altLang="zh-CN" sz="2800" dirty="0" smtClean="0">
                <a:solidFill>
                  <a:srgbClr val="0066FF"/>
                </a:solidFill>
              </a:rPr>
              <a:t/>
            </a:r>
            <a:br>
              <a:rPr lang="en-US" altLang="zh-CN" sz="2800" dirty="0" smtClean="0">
                <a:solidFill>
                  <a:srgbClr val="0066FF"/>
                </a:solidFill>
              </a:rPr>
            </a:br>
            <a:r>
              <a:rPr lang="zh-CN" altLang="en-US" sz="2800" dirty="0" smtClean="0">
                <a:solidFill>
                  <a:srgbClr val="0066FF"/>
                </a:solidFill>
              </a:rPr>
              <a:t>它</a:t>
            </a:r>
            <a:r>
              <a:rPr lang="zh-CN" altLang="en-US" sz="2800" dirty="0">
                <a:solidFill>
                  <a:srgbClr val="0066FF"/>
                </a:solidFill>
              </a:rPr>
              <a:t>由</a:t>
            </a:r>
            <a:r>
              <a:rPr lang="en-US" altLang="zh-CN" sz="2800" dirty="0">
                <a:solidFill>
                  <a:srgbClr val="0066FF"/>
                </a:solidFill>
              </a:rPr>
              <a:t>CPU</a:t>
            </a:r>
            <a:r>
              <a:rPr lang="zh-CN" altLang="en-US" sz="2800" dirty="0">
                <a:solidFill>
                  <a:srgbClr val="0066FF"/>
                </a:solidFill>
              </a:rPr>
              <a:t>（主机）调用，但在</a:t>
            </a:r>
            <a:r>
              <a:rPr lang="en-US" altLang="zh-CN" sz="2800" dirty="0">
                <a:solidFill>
                  <a:srgbClr val="0066FF"/>
                </a:solidFill>
              </a:rPr>
              <a:t>GPU</a:t>
            </a:r>
            <a:r>
              <a:rPr lang="zh-CN" altLang="en-US" sz="2800" dirty="0">
                <a:solidFill>
                  <a:srgbClr val="0066FF"/>
                </a:solidFill>
              </a:rPr>
              <a:t>（设备）上以大量线程并行运行，用于加速计算密集型任务</a:t>
            </a:r>
            <a:endParaRPr lang="en-US" altLang="zh-CN" sz="2800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4218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11560" y="3429000"/>
            <a:ext cx="7886700" cy="259228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66FF"/>
                </a:solidFill>
              </a:rPr>
              <a:t>线程（</a:t>
            </a:r>
            <a:r>
              <a:rPr lang="en-US" altLang="zh-CN" dirty="0">
                <a:solidFill>
                  <a:srgbClr val="0066FF"/>
                </a:solidFill>
              </a:rPr>
              <a:t>Thread</a:t>
            </a:r>
            <a:r>
              <a:rPr lang="zh-CN" altLang="en-US" dirty="0">
                <a:solidFill>
                  <a:srgbClr val="0066FF"/>
                </a:solidFill>
              </a:rPr>
              <a:t>）：</a:t>
            </a:r>
            <a:r>
              <a:rPr lang="zh-CN" altLang="en-US" dirty="0">
                <a:solidFill>
                  <a:srgbClr val="FF0000"/>
                </a:solidFill>
              </a:rPr>
              <a:t>最小执行单元</a:t>
            </a:r>
            <a:r>
              <a:rPr lang="zh-CN" altLang="en-US" dirty="0">
                <a:solidFill>
                  <a:srgbClr val="0066FF"/>
                </a:solidFill>
              </a:rPr>
              <a:t>，每个线程独立运行核函数代码。</a:t>
            </a:r>
          </a:p>
          <a:p>
            <a:pPr>
              <a:lnSpc>
                <a:spcPct val="120000"/>
              </a:lnSpc>
            </a:pPr>
            <a:r>
              <a:rPr lang="zh-CN" altLang="en-US" dirty="0" smtClean="0">
                <a:solidFill>
                  <a:srgbClr val="0066FF"/>
                </a:solidFill>
              </a:rPr>
              <a:t>线程</a:t>
            </a:r>
            <a:r>
              <a:rPr lang="zh-CN" altLang="en-US" dirty="0">
                <a:solidFill>
                  <a:srgbClr val="0066FF"/>
                </a:solidFill>
              </a:rPr>
              <a:t>块（</a:t>
            </a:r>
            <a:r>
              <a:rPr lang="en-US" altLang="zh-CN" dirty="0">
                <a:solidFill>
                  <a:srgbClr val="0066FF"/>
                </a:solidFill>
              </a:rPr>
              <a:t>Block</a:t>
            </a:r>
            <a:r>
              <a:rPr lang="zh-CN" altLang="en-US" dirty="0">
                <a:solidFill>
                  <a:srgbClr val="0066FF"/>
                </a:solidFill>
              </a:rPr>
              <a:t>）：</a:t>
            </a:r>
            <a:r>
              <a:rPr lang="zh-CN" altLang="en-US" dirty="0">
                <a:solidFill>
                  <a:srgbClr val="FF0000"/>
                </a:solidFill>
              </a:rPr>
              <a:t>一组</a:t>
            </a:r>
            <a:r>
              <a:rPr lang="zh-CN" altLang="en-US" dirty="0" smtClean="0">
                <a:solidFill>
                  <a:srgbClr val="FF0000"/>
                </a:solidFill>
              </a:rPr>
              <a:t>线程</a:t>
            </a:r>
            <a:r>
              <a:rPr lang="zh-CN" altLang="en-US" dirty="0" smtClean="0">
                <a:solidFill>
                  <a:srgbClr val="0066FF"/>
                </a:solidFill>
              </a:rPr>
              <a:t>，块</a:t>
            </a:r>
            <a:r>
              <a:rPr lang="zh-CN" altLang="en-US" dirty="0">
                <a:solidFill>
                  <a:srgbClr val="0066FF"/>
                </a:solidFill>
              </a:rPr>
              <a:t>内线程可</a:t>
            </a:r>
            <a:r>
              <a:rPr lang="zh-CN" altLang="en-US" dirty="0" smtClean="0">
                <a:solidFill>
                  <a:srgbClr val="0066FF"/>
                </a:solidFill>
              </a:rPr>
              <a:t>同步并</a:t>
            </a:r>
            <a:r>
              <a:rPr lang="zh-CN" altLang="en-US" dirty="0">
                <a:solidFill>
                  <a:srgbClr val="0066FF"/>
                </a:solidFill>
              </a:rPr>
              <a:t>共享内存。</a:t>
            </a:r>
          </a:p>
          <a:p>
            <a:pPr>
              <a:lnSpc>
                <a:spcPct val="120000"/>
              </a:lnSpc>
            </a:pPr>
            <a:r>
              <a:rPr lang="zh-CN" altLang="en-US" dirty="0" smtClean="0">
                <a:solidFill>
                  <a:srgbClr val="0066FF"/>
                </a:solidFill>
              </a:rPr>
              <a:t>线程</a:t>
            </a:r>
            <a:r>
              <a:rPr lang="zh-CN" altLang="en-US" dirty="0">
                <a:solidFill>
                  <a:srgbClr val="0066FF"/>
                </a:solidFill>
              </a:rPr>
              <a:t>网格（</a:t>
            </a:r>
            <a:r>
              <a:rPr lang="en-US" altLang="zh-CN" dirty="0">
                <a:solidFill>
                  <a:srgbClr val="0066FF"/>
                </a:solidFill>
              </a:rPr>
              <a:t>Grid</a:t>
            </a:r>
            <a:r>
              <a:rPr lang="zh-CN" altLang="en-US" dirty="0">
                <a:solidFill>
                  <a:srgbClr val="0066FF"/>
                </a:solidFill>
              </a:rPr>
              <a:t>）：</a:t>
            </a:r>
            <a:r>
              <a:rPr lang="zh-CN" altLang="en-US" dirty="0">
                <a:solidFill>
                  <a:srgbClr val="FF0000"/>
                </a:solidFill>
              </a:rPr>
              <a:t>所有线程块的集合</a:t>
            </a:r>
            <a:r>
              <a:rPr lang="zh-CN" altLang="en-US" dirty="0">
                <a:solidFill>
                  <a:srgbClr val="0066FF"/>
                </a:solidFill>
              </a:rPr>
              <a:t>，网格内的块独立执行（无隐式同步）</a:t>
            </a:r>
            <a:endParaRPr lang="en-US" altLang="zh-CN" dirty="0">
              <a:solidFill>
                <a:srgbClr val="0066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4</a:t>
            </a:fld>
            <a:endParaRPr lang="en-SG"/>
          </a:p>
        </p:txBody>
      </p:sp>
      <p:sp>
        <p:nvSpPr>
          <p:cNvPr id="6" name="矩形: 圆角 7">
            <a:extLst>
              <a:ext uri="{FF2B5EF4-FFF2-40B4-BE49-F238E27FC236}">
                <a16:creationId xmlns:a16="http://schemas.microsoft.com/office/drawing/2014/main" id="{B137BB19-9698-4E80-94CD-4E636789BE1C}"/>
              </a:ext>
            </a:extLst>
          </p:cNvPr>
          <p:cNvSpPr/>
          <p:nvPr/>
        </p:nvSpPr>
        <p:spPr>
          <a:xfrm>
            <a:off x="395536" y="980728"/>
            <a:ext cx="8496944" cy="18002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Q3:  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阐述一下线程、线程块、线程网格之间的关系</a:t>
            </a:r>
            <a:endParaRPr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4172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5</a:t>
            </a:fld>
            <a:endParaRPr lang="en-SG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F2E4149-2010-4707-B895-A195E6497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9255" y="233211"/>
            <a:ext cx="5187486" cy="6391578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96CD3063-182D-45D1-89D5-50A96576A962}"/>
              </a:ext>
            </a:extLst>
          </p:cNvPr>
          <p:cNvSpPr txBox="1"/>
          <p:nvPr/>
        </p:nvSpPr>
        <p:spPr>
          <a:xfrm>
            <a:off x="985037" y="578165"/>
            <a:ext cx="1627654" cy="66316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4236" spc="-4" dirty="0">
                <a:solidFill>
                  <a:srgbClr val="0000FF"/>
                </a:solidFill>
                <a:cs typeface="Comic Sans MS"/>
              </a:rPr>
              <a:t>K</a:t>
            </a:r>
            <a:r>
              <a:rPr sz="4236" spc="9" dirty="0">
                <a:solidFill>
                  <a:srgbClr val="0000FF"/>
                </a:solidFill>
                <a:cs typeface="Comic Sans MS"/>
              </a:rPr>
              <a:t>e</a:t>
            </a:r>
            <a:r>
              <a:rPr sz="4236" spc="-4" dirty="0">
                <a:solidFill>
                  <a:srgbClr val="0000FF"/>
                </a:solidFill>
                <a:cs typeface="Comic Sans MS"/>
              </a:rPr>
              <a:t>r</a:t>
            </a:r>
            <a:r>
              <a:rPr sz="4236" spc="-18" dirty="0">
                <a:solidFill>
                  <a:srgbClr val="0000FF"/>
                </a:solidFill>
                <a:cs typeface="Comic Sans MS"/>
              </a:rPr>
              <a:t>n</a:t>
            </a:r>
            <a:r>
              <a:rPr sz="4236" spc="9" dirty="0">
                <a:solidFill>
                  <a:srgbClr val="0000FF"/>
                </a:solidFill>
                <a:cs typeface="Comic Sans MS"/>
              </a:rPr>
              <a:t>e</a:t>
            </a:r>
            <a:r>
              <a:rPr sz="4236" dirty="0">
                <a:solidFill>
                  <a:srgbClr val="0000FF"/>
                </a:solidFill>
                <a:cs typeface="Comic Sans MS"/>
              </a:rPr>
              <a:t>l</a:t>
            </a:r>
            <a:endParaRPr sz="4236">
              <a:cs typeface="Comic Sans MS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CA4AE21E-C650-420A-99ED-DA9DE7B36E9A}"/>
              </a:ext>
            </a:extLst>
          </p:cNvPr>
          <p:cNvSpPr txBox="1"/>
          <p:nvPr/>
        </p:nvSpPr>
        <p:spPr>
          <a:xfrm>
            <a:off x="985037" y="2124581"/>
            <a:ext cx="1356472" cy="19193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78445">
              <a:spcBef>
                <a:spcPts val="88"/>
              </a:spcBef>
            </a:pPr>
            <a:r>
              <a:rPr sz="4236" spc="-4" dirty="0">
                <a:solidFill>
                  <a:srgbClr val="0000FF"/>
                </a:solidFill>
                <a:cs typeface="Comic Sans MS"/>
              </a:rPr>
              <a:t>Grid</a:t>
            </a:r>
            <a:endParaRPr sz="4236">
              <a:cs typeface="Comic Sans MS"/>
            </a:endParaRPr>
          </a:p>
          <a:p>
            <a:pPr>
              <a:spcBef>
                <a:spcPts val="31"/>
              </a:spcBef>
            </a:pPr>
            <a:endParaRPr sz="3927">
              <a:cs typeface="Comic Sans MS"/>
            </a:endParaRPr>
          </a:p>
          <a:p>
            <a:pPr marL="11206"/>
            <a:r>
              <a:rPr sz="4236" spc="-4" dirty="0">
                <a:solidFill>
                  <a:srgbClr val="0000FF"/>
                </a:solidFill>
                <a:cs typeface="Comic Sans MS"/>
              </a:rPr>
              <a:t>B</a:t>
            </a:r>
            <a:r>
              <a:rPr sz="4236" spc="22" dirty="0">
                <a:solidFill>
                  <a:srgbClr val="0000FF"/>
                </a:solidFill>
                <a:cs typeface="Comic Sans MS"/>
              </a:rPr>
              <a:t>l</a:t>
            </a:r>
            <a:r>
              <a:rPr sz="4236" spc="-26" dirty="0">
                <a:solidFill>
                  <a:srgbClr val="0000FF"/>
                </a:solidFill>
                <a:cs typeface="Comic Sans MS"/>
              </a:rPr>
              <a:t>o</a:t>
            </a:r>
            <a:r>
              <a:rPr sz="4236" spc="-18" dirty="0">
                <a:solidFill>
                  <a:srgbClr val="0000FF"/>
                </a:solidFill>
                <a:cs typeface="Comic Sans MS"/>
              </a:rPr>
              <a:t>c</a:t>
            </a:r>
            <a:r>
              <a:rPr sz="4236" dirty="0">
                <a:solidFill>
                  <a:srgbClr val="0000FF"/>
                </a:solidFill>
                <a:cs typeface="Comic Sans MS"/>
              </a:rPr>
              <a:t>k</a:t>
            </a:r>
            <a:endParaRPr sz="4236">
              <a:cs typeface="Comic Sans MS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7F95C1AC-F89E-4049-AEFF-F53D8140257B}"/>
              </a:ext>
            </a:extLst>
          </p:cNvPr>
          <p:cNvSpPr txBox="1"/>
          <p:nvPr/>
        </p:nvSpPr>
        <p:spPr>
          <a:xfrm>
            <a:off x="850566" y="4948470"/>
            <a:ext cx="1844488" cy="66316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4236" dirty="0">
                <a:solidFill>
                  <a:srgbClr val="0000FF"/>
                </a:solidFill>
                <a:cs typeface="Comic Sans MS"/>
              </a:rPr>
              <a:t>T</a:t>
            </a:r>
            <a:r>
              <a:rPr sz="4236" spc="9" dirty="0">
                <a:solidFill>
                  <a:srgbClr val="0000FF"/>
                </a:solidFill>
                <a:cs typeface="Comic Sans MS"/>
              </a:rPr>
              <a:t>h</a:t>
            </a:r>
            <a:r>
              <a:rPr sz="4236" spc="-4" dirty="0">
                <a:solidFill>
                  <a:srgbClr val="0000FF"/>
                </a:solidFill>
                <a:cs typeface="Comic Sans MS"/>
              </a:rPr>
              <a:t>r</a:t>
            </a:r>
            <a:r>
              <a:rPr sz="4236" spc="9" dirty="0">
                <a:solidFill>
                  <a:srgbClr val="0000FF"/>
                </a:solidFill>
                <a:cs typeface="Comic Sans MS"/>
              </a:rPr>
              <a:t>e</a:t>
            </a:r>
            <a:r>
              <a:rPr sz="4236" spc="-9" dirty="0">
                <a:solidFill>
                  <a:srgbClr val="0000FF"/>
                </a:solidFill>
                <a:cs typeface="Comic Sans MS"/>
              </a:rPr>
              <a:t>a</a:t>
            </a:r>
            <a:r>
              <a:rPr sz="4236" dirty="0">
                <a:solidFill>
                  <a:srgbClr val="0000FF"/>
                </a:solidFill>
                <a:cs typeface="Comic Sans MS"/>
              </a:rPr>
              <a:t>d</a:t>
            </a:r>
            <a:endParaRPr sz="4236">
              <a:cs typeface="Comic Sans MS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7FBB1CF8-9498-45A2-B50D-25946C6D3698}"/>
              </a:ext>
            </a:extLst>
          </p:cNvPr>
          <p:cNvSpPr/>
          <p:nvPr/>
        </p:nvSpPr>
        <p:spPr>
          <a:xfrm>
            <a:off x="1445547" y="1382799"/>
            <a:ext cx="151279" cy="808504"/>
          </a:xfrm>
          <a:custGeom>
            <a:avLst/>
            <a:gdLst/>
            <a:ahLst/>
            <a:cxnLst/>
            <a:rect l="l" t="t" r="r" b="b"/>
            <a:pathLst>
              <a:path w="171450" h="916305">
                <a:moveTo>
                  <a:pt x="85963" y="839245"/>
                </a:moveTo>
                <a:lnTo>
                  <a:pt x="66913" y="806018"/>
                </a:lnTo>
                <a:lnTo>
                  <a:pt x="66913" y="0"/>
                </a:lnTo>
                <a:lnTo>
                  <a:pt x="105013" y="0"/>
                </a:lnTo>
                <a:lnTo>
                  <a:pt x="105013" y="806018"/>
                </a:lnTo>
                <a:lnTo>
                  <a:pt x="85963" y="839245"/>
                </a:lnTo>
                <a:close/>
              </a:path>
              <a:path w="171450" h="916305">
                <a:moveTo>
                  <a:pt x="85201" y="915924"/>
                </a:moveTo>
                <a:lnTo>
                  <a:pt x="2905" y="772668"/>
                </a:lnTo>
                <a:lnTo>
                  <a:pt x="0" y="765405"/>
                </a:lnTo>
                <a:lnTo>
                  <a:pt x="238" y="757999"/>
                </a:lnTo>
                <a:lnTo>
                  <a:pt x="3333" y="751451"/>
                </a:lnTo>
                <a:lnTo>
                  <a:pt x="9001" y="746760"/>
                </a:lnTo>
                <a:lnTo>
                  <a:pt x="16287" y="743854"/>
                </a:lnTo>
                <a:lnTo>
                  <a:pt x="23860" y="744093"/>
                </a:lnTo>
                <a:lnTo>
                  <a:pt x="30861" y="747188"/>
                </a:lnTo>
                <a:lnTo>
                  <a:pt x="36433" y="752856"/>
                </a:lnTo>
                <a:lnTo>
                  <a:pt x="66913" y="806018"/>
                </a:lnTo>
                <a:lnTo>
                  <a:pt x="66913" y="877824"/>
                </a:lnTo>
                <a:lnTo>
                  <a:pt x="107493" y="877824"/>
                </a:lnTo>
                <a:lnTo>
                  <a:pt x="85201" y="915924"/>
                </a:lnTo>
                <a:close/>
              </a:path>
              <a:path w="171450" h="916305">
                <a:moveTo>
                  <a:pt x="107493" y="877824"/>
                </a:moveTo>
                <a:lnTo>
                  <a:pt x="105013" y="877824"/>
                </a:lnTo>
                <a:lnTo>
                  <a:pt x="105013" y="806018"/>
                </a:lnTo>
                <a:lnTo>
                  <a:pt x="135493" y="752856"/>
                </a:lnTo>
                <a:lnTo>
                  <a:pt x="141065" y="747188"/>
                </a:lnTo>
                <a:lnTo>
                  <a:pt x="148066" y="744093"/>
                </a:lnTo>
                <a:lnTo>
                  <a:pt x="155638" y="743854"/>
                </a:lnTo>
                <a:lnTo>
                  <a:pt x="162925" y="746760"/>
                </a:lnTo>
                <a:lnTo>
                  <a:pt x="167735" y="751451"/>
                </a:lnTo>
                <a:lnTo>
                  <a:pt x="170545" y="757999"/>
                </a:lnTo>
                <a:lnTo>
                  <a:pt x="171069" y="765405"/>
                </a:lnTo>
                <a:lnTo>
                  <a:pt x="169021" y="772668"/>
                </a:lnTo>
                <a:lnTo>
                  <a:pt x="107493" y="877824"/>
                </a:lnTo>
                <a:close/>
              </a:path>
              <a:path w="171450" h="916305">
                <a:moveTo>
                  <a:pt x="105013" y="877824"/>
                </a:moveTo>
                <a:lnTo>
                  <a:pt x="66913" y="877824"/>
                </a:lnTo>
                <a:lnTo>
                  <a:pt x="66913" y="806018"/>
                </a:lnTo>
                <a:lnTo>
                  <a:pt x="85963" y="839245"/>
                </a:lnTo>
                <a:lnTo>
                  <a:pt x="69961" y="867156"/>
                </a:lnTo>
                <a:lnTo>
                  <a:pt x="105013" y="867156"/>
                </a:lnTo>
                <a:lnTo>
                  <a:pt x="105013" y="877824"/>
                </a:lnTo>
                <a:close/>
              </a:path>
              <a:path w="171450" h="916305">
                <a:moveTo>
                  <a:pt x="105013" y="867156"/>
                </a:moveTo>
                <a:lnTo>
                  <a:pt x="101965" y="867156"/>
                </a:lnTo>
                <a:lnTo>
                  <a:pt x="85963" y="839245"/>
                </a:lnTo>
                <a:lnTo>
                  <a:pt x="105013" y="806018"/>
                </a:lnTo>
                <a:lnTo>
                  <a:pt x="105013" y="867156"/>
                </a:lnTo>
                <a:close/>
              </a:path>
              <a:path w="171450" h="916305">
                <a:moveTo>
                  <a:pt x="101965" y="867156"/>
                </a:moveTo>
                <a:lnTo>
                  <a:pt x="69961" y="867156"/>
                </a:lnTo>
                <a:lnTo>
                  <a:pt x="85963" y="839245"/>
                </a:lnTo>
                <a:lnTo>
                  <a:pt x="101965" y="8671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F6CB5AB6-9D9F-4688-904F-DB986B3BCFC6}"/>
              </a:ext>
            </a:extLst>
          </p:cNvPr>
          <p:cNvSpPr/>
          <p:nvPr/>
        </p:nvSpPr>
        <p:spPr>
          <a:xfrm>
            <a:off x="1512783" y="2727505"/>
            <a:ext cx="151279" cy="808504"/>
          </a:xfrm>
          <a:custGeom>
            <a:avLst/>
            <a:gdLst/>
            <a:ahLst/>
            <a:cxnLst/>
            <a:rect l="l" t="t" r="r" b="b"/>
            <a:pathLst>
              <a:path w="171450" h="916304">
                <a:moveTo>
                  <a:pt x="85963" y="839245"/>
                </a:moveTo>
                <a:lnTo>
                  <a:pt x="66913" y="806018"/>
                </a:lnTo>
                <a:lnTo>
                  <a:pt x="66913" y="0"/>
                </a:lnTo>
                <a:lnTo>
                  <a:pt x="105013" y="0"/>
                </a:lnTo>
                <a:lnTo>
                  <a:pt x="105013" y="806018"/>
                </a:lnTo>
                <a:lnTo>
                  <a:pt x="85963" y="839245"/>
                </a:lnTo>
                <a:close/>
              </a:path>
              <a:path w="171450" h="916304">
                <a:moveTo>
                  <a:pt x="85201" y="915924"/>
                </a:moveTo>
                <a:lnTo>
                  <a:pt x="2905" y="772668"/>
                </a:lnTo>
                <a:lnTo>
                  <a:pt x="0" y="765405"/>
                </a:lnTo>
                <a:lnTo>
                  <a:pt x="238" y="757999"/>
                </a:lnTo>
                <a:lnTo>
                  <a:pt x="3333" y="751451"/>
                </a:lnTo>
                <a:lnTo>
                  <a:pt x="9001" y="746760"/>
                </a:lnTo>
                <a:lnTo>
                  <a:pt x="16287" y="743854"/>
                </a:lnTo>
                <a:lnTo>
                  <a:pt x="23860" y="744093"/>
                </a:lnTo>
                <a:lnTo>
                  <a:pt x="30861" y="747188"/>
                </a:lnTo>
                <a:lnTo>
                  <a:pt x="36433" y="752856"/>
                </a:lnTo>
                <a:lnTo>
                  <a:pt x="66913" y="806018"/>
                </a:lnTo>
                <a:lnTo>
                  <a:pt x="66913" y="877824"/>
                </a:lnTo>
                <a:lnTo>
                  <a:pt x="107493" y="877824"/>
                </a:lnTo>
                <a:lnTo>
                  <a:pt x="85201" y="915924"/>
                </a:lnTo>
                <a:close/>
              </a:path>
              <a:path w="171450" h="916304">
                <a:moveTo>
                  <a:pt x="107493" y="877824"/>
                </a:moveTo>
                <a:lnTo>
                  <a:pt x="105013" y="877824"/>
                </a:lnTo>
                <a:lnTo>
                  <a:pt x="105013" y="806018"/>
                </a:lnTo>
                <a:lnTo>
                  <a:pt x="135493" y="752856"/>
                </a:lnTo>
                <a:lnTo>
                  <a:pt x="141065" y="747188"/>
                </a:lnTo>
                <a:lnTo>
                  <a:pt x="148066" y="744093"/>
                </a:lnTo>
                <a:lnTo>
                  <a:pt x="155638" y="743854"/>
                </a:lnTo>
                <a:lnTo>
                  <a:pt x="162925" y="746760"/>
                </a:lnTo>
                <a:lnTo>
                  <a:pt x="167735" y="751451"/>
                </a:lnTo>
                <a:lnTo>
                  <a:pt x="170545" y="757999"/>
                </a:lnTo>
                <a:lnTo>
                  <a:pt x="171069" y="765405"/>
                </a:lnTo>
                <a:lnTo>
                  <a:pt x="169021" y="772668"/>
                </a:lnTo>
                <a:lnTo>
                  <a:pt x="107493" y="877824"/>
                </a:lnTo>
                <a:close/>
              </a:path>
              <a:path w="171450" h="916304">
                <a:moveTo>
                  <a:pt x="105013" y="877824"/>
                </a:moveTo>
                <a:lnTo>
                  <a:pt x="66913" y="877824"/>
                </a:lnTo>
                <a:lnTo>
                  <a:pt x="66913" y="806018"/>
                </a:lnTo>
                <a:lnTo>
                  <a:pt x="85963" y="839245"/>
                </a:lnTo>
                <a:lnTo>
                  <a:pt x="69961" y="867156"/>
                </a:lnTo>
                <a:lnTo>
                  <a:pt x="105013" y="867156"/>
                </a:lnTo>
                <a:lnTo>
                  <a:pt x="105013" y="877824"/>
                </a:lnTo>
                <a:close/>
              </a:path>
              <a:path w="171450" h="916304">
                <a:moveTo>
                  <a:pt x="105013" y="867156"/>
                </a:moveTo>
                <a:lnTo>
                  <a:pt x="101965" y="867156"/>
                </a:lnTo>
                <a:lnTo>
                  <a:pt x="85963" y="839245"/>
                </a:lnTo>
                <a:lnTo>
                  <a:pt x="105013" y="806018"/>
                </a:lnTo>
                <a:lnTo>
                  <a:pt x="105013" y="867156"/>
                </a:lnTo>
                <a:close/>
              </a:path>
              <a:path w="171450" h="916304">
                <a:moveTo>
                  <a:pt x="101965" y="867156"/>
                </a:moveTo>
                <a:lnTo>
                  <a:pt x="69961" y="867156"/>
                </a:lnTo>
                <a:lnTo>
                  <a:pt x="85963" y="839245"/>
                </a:lnTo>
                <a:lnTo>
                  <a:pt x="101965" y="8671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827C9CD6-FDBD-4231-8505-A93FEB192217}"/>
              </a:ext>
            </a:extLst>
          </p:cNvPr>
          <p:cNvSpPr/>
          <p:nvPr/>
        </p:nvSpPr>
        <p:spPr>
          <a:xfrm>
            <a:off x="1512783" y="4072210"/>
            <a:ext cx="151279" cy="808504"/>
          </a:xfrm>
          <a:custGeom>
            <a:avLst/>
            <a:gdLst/>
            <a:ahLst/>
            <a:cxnLst/>
            <a:rect l="l" t="t" r="r" b="b"/>
            <a:pathLst>
              <a:path w="171450" h="916304">
                <a:moveTo>
                  <a:pt x="85963" y="839245"/>
                </a:moveTo>
                <a:lnTo>
                  <a:pt x="66913" y="806018"/>
                </a:lnTo>
                <a:lnTo>
                  <a:pt x="66913" y="0"/>
                </a:lnTo>
                <a:lnTo>
                  <a:pt x="105013" y="0"/>
                </a:lnTo>
                <a:lnTo>
                  <a:pt x="105013" y="806018"/>
                </a:lnTo>
                <a:lnTo>
                  <a:pt x="85963" y="839245"/>
                </a:lnTo>
                <a:close/>
              </a:path>
              <a:path w="171450" h="916304">
                <a:moveTo>
                  <a:pt x="85201" y="915924"/>
                </a:moveTo>
                <a:lnTo>
                  <a:pt x="2905" y="772668"/>
                </a:lnTo>
                <a:lnTo>
                  <a:pt x="0" y="765405"/>
                </a:lnTo>
                <a:lnTo>
                  <a:pt x="238" y="757999"/>
                </a:lnTo>
                <a:lnTo>
                  <a:pt x="3333" y="751451"/>
                </a:lnTo>
                <a:lnTo>
                  <a:pt x="9001" y="746760"/>
                </a:lnTo>
                <a:lnTo>
                  <a:pt x="16287" y="743854"/>
                </a:lnTo>
                <a:lnTo>
                  <a:pt x="23860" y="744093"/>
                </a:lnTo>
                <a:lnTo>
                  <a:pt x="30861" y="747188"/>
                </a:lnTo>
                <a:lnTo>
                  <a:pt x="36433" y="752856"/>
                </a:lnTo>
                <a:lnTo>
                  <a:pt x="66913" y="806018"/>
                </a:lnTo>
                <a:lnTo>
                  <a:pt x="66913" y="877824"/>
                </a:lnTo>
                <a:lnTo>
                  <a:pt x="107493" y="877824"/>
                </a:lnTo>
                <a:lnTo>
                  <a:pt x="85201" y="915924"/>
                </a:lnTo>
                <a:close/>
              </a:path>
              <a:path w="171450" h="916304">
                <a:moveTo>
                  <a:pt x="107493" y="877824"/>
                </a:moveTo>
                <a:lnTo>
                  <a:pt x="105013" y="877824"/>
                </a:lnTo>
                <a:lnTo>
                  <a:pt x="105013" y="806018"/>
                </a:lnTo>
                <a:lnTo>
                  <a:pt x="135493" y="752856"/>
                </a:lnTo>
                <a:lnTo>
                  <a:pt x="141065" y="747188"/>
                </a:lnTo>
                <a:lnTo>
                  <a:pt x="148066" y="744093"/>
                </a:lnTo>
                <a:lnTo>
                  <a:pt x="155638" y="743854"/>
                </a:lnTo>
                <a:lnTo>
                  <a:pt x="162925" y="746760"/>
                </a:lnTo>
                <a:lnTo>
                  <a:pt x="167735" y="751451"/>
                </a:lnTo>
                <a:lnTo>
                  <a:pt x="170545" y="757999"/>
                </a:lnTo>
                <a:lnTo>
                  <a:pt x="171069" y="765405"/>
                </a:lnTo>
                <a:lnTo>
                  <a:pt x="169021" y="772668"/>
                </a:lnTo>
                <a:lnTo>
                  <a:pt x="107493" y="877824"/>
                </a:lnTo>
                <a:close/>
              </a:path>
              <a:path w="171450" h="916304">
                <a:moveTo>
                  <a:pt x="105013" y="877824"/>
                </a:moveTo>
                <a:lnTo>
                  <a:pt x="66913" y="877824"/>
                </a:lnTo>
                <a:lnTo>
                  <a:pt x="66913" y="806018"/>
                </a:lnTo>
                <a:lnTo>
                  <a:pt x="85963" y="839245"/>
                </a:lnTo>
                <a:lnTo>
                  <a:pt x="69961" y="867156"/>
                </a:lnTo>
                <a:lnTo>
                  <a:pt x="105013" y="867156"/>
                </a:lnTo>
                <a:lnTo>
                  <a:pt x="105013" y="877824"/>
                </a:lnTo>
                <a:close/>
              </a:path>
              <a:path w="171450" h="916304">
                <a:moveTo>
                  <a:pt x="105013" y="867156"/>
                </a:moveTo>
                <a:lnTo>
                  <a:pt x="101965" y="867156"/>
                </a:lnTo>
                <a:lnTo>
                  <a:pt x="85963" y="839245"/>
                </a:lnTo>
                <a:lnTo>
                  <a:pt x="105013" y="806018"/>
                </a:lnTo>
                <a:lnTo>
                  <a:pt x="105013" y="867156"/>
                </a:lnTo>
                <a:close/>
              </a:path>
              <a:path w="171450" h="916304">
                <a:moveTo>
                  <a:pt x="101965" y="867156"/>
                </a:moveTo>
                <a:lnTo>
                  <a:pt x="69961" y="867156"/>
                </a:lnTo>
                <a:lnTo>
                  <a:pt x="85963" y="839245"/>
                </a:lnTo>
                <a:lnTo>
                  <a:pt x="101965" y="8671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6FDF6D5C-8736-49E8-AFD0-BB2988264822}"/>
              </a:ext>
            </a:extLst>
          </p:cNvPr>
          <p:cNvCxnSpPr/>
          <p:nvPr/>
        </p:nvCxnSpPr>
        <p:spPr>
          <a:xfrm>
            <a:off x="2507756" y="1018434"/>
            <a:ext cx="843219" cy="364365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D140E6B-4097-4A35-8AEF-F44AB254FFE6}"/>
              </a:ext>
            </a:extLst>
          </p:cNvPr>
          <p:cNvCxnSpPr>
            <a:cxnSpLocks/>
          </p:cNvCxnSpPr>
          <p:nvPr/>
        </p:nvCxnSpPr>
        <p:spPr>
          <a:xfrm flipV="1">
            <a:off x="2091811" y="1096904"/>
            <a:ext cx="2715633" cy="1438006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ACCF6758-11F1-4C80-9DCA-F0BB2B7EE9F4}"/>
              </a:ext>
            </a:extLst>
          </p:cNvPr>
          <p:cNvCxnSpPr>
            <a:cxnSpLocks/>
          </p:cNvCxnSpPr>
          <p:nvPr/>
        </p:nvCxnSpPr>
        <p:spPr>
          <a:xfrm flipV="1">
            <a:off x="2191808" y="2168022"/>
            <a:ext cx="3661447" cy="1596841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7847893-B53F-4B95-A63E-213F3DC0DF39}"/>
              </a:ext>
            </a:extLst>
          </p:cNvPr>
          <p:cNvCxnSpPr>
            <a:cxnSpLocks/>
          </p:cNvCxnSpPr>
          <p:nvPr/>
        </p:nvCxnSpPr>
        <p:spPr>
          <a:xfrm flipV="1">
            <a:off x="2447645" y="5012643"/>
            <a:ext cx="1519838" cy="31084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9808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6</a:t>
            </a:fld>
            <a:endParaRPr lang="en-SG"/>
          </a:p>
        </p:txBody>
      </p:sp>
      <p:sp>
        <p:nvSpPr>
          <p:cNvPr id="6" name="矩形: 圆角 7">
            <a:extLst>
              <a:ext uri="{FF2B5EF4-FFF2-40B4-BE49-F238E27FC236}">
                <a16:creationId xmlns:a16="http://schemas.microsoft.com/office/drawing/2014/main" id="{B137BB19-9698-4E80-94CD-4E636789BE1C}"/>
              </a:ext>
            </a:extLst>
          </p:cNvPr>
          <p:cNvSpPr/>
          <p:nvPr/>
        </p:nvSpPr>
        <p:spPr>
          <a:xfrm>
            <a:off x="323528" y="188640"/>
            <a:ext cx="8496944" cy="18002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Q4:  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阐述一下</a:t>
            </a:r>
            <a:r>
              <a:rPr lang="en-US" altLang="zh-CN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SIMD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SIMT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的区别与联系</a:t>
            </a:r>
            <a:endParaRPr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2204864"/>
            <a:ext cx="8165823" cy="4442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09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938712"/>
          </a:xfrm>
        </p:spPr>
        <p:txBody>
          <a:bodyPr>
            <a:normAutofit lnSpcReduction="10000"/>
          </a:bodyPr>
          <a:lstStyle/>
          <a:p>
            <a:r>
              <a:rPr lang="zh-CN" altLang="en-US" b="1" dirty="0" smtClean="0">
                <a:solidFill>
                  <a:srgbClr val="0066FF"/>
                </a:solidFill>
              </a:rPr>
              <a:t>目标</a:t>
            </a:r>
            <a:r>
              <a:rPr lang="zh-CN" altLang="en-US" dirty="0" smtClean="0">
                <a:solidFill>
                  <a:srgbClr val="0066FF"/>
                </a:solidFill>
              </a:rPr>
              <a:t>：均通过</a:t>
            </a:r>
            <a:r>
              <a:rPr lang="zh-CN" altLang="en-US" dirty="0" smtClean="0">
                <a:solidFill>
                  <a:srgbClr val="FF0000"/>
                </a:solidFill>
              </a:rPr>
              <a:t>单</a:t>
            </a:r>
            <a:r>
              <a:rPr lang="zh-CN" altLang="en-US" dirty="0">
                <a:solidFill>
                  <a:srgbClr val="FF0000"/>
                </a:solidFill>
              </a:rPr>
              <a:t>指令控制多</a:t>
            </a:r>
            <a:r>
              <a:rPr lang="zh-CN" altLang="en-US" dirty="0" smtClean="0">
                <a:solidFill>
                  <a:srgbClr val="FF0000"/>
                </a:solidFill>
              </a:rPr>
              <a:t>数据</a:t>
            </a:r>
            <a:r>
              <a:rPr lang="zh-CN" altLang="en-US" dirty="0" smtClean="0">
                <a:solidFill>
                  <a:srgbClr val="0066FF"/>
                </a:solidFill>
              </a:rPr>
              <a:t>来</a:t>
            </a:r>
            <a:r>
              <a:rPr lang="zh-CN" altLang="en-US" dirty="0">
                <a:solidFill>
                  <a:srgbClr val="0066FF"/>
                </a:solidFill>
              </a:rPr>
              <a:t>提高计算</a:t>
            </a:r>
            <a:r>
              <a:rPr lang="zh-CN" altLang="en-US" dirty="0" smtClean="0">
                <a:solidFill>
                  <a:srgbClr val="0066FF"/>
                </a:solidFill>
              </a:rPr>
              <a:t>吞吐量</a:t>
            </a:r>
            <a:endParaRPr lang="en-US" altLang="zh-CN" dirty="0" smtClean="0">
              <a:solidFill>
                <a:srgbClr val="0066FF"/>
              </a:solidFill>
            </a:endParaRPr>
          </a:p>
          <a:p>
            <a:pPr lvl="1"/>
            <a:r>
              <a:rPr lang="zh-CN" altLang="en-US" dirty="0">
                <a:solidFill>
                  <a:srgbClr val="0070C0"/>
                </a:solidFill>
              </a:rPr>
              <a:t>适用于 </a:t>
            </a:r>
            <a:r>
              <a:rPr lang="zh-CN" altLang="en-US" b="1" dirty="0">
                <a:solidFill>
                  <a:srgbClr val="0070C0"/>
                </a:solidFill>
              </a:rPr>
              <a:t>数据并行</a:t>
            </a:r>
            <a:r>
              <a:rPr lang="zh-CN" altLang="en-US" dirty="0">
                <a:solidFill>
                  <a:srgbClr val="0070C0"/>
                </a:solidFill>
              </a:rPr>
              <a:t> 任务（如大规模数组运算）</a:t>
            </a:r>
            <a:endParaRPr lang="en-US" altLang="zh-CN" dirty="0" smtClean="0">
              <a:solidFill>
                <a:srgbClr val="0070C0"/>
              </a:solidFill>
            </a:endParaRPr>
          </a:p>
          <a:p>
            <a:endParaRPr lang="en-US" altLang="zh-CN" dirty="0" smtClean="0">
              <a:solidFill>
                <a:srgbClr val="0066FF"/>
              </a:solidFill>
            </a:endParaRPr>
          </a:p>
          <a:p>
            <a:r>
              <a:rPr lang="en-US" altLang="zh-CN" b="1" dirty="0">
                <a:solidFill>
                  <a:srgbClr val="0066FF"/>
                </a:solidFill>
              </a:rPr>
              <a:t>SIMT</a:t>
            </a:r>
            <a:r>
              <a:rPr lang="zh-CN" altLang="en-US" b="1" dirty="0">
                <a:solidFill>
                  <a:srgbClr val="0066FF"/>
                </a:solidFill>
              </a:rPr>
              <a:t>可视为</a:t>
            </a:r>
            <a:r>
              <a:rPr lang="en-US" altLang="zh-CN" b="1" dirty="0">
                <a:solidFill>
                  <a:srgbClr val="FF0000"/>
                </a:solidFill>
              </a:rPr>
              <a:t>SIMD</a:t>
            </a:r>
            <a:r>
              <a:rPr lang="zh-CN" altLang="en-US" b="1" dirty="0">
                <a:solidFill>
                  <a:srgbClr val="FF0000"/>
                </a:solidFill>
              </a:rPr>
              <a:t>的扩展</a:t>
            </a:r>
          </a:p>
          <a:p>
            <a:pPr lvl="1"/>
            <a:r>
              <a:rPr lang="en-US" altLang="zh-CN" b="1" dirty="0">
                <a:solidFill>
                  <a:srgbClr val="0066FF"/>
                </a:solidFill>
              </a:rPr>
              <a:t>SIMD</a:t>
            </a:r>
            <a:r>
              <a:rPr lang="zh-CN" altLang="en-US" dirty="0">
                <a:solidFill>
                  <a:srgbClr val="0066FF"/>
                </a:solidFill>
              </a:rPr>
              <a:t> 是</a:t>
            </a:r>
            <a:r>
              <a:rPr lang="zh-CN" altLang="en-US" dirty="0">
                <a:solidFill>
                  <a:srgbClr val="FF0000"/>
                </a:solidFill>
              </a:rPr>
              <a:t>严格的同步执行</a:t>
            </a:r>
            <a:r>
              <a:rPr lang="zh-CN" altLang="en-US" dirty="0">
                <a:solidFill>
                  <a:srgbClr val="0066FF"/>
                </a:solidFill>
              </a:rPr>
              <a:t>（所有数据通道必须执行相同操作</a:t>
            </a:r>
            <a:r>
              <a:rPr lang="zh-CN" altLang="en-US" dirty="0" smtClean="0">
                <a:solidFill>
                  <a:srgbClr val="0066FF"/>
                </a:solidFill>
              </a:rPr>
              <a:t>）</a:t>
            </a:r>
            <a:endParaRPr lang="zh-CN" altLang="en-US" dirty="0">
              <a:solidFill>
                <a:srgbClr val="0066FF"/>
              </a:solidFill>
            </a:endParaRPr>
          </a:p>
          <a:p>
            <a:pPr lvl="1"/>
            <a:r>
              <a:rPr lang="en-US" altLang="zh-CN" b="1" dirty="0">
                <a:solidFill>
                  <a:srgbClr val="0066FF"/>
                </a:solidFill>
              </a:rPr>
              <a:t>SIMT</a:t>
            </a:r>
            <a:r>
              <a:rPr lang="zh-CN" altLang="en-US" dirty="0">
                <a:solidFill>
                  <a:srgbClr val="0066FF"/>
                </a:solidFill>
              </a:rPr>
              <a:t> 在</a:t>
            </a:r>
            <a:r>
              <a:rPr lang="en-US" altLang="zh-CN" dirty="0">
                <a:solidFill>
                  <a:srgbClr val="0066FF"/>
                </a:solidFill>
              </a:rPr>
              <a:t>SIMD</a:t>
            </a:r>
            <a:r>
              <a:rPr lang="zh-CN" altLang="en-US" dirty="0">
                <a:solidFill>
                  <a:srgbClr val="0066FF"/>
                </a:solidFill>
              </a:rPr>
              <a:t>基础上增加了</a:t>
            </a:r>
            <a:r>
              <a:rPr lang="zh-CN" altLang="en-US" dirty="0">
                <a:solidFill>
                  <a:srgbClr val="FF0000"/>
                </a:solidFill>
              </a:rPr>
              <a:t> </a:t>
            </a:r>
            <a:r>
              <a:rPr lang="zh-CN" altLang="en-US" b="1" dirty="0">
                <a:solidFill>
                  <a:srgbClr val="FF0000"/>
                </a:solidFill>
              </a:rPr>
              <a:t>线程级灵活性</a:t>
            </a:r>
            <a:r>
              <a:rPr lang="zh-CN" altLang="en-US" dirty="0">
                <a:solidFill>
                  <a:srgbClr val="0066FF"/>
                </a:solidFill>
              </a:rPr>
              <a:t>：</a:t>
            </a:r>
          </a:p>
          <a:p>
            <a:pPr lvl="2"/>
            <a:r>
              <a:rPr lang="zh-CN" altLang="en-US" dirty="0">
                <a:solidFill>
                  <a:srgbClr val="0066FF"/>
                </a:solidFill>
              </a:rPr>
              <a:t>同一</a:t>
            </a:r>
            <a:r>
              <a:rPr lang="en-US" altLang="zh-CN" dirty="0">
                <a:solidFill>
                  <a:srgbClr val="0066FF"/>
                </a:solidFill>
              </a:rPr>
              <a:t>warp</a:t>
            </a:r>
            <a:r>
              <a:rPr lang="zh-CN" altLang="en-US" dirty="0">
                <a:solidFill>
                  <a:srgbClr val="0066FF"/>
                </a:solidFill>
              </a:rPr>
              <a:t>内的线程可执行不同</a:t>
            </a:r>
            <a:r>
              <a:rPr lang="zh-CN" altLang="en-US" dirty="0" smtClean="0">
                <a:solidFill>
                  <a:srgbClr val="0066FF"/>
                </a:solidFill>
              </a:rPr>
              <a:t>分支</a:t>
            </a:r>
            <a:endParaRPr lang="en-US" altLang="zh-CN" dirty="0" smtClean="0">
              <a:solidFill>
                <a:srgbClr val="0066FF"/>
              </a:solidFill>
            </a:endParaRPr>
          </a:p>
          <a:p>
            <a:pPr lvl="2"/>
            <a:r>
              <a:rPr lang="zh-CN" altLang="en-US" dirty="0" smtClean="0">
                <a:solidFill>
                  <a:srgbClr val="0066FF"/>
                </a:solidFill>
              </a:rPr>
              <a:t>支持</a:t>
            </a:r>
            <a:r>
              <a:rPr lang="zh-CN" altLang="en-US" dirty="0">
                <a:solidFill>
                  <a:srgbClr val="0066FF"/>
                </a:solidFill>
              </a:rPr>
              <a:t>线程间通信（共享内存、同步）</a:t>
            </a:r>
          </a:p>
          <a:p>
            <a:endParaRPr lang="zh-CN" altLang="en-US" dirty="0">
              <a:solidFill>
                <a:srgbClr val="0066FF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SIMD vs. SIMT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23432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8</a:t>
            </a:fld>
            <a:endParaRPr lang="en-SG"/>
          </a:p>
        </p:txBody>
      </p:sp>
      <p:sp>
        <p:nvSpPr>
          <p:cNvPr id="6" name="矩形: 圆角 7">
            <a:extLst>
              <a:ext uri="{FF2B5EF4-FFF2-40B4-BE49-F238E27FC236}">
                <a16:creationId xmlns:a16="http://schemas.microsoft.com/office/drawing/2014/main" id="{B137BB19-9698-4E80-94CD-4E636789BE1C}"/>
              </a:ext>
            </a:extLst>
          </p:cNvPr>
          <p:cNvSpPr/>
          <p:nvPr/>
        </p:nvSpPr>
        <p:spPr>
          <a:xfrm>
            <a:off x="251520" y="404664"/>
            <a:ext cx="8496944" cy="129614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Q5: 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什么是线程束分化（</a:t>
            </a:r>
            <a:r>
              <a:rPr lang="en-US" altLang="zh-CN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Warp Divergence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）问题？</a:t>
            </a:r>
            <a:endParaRPr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03548" y="2088430"/>
            <a:ext cx="79928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指的是同一个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warp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内的线程由于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执行不同的代码路径（如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if-else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分支），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导致部分线程必须等待其他线程执行完毕，从而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降低并行效率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现象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3861048"/>
            <a:ext cx="544830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291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446</TotalTime>
  <Words>278</Words>
  <Application>Microsoft Office PowerPoint</Application>
  <PresentationFormat>全屏显示(4:3)</PresentationFormat>
  <Paragraphs>38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宋体</vt:lpstr>
      <vt:lpstr>微软雅黑</vt:lpstr>
      <vt:lpstr>Arial</vt:lpstr>
      <vt:lpstr>Calibri</vt:lpstr>
      <vt:lpstr>Comic Sans MS</vt:lpstr>
      <vt:lpstr>Times New Roman</vt:lpstr>
      <vt:lpstr>Office Theme</vt:lpstr>
      <vt:lpstr>PowerPoint 演示文稿</vt:lpstr>
      <vt:lpstr>PowerPoint 演示文稿</vt:lpstr>
      <vt:lpstr>CUDA核函数指在GPU上并行执行的函数。  它由CPU（主机）调用，但在GPU（设备）上以大量线程并行运行，用于加速计算密集型任务</vt:lpstr>
      <vt:lpstr>PowerPoint 演示文稿</vt:lpstr>
      <vt:lpstr>PowerPoint 演示文稿</vt:lpstr>
      <vt:lpstr>PowerPoint 演示文稿</vt:lpstr>
      <vt:lpstr>SIMD vs. SIMT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Storm for Real-Time Stream Data Analytic</dc:title>
  <dc:creator>Tom Fu</dc:creator>
  <cp:lastModifiedBy>Windows 用户</cp:lastModifiedBy>
  <cp:revision>430</cp:revision>
  <dcterms:created xsi:type="dcterms:W3CDTF">2015-08-27T02:23:10Z</dcterms:created>
  <dcterms:modified xsi:type="dcterms:W3CDTF">2025-06-02T02:56:30Z</dcterms:modified>
</cp:coreProperties>
</file>