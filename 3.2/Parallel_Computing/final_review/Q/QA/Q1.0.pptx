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316" r:id="rId2"/>
    <p:sldId id="326" r:id="rId3"/>
    <p:sldId id="327" r:id="rId4"/>
    <p:sldId id="328" r:id="rId5"/>
    <p:sldId id="317" r:id="rId6"/>
    <p:sldId id="321" r:id="rId7"/>
    <p:sldId id="319" r:id="rId8"/>
    <p:sldId id="32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2266" autoAdjust="0"/>
  </p:normalViewPr>
  <p:slideViewPr>
    <p:cSldViewPr>
      <p:cViewPr varScale="1">
        <p:scale>
          <a:sx n="104" d="100"/>
          <a:sy n="104" d="100"/>
        </p:scale>
        <p:origin x="196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6459F-225C-4AA8-B12F-7D0F44785B1A}" type="datetimeFigureOut">
              <a:rPr lang="en-SG" smtClean="0"/>
              <a:t>2/4/2025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393A7-4FB6-4BF3-96F1-9E4FE826998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9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3D191B-14C9-4E44-80DA-01C77658321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9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B2A1-8233-44BD-A498-681F5159FCD5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29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62D9-0388-44B2-9659-7ED6750167E0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8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E90-0914-4178-BA22-8F1A8D788802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621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E17-0C7B-4A35-A18C-89DE60B5BE13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6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CC10-5197-492F-A74B-3B77355C7237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01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EBC-8D29-4AA6-A353-A4EDC1D6AC50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839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542A-AFC2-4BD4-A4E6-E870AFF62A64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63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15CE-4E91-4B9B-8728-9E9AF6AFB403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971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FD5F-22C5-4B1A-ADCD-44CCB852255F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577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520-D923-4264-BEEB-B16F792BE9F5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582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A1F38-1DA2-43D2-BD1E-DF8E36BDA9E2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73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DB1D0-31BE-4DA1-8061-6C8C0AEF1DE5}" type="datetime1">
              <a:rPr lang="en-SG" altLang="zh-SG" smtClean="0"/>
              <a:t>2/4/2025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86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>
            <a:spLocks noChangeArrowheads="1"/>
          </p:cNvSpPr>
          <p:nvPr/>
        </p:nvSpPr>
        <p:spPr bwMode="auto">
          <a:xfrm>
            <a:off x="179512" y="2924944"/>
            <a:ext cx="87677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Questions</a:t>
            </a:r>
          </a:p>
        </p:txBody>
      </p:sp>
      <p:sp>
        <p:nvSpPr>
          <p:cNvPr id="13" name="副标题 2"/>
          <p:cNvSpPr>
            <a:spLocks noChangeArrowheads="1"/>
          </p:cNvSpPr>
          <p:nvPr/>
        </p:nvSpPr>
        <p:spPr bwMode="auto">
          <a:xfrm>
            <a:off x="1036638" y="4778375"/>
            <a:ext cx="68580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chemeClr val="tx2"/>
              </a:solidFill>
              <a:latin typeface="+mj-ea"/>
              <a:ea typeface="+mj-ea"/>
              <a:cs typeface="Times New Roman" pitchFamily="18" charset="0"/>
              <a:sym typeface="Times New Roman" pitchFamily="18" charset="0"/>
            </a:endParaRPr>
          </a:p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rgbClr val="000000"/>
              </a:solidFill>
              <a:latin typeface="+mj-ea"/>
              <a:ea typeface="+mj-ea"/>
              <a:cs typeface="Times New Roman" pitchFamily="18" charset="0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846598"/>
      </p:ext>
    </p:extLst>
  </p:cSld>
  <p:clrMapOvr>
    <a:masterClrMapping/>
  </p:clrMapOvr>
  <p:transition spd="slow" advTm="184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85313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在 </a:t>
            </a:r>
            <a:r>
              <a:rPr lang="en-US" altLang="zh-CN" dirty="0" err="1"/>
              <a:t>OpenMP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reduction </a:t>
            </a:r>
            <a:r>
              <a:rPr lang="zh-CN" altLang="en-US" dirty="0"/>
              <a:t>子句中，</a:t>
            </a:r>
            <a:r>
              <a:rPr lang="zh-CN" altLang="en-US" dirty="0">
                <a:solidFill>
                  <a:srgbClr val="FF0000"/>
                </a:solidFill>
              </a:rPr>
              <a:t>每个线程的私有变量副本的初始值由归约操作符的类型</a:t>
            </a:r>
            <a:r>
              <a:rPr lang="zh-CN" altLang="en-US" dirty="0" smtClean="0">
                <a:solidFill>
                  <a:srgbClr val="FF0000"/>
                </a:solidFill>
              </a:rPr>
              <a:t>决定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初始值规则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加法 </a:t>
            </a:r>
            <a:r>
              <a:rPr lang="en-US" altLang="zh-CN" dirty="0"/>
              <a:t>(+)</a:t>
            </a:r>
            <a:r>
              <a:rPr lang="zh-CN" altLang="en-US" dirty="0"/>
              <a:t>：初始值为 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乘法 </a:t>
            </a:r>
            <a:r>
              <a:rPr lang="en-US" altLang="zh-CN" dirty="0"/>
              <a:t>(*)</a:t>
            </a:r>
            <a:r>
              <a:rPr lang="zh-CN" altLang="en-US" dirty="0"/>
              <a:t>：初始值为 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逻辑与 </a:t>
            </a:r>
            <a:r>
              <a:rPr lang="en-US" altLang="zh-CN" dirty="0"/>
              <a:t>(&amp;&amp;)</a:t>
            </a:r>
            <a:r>
              <a:rPr lang="zh-CN" altLang="en-US" dirty="0"/>
              <a:t>：初始值为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（即 </a:t>
            </a:r>
            <a:r>
              <a:rPr lang="en-US" altLang="zh-CN" dirty="0"/>
              <a:t>true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逻辑或 </a:t>
            </a:r>
            <a:r>
              <a:rPr lang="en-US" altLang="zh-CN" dirty="0"/>
              <a:t>(||)</a:t>
            </a:r>
            <a:r>
              <a:rPr lang="zh-CN" altLang="en-US" dirty="0"/>
              <a:t>：初始值为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（即 </a:t>
            </a:r>
            <a:r>
              <a:rPr lang="en-US" altLang="zh-CN" dirty="0"/>
              <a:t>false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最大值 </a:t>
            </a:r>
            <a:r>
              <a:rPr lang="en-US" altLang="zh-CN" dirty="0"/>
              <a:t>(max)</a:t>
            </a:r>
            <a:r>
              <a:rPr lang="zh-CN" altLang="en-US" dirty="0"/>
              <a:t>：初始值为该数据类型的最小可能值（如 </a:t>
            </a:r>
            <a:r>
              <a:rPr lang="en-US" altLang="zh-CN" dirty="0">
                <a:solidFill>
                  <a:srgbClr val="FF0000"/>
                </a:solidFill>
              </a:rPr>
              <a:t>INT_MIN</a:t>
            </a:r>
            <a:r>
              <a:rPr lang="en-US" altLang="zh-CN" dirty="0"/>
              <a:t> </a:t>
            </a:r>
            <a:r>
              <a:rPr lang="zh-CN" altLang="en-US" dirty="0"/>
              <a:t>对于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en-US" dirty="0"/>
              <a:t>类型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最小值 </a:t>
            </a:r>
            <a:r>
              <a:rPr lang="en-US" altLang="zh-CN" dirty="0"/>
              <a:t>(min)</a:t>
            </a:r>
            <a:r>
              <a:rPr lang="zh-CN" altLang="en-US" dirty="0"/>
              <a:t>：初始值为该数据类型的最大可能值（如 </a:t>
            </a:r>
            <a:r>
              <a:rPr lang="en-US" altLang="zh-CN" dirty="0">
                <a:solidFill>
                  <a:srgbClr val="FF0000"/>
                </a:solidFill>
              </a:rPr>
              <a:t>INT_MAX</a:t>
            </a:r>
            <a:r>
              <a:rPr lang="en-US" altLang="zh-CN" dirty="0"/>
              <a:t> </a:t>
            </a:r>
            <a:r>
              <a:rPr lang="zh-CN" altLang="en-US" dirty="0"/>
              <a:t>对于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en-US" dirty="0"/>
              <a:t>类型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 smtClean="0"/>
              <a:t>OpenMP</a:t>
            </a:r>
            <a:r>
              <a:rPr lang="zh-CN" altLang="en-US" dirty="0"/>
              <a:t> </a:t>
            </a:r>
            <a:r>
              <a:rPr lang="en-US" altLang="zh-CN" dirty="0" smtClean="0"/>
              <a:t>reduction</a:t>
            </a:r>
            <a:r>
              <a:rPr lang="zh-CN" altLang="en-US" dirty="0" smtClean="0"/>
              <a:t>子句的</a:t>
            </a:r>
            <a:r>
              <a:rPr lang="zh-CN" altLang="en-US" dirty="0"/>
              <a:t>变量初始值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698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23528" y="260648"/>
            <a:ext cx="8712968" cy="1080120"/>
          </a:xfrm>
          <a:ln>
            <a:solidFill>
              <a:srgbClr val="C00000"/>
            </a:solidFill>
          </a:ln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假设使用 </a:t>
            </a:r>
            <a:r>
              <a:rPr lang="en-US" altLang="zh-CN" dirty="0"/>
              <a:t>reduction(+:sum)</a:t>
            </a:r>
            <a:r>
              <a:rPr lang="zh-CN" altLang="en-US" dirty="0"/>
              <a:t>，每个线程的</a:t>
            </a:r>
            <a:r>
              <a:rPr lang="zh-CN" altLang="en-US" dirty="0">
                <a:solidFill>
                  <a:srgbClr val="FF0000"/>
                </a:solidFill>
              </a:rPr>
              <a:t>私有 </a:t>
            </a:r>
            <a:r>
              <a:rPr lang="en-US" altLang="zh-CN" dirty="0">
                <a:solidFill>
                  <a:srgbClr val="FF0000"/>
                </a:solidFill>
              </a:rPr>
              <a:t>sum </a:t>
            </a:r>
            <a:r>
              <a:rPr lang="zh-CN" altLang="en-US" dirty="0">
                <a:solidFill>
                  <a:srgbClr val="FF0000"/>
                </a:solidFill>
              </a:rPr>
              <a:t>会初始化为 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在</a:t>
            </a:r>
            <a:r>
              <a:rPr lang="zh-CN" altLang="en-US" dirty="0"/>
              <a:t>并行区域内，各线程操作</a:t>
            </a:r>
            <a:r>
              <a:rPr lang="zh-CN" altLang="en-US" dirty="0">
                <a:solidFill>
                  <a:srgbClr val="FF0000"/>
                </a:solidFill>
              </a:rPr>
              <a:t>自己的</a:t>
            </a:r>
            <a:r>
              <a:rPr lang="zh-CN" altLang="en-US" dirty="0" smtClean="0">
                <a:solidFill>
                  <a:srgbClr val="FF0000"/>
                </a:solidFill>
              </a:rPr>
              <a:t>副本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退出</a:t>
            </a:r>
            <a:r>
              <a:rPr lang="zh-CN" altLang="en-US" dirty="0">
                <a:solidFill>
                  <a:srgbClr val="FF0000"/>
                </a:solidFill>
              </a:rPr>
              <a:t>并行区域时</a:t>
            </a:r>
            <a:r>
              <a:rPr lang="zh-CN" altLang="en-US" dirty="0"/>
              <a:t>，所有线程的副本通过加法合并，结果再与</a:t>
            </a:r>
            <a:r>
              <a:rPr lang="zh-CN" altLang="en-US" dirty="0">
                <a:solidFill>
                  <a:srgbClr val="FF0000"/>
                </a:solidFill>
              </a:rPr>
              <a:t>主线程的原始值相加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3</a:t>
            </a:fld>
            <a:endParaRPr lang="en-SG"/>
          </a:p>
        </p:txBody>
      </p:sp>
      <p:sp>
        <p:nvSpPr>
          <p:cNvPr id="5" name="文本框 4"/>
          <p:cNvSpPr txBox="1"/>
          <p:nvPr/>
        </p:nvSpPr>
        <p:spPr>
          <a:xfrm>
            <a:off x="899592" y="37170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20732"/>
            <a:ext cx="7865467" cy="39559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内容占位符 1"/>
          <p:cNvSpPr txBox="1">
            <a:spLocks/>
          </p:cNvSpPr>
          <p:nvPr/>
        </p:nvSpPr>
        <p:spPr>
          <a:xfrm>
            <a:off x="1195921" y="5517232"/>
            <a:ext cx="6696744" cy="126876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执行结果：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每个</a:t>
            </a:r>
            <a:r>
              <a:rPr lang="zh-CN" altLang="en-US" dirty="0"/>
              <a:t>线程的</a:t>
            </a:r>
            <a:r>
              <a:rPr lang="zh-CN" altLang="en-US" dirty="0">
                <a:solidFill>
                  <a:srgbClr val="FF0000"/>
                </a:solidFill>
              </a:rPr>
              <a:t>私有 </a:t>
            </a:r>
            <a:r>
              <a:rPr lang="en-US" altLang="zh-CN" dirty="0">
                <a:solidFill>
                  <a:srgbClr val="FF0000"/>
                </a:solidFill>
              </a:rPr>
              <a:t>sum </a:t>
            </a:r>
            <a:r>
              <a:rPr lang="zh-CN" altLang="en-US" dirty="0">
                <a:solidFill>
                  <a:srgbClr val="FF0000"/>
                </a:solidFill>
              </a:rPr>
              <a:t>初始化为 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并行结束后，各线程的 </a:t>
            </a:r>
            <a:r>
              <a:rPr lang="en-US" altLang="zh-CN" dirty="0"/>
              <a:t>sum </a:t>
            </a:r>
            <a:r>
              <a:rPr lang="zh-CN" altLang="en-US" dirty="0"/>
              <a:t>相加为 </a:t>
            </a:r>
            <a:r>
              <a:rPr lang="en-US" altLang="zh-CN" dirty="0"/>
              <a:t>4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假设 </a:t>
            </a:r>
            <a:r>
              <a:rPr lang="en-US" altLang="zh-CN" dirty="0">
                <a:solidFill>
                  <a:srgbClr val="FF0000"/>
                </a:solidFill>
              </a:rPr>
              <a:t>4 </a:t>
            </a:r>
            <a:r>
              <a:rPr lang="zh-CN" altLang="en-US" dirty="0">
                <a:solidFill>
                  <a:srgbClr val="FF0000"/>
                </a:solidFill>
              </a:rPr>
              <a:t>个线程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主线程的原始值 </a:t>
            </a:r>
            <a:r>
              <a:rPr lang="en-US" altLang="zh-CN" dirty="0"/>
              <a:t>10 </a:t>
            </a:r>
            <a:r>
              <a:rPr lang="zh-CN" altLang="en-US" dirty="0"/>
              <a:t>与归约结果 </a:t>
            </a:r>
            <a:r>
              <a:rPr lang="en-US" altLang="zh-CN" dirty="0"/>
              <a:t>4 </a:t>
            </a:r>
            <a:r>
              <a:rPr lang="zh-CN" altLang="en-US" dirty="0"/>
              <a:t>相加，最终 </a:t>
            </a:r>
            <a:r>
              <a:rPr lang="en-US" altLang="zh-CN" dirty="0">
                <a:solidFill>
                  <a:srgbClr val="FF0000"/>
                </a:solidFill>
              </a:rPr>
              <a:t>sum = </a:t>
            </a:r>
            <a:r>
              <a:rPr lang="en-US" altLang="zh-CN" dirty="0" smtClean="0">
                <a:solidFill>
                  <a:srgbClr val="FF0000"/>
                </a:solidFill>
              </a:rPr>
              <a:t>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149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加法（</a:t>
            </a:r>
            <a:r>
              <a:rPr lang="en-US" altLang="zh-CN" dirty="0" smtClean="0"/>
              <a:t>+</a:t>
            </a:r>
            <a:r>
              <a:rPr lang="zh-CN" altLang="en-US" dirty="0" smtClean="0"/>
              <a:t>）：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/>
              <a:t>私有副本初始为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</a:t>
            </a:r>
            <a:r>
              <a:rPr lang="zh-CN" altLang="en-US" dirty="0"/>
              <a:t>最终结果为 </a:t>
            </a:r>
            <a:r>
              <a:rPr lang="zh-CN" altLang="en-US" dirty="0">
                <a:solidFill>
                  <a:srgbClr val="FF0000"/>
                </a:solidFill>
              </a:rPr>
              <a:t>原始值 </a:t>
            </a:r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各</a:t>
            </a:r>
            <a:r>
              <a:rPr lang="zh-CN" altLang="en-US" dirty="0" smtClean="0">
                <a:solidFill>
                  <a:srgbClr val="FF0000"/>
                </a:solidFill>
              </a:rPr>
              <a:t>线程和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乘法（</a:t>
            </a:r>
            <a:r>
              <a:rPr lang="en-US" altLang="zh-CN" dirty="0" smtClean="0"/>
              <a:t>*</a:t>
            </a:r>
            <a:r>
              <a:rPr lang="zh-CN" altLang="en-US" dirty="0" smtClean="0"/>
              <a:t>）：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私有</a:t>
            </a:r>
            <a:r>
              <a:rPr lang="zh-CN" altLang="en-US" dirty="0"/>
              <a:t>副本初始为 </a:t>
            </a:r>
            <a:r>
              <a:rPr lang="en-US" altLang="zh-CN" dirty="0"/>
              <a:t>1</a:t>
            </a:r>
            <a:r>
              <a:rPr lang="zh-CN" altLang="en-US" dirty="0"/>
              <a:t>，最终结果为 </a:t>
            </a:r>
            <a:r>
              <a:rPr lang="zh-CN" altLang="en-US" dirty="0">
                <a:solidFill>
                  <a:srgbClr val="FF0000"/>
                </a:solidFill>
              </a:rPr>
              <a:t>原始值 * 各线程乘积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</a:pP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最大</a:t>
            </a:r>
            <a:r>
              <a:rPr lang="zh-CN" altLang="en-US" dirty="0"/>
              <a:t>值 </a:t>
            </a:r>
            <a:r>
              <a:rPr lang="en-US" altLang="zh-CN" dirty="0"/>
              <a:t>(max): 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私有</a:t>
            </a:r>
            <a:r>
              <a:rPr lang="zh-CN" altLang="en-US" dirty="0"/>
              <a:t>副本初始为 </a:t>
            </a:r>
            <a:r>
              <a:rPr lang="en-US" altLang="zh-CN" dirty="0"/>
              <a:t>INT_MIN</a:t>
            </a:r>
            <a:r>
              <a:rPr lang="zh-CN" altLang="en-US" dirty="0"/>
              <a:t>，最终结果为 </a:t>
            </a:r>
            <a:r>
              <a:rPr lang="en-US" altLang="zh-CN" dirty="0">
                <a:solidFill>
                  <a:srgbClr val="FF0000"/>
                </a:solidFill>
              </a:rPr>
              <a:t>max(</a:t>
            </a:r>
            <a:r>
              <a:rPr lang="zh-CN" altLang="en-US" dirty="0">
                <a:solidFill>
                  <a:srgbClr val="FF0000"/>
                </a:solidFill>
              </a:rPr>
              <a:t>原始值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zh-CN" altLang="en-US" dirty="0">
                <a:solidFill>
                  <a:srgbClr val="FF0000"/>
                </a:solidFill>
              </a:rPr>
              <a:t>各线程最大值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操作符与初始值的对应关系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14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5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692696"/>
            <a:ext cx="8496944" cy="16561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Q1: </a:t>
            </a:r>
            <a:r>
              <a:rPr lang="en-US" altLang="zh-CN" sz="28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OpenMP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中是否也存在临界区的问题？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如何解决？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1835696" y="3176909"/>
            <a:ext cx="6175375" cy="11757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3200" dirty="0">
                <a:solidFill>
                  <a:srgbClr val="0000FF"/>
                </a:solidFill>
                <a:latin typeface="+mn-lt"/>
              </a:rPr>
              <a:t># pragma omp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critical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3200" dirty="0">
                <a:solidFill>
                  <a:srgbClr val="0000FF"/>
                </a:solidFill>
                <a:latin typeface="+mn-lt"/>
              </a:rPr>
              <a:t>   global_result += my_result ;</a:t>
            </a:r>
          </a:p>
        </p:txBody>
      </p:sp>
    </p:spTree>
    <p:extLst>
      <p:ext uri="{BB962C8B-B14F-4D97-AF65-F5344CB8AC3E}">
        <p14:creationId xmlns:p14="http://schemas.microsoft.com/office/powerpoint/2010/main" val="44205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6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640211"/>
            <a:ext cx="849694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Q2:  </a:t>
            </a:r>
            <a:r>
              <a:rPr lang="zh-CN" altLang="en-US" sz="2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OpenMP</a:t>
            </a:r>
            <a:r>
              <a:rPr lang="zh-CN" altLang="en-US" sz="2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中，一个变量的范围指什么？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3717032"/>
            <a:ext cx="8136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In </a:t>
            </a:r>
            <a:r>
              <a:rPr lang="en-US" altLang="zh-CN" sz="2800" dirty="0" err="1">
                <a:solidFill>
                  <a:srgbClr val="FF0000"/>
                </a:solidFill>
              </a:rPr>
              <a:t>OpenMP</a:t>
            </a:r>
            <a:r>
              <a:rPr lang="en-US" altLang="zh-CN" sz="2800" dirty="0"/>
              <a:t>, the </a:t>
            </a:r>
            <a:r>
              <a:rPr lang="en-US" altLang="zh-CN" sz="2800" dirty="0">
                <a:solidFill>
                  <a:srgbClr val="FF0000"/>
                </a:solidFill>
              </a:rPr>
              <a:t>scope of a variable </a:t>
            </a:r>
            <a:r>
              <a:rPr lang="en-US" altLang="zh-CN" sz="2800" dirty="0"/>
              <a:t>refers to </a:t>
            </a:r>
            <a:r>
              <a:rPr lang="en-US" altLang="zh-CN" sz="2800" dirty="0">
                <a:solidFill>
                  <a:srgbClr val="FF0000"/>
                </a:solidFill>
              </a:rPr>
              <a:t>the set of threads</a:t>
            </a:r>
            <a:r>
              <a:rPr lang="en-US" altLang="zh-CN" sz="2800" dirty="0"/>
              <a:t> that can access the variable in a parallel block.</a:t>
            </a:r>
          </a:p>
        </p:txBody>
      </p:sp>
    </p:spTree>
    <p:extLst>
      <p:ext uri="{BB962C8B-B14F-4D97-AF65-F5344CB8AC3E}">
        <p14:creationId xmlns:p14="http://schemas.microsoft.com/office/powerpoint/2010/main" val="323421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7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836712"/>
            <a:ext cx="8496944" cy="21602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Q4: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直接在一个循环体（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）外面加上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Bodoni MT" panose="02070603080606020203" pitchFamily="18" charset="0"/>
              </a:rPr>
              <a:t>#   </a:t>
            </a:r>
            <a:r>
              <a:rPr lang="en-US" altLang="zh-CN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pragma</a:t>
            </a:r>
            <a:r>
              <a:rPr lang="en-US" altLang="zh-CN" sz="2800" dirty="0">
                <a:solidFill>
                  <a:schemeClr val="tx1"/>
                </a:solidFill>
                <a:latin typeface="Bodoni MT" panose="02070603080606020203" pitchFamily="18" charset="0"/>
              </a:rPr>
              <a:t>  </a:t>
            </a:r>
            <a:r>
              <a:rPr lang="en-US" altLang="zh-CN" sz="2800" dirty="0" err="1">
                <a:solidFill>
                  <a:schemeClr val="tx1"/>
                </a:solidFill>
                <a:latin typeface="Bodoni MT" panose="02070603080606020203" pitchFamily="18" charset="0"/>
              </a:rPr>
              <a:t>omp</a:t>
            </a:r>
            <a:r>
              <a:rPr lang="en-US" altLang="zh-CN" sz="2800" dirty="0">
                <a:solidFill>
                  <a:schemeClr val="tx1"/>
                </a:solidFill>
                <a:latin typeface="Bodoni MT" panose="02070603080606020203" pitchFamily="18" charset="0"/>
              </a:rPr>
              <a:t>  parallel  </a:t>
            </a:r>
            <a:r>
              <a:rPr lang="en-US" altLang="zh-CN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for</a:t>
            </a:r>
            <a:r>
              <a:rPr lang="en-US" altLang="zh-CN" sz="2800" dirty="0">
                <a:solidFill>
                  <a:schemeClr val="tx1"/>
                </a:solidFill>
                <a:latin typeface="Bodoni MT" panose="02070603080606020203" pitchFamily="18" charset="0"/>
              </a:rPr>
              <a:t> </a:t>
            </a:r>
            <a:endParaRPr lang="en-US" altLang="zh-CN" sz="2800" dirty="0" smtClean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Bodoni MT" panose="02070603080606020203" pitchFamily="18" charset="0"/>
                <a:ea typeface="微软雅黑" panose="020B0503020204020204" pitchFamily="34" charset="-122"/>
              </a:rPr>
              <a:t>来实现循环体并行化是否总是可行的？会不会出错？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684213" y="5618163"/>
            <a:ext cx="36004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latin typeface="+mn-lt"/>
              </a:rPr>
              <a:t>1 1 2 3 5 8 13 21 34 55</a:t>
            </a:r>
          </a:p>
        </p:txBody>
      </p:sp>
      <p:sp>
        <p:nvSpPr>
          <p:cNvPr id="7" name="Rectangle 9"/>
          <p:cNvSpPr/>
          <p:nvPr/>
        </p:nvSpPr>
        <p:spPr>
          <a:xfrm>
            <a:off x="4500563" y="6122988"/>
            <a:ext cx="26638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latin typeface="+mn-lt"/>
              </a:rPr>
              <a:t>1 1 2 3 5 8 0 0 0 0</a:t>
            </a:r>
          </a:p>
        </p:txBody>
      </p:sp>
      <p:cxnSp>
        <p:nvCxnSpPr>
          <p:cNvPr id="8" name="Straight Arrow Connector 10"/>
          <p:cNvCxnSpPr>
            <a:cxnSpLocks noChangeShapeType="1"/>
          </p:cNvCxnSpPr>
          <p:nvPr/>
        </p:nvCxnSpPr>
        <p:spPr bwMode="auto">
          <a:xfrm rot="5400000">
            <a:off x="2339975" y="5259388"/>
            <a:ext cx="720725" cy="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11"/>
          <p:cNvCxnSpPr>
            <a:cxnSpLocks noChangeShapeType="1"/>
          </p:cNvCxnSpPr>
          <p:nvPr/>
        </p:nvCxnSpPr>
        <p:spPr bwMode="auto">
          <a:xfrm rot="5400000">
            <a:off x="5112543" y="5511007"/>
            <a:ext cx="1223963" cy="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14"/>
          <p:cNvSpPr txBox="1"/>
          <p:nvPr/>
        </p:nvSpPr>
        <p:spPr>
          <a:xfrm>
            <a:off x="936399" y="6064581"/>
            <a:ext cx="24152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this is correct</a:t>
            </a:r>
          </a:p>
        </p:txBody>
      </p:sp>
      <p:sp>
        <p:nvSpPr>
          <p:cNvPr id="11" name="TextBox 15"/>
          <p:cNvSpPr txBox="1"/>
          <p:nvPr/>
        </p:nvSpPr>
        <p:spPr>
          <a:xfrm>
            <a:off x="6011863" y="5114925"/>
            <a:ext cx="27368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but sometimes</a:t>
            </a:r>
            <a:br>
              <a:rPr lang="en-US" sz="2800" dirty="0">
                <a:solidFill>
                  <a:srgbClr val="C00000"/>
                </a:solidFill>
                <a:latin typeface="+mn-lt"/>
              </a:rPr>
            </a:br>
            <a:r>
              <a:rPr lang="en-US" sz="2800" dirty="0">
                <a:solidFill>
                  <a:srgbClr val="C00000"/>
                </a:solidFill>
                <a:latin typeface="+mn-lt"/>
              </a:rPr>
              <a:t>we get this</a:t>
            </a: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1476375" y="3314700"/>
            <a:ext cx="5394325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fibo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[ 0 ]  =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fibo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[ 1 ]  =  1;</a:t>
            </a:r>
          </a:p>
          <a:p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#   </a:t>
            </a:r>
            <a:r>
              <a:rPr lang="en-US" altLang="zh-CN" sz="2100" b="1" dirty="0">
                <a:latin typeface="Bodoni MT" panose="02070603080606020203" pitchFamily="18" charset="0"/>
                <a:ea typeface="宋体" panose="02010600030101010101" pitchFamily="2" charset="-122"/>
              </a:rPr>
              <a:t>pragma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omp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parallel  </a:t>
            </a:r>
            <a:r>
              <a:rPr lang="en-US" altLang="zh-CN" sz="2100" b="1" dirty="0">
                <a:latin typeface="Bodoni MT" panose="02070603080606020203" pitchFamily="18" charset="0"/>
                <a:ea typeface="宋体" panose="02010600030101010101" pitchFamily="2" charset="-122"/>
              </a:rPr>
              <a:t>for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num_threads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(2)</a:t>
            </a:r>
          </a:p>
          <a:p>
            <a:r>
              <a:rPr lang="en-US" altLang="zh-CN" sz="2100" b="1" dirty="0">
                <a:latin typeface="Bodoni MT" panose="02070603080606020203" pitchFamily="18" charset="0"/>
                <a:ea typeface="宋体" panose="02010600030101010101" pitchFamily="2" charset="-122"/>
              </a:rPr>
              <a:t>     for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(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=  2;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&lt;  n;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++)</a:t>
            </a:r>
          </a:p>
          <a:p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fibo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[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]  = 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fibo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[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– 1 ] +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fibo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[ </a:t>
            </a:r>
            <a:r>
              <a:rPr lang="en-US" altLang="zh-CN" sz="2100" dirty="0" err="1">
                <a:latin typeface="Bodoni MT" panose="02070603080606020203" pitchFamily="18" charset="0"/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latin typeface="Bodoni MT" panose="02070603080606020203" pitchFamily="18" charset="0"/>
                <a:ea typeface="宋体" panose="02010600030101010101" pitchFamily="2" charset="-122"/>
              </a:rPr>
              <a:t> – 2 ]; </a:t>
            </a:r>
          </a:p>
        </p:txBody>
      </p:sp>
      <p:sp>
        <p:nvSpPr>
          <p:cNvPr id="13" name="矩形: 圆角 1">
            <a:extLst>
              <a:ext uri="{FF2B5EF4-FFF2-40B4-BE49-F238E27FC236}">
                <a16:creationId xmlns:a16="http://schemas.microsoft.com/office/drawing/2014/main" id="{CDAC9105-1E18-4E27-B97E-74809485607A}"/>
              </a:ext>
            </a:extLst>
          </p:cNvPr>
          <p:cNvSpPr/>
          <p:nvPr/>
        </p:nvSpPr>
        <p:spPr>
          <a:xfrm>
            <a:off x="5889171" y="6080125"/>
            <a:ext cx="981527" cy="504825"/>
          </a:xfrm>
          <a:prstGeom prst="roundRect">
            <a:avLst/>
          </a:prstGeom>
          <a:solidFill>
            <a:srgbClr val="FF0000">
              <a:alpha val="1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2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1" grpId="0"/>
      <p:bldP spid="12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8</a:t>
            </a:fld>
            <a:endParaRPr lang="en-SG"/>
          </a:p>
        </p:txBody>
      </p:sp>
      <p:sp>
        <p:nvSpPr>
          <p:cNvPr id="3" name="Content Placeholder 4"/>
          <p:cNvSpPr txBox="1">
            <a:spLocks/>
          </p:cNvSpPr>
          <p:nvPr/>
        </p:nvSpPr>
        <p:spPr>
          <a:xfrm>
            <a:off x="467544" y="836712"/>
            <a:ext cx="8352928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 smtClean="0"/>
              <a:t>OpenMP</a:t>
            </a:r>
            <a:r>
              <a:rPr lang="en-US" altLang="zh-CN" dirty="0" smtClean="0"/>
              <a:t> compilers </a:t>
            </a:r>
            <a:r>
              <a:rPr lang="en-US" altLang="zh-CN" dirty="0" smtClean="0">
                <a:solidFill>
                  <a:srgbClr val="FF0000"/>
                </a:solidFill>
              </a:rPr>
              <a:t>don’t check </a:t>
            </a:r>
            <a:r>
              <a:rPr lang="en-US" altLang="zh-CN" dirty="0" smtClean="0"/>
              <a:t>for </a:t>
            </a:r>
            <a:r>
              <a:rPr lang="en-US" altLang="zh-CN" dirty="0" smtClean="0">
                <a:solidFill>
                  <a:srgbClr val="FF0000"/>
                </a:solidFill>
              </a:rPr>
              <a:t>dependencies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among iterations </a:t>
            </a:r>
            <a:r>
              <a:rPr lang="en-US" altLang="zh-CN" dirty="0" smtClean="0"/>
              <a:t>in a loop that’s being parallelized with a parallel for directive.</a:t>
            </a:r>
            <a:endParaRPr lang="en-US" altLang="zh-CN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61DC032-EE6B-4172-8B90-10724267CDE5}"/>
              </a:ext>
            </a:extLst>
          </p:cNvPr>
          <p:cNvSpPr txBox="1">
            <a:spLocks/>
          </p:cNvSpPr>
          <p:nvPr/>
        </p:nvSpPr>
        <p:spPr>
          <a:xfrm>
            <a:off x="611560" y="3356992"/>
            <a:ext cx="7776864" cy="247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/>
              <a:t>A loop in which the results of one or more iterations </a:t>
            </a:r>
            <a:r>
              <a:rPr lang="en-US" altLang="zh-CN" sz="3200" dirty="0">
                <a:solidFill>
                  <a:srgbClr val="0000FF"/>
                </a:solidFill>
              </a:rPr>
              <a:t>depend on other iterations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cannot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be correctly parallelized </a:t>
            </a:r>
            <a:r>
              <a:rPr lang="en-US" altLang="zh-CN" sz="3200" dirty="0"/>
              <a:t>by OpenMP.</a:t>
            </a:r>
          </a:p>
        </p:txBody>
      </p:sp>
    </p:spTree>
    <p:extLst>
      <p:ext uri="{BB962C8B-B14F-4D97-AF65-F5344CB8AC3E}">
        <p14:creationId xmlns:p14="http://schemas.microsoft.com/office/powerpoint/2010/main" val="95590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488</Words>
  <Application>Microsoft Office PowerPoint</Application>
  <PresentationFormat>全屏显示(4:3)</PresentationFormat>
  <Paragraphs>54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宋体</vt:lpstr>
      <vt:lpstr>微软雅黑</vt:lpstr>
      <vt:lpstr>Arial</vt:lpstr>
      <vt:lpstr>Bodoni MT</vt:lpstr>
      <vt:lpstr>Calibri</vt:lpstr>
      <vt:lpstr>Times New Roman</vt:lpstr>
      <vt:lpstr>Wingdings</vt:lpstr>
      <vt:lpstr>Office Theme</vt:lpstr>
      <vt:lpstr>PowerPoint 演示文稿</vt:lpstr>
      <vt:lpstr>OpenMP reduction子句的变量初始值</vt:lpstr>
      <vt:lpstr>PowerPoint 演示文稿</vt:lpstr>
      <vt:lpstr>操作符与初始值的对应关系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Storm for Real-Time Stream Data Analytic</dc:title>
  <dc:creator>Tom Fu</dc:creator>
  <cp:lastModifiedBy>Windows 用户</cp:lastModifiedBy>
  <cp:revision>426</cp:revision>
  <dcterms:created xsi:type="dcterms:W3CDTF">2015-08-27T02:23:10Z</dcterms:created>
  <dcterms:modified xsi:type="dcterms:W3CDTF">2025-04-02T09:16:14Z</dcterms:modified>
</cp:coreProperties>
</file>