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sldIdLst>
    <p:sldId id="316" r:id="rId2"/>
    <p:sldId id="332" r:id="rId3"/>
    <p:sldId id="333" r:id="rId4"/>
    <p:sldId id="319" r:id="rId5"/>
    <p:sldId id="325" r:id="rId6"/>
    <p:sldId id="326" r:id="rId7"/>
    <p:sldId id="327" r:id="rId8"/>
    <p:sldId id="328" r:id="rId9"/>
    <p:sldId id="329" r:id="rId10"/>
    <p:sldId id="330" r:id="rId11"/>
    <p:sldId id="317" r:id="rId12"/>
    <p:sldId id="323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66F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52" autoAdjust="0"/>
    <p:restoredTop sz="82266" autoAdjust="0"/>
  </p:normalViewPr>
  <p:slideViewPr>
    <p:cSldViewPr>
      <p:cViewPr varScale="1">
        <p:scale>
          <a:sx n="104" d="100"/>
          <a:sy n="104" d="100"/>
        </p:scale>
        <p:origin x="1963" y="10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E6459F-225C-4AA8-B12F-7D0F44785B1A}" type="datetimeFigureOut">
              <a:rPr lang="en-SG" smtClean="0"/>
              <a:t>17/6/2025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5393A7-4FB6-4BF3-96F1-9E4FE826998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7999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53D191B-14C9-4E44-80DA-01C77658321C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98999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552C7AE4-68D9-4C8E-A2F2-AD1F392EA1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2888FD04-02BB-4AD9-B748-DD313095BF56}" type="slidenum">
              <a:rPr lang="en-US" altLang="zh-CN" sz="1200">
                <a:latin typeface="Arial" panose="020B0604020202020204" pitchFamily="34" charset="0"/>
              </a:rPr>
              <a:pPr/>
              <a:t>5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F52203AF-F84B-4123-9D3F-DCE84416FCE1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258888" y="719138"/>
            <a:ext cx="4800600" cy="3600450"/>
          </a:xfrm>
          <a:solidFill>
            <a:srgbClr val="FFFFFF"/>
          </a:solidFill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BB481164-81AA-401D-B1E9-DBAAEBB9B4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211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13470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81DA6A0C-EC3C-404F-9833-CA588331EE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6599B0B0-5CD1-4C6C-A8C0-2584990981AB}" type="slidenum">
              <a:rPr lang="en-US" altLang="zh-CN" sz="1200">
                <a:latin typeface="Arial" panose="020B0604020202020204" pitchFamily="34" charset="0"/>
              </a:rPr>
              <a:pPr/>
              <a:t>6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C834B6AA-3D69-4E91-8A49-8972A2AF90FD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258888" y="719138"/>
            <a:ext cx="4800600" cy="3600450"/>
          </a:xfrm>
          <a:solidFill>
            <a:srgbClr val="FFFFFF"/>
          </a:solidFill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1BD0A4D3-C52E-4BB2-B1D5-5D1A7091E8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211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28446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FEE7A52E-1588-482E-BEED-9B8882A0BA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402F677E-7052-48BE-A014-8DCA64E11615}" type="slidenum">
              <a:rPr lang="en-US" altLang="zh-CN" sz="1200">
                <a:latin typeface="Arial" panose="020B0604020202020204" pitchFamily="34" charset="0"/>
              </a:rPr>
              <a:pPr/>
              <a:t>7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ECD8F041-1A3B-45CC-B8F9-BF0495D608F4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258888" y="719138"/>
            <a:ext cx="4800600" cy="3600450"/>
          </a:xfrm>
          <a:solidFill>
            <a:srgbClr val="FFFFFF"/>
          </a:solidFill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BBADC7EC-AF9F-44C0-8217-5E6A001E0F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211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35031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3DCA8F99-360F-4E12-9401-EFF130D943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1FFA082C-9D8B-478C-B19D-F59FF3A272A8}" type="slidenum">
              <a:rPr lang="en-US" altLang="zh-CN" sz="1200">
                <a:latin typeface="Arial" panose="020B0604020202020204" pitchFamily="34" charset="0"/>
              </a:rPr>
              <a:pPr/>
              <a:t>8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EDA56B87-1AE7-46AA-BFE2-7456C060A5BE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258888" y="719138"/>
            <a:ext cx="4800600" cy="3600450"/>
          </a:xfrm>
          <a:solidFill>
            <a:srgbClr val="FFFFFF"/>
          </a:solidFill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E2F9149F-276A-474A-9A62-2ECEE2C3F4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211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55021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54C65B9C-621F-4101-8867-F273178ADB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8654F73F-D2A5-4B76-94F5-B5F555D10CDD}" type="slidenum">
              <a:rPr lang="en-US" altLang="zh-CN" sz="1200">
                <a:latin typeface="Arial" panose="020B0604020202020204" pitchFamily="34" charset="0"/>
              </a:rPr>
              <a:pPr/>
              <a:t>9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C25E3574-C2DB-4F4A-A1C2-1585789C4C4C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258888" y="719138"/>
            <a:ext cx="4800600" cy="3600450"/>
          </a:xfrm>
          <a:solidFill>
            <a:srgbClr val="FFFFFF"/>
          </a:solidFill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B859CD1A-F4F4-48F6-9DF5-27024CF0D3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211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6963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571EA21C-69DE-401C-B4EC-69C6777267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BC90733D-703F-47FF-89B3-F52E12D62131}" type="slidenum">
              <a:rPr lang="en-US" altLang="zh-CN" sz="1200">
                <a:latin typeface="Arial" panose="020B0604020202020204" pitchFamily="34" charset="0"/>
              </a:rPr>
              <a:pPr/>
              <a:t>10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858F4C45-AF2E-4EDA-9A69-61FCA5367220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258888" y="719138"/>
            <a:ext cx="4800600" cy="3600450"/>
          </a:xfrm>
          <a:solidFill>
            <a:srgbClr val="FFFFFF"/>
          </a:solidFill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40E0DE51-AF3B-41B5-8625-CA26D77E03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211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4872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2B2A1-8233-44BD-A498-681F5159FCD5}" type="datetime1">
              <a:rPr lang="en-SG" altLang="zh-SG" smtClean="0"/>
              <a:t>17/6/2025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24298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SG"/>
              <a:t>Click to edit Master title style</a:t>
            </a:r>
            <a:endParaRPr lang="zh-SG" alt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262D9-0388-44B2-9659-7ED6750167E0}" type="datetime1">
              <a:rPr lang="en-SG" altLang="zh-SG" smtClean="0"/>
              <a:t>17/6/2025</a:t>
            </a:fld>
            <a:endParaRPr lang="en-SG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383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B6E90-0914-4178-BA22-8F1A8D788802}" type="datetime1">
              <a:rPr lang="en-SG" altLang="zh-SG" smtClean="0"/>
              <a:t>17/6/2025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46217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DE17-0C7B-4A35-A18C-89DE60B5BE13}" type="datetime1">
              <a:rPr lang="en-SG" altLang="zh-SG" smtClean="0"/>
              <a:t>17/6/2025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8690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BCC10-5197-492F-A74B-3B77355C7237}" type="datetime1">
              <a:rPr lang="en-SG" altLang="zh-SG" smtClean="0"/>
              <a:t>17/6/2025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67014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0EBC-8D29-4AA6-A353-A4EDC1D6AC50}" type="datetime1">
              <a:rPr lang="en-SG" altLang="zh-SG" smtClean="0"/>
              <a:t>17/6/2025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58391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E542A-AFC2-4BD4-A4E6-E870AFF62A64}" type="datetime1">
              <a:rPr lang="en-SG" altLang="zh-SG" smtClean="0"/>
              <a:t>17/6/2025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8636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B15CE-4E91-4B9B-8728-9E9AF6AFB403}" type="datetime1">
              <a:rPr lang="en-SG" altLang="zh-SG" smtClean="0"/>
              <a:t>17/6/2025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39718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4FD5F-22C5-4B1A-ADCD-44CCB852255F}" type="datetime1">
              <a:rPr lang="en-SG" altLang="zh-SG" smtClean="0"/>
              <a:t>17/6/2025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45776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51520-D923-4264-BEEB-B16F792BE9F5}" type="datetime1">
              <a:rPr lang="en-SG" altLang="zh-SG" smtClean="0"/>
              <a:t>17/6/2025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05826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A1F38-1DA2-43D2-BD1E-DF8E36BDA9E2}" type="datetime1">
              <a:rPr lang="en-SG" altLang="zh-SG" smtClean="0"/>
              <a:t>17/6/2025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77736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CDB1D0-31BE-4DA1-8061-6C8C0AEF1DE5}" type="datetime1">
              <a:rPr lang="en-SG" altLang="zh-SG" smtClean="0"/>
              <a:t>17/6/2025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846718-CB15-44DC-A3B0-F0ED78D869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08667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 baseline="0">
          <a:solidFill>
            <a:schemeClr val="tx1"/>
          </a:solidFill>
          <a:latin typeface="+mj-lt"/>
          <a:ea typeface="微软雅黑" panose="020B0503020204020204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 baseline="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 baseline="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 baseline="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 baseline="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"/>
          <p:cNvSpPr txBox="1">
            <a:spLocks noChangeArrowheads="1"/>
          </p:cNvSpPr>
          <p:nvPr/>
        </p:nvSpPr>
        <p:spPr bwMode="auto">
          <a:xfrm>
            <a:off x="179512" y="2924944"/>
            <a:ext cx="8767762" cy="133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j-cs"/>
                <a:sym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ill Sans MT" pitchFamily="34" charset="0"/>
                <a:ea typeface="微软雅黑" pitchFamily="34" charset="-122"/>
                <a:sym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ill Sans MT" pitchFamily="34" charset="0"/>
                <a:ea typeface="微软雅黑" pitchFamily="34" charset="-122"/>
                <a:sym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ill Sans MT" pitchFamily="34" charset="0"/>
                <a:ea typeface="微软雅黑" pitchFamily="34" charset="-122"/>
                <a:sym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ill Sans MT" pitchFamily="34" charset="0"/>
                <a:ea typeface="微软雅黑" pitchFamily="34" charset="-122"/>
                <a:sym typeface="Arial" panose="020B0604020202020204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itchFamily="34" charset="0"/>
                <a:ea typeface="黑体" pitchFamily="49" charset="-122"/>
                <a:sym typeface="Arial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itchFamily="34" charset="0"/>
                <a:ea typeface="黑体" pitchFamily="49" charset="-122"/>
                <a:sym typeface="Arial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itchFamily="34" charset="0"/>
                <a:ea typeface="黑体" pitchFamily="49" charset="-122"/>
                <a:sym typeface="Arial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itchFamily="34" charset="0"/>
                <a:ea typeface="黑体" pitchFamily="49" charset="-122"/>
                <a:sym typeface="Arial" pitchFamily="34" charset="0"/>
              </a:defRPr>
            </a:lvl9pPr>
          </a:lstStyle>
          <a:p>
            <a:pPr algn="ctr" eaLnBrk="1" hangingPunct="1">
              <a:defRPr/>
            </a:pPr>
            <a:r>
              <a:rPr lang="en-US" altLang="zh-CN" sz="48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Questions</a:t>
            </a:r>
          </a:p>
        </p:txBody>
      </p:sp>
      <p:sp>
        <p:nvSpPr>
          <p:cNvPr id="13" name="副标题 2"/>
          <p:cNvSpPr>
            <a:spLocks noChangeArrowheads="1"/>
          </p:cNvSpPr>
          <p:nvPr/>
        </p:nvSpPr>
        <p:spPr bwMode="auto">
          <a:xfrm>
            <a:off x="1036638" y="4778375"/>
            <a:ext cx="6858000" cy="120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  <a:defRPr/>
            </a:pPr>
            <a:endParaRPr lang="zh-CN" altLang="en-US" sz="3200">
              <a:solidFill>
                <a:schemeClr val="tx2"/>
              </a:solidFill>
              <a:latin typeface="+mj-ea"/>
              <a:ea typeface="+mj-ea"/>
              <a:cs typeface="Times New Roman" pitchFamily="18" charset="0"/>
              <a:sym typeface="Times New Roman" pitchFamily="18" charset="0"/>
            </a:endParaRPr>
          </a:p>
          <a:p>
            <a:pPr algn="ctr" eaLnBrk="1" hangingPunct="1">
              <a:lnSpc>
                <a:spcPct val="120000"/>
              </a:lnSpc>
              <a:defRPr/>
            </a:pPr>
            <a:endParaRPr lang="zh-CN" altLang="en-US" sz="3200">
              <a:solidFill>
                <a:srgbClr val="000000"/>
              </a:solidFill>
              <a:latin typeface="+mj-ea"/>
              <a:ea typeface="+mj-ea"/>
              <a:cs typeface="Times New Roman" pitchFamily="18" charset="0"/>
              <a:sym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57846598"/>
      </p:ext>
    </p:extLst>
  </p:cSld>
  <p:clrMapOvr>
    <a:masterClrMapping/>
  </p:clrMapOvr>
  <p:transition spd="slow" advTm="1840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2</a:t>
            </a:fld>
            <a:endParaRPr lang="en-SG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1412875"/>
            <a:ext cx="7599362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413" y="2725983"/>
            <a:ext cx="8180387" cy="231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reeform 5"/>
          <p:cNvSpPr>
            <a:spLocks noChangeArrowheads="1"/>
          </p:cNvSpPr>
          <p:nvPr/>
        </p:nvSpPr>
        <p:spPr bwMode="auto">
          <a:xfrm>
            <a:off x="3454400" y="2305050"/>
            <a:ext cx="585788" cy="1016000"/>
          </a:xfrm>
          <a:custGeom>
            <a:avLst/>
            <a:gdLst>
              <a:gd name="T0" fmla="*/ 58821 w 585536"/>
              <a:gd name="T1" fmla="*/ 37432 h 1016001"/>
              <a:gd name="T2" fmla="*/ 491958 w 585536"/>
              <a:gd name="T3" fmla="*/ 37432 h 1016001"/>
              <a:gd name="T4" fmla="*/ 74863 w 585536"/>
              <a:gd name="T5" fmla="*/ 262022 h 1016001"/>
              <a:gd name="T6" fmla="*/ 491958 w 585536"/>
              <a:gd name="T7" fmla="*/ 310148 h 1016001"/>
              <a:gd name="T8" fmla="*/ 10695 w 585536"/>
              <a:gd name="T9" fmla="*/ 534738 h 1016001"/>
              <a:gd name="T10" fmla="*/ 556126 w 585536"/>
              <a:gd name="T11" fmla="*/ 566822 h 1016001"/>
              <a:gd name="T12" fmla="*/ 187158 w 585536"/>
              <a:gd name="T13" fmla="*/ 711201 h 1016001"/>
              <a:gd name="T14" fmla="*/ 139032 w 585536"/>
              <a:gd name="T15" fmla="*/ 1016001 h 1016001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85536"/>
              <a:gd name="T25" fmla="*/ 0 h 1016001"/>
              <a:gd name="T26" fmla="*/ 585536 w 585536"/>
              <a:gd name="T27" fmla="*/ 1016001 h 1016001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85536" h="1016001">
                <a:moveTo>
                  <a:pt x="58821" y="37432"/>
                </a:moveTo>
                <a:cubicBezTo>
                  <a:pt x="274052" y="18716"/>
                  <a:pt x="489284" y="0"/>
                  <a:pt x="491958" y="37432"/>
                </a:cubicBezTo>
                <a:cubicBezTo>
                  <a:pt x="494632" y="74864"/>
                  <a:pt x="74863" y="216569"/>
                  <a:pt x="74863" y="262022"/>
                </a:cubicBezTo>
                <a:cubicBezTo>
                  <a:pt x="74863" y="307475"/>
                  <a:pt x="502653" y="264695"/>
                  <a:pt x="491958" y="310148"/>
                </a:cubicBezTo>
                <a:cubicBezTo>
                  <a:pt x="481263" y="355601"/>
                  <a:pt x="0" y="491959"/>
                  <a:pt x="10695" y="534738"/>
                </a:cubicBezTo>
                <a:cubicBezTo>
                  <a:pt x="21390" y="577517"/>
                  <a:pt x="526716" y="537412"/>
                  <a:pt x="556126" y="566822"/>
                </a:cubicBezTo>
                <a:cubicBezTo>
                  <a:pt x="585536" y="596232"/>
                  <a:pt x="256674" y="636338"/>
                  <a:pt x="187158" y="711201"/>
                </a:cubicBezTo>
                <a:cubicBezTo>
                  <a:pt x="117642" y="786064"/>
                  <a:pt x="128337" y="901032"/>
                  <a:pt x="139032" y="1016001"/>
                </a:cubicBezTo>
              </a:path>
            </a:pathLst>
          </a:custGeom>
          <a:noFill/>
          <a:ln w="22225" algn="ctr">
            <a:solidFill>
              <a:srgbClr val="C0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endParaRPr lang="en-GB" altLang="zh-CN"/>
          </a:p>
        </p:txBody>
      </p:sp>
      <p:cxnSp>
        <p:nvCxnSpPr>
          <p:cNvPr id="6" name="直接连接符 5"/>
          <p:cNvCxnSpPr/>
          <p:nvPr/>
        </p:nvCxnSpPr>
        <p:spPr>
          <a:xfrm>
            <a:off x="1056038" y="4268488"/>
            <a:ext cx="956281" cy="698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1056039" y="4769895"/>
            <a:ext cx="956281" cy="698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圆角矩形 7"/>
          <p:cNvSpPr/>
          <p:nvPr/>
        </p:nvSpPr>
        <p:spPr>
          <a:xfrm>
            <a:off x="684213" y="1347169"/>
            <a:ext cx="7599362" cy="957881"/>
          </a:xfrm>
          <a:prstGeom prst="roundRect">
            <a:avLst/>
          </a:prstGeom>
          <a:solidFill>
            <a:schemeClr val="accent4">
              <a:alpha val="2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B289FB95-5F6B-47AD-B591-952E3995D759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 baseline="0">
                <a:solidFill>
                  <a:schemeClr val="tx1"/>
                </a:solidFill>
                <a:latin typeface="+mj-lt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 smtClean="0"/>
              <a:t>MPI Safety</a:t>
            </a:r>
            <a:endParaRPr lang="en-US" altLang="zh-CN" dirty="0"/>
          </a:p>
        </p:txBody>
      </p:sp>
      <p:sp>
        <p:nvSpPr>
          <p:cNvPr id="11" name="文本框 10"/>
          <p:cNvSpPr txBox="1"/>
          <p:nvPr/>
        </p:nvSpPr>
        <p:spPr>
          <a:xfrm>
            <a:off x="583684" y="5817973"/>
            <a:ext cx="8103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smtClean="0"/>
              <a:t>However, it may not be clear that this scheme is also safe if </a:t>
            </a:r>
            <a:r>
              <a:rPr lang="en-US" altLang="zh-CN" sz="2000" dirty="0" err="1" smtClean="0"/>
              <a:t>comm_sz</a:t>
            </a:r>
            <a:r>
              <a:rPr lang="en-US" altLang="zh-CN" sz="2000" dirty="0" smtClean="0"/>
              <a:t> is </a:t>
            </a:r>
            <a:r>
              <a:rPr lang="en-US" altLang="zh-CN" sz="2000" dirty="0" smtClean="0">
                <a:solidFill>
                  <a:srgbClr val="FF0000"/>
                </a:solidFill>
              </a:rPr>
              <a:t>odd</a:t>
            </a:r>
            <a:r>
              <a:rPr lang="en-US" altLang="zh-CN" sz="2000" dirty="0" smtClean="0"/>
              <a:t>.</a:t>
            </a:r>
            <a:endParaRPr lang="zh-CN" altLang="en-US" sz="2000" dirty="0"/>
          </a:p>
        </p:txBody>
      </p:sp>
      <p:sp>
        <p:nvSpPr>
          <p:cNvPr id="12" name="文本框 11"/>
          <p:cNvSpPr txBox="1"/>
          <p:nvPr/>
        </p:nvSpPr>
        <p:spPr>
          <a:xfrm>
            <a:off x="583684" y="5308903"/>
            <a:ext cx="56987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smtClean="0"/>
              <a:t>It is fairly clear that this will work if </a:t>
            </a:r>
            <a:r>
              <a:rPr lang="en-US" altLang="zh-CN" sz="2000" dirty="0" err="1" smtClean="0"/>
              <a:t>comm_sz</a:t>
            </a:r>
            <a:r>
              <a:rPr lang="en-US" altLang="zh-CN" sz="2000" dirty="0" smtClean="0"/>
              <a:t> is </a:t>
            </a:r>
            <a:r>
              <a:rPr lang="en-US" altLang="zh-CN" sz="2000" dirty="0" smtClean="0">
                <a:solidFill>
                  <a:srgbClr val="FF0000"/>
                </a:solidFill>
              </a:rPr>
              <a:t>even</a:t>
            </a:r>
            <a:r>
              <a:rPr lang="en-US" altLang="zh-CN" sz="2000" dirty="0" smtClean="0"/>
              <a:t>.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407142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5" name="Title 3"/>
          <p:cNvSpPr>
            <a:spLocks noGrp="1"/>
          </p:cNvSpPr>
          <p:nvPr>
            <p:ph type="title"/>
          </p:nvPr>
        </p:nvSpPr>
        <p:spPr>
          <a:xfrm>
            <a:off x="385536" y="300446"/>
            <a:ext cx="8281987" cy="1323975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Safe comm. with five processes</a:t>
            </a:r>
          </a:p>
        </p:txBody>
      </p:sp>
      <p:pic>
        <p:nvPicPr>
          <p:cNvPr id="139267" name="Picture 2" descr="f03-13-9780123742605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6852" y="1624421"/>
            <a:ext cx="5630472" cy="4671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E2F5BAB-8430-4D66-B7FB-AB6A6BB4F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73BF0-1322-481A-85B0-7D5783909D9E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930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4</a:t>
            </a:fld>
            <a:endParaRPr lang="en-SG"/>
          </a:p>
        </p:txBody>
      </p:sp>
      <p:sp>
        <p:nvSpPr>
          <p:cNvPr id="6" name="矩形: 圆角 7">
            <a:extLst>
              <a:ext uri="{FF2B5EF4-FFF2-40B4-BE49-F238E27FC236}">
                <a16:creationId xmlns:a16="http://schemas.microsoft.com/office/drawing/2014/main" id="{B137BB19-9698-4E80-94CD-4E636789BE1C}"/>
              </a:ext>
            </a:extLst>
          </p:cNvPr>
          <p:cNvSpPr/>
          <p:nvPr/>
        </p:nvSpPr>
        <p:spPr>
          <a:xfrm>
            <a:off x="395536" y="476672"/>
            <a:ext cx="8496944" cy="18002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Q1: 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 coherence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（缓存一致性）问题？可否举个例子。</a:t>
            </a:r>
          </a:p>
        </p:txBody>
      </p:sp>
      <p:sp>
        <p:nvSpPr>
          <p:cNvPr id="2" name="矩形 1"/>
          <p:cNvSpPr/>
          <p:nvPr/>
        </p:nvSpPr>
        <p:spPr>
          <a:xfrm>
            <a:off x="395536" y="2685395"/>
            <a:ext cx="8291264" cy="28161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FF0000"/>
                </a:solidFill>
                <a:latin typeface="CMU Typewriter Text" panose="02000609000000000000" pitchFamily="50" charset="0"/>
                <a:ea typeface="微软雅黑" panose="020B0503020204020204" pitchFamily="34" charset="-122"/>
                <a:cs typeface="CMU Typewriter Text" panose="02000609000000000000" pitchFamily="50" charset="0"/>
              </a:rPr>
              <a:t>缓存一致性</a:t>
            </a:r>
            <a:r>
              <a:rPr lang="zh-CN" altLang="en-US" sz="2400" dirty="0">
                <a:solidFill>
                  <a:srgbClr val="0066FF"/>
                </a:solidFill>
                <a:latin typeface="CMU Typewriter Text" panose="02000609000000000000" pitchFamily="50" charset="0"/>
                <a:ea typeface="微软雅黑" panose="020B0503020204020204" pitchFamily="34" charset="-122"/>
                <a:cs typeface="CMU Typewriter Text" panose="02000609000000000000" pitchFamily="50" charset="0"/>
              </a:rPr>
              <a:t>是指在多处理器系统中，当</a:t>
            </a:r>
            <a:r>
              <a:rPr lang="zh-CN" altLang="en-US" sz="2400" dirty="0">
                <a:solidFill>
                  <a:srgbClr val="FF0000"/>
                </a:solidFill>
                <a:latin typeface="CMU Typewriter Text" panose="02000609000000000000" pitchFamily="50" charset="0"/>
                <a:ea typeface="微软雅黑" panose="020B0503020204020204" pitchFamily="34" charset="-122"/>
                <a:cs typeface="CMU Typewriter Text" panose="02000609000000000000" pitchFamily="50" charset="0"/>
              </a:rPr>
              <a:t>多个处理器核心拥有自己的缓存</a:t>
            </a:r>
            <a:r>
              <a:rPr lang="zh-CN" altLang="en-US" sz="2400" dirty="0">
                <a:solidFill>
                  <a:srgbClr val="0066FF"/>
                </a:solidFill>
                <a:latin typeface="CMU Typewriter Text" panose="02000609000000000000" pitchFamily="50" charset="0"/>
                <a:ea typeface="微软雅黑" panose="020B0503020204020204" pitchFamily="34" charset="-122"/>
                <a:cs typeface="CMU Typewriter Text" panose="02000609000000000000" pitchFamily="50" charset="0"/>
              </a:rPr>
              <a:t>时，</a:t>
            </a:r>
            <a:r>
              <a:rPr lang="zh-CN" altLang="en-US" sz="2400" dirty="0">
                <a:solidFill>
                  <a:srgbClr val="FF0000"/>
                </a:solidFill>
                <a:latin typeface="CMU Typewriter Text" panose="02000609000000000000" pitchFamily="50" charset="0"/>
                <a:ea typeface="微软雅黑" panose="020B0503020204020204" pitchFamily="34" charset="-122"/>
                <a:cs typeface="CMU Typewriter Text" panose="02000609000000000000" pitchFamily="50" charset="0"/>
              </a:rPr>
              <a:t>如何确保它们共享数据的一致性</a:t>
            </a:r>
            <a:r>
              <a:rPr lang="zh-CN" altLang="en-US" sz="2400" dirty="0" smtClean="0">
                <a:solidFill>
                  <a:srgbClr val="0066FF"/>
                </a:solidFill>
                <a:latin typeface="CMU Typewriter Text" panose="02000609000000000000" pitchFamily="50" charset="0"/>
                <a:ea typeface="微软雅黑" panose="020B0503020204020204" pitchFamily="34" charset="-122"/>
                <a:cs typeface="CMU Typewriter Text" panose="02000609000000000000" pitchFamily="50" charset="0"/>
              </a:rPr>
              <a:t>。</a:t>
            </a:r>
            <a:endParaRPr lang="en-US" altLang="zh-CN" sz="2400" dirty="0" smtClean="0">
              <a:solidFill>
                <a:srgbClr val="0066FF"/>
              </a:solidFill>
              <a:latin typeface="CMU Typewriter Text" panose="02000609000000000000" pitchFamily="50" charset="0"/>
              <a:ea typeface="CMU Typewriter Text" panose="02000609000000000000" pitchFamily="50" charset="0"/>
              <a:cs typeface="CMU Typewriter Text" panose="02000609000000000000" pitchFamily="50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dirty="0" smtClean="0">
              <a:solidFill>
                <a:srgbClr val="0066FF"/>
              </a:solidFill>
              <a:latin typeface="CMU Typewriter Text" panose="02000609000000000000" pitchFamily="50" charset="0"/>
              <a:ea typeface="CMU Typewriter Text" panose="02000609000000000000" pitchFamily="50" charset="0"/>
              <a:cs typeface="CMU Typewriter Text" panose="02000609000000000000" pitchFamily="50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solidFill>
                  <a:srgbClr val="0066FF"/>
                </a:solidFill>
                <a:latin typeface="CMU Typewriter Text" panose="02000609000000000000" pitchFamily="50" charset="0"/>
                <a:ea typeface="微软雅黑" panose="020B0503020204020204" pitchFamily="34" charset="-122"/>
                <a:cs typeface="CMU Typewriter Text" panose="02000609000000000000" pitchFamily="50" charset="0"/>
              </a:rPr>
              <a:t>当</a:t>
            </a:r>
            <a:r>
              <a:rPr lang="zh-CN" altLang="en-US" sz="2400" dirty="0">
                <a:solidFill>
                  <a:srgbClr val="0066FF"/>
                </a:solidFill>
                <a:latin typeface="CMU Typewriter Text" panose="02000609000000000000" pitchFamily="50" charset="0"/>
                <a:ea typeface="微软雅黑" panose="020B0503020204020204" pitchFamily="34" charset="-122"/>
                <a:cs typeface="CMU Typewriter Text" panose="02000609000000000000" pitchFamily="50" charset="0"/>
              </a:rPr>
              <a:t>不同处理器缓存了</a:t>
            </a:r>
            <a:r>
              <a:rPr lang="zh-CN" altLang="en-US" sz="2400" dirty="0">
                <a:solidFill>
                  <a:srgbClr val="FF0000"/>
                </a:solidFill>
                <a:latin typeface="CMU Typewriter Text" panose="02000609000000000000" pitchFamily="50" charset="0"/>
                <a:ea typeface="微软雅黑" panose="020B0503020204020204" pitchFamily="34" charset="-122"/>
                <a:cs typeface="CMU Typewriter Text" panose="02000609000000000000" pitchFamily="50" charset="0"/>
              </a:rPr>
              <a:t>同一内存位置</a:t>
            </a:r>
            <a:r>
              <a:rPr lang="zh-CN" altLang="en-US" sz="2400" dirty="0">
                <a:solidFill>
                  <a:srgbClr val="0066FF"/>
                </a:solidFill>
                <a:latin typeface="CMU Typewriter Text" panose="02000609000000000000" pitchFamily="50" charset="0"/>
                <a:ea typeface="微软雅黑" panose="020B0503020204020204" pitchFamily="34" charset="-122"/>
                <a:cs typeface="CMU Typewriter Text" panose="02000609000000000000" pitchFamily="50" charset="0"/>
              </a:rPr>
              <a:t>的数据副本时，对这些副本的更新必须</a:t>
            </a:r>
            <a:r>
              <a:rPr lang="zh-CN" altLang="en-US" sz="2400" dirty="0">
                <a:solidFill>
                  <a:srgbClr val="FF0000"/>
                </a:solidFill>
                <a:latin typeface="CMU Typewriter Text" panose="02000609000000000000" pitchFamily="50" charset="0"/>
                <a:ea typeface="微软雅黑" panose="020B0503020204020204" pitchFamily="34" charset="-122"/>
                <a:cs typeface="CMU Typewriter Text" panose="02000609000000000000" pitchFamily="50" charset="0"/>
              </a:rPr>
              <a:t>传播到所有其他缓存</a:t>
            </a:r>
            <a:r>
              <a:rPr lang="zh-CN" altLang="en-US" sz="2400" dirty="0">
                <a:solidFill>
                  <a:srgbClr val="0066FF"/>
                </a:solidFill>
                <a:latin typeface="CMU Typewriter Text" panose="02000609000000000000" pitchFamily="50" charset="0"/>
                <a:ea typeface="微软雅黑" panose="020B0503020204020204" pitchFamily="34" charset="-122"/>
                <a:cs typeface="CMU Typewriter Text" panose="02000609000000000000" pitchFamily="50" charset="0"/>
              </a:rPr>
              <a:t>，以保持数据一致性。</a:t>
            </a:r>
          </a:p>
        </p:txBody>
      </p:sp>
    </p:spTree>
    <p:extLst>
      <p:ext uri="{BB962C8B-B14F-4D97-AF65-F5344CB8AC3E}">
        <p14:creationId xmlns:p14="http://schemas.microsoft.com/office/powerpoint/2010/main" val="1286291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Slide Number Placeholder 5">
            <a:extLst>
              <a:ext uri="{FF2B5EF4-FFF2-40B4-BE49-F238E27FC236}">
                <a16:creationId xmlns:a16="http://schemas.microsoft.com/office/drawing/2014/main" id="{4AC1425E-1C79-4C56-849C-5E29A8280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922B2328-1BF9-4076-9280-26CD0CE894C6}" type="slidenum">
              <a:rPr lang="en-US" altLang="zh-CN" sz="1200"/>
              <a:pPr/>
              <a:t>5</a:t>
            </a:fld>
            <a:endParaRPr lang="en-US" altLang="zh-CN" sz="1200"/>
          </a:p>
        </p:txBody>
      </p:sp>
      <p:sp>
        <p:nvSpPr>
          <p:cNvPr id="30724" name="Rectangle 2">
            <a:extLst>
              <a:ext uri="{FF2B5EF4-FFF2-40B4-BE49-F238E27FC236}">
                <a16:creationId xmlns:a16="http://schemas.microsoft.com/office/drawing/2014/main" id="{B289FB95-5F6B-47AD-B591-952E3995D7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dirty="0" smtClean="0"/>
              <a:t>缓存一致性问题举例</a:t>
            </a:r>
            <a:endParaRPr lang="en-US" altLang="zh-CN" dirty="0"/>
          </a:p>
        </p:txBody>
      </p:sp>
      <p:sp>
        <p:nvSpPr>
          <p:cNvPr id="30725" name="Oval 3">
            <a:extLst>
              <a:ext uri="{FF2B5EF4-FFF2-40B4-BE49-F238E27FC236}">
                <a16:creationId xmlns:a16="http://schemas.microsoft.com/office/drawing/2014/main" id="{96F006C6-7586-4015-8A27-673F66499E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1371600"/>
            <a:ext cx="1143000" cy="9906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zh-CN" sz="1800"/>
              <a:t>P1</a:t>
            </a:r>
          </a:p>
        </p:txBody>
      </p:sp>
      <p:grpSp>
        <p:nvGrpSpPr>
          <p:cNvPr id="30726" name="Group 4">
            <a:extLst>
              <a:ext uri="{FF2B5EF4-FFF2-40B4-BE49-F238E27FC236}">
                <a16:creationId xmlns:a16="http://schemas.microsoft.com/office/drawing/2014/main" id="{1A03A87A-066C-4B63-9B02-956DCE82B0D2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2667000"/>
            <a:ext cx="1676400" cy="1143000"/>
            <a:chOff x="1008" y="1968"/>
            <a:chExt cx="1056" cy="720"/>
          </a:xfrm>
          <a:solidFill>
            <a:schemeClr val="accent4">
              <a:lumMod val="20000"/>
              <a:lumOff val="80000"/>
            </a:schemeClr>
          </a:solidFill>
        </p:grpSpPr>
        <p:grpSp>
          <p:nvGrpSpPr>
            <p:cNvPr id="30764" name="Group 5">
              <a:extLst>
                <a:ext uri="{FF2B5EF4-FFF2-40B4-BE49-F238E27FC236}">
                  <a16:creationId xmlns:a16="http://schemas.microsoft.com/office/drawing/2014/main" id="{60885BD2-E632-4E33-918C-B916B278B5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8" y="2208"/>
              <a:ext cx="1056" cy="240"/>
              <a:chOff x="1152" y="2304"/>
              <a:chExt cx="1056" cy="480"/>
            </a:xfrm>
            <a:grpFill/>
          </p:grpSpPr>
          <p:sp>
            <p:nvSpPr>
              <p:cNvPr id="30771" name="Rectangle 6">
                <a:extLst>
                  <a:ext uri="{FF2B5EF4-FFF2-40B4-BE49-F238E27FC236}">
                    <a16:creationId xmlns:a16="http://schemas.microsoft.com/office/drawing/2014/main" id="{13897CA3-FE65-4CE8-B3BF-78CFEAE714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2304"/>
                <a:ext cx="768" cy="480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/>
              </a:p>
            </p:txBody>
          </p:sp>
          <p:sp>
            <p:nvSpPr>
              <p:cNvPr id="30772" name="Rectangle 7">
                <a:extLst>
                  <a:ext uri="{FF2B5EF4-FFF2-40B4-BE49-F238E27FC236}">
                    <a16:creationId xmlns:a16="http://schemas.microsoft.com/office/drawing/2014/main" id="{B19D5742-99F6-491B-8655-3492DB3624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2304"/>
                <a:ext cx="288" cy="480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/>
              </a:p>
            </p:txBody>
          </p:sp>
        </p:grpSp>
        <p:grpSp>
          <p:nvGrpSpPr>
            <p:cNvPr id="30765" name="Group 8">
              <a:extLst>
                <a:ext uri="{FF2B5EF4-FFF2-40B4-BE49-F238E27FC236}">
                  <a16:creationId xmlns:a16="http://schemas.microsoft.com/office/drawing/2014/main" id="{6B093006-2640-40C8-B7C2-EB0B71630D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8" y="2448"/>
              <a:ext cx="1056" cy="240"/>
              <a:chOff x="1152" y="2304"/>
              <a:chExt cx="1056" cy="480"/>
            </a:xfrm>
            <a:grpFill/>
          </p:grpSpPr>
          <p:sp>
            <p:nvSpPr>
              <p:cNvPr id="30769" name="Rectangle 9">
                <a:extLst>
                  <a:ext uri="{FF2B5EF4-FFF2-40B4-BE49-F238E27FC236}">
                    <a16:creationId xmlns:a16="http://schemas.microsoft.com/office/drawing/2014/main" id="{3C126862-74E7-4C80-BDEB-14CC4A1649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2304"/>
                <a:ext cx="768" cy="480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/>
              </a:p>
            </p:txBody>
          </p:sp>
          <p:sp>
            <p:nvSpPr>
              <p:cNvPr id="30770" name="Rectangle 10">
                <a:extLst>
                  <a:ext uri="{FF2B5EF4-FFF2-40B4-BE49-F238E27FC236}">
                    <a16:creationId xmlns:a16="http://schemas.microsoft.com/office/drawing/2014/main" id="{75178F74-4A3A-4349-971C-29CDED167A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2304"/>
                <a:ext cx="288" cy="480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/>
              </a:p>
            </p:txBody>
          </p:sp>
        </p:grpSp>
        <p:grpSp>
          <p:nvGrpSpPr>
            <p:cNvPr id="30766" name="Group 11">
              <a:extLst>
                <a:ext uri="{FF2B5EF4-FFF2-40B4-BE49-F238E27FC236}">
                  <a16:creationId xmlns:a16="http://schemas.microsoft.com/office/drawing/2014/main" id="{4F36F2DF-2DB0-4B7F-A8E9-BD7A5AD865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8" y="1968"/>
              <a:ext cx="1056" cy="240"/>
              <a:chOff x="1152" y="2304"/>
              <a:chExt cx="1056" cy="480"/>
            </a:xfrm>
            <a:grpFill/>
          </p:grpSpPr>
          <p:sp>
            <p:nvSpPr>
              <p:cNvPr id="30767" name="Rectangle 12">
                <a:extLst>
                  <a:ext uri="{FF2B5EF4-FFF2-40B4-BE49-F238E27FC236}">
                    <a16:creationId xmlns:a16="http://schemas.microsoft.com/office/drawing/2014/main" id="{88AD54E6-A7B3-45BC-8E9D-D3D65A6447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2304"/>
                <a:ext cx="768" cy="480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/>
              </a:p>
            </p:txBody>
          </p:sp>
          <p:sp>
            <p:nvSpPr>
              <p:cNvPr id="30768" name="Rectangle 13">
                <a:extLst>
                  <a:ext uri="{FF2B5EF4-FFF2-40B4-BE49-F238E27FC236}">
                    <a16:creationId xmlns:a16="http://schemas.microsoft.com/office/drawing/2014/main" id="{C14663BD-DB16-4CD3-BE60-7C49F796E3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2304"/>
                <a:ext cx="288" cy="480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/>
              </a:p>
            </p:txBody>
          </p:sp>
        </p:grpSp>
      </p:grpSp>
      <p:sp>
        <p:nvSpPr>
          <p:cNvPr id="30727" name="Line 14">
            <a:extLst>
              <a:ext uri="{FF2B5EF4-FFF2-40B4-BE49-F238E27FC236}">
                <a16:creationId xmlns:a16="http://schemas.microsoft.com/office/drawing/2014/main" id="{3A84E611-0476-43FF-827C-1264AB1425B0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23622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28" name="Oval 15">
            <a:extLst>
              <a:ext uri="{FF2B5EF4-FFF2-40B4-BE49-F238E27FC236}">
                <a16:creationId xmlns:a16="http://schemas.microsoft.com/office/drawing/2014/main" id="{B548DD1A-EC2A-4B4F-8E07-F75031EA91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1371600"/>
            <a:ext cx="1143000" cy="9906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zh-CN" sz="1800"/>
              <a:t>P3</a:t>
            </a:r>
          </a:p>
        </p:txBody>
      </p:sp>
      <p:grpSp>
        <p:nvGrpSpPr>
          <p:cNvPr id="30729" name="Group 16">
            <a:extLst>
              <a:ext uri="{FF2B5EF4-FFF2-40B4-BE49-F238E27FC236}">
                <a16:creationId xmlns:a16="http://schemas.microsoft.com/office/drawing/2014/main" id="{92ABDFD0-A7AB-4446-9757-71E820CFC4BF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3429000"/>
            <a:ext cx="1676400" cy="381000"/>
            <a:chOff x="1152" y="2304"/>
            <a:chExt cx="1056" cy="480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30762" name="Rectangle 17">
              <a:extLst>
                <a:ext uri="{FF2B5EF4-FFF2-40B4-BE49-F238E27FC236}">
                  <a16:creationId xmlns:a16="http://schemas.microsoft.com/office/drawing/2014/main" id="{CD75A7DF-8403-4A65-91C2-EF4F294511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304"/>
              <a:ext cx="768" cy="48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/>
            </a:p>
          </p:txBody>
        </p:sp>
        <p:sp>
          <p:nvSpPr>
            <p:cNvPr id="30763" name="Rectangle 18">
              <a:extLst>
                <a:ext uri="{FF2B5EF4-FFF2-40B4-BE49-F238E27FC236}">
                  <a16:creationId xmlns:a16="http://schemas.microsoft.com/office/drawing/2014/main" id="{FE6EFA93-61A5-494B-9A28-C293B69DBF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2304"/>
              <a:ext cx="288" cy="48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/>
            </a:p>
          </p:txBody>
        </p:sp>
      </p:grpSp>
      <p:grpSp>
        <p:nvGrpSpPr>
          <p:cNvPr id="30730" name="Group 19">
            <a:extLst>
              <a:ext uri="{FF2B5EF4-FFF2-40B4-BE49-F238E27FC236}">
                <a16:creationId xmlns:a16="http://schemas.microsoft.com/office/drawing/2014/main" id="{EF638197-4F33-4BFB-8EC7-572CC7539492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2667000"/>
            <a:ext cx="1676400" cy="381000"/>
            <a:chOff x="1152" y="2304"/>
            <a:chExt cx="1056" cy="480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30760" name="Rectangle 20">
              <a:extLst>
                <a:ext uri="{FF2B5EF4-FFF2-40B4-BE49-F238E27FC236}">
                  <a16:creationId xmlns:a16="http://schemas.microsoft.com/office/drawing/2014/main" id="{CD964951-D206-40D6-B095-627ECF556E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304"/>
              <a:ext cx="768" cy="48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/>
            </a:p>
          </p:txBody>
        </p:sp>
        <p:sp>
          <p:nvSpPr>
            <p:cNvPr id="30761" name="Rectangle 21">
              <a:extLst>
                <a:ext uri="{FF2B5EF4-FFF2-40B4-BE49-F238E27FC236}">
                  <a16:creationId xmlns:a16="http://schemas.microsoft.com/office/drawing/2014/main" id="{3A1145BA-6A75-4D82-8F80-E872062F03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2304"/>
              <a:ext cx="288" cy="48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/>
            </a:p>
          </p:txBody>
        </p:sp>
      </p:grpSp>
      <p:sp>
        <p:nvSpPr>
          <p:cNvPr id="30731" name="Line 22">
            <a:extLst>
              <a:ext uri="{FF2B5EF4-FFF2-40B4-BE49-F238E27FC236}">
                <a16:creationId xmlns:a16="http://schemas.microsoft.com/office/drawing/2014/main" id="{1F25A631-F2B1-4E66-B94B-C861AA0BC8D6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23622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0732" name="Group 23">
            <a:extLst>
              <a:ext uri="{FF2B5EF4-FFF2-40B4-BE49-F238E27FC236}">
                <a16:creationId xmlns:a16="http://schemas.microsoft.com/office/drawing/2014/main" id="{71AE700E-BEF2-4722-841A-F6D27E32705F}"/>
              </a:ext>
            </a:extLst>
          </p:cNvPr>
          <p:cNvGrpSpPr>
            <a:grpSpLocks/>
          </p:cNvGrpSpPr>
          <p:nvPr/>
        </p:nvGrpSpPr>
        <p:grpSpPr bwMode="auto">
          <a:xfrm>
            <a:off x="3962400" y="1371600"/>
            <a:ext cx="1676400" cy="2438400"/>
            <a:chOff x="1008" y="1104"/>
            <a:chExt cx="1056" cy="1536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30748" name="Oval 24">
              <a:extLst>
                <a:ext uri="{FF2B5EF4-FFF2-40B4-BE49-F238E27FC236}">
                  <a16:creationId xmlns:a16="http://schemas.microsoft.com/office/drawing/2014/main" id="{5A743DC7-39FA-454C-B487-6A9159A2CD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1104"/>
              <a:ext cx="720" cy="624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zh-CN" sz="1800"/>
                <a:t>P2</a:t>
              </a:r>
            </a:p>
          </p:txBody>
        </p:sp>
        <p:grpSp>
          <p:nvGrpSpPr>
            <p:cNvPr id="30749" name="Group 25">
              <a:extLst>
                <a:ext uri="{FF2B5EF4-FFF2-40B4-BE49-F238E27FC236}">
                  <a16:creationId xmlns:a16="http://schemas.microsoft.com/office/drawing/2014/main" id="{7E3AACFD-35BE-47B3-9ECF-087644752D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8" y="1920"/>
              <a:ext cx="1056" cy="720"/>
              <a:chOff x="1008" y="1968"/>
              <a:chExt cx="1056" cy="720"/>
            </a:xfrm>
            <a:grpFill/>
          </p:grpSpPr>
          <p:grpSp>
            <p:nvGrpSpPr>
              <p:cNvPr id="30751" name="Group 26">
                <a:extLst>
                  <a:ext uri="{FF2B5EF4-FFF2-40B4-BE49-F238E27FC236}">
                    <a16:creationId xmlns:a16="http://schemas.microsoft.com/office/drawing/2014/main" id="{6C36A173-7880-492C-8119-AF02FEFF4BB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08" y="2208"/>
                <a:ext cx="1056" cy="240"/>
                <a:chOff x="1152" y="2304"/>
                <a:chExt cx="1056" cy="480"/>
              </a:xfrm>
              <a:grpFill/>
            </p:grpSpPr>
            <p:sp>
              <p:nvSpPr>
                <p:cNvPr id="30758" name="Rectangle 27">
                  <a:extLst>
                    <a:ext uri="{FF2B5EF4-FFF2-40B4-BE49-F238E27FC236}">
                      <a16:creationId xmlns:a16="http://schemas.microsoft.com/office/drawing/2014/main" id="{42BF54BE-544B-4C8D-8B76-4DE2D701BAF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52" y="2304"/>
                  <a:ext cx="768" cy="480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zh-CN" altLang="zh-CN" sz="1800"/>
                </a:p>
              </p:txBody>
            </p:sp>
            <p:sp>
              <p:nvSpPr>
                <p:cNvPr id="30759" name="Rectangle 28">
                  <a:extLst>
                    <a:ext uri="{FF2B5EF4-FFF2-40B4-BE49-F238E27FC236}">
                      <a16:creationId xmlns:a16="http://schemas.microsoft.com/office/drawing/2014/main" id="{6D36B546-4509-4416-A7BF-769B0ACB21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20" y="2304"/>
                  <a:ext cx="288" cy="480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zh-CN" altLang="zh-CN" sz="1800"/>
                </a:p>
              </p:txBody>
            </p:sp>
          </p:grpSp>
          <p:grpSp>
            <p:nvGrpSpPr>
              <p:cNvPr id="30752" name="Group 29">
                <a:extLst>
                  <a:ext uri="{FF2B5EF4-FFF2-40B4-BE49-F238E27FC236}">
                    <a16:creationId xmlns:a16="http://schemas.microsoft.com/office/drawing/2014/main" id="{7F769D25-87B0-4EBA-AC55-7E9021817BC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08" y="2448"/>
                <a:ext cx="1056" cy="240"/>
                <a:chOff x="1152" y="2304"/>
                <a:chExt cx="1056" cy="480"/>
              </a:xfrm>
              <a:grpFill/>
            </p:grpSpPr>
            <p:sp>
              <p:nvSpPr>
                <p:cNvPr id="30756" name="Rectangle 30">
                  <a:extLst>
                    <a:ext uri="{FF2B5EF4-FFF2-40B4-BE49-F238E27FC236}">
                      <a16:creationId xmlns:a16="http://schemas.microsoft.com/office/drawing/2014/main" id="{17989E9E-9520-4153-9752-37E7F204DA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52" y="2304"/>
                  <a:ext cx="768" cy="480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zh-CN" altLang="zh-CN" sz="1800"/>
                </a:p>
              </p:txBody>
            </p:sp>
            <p:sp>
              <p:nvSpPr>
                <p:cNvPr id="30757" name="Rectangle 31">
                  <a:extLst>
                    <a:ext uri="{FF2B5EF4-FFF2-40B4-BE49-F238E27FC236}">
                      <a16:creationId xmlns:a16="http://schemas.microsoft.com/office/drawing/2014/main" id="{D9CF3A62-53C4-4700-AE4E-570BA5D23B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20" y="2304"/>
                  <a:ext cx="288" cy="480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zh-CN" altLang="zh-CN" sz="1800"/>
                </a:p>
              </p:txBody>
            </p:sp>
          </p:grpSp>
          <p:grpSp>
            <p:nvGrpSpPr>
              <p:cNvPr id="30753" name="Group 32">
                <a:extLst>
                  <a:ext uri="{FF2B5EF4-FFF2-40B4-BE49-F238E27FC236}">
                    <a16:creationId xmlns:a16="http://schemas.microsoft.com/office/drawing/2014/main" id="{2094FEFB-C130-4867-8DF7-E8FCF95D5B8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08" y="1968"/>
                <a:ext cx="1056" cy="240"/>
                <a:chOff x="1152" y="2304"/>
                <a:chExt cx="1056" cy="480"/>
              </a:xfrm>
              <a:grpFill/>
            </p:grpSpPr>
            <p:sp>
              <p:nvSpPr>
                <p:cNvPr id="30754" name="Rectangle 33">
                  <a:extLst>
                    <a:ext uri="{FF2B5EF4-FFF2-40B4-BE49-F238E27FC236}">
                      <a16:creationId xmlns:a16="http://schemas.microsoft.com/office/drawing/2014/main" id="{C4A7DDA8-BC52-4DC1-B81C-12FCB651F9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52" y="2304"/>
                  <a:ext cx="768" cy="480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zh-CN" altLang="zh-CN" sz="1800"/>
                </a:p>
              </p:txBody>
            </p:sp>
            <p:sp>
              <p:nvSpPr>
                <p:cNvPr id="30755" name="Rectangle 34">
                  <a:extLst>
                    <a:ext uri="{FF2B5EF4-FFF2-40B4-BE49-F238E27FC236}">
                      <a16:creationId xmlns:a16="http://schemas.microsoft.com/office/drawing/2014/main" id="{DBFC4C18-D2E4-4F36-9633-66365EEEF15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20" y="2304"/>
                  <a:ext cx="288" cy="480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zh-CN" altLang="zh-CN" sz="1800"/>
                </a:p>
              </p:txBody>
            </p:sp>
          </p:grpSp>
        </p:grpSp>
        <p:sp>
          <p:nvSpPr>
            <p:cNvPr id="30750" name="Line 35">
              <a:extLst>
                <a:ext uri="{FF2B5EF4-FFF2-40B4-BE49-F238E27FC236}">
                  <a16:creationId xmlns:a16="http://schemas.microsoft.com/office/drawing/2014/main" id="{39D8EA5E-9940-408F-A24D-A5D4C462A0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728"/>
              <a:ext cx="0" cy="192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0733" name="Text Box 36">
            <a:extLst>
              <a:ext uri="{FF2B5EF4-FFF2-40B4-BE49-F238E27FC236}">
                <a16:creationId xmlns:a16="http://schemas.microsoft.com/office/drawing/2014/main" id="{CA35A6C3-CA10-4E3B-9703-E9F7180E94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25" y="2698750"/>
            <a:ext cx="881063" cy="3667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1800" dirty="0"/>
              <a:t>Cache</a:t>
            </a:r>
          </a:p>
        </p:txBody>
      </p:sp>
      <p:sp>
        <p:nvSpPr>
          <p:cNvPr id="30734" name="Line 37">
            <a:extLst>
              <a:ext uri="{FF2B5EF4-FFF2-40B4-BE49-F238E27FC236}">
                <a16:creationId xmlns:a16="http://schemas.microsoft.com/office/drawing/2014/main" id="{D6078D2F-735A-4D7D-9719-EC8B244A7460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" y="4419600"/>
            <a:ext cx="7391400" cy="0"/>
          </a:xfrm>
          <a:prstGeom prst="line">
            <a:avLst/>
          </a:prstGeom>
          <a:noFill/>
          <a:ln w="412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35" name="Text Box 38">
            <a:extLst>
              <a:ext uri="{FF2B5EF4-FFF2-40B4-BE49-F238E27FC236}">
                <a16:creationId xmlns:a16="http://schemas.microsoft.com/office/drawing/2014/main" id="{2728ED61-366C-42DA-9ED3-ACD9D3F12E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5334000"/>
            <a:ext cx="1724025" cy="3667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1800"/>
              <a:t>Main Memory</a:t>
            </a:r>
          </a:p>
        </p:txBody>
      </p:sp>
      <p:sp>
        <p:nvSpPr>
          <p:cNvPr id="30736" name="Text Box 39">
            <a:extLst>
              <a:ext uri="{FF2B5EF4-FFF2-40B4-BE49-F238E27FC236}">
                <a16:creationId xmlns:a16="http://schemas.microsoft.com/office/drawing/2014/main" id="{C0A82626-5779-48D1-9D3A-826E328A53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038600"/>
            <a:ext cx="604838" cy="3667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1800"/>
              <a:t>Bus</a:t>
            </a:r>
          </a:p>
        </p:txBody>
      </p:sp>
      <p:sp>
        <p:nvSpPr>
          <p:cNvPr id="30737" name="Rectangle 40">
            <a:extLst>
              <a:ext uri="{FF2B5EF4-FFF2-40B4-BE49-F238E27FC236}">
                <a16:creationId xmlns:a16="http://schemas.microsoft.com/office/drawing/2014/main" id="{AF6F8E0A-D84B-4D46-BE93-331A45B9B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5410200"/>
            <a:ext cx="1219200" cy="381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zh-CN" sz="1800"/>
              <a:t>sum=0</a:t>
            </a:r>
          </a:p>
        </p:txBody>
      </p:sp>
      <p:sp>
        <p:nvSpPr>
          <p:cNvPr id="30738" name="Rectangle 41">
            <a:extLst>
              <a:ext uri="{FF2B5EF4-FFF2-40B4-BE49-F238E27FC236}">
                <a16:creationId xmlns:a16="http://schemas.microsoft.com/office/drawing/2014/main" id="{BC73EF53-6A49-48D5-8153-BB5C3AEB2E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5791200"/>
            <a:ext cx="1219200" cy="381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endParaRPr lang="zh-CN" altLang="zh-CN" sz="1800"/>
          </a:p>
        </p:txBody>
      </p:sp>
      <p:sp>
        <p:nvSpPr>
          <p:cNvPr id="30739" name="Rectangle 42">
            <a:extLst>
              <a:ext uri="{FF2B5EF4-FFF2-40B4-BE49-F238E27FC236}">
                <a16:creationId xmlns:a16="http://schemas.microsoft.com/office/drawing/2014/main" id="{CE1825CE-7FFD-49D2-94CB-60D9449428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5029200"/>
            <a:ext cx="1219200" cy="381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endParaRPr lang="zh-CN" altLang="zh-CN" sz="1800"/>
          </a:p>
        </p:txBody>
      </p:sp>
      <p:sp>
        <p:nvSpPr>
          <p:cNvPr id="30740" name="AutoShape 43">
            <a:extLst>
              <a:ext uri="{FF2B5EF4-FFF2-40B4-BE49-F238E27FC236}">
                <a16:creationId xmlns:a16="http://schemas.microsoft.com/office/drawing/2014/main" id="{3BF64818-8788-449B-AFAC-740CD1068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4724400"/>
            <a:ext cx="1066800" cy="304800"/>
          </a:xfrm>
          <a:prstGeom prst="roundRect">
            <a:avLst>
              <a:gd name="adj" fmla="val 16667"/>
            </a:avLst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zh-CN" sz="1800"/>
              <a:t>Mem Ctrl</a:t>
            </a:r>
          </a:p>
        </p:txBody>
      </p:sp>
      <p:grpSp>
        <p:nvGrpSpPr>
          <p:cNvPr id="30741" name="Group 44">
            <a:extLst>
              <a:ext uri="{FF2B5EF4-FFF2-40B4-BE49-F238E27FC236}">
                <a16:creationId xmlns:a16="http://schemas.microsoft.com/office/drawing/2014/main" id="{8B783C84-B8F8-4851-B71F-82A6F9D2E3A8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3810000"/>
            <a:ext cx="4724400" cy="609600"/>
            <a:chOff x="1488" y="2400"/>
            <a:chExt cx="2976" cy="384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30745" name="Line 45">
              <a:extLst>
                <a:ext uri="{FF2B5EF4-FFF2-40B4-BE49-F238E27FC236}">
                  <a16:creationId xmlns:a16="http://schemas.microsoft.com/office/drawing/2014/main" id="{4D37FCB1-7E36-4407-97A2-E99D33610A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2400"/>
              <a:ext cx="0" cy="384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6" name="Line 46">
              <a:extLst>
                <a:ext uri="{FF2B5EF4-FFF2-40B4-BE49-F238E27FC236}">
                  <a16:creationId xmlns:a16="http://schemas.microsoft.com/office/drawing/2014/main" id="{1F97F2F7-CEBD-496E-811F-9142E9C3BD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2400"/>
              <a:ext cx="0" cy="384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7" name="Line 47">
              <a:extLst>
                <a:ext uri="{FF2B5EF4-FFF2-40B4-BE49-F238E27FC236}">
                  <a16:creationId xmlns:a16="http://schemas.microsoft.com/office/drawing/2014/main" id="{ED44713D-C94A-418F-925B-B4035D8F44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2400"/>
              <a:ext cx="0" cy="384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0742" name="Line 48">
            <a:extLst>
              <a:ext uri="{FF2B5EF4-FFF2-40B4-BE49-F238E27FC236}">
                <a16:creationId xmlns:a16="http://schemas.microsoft.com/office/drawing/2014/main" id="{F8CC9C2D-F476-4165-9481-E0FE3C486F18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4419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43" name="Rectangle 49">
            <a:extLst>
              <a:ext uri="{FF2B5EF4-FFF2-40B4-BE49-F238E27FC236}">
                <a16:creationId xmlns:a16="http://schemas.microsoft.com/office/drawing/2014/main" id="{4EBB0214-748E-4678-8F2D-991F0D3A61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3048000"/>
            <a:ext cx="1219200" cy="381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endParaRPr lang="zh-CN" altLang="zh-CN" sz="1800"/>
          </a:p>
        </p:txBody>
      </p:sp>
      <p:sp>
        <p:nvSpPr>
          <p:cNvPr id="30744" name="Rectangle 50">
            <a:extLst>
              <a:ext uri="{FF2B5EF4-FFF2-40B4-BE49-F238E27FC236}">
                <a16:creationId xmlns:a16="http://schemas.microsoft.com/office/drawing/2014/main" id="{85AB51CE-9C1E-4728-9837-111509451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3048000"/>
            <a:ext cx="457200" cy="381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endParaRPr lang="zh-CN" altLang="zh-CN" sz="1800"/>
          </a:p>
        </p:txBody>
      </p:sp>
    </p:spTree>
    <p:extLst>
      <p:ext uri="{BB962C8B-B14F-4D97-AF65-F5344CB8AC3E}">
        <p14:creationId xmlns:p14="http://schemas.microsoft.com/office/powerpoint/2010/main" val="1951762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Slide Number Placeholder 5">
            <a:extLst>
              <a:ext uri="{FF2B5EF4-FFF2-40B4-BE49-F238E27FC236}">
                <a16:creationId xmlns:a16="http://schemas.microsoft.com/office/drawing/2014/main" id="{009DB9F5-93E9-49EE-9499-2C0F1E3EB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235E2F71-710E-41B1-94CC-7B4902CA8A6B}" type="slidenum">
              <a:rPr lang="en-US" altLang="zh-CN" sz="1200"/>
              <a:pPr/>
              <a:t>6</a:t>
            </a:fld>
            <a:endParaRPr lang="en-US" altLang="zh-CN" sz="1200"/>
          </a:p>
        </p:txBody>
      </p:sp>
      <p:sp>
        <p:nvSpPr>
          <p:cNvPr id="32772" name="Rectangle 2">
            <a:extLst>
              <a:ext uri="{FF2B5EF4-FFF2-40B4-BE49-F238E27FC236}">
                <a16:creationId xmlns:a16="http://schemas.microsoft.com/office/drawing/2014/main" id="{F0711C1D-C8B5-4626-AAF5-4FF0B1D203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缓存一致性问题举例</a:t>
            </a:r>
            <a:endParaRPr lang="en-US" altLang="zh-CN" dirty="0"/>
          </a:p>
        </p:txBody>
      </p:sp>
      <p:sp>
        <p:nvSpPr>
          <p:cNvPr id="32773" name="Oval 3">
            <a:extLst>
              <a:ext uri="{FF2B5EF4-FFF2-40B4-BE49-F238E27FC236}">
                <a16:creationId xmlns:a16="http://schemas.microsoft.com/office/drawing/2014/main" id="{D3790DE1-F4E1-456C-928E-8DC1A4865E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1371600"/>
            <a:ext cx="1143000" cy="9906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zh-CN" sz="1800"/>
              <a:t>P1</a:t>
            </a:r>
          </a:p>
        </p:txBody>
      </p:sp>
      <p:grpSp>
        <p:nvGrpSpPr>
          <p:cNvPr id="32774" name="Group 4">
            <a:extLst>
              <a:ext uri="{FF2B5EF4-FFF2-40B4-BE49-F238E27FC236}">
                <a16:creationId xmlns:a16="http://schemas.microsoft.com/office/drawing/2014/main" id="{61D04FE7-E4DA-4F7B-A7A8-C74B4566F91C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3048000"/>
            <a:ext cx="1676400" cy="381000"/>
            <a:chOff x="1152" y="2304"/>
            <a:chExt cx="1056" cy="480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32823" name="Rectangle 5">
              <a:extLst>
                <a:ext uri="{FF2B5EF4-FFF2-40B4-BE49-F238E27FC236}">
                  <a16:creationId xmlns:a16="http://schemas.microsoft.com/office/drawing/2014/main" id="{58A4E7BB-32B1-491C-81F8-B192F42047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304"/>
              <a:ext cx="768" cy="48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/>
            </a:p>
          </p:txBody>
        </p:sp>
        <p:sp>
          <p:nvSpPr>
            <p:cNvPr id="32824" name="Rectangle 6">
              <a:extLst>
                <a:ext uri="{FF2B5EF4-FFF2-40B4-BE49-F238E27FC236}">
                  <a16:creationId xmlns:a16="http://schemas.microsoft.com/office/drawing/2014/main" id="{2AC1D5DB-2A95-40D1-A294-8FB2FDB4DD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2304"/>
              <a:ext cx="288" cy="48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/>
            </a:p>
          </p:txBody>
        </p:sp>
      </p:grpSp>
      <p:grpSp>
        <p:nvGrpSpPr>
          <p:cNvPr id="32775" name="Group 7">
            <a:extLst>
              <a:ext uri="{FF2B5EF4-FFF2-40B4-BE49-F238E27FC236}">
                <a16:creationId xmlns:a16="http://schemas.microsoft.com/office/drawing/2014/main" id="{90A51F58-084F-4B13-94E6-F3412D32B927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3429000"/>
            <a:ext cx="1676400" cy="381000"/>
            <a:chOff x="1152" y="2304"/>
            <a:chExt cx="1056" cy="480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32821" name="Rectangle 8">
              <a:extLst>
                <a:ext uri="{FF2B5EF4-FFF2-40B4-BE49-F238E27FC236}">
                  <a16:creationId xmlns:a16="http://schemas.microsoft.com/office/drawing/2014/main" id="{60E5ABD6-A242-4C7D-8631-3C345A6DDA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304"/>
              <a:ext cx="768" cy="48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/>
            </a:p>
          </p:txBody>
        </p:sp>
        <p:sp>
          <p:nvSpPr>
            <p:cNvPr id="32822" name="Rectangle 9">
              <a:extLst>
                <a:ext uri="{FF2B5EF4-FFF2-40B4-BE49-F238E27FC236}">
                  <a16:creationId xmlns:a16="http://schemas.microsoft.com/office/drawing/2014/main" id="{787E9F90-0991-4EB3-ABC9-7813E5F68C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2304"/>
              <a:ext cx="288" cy="48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/>
            </a:p>
          </p:txBody>
        </p:sp>
      </p:grpSp>
      <p:grpSp>
        <p:nvGrpSpPr>
          <p:cNvPr id="32776" name="Group 10">
            <a:extLst>
              <a:ext uri="{FF2B5EF4-FFF2-40B4-BE49-F238E27FC236}">
                <a16:creationId xmlns:a16="http://schemas.microsoft.com/office/drawing/2014/main" id="{F8E29A4B-A663-47BE-8833-74BD0AC35DAE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2667000"/>
            <a:ext cx="1676400" cy="381000"/>
            <a:chOff x="1152" y="2304"/>
            <a:chExt cx="1056" cy="480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32819" name="Rectangle 11">
              <a:extLst>
                <a:ext uri="{FF2B5EF4-FFF2-40B4-BE49-F238E27FC236}">
                  <a16:creationId xmlns:a16="http://schemas.microsoft.com/office/drawing/2014/main" id="{D28CA443-2540-4C7F-B2DF-05F8799AC7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304"/>
              <a:ext cx="768" cy="48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/>
            </a:p>
          </p:txBody>
        </p:sp>
        <p:sp>
          <p:nvSpPr>
            <p:cNvPr id="32820" name="Rectangle 12">
              <a:extLst>
                <a:ext uri="{FF2B5EF4-FFF2-40B4-BE49-F238E27FC236}">
                  <a16:creationId xmlns:a16="http://schemas.microsoft.com/office/drawing/2014/main" id="{2B39C24B-E963-4FE4-B245-C982122CA6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2304"/>
              <a:ext cx="288" cy="48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/>
            </a:p>
          </p:txBody>
        </p:sp>
      </p:grpSp>
      <p:sp>
        <p:nvSpPr>
          <p:cNvPr id="32777" name="Line 13">
            <a:extLst>
              <a:ext uri="{FF2B5EF4-FFF2-40B4-BE49-F238E27FC236}">
                <a16:creationId xmlns:a16="http://schemas.microsoft.com/office/drawing/2014/main" id="{3D27A78E-3752-4103-9F80-9B71578F2D20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23622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78" name="Oval 14">
            <a:extLst>
              <a:ext uri="{FF2B5EF4-FFF2-40B4-BE49-F238E27FC236}">
                <a16:creationId xmlns:a16="http://schemas.microsoft.com/office/drawing/2014/main" id="{184371B4-7AAF-407D-87D6-719FF1DF13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1371600"/>
            <a:ext cx="1143000" cy="9906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zh-CN" sz="1800"/>
              <a:t>P3</a:t>
            </a:r>
          </a:p>
        </p:txBody>
      </p:sp>
      <p:grpSp>
        <p:nvGrpSpPr>
          <p:cNvPr id="32779" name="Group 15">
            <a:extLst>
              <a:ext uri="{FF2B5EF4-FFF2-40B4-BE49-F238E27FC236}">
                <a16:creationId xmlns:a16="http://schemas.microsoft.com/office/drawing/2014/main" id="{8131599A-A4A6-430A-84E9-BB7BDDCE025D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3429000"/>
            <a:ext cx="1676400" cy="381000"/>
            <a:chOff x="1152" y="2304"/>
            <a:chExt cx="1056" cy="480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32817" name="Rectangle 16">
              <a:extLst>
                <a:ext uri="{FF2B5EF4-FFF2-40B4-BE49-F238E27FC236}">
                  <a16:creationId xmlns:a16="http://schemas.microsoft.com/office/drawing/2014/main" id="{31E6D670-6390-43F0-BBB2-A9B87B7943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304"/>
              <a:ext cx="768" cy="48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/>
            </a:p>
          </p:txBody>
        </p:sp>
        <p:sp>
          <p:nvSpPr>
            <p:cNvPr id="32818" name="Rectangle 17">
              <a:extLst>
                <a:ext uri="{FF2B5EF4-FFF2-40B4-BE49-F238E27FC236}">
                  <a16:creationId xmlns:a16="http://schemas.microsoft.com/office/drawing/2014/main" id="{C4001612-6E53-4B41-B729-60504D92B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2304"/>
              <a:ext cx="288" cy="48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/>
            </a:p>
          </p:txBody>
        </p:sp>
      </p:grpSp>
      <p:grpSp>
        <p:nvGrpSpPr>
          <p:cNvPr id="32780" name="Group 18">
            <a:extLst>
              <a:ext uri="{FF2B5EF4-FFF2-40B4-BE49-F238E27FC236}">
                <a16:creationId xmlns:a16="http://schemas.microsoft.com/office/drawing/2014/main" id="{A1D7C4CA-C7B1-48AB-97F1-3058EDA393C0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2667000"/>
            <a:ext cx="1676400" cy="381000"/>
            <a:chOff x="1152" y="2304"/>
            <a:chExt cx="1056" cy="480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32815" name="Rectangle 19">
              <a:extLst>
                <a:ext uri="{FF2B5EF4-FFF2-40B4-BE49-F238E27FC236}">
                  <a16:creationId xmlns:a16="http://schemas.microsoft.com/office/drawing/2014/main" id="{5014A872-55F6-445E-8740-665D3131CC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304"/>
              <a:ext cx="768" cy="48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/>
            </a:p>
          </p:txBody>
        </p:sp>
        <p:sp>
          <p:nvSpPr>
            <p:cNvPr id="32816" name="Rectangle 20">
              <a:extLst>
                <a:ext uri="{FF2B5EF4-FFF2-40B4-BE49-F238E27FC236}">
                  <a16:creationId xmlns:a16="http://schemas.microsoft.com/office/drawing/2014/main" id="{CEFECAD4-09F7-4104-9299-4C26DFFD81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2304"/>
              <a:ext cx="288" cy="48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/>
            </a:p>
          </p:txBody>
        </p:sp>
      </p:grpSp>
      <p:sp>
        <p:nvSpPr>
          <p:cNvPr id="32781" name="Line 21">
            <a:extLst>
              <a:ext uri="{FF2B5EF4-FFF2-40B4-BE49-F238E27FC236}">
                <a16:creationId xmlns:a16="http://schemas.microsoft.com/office/drawing/2014/main" id="{DC9CA474-3EF1-407B-96B6-617113B095B3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23622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2782" name="Group 22">
            <a:extLst>
              <a:ext uri="{FF2B5EF4-FFF2-40B4-BE49-F238E27FC236}">
                <a16:creationId xmlns:a16="http://schemas.microsoft.com/office/drawing/2014/main" id="{DC417D02-9A32-4C18-866D-731CEB603677}"/>
              </a:ext>
            </a:extLst>
          </p:cNvPr>
          <p:cNvGrpSpPr>
            <a:grpSpLocks/>
          </p:cNvGrpSpPr>
          <p:nvPr/>
        </p:nvGrpSpPr>
        <p:grpSpPr bwMode="auto">
          <a:xfrm>
            <a:off x="3962400" y="1371600"/>
            <a:ext cx="1676400" cy="2438400"/>
            <a:chOff x="1008" y="1104"/>
            <a:chExt cx="1056" cy="1536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32803" name="Oval 23">
              <a:extLst>
                <a:ext uri="{FF2B5EF4-FFF2-40B4-BE49-F238E27FC236}">
                  <a16:creationId xmlns:a16="http://schemas.microsoft.com/office/drawing/2014/main" id="{E17B83D7-2AF2-4F26-B8B8-63833CBEFE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1104"/>
              <a:ext cx="720" cy="624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zh-CN" sz="1800"/>
                <a:t>P2</a:t>
              </a:r>
            </a:p>
          </p:txBody>
        </p:sp>
        <p:grpSp>
          <p:nvGrpSpPr>
            <p:cNvPr id="32804" name="Group 24">
              <a:extLst>
                <a:ext uri="{FF2B5EF4-FFF2-40B4-BE49-F238E27FC236}">
                  <a16:creationId xmlns:a16="http://schemas.microsoft.com/office/drawing/2014/main" id="{F6FF6D45-0480-4A58-B24C-673C74240F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8" y="1920"/>
              <a:ext cx="1056" cy="720"/>
              <a:chOff x="1008" y="1968"/>
              <a:chExt cx="1056" cy="720"/>
            </a:xfrm>
            <a:grpFill/>
          </p:grpSpPr>
          <p:grpSp>
            <p:nvGrpSpPr>
              <p:cNvPr id="32806" name="Group 25">
                <a:extLst>
                  <a:ext uri="{FF2B5EF4-FFF2-40B4-BE49-F238E27FC236}">
                    <a16:creationId xmlns:a16="http://schemas.microsoft.com/office/drawing/2014/main" id="{BDD48ED8-260A-49F0-9AB3-0FA076C9E45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08" y="2208"/>
                <a:ext cx="1056" cy="240"/>
                <a:chOff x="1152" y="2304"/>
                <a:chExt cx="1056" cy="480"/>
              </a:xfrm>
              <a:grpFill/>
            </p:grpSpPr>
            <p:sp>
              <p:nvSpPr>
                <p:cNvPr id="32813" name="Rectangle 26">
                  <a:extLst>
                    <a:ext uri="{FF2B5EF4-FFF2-40B4-BE49-F238E27FC236}">
                      <a16:creationId xmlns:a16="http://schemas.microsoft.com/office/drawing/2014/main" id="{8300651A-810F-4FB6-A292-834EC5ABF6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52" y="2304"/>
                  <a:ext cx="768" cy="480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zh-CN" altLang="zh-CN" sz="1800"/>
                </a:p>
              </p:txBody>
            </p:sp>
            <p:sp>
              <p:nvSpPr>
                <p:cNvPr id="32814" name="Rectangle 27">
                  <a:extLst>
                    <a:ext uri="{FF2B5EF4-FFF2-40B4-BE49-F238E27FC236}">
                      <a16:creationId xmlns:a16="http://schemas.microsoft.com/office/drawing/2014/main" id="{D475FD9F-8F1E-4F1D-8291-EFA49B6CD7F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20" y="2304"/>
                  <a:ext cx="288" cy="480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zh-CN" altLang="zh-CN" sz="1800"/>
                </a:p>
              </p:txBody>
            </p:sp>
          </p:grpSp>
          <p:grpSp>
            <p:nvGrpSpPr>
              <p:cNvPr id="32807" name="Group 28">
                <a:extLst>
                  <a:ext uri="{FF2B5EF4-FFF2-40B4-BE49-F238E27FC236}">
                    <a16:creationId xmlns:a16="http://schemas.microsoft.com/office/drawing/2014/main" id="{588AAAA9-8A7C-4B2D-8384-1BEDE84EABD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08" y="2448"/>
                <a:ext cx="1056" cy="240"/>
                <a:chOff x="1152" y="2304"/>
                <a:chExt cx="1056" cy="480"/>
              </a:xfrm>
              <a:grpFill/>
            </p:grpSpPr>
            <p:sp>
              <p:nvSpPr>
                <p:cNvPr id="32811" name="Rectangle 29">
                  <a:extLst>
                    <a:ext uri="{FF2B5EF4-FFF2-40B4-BE49-F238E27FC236}">
                      <a16:creationId xmlns:a16="http://schemas.microsoft.com/office/drawing/2014/main" id="{0882A613-CB1A-4740-8EFC-B242D8C552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52" y="2304"/>
                  <a:ext cx="768" cy="480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zh-CN" altLang="zh-CN" sz="1800"/>
                </a:p>
              </p:txBody>
            </p:sp>
            <p:sp>
              <p:nvSpPr>
                <p:cNvPr id="32812" name="Rectangle 30">
                  <a:extLst>
                    <a:ext uri="{FF2B5EF4-FFF2-40B4-BE49-F238E27FC236}">
                      <a16:creationId xmlns:a16="http://schemas.microsoft.com/office/drawing/2014/main" id="{5AAEF478-A91E-4EAD-9FC8-DAAC3AE71D2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20" y="2304"/>
                  <a:ext cx="288" cy="480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zh-CN" altLang="zh-CN" sz="1800"/>
                </a:p>
              </p:txBody>
            </p:sp>
          </p:grpSp>
          <p:grpSp>
            <p:nvGrpSpPr>
              <p:cNvPr id="32808" name="Group 31">
                <a:extLst>
                  <a:ext uri="{FF2B5EF4-FFF2-40B4-BE49-F238E27FC236}">
                    <a16:creationId xmlns:a16="http://schemas.microsoft.com/office/drawing/2014/main" id="{9B0C836A-5F8E-4E3D-B718-0CD4CCAC73D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08" y="1968"/>
                <a:ext cx="1056" cy="240"/>
                <a:chOff x="1152" y="2304"/>
                <a:chExt cx="1056" cy="480"/>
              </a:xfrm>
              <a:grpFill/>
            </p:grpSpPr>
            <p:sp>
              <p:nvSpPr>
                <p:cNvPr id="32809" name="Rectangle 32">
                  <a:extLst>
                    <a:ext uri="{FF2B5EF4-FFF2-40B4-BE49-F238E27FC236}">
                      <a16:creationId xmlns:a16="http://schemas.microsoft.com/office/drawing/2014/main" id="{28477961-9089-4DB2-AB47-C3A1FAF105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52" y="2304"/>
                  <a:ext cx="768" cy="480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zh-CN" altLang="zh-CN" sz="1800"/>
                </a:p>
              </p:txBody>
            </p:sp>
            <p:sp>
              <p:nvSpPr>
                <p:cNvPr id="32810" name="Rectangle 33">
                  <a:extLst>
                    <a:ext uri="{FF2B5EF4-FFF2-40B4-BE49-F238E27FC236}">
                      <a16:creationId xmlns:a16="http://schemas.microsoft.com/office/drawing/2014/main" id="{6357C1F1-3DF2-468F-B501-13CCCD5909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20" y="2304"/>
                  <a:ext cx="288" cy="480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zh-CN" altLang="zh-CN" sz="1800"/>
                </a:p>
              </p:txBody>
            </p:sp>
          </p:grpSp>
        </p:grpSp>
        <p:sp>
          <p:nvSpPr>
            <p:cNvPr id="32805" name="Line 34">
              <a:extLst>
                <a:ext uri="{FF2B5EF4-FFF2-40B4-BE49-F238E27FC236}">
                  <a16:creationId xmlns:a16="http://schemas.microsoft.com/office/drawing/2014/main" id="{8EC86AAB-B018-4B25-8D9C-57E4DF7537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728"/>
              <a:ext cx="0" cy="192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2783" name="Line 35">
            <a:extLst>
              <a:ext uri="{FF2B5EF4-FFF2-40B4-BE49-F238E27FC236}">
                <a16:creationId xmlns:a16="http://schemas.microsoft.com/office/drawing/2014/main" id="{B1397C22-9C70-4022-8A5F-495FB18B3279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" y="4419600"/>
            <a:ext cx="7391400" cy="0"/>
          </a:xfrm>
          <a:prstGeom prst="line">
            <a:avLst/>
          </a:prstGeom>
          <a:noFill/>
          <a:ln w="412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84" name="Rectangle 36">
            <a:extLst>
              <a:ext uri="{FF2B5EF4-FFF2-40B4-BE49-F238E27FC236}">
                <a16:creationId xmlns:a16="http://schemas.microsoft.com/office/drawing/2014/main" id="{63ADBC7C-99A9-4DDC-9D75-930E81676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5410200"/>
            <a:ext cx="1219200" cy="381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zh-CN" sz="1800"/>
              <a:t>sum=0</a:t>
            </a:r>
          </a:p>
        </p:txBody>
      </p:sp>
      <p:sp>
        <p:nvSpPr>
          <p:cNvPr id="32785" name="Rectangle 37">
            <a:extLst>
              <a:ext uri="{FF2B5EF4-FFF2-40B4-BE49-F238E27FC236}">
                <a16:creationId xmlns:a16="http://schemas.microsoft.com/office/drawing/2014/main" id="{94CA9A6E-8108-4C7F-9EDF-BF234BEFED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5791200"/>
            <a:ext cx="1219200" cy="381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endParaRPr lang="zh-CN" altLang="zh-CN" sz="1800"/>
          </a:p>
        </p:txBody>
      </p:sp>
      <p:sp>
        <p:nvSpPr>
          <p:cNvPr id="32786" name="Rectangle 38">
            <a:extLst>
              <a:ext uri="{FF2B5EF4-FFF2-40B4-BE49-F238E27FC236}">
                <a16:creationId xmlns:a16="http://schemas.microsoft.com/office/drawing/2014/main" id="{2F1B11FF-0D5A-47E7-9BDD-05F8F6F3AD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5029200"/>
            <a:ext cx="1219200" cy="381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endParaRPr lang="zh-CN" altLang="zh-CN" sz="1800"/>
          </a:p>
        </p:txBody>
      </p:sp>
      <p:sp>
        <p:nvSpPr>
          <p:cNvPr id="32787" name="AutoShape 39">
            <a:extLst>
              <a:ext uri="{FF2B5EF4-FFF2-40B4-BE49-F238E27FC236}">
                <a16:creationId xmlns:a16="http://schemas.microsoft.com/office/drawing/2014/main" id="{0D5C77EA-A845-4143-AD15-2F000A0B11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4724400"/>
            <a:ext cx="1066800" cy="304800"/>
          </a:xfrm>
          <a:prstGeom prst="roundRect">
            <a:avLst>
              <a:gd name="adj" fmla="val 16667"/>
            </a:avLst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zh-CN" sz="1800"/>
              <a:t>Mem Ctrl</a:t>
            </a:r>
          </a:p>
        </p:txBody>
      </p:sp>
      <p:sp>
        <p:nvSpPr>
          <p:cNvPr id="32788" name="Line 40">
            <a:extLst>
              <a:ext uri="{FF2B5EF4-FFF2-40B4-BE49-F238E27FC236}">
                <a16:creationId xmlns:a16="http://schemas.microsoft.com/office/drawing/2014/main" id="{8EF9B51D-4E7E-473C-A8C4-91620B2AD660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4419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89" name="Rectangle 41">
            <a:extLst>
              <a:ext uri="{FF2B5EF4-FFF2-40B4-BE49-F238E27FC236}">
                <a16:creationId xmlns:a16="http://schemas.microsoft.com/office/drawing/2014/main" id="{95EC5D2B-6AE8-4097-90D4-2F982139E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3048000"/>
            <a:ext cx="1219200" cy="381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endParaRPr lang="zh-CN" altLang="zh-CN" sz="1800"/>
          </a:p>
        </p:txBody>
      </p:sp>
      <p:sp>
        <p:nvSpPr>
          <p:cNvPr id="32790" name="Rectangle 42">
            <a:extLst>
              <a:ext uri="{FF2B5EF4-FFF2-40B4-BE49-F238E27FC236}">
                <a16:creationId xmlns:a16="http://schemas.microsoft.com/office/drawing/2014/main" id="{A88FCBC7-CFCC-4C43-B254-8BDADCEE93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3048000"/>
            <a:ext cx="457200" cy="381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endParaRPr lang="zh-CN" altLang="zh-CN" sz="1800"/>
          </a:p>
        </p:txBody>
      </p:sp>
      <p:grpSp>
        <p:nvGrpSpPr>
          <p:cNvPr id="12" name="Group 43">
            <a:extLst>
              <a:ext uri="{FF2B5EF4-FFF2-40B4-BE49-F238E27FC236}">
                <a16:creationId xmlns:a16="http://schemas.microsoft.com/office/drawing/2014/main" id="{E2061DA2-3CB7-46DE-A3CD-5B5E1FE10A12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3048000"/>
            <a:ext cx="3378200" cy="2286000"/>
            <a:chOff x="1056" y="1920"/>
            <a:chExt cx="2128" cy="1440"/>
          </a:xfrm>
        </p:grpSpPr>
        <p:grpSp>
          <p:nvGrpSpPr>
            <p:cNvPr id="32799" name="Group 44">
              <a:extLst>
                <a:ext uri="{FF2B5EF4-FFF2-40B4-BE49-F238E27FC236}">
                  <a16:creationId xmlns:a16="http://schemas.microsoft.com/office/drawing/2014/main" id="{23D6BEAC-3CE5-47F5-93E5-E3B8565FD6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56" y="1940"/>
              <a:ext cx="2128" cy="1420"/>
              <a:chOff x="1056" y="1940"/>
              <a:chExt cx="2128" cy="1420"/>
            </a:xfrm>
          </p:grpSpPr>
          <p:sp>
            <p:nvSpPr>
              <p:cNvPr id="32801" name="Freeform 45">
                <a:extLst>
                  <a:ext uri="{FF2B5EF4-FFF2-40B4-BE49-F238E27FC236}">
                    <a16:creationId xmlns:a16="http://schemas.microsoft.com/office/drawing/2014/main" id="{9EFDA03B-4BDE-48CE-80D4-3366532454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32" y="2112"/>
                <a:ext cx="1952" cy="1248"/>
              </a:xfrm>
              <a:custGeom>
                <a:avLst/>
                <a:gdLst>
                  <a:gd name="T0" fmla="*/ 1752 w 1952"/>
                  <a:gd name="T1" fmla="*/ 1248 h 1248"/>
                  <a:gd name="T2" fmla="*/ 1704 w 1952"/>
                  <a:gd name="T3" fmla="*/ 672 h 1248"/>
                  <a:gd name="T4" fmla="*/ 264 w 1952"/>
                  <a:gd name="T5" fmla="*/ 576 h 1248"/>
                  <a:gd name="T6" fmla="*/ 120 w 1952"/>
                  <a:gd name="T7" fmla="*/ 0 h 124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52"/>
                  <a:gd name="T13" fmla="*/ 0 h 1248"/>
                  <a:gd name="T14" fmla="*/ 1952 w 1952"/>
                  <a:gd name="T15" fmla="*/ 1248 h 124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952" h="1248">
                    <a:moveTo>
                      <a:pt x="1752" y="1248"/>
                    </a:moveTo>
                    <a:cubicBezTo>
                      <a:pt x="1852" y="1016"/>
                      <a:pt x="1952" y="784"/>
                      <a:pt x="1704" y="672"/>
                    </a:cubicBezTo>
                    <a:cubicBezTo>
                      <a:pt x="1456" y="560"/>
                      <a:pt x="528" y="688"/>
                      <a:pt x="264" y="576"/>
                    </a:cubicBezTo>
                    <a:cubicBezTo>
                      <a:pt x="0" y="464"/>
                      <a:pt x="60" y="232"/>
                      <a:pt x="120" y="0"/>
                    </a:cubicBezTo>
                  </a:path>
                </a:pathLst>
              </a:custGeom>
              <a:ln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/>
              </a:p>
            </p:txBody>
          </p:sp>
          <p:sp>
            <p:nvSpPr>
              <p:cNvPr id="32802" name="Text Box 46">
                <a:extLst>
                  <a:ext uri="{FF2B5EF4-FFF2-40B4-BE49-F238E27FC236}">
                    <a16:creationId xmlns:a16="http://schemas.microsoft.com/office/drawing/2014/main" id="{C6E656D9-3BE7-498A-B5B7-5AD7FA44E76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56" y="1940"/>
                <a:ext cx="68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1800"/>
                  <a:t>sum =0</a:t>
                </a:r>
              </a:p>
            </p:txBody>
          </p:sp>
        </p:grpSp>
        <p:sp>
          <p:nvSpPr>
            <p:cNvPr id="32800" name="Text Box 47">
              <a:extLst>
                <a:ext uri="{FF2B5EF4-FFF2-40B4-BE49-F238E27FC236}">
                  <a16:creationId xmlns:a16="http://schemas.microsoft.com/office/drawing/2014/main" id="{D491D098-1AD6-4493-90FE-916A429DFD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1920"/>
              <a:ext cx="21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1800"/>
                <a:t>V</a:t>
              </a:r>
            </a:p>
          </p:txBody>
        </p:sp>
      </p:grpSp>
      <p:grpSp>
        <p:nvGrpSpPr>
          <p:cNvPr id="14" name="Group 48">
            <a:extLst>
              <a:ext uri="{FF2B5EF4-FFF2-40B4-BE49-F238E27FC236}">
                <a16:creationId xmlns:a16="http://schemas.microsoft.com/office/drawing/2014/main" id="{1434E57A-AE21-40AF-9519-462AD076513C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2044700"/>
            <a:ext cx="4267200" cy="3365500"/>
            <a:chOff x="192" y="1288"/>
            <a:chExt cx="2688" cy="2120"/>
          </a:xfrm>
        </p:grpSpPr>
        <p:sp>
          <p:nvSpPr>
            <p:cNvPr id="32797" name="Freeform 49">
              <a:extLst>
                <a:ext uri="{FF2B5EF4-FFF2-40B4-BE49-F238E27FC236}">
                  <a16:creationId xmlns:a16="http://schemas.microsoft.com/office/drawing/2014/main" id="{ADA80EA3-36F4-440D-8D44-F1A570F9350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" y="1288"/>
              <a:ext cx="2128" cy="2120"/>
            </a:xfrm>
            <a:custGeom>
              <a:avLst/>
              <a:gdLst>
                <a:gd name="T0" fmla="*/ 448 w 2128"/>
                <a:gd name="T1" fmla="*/ 56 h 2120"/>
                <a:gd name="T2" fmla="*/ 400 w 2128"/>
                <a:gd name="T3" fmla="*/ 56 h 2120"/>
                <a:gd name="T4" fmla="*/ 64 w 2128"/>
                <a:gd name="T5" fmla="*/ 392 h 2120"/>
                <a:gd name="T6" fmla="*/ 256 w 2128"/>
                <a:gd name="T7" fmla="*/ 776 h 2120"/>
                <a:gd name="T8" fmla="*/ 16 w 2128"/>
                <a:gd name="T9" fmla="*/ 1208 h 2120"/>
                <a:gd name="T10" fmla="*/ 352 w 2128"/>
                <a:gd name="T11" fmla="*/ 1544 h 2120"/>
                <a:gd name="T12" fmla="*/ 1840 w 2128"/>
                <a:gd name="T13" fmla="*/ 1544 h 2120"/>
                <a:gd name="T14" fmla="*/ 2080 w 2128"/>
                <a:gd name="T15" fmla="*/ 2120 h 212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128"/>
                <a:gd name="T25" fmla="*/ 0 h 2120"/>
                <a:gd name="T26" fmla="*/ 2128 w 2128"/>
                <a:gd name="T27" fmla="*/ 2120 h 212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28" h="2120">
                  <a:moveTo>
                    <a:pt x="448" y="56"/>
                  </a:moveTo>
                  <a:cubicBezTo>
                    <a:pt x="456" y="28"/>
                    <a:pt x="464" y="0"/>
                    <a:pt x="400" y="56"/>
                  </a:cubicBezTo>
                  <a:cubicBezTo>
                    <a:pt x="336" y="112"/>
                    <a:pt x="88" y="272"/>
                    <a:pt x="64" y="392"/>
                  </a:cubicBezTo>
                  <a:cubicBezTo>
                    <a:pt x="40" y="512"/>
                    <a:pt x="264" y="640"/>
                    <a:pt x="256" y="776"/>
                  </a:cubicBezTo>
                  <a:cubicBezTo>
                    <a:pt x="248" y="912"/>
                    <a:pt x="0" y="1080"/>
                    <a:pt x="16" y="1208"/>
                  </a:cubicBezTo>
                  <a:cubicBezTo>
                    <a:pt x="32" y="1336"/>
                    <a:pt x="48" y="1488"/>
                    <a:pt x="352" y="1544"/>
                  </a:cubicBezTo>
                  <a:cubicBezTo>
                    <a:pt x="656" y="1600"/>
                    <a:pt x="1552" y="1448"/>
                    <a:pt x="1840" y="1544"/>
                  </a:cubicBezTo>
                  <a:cubicBezTo>
                    <a:pt x="2128" y="1640"/>
                    <a:pt x="2104" y="1880"/>
                    <a:pt x="2080" y="2120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/>
            </a:p>
          </p:txBody>
        </p:sp>
        <p:sp>
          <p:nvSpPr>
            <p:cNvPr id="32798" name="Text Box 50">
              <a:extLst>
                <a:ext uri="{FF2B5EF4-FFF2-40B4-BE49-F238E27FC236}">
                  <a16:creationId xmlns:a16="http://schemas.microsoft.com/office/drawing/2014/main" id="{1AB0A4B1-0C34-4A15-9E85-02E47E0B7C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1344"/>
              <a:ext cx="72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1800"/>
                <a:t>rd &amp;sum</a:t>
              </a:r>
            </a:p>
          </p:txBody>
        </p:sp>
      </p:grpSp>
      <p:grpSp>
        <p:nvGrpSpPr>
          <p:cNvPr id="32793" name="Group 51">
            <a:extLst>
              <a:ext uri="{FF2B5EF4-FFF2-40B4-BE49-F238E27FC236}">
                <a16:creationId xmlns:a16="http://schemas.microsoft.com/office/drawing/2014/main" id="{95722C11-749B-48D3-A91D-7DFBDFFE3A15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3810000"/>
            <a:ext cx="4724400" cy="609600"/>
            <a:chOff x="1488" y="2400"/>
            <a:chExt cx="2976" cy="384"/>
          </a:xfrm>
        </p:grpSpPr>
        <p:sp>
          <p:nvSpPr>
            <p:cNvPr id="32794" name="Line 52">
              <a:extLst>
                <a:ext uri="{FF2B5EF4-FFF2-40B4-BE49-F238E27FC236}">
                  <a16:creationId xmlns:a16="http://schemas.microsoft.com/office/drawing/2014/main" id="{6D05520D-6C84-4975-A3C8-B711181006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240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5" name="Line 53">
              <a:extLst>
                <a:ext uri="{FF2B5EF4-FFF2-40B4-BE49-F238E27FC236}">
                  <a16:creationId xmlns:a16="http://schemas.microsoft.com/office/drawing/2014/main" id="{8D42BB5F-EF94-4923-BFDF-C84C73AB46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240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6" name="Line 54">
              <a:extLst>
                <a:ext uri="{FF2B5EF4-FFF2-40B4-BE49-F238E27FC236}">
                  <a16:creationId xmlns:a16="http://schemas.microsoft.com/office/drawing/2014/main" id="{7CDB49C0-2F1C-4D2E-97A2-8D7DD0499F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240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6" name="文本框 55">
            <a:extLst>
              <a:ext uri="{FF2B5EF4-FFF2-40B4-BE49-F238E27FC236}">
                <a16:creationId xmlns:a16="http://schemas.microsoft.com/office/drawing/2014/main" id="{A2100EAF-8B75-4C42-A026-A45FE56F5554}"/>
              </a:ext>
            </a:extLst>
          </p:cNvPr>
          <p:cNvSpPr txBox="1"/>
          <p:nvPr/>
        </p:nvSpPr>
        <p:spPr>
          <a:xfrm>
            <a:off x="539552" y="5791200"/>
            <a:ext cx="1037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rd</a:t>
            </a:r>
            <a:r>
              <a:rPr lang="en-US" altLang="zh-CN" dirty="0"/>
              <a:t> - read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61898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Slide Number Placeholder 5">
            <a:extLst>
              <a:ext uri="{FF2B5EF4-FFF2-40B4-BE49-F238E27FC236}">
                <a16:creationId xmlns:a16="http://schemas.microsoft.com/office/drawing/2014/main" id="{A0A995C0-1A72-403B-A97C-39A10B08F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A7C484B8-C9EF-4827-B57A-AA9B7D9AA960}" type="slidenum">
              <a:rPr lang="en-US" altLang="zh-CN" sz="1200"/>
              <a:pPr/>
              <a:t>7</a:t>
            </a:fld>
            <a:endParaRPr lang="en-US" altLang="zh-CN" sz="1200"/>
          </a:p>
        </p:txBody>
      </p:sp>
      <p:sp>
        <p:nvSpPr>
          <p:cNvPr id="34820" name="Rectangle 2">
            <a:extLst>
              <a:ext uri="{FF2B5EF4-FFF2-40B4-BE49-F238E27FC236}">
                <a16:creationId xmlns:a16="http://schemas.microsoft.com/office/drawing/2014/main" id="{D29B1180-76F2-4829-A9E3-BB4F26C934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缓存一致性问题举例</a:t>
            </a:r>
            <a:endParaRPr lang="en-US" altLang="zh-CN" dirty="0"/>
          </a:p>
        </p:txBody>
      </p:sp>
      <p:sp>
        <p:nvSpPr>
          <p:cNvPr id="34821" name="Oval 3">
            <a:extLst>
              <a:ext uri="{FF2B5EF4-FFF2-40B4-BE49-F238E27FC236}">
                <a16:creationId xmlns:a16="http://schemas.microsoft.com/office/drawing/2014/main" id="{F44EF028-4BC0-4A09-BBFE-8DF6C920F4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1371600"/>
            <a:ext cx="1143000" cy="9906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zh-CN" sz="1800"/>
              <a:t>P1</a:t>
            </a:r>
          </a:p>
        </p:txBody>
      </p:sp>
      <p:grpSp>
        <p:nvGrpSpPr>
          <p:cNvPr id="34822" name="Group 4">
            <a:extLst>
              <a:ext uri="{FF2B5EF4-FFF2-40B4-BE49-F238E27FC236}">
                <a16:creationId xmlns:a16="http://schemas.microsoft.com/office/drawing/2014/main" id="{102B406C-9317-4E1C-9DB1-55DA7C1B2A4A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3048000"/>
            <a:ext cx="1676400" cy="381000"/>
            <a:chOff x="1152" y="2304"/>
            <a:chExt cx="1056" cy="480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34874" name="Rectangle 5">
              <a:extLst>
                <a:ext uri="{FF2B5EF4-FFF2-40B4-BE49-F238E27FC236}">
                  <a16:creationId xmlns:a16="http://schemas.microsoft.com/office/drawing/2014/main" id="{F4F3B50B-F3D2-419C-A678-93569A6722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304"/>
              <a:ext cx="768" cy="48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/>
            </a:p>
          </p:txBody>
        </p:sp>
        <p:sp>
          <p:nvSpPr>
            <p:cNvPr id="34875" name="Rectangle 6">
              <a:extLst>
                <a:ext uri="{FF2B5EF4-FFF2-40B4-BE49-F238E27FC236}">
                  <a16:creationId xmlns:a16="http://schemas.microsoft.com/office/drawing/2014/main" id="{03C504F5-4A71-4687-832C-DFF9275D0B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2304"/>
              <a:ext cx="288" cy="48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/>
            </a:p>
          </p:txBody>
        </p:sp>
      </p:grpSp>
      <p:grpSp>
        <p:nvGrpSpPr>
          <p:cNvPr id="34823" name="Group 7">
            <a:extLst>
              <a:ext uri="{FF2B5EF4-FFF2-40B4-BE49-F238E27FC236}">
                <a16:creationId xmlns:a16="http://schemas.microsoft.com/office/drawing/2014/main" id="{4599AC72-9442-483B-A67B-3FEC65B0ED07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3429000"/>
            <a:ext cx="1676400" cy="381000"/>
            <a:chOff x="1152" y="2304"/>
            <a:chExt cx="1056" cy="480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34872" name="Rectangle 8">
              <a:extLst>
                <a:ext uri="{FF2B5EF4-FFF2-40B4-BE49-F238E27FC236}">
                  <a16:creationId xmlns:a16="http://schemas.microsoft.com/office/drawing/2014/main" id="{1C6281D7-DCBC-4728-ACD9-4C908EA453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304"/>
              <a:ext cx="768" cy="48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/>
            </a:p>
          </p:txBody>
        </p:sp>
        <p:sp>
          <p:nvSpPr>
            <p:cNvPr id="34873" name="Rectangle 9">
              <a:extLst>
                <a:ext uri="{FF2B5EF4-FFF2-40B4-BE49-F238E27FC236}">
                  <a16:creationId xmlns:a16="http://schemas.microsoft.com/office/drawing/2014/main" id="{85850B27-5BA2-44CC-97CC-B63857C33B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2304"/>
              <a:ext cx="288" cy="48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/>
            </a:p>
          </p:txBody>
        </p:sp>
      </p:grpSp>
      <p:grpSp>
        <p:nvGrpSpPr>
          <p:cNvPr id="34824" name="Group 10">
            <a:extLst>
              <a:ext uri="{FF2B5EF4-FFF2-40B4-BE49-F238E27FC236}">
                <a16:creationId xmlns:a16="http://schemas.microsoft.com/office/drawing/2014/main" id="{52F3EF72-E9E1-4DDD-8EA1-D263B0B6F285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2667000"/>
            <a:ext cx="1676400" cy="381000"/>
            <a:chOff x="1152" y="2304"/>
            <a:chExt cx="1056" cy="480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34870" name="Rectangle 11">
              <a:extLst>
                <a:ext uri="{FF2B5EF4-FFF2-40B4-BE49-F238E27FC236}">
                  <a16:creationId xmlns:a16="http://schemas.microsoft.com/office/drawing/2014/main" id="{171B11B5-6046-4BAD-9B45-30430609A4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304"/>
              <a:ext cx="768" cy="48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/>
            </a:p>
          </p:txBody>
        </p:sp>
        <p:sp>
          <p:nvSpPr>
            <p:cNvPr id="34871" name="Rectangle 12">
              <a:extLst>
                <a:ext uri="{FF2B5EF4-FFF2-40B4-BE49-F238E27FC236}">
                  <a16:creationId xmlns:a16="http://schemas.microsoft.com/office/drawing/2014/main" id="{9EE217C2-3A14-4ECD-B3B7-04C946C997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2304"/>
              <a:ext cx="288" cy="48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/>
            </a:p>
          </p:txBody>
        </p:sp>
      </p:grpSp>
      <p:sp>
        <p:nvSpPr>
          <p:cNvPr id="34825" name="Line 13">
            <a:extLst>
              <a:ext uri="{FF2B5EF4-FFF2-40B4-BE49-F238E27FC236}">
                <a16:creationId xmlns:a16="http://schemas.microsoft.com/office/drawing/2014/main" id="{582100BD-D693-42AB-95E7-1493D47F86FC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23622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26" name="Oval 14">
            <a:extLst>
              <a:ext uri="{FF2B5EF4-FFF2-40B4-BE49-F238E27FC236}">
                <a16:creationId xmlns:a16="http://schemas.microsoft.com/office/drawing/2014/main" id="{58128D27-7FEB-408B-99FB-3DDD5B0947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1371600"/>
            <a:ext cx="1143000" cy="9906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zh-CN" sz="1800"/>
              <a:t>P3</a:t>
            </a:r>
          </a:p>
        </p:txBody>
      </p:sp>
      <p:grpSp>
        <p:nvGrpSpPr>
          <p:cNvPr id="34827" name="Group 15">
            <a:extLst>
              <a:ext uri="{FF2B5EF4-FFF2-40B4-BE49-F238E27FC236}">
                <a16:creationId xmlns:a16="http://schemas.microsoft.com/office/drawing/2014/main" id="{83E4ABF7-6BAF-47B7-A1A0-A711518B7ADC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3429000"/>
            <a:ext cx="1676400" cy="381000"/>
            <a:chOff x="1152" y="2304"/>
            <a:chExt cx="1056" cy="480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34868" name="Rectangle 16">
              <a:extLst>
                <a:ext uri="{FF2B5EF4-FFF2-40B4-BE49-F238E27FC236}">
                  <a16:creationId xmlns:a16="http://schemas.microsoft.com/office/drawing/2014/main" id="{71AA466F-722B-4A42-8C39-7C340CB526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304"/>
              <a:ext cx="768" cy="48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/>
            </a:p>
          </p:txBody>
        </p:sp>
        <p:sp>
          <p:nvSpPr>
            <p:cNvPr id="34869" name="Rectangle 17">
              <a:extLst>
                <a:ext uri="{FF2B5EF4-FFF2-40B4-BE49-F238E27FC236}">
                  <a16:creationId xmlns:a16="http://schemas.microsoft.com/office/drawing/2014/main" id="{EF5466C1-7F75-43F6-9843-91CC5A9CF8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2304"/>
              <a:ext cx="288" cy="48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/>
            </a:p>
          </p:txBody>
        </p:sp>
      </p:grpSp>
      <p:grpSp>
        <p:nvGrpSpPr>
          <p:cNvPr id="34828" name="Group 18">
            <a:extLst>
              <a:ext uri="{FF2B5EF4-FFF2-40B4-BE49-F238E27FC236}">
                <a16:creationId xmlns:a16="http://schemas.microsoft.com/office/drawing/2014/main" id="{AA969505-26A0-4834-8304-EE6B7AE940DB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2667000"/>
            <a:ext cx="1676400" cy="381000"/>
            <a:chOff x="1152" y="2304"/>
            <a:chExt cx="1056" cy="480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34866" name="Rectangle 19">
              <a:extLst>
                <a:ext uri="{FF2B5EF4-FFF2-40B4-BE49-F238E27FC236}">
                  <a16:creationId xmlns:a16="http://schemas.microsoft.com/office/drawing/2014/main" id="{E6541B81-3851-4EBD-B704-99FF0F528E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304"/>
              <a:ext cx="768" cy="48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/>
            </a:p>
          </p:txBody>
        </p:sp>
        <p:sp>
          <p:nvSpPr>
            <p:cNvPr id="34867" name="Rectangle 20">
              <a:extLst>
                <a:ext uri="{FF2B5EF4-FFF2-40B4-BE49-F238E27FC236}">
                  <a16:creationId xmlns:a16="http://schemas.microsoft.com/office/drawing/2014/main" id="{7D106E4C-20BE-4C1D-9A3F-C2B11D8453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2304"/>
              <a:ext cx="288" cy="48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/>
            </a:p>
          </p:txBody>
        </p:sp>
      </p:grpSp>
      <p:sp>
        <p:nvSpPr>
          <p:cNvPr id="34829" name="Line 21">
            <a:extLst>
              <a:ext uri="{FF2B5EF4-FFF2-40B4-BE49-F238E27FC236}">
                <a16:creationId xmlns:a16="http://schemas.microsoft.com/office/drawing/2014/main" id="{BA818A78-D4A5-49CE-AD51-45C6088605D6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23622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4830" name="Group 22">
            <a:extLst>
              <a:ext uri="{FF2B5EF4-FFF2-40B4-BE49-F238E27FC236}">
                <a16:creationId xmlns:a16="http://schemas.microsoft.com/office/drawing/2014/main" id="{8FE0FBDE-197C-4F8E-AEA5-3A720366D182}"/>
              </a:ext>
            </a:extLst>
          </p:cNvPr>
          <p:cNvGrpSpPr>
            <a:grpSpLocks/>
          </p:cNvGrpSpPr>
          <p:nvPr/>
        </p:nvGrpSpPr>
        <p:grpSpPr bwMode="auto">
          <a:xfrm>
            <a:off x="3962400" y="1371600"/>
            <a:ext cx="1676400" cy="2438400"/>
            <a:chOff x="1008" y="1104"/>
            <a:chExt cx="1056" cy="1536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34854" name="Oval 23">
              <a:extLst>
                <a:ext uri="{FF2B5EF4-FFF2-40B4-BE49-F238E27FC236}">
                  <a16:creationId xmlns:a16="http://schemas.microsoft.com/office/drawing/2014/main" id="{C333FA28-1A15-47A4-B348-D20638C317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1104"/>
              <a:ext cx="720" cy="624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zh-CN" sz="1800"/>
                <a:t>P2</a:t>
              </a:r>
            </a:p>
          </p:txBody>
        </p:sp>
        <p:grpSp>
          <p:nvGrpSpPr>
            <p:cNvPr id="34855" name="Group 24">
              <a:extLst>
                <a:ext uri="{FF2B5EF4-FFF2-40B4-BE49-F238E27FC236}">
                  <a16:creationId xmlns:a16="http://schemas.microsoft.com/office/drawing/2014/main" id="{71FD1F80-531D-4FF0-BA63-458291B064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8" y="1920"/>
              <a:ext cx="1056" cy="720"/>
              <a:chOff x="1008" y="1968"/>
              <a:chExt cx="1056" cy="720"/>
            </a:xfrm>
            <a:grpFill/>
          </p:grpSpPr>
          <p:grpSp>
            <p:nvGrpSpPr>
              <p:cNvPr id="34857" name="Group 25">
                <a:extLst>
                  <a:ext uri="{FF2B5EF4-FFF2-40B4-BE49-F238E27FC236}">
                    <a16:creationId xmlns:a16="http://schemas.microsoft.com/office/drawing/2014/main" id="{2B172CC1-0027-4017-8AFB-7EF54EF5C9B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08" y="2208"/>
                <a:ext cx="1056" cy="240"/>
                <a:chOff x="1152" y="2304"/>
                <a:chExt cx="1056" cy="480"/>
              </a:xfrm>
              <a:grpFill/>
            </p:grpSpPr>
            <p:sp>
              <p:nvSpPr>
                <p:cNvPr id="34864" name="Rectangle 26">
                  <a:extLst>
                    <a:ext uri="{FF2B5EF4-FFF2-40B4-BE49-F238E27FC236}">
                      <a16:creationId xmlns:a16="http://schemas.microsoft.com/office/drawing/2014/main" id="{2D072AAC-6206-4958-BBB5-75C8FC00A4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52" y="2304"/>
                  <a:ext cx="768" cy="480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zh-CN" altLang="zh-CN" sz="1800"/>
                </a:p>
              </p:txBody>
            </p:sp>
            <p:sp>
              <p:nvSpPr>
                <p:cNvPr id="34865" name="Rectangle 27">
                  <a:extLst>
                    <a:ext uri="{FF2B5EF4-FFF2-40B4-BE49-F238E27FC236}">
                      <a16:creationId xmlns:a16="http://schemas.microsoft.com/office/drawing/2014/main" id="{06C947F3-84D5-4134-96A8-9FFAE9A85F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20" y="2304"/>
                  <a:ext cx="288" cy="480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zh-CN" altLang="zh-CN" sz="1800"/>
                </a:p>
              </p:txBody>
            </p:sp>
          </p:grpSp>
          <p:grpSp>
            <p:nvGrpSpPr>
              <p:cNvPr id="34858" name="Group 28">
                <a:extLst>
                  <a:ext uri="{FF2B5EF4-FFF2-40B4-BE49-F238E27FC236}">
                    <a16:creationId xmlns:a16="http://schemas.microsoft.com/office/drawing/2014/main" id="{FE57EF00-A2B6-4306-AB0D-DEAF3F8DB17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08" y="2448"/>
                <a:ext cx="1056" cy="240"/>
                <a:chOff x="1152" y="2304"/>
                <a:chExt cx="1056" cy="480"/>
              </a:xfrm>
              <a:grpFill/>
            </p:grpSpPr>
            <p:sp>
              <p:nvSpPr>
                <p:cNvPr id="34862" name="Rectangle 29">
                  <a:extLst>
                    <a:ext uri="{FF2B5EF4-FFF2-40B4-BE49-F238E27FC236}">
                      <a16:creationId xmlns:a16="http://schemas.microsoft.com/office/drawing/2014/main" id="{82F0D749-4845-4842-B50B-6976849027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52" y="2304"/>
                  <a:ext cx="768" cy="480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zh-CN" altLang="zh-CN" sz="1800"/>
                </a:p>
              </p:txBody>
            </p:sp>
            <p:sp>
              <p:nvSpPr>
                <p:cNvPr id="34863" name="Rectangle 30">
                  <a:extLst>
                    <a:ext uri="{FF2B5EF4-FFF2-40B4-BE49-F238E27FC236}">
                      <a16:creationId xmlns:a16="http://schemas.microsoft.com/office/drawing/2014/main" id="{79FE0F40-D151-4FEC-81CA-6A413F80FB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20" y="2304"/>
                  <a:ext cx="288" cy="480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zh-CN" altLang="zh-CN" sz="1800"/>
                </a:p>
              </p:txBody>
            </p:sp>
          </p:grpSp>
          <p:grpSp>
            <p:nvGrpSpPr>
              <p:cNvPr id="34859" name="Group 31">
                <a:extLst>
                  <a:ext uri="{FF2B5EF4-FFF2-40B4-BE49-F238E27FC236}">
                    <a16:creationId xmlns:a16="http://schemas.microsoft.com/office/drawing/2014/main" id="{75E1E705-1CE9-4027-A44B-2602989BE71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08" y="1968"/>
                <a:ext cx="1056" cy="240"/>
                <a:chOff x="1152" y="2304"/>
                <a:chExt cx="1056" cy="480"/>
              </a:xfrm>
              <a:grpFill/>
            </p:grpSpPr>
            <p:sp>
              <p:nvSpPr>
                <p:cNvPr id="34860" name="Rectangle 32">
                  <a:extLst>
                    <a:ext uri="{FF2B5EF4-FFF2-40B4-BE49-F238E27FC236}">
                      <a16:creationId xmlns:a16="http://schemas.microsoft.com/office/drawing/2014/main" id="{5A3676A1-506D-46A5-9092-18276C55174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52" y="2304"/>
                  <a:ext cx="768" cy="480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zh-CN" altLang="zh-CN" sz="1800"/>
                </a:p>
              </p:txBody>
            </p:sp>
            <p:sp>
              <p:nvSpPr>
                <p:cNvPr id="34861" name="Rectangle 33">
                  <a:extLst>
                    <a:ext uri="{FF2B5EF4-FFF2-40B4-BE49-F238E27FC236}">
                      <a16:creationId xmlns:a16="http://schemas.microsoft.com/office/drawing/2014/main" id="{E10C4EBB-BAE9-4D1C-9F64-028AC4A91FA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20" y="2304"/>
                  <a:ext cx="288" cy="480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zh-CN" altLang="zh-CN" sz="1800"/>
                </a:p>
              </p:txBody>
            </p:sp>
          </p:grpSp>
        </p:grpSp>
        <p:sp>
          <p:nvSpPr>
            <p:cNvPr id="34856" name="Line 34">
              <a:extLst>
                <a:ext uri="{FF2B5EF4-FFF2-40B4-BE49-F238E27FC236}">
                  <a16:creationId xmlns:a16="http://schemas.microsoft.com/office/drawing/2014/main" id="{40AE7F36-5B4C-4D52-9087-48ED31CDBC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728"/>
              <a:ext cx="0" cy="192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4831" name="Line 35">
            <a:extLst>
              <a:ext uri="{FF2B5EF4-FFF2-40B4-BE49-F238E27FC236}">
                <a16:creationId xmlns:a16="http://schemas.microsoft.com/office/drawing/2014/main" id="{9DBA3A05-AD14-4824-A189-10D6E430F304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" y="4419600"/>
            <a:ext cx="7391400" cy="0"/>
          </a:xfrm>
          <a:prstGeom prst="line">
            <a:avLst/>
          </a:prstGeom>
          <a:noFill/>
          <a:ln w="412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32" name="Rectangle 36">
            <a:extLst>
              <a:ext uri="{FF2B5EF4-FFF2-40B4-BE49-F238E27FC236}">
                <a16:creationId xmlns:a16="http://schemas.microsoft.com/office/drawing/2014/main" id="{41DC244D-EF6F-4202-8B09-693417B476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5410200"/>
            <a:ext cx="1219200" cy="381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zh-CN" sz="1800"/>
              <a:t>sum=0</a:t>
            </a:r>
          </a:p>
        </p:txBody>
      </p:sp>
      <p:sp>
        <p:nvSpPr>
          <p:cNvPr id="34833" name="Rectangle 37">
            <a:extLst>
              <a:ext uri="{FF2B5EF4-FFF2-40B4-BE49-F238E27FC236}">
                <a16:creationId xmlns:a16="http://schemas.microsoft.com/office/drawing/2014/main" id="{A9090A66-A34F-4BF2-935D-3EAA57F00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5791200"/>
            <a:ext cx="1219200" cy="381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endParaRPr lang="zh-CN" altLang="zh-CN" sz="1800"/>
          </a:p>
        </p:txBody>
      </p:sp>
      <p:sp>
        <p:nvSpPr>
          <p:cNvPr id="34834" name="Rectangle 38">
            <a:extLst>
              <a:ext uri="{FF2B5EF4-FFF2-40B4-BE49-F238E27FC236}">
                <a16:creationId xmlns:a16="http://schemas.microsoft.com/office/drawing/2014/main" id="{98AF0CB1-17C0-48D5-B84A-57FD0AE608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5029200"/>
            <a:ext cx="1219200" cy="381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endParaRPr lang="zh-CN" altLang="zh-CN" sz="1800"/>
          </a:p>
        </p:txBody>
      </p:sp>
      <p:sp>
        <p:nvSpPr>
          <p:cNvPr id="34835" name="AutoShape 39">
            <a:extLst>
              <a:ext uri="{FF2B5EF4-FFF2-40B4-BE49-F238E27FC236}">
                <a16:creationId xmlns:a16="http://schemas.microsoft.com/office/drawing/2014/main" id="{6BA1C71B-FFC4-49BD-8BF9-1B2969B9EF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4724400"/>
            <a:ext cx="1066800" cy="304800"/>
          </a:xfrm>
          <a:prstGeom prst="roundRect">
            <a:avLst>
              <a:gd name="adj" fmla="val 16667"/>
            </a:avLst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zh-CN" sz="1800"/>
              <a:t>Mem Ctrl</a:t>
            </a:r>
          </a:p>
        </p:txBody>
      </p:sp>
      <p:sp>
        <p:nvSpPr>
          <p:cNvPr id="34836" name="Line 40">
            <a:extLst>
              <a:ext uri="{FF2B5EF4-FFF2-40B4-BE49-F238E27FC236}">
                <a16:creationId xmlns:a16="http://schemas.microsoft.com/office/drawing/2014/main" id="{8B2C949A-D844-4CC1-84E9-70886B8584F7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4419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37" name="Rectangle 41">
            <a:extLst>
              <a:ext uri="{FF2B5EF4-FFF2-40B4-BE49-F238E27FC236}">
                <a16:creationId xmlns:a16="http://schemas.microsoft.com/office/drawing/2014/main" id="{8FD17C12-8BCB-49F0-87C1-4EE9245A4B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3048000"/>
            <a:ext cx="1219200" cy="381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endParaRPr lang="zh-CN" altLang="zh-CN" sz="1800"/>
          </a:p>
        </p:txBody>
      </p:sp>
      <p:sp>
        <p:nvSpPr>
          <p:cNvPr id="34838" name="Rectangle 42">
            <a:extLst>
              <a:ext uri="{FF2B5EF4-FFF2-40B4-BE49-F238E27FC236}">
                <a16:creationId xmlns:a16="http://schemas.microsoft.com/office/drawing/2014/main" id="{A7CE00D2-0812-4FAA-A4A7-88FB4D2B45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3048000"/>
            <a:ext cx="457200" cy="381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endParaRPr lang="zh-CN" altLang="zh-CN" sz="1800"/>
          </a:p>
        </p:txBody>
      </p:sp>
      <p:sp>
        <p:nvSpPr>
          <p:cNvPr id="34839" name="Text Box 43">
            <a:extLst>
              <a:ext uri="{FF2B5EF4-FFF2-40B4-BE49-F238E27FC236}">
                <a16:creationId xmlns:a16="http://schemas.microsoft.com/office/drawing/2014/main" id="{A5ADF8F1-3655-435F-84BD-AFAF023B75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3048000"/>
            <a:ext cx="1003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1800"/>
              <a:t>sum=0</a:t>
            </a:r>
          </a:p>
        </p:txBody>
      </p:sp>
      <p:sp>
        <p:nvSpPr>
          <p:cNvPr id="34840" name="Text Box 44">
            <a:extLst>
              <a:ext uri="{FF2B5EF4-FFF2-40B4-BE49-F238E27FC236}">
                <a16:creationId xmlns:a16="http://schemas.microsoft.com/office/drawing/2014/main" id="{AAAC3249-6E42-4A1B-B183-A3CB155FFB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3048000"/>
            <a:ext cx="3397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1800"/>
              <a:t>V</a:t>
            </a:r>
          </a:p>
        </p:txBody>
      </p:sp>
      <p:sp>
        <p:nvSpPr>
          <p:cNvPr id="34841" name="Text Box 45">
            <a:extLst>
              <a:ext uri="{FF2B5EF4-FFF2-40B4-BE49-F238E27FC236}">
                <a16:creationId xmlns:a16="http://schemas.microsoft.com/office/drawing/2014/main" id="{9D7AE0EC-47A4-4FC4-805D-9147EA6D6B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3048000"/>
            <a:ext cx="265113" cy="3667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1800"/>
              <a:t> </a:t>
            </a:r>
          </a:p>
        </p:txBody>
      </p:sp>
      <p:sp>
        <p:nvSpPr>
          <p:cNvPr id="34842" name="Text Box 46">
            <a:extLst>
              <a:ext uri="{FF2B5EF4-FFF2-40B4-BE49-F238E27FC236}">
                <a16:creationId xmlns:a16="http://schemas.microsoft.com/office/drawing/2014/main" id="{005B800D-9D85-45CE-BD6E-4F4DB8ADF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3048000"/>
            <a:ext cx="265113" cy="3667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1800"/>
              <a:t> </a:t>
            </a:r>
          </a:p>
        </p:txBody>
      </p:sp>
      <p:sp>
        <p:nvSpPr>
          <p:cNvPr id="179247" name="Freeform 47">
            <a:extLst>
              <a:ext uri="{FF2B5EF4-FFF2-40B4-BE49-F238E27FC236}">
                <a16:creationId xmlns:a16="http://schemas.microsoft.com/office/drawing/2014/main" id="{C7A93901-6243-498D-A6A9-D30E585D6746}"/>
              </a:ext>
            </a:extLst>
          </p:cNvPr>
          <p:cNvSpPr>
            <a:spLocks/>
          </p:cNvSpPr>
          <p:nvPr/>
        </p:nvSpPr>
        <p:spPr bwMode="auto">
          <a:xfrm>
            <a:off x="1041400" y="1879600"/>
            <a:ext cx="838200" cy="1320800"/>
          </a:xfrm>
          <a:custGeom>
            <a:avLst/>
            <a:gdLst>
              <a:gd name="T0" fmla="*/ 496 w 528"/>
              <a:gd name="T1" fmla="*/ 64 h 832"/>
              <a:gd name="T2" fmla="*/ 448 w 528"/>
              <a:gd name="T3" fmla="*/ 64 h 832"/>
              <a:gd name="T4" fmla="*/ 16 w 528"/>
              <a:gd name="T5" fmla="*/ 448 h 832"/>
              <a:gd name="T6" fmla="*/ 352 w 528"/>
              <a:gd name="T7" fmla="*/ 832 h 832"/>
              <a:gd name="T8" fmla="*/ 0 60000 65536"/>
              <a:gd name="T9" fmla="*/ 0 60000 65536"/>
              <a:gd name="T10" fmla="*/ 0 60000 65536"/>
              <a:gd name="T11" fmla="*/ 0 60000 65536"/>
              <a:gd name="T12" fmla="*/ 0 w 528"/>
              <a:gd name="T13" fmla="*/ 0 h 832"/>
              <a:gd name="T14" fmla="*/ 528 w 528"/>
              <a:gd name="T15" fmla="*/ 832 h 83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28" h="832">
                <a:moveTo>
                  <a:pt x="496" y="64"/>
                </a:moveTo>
                <a:cubicBezTo>
                  <a:pt x="512" y="32"/>
                  <a:pt x="528" y="0"/>
                  <a:pt x="448" y="64"/>
                </a:cubicBezTo>
                <a:cubicBezTo>
                  <a:pt x="368" y="128"/>
                  <a:pt x="32" y="320"/>
                  <a:pt x="16" y="448"/>
                </a:cubicBezTo>
                <a:cubicBezTo>
                  <a:pt x="0" y="576"/>
                  <a:pt x="176" y="704"/>
                  <a:pt x="352" y="832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zh-CN" sz="1800"/>
          </a:p>
        </p:txBody>
      </p:sp>
      <p:sp>
        <p:nvSpPr>
          <p:cNvPr id="179248" name="Text Box 48">
            <a:extLst>
              <a:ext uri="{FF2B5EF4-FFF2-40B4-BE49-F238E27FC236}">
                <a16:creationId xmlns:a16="http://schemas.microsoft.com/office/drawing/2014/main" id="{B6179C89-660C-4955-A10F-139C63D03F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617" y="1546225"/>
            <a:ext cx="1371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1800" dirty="0" err="1"/>
              <a:t>wr</a:t>
            </a:r>
            <a:r>
              <a:rPr lang="en-US" altLang="zh-CN" sz="1800" dirty="0"/>
              <a:t> sum</a:t>
            </a:r>
          </a:p>
          <a:p>
            <a:r>
              <a:rPr lang="en-US" altLang="zh-CN" sz="1800" dirty="0"/>
              <a:t>(sum = 3)</a:t>
            </a:r>
          </a:p>
        </p:txBody>
      </p:sp>
      <p:grpSp>
        <p:nvGrpSpPr>
          <p:cNvPr id="12" name="Group 49">
            <a:extLst>
              <a:ext uri="{FF2B5EF4-FFF2-40B4-BE49-F238E27FC236}">
                <a16:creationId xmlns:a16="http://schemas.microsoft.com/office/drawing/2014/main" id="{5DC1CD77-B514-4C53-86AC-5495415A10B5}"/>
              </a:ext>
            </a:extLst>
          </p:cNvPr>
          <p:cNvGrpSpPr>
            <a:grpSpLocks/>
          </p:cNvGrpSpPr>
          <p:nvPr/>
        </p:nvGrpSpPr>
        <p:grpSpPr bwMode="auto">
          <a:xfrm>
            <a:off x="2438400" y="3048000"/>
            <a:ext cx="1122363" cy="366713"/>
            <a:chOff x="1536" y="1920"/>
            <a:chExt cx="707" cy="231"/>
          </a:xfrm>
        </p:grpSpPr>
        <p:sp>
          <p:nvSpPr>
            <p:cNvPr id="34850" name="Line 50">
              <a:extLst>
                <a:ext uri="{FF2B5EF4-FFF2-40B4-BE49-F238E27FC236}">
                  <a16:creationId xmlns:a16="http://schemas.microsoft.com/office/drawing/2014/main" id="{B6E3E40D-A496-477A-A619-A3499D65FB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36" y="1968"/>
              <a:ext cx="96" cy="14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51" name="Line 51">
              <a:extLst>
                <a:ext uri="{FF2B5EF4-FFF2-40B4-BE49-F238E27FC236}">
                  <a16:creationId xmlns:a16="http://schemas.microsoft.com/office/drawing/2014/main" id="{BC0D8ACF-5198-4C27-B313-DA936B01D2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72" y="1968"/>
              <a:ext cx="96" cy="14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52" name="Text Box 52">
              <a:extLst>
                <a:ext uri="{FF2B5EF4-FFF2-40B4-BE49-F238E27FC236}">
                  <a16:creationId xmlns:a16="http://schemas.microsoft.com/office/drawing/2014/main" id="{B8106F6F-41F0-4504-AEE4-9C476DFF06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2" y="1920"/>
              <a:ext cx="20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1800"/>
                <a:t>3</a:t>
              </a:r>
            </a:p>
          </p:txBody>
        </p:sp>
        <p:sp>
          <p:nvSpPr>
            <p:cNvPr id="34853" name="Text Box 53">
              <a:extLst>
                <a:ext uri="{FF2B5EF4-FFF2-40B4-BE49-F238E27FC236}">
                  <a16:creationId xmlns:a16="http://schemas.microsoft.com/office/drawing/2014/main" id="{9D38A55C-16C2-4413-A801-D36E8CDB4F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1920"/>
              <a:ext cx="22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1800"/>
                <a:t>D</a:t>
              </a:r>
            </a:p>
          </p:txBody>
        </p:sp>
      </p:grpSp>
      <p:grpSp>
        <p:nvGrpSpPr>
          <p:cNvPr id="34846" name="Group 54">
            <a:extLst>
              <a:ext uri="{FF2B5EF4-FFF2-40B4-BE49-F238E27FC236}">
                <a16:creationId xmlns:a16="http://schemas.microsoft.com/office/drawing/2014/main" id="{0F054D02-C7EA-4119-9BCE-127653C71E0D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3810000"/>
            <a:ext cx="4724400" cy="609600"/>
            <a:chOff x="1488" y="2400"/>
            <a:chExt cx="2976" cy="384"/>
          </a:xfrm>
        </p:grpSpPr>
        <p:sp>
          <p:nvSpPr>
            <p:cNvPr id="34847" name="Line 55">
              <a:extLst>
                <a:ext uri="{FF2B5EF4-FFF2-40B4-BE49-F238E27FC236}">
                  <a16:creationId xmlns:a16="http://schemas.microsoft.com/office/drawing/2014/main" id="{B0468DF0-FB8E-4D45-8527-82D0BE0058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240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8" name="Line 56">
              <a:extLst>
                <a:ext uri="{FF2B5EF4-FFF2-40B4-BE49-F238E27FC236}">
                  <a16:creationId xmlns:a16="http://schemas.microsoft.com/office/drawing/2014/main" id="{C1A11CF9-FC65-43CC-910B-4840D51292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240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9" name="Line 57">
              <a:extLst>
                <a:ext uri="{FF2B5EF4-FFF2-40B4-BE49-F238E27FC236}">
                  <a16:creationId xmlns:a16="http://schemas.microsoft.com/office/drawing/2014/main" id="{558F7718-14FB-42A9-90E0-C27AAF47CC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240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1052FF95-D1B8-4C4A-AF5A-24FFBBDF298E}"/>
              </a:ext>
            </a:extLst>
          </p:cNvPr>
          <p:cNvSpPr txBox="1"/>
          <p:nvPr/>
        </p:nvSpPr>
        <p:spPr>
          <a:xfrm>
            <a:off x="535385" y="5329535"/>
            <a:ext cx="117250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wr</a:t>
            </a:r>
            <a:r>
              <a:rPr lang="en-US" altLang="zh-CN" dirty="0"/>
              <a:t> – Write</a:t>
            </a:r>
          </a:p>
          <a:p>
            <a:r>
              <a:rPr lang="en-US" altLang="zh-CN" dirty="0"/>
              <a:t>D – Dirty</a:t>
            </a:r>
          </a:p>
          <a:p>
            <a:r>
              <a:rPr lang="en-US" altLang="zh-CN" dirty="0"/>
              <a:t>V - Valid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38817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247" grpId="0" animBg="1"/>
      <p:bldP spid="17924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Slide Number Placeholder 5">
            <a:extLst>
              <a:ext uri="{FF2B5EF4-FFF2-40B4-BE49-F238E27FC236}">
                <a16:creationId xmlns:a16="http://schemas.microsoft.com/office/drawing/2014/main" id="{FAD575E3-444A-4491-BBDD-4E47CA35E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74331199-0C25-4945-9146-4CAE1FE4ACAF}" type="slidenum">
              <a:rPr lang="en-US" altLang="zh-CN" sz="1200"/>
              <a:pPr/>
              <a:t>8</a:t>
            </a:fld>
            <a:endParaRPr lang="en-US" altLang="zh-CN" sz="1200"/>
          </a:p>
        </p:txBody>
      </p:sp>
      <p:sp>
        <p:nvSpPr>
          <p:cNvPr id="36868" name="Rectangle 2">
            <a:extLst>
              <a:ext uri="{FF2B5EF4-FFF2-40B4-BE49-F238E27FC236}">
                <a16:creationId xmlns:a16="http://schemas.microsoft.com/office/drawing/2014/main" id="{B34F2C1C-1456-40E9-8353-896542916A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缓存一致性问题举例</a:t>
            </a:r>
            <a:endParaRPr lang="en-US" altLang="zh-CN" dirty="0"/>
          </a:p>
        </p:txBody>
      </p:sp>
      <p:sp>
        <p:nvSpPr>
          <p:cNvPr id="36869" name="Oval 3">
            <a:extLst>
              <a:ext uri="{FF2B5EF4-FFF2-40B4-BE49-F238E27FC236}">
                <a16:creationId xmlns:a16="http://schemas.microsoft.com/office/drawing/2014/main" id="{236DAF41-0C96-4710-99D9-0E07E210EC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1371600"/>
            <a:ext cx="1143000" cy="9906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zh-CN" sz="1800"/>
              <a:t>P1</a:t>
            </a:r>
          </a:p>
        </p:txBody>
      </p:sp>
      <p:grpSp>
        <p:nvGrpSpPr>
          <p:cNvPr id="36870" name="Group 4">
            <a:extLst>
              <a:ext uri="{FF2B5EF4-FFF2-40B4-BE49-F238E27FC236}">
                <a16:creationId xmlns:a16="http://schemas.microsoft.com/office/drawing/2014/main" id="{CBB716E8-8B4D-484B-9FD5-FEC16D0CF1B1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3048000"/>
            <a:ext cx="1676400" cy="381000"/>
            <a:chOff x="1152" y="2304"/>
            <a:chExt cx="1056" cy="480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36920" name="Rectangle 5">
              <a:extLst>
                <a:ext uri="{FF2B5EF4-FFF2-40B4-BE49-F238E27FC236}">
                  <a16:creationId xmlns:a16="http://schemas.microsoft.com/office/drawing/2014/main" id="{8B86591F-0409-4133-BE7C-4BEB273BC9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304"/>
              <a:ext cx="768" cy="48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/>
            </a:p>
          </p:txBody>
        </p:sp>
        <p:sp>
          <p:nvSpPr>
            <p:cNvPr id="36921" name="Rectangle 6">
              <a:extLst>
                <a:ext uri="{FF2B5EF4-FFF2-40B4-BE49-F238E27FC236}">
                  <a16:creationId xmlns:a16="http://schemas.microsoft.com/office/drawing/2014/main" id="{587C8A81-CD16-4CEE-8A53-C393DA8CA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2304"/>
              <a:ext cx="288" cy="48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/>
            </a:p>
          </p:txBody>
        </p:sp>
      </p:grpSp>
      <p:grpSp>
        <p:nvGrpSpPr>
          <p:cNvPr id="36871" name="Group 7">
            <a:extLst>
              <a:ext uri="{FF2B5EF4-FFF2-40B4-BE49-F238E27FC236}">
                <a16:creationId xmlns:a16="http://schemas.microsoft.com/office/drawing/2014/main" id="{308CC120-C626-4CCA-9585-CB762DEBB6C6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3429000"/>
            <a:ext cx="1676400" cy="381000"/>
            <a:chOff x="1152" y="2304"/>
            <a:chExt cx="1056" cy="480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36918" name="Rectangle 8">
              <a:extLst>
                <a:ext uri="{FF2B5EF4-FFF2-40B4-BE49-F238E27FC236}">
                  <a16:creationId xmlns:a16="http://schemas.microsoft.com/office/drawing/2014/main" id="{44ABDD25-0D03-45A2-BBA0-992F009CCB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304"/>
              <a:ext cx="768" cy="48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/>
            </a:p>
          </p:txBody>
        </p:sp>
        <p:sp>
          <p:nvSpPr>
            <p:cNvPr id="36919" name="Rectangle 9">
              <a:extLst>
                <a:ext uri="{FF2B5EF4-FFF2-40B4-BE49-F238E27FC236}">
                  <a16:creationId xmlns:a16="http://schemas.microsoft.com/office/drawing/2014/main" id="{6283E72E-8AA0-4BDB-972E-688963384C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2304"/>
              <a:ext cx="288" cy="48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/>
            </a:p>
          </p:txBody>
        </p:sp>
      </p:grpSp>
      <p:grpSp>
        <p:nvGrpSpPr>
          <p:cNvPr id="36872" name="Group 10">
            <a:extLst>
              <a:ext uri="{FF2B5EF4-FFF2-40B4-BE49-F238E27FC236}">
                <a16:creationId xmlns:a16="http://schemas.microsoft.com/office/drawing/2014/main" id="{EB56EDBF-C1BC-4B04-9E37-05785EF25D68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2667000"/>
            <a:ext cx="1676400" cy="381000"/>
            <a:chOff x="1152" y="2304"/>
            <a:chExt cx="1056" cy="480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36916" name="Rectangle 11">
              <a:extLst>
                <a:ext uri="{FF2B5EF4-FFF2-40B4-BE49-F238E27FC236}">
                  <a16:creationId xmlns:a16="http://schemas.microsoft.com/office/drawing/2014/main" id="{5FA1164A-6ACD-4E25-9965-4397EAFC62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304"/>
              <a:ext cx="768" cy="48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/>
            </a:p>
          </p:txBody>
        </p:sp>
        <p:sp>
          <p:nvSpPr>
            <p:cNvPr id="36917" name="Rectangle 12">
              <a:extLst>
                <a:ext uri="{FF2B5EF4-FFF2-40B4-BE49-F238E27FC236}">
                  <a16:creationId xmlns:a16="http://schemas.microsoft.com/office/drawing/2014/main" id="{2BE2766C-BA87-4564-8B29-175029C5DB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2304"/>
              <a:ext cx="288" cy="48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/>
            </a:p>
          </p:txBody>
        </p:sp>
      </p:grpSp>
      <p:sp>
        <p:nvSpPr>
          <p:cNvPr id="36873" name="Line 13">
            <a:extLst>
              <a:ext uri="{FF2B5EF4-FFF2-40B4-BE49-F238E27FC236}">
                <a16:creationId xmlns:a16="http://schemas.microsoft.com/office/drawing/2014/main" id="{A966807B-DECF-4EA6-911F-155F61720F7E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23622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74" name="Oval 14">
            <a:extLst>
              <a:ext uri="{FF2B5EF4-FFF2-40B4-BE49-F238E27FC236}">
                <a16:creationId xmlns:a16="http://schemas.microsoft.com/office/drawing/2014/main" id="{887331E5-4F22-408C-B704-DD9065FC6A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1371600"/>
            <a:ext cx="1143000" cy="9906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zh-CN" sz="1800"/>
              <a:t>P3</a:t>
            </a:r>
          </a:p>
        </p:txBody>
      </p:sp>
      <p:grpSp>
        <p:nvGrpSpPr>
          <p:cNvPr id="36875" name="Group 15">
            <a:extLst>
              <a:ext uri="{FF2B5EF4-FFF2-40B4-BE49-F238E27FC236}">
                <a16:creationId xmlns:a16="http://schemas.microsoft.com/office/drawing/2014/main" id="{3DD55ECB-C0A3-4893-A114-53E14F62CC3D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3429000"/>
            <a:ext cx="1676400" cy="381000"/>
            <a:chOff x="1152" y="2304"/>
            <a:chExt cx="1056" cy="480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36914" name="Rectangle 16">
              <a:extLst>
                <a:ext uri="{FF2B5EF4-FFF2-40B4-BE49-F238E27FC236}">
                  <a16:creationId xmlns:a16="http://schemas.microsoft.com/office/drawing/2014/main" id="{54101236-DB99-48F4-A4EE-37E331D1CD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304"/>
              <a:ext cx="768" cy="48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/>
            </a:p>
          </p:txBody>
        </p:sp>
        <p:sp>
          <p:nvSpPr>
            <p:cNvPr id="36915" name="Rectangle 17">
              <a:extLst>
                <a:ext uri="{FF2B5EF4-FFF2-40B4-BE49-F238E27FC236}">
                  <a16:creationId xmlns:a16="http://schemas.microsoft.com/office/drawing/2014/main" id="{F7B97766-C339-4319-9C97-42AB7586B7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2304"/>
              <a:ext cx="288" cy="48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/>
            </a:p>
          </p:txBody>
        </p:sp>
      </p:grpSp>
      <p:grpSp>
        <p:nvGrpSpPr>
          <p:cNvPr id="36876" name="Group 18">
            <a:extLst>
              <a:ext uri="{FF2B5EF4-FFF2-40B4-BE49-F238E27FC236}">
                <a16:creationId xmlns:a16="http://schemas.microsoft.com/office/drawing/2014/main" id="{BCB6C707-341C-4DAA-A7DF-1E1A1D743654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2667000"/>
            <a:ext cx="1676400" cy="381000"/>
            <a:chOff x="1152" y="2304"/>
            <a:chExt cx="1056" cy="480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36912" name="Rectangle 19">
              <a:extLst>
                <a:ext uri="{FF2B5EF4-FFF2-40B4-BE49-F238E27FC236}">
                  <a16:creationId xmlns:a16="http://schemas.microsoft.com/office/drawing/2014/main" id="{85C362E9-6207-41D3-9EE5-5EEF52230C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304"/>
              <a:ext cx="768" cy="48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/>
            </a:p>
          </p:txBody>
        </p:sp>
        <p:sp>
          <p:nvSpPr>
            <p:cNvPr id="36913" name="Rectangle 20">
              <a:extLst>
                <a:ext uri="{FF2B5EF4-FFF2-40B4-BE49-F238E27FC236}">
                  <a16:creationId xmlns:a16="http://schemas.microsoft.com/office/drawing/2014/main" id="{1D4C2463-8593-48FD-8CE8-45AB6DF553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2304"/>
              <a:ext cx="288" cy="48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/>
            </a:p>
          </p:txBody>
        </p:sp>
      </p:grpSp>
      <p:sp>
        <p:nvSpPr>
          <p:cNvPr id="36877" name="Line 21">
            <a:extLst>
              <a:ext uri="{FF2B5EF4-FFF2-40B4-BE49-F238E27FC236}">
                <a16:creationId xmlns:a16="http://schemas.microsoft.com/office/drawing/2014/main" id="{176C6099-2419-4AC5-9AA2-51C86AE86C28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23622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6878" name="Group 22">
            <a:extLst>
              <a:ext uri="{FF2B5EF4-FFF2-40B4-BE49-F238E27FC236}">
                <a16:creationId xmlns:a16="http://schemas.microsoft.com/office/drawing/2014/main" id="{1FB12DDD-33E9-460D-86FC-E4D45C3F54EF}"/>
              </a:ext>
            </a:extLst>
          </p:cNvPr>
          <p:cNvGrpSpPr>
            <a:grpSpLocks/>
          </p:cNvGrpSpPr>
          <p:nvPr/>
        </p:nvGrpSpPr>
        <p:grpSpPr bwMode="auto">
          <a:xfrm>
            <a:off x="3962400" y="1371600"/>
            <a:ext cx="1676400" cy="2438400"/>
            <a:chOff x="1008" y="1104"/>
            <a:chExt cx="1056" cy="1536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36900" name="Oval 23">
              <a:extLst>
                <a:ext uri="{FF2B5EF4-FFF2-40B4-BE49-F238E27FC236}">
                  <a16:creationId xmlns:a16="http://schemas.microsoft.com/office/drawing/2014/main" id="{72F0F851-15ED-4D81-9E64-7742DE9E3C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1104"/>
              <a:ext cx="720" cy="624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zh-CN" sz="1800"/>
                <a:t>P2</a:t>
              </a:r>
            </a:p>
          </p:txBody>
        </p:sp>
        <p:grpSp>
          <p:nvGrpSpPr>
            <p:cNvPr id="36901" name="Group 24">
              <a:extLst>
                <a:ext uri="{FF2B5EF4-FFF2-40B4-BE49-F238E27FC236}">
                  <a16:creationId xmlns:a16="http://schemas.microsoft.com/office/drawing/2014/main" id="{21C88713-D677-472F-97E5-D9BB42FB5B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8" y="1920"/>
              <a:ext cx="1056" cy="720"/>
              <a:chOff x="1008" y="1968"/>
              <a:chExt cx="1056" cy="720"/>
            </a:xfrm>
            <a:grpFill/>
          </p:grpSpPr>
          <p:grpSp>
            <p:nvGrpSpPr>
              <p:cNvPr id="36903" name="Group 25">
                <a:extLst>
                  <a:ext uri="{FF2B5EF4-FFF2-40B4-BE49-F238E27FC236}">
                    <a16:creationId xmlns:a16="http://schemas.microsoft.com/office/drawing/2014/main" id="{A3B026FD-5E11-4E33-80EB-D0BC510906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08" y="2208"/>
                <a:ext cx="1056" cy="240"/>
                <a:chOff x="1152" y="2304"/>
                <a:chExt cx="1056" cy="480"/>
              </a:xfrm>
              <a:grpFill/>
            </p:grpSpPr>
            <p:sp>
              <p:nvSpPr>
                <p:cNvPr id="36910" name="Rectangle 26">
                  <a:extLst>
                    <a:ext uri="{FF2B5EF4-FFF2-40B4-BE49-F238E27FC236}">
                      <a16:creationId xmlns:a16="http://schemas.microsoft.com/office/drawing/2014/main" id="{8AE065CE-C5D2-47F8-BF26-5E9528CD03D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52" y="2304"/>
                  <a:ext cx="768" cy="480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zh-CN" altLang="zh-CN" sz="1800"/>
                </a:p>
              </p:txBody>
            </p:sp>
            <p:sp>
              <p:nvSpPr>
                <p:cNvPr id="36911" name="Rectangle 27">
                  <a:extLst>
                    <a:ext uri="{FF2B5EF4-FFF2-40B4-BE49-F238E27FC236}">
                      <a16:creationId xmlns:a16="http://schemas.microsoft.com/office/drawing/2014/main" id="{628DE48A-FA77-49F1-AD7C-4F89363DD5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20" y="2304"/>
                  <a:ext cx="288" cy="480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zh-CN" altLang="zh-CN" sz="1800"/>
                </a:p>
              </p:txBody>
            </p:sp>
          </p:grpSp>
          <p:grpSp>
            <p:nvGrpSpPr>
              <p:cNvPr id="36904" name="Group 28">
                <a:extLst>
                  <a:ext uri="{FF2B5EF4-FFF2-40B4-BE49-F238E27FC236}">
                    <a16:creationId xmlns:a16="http://schemas.microsoft.com/office/drawing/2014/main" id="{4B220586-E2B4-4462-85C4-28758E2B01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08" y="2448"/>
                <a:ext cx="1056" cy="240"/>
                <a:chOff x="1152" y="2304"/>
                <a:chExt cx="1056" cy="480"/>
              </a:xfrm>
              <a:grpFill/>
            </p:grpSpPr>
            <p:sp>
              <p:nvSpPr>
                <p:cNvPr id="36908" name="Rectangle 29">
                  <a:extLst>
                    <a:ext uri="{FF2B5EF4-FFF2-40B4-BE49-F238E27FC236}">
                      <a16:creationId xmlns:a16="http://schemas.microsoft.com/office/drawing/2014/main" id="{91B89D1C-4177-4DE7-8D89-D58D758746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52" y="2304"/>
                  <a:ext cx="768" cy="480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zh-CN" altLang="zh-CN" sz="1800"/>
                </a:p>
              </p:txBody>
            </p:sp>
            <p:sp>
              <p:nvSpPr>
                <p:cNvPr id="36909" name="Rectangle 30">
                  <a:extLst>
                    <a:ext uri="{FF2B5EF4-FFF2-40B4-BE49-F238E27FC236}">
                      <a16:creationId xmlns:a16="http://schemas.microsoft.com/office/drawing/2014/main" id="{6EFA5B5E-85CF-4758-A597-98FC1A374B6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20" y="2304"/>
                  <a:ext cx="288" cy="480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zh-CN" altLang="zh-CN" sz="1800"/>
                </a:p>
              </p:txBody>
            </p:sp>
          </p:grpSp>
          <p:grpSp>
            <p:nvGrpSpPr>
              <p:cNvPr id="36905" name="Group 31">
                <a:extLst>
                  <a:ext uri="{FF2B5EF4-FFF2-40B4-BE49-F238E27FC236}">
                    <a16:creationId xmlns:a16="http://schemas.microsoft.com/office/drawing/2014/main" id="{383E9893-E3FD-4C48-A69E-879C58C6356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08" y="1968"/>
                <a:ext cx="1056" cy="240"/>
                <a:chOff x="1152" y="2304"/>
                <a:chExt cx="1056" cy="480"/>
              </a:xfrm>
              <a:grpFill/>
            </p:grpSpPr>
            <p:sp>
              <p:nvSpPr>
                <p:cNvPr id="36906" name="Rectangle 32">
                  <a:extLst>
                    <a:ext uri="{FF2B5EF4-FFF2-40B4-BE49-F238E27FC236}">
                      <a16:creationId xmlns:a16="http://schemas.microsoft.com/office/drawing/2014/main" id="{2CD4200B-96FA-41F3-831C-4CBD995413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52" y="2304"/>
                  <a:ext cx="768" cy="480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zh-CN" altLang="zh-CN" sz="1800"/>
                </a:p>
              </p:txBody>
            </p:sp>
            <p:sp>
              <p:nvSpPr>
                <p:cNvPr id="36907" name="Rectangle 33">
                  <a:extLst>
                    <a:ext uri="{FF2B5EF4-FFF2-40B4-BE49-F238E27FC236}">
                      <a16:creationId xmlns:a16="http://schemas.microsoft.com/office/drawing/2014/main" id="{E01F4A6D-3A8F-4D3C-BD40-58128BB2DB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20" y="2304"/>
                  <a:ext cx="288" cy="480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zh-CN" altLang="zh-CN" sz="1800"/>
                </a:p>
              </p:txBody>
            </p:sp>
          </p:grpSp>
        </p:grpSp>
        <p:sp>
          <p:nvSpPr>
            <p:cNvPr id="36902" name="Line 34">
              <a:extLst>
                <a:ext uri="{FF2B5EF4-FFF2-40B4-BE49-F238E27FC236}">
                  <a16:creationId xmlns:a16="http://schemas.microsoft.com/office/drawing/2014/main" id="{4047DBDF-C5DB-431D-9428-C821048D53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728"/>
              <a:ext cx="0" cy="192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6879" name="Line 35">
            <a:extLst>
              <a:ext uri="{FF2B5EF4-FFF2-40B4-BE49-F238E27FC236}">
                <a16:creationId xmlns:a16="http://schemas.microsoft.com/office/drawing/2014/main" id="{6369465D-7074-4402-983D-94A5BD60E588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" y="4419600"/>
            <a:ext cx="7391400" cy="0"/>
          </a:xfrm>
          <a:prstGeom prst="line">
            <a:avLst/>
          </a:prstGeom>
          <a:noFill/>
          <a:ln w="412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80" name="Rectangle 36">
            <a:extLst>
              <a:ext uri="{FF2B5EF4-FFF2-40B4-BE49-F238E27FC236}">
                <a16:creationId xmlns:a16="http://schemas.microsoft.com/office/drawing/2014/main" id="{9736A75E-7789-4243-96AF-7602BBC1DE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5410200"/>
            <a:ext cx="1219200" cy="381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zh-CN" sz="1800"/>
              <a:t>sum=0</a:t>
            </a:r>
          </a:p>
        </p:txBody>
      </p:sp>
      <p:sp>
        <p:nvSpPr>
          <p:cNvPr id="36881" name="Rectangle 37">
            <a:extLst>
              <a:ext uri="{FF2B5EF4-FFF2-40B4-BE49-F238E27FC236}">
                <a16:creationId xmlns:a16="http://schemas.microsoft.com/office/drawing/2014/main" id="{4184561D-F974-4287-A6EE-3CA1AC84EE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5791200"/>
            <a:ext cx="1219200" cy="381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endParaRPr lang="zh-CN" altLang="zh-CN" sz="1800"/>
          </a:p>
        </p:txBody>
      </p:sp>
      <p:sp>
        <p:nvSpPr>
          <p:cNvPr id="36882" name="Rectangle 38">
            <a:extLst>
              <a:ext uri="{FF2B5EF4-FFF2-40B4-BE49-F238E27FC236}">
                <a16:creationId xmlns:a16="http://schemas.microsoft.com/office/drawing/2014/main" id="{1565650B-FC75-41CF-9575-1BBCF1BAD1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5029200"/>
            <a:ext cx="1219200" cy="381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endParaRPr lang="zh-CN" altLang="zh-CN" sz="1800"/>
          </a:p>
        </p:txBody>
      </p:sp>
      <p:sp>
        <p:nvSpPr>
          <p:cNvPr id="36883" name="AutoShape 39">
            <a:extLst>
              <a:ext uri="{FF2B5EF4-FFF2-40B4-BE49-F238E27FC236}">
                <a16:creationId xmlns:a16="http://schemas.microsoft.com/office/drawing/2014/main" id="{B825088D-8F33-4244-A764-1EF3741CA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4724400"/>
            <a:ext cx="1066800" cy="304800"/>
          </a:xfrm>
          <a:prstGeom prst="roundRect">
            <a:avLst>
              <a:gd name="adj" fmla="val 16667"/>
            </a:avLst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zh-CN" sz="1800"/>
              <a:t>Mem Ctrl</a:t>
            </a:r>
          </a:p>
        </p:txBody>
      </p:sp>
      <p:sp>
        <p:nvSpPr>
          <p:cNvPr id="36884" name="Line 40">
            <a:extLst>
              <a:ext uri="{FF2B5EF4-FFF2-40B4-BE49-F238E27FC236}">
                <a16:creationId xmlns:a16="http://schemas.microsoft.com/office/drawing/2014/main" id="{6548FE97-DB32-4F3A-AA7C-A78383BC2128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4419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85" name="Rectangle 41">
            <a:extLst>
              <a:ext uri="{FF2B5EF4-FFF2-40B4-BE49-F238E27FC236}">
                <a16:creationId xmlns:a16="http://schemas.microsoft.com/office/drawing/2014/main" id="{25FFF7C3-A554-4C7B-A959-1A164CA318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3048000"/>
            <a:ext cx="1219200" cy="381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endParaRPr lang="zh-CN" altLang="zh-CN" sz="1800"/>
          </a:p>
        </p:txBody>
      </p:sp>
      <p:sp>
        <p:nvSpPr>
          <p:cNvPr id="36886" name="Rectangle 42">
            <a:extLst>
              <a:ext uri="{FF2B5EF4-FFF2-40B4-BE49-F238E27FC236}">
                <a16:creationId xmlns:a16="http://schemas.microsoft.com/office/drawing/2014/main" id="{851C2D5B-8DAB-4C36-AEFD-AC76111E07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3048000"/>
            <a:ext cx="457200" cy="381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endParaRPr lang="zh-CN" altLang="zh-CN" sz="1800"/>
          </a:p>
        </p:txBody>
      </p:sp>
      <p:sp>
        <p:nvSpPr>
          <p:cNvPr id="36887" name="Text Box 43">
            <a:extLst>
              <a:ext uri="{FF2B5EF4-FFF2-40B4-BE49-F238E27FC236}">
                <a16:creationId xmlns:a16="http://schemas.microsoft.com/office/drawing/2014/main" id="{83DEE6E4-4D87-4C05-AE50-25BBBD049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3062287"/>
            <a:ext cx="1079500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1800" dirty="0"/>
              <a:t>sum=3</a:t>
            </a:r>
          </a:p>
        </p:txBody>
      </p:sp>
      <p:sp>
        <p:nvSpPr>
          <p:cNvPr id="36888" name="Text Box 44">
            <a:extLst>
              <a:ext uri="{FF2B5EF4-FFF2-40B4-BE49-F238E27FC236}">
                <a16:creationId xmlns:a16="http://schemas.microsoft.com/office/drawing/2014/main" id="{C07BC282-4292-4238-9DA6-0FB8D0F68E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3048000"/>
            <a:ext cx="360363" cy="3667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1800"/>
              <a:t>D</a:t>
            </a:r>
          </a:p>
        </p:txBody>
      </p:sp>
      <p:grpSp>
        <p:nvGrpSpPr>
          <p:cNvPr id="12" name="Group 45">
            <a:extLst>
              <a:ext uri="{FF2B5EF4-FFF2-40B4-BE49-F238E27FC236}">
                <a16:creationId xmlns:a16="http://schemas.microsoft.com/office/drawing/2014/main" id="{9FA73C7F-64DF-4481-992E-2E69E6049D34}"/>
              </a:ext>
            </a:extLst>
          </p:cNvPr>
          <p:cNvGrpSpPr>
            <a:grpSpLocks/>
          </p:cNvGrpSpPr>
          <p:nvPr/>
        </p:nvGrpSpPr>
        <p:grpSpPr bwMode="auto">
          <a:xfrm>
            <a:off x="4038600" y="3048000"/>
            <a:ext cx="1558925" cy="2362200"/>
            <a:chOff x="2544" y="1920"/>
            <a:chExt cx="982" cy="1488"/>
          </a:xfrm>
        </p:grpSpPr>
        <p:sp>
          <p:nvSpPr>
            <p:cNvPr id="36897" name="Freeform 46">
              <a:extLst>
                <a:ext uri="{FF2B5EF4-FFF2-40B4-BE49-F238E27FC236}">
                  <a16:creationId xmlns:a16="http://schemas.microsoft.com/office/drawing/2014/main" id="{CA996899-4FDC-46F7-8CC0-93F7D3219A7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8" y="2160"/>
              <a:ext cx="1" cy="1248"/>
            </a:xfrm>
            <a:custGeom>
              <a:avLst/>
              <a:gdLst>
                <a:gd name="T0" fmla="*/ 0 w 1"/>
                <a:gd name="T1" fmla="*/ 1248 h 1248"/>
                <a:gd name="T2" fmla="*/ 0 w 1"/>
                <a:gd name="T3" fmla="*/ 0 h 1248"/>
                <a:gd name="T4" fmla="*/ 0 60000 65536"/>
                <a:gd name="T5" fmla="*/ 0 60000 65536"/>
                <a:gd name="T6" fmla="*/ 0 w 1"/>
                <a:gd name="T7" fmla="*/ 0 h 1248"/>
                <a:gd name="T8" fmla="*/ 1 w 1"/>
                <a:gd name="T9" fmla="*/ 1248 h 124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248">
                  <a:moveTo>
                    <a:pt x="0" y="1248"/>
                  </a:moveTo>
                  <a:cubicBezTo>
                    <a:pt x="0" y="1248"/>
                    <a:pt x="0" y="624"/>
                    <a:pt x="0" y="0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/>
            </a:p>
          </p:txBody>
        </p:sp>
        <p:sp>
          <p:nvSpPr>
            <p:cNvPr id="36898" name="Text Box 47">
              <a:extLst>
                <a:ext uri="{FF2B5EF4-FFF2-40B4-BE49-F238E27FC236}">
                  <a16:creationId xmlns:a16="http://schemas.microsoft.com/office/drawing/2014/main" id="{36F2BF08-1F06-4392-B0C7-8CB0900DFD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1920"/>
              <a:ext cx="68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1800"/>
                <a:t>sum =0</a:t>
              </a:r>
            </a:p>
          </p:txBody>
        </p:sp>
        <p:sp>
          <p:nvSpPr>
            <p:cNvPr id="36899" name="Text Box 48">
              <a:extLst>
                <a:ext uri="{FF2B5EF4-FFF2-40B4-BE49-F238E27FC236}">
                  <a16:creationId xmlns:a16="http://schemas.microsoft.com/office/drawing/2014/main" id="{E2ED68FA-E329-4FD8-B287-8559A2D550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1920"/>
              <a:ext cx="21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1800"/>
                <a:t>V</a:t>
              </a:r>
            </a:p>
          </p:txBody>
        </p:sp>
      </p:grpSp>
      <p:grpSp>
        <p:nvGrpSpPr>
          <p:cNvPr id="13" name="Group 49">
            <a:extLst>
              <a:ext uri="{FF2B5EF4-FFF2-40B4-BE49-F238E27FC236}">
                <a16:creationId xmlns:a16="http://schemas.microsoft.com/office/drawing/2014/main" id="{63D08D9E-11B8-49B2-8912-030502591811}"/>
              </a:ext>
            </a:extLst>
          </p:cNvPr>
          <p:cNvGrpSpPr>
            <a:grpSpLocks/>
          </p:cNvGrpSpPr>
          <p:nvPr/>
        </p:nvGrpSpPr>
        <p:grpSpPr bwMode="auto">
          <a:xfrm>
            <a:off x="3276600" y="2057400"/>
            <a:ext cx="1384300" cy="3352800"/>
            <a:chOff x="2064" y="1296"/>
            <a:chExt cx="872" cy="2112"/>
          </a:xfrm>
        </p:grpSpPr>
        <p:sp>
          <p:nvSpPr>
            <p:cNvPr id="36895" name="Freeform 50">
              <a:extLst>
                <a:ext uri="{FF2B5EF4-FFF2-40B4-BE49-F238E27FC236}">
                  <a16:creationId xmlns:a16="http://schemas.microsoft.com/office/drawing/2014/main" id="{3C61FB89-96D5-4932-A691-DF40581FF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0" y="1448"/>
              <a:ext cx="736" cy="1960"/>
            </a:xfrm>
            <a:custGeom>
              <a:avLst/>
              <a:gdLst>
                <a:gd name="T0" fmla="*/ 680 w 736"/>
                <a:gd name="T1" fmla="*/ 40 h 1960"/>
                <a:gd name="T2" fmla="*/ 632 w 736"/>
                <a:gd name="T3" fmla="*/ 40 h 1960"/>
                <a:gd name="T4" fmla="*/ 56 w 736"/>
                <a:gd name="T5" fmla="*/ 280 h 1960"/>
                <a:gd name="T6" fmla="*/ 296 w 736"/>
                <a:gd name="T7" fmla="*/ 568 h 1960"/>
                <a:gd name="T8" fmla="*/ 56 w 736"/>
                <a:gd name="T9" fmla="*/ 856 h 1960"/>
                <a:gd name="T10" fmla="*/ 248 w 736"/>
                <a:gd name="T11" fmla="*/ 1432 h 1960"/>
                <a:gd name="T12" fmla="*/ 680 w 736"/>
                <a:gd name="T13" fmla="*/ 1960 h 196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36"/>
                <a:gd name="T22" fmla="*/ 0 h 1960"/>
                <a:gd name="T23" fmla="*/ 736 w 736"/>
                <a:gd name="T24" fmla="*/ 1960 h 196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36" h="1960">
                  <a:moveTo>
                    <a:pt x="680" y="40"/>
                  </a:moveTo>
                  <a:cubicBezTo>
                    <a:pt x="708" y="20"/>
                    <a:pt x="736" y="0"/>
                    <a:pt x="632" y="40"/>
                  </a:cubicBezTo>
                  <a:cubicBezTo>
                    <a:pt x="528" y="80"/>
                    <a:pt x="112" y="192"/>
                    <a:pt x="56" y="280"/>
                  </a:cubicBezTo>
                  <a:cubicBezTo>
                    <a:pt x="0" y="368"/>
                    <a:pt x="296" y="472"/>
                    <a:pt x="296" y="568"/>
                  </a:cubicBezTo>
                  <a:cubicBezTo>
                    <a:pt x="296" y="664"/>
                    <a:pt x="64" y="712"/>
                    <a:pt x="56" y="856"/>
                  </a:cubicBezTo>
                  <a:cubicBezTo>
                    <a:pt x="48" y="1000"/>
                    <a:pt x="144" y="1248"/>
                    <a:pt x="248" y="1432"/>
                  </a:cubicBezTo>
                  <a:cubicBezTo>
                    <a:pt x="352" y="1616"/>
                    <a:pt x="516" y="1788"/>
                    <a:pt x="680" y="1960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/>
            </a:p>
          </p:txBody>
        </p:sp>
        <p:sp>
          <p:nvSpPr>
            <p:cNvPr id="36896" name="Text Box 51">
              <a:extLst>
                <a:ext uri="{FF2B5EF4-FFF2-40B4-BE49-F238E27FC236}">
                  <a16:creationId xmlns:a16="http://schemas.microsoft.com/office/drawing/2014/main" id="{638CDFC4-61CB-499F-A680-FECDA7B1DD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1296"/>
              <a:ext cx="72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1800"/>
                <a:t>rd &amp;sum</a:t>
              </a:r>
            </a:p>
          </p:txBody>
        </p:sp>
      </p:grpSp>
      <p:grpSp>
        <p:nvGrpSpPr>
          <p:cNvPr id="36891" name="Group 52">
            <a:extLst>
              <a:ext uri="{FF2B5EF4-FFF2-40B4-BE49-F238E27FC236}">
                <a16:creationId xmlns:a16="http://schemas.microsoft.com/office/drawing/2014/main" id="{595B2D8E-1F80-42B7-BFDA-CF4CAD40211F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3810000"/>
            <a:ext cx="4724400" cy="609600"/>
            <a:chOff x="1488" y="2400"/>
            <a:chExt cx="2976" cy="384"/>
          </a:xfrm>
        </p:grpSpPr>
        <p:sp>
          <p:nvSpPr>
            <p:cNvPr id="36892" name="Line 53">
              <a:extLst>
                <a:ext uri="{FF2B5EF4-FFF2-40B4-BE49-F238E27FC236}">
                  <a16:creationId xmlns:a16="http://schemas.microsoft.com/office/drawing/2014/main" id="{0E593B16-CC98-4F23-9CFE-7CF47DA386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240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93" name="Line 54">
              <a:extLst>
                <a:ext uri="{FF2B5EF4-FFF2-40B4-BE49-F238E27FC236}">
                  <a16:creationId xmlns:a16="http://schemas.microsoft.com/office/drawing/2014/main" id="{B30A9D62-7B8B-441B-BA20-DAAB6D3C9A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240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94" name="Line 55">
              <a:extLst>
                <a:ext uri="{FF2B5EF4-FFF2-40B4-BE49-F238E27FC236}">
                  <a16:creationId xmlns:a16="http://schemas.microsoft.com/office/drawing/2014/main" id="{C9D87F49-8324-4FD2-B295-A49B232C5D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240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666895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Slide Number Placeholder 5">
            <a:extLst>
              <a:ext uri="{FF2B5EF4-FFF2-40B4-BE49-F238E27FC236}">
                <a16:creationId xmlns:a16="http://schemas.microsoft.com/office/drawing/2014/main" id="{439F6C5D-12DD-41A3-AA5E-1A82E3186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63D4A757-E837-47D3-BDED-4106DA3A24E4}" type="slidenum">
              <a:rPr lang="en-US" altLang="zh-CN" sz="1200"/>
              <a:pPr/>
              <a:t>9</a:t>
            </a:fld>
            <a:endParaRPr lang="en-US" altLang="zh-CN" sz="1200"/>
          </a:p>
        </p:txBody>
      </p:sp>
      <p:sp>
        <p:nvSpPr>
          <p:cNvPr id="38916" name="Rectangle 2">
            <a:extLst>
              <a:ext uri="{FF2B5EF4-FFF2-40B4-BE49-F238E27FC236}">
                <a16:creationId xmlns:a16="http://schemas.microsoft.com/office/drawing/2014/main" id="{A973A4FE-AEA9-4026-8500-EFF29B52D6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缓存一致性问题举例</a:t>
            </a:r>
            <a:endParaRPr lang="en-US" altLang="zh-CN" dirty="0"/>
          </a:p>
        </p:txBody>
      </p:sp>
      <p:sp>
        <p:nvSpPr>
          <p:cNvPr id="38917" name="Oval 3">
            <a:extLst>
              <a:ext uri="{FF2B5EF4-FFF2-40B4-BE49-F238E27FC236}">
                <a16:creationId xmlns:a16="http://schemas.microsoft.com/office/drawing/2014/main" id="{AA3AA78C-B1FB-4EA5-B089-3D9F22038D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1371600"/>
            <a:ext cx="1143000" cy="9906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zh-CN" sz="1800"/>
              <a:t>P1</a:t>
            </a:r>
          </a:p>
        </p:txBody>
      </p:sp>
      <p:grpSp>
        <p:nvGrpSpPr>
          <p:cNvPr id="38918" name="Group 4">
            <a:extLst>
              <a:ext uri="{FF2B5EF4-FFF2-40B4-BE49-F238E27FC236}">
                <a16:creationId xmlns:a16="http://schemas.microsoft.com/office/drawing/2014/main" id="{55EF9B6D-967B-405A-9A6F-7C755A19B6B4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3048000"/>
            <a:ext cx="1676400" cy="381000"/>
            <a:chOff x="1152" y="2304"/>
            <a:chExt cx="1056" cy="480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38971" name="Rectangle 5">
              <a:extLst>
                <a:ext uri="{FF2B5EF4-FFF2-40B4-BE49-F238E27FC236}">
                  <a16:creationId xmlns:a16="http://schemas.microsoft.com/office/drawing/2014/main" id="{A72D0587-0300-4E39-8CB5-928C7F48FC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304"/>
              <a:ext cx="768" cy="48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/>
            </a:p>
          </p:txBody>
        </p:sp>
        <p:sp>
          <p:nvSpPr>
            <p:cNvPr id="38972" name="Rectangle 6">
              <a:extLst>
                <a:ext uri="{FF2B5EF4-FFF2-40B4-BE49-F238E27FC236}">
                  <a16:creationId xmlns:a16="http://schemas.microsoft.com/office/drawing/2014/main" id="{A5E949CC-84D9-45C3-AE05-C9E90A2EA1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2304"/>
              <a:ext cx="288" cy="48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/>
            </a:p>
          </p:txBody>
        </p:sp>
      </p:grpSp>
      <p:grpSp>
        <p:nvGrpSpPr>
          <p:cNvPr id="38919" name="Group 7">
            <a:extLst>
              <a:ext uri="{FF2B5EF4-FFF2-40B4-BE49-F238E27FC236}">
                <a16:creationId xmlns:a16="http://schemas.microsoft.com/office/drawing/2014/main" id="{1AF7E921-99A2-4346-9551-F18AD076E4F4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3429000"/>
            <a:ext cx="1676400" cy="381000"/>
            <a:chOff x="1152" y="2304"/>
            <a:chExt cx="1056" cy="480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38969" name="Rectangle 8">
              <a:extLst>
                <a:ext uri="{FF2B5EF4-FFF2-40B4-BE49-F238E27FC236}">
                  <a16:creationId xmlns:a16="http://schemas.microsoft.com/office/drawing/2014/main" id="{9306FB7A-5D95-424A-84D9-694903C6AF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304"/>
              <a:ext cx="768" cy="48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/>
            </a:p>
          </p:txBody>
        </p:sp>
        <p:sp>
          <p:nvSpPr>
            <p:cNvPr id="38970" name="Rectangle 9">
              <a:extLst>
                <a:ext uri="{FF2B5EF4-FFF2-40B4-BE49-F238E27FC236}">
                  <a16:creationId xmlns:a16="http://schemas.microsoft.com/office/drawing/2014/main" id="{09E5CF30-FB14-4BCA-9F9E-2D7EA06982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2304"/>
              <a:ext cx="288" cy="48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/>
            </a:p>
          </p:txBody>
        </p:sp>
      </p:grpSp>
      <p:grpSp>
        <p:nvGrpSpPr>
          <p:cNvPr id="38920" name="Group 10">
            <a:extLst>
              <a:ext uri="{FF2B5EF4-FFF2-40B4-BE49-F238E27FC236}">
                <a16:creationId xmlns:a16="http://schemas.microsoft.com/office/drawing/2014/main" id="{1FBB8FB9-42A5-4F6B-8758-B00C1277DA48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2667000"/>
            <a:ext cx="1676400" cy="381000"/>
            <a:chOff x="1152" y="2304"/>
            <a:chExt cx="1056" cy="480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38967" name="Rectangle 11">
              <a:extLst>
                <a:ext uri="{FF2B5EF4-FFF2-40B4-BE49-F238E27FC236}">
                  <a16:creationId xmlns:a16="http://schemas.microsoft.com/office/drawing/2014/main" id="{2DFADB87-0290-42AF-866B-C799D14431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304"/>
              <a:ext cx="768" cy="48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/>
            </a:p>
          </p:txBody>
        </p:sp>
        <p:sp>
          <p:nvSpPr>
            <p:cNvPr id="38968" name="Rectangle 12">
              <a:extLst>
                <a:ext uri="{FF2B5EF4-FFF2-40B4-BE49-F238E27FC236}">
                  <a16:creationId xmlns:a16="http://schemas.microsoft.com/office/drawing/2014/main" id="{936B5A43-4654-42FE-801E-3C29EB6B5B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2304"/>
              <a:ext cx="288" cy="48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/>
            </a:p>
          </p:txBody>
        </p:sp>
      </p:grpSp>
      <p:sp>
        <p:nvSpPr>
          <p:cNvPr id="38921" name="Line 13">
            <a:extLst>
              <a:ext uri="{FF2B5EF4-FFF2-40B4-BE49-F238E27FC236}">
                <a16:creationId xmlns:a16="http://schemas.microsoft.com/office/drawing/2014/main" id="{4AFC8D1A-8AFB-4B6C-9D43-B0611DD8C138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23622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22" name="Oval 14">
            <a:extLst>
              <a:ext uri="{FF2B5EF4-FFF2-40B4-BE49-F238E27FC236}">
                <a16:creationId xmlns:a16="http://schemas.microsoft.com/office/drawing/2014/main" id="{4325ECEC-BEA3-4E94-9016-F502C8D50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1371600"/>
            <a:ext cx="1143000" cy="9906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zh-CN" sz="1800"/>
              <a:t>P3</a:t>
            </a:r>
          </a:p>
        </p:txBody>
      </p:sp>
      <p:grpSp>
        <p:nvGrpSpPr>
          <p:cNvPr id="38923" name="Group 15">
            <a:extLst>
              <a:ext uri="{FF2B5EF4-FFF2-40B4-BE49-F238E27FC236}">
                <a16:creationId xmlns:a16="http://schemas.microsoft.com/office/drawing/2014/main" id="{AB8B9F67-0F25-4EF1-AE1E-B998F3B6450F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3429000"/>
            <a:ext cx="1676400" cy="381000"/>
            <a:chOff x="1152" y="2304"/>
            <a:chExt cx="1056" cy="480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38965" name="Rectangle 16">
              <a:extLst>
                <a:ext uri="{FF2B5EF4-FFF2-40B4-BE49-F238E27FC236}">
                  <a16:creationId xmlns:a16="http://schemas.microsoft.com/office/drawing/2014/main" id="{559CC30D-3534-4B21-80A5-589031F38D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304"/>
              <a:ext cx="768" cy="48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/>
            </a:p>
          </p:txBody>
        </p:sp>
        <p:sp>
          <p:nvSpPr>
            <p:cNvPr id="38966" name="Rectangle 17">
              <a:extLst>
                <a:ext uri="{FF2B5EF4-FFF2-40B4-BE49-F238E27FC236}">
                  <a16:creationId xmlns:a16="http://schemas.microsoft.com/office/drawing/2014/main" id="{3A296B35-0583-47C5-9A3D-DFECD37320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2304"/>
              <a:ext cx="288" cy="48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/>
            </a:p>
          </p:txBody>
        </p:sp>
      </p:grpSp>
      <p:grpSp>
        <p:nvGrpSpPr>
          <p:cNvPr id="38924" name="Group 18">
            <a:extLst>
              <a:ext uri="{FF2B5EF4-FFF2-40B4-BE49-F238E27FC236}">
                <a16:creationId xmlns:a16="http://schemas.microsoft.com/office/drawing/2014/main" id="{44144E60-2F95-4328-BDD2-615D29765860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2667000"/>
            <a:ext cx="1676400" cy="381000"/>
            <a:chOff x="1152" y="2304"/>
            <a:chExt cx="1056" cy="480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38963" name="Rectangle 19">
              <a:extLst>
                <a:ext uri="{FF2B5EF4-FFF2-40B4-BE49-F238E27FC236}">
                  <a16:creationId xmlns:a16="http://schemas.microsoft.com/office/drawing/2014/main" id="{C4A12D5E-2A68-4F02-AD94-D829D2FD17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304"/>
              <a:ext cx="768" cy="48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/>
            </a:p>
          </p:txBody>
        </p:sp>
        <p:sp>
          <p:nvSpPr>
            <p:cNvPr id="38964" name="Rectangle 20">
              <a:extLst>
                <a:ext uri="{FF2B5EF4-FFF2-40B4-BE49-F238E27FC236}">
                  <a16:creationId xmlns:a16="http://schemas.microsoft.com/office/drawing/2014/main" id="{82FD738E-724C-4F2A-AE23-B308128753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2304"/>
              <a:ext cx="288" cy="48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/>
            </a:p>
          </p:txBody>
        </p:sp>
      </p:grpSp>
      <p:sp>
        <p:nvSpPr>
          <p:cNvPr id="38925" name="Line 21">
            <a:extLst>
              <a:ext uri="{FF2B5EF4-FFF2-40B4-BE49-F238E27FC236}">
                <a16:creationId xmlns:a16="http://schemas.microsoft.com/office/drawing/2014/main" id="{0AD9BE43-D7C4-4C37-84D2-B2C0633BAA35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23622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8926" name="Group 22">
            <a:extLst>
              <a:ext uri="{FF2B5EF4-FFF2-40B4-BE49-F238E27FC236}">
                <a16:creationId xmlns:a16="http://schemas.microsoft.com/office/drawing/2014/main" id="{1FDB33F3-F940-4EA5-BB61-DB22D8490796}"/>
              </a:ext>
            </a:extLst>
          </p:cNvPr>
          <p:cNvGrpSpPr>
            <a:grpSpLocks/>
          </p:cNvGrpSpPr>
          <p:nvPr/>
        </p:nvGrpSpPr>
        <p:grpSpPr bwMode="auto">
          <a:xfrm>
            <a:off x="3962400" y="1371600"/>
            <a:ext cx="1676400" cy="2438400"/>
            <a:chOff x="1008" y="1104"/>
            <a:chExt cx="1056" cy="1536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38951" name="Oval 23">
              <a:extLst>
                <a:ext uri="{FF2B5EF4-FFF2-40B4-BE49-F238E27FC236}">
                  <a16:creationId xmlns:a16="http://schemas.microsoft.com/office/drawing/2014/main" id="{7C2DEB96-1616-4BB6-A77C-7892A5382F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1104"/>
              <a:ext cx="720" cy="624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zh-CN" sz="1800"/>
                <a:t>P2</a:t>
              </a:r>
            </a:p>
          </p:txBody>
        </p:sp>
        <p:grpSp>
          <p:nvGrpSpPr>
            <p:cNvPr id="38952" name="Group 24">
              <a:extLst>
                <a:ext uri="{FF2B5EF4-FFF2-40B4-BE49-F238E27FC236}">
                  <a16:creationId xmlns:a16="http://schemas.microsoft.com/office/drawing/2014/main" id="{4D305C7F-FE2D-4730-91DE-B3D6564C3C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8" y="1920"/>
              <a:ext cx="1056" cy="720"/>
              <a:chOff x="1008" y="1968"/>
              <a:chExt cx="1056" cy="720"/>
            </a:xfrm>
            <a:grpFill/>
          </p:grpSpPr>
          <p:grpSp>
            <p:nvGrpSpPr>
              <p:cNvPr id="38954" name="Group 25">
                <a:extLst>
                  <a:ext uri="{FF2B5EF4-FFF2-40B4-BE49-F238E27FC236}">
                    <a16:creationId xmlns:a16="http://schemas.microsoft.com/office/drawing/2014/main" id="{E8A5346E-E410-4745-B638-315F5246D88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08" y="2208"/>
                <a:ext cx="1056" cy="240"/>
                <a:chOff x="1152" y="2304"/>
                <a:chExt cx="1056" cy="480"/>
              </a:xfrm>
              <a:grpFill/>
            </p:grpSpPr>
            <p:sp>
              <p:nvSpPr>
                <p:cNvPr id="38961" name="Rectangle 26">
                  <a:extLst>
                    <a:ext uri="{FF2B5EF4-FFF2-40B4-BE49-F238E27FC236}">
                      <a16:creationId xmlns:a16="http://schemas.microsoft.com/office/drawing/2014/main" id="{45A8735C-7A7B-4395-870F-C91B64BE79F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52" y="2304"/>
                  <a:ext cx="768" cy="480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zh-CN" altLang="zh-CN" sz="1800"/>
                </a:p>
              </p:txBody>
            </p:sp>
            <p:sp>
              <p:nvSpPr>
                <p:cNvPr id="38962" name="Rectangle 27">
                  <a:extLst>
                    <a:ext uri="{FF2B5EF4-FFF2-40B4-BE49-F238E27FC236}">
                      <a16:creationId xmlns:a16="http://schemas.microsoft.com/office/drawing/2014/main" id="{6663DB8B-D884-4F2D-A116-EE7F001B304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20" y="2304"/>
                  <a:ext cx="288" cy="480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zh-CN" altLang="zh-CN" sz="1800"/>
                </a:p>
              </p:txBody>
            </p:sp>
          </p:grpSp>
          <p:grpSp>
            <p:nvGrpSpPr>
              <p:cNvPr id="38955" name="Group 28">
                <a:extLst>
                  <a:ext uri="{FF2B5EF4-FFF2-40B4-BE49-F238E27FC236}">
                    <a16:creationId xmlns:a16="http://schemas.microsoft.com/office/drawing/2014/main" id="{090088E4-6AA1-46DE-81D3-26DF7095523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08" y="2448"/>
                <a:ext cx="1056" cy="240"/>
                <a:chOff x="1152" y="2304"/>
                <a:chExt cx="1056" cy="480"/>
              </a:xfrm>
              <a:grpFill/>
            </p:grpSpPr>
            <p:sp>
              <p:nvSpPr>
                <p:cNvPr id="38959" name="Rectangle 29">
                  <a:extLst>
                    <a:ext uri="{FF2B5EF4-FFF2-40B4-BE49-F238E27FC236}">
                      <a16:creationId xmlns:a16="http://schemas.microsoft.com/office/drawing/2014/main" id="{B133FCBE-8C83-4957-A54F-5E026EACCE6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52" y="2304"/>
                  <a:ext cx="768" cy="480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zh-CN" altLang="zh-CN" sz="1800"/>
                </a:p>
              </p:txBody>
            </p:sp>
            <p:sp>
              <p:nvSpPr>
                <p:cNvPr id="38960" name="Rectangle 30">
                  <a:extLst>
                    <a:ext uri="{FF2B5EF4-FFF2-40B4-BE49-F238E27FC236}">
                      <a16:creationId xmlns:a16="http://schemas.microsoft.com/office/drawing/2014/main" id="{BC4EB538-648C-40AD-98E8-C6C7452AD04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20" y="2304"/>
                  <a:ext cx="288" cy="480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zh-CN" altLang="zh-CN" sz="1800"/>
                </a:p>
              </p:txBody>
            </p:sp>
          </p:grpSp>
          <p:grpSp>
            <p:nvGrpSpPr>
              <p:cNvPr id="38956" name="Group 31">
                <a:extLst>
                  <a:ext uri="{FF2B5EF4-FFF2-40B4-BE49-F238E27FC236}">
                    <a16:creationId xmlns:a16="http://schemas.microsoft.com/office/drawing/2014/main" id="{3797AF46-FD0B-49A5-9414-ECEE8746CC1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08" y="1968"/>
                <a:ext cx="1056" cy="240"/>
                <a:chOff x="1152" y="2304"/>
                <a:chExt cx="1056" cy="480"/>
              </a:xfrm>
              <a:grpFill/>
            </p:grpSpPr>
            <p:sp>
              <p:nvSpPr>
                <p:cNvPr id="38957" name="Rectangle 32">
                  <a:extLst>
                    <a:ext uri="{FF2B5EF4-FFF2-40B4-BE49-F238E27FC236}">
                      <a16:creationId xmlns:a16="http://schemas.microsoft.com/office/drawing/2014/main" id="{3D3531D8-7357-4D77-8549-F14006BBF99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52" y="2304"/>
                  <a:ext cx="768" cy="480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zh-CN" altLang="zh-CN" sz="1800"/>
                </a:p>
              </p:txBody>
            </p:sp>
            <p:sp>
              <p:nvSpPr>
                <p:cNvPr id="38958" name="Rectangle 33">
                  <a:extLst>
                    <a:ext uri="{FF2B5EF4-FFF2-40B4-BE49-F238E27FC236}">
                      <a16:creationId xmlns:a16="http://schemas.microsoft.com/office/drawing/2014/main" id="{0693D1AD-E42F-47DE-8261-FB2BA0F6DB6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20" y="2304"/>
                  <a:ext cx="288" cy="480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zh-CN" altLang="zh-CN" sz="1800"/>
                </a:p>
              </p:txBody>
            </p:sp>
          </p:grpSp>
        </p:grpSp>
        <p:sp>
          <p:nvSpPr>
            <p:cNvPr id="38953" name="Line 34">
              <a:extLst>
                <a:ext uri="{FF2B5EF4-FFF2-40B4-BE49-F238E27FC236}">
                  <a16:creationId xmlns:a16="http://schemas.microsoft.com/office/drawing/2014/main" id="{F044A78B-16BA-4E19-BC3C-E43A8D2591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728"/>
              <a:ext cx="0" cy="192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8927" name="Line 35">
            <a:extLst>
              <a:ext uri="{FF2B5EF4-FFF2-40B4-BE49-F238E27FC236}">
                <a16:creationId xmlns:a16="http://schemas.microsoft.com/office/drawing/2014/main" id="{2BFC4A2C-2622-4BB5-8C56-B5370CBE6D18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" y="4419600"/>
            <a:ext cx="7391400" cy="0"/>
          </a:xfrm>
          <a:prstGeom prst="line">
            <a:avLst/>
          </a:prstGeom>
          <a:noFill/>
          <a:ln w="412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28" name="Rectangle 36">
            <a:extLst>
              <a:ext uri="{FF2B5EF4-FFF2-40B4-BE49-F238E27FC236}">
                <a16:creationId xmlns:a16="http://schemas.microsoft.com/office/drawing/2014/main" id="{037061FA-2AE9-403B-A7B0-A2A647E2C7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5410200"/>
            <a:ext cx="1219200" cy="381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zh-CN" sz="1800"/>
              <a:t>sum=0</a:t>
            </a:r>
          </a:p>
        </p:txBody>
      </p:sp>
      <p:sp>
        <p:nvSpPr>
          <p:cNvPr id="38929" name="Rectangle 37">
            <a:extLst>
              <a:ext uri="{FF2B5EF4-FFF2-40B4-BE49-F238E27FC236}">
                <a16:creationId xmlns:a16="http://schemas.microsoft.com/office/drawing/2014/main" id="{231AC39A-315C-44D8-93B8-3872D95F70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5791200"/>
            <a:ext cx="1219200" cy="381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endParaRPr lang="zh-CN" altLang="zh-CN" sz="1800"/>
          </a:p>
        </p:txBody>
      </p:sp>
      <p:sp>
        <p:nvSpPr>
          <p:cNvPr id="38930" name="Rectangle 38">
            <a:extLst>
              <a:ext uri="{FF2B5EF4-FFF2-40B4-BE49-F238E27FC236}">
                <a16:creationId xmlns:a16="http://schemas.microsoft.com/office/drawing/2014/main" id="{3CE9EA1D-0344-4C02-B1B8-27AB623C9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5029200"/>
            <a:ext cx="1219200" cy="381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endParaRPr lang="zh-CN" altLang="zh-CN" sz="1800"/>
          </a:p>
        </p:txBody>
      </p:sp>
      <p:sp>
        <p:nvSpPr>
          <p:cNvPr id="38931" name="AutoShape 39">
            <a:extLst>
              <a:ext uri="{FF2B5EF4-FFF2-40B4-BE49-F238E27FC236}">
                <a16:creationId xmlns:a16="http://schemas.microsoft.com/office/drawing/2014/main" id="{42B5E4DF-320E-4F9F-BEE6-3E6532DB56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4724400"/>
            <a:ext cx="1066800" cy="304800"/>
          </a:xfrm>
          <a:prstGeom prst="roundRect">
            <a:avLst>
              <a:gd name="adj" fmla="val 16667"/>
            </a:avLst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zh-CN" sz="1800"/>
              <a:t>Mem Ctrl</a:t>
            </a:r>
          </a:p>
        </p:txBody>
      </p:sp>
      <p:sp>
        <p:nvSpPr>
          <p:cNvPr id="38932" name="Line 40">
            <a:extLst>
              <a:ext uri="{FF2B5EF4-FFF2-40B4-BE49-F238E27FC236}">
                <a16:creationId xmlns:a16="http://schemas.microsoft.com/office/drawing/2014/main" id="{31461871-71B7-470F-9DB1-8B309A6D0E95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4419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33" name="Rectangle 41">
            <a:extLst>
              <a:ext uri="{FF2B5EF4-FFF2-40B4-BE49-F238E27FC236}">
                <a16:creationId xmlns:a16="http://schemas.microsoft.com/office/drawing/2014/main" id="{7E2803A5-7C29-46C6-892D-07946BC5D9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3048000"/>
            <a:ext cx="1219200" cy="381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endParaRPr lang="zh-CN" altLang="zh-CN" sz="1800"/>
          </a:p>
        </p:txBody>
      </p:sp>
      <p:sp>
        <p:nvSpPr>
          <p:cNvPr id="38934" name="Rectangle 42">
            <a:extLst>
              <a:ext uri="{FF2B5EF4-FFF2-40B4-BE49-F238E27FC236}">
                <a16:creationId xmlns:a16="http://schemas.microsoft.com/office/drawing/2014/main" id="{FCB98A7A-2C0E-47CD-8C9C-72D60F67AD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3048000"/>
            <a:ext cx="457200" cy="381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endParaRPr lang="zh-CN" altLang="zh-CN" sz="1800"/>
          </a:p>
        </p:txBody>
      </p:sp>
      <p:sp>
        <p:nvSpPr>
          <p:cNvPr id="38935" name="Text Box 43">
            <a:extLst>
              <a:ext uri="{FF2B5EF4-FFF2-40B4-BE49-F238E27FC236}">
                <a16:creationId xmlns:a16="http://schemas.microsoft.com/office/drawing/2014/main" id="{A853D1B5-A915-4A4B-A3DF-13E0F522F0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3048000"/>
            <a:ext cx="1003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1800"/>
              <a:t>sum=3</a:t>
            </a:r>
          </a:p>
        </p:txBody>
      </p:sp>
      <p:sp>
        <p:nvSpPr>
          <p:cNvPr id="38936" name="Text Box 44">
            <a:extLst>
              <a:ext uri="{FF2B5EF4-FFF2-40B4-BE49-F238E27FC236}">
                <a16:creationId xmlns:a16="http://schemas.microsoft.com/office/drawing/2014/main" id="{95B58693-1E3F-418B-8CEC-C2080B9D28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3048000"/>
            <a:ext cx="360363" cy="3667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1800"/>
              <a:t>D</a:t>
            </a:r>
          </a:p>
        </p:txBody>
      </p:sp>
      <p:sp>
        <p:nvSpPr>
          <p:cNvPr id="38937" name="Text Box 45">
            <a:extLst>
              <a:ext uri="{FF2B5EF4-FFF2-40B4-BE49-F238E27FC236}">
                <a16:creationId xmlns:a16="http://schemas.microsoft.com/office/drawing/2014/main" id="{37379D28-8898-4090-93E2-E959AA8C8F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3048000"/>
            <a:ext cx="1003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1800"/>
              <a:t>sum=0</a:t>
            </a:r>
          </a:p>
        </p:txBody>
      </p:sp>
      <p:sp>
        <p:nvSpPr>
          <p:cNvPr id="38938" name="Text Box 46">
            <a:extLst>
              <a:ext uri="{FF2B5EF4-FFF2-40B4-BE49-F238E27FC236}">
                <a16:creationId xmlns:a16="http://schemas.microsoft.com/office/drawing/2014/main" id="{64B9E7DC-5DA2-4896-82D2-C633FC3821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3048000"/>
            <a:ext cx="3397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1800"/>
              <a:t>V</a:t>
            </a:r>
          </a:p>
        </p:txBody>
      </p:sp>
      <p:grpSp>
        <p:nvGrpSpPr>
          <p:cNvPr id="12" name="Group 47">
            <a:extLst>
              <a:ext uri="{FF2B5EF4-FFF2-40B4-BE49-F238E27FC236}">
                <a16:creationId xmlns:a16="http://schemas.microsoft.com/office/drawing/2014/main" id="{E7CD48FC-DFAE-44A1-8231-FA4E68C267E6}"/>
              </a:ext>
            </a:extLst>
          </p:cNvPr>
          <p:cNvGrpSpPr>
            <a:grpSpLocks/>
          </p:cNvGrpSpPr>
          <p:nvPr/>
        </p:nvGrpSpPr>
        <p:grpSpPr bwMode="auto">
          <a:xfrm>
            <a:off x="2914650" y="1558926"/>
            <a:ext cx="1384300" cy="1717676"/>
            <a:chOff x="1836" y="982"/>
            <a:chExt cx="872" cy="1082"/>
          </a:xfrm>
        </p:grpSpPr>
        <p:sp>
          <p:nvSpPr>
            <p:cNvPr id="38949" name="Freeform 48">
              <a:extLst>
                <a:ext uri="{FF2B5EF4-FFF2-40B4-BE49-F238E27FC236}">
                  <a16:creationId xmlns:a16="http://schemas.microsoft.com/office/drawing/2014/main" id="{B4C5BC6A-12CE-4CDD-967F-9D4B6AF89B9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0" y="1344"/>
              <a:ext cx="368" cy="720"/>
            </a:xfrm>
            <a:custGeom>
              <a:avLst/>
              <a:gdLst>
                <a:gd name="T0" fmla="*/ 368 w 368"/>
                <a:gd name="T1" fmla="*/ 0 h 720"/>
                <a:gd name="T2" fmla="*/ 32 w 368"/>
                <a:gd name="T3" fmla="*/ 336 h 720"/>
                <a:gd name="T4" fmla="*/ 176 w 368"/>
                <a:gd name="T5" fmla="*/ 720 h 720"/>
                <a:gd name="T6" fmla="*/ 0 60000 65536"/>
                <a:gd name="T7" fmla="*/ 0 60000 65536"/>
                <a:gd name="T8" fmla="*/ 0 60000 65536"/>
                <a:gd name="T9" fmla="*/ 0 w 368"/>
                <a:gd name="T10" fmla="*/ 0 h 720"/>
                <a:gd name="T11" fmla="*/ 368 w 368"/>
                <a:gd name="T12" fmla="*/ 720 h 72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68" h="720">
                  <a:moveTo>
                    <a:pt x="368" y="0"/>
                  </a:moveTo>
                  <a:cubicBezTo>
                    <a:pt x="216" y="108"/>
                    <a:pt x="64" y="216"/>
                    <a:pt x="32" y="336"/>
                  </a:cubicBezTo>
                  <a:cubicBezTo>
                    <a:pt x="0" y="456"/>
                    <a:pt x="88" y="588"/>
                    <a:pt x="176" y="720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/>
            </a:p>
          </p:txBody>
        </p:sp>
        <p:sp>
          <p:nvSpPr>
            <p:cNvPr id="38950" name="Text Box 49">
              <a:extLst>
                <a:ext uri="{FF2B5EF4-FFF2-40B4-BE49-F238E27FC236}">
                  <a16:creationId xmlns:a16="http://schemas.microsoft.com/office/drawing/2014/main" id="{2129FB0F-A973-4BB7-9442-7708A55F47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6" y="982"/>
              <a:ext cx="87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1800" dirty="0" err="1"/>
                <a:t>wr</a:t>
              </a:r>
              <a:r>
                <a:rPr lang="en-US" altLang="zh-CN" sz="1800" dirty="0"/>
                <a:t> &amp;sum</a:t>
              </a:r>
            </a:p>
            <a:p>
              <a:r>
                <a:rPr lang="en-US" altLang="zh-CN" sz="1800" dirty="0"/>
                <a:t>(sum = 7)</a:t>
              </a:r>
            </a:p>
          </p:txBody>
        </p:sp>
      </p:grpSp>
      <p:grpSp>
        <p:nvGrpSpPr>
          <p:cNvPr id="13" name="Group 50">
            <a:extLst>
              <a:ext uri="{FF2B5EF4-FFF2-40B4-BE49-F238E27FC236}">
                <a16:creationId xmlns:a16="http://schemas.microsoft.com/office/drawing/2014/main" id="{E1A18E64-84BF-4AC2-B324-F04FFD2D3A84}"/>
              </a:ext>
            </a:extLst>
          </p:cNvPr>
          <p:cNvGrpSpPr>
            <a:grpSpLocks/>
          </p:cNvGrpSpPr>
          <p:nvPr/>
        </p:nvGrpSpPr>
        <p:grpSpPr bwMode="auto">
          <a:xfrm>
            <a:off x="4800600" y="3048000"/>
            <a:ext cx="1122363" cy="366713"/>
            <a:chOff x="1536" y="1920"/>
            <a:chExt cx="707" cy="231"/>
          </a:xfrm>
        </p:grpSpPr>
        <p:sp>
          <p:nvSpPr>
            <p:cNvPr id="38945" name="Line 51">
              <a:extLst>
                <a:ext uri="{FF2B5EF4-FFF2-40B4-BE49-F238E27FC236}">
                  <a16:creationId xmlns:a16="http://schemas.microsoft.com/office/drawing/2014/main" id="{686E6549-98D4-4624-9A75-D0004DAA84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36" y="1968"/>
              <a:ext cx="96" cy="14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46" name="Line 52">
              <a:extLst>
                <a:ext uri="{FF2B5EF4-FFF2-40B4-BE49-F238E27FC236}">
                  <a16:creationId xmlns:a16="http://schemas.microsoft.com/office/drawing/2014/main" id="{DDB11BD3-2248-44A2-875B-BAE6FB867B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72" y="1968"/>
              <a:ext cx="96" cy="14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47" name="Text Box 53">
              <a:extLst>
                <a:ext uri="{FF2B5EF4-FFF2-40B4-BE49-F238E27FC236}">
                  <a16:creationId xmlns:a16="http://schemas.microsoft.com/office/drawing/2014/main" id="{2DA62542-AA65-4B36-8963-A6FB494572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2" y="1920"/>
              <a:ext cx="20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1800"/>
                <a:t>7</a:t>
              </a:r>
            </a:p>
          </p:txBody>
        </p:sp>
        <p:sp>
          <p:nvSpPr>
            <p:cNvPr id="38948" name="Text Box 54">
              <a:extLst>
                <a:ext uri="{FF2B5EF4-FFF2-40B4-BE49-F238E27FC236}">
                  <a16:creationId xmlns:a16="http://schemas.microsoft.com/office/drawing/2014/main" id="{90E2BC9E-1644-4666-B117-22D1F88497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1920"/>
              <a:ext cx="22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1800"/>
                <a:t>D</a:t>
              </a:r>
            </a:p>
          </p:txBody>
        </p:sp>
      </p:grpSp>
      <p:grpSp>
        <p:nvGrpSpPr>
          <p:cNvPr id="38941" name="Group 55">
            <a:extLst>
              <a:ext uri="{FF2B5EF4-FFF2-40B4-BE49-F238E27FC236}">
                <a16:creationId xmlns:a16="http://schemas.microsoft.com/office/drawing/2014/main" id="{77753877-D840-4568-A71C-E7987C3B3997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3810000"/>
            <a:ext cx="4724400" cy="609600"/>
            <a:chOff x="1488" y="2400"/>
            <a:chExt cx="2976" cy="384"/>
          </a:xfrm>
        </p:grpSpPr>
        <p:sp>
          <p:nvSpPr>
            <p:cNvPr id="38942" name="Line 56">
              <a:extLst>
                <a:ext uri="{FF2B5EF4-FFF2-40B4-BE49-F238E27FC236}">
                  <a16:creationId xmlns:a16="http://schemas.microsoft.com/office/drawing/2014/main" id="{45DBF63A-7186-4988-8089-05CDABEE30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240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43" name="Line 57">
              <a:extLst>
                <a:ext uri="{FF2B5EF4-FFF2-40B4-BE49-F238E27FC236}">
                  <a16:creationId xmlns:a16="http://schemas.microsoft.com/office/drawing/2014/main" id="{E45F501D-CCC7-4233-B0D3-D7A4C49B51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240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44" name="Line 58">
              <a:extLst>
                <a:ext uri="{FF2B5EF4-FFF2-40B4-BE49-F238E27FC236}">
                  <a16:creationId xmlns:a16="http://schemas.microsoft.com/office/drawing/2014/main" id="{2278C1FE-97B8-4766-9016-CE32F33914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240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38412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Slide Number Placeholder 5">
            <a:extLst>
              <a:ext uri="{FF2B5EF4-FFF2-40B4-BE49-F238E27FC236}">
                <a16:creationId xmlns:a16="http://schemas.microsoft.com/office/drawing/2014/main" id="{9ECF1095-7083-4439-BCA6-117D7C801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582C119B-F12D-4815-B712-4E9EBACBE19C}" type="slidenum">
              <a:rPr lang="en-US" altLang="zh-CN" sz="1200"/>
              <a:pPr/>
              <a:t>10</a:t>
            </a:fld>
            <a:endParaRPr lang="en-US" altLang="zh-CN" sz="1200"/>
          </a:p>
        </p:txBody>
      </p:sp>
      <p:sp>
        <p:nvSpPr>
          <p:cNvPr id="40964" name="Rectangle 2">
            <a:extLst>
              <a:ext uri="{FF2B5EF4-FFF2-40B4-BE49-F238E27FC236}">
                <a16:creationId xmlns:a16="http://schemas.microsoft.com/office/drawing/2014/main" id="{4262988A-0E14-4B27-A5C3-5807FBD582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缓存一致性问题举例</a:t>
            </a:r>
            <a:endParaRPr lang="en-US" altLang="zh-CN" dirty="0"/>
          </a:p>
        </p:txBody>
      </p:sp>
      <p:sp>
        <p:nvSpPr>
          <p:cNvPr id="40965" name="Oval 3">
            <a:extLst>
              <a:ext uri="{FF2B5EF4-FFF2-40B4-BE49-F238E27FC236}">
                <a16:creationId xmlns:a16="http://schemas.microsoft.com/office/drawing/2014/main" id="{B96E511A-1AC1-4E15-B9E8-2C941AED0C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1371600"/>
            <a:ext cx="1143000" cy="9906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zh-CN" sz="1800"/>
              <a:t>P1</a:t>
            </a:r>
          </a:p>
        </p:txBody>
      </p:sp>
      <p:grpSp>
        <p:nvGrpSpPr>
          <p:cNvPr id="40966" name="Group 4">
            <a:extLst>
              <a:ext uri="{FF2B5EF4-FFF2-40B4-BE49-F238E27FC236}">
                <a16:creationId xmlns:a16="http://schemas.microsoft.com/office/drawing/2014/main" id="{6C6F3ED1-A2A6-4351-9F57-41CEA4A156AE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3048000"/>
            <a:ext cx="1676400" cy="381000"/>
            <a:chOff x="1152" y="2304"/>
            <a:chExt cx="1056" cy="480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41017" name="Rectangle 5">
              <a:extLst>
                <a:ext uri="{FF2B5EF4-FFF2-40B4-BE49-F238E27FC236}">
                  <a16:creationId xmlns:a16="http://schemas.microsoft.com/office/drawing/2014/main" id="{9A14ED7C-51FF-469A-BBA3-C125EC880A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304"/>
              <a:ext cx="768" cy="48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/>
            </a:p>
          </p:txBody>
        </p:sp>
        <p:sp>
          <p:nvSpPr>
            <p:cNvPr id="41018" name="Rectangle 6">
              <a:extLst>
                <a:ext uri="{FF2B5EF4-FFF2-40B4-BE49-F238E27FC236}">
                  <a16:creationId xmlns:a16="http://schemas.microsoft.com/office/drawing/2014/main" id="{8BF6A4AC-01AE-424A-9BFC-A07C762702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2304"/>
              <a:ext cx="288" cy="48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/>
            </a:p>
          </p:txBody>
        </p:sp>
      </p:grpSp>
      <p:grpSp>
        <p:nvGrpSpPr>
          <p:cNvPr id="40967" name="Group 7">
            <a:extLst>
              <a:ext uri="{FF2B5EF4-FFF2-40B4-BE49-F238E27FC236}">
                <a16:creationId xmlns:a16="http://schemas.microsoft.com/office/drawing/2014/main" id="{3827558C-26DF-4D3E-8EEA-22AC43CC8497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3429000"/>
            <a:ext cx="1676400" cy="381000"/>
            <a:chOff x="1152" y="2304"/>
            <a:chExt cx="1056" cy="480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41015" name="Rectangle 8">
              <a:extLst>
                <a:ext uri="{FF2B5EF4-FFF2-40B4-BE49-F238E27FC236}">
                  <a16:creationId xmlns:a16="http://schemas.microsoft.com/office/drawing/2014/main" id="{CD507779-20AF-4B5F-80C3-FD30F14754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304"/>
              <a:ext cx="768" cy="48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/>
            </a:p>
          </p:txBody>
        </p:sp>
        <p:sp>
          <p:nvSpPr>
            <p:cNvPr id="41016" name="Rectangle 9">
              <a:extLst>
                <a:ext uri="{FF2B5EF4-FFF2-40B4-BE49-F238E27FC236}">
                  <a16:creationId xmlns:a16="http://schemas.microsoft.com/office/drawing/2014/main" id="{ECA49A30-CAEB-4CAE-B6EC-41B3F61876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2304"/>
              <a:ext cx="288" cy="48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/>
            </a:p>
          </p:txBody>
        </p:sp>
      </p:grpSp>
      <p:grpSp>
        <p:nvGrpSpPr>
          <p:cNvPr id="40968" name="Group 10">
            <a:extLst>
              <a:ext uri="{FF2B5EF4-FFF2-40B4-BE49-F238E27FC236}">
                <a16:creationId xmlns:a16="http://schemas.microsoft.com/office/drawing/2014/main" id="{9CC0598C-D966-417F-A8EB-5129854DA3D9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2667000"/>
            <a:ext cx="1676400" cy="381000"/>
            <a:chOff x="1152" y="2304"/>
            <a:chExt cx="1056" cy="480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41013" name="Rectangle 11">
              <a:extLst>
                <a:ext uri="{FF2B5EF4-FFF2-40B4-BE49-F238E27FC236}">
                  <a16:creationId xmlns:a16="http://schemas.microsoft.com/office/drawing/2014/main" id="{A165584C-F3DF-4C07-9521-2AA8EBAF2A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304"/>
              <a:ext cx="768" cy="48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/>
            </a:p>
          </p:txBody>
        </p:sp>
        <p:sp>
          <p:nvSpPr>
            <p:cNvPr id="41014" name="Rectangle 12">
              <a:extLst>
                <a:ext uri="{FF2B5EF4-FFF2-40B4-BE49-F238E27FC236}">
                  <a16:creationId xmlns:a16="http://schemas.microsoft.com/office/drawing/2014/main" id="{E54CEE5E-0EC7-402B-B83D-BCC5A7AD73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2304"/>
              <a:ext cx="288" cy="48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/>
            </a:p>
          </p:txBody>
        </p:sp>
      </p:grpSp>
      <p:sp>
        <p:nvSpPr>
          <p:cNvPr id="40969" name="Line 13">
            <a:extLst>
              <a:ext uri="{FF2B5EF4-FFF2-40B4-BE49-F238E27FC236}">
                <a16:creationId xmlns:a16="http://schemas.microsoft.com/office/drawing/2014/main" id="{30DC7347-6282-4843-9716-8FBA4E227100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23622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70" name="Oval 14">
            <a:extLst>
              <a:ext uri="{FF2B5EF4-FFF2-40B4-BE49-F238E27FC236}">
                <a16:creationId xmlns:a16="http://schemas.microsoft.com/office/drawing/2014/main" id="{1E324462-5D42-4229-A248-2FC3FA15C6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1371600"/>
            <a:ext cx="1143000" cy="9906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zh-CN" sz="1800"/>
              <a:t>P3</a:t>
            </a:r>
          </a:p>
        </p:txBody>
      </p:sp>
      <p:grpSp>
        <p:nvGrpSpPr>
          <p:cNvPr id="40971" name="Group 15">
            <a:extLst>
              <a:ext uri="{FF2B5EF4-FFF2-40B4-BE49-F238E27FC236}">
                <a16:creationId xmlns:a16="http://schemas.microsoft.com/office/drawing/2014/main" id="{3C4D12B0-1A7C-4594-93DD-47818D9FFACF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3429000"/>
            <a:ext cx="1676400" cy="381000"/>
            <a:chOff x="1152" y="2304"/>
            <a:chExt cx="1056" cy="480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41011" name="Rectangle 16">
              <a:extLst>
                <a:ext uri="{FF2B5EF4-FFF2-40B4-BE49-F238E27FC236}">
                  <a16:creationId xmlns:a16="http://schemas.microsoft.com/office/drawing/2014/main" id="{9EAFF0FE-E864-4D5C-8B47-14251D2027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304"/>
              <a:ext cx="768" cy="48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/>
            </a:p>
          </p:txBody>
        </p:sp>
        <p:sp>
          <p:nvSpPr>
            <p:cNvPr id="41012" name="Rectangle 17">
              <a:extLst>
                <a:ext uri="{FF2B5EF4-FFF2-40B4-BE49-F238E27FC236}">
                  <a16:creationId xmlns:a16="http://schemas.microsoft.com/office/drawing/2014/main" id="{2CFD39CA-606E-417F-A221-87BE864A51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2304"/>
              <a:ext cx="288" cy="48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/>
            </a:p>
          </p:txBody>
        </p:sp>
      </p:grpSp>
      <p:grpSp>
        <p:nvGrpSpPr>
          <p:cNvPr id="40972" name="Group 18">
            <a:extLst>
              <a:ext uri="{FF2B5EF4-FFF2-40B4-BE49-F238E27FC236}">
                <a16:creationId xmlns:a16="http://schemas.microsoft.com/office/drawing/2014/main" id="{AFA20D33-C315-42B5-928C-D622420CFE18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2667000"/>
            <a:ext cx="1676400" cy="381000"/>
            <a:chOff x="1152" y="2304"/>
            <a:chExt cx="1056" cy="480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41009" name="Rectangle 19">
              <a:extLst>
                <a:ext uri="{FF2B5EF4-FFF2-40B4-BE49-F238E27FC236}">
                  <a16:creationId xmlns:a16="http://schemas.microsoft.com/office/drawing/2014/main" id="{4015D0A5-00B6-4F04-9A19-A03548C679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304"/>
              <a:ext cx="768" cy="48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/>
            </a:p>
          </p:txBody>
        </p:sp>
        <p:sp>
          <p:nvSpPr>
            <p:cNvPr id="41010" name="Rectangle 20">
              <a:extLst>
                <a:ext uri="{FF2B5EF4-FFF2-40B4-BE49-F238E27FC236}">
                  <a16:creationId xmlns:a16="http://schemas.microsoft.com/office/drawing/2014/main" id="{E35B5405-2383-4EAB-8F0A-7A114B5DE0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2304"/>
              <a:ext cx="288" cy="48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/>
            </a:p>
          </p:txBody>
        </p:sp>
      </p:grpSp>
      <p:sp>
        <p:nvSpPr>
          <p:cNvPr id="40973" name="Line 21">
            <a:extLst>
              <a:ext uri="{FF2B5EF4-FFF2-40B4-BE49-F238E27FC236}">
                <a16:creationId xmlns:a16="http://schemas.microsoft.com/office/drawing/2014/main" id="{2160C23C-8725-4136-986F-289BFC083A41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23622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0974" name="Group 22">
            <a:extLst>
              <a:ext uri="{FF2B5EF4-FFF2-40B4-BE49-F238E27FC236}">
                <a16:creationId xmlns:a16="http://schemas.microsoft.com/office/drawing/2014/main" id="{F96DB820-E001-45EA-8FF4-02DDC92BD4D9}"/>
              </a:ext>
            </a:extLst>
          </p:cNvPr>
          <p:cNvGrpSpPr>
            <a:grpSpLocks/>
          </p:cNvGrpSpPr>
          <p:nvPr/>
        </p:nvGrpSpPr>
        <p:grpSpPr bwMode="auto">
          <a:xfrm>
            <a:off x="3962400" y="1371600"/>
            <a:ext cx="1676400" cy="2438400"/>
            <a:chOff x="1008" y="1104"/>
            <a:chExt cx="1056" cy="1536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40997" name="Oval 23">
              <a:extLst>
                <a:ext uri="{FF2B5EF4-FFF2-40B4-BE49-F238E27FC236}">
                  <a16:creationId xmlns:a16="http://schemas.microsoft.com/office/drawing/2014/main" id="{548CEB67-A52B-4F0B-9FCD-1D845082D4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1104"/>
              <a:ext cx="720" cy="624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zh-CN" sz="1800"/>
                <a:t>P2</a:t>
              </a:r>
            </a:p>
          </p:txBody>
        </p:sp>
        <p:grpSp>
          <p:nvGrpSpPr>
            <p:cNvPr id="40998" name="Group 24">
              <a:extLst>
                <a:ext uri="{FF2B5EF4-FFF2-40B4-BE49-F238E27FC236}">
                  <a16:creationId xmlns:a16="http://schemas.microsoft.com/office/drawing/2014/main" id="{A249578E-8655-4F47-A7F4-56892BCEDC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8" y="1920"/>
              <a:ext cx="1056" cy="720"/>
              <a:chOff x="1008" y="1968"/>
              <a:chExt cx="1056" cy="720"/>
            </a:xfrm>
            <a:grpFill/>
          </p:grpSpPr>
          <p:grpSp>
            <p:nvGrpSpPr>
              <p:cNvPr id="41000" name="Group 25">
                <a:extLst>
                  <a:ext uri="{FF2B5EF4-FFF2-40B4-BE49-F238E27FC236}">
                    <a16:creationId xmlns:a16="http://schemas.microsoft.com/office/drawing/2014/main" id="{14677778-55A6-448D-9E9B-2F04CD25AB3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08" y="2208"/>
                <a:ext cx="1056" cy="240"/>
                <a:chOff x="1152" y="2304"/>
                <a:chExt cx="1056" cy="480"/>
              </a:xfrm>
              <a:grpFill/>
            </p:grpSpPr>
            <p:sp>
              <p:nvSpPr>
                <p:cNvPr id="41007" name="Rectangle 26">
                  <a:extLst>
                    <a:ext uri="{FF2B5EF4-FFF2-40B4-BE49-F238E27FC236}">
                      <a16:creationId xmlns:a16="http://schemas.microsoft.com/office/drawing/2014/main" id="{2EDBA665-7D11-442A-B5EF-B734106CFB6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52" y="2304"/>
                  <a:ext cx="768" cy="480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zh-CN" altLang="zh-CN" sz="1800"/>
                </a:p>
              </p:txBody>
            </p:sp>
            <p:sp>
              <p:nvSpPr>
                <p:cNvPr id="41008" name="Rectangle 27">
                  <a:extLst>
                    <a:ext uri="{FF2B5EF4-FFF2-40B4-BE49-F238E27FC236}">
                      <a16:creationId xmlns:a16="http://schemas.microsoft.com/office/drawing/2014/main" id="{79284D0E-6F8A-4CC4-90F4-5D600B7BD2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20" y="2304"/>
                  <a:ext cx="288" cy="480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zh-CN" altLang="zh-CN" sz="1800"/>
                </a:p>
              </p:txBody>
            </p:sp>
          </p:grpSp>
          <p:grpSp>
            <p:nvGrpSpPr>
              <p:cNvPr id="41001" name="Group 28">
                <a:extLst>
                  <a:ext uri="{FF2B5EF4-FFF2-40B4-BE49-F238E27FC236}">
                    <a16:creationId xmlns:a16="http://schemas.microsoft.com/office/drawing/2014/main" id="{A729713A-E29F-4314-9F01-A7C0355644C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08" y="2448"/>
                <a:ext cx="1056" cy="240"/>
                <a:chOff x="1152" y="2304"/>
                <a:chExt cx="1056" cy="480"/>
              </a:xfrm>
              <a:grpFill/>
            </p:grpSpPr>
            <p:sp>
              <p:nvSpPr>
                <p:cNvPr id="41005" name="Rectangle 29">
                  <a:extLst>
                    <a:ext uri="{FF2B5EF4-FFF2-40B4-BE49-F238E27FC236}">
                      <a16:creationId xmlns:a16="http://schemas.microsoft.com/office/drawing/2014/main" id="{6FF6C7F0-1351-4602-8AC8-293439779B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52" y="2304"/>
                  <a:ext cx="768" cy="480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zh-CN" altLang="zh-CN" sz="1800"/>
                </a:p>
              </p:txBody>
            </p:sp>
            <p:sp>
              <p:nvSpPr>
                <p:cNvPr id="41006" name="Rectangle 30">
                  <a:extLst>
                    <a:ext uri="{FF2B5EF4-FFF2-40B4-BE49-F238E27FC236}">
                      <a16:creationId xmlns:a16="http://schemas.microsoft.com/office/drawing/2014/main" id="{D05DA488-61B5-4530-84E6-55BA4933E7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20" y="2304"/>
                  <a:ext cx="288" cy="480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zh-CN" altLang="zh-CN" sz="1800"/>
                </a:p>
              </p:txBody>
            </p:sp>
          </p:grpSp>
          <p:grpSp>
            <p:nvGrpSpPr>
              <p:cNvPr id="41002" name="Group 31">
                <a:extLst>
                  <a:ext uri="{FF2B5EF4-FFF2-40B4-BE49-F238E27FC236}">
                    <a16:creationId xmlns:a16="http://schemas.microsoft.com/office/drawing/2014/main" id="{7F30AD35-B59C-4170-9749-0D2F76A15A6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08" y="1968"/>
                <a:ext cx="1056" cy="240"/>
                <a:chOff x="1152" y="2304"/>
                <a:chExt cx="1056" cy="480"/>
              </a:xfrm>
              <a:grpFill/>
            </p:grpSpPr>
            <p:sp>
              <p:nvSpPr>
                <p:cNvPr id="41003" name="Rectangle 32">
                  <a:extLst>
                    <a:ext uri="{FF2B5EF4-FFF2-40B4-BE49-F238E27FC236}">
                      <a16:creationId xmlns:a16="http://schemas.microsoft.com/office/drawing/2014/main" id="{3079B4D6-0A9F-47D2-8906-58690E94C94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52" y="2304"/>
                  <a:ext cx="768" cy="480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zh-CN" altLang="zh-CN" sz="1800"/>
                </a:p>
              </p:txBody>
            </p:sp>
            <p:sp>
              <p:nvSpPr>
                <p:cNvPr id="41004" name="Rectangle 33">
                  <a:extLst>
                    <a:ext uri="{FF2B5EF4-FFF2-40B4-BE49-F238E27FC236}">
                      <a16:creationId xmlns:a16="http://schemas.microsoft.com/office/drawing/2014/main" id="{300A68F5-7D22-4AE9-8176-C1380D735A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20" y="2304"/>
                  <a:ext cx="288" cy="480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zh-CN" altLang="zh-CN" sz="1800"/>
                </a:p>
              </p:txBody>
            </p:sp>
          </p:grpSp>
        </p:grpSp>
        <p:sp>
          <p:nvSpPr>
            <p:cNvPr id="40999" name="Line 34">
              <a:extLst>
                <a:ext uri="{FF2B5EF4-FFF2-40B4-BE49-F238E27FC236}">
                  <a16:creationId xmlns:a16="http://schemas.microsoft.com/office/drawing/2014/main" id="{F9D16DFB-81C4-478B-AD28-DE90718CD4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728"/>
              <a:ext cx="0" cy="192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0975" name="Line 35">
            <a:extLst>
              <a:ext uri="{FF2B5EF4-FFF2-40B4-BE49-F238E27FC236}">
                <a16:creationId xmlns:a16="http://schemas.microsoft.com/office/drawing/2014/main" id="{C051D0EE-6E3C-4659-83FF-45D3F3F55059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" y="4419600"/>
            <a:ext cx="7391400" cy="0"/>
          </a:xfrm>
          <a:prstGeom prst="line">
            <a:avLst/>
          </a:prstGeom>
          <a:noFill/>
          <a:ln w="412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76" name="Rectangle 36">
            <a:extLst>
              <a:ext uri="{FF2B5EF4-FFF2-40B4-BE49-F238E27FC236}">
                <a16:creationId xmlns:a16="http://schemas.microsoft.com/office/drawing/2014/main" id="{7E68FFC8-83A8-4A22-A360-20229F4318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5410200"/>
            <a:ext cx="1219200" cy="381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zh-CN" sz="1800"/>
              <a:t>sum=0</a:t>
            </a:r>
          </a:p>
        </p:txBody>
      </p:sp>
      <p:sp>
        <p:nvSpPr>
          <p:cNvPr id="40977" name="Rectangle 37">
            <a:extLst>
              <a:ext uri="{FF2B5EF4-FFF2-40B4-BE49-F238E27FC236}">
                <a16:creationId xmlns:a16="http://schemas.microsoft.com/office/drawing/2014/main" id="{FF6E3CDD-98F6-4168-A9F3-53707F102E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5791200"/>
            <a:ext cx="1219200" cy="381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endParaRPr lang="zh-CN" altLang="zh-CN" sz="1800"/>
          </a:p>
        </p:txBody>
      </p:sp>
      <p:sp>
        <p:nvSpPr>
          <p:cNvPr id="40978" name="Rectangle 38">
            <a:extLst>
              <a:ext uri="{FF2B5EF4-FFF2-40B4-BE49-F238E27FC236}">
                <a16:creationId xmlns:a16="http://schemas.microsoft.com/office/drawing/2014/main" id="{1E4CB896-7E3A-402F-A18D-843D01B49A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5029200"/>
            <a:ext cx="1219200" cy="381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endParaRPr lang="zh-CN" altLang="zh-CN" sz="1800"/>
          </a:p>
        </p:txBody>
      </p:sp>
      <p:sp>
        <p:nvSpPr>
          <p:cNvPr id="40979" name="AutoShape 39">
            <a:extLst>
              <a:ext uri="{FF2B5EF4-FFF2-40B4-BE49-F238E27FC236}">
                <a16:creationId xmlns:a16="http://schemas.microsoft.com/office/drawing/2014/main" id="{DDAB066D-CA46-4697-B787-D26A330EF3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4724400"/>
            <a:ext cx="1066800" cy="304800"/>
          </a:xfrm>
          <a:prstGeom prst="roundRect">
            <a:avLst>
              <a:gd name="adj" fmla="val 16667"/>
            </a:avLst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zh-CN" sz="1800"/>
              <a:t>Mem Ctrl</a:t>
            </a:r>
          </a:p>
        </p:txBody>
      </p:sp>
      <p:sp>
        <p:nvSpPr>
          <p:cNvPr id="40980" name="Line 40">
            <a:extLst>
              <a:ext uri="{FF2B5EF4-FFF2-40B4-BE49-F238E27FC236}">
                <a16:creationId xmlns:a16="http://schemas.microsoft.com/office/drawing/2014/main" id="{9E86E8BA-D6BA-44BA-BF60-2A6E8339E0F3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4419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81" name="Rectangle 41">
            <a:extLst>
              <a:ext uri="{FF2B5EF4-FFF2-40B4-BE49-F238E27FC236}">
                <a16:creationId xmlns:a16="http://schemas.microsoft.com/office/drawing/2014/main" id="{8D7A055A-7024-4D94-BEA1-40C3814268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3048000"/>
            <a:ext cx="1219200" cy="381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endParaRPr lang="zh-CN" altLang="zh-CN" sz="1800"/>
          </a:p>
        </p:txBody>
      </p:sp>
      <p:sp>
        <p:nvSpPr>
          <p:cNvPr id="40982" name="Rectangle 42">
            <a:extLst>
              <a:ext uri="{FF2B5EF4-FFF2-40B4-BE49-F238E27FC236}">
                <a16:creationId xmlns:a16="http://schemas.microsoft.com/office/drawing/2014/main" id="{3016C280-1844-4D58-BE1D-F88E25B1C7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3048000"/>
            <a:ext cx="457200" cy="381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endParaRPr lang="zh-CN" altLang="zh-CN" sz="1800"/>
          </a:p>
        </p:txBody>
      </p:sp>
      <p:sp>
        <p:nvSpPr>
          <p:cNvPr id="40983" name="Text Box 43">
            <a:extLst>
              <a:ext uri="{FF2B5EF4-FFF2-40B4-BE49-F238E27FC236}">
                <a16:creationId xmlns:a16="http://schemas.microsoft.com/office/drawing/2014/main" id="{EE527B1D-1CFF-420B-A6FB-D3880ABD6A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3048000"/>
            <a:ext cx="1003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1800"/>
              <a:t>sum=3</a:t>
            </a:r>
          </a:p>
        </p:txBody>
      </p:sp>
      <p:sp>
        <p:nvSpPr>
          <p:cNvPr id="40984" name="Text Box 44">
            <a:extLst>
              <a:ext uri="{FF2B5EF4-FFF2-40B4-BE49-F238E27FC236}">
                <a16:creationId xmlns:a16="http://schemas.microsoft.com/office/drawing/2014/main" id="{6E478D75-7DCA-4C47-8780-12EBE5C0B3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3048000"/>
            <a:ext cx="3603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1800"/>
              <a:t>D</a:t>
            </a:r>
          </a:p>
        </p:txBody>
      </p:sp>
      <p:sp>
        <p:nvSpPr>
          <p:cNvPr id="40985" name="Text Box 45">
            <a:extLst>
              <a:ext uri="{FF2B5EF4-FFF2-40B4-BE49-F238E27FC236}">
                <a16:creationId xmlns:a16="http://schemas.microsoft.com/office/drawing/2014/main" id="{C2F7754C-91A1-413F-8696-A71BF9EE6E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3062287"/>
            <a:ext cx="1003300" cy="3667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1800" dirty="0"/>
              <a:t>sum=7</a:t>
            </a:r>
          </a:p>
        </p:txBody>
      </p:sp>
      <p:sp>
        <p:nvSpPr>
          <p:cNvPr id="40986" name="Text Box 46">
            <a:extLst>
              <a:ext uri="{FF2B5EF4-FFF2-40B4-BE49-F238E27FC236}">
                <a16:creationId xmlns:a16="http://schemas.microsoft.com/office/drawing/2014/main" id="{E553A153-304A-4A6A-94E8-433D441413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3048000"/>
            <a:ext cx="360363" cy="3667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1800"/>
              <a:t>D</a:t>
            </a:r>
          </a:p>
        </p:txBody>
      </p:sp>
      <p:grpSp>
        <p:nvGrpSpPr>
          <p:cNvPr id="12" name="Group 47">
            <a:extLst>
              <a:ext uri="{FF2B5EF4-FFF2-40B4-BE49-F238E27FC236}">
                <a16:creationId xmlns:a16="http://schemas.microsoft.com/office/drawing/2014/main" id="{E22BC0BF-A39A-434E-9389-55EBF749C8D2}"/>
              </a:ext>
            </a:extLst>
          </p:cNvPr>
          <p:cNvGrpSpPr>
            <a:grpSpLocks/>
          </p:cNvGrpSpPr>
          <p:nvPr/>
        </p:nvGrpSpPr>
        <p:grpSpPr bwMode="auto">
          <a:xfrm>
            <a:off x="0" y="1879600"/>
            <a:ext cx="1879600" cy="1320800"/>
            <a:chOff x="0" y="1184"/>
            <a:chExt cx="1184" cy="832"/>
          </a:xfrm>
        </p:grpSpPr>
        <p:sp>
          <p:nvSpPr>
            <p:cNvPr id="40995" name="Freeform 48">
              <a:extLst>
                <a:ext uri="{FF2B5EF4-FFF2-40B4-BE49-F238E27FC236}">
                  <a16:creationId xmlns:a16="http://schemas.microsoft.com/office/drawing/2014/main" id="{7EF5DC69-BF5F-45A4-BA40-1AA52CDC305E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" y="1184"/>
              <a:ext cx="528" cy="832"/>
            </a:xfrm>
            <a:custGeom>
              <a:avLst/>
              <a:gdLst>
                <a:gd name="T0" fmla="*/ 496 w 528"/>
                <a:gd name="T1" fmla="*/ 64 h 832"/>
                <a:gd name="T2" fmla="*/ 448 w 528"/>
                <a:gd name="T3" fmla="*/ 64 h 832"/>
                <a:gd name="T4" fmla="*/ 16 w 528"/>
                <a:gd name="T5" fmla="*/ 448 h 832"/>
                <a:gd name="T6" fmla="*/ 352 w 528"/>
                <a:gd name="T7" fmla="*/ 832 h 8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28"/>
                <a:gd name="T13" fmla="*/ 0 h 832"/>
                <a:gd name="T14" fmla="*/ 528 w 528"/>
                <a:gd name="T15" fmla="*/ 832 h 8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28" h="832">
                  <a:moveTo>
                    <a:pt x="496" y="64"/>
                  </a:moveTo>
                  <a:cubicBezTo>
                    <a:pt x="512" y="32"/>
                    <a:pt x="528" y="0"/>
                    <a:pt x="448" y="64"/>
                  </a:cubicBezTo>
                  <a:cubicBezTo>
                    <a:pt x="368" y="128"/>
                    <a:pt x="32" y="320"/>
                    <a:pt x="16" y="448"/>
                  </a:cubicBezTo>
                  <a:cubicBezTo>
                    <a:pt x="0" y="576"/>
                    <a:pt x="176" y="704"/>
                    <a:pt x="352" y="832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/>
            </a:p>
          </p:txBody>
        </p:sp>
        <p:sp>
          <p:nvSpPr>
            <p:cNvPr id="40996" name="Text Box 49">
              <a:extLst>
                <a:ext uri="{FF2B5EF4-FFF2-40B4-BE49-F238E27FC236}">
                  <a16:creationId xmlns:a16="http://schemas.microsoft.com/office/drawing/2014/main" id="{A2C6C916-ADCD-4914-82F2-FA63F95C81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324"/>
              <a:ext cx="72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1800"/>
                <a:t>rd &amp;sum</a:t>
              </a:r>
            </a:p>
          </p:txBody>
        </p:sp>
      </p:grpSp>
      <p:grpSp>
        <p:nvGrpSpPr>
          <p:cNvPr id="13" name="Group 50">
            <a:extLst>
              <a:ext uri="{FF2B5EF4-FFF2-40B4-BE49-F238E27FC236}">
                <a16:creationId xmlns:a16="http://schemas.microsoft.com/office/drawing/2014/main" id="{B714654E-5163-45B3-9946-3E62EDA4EC46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1981200"/>
            <a:ext cx="1620838" cy="1219200"/>
            <a:chOff x="1728" y="1248"/>
            <a:chExt cx="1021" cy="768"/>
          </a:xfrm>
        </p:grpSpPr>
        <p:sp>
          <p:nvSpPr>
            <p:cNvPr id="40993" name="Freeform 51">
              <a:extLst>
                <a:ext uri="{FF2B5EF4-FFF2-40B4-BE49-F238E27FC236}">
                  <a16:creationId xmlns:a16="http://schemas.microsoft.com/office/drawing/2014/main" id="{3FF96925-F99A-4501-8AC7-6EF3B04495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2" y="1248"/>
              <a:ext cx="416" cy="768"/>
            </a:xfrm>
            <a:custGeom>
              <a:avLst/>
              <a:gdLst>
                <a:gd name="T0" fmla="*/ 192 w 416"/>
                <a:gd name="T1" fmla="*/ 768 h 768"/>
                <a:gd name="T2" fmla="*/ 384 w 416"/>
                <a:gd name="T3" fmla="*/ 336 h 768"/>
                <a:gd name="T4" fmla="*/ 0 w 416"/>
                <a:gd name="T5" fmla="*/ 0 h 768"/>
                <a:gd name="T6" fmla="*/ 0 60000 65536"/>
                <a:gd name="T7" fmla="*/ 0 60000 65536"/>
                <a:gd name="T8" fmla="*/ 0 60000 65536"/>
                <a:gd name="T9" fmla="*/ 0 w 416"/>
                <a:gd name="T10" fmla="*/ 0 h 768"/>
                <a:gd name="T11" fmla="*/ 416 w 416"/>
                <a:gd name="T12" fmla="*/ 768 h 7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6" h="768">
                  <a:moveTo>
                    <a:pt x="192" y="768"/>
                  </a:moveTo>
                  <a:cubicBezTo>
                    <a:pt x="304" y="616"/>
                    <a:pt x="416" y="464"/>
                    <a:pt x="384" y="336"/>
                  </a:cubicBezTo>
                  <a:cubicBezTo>
                    <a:pt x="352" y="208"/>
                    <a:pt x="176" y="104"/>
                    <a:pt x="0" y="0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/>
            </a:p>
          </p:txBody>
        </p:sp>
        <p:sp>
          <p:nvSpPr>
            <p:cNvPr id="40994" name="Text Box 52">
              <a:extLst>
                <a:ext uri="{FF2B5EF4-FFF2-40B4-BE49-F238E27FC236}">
                  <a16:creationId xmlns:a16="http://schemas.microsoft.com/office/drawing/2014/main" id="{F2BBE630-1ACB-4A97-BC9E-8DFD48A145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1392"/>
              <a:ext cx="102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1800"/>
                <a:t>print sum=3</a:t>
              </a:r>
            </a:p>
          </p:txBody>
        </p:sp>
      </p:grpSp>
      <p:grpSp>
        <p:nvGrpSpPr>
          <p:cNvPr id="40989" name="Group 53">
            <a:extLst>
              <a:ext uri="{FF2B5EF4-FFF2-40B4-BE49-F238E27FC236}">
                <a16:creationId xmlns:a16="http://schemas.microsoft.com/office/drawing/2014/main" id="{5D747BCB-A2AF-456A-92B3-28C3C31FB314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3810000"/>
            <a:ext cx="4724400" cy="609600"/>
            <a:chOff x="1488" y="2400"/>
            <a:chExt cx="2976" cy="384"/>
          </a:xfrm>
        </p:grpSpPr>
        <p:sp>
          <p:nvSpPr>
            <p:cNvPr id="40990" name="Line 54">
              <a:extLst>
                <a:ext uri="{FF2B5EF4-FFF2-40B4-BE49-F238E27FC236}">
                  <a16:creationId xmlns:a16="http://schemas.microsoft.com/office/drawing/2014/main" id="{F67AD5F2-4739-48B6-A8E0-E6FEC3EF70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240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91" name="Line 55">
              <a:extLst>
                <a:ext uri="{FF2B5EF4-FFF2-40B4-BE49-F238E27FC236}">
                  <a16:creationId xmlns:a16="http://schemas.microsoft.com/office/drawing/2014/main" id="{CFAC73D8-7095-4A96-9EE2-1A329323DE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240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92" name="Line 56">
              <a:extLst>
                <a:ext uri="{FF2B5EF4-FFF2-40B4-BE49-F238E27FC236}">
                  <a16:creationId xmlns:a16="http://schemas.microsoft.com/office/drawing/2014/main" id="{9DB02556-973E-4EB7-92BF-ECBF10675E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240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19283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11</a:t>
            </a:fld>
            <a:endParaRPr lang="en-SG"/>
          </a:p>
        </p:txBody>
      </p:sp>
      <p:sp>
        <p:nvSpPr>
          <p:cNvPr id="5" name="AutoShape 2" descr="https://mail.sysu.edu.cn/coremail/s?func=mbox:getMessageData&amp;mid=1:1tbiAQALCFykhnc8fQAAsK&amp;part=5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B137BB19-9698-4E80-94CD-4E636789BE1C}"/>
              </a:ext>
            </a:extLst>
          </p:cNvPr>
          <p:cNvSpPr/>
          <p:nvPr/>
        </p:nvSpPr>
        <p:spPr>
          <a:xfrm>
            <a:off x="307975" y="620688"/>
            <a:ext cx="8496944" cy="165618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Q2: 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Thread Safety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（线程安全</a:t>
            </a:r>
            <a:r>
              <a:rPr lang="zh-CN" altLang="en-US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）问题？</a:t>
            </a:r>
            <a:endParaRPr lang="en-US" altLang="zh-CN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如何解决线程安全性问题？</a:t>
            </a:r>
          </a:p>
        </p:txBody>
      </p:sp>
      <p:sp>
        <p:nvSpPr>
          <p:cNvPr id="6" name="矩形 5"/>
          <p:cNvSpPr/>
          <p:nvPr/>
        </p:nvSpPr>
        <p:spPr>
          <a:xfrm>
            <a:off x="384255" y="2492896"/>
            <a:ext cx="829126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0066FF"/>
                </a:solidFill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线程安全（</a:t>
            </a:r>
            <a:r>
              <a:rPr lang="en-US" altLang="zh-CN" sz="2400" b="1" dirty="0">
                <a:solidFill>
                  <a:srgbClr val="0066FF"/>
                </a:solidFill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Thread Safety</a:t>
            </a:r>
            <a:r>
              <a:rPr lang="zh-CN" altLang="en-US" sz="2400" b="1" dirty="0">
                <a:solidFill>
                  <a:srgbClr val="0066FF"/>
                </a:solidFill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） 指在</a:t>
            </a:r>
            <a:r>
              <a:rPr lang="zh-CN" altLang="en-US" sz="2400" b="1" dirty="0">
                <a:solidFill>
                  <a:srgbClr val="C00000"/>
                </a:solidFill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多线程环境下</a:t>
            </a:r>
            <a:r>
              <a:rPr lang="zh-CN" altLang="en-US" sz="2400" b="1" dirty="0">
                <a:solidFill>
                  <a:srgbClr val="0066FF"/>
                </a:solidFill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，程序或数据结构能够</a:t>
            </a:r>
            <a:r>
              <a:rPr lang="zh-CN" altLang="en-US" sz="2400" b="1" dirty="0">
                <a:solidFill>
                  <a:srgbClr val="C00000"/>
                </a:solidFill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正确、一致地工作</a:t>
            </a:r>
            <a:r>
              <a:rPr lang="zh-CN" altLang="en-US" sz="2400" b="1" dirty="0">
                <a:solidFill>
                  <a:srgbClr val="0066FF"/>
                </a:solidFill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，而不会因并发访问导致数据损坏、逻辑错误或不可预测的行为</a:t>
            </a:r>
            <a:r>
              <a:rPr lang="zh-CN" altLang="en-US" sz="2400" b="1" dirty="0" smtClean="0">
                <a:solidFill>
                  <a:srgbClr val="0066FF"/>
                </a:solidFill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。</a:t>
            </a:r>
            <a:endParaRPr lang="en-US" altLang="zh-CN" sz="2400" b="1" dirty="0" smtClean="0">
              <a:solidFill>
                <a:srgbClr val="0066FF"/>
              </a:solidFill>
              <a:latin typeface="CMU Typewriter Text" panose="02000609000000000000" pitchFamily="50" charset="0"/>
              <a:ea typeface="CMU Typewriter Text" panose="02000609000000000000" pitchFamily="50" charset="0"/>
              <a:cs typeface="CMU Typewriter Text" panose="02000609000000000000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2400" b="1" dirty="0">
              <a:solidFill>
                <a:srgbClr val="0066FF"/>
              </a:solidFill>
              <a:latin typeface="CMU Typewriter Text" panose="02000609000000000000" pitchFamily="50" charset="0"/>
              <a:ea typeface="微软雅黑" panose="020B0503020204020204" pitchFamily="34" charset="-122"/>
              <a:cs typeface="CMU Typewriter Text" panose="02000609000000000000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b="1" dirty="0" smtClean="0">
                <a:solidFill>
                  <a:srgbClr val="0066FF"/>
                </a:solidFill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解决方法：</a:t>
            </a:r>
            <a:endParaRPr lang="en-US" altLang="zh-CN" sz="2400" b="1" dirty="0" smtClean="0">
              <a:solidFill>
                <a:srgbClr val="0066FF"/>
              </a:solidFill>
              <a:latin typeface="CMU Typewriter Text" panose="02000609000000000000" pitchFamily="50" charset="0"/>
              <a:ea typeface="CMU Typewriter Text" panose="02000609000000000000" pitchFamily="50" charset="0"/>
              <a:cs typeface="CMU Typewriter Text" panose="02000609000000000000" pitchFamily="50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b="1" dirty="0" smtClean="0">
                <a:solidFill>
                  <a:srgbClr val="0066FF"/>
                </a:solidFill>
                <a:latin typeface="CMU Typewriter Text" panose="02000609000000000000" pitchFamily="50" charset="0"/>
                <a:ea typeface="微软雅黑" panose="020B0503020204020204" pitchFamily="34" charset="-122"/>
                <a:cs typeface="CMU Typewriter Text" panose="02000609000000000000" pitchFamily="50" charset="0"/>
              </a:rPr>
              <a:t>选用</a:t>
            </a:r>
            <a:r>
              <a:rPr lang="zh-CN" altLang="en-US" sz="2000" b="1" dirty="0" smtClean="0">
                <a:solidFill>
                  <a:srgbClr val="C00000"/>
                </a:solidFill>
                <a:latin typeface="CMU Typewriter Text" panose="02000609000000000000" pitchFamily="50" charset="0"/>
                <a:ea typeface="微软雅黑" panose="020B0503020204020204" pitchFamily="34" charset="-122"/>
                <a:cs typeface="CMU Typewriter Text" panose="02000609000000000000" pitchFamily="50" charset="0"/>
              </a:rPr>
              <a:t>线程安全的函数</a:t>
            </a:r>
            <a:endParaRPr lang="en-US" altLang="zh-CN" sz="2000" b="1" dirty="0" smtClean="0">
              <a:solidFill>
                <a:srgbClr val="C00000"/>
              </a:solidFill>
              <a:latin typeface="CMU Typewriter Text" panose="02000609000000000000" pitchFamily="50" charset="0"/>
              <a:ea typeface="微软雅黑" panose="020B0503020204020204" pitchFamily="34" charset="-122"/>
              <a:cs typeface="CMU Typewriter Text" panose="02000609000000000000" pitchFamily="50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b="1" dirty="0" smtClean="0">
                <a:solidFill>
                  <a:srgbClr val="C00000"/>
                </a:solidFill>
                <a:latin typeface="CMU Typewriter Text" panose="02000609000000000000" pitchFamily="50" charset="0"/>
                <a:ea typeface="微软雅黑" panose="020B0503020204020204" pitchFamily="34" charset="-122"/>
                <a:cs typeface="CMU Typewriter Text" panose="02000609000000000000" pitchFamily="50" charset="0"/>
              </a:rPr>
              <a:t>互斥</a:t>
            </a:r>
            <a:r>
              <a:rPr lang="zh-CN" altLang="en-US" sz="2000" b="1" dirty="0">
                <a:solidFill>
                  <a:srgbClr val="C00000"/>
                </a:solidFill>
                <a:latin typeface="CMU Typewriter Text" panose="02000609000000000000" pitchFamily="50" charset="0"/>
                <a:ea typeface="微软雅黑" panose="020B0503020204020204" pitchFamily="34" charset="-122"/>
                <a:cs typeface="CMU Typewriter Text" panose="02000609000000000000" pitchFamily="50" charset="0"/>
              </a:rPr>
              <a:t>锁</a:t>
            </a:r>
            <a:r>
              <a:rPr lang="zh-CN" altLang="en-US" sz="2000" b="1" dirty="0">
                <a:solidFill>
                  <a:srgbClr val="0066FF"/>
                </a:solidFill>
                <a:latin typeface="CMU Typewriter Text" panose="02000609000000000000" pitchFamily="50" charset="0"/>
                <a:ea typeface="微软雅黑" panose="020B0503020204020204" pitchFamily="34" charset="-122"/>
                <a:cs typeface="CMU Typewriter Text" panose="02000609000000000000" pitchFamily="50" charset="0"/>
              </a:rPr>
              <a:t>：确保同一时间只有一个线程能访问共享</a:t>
            </a:r>
            <a:r>
              <a:rPr lang="zh-CN" altLang="en-US" sz="2000" b="1" dirty="0" smtClean="0">
                <a:solidFill>
                  <a:srgbClr val="0066FF"/>
                </a:solidFill>
                <a:latin typeface="CMU Typewriter Text" panose="02000609000000000000" pitchFamily="50" charset="0"/>
                <a:ea typeface="微软雅黑" panose="020B0503020204020204" pitchFamily="34" charset="-122"/>
                <a:cs typeface="CMU Typewriter Text" panose="02000609000000000000" pitchFamily="50" charset="0"/>
              </a:rPr>
              <a:t>资源</a:t>
            </a:r>
            <a:endParaRPr lang="en-US" altLang="zh-CN" sz="2000" b="1" dirty="0" smtClean="0">
              <a:solidFill>
                <a:srgbClr val="0066FF"/>
              </a:solidFill>
              <a:latin typeface="CMU Typewriter Text" panose="02000609000000000000" pitchFamily="50" charset="0"/>
              <a:ea typeface="微软雅黑" panose="020B0503020204020204" pitchFamily="34" charset="-122"/>
              <a:cs typeface="CMU Typewriter Text" panose="02000609000000000000" pitchFamily="50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rgbClr val="C00000"/>
                </a:solidFill>
                <a:latin typeface="CMU Typewriter Text" panose="02000609000000000000" pitchFamily="50" charset="0"/>
                <a:ea typeface="微软雅黑" panose="020B0503020204020204" pitchFamily="34" charset="-122"/>
                <a:cs typeface="CMU Typewriter Text" panose="02000609000000000000" pitchFamily="50" charset="0"/>
              </a:rPr>
              <a:t>原子操作</a:t>
            </a:r>
            <a:r>
              <a:rPr lang="zh-CN" altLang="en-US" sz="2000" b="1" dirty="0">
                <a:solidFill>
                  <a:srgbClr val="0066FF"/>
                </a:solidFill>
                <a:latin typeface="CMU Typewriter Text" panose="02000609000000000000" pitchFamily="50" charset="0"/>
                <a:ea typeface="微软雅黑" panose="020B0503020204020204" pitchFamily="34" charset="-122"/>
                <a:cs typeface="CMU Typewriter Text" panose="02000609000000000000" pitchFamily="50" charset="0"/>
              </a:rPr>
              <a:t>：确保操作</a:t>
            </a:r>
            <a:r>
              <a:rPr lang="zh-CN" altLang="en-US" sz="2000" b="1" dirty="0" smtClean="0">
                <a:solidFill>
                  <a:srgbClr val="0066FF"/>
                </a:solidFill>
                <a:latin typeface="CMU Typewriter Text" panose="02000609000000000000" pitchFamily="50" charset="0"/>
                <a:ea typeface="微软雅黑" panose="020B0503020204020204" pitchFamily="34" charset="-122"/>
                <a:cs typeface="CMU Typewriter Text" panose="02000609000000000000" pitchFamily="50" charset="0"/>
              </a:rPr>
              <a:t>不可分割</a:t>
            </a:r>
            <a:endParaRPr lang="en-US" altLang="zh-CN" sz="2000" b="1" dirty="0" smtClean="0">
              <a:solidFill>
                <a:srgbClr val="0066FF"/>
              </a:solidFill>
              <a:latin typeface="CMU Typewriter Text" panose="02000609000000000000" pitchFamily="50" charset="0"/>
              <a:ea typeface="微软雅黑" panose="020B0503020204020204" pitchFamily="34" charset="-122"/>
              <a:cs typeface="CMU Typewriter Text" panose="02000609000000000000" pitchFamily="50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rgbClr val="C00000"/>
                </a:solidFill>
                <a:latin typeface="CMU Typewriter Text" panose="02000609000000000000" pitchFamily="50" charset="0"/>
                <a:ea typeface="微软雅黑" panose="020B0503020204020204" pitchFamily="34" charset="-122"/>
                <a:cs typeface="CMU Typewriter Text" panose="02000609000000000000" pitchFamily="50" charset="0"/>
              </a:rPr>
              <a:t>局部存储</a:t>
            </a:r>
            <a:r>
              <a:rPr lang="zh-CN" altLang="en-US" sz="2000" b="1" dirty="0">
                <a:solidFill>
                  <a:srgbClr val="0066FF"/>
                </a:solidFill>
                <a:latin typeface="CMU Typewriter Text" panose="02000609000000000000" pitchFamily="50" charset="0"/>
                <a:ea typeface="微软雅黑" panose="020B0503020204020204" pitchFamily="34" charset="-122"/>
                <a:cs typeface="CMU Typewriter Text" panose="02000609000000000000" pitchFamily="50" charset="0"/>
              </a:rPr>
              <a:t>：让每个线程拥有独立的变量副本，避免共享</a:t>
            </a:r>
            <a:r>
              <a:rPr lang="zh-CN" altLang="en-US" sz="2000" b="1" dirty="0" smtClean="0">
                <a:solidFill>
                  <a:srgbClr val="0066FF"/>
                </a:solidFill>
                <a:latin typeface="CMU Typewriter Text" panose="02000609000000000000" pitchFamily="50" charset="0"/>
                <a:ea typeface="微软雅黑" panose="020B0503020204020204" pitchFamily="34" charset="-122"/>
                <a:cs typeface="CMU Typewriter Text" panose="02000609000000000000" pitchFamily="50" charset="0"/>
              </a:rPr>
              <a:t>数据</a:t>
            </a:r>
            <a:endParaRPr lang="en-US" altLang="zh-CN" sz="2000" b="1" dirty="0" smtClean="0">
              <a:solidFill>
                <a:srgbClr val="0066FF"/>
              </a:solidFill>
              <a:latin typeface="CMU Typewriter Text" panose="02000609000000000000" pitchFamily="50" charset="0"/>
              <a:ea typeface="微软雅黑" panose="020B0503020204020204" pitchFamily="34" charset="-122"/>
              <a:cs typeface="CMU Typewriter Text" panose="02000609000000000000" pitchFamily="50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b="1" dirty="0" smtClean="0">
                <a:solidFill>
                  <a:srgbClr val="0066FF"/>
                </a:solidFill>
                <a:latin typeface="CMU Typewriter Text" panose="02000609000000000000" pitchFamily="50" charset="0"/>
                <a:ea typeface="微软雅黑" panose="020B0503020204020204" pitchFamily="34" charset="-122"/>
                <a:cs typeface="CMU Typewriter Text" panose="02000609000000000000" pitchFamily="50" charset="0"/>
              </a:rPr>
              <a:t>……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zh-CN" altLang="en-US" sz="2000" dirty="0">
              <a:solidFill>
                <a:srgbClr val="0066FF"/>
              </a:solidFill>
              <a:latin typeface="CMU Typewriter Text" panose="02000609000000000000" pitchFamily="50" charset="0"/>
              <a:ea typeface="微软雅黑" panose="020B0503020204020204" pitchFamily="34" charset="-122"/>
              <a:cs typeface="CMU Typewriter Text" panose="02000609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2053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12</a:t>
            </a:fld>
            <a:endParaRPr lang="en-SG"/>
          </a:p>
        </p:txBody>
      </p:sp>
      <p:sp>
        <p:nvSpPr>
          <p:cNvPr id="5" name="AutoShape 2" descr="https://mail.sysu.edu.cn/coremail/s?func=mbox:getMessageData&amp;mid=1:1tbiAQALCFykhnc8fQAAsK&amp;part=5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B137BB19-9698-4E80-94CD-4E636789BE1C}"/>
              </a:ext>
            </a:extLst>
          </p:cNvPr>
          <p:cNvSpPr/>
          <p:nvPr/>
        </p:nvSpPr>
        <p:spPr>
          <a:xfrm>
            <a:off x="301936" y="404664"/>
            <a:ext cx="8496944" cy="165618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Q3: 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OpenMP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28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pthreads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都是多线程编程，</a:t>
            </a:r>
            <a:endParaRPr lang="en-US" altLang="zh-CN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它们有何区别？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2273983"/>
            <a:ext cx="6624736" cy="4407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183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425</TotalTime>
  <Words>376</Words>
  <Application>Microsoft Office PowerPoint</Application>
  <PresentationFormat>全屏显示(4:3)</PresentationFormat>
  <Paragraphs>112</Paragraphs>
  <Slides>12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ＭＳ Ｐゴシック</vt:lpstr>
      <vt:lpstr>新細明體</vt:lpstr>
      <vt:lpstr>宋体</vt:lpstr>
      <vt:lpstr>微软雅黑</vt:lpstr>
      <vt:lpstr>Arial</vt:lpstr>
      <vt:lpstr>Arial Black</vt:lpstr>
      <vt:lpstr>Calibri</vt:lpstr>
      <vt:lpstr>CMU Typewriter Text</vt:lpstr>
      <vt:lpstr>Times New Roman</vt:lpstr>
      <vt:lpstr>Verdana</vt:lpstr>
      <vt:lpstr>Wingdings</vt:lpstr>
      <vt:lpstr>Office Theme</vt:lpstr>
      <vt:lpstr>PowerPoint 演示文稿</vt:lpstr>
      <vt:lpstr>PowerPoint 演示文稿</vt:lpstr>
      <vt:lpstr>Safe comm. with five processes</vt:lpstr>
      <vt:lpstr>PowerPoint 演示文稿</vt:lpstr>
      <vt:lpstr>缓存一致性问题举例</vt:lpstr>
      <vt:lpstr>缓存一致性问题举例</vt:lpstr>
      <vt:lpstr>缓存一致性问题举例</vt:lpstr>
      <vt:lpstr>缓存一致性问题举例</vt:lpstr>
      <vt:lpstr>缓存一致性问题举例</vt:lpstr>
      <vt:lpstr>缓存一致性问题举例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Storm for Real-Time Stream Data Analytic</dc:title>
  <dc:creator>Tom Fu</dc:creator>
  <cp:lastModifiedBy>Windows 用户</cp:lastModifiedBy>
  <cp:revision>429</cp:revision>
  <dcterms:created xsi:type="dcterms:W3CDTF">2015-08-27T02:23:10Z</dcterms:created>
  <dcterms:modified xsi:type="dcterms:W3CDTF">2025-06-17T00:57:47Z</dcterms:modified>
</cp:coreProperties>
</file>