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316" r:id="rId2"/>
    <p:sldId id="319" r:id="rId3"/>
    <p:sldId id="321" r:id="rId4"/>
    <p:sldId id="323" r:id="rId5"/>
    <p:sldId id="317" r:id="rId6"/>
    <p:sldId id="322" r:id="rId7"/>
    <p:sldId id="31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2266" autoAdjust="0"/>
  </p:normalViewPr>
  <p:slideViewPr>
    <p:cSldViewPr>
      <p:cViewPr varScale="1">
        <p:scale>
          <a:sx n="74" d="100"/>
          <a:sy n="74" d="100"/>
        </p:scale>
        <p:origin x="132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6459F-225C-4AA8-B12F-7D0F44785B1A}" type="datetimeFigureOut">
              <a:rPr lang="en-SG" smtClean="0"/>
              <a:t>29/3/2025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393A7-4FB6-4BF3-96F1-9E4FE826998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9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3D191B-14C9-4E44-80DA-01C77658321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99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u="sng" dirty="0"/>
              <a:t>通常的应用场景下，当前线程执行</a:t>
            </a:r>
            <a:r>
              <a:rPr lang="en-US" altLang="zh-CN" b="1" u="sng" dirty="0" err="1"/>
              <a:t>pthread_cond_wait</a:t>
            </a:r>
            <a:r>
              <a:rPr lang="zh-CN" altLang="en-US" b="1" u="sng" dirty="0"/>
              <a:t>时，处于临界区访问共享资源，存在一个</a:t>
            </a:r>
            <a:r>
              <a:rPr lang="en-US" altLang="zh-CN" b="1" u="sng" dirty="0"/>
              <a:t>mutex</a:t>
            </a:r>
            <a:r>
              <a:rPr lang="zh-CN" altLang="en-US" b="1" u="sng" dirty="0"/>
              <a:t>与该临界区相关联，这是理解</a:t>
            </a:r>
            <a:r>
              <a:rPr lang="en-US" altLang="zh-CN" b="1" u="sng" dirty="0" err="1"/>
              <a:t>pthread_cond_wait</a:t>
            </a:r>
            <a:r>
              <a:rPr lang="zh-CN" altLang="en-US" b="1" u="sng" dirty="0"/>
              <a:t>带有</a:t>
            </a:r>
            <a:r>
              <a:rPr lang="en-US" altLang="zh-CN" b="1" u="sng" dirty="0"/>
              <a:t>mutex</a:t>
            </a:r>
            <a:r>
              <a:rPr lang="zh-CN" altLang="en-US" b="1" u="sng" dirty="0"/>
              <a:t>参数的关键</a:t>
            </a:r>
            <a:endParaRPr lang="zh-CN" altLang="en-US" dirty="0"/>
          </a:p>
          <a:p>
            <a:r>
              <a:rPr lang="zh-CN" altLang="en-US" dirty="0"/>
              <a:t>当前线程执行</a:t>
            </a:r>
            <a:r>
              <a:rPr lang="en-US" altLang="zh-CN" dirty="0" err="1"/>
              <a:t>pthread_cond_wait</a:t>
            </a:r>
            <a:r>
              <a:rPr lang="zh-CN" altLang="en-US" dirty="0"/>
              <a:t>前，已经获得了和临界区相关联的</a:t>
            </a:r>
            <a:r>
              <a:rPr lang="en-US" altLang="zh-CN" dirty="0"/>
              <a:t>mutex</a:t>
            </a:r>
            <a:r>
              <a:rPr lang="zh-CN" altLang="en-US" dirty="0"/>
              <a:t>；执行</a:t>
            </a:r>
            <a:r>
              <a:rPr lang="en-US" altLang="zh-CN" dirty="0" err="1"/>
              <a:t>pthread_cond_wait</a:t>
            </a:r>
            <a:r>
              <a:rPr lang="zh-CN" altLang="en-US" dirty="0"/>
              <a:t>会阻塞，但是在进入阻塞状态前，必须释放已经获得的</a:t>
            </a:r>
            <a:r>
              <a:rPr lang="en-US" altLang="zh-CN" dirty="0"/>
              <a:t>mutex</a:t>
            </a:r>
            <a:r>
              <a:rPr lang="zh-CN" altLang="en-US" dirty="0"/>
              <a:t>，让其它线程能够进入临界区</a:t>
            </a:r>
          </a:p>
          <a:p>
            <a:r>
              <a:rPr lang="zh-CN" altLang="en-US" dirty="0"/>
              <a:t>当前线程执行</a:t>
            </a:r>
            <a:r>
              <a:rPr lang="en-US" altLang="zh-CN" dirty="0" err="1"/>
              <a:t>pthread_cond_wait</a:t>
            </a:r>
            <a:r>
              <a:rPr lang="zh-CN" altLang="en-US" dirty="0"/>
              <a:t>后，阻塞等待的条件满足，条件满足时会被唤醒；被唤醒后，仍然处于临界区，因此被唤醒后必须再次获得和临界区相关联的</a:t>
            </a:r>
            <a:r>
              <a:rPr lang="en-US" altLang="zh-CN" dirty="0"/>
              <a:t>mutex</a:t>
            </a:r>
          </a:p>
          <a:p>
            <a:r>
              <a:rPr lang="zh-CN" altLang="en-US" dirty="0"/>
              <a:t>综上，调用</a:t>
            </a:r>
            <a:r>
              <a:rPr lang="en-US" altLang="zh-CN" dirty="0" err="1"/>
              <a:t>pthread_cond_wait</a:t>
            </a:r>
            <a:r>
              <a:rPr lang="zh-CN" altLang="en-US" dirty="0"/>
              <a:t>时，线程总是位于某个临界区，该临界区与</a:t>
            </a:r>
            <a:r>
              <a:rPr lang="en-US" altLang="zh-CN" dirty="0"/>
              <a:t>mutex</a:t>
            </a:r>
            <a:r>
              <a:rPr lang="zh-CN" altLang="en-US" dirty="0"/>
              <a:t>相关，</a:t>
            </a:r>
            <a:r>
              <a:rPr lang="en-US" altLang="zh-CN" dirty="0" err="1"/>
              <a:t>pthread_cond_wait</a:t>
            </a:r>
            <a:r>
              <a:rPr lang="zh-CN" altLang="en-US" dirty="0"/>
              <a:t>需要带有一个参数</a:t>
            </a:r>
            <a:r>
              <a:rPr lang="en-US" altLang="zh-CN" dirty="0"/>
              <a:t>mutex</a:t>
            </a:r>
            <a:r>
              <a:rPr lang="zh-CN" altLang="en-US" dirty="0"/>
              <a:t>，用于释放和再次获取</a:t>
            </a:r>
            <a:r>
              <a:rPr lang="en-US" altLang="zh-CN" dirty="0"/>
              <a:t>mutex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====== while</a:t>
            </a:r>
            <a:r>
              <a:rPr lang="zh-CN" altLang="en-US" dirty="0"/>
              <a:t>，不是</a:t>
            </a:r>
            <a:r>
              <a:rPr lang="en-US" altLang="zh-CN" dirty="0"/>
              <a:t>if</a:t>
            </a:r>
            <a:r>
              <a:rPr lang="zh-CN" altLang="en-US" dirty="0"/>
              <a:t>的原因：</a:t>
            </a:r>
          </a:p>
          <a:p>
            <a:endParaRPr lang="en-US" altLang="zh-CN" dirty="0"/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pthread_cond_signal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也可能唤醒多个线程，而如果你同时只允许一个线程访问的话，就必须要使用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来进行条件判断，以保证临界区内只有一个线程在处理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为什么用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来判断条件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如上面的代码所示，使用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对条件进行判断的原因如下：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若先解锁互斥量，再唤醒等待线程，则条件可能被其它线程更改，使得等待条件再次成立，需要继续等待</a:t>
            </a: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pthread_cond_wait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可能存在意外返回的情况，则此时条件并没有被更改，需要继续等待。造成意外返回的原因是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中带阻塞功能的系统调用都会在进程收到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后返回</a:t>
            </a:r>
          </a:p>
          <a:p>
            <a:br>
              <a:rPr lang="zh-CN" altLang="en-US" dirty="0"/>
            </a:br>
            <a:r>
              <a:rPr lang="en-US" altLang="zh-CN" dirty="0"/>
              <a:t>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988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B2A1-8233-44BD-A498-681F5159FCD5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29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62D9-0388-44B2-9659-7ED6750167E0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8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E90-0914-4178-BA22-8F1A8D788802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621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E17-0C7B-4A35-A18C-89DE60B5BE13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6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CC10-5197-492F-A74B-3B77355C7237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01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EBC-8D29-4AA6-A353-A4EDC1D6AC50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839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542A-AFC2-4BD4-A4E6-E870AFF62A64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63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15CE-4E91-4B9B-8728-9E9AF6AFB403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971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FD5F-22C5-4B1A-ADCD-44CCB852255F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577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520-D923-4264-BEEB-B16F792BE9F5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582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A1F38-1DA2-43D2-BD1E-DF8E36BDA9E2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73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DB1D0-31BE-4DA1-8061-6C8C0AEF1DE5}" type="datetime1">
              <a:rPr lang="en-SG" altLang="zh-SG" smtClean="0"/>
              <a:t>29/3/2025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86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>
            <a:spLocks noChangeArrowheads="1"/>
          </p:cNvSpPr>
          <p:nvPr/>
        </p:nvSpPr>
        <p:spPr bwMode="auto">
          <a:xfrm>
            <a:off x="179512" y="2924944"/>
            <a:ext cx="87677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Questions</a:t>
            </a:r>
          </a:p>
        </p:txBody>
      </p:sp>
      <p:sp>
        <p:nvSpPr>
          <p:cNvPr id="13" name="副标题 2"/>
          <p:cNvSpPr>
            <a:spLocks noChangeArrowheads="1"/>
          </p:cNvSpPr>
          <p:nvPr/>
        </p:nvSpPr>
        <p:spPr bwMode="auto">
          <a:xfrm>
            <a:off x="1036638" y="4778375"/>
            <a:ext cx="68580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chemeClr val="tx2"/>
              </a:solidFill>
              <a:latin typeface="+mj-ea"/>
              <a:ea typeface="+mj-ea"/>
              <a:cs typeface="Times New Roman" pitchFamily="18" charset="0"/>
              <a:sym typeface="Times New Roman" pitchFamily="18" charset="0"/>
            </a:endParaRPr>
          </a:p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rgbClr val="000000"/>
              </a:solidFill>
              <a:latin typeface="+mj-ea"/>
              <a:ea typeface="+mj-ea"/>
              <a:cs typeface="Times New Roman" pitchFamily="18" charset="0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846598"/>
      </p:ext>
    </p:extLst>
  </p:cSld>
  <p:clrMapOvr>
    <a:masterClrMapping/>
  </p:clrMapOvr>
  <p:transition spd="slow" advTm="184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2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476672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Q1: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pthreads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中的条件变量（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condition variable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）有什么用途？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28DF0D-5BB9-4464-8F8B-8B00F0224D97}"/>
              </a:ext>
            </a:extLst>
          </p:cNvPr>
          <p:cNvSpPr txBox="1"/>
          <p:nvPr/>
        </p:nvSpPr>
        <p:spPr>
          <a:xfrm>
            <a:off x="467544" y="2852936"/>
            <a:ext cx="8280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条件变量是一种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线程同步机制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，用于在多个线程之间高效地等待某个条件的成立。</a:t>
            </a:r>
          </a:p>
          <a:p>
            <a:endParaRPr lang="zh-CN" altLang="en-US" sz="2800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让线程在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某个条件不满足时主动阻塞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条件满足时被唤醒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继续执行。 </a:t>
            </a:r>
            <a:endParaRPr lang="zh-CN" altLang="en-US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62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3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548680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为何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pthreads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中的条件变量（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condition variable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）总是与一个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mutex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相关联？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846141-DA8C-4086-9F0E-42582A920CCF}"/>
              </a:ext>
            </a:extLst>
          </p:cNvPr>
          <p:cNvSpPr txBox="1"/>
          <p:nvPr/>
        </p:nvSpPr>
        <p:spPr>
          <a:xfrm>
            <a:off x="489966" y="2708920"/>
            <a:ext cx="81968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线程在等待某个条件成立时，需要先检查条件是否满足，但检查条件本身必须是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原子操作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800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通过互斥锁包裹条件的检查和修改，确保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“检查条件”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“进入等待”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是原子的，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避免竞争条件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421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4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548680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为何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pthreads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中的条件变量（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condition variable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）总是与一个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mutex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相关联？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846141-DA8C-4086-9F0E-42582A920CCF}"/>
              </a:ext>
            </a:extLst>
          </p:cNvPr>
          <p:cNvSpPr txBox="1"/>
          <p:nvPr/>
        </p:nvSpPr>
        <p:spPr>
          <a:xfrm>
            <a:off x="489966" y="2708920"/>
            <a:ext cx="828092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条件变量的等待操作 </a:t>
            </a:r>
            <a:r>
              <a:rPr lang="en-US" altLang="zh-CN" sz="2800" b="1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pthread_cond_wait</a:t>
            </a:r>
            <a:r>
              <a:rPr lang="en-US" altLang="zh-CN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实际上会执行以下三步：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释放关联的 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Mutex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（让其他线程可以修改共享数据）。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阻塞线程，等待条件变量的信号。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被唤醒后，重新获取 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Mutex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（继续操作共享数据）。</a:t>
            </a:r>
          </a:p>
          <a:p>
            <a:endParaRPr lang="zh-CN" altLang="en-US" sz="2800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如果没有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Mutex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线程无法安全地释放和重新获取锁，可能导致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共享数据被破坏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732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5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07974" y="476672"/>
            <a:ext cx="8512497" cy="15121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Q3: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如何自己用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pthreads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实现一个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Barrier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（栅栏）？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有哪些方法？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000E46-3799-4CED-A3A9-DA6C76EE18F1}"/>
              </a:ext>
            </a:extLst>
          </p:cNvPr>
          <p:cNvSpPr txBox="1"/>
          <p:nvPr/>
        </p:nvSpPr>
        <p:spPr>
          <a:xfrm>
            <a:off x="721982" y="2564904"/>
            <a:ext cx="79928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方法1：通过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busy-waiting + 互斥锁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</a:t>
            </a:r>
          </a:p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方法2：通过使用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信号量（Semaphore）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</a:t>
            </a:r>
          </a:p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方法3：通过使用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互斥锁 + 条件变量</a:t>
            </a:r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</a:t>
            </a:r>
          </a:p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使用一个计数器记录已到达的线程数。</a:t>
            </a:r>
          </a:p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用互斥锁保护计数器。</a:t>
            </a:r>
          </a:p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当计数器未达到总线程数时，线程通过条件变量等待。</a:t>
            </a:r>
          </a:p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当最后一个线程到达时，唤醒所有线程。</a:t>
            </a:r>
          </a:p>
        </p:txBody>
      </p:sp>
    </p:spTree>
    <p:extLst>
      <p:ext uri="{BB962C8B-B14F-4D97-AF65-F5344CB8AC3E}">
        <p14:creationId xmlns:p14="http://schemas.microsoft.com/office/powerpoint/2010/main" val="44205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B7D67F18-2FFA-4DC9-AF8D-7557E431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88913"/>
            <a:ext cx="8281987" cy="1313316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Implementing a barrier with condition variables</a:t>
            </a:r>
          </a:p>
        </p:txBody>
      </p:sp>
      <p:grpSp>
        <p:nvGrpSpPr>
          <p:cNvPr id="75779" name="Group 5">
            <a:extLst>
              <a:ext uri="{FF2B5EF4-FFF2-40B4-BE49-F238E27FC236}">
                <a16:creationId xmlns:a16="http://schemas.microsoft.com/office/drawing/2014/main" id="{E8150126-38BA-462B-A0D3-F0C7148073F4}"/>
              </a:ext>
            </a:extLst>
          </p:cNvPr>
          <p:cNvGrpSpPr>
            <a:grpSpLocks/>
          </p:cNvGrpSpPr>
          <p:nvPr/>
        </p:nvGrpSpPr>
        <p:grpSpPr bwMode="auto">
          <a:xfrm>
            <a:off x="722992" y="1583872"/>
            <a:ext cx="7345363" cy="5184775"/>
            <a:chOff x="899592" y="1052736"/>
            <a:chExt cx="6718871" cy="4631035"/>
          </a:xfrm>
        </p:grpSpPr>
        <p:pic>
          <p:nvPicPr>
            <p:cNvPr id="75780" name="Picture 2">
              <a:extLst>
                <a:ext uri="{FF2B5EF4-FFF2-40B4-BE49-F238E27FC236}">
                  <a16:creationId xmlns:a16="http://schemas.microsoft.com/office/drawing/2014/main" id="{5E1A4378-DC3E-4A42-A619-95ABC08975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1052736"/>
              <a:ext cx="3171825" cy="155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81" name="Picture 3">
              <a:extLst>
                <a:ext uri="{FF2B5EF4-FFF2-40B4-BE49-F238E27FC236}">
                  <a16:creationId xmlns:a16="http://schemas.microsoft.com/office/drawing/2014/main" id="{93FF06EC-32B8-4345-BB2E-776D819B4F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492896"/>
              <a:ext cx="6646863" cy="319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8C60DA-8F70-40CF-9F51-23E9598F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73BF0-1322-481A-85B0-7D5783909D9E}" type="slidenum">
              <a:rPr lang="zh-TW" altLang="en-US" smtClean="0"/>
              <a:t>6</a:t>
            </a:fld>
            <a:endParaRPr lang="zh-TW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FD7CDDC-9018-4223-8E14-C28189E2DC83}"/>
              </a:ext>
            </a:extLst>
          </p:cNvPr>
          <p:cNvCxnSpPr>
            <a:cxnSpLocks/>
          </p:cNvCxnSpPr>
          <p:nvPr/>
        </p:nvCxnSpPr>
        <p:spPr>
          <a:xfrm>
            <a:off x="801714" y="2723599"/>
            <a:ext cx="297515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360B77E-7B5B-4C03-BEBA-882A152468E1}"/>
              </a:ext>
            </a:extLst>
          </p:cNvPr>
          <p:cNvCxnSpPr>
            <a:cxnSpLocks/>
          </p:cNvCxnSpPr>
          <p:nvPr/>
        </p:nvCxnSpPr>
        <p:spPr>
          <a:xfrm>
            <a:off x="1718050" y="5108991"/>
            <a:ext cx="405800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AE5FD94-D76C-4B4F-BCCD-CE57F6AEC995}"/>
              </a:ext>
            </a:extLst>
          </p:cNvPr>
          <p:cNvCxnSpPr>
            <a:cxnSpLocks/>
          </p:cNvCxnSpPr>
          <p:nvPr/>
        </p:nvCxnSpPr>
        <p:spPr>
          <a:xfrm flipV="1">
            <a:off x="2582755" y="5654650"/>
            <a:ext cx="4571511" cy="1661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87B8600-A39C-4A46-92EA-E1CE86214DBB}"/>
              </a:ext>
            </a:extLst>
          </p:cNvPr>
          <p:cNvCxnSpPr>
            <a:cxnSpLocks/>
          </p:cNvCxnSpPr>
          <p:nvPr/>
        </p:nvCxnSpPr>
        <p:spPr>
          <a:xfrm>
            <a:off x="1343203" y="4035565"/>
            <a:ext cx="226328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4F848ED-2705-416E-8E76-AF7BCF180089}"/>
              </a:ext>
            </a:extLst>
          </p:cNvPr>
          <p:cNvCxnSpPr>
            <a:cxnSpLocks/>
          </p:cNvCxnSpPr>
          <p:nvPr/>
        </p:nvCxnSpPr>
        <p:spPr>
          <a:xfrm>
            <a:off x="1343203" y="6209868"/>
            <a:ext cx="2535898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610759" y="2767618"/>
            <a:ext cx="3336188" cy="2587108"/>
            <a:chOff x="5610759" y="2767618"/>
            <a:chExt cx="3336188" cy="2587108"/>
          </a:xfrm>
        </p:grpSpPr>
        <p:cxnSp>
          <p:nvCxnSpPr>
            <p:cNvPr id="3" name="直接箭头连接符 2"/>
            <p:cNvCxnSpPr/>
            <p:nvPr/>
          </p:nvCxnSpPr>
          <p:spPr>
            <a:xfrm flipV="1">
              <a:off x="6421729" y="3708298"/>
              <a:ext cx="270662" cy="1646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5610759" y="2767618"/>
              <a:ext cx="33361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solidFill>
                    <a:srgbClr val="0000FF"/>
                  </a:solidFill>
                  <a:latin typeface="+mj-lt"/>
                </a:rPr>
                <a:t>pthread_mutex_unlock</a:t>
              </a:r>
              <a:r>
                <a:rPr lang="en-US" altLang="zh-CN" dirty="0">
                  <a:solidFill>
                    <a:srgbClr val="0000FF"/>
                  </a:solidFill>
                  <a:latin typeface="+mj-lt"/>
                </a:rPr>
                <a:t>(&amp;</a:t>
              </a:r>
              <a:r>
                <a:rPr lang="en-US" altLang="zh-CN" dirty="0" err="1">
                  <a:solidFill>
                    <a:srgbClr val="0000FF"/>
                  </a:solidFill>
                  <a:latin typeface="+mj-lt"/>
                </a:rPr>
                <a:t>mutex</a:t>
              </a:r>
              <a:r>
                <a:rPr lang="en-US" altLang="zh-CN" dirty="0">
                  <a:solidFill>
                    <a:srgbClr val="0000FF"/>
                  </a:solidFill>
                  <a:latin typeface="+mj-lt"/>
                </a:rPr>
                <a:t>);</a:t>
              </a:r>
            </a:p>
            <a:p>
              <a:r>
                <a:rPr lang="en-US" altLang="zh-CN" dirty="0" err="1">
                  <a:solidFill>
                    <a:srgbClr val="0000FF"/>
                  </a:solidFill>
                  <a:latin typeface="+mj-lt"/>
                </a:rPr>
                <a:t>wait_on_signal</a:t>
              </a:r>
              <a:r>
                <a:rPr lang="en-US" altLang="zh-CN" dirty="0">
                  <a:solidFill>
                    <a:srgbClr val="0000FF"/>
                  </a:solidFill>
                  <a:latin typeface="+mj-lt"/>
                </a:rPr>
                <a:t>(&amp;</a:t>
              </a:r>
              <a:r>
                <a:rPr lang="en-US" altLang="zh-CN" dirty="0" err="1">
                  <a:solidFill>
                    <a:srgbClr val="0000FF"/>
                  </a:solidFill>
                  <a:latin typeface="+mj-lt"/>
                </a:rPr>
                <a:t>cond_var</a:t>
              </a:r>
              <a:r>
                <a:rPr lang="en-US" altLang="zh-CN" dirty="0">
                  <a:solidFill>
                    <a:srgbClr val="0000FF"/>
                  </a:solidFill>
                  <a:latin typeface="+mj-lt"/>
                </a:rPr>
                <a:t>);</a:t>
              </a:r>
            </a:p>
            <a:p>
              <a:r>
                <a:rPr lang="en-US" altLang="zh-CN" dirty="0" err="1">
                  <a:solidFill>
                    <a:srgbClr val="0000FF"/>
                  </a:solidFill>
                  <a:latin typeface="+mj-lt"/>
                </a:rPr>
                <a:t>pthread_mutex_lock</a:t>
              </a:r>
              <a:r>
                <a:rPr lang="en-US" altLang="zh-CN" dirty="0">
                  <a:solidFill>
                    <a:srgbClr val="0000FF"/>
                  </a:solidFill>
                  <a:latin typeface="+mj-lt"/>
                </a:rPr>
                <a:t>(&amp;</a:t>
              </a:r>
              <a:r>
                <a:rPr lang="en-US" altLang="zh-CN" dirty="0" err="1">
                  <a:solidFill>
                    <a:srgbClr val="0000FF"/>
                  </a:solidFill>
                  <a:latin typeface="+mj-lt"/>
                </a:rPr>
                <a:t>mutex</a:t>
              </a:r>
              <a:r>
                <a:rPr lang="en-US" altLang="zh-CN" dirty="0">
                  <a:solidFill>
                    <a:srgbClr val="0000FF"/>
                  </a:solidFill>
                  <a:latin typeface="+mj-lt"/>
                </a:rPr>
                <a:t>)</a:t>
              </a:r>
              <a:endParaRPr lang="zh-CN" altLang="en-US" dirty="0">
                <a:solidFill>
                  <a:srgbClr val="0000FF"/>
                </a:solidFill>
                <a:latin typeface="+mj-lt"/>
              </a:endParaRPr>
            </a:p>
          </p:txBody>
        </p:sp>
        <p:sp>
          <p:nvSpPr>
            <p:cNvPr id="8" name="等号 7"/>
            <p:cNvSpPr/>
            <p:nvPr/>
          </p:nvSpPr>
          <p:spPr>
            <a:xfrm>
              <a:off x="6251879" y="4293619"/>
              <a:ext cx="610362" cy="554850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61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7</a:t>
            </a:fld>
            <a:endParaRPr lang="en-SG"/>
          </a:p>
        </p:txBody>
      </p:sp>
      <p:sp>
        <p:nvSpPr>
          <p:cNvPr id="5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548680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Q4: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多个线程同时并行操作一个链表（如执行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member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操作）会出现什么问题？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0B77EE-9175-4EB7-8797-6AAFDD967F6D}"/>
              </a:ext>
            </a:extLst>
          </p:cNvPr>
          <p:cNvSpPr txBox="1"/>
          <p:nvPr/>
        </p:nvSpPr>
        <p:spPr>
          <a:xfrm>
            <a:off x="721982" y="2564904"/>
            <a:ext cx="799288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会引发一系列线程安全问题，主要包括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竞争条件（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Race Condition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）、数据不一致性、甚至程序崩溃</a:t>
            </a:r>
          </a:p>
          <a:p>
            <a:endParaRPr lang="zh-CN" altLang="en-US" sz="2400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插入（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删除（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）竞争：</a:t>
            </a:r>
          </a:p>
          <a:p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准备在节点 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后插入新节点 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，但线程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同时删除了 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 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插入到无效位置或链表断裂。</a:t>
            </a:r>
          </a:p>
          <a:p>
            <a:endParaRPr lang="zh-CN" altLang="en-US" sz="2400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删除（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查询（</a:t>
            </a:r>
            <a:r>
              <a:rPr lang="en-US" altLang="zh-CN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Member</a:t>
            </a:r>
            <a:r>
              <a:rPr lang="zh-CN" altLang="en-US" sz="24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）竞争：</a:t>
            </a:r>
          </a:p>
          <a:p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正在读取节点 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的数据，线程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同时删除 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，导致线程</a:t>
            </a:r>
            <a:r>
              <a:rPr lang="en-US" altLang="zh-CN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访问已释放的内存（悬垂指针）</a:t>
            </a:r>
            <a:endParaRPr lang="zh-CN" altLang="en-US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563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814</Words>
  <Application>Microsoft Office PowerPoint</Application>
  <PresentationFormat>全屏显示(4:3)</PresentationFormat>
  <Paragraphs>59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宋体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Implementing a barrier with condition variables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Storm for Real-Time Stream Data Analytic</dc:title>
  <dc:creator>Tom Fu</dc:creator>
  <cp:lastModifiedBy>8613729846087</cp:lastModifiedBy>
  <cp:revision>424</cp:revision>
  <dcterms:created xsi:type="dcterms:W3CDTF">2015-08-27T02:23:10Z</dcterms:created>
  <dcterms:modified xsi:type="dcterms:W3CDTF">2025-03-29T00:42:03Z</dcterms:modified>
</cp:coreProperties>
</file>