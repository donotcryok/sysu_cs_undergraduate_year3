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"/>
  </p:notesMasterIdLst>
  <p:sldIdLst>
    <p:sldId id="316" r:id="rId2"/>
    <p:sldId id="317" r:id="rId3"/>
    <p:sldId id="322" r:id="rId4"/>
    <p:sldId id="321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52" autoAdjust="0"/>
    <p:restoredTop sz="82266" autoAdjust="0"/>
  </p:normalViewPr>
  <p:slideViewPr>
    <p:cSldViewPr>
      <p:cViewPr varScale="1">
        <p:scale>
          <a:sx n="104" d="100"/>
          <a:sy n="104" d="100"/>
        </p:scale>
        <p:origin x="1963" y="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E6459F-225C-4AA8-B12F-7D0F44785B1A}" type="datetimeFigureOut">
              <a:rPr lang="en-SG" smtClean="0"/>
              <a:t>11/6/2025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5393A7-4FB6-4BF3-96F1-9E4FE826998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7999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53D191B-14C9-4E44-80DA-01C77658321C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9899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2B2A1-8233-44BD-A498-681F5159FCD5}" type="datetime1">
              <a:rPr lang="en-SG" altLang="zh-SG" smtClean="0"/>
              <a:t>11/6/2025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24298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SG"/>
              <a:t>Click to edit Master title style</a:t>
            </a:r>
            <a:endParaRPr lang="zh-SG" alt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262D9-0388-44B2-9659-7ED6750167E0}" type="datetime1">
              <a:rPr lang="en-SG" altLang="zh-SG" smtClean="0"/>
              <a:t>11/6/2025</a:t>
            </a:fld>
            <a:endParaRPr lang="en-SG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383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B6E90-0914-4178-BA22-8F1A8D788802}" type="datetime1">
              <a:rPr lang="en-SG" altLang="zh-SG" smtClean="0"/>
              <a:t>11/6/2025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46217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DE17-0C7B-4A35-A18C-89DE60B5BE13}" type="datetime1">
              <a:rPr lang="en-SG" altLang="zh-SG" smtClean="0"/>
              <a:t>11/6/2025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8690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BCC10-5197-492F-A74B-3B77355C7237}" type="datetime1">
              <a:rPr lang="en-SG" altLang="zh-SG" smtClean="0"/>
              <a:t>11/6/2025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67014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0EBC-8D29-4AA6-A353-A4EDC1D6AC50}" type="datetime1">
              <a:rPr lang="en-SG" altLang="zh-SG" smtClean="0"/>
              <a:t>11/6/2025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58391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E542A-AFC2-4BD4-A4E6-E870AFF62A64}" type="datetime1">
              <a:rPr lang="en-SG" altLang="zh-SG" smtClean="0"/>
              <a:t>11/6/2025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8636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B15CE-4E91-4B9B-8728-9E9AF6AFB403}" type="datetime1">
              <a:rPr lang="en-SG" altLang="zh-SG" smtClean="0"/>
              <a:t>11/6/2025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39718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4FD5F-22C5-4B1A-ADCD-44CCB852255F}" type="datetime1">
              <a:rPr lang="en-SG" altLang="zh-SG" smtClean="0"/>
              <a:t>11/6/2025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45776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51520-D923-4264-BEEB-B16F792BE9F5}" type="datetime1">
              <a:rPr lang="en-SG" altLang="zh-SG" smtClean="0"/>
              <a:t>11/6/2025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0582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A1F38-1DA2-43D2-BD1E-DF8E36BDA9E2}" type="datetime1">
              <a:rPr lang="en-SG" altLang="zh-SG" smtClean="0"/>
              <a:t>11/6/2025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77736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CDB1D0-31BE-4DA1-8061-6C8C0AEF1DE5}" type="datetime1">
              <a:rPr lang="en-SG" altLang="zh-SG" smtClean="0"/>
              <a:t>11/6/2025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846718-CB15-44DC-A3B0-F0ED78D869D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08667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baseline="0">
          <a:solidFill>
            <a:schemeClr val="tx1"/>
          </a:solidFill>
          <a:latin typeface="+mj-lt"/>
          <a:ea typeface="微软雅黑" panose="020B0503020204020204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 baseline="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 baseline="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 baseline="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 baseline="0">
          <a:solidFill>
            <a:schemeClr val="tx1"/>
          </a:solidFill>
          <a:latin typeface="+mn-lt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"/>
          <p:cNvSpPr txBox="1">
            <a:spLocks noChangeArrowheads="1"/>
          </p:cNvSpPr>
          <p:nvPr/>
        </p:nvSpPr>
        <p:spPr bwMode="auto">
          <a:xfrm>
            <a:off x="179512" y="2924944"/>
            <a:ext cx="8767762" cy="133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j-cs"/>
                <a:sym typeface="Arial" panose="020B0604020202020204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ill Sans MT" pitchFamily="34" charset="0"/>
                <a:ea typeface="微软雅黑" pitchFamily="34" charset="-122"/>
                <a:sym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ill Sans MT" pitchFamily="34" charset="0"/>
                <a:ea typeface="微软雅黑" pitchFamily="34" charset="-122"/>
                <a:sym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ill Sans MT" pitchFamily="34" charset="0"/>
                <a:ea typeface="微软雅黑" pitchFamily="34" charset="-122"/>
                <a:sym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ill Sans MT" pitchFamily="34" charset="0"/>
                <a:ea typeface="微软雅黑" pitchFamily="34" charset="-122"/>
                <a:sym typeface="Arial" panose="020B0604020202020204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itchFamily="34" charset="0"/>
                <a:ea typeface="黑体" pitchFamily="49" charset="-122"/>
                <a:sym typeface="Arial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itchFamily="34" charset="0"/>
                <a:ea typeface="黑体" pitchFamily="49" charset="-122"/>
                <a:sym typeface="Arial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itchFamily="34" charset="0"/>
                <a:ea typeface="黑体" pitchFamily="49" charset="-122"/>
                <a:sym typeface="Arial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2"/>
                </a:solidFill>
                <a:latin typeface="Arial" pitchFamily="34" charset="0"/>
                <a:ea typeface="黑体" pitchFamily="49" charset="-122"/>
                <a:sym typeface="Arial" pitchFamily="34" charset="0"/>
              </a:defRPr>
            </a:lvl9pPr>
          </a:lstStyle>
          <a:p>
            <a:pPr algn="ctr" eaLnBrk="1" hangingPunct="1">
              <a:defRPr/>
            </a:pPr>
            <a:r>
              <a:rPr lang="en-US" altLang="zh-CN" sz="4800" b="1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Questions</a:t>
            </a:r>
          </a:p>
        </p:txBody>
      </p:sp>
      <p:sp>
        <p:nvSpPr>
          <p:cNvPr id="13" name="副标题 2"/>
          <p:cNvSpPr>
            <a:spLocks noChangeArrowheads="1"/>
          </p:cNvSpPr>
          <p:nvPr/>
        </p:nvSpPr>
        <p:spPr bwMode="auto">
          <a:xfrm>
            <a:off x="1036638" y="4778375"/>
            <a:ext cx="6858000" cy="120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defRPr/>
            </a:pPr>
            <a:endParaRPr lang="zh-CN" altLang="en-US" sz="3200">
              <a:solidFill>
                <a:schemeClr val="tx2"/>
              </a:solidFill>
              <a:latin typeface="+mj-ea"/>
              <a:ea typeface="+mj-ea"/>
              <a:cs typeface="Times New Roman" pitchFamily="18" charset="0"/>
              <a:sym typeface="Times New Roman" pitchFamily="18" charset="0"/>
            </a:endParaRPr>
          </a:p>
          <a:p>
            <a:pPr algn="ctr" eaLnBrk="1" hangingPunct="1">
              <a:lnSpc>
                <a:spcPct val="120000"/>
              </a:lnSpc>
              <a:defRPr/>
            </a:pPr>
            <a:endParaRPr lang="zh-CN" altLang="en-US" sz="3200">
              <a:solidFill>
                <a:srgbClr val="000000"/>
              </a:solidFill>
              <a:latin typeface="+mj-ea"/>
              <a:ea typeface="+mj-ea"/>
              <a:cs typeface="Times New Roman" pitchFamily="18" charset="0"/>
              <a:sym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7846598"/>
      </p:ext>
    </p:extLst>
  </p:cSld>
  <p:clrMapOvr>
    <a:masterClrMapping/>
  </p:clrMapOvr>
  <p:transition spd="slow" advTm="184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2</a:t>
            </a:fld>
            <a:endParaRPr lang="en-SG"/>
          </a:p>
        </p:txBody>
      </p:sp>
      <p:sp>
        <p:nvSpPr>
          <p:cNvPr id="5" name="AutoShape 2" descr="https://mail.sysu.edu.cn/coremail/s?func=mbox:getMessageData&amp;mid=1:1tbiAQALCFykhnc8fQAAsK&amp;part=5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137BB19-9698-4E80-94CD-4E636789BE1C}"/>
              </a:ext>
            </a:extLst>
          </p:cNvPr>
          <p:cNvSpPr/>
          <p:nvPr/>
        </p:nvSpPr>
        <p:spPr>
          <a:xfrm>
            <a:off x="395536" y="620688"/>
            <a:ext cx="8496944" cy="208823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Q1: </a:t>
            </a: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</a:t>
            </a:r>
            <a:r>
              <a:rPr lang="en-US" altLang="zh-CN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Loop Unrolling</a:t>
            </a: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28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4"/>
          <p:cNvSpPr/>
          <p:nvPr/>
        </p:nvSpPr>
        <p:spPr>
          <a:xfrm>
            <a:off x="683568" y="3055355"/>
            <a:ext cx="7920880" cy="20867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Loop Unrolling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（循环展开）</a:t>
            </a:r>
            <a:r>
              <a:rPr lang="zh-CN" altLang="en-US" sz="2400" dirty="0" smtClean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是一种通过减少循环迭代次数来优化程序性能的编译技术。</a:t>
            </a:r>
            <a:endParaRPr lang="en-US" altLang="zh-CN" sz="2400" dirty="0" smtClean="0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defRPr/>
            </a:pPr>
            <a:endParaRPr lang="zh-CN" altLang="en-US" sz="2400" dirty="0" smtClean="0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defRPr/>
            </a:pPr>
            <a:r>
              <a:rPr lang="zh-CN" altLang="en-US" sz="2400" dirty="0" smtClean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其核心思想是将循环体中的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多次迭代合并为一次迭代</a:t>
            </a:r>
            <a:r>
              <a:rPr lang="zh-CN" altLang="en-US" sz="2400" dirty="0" smtClean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，从而减少循环控制开销（如条件判断、计数器更新等）</a:t>
            </a:r>
            <a:endParaRPr lang="zh-CN" altLang="en-US" sz="2400" dirty="0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42053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3</a:t>
            </a:fld>
            <a:endParaRPr lang="en-SG"/>
          </a:p>
        </p:txBody>
      </p:sp>
      <p:sp>
        <p:nvSpPr>
          <p:cNvPr id="5" name="AutoShape 2" descr="https://mail.sysu.edu.cn/coremail/s?func=mbox:getMessageData&amp;mid=1:1tbiAQALCFykhnc8fQAAsK&amp;part=5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137BB19-9698-4E80-94CD-4E636789BE1C}"/>
              </a:ext>
            </a:extLst>
          </p:cNvPr>
          <p:cNvSpPr/>
          <p:nvPr/>
        </p:nvSpPr>
        <p:spPr>
          <a:xfrm>
            <a:off x="395536" y="620688"/>
            <a:ext cx="8496944" cy="208823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Q2: 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为何</a:t>
            </a:r>
            <a:r>
              <a:rPr lang="en-US" altLang="zh-CN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Loop Unrolling</a:t>
            </a: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可以提高性能？</a:t>
            </a:r>
            <a:endParaRPr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4"/>
          <p:cNvSpPr/>
          <p:nvPr/>
        </p:nvSpPr>
        <p:spPr>
          <a:xfrm>
            <a:off x="683568" y="3055355"/>
            <a:ext cx="7920880" cy="32685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减少控制开销</a:t>
            </a:r>
            <a:r>
              <a:rPr lang="zh-CN" altLang="en-US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：消除循环计数器更新（</a:t>
            </a:r>
            <a:r>
              <a:rPr lang="en-US" altLang="zh-CN" sz="2400" dirty="0" err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++</a:t>
            </a:r>
            <a:r>
              <a:rPr lang="zh-CN" altLang="en-US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），消除条件分支（</a:t>
            </a:r>
            <a:r>
              <a:rPr lang="en-US" altLang="zh-CN" sz="2400" dirty="0" err="1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&lt; 4</a:t>
            </a:r>
            <a:r>
              <a:rPr lang="zh-CN" altLang="en-US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提高指令级并行（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ILP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：展开后的连续指令可能无依赖关系，</a:t>
            </a:r>
            <a:r>
              <a:rPr lang="en-US" altLang="zh-CN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流水线可以更好地并行执行指令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改善寄存器分配</a:t>
            </a:r>
            <a:r>
              <a:rPr lang="zh-CN" altLang="en-US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：编译器有更大的代码块进行优化，减少寄存器溢出</a:t>
            </a:r>
          </a:p>
          <a:p>
            <a:pPr marL="342900" indent="-342900">
              <a:spcBef>
                <a:spcPct val="20000"/>
              </a:spcBef>
              <a:buClr>
                <a:schemeClr val="tx1"/>
              </a:buClr>
              <a:buSzPct val="60000"/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降低分支预测惩罚</a:t>
            </a:r>
            <a:r>
              <a:rPr lang="zh-CN" altLang="en-US" sz="2400" dirty="0">
                <a:solidFill>
                  <a:srgbClr val="0066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：完全展开可彻底消除分支，部分展开减少分支预测失败率</a:t>
            </a:r>
            <a:endParaRPr lang="zh-CN" altLang="en-US" sz="2400" dirty="0">
              <a:solidFill>
                <a:srgbClr val="0066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0918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46718-CB15-44DC-A3B0-F0ED78D869D1}" type="slidenum">
              <a:rPr lang="en-SG" smtClean="0"/>
              <a:t>4</a:t>
            </a:fld>
            <a:endParaRPr lang="en-SG"/>
          </a:p>
        </p:txBody>
      </p:sp>
      <p:sp>
        <p:nvSpPr>
          <p:cNvPr id="6" name="矩形: 圆角 7">
            <a:extLst>
              <a:ext uri="{FF2B5EF4-FFF2-40B4-BE49-F238E27FC236}">
                <a16:creationId xmlns:a16="http://schemas.microsoft.com/office/drawing/2014/main" id="{B137BB19-9698-4E80-94CD-4E636789BE1C}"/>
              </a:ext>
            </a:extLst>
          </p:cNvPr>
          <p:cNvSpPr/>
          <p:nvPr/>
        </p:nvSpPr>
        <p:spPr>
          <a:xfrm>
            <a:off x="323528" y="644715"/>
            <a:ext cx="8496944" cy="13681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Q3:  </a:t>
            </a: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</a:t>
            </a:r>
            <a:r>
              <a:rPr lang="en-US" altLang="zh-CN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CUDA</a:t>
            </a: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里的动态并行</a:t>
            </a:r>
            <a:endParaRPr lang="en-US" altLang="zh-CN" sz="28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CUDA Dynamic Parallelism </a:t>
            </a: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8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zh-CN" altLang="en-US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39552" y="2852936"/>
            <a:ext cx="8280920" cy="1944216"/>
          </a:xfrm>
        </p:spPr>
        <p:txBody>
          <a:bodyPr>
            <a:noAutofit/>
          </a:bodyPr>
          <a:lstStyle/>
          <a:p>
            <a:pPr algn="l"/>
            <a:r>
              <a:rPr lang="zh-CN" altLang="en-US" sz="2800" dirty="0">
                <a:solidFill>
                  <a:srgbClr val="0066FF"/>
                </a:solidFill>
              </a:rPr>
              <a:t>动态并行（</a:t>
            </a:r>
            <a:r>
              <a:rPr lang="en-US" altLang="zh-CN" sz="2800" dirty="0">
                <a:solidFill>
                  <a:srgbClr val="0066FF"/>
                </a:solidFill>
              </a:rPr>
              <a:t>Dynamic Parallelism</a:t>
            </a:r>
            <a:r>
              <a:rPr lang="zh-CN" altLang="en-US" sz="2800" dirty="0">
                <a:solidFill>
                  <a:srgbClr val="0066FF"/>
                </a:solidFill>
              </a:rPr>
              <a:t>） 是 </a:t>
            </a:r>
            <a:r>
              <a:rPr lang="en-US" altLang="zh-CN" sz="2800" dirty="0">
                <a:solidFill>
                  <a:srgbClr val="0066FF"/>
                </a:solidFill>
              </a:rPr>
              <a:t>CUDA </a:t>
            </a:r>
            <a:r>
              <a:rPr lang="zh-CN" altLang="en-US" sz="2800" dirty="0">
                <a:solidFill>
                  <a:srgbClr val="0066FF"/>
                </a:solidFill>
              </a:rPr>
              <a:t>的一种编程模型</a:t>
            </a:r>
            <a:r>
              <a:rPr lang="zh-CN" altLang="en-US" sz="2800" dirty="0" smtClean="0">
                <a:solidFill>
                  <a:srgbClr val="0066FF"/>
                </a:solidFill>
              </a:rPr>
              <a:t>特性</a:t>
            </a:r>
            <a:r>
              <a:rPr lang="en-US" altLang="zh-CN" sz="2800" dirty="0" smtClean="0">
                <a:solidFill>
                  <a:srgbClr val="0066FF"/>
                </a:solidFill>
              </a:rPr>
              <a:t/>
            </a:r>
            <a:br>
              <a:rPr lang="en-US" altLang="zh-CN" sz="2800" dirty="0" smtClean="0">
                <a:solidFill>
                  <a:srgbClr val="0066FF"/>
                </a:solidFill>
              </a:rPr>
            </a:br>
            <a:r>
              <a:rPr lang="en-US" altLang="zh-CN" sz="2800" dirty="0">
                <a:solidFill>
                  <a:srgbClr val="0066FF"/>
                </a:solidFill>
              </a:rPr>
              <a:t/>
            </a:r>
            <a:br>
              <a:rPr lang="en-US" altLang="zh-CN" sz="2800" dirty="0">
                <a:solidFill>
                  <a:srgbClr val="0066FF"/>
                </a:solidFill>
              </a:rPr>
            </a:br>
            <a:r>
              <a:rPr lang="zh-CN" altLang="en-US" sz="2800" dirty="0" smtClean="0">
                <a:solidFill>
                  <a:srgbClr val="0066FF"/>
                </a:solidFill>
              </a:rPr>
              <a:t>允许 </a:t>
            </a:r>
            <a:r>
              <a:rPr lang="en-US" altLang="zh-CN" sz="2800" dirty="0">
                <a:solidFill>
                  <a:srgbClr val="FF0000"/>
                </a:solidFill>
              </a:rPr>
              <a:t>GPU </a:t>
            </a:r>
            <a:r>
              <a:rPr lang="zh-CN" altLang="en-US" sz="2800" dirty="0">
                <a:solidFill>
                  <a:srgbClr val="FF0000"/>
                </a:solidFill>
              </a:rPr>
              <a:t>内核（</a:t>
            </a:r>
            <a:r>
              <a:rPr lang="en-US" altLang="zh-CN" sz="2800" dirty="0">
                <a:solidFill>
                  <a:srgbClr val="FF0000"/>
                </a:solidFill>
              </a:rPr>
              <a:t>kernel</a:t>
            </a:r>
            <a:r>
              <a:rPr lang="zh-CN" altLang="en-US" sz="2800" dirty="0">
                <a:solidFill>
                  <a:srgbClr val="FF0000"/>
                </a:solidFill>
              </a:rPr>
              <a:t>）</a:t>
            </a:r>
            <a:r>
              <a:rPr lang="zh-CN" altLang="en-US" sz="2800" dirty="0">
                <a:solidFill>
                  <a:srgbClr val="0066FF"/>
                </a:solidFill>
              </a:rPr>
              <a:t>在运行时</a:t>
            </a:r>
            <a:r>
              <a:rPr lang="zh-CN" altLang="en-US" sz="2800" dirty="0">
                <a:solidFill>
                  <a:srgbClr val="FF0000"/>
                </a:solidFill>
              </a:rPr>
              <a:t>动态启动新的内核</a:t>
            </a:r>
            <a:r>
              <a:rPr lang="zh-CN" altLang="en-US" sz="2800" dirty="0">
                <a:solidFill>
                  <a:srgbClr val="0066FF"/>
                </a:solidFill>
              </a:rPr>
              <a:t>，而无需 </a:t>
            </a:r>
            <a:r>
              <a:rPr lang="en-US" altLang="zh-CN" sz="2800" dirty="0">
                <a:solidFill>
                  <a:srgbClr val="0066FF"/>
                </a:solidFill>
              </a:rPr>
              <a:t>CPU </a:t>
            </a:r>
            <a:r>
              <a:rPr lang="zh-CN" altLang="en-US" sz="2800" dirty="0">
                <a:solidFill>
                  <a:srgbClr val="0066FF"/>
                </a:solidFill>
              </a:rPr>
              <a:t>介入</a:t>
            </a:r>
            <a:endParaRPr lang="en-US" altLang="zh-CN" sz="2800" dirty="0">
              <a:solidFill>
                <a:srgbClr val="0066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4218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457</TotalTime>
  <Words>181</Words>
  <Application>Microsoft Office PowerPoint</Application>
  <PresentationFormat>全屏显示(4:3)</PresentationFormat>
  <Paragraphs>17</Paragraphs>
  <Slides>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宋体</vt:lpstr>
      <vt:lpstr>微软雅黑</vt:lpstr>
      <vt:lpstr>Arial</vt:lpstr>
      <vt:lpstr>Calibri</vt:lpstr>
      <vt:lpstr>Times New Roman</vt:lpstr>
      <vt:lpstr>Office Theme</vt:lpstr>
      <vt:lpstr>PowerPoint 演示文稿</vt:lpstr>
      <vt:lpstr>PowerPoint 演示文稿</vt:lpstr>
      <vt:lpstr>PowerPoint 演示文稿</vt:lpstr>
      <vt:lpstr>动态并行（Dynamic Parallelism） 是 CUDA 的一种编程模型特性  允许 GPU 内核（kernel）在运行时动态启动新的内核，而无需 CPU 介入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Storm for Real-Time Stream Data Analytic</dc:title>
  <dc:creator>Tom Fu</dc:creator>
  <cp:lastModifiedBy>Windows 用户</cp:lastModifiedBy>
  <cp:revision>432</cp:revision>
  <dcterms:created xsi:type="dcterms:W3CDTF">2015-08-27T02:23:10Z</dcterms:created>
  <dcterms:modified xsi:type="dcterms:W3CDTF">2025-06-11T03:17:54Z</dcterms:modified>
</cp:coreProperties>
</file>