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2" r:id="rId2"/>
  </p:sldMasterIdLst>
  <p:notesMasterIdLst>
    <p:notesMasterId r:id="rId155"/>
  </p:notesMasterIdLst>
  <p:sldIdLst>
    <p:sldId id="256" r:id="rId3"/>
    <p:sldId id="1287" r:id="rId4"/>
    <p:sldId id="1288" r:id="rId5"/>
    <p:sldId id="1289" r:id="rId6"/>
    <p:sldId id="1290" r:id="rId7"/>
    <p:sldId id="1291" r:id="rId8"/>
    <p:sldId id="1292" r:id="rId9"/>
    <p:sldId id="1293" r:id="rId10"/>
    <p:sldId id="1294" r:id="rId11"/>
    <p:sldId id="1295" r:id="rId12"/>
    <p:sldId id="1296" r:id="rId13"/>
    <p:sldId id="1297" r:id="rId14"/>
    <p:sldId id="1298" r:id="rId15"/>
    <p:sldId id="1299" r:id="rId16"/>
    <p:sldId id="1300" r:id="rId17"/>
    <p:sldId id="1301" r:id="rId18"/>
    <p:sldId id="1302" r:id="rId19"/>
    <p:sldId id="1303" r:id="rId20"/>
    <p:sldId id="1304" r:id="rId21"/>
    <p:sldId id="1305" r:id="rId22"/>
    <p:sldId id="1306" r:id="rId23"/>
    <p:sldId id="1307" r:id="rId24"/>
    <p:sldId id="1308" r:id="rId25"/>
    <p:sldId id="1309" r:id="rId26"/>
    <p:sldId id="1310" r:id="rId27"/>
    <p:sldId id="1311" r:id="rId28"/>
    <p:sldId id="1312" r:id="rId29"/>
    <p:sldId id="1313" r:id="rId30"/>
    <p:sldId id="1314" r:id="rId31"/>
    <p:sldId id="1315" r:id="rId32"/>
    <p:sldId id="1316" r:id="rId33"/>
    <p:sldId id="1317" r:id="rId34"/>
    <p:sldId id="1318" r:id="rId35"/>
    <p:sldId id="1319" r:id="rId36"/>
    <p:sldId id="1320" r:id="rId37"/>
    <p:sldId id="1321" r:id="rId38"/>
    <p:sldId id="1322" r:id="rId39"/>
    <p:sldId id="1436" r:id="rId40"/>
    <p:sldId id="1323" r:id="rId41"/>
    <p:sldId id="1324" r:id="rId42"/>
    <p:sldId id="1325" r:id="rId43"/>
    <p:sldId id="1326" r:id="rId44"/>
    <p:sldId id="1327" r:id="rId45"/>
    <p:sldId id="1328" r:id="rId46"/>
    <p:sldId id="1329" r:id="rId47"/>
    <p:sldId id="1330" r:id="rId48"/>
    <p:sldId id="1331" r:id="rId49"/>
    <p:sldId id="1332" r:id="rId50"/>
    <p:sldId id="1333" r:id="rId51"/>
    <p:sldId id="1334" r:id="rId52"/>
    <p:sldId id="1335" r:id="rId53"/>
    <p:sldId id="1336" r:id="rId54"/>
    <p:sldId id="1337" r:id="rId55"/>
    <p:sldId id="1338" r:id="rId56"/>
    <p:sldId id="1339" r:id="rId57"/>
    <p:sldId id="1340" r:id="rId58"/>
    <p:sldId id="1341" r:id="rId59"/>
    <p:sldId id="1342" r:id="rId60"/>
    <p:sldId id="1343" r:id="rId61"/>
    <p:sldId id="1344" r:id="rId62"/>
    <p:sldId id="1345" r:id="rId63"/>
    <p:sldId id="1346" r:id="rId64"/>
    <p:sldId id="1347" r:id="rId65"/>
    <p:sldId id="1348" r:id="rId66"/>
    <p:sldId id="1349" r:id="rId67"/>
    <p:sldId id="1350" r:id="rId68"/>
    <p:sldId id="1351" r:id="rId69"/>
    <p:sldId id="1352" r:id="rId70"/>
    <p:sldId id="1353" r:id="rId71"/>
    <p:sldId id="1354" r:id="rId72"/>
    <p:sldId id="1355" r:id="rId73"/>
    <p:sldId id="1356" r:id="rId74"/>
    <p:sldId id="1357" r:id="rId75"/>
    <p:sldId id="1358" r:id="rId76"/>
    <p:sldId id="1359" r:id="rId77"/>
    <p:sldId id="1360" r:id="rId78"/>
    <p:sldId id="1361" r:id="rId79"/>
    <p:sldId id="1362" r:id="rId80"/>
    <p:sldId id="1363" r:id="rId81"/>
    <p:sldId id="1364" r:id="rId82"/>
    <p:sldId id="1365" r:id="rId83"/>
    <p:sldId id="1366" r:id="rId84"/>
    <p:sldId id="1367" r:id="rId85"/>
    <p:sldId id="1368" r:id="rId86"/>
    <p:sldId id="1369" r:id="rId87"/>
    <p:sldId id="1370" r:id="rId88"/>
    <p:sldId id="1371" r:id="rId89"/>
    <p:sldId id="1372" r:id="rId90"/>
    <p:sldId id="1373" r:id="rId91"/>
    <p:sldId id="1374" r:id="rId92"/>
    <p:sldId id="1375" r:id="rId93"/>
    <p:sldId id="1376" r:id="rId94"/>
    <p:sldId id="1377" r:id="rId95"/>
    <p:sldId id="1378" r:id="rId96"/>
    <p:sldId id="1379" r:id="rId97"/>
    <p:sldId id="1380" r:id="rId98"/>
    <p:sldId id="1381" r:id="rId99"/>
    <p:sldId id="1382" r:id="rId100"/>
    <p:sldId id="1383" r:id="rId101"/>
    <p:sldId id="1384" r:id="rId102"/>
    <p:sldId id="1385" r:id="rId103"/>
    <p:sldId id="1386" r:id="rId104"/>
    <p:sldId id="1387" r:id="rId105"/>
    <p:sldId id="1388" r:id="rId106"/>
    <p:sldId id="1389" r:id="rId107"/>
    <p:sldId id="1390" r:id="rId108"/>
    <p:sldId id="1391" r:id="rId109"/>
    <p:sldId id="1392" r:id="rId110"/>
    <p:sldId id="1393" r:id="rId111"/>
    <p:sldId id="1394" r:id="rId112"/>
    <p:sldId id="1395" r:id="rId113"/>
    <p:sldId id="1396" r:id="rId114"/>
    <p:sldId id="1397" r:id="rId115"/>
    <p:sldId id="1398" r:id="rId116"/>
    <p:sldId id="1399" r:id="rId117"/>
    <p:sldId id="1400" r:id="rId118"/>
    <p:sldId id="1401" r:id="rId119"/>
    <p:sldId id="1402" r:id="rId120"/>
    <p:sldId id="1403" r:id="rId121"/>
    <p:sldId id="1404" r:id="rId122"/>
    <p:sldId id="1405" r:id="rId123"/>
    <p:sldId id="1406" r:id="rId124"/>
    <p:sldId id="1407" r:id="rId125"/>
    <p:sldId id="1408" r:id="rId126"/>
    <p:sldId id="1409" r:id="rId127"/>
    <p:sldId id="1410" r:id="rId128"/>
    <p:sldId id="1435" r:id="rId129"/>
    <p:sldId id="1412" r:id="rId130"/>
    <p:sldId id="1413" r:id="rId131"/>
    <p:sldId id="1414" r:id="rId132"/>
    <p:sldId id="1415" r:id="rId133"/>
    <p:sldId id="1416" r:id="rId134"/>
    <p:sldId id="625" r:id="rId135"/>
    <p:sldId id="263" r:id="rId136"/>
    <p:sldId id="1417" r:id="rId137"/>
    <p:sldId id="1418" r:id="rId138"/>
    <p:sldId id="1419" r:id="rId139"/>
    <p:sldId id="1420" r:id="rId140"/>
    <p:sldId id="1421" r:id="rId141"/>
    <p:sldId id="1422" r:id="rId142"/>
    <p:sldId id="1423" r:id="rId143"/>
    <p:sldId id="1424" r:id="rId144"/>
    <p:sldId id="1425" r:id="rId145"/>
    <p:sldId id="1426" r:id="rId146"/>
    <p:sldId id="1427" r:id="rId147"/>
    <p:sldId id="1428" r:id="rId148"/>
    <p:sldId id="1429" r:id="rId149"/>
    <p:sldId id="1430" r:id="rId150"/>
    <p:sldId id="1431" r:id="rId151"/>
    <p:sldId id="1432" r:id="rId152"/>
    <p:sldId id="1433" r:id="rId153"/>
    <p:sldId id="1434" r:id="rId154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0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  <p:cmAuthor id="3" name="黄聃" initials="黄聃" lastIdx="1" clrIdx="2">
    <p:extLst>
      <p:ext uri="{19B8F6BF-5375-455C-9EA6-DF929625EA0E}">
        <p15:presenceInfo xmlns:p15="http://schemas.microsoft.com/office/powerpoint/2012/main" userId="S::huangd79@ms.sysu.edu.cn::05fd6555-67a9-4797-980c-de46b7ca3e6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3BD8A-F435-9E42-B65B-7BEC441583EE}" v="18" dt="2023-09-17T13:19:36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1" autoAdjust="0"/>
    <p:restoredTop sz="76846" autoAdjust="0"/>
  </p:normalViewPr>
  <p:slideViewPr>
    <p:cSldViewPr showGuides="1">
      <p:cViewPr varScale="1">
        <p:scale>
          <a:sx n="73" d="100"/>
          <a:sy n="73" d="100"/>
        </p:scale>
        <p:origin x="1205" y="62"/>
      </p:cViewPr>
      <p:guideLst>
        <p:guide orient="horz" pos="2340"/>
        <p:guide pos="40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theme" Target="theme/theme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tableStyles" Target="tableStyles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commentAuthors" Target="commentAuthor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黄聃" userId="05fd6555-67a9-4797-980c-de46b7ca3e6c" providerId="ADAL" clId="{BA33BD8A-F435-9E42-B65B-7BEC441583EE}"/>
    <pc:docChg chg="custSel addSld modSld">
      <pc:chgData name="黄聃" userId="05fd6555-67a9-4797-980c-de46b7ca3e6c" providerId="ADAL" clId="{BA33BD8A-F435-9E42-B65B-7BEC441583EE}" dt="2023-09-17T13:19:53.763" v="615" actId="20577"/>
      <pc:docMkLst>
        <pc:docMk/>
      </pc:docMkLst>
      <pc:sldChg chg="modSp mod">
        <pc:chgData name="黄聃" userId="05fd6555-67a9-4797-980c-de46b7ca3e6c" providerId="ADAL" clId="{BA33BD8A-F435-9E42-B65B-7BEC441583EE}" dt="2023-08-26T16:03:06.785" v="25" actId="20577"/>
        <pc:sldMkLst>
          <pc:docMk/>
          <pc:sldMk cId="0" sldId="256"/>
        </pc:sldMkLst>
        <pc:spChg chg="mod">
          <ac:chgData name="黄聃" userId="05fd6555-67a9-4797-980c-de46b7ca3e6c" providerId="ADAL" clId="{BA33BD8A-F435-9E42-B65B-7BEC441583EE}" dt="2023-08-26T16:03:02.098" v="2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8-26T16:03:06.785" v="25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黄聃" userId="05fd6555-67a9-4797-980c-de46b7ca3e6c" providerId="ADAL" clId="{BA33BD8A-F435-9E42-B65B-7BEC441583EE}" dt="2023-09-17T13:11:51.333" v="535" actId="404"/>
        <pc:sldMkLst>
          <pc:docMk/>
          <pc:sldMk cId="3317739578" sldId="625"/>
        </pc:sldMkLst>
        <pc:spChg chg="mod">
          <ac:chgData name="黄聃" userId="05fd6555-67a9-4797-980c-de46b7ca3e6c" providerId="ADAL" clId="{BA33BD8A-F435-9E42-B65B-7BEC441583EE}" dt="2023-09-17T13:11:51.333" v="535" actId="404"/>
          <ac:spMkLst>
            <pc:docMk/>
            <pc:sldMk cId="3317739578" sldId="625"/>
            <ac:spMk id="134147" creationId="{00000000-0000-0000-0000-000000000000}"/>
          </ac:spMkLst>
        </pc:spChg>
      </pc:sldChg>
      <pc:sldChg chg="addSp modSp mod">
        <pc:chgData name="黄聃" userId="05fd6555-67a9-4797-980c-de46b7ca3e6c" providerId="ADAL" clId="{BA33BD8A-F435-9E42-B65B-7BEC441583EE}" dt="2023-09-12T15:53:19.702" v="133" actId="20577"/>
        <pc:sldMkLst>
          <pc:docMk/>
          <pc:sldMk cId="0" sldId="1331"/>
        </pc:sldMkLst>
        <pc:spChg chg="add mod">
          <ac:chgData name="黄聃" userId="05fd6555-67a9-4797-980c-de46b7ca3e6c" providerId="ADAL" clId="{BA33BD8A-F435-9E42-B65B-7BEC441583EE}" dt="2023-09-12T15:53:19.702" v="133" actId="20577"/>
          <ac:spMkLst>
            <pc:docMk/>
            <pc:sldMk cId="0" sldId="1331"/>
            <ac:spMk id="5" creationId="{6EF76C40-3FFA-DE46-939B-70AEA1EA1205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8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9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15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16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17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18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63494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63495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2T15:51:26.875" v="61" actId="1076"/>
          <ac:spMkLst>
            <pc:docMk/>
            <pc:sldMk cId="0" sldId="1331"/>
            <ac:spMk id="63500" creationId="{00000000-0000-0000-0000-000000000000}"/>
          </ac:spMkLst>
        </pc:spChg>
        <pc:grpChg chg="mod">
          <ac:chgData name="黄聃" userId="05fd6555-67a9-4797-980c-de46b7ca3e6c" providerId="ADAL" clId="{BA33BD8A-F435-9E42-B65B-7BEC441583EE}" dt="2023-09-12T15:51:26.875" v="61" actId="1076"/>
          <ac:grpSpMkLst>
            <pc:docMk/>
            <pc:sldMk cId="0" sldId="1331"/>
            <ac:grpSpMk id="63492" creationId="{00000000-0000-0000-0000-000000000000}"/>
          </ac:grpSpMkLst>
        </pc:grpChg>
        <pc:grpChg chg="mod">
          <ac:chgData name="黄聃" userId="05fd6555-67a9-4797-980c-de46b7ca3e6c" providerId="ADAL" clId="{BA33BD8A-F435-9E42-B65B-7BEC441583EE}" dt="2023-09-12T15:51:26.875" v="61" actId="1076"/>
          <ac:grpSpMkLst>
            <pc:docMk/>
            <pc:sldMk cId="0" sldId="1331"/>
            <ac:grpSpMk id="63493" creationId="{00000000-0000-0000-0000-000000000000}"/>
          </ac:grpSpMkLst>
        </pc:grpChg>
        <pc:picChg chg="mod">
          <ac:chgData name="黄聃" userId="05fd6555-67a9-4797-980c-de46b7ca3e6c" providerId="ADAL" clId="{BA33BD8A-F435-9E42-B65B-7BEC441583EE}" dt="2023-09-12T15:51:29.619" v="62" actId="1076"/>
          <ac:picMkLst>
            <pc:docMk/>
            <pc:sldMk cId="0" sldId="1331"/>
            <ac:picMk id="3" creationId="{00000000-0000-0000-0000-000000000000}"/>
          </ac:picMkLst>
        </pc:picChg>
        <pc:picChg chg="mod">
          <ac:chgData name="黄聃" userId="05fd6555-67a9-4797-980c-de46b7ca3e6c" providerId="ADAL" clId="{BA33BD8A-F435-9E42-B65B-7BEC441583EE}" dt="2023-09-12T15:51:26.875" v="61" actId="1076"/>
          <ac:picMkLst>
            <pc:docMk/>
            <pc:sldMk cId="0" sldId="1331"/>
            <ac:picMk id="63501" creationId="{00000000-0000-0000-0000-000000000000}"/>
          </ac:picMkLst>
        </pc:picChg>
        <pc:picChg chg="mod">
          <ac:chgData name="黄聃" userId="05fd6555-67a9-4797-980c-de46b7ca3e6c" providerId="ADAL" clId="{BA33BD8A-F435-9E42-B65B-7BEC441583EE}" dt="2023-09-12T15:51:26.875" v="61" actId="1076"/>
          <ac:picMkLst>
            <pc:docMk/>
            <pc:sldMk cId="0" sldId="1331"/>
            <ac:picMk id="63503" creationId="{00000000-0000-0000-0000-000000000000}"/>
          </ac:picMkLst>
        </pc:picChg>
      </pc:sldChg>
      <pc:sldChg chg="addSp modSp mod addCm">
        <pc:chgData name="黄聃" userId="05fd6555-67a9-4797-980c-de46b7ca3e6c" providerId="ADAL" clId="{BA33BD8A-F435-9E42-B65B-7BEC441583EE}" dt="2023-09-17T12:56:12.754" v="270" actId="1076"/>
        <pc:sldMkLst>
          <pc:docMk/>
          <pc:sldMk cId="0" sldId="1408"/>
        </pc:sldMkLst>
        <pc:spChg chg="add mod">
          <ac:chgData name="黄聃" userId="05fd6555-67a9-4797-980c-de46b7ca3e6c" providerId="ADAL" clId="{BA33BD8A-F435-9E42-B65B-7BEC441583EE}" dt="2023-09-17T12:56:12.754" v="270" actId="1076"/>
          <ac:spMkLst>
            <pc:docMk/>
            <pc:sldMk cId="0" sldId="1408"/>
            <ac:spMk id="3" creationId="{089486BC-DDB6-BA4D-928B-ED14E6DF4C36}"/>
          </ac:spMkLst>
        </pc:spChg>
        <pc:picChg chg="mod">
          <ac:chgData name="黄聃" userId="05fd6555-67a9-4797-980c-de46b7ca3e6c" providerId="ADAL" clId="{BA33BD8A-F435-9E42-B65B-7BEC441583EE}" dt="2023-09-17T12:56:09.911" v="269" actId="1076"/>
          <ac:picMkLst>
            <pc:docMk/>
            <pc:sldMk cId="0" sldId="1408"/>
            <ac:picMk id="139267" creationId="{00000000-0000-0000-0000-000000000000}"/>
          </ac:picMkLst>
        </pc:picChg>
      </pc:sldChg>
      <pc:sldChg chg="modSp mod">
        <pc:chgData name="黄聃" userId="05fd6555-67a9-4797-980c-de46b7ca3e6c" providerId="ADAL" clId="{BA33BD8A-F435-9E42-B65B-7BEC441583EE}" dt="2023-09-17T13:08:49.360" v="508" actId="404"/>
        <pc:sldMkLst>
          <pc:docMk/>
          <pc:sldMk cId="0" sldId="1415"/>
        </pc:sldMkLst>
        <pc:spChg chg="mod">
          <ac:chgData name="黄聃" userId="05fd6555-67a9-4797-980c-de46b7ca3e6c" providerId="ADAL" clId="{BA33BD8A-F435-9E42-B65B-7BEC441583EE}" dt="2023-09-17T13:06:27.662" v="457" actId="20577"/>
          <ac:spMkLst>
            <pc:docMk/>
            <pc:sldMk cId="0" sldId="1415"/>
            <ac:spMk id="2" creationId="{00000000-0000-0000-0000-000000000000}"/>
          </ac:spMkLst>
        </pc:spChg>
        <pc:spChg chg="mod">
          <ac:chgData name="黄聃" userId="05fd6555-67a9-4797-980c-de46b7ca3e6c" providerId="ADAL" clId="{BA33BD8A-F435-9E42-B65B-7BEC441583EE}" dt="2023-09-17T13:08:49.360" v="508" actId="404"/>
          <ac:spMkLst>
            <pc:docMk/>
            <pc:sldMk cId="0" sldId="1415"/>
            <ac:spMk id="147458" creationId="{00000000-0000-0000-0000-000000000000}"/>
          </ac:spMkLst>
        </pc:spChg>
      </pc:sldChg>
      <pc:sldChg chg="addSp modSp mod">
        <pc:chgData name="黄聃" userId="05fd6555-67a9-4797-980c-de46b7ca3e6c" providerId="ADAL" clId="{BA33BD8A-F435-9E42-B65B-7BEC441583EE}" dt="2023-09-17T13:19:31.861" v="580" actId="2711"/>
        <pc:sldMkLst>
          <pc:docMk/>
          <pc:sldMk cId="0" sldId="1429"/>
        </pc:sldMkLst>
        <pc:spChg chg="add mod">
          <ac:chgData name="黄聃" userId="05fd6555-67a9-4797-980c-de46b7ca3e6c" providerId="ADAL" clId="{BA33BD8A-F435-9E42-B65B-7BEC441583EE}" dt="2023-09-17T13:19:31.861" v="580" actId="2711"/>
          <ac:spMkLst>
            <pc:docMk/>
            <pc:sldMk cId="0" sldId="1429"/>
            <ac:spMk id="3" creationId="{860FB79E-D0FC-5D49-920F-679F5E8B1484}"/>
          </ac:spMkLst>
        </pc:spChg>
      </pc:sldChg>
      <pc:sldChg chg="addSp modSp mod">
        <pc:chgData name="黄聃" userId="05fd6555-67a9-4797-980c-de46b7ca3e6c" providerId="ADAL" clId="{BA33BD8A-F435-9E42-B65B-7BEC441583EE}" dt="2023-09-17T13:19:53.763" v="615" actId="20577"/>
        <pc:sldMkLst>
          <pc:docMk/>
          <pc:sldMk cId="0" sldId="1430"/>
        </pc:sldMkLst>
        <pc:spChg chg="add mod">
          <ac:chgData name="黄聃" userId="05fd6555-67a9-4797-980c-de46b7ca3e6c" providerId="ADAL" clId="{BA33BD8A-F435-9E42-B65B-7BEC441583EE}" dt="2023-09-17T13:19:53.763" v="615" actId="20577"/>
          <ac:spMkLst>
            <pc:docMk/>
            <pc:sldMk cId="0" sldId="1430"/>
            <ac:spMk id="5" creationId="{49D0CC45-F76B-EF4C-B4E6-BCD4A30D7572}"/>
          </ac:spMkLst>
        </pc:spChg>
      </pc:sldChg>
      <pc:sldChg chg="addSp modSp mod">
        <pc:chgData name="黄聃" userId="05fd6555-67a9-4797-980c-de46b7ca3e6c" providerId="ADAL" clId="{BA33BD8A-F435-9E42-B65B-7BEC441583EE}" dt="2023-09-17T13:05:37.807" v="434" actId="1076"/>
        <pc:sldMkLst>
          <pc:docMk/>
          <pc:sldMk cId="0" sldId="1435"/>
        </pc:sldMkLst>
        <pc:spChg chg="mod">
          <ac:chgData name="黄聃" userId="05fd6555-67a9-4797-980c-de46b7ca3e6c" providerId="ADAL" clId="{BA33BD8A-F435-9E42-B65B-7BEC441583EE}" dt="2023-09-17T13:00:26.878" v="271" actId="1076"/>
          <ac:spMkLst>
            <pc:docMk/>
            <pc:sldMk cId="0" sldId="1435"/>
            <ac:spMk id="3" creationId="{00000000-0000-0000-0000-000000000000}"/>
          </ac:spMkLst>
        </pc:spChg>
        <pc:spChg chg="add">
          <ac:chgData name="黄聃" userId="05fd6555-67a9-4797-980c-de46b7ca3e6c" providerId="ADAL" clId="{BA33BD8A-F435-9E42-B65B-7BEC441583EE}" dt="2023-09-17T13:00:43.011" v="272" actId="11529"/>
          <ac:spMkLst>
            <pc:docMk/>
            <pc:sldMk cId="0" sldId="1435"/>
            <ac:spMk id="5" creationId="{86E07DE7-EFA0-C940-97E5-E6D25EC88F84}"/>
          </ac:spMkLst>
        </pc:spChg>
        <pc:spChg chg="add mod">
          <ac:chgData name="黄聃" userId="05fd6555-67a9-4797-980c-de46b7ca3e6c" providerId="ADAL" clId="{BA33BD8A-F435-9E42-B65B-7BEC441583EE}" dt="2023-09-17T13:02:56.947" v="305" actId="14100"/>
          <ac:spMkLst>
            <pc:docMk/>
            <pc:sldMk cId="0" sldId="1435"/>
            <ac:spMk id="6" creationId="{DFF9680F-E05C-974F-BD36-8261353A1E3D}"/>
          </ac:spMkLst>
        </pc:spChg>
        <pc:spChg chg="add mod">
          <ac:chgData name="黄聃" userId="05fd6555-67a9-4797-980c-de46b7ca3e6c" providerId="ADAL" clId="{BA33BD8A-F435-9E42-B65B-7BEC441583EE}" dt="2023-09-17T13:03:05.353" v="323" actId="1037"/>
          <ac:spMkLst>
            <pc:docMk/>
            <pc:sldMk cId="0" sldId="1435"/>
            <ac:spMk id="7" creationId="{5EFAB050-BC55-4649-9DAC-C8436F9A9E50}"/>
          </ac:spMkLst>
        </pc:spChg>
        <pc:spChg chg="add mod">
          <ac:chgData name="黄聃" userId="05fd6555-67a9-4797-980c-de46b7ca3e6c" providerId="ADAL" clId="{BA33BD8A-F435-9E42-B65B-7BEC441583EE}" dt="2023-09-17T13:02:05.991" v="294" actId="1076"/>
          <ac:spMkLst>
            <pc:docMk/>
            <pc:sldMk cId="0" sldId="1435"/>
            <ac:spMk id="8" creationId="{0A62F3AB-9666-CB46-8BBE-EECA26638876}"/>
          </ac:spMkLst>
        </pc:spChg>
        <pc:spChg chg="add">
          <ac:chgData name="黄聃" userId="05fd6555-67a9-4797-980c-de46b7ca3e6c" providerId="ADAL" clId="{BA33BD8A-F435-9E42-B65B-7BEC441583EE}" dt="2023-09-17T13:02:18.376" v="295" actId="11529"/>
          <ac:spMkLst>
            <pc:docMk/>
            <pc:sldMk cId="0" sldId="1435"/>
            <ac:spMk id="9" creationId="{07A039D3-B700-CD48-AC34-BFE0CE49C8C1}"/>
          </ac:spMkLst>
        </pc:spChg>
        <pc:spChg chg="add mod">
          <ac:chgData name="黄聃" userId="05fd6555-67a9-4797-980c-de46b7ca3e6c" providerId="ADAL" clId="{BA33BD8A-F435-9E42-B65B-7BEC441583EE}" dt="2023-09-17T13:03:58.482" v="380" actId="1036"/>
          <ac:spMkLst>
            <pc:docMk/>
            <pc:sldMk cId="0" sldId="1435"/>
            <ac:spMk id="10" creationId="{37EC897E-D4BC-4B41-BE83-88212DD09892}"/>
          </ac:spMkLst>
        </pc:spChg>
        <pc:spChg chg="add mod">
          <ac:chgData name="黄聃" userId="05fd6555-67a9-4797-980c-de46b7ca3e6c" providerId="ADAL" clId="{BA33BD8A-F435-9E42-B65B-7BEC441583EE}" dt="2023-09-17T13:04:02.840" v="383" actId="1038"/>
          <ac:spMkLst>
            <pc:docMk/>
            <pc:sldMk cId="0" sldId="1435"/>
            <ac:spMk id="11" creationId="{FD694BEC-C748-C64C-A780-93D8E9A39FC5}"/>
          </ac:spMkLst>
        </pc:spChg>
        <pc:spChg chg="add mod">
          <ac:chgData name="黄聃" userId="05fd6555-67a9-4797-980c-de46b7ca3e6c" providerId="ADAL" clId="{BA33BD8A-F435-9E42-B65B-7BEC441583EE}" dt="2023-09-17T13:04:49.990" v="396" actId="1076"/>
          <ac:spMkLst>
            <pc:docMk/>
            <pc:sldMk cId="0" sldId="1435"/>
            <ac:spMk id="12" creationId="{4D752BFF-C7BD-D045-96C1-6BCAFDB48CA4}"/>
          </ac:spMkLst>
        </pc:spChg>
        <pc:spChg chg="add mod">
          <ac:chgData name="黄聃" userId="05fd6555-67a9-4797-980c-de46b7ca3e6c" providerId="ADAL" clId="{BA33BD8A-F435-9E42-B65B-7BEC441583EE}" dt="2023-09-17T13:04:53.857" v="397" actId="1076"/>
          <ac:spMkLst>
            <pc:docMk/>
            <pc:sldMk cId="0" sldId="1435"/>
            <ac:spMk id="13" creationId="{855711C1-EDBF-1843-8D70-47694B8E431B}"/>
          </ac:spMkLst>
        </pc:spChg>
        <pc:spChg chg="add mod">
          <ac:chgData name="黄聃" userId="05fd6555-67a9-4797-980c-de46b7ca3e6c" providerId="ADAL" clId="{BA33BD8A-F435-9E42-B65B-7BEC441583EE}" dt="2023-09-17T13:04:02.840" v="383" actId="1038"/>
          <ac:spMkLst>
            <pc:docMk/>
            <pc:sldMk cId="0" sldId="1435"/>
            <ac:spMk id="14" creationId="{7A24AB0B-7D94-C545-8396-C0D292373308}"/>
          </ac:spMkLst>
        </pc:spChg>
        <pc:spChg chg="add mod">
          <ac:chgData name="黄聃" userId="05fd6555-67a9-4797-980c-de46b7ca3e6c" providerId="ADAL" clId="{BA33BD8A-F435-9E42-B65B-7BEC441583EE}" dt="2023-09-17T13:04:02.840" v="383" actId="1038"/>
          <ac:spMkLst>
            <pc:docMk/>
            <pc:sldMk cId="0" sldId="1435"/>
            <ac:spMk id="15" creationId="{CB0A90D4-15B4-EA4E-B93F-DF00577BC651}"/>
          </ac:spMkLst>
        </pc:spChg>
        <pc:spChg chg="add mod">
          <ac:chgData name="黄聃" userId="05fd6555-67a9-4797-980c-de46b7ca3e6c" providerId="ADAL" clId="{BA33BD8A-F435-9E42-B65B-7BEC441583EE}" dt="2023-09-17T13:04:02.840" v="383" actId="1038"/>
          <ac:spMkLst>
            <pc:docMk/>
            <pc:sldMk cId="0" sldId="1435"/>
            <ac:spMk id="16" creationId="{8D53453A-CBB6-0C4C-A0A5-F6025DCBFA6D}"/>
          </ac:spMkLst>
        </pc:spChg>
        <pc:spChg chg="add mod">
          <ac:chgData name="黄聃" userId="05fd6555-67a9-4797-980c-de46b7ca3e6c" providerId="ADAL" clId="{BA33BD8A-F435-9E42-B65B-7BEC441583EE}" dt="2023-09-17T13:04:26.546" v="387" actId="1038"/>
          <ac:spMkLst>
            <pc:docMk/>
            <pc:sldMk cId="0" sldId="1435"/>
            <ac:spMk id="17" creationId="{2876FC39-0D56-624A-A45D-FBCA42C80682}"/>
          </ac:spMkLst>
        </pc:spChg>
        <pc:spChg chg="add mod">
          <ac:chgData name="黄聃" userId="05fd6555-67a9-4797-980c-de46b7ca3e6c" providerId="ADAL" clId="{BA33BD8A-F435-9E42-B65B-7BEC441583EE}" dt="2023-09-17T13:04:45.041" v="395" actId="1035"/>
          <ac:spMkLst>
            <pc:docMk/>
            <pc:sldMk cId="0" sldId="1435"/>
            <ac:spMk id="18" creationId="{7EAD3726-28F7-3E49-BB6A-41916F1C1896}"/>
          </ac:spMkLst>
        </pc:spChg>
        <pc:spChg chg="add mod">
          <ac:chgData name="黄聃" userId="05fd6555-67a9-4797-980c-de46b7ca3e6c" providerId="ADAL" clId="{BA33BD8A-F435-9E42-B65B-7BEC441583EE}" dt="2023-09-17T13:05:37.807" v="434" actId="1076"/>
          <ac:spMkLst>
            <pc:docMk/>
            <pc:sldMk cId="0" sldId="1435"/>
            <ac:spMk id="19" creationId="{D5CE28C8-35D0-6540-BD24-A0AEB9A7A4FE}"/>
          </ac:spMkLst>
        </pc:spChg>
        <pc:spChg chg="add mod">
          <ac:chgData name="黄聃" userId="05fd6555-67a9-4797-980c-de46b7ca3e6c" providerId="ADAL" clId="{BA33BD8A-F435-9E42-B65B-7BEC441583EE}" dt="2023-09-17T13:05:34.957" v="433" actId="1076"/>
          <ac:spMkLst>
            <pc:docMk/>
            <pc:sldMk cId="0" sldId="1435"/>
            <ac:spMk id="20" creationId="{9EC36D1C-83F0-024A-B11A-A5A1AE125ACF}"/>
          </ac:spMkLst>
        </pc:spChg>
      </pc:sldChg>
      <pc:sldChg chg="delSp modSp new mod">
        <pc:chgData name="黄聃" userId="05fd6555-67a9-4797-980c-de46b7ca3e6c" providerId="ADAL" clId="{BA33BD8A-F435-9E42-B65B-7BEC441583EE}" dt="2023-09-12T15:37:46.497" v="55" actId="20577"/>
        <pc:sldMkLst>
          <pc:docMk/>
          <pc:sldMk cId="3687914741" sldId="1436"/>
        </pc:sldMkLst>
        <pc:spChg chg="mod">
          <ac:chgData name="黄聃" userId="05fd6555-67a9-4797-980c-de46b7ca3e6c" providerId="ADAL" clId="{BA33BD8A-F435-9E42-B65B-7BEC441583EE}" dt="2023-09-12T15:37:46.497" v="55" actId="20577"/>
          <ac:spMkLst>
            <pc:docMk/>
            <pc:sldMk cId="3687914741" sldId="1436"/>
            <ac:spMk id="2" creationId="{3D7A3272-981A-B345-8FE6-7483F1F28426}"/>
          </ac:spMkLst>
        </pc:spChg>
        <pc:spChg chg="del">
          <ac:chgData name="黄聃" userId="05fd6555-67a9-4797-980c-de46b7ca3e6c" providerId="ADAL" clId="{BA33BD8A-F435-9E42-B65B-7BEC441583EE}" dt="2023-09-12T15:36:38.774" v="27" actId="478"/>
          <ac:spMkLst>
            <pc:docMk/>
            <pc:sldMk cId="3687914741" sldId="1436"/>
            <ac:spMk id="3" creationId="{887EF1CF-5655-9942-B1E5-C3106F13841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09-17T20:54:45.79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81301A-4723-1D48-B7DC-E7E921785DAB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MS PGothic" charset="0"/>
                <a:cs typeface="MS PGothic" charset="0"/>
              </a:rPr>
              <a:t>Ex: nxn matmul, so n^3 processors could do n^3 multiplies at same time.</a:t>
            </a:r>
          </a:p>
          <a:p>
            <a:r>
              <a:rPr lang="en-US">
                <a:ea typeface="MS PGothic" charset="0"/>
                <a:cs typeface="MS PGothic" charset="0"/>
              </a:rPr>
              <a:t>But would be dominated by overheads</a:t>
            </a:r>
          </a:p>
        </p:txBody>
      </p:sp>
    </p:spTree>
    <p:extLst>
      <p:ext uri="{BB962C8B-B14F-4D97-AF65-F5344CB8AC3E}">
        <p14:creationId xmlns:p14="http://schemas.microsoft.com/office/powerpoint/2010/main" val="3037243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493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CS267 Lecture 2</a:t>
            </a:r>
          </a:p>
        </p:txBody>
      </p:sp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defTabSz="949325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493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7B77B4-83D4-A94B-B703-214FA467FDF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493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Caches may make</a:t>
            </a:r>
            <a:r>
              <a:rPr lang="en-US" baseline="0" dirty="0">
                <a:latin typeface="Arial" charset="0"/>
                <a:ea typeface="ＭＳ Ｐゴシック" charset="0"/>
                <a:cs typeface="ＭＳ Ｐゴシック" charset="0"/>
              </a:rPr>
              <a:t> latency (worst case) even worse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Robot loading tapes at supercomputer center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Latest change: “</a:t>
            </a:r>
            <a:r>
              <a:rPr lang="en-US" altLang="ja-JP" dirty="0" err="1">
                <a:latin typeface="Arial" charset="0"/>
                <a:ea typeface="ＭＳ Ｐゴシック" charset="0"/>
                <a:cs typeface="ＭＳ Ｐゴシック" charset="0"/>
              </a:rPr>
              <a:t>nonvolative</a:t>
            </a:r>
            <a:r>
              <a:rPr lang="en-US" altLang="ja-JP" dirty="0">
                <a:latin typeface="Arial" charset="0"/>
                <a:ea typeface="ＭＳ Ｐゴシック" charset="0"/>
                <a:cs typeface="ＭＳ Ｐゴシック" charset="0"/>
              </a:rPr>
              <a:t> memory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r>
              <a:rPr lang="en-US" altLang="ja-JP" dirty="0">
                <a:latin typeface="Arial" charset="0"/>
                <a:ea typeface="ＭＳ Ｐゴシック" charset="0"/>
                <a:cs typeface="ＭＳ Ｐゴシック" charset="0"/>
              </a:rPr>
              <a:t> (NVM), like Flash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In your cell phone, which doesn’t need power to remember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data that is written (just read it), But writing can take 2x - 10x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longer than reading. Intel and Micro just announced 3DXpoint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memory using this technology, to appear in coming year(s).</a:t>
            </a:r>
          </a:p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35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0" y="2236952"/>
            <a:ext cx="10881360" cy="15435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0" y="4080510"/>
            <a:ext cx="8961120" cy="18402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43346"/>
            <a:ext cx="11233328" cy="57577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omic Sans MS" panose="030F0902030302020204" pitchFamily="66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0" y="1080170"/>
            <a:ext cx="11521440" cy="475226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omic Sans MS" panose="030F0902030302020204" pitchFamily="66" charset="0"/>
              </a:defRPr>
            </a:lvl1pPr>
            <a:lvl2pPr marL="1028700" indent="-457200">
              <a:buFont typeface="Arial" panose="020B0604020202020204" pitchFamily="34" charset="0"/>
              <a:buChar char="»"/>
              <a:defRPr baseline="0">
                <a:latin typeface="Comic Sans MS" panose="030F0902030302020204" pitchFamily="66" charset="0"/>
              </a:defRPr>
            </a:lvl2pPr>
            <a:lvl3pPr>
              <a:defRPr baseline="0">
                <a:latin typeface="Comic Sans MS" panose="030F0902030302020204" pitchFamily="66" charset="0"/>
              </a:defRPr>
            </a:lvl3pPr>
            <a:lvl4pPr>
              <a:defRPr baseline="0">
                <a:latin typeface="Comic Sans MS" panose="030F0902030302020204" pitchFamily="66" charset="0"/>
              </a:defRPr>
            </a:lvl4pPr>
            <a:lvl5pPr>
              <a:defRPr baseline="0">
                <a:latin typeface="Comic Sans MS" panose="030F0902030302020204" pitchFamily="66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40" y="4627251"/>
            <a:ext cx="10881360" cy="1430179"/>
          </a:xfrm>
          <a:prstGeom prst="rect">
            <a:avLst/>
          </a:prstGeo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40" y="3052049"/>
            <a:ext cx="10881360" cy="157519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8006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  <a:prstGeom prst="rect">
            <a:avLst/>
          </a:prstGeom>
        </p:spPr>
        <p:txBody>
          <a:bodyPr/>
          <a:lstStyle>
            <a:lvl1pPr>
              <a:defRPr sz="2940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  <a:prstGeom prst="rect">
            <a:avLst/>
          </a:prstGeom>
        </p:spPr>
        <p:txBody>
          <a:bodyPr/>
          <a:lstStyle>
            <a:lvl1pPr>
              <a:defRPr sz="2940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11869"/>
            <a:ext cx="5656263" cy="671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" y="2283619"/>
            <a:ext cx="5656263" cy="4148852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40" y="1611869"/>
            <a:ext cx="5658485" cy="671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40" y="2283619"/>
            <a:ext cx="5658485" cy="4148852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4" y="286702"/>
            <a:ext cx="4211638" cy="1220153"/>
          </a:xfrm>
          <a:prstGeom prst="rect">
            <a:avLst/>
          </a:prstGeo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4" y="286708"/>
            <a:ext cx="7156450" cy="6145769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4" y="1506859"/>
            <a:ext cx="4211638" cy="49256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70"/>
            </a:lvl1pPr>
            <a:lvl2pPr marL="480060" indent="0">
              <a:buNone/>
              <a:defRPr sz="1260"/>
            </a:lvl2pPr>
            <a:lvl3pPr marL="960120" indent="0">
              <a:buNone/>
              <a:defRPr sz="1050"/>
            </a:lvl3pPr>
            <a:lvl4pPr marL="1440180" indent="0">
              <a:buNone/>
              <a:defRPr sz="945"/>
            </a:lvl4pPr>
            <a:lvl5pPr marL="1920240" indent="0">
              <a:buNone/>
              <a:defRPr sz="945"/>
            </a:lvl5pPr>
            <a:lvl6pPr marL="2400300" indent="0">
              <a:buNone/>
              <a:defRPr sz="945"/>
            </a:lvl6pPr>
            <a:lvl7pPr marL="2880360" indent="0">
              <a:buNone/>
              <a:defRPr sz="945"/>
            </a:lvl7pPr>
            <a:lvl8pPr marL="3360420" indent="0">
              <a:buNone/>
              <a:defRPr sz="945"/>
            </a:lvl8pPr>
            <a:lvl9pPr marL="3840480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1"/>
            <a:ext cx="7680960" cy="595075"/>
          </a:xfrm>
          <a:prstGeom prst="rect">
            <a:avLst/>
          </a:prstGeo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06"/>
            <a:ext cx="7680960" cy="845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70"/>
            </a:lvl1pPr>
            <a:lvl2pPr marL="480060" indent="0">
              <a:buNone/>
              <a:defRPr sz="1260"/>
            </a:lvl2pPr>
            <a:lvl3pPr marL="960120" indent="0">
              <a:buNone/>
              <a:defRPr sz="1050"/>
            </a:lvl3pPr>
            <a:lvl4pPr marL="1440180" indent="0">
              <a:buNone/>
              <a:defRPr sz="945"/>
            </a:lvl4pPr>
            <a:lvl5pPr marL="1920240" indent="0">
              <a:buNone/>
              <a:defRPr sz="945"/>
            </a:lvl5pPr>
            <a:lvl6pPr marL="2400300" indent="0">
              <a:buNone/>
              <a:defRPr sz="945"/>
            </a:lvl6pPr>
            <a:lvl7pPr marL="2880360" indent="0">
              <a:buNone/>
              <a:defRPr sz="945"/>
            </a:lvl7pPr>
            <a:lvl8pPr marL="3360420" indent="0">
              <a:buNone/>
              <a:defRPr sz="945"/>
            </a:lvl8pPr>
            <a:lvl9pPr marL="3840480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1680216"/>
            <a:ext cx="11521440" cy="475226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73880" y="6674173"/>
            <a:ext cx="40538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74480" y="6674173"/>
            <a:ext cx="2987040" cy="3833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29271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28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4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09728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2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46304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0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0656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677853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315522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76680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31511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122103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98361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321748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068450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62838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88036" y="1482714"/>
            <a:ext cx="4061546" cy="5485634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4514045" y="1482714"/>
            <a:ext cx="4061308" cy="5485634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 userDrawn="1"/>
        </p:nvSpPr>
        <p:spPr>
          <a:xfrm>
            <a:off x="8740053" y="1482714"/>
            <a:ext cx="4061546" cy="5485634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88038" y="995439"/>
            <a:ext cx="4060095" cy="5112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4514044" y="995439"/>
            <a:ext cx="4061308" cy="5112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 userDrawn="1"/>
        </p:nvSpPr>
        <p:spPr>
          <a:xfrm>
            <a:off x="8740055" y="995439"/>
            <a:ext cx="4080227" cy="5112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07520" y="1105575"/>
            <a:ext cx="3995740" cy="327696"/>
          </a:xfrm>
          <a:noFill/>
          <a:ln w="12700">
            <a:noFill/>
          </a:ln>
        </p:spPr>
        <p:txBody>
          <a:bodyPr tIns="68589" bIns="68589" anchor="ctr"/>
          <a:lstStyle>
            <a:lvl1pPr marL="0" indent="0">
              <a:buNone/>
              <a:defRPr sz="1575" b="0">
                <a:solidFill>
                  <a:schemeClr val="bg1"/>
                </a:solidFill>
              </a:defRPr>
            </a:lvl1pPr>
            <a:lvl2pPr marL="359985" indent="0">
              <a:buNone/>
              <a:defRPr sz="1575" b="1"/>
            </a:lvl2pPr>
            <a:lvl3pPr marL="719970" indent="0">
              <a:buNone/>
              <a:defRPr sz="1365" b="1"/>
            </a:lvl3pPr>
            <a:lvl4pPr marL="1079955" indent="0">
              <a:buNone/>
              <a:defRPr sz="1260" b="1"/>
            </a:lvl4pPr>
            <a:lvl5pPr marL="1439940" indent="0">
              <a:buNone/>
              <a:defRPr sz="1260" b="1"/>
            </a:lvl5pPr>
            <a:lvl6pPr marL="1799925" indent="0">
              <a:buNone/>
              <a:defRPr sz="1260" b="1"/>
            </a:lvl6pPr>
            <a:lvl7pPr marL="2159910" indent="0">
              <a:buNone/>
              <a:defRPr sz="1260" b="1"/>
            </a:lvl7pPr>
            <a:lvl8pPr marL="2519895" indent="0">
              <a:buNone/>
              <a:defRPr sz="1260" b="1"/>
            </a:lvl8pPr>
            <a:lvl9pPr marL="2879880" indent="0">
              <a:buNone/>
              <a:defRPr sz="126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407521" y="1603400"/>
            <a:ext cx="3794837" cy="1118975"/>
          </a:xfrm>
          <a:ln w="12700">
            <a:noFill/>
          </a:ln>
        </p:spPr>
        <p:txBody>
          <a:bodyPr tIns="34295" bIns="68589"/>
          <a:lstStyle>
            <a:lvl1pPr>
              <a:defRPr sz="1365"/>
            </a:lvl1pPr>
            <a:lvl2pPr>
              <a:defRPr sz="1260"/>
            </a:lvl2pPr>
            <a:lvl3pPr>
              <a:defRPr sz="1155"/>
            </a:lvl3pPr>
            <a:lvl4pPr>
              <a:defRPr sz="945"/>
            </a:lvl4pPr>
            <a:lvl5pPr marL="1167451" indent="-174992">
              <a:buFont typeface="Arial" panose="020B0604020202020204" pitchFamily="34" charset="0"/>
              <a:buChar char="•"/>
              <a:defRPr sz="1155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4617004" y="1105575"/>
            <a:ext cx="3958346" cy="327696"/>
          </a:xfrm>
          <a:noFill/>
          <a:ln w="12700">
            <a:noFill/>
          </a:ln>
        </p:spPr>
        <p:txBody>
          <a:bodyPr tIns="68589" bIns="68589" anchor="ctr"/>
          <a:lstStyle>
            <a:lvl1pPr marL="0" indent="0">
              <a:buNone/>
              <a:defRPr sz="1575" b="0">
                <a:solidFill>
                  <a:schemeClr val="bg1"/>
                </a:solidFill>
              </a:defRPr>
            </a:lvl1pPr>
            <a:lvl2pPr marL="359985" indent="0">
              <a:buNone/>
              <a:defRPr sz="1575" b="1"/>
            </a:lvl2pPr>
            <a:lvl3pPr marL="719970" indent="0">
              <a:buNone/>
              <a:defRPr sz="1365" b="1"/>
            </a:lvl3pPr>
            <a:lvl4pPr marL="1079955" indent="0">
              <a:buNone/>
              <a:defRPr sz="1260" b="1"/>
            </a:lvl4pPr>
            <a:lvl5pPr marL="1439940" indent="0">
              <a:buNone/>
              <a:defRPr sz="1260" b="1"/>
            </a:lvl5pPr>
            <a:lvl6pPr marL="1799925" indent="0">
              <a:buNone/>
              <a:defRPr sz="1260" b="1"/>
            </a:lvl6pPr>
            <a:lvl7pPr marL="2159910" indent="0">
              <a:buNone/>
              <a:defRPr sz="1260" b="1"/>
            </a:lvl7pPr>
            <a:lvl8pPr marL="2519895" indent="0">
              <a:buNone/>
              <a:defRPr sz="1260" b="1"/>
            </a:lvl8pPr>
            <a:lvl9pPr marL="2879880" indent="0">
              <a:buNone/>
              <a:defRPr sz="126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4617008" y="1603400"/>
            <a:ext cx="3792671" cy="1118975"/>
          </a:xfrm>
          <a:ln w="12700">
            <a:noFill/>
          </a:ln>
        </p:spPr>
        <p:txBody>
          <a:bodyPr tIns="34295" bIns="68589"/>
          <a:lstStyle>
            <a:lvl1pPr>
              <a:defRPr sz="1365"/>
            </a:lvl1pPr>
            <a:lvl2pPr>
              <a:defRPr sz="1260"/>
            </a:lvl2pPr>
            <a:lvl3pPr>
              <a:defRPr sz="1155"/>
            </a:lvl3pPr>
            <a:lvl4pPr>
              <a:defRPr sz="945"/>
            </a:lvl4pPr>
            <a:lvl5pPr marL="1167451" indent="-174992">
              <a:defRPr lang="en-US" sz="1155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08136" y="1105575"/>
            <a:ext cx="3993461" cy="327696"/>
          </a:xfrm>
          <a:noFill/>
          <a:ln w="12700">
            <a:noFill/>
          </a:ln>
        </p:spPr>
        <p:txBody>
          <a:bodyPr tIns="68589" bIns="68589" anchor="ctr"/>
          <a:lstStyle>
            <a:lvl1pPr marL="0" indent="0">
              <a:buNone/>
              <a:defRPr sz="1575" b="0">
                <a:solidFill>
                  <a:schemeClr val="bg1"/>
                </a:solidFill>
              </a:defRPr>
            </a:lvl1pPr>
            <a:lvl2pPr marL="359985" indent="0">
              <a:buNone/>
              <a:defRPr sz="1575" b="1"/>
            </a:lvl2pPr>
            <a:lvl3pPr marL="719970" indent="0">
              <a:buNone/>
              <a:defRPr sz="1365" b="1"/>
            </a:lvl3pPr>
            <a:lvl4pPr marL="1079955" indent="0">
              <a:buNone/>
              <a:defRPr sz="1260" b="1"/>
            </a:lvl4pPr>
            <a:lvl5pPr marL="1439940" indent="0">
              <a:buNone/>
              <a:defRPr sz="1260" b="1"/>
            </a:lvl5pPr>
            <a:lvl6pPr marL="1799925" indent="0">
              <a:buNone/>
              <a:defRPr sz="1260" b="1"/>
            </a:lvl6pPr>
            <a:lvl7pPr marL="2159910" indent="0">
              <a:buNone/>
              <a:defRPr sz="1260" b="1"/>
            </a:lvl7pPr>
            <a:lvl8pPr marL="2519895" indent="0">
              <a:buNone/>
              <a:defRPr sz="1260" b="1"/>
            </a:lvl8pPr>
            <a:lvl9pPr marL="2879880" indent="0">
              <a:buNone/>
              <a:defRPr sz="126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8808140" y="1603400"/>
            <a:ext cx="3792671" cy="1118975"/>
          </a:xfrm>
          <a:ln w="12700">
            <a:noFill/>
          </a:ln>
        </p:spPr>
        <p:txBody>
          <a:bodyPr tIns="34295" bIns="68589"/>
          <a:lstStyle>
            <a:lvl1pPr>
              <a:defRPr sz="1365"/>
            </a:lvl1pPr>
            <a:lvl2pPr>
              <a:defRPr sz="1260"/>
            </a:lvl2pPr>
            <a:lvl3pPr>
              <a:defRPr sz="1155"/>
            </a:lvl3pPr>
            <a:lvl4pPr>
              <a:defRPr sz="945"/>
            </a:lvl4pPr>
            <a:lvl5pPr marL="1167451" indent="-174992">
              <a:defRPr lang="en-US" sz="1155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862354" y="336045"/>
            <a:ext cx="10939247" cy="5364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862353" y="384154"/>
            <a:ext cx="10533886" cy="306872"/>
          </a:xfrm>
        </p:spPr>
        <p:txBody>
          <a:bodyPr/>
          <a:lstStyle>
            <a:lvl1pPr>
              <a:defRPr sz="189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1" y="336045"/>
            <a:ext cx="288036" cy="5364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88040" y="336045"/>
            <a:ext cx="1483307" cy="5364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2310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609" y="6957439"/>
            <a:ext cx="294421" cy="1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36245">
              <a:lnSpc>
                <a:spcPct val="90000"/>
              </a:lnSpc>
              <a:tabLst>
                <a:tab pos="181243" algn="l"/>
              </a:tabLst>
              <a:defRPr/>
            </a:pPr>
            <a:fld id="{040BB257-551A-4736-B50F-DCF1BA034C06}" type="slidenum">
              <a:rPr lang="en-US" sz="735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36245">
                <a:lnSpc>
                  <a:spcPct val="90000"/>
                </a:lnSpc>
                <a:tabLst>
                  <a:tab pos="181243" algn="l"/>
                </a:tabLst>
                <a:defRPr/>
              </a:pPr>
              <a:t>‹#›</a:t>
            </a:fld>
            <a:endParaRPr lang="en-US" sz="735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40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792288" y="193535"/>
            <a:ext cx="9934724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41350" y="1152178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6433" y="49344"/>
            <a:ext cx="927100" cy="86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40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60045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0" i="0" kern="1200" baseline="0" dirty="0">
          <a:solidFill>
            <a:srgbClr val="0070C0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1pPr>
      <a:lvl2pPr marL="10287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32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2pPr>
      <a:lvl3pPr marL="1200150" indent="-2400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3pPr>
      <a:lvl4pPr marL="1680210" indent="-2400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4pPr>
      <a:lvl5pPr marL="2160270" indent="-2400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5pPr>
      <a:lvl6pPr marL="2640330" indent="-240030" algn="l" defTabSz="959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59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59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59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59485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14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0" i="0" kern="1200" baseline="0" dirty="0">
          <a:solidFill>
            <a:srgbClr val="0070C0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0" i="0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97572"/>
            <a:ext cx="8136904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98988" y="2853349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z="5400" b="0" dirty="0">
                <a:latin typeface="黑体" panose="02010609060101010101" pitchFamily="49" charset="-122"/>
                <a:ea typeface="黑体" panose="02010609060101010101" pitchFamily="49" charset="-122"/>
              </a:rPr>
              <a:t>    并行硬件和软件</a:t>
            </a:r>
            <a:endParaRPr lang="en-US" sz="5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Roadmap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320" y="1282700"/>
            <a:ext cx="10694670" cy="482727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Some background</a:t>
            </a:r>
            <a:r>
              <a:rPr lang="zh-CN" altLang="en-US" sz="3200" b="0" dirty="0"/>
              <a:t> </a:t>
            </a:r>
            <a:endParaRPr lang="en-US" altLang="en-US" sz="3200" b="0" dirty="0"/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Modifications to the von Neumann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Parallel hardware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Parallel software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Input and output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Performance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Parallel program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Writing and running parallel programs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b="0" dirty="0"/>
              <a:t>Assumptions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21505" name="Picture 9" descr="C:\Documents and Settings\liszka\Local Settings\Temporary Internet Files\Content.IE5\5W39ONER\MP900401988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2159953"/>
            <a:ext cx="2081213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6" descr="C:\Documents and Settings\liszka\Local Settings\Temporary Internet Files\Content.IE5\1G3WK4XC\MP900289834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693" y="2159953"/>
            <a:ext cx="3657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3" descr="C:\Documents and Settings\liszka\Local Settings\Temporary Internet Files\Content.IE5\5W39ONER\MP900403733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944370"/>
            <a:ext cx="2505075" cy="313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ym typeface="+mn-ea"/>
              </a:rPr>
              <a:t>Some background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Serial hardware and software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22531" name="Picture 8" descr="C:\Documents and Settings\liszka\Local Settings\Temporary Internet Files\Content.IE5\1G3WK4XC\MC900431543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270125"/>
            <a:ext cx="3653155" cy="298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190" y="1728470"/>
            <a:ext cx="2297430" cy="136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1" descr="C:\Documents and Settings\liszka\Local Settings\Temporary Internet Files\Content.IE5\5W39ONER\MC900439808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25461">
            <a:off x="4860290" y="1987550"/>
            <a:ext cx="1617345" cy="1617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536565" y="1583690"/>
            <a:ext cx="11379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input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360170" y="5473065"/>
            <a:ext cx="13963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output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481570" y="1223645"/>
            <a:ext cx="201231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programs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536565" y="4176395"/>
            <a:ext cx="4128135" cy="103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b="1" kern="0" dirty="0">
                <a:latin typeface="Arial" panose="020B0604020202020204"/>
              </a:rPr>
              <a:t>Computer runs one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b="1" kern="0" dirty="0">
                <a:latin typeface="Arial" panose="020B0604020202020204"/>
              </a:rPr>
              <a:t>program at a time.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The von Neumann Architecture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556" name="Text Box 8"/>
          <p:cNvSpPr txBox="1">
            <a:spLocks noChangeArrowheads="1"/>
          </p:cNvSpPr>
          <p:nvPr/>
        </p:nvSpPr>
        <p:spPr bwMode="auto">
          <a:xfrm>
            <a:off x="7624860" y="5760427"/>
            <a:ext cx="1782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000066"/>
                </a:solidFill>
                <a:latin typeface="Arial" panose="020B0604020202020204" pitchFamily="34" charset="0"/>
              </a:rPr>
              <a:t>Figure 2.1</a:t>
            </a:r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7" y="1080160"/>
            <a:ext cx="401955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072515" y="1529715"/>
            <a:ext cx="47117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Calibri" panose="020F0502020204030204" pitchFamily="34" charset="0"/>
              </a:rPr>
              <a:t>冯诺依曼结构：主存、中央处理单元、以及主存和</a:t>
            </a:r>
            <a:r>
              <a:rPr lang="en-US" altLang="zh-CN" sz="2800" dirty="0">
                <a:cs typeface="Calibri" panose="020F0502020204030204" pitchFamily="34" charset="0"/>
              </a:rPr>
              <a:t>CPU</a:t>
            </a:r>
            <a:r>
              <a:rPr lang="zh-CN" altLang="en-US" sz="2800" dirty="0">
                <a:cs typeface="Calibri" panose="020F0502020204030204" pitchFamily="34" charset="0"/>
              </a:rPr>
              <a:t>之间的互连结构</a:t>
            </a:r>
            <a:endParaRPr lang="en-US" altLang="zh-CN" sz="2800" dirty="0">
              <a:cs typeface="Calibri" panose="020F0502020204030204" pitchFamily="34" charset="0"/>
            </a:endParaRPr>
          </a:p>
          <a:p>
            <a:endParaRPr lang="en-US" altLang="zh-CN" sz="2800" dirty="0">
              <a:cs typeface="Calibri" panose="020F0502020204030204" pitchFamily="34" charset="0"/>
            </a:endParaRPr>
          </a:p>
          <a:p>
            <a:r>
              <a:rPr lang="zh-CN" altLang="en-US" sz="2800" dirty="0">
                <a:cs typeface="Calibri" panose="020F0502020204030204" pitchFamily="34" charset="0"/>
              </a:rPr>
              <a:t>冯诺依曼瓶颈：主存和</a:t>
            </a:r>
            <a:r>
              <a:rPr lang="en-US" altLang="zh-CN" sz="2800" dirty="0">
                <a:cs typeface="Calibri" panose="020F0502020204030204" pitchFamily="34" charset="0"/>
              </a:rPr>
              <a:t>CPU</a:t>
            </a:r>
            <a:r>
              <a:rPr lang="zh-CN" altLang="en-US" sz="2800" dirty="0">
                <a:cs typeface="Calibri" panose="020F0502020204030204" pitchFamily="34" charset="0"/>
              </a:rPr>
              <a:t>之间的分离带来的数据访问瓶颈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Main memory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This is a collection of locations, each of which is capable of storing both instructions and data.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Every location consists of an address, which is used to access the location, and the contents of the location.</a:t>
            </a:r>
          </a:p>
        </p:txBody>
      </p:sp>
      <p:pic>
        <p:nvPicPr>
          <p:cNvPr id="24577" name="Picture 2" descr="C:\Documents and Settings\liszka\Local Settings\Temporary Internet Files\Content.IE5\1G3WK4XC\MP90031637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170" y="4392930"/>
            <a:ext cx="3258185" cy="225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Central processing unit (CPU)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684530" y="1260475"/>
            <a:ext cx="11269345" cy="5332730"/>
          </a:xfrm>
        </p:spPr>
        <p:txBody>
          <a:bodyPr/>
          <a:lstStyle/>
          <a:p>
            <a:r>
              <a:rPr lang="en-US" altLang="en-US" b="0" dirty="0"/>
              <a:t>Divided into two parts. </a:t>
            </a:r>
          </a:p>
          <a:p>
            <a:r>
              <a:rPr lang="en-US" altLang="en-US" b="0" dirty="0"/>
              <a:t>Control unit</a:t>
            </a:r>
            <a:r>
              <a:rPr lang="zh-CN" altLang="en-US" b="0" dirty="0"/>
              <a:t>（控制单元）</a:t>
            </a:r>
            <a:r>
              <a:rPr lang="en-US" altLang="en-US" b="0" dirty="0"/>
              <a:t>- </a:t>
            </a:r>
          </a:p>
          <a:p>
            <a:pPr lvl="1"/>
            <a:r>
              <a:rPr lang="en-US" altLang="en-US" b="0" dirty="0"/>
              <a:t>responsible for </a:t>
            </a:r>
            <a:br>
              <a:rPr lang="en-US" altLang="en-US" b="0" dirty="0"/>
            </a:br>
            <a:r>
              <a:rPr lang="en-US" altLang="en-US" b="0" dirty="0"/>
              <a:t>deciding which instruction in </a:t>
            </a:r>
            <a:br>
              <a:rPr lang="en-US" altLang="en-US" b="0" dirty="0"/>
            </a:br>
            <a:r>
              <a:rPr lang="en-US" altLang="en-US" b="0" dirty="0"/>
              <a:t>a program should be </a:t>
            </a:r>
            <a:br>
              <a:rPr lang="en-US" altLang="en-US" b="0" dirty="0"/>
            </a:br>
            <a:r>
              <a:rPr lang="en-US" altLang="en-US" b="0" dirty="0"/>
              <a:t>executed. (</a:t>
            </a:r>
            <a:r>
              <a:rPr lang="en-US" altLang="en-US" b="0" i="1" dirty="0"/>
              <a:t>the boss</a:t>
            </a:r>
            <a:r>
              <a:rPr lang="en-US" altLang="en-US" b="0" dirty="0"/>
              <a:t>)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Arithmetic and logic unit (ALU</a:t>
            </a:r>
            <a:r>
              <a:rPr lang="zh-CN" altLang="en-US" b="0" dirty="0"/>
              <a:t>算术逻辑单元</a:t>
            </a:r>
            <a:r>
              <a:rPr lang="en-US" altLang="en-US" b="0" dirty="0"/>
              <a:t>) –</a:t>
            </a:r>
          </a:p>
          <a:p>
            <a:pPr lvl="1"/>
            <a:r>
              <a:rPr lang="en-US" altLang="en-US" b="0" dirty="0"/>
              <a:t> responsible for executing the actual instructions. (</a:t>
            </a:r>
            <a:r>
              <a:rPr lang="en-US" altLang="en-US" b="0" i="1" dirty="0"/>
              <a:t>the worker</a:t>
            </a:r>
            <a:r>
              <a:rPr lang="en-US" altLang="en-US" b="0" dirty="0"/>
              <a:t>)</a:t>
            </a:r>
          </a:p>
        </p:txBody>
      </p:sp>
      <p:pic>
        <p:nvPicPr>
          <p:cNvPr id="1026" name="Picture 2" descr="What is a Control Unit?">
            <a:extLst>
              <a:ext uri="{FF2B5EF4-FFF2-40B4-BE49-F238E27FC236}">
                <a16:creationId xmlns:a16="http://schemas.microsoft.com/office/drawing/2014/main" id="{2BED5319-89D1-4B8A-8B07-43C528D2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912" y="1823839"/>
            <a:ext cx="52387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Key terms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640080" y="1080135"/>
            <a:ext cx="11740515" cy="5238115"/>
          </a:xfrm>
        </p:spPr>
        <p:txBody>
          <a:bodyPr/>
          <a:lstStyle/>
          <a:p>
            <a:r>
              <a:rPr lang="en-US" altLang="en-US" sz="3200" b="0" dirty="0"/>
              <a:t>Register</a:t>
            </a:r>
            <a:r>
              <a:rPr lang="zh-CN" altLang="en-US" sz="3200" b="0" dirty="0"/>
              <a:t>（寄存器）</a:t>
            </a:r>
            <a:r>
              <a:rPr lang="en-US" altLang="en-US" sz="3200" b="0" dirty="0"/>
              <a:t> – very fast storage, part of the CPU.</a:t>
            </a:r>
            <a:br>
              <a:rPr lang="en-US" altLang="en-US" sz="3200" b="0" dirty="0"/>
            </a:br>
            <a:endParaRPr lang="en-US" altLang="en-US" sz="3200" b="0" dirty="0"/>
          </a:p>
          <a:p>
            <a:r>
              <a:rPr lang="en-US" altLang="en-US" sz="3200" b="0" dirty="0"/>
              <a:t>Program counter</a:t>
            </a:r>
            <a:r>
              <a:rPr lang="zh-CN" altLang="en-US" sz="3200" b="0" dirty="0"/>
              <a:t>（程序计数器）</a:t>
            </a:r>
            <a:r>
              <a:rPr lang="en-US" altLang="en-US" sz="3200" b="0" dirty="0"/>
              <a:t> – stores address of the next instruction to be executed.</a:t>
            </a:r>
            <a:br>
              <a:rPr lang="en-US" altLang="en-US" sz="3200" b="0" dirty="0"/>
            </a:br>
            <a:endParaRPr lang="en-US" altLang="en-US" sz="3200" b="0" dirty="0"/>
          </a:p>
          <a:p>
            <a:r>
              <a:rPr lang="en-US" altLang="en-US" sz="3200" b="0" dirty="0"/>
              <a:t>Bus </a:t>
            </a:r>
            <a:r>
              <a:rPr lang="zh-CN" altLang="en-US" sz="3200" b="0" dirty="0"/>
              <a:t>（总线）</a:t>
            </a:r>
            <a:r>
              <a:rPr lang="en-US" altLang="en-US" sz="3200" b="0" dirty="0"/>
              <a:t> – wires and hardware that connects the CPU and memory.</a:t>
            </a:r>
          </a:p>
          <a:p>
            <a:endParaRPr lang="en-US" altLang="en-US" sz="3200" b="0" dirty="0"/>
          </a:p>
        </p:txBody>
      </p:sp>
      <p:pic>
        <p:nvPicPr>
          <p:cNvPr id="26628" name="Picture 17" descr="C:\Documents and Settings\liszka\Local Settings\Temporary Internet Files\Content.IE5\Q7HGDQRM\MC90038873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480" y="5400675"/>
            <a:ext cx="2303780" cy="127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2765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260" y="1224280"/>
            <a:ext cx="3328988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690" y="2808605"/>
            <a:ext cx="396240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2224723" y="1079818"/>
            <a:ext cx="148431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memory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616700" y="5400675"/>
            <a:ext cx="118364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CPU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177155" y="2449195"/>
            <a:ext cx="23920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b="1" kern="0" dirty="0">
                <a:solidFill>
                  <a:srgbClr val="C00000"/>
                </a:solidFill>
                <a:latin typeface="Arial" panose="020B0604020202020204"/>
              </a:rPr>
              <a:t>fetch/read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7655" name="Picture 6" descr="C:\Documents and Settings\liszka\Local Settings\Temporary Internet Files\Content.IE5\3X5GU20H\MC900439805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75" y="2160270"/>
            <a:ext cx="3354705" cy="335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260" y="1367473"/>
            <a:ext cx="3328988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835" y="2808605"/>
            <a:ext cx="396240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726883" y="1152208"/>
            <a:ext cx="165036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200" kern="0" dirty="0">
                <a:latin typeface="Arial" panose="020B0604020202020204"/>
              </a:rPr>
              <a:t>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818" y="5544503"/>
            <a:ext cx="942975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latin typeface="Arial" panose="020B0604020202020204"/>
              </a:rPr>
              <a:t>CPU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377248" y="3383598"/>
            <a:ext cx="200183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b="1" kern="0" dirty="0">
                <a:solidFill>
                  <a:srgbClr val="C00000"/>
                </a:solidFill>
                <a:latin typeface="Arial" panose="020B0604020202020204"/>
              </a:rPr>
              <a:t>write/store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8679" name="Picture 6" descr="C:\Documents and Settings\liszka\Local Settings\Temporary Internet Files\Content.IE5\3X5GU20H\MC900439805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965" y="194437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4271" y="1439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von Neumann bottleneck</a:t>
            </a:r>
            <a:r>
              <a:rPr>
                <a:sym typeface="+mn-ea"/>
              </a:rPr>
              <a:t>（冯诺依曼瓶颈）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5879148" y="6485255"/>
            <a:ext cx="4054475" cy="384175"/>
          </a:xfrm>
        </p:spPr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pic>
        <p:nvPicPr>
          <p:cNvPr id="29699" name="Picture 18" descr="C:\Documents and Settings\liszka\Local Settings\Temporary Internet Files\Content.IE5\5W39ONER\MC900030031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48573" y="792480"/>
            <a:ext cx="1800225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235" y="4392930"/>
            <a:ext cx="441198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701" name="Straight Connector 24"/>
          <p:cNvCxnSpPr>
            <a:cxnSpLocks noChangeShapeType="1"/>
          </p:cNvCxnSpPr>
          <p:nvPr/>
        </p:nvCxnSpPr>
        <p:spPr bwMode="auto">
          <a:xfrm>
            <a:off x="4421823" y="3024505"/>
            <a:ext cx="3161030" cy="213741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2" name="Straight Connector 25"/>
          <p:cNvCxnSpPr>
            <a:cxnSpLocks noChangeShapeType="1"/>
          </p:cNvCxnSpPr>
          <p:nvPr/>
        </p:nvCxnSpPr>
        <p:spPr bwMode="auto">
          <a:xfrm>
            <a:off x="4925060" y="2592705"/>
            <a:ext cx="3162935" cy="213741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3" name="Straight Connector 26"/>
          <p:cNvCxnSpPr>
            <a:cxnSpLocks noChangeShapeType="1"/>
          </p:cNvCxnSpPr>
          <p:nvPr/>
        </p:nvCxnSpPr>
        <p:spPr bwMode="auto">
          <a:xfrm>
            <a:off x="4709160" y="2808605"/>
            <a:ext cx="3162935" cy="2137410"/>
          </a:xfrm>
          <a:prstGeom prst="line">
            <a:avLst/>
          </a:prstGeom>
          <a:noFill/>
          <a:ln w="9525" algn="ctr">
            <a:solidFill>
              <a:srgbClr val="FFC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4" name="Straight Connector 8"/>
          <p:cNvCxnSpPr>
            <a:cxnSpLocks noChangeShapeType="1"/>
          </p:cNvCxnSpPr>
          <p:nvPr/>
        </p:nvCxnSpPr>
        <p:spPr bwMode="auto">
          <a:xfrm>
            <a:off x="4637723" y="2880043"/>
            <a:ext cx="3161030" cy="2138680"/>
          </a:xfrm>
          <a:prstGeom prst="line">
            <a:avLst/>
          </a:prstGeom>
          <a:noFill/>
          <a:ln w="9525" algn="ctr">
            <a:solidFill>
              <a:srgbClr val="FFC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9705" name="Picture 2" descr="C:\Documents and Settings\liszka\Local Settings\Temporary Internet Files\Content.IE5\5W39ONER\MC900441741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360" y="2303780"/>
            <a:ext cx="1253490" cy="1253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6" name="Picture 4" descr="C:\Documents and Settings\liszka\Local Settings\Temporary Internet Files\Content.IE5\Q7HGDQRM\MC900238375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15" y="1223010"/>
            <a:ext cx="1416685" cy="96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7" name="Picture 4" descr="C:\Documents and Settings\liszka\Local Settings\Temporary Internet Files\Content.IE5\Q7HGDQRM\MC900238375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90" y="2880360"/>
            <a:ext cx="2018665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2516" y="1439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An operating system “process” </a:t>
            </a:r>
            <a:r>
              <a:rPr>
                <a:sym typeface="+mn-ea"/>
              </a:rPr>
              <a:t>（进程）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640080" y="1080135"/>
            <a:ext cx="11665585" cy="5205730"/>
          </a:xfrm>
        </p:spPr>
        <p:txBody>
          <a:bodyPr/>
          <a:lstStyle/>
          <a:p>
            <a:r>
              <a:rPr lang="en-US" altLang="en-US" b="0" dirty="0"/>
              <a:t>An instance of a computer program that is being executed</a:t>
            </a:r>
            <a:r>
              <a:rPr lang="zh-CN" altLang="en-US" b="0" dirty="0"/>
              <a:t>（进程是程序的一个运行着实例）</a:t>
            </a:r>
            <a:r>
              <a:rPr lang="en-US" altLang="en-US" b="0" dirty="0"/>
              <a:t>.</a:t>
            </a:r>
          </a:p>
          <a:p>
            <a:r>
              <a:rPr lang="en-US" altLang="en-US" b="0" dirty="0"/>
              <a:t>Components of a process:</a:t>
            </a:r>
          </a:p>
          <a:p>
            <a:pPr lvl="1"/>
            <a:r>
              <a:rPr lang="en-US" altLang="en-US" b="0" dirty="0"/>
              <a:t>The executable machine language program.</a:t>
            </a:r>
          </a:p>
          <a:p>
            <a:pPr lvl="1"/>
            <a:r>
              <a:rPr lang="en-US" altLang="en-US" b="0" dirty="0"/>
              <a:t>A block of memory.</a:t>
            </a:r>
          </a:p>
          <a:p>
            <a:pPr lvl="1"/>
            <a:r>
              <a:rPr lang="en-US" altLang="en-US" b="0" dirty="0"/>
              <a:t>Descriptors of resources the OS has allocated to the process.</a:t>
            </a:r>
          </a:p>
          <a:p>
            <a:pPr lvl="1"/>
            <a:r>
              <a:rPr lang="en-US" altLang="en-US" b="0" dirty="0"/>
              <a:t>Security information.</a:t>
            </a:r>
          </a:p>
          <a:p>
            <a:pPr lvl="1"/>
            <a:r>
              <a:rPr lang="en-US" altLang="en-US" b="0" dirty="0"/>
              <a:t>Information about the state of the process.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Multitasking </a:t>
            </a:r>
            <a:r>
              <a:rPr>
                <a:sym typeface="+mn-ea"/>
              </a:rPr>
              <a:t>（多任务）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Gives the illusion that a single processor system is running multiple programs simultaneously.</a:t>
            </a:r>
          </a:p>
          <a:p>
            <a:r>
              <a:rPr lang="en-US" altLang="en-US" b="0" dirty="0"/>
              <a:t>Each process takes turns running. (time slice)</a:t>
            </a:r>
          </a:p>
          <a:p>
            <a:r>
              <a:rPr lang="en-US" altLang="en-US" b="0" dirty="0"/>
              <a:t>After its time is up, it waits until it has a turn again. (blocks</a:t>
            </a:r>
            <a:r>
              <a:rPr lang="zh-CN" altLang="en-US" b="0" dirty="0"/>
              <a:t>阻塞</a:t>
            </a:r>
            <a:r>
              <a:rPr lang="en-US" altLang="en-US" b="0"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Threading</a:t>
            </a:r>
            <a:r>
              <a:rPr>
                <a:sym typeface="+mn-ea"/>
              </a:rPr>
              <a:t>（线程）</a:t>
            </a:r>
            <a:r>
              <a:rPr lang="en-US">
                <a:sym typeface="+mn-ea"/>
              </a:rPr>
              <a:t>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Threads are contained within processes.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They allow programmers to divide their programs into (more or less) independent tasks.</a:t>
            </a:r>
          </a:p>
          <a:p>
            <a:endParaRPr lang="en-US" altLang="en-US" b="0" dirty="0"/>
          </a:p>
          <a:p>
            <a:r>
              <a:rPr lang="en-US" altLang="en-US" b="0" dirty="0"/>
              <a:t>The </a:t>
            </a:r>
            <a:r>
              <a:rPr lang="en-US" altLang="zh-CN" b="0" dirty="0"/>
              <a:t>expectation</a:t>
            </a:r>
            <a:r>
              <a:rPr lang="en-US" altLang="en-US" b="0" dirty="0"/>
              <a:t> is that when one thread blocks because it is waiting on a resource, another will have work to do and can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 process and two threads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37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378" y="1944053"/>
            <a:ext cx="7180262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 Box 8"/>
          <p:cNvSpPr txBox="1">
            <a:spLocks noChangeArrowheads="1"/>
          </p:cNvSpPr>
          <p:nvPr/>
        </p:nvSpPr>
        <p:spPr bwMode="auto">
          <a:xfrm>
            <a:off x="5392103" y="5688965"/>
            <a:ext cx="1338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2.2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28278" y="1512253"/>
            <a:ext cx="27743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the “master” thread</a:t>
            </a:r>
          </a:p>
        </p:txBody>
      </p:sp>
      <p:cxnSp>
        <p:nvCxnSpPr>
          <p:cNvPr id="33798" name="Straight Arrow Connector 8"/>
          <p:cNvCxnSpPr>
            <a:cxnSpLocks noChangeShapeType="1"/>
          </p:cNvCxnSpPr>
          <p:nvPr/>
        </p:nvCxnSpPr>
        <p:spPr bwMode="auto">
          <a:xfrm rot="5400000">
            <a:off x="2944178" y="2159953"/>
            <a:ext cx="792162" cy="360362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/>
          <p:cNvSpPr/>
          <p:nvPr/>
        </p:nvSpPr>
        <p:spPr>
          <a:xfrm>
            <a:off x="2223453" y="4320540"/>
            <a:ext cx="2418080" cy="903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starting a thread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Is called </a:t>
            </a:r>
            <a:r>
              <a:rPr lang="en-US" sz="2400" b="1" i="1" u="sng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fork</a:t>
            </a:r>
            <a:r>
              <a:rPr lang="en-US" sz="24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ing</a:t>
            </a:r>
          </a:p>
        </p:txBody>
      </p:sp>
      <p:cxnSp>
        <p:nvCxnSpPr>
          <p:cNvPr id="33800" name="Straight Arrow Connector 12"/>
          <p:cNvCxnSpPr>
            <a:cxnSpLocks noChangeShapeType="1"/>
          </p:cNvCxnSpPr>
          <p:nvPr/>
        </p:nvCxnSpPr>
        <p:spPr bwMode="auto">
          <a:xfrm rot="5400000" flipH="1" flipV="1">
            <a:off x="3124359" y="3708559"/>
            <a:ext cx="1079500" cy="144462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Straight Arrow Connector 14"/>
          <p:cNvCxnSpPr>
            <a:cxnSpLocks noChangeShapeType="1"/>
          </p:cNvCxnSpPr>
          <p:nvPr/>
        </p:nvCxnSpPr>
        <p:spPr bwMode="auto">
          <a:xfrm rot="5400000" flipH="1" flipV="1">
            <a:off x="3303747" y="3600609"/>
            <a:ext cx="1081087" cy="504825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5"/>
          <p:cNvSpPr/>
          <p:nvPr/>
        </p:nvSpPr>
        <p:spPr>
          <a:xfrm>
            <a:off x="7697153" y="4104640"/>
            <a:ext cx="2893695" cy="903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terminating a thread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Is called </a:t>
            </a:r>
            <a:r>
              <a:rPr lang="en-US" sz="2400" b="1" i="1" u="sng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join</a:t>
            </a:r>
            <a:r>
              <a:rPr lang="en-US" sz="24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/>
              </a:rPr>
              <a:t>ing</a:t>
            </a:r>
          </a:p>
        </p:txBody>
      </p:sp>
      <p:cxnSp>
        <p:nvCxnSpPr>
          <p:cNvPr id="33803" name="Straight Arrow Connector 17"/>
          <p:cNvCxnSpPr>
            <a:cxnSpLocks noChangeShapeType="1"/>
          </p:cNvCxnSpPr>
          <p:nvPr/>
        </p:nvCxnSpPr>
        <p:spPr bwMode="auto">
          <a:xfrm rot="16200000" flipV="1">
            <a:off x="7804309" y="3276759"/>
            <a:ext cx="936625" cy="865187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4" name="Straight Arrow Connector 19"/>
          <p:cNvCxnSpPr>
            <a:cxnSpLocks noChangeShapeType="1"/>
          </p:cNvCxnSpPr>
          <p:nvPr/>
        </p:nvCxnSpPr>
        <p:spPr bwMode="auto">
          <a:xfrm rot="16200000" flipV="1">
            <a:off x="8092440" y="3564891"/>
            <a:ext cx="865187" cy="360362"/>
          </a:xfrm>
          <a:prstGeom prst="straightConnector1">
            <a:avLst/>
          </a:pr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34819" name="Picture 3" descr="C:\Documents and Settings\liszka\Local Settings\Temporary Internet Files\Content.IE5\1G3WK4XC\MC90043386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55" y="1296035"/>
            <a:ext cx="18272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08505" y="3384550"/>
            <a:ext cx="9111615" cy="2541270"/>
          </a:xfrm>
        </p:spPr>
        <p:txBody>
          <a:bodyPr/>
          <a:lstStyle/>
          <a:p>
            <a:pPr>
              <a:defRPr/>
            </a:pPr>
            <a:r>
              <a:rPr lang="en-US" sz="4400" dirty="0"/>
              <a:t>Modifications to the von </a:t>
            </a:r>
            <a:r>
              <a:rPr lang="en-US" sz="4400" dirty="0" err="1"/>
              <a:t>neumann</a:t>
            </a:r>
            <a:r>
              <a:rPr lang="en-US" sz="4400" dirty="0"/>
              <a:t> model </a:t>
            </a:r>
            <a:r>
              <a:rPr lang="zh-CN" altLang="en-US" sz="4400" dirty="0"/>
              <a:t>（对冯诺依曼模型的改进）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Basics of caching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>
          <a:xfrm>
            <a:off x="1144270" y="1151890"/>
            <a:ext cx="5379085" cy="5523230"/>
          </a:xfrm>
        </p:spPr>
        <p:txBody>
          <a:bodyPr>
            <a:normAutofit fontScale="87500" lnSpcReduction="10000"/>
          </a:bodyPr>
          <a:lstStyle/>
          <a:p>
            <a:r>
              <a:rPr lang="en-US" altLang="en-US" b="0" dirty="0"/>
              <a:t>A collection of memory locations that can be accessed in less time than some other memory locations.</a:t>
            </a:r>
          </a:p>
          <a:p>
            <a:endParaRPr lang="en-US" altLang="en-US" b="0" dirty="0"/>
          </a:p>
          <a:p>
            <a:r>
              <a:rPr lang="en-US" altLang="en-US" b="0" dirty="0"/>
              <a:t>A CPU cache is typically located on the chip</a:t>
            </a:r>
            <a:r>
              <a:rPr lang="en-US" altLang="zh-CN" b="0" dirty="0"/>
              <a:t>set</a:t>
            </a:r>
            <a:r>
              <a:rPr lang="en-US" altLang="en-US" b="0" dirty="0"/>
              <a:t>, or one that can be accessed much faster than ordinary memory.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935153" y="7124700"/>
            <a:ext cx="4054475" cy="384175"/>
          </a:xfrm>
        </p:spPr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026" y="1152396"/>
            <a:ext cx="3235569" cy="26477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64896" y="4247887"/>
            <a:ext cx="51125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rectangle on the </a:t>
            </a:r>
            <a:r>
              <a:rPr lang="en-US" sz="2000" b="1" dirty="0"/>
              <a:t>left</a:t>
            </a:r>
            <a:r>
              <a:rPr lang="en-US" sz="2000" dirty="0"/>
              <a:t> is a CPU</a:t>
            </a:r>
          </a:p>
          <a:p>
            <a:r>
              <a:rPr lang="en-US" sz="2000" dirty="0"/>
              <a:t>The rectangle on the </a:t>
            </a:r>
            <a:r>
              <a:rPr lang="en-US" sz="2000" b="1" dirty="0"/>
              <a:t>right</a:t>
            </a:r>
            <a:r>
              <a:rPr lang="en-US" sz="2000" dirty="0"/>
              <a:t> is a (level 2) cache</a:t>
            </a:r>
          </a:p>
          <a:p>
            <a:endParaRPr lang="en-US" sz="2000" dirty="0"/>
          </a:p>
          <a:p>
            <a:r>
              <a:rPr lang="en-US" sz="2000" dirty="0"/>
              <a:t>A level 2 cache (L2 cache) is a CPU cache memory that is located outside and separate from the microprocessor chip core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Principle of locality</a:t>
            </a:r>
            <a:r>
              <a:rPr>
                <a:sym typeface="+mn-ea"/>
              </a:rPr>
              <a:t>（局部性）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Accessing one location is followed by an access of a nearby location.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Spatial locality </a:t>
            </a:r>
            <a:r>
              <a:rPr lang="zh-CN" altLang="en-US" b="0" dirty="0"/>
              <a:t>空间局部性</a:t>
            </a:r>
            <a:r>
              <a:rPr lang="en-US" altLang="en-US" b="0" dirty="0"/>
              <a:t> – accessing a nearby location.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Temporal locality </a:t>
            </a:r>
            <a:r>
              <a:rPr lang="zh-CN" altLang="en-US" b="0" dirty="0"/>
              <a:t>时间局部性</a:t>
            </a:r>
            <a:r>
              <a:rPr lang="en-US" altLang="en-US" b="0" dirty="0"/>
              <a:t> – accessing in the near future.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Principle of locality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288415" y="1872615"/>
            <a:ext cx="9812020" cy="330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dirty="0">
                <a:latin typeface="+mj-lt"/>
              </a:rPr>
              <a:t>float z[1000]; //</a:t>
            </a:r>
            <a:r>
              <a:rPr lang="zh-CN" altLang="en-US" sz="3600" dirty="0">
                <a:latin typeface="+mj-lt"/>
              </a:rPr>
              <a:t> </a:t>
            </a:r>
            <a:r>
              <a:rPr lang="en-US" altLang="zh-CN" sz="3600" i="1" dirty="0">
                <a:latin typeface="+mj-lt"/>
              </a:rPr>
              <a:t>how</a:t>
            </a:r>
            <a:r>
              <a:rPr lang="zh-CN" altLang="en-US" sz="3600" i="1" dirty="0">
                <a:latin typeface="+mj-lt"/>
              </a:rPr>
              <a:t> </a:t>
            </a:r>
            <a:r>
              <a:rPr lang="en-US" altLang="zh-CN" sz="3600" i="1" dirty="0">
                <a:latin typeface="+mj-lt"/>
              </a:rPr>
              <a:t>to store array in memory</a:t>
            </a:r>
            <a:endParaRPr lang="en-US" sz="3600" i="1" dirty="0">
              <a:latin typeface="+mj-lt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dirty="0">
                <a:latin typeface="+mj-lt"/>
              </a:rPr>
              <a:t>…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dirty="0">
                <a:latin typeface="+mj-lt"/>
              </a:rPr>
              <a:t>sum = 0.0;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dirty="0">
                <a:latin typeface="+mj-lt"/>
              </a:rPr>
              <a:t>for (</a:t>
            </a:r>
            <a:r>
              <a:rPr lang="en-US" sz="3600" dirty="0" err="1">
                <a:latin typeface="+mj-lt"/>
              </a:rPr>
              <a:t>i</a:t>
            </a:r>
            <a:r>
              <a:rPr lang="en-US" sz="3600" dirty="0">
                <a:latin typeface="+mj-lt"/>
              </a:rPr>
              <a:t> = 0; </a:t>
            </a:r>
            <a:r>
              <a:rPr lang="en-US" sz="3600" dirty="0" err="1">
                <a:latin typeface="+mj-lt"/>
              </a:rPr>
              <a:t>i</a:t>
            </a:r>
            <a:r>
              <a:rPr lang="en-US" sz="3600" dirty="0">
                <a:latin typeface="+mj-lt"/>
              </a:rPr>
              <a:t> &lt; 1000; </a:t>
            </a:r>
            <a:r>
              <a:rPr lang="en-US" sz="3600" dirty="0" err="1">
                <a:latin typeface="+mj-lt"/>
              </a:rPr>
              <a:t>i</a:t>
            </a:r>
            <a:r>
              <a:rPr lang="en-US" sz="3600" dirty="0">
                <a:latin typeface="+mj-lt"/>
              </a:rPr>
              <a:t>++)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dirty="0">
                <a:latin typeface="+mj-lt"/>
              </a:rPr>
              <a:t>   sum += z[</a:t>
            </a:r>
            <a:r>
              <a:rPr lang="en-US" sz="3600" dirty="0" err="1">
                <a:latin typeface="+mj-lt"/>
              </a:rPr>
              <a:t>i</a:t>
            </a:r>
            <a:r>
              <a:rPr lang="en-US" sz="3600" dirty="0">
                <a:latin typeface="+mj-lt"/>
              </a:rPr>
              <a:t>];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Levels of Cache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95" y="1017270"/>
            <a:ext cx="9994900" cy="5542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Cache Basics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285" y="982039"/>
            <a:ext cx="11289030" cy="5410835"/>
          </a:xfrm>
        </p:spPr>
        <p:txBody>
          <a:bodyPr/>
          <a:lstStyle/>
          <a:p>
            <a:r>
              <a:rPr lang="en-US" sz="2400" b="0" dirty="0"/>
              <a:t>Cache is fast (expensive) memory which keeps copy of data in main memory; hidden from software</a:t>
            </a:r>
          </a:p>
          <a:p>
            <a:pPr lvl="1"/>
            <a:r>
              <a:rPr lang="en-US" sz="2000" b="0" dirty="0"/>
              <a:t>Simplest example: data at memory address xxxxx1101 is stored at cache </a:t>
            </a:r>
            <a:r>
              <a:rPr lang="en-US" altLang="zh-CN" sz="2000" b="0" dirty="0"/>
              <a:t>address</a:t>
            </a:r>
            <a:r>
              <a:rPr lang="en-US" sz="2000" b="0" dirty="0"/>
              <a:t> 1101</a:t>
            </a:r>
          </a:p>
          <a:p>
            <a:r>
              <a:rPr lang="en-US" sz="2400" b="0" dirty="0"/>
              <a:t>Cache hit: in-cache memory access—cheap</a:t>
            </a:r>
          </a:p>
          <a:p>
            <a:r>
              <a:rPr lang="en-US" sz="2400" b="0" dirty="0"/>
              <a:t>Cache miss: non-cached memory access—expensive</a:t>
            </a:r>
          </a:p>
          <a:p>
            <a:pPr lvl="1"/>
            <a:r>
              <a:rPr lang="en-US" sz="2000" b="0" dirty="0"/>
              <a:t>Need to access next, slower level of cache</a:t>
            </a:r>
          </a:p>
          <a:p>
            <a:r>
              <a:rPr lang="en-US" sz="2400" b="0" dirty="0"/>
              <a:t>Cache line size: # of bytes loaded together </a:t>
            </a:r>
          </a:p>
          <a:p>
            <a:pPr lvl="1"/>
            <a:r>
              <a:rPr lang="en-US" sz="2000" b="0" dirty="0"/>
              <a:t>E.g. cache line size is 2. If either xxxxx1100 or xxxxx1101 is loaded, both are in one cache line</a:t>
            </a:r>
          </a:p>
          <a:p>
            <a:r>
              <a:rPr lang="en-US" sz="2400" b="0" dirty="0"/>
              <a:t>Associativity</a:t>
            </a:r>
          </a:p>
          <a:p>
            <a:pPr lvl="1"/>
            <a:r>
              <a:rPr lang="en-US" sz="2000" b="0" dirty="0"/>
              <a:t>direct-mapped: only 1 address (line) in a given range in cache</a:t>
            </a:r>
          </a:p>
          <a:p>
            <a:pPr lvl="2"/>
            <a:r>
              <a:rPr lang="en-US" sz="1800" b="0" dirty="0"/>
              <a:t>Data from any address xxxxx1101 stored at cache block 1101</a:t>
            </a:r>
          </a:p>
          <a:p>
            <a:pPr lvl="1"/>
            <a:r>
              <a:rPr lang="en-US" sz="2000" b="0" dirty="0"/>
              <a:t>n-way associate: n≥2 lines with different addresses can be stored</a:t>
            </a:r>
          </a:p>
          <a:p>
            <a:pPr lvl="1"/>
            <a:r>
              <a:rPr lang="en-US" sz="2000" b="0" dirty="0"/>
              <a:t>fully associative: data to be stored in any cache </a:t>
            </a:r>
            <a:r>
              <a:rPr lang="en-US" altLang="zh-CN" sz="2000" b="0" dirty="0"/>
              <a:t>address</a:t>
            </a:r>
            <a:r>
              <a:rPr lang="en-US" sz="2000" b="0" dirty="0"/>
              <a:t>, instead of forcing each memory address, e.g. xxxxx1101, into one particular </a:t>
            </a:r>
            <a:r>
              <a:rPr lang="en-US" altLang="zh-CN" sz="2000" b="0" dirty="0"/>
              <a:t>cache address</a:t>
            </a:r>
            <a:r>
              <a:rPr lang="en-US" sz="2000" b="0" dirty="0"/>
              <a:t>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 hit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79850" y="4608513"/>
            <a:ext cx="5832475" cy="720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887913" y="3600450"/>
            <a:ext cx="3816350" cy="5842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680075" y="2663825"/>
            <a:ext cx="2305050" cy="585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5753100" y="2663825"/>
            <a:ext cx="63976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L1</a:t>
            </a:r>
          </a:p>
        </p:txBody>
      </p:sp>
      <p:sp>
        <p:nvSpPr>
          <p:cNvPr id="11" name="TextBox 7"/>
          <p:cNvSpPr txBox="1"/>
          <p:nvPr/>
        </p:nvSpPr>
        <p:spPr>
          <a:xfrm>
            <a:off x="4960938" y="3600450"/>
            <a:ext cx="639762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L2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3952875" y="4679950"/>
            <a:ext cx="63976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L3</a:t>
            </a:r>
          </a:p>
        </p:txBody>
      </p:sp>
      <p:pic>
        <p:nvPicPr>
          <p:cNvPr id="39945" name="Picture 2" descr="C:\Documents and Settings\liszka\Local Settings\Temporary Internet Files\Content.IE5\5W39ONER\MC90043383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88" y="1152525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reeform 16"/>
          <p:cNvSpPr>
            <a:spLocks noChangeArrowheads="1"/>
          </p:cNvSpPr>
          <p:nvPr/>
        </p:nvSpPr>
        <p:spPr bwMode="auto">
          <a:xfrm>
            <a:off x="4583113" y="1795463"/>
            <a:ext cx="2379662" cy="711200"/>
          </a:xfrm>
          <a:custGeom>
            <a:avLst/>
            <a:gdLst>
              <a:gd name="T0" fmla="*/ 0 w 2380343"/>
              <a:gd name="T1" fmla="*/ 0 h 711200"/>
              <a:gd name="T2" fmla="*/ 1494972 w 2380343"/>
              <a:gd name="T3" fmla="*/ 130628 h 711200"/>
              <a:gd name="T4" fmla="*/ 2380343 w 2380343"/>
              <a:gd name="T5" fmla="*/ 711200 h 711200"/>
              <a:gd name="T6" fmla="*/ 0 60000 65536"/>
              <a:gd name="T7" fmla="*/ 0 60000 65536"/>
              <a:gd name="T8" fmla="*/ 0 60000 65536"/>
              <a:gd name="T9" fmla="*/ 0 w 2380343"/>
              <a:gd name="T10" fmla="*/ 0 h 711200"/>
              <a:gd name="T11" fmla="*/ 2380343 w 2380343"/>
              <a:gd name="T12" fmla="*/ 711200 h 71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80343" h="711200">
                <a:moveTo>
                  <a:pt x="0" y="0"/>
                </a:moveTo>
                <a:cubicBezTo>
                  <a:pt x="549123" y="6047"/>
                  <a:pt x="1098247" y="12095"/>
                  <a:pt x="1494971" y="130628"/>
                </a:cubicBezTo>
                <a:cubicBezTo>
                  <a:pt x="1891695" y="249161"/>
                  <a:pt x="2136019" y="480180"/>
                  <a:pt x="2380343" y="711200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4" name="TextBox 17"/>
          <p:cNvSpPr txBox="1"/>
          <p:nvPr/>
        </p:nvSpPr>
        <p:spPr>
          <a:xfrm>
            <a:off x="6761163" y="2736850"/>
            <a:ext cx="11747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x   sum</a:t>
            </a:r>
          </a:p>
        </p:txBody>
      </p:sp>
      <p:sp>
        <p:nvSpPr>
          <p:cNvPr id="15" name="TextBox 18"/>
          <p:cNvSpPr txBox="1"/>
          <p:nvPr/>
        </p:nvSpPr>
        <p:spPr>
          <a:xfrm>
            <a:off x="6545263" y="3671888"/>
            <a:ext cx="17526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y    z    total</a:t>
            </a:r>
          </a:p>
        </p:txBody>
      </p:sp>
      <p:sp>
        <p:nvSpPr>
          <p:cNvPr id="16" name="TextBox 20"/>
          <p:cNvSpPr txBox="1"/>
          <p:nvPr/>
        </p:nvSpPr>
        <p:spPr>
          <a:xfrm>
            <a:off x="5464175" y="4752975"/>
            <a:ext cx="34639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A[ ]   radius   r1    center</a:t>
            </a:r>
          </a:p>
        </p:txBody>
      </p:sp>
      <p:sp>
        <p:nvSpPr>
          <p:cNvPr id="17" name="TextBox 21"/>
          <p:cNvSpPr txBox="1"/>
          <p:nvPr/>
        </p:nvSpPr>
        <p:spPr>
          <a:xfrm>
            <a:off x="4816475" y="1871663"/>
            <a:ext cx="11747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+mj-lt"/>
              </a:rPr>
              <a:t>fetch  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 miss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3448685" y="4824413"/>
            <a:ext cx="5832475" cy="720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4456748" y="3816350"/>
            <a:ext cx="3816350" cy="5842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5248910" y="2879725"/>
            <a:ext cx="2305050" cy="585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321935" y="2879725"/>
            <a:ext cx="63976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9773" y="3816350"/>
            <a:ext cx="639762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1710" y="4895850"/>
            <a:ext cx="63976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dirty="0">
                <a:latin typeface="+mj-lt"/>
              </a:rPr>
              <a:t>L3</a:t>
            </a:r>
          </a:p>
        </p:txBody>
      </p:sp>
      <p:pic>
        <p:nvPicPr>
          <p:cNvPr id="40969" name="Picture 2" descr="C:\Documents and Settings\liszka\Local Settings\Temporary Internet Files\Content.IE5\5W39ONER\MC90043383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23" y="1368425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0" name="Freeform 16"/>
          <p:cNvSpPr>
            <a:spLocks noChangeArrowheads="1"/>
          </p:cNvSpPr>
          <p:nvPr/>
        </p:nvSpPr>
        <p:spPr bwMode="auto">
          <a:xfrm>
            <a:off x="4151948" y="2011363"/>
            <a:ext cx="2379662" cy="711200"/>
          </a:xfrm>
          <a:custGeom>
            <a:avLst/>
            <a:gdLst>
              <a:gd name="T0" fmla="*/ 0 w 2380343"/>
              <a:gd name="T1" fmla="*/ 0 h 711200"/>
              <a:gd name="T2" fmla="*/ 1494972 w 2380343"/>
              <a:gd name="T3" fmla="*/ 130628 h 711200"/>
              <a:gd name="T4" fmla="*/ 2380343 w 2380343"/>
              <a:gd name="T5" fmla="*/ 711200 h 711200"/>
              <a:gd name="T6" fmla="*/ 0 60000 65536"/>
              <a:gd name="T7" fmla="*/ 0 60000 65536"/>
              <a:gd name="T8" fmla="*/ 0 60000 65536"/>
              <a:gd name="T9" fmla="*/ 0 w 2380343"/>
              <a:gd name="T10" fmla="*/ 0 h 711200"/>
              <a:gd name="T11" fmla="*/ 2380343 w 2380343"/>
              <a:gd name="T12" fmla="*/ 711200 h 71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80343" h="711200">
                <a:moveTo>
                  <a:pt x="0" y="0"/>
                </a:moveTo>
                <a:cubicBezTo>
                  <a:pt x="549123" y="6047"/>
                  <a:pt x="1098247" y="12095"/>
                  <a:pt x="1494971" y="130628"/>
                </a:cubicBezTo>
                <a:cubicBezTo>
                  <a:pt x="1891695" y="249161"/>
                  <a:pt x="2136019" y="480180"/>
                  <a:pt x="2380343" y="711200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329998" y="2952750"/>
            <a:ext cx="11747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y  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4098" y="3887788"/>
            <a:ext cx="18732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r1    z   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3010" y="4968875"/>
            <a:ext cx="2935288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A[ ]   radius    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5310" y="2087563"/>
            <a:ext cx="11747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+mj-lt"/>
              </a:rPr>
              <a:t>fetch  x</a:t>
            </a:r>
          </a:p>
        </p:txBody>
      </p:sp>
      <p:sp>
        <p:nvSpPr>
          <p:cNvPr id="40975" name="Flowchart: Magnetic Disk 15"/>
          <p:cNvSpPr>
            <a:spLocks noChangeArrowheads="1"/>
          </p:cNvSpPr>
          <p:nvPr/>
        </p:nvSpPr>
        <p:spPr bwMode="auto">
          <a:xfrm>
            <a:off x="9138285" y="1439863"/>
            <a:ext cx="1008063" cy="1162050"/>
          </a:xfrm>
          <a:prstGeom prst="flowChartMagneticDisk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40976" name="Rectangle 19"/>
          <p:cNvSpPr>
            <a:spLocks noChangeArrowheads="1"/>
          </p:cNvSpPr>
          <p:nvPr/>
        </p:nvSpPr>
        <p:spPr bwMode="auto">
          <a:xfrm>
            <a:off x="9497060" y="20161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3177FF"/>
                </a:solidFill>
                <a:latin typeface="Arial" panose="020B0604020202020204" pitchFamily="34" charset="0"/>
              </a:rPr>
              <a:t>x</a:t>
            </a:r>
            <a:endParaRPr lang="en-US" altLang="en-US"/>
          </a:p>
        </p:txBody>
      </p:sp>
      <p:sp>
        <p:nvSpPr>
          <p:cNvPr id="40977" name="Rectangle 22"/>
          <p:cNvSpPr>
            <a:spLocks noChangeArrowheads="1"/>
          </p:cNvSpPr>
          <p:nvPr/>
        </p:nvSpPr>
        <p:spPr bwMode="auto">
          <a:xfrm>
            <a:off x="9138285" y="2592388"/>
            <a:ext cx="11509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algn="ctr"/>
            <a:r>
              <a:rPr lang="en-US" altLang="en-US" sz="2000">
                <a:latin typeface="Arial" panose="020B0604020202020204" pitchFamily="34" charset="0"/>
              </a:rPr>
              <a:t>main</a:t>
            </a:r>
          </a:p>
          <a:p>
            <a:pPr algn="ctr"/>
            <a:r>
              <a:rPr lang="en-US" altLang="en-US" sz="2000">
                <a:latin typeface="Arial" panose="020B0604020202020204" pitchFamily="34" charset="0"/>
              </a:rPr>
              <a:t>memory</a:t>
            </a:r>
            <a:endParaRPr lang="en-US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Issues with cache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539750" y="1052830"/>
            <a:ext cx="11495405" cy="5587365"/>
          </a:xfrm>
        </p:spPr>
        <p:txBody>
          <a:bodyPr/>
          <a:lstStyle/>
          <a:p>
            <a:r>
              <a:rPr lang="en-US" altLang="en-US" sz="3200" b="0" dirty="0"/>
              <a:t>When a CPU writes data to cache, the value in cache may be inconsistent with the value in main memory.</a:t>
            </a:r>
          </a:p>
          <a:p>
            <a:r>
              <a:rPr lang="en-US" altLang="en-US" sz="3200" b="0" dirty="0"/>
              <a:t>Write-through </a:t>
            </a:r>
            <a:r>
              <a:rPr lang="zh-CN" altLang="en-US" sz="3200" b="0" dirty="0"/>
              <a:t>（写直达）</a:t>
            </a:r>
            <a:r>
              <a:rPr lang="en-US" altLang="en-US" sz="3200" b="0" dirty="0"/>
              <a:t>caches handle this by updating the data in main memory at the time it is written to cache.</a:t>
            </a:r>
          </a:p>
          <a:p>
            <a:r>
              <a:rPr lang="en-US" altLang="en-US" sz="3200" b="0" dirty="0"/>
              <a:t>Write-back</a:t>
            </a:r>
            <a:r>
              <a:rPr lang="zh-CN" altLang="en-US" sz="3200" b="0" dirty="0"/>
              <a:t>（写回）</a:t>
            </a:r>
            <a:r>
              <a:rPr lang="en-US" altLang="en-US" sz="3200" b="0" dirty="0"/>
              <a:t> caches mark data in the cache as </a:t>
            </a:r>
            <a:r>
              <a:rPr lang="en-US" altLang="en-US" sz="3200" b="0" dirty="0">
                <a:solidFill>
                  <a:srgbClr val="C00000"/>
                </a:solidFill>
              </a:rPr>
              <a:t>dirty</a:t>
            </a:r>
            <a:r>
              <a:rPr lang="en-US" altLang="en-US" sz="3200" b="0" dirty="0"/>
              <a:t>. When the cache line is replaced by a new cache line from memory, the </a:t>
            </a:r>
            <a:r>
              <a:rPr lang="en-US" altLang="en-US" sz="3200" b="0" dirty="0">
                <a:solidFill>
                  <a:srgbClr val="C00000"/>
                </a:solidFill>
              </a:rPr>
              <a:t>dirty</a:t>
            </a:r>
            <a:r>
              <a:rPr lang="en-US" altLang="en-US" sz="3200" b="0" dirty="0"/>
              <a:t> line is written to memory.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 mappings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684530" y="981075"/>
            <a:ext cx="11188700" cy="5749290"/>
          </a:xfrm>
        </p:spPr>
        <p:txBody>
          <a:bodyPr/>
          <a:lstStyle/>
          <a:p>
            <a:r>
              <a:rPr lang="en-US" altLang="en-US" sz="3200" b="0" dirty="0"/>
              <a:t>Full associative </a:t>
            </a:r>
            <a:r>
              <a:rPr lang="zh-CN" altLang="en-US" sz="3200" b="0" dirty="0"/>
              <a:t>（全相联）</a:t>
            </a:r>
            <a:r>
              <a:rPr lang="en-US" altLang="en-US" sz="3200" b="0" dirty="0"/>
              <a:t>– a new line can be placed at any location in the cache.</a:t>
            </a:r>
            <a:br>
              <a:rPr lang="en-US" altLang="en-US" sz="3200" b="0" dirty="0"/>
            </a:br>
            <a:endParaRPr lang="en-US" altLang="en-US" sz="3200" b="0" dirty="0"/>
          </a:p>
          <a:p>
            <a:r>
              <a:rPr lang="en-US" altLang="en-US" sz="3200" b="0" dirty="0"/>
              <a:t>Direct mapped </a:t>
            </a:r>
            <a:r>
              <a:rPr lang="zh-CN" altLang="en-US" sz="3200" b="0" dirty="0"/>
              <a:t>（直接映射）</a:t>
            </a:r>
            <a:r>
              <a:rPr lang="en-US" altLang="en-US" sz="3200" b="0" dirty="0"/>
              <a:t>– each cache line has a unique location in the cache to which it will be assigned.</a:t>
            </a:r>
            <a:br>
              <a:rPr lang="en-US" altLang="en-US" sz="3200" b="0" dirty="0"/>
            </a:br>
            <a:endParaRPr lang="en-US" altLang="en-US" sz="3200" b="0" dirty="0"/>
          </a:p>
          <a:p>
            <a:r>
              <a:rPr lang="en-US" altLang="en-US" sz="3200" b="0" i="1" dirty="0"/>
              <a:t>n</a:t>
            </a:r>
            <a:r>
              <a:rPr lang="en-US" altLang="en-US" sz="3200" b="0" dirty="0"/>
              <a:t>-way set associative</a:t>
            </a:r>
            <a:r>
              <a:rPr lang="zh-CN" altLang="en-US" sz="3200" b="0" dirty="0"/>
              <a:t>（</a:t>
            </a:r>
            <a:r>
              <a:rPr lang="en-US" altLang="zh-CN" sz="3200" b="0" dirty="0"/>
              <a:t>n</a:t>
            </a:r>
            <a:r>
              <a:rPr lang="zh-CN" altLang="en-US" sz="3200" b="0" dirty="0"/>
              <a:t>路组相联）</a:t>
            </a:r>
            <a:r>
              <a:rPr lang="en-US" altLang="en-US" sz="3200" b="0" dirty="0"/>
              <a:t> – each cache line can be place in one of </a:t>
            </a:r>
            <a:r>
              <a:rPr lang="en-US" altLang="en-US" sz="3200" b="0" i="1" dirty="0"/>
              <a:t>n</a:t>
            </a:r>
            <a:r>
              <a:rPr lang="en-US" altLang="en-US" sz="3200" b="0" dirty="0"/>
              <a:t> different locations in the cache.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ym typeface="+mn-ea"/>
              </a:rPr>
              <a:t>n</a:t>
            </a:r>
            <a:r>
              <a:rPr lang="en-US" dirty="0">
                <a:sym typeface="+mn-ea"/>
              </a:rPr>
              <a:t>-way set associative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en-US" b="0" dirty="0"/>
              <a:t>n</a:t>
            </a:r>
            <a:r>
              <a:rPr lang="zh-CN" altLang="en-US" b="0" dirty="0"/>
              <a:t>路组相联</a:t>
            </a:r>
            <a:r>
              <a:rPr lang="zh-CN" altLang="en-US" dirty="0">
                <a:sym typeface="+mn-ea"/>
              </a:rPr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216005" cy="5548630"/>
          </a:xfrm>
        </p:spPr>
        <p:txBody>
          <a:bodyPr/>
          <a:lstStyle/>
          <a:p>
            <a:r>
              <a:rPr lang="en-US" altLang="en-US" sz="3200" b="0" dirty="0"/>
              <a:t>When more than one line in memory can be mapped to several different locations in cache we also need to be able to decide which line should be replaced or </a:t>
            </a:r>
            <a:r>
              <a:rPr lang="en-US" altLang="en-US" sz="3200" b="0" dirty="0">
                <a:solidFill>
                  <a:srgbClr val="C00000"/>
                </a:solidFill>
              </a:rPr>
              <a:t>evicted</a:t>
            </a:r>
            <a:r>
              <a:rPr lang="zh-CN" altLang="en-US" sz="3200" b="0" dirty="0">
                <a:solidFill>
                  <a:srgbClr val="C00000"/>
                </a:solidFill>
              </a:rPr>
              <a:t>（驱逐）</a:t>
            </a:r>
            <a:r>
              <a:rPr lang="en-US" altLang="en-US" sz="3200" b="0" dirty="0"/>
              <a:t>.</a:t>
            </a:r>
          </a:p>
        </p:txBody>
      </p:sp>
      <p:grpSp>
        <p:nvGrpSpPr>
          <p:cNvPr id="44036" name="Group 7"/>
          <p:cNvGrpSpPr/>
          <p:nvPr/>
        </p:nvGrpSpPr>
        <p:grpSpPr bwMode="auto">
          <a:xfrm>
            <a:off x="8705215" y="3312795"/>
            <a:ext cx="2551430" cy="2756535"/>
            <a:chOff x="6365476" y="3501008"/>
            <a:chExt cx="2134619" cy="2370212"/>
          </a:xfrm>
        </p:grpSpPr>
        <p:pic>
          <p:nvPicPr>
            <p:cNvPr id="44038" name="Picture 2" descr="C:\Documents and Settings\liszka\Local Settings\Temporary Internet Files\Content.IE5\3X5GU20H\MC900078823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5476" y="3501008"/>
              <a:ext cx="2134619" cy="237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39" name="Rectangle 6"/>
            <p:cNvSpPr>
              <a:spLocks noChangeArrowheads="1"/>
            </p:cNvSpPr>
            <p:nvPr/>
          </p:nvSpPr>
          <p:spPr bwMode="auto">
            <a:xfrm>
              <a:off x="7020272" y="4005064"/>
              <a:ext cx="216024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en-GB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Example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440" y="1080135"/>
            <a:ext cx="4918710" cy="469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592830" y="5760720"/>
            <a:ext cx="521081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+mj-lt"/>
              </a:rPr>
              <a:t>Table 2.1: Assignments of a 16-line main memory to a 4-line cache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Caches and programs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385" y="1642745"/>
            <a:ext cx="5788025" cy="449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755" y="3096260"/>
            <a:ext cx="6556375" cy="199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Virtual memory </a:t>
            </a:r>
            <a:r>
              <a:rPr>
                <a:sym typeface="+mn-ea"/>
              </a:rPr>
              <a:t>虚拟存储器</a:t>
            </a:r>
            <a:r>
              <a:rPr lang="en-US">
                <a:sym typeface="+mn-ea"/>
              </a:rPr>
              <a:t>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710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If we run a very large program or a program that accesses very large data sets, all of the instructions and data may not fit into main memory.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Virtual memory functions as a cache for secondary storage.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Virtual memory</a:t>
            </a:r>
            <a:r>
              <a:rPr>
                <a:sym typeface="+mn-ea"/>
              </a:rPr>
              <a:t>虚拟存储器</a:t>
            </a:r>
            <a:r>
              <a:rPr lang="en-US">
                <a:sym typeface="+mn-ea"/>
              </a:rPr>
              <a:t>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It exploits the principle of spatial and temporal locality.</a:t>
            </a:r>
          </a:p>
          <a:p>
            <a:endParaRPr lang="en-US" altLang="en-US" b="0"/>
          </a:p>
          <a:p>
            <a:r>
              <a:rPr lang="en-US" altLang="en-US" b="0"/>
              <a:t>It only keeps the active parts of running programs in main memory.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Virtual memory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Swap space </a:t>
            </a:r>
            <a:r>
              <a:rPr lang="zh-CN" altLang="en-US" b="0" dirty="0"/>
              <a:t>交换空间</a:t>
            </a:r>
            <a:r>
              <a:rPr lang="en-US" altLang="en-US" b="0" dirty="0"/>
              <a:t>- those parts that are idle are kept in a block of secondary storage.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Pages – blocks of data and instructions.</a:t>
            </a:r>
          </a:p>
          <a:p>
            <a:pPr lvl="1"/>
            <a:r>
              <a:rPr lang="en-US" altLang="en-US" b="0" dirty="0"/>
              <a:t>Usually these are relatively large.</a:t>
            </a:r>
          </a:p>
          <a:p>
            <a:pPr lvl="1"/>
            <a:r>
              <a:rPr lang="en-US" altLang="en-US" b="0" dirty="0"/>
              <a:t>Most systems have a fixed page </a:t>
            </a:r>
            <a:br>
              <a:rPr lang="en-US" altLang="en-US" b="0" dirty="0"/>
            </a:br>
            <a:r>
              <a:rPr lang="en-US" altLang="en-US" b="0" dirty="0"/>
              <a:t>size that currently ranges from </a:t>
            </a:r>
            <a:br>
              <a:rPr lang="en-US" altLang="en-US" b="0" dirty="0"/>
            </a:br>
            <a:r>
              <a:rPr lang="en-US" altLang="en-US" b="0" dirty="0"/>
              <a:t>4 to 16 kilobytes.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Virtual memory (4)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5058" name="Documents"/>
          <p:cNvSpPr>
            <a:spLocks noEditPoints="1" noChangeArrowheads="1"/>
          </p:cNvSpPr>
          <p:nvPr/>
        </p:nvSpPr>
        <p:spPr bwMode="auto">
          <a:xfrm>
            <a:off x="2800350" y="1728470"/>
            <a:ext cx="1036638" cy="1265238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3" name="Documents"/>
          <p:cNvSpPr>
            <a:spLocks noEditPoints="1" noChangeArrowheads="1"/>
          </p:cNvSpPr>
          <p:nvPr/>
        </p:nvSpPr>
        <p:spPr bwMode="auto">
          <a:xfrm>
            <a:off x="2081213" y="3744595"/>
            <a:ext cx="1035050" cy="1265238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5" name="Documents"/>
          <p:cNvSpPr>
            <a:spLocks noEditPoints="1" noChangeArrowheads="1"/>
          </p:cNvSpPr>
          <p:nvPr/>
        </p:nvSpPr>
        <p:spPr bwMode="auto">
          <a:xfrm>
            <a:off x="4024313" y="4752658"/>
            <a:ext cx="1036637" cy="1265237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5888" y="1296670"/>
            <a:ext cx="136683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program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8188" y="3239770"/>
            <a:ext cx="1381125" cy="4016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program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1438" y="4249420"/>
            <a:ext cx="13938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program C</a:t>
            </a:r>
          </a:p>
        </p:txBody>
      </p:sp>
      <p:sp>
        <p:nvSpPr>
          <p:cNvPr id="45059" name="Document"/>
          <p:cNvSpPr>
            <a:spLocks noEditPoints="1" noChangeArrowheads="1"/>
          </p:cNvSpPr>
          <p:nvPr/>
        </p:nvSpPr>
        <p:spPr bwMode="auto">
          <a:xfrm>
            <a:off x="8056563" y="1799908"/>
            <a:ext cx="1568450" cy="3673475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056563" y="1296670"/>
            <a:ext cx="17367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main memory</a:t>
            </a:r>
          </a:p>
        </p:txBody>
      </p:sp>
      <p:cxnSp>
        <p:nvCxnSpPr>
          <p:cNvPr id="50187" name="Straight Connector 11"/>
          <p:cNvCxnSpPr>
            <a:cxnSpLocks noChangeShapeType="1"/>
          </p:cNvCxnSpPr>
          <p:nvPr/>
        </p:nvCxnSpPr>
        <p:spPr bwMode="auto">
          <a:xfrm>
            <a:off x="8056563" y="2736533"/>
            <a:ext cx="16573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8" name="Straight Connector 13"/>
          <p:cNvCxnSpPr>
            <a:cxnSpLocks noChangeShapeType="1"/>
          </p:cNvCxnSpPr>
          <p:nvPr/>
        </p:nvCxnSpPr>
        <p:spPr bwMode="auto">
          <a:xfrm>
            <a:off x="8056563" y="3673158"/>
            <a:ext cx="16573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9" name="Rectangle 15"/>
          <p:cNvSpPr>
            <a:spLocks noChangeArrowheads="1"/>
          </p:cNvSpPr>
          <p:nvPr/>
        </p:nvSpPr>
        <p:spPr bwMode="auto">
          <a:xfrm>
            <a:off x="8056563" y="2665095"/>
            <a:ext cx="1584325" cy="1150938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cxnSp>
        <p:nvCxnSpPr>
          <p:cNvPr id="50190" name="Straight Arrow Connector 17"/>
          <p:cNvCxnSpPr>
            <a:cxnSpLocks noChangeShapeType="1"/>
          </p:cNvCxnSpPr>
          <p:nvPr/>
        </p:nvCxnSpPr>
        <p:spPr bwMode="auto">
          <a:xfrm>
            <a:off x="4097338" y="2160270"/>
            <a:ext cx="4248150" cy="10080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Straight Arrow Connector 19"/>
          <p:cNvCxnSpPr>
            <a:cxnSpLocks noChangeShapeType="1"/>
          </p:cNvCxnSpPr>
          <p:nvPr/>
        </p:nvCxnSpPr>
        <p:spPr bwMode="auto">
          <a:xfrm flipV="1">
            <a:off x="3521075" y="3384233"/>
            <a:ext cx="4824413" cy="720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Straight Arrow Connector 21"/>
          <p:cNvCxnSpPr>
            <a:cxnSpLocks noChangeShapeType="1"/>
          </p:cNvCxnSpPr>
          <p:nvPr/>
        </p:nvCxnSpPr>
        <p:spPr bwMode="auto">
          <a:xfrm flipV="1">
            <a:off x="5392738" y="3673158"/>
            <a:ext cx="3024187" cy="15843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Virtual page numbers</a:t>
            </a:r>
            <a:r>
              <a:rPr>
                <a:sym typeface="+mn-ea"/>
              </a:rPr>
              <a:t>（虚拟页号）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When a program is compiled its pages are assigned </a:t>
            </a:r>
            <a:r>
              <a:rPr lang="en-US" altLang="en-US" b="0" i="1" dirty="0">
                <a:solidFill>
                  <a:srgbClr val="3399FF"/>
                </a:solidFill>
              </a:rPr>
              <a:t>virtual</a:t>
            </a:r>
            <a:r>
              <a:rPr lang="en-US" altLang="en-US" b="0" dirty="0"/>
              <a:t> page numbers.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When the program is run, a table is created that maps the virtual page numbers to physical addresses.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A page table is used to translate the virtual address into a physical address.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Page table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3448685" y="4464685"/>
            <a:ext cx="62452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+mj-lt"/>
              </a:rPr>
              <a:t>Table 2.2: Virtual Address Divided into Virtual Page Number and Byte Offset</a:t>
            </a:r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440180"/>
            <a:ext cx="8492490" cy="2704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Translation-lookaside buffer (TLB)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3250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Using a page table has the potential to significantly increase each program’s overall run-time.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A special address translation cache in the processor.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Translation-lookaside buffer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It caches a small number of entries (typically 16–512) from the page table in very fast memory.</a:t>
            </a:r>
          </a:p>
          <a:p>
            <a:endParaRPr lang="en-US" altLang="en-US" b="0" dirty="0"/>
          </a:p>
          <a:p>
            <a:r>
              <a:rPr lang="en-US" altLang="en-US" b="0" dirty="0"/>
              <a:t>Page fault </a:t>
            </a:r>
            <a:r>
              <a:rPr lang="zh-CN" altLang="en-US" b="0" dirty="0"/>
              <a:t>页面失效</a:t>
            </a:r>
            <a:r>
              <a:rPr lang="en-US" altLang="en-US" b="0" dirty="0"/>
              <a:t>– attempting to access a valid physical address for a page in the page table but the page is only stored on disk.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72-981A-B345-8FE6-7483F1F2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67" y="2304306"/>
            <a:ext cx="11233328" cy="575776"/>
          </a:xfrm>
        </p:spPr>
        <p:txBody>
          <a:bodyPr/>
          <a:lstStyle/>
          <a:p>
            <a:r>
              <a:rPr lang="en-US" dirty="0">
                <a:sym typeface="+mn-ea"/>
              </a:rPr>
              <a:t>Instruction Level Parallelism (ILP)</a:t>
            </a:r>
            <a:br>
              <a:rPr lang="en-US" dirty="0">
                <a:sym typeface="+mn-ea"/>
              </a:rPr>
            </a:br>
            <a:br>
              <a:rPr lang="en-US" dirty="0">
                <a:sym typeface="+mn-ea"/>
              </a:rPr>
            </a:br>
            <a:r>
              <a:rPr lang="en-US" dirty="0" err="1">
                <a:sym typeface="+mn-ea"/>
              </a:rPr>
              <a:t>指令级并行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4B43E-6964-9044-8ACA-18F425A2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914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Instruction Level Parallelism (ILP)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Attempts to improve processor performance by having multiple processor components or functional units </a:t>
            </a:r>
            <a:r>
              <a:rPr lang="zh-CN" altLang="en-US" b="0" dirty="0"/>
              <a:t>功能单元</a:t>
            </a:r>
            <a:r>
              <a:rPr lang="en-US" altLang="en-US" b="0" dirty="0"/>
              <a:t> simultaneously executing instructions.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Instruction Level Parallelism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Pipelining </a:t>
            </a:r>
            <a:r>
              <a:rPr lang="zh-CN" altLang="en-US" b="0" dirty="0"/>
              <a:t>流水线</a:t>
            </a:r>
            <a:r>
              <a:rPr lang="en-US" altLang="en-US" b="0" dirty="0"/>
              <a:t> - functional units are arranged in stages.</a:t>
            </a:r>
          </a:p>
          <a:p>
            <a:endParaRPr lang="en-US" altLang="en-US" b="0" dirty="0"/>
          </a:p>
          <a:p>
            <a:r>
              <a:rPr lang="en-US" altLang="en-US" b="0" dirty="0"/>
              <a:t>Multiple issue </a:t>
            </a:r>
            <a:r>
              <a:rPr lang="zh-CN" altLang="en-US" b="0" dirty="0"/>
              <a:t>多发射 </a:t>
            </a:r>
            <a:r>
              <a:rPr lang="en-US" altLang="en-US" b="0" dirty="0"/>
              <a:t>- multiple instructions can be simultaneously initiated.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0" name="Line 3"/>
          <p:cNvSpPr>
            <a:spLocks noChangeShapeType="1"/>
          </p:cNvSpPr>
          <p:nvPr/>
        </p:nvSpPr>
        <p:spPr bwMode="auto">
          <a:xfrm>
            <a:off x="9224010" y="403677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210435" y="1102995"/>
            <a:ext cx="20638" cy="20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442210" y="1064970"/>
            <a:ext cx="7858125" cy="763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8339485" y="1060208"/>
            <a:ext cx="1076899" cy="70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Memory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Access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9605010" y="1064970"/>
            <a:ext cx="838200" cy="705321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Write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773037" y="1060208"/>
            <a:ext cx="1314785" cy="70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Fetch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4526444" y="1064970"/>
            <a:ext cx="1541770" cy="70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Instr. Decode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Reg. Fetch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6574473" y="1060208"/>
            <a:ext cx="1427162" cy="70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Execute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Addr. Calc</a:t>
            </a:r>
          </a:p>
        </p:txBody>
      </p:sp>
      <p:grpSp>
        <p:nvGrpSpPr>
          <p:cNvPr id="18" name="Group 11"/>
          <p:cNvGrpSpPr/>
          <p:nvPr/>
        </p:nvGrpSpPr>
        <p:grpSpPr bwMode="auto">
          <a:xfrm>
            <a:off x="7319016" y="3122370"/>
            <a:ext cx="454026" cy="1095375"/>
            <a:chOff x="3360" y="2112"/>
            <a:chExt cx="286" cy="816"/>
          </a:xfrm>
        </p:grpSpPr>
        <p:grpSp>
          <p:nvGrpSpPr>
            <p:cNvPr id="19" name="Group 12"/>
            <p:cNvGrpSpPr/>
            <p:nvPr/>
          </p:nvGrpSpPr>
          <p:grpSpPr bwMode="auto">
            <a:xfrm>
              <a:off x="3360" y="2112"/>
              <a:ext cx="286" cy="816"/>
              <a:chOff x="3360" y="2112"/>
              <a:chExt cx="286" cy="816"/>
            </a:xfrm>
          </p:grpSpPr>
          <p:sp>
            <p:nvSpPr>
              <p:cNvPr id="21" name="AutoShape 13"/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endParaRPr lang="en-US" sz="2000"/>
              </a:p>
            </p:txBody>
          </p:sp>
          <p:sp>
            <p:nvSpPr>
              <p:cNvPr id="22" name="AutoShape 14"/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3" name="Text Box 15"/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93" y="2405"/>
                <a:ext cx="454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>
                    <a:solidFill>
                      <a:schemeClr val="tx1"/>
                    </a:solidFill>
                    <a:latin typeface="+mn-lt"/>
                  </a:rPr>
                  <a:t>ALU</a:t>
                </a:r>
                <a:endParaRPr lang="en-US" sz="105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sp>
          <p:nvSpPr>
            <p:cNvPr id="20" name="Freeform 16"/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0 h 288"/>
                <a:gd name="T2" fmla="*/ 1 w 384"/>
                <a:gd name="T3" fmla="*/ 0 h 288"/>
                <a:gd name="T4" fmla="*/ 1 w 384"/>
                <a:gd name="T5" fmla="*/ 0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3128010" y="3122370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2000" b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25" name="Freeform 18"/>
          <p:cNvSpPr/>
          <p:nvPr/>
        </p:nvSpPr>
        <p:spPr bwMode="auto">
          <a:xfrm>
            <a:off x="7793673" y="2400058"/>
            <a:ext cx="922337" cy="365125"/>
          </a:xfrm>
          <a:custGeom>
            <a:avLst/>
            <a:gdLst>
              <a:gd name="T0" fmla="*/ 0 w 576"/>
              <a:gd name="T1" fmla="*/ 2147483647 h 240"/>
              <a:gd name="T2" fmla="*/ 2147483647 w 576"/>
              <a:gd name="T3" fmla="*/ 2147483647 h 240"/>
              <a:gd name="T4" fmla="*/ 2147483647 w 576"/>
              <a:gd name="T5" fmla="*/ 0 h 240"/>
              <a:gd name="T6" fmla="*/ 0 60000 65536"/>
              <a:gd name="T7" fmla="*/ 0 60000 65536"/>
              <a:gd name="T8" fmla="*/ 0 60000 65536"/>
              <a:gd name="T9" fmla="*/ 0 w 576"/>
              <a:gd name="T10" fmla="*/ 0 h 240"/>
              <a:gd name="T11" fmla="*/ 576 w 576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0">
                <a:moveTo>
                  <a:pt x="0" y="240"/>
                </a:moveTo>
                <a:lnTo>
                  <a:pt x="576" y="240"/>
                </a:lnTo>
                <a:lnTo>
                  <a:pt x="57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5414010" y="2869958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2000" b="0">
                <a:solidFill>
                  <a:schemeClr val="tx1"/>
                </a:solidFill>
              </a:rPr>
              <a:t>Reg File</a:t>
            </a:r>
          </a:p>
        </p:txBody>
      </p:sp>
      <p:sp>
        <p:nvSpPr>
          <p:cNvPr id="27" name="Oval 20"/>
          <p:cNvSpPr>
            <a:spLocks noChangeArrowheads="1"/>
          </p:cNvSpPr>
          <p:nvPr/>
        </p:nvSpPr>
        <p:spPr bwMode="auto">
          <a:xfrm>
            <a:off x="6879273" y="3069983"/>
            <a:ext cx="209550" cy="5524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vert="eaVert" wrap="none" anchor="ctr"/>
          <a:lstStyle/>
          <a:p>
            <a:pPr algn="ctr"/>
            <a:r>
              <a:rPr lang="en-US" b="0">
                <a:solidFill>
                  <a:schemeClr val="tx1"/>
                </a:solidFill>
              </a:rPr>
              <a:t>MUX</a:t>
            </a:r>
            <a:endParaRPr lang="en-US" sz="2000" b="0">
              <a:solidFill>
                <a:schemeClr val="tx1"/>
              </a:solidFill>
            </a:endParaRPr>
          </a:p>
        </p:txBody>
      </p:sp>
      <p:sp>
        <p:nvSpPr>
          <p:cNvPr id="28" name="Oval 21"/>
          <p:cNvSpPr>
            <a:spLocks noChangeArrowheads="1"/>
          </p:cNvSpPr>
          <p:nvPr/>
        </p:nvSpPr>
        <p:spPr bwMode="auto">
          <a:xfrm>
            <a:off x="6879273" y="3679583"/>
            <a:ext cx="209550" cy="5524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vert="eaVert" wrap="none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MUX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9" name="Freeform 22"/>
          <p:cNvSpPr/>
          <p:nvPr/>
        </p:nvSpPr>
        <p:spPr bwMode="auto">
          <a:xfrm>
            <a:off x="6557010" y="2765183"/>
            <a:ext cx="750888" cy="661987"/>
          </a:xfrm>
          <a:custGeom>
            <a:avLst/>
            <a:gdLst>
              <a:gd name="T0" fmla="*/ 0 w 336"/>
              <a:gd name="T1" fmla="*/ 2147483647 h 480"/>
              <a:gd name="T2" fmla="*/ 0 w 336"/>
              <a:gd name="T3" fmla="*/ 0 h 480"/>
              <a:gd name="T4" fmla="*/ 2147483647 w 336"/>
              <a:gd name="T5" fmla="*/ 0 h 480"/>
              <a:gd name="T6" fmla="*/ 0 60000 65536"/>
              <a:gd name="T7" fmla="*/ 0 60000 65536"/>
              <a:gd name="T8" fmla="*/ 0 60000 65536"/>
              <a:gd name="T9" fmla="*/ 0 w 336"/>
              <a:gd name="T10" fmla="*/ 0 h 480"/>
              <a:gd name="T11" fmla="*/ 336 w 33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480">
                <a:moveTo>
                  <a:pt x="0" y="480"/>
                </a:moveTo>
                <a:lnTo>
                  <a:pt x="0" y="0"/>
                </a:lnTo>
                <a:lnTo>
                  <a:pt x="33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8708073" y="3450983"/>
            <a:ext cx="533400" cy="11430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2000" b="0">
                <a:solidFill>
                  <a:schemeClr val="tx1"/>
                </a:solidFill>
              </a:rPr>
              <a:t>Data</a:t>
            </a:r>
          </a:p>
          <a:p>
            <a:pPr algn="ctr">
              <a:lnSpc>
                <a:spcPct val="80000"/>
              </a:lnSpc>
            </a:pPr>
            <a:r>
              <a:rPr lang="en-US" sz="2000" b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1" name="Oval 24"/>
          <p:cNvSpPr>
            <a:spLocks noChangeArrowheads="1"/>
          </p:cNvSpPr>
          <p:nvPr/>
        </p:nvSpPr>
        <p:spPr bwMode="auto">
          <a:xfrm>
            <a:off x="9909810" y="3960570"/>
            <a:ext cx="209550" cy="5524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vert="eaVert" wrap="none" anchor="ctr"/>
          <a:lstStyle/>
          <a:p>
            <a:pPr algn="ctr"/>
            <a:r>
              <a:rPr lang="en-US" b="0">
                <a:solidFill>
                  <a:schemeClr val="tx1"/>
                </a:solidFill>
              </a:rPr>
              <a:t>MUX</a:t>
            </a:r>
            <a:endParaRPr lang="en-US" sz="2000" b="0">
              <a:solidFill>
                <a:schemeClr val="tx1"/>
              </a:solidFill>
            </a:endParaRPr>
          </a:p>
        </p:txBody>
      </p:sp>
      <p:sp>
        <p:nvSpPr>
          <p:cNvPr id="32" name="Oval 25"/>
          <p:cNvSpPr>
            <a:spLocks noChangeArrowheads="1"/>
          </p:cNvSpPr>
          <p:nvPr/>
        </p:nvSpPr>
        <p:spPr bwMode="auto">
          <a:xfrm>
            <a:off x="5414010" y="4430470"/>
            <a:ext cx="447675" cy="6762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Sign</a:t>
            </a:r>
          </a:p>
          <a:p>
            <a:pPr algn="ctr"/>
            <a:r>
              <a:rPr lang="en-US" sz="1050">
                <a:solidFill>
                  <a:schemeClr val="tx1"/>
                </a:solidFill>
              </a:rPr>
              <a:t>Extend</a:t>
            </a:r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3890010" y="357957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4499610" y="357957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5" name="Freeform 32"/>
          <p:cNvSpPr/>
          <p:nvPr/>
        </p:nvSpPr>
        <p:spPr bwMode="auto">
          <a:xfrm>
            <a:off x="4728210" y="3041408"/>
            <a:ext cx="685800" cy="1757362"/>
          </a:xfrm>
          <a:custGeom>
            <a:avLst/>
            <a:gdLst>
              <a:gd name="T0" fmla="*/ 0 w 480"/>
              <a:gd name="T1" fmla="*/ 0 h 1056"/>
              <a:gd name="T2" fmla="*/ 0 w 480"/>
              <a:gd name="T3" fmla="*/ 2147483647 h 1056"/>
              <a:gd name="T4" fmla="*/ 2147483647 w 480"/>
              <a:gd name="T5" fmla="*/ 2147483647 h 1056"/>
              <a:gd name="T6" fmla="*/ 0 60000 65536"/>
              <a:gd name="T7" fmla="*/ 0 60000 65536"/>
              <a:gd name="T8" fmla="*/ 0 60000 65536"/>
              <a:gd name="T9" fmla="*/ 0 w 480"/>
              <a:gd name="T10" fmla="*/ 0 h 1056"/>
              <a:gd name="T11" fmla="*/ 480 w 480"/>
              <a:gd name="T12" fmla="*/ 1056 h 10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056">
                <a:moveTo>
                  <a:pt x="0" y="0"/>
                </a:moveTo>
                <a:lnTo>
                  <a:pt x="0" y="1056"/>
                </a:lnTo>
                <a:lnTo>
                  <a:pt x="480" y="105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4728210" y="304617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4728210" y="335097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6023610" y="342717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7319010" y="2588970"/>
            <a:ext cx="4572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0">
                <a:solidFill>
                  <a:schemeClr val="tx1"/>
                </a:solidFill>
              </a:rPr>
              <a:t>Zero?</a:t>
            </a:r>
            <a:endParaRPr lang="en-US" sz="2000" b="0">
              <a:solidFill>
                <a:schemeClr val="tx1"/>
              </a:solidFill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7090410" y="335097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7090410" y="396057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2" name="Freeform 39"/>
          <p:cNvSpPr/>
          <p:nvPr/>
        </p:nvSpPr>
        <p:spPr bwMode="auto">
          <a:xfrm>
            <a:off x="2061210" y="1750770"/>
            <a:ext cx="7086600" cy="1812925"/>
          </a:xfrm>
          <a:custGeom>
            <a:avLst/>
            <a:gdLst>
              <a:gd name="T0" fmla="*/ 2147483647 w 4464"/>
              <a:gd name="T1" fmla="*/ 2147483647 h 1142"/>
              <a:gd name="T2" fmla="*/ 2147483647 w 4464"/>
              <a:gd name="T3" fmla="*/ 2147483647 h 1142"/>
              <a:gd name="T4" fmla="*/ 2147483647 w 4464"/>
              <a:gd name="T5" fmla="*/ 0 h 1142"/>
              <a:gd name="T6" fmla="*/ 0 w 4464"/>
              <a:gd name="T7" fmla="*/ 0 h 1142"/>
              <a:gd name="T8" fmla="*/ 2147483647 w 4464"/>
              <a:gd name="T9" fmla="*/ 2147483647 h 1142"/>
              <a:gd name="T10" fmla="*/ 2147483647 w 4464"/>
              <a:gd name="T11" fmla="*/ 2147483647 h 11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464"/>
              <a:gd name="T19" fmla="*/ 0 h 1142"/>
              <a:gd name="T20" fmla="*/ 4464 w 4464"/>
              <a:gd name="T21" fmla="*/ 1142 h 11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464" h="1142">
                <a:moveTo>
                  <a:pt x="4224" y="253"/>
                </a:moveTo>
                <a:lnTo>
                  <a:pt x="4464" y="253"/>
                </a:lnTo>
                <a:lnTo>
                  <a:pt x="4464" y="0"/>
                </a:lnTo>
                <a:lnTo>
                  <a:pt x="0" y="0"/>
                </a:lnTo>
                <a:lnTo>
                  <a:pt x="2" y="1142"/>
                </a:lnTo>
                <a:lnTo>
                  <a:pt x="172" y="114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7776210" y="365577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4" name="Freeform 41"/>
          <p:cNvSpPr/>
          <p:nvPr/>
        </p:nvSpPr>
        <p:spPr bwMode="auto">
          <a:xfrm>
            <a:off x="8301673" y="2268295"/>
            <a:ext cx="304800" cy="1371600"/>
          </a:xfrm>
          <a:custGeom>
            <a:avLst/>
            <a:gdLst>
              <a:gd name="T0" fmla="*/ 0 w 192"/>
              <a:gd name="T1" fmla="*/ 2147483647 h 960"/>
              <a:gd name="T2" fmla="*/ 0 w 192"/>
              <a:gd name="T3" fmla="*/ 0 h 960"/>
              <a:gd name="T4" fmla="*/ 2147483647 w 192"/>
              <a:gd name="T5" fmla="*/ 0 h 960"/>
              <a:gd name="T6" fmla="*/ 0 60000 65536"/>
              <a:gd name="T7" fmla="*/ 0 60000 65536"/>
              <a:gd name="T8" fmla="*/ 0 60000 65536"/>
              <a:gd name="T9" fmla="*/ 0 w 192"/>
              <a:gd name="T10" fmla="*/ 0 h 960"/>
              <a:gd name="T11" fmla="*/ 192 w 192"/>
              <a:gd name="T12" fmla="*/ 960 h 9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960">
                <a:moveTo>
                  <a:pt x="0" y="960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6023610" y="388437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2670810" y="357957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3128010" y="281757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8" name="Freeform 45"/>
          <p:cNvSpPr/>
          <p:nvPr/>
        </p:nvSpPr>
        <p:spPr bwMode="auto">
          <a:xfrm>
            <a:off x="2823210" y="2207970"/>
            <a:ext cx="533400" cy="1371600"/>
          </a:xfrm>
          <a:custGeom>
            <a:avLst/>
            <a:gdLst>
              <a:gd name="T0" fmla="*/ 0 w 336"/>
              <a:gd name="T1" fmla="*/ 2147483647 h 864"/>
              <a:gd name="T2" fmla="*/ 0 w 336"/>
              <a:gd name="T3" fmla="*/ 0 h 864"/>
              <a:gd name="T4" fmla="*/ 2147483647 w 336"/>
              <a:gd name="T5" fmla="*/ 0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0" y="864"/>
                </a:moveTo>
                <a:lnTo>
                  <a:pt x="0" y="0"/>
                </a:lnTo>
                <a:lnTo>
                  <a:pt x="33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9" name="Freeform 46"/>
          <p:cNvSpPr/>
          <p:nvPr/>
        </p:nvSpPr>
        <p:spPr bwMode="auto">
          <a:xfrm>
            <a:off x="8295323" y="3655770"/>
            <a:ext cx="1614487" cy="1143000"/>
          </a:xfrm>
          <a:custGeom>
            <a:avLst/>
            <a:gdLst>
              <a:gd name="T0" fmla="*/ 0 w 1008"/>
              <a:gd name="T1" fmla="*/ 0 h 720"/>
              <a:gd name="T2" fmla="*/ 0 w 1008"/>
              <a:gd name="T3" fmla="*/ 2147483647 h 720"/>
              <a:gd name="T4" fmla="*/ 2147483647 w 1008"/>
              <a:gd name="T5" fmla="*/ 2147483647 h 720"/>
              <a:gd name="T6" fmla="*/ 2147483647 w 1008"/>
              <a:gd name="T7" fmla="*/ 2147483647 h 720"/>
              <a:gd name="T8" fmla="*/ 2147483647 w 1008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8"/>
              <a:gd name="T16" fmla="*/ 0 h 720"/>
              <a:gd name="T17" fmla="*/ 1008 w 1008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8" h="720">
                <a:moveTo>
                  <a:pt x="0" y="0"/>
                </a:moveTo>
                <a:lnTo>
                  <a:pt x="0" y="720"/>
                </a:lnTo>
                <a:lnTo>
                  <a:pt x="864" y="720"/>
                </a:lnTo>
                <a:lnTo>
                  <a:pt x="864" y="480"/>
                </a:lnTo>
                <a:lnTo>
                  <a:pt x="1008" y="48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50" name="Freeform 47"/>
          <p:cNvSpPr/>
          <p:nvPr/>
        </p:nvSpPr>
        <p:spPr bwMode="auto">
          <a:xfrm>
            <a:off x="5033010" y="3960570"/>
            <a:ext cx="5334000" cy="1828800"/>
          </a:xfrm>
          <a:custGeom>
            <a:avLst/>
            <a:gdLst>
              <a:gd name="T0" fmla="*/ 2147483647 w 3312"/>
              <a:gd name="T1" fmla="*/ 2147483647 h 768"/>
              <a:gd name="T2" fmla="*/ 2147483647 w 3312"/>
              <a:gd name="T3" fmla="*/ 2147483647 h 768"/>
              <a:gd name="T4" fmla="*/ 2147483647 w 3312"/>
              <a:gd name="T5" fmla="*/ 2147483647 h 768"/>
              <a:gd name="T6" fmla="*/ 0 w 3312"/>
              <a:gd name="T7" fmla="*/ 2147483647 h 768"/>
              <a:gd name="T8" fmla="*/ 0 w 3312"/>
              <a:gd name="T9" fmla="*/ 0 h 768"/>
              <a:gd name="T10" fmla="*/ 2147483647 w 3312"/>
              <a:gd name="T11" fmla="*/ 0 h 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12"/>
              <a:gd name="T19" fmla="*/ 0 h 768"/>
              <a:gd name="T20" fmla="*/ 3312 w 3312"/>
              <a:gd name="T21" fmla="*/ 768 h 7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12" h="768">
                <a:moveTo>
                  <a:pt x="3168" y="96"/>
                </a:moveTo>
                <a:lnTo>
                  <a:pt x="3312" y="96"/>
                </a:lnTo>
                <a:lnTo>
                  <a:pt x="3312" y="768"/>
                </a:lnTo>
                <a:lnTo>
                  <a:pt x="0" y="768"/>
                </a:lnTo>
                <a:lnTo>
                  <a:pt x="0" y="0"/>
                </a:lnTo>
                <a:lnTo>
                  <a:pt x="24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51" name="Freeform 48"/>
          <p:cNvSpPr/>
          <p:nvPr/>
        </p:nvSpPr>
        <p:spPr bwMode="auto">
          <a:xfrm>
            <a:off x="6557010" y="3884370"/>
            <a:ext cx="2133600" cy="533400"/>
          </a:xfrm>
          <a:custGeom>
            <a:avLst/>
            <a:gdLst>
              <a:gd name="T0" fmla="*/ 0 w 1344"/>
              <a:gd name="T1" fmla="*/ 0 h 336"/>
              <a:gd name="T2" fmla="*/ 0 w 1344"/>
              <a:gd name="T3" fmla="*/ 2147483647 h 336"/>
              <a:gd name="T4" fmla="*/ 2147483647 w 1344"/>
              <a:gd name="T5" fmla="*/ 2147483647 h 336"/>
              <a:gd name="T6" fmla="*/ 0 60000 65536"/>
              <a:gd name="T7" fmla="*/ 0 60000 65536"/>
              <a:gd name="T8" fmla="*/ 0 60000 65536"/>
              <a:gd name="T9" fmla="*/ 0 w 1344"/>
              <a:gd name="T10" fmla="*/ 0 h 336"/>
              <a:gd name="T11" fmla="*/ 1344 w 134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336">
                <a:moveTo>
                  <a:pt x="0" y="0"/>
                </a:moveTo>
                <a:lnTo>
                  <a:pt x="0" y="336"/>
                </a:lnTo>
                <a:lnTo>
                  <a:pt x="1344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52" name="Freeform 49"/>
          <p:cNvSpPr/>
          <p:nvPr/>
        </p:nvSpPr>
        <p:spPr bwMode="auto">
          <a:xfrm>
            <a:off x="4880610" y="3731970"/>
            <a:ext cx="5257800" cy="1828800"/>
          </a:xfrm>
          <a:custGeom>
            <a:avLst/>
            <a:gdLst>
              <a:gd name="T0" fmla="*/ 2147483647 w 3312"/>
              <a:gd name="T1" fmla="*/ 2147483647 h 1200"/>
              <a:gd name="T2" fmla="*/ 2147483647 w 3312"/>
              <a:gd name="T3" fmla="*/ 2147483647 h 1200"/>
              <a:gd name="T4" fmla="*/ 2147483647 w 3312"/>
              <a:gd name="T5" fmla="*/ 2147483647 h 1200"/>
              <a:gd name="T6" fmla="*/ 0 w 3312"/>
              <a:gd name="T7" fmla="*/ 2147483647 h 1200"/>
              <a:gd name="T8" fmla="*/ 0 w 3312"/>
              <a:gd name="T9" fmla="*/ 0 h 1200"/>
              <a:gd name="T10" fmla="*/ 2147483647 w 3312"/>
              <a:gd name="T11" fmla="*/ 0 h 12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12"/>
              <a:gd name="T19" fmla="*/ 0 h 1200"/>
              <a:gd name="T20" fmla="*/ 3312 w 3312"/>
              <a:gd name="T21" fmla="*/ 1200 h 12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12" h="1200">
                <a:moveTo>
                  <a:pt x="3024" y="960"/>
                </a:moveTo>
                <a:lnTo>
                  <a:pt x="3312" y="960"/>
                </a:lnTo>
                <a:lnTo>
                  <a:pt x="3312" y="1200"/>
                </a:lnTo>
                <a:lnTo>
                  <a:pt x="0" y="1200"/>
                </a:lnTo>
                <a:lnTo>
                  <a:pt x="0" y="0"/>
                </a:lnTo>
                <a:lnTo>
                  <a:pt x="33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grpSp>
        <p:nvGrpSpPr>
          <p:cNvPr id="53" name="Group 50"/>
          <p:cNvGrpSpPr/>
          <p:nvPr/>
        </p:nvGrpSpPr>
        <p:grpSpPr bwMode="auto">
          <a:xfrm>
            <a:off x="4194810" y="1826970"/>
            <a:ext cx="5487988" cy="3643313"/>
            <a:chOff x="1631" y="1405"/>
            <a:chExt cx="3457" cy="2295"/>
          </a:xfrm>
        </p:grpSpPr>
        <p:grpSp>
          <p:nvGrpSpPr>
            <p:cNvPr id="54" name="Group 51"/>
            <p:cNvGrpSpPr/>
            <p:nvPr/>
          </p:nvGrpSpPr>
          <p:grpSpPr bwMode="auto">
            <a:xfrm>
              <a:off x="1631" y="1405"/>
              <a:ext cx="192" cy="2295"/>
              <a:chOff x="1486" y="1488"/>
              <a:chExt cx="192" cy="2295"/>
            </a:xfrm>
          </p:grpSpPr>
          <p:sp>
            <p:nvSpPr>
              <p:cNvPr id="64" name="Rectangle 52"/>
              <p:cNvSpPr>
                <a:spLocks noChangeArrowheads="1"/>
              </p:cNvSpPr>
              <p:nvPr/>
            </p:nvSpPr>
            <p:spPr bwMode="auto">
              <a:xfrm>
                <a:off x="1486" y="1488"/>
                <a:ext cx="192" cy="2295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IF/ID</a:t>
                </a:r>
              </a:p>
            </p:txBody>
          </p:sp>
          <p:sp>
            <p:nvSpPr>
              <p:cNvPr id="65" name="AutoShape 53"/>
              <p:cNvSpPr>
                <a:spLocks noChangeArrowheads="1"/>
              </p:cNvSpPr>
              <p:nvPr/>
            </p:nvSpPr>
            <p:spPr bwMode="auto">
              <a:xfrm>
                <a:off x="1486" y="3591"/>
                <a:ext cx="192" cy="19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</p:grpSp>
        <p:grpSp>
          <p:nvGrpSpPr>
            <p:cNvPr id="55" name="Group 54"/>
            <p:cNvGrpSpPr/>
            <p:nvPr/>
          </p:nvGrpSpPr>
          <p:grpSpPr bwMode="auto">
            <a:xfrm>
              <a:off x="2832" y="1405"/>
              <a:ext cx="193" cy="2295"/>
              <a:chOff x="2740" y="1436"/>
              <a:chExt cx="193" cy="2295"/>
            </a:xfrm>
          </p:grpSpPr>
          <p:sp>
            <p:nvSpPr>
              <p:cNvPr id="62" name="Rectangle 55"/>
              <p:cNvSpPr>
                <a:spLocks noChangeArrowheads="1"/>
              </p:cNvSpPr>
              <p:nvPr/>
            </p:nvSpPr>
            <p:spPr bwMode="auto">
              <a:xfrm>
                <a:off x="2741" y="1436"/>
                <a:ext cx="192" cy="2295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ID/EX</a:t>
                </a:r>
              </a:p>
            </p:txBody>
          </p:sp>
          <p:sp>
            <p:nvSpPr>
              <p:cNvPr id="63" name="AutoShape 56"/>
              <p:cNvSpPr>
                <a:spLocks noChangeArrowheads="1"/>
              </p:cNvSpPr>
              <p:nvPr/>
            </p:nvSpPr>
            <p:spPr bwMode="auto">
              <a:xfrm>
                <a:off x="2740" y="3533"/>
                <a:ext cx="192" cy="19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</p:grpSp>
        <p:grpSp>
          <p:nvGrpSpPr>
            <p:cNvPr id="56" name="Group 57"/>
            <p:cNvGrpSpPr/>
            <p:nvPr/>
          </p:nvGrpSpPr>
          <p:grpSpPr bwMode="auto">
            <a:xfrm>
              <a:off x="4896" y="1405"/>
              <a:ext cx="192" cy="2295"/>
              <a:chOff x="4972" y="1431"/>
              <a:chExt cx="192" cy="2295"/>
            </a:xfrm>
          </p:grpSpPr>
          <p:sp>
            <p:nvSpPr>
              <p:cNvPr id="60" name="Rectangle 58"/>
              <p:cNvSpPr>
                <a:spLocks noChangeArrowheads="1"/>
              </p:cNvSpPr>
              <p:nvPr/>
            </p:nvSpPr>
            <p:spPr bwMode="auto">
              <a:xfrm>
                <a:off x="4972" y="1431"/>
                <a:ext cx="192" cy="2295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MEM/WB</a:t>
                </a:r>
              </a:p>
            </p:txBody>
          </p:sp>
          <p:sp>
            <p:nvSpPr>
              <p:cNvPr id="61" name="AutoShape 59"/>
              <p:cNvSpPr>
                <a:spLocks noChangeArrowheads="1"/>
              </p:cNvSpPr>
              <p:nvPr/>
            </p:nvSpPr>
            <p:spPr bwMode="auto">
              <a:xfrm>
                <a:off x="4972" y="3534"/>
                <a:ext cx="192" cy="19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</p:grpSp>
        <p:grpSp>
          <p:nvGrpSpPr>
            <p:cNvPr id="57" name="Group 60"/>
            <p:cNvGrpSpPr/>
            <p:nvPr/>
          </p:nvGrpSpPr>
          <p:grpSpPr bwMode="auto">
            <a:xfrm>
              <a:off x="3966" y="1405"/>
              <a:ext cx="192" cy="2295"/>
              <a:chOff x="3920" y="1447"/>
              <a:chExt cx="192" cy="2295"/>
            </a:xfrm>
          </p:grpSpPr>
          <p:sp>
            <p:nvSpPr>
              <p:cNvPr id="58" name="Rectangle 61"/>
              <p:cNvSpPr>
                <a:spLocks noChangeArrowheads="1"/>
              </p:cNvSpPr>
              <p:nvPr/>
            </p:nvSpPr>
            <p:spPr bwMode="auto">
              <a:xfrm>
                <a:off x="3920" y="1447"/>
                <a:ext cx="192" cy="2295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EX/MEM</a:t>
                </a:r>
              </a:p>
            </p:txBody>
          </p:sp>
          <p:sp>
            <p:nvSpPr>
              <p:cNvPr id="59" name="AutoShape 62"/>
              <p:cNvSpPr>
                <a:spLocks noChangeArrowheads="1"/>
              </p:cNvSpPr>
              <p:nvPr/>
            </p:nvSpPr>
            <p:spPr bwMode="auto">
              <a:xfrm>
                <a:off x="3920" y="3544"/>
                <a:ext cx="192" cy="19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</p:grpSp>
      </p:grp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5871210" y="4798770"/>
            <a:ext cx="2286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7" name="Freeform 64"/>
          <p:cNvSpPr/>
          <p:nvPr/>
        </p:nvSpPr>
        <p:spPr bwMode="auto">
          <a:xfrm>
            <a:off x="6404610" y="4112970"/>
            <a:ext cx="457200" cy="685800"/>
          </a:xfrm>
          <a:custGeom>
            <a:avLst/>
            <a:gdLst>
              <a:gd name="T0" fmla="*/ 0 w 336"/>
              <a:gd name="T1" fmla="*/ 2147483647 h 432"/>
              <a:gd name="T2" fmla="*/ 2147483647 w 336"/>
              <a:gd name="T3" fmla="*/ 2147483647 h 432"/>
              <a:gd name="T4" fmla="*/ 2147483647 w 336"/>
              <a:gd name="T5" fmla="*/ 0 h 432"/>
              <a:gd name="T6" fmla="*/ 2147483647 w 336"/>
              <a:gd name="T7" fmla="*/ 0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36"/>
              <a:gd name="T13" fmla="*/ 0 h 432"/>
              <a:gd name="T14" fmla="*/ 336 w 336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" h="432">
                <a:moveTo>
                  <a:pt x="0" y="432"/>
                </a:moveTo>
                <a:lnTo>
                  <a:pt x="192" y="432"/>
                </a:lnTo>
                <a:lnTo>
                  <a:pt x="192" y="0"/>
                </a:lnTo>
                <a:lnTo>
                  <a:pt x="33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" name="Line 65"/>
          <p:cNvSpPr>
            <a:spLocks noChangeShapeType="1"/>
          </p:cNvSpPr>
          <p:nvPr/>
        </p:nvSpPr>
        <p:spPr bwMode="auto">
          <a:xfrm>
            <a:off x="4499610" y="197937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9" name="Freeform 66"/>
          <p:cNvSpPr/>
          <p:nvPr/>
        </p:nvSpPr>
        <p:spPr bwMode="auto">
          <a:xfrm>
            <a:off x="4728210" y="4798770"/>
            <a:ext cx="1371600" cy="381000"/>
          </a:xfrm>
          <a:custGeom>
            <a:avLst/>
            <a:gdLst>
              <a:gd name="T0" fmla="*/ 0 w 864"/>
              <a:gd name="T1" fmla="*/ 0 h 288"/>
              <a:gd name="T2" fmla="*/ 0 w 864"/>
              <a:gd name="T3" fmla="*/ 2147483647 h 288"/>
              <a:gd name="T4" fmla="*/ 2147483647 w 864"/>
              <a:gd name="T5" fmla="*/ 2147483647 h 288"/>
              <a:gd name="T6" fmla="*/ 0 60000 65536"/>
              <a:gd name="T7" fmla="*/ 0 60000 65536"/>
              <a:gd name="T8" fmla="*/ 0 60000 65536"/>
              <a:gd name="T9" fmla="*/ 0 w 864"/>
              <a:gd name="T10" fmla="*/ 0 h 288"/>
              <a:gd name="T11" fmla="*/ 864 w 864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288">
                <a:moveTo>
                  <a:pt x="0" y="0"/>
                </a:moveTo>
                <a:lnTo>
                  <a:pt x="0" y="288"/>
                </a:lnTo>
                <a:lnTo>
                  <a:pt x="864" y="28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70" name="Line 67"/>
          <p:cNvSpPr>
            <a:spLocks noChangeShapeType="1"/>
          </p:cNvSpPr>
          <p:nvPr/>
        </p:nvSpPr>
        <p:spPr bwMode="auto">
          <a:xfrm>
            <a:off x="6404610" y="517977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>
            <a:off x="8233410" y="517977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72" name="Freeform 69"/>
          <p:cNvSpPr/>
          <p:nvPr/>
        </p:nvSpPr>
        <p:spPr bwMode="auto">
          <a:xfrm>
            <a:off x="3737610" y="1979370"/>
            <a:ext cx="457200" cy="533400"/>
          </a:xfrm>
          <a:custGeom>
            <a:avLst/>
            <a:gdLst>
              <a:gd name="T0" fmla="*/ 0 w 240"/>
              <a:gd name="T1" fmla="*/ 2147483647 h 336"/>
              <a:gd name="T2" fmla="*/ 2147483647 w 240"/>
              <a:gd name="T3" fmla="*/ 2147483647 h 336"/>
              <a:gd name="T4" fmla="*/ 2147483647 w 240"/>
              <a:gd name="T5" fmla="*/ 0 h 336"/>
              <a:gd name="T6" fmla="*/ 2147483647 w 240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40"/>
              <a:gd name="T13" fmla="*/ 0 h 336"/>
              <a:gd name="T14" fmla="*/ 240 w 240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" h="336">
                <a:moveTo>
                  <a:pt x="0" y="336"/>
                </a:moveTo>
                <a:lnTo>
                  <a:pt x="144" y="336"/>
                </a:lnTo>
                <a:lnTo>
                  <a:pt x="144" y="0"/>
                </a:lnTo>
                <a:lnTo>
                  <a:pt x="24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grpSp>
        <p:nvGrpSpPr>
          <p:cNvPr id="73" name="Group 70"/>
          <p:cNvGrpSpPr/>
          <p:nvPr/>
        </p:nvGrpSpPr>
        <p:grpSpPr bwMode="auto">
          <a:xfrm>
            <a:off x="2916873" y="2079383"/>
            <a:ext cx="914400" cy="1025525"/>
            <a:chOff x="827" y="1455"/>
            <a:chExt cx="576" cy="646"/>
          </a:xfrm>
        </p:grpSpPr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827" y="1771"/>
              <a:ext cx="192" cy="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+mn-lt"/>
                </a:rPr>
                <a:t>4</a:t>
              </a:r>
            </a:p>
          </p:txBody>
        </p:sp>
        <p:sp>
          <p:nvSpPr>
            <p:cNvPr id="75" name="AutoShape 72"/>
            <p:cNvSpPr>
              <a:spLocks noChangeAspect="1" noChangeArrowheads="1"/>
            </p:cNvSpPr>
            <p:nvPr/>
          </p:nvSpPr>
          <p:spPr bwMode="auto">
            <a:xfrm rot="-5400000">
              <a:off x="965" y="1592"/>
              <a:ext cx="576" cy="30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21 h 21600"/>
                <a:gd name="T14" fmla="*/ 17100 w 21600"/>
                <a:gd name="T15" fmla="*/ 170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F707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endParaRPr lang="en-US" sz="2000"/>
            </a:p>
          </p:txBody>
        </p:sp>
        <p:sp>
          <p:nvSpPr>
            <p:cNvPr id="76" name="AutoShape 73"/>
            <p:cNvSpPr>
              <a:spLocks noChangeAspect="1" noChangeArrowheads="1"/>
            </p:cNvSpPr>
            <p:nvPr/>
          </p:nvSpPr>
          <p:spPr bwMode="auto">
            <a:xfrm rot="5400000">
              <a:off x="1071" y="1644"/>
              <a:ext cx="174" cy="14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77" name="Text Box 74"/>
            <p:cNvSpPr txBox="1">
              <a:spLocks noChangeAspect="1" noChangeArrowheads="1"/>
            </p:cNvSpPr>
            <p:nvPr/>
          </p:nvSpPr>
          <p:spPr bwMode="auto">
            <a:xfrm rot="5400000">
              <a:off x="1019" y="1631"/>
              <a:ext cx="484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800">
                  <a:solidFill>
                    <a:schemeClr val="tx1"/>
                  </a:solidFill>
                  <a:latin typeface="+mn-lt"/>
                </a:rPr>
                <a:t>Adder</a:t>
              </a:r>
              <a:endParaRPr lang="en-US" sz="105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 75"/>
            <p:cNvSpPr>
              <a:spLocks noChangeAspect="1"/>
            </p:cNvSpPr>
            <p:nvPr/>
          </p:nvSpPr>
          <p:spPr bwMode="auto">
            <a:xfrm rot="5400000">
              <a:off x="1076" y="1652"/>
              <a:ext cx="173" cy="130"/>
            </a:xfrm>
            <a:custGeom>
              <a:avLst/>
              <a:gdLst>
                <a:gd name="T0" fmla="*/ 0 w 384"/>
                <a:gd name="T1" fmla="*/ 0 h 288"/>
                <a:gd name="T2" fmla="*/ 0 w 384"/>
                <a:gd name="T3" fmla="*/ 0 h 288"/>
                <a:gd name="T4" fmla="*/ 0 w 384"/>
                <a:gd name="T5" fmla="*/ 0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79" name="Line 76"/>
          <p:cNvSpPr>
            <a:spLocks noChangeShapeType="1"/>
          </p:cNvSpPr>
          <p:nvPr/>
        </p:nvSpPr>
        <p:spPr bwMode="auto">
          <a:xfrm>
            <a:off x="6404610" y="197937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0" name="Line 77"/>
          <p:cNvSpPr>
            <a:spLocks noChangeShapeType="1"/>
          </p:cNvSpPr>
          <p:nvPr/>
        </p:nvSpPr>
        <p:spPr bwMode="auto">
          <a:xfrm>
            <a:off x="8233410" y="197937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1" name="Freeform 78"/>
          <p:cNvSpPr/>
          <p:nvPr/>
        </p:nvSpPr>
        <p:spPr bwMode="auto">
          <a:xfrm>
            <a:off x="6633210" y="1979370"/>
            <a:ext cx="228600" cy="1219200"/>
          </a:xfrm>
          <a:custGeom>
            <a:avLst/>
            <a:gdLst>
              <a:gd name="T0" fmla="*/ 0 w 96"/>
              <a:gd name="T1" fmla="*/ 0 h 768"/>
              <a:gd name="T2" fmla="*/ 0 w 96"/>
              <a:gd name="T3" fmla="*/ 2147483647 h 768"/>
              <a:gd name="T4" fmla="*/ 2147483647 w 96"/>
              <a:gd name="T5" fmla="*/ 2147483647 h 768"/>
              <a:gd name="T6" fmla="*/ 0 60000 65536"/>
              <a:gd name="T7" fmla="*/ 0 60000 65536"/>
              <a:gd name="T8" fmla="*/ 0 60000 65536"/>
              <a:gd name="T9" fmla="*/ 0 w 96"/>
              <a:gd name="T10" fmla="*/ 0 h 768"/>
              <a:gd name="T11" fmla="*/ 96 w 96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768">
                <a:moveTo>
                  <a:pt x="0" y="0"/>
                </a:moveTo>
                <a:lnTo>
                  <a:pt x="0" y="768"/>
                </a:lnTo>
                <a:lnTo>
                  <a:pt x="96" y="76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2" name="Text Box 79"/>
          <p:cNvSpPr txBox="1">
            <a:spLocks noChangeArrowheads="1"/>
          </p:cNvSpPr>
          <p:nvPr/>
        </p:nvSpPr>
        <p:spPr bwMode="auto">
          <a:xfrm>
            <a:off x="4575787" y="1916456"/>
            <a:ext cx="1212896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600" b="0">
                <a:solidFill>
                  <a:schemeClr val="tx1"/>
                </a:solidFill>
                <a:latin typeface="+mn-lt"/>
              </a:rPr>
              <a:t>Next SEQ PC</a:t>
            </a:r>
          </a:p>
        </p:txBody>
      </p:sp>
      <p:sp>
        <p:nvSpPr>
          <p:cNvPr id="83" name="Oval 80"/>
          <p:cNvSpPr>
            <a:spLocks noChangeArrowheads="1"/>
          </p:cNvSpPr>
          <p:nvPr/>
        </p:nvSpPr>
        <p:spPr bwMode="auto">
          <a:xfrm>
            <a:off x="8257223" y="3617670"/>
            <a:ext cx="74612" cy="7461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4" name="Oval 81"/>
          <p:cNvSpPr>
            <a:spLocks noChangeArrowheads="1"/>
          </p:cNvSpPr>
          <p:nvPr/>
        </p:nvSpPr>
        <p:spPr bwMode="auto">
          <a:xfrm>
            <a:off x="6518910" y="3851033"/>
            <a:ext cx="74613" cy="7461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5" name="Oval 82"/>
          <p:cNvSpPr>
            <a:spLocks noChangeArrowheads="1"/>
          </p:cNvSpPr>
          <p:nvPr/>
        </p:nvSpPr>
        <p:spPr bwMode="auto">
          <a:xfrm>
            <a:off x="6514148" y="3384308"/>
            <a:ext cx="74612" cy="7461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6" name="Oval 83"/>
          <p:cNvSpPr>
            <a:spLocks noChangeArrowheads="1"/>
          </p:cNvSpPr>
          <p:nvPr/>
        </p:nvSpPr>
        <p:spPr bwMode="auto">
          <a:xfrm>
            <a:off x="4685348" y="3308108"/>
            <a:ext cx="74612" cy="7461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7" name="Oval 84"/>
          <p:cNvSpPr>
            <a:spLocks noChangeArrowheads="1"/>
          </p:cNvSpPr>
          <p:nvPr/>
        </p:nvSpPr>
        <p:spPr bwMode="auto">
          <a:xfrm>
            <a:off x="4704398" y="4741620"/>
            <a:ext cx="74612" cy="7461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8" name="Oval 85"/>
          <p:cNvSpPr>
            <a:spLocks noChangeArrowheads="1"/>
          </p:cNvSpPr>
          <p:nvPr/>
        </p:nvSpPr>
        <p:spPr bwMode="auto">
          <a:xfrm>
            <a:off x="2775585" y="3536708"/>
            <a:ext cx="74613" cy="7461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9" name="Oval 86"/>
          <p:cNvSpPr>
            <a:spLocks noChangeArrowheads="1"/>
          </p:cNvSpPr>
          <p:nvPr/>
        </p:nvSpPr>
        <p:spPr bwMode="auto">
          <a:xfrm>
            <a:off x="4685348" y="4760670"/>
            <a:ext cx="74612" cy="7461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90" name="Oval 87"/>
          <p:cNvSpPr>
            <a:spLocks noChangeArrowheads="1"/>
          </p:cNvSpPr>
          <p:nvPr/>
        </p:nvSpPr>
        <p:spPr bwMode="auto">
          <a:xfrm>
            <a:off x="6596698" y="1942858"/>
            <a:ext cx="74612" cy="7461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91" name="Text Box 88"/>
          <p:cNvSpPr txBox="1">
            <a:spLocks noChangeArrowheads="1"/>
          </p:cNvSpPr>
          <p:nvPr/>
        </p:nvSpPr>
        <p:spPr bwMode="auto">
          <a:xfrm>
            <a:off x="6610962" y="1922806"/>
            <a:ext cx="1212896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600" b="0">
                <a:solidFill>
                  <a:schemeClr val="tx1"/>
                </a:solidFill>
                <a:latin typeface="+mn-lt"/>
              </a:rPr>
              <a:t>Next SEQ PC</a:t>
            </a:r>
          </a:p>
        </p:txBody>
      </p:sp>
      <p:sp>
        <p:nvSpPr>
          <p:cNvPr id="92" name="Text Box 89"/>
          <p:cNvSpPr txBox="1">
            <a:spLocks noChangeArrowheads="1"/>
          </p:cNvSpPr>
          <p:nvPr/>
        </p:nvSpPr>
        <p:spPr bwMode="auto">
          <a:xfrm>
            <a:off x="5422270" y="5177488"/>
            <a:ext cx="393056" cy="30777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400" b="0">
                <a:solidFill>
                  <a:schemeClr val="tx1"/>
                </a:solidFill>
                <a:latin typeface="+mn-lt"/>
              </a:rPr>
              <a:t>RD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3" name="Text Box 90"/>
          <p:cNvSpPr txBox="1">
            <a:spLocks noChangeArrowheads="1"/>
          </p:cNvSpPr>
          <p:nvPr/>
        </p:nvSpPr>
        <p:spPr bwMode="auto">
          <a:xfrm>
            <a:off x="6841495" y="5177488"/>
            <a:ext cx="393056" cy="30777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400" b="0">
                <a:solidFill>
                  <a:schemeClr val="tx1"/>
                </a:solidFill>
                <a:latin typeface="+mn-lt"/>
              </a:rPr>
              <a:t>RD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4" name="Text Box 91"/>
          <p:cNvSpPr txBox="1">
            <a:spLocks noChangeArrowheads="1"/>
          </p:cNvSpPr>
          <p:nvPr/>
        </p:nvSpPr>
        <p:spPr bwMode="auto">
          <a:xfrm>
            <a:off x="8517895" y="5177488"/>
            <a:ext cx="393056" cy="30777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400" b="0">
                <a:solidFill>
                  <a:schemeClr val="tx1"/>
                </a:solidFill>
                <a:latin typeface="+mn-lt"/>
              </a:rPr>
              <a:t>RD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5" name="Text Box 92"/>
          <p:cNvSpPr txBox="1">
            <a:spLocks noChangeArrowheads="1"/>
          </p:cNvSpPr>
          <p:nvPr/>
        </p:nvSpPr>
        <p:spPr bwMode="auto">
          <a:xfrm rot="16200000">
            <a:off x="10040779" y="4758875"/>
            <a:ext cx="912814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600" b="0">
                <a:solidFill>
                  <a:schemeClr val="tx1"/>
                </a:solidFill>
                <a:latin typeface="+mn-lt"/>
              </a:rPr>
              <a:t>WB Data</a:t>
            </a: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1977073" y="5783420"/>
            <a:ext cx="8745537" cy="846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 Pipelining is also used within arithmetic units</a:t>
            </a:r>
            <a:endParaRPr lang="en-US" sz="20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en-US" sz="2000" dirty="0">
                <a:solidFill>
                  <a:schemeClr val="tx1"/>
                </a:solidFill>
              </a:rPr>
              <a:t> a </a:t>
            </a:r>
            <a:r>
              <a:rPr lang="en-US" sz="2000" dirty="0" err="1">
                <a:solidFill>
                  <a:schemeClr val="tx1"/>
                </a:solidFill>
              </a:rPr>
              <a:t>fp</a:t>
            </a:r>
            <a:r>
              <a:rPr lang="en-US" sz="2000" dirty="0">
                <a:solidFill>
                  <a:schemeClr val="tx1"/>
                </a:solidFill>
              </a:rPr>
              <a:t> multiply may have latency 10 cycles, but throughput of 1/cycle</a:t>
            </a:r>
          </a:p>
        </p:txBody>
      </p:sp>
      <p:sp>
        <p:nvSpPr>
          <p:cNvPr id="97" name="Text Box 94"/>
          <p:cNvSpPr txBox="1">
            <a:spLocks noChangeArrowheads="1"/>
          </p:cNvSpPr>
          <p:nvPr/>
        </p:nvSpPr>
        <p:spPr bwMode="auto">
          <a:xfrm>
            <a:off x="2201121" y="1743419"/>
            <a:ext cx="836191" cy="338554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600" b="0">
                <a:solidFill>
                  <a:schemeClr val="tx1"/>
                </a:solidFill>
                <a:latin typeface="+mn-lt"/>
              </a:rPr>
              <a:t>Next PC</a:t>
            </a:r>
          </a:p>
        </p:txBody>
      </p:sp>
      <p:grpSp>
        <p:nvGrpSpPr>
          <p:cNvPr id="98" name="Group 95"/>
          <p:cNvGrpSpPr/>
          <p:nvPr/>
        </p:nvGrpSpPr>
        <p:grpSpPr bwMode="auto">
          <a:xfrm>
            <a:off x="2353310" y="2969970"/>
            <a:ext cx="304800" cy="1228725"/>
            <a:chOff x="488" y="1914"/>
            <a:chExt cx="192" cy="774"/>
          </a:xfrm>
        </p:grpSpPr>
        <p:sp>
          <p:nvSpPr>
            <p:cNvPr id="99" name="Rectangle 96"/>
            <p:cNvSpPr>
              <a:spLocks noChangeArrowheads="1"/>
            </p:cNvSpPr>
            <p:nvPr/>
          </p:nvSpPr>
          <p:spPr bwMode="auto">
            <a:xfrm>
              <a:off x="488" y="1914"/>
              <a:ext cx="192" cy="768"/>
            </a:xfrm>
            <a:prstGeom prst="rect">
              <a:avLst/>
            </a:prstGeom>
            <a:solidFill>
              <a:srgbClr val="07F707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pPr algn="ctr"/>
              <a:r>
                <a:rPr lang="en-US" sz="2000" b="0">
                  <a:solidFill>
                    <a:schemeClr val="tx1"/>
                  </a:solidFill>
                </a:rPr>
                <a:t>Address</a:t>
              </a:r>
            </a:p>
          </p:txBody>
        </p:sp>
        <p:sp>
          <p:nvSpPr>
            <p:cNvPr id="100" name="AutoShape 97"/>
            <p:cNvSpPr>
              <a:spLocks noChangeArrowheads="1"/>
            </p:cNvSpPr>
            <p:nvPr/>
          </p:nvSpPr>
          <p:spPr bwMode="auto">
            <a:xfrm>
              <a:off x="496" y="2544"/>
              <a:ext cx="175" cy="144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101" name="Text Box 98"/>
          <p:cNvSpPr txBox="1">
            <a:spLocks noChangeArrowheads="1"/>
          </p:cNvSpPr>
          <p:nvPr/>
        </p:nvSpPr>
        <p:spPr bwMode="auto">
          <a:xfrm>
            <a:off x="4865073" y="2822375"/>
            <a:ext cx="389850" cy="253916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050" b="0">
                <a:solidFill>
                  <a:schemeClr val="tx1"/>
                </a:solidFill>
                <a:latin typeface="+mn-lt"/>
              </a:rPr>
              <a:t>RS1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" name="Text Box 99"/>
          <p:cNvSpPr txBox="1">
            <a:spLocks noChangeArrowheads="1"/>
          </p:cNvSpPr>
          <p:nvPr/>
        </p:nvSpPr>
        <p:spPr bwMode="auto">
          <a:xfrm>
            <a:off x="4875391" y="3127175"/>
            <a:ext cx="389850" cy="253916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050" b="0">
                <a:solidFill>
                  <a:schemeClr val="tx1"/>
                </a:solidFill>
                <a:latin typeface="+mn-lt"/>
              </a:rPr>
              <a:t>RS2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3" name="Text Box 100"/>
          <p:cNvSpPr txBox="1">
            <a:spLocks noChangeArrowheads="1"/>
          </p:cNvSpPr>
          <p:nvPr/>
        </p:nvSpPr>
        <p:spPr bwMode="auto">
          <a:xfrm>
            <a:off x="5003769" y="4787700"/>
            <a:ext cx="433132" cy="253916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sz="1050" b="0">
                <a:solidFill>
                  <a:schemeClr val="tx1"/>
                </a:solidFill>
                <a:latin typeface="+mn-lt"/>
              </a:rPr>
              <a:t>Imm</a:t>
            </a:r>
            <a:endParaRPr lang="en-US" sz="16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4" name="Oval 101"/>
          <p:cNvSpPr>
            <a:spLocks noChangeArrowheads="1"/>
          </p:cNvSpPr>
          <p:nvPr/>
        </p:nvSpPr>
        <p:spPr bwMode="auto">
          <a:xfrm>
            <a:off x="8614410" y="1850783"/>
            <a:ext cx="209550" cy="552450"/>
          </a:xfrm>
          <a:prstGeom prst="ellipse">
            <a:avLst/>
          </a:prstGeom>
          <a:solidFill>
            <a:srgbClr val="07F707"/>
          </a:solidFill>
          <a:ln w="28575">
            <a:solidFill>
              <a:schemeClr val="tx1"/>
            </a:solidFill>
            <a:round/>
          </a:ln>
        </p:spPr>
        <p:txBody>
          <a:bodyPr vert="eaVert" wrap="none" anchor="ctr"/>
          <a:lstStyle/>
          <a:p>
            <a:pPr algn="ctr"/>
            <a:r>
              <a:rPr lang="en-US" b="0">
                <a:solidFill>
                  <a:schemeClr val="tx1"/>
                </a:solidFill>
              </a:rPr>
              <a:t>MUX</a:t>
            </a:r>
            <a:endParaRPr lang="en-US" sz="20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bldLvl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 example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368425"/>
            <a:ext cx="8001635" cy="290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3867150" y="4824730"/>
            <a:ext cx="457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algn="ctr"/>
            <a:r>
              <a:rPr lang="en-US" altLang="en-US" sz="2400">
                <a:latin typeface="NimbusRomNo9L-Regu"/>
              </a:rPr>
              <a:t>Add the floating point numbers 9</a:t>
            </a:r>
            <a:r>
              <a:rPr lang="en-US" altLang="en-US" sz="2400">
                <a:latin typeface="CMMI10"/>
              </a:rPr>
              <a:t>.</a:t>
            </a:r>
            <a:r>
              <a:rPr lang="en-US" altLang="en-US" sz="2400">
                <a:latin typeface="NimbusRomNo9L-Regu"/>
              </a:rPr>
              <a:t>87</a:t>
            </a:r>
            <a:r>
              <a:rPr lang="en-US" altLang="en-US" sz="2400">
                <a:latin typeface="CMSY10"/>
              </a:rPr>
              <a:t>×</a:t>
            </a:r>
            <a:r>
              <a:rPr lang="en-US" altLang="en-US" sz="2400">
                <a:latin typeface="NimbusRomNo9L-Regu"/>
              </a:rPr>
              <a:t>10</a:t>
            </a:r>
            <a:r>
              <a:rPr lang="en-US" altLang="en-US" sz="2400" baseline="30000">
                <a:latin typeface="NimbusRomNo9L-Regu"/>
              </a:rPr>
              <a:t>4 </a:t>
            </a:r>
            <a:r>
              <a:rPr lang="en-US" altLang="en-US" sz="2400">
                <a:latin typeface="NimbusRomNo9L-Regu"/>
              </a:rPr>
              <a:t>and 6</a:t>
            </a:r>
            <a:r>
              <a:rPr lang="en-US" altLang="en-US" sz="2400">
                <a:latin typeface="CMMI10"/>
              </a:rPr>
              <a:t>.</a:t>
            </a:r>
            <a:r>
              <a:rPr lang="en-US" altLang="en-US" sz="2400">
                <a:latin typeface="NimbusRomNo9L-Regu"/>
              </a:rPr>
              <a:t>54</a:t>
            </a:r>
            <a:r>
              <a:rPr lang="en-US" altLang="en-US" sz="2400">
                <a:latin typeface="CMSY10"/>
              </a:rPr>
              <a:t>×</a:t>
            </a:r>
            <a:r>
              <a:rPr lang="en-US" altLang="en-US" sz="2400">
                <a:latin typeface="NimbusRomNo9L-Regu"/>
              </a:rPr>
              <a:t>10</a:t>
            </a:r>
            <a:r>
              <a:rPr lang="en-US" altLang="en-US" sz="2400" baseline="30000">
                <a:latin typeface="NimbusRomNo9L-Regu"/>
              </a:rPr>
              <a:t>3</a:t>
            </a:r>
            <a:endParaRPr lang="en-US" altLang="en-US" sz="2400" baseline="30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 example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93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" y="1656080"/>
            <a:ext cx="6339205" cy="170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Content Placeholder 6"/>
          <p:cNvSpPr>
            <a:spLocks noGrp="1"/>
          </p:cNvSpPr>
          <p:nvPr>
            <p:ph idx="1"/>
          </p:nvPr>
        </p:nvSpPr>
        <p:spPr>
          <a:xfrm>
            <a:off x="5320665" y="3456305"/>
            <a:ext cx="6840855" cy="3290570"/>
          </a:xfrm>
        </p:spPr>
        <p:txBody>
          <a:bodyPr/>
          <a:lstStyle/>
          <a:p>
            <a:r>
              <a:rPr lang="en-US" altLang="en-US" sz="2800" b="0"/>
              <a:t>Assume each operation takes one nanosecond (10</a:t>
            </a:r>
            <a:r>
              <a:rPr lang="en-US" altLang="en-US" sz="2800" b="0" baseline="30000"/>
              <a:t>-9</a:t>
            </a:r>
            <a:r>
              <a:rPr lang="en-US" altLang="en-US" sz="2800" b="0"/>
              <a:t> seconds).</a:t>
            </a:r>
            <a:br>
              <a:rPr lang="en-US" altLang="en-US" sz="2800" b="0"/>
            </a:br>
            <a:endParaRPr lang="en-US" altLang="en-US" sz="2800" b="0"/>
          </a:p>
          <a:p>
            <a:r>
              <a:rPr lang="en-US" altLang="en-US" sz="2800" b="0"/>
              <a:t>This for loop takes about 7000 nanoseconds.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640080" y="1512605"/>
            <a:ext cx="11521440" cy="4752261"/>
          </a:xfrm>
        </p:spPr>
        <p:txBody>
          <a:bodyPr/>
          <a:lstStyle/>
          <a:p>
            <a:r>
              <a:rPr lang="en-US" altLang="en-US" b="0"/>
              <a:t>Divide the floating point adder into 7 separate pieces of hardware or functional units.</a:t>
            </a:r>
          </a:p>
          <a:p>
            <a:r>
              <a:rPr lang="en-US" altLang="en-US" b="0"/>
              <a:t>First unit fetches two operands, second unit compares exponents, etc.</a:t>
            </a:r>
          </a:p>
          <a:p>
            <a:r>
              <a:rPr lang="en-US" altLang="en-US" b="0"/>
              <a:t>Output of one functional unit is input to the next.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 (4)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614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0" y="1080135"/>
            <a:ext cx="5996940" cy="427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2655888" y="5473065"/>
            <a:ext cx="6553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algn="ctr"/>
            <a:r>
              <a:rPr lang="en-US" altLang="en-US" sz="2000">
                <a:latin typeface="NimbusRomNo9L-Regu"/>
              </a:rPr>
              <a:t>Table 2.3: Pipelined Addition. </a:t>
            </a:r>
          </a:p>
          <a:p>
            <a:pPr algn="ctr"/>
            <a:r>
              <a:rPr lang="en-US" altLang="en-US" sz="2000">
                <a:latin typeface="NimbusRomNo9L-Regu"/>
              </a:rPr>
              <a:t>Numbers in the table are subscripts of operands/results.</a:t>
            </a:r>
            <a:endParaRPr lang="en-US" altLang="en-US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Pipelining (5)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One floating point addition still takes </a:t>
            </a:r>
            <a:br>
              <a:rPr lang="en-US" altLang="en-US" b="0"/>
            </a:br>
            <a:r>
              <a:rPr lang="en-US" altLang="en-US" b="0"/>
              <a:t>7 nanoseconds.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But 1000 floating point additions </a:t>
            </a:r>
            <a:br>
              <a:rPr lang="en-US" altLang="en-US" b="0"/>
            </a:br>
            <a:r>
              <a:rPr lang="en-US" altLang="en-US" b="0"/>
              <a:t>now takes 1006 nanoseconds!</a:t>
            </a:r>
          </a:p>
        </p:txBody>
      </p:sp>
      <p:pic>
        <p:nvPicPr>
          <p:cNvPr id="62465" name="Picture 3" descr="C:\Documents and Settings\liszka\Local Settings\Temporary Internet Files\Content.IE5\1G3WK4XC\MC900093373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798" y="2519998"/>
            <a:ext cx="3360737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Multiple Issue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620" y="2268728"/>
            <a:ext cx="3561080" cy="2067560"/>
          </a:xfrm>
          <a:prstGeom prst="rect">
            <a:avLst/>
          </a:prstGeom>
        </p:spPr>
      </p:pic>
      <p:sp>
        <p:nvSpPr>
          <p:cNvPr id="63490" name="Content Placeholder 2"/>
          <p:cNvSpPr>
            <a:spLocks noGrp="1"/>
          </p:cNvSpPr>
          <p:nvPr>
            <p:ph idx="1"/>
          </p:nvPr>
        </p:nvSpPr>
        <p:spPr>
          <a:xfrm>
            <a:off x="684530" y="981075"/>
            <a:ext cx="10848975" cy="2345690"/>
          </a:xfrm>
        </p:spPr>
        <p:txBody>
          <a:bodyPr/>
          <a:lstStyle/>
          <a:p>
            <a:r>
              <a:rPr lang="en-US" altLang="en-US" sz="3200" b="0" dirty="0"/>
              <a:t>Multiple issue processors replicate functional units and try to simultaneously execute different instructions in a program.</a:t>
            </a:r>
          </a:p>
        </p:txBody>
      </p:sp>
      <p:grpSp>
        <p:nvGrpSpPr>
          <p:cNvPr id="63492" name="Group 9"/>
          <p:cNvGrpSpPr/>
          <p:nvPr/>
        </p:nvGrpSpPr>
        <p:grpSpPr bwMode="auto">
          <a:xfrm>
            <a:off x="927919" y="4482210"/>
            <a:ext cx="1368425" cy="1263650"/>
            <a:chOff x="1475656" y="4941168"/>
            <a:chExt cx="1368152" cy="1264206"/>
          </a:xfrm>
        </p:grpSpPr>
        <p:pic>
          <p:nvPicPr>
            <p:cNvPr id="6350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4" y="4941168"/>
              <a:ext cx="1296144" cy="985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1475656" y="5805148"/>
              <a:ext cx="1196736" cy="4002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adder #1</a:t>
              </a:r>
            </a:p>
          </p:txBody>
        </p:sp>
      </p:grpSp>
      <p:grpSp>
        <p:nvGrpSpPr>
          <p:cNvPr id="63493" name="Group 10"/>
          <p:cNvGrpSpPr/>
          <p:nvPr/>
        </p:nvGrpSpPr>
        <p:grpSpPr bwMode="auto">
          <a:xfrm>
            <a:off x="6328594" y="4482210"/>
            <a:ext cx="1296988" cy="1263650"/>
            <a:chOff x="5868144" y="4941168"/>
            <a:chExt cx="1296144" cy="1264206"/>
          </a:xfrm>
        </p:grpSpPr>
        <p:pic>
          <p:nvPicPr>
            <p:cNvPr id="6350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8144" y="4941168"/>
              <a:ext cx="1296144" cy="985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5939536" y="5805148"/>
              <a:ext cx="1196196" cy="4002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adder #2</a:t>
              </a:r>
            </a:p>
          </p:txBody>
        </p:sp>
      </p:grpSp>
      <p:sp>
        <p:nvSpPr>
          <p:cNvPr id="63494" name="Freeform 12"/>
          <p:cNvSpPr>
            <a:spLocks noChangeArrowheads="1"/>
          </p:cNvSpPr>
          <p:nvPr/>
        </p:nvSpPr>
        <p:spPr bwMode="auto">
          <a:xfrm>
            <a:off x="2483669" y="4312348"/>
            <a:ext cx="1201738" cy="1046162"/>
          </a:xfrm>
          <a:custGeom>
            <a:avLst/>
            <a:gdLst>
              <a:gd name="T0" fmla="*/ 1117600 w 1202267"/>
              <a:gd name="T1" fmla="*/ 0 h 1045028"/>
              <a:gd name="T2" fmla="*/ 1016000 w 1202267"/>
              <a:gd name="T3" fmla="*/ 856343 h 1045028"/>
              <a:gd name="T4" fmla="*/ 0 w 1202267"/>
              <a:gd name="T5" fmla="*/ 1045028 h 1045028"/>
              <a:gd name="T6" fmla="*/ 0 60000 65536"/>
              <a:gd name="T7" fmla="*/ 0 60000 65536"/>
              <a:gd name="T8" fmla="*/ 0 60000 65536"/>
              <a:gd name="T9" fmla="*/ 0 w 1202267"/>
              <a:gd name="T10" fmla="*/ 0 h 1045028"/>
              <a:gd name="T11" fmla="*/ 1202267 w 1202267"/>
              <a:gd name="T12" fmla="*/ 1045028 h 10450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2267" h="1045028">
                <a:moveTo>
                  <a:pt x="1117600" y="0"/>
                </a:moveTo>
                <a:cubicBezTo>
                  <a:pt x="1159933" y="341086"/>
                  <a:pt x="1202267" y="682172"/>
                  <a:pt x="1016000" y="856343"/>
                </a:cubicBezTo>
                <a:cubicBezTo>
                  <a:pt x="829733" y="1030514"/>
                  <a:pt x="414866" y="1037771"/>
                  <a:pt x="0" y="1045028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63495" name="Freeform 13"/>
          <p:cNvSpPr>
            <a:spLocks noChangeArrowheads="1"/>
          </p:cNvSpPr>
          <p:nvPr/>
        </p:nvSpPr>
        <p:spPr bwMode="auto">
          <a:xfrm flipH="1">
            <a:off x="4817294" y="4312348"/>
            <a:ext cx="1201738" cy="1046162"/>
          </a:xfrm>
          <a:custGeom>
            <a:avLst/>
            <a:gdLst>
              <a:gd name="T0" fmla="*/ 1117600 w 1202267"/>
              <a:gd name="T1" fmla="*/ 0 h 1045028"/>
              <a:gd name="T2" fmla="*/ 1016000 w 1202267"/>
              <a:gd name="T3" fmla="*/ 856343 h 1045028"/>
              <a:gd name="T4" fmla="*/ 0 w 1202267"/>
              <a:gd name="T5" fmla="*/ 1045028 h 1045028"/>
              <a:gd name="T6" fmla="*/ 0 60000 65536"/>
              <a:gd name="T7" fmla="*/ 0 60000 65536"/>
              <a:gd name="T8" fmla="*/ 0 60000 65536"/>
              <a:gd name="T9" fmla="*/ 0 w 1202267"/>
              <a:gd name="T10" fmla="*/ 0 h 1045028"/>
              <a:gd name="T11" fmla="*/ 1202267 w 1202267"/>
              <a:gd name="T12" fmla="*/ 1045028 h 10450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2267" h="1045028">
                <a:moveTo>
                  <a:pt x="1117600" y="0"/>
                </a:moveTo>
                <a:cubicBezTo>
                  <a:pt x="1159933" y="341086"/>
                  <a:pt x="1202267" y="682172"/>
                  <a:pt x="1016000" y="856343"/>
                </a:cubicBezTo>
                <a:cubicBezTo>
                  <a:pt x="829733" y="1030514"/>
                  <a:pt x="414866" y="1037771"/>
                  <a:pt x="0" y="1045028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583682" y="4914010"/>
            <a:ext cx="5969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B050"/>
                </a:solidFill>
                <a:latin typeface="+mj-lt"/>
              </a:rPr>
              <a:t>z[1]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069" y="4482210"/>
            <a:ext cx="5953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B050"/>
                </a:solidFill>
                <a:latin typeface="+mj-lt"/>
              </a:rPr>
              <a:t>z[3]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4994" y="4914010"/>
            <a:ext cx="5969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B050"/>
                </a:solidFill>
                <a:latin typeface="+mj-lt"/>
              </a:rPr>
              <a:t>z[2]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8732" y="4482210"/>
            <a:ext cx="5969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B050"/>
                </a:solidFill>
                <a:latin typeface="+mj-lt"/>
              </a:rPr>
              <a:t>z[4]</a:t>
            </a:r>
          </a:p>
        </p:txBody>
      </p:sp>
      <p:sp>
        <p:nvSpPr>
          <p:cNvPr id="63500" name="TextBox 18"/>
          <p:cNvSpPr txBox="1">
            <a:spLocks noChangeArrowheads="1"/>
          </p:cNvSpPr>
          <p:nvPr/>
        </p:nvSpPr>
        <p:spPr bwMode="auto">
          <a:xfrm>
            <a:off x="2296344" y="3113785"/>
            <a:ext cx="4297363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>
                <a:latin typeface="Bodoni MT" panose="02070603080606020203" pitchFamily="18" charset="0"/>
              </a:rPr>
              <a:t>for (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 = 0; 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 &lt; 1000; 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++)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     z[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] = x[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] + y[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];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76C40-3FFA-DE46-939B-70AEA1EA1205}"/>
              </a:ext>
            </a:extLst>
          </p:cNvPr>
          <p:cNvSpPr txBox="1"/>
          <p:nvPr/>
        </p:nvSpPr>
        <p:spPr>
          <a:xfrm>
            <a:off x="8463516" y="4631625"/>
            <a:ext cx="26836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it?</a:t>
            </a:r>
          </a:p>
          <a:p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compiler?</a:t>
            </a:r>
          </a:p>
          <a:p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hardware?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Multiple Issue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static multiple issue - functional units are scheduled at compile time.</a:t>
            </a:r>
          </a:p>
          <a:p>
            <a:endParaRPr lang="en-US" altLang="en-US" b="0" dirty="0"/>
          </a:p>
          <a:p>
            <a:r>
              <a:rPr lang="en-US" altLang="en-US" b="0" dirty="0"/>
              <a:t>dynamic multiple issue – functional units are scheduled at run-time.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5968683" y="4968558"/>
            <a:ext cx="41190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/>
              <a:t>Superscalar</a:t>
            </a:r>
            <a:r>
              <a:rPr lang="zh-CN" altLang="en-US" dirty="0"/>
              <a:t>超标量</a:t>
            </a:r>
            <a:endParaRPr lang="en-US" altLang="en-US" dirty="0"/>
          </a:p>
        </p:txBody>
      </p:sp>
      <p:cxnSp>
        <p:nvCxnSpPr>
          <p:cNvPr id="64517" name="Straight Arrow Connector 6"/>
          <p:cNvCxnSpPr>
            <a:cxnSpLocks noChangeShapeType="1"/>
          </p:cNvCxnSpPr>
          <p:nvPr/>
        </p:nvCxnSpPr>
        <p:spPr bwMode="auto">
          <a:xfrm rot="16200000" flipV="1">
            <a:off x="6077426" y="4212114"/>
            <a:ext cx="792163" cy="720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Speculation (1)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63300" cy="1850390"/>
          </a:xfrm>
        </p:spPr>
        <p:txBody>
          <a:bodyPr/>
          <a:lstStyle/>
          <a:p>
            <a:r>
              <a:rPr lang="en-US" altLang="en-US" sz="3200" b="0"/>
              <a:t>In order to make use of multiple issue, the system must find instructions that can be executed simultaneously.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pic>
        <p:nvPicPr>
          <p:cNvPr id="65540" name="Picture 7" descr="C:\Documents and Settings\liszka\Local Settings\Temporary Internet Files\Content.IE5\3X5GU20H\MC90007862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608" y="3169285"/>
            <a:ext cx="11303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/>
          <p:nvPr/>
        </p:nvSpPr>
        <p:spPr bwMode="auto">
          <a:xfrm>
            <a:off x="2800350" y="3096260"/>
            <a:ext cx="7988300" cy="2736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kern="0">
                <a:solidFill>
                  <a:srgbClr val="003399"/>
                </a:solidFill>
                <a:latin typeface="+mn-lt"/>
              </a:rPr>
              <a:t>In speculation, the compiler or the processor makes a guess about an instruction, and then executes the instruction on the basis of the guess.</a:t>
            </a:r>
            <a:endParaRPr lang="en-US" kern="0" dirty="0">
              <a:solidFill>
                <a:srgbClr val="003399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Speculation (2)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2080260" y="1439863"/>
            <a:ext cx="2790825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>
                <a:latin typeface="NimbusMonL-Regu-Extend_850"/>
              </a:rPr>
              <a:t>z </a:t>
            </a:r>
            <a:r>
              <a:rPr lang="en-US" altLang="en-US" dirty="0">
                <a:latin typeface="NimbusRomNo9L-Regu"/>
              </a:rPr>
              <a:t>= </a:t>
            </a:r>
            <a:r>
              <a:rPr lang="en-US" altLang="en-US" dirty="0">
                <a:latin typeface="NimbusMonL-Regu-Extend_850"/>
              </a:rPr>
              <a:t>x </a:t>
            </a:r>
            <a:r>
              <a:rPr lang="en-US" altLang="en-US" dirty="0">
                <a:latin typeface="NimbusRomNo9L-Regu"/>
              </a:rPr>
              <a:t>+ </a:t>
            </a:r>
            <a:r>
              <a:rPr lang="en-US" altLang="en-US" dirty="0">
                <a:latin typeface="NimbusMonL-Regu-Extend_850"/>
              </a:rPr>
              <a:t>y </a:t>
            </a:r>
            <a:r>
              <a:rPr lang="en-US" altLang="en-US" dirty="0">
                <a:latin typeface="NimbusRomNo9L-Regu"/>
              </a:rPr>
              <a:t>;</a:t>
            </a:r>
          </a:p>
          <a:p>
            <a:r>
              <a:rPr lang="en-US" altLang="en-US" dirty="0">
                <a:latin typeface="NimbusRomNo9L-Medi"/>
              </a:rPr>
              <a:t>if </a:t>
            </a:r>
            <a:r>
              <a:rPr lang="en-US" altLang="en-US" dirty="0">
                <a:latin typeface="NimbusRomNo9L-Regu"/>
              </a:rPr>
              <a:t>( </a:t>
            </a:r>
            <a:r>
              <a:rPr lang="en-US" altLang="en-US" dirty="0">
                <a:latin typeface="NimbusMonL-Regu-Extend_850"/>
              </a:rPr>
              <a:t>z </a:t>
            </a:r>
            <a:r>
              <a:rPr lang="en-US" altLang="en-US" dirty="0">
                <a:latin typeface="CMMI10"/>
              </a:rPr>
              <a:t>&gt; </a:t>
            </a:r>
            <a:r>
              <a:rPr lang="en-US" altLang="en-US" dirty="0">
                <a:latin typeface="NimbusRomNo9L-Regu"/>
              </a:rPr>
              <a:t>0)</a:t>
            </a:r>
          </a:p>
          <a:p>
            <a:r>
              <a:rPr lang="en-US" altLang="en-US" dirty="0">
                <a:latin typeface="NimbusMonL-Regu-Extend_850"/>
              </a:rPr>
              <a:t>     </a:t>
            </a:r>
            <a:r>
              <a:rPr lang="en-US" altLang="en-US" dirty="0">
                <a:solidFill>
                  <a:srgbClr val="C00000"/>
                </a:solidFill>
                <a:latin typeface="NimbusMonL-Regu-Extend_850"/>
              </a:rPr>
              <a:t>w </a:t>
            </a:r>
            <a:r>
              <a:rPr lang="en-US" altLang="en-US" dirty="0">
                <a:solidFill>
                  <a:srgbClr val="C00000"/>
                </a:solidFill>
                <a:latin typeface="NimbusRomNo9L-Regu"/>
              </a:rPr>
              <a:t>= </a:t>
            </a:r>
            <a:r>
              <a:rPr lang="en-US" altLang="en-US" dirty="0">
                <a:solidFill>
                  <a:srgbClr val="C00000"/>
                </a:solidFill>
                <a:latin typeface="NimbusMonL-Regu-Extend_850"/>
              </a:rPr>
              <a:t>x </a:t>
            </a:r>
            <a:r>
              <a:rPr lang="en-US" altLang="en-US" dirty="0">
                <a:solidFill>
                  <a:srgbClr val="C00000"/>
                </a:solidFill>
                <a:latin typeface="NimbusRomNo9L-Regu"/>
              </a:rPr>
              <a:t>;</a:t>
            </a:r>
          </a:p>
          <a:p>
            <a:r>
              <a:rPr lang="en-US" altLang="en-US" dirty="0">
                <a:latin typeface="NimbusRomNo9L-Medi"/>
              </a:rPr>
              <a:t>else</a:t>
            </a:r>
          </a:p>
          <a:p>
            <a:r>
              <a:rPr lang="en-US" altLang="en-US" dirty="0">
                <a:latin typeface="NimbusMonL-Regu-Extend_850"/>
              </a:rPr>
              <a:t>     w </a:t>
            </a:r>
            <a:r>
              <a:rPr lang="en-US" altLang="en-US" dirty="0">
                <a:latin typeface="NimbusRomNo9L-Regu"/>
              </a:rPr>
              <a:t>= </a:t>
            </a:r>
            <a:r>
              <a:rPr lang="en-US" altLang="en-US" dirty="0">
                <a:latin typeface="NimbusMonL-Regu-Extend_850"/>
              </a:rPr>
              <a:t>y </a:t>
            </a:r>
            <a:r>
              <a:rPr lang="en-US" altLang="en-US" dirty="0">
                <a:latin typeface="NimbusRomNo9L-Regu"/>
              </a:rPr>
              <a:t>;</a:t>
            </a:r>
            <a:endParaRPr lang="en-US" altLang="en-US" dirty="0"/>
          </a:p>
        </p:txBody>
      </p:sp>
      <p:pic>
        <p:nvPicPr>
          <p:cNvPr id="66564" name="Picture 2" descr="C:\Documents and Settings\liszka\Local Settings\Temporary Internet Files\Content.IE5\1G3WK4XC\MC900059557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965" y="3383280"/>
            <a:ext cx="1554480" cy="2321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680710" y="2232025"/>
            <a:ext cx="1196975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Z will be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+mj-lt"/>
              </a:rPr>
              <a:t>positive</a:t>
            </a:r>
          </a:p>
        </p:txBody>
      </p:sp>
      <p:sp>
        <p:nvSpPr>
          <p:cNvPr id="66566" name="Cloud Callout 7"/>
          <p:cNvSpPr>
            <a:spLocks noChangeArrowheads="1"/>
          </p:cNvSpPr>
          <p:nvPr/>
        </p:nvSpPr>
        <p:spPr bwMode="auto">
          <a:xfrm>
            <a:off x="5393373" y="2087563"/>
            <a:ext cx="1582737" cy="1152525"/>
          </a:xfrm>
          <a:prstGeom prst="cloudCallout">
            <a:avLst>
              <a:gd name="adj1" fmla="val -28162"/>
              <a:gd name="adj2" fmla="val 73838"/>
            </a:avLst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13145" y="5170805"/>
            <a:ext cx="5166360" cy="90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+mj-lt"/>
              </a:rPr>
              <a:t>If the system speculates incorrectly,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+mj-lt"/>
              </a:rPr>
              <a:t>it must go back and recalculate w = 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6" y="215736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Hardware multithreading </a:t>
            </a:r>
            <a:r>
              <a:rPr>
                <a:sym typeface="+mn-ea"/>
              </a:rPr>
              <a:t>硬件多线程</a:t>
            </a:r>
            <a:r>
              <a:rPr lang="en-US">
                <a:sym typeface="+mn-ea"/>
              </a:rPr>
              <a:t>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410845" y="1008380"/>
            <a:ext cx="12262485" cy="5593715"/>
          </a:xfrm>
        </p:spPr>
        <p:txBody>
          <a:bodyPr/>
          <a:lstStyle/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指令级并行很难利用，因为程序中有许多部分之间存在依赖关系 </a:t>
            </a:r>
            <a:r>
              <a:rPr lang="en-US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There aren’t always good opportunities for simultaneous execution of different threads</a:t>
            </a:r>
          </a:p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>
                <a:latin typeface="Calibri" panose="020F0502020204030204" pitchFamily="34" charset="0"/>
                <a:cs typeface="Calibri" panose="020F0502020204030204" pitchFamily="34" charset="0"/>
              </a:rPr>
              <a:t>Hardware multithreading provides a means for systems to continue doing useful work when the task being currently executed has stalled.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Ex., the current task has to wait for data to be loaded from memory.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Hardware multithreading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640080" y="1080135"/>
            <a:ext cx="11612880" cy="5245100"/>
          </a:xfrm>
        </p:spPr>
        <p:txBody>
          <a:bodyPr/>
          <a:lstStyle/>
          <a:p>
            <a:r>
              <a:rPr lang="en-US" altLang="en-US" b="0" dirty="0"/>
              <a:t>Fine-grained </a:t>
            </a:r>
            <a:r>
              <a:rPr lang="zh-CN" altLang="en-US" b="0" dirty="0"/>
              <a:t>细粒度</a:t>
            </a:r>
            <a:r>
              <a:rPr lang="en-US" altLang="en-US" b="0" dirty="0"/>
              <a:t>- the processor switches between threads after each instruction, skipping threads that are stalled.</a:t>
            </a:r>
            <a:br>
              <a:rPr lang="en-US" altLang="en-US" b="0" dirty="0"/>
            </a:br>
            <a:endParaRPr lang="en-US" altLang="en-US" b="0" dirty="0"/>
          </a:p>
          <a:p>
            <a:pPr lvl="1"/>
            <a:r>
              <a:rPr lang="en-US" altLang="en-US" b="0" u="sng" dirty="0"/>
              <a:t>Pros</a:t>
            </a:r>
            <a:r>
              <a:rPr lang="en-US" altLang="en-US" b="0" dirty="0"/>
              <a:t>: potential to avoid wasted machine time due to stalls.</a:t>
            </a:r>
          </a:p>
          <a:p>
            <a:pPr lvl="1"/>
            <a:r>
              <a:rPr lang="en-US" altLang="en-US" b="0" u="sng" dirty="0"/>
              <a:t>Cons</a:t>
            </a:r>
            <a:r>
              <a:rPr lang="en-US" altLang="en-US" b="0" dirty="0"/>
              <a:t>: a thread that’s ready to execute a long sequence of instructions may have to wait to execute every instruction.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Hardware multithreading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69634" name="Content Placeholder 2"/>
          <p:cNvSpPr>
            <a:spLocks noGrp="1"/>
          </p:cNvSpPr>
          <p:nvPr>
            <p:ph idx="1"/>
          </p:nvPr>
        </p:nvSpPr>
        <p:spPr>
          <a:xfrm>
            <a:off x="433705" y="1080135"/>
            <a:ext cx="11727815" cy="5114925"/>
          </a:xfrm>
        </p:spPr>
        <p:txBody>
          <a:bodyPr/>
          <a:lstStyle/>
          <a:p>
            <a:r>
              <a:rPr lang="en-US" altLang="en-US" b="0" dirty="0"/>
              <a:t>Coarse-grained </a:t>
            </a:r>
            <a:r>
              <a:rPr lang="zh-CN" altLang="en-US" b="0" dirty="0"/>
              <a:t>粗粒度</a:t>
            </a:r>
            <a:r>
              <a:rPr lang="en-US" altLang="en-US" b="0" dirty="0"/>
              <a:t> - only switches threads that are stalled waiting for a time-consuming operation to complete.</a:t>
            </a:r>
          </a:p>
          <a:p>
            <a:endParaRPr lang="en-US" altLang="en-US" b="0" dirty="0"/>
          </a:p>
          <a:p>
            <a:pPr lvl="1"/>
            <a:r>
              <a:rPr lang="en-US" altLang="en-US" b="0" u="sng" dirty="0"/>
              <a:t>Pros</a:t>
            </a:r>
            <a:r>
              <a:rPr lang="en-US" altLang="en-US" b="0" dirty="0"/>
              <a:t>: switching threads doesn’t need to be nearly instantaneous.</a:t>
            </a:r>
          </a:p>
          <a:p>
            <a:pPr lvl="1"/>
            <a:r>
              <a:rPr lang="en-US" altLang="en-US" b="0" u="sng" dirty="0"/>
              <a:t>Cons</a:t>
            </a:r>
            <a:r>
              <a:rPr lang="en-US" altLang="en-US" b="0" dirty="0"/>
              <a:t>: the processor can be idled on shorter stalls, and thread switching will also cause delays.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Hardware multithreading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>
          <a:xfrm>
            <a:off x="640080" y="1080135"/>
            <a:ext cx="11581765" cy="5518150"/>
          </a:xfrm>
        </p:spPr>
        <p:txBody>
          <a:bodyPr>
            <a:normAutofit fontScale="90000"/>
          </a:bodyPr>
          <a:lstStyle/>
          <a:p>
            <a:r>
              <a:rPr lang="en-US" altLang="en-US" b="0" dirty="0"/>
              <a:t>Simultaneous multithreading </a:t>
            </a:r>
            <a:r>
              <a:rPr lang="zh-CN" altLang="en-US" b="0" dirty="0"/>
              <a:t>同步多线程</a:t>
            </a:r>
            <a:r>
              <a:rPr lang="en-US" altLang="en-US" b="0" dirty="0"/>
              <a:t>(SMT) - a variation on fine-grained multithreading.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Allows multiple threads to make use of the multiple functional units.</a:t>
            </a:r>
          </a:p>
          <a:p>
            <a:pPr lvl="1"/>
            <a:r>
              <a:rPr lang="en-US" altLang="en-US" b="0" dirty="0"/>
              <a:t>More registers and functional units for thread states of multiple concurrent threads.</a:t>
            </a:r>
          </a:p>
          <a:p>
            <a:endParaRPr lang="en-US" altLang="en-US" b="0" dirty="0"/>
          </a:p>
          <a:p>
            <a:r>
              <a:rPr lang="en-US" b="0" dirty="0"/>
              <a:t> Issue multiple instructions from multiple threads in one cycle. The processor must be superscalar to do so.</a:t>
            </a:r>
            <a:endParaRPr lang="en-US" altLang="en-US" b="0" dirty="0"/>
          </a:p>
          <a:p>
            <a:endParaRPr lang="en-US" altLang="en-US" b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73" y="72390"/>
            <a:ext cx="6487193" cy="680439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3304773" y="5727466"/>
            <a:ext cx="325210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481287" y="5897622"/>
            <a:ext cx="164592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1649413" y="4752340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Parallel hardware</a:t>
            </a:r>
          </a:p>
        </p:txBody>
      </p:sp>
      <p:sp>
        <p:nvSpPr>
          <p:cNvPr id="71682" name="Text Placeholder 14"/>
          <p:cNvSpPr>
            <a:spLocks noGrp="1"/>
          </p:cNvSpPr>
          <p:nvPr>
            <p:ph type="body" idx="1"/>
          </p:nvPr>
        </p:nvSpPr>
        <p:spPr>
          <a:xfrm>
            <a:off x="1720215" y="3960495"/>
            <a:ext cx="10388600" cy="1570990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A programmer can write code to exploit.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338763" y="6701790"/>
            <a:ext cx="4054475" cy="384175"/>
          </a:xfrm>
        </p:spPr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pic>
        <p:nvPicPr>
          <p:cNvPr id="71684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590" y="136779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5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5" y="575628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5" y="2591753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503" y="7239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9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878" y="1007428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0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568" y="719138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1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828" y="1656715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2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065" y="179959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3" name="Picture 2" descr="C:\Documents and Settings\liszka\Local Settings\Temporary Internet Files\Content.IE5\Q7HGDQRM\MC90043390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740" y="201549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Flynn’s Taxonomy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57</a:t>
            </a:fld>
            <a:endParaRPr lang="zh-CN" altLang="en-US"/>
          </a:p>
        </p:txBody>
      </p:sp>
      <p:grpSp>
        <p:nvGrpSpPr>
          <p:cNvPr id="3" name="Group 18"/>
          <p:cNvGrpSpPr/>
          <p:nvPr/>
        </p:nvGrpSpPr>
        <p:grpSpPr bwMode="auto">
          <a:xfrm>
            <a:off x="2512695" y="1440180"/>
            <a:ext cx="7412355" cy="4247515"/>
            <a:chOff x="1331640" y="1124744"/>
            <a:chExt cx="7128792" cy="4032448"/>
          </a:xfrm>
        </p:grpSpPr>
        <p:sp>
          <p:nvSpPr>
            <p:cNvPr id="5" name="TextBox 8"/>
            <p:cNvSpPr txBox="1"/>
            <p:nvPr/>
          </p:nvSpPr>
          <p:spPr>
            <a:xfrm>
              <a:off x="1734827" y="1485124"/>
              <a:ext cx="2990569" cy="107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SISD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Single instruction stream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Single data stream</a:t>
              </a:r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4974610" y="1485124"/>
              <a:ext cx="2992155" cy="107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(SIMD)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Single instruction stream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Multiple data stream</a:t>
              </a:r>
            </a:p>
          </p:txBody>
        </p:sp>
        <p:sp>
          <p:nvSpPr>
            <p:cNvPr id="7" name="TextBox 11"/>
            <p:cNvSpPr txBox="1"/>
            <p:nvPr/>
          </p:nvSpPr>
          <p:spPr>
            <a:xfrm>
              <a:off x="1649110" y="3285437"/>
              <a:ext cx="3162002" cy="107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MISD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Multiple </a:t>
              </a:r>
              <a:r>
                <a:rPr lang="en-US" sz="2000" dirty="0">
                  <a:latin typeface="+mj-lt"/>
                </a:rPr>
                <a:t>instruction stream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Single data stream</a:t>
              </a:r>
            </a:p>
          </p:txBody>
        </p:sp>
        <p:sp>
          <p:nvSpPr>
            <p:cNvPr id="8" name="TextBox 12"/>
            <p:cNvSpPr txBox="1"/>
            <p:nvPr/>
          </p:nvSpPr>
          <p:spPr>
            <a:xfrm>
              <a:off x="4888893" y="3285437"/>
              <a:ext cx="3162002" cy="107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(MIMD)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/>
                </a:rPr>
                <a:t>Multiple </a:t>
              </a:r>
              <a:r>
                <a:rPr lang="en-US" sz="2000" dirty="0">
                  <a:latin typeface="+mj-lt"/>
                </a:rPr>
                <a:t>instruction stream</a:t>
              </a:r>
            </a:p>
            <a:p>
              <a:pPr algn="ctr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000" dirty="0">
                  <a:latin typeface="+mj-lt"/>
                </a:rPr>
                <a:t>Multiple data stream</a:t>
              </a: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1331640" y="1124744"/>
              <a:ext cx="7128792" cy="403244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9pPr>
            </a:lstStyle>
            <a:p>
              <a:endParaRPr lang="en-GB" altLang="en-US"/>
            </a:p>
          </p:txBody>
        </p:sp>
        <p:cxnSp>
          <p:nvCxnSpPr>
            <p:cNvPr id="14" name="Straight Connector 15"/>
            <p:cNvCxnSpPr>
              <a:cxnSpLocks noChangeShapeType="1"/>
              <a:stCxn id="11" idx="0"/>
              <a:endCxn id="11" idx="2"/>
            </p:cNvCxnSpPr>
            <p:nvPr/>
          </p:nvCxnSpPr>
          <p:spPr bwMode="auto">
            <a:xfrm rot="16200000" flipH="1">
              <a:off x="2879812" y="3140968"/>
              <a:ext cx="403244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17"/>
            <p:cNvCxnSpPr>
              <a:cxnSpLocks noChangeShapeType="1"/>
              <a:stCxn id="11" idx="1"/>
              <a:endCxn id="11" idx="3"/>
            </p:cNvCxnSpPr>
            <p:nvPr/>
          </p:nvCxnSpPr>
          <p:spPr bwMode="auto">
            <a:xfrm rot="10800000" flipH="1">
              <a:off x="1331640" y="3140968"/>
              <a:ext cx="712879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" name="Rectangle 19"/>
          <p:cNvSpPr>
            <a:spLocks noChangeArrowheads="1"/>
          </p:cNvSpPr>
          <p:nvPr/>
        </p:nvSpPr>
        <p:spPr bwMode="auto">
          <a:xfrm rot="-1261456">
            <a:off x="1912620" y="1582738"/>
            <a:ext cx="28797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classic von Neumann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 rot="1898227">
            <a:off x="3503295" y="5229225"/>
            <a:ext cx="1655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not covered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SIMD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737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Parallelism achieved by dividing data among the processors.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Applies the same instruction to multiple data items.</a:t>
            </a:r>
          </a:p>
          <a:p>
            <a:endParaRPr lang="en-US" altLang="en-US" b="0"/>
          </a:p>
          <a:p>
            <a:r>
              <a:rPr lang="en-US" altLang="en-US" b="0"/>
              <a:t>Called </a:t>
            </a:r>
            <a:r>
              <a:rPr lang="en-US" altLang="en-US" b="0">
                <a:solidFill>
                  <a:srgbClr val="00B050"/>
                </a:solidFill>
              </a:rPr>
              <a:t>data parallelism</a:t>
            </a:r>
            <a:r>
              <a:rPr lang="en-US" altLang="en-US" b="0"/>
              <a:t>.</a:t>
            </a:r>
          </a:p>
          <a:p>
            <a:endParaRPr lang="en-US" altLang="en-US" b="0"/>
          </a:p>
          <a:p>
            <a:endParaRPr lang="en-US" altLang="en-US" b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SIMD example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74755" name="Rectangle 4"/>
          <p:cNvSpPr>
            <a:spLocks noChangeArrowheads="1"/>
          </p:cNvSpPr>
          <p:nvPr/>
        </p:nvSpPr>
        <p:spPr bwMode="auto">
          <a:xfrm>
            <a:off x="4240213" y="2087245"/>
            <a:ext cx="720725" cy="4333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4756" name="Rectangle 5"/>
          <p:cNvSpPr>
            <a:spLocks noChangeArrowheads="1"/>
          </p:cNvSpPr>
          <p:nvPr/>
        </p:nvSpPr>
        <p:spPr bwMode="auto">
          <a:xfrm>
            <a:off x="3952875" y="1728470"/>
            <a:ext cx="1438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control unit</a:t>
            </a:r>
            <a:endParaRPr lang="en-US" altLang="en-US">
              <a:solidFill>
                <a:srgbClr val="0066FF"/>
              </a:solidFill>
            </a:endParaRPr>
          </a:p>
        </p:txBody>
      </p:sp>
      <p:sp>
        <p:nvSpPr>
          <p:cNvPr id="74757" name="Rectangle 6"/>
          <p:cNvSpPr>
            <a:spLocks noChangeArrowheads="1"/>
          </p:cNvSpPr>
          <p:nvPr/>
        </p:nvSpPr>
        <p:spPr bwMode="auto">
          <a:xfrm>
            <a:off x="2295525" y="2952433"/>
            <a:ext cx="720725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4758" name="Rectangle 7"/>
          <p:cNvSpPr>
            <a:spLocks noChangeArrowheads="1"/>
          </p:cNvSpPr>
          <p:nvPr/>
        </p:nvSpPr>
        <p:spPr bwMode="auto">
          <a:xfrm>
            <a:off x="3592513" y="2952433"/>
            <a:ext cx="7191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4759" name="Rectangle 8"/>
          <p:cNvSpPr>
            <a:spLocks noChangeArrowheads="1"/>
          </p:cNvSpPr>
          <p:nvPr/>
        </p:nvSpPr>
        <p:spPr bwMode="auto">
          <a:xfrm>
            <a:off x="6111875" y="2952433"/>
            <a:ext cx="720725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4760" name="Rectangle 9"/>
          <p:cNvSpPr>
            <a:spLocks noChangeArrowheads="1"/>
          </p:cNvSpPr>
          <p:nvPr/>
        </p:nvSpPr>
        <p:spPr bwMode="auto">
          <a:xfrm>
            <a:off x="2295525" y="3455670"/>
            <a:ext cx="779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ALU</a:t>
            </a:r>
            <a:r>
              <a:rPr lang="en-US" altLang="en-US" sz="2000" baseline="-25000">
                <a:solidFill>
                  <a:srgbClr val="0066FF"/>
                </a:solidFill>
                <a:latin typeface="Arial" panose="020B0604020202020204" pitchFamily="34" charset="0"/>
              </a:rPr>
              <a:t>1</a:t>
            </a:r>
            <a:endParaRPr lang="en-US" altLang="en-US" baseline="-25000">
              <a:solidFill>
                <a:srgbClr val="0066FF"/>
              </a:solidFill>
            </a:endParaRPr>
          </a:p>
        </p:txBody>
      </p:sp>
      <p:sp>
        <p:nvSpPr>
          <p:cNvPr id="74761" name="Rectangle 10"/>
          <p:cNvSpPr>
            <a:spLocks noChangeArrowheads="1"/>
          </p:cNvSpPr>
          <p:nvPr/>
        </p:nvSpPr>
        <p:spPr bwMode="auto">
          <a:xfrm>
            <a:off x="3592513" y="3455670"/>
            <a:ext cx="779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ALU</a:t>
            </a:r>
            <a:r>
              <a:rPr lang="en-US" altLang="en-US" sz="2000" baseline="-25000">
                <a:solidFill>
                  <a:srgbClr val="0066FF"/>
                </a:solidFill>
                <a:latin typeface="Arial" panose="020B0604020202020204" pitchFamily="34" charset="0"/>
              </a:rPr>
              <a:t>2</a:t>
            </a:r>
            <a:endParaRPr lang="en-US" altLang="en-US" baseline="-25000">
              <a:solidFill>
                <a:srgbClr val="0066FF"/>
              </a:solidFill>
            </a:endParaRPr>
          </a:p>
        </p:txBody>
      </p:sp>
      <p:sp>
        <p:nvSpPr>
          <p:cNvPr id="74762" name="Rectangle 11"/>
          <p:cNvSpPr>
            <a:spLocks noChangeArrowheads="1"/>
          </p:cNvSpPr>
          <p:nvPr/>
        </p:nvSpPr>
        <p:spPr bwMode="auto">
          <a:xfrm>
            <a:off x="6111875" y="3455670"/>
            <a:ext cx="779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66FF"/>
                </a:solidFill>
                <a:latin typeface="Arial" panose="020B0604020202020204" pitchFamily="34" charset="0"/>
              </a:rPr>
              <a:t>ALU</a:t>
            </a:r>
            <a:r>
              <a:rPr lang="en-US" altLang="en-US" sz="2000" baseline="-25000">
                <a:solidFill>
                  <a:srgbClr val="0066FF"/>
                </a:solidFill>
                <a:latin typeface="Arial" panose="020B0604020202020204" pitchFamily="34" charset="0"/>
              </a:rPr>
              <a:t>n</a:t>
            </a:r>
            <a:endParaRPr lang="en-US" altLang="en-US" baseline="-25000">
              <a:solidFill>
                <a:srgbClr val="0066FF"/>
              </a:solidFill>
            </a:endParaRPr>
          </a:p>
        </p:txBody>
      </p:sp>
      <p:sp>
        <p:nvSpPr>
          <p:cNvPr id="74763" name="Rectangle 12"/>
          <p:cNvSpPr>
            <a:spLocks noChangeArrowheads="1"/>
          </p:cNvSpPr>
          <p:nvPr/>
        </p:nvSpPr>
        <p:spPr bwMode="auto">
          <a:xfrm>
            <a:off x="4960938" y="2807970"/>
            <a:ext cx="646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3600">
                <a:solidFill>
                  <a:srgbClr val="000000"/>
                </a:solidFill>
                <a:latin typeface="Arial" panose="020B0604020202020204" pitchFamily="34" charset="0"/>
              </a:rPr>
              <a:t>…</a:t>
            </a:r>
            <a:endParaRPr lang="en-US" altLang="en-US" sz="3600"/>
          </a:p>
        </p:txBody>
      </p:sp>
      <p:sp>
        <p:nvSpPr>
          <p:cNvPr id="74764" name="TextBox 13"/>
          <p:cNvSpPr txBox="1">
            <a:spLocks noChangeArrowheads="1"/>
          </p:cNvSpPr>
          <p:nvPr/>
        </p:nvSpPr>
        <p:spPr bwMode="auto">
          <a:xfrm>
            <a:off x="3160078" y="4104640"/>
            <a:ext cx="3843337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>
                <a:latin typeface="Bodoni MT" panose="02070603080606020203" pitchFamily="18" charset="0"/>
              </a:rPr>
              <a:t>for (i = 0; i &lt; n; i++)</a:t>
            </a:r>
          </a:p>
          <a:p>
            <a:r>
              <a:rPr lang="en-US" altLang="en-US">
                <a:latin typeface="Bodoni MT" panose="02070603080606020203" pitchFamily="18" charset="0"/>
              </a:rPr>
              <a:t>     x[i] += y[i];</a:t>
            </a:r>
          </a:p>
        </p:txBody>
      </p:sp>
      <p:cxnSp>
        <p:nvCxnSpPr>
          <p:cNvPr id="74765" name="Elbow Connector 15"/>
          <p:cNvCxnSpPr>
            <a:cxnSpLocks noChangeShapeType="1"/>
            <a:stCxn id="74755" idx="1"/>
            <a:endCxn id="74757" idx="0"/>
          </p:cNvCxnSpPr>
          <p:nvPr/>
        </p:nvCxnSpPr>
        <p:spPr bwMode="auto">
          <a:xfrm rot="10800000" flipV="1">
            <a:off x="2656205" y="2304415"/>
            <a:ext cx="1584325" cy="64833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66" name="Elbow Connector 15"/>
          <p:cNvCxnSpPr>
            <a:cxnSpLocks noChangeShapeType="1"/>
          </p:cNvCxnSpPr>
          <p:nvPr/>
        </p:nvCxnSpPr>
        <p:spPr bwMode="auto">
          <a:xfrm rot="10800000" flipH="1" flipV="1">
            <a:off x="4960938" y="2304733"/>
            <a:ext cx="1584325" cy="6477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67" name="Straight Arrow Connector 22"/>
          <p:cNvCxnSpPr>
            <a:cxnSpLocks noChangeShapeType="1"/>
            <a:stCxn id="74758" idx="0"/>
          </p:cNvCxnSpPr>
          <p:nvPr/>
        </p:nvCxnSpPr>
        <p:spPr bwMode="auto">
          <a:xfrm rot="5400000" flipH="1" flipV="1">
            <a:off x="3628867" y="2627789"/>
            <a:ext cx="6477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768" name="Rectangle 23"/>
          <p:cNvSpPr>
            <a:spLocks noChangeArrowheads="1"/>
          </p:cNvSpPr>
          <p:nvPr/>
        </p:nvSpPr>
        <p:spPr bwMode="auto">
          <a:xfrm>
            <a:off x="2295525" y="2952433"/>
            <a:ext cx="708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Bodoni MT" panose="02070603080606020203" pitchFamily="18" charset="0"/>
              </a:rPr>
              <a:t>x[1]</a:t>
            </a:r>
            <a:endParaRPr lang="en-US" altLang="en-US" sz="2400"/>
          </a:p>
        </p:txBody>
      </p:sp>
      <p:sp>
        <p:nvSpPr>
          <p:cNvPr id="74769" name="Rectangle 24"/>
          <p:cNvSpPr>
            <a:spLocks noChangeArrowheads="1"/>
          </p:cNvSpPr>
          <p:nvPr/>
        </p:nvSpPr>
        <p:spPr bwMode="auto">
          <a:xfrm>
            <a:off x="3592513" y="2952433"/>
            <a:ext cx="706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Bodoni MT" panose="02070603080606020203" pitchFamily="18" charset="0"/>
              </a:rPr>
              <a:t>x[2]</a:t>
            </a:r>
            <a:endParaRPr lang="en-US" altLang="en-US" sz="2400"/>
          </a:p>
        </p:txBody>
      </p:sp>
      <p:sp>
        <p:nvSpPr>
          <p:cNvPr id="74770" name="Rectangle 25"/>
          <p:cNvSpPr>
            <a:spLocks noChangeArrowheads="1"/>
          </p:cNvSpPr>
          <p:nvPr/>
        </p:nvSpPr>
        <p:spPr bwMode="auto">
          <a:xfrm>
            <a:off x="6111875" y="2952433"/>
            <a:ext cx="723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Bodoni MT" panose="02070603080606020203" pitchFamily="18" charset="0"/>
              </a:rPr>
              <a:t>x[n]</a:t>
            </a:r>
            <a:endParaRPr lang="en-US" altLang="en-US" sz="2400"/>
          </a:p>
        </p:txBody>
      </p:sp>
      <p:sp>
        <p:nvSpPr>
          <p:cNvPr id="74771" name="Rectangle 26"/>
          <p:cNvSpPr>
            <a:spLocks noChangeArrowheads="1"/>
          </p:cNvSpPr>
          <p:nvPr/>
        </p:nvSpPr>
        <p:spPr bwMode="auto">
          <a:xfrm>
            <a:off x="7912735" y="1584008"/>
            <a:ext cx="1842770" cy="903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00B050"/>
                </a:solidFill>
                <a:latin typeface="Arial" panose="020B0604020202020204" pitchFamily="34" charset="0"/>
              </a:rPr>
              <a:t>n data items</a:t>
            </a:r>
          </a:p>
          <a:p>
            <a:r>
              <a:rPr lang="en-US" altLang="en-US" sz="2400">
                <a:solidFill>
                  <a:srgbClr val="00B050"/>
                </a:solidFill>
                <a:latin typeface="Arial" panose="020B0604020202020204" pitchFamily="34" charset="0"/>
              </a:rPr>
              <a:t>n ALUs</a:t>
            </a:r>
          </a:p>
        </p:txBody>
      </p:sp>
      <p:sp>
        <p:nvSpPr>
          <p:cNvPr id="74772" name="Freeform 30"/>
          <p:cNvSpPr>
            <a:spLocks noChangeArrowheads="1"/>
          </p:cNvSpPr>
          <p:nvPr/>
        </p:nvSpPr>
        <p:spPr bwMode="auto">
          <a:xfrm>
            <a:off x="7265035" y="2086928"/>
            <a:ext cx="474663" cy="1593850"/>
          </a:xfrm>
          <a:custGeom>
            <a:avLst/>
            <a:gdLst>
              <a:gd name="T0" fmla="*/ 420914 w 474132"/>
              <a:gd name="T1" fmla="*/ 128209 h 1594152"/>
              <a:gd name="T2" fmla="*/ 145142 w 474132"/>
              <a:gd name="T3" fmla="*/ 128209 h 1594152"/>
              <a:gd name="T4" fmla="*/ 449942 w 474132"/>
              <a:gd name="T5" fmla="*/ 897466 h 1594152"/>
              <a:gd name="T6" fmla="*/ 0 w 474132"/>
              <a:gd name="T7" fmla="*/ 1594152 h 1594152"/>
              <a:gd name="T8" fmla="*/ 0 60000 65536"/>
              <a:gd name="T9" fmla="*/ 0 60000 65536"/>
              <a:gd name="T10" fmla="*/ 0 60000 65536"/>
              <a:gd name="T11" fmla="*/ 0 60000 65536"/>
              <a:gd name="T12" fmla="*/ 0 w 474132"/>
              <a:gd name="T13" fmla="*/ 0 h 1594152"/>
              <a:gd name="T14" fmla="*/ 474132 w 474132"/>
              <a:gd name="T15" fmla="*/ 1594152 h 1594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4132" h="1594152">
                <a:moveTo>
                  <a:pt x="420914" y="128209"/>
                </a:moveTo>
                <a:cubicBezTo>
                  <a:pt x="280609" y="64104"/>
                  <a:pt x="140304" y="0"/>
                  <a:pt x="145142" y="128209"/>
                </a:cubicBezTo>
                <a:cubicBezTo>
                  <a:pt x="149980" y="256418"/>
                  <a:pt x="474132" y="653142"/>
                  <a:pt x="449942" y="897466"/>
                </a:cubicBezTo>
                <a:cubicBezTo>
                  <a:pt x="425752" y="1141790"/>
                  <a:pt x="212876" y="1367971"/>
                  <a:pt x="0" y="1594152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74773" name="Freeform 31"/>
          <p:cNvSpPr>
            <a:spLocks noChangeArrowheads="1"/>
          </p:cNvSpPr>
          <p:nvPr/>
        </p:nvSpPr>
        <p:spPr bwMode="auto">
          <a:xfrm>
            <a:off x="6400483" y="1686878"/>
            <a:ext cx="3929062" cy="3592512"/>
          </a:xfrm>
          <a:custGeom>
            <a:avLst/>
            <a:gdLst>
              <a:gd name="T0" fmla="*/ 3468914 w 3928534"/>
              <a:gd name="T1" fmla="*/ 147562 h 3592285"/>
              <a:gd name="T2" fmla="*/ 3889828 w 3928534"/>
              <a:gd name="T3" fmla="*/ 162076 h 3592285"/>
              <a:gd name="T4" fmla="*/ 3236686 w 3928534"/>
              <a:gd name="T5" fmla="*/ 1120020 h 3592285"/>
              <a:gd name="T6" fmla="*/ 3686628 w 3928534"/>
              <a:gd name="T7" fmla="*/ 1265163 h 3592285"/>
              <a:gd name="T8" fmla="*/ 2481942 w 3928534"/>
              <a:gd name="T9" fmla="*/ 2368247 h 3592285"/>
              <a:gd name="T10" fmla="*/ 3091542 w 3928534"/>
              <a:gd name="T11" fmla="*/ 2426305 h 3592285"/>
              <a:gd name="T12" fmla="*/ 1901372 w 3928534"/>
              <a:gd name="T13" fmla="*/ 3485847 h 3592285"/>
              <a:gd name="T14" fmla="*/ 0 w 3928534"/>
              <a:gd name="T15" fmla="*/ 3064933 h 359228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928534"/>
              <a:gd name="T25" fmla="*/ 0 h 3592285"/>
              <a:gd name="T26" fmla="*/ 3928534 w 3928534"/>
              <a:gd name="T27" fmla="*/ 3592285 h 359228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928534" h="3592285">
                <a:moveTo>
                  <a:pt x="3468915" y="147562"/>
                </a:moveTo>
                <a:cubicBezTo>
                  <a:pt x="3698724" y="73781"/>
                  <a:pt x="3928534" y="0"/>
                  <a:pt x="3889829" y="162076"/>
                </a:cubicBezTo>
                <a:cubicBezTo>
                  <a:pt x="3851124" y="324152"/>
                  <a:pt x="3270553" y="936171"/>
                  <a:pt x="3236686" y="1120019"/>
                </a:cubicBezTo>
                <a:cubicBezTo>
                  <a:pt x="3202819" y="1303867"/>
                  <a:pt x="3812419" y="1057124"/>
                  <a:pt x="3686629" y="1265162"/>
                </a:cubicBezTo>
                <a:cubicBezTo>
                  <a:pt x="3560839" y="1473200"/>
                  <a:pt x="2581124" y="2174723"/>
                  <a:pt x="2481943" y="2368247"/>
                </a:cubicBezTo>
                <a:cubicBezTo>
                  <a:pt x="2382762" y="2561771"/>
                  <a:pt x="3188305" y="2240038"/>
                  <a:pt x="3091543" y="2426305"/>
                </a:cubicBezTo>
                <a:cubicBezTo>
                  <a:pt x="2994781" y="2612572"/>
                  <a:pt x="2416629" y="3379409"/>
                  <a:pt x="1901372" y="3485847"/>
                </a:cubicBezTo>
                <a:cubicBezTo>
                  <a:pt x="1386115" y="3592285"/>
                  <a:pt x="693057" y="3328609"/>
                  <a:pt x="0" y="3064933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SIMD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75778" name="Content Placeholder 28"/>
          <p:cNvSpPr>
            <a:spLocks noGrp="1"/>
          </p:cNvSpPr>
          <p:nvPr>
            <p:ph idx="1"/>
          </p:nvPr>
        </p:nvSpPr>
        <p:spPr>
          <a:xfrm>
            <a:off x="684530" y="1125855"/>
            <a:ext cx="11436350" cy="2881630"/>
          </a:xfrm>
        </p:spPr>
        <p:txBody>
          <a:bodyPr/>
          <a:lstStyle/>
          <a:p>
            <a:r>
              <a:rPr lang="en-US" altLang="en-US" sz="3200" b="0"/>
              <a:t>What if we don’t have as many ALUs as data items? </a:t>
            </a:r>
          </a:p>
          <a:p>
            <a:r>
              <a:rPr lang="en-US" altLang="en-US" sz="3200" b="0"/>
              <a:t>Divide the work and process iteratively.</a:t>
            </a:r>
          </a:p>
          <a:p>
            <a:r>
              <a:rPr lang="en-US" altLang="en-US" sz="3200" b="0"/>
              <a:t>Ex. m = 4 ALUs   and   n = 15 data items.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46095" y="3456305"/>
          <a:ext cx="6713855" cy="2365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Round3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ALU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ALU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ALU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ALU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X[4]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X[7]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X[14]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SIMD drawbacks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>
          <a:xfrm>
            <a:off x="640080" y="1296035"/>
            <a:ext cx="11233150" cy="5033645"/>
          </a:xfrm>
        </p:spPr>
        <p:txBody>
          <a:bodyPr/>
          <a:lstStyle/>
          <a:p>
            <a:r>
              <a:rPr lang="en-US" altLang="en-US" sz="3200" b="0"/>
              <a:t>All ALUs are required to execute the same instruction, or remain idle.</a:t>
            </a:r>
          </a:p>
          <a:p>
            <a:r>
              <a:rPr lang="en-US" altLang="en-US" sz="3200" b="0"/>
              <a:t>In classic design, they must also operate synchronously.</a:t>
            </a:r>
          </a:p>
          <a:p>
            <a:r>
              <a:rPr lang="en-US" altLang="en-US" sz="3200" b="0"/>
              <a:t>The ALUs have no instruction storage.</a:t>
            </a:r>
          </a:p>
          <a:p>
            <a:r>
              <a:rPr lang="en-US" altLang="en-US" sz="3200" b="0"/>
              <a:t>Efficient for large data parallel problems, but not other types of more complex parallel problems.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Vector processors </a:t>
            </a:r>
            <a:r>
              <a:rPr>
                <a:sym typeface="+mn-ea"/>
              </a:rPr>
              <a:t>向量处理器</a:t>
            </a:r>
            <a:r>
              <a:rPr lang="en-US">
                <a:sym typeface="+mn-ea"/>
              </a:rPr>
              <a:t>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Operate on arrays or vectors of data while conventional CPU’s operate on individual data elements or scalars.</a:t>
            </a:r>
          </a:p>
          <a:p>
            <a:endParaRPr lang="en-US" altLang="en-US" b="0" dirty="0"/>
          </a:p>
          <a:p>
            <a:r>
              <a:rPr lang="en-US" altLang="en-US" b="0" dirty="0"/>
              <a:t>Vector registers </a:t>
            </a:r>
            <a:r>
              <a:rPr lang="zh-CN" altLang="en-US" b="0" dirty="0"/>
              <a:t>向量寄存器</a:t>
            </a:r>
            <a:r>
              <a:rPr lang="en-US" altLang="en-US" b="0" dirty="0"/>
              <a:t>.</a:t>
            </a:r>
          </a:p>
          <a:p>
            <a:pPr lvl="1"/>
            <a:r>
              <a:rPr lang="en-US" altLang="en-US" b="0" dirty="0"/>
              <a:t>Capable of storing a vector of operands and operating simultaneously on their contents.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Vector processors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788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Vectorized and pipelined functional units.</a:t>
            </a:r>
          </a:p>
          <a:p>
            <a:pPr lvl="1"/>
            <a:r>
              <a:rPr lang="en-US" altLang="en-US" b="0" dirty="0"/>
              <a:t>The same operation is applied to each element in the vector (or pairs of elements).</a:t>
            </a:r>
          </a:p>
          <a:p>
            <a:pPr lvl="1"/>
            <a:endParaRPr lang="en-US" altLang="en-US" b="0" dirty="0"/>
          </a:p>
          <a:p>
            <a:r>
              <a:rPr lang="en-US" altLang="en-US" b="0" dirty="0"/>
              <a:t>Vector instructions </a:t>
            </a:r>
            <a:r>
              <a:rPr lang="zh-CN" altLang="en-US" b="0" dirty="0"/>
              <a:t>向量指令</a:t>
            </a:r>
            <a:r>
              <a:rPr lang="en-US" altLang="en-US" b="0" dirty="0"/>
              <a:t>.</a:t>
            </a:r>
          </a:p>
          <a:p>
            <a:pPr lvl="1"/>
            <a:r>
              <a:rPr lang="en-US" altLang="en-US" b="0" dirty="0"/>
              <a:t>Operate on vectors rather than scalars.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Vector processors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98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Interleaved memory </a:t>
            </a:r>
            <a:r>
              <a:rPr lang="zh-CN" altLang="en-US" b="0" dirty="0"/>
              <a:t>交叉存储器</a:t>
            </a:r>
            <a:r>
              <a:rPr lang="en-US" altLang="en-US" b="0" dirty="0"/>
              <a:t>.</a:t>
            </a:r>
          </a:p>
          <a:p>
            <a:pPr lvl="1"/>
            <a:r>
              <a:rPr lang="en-US" altLang="en-US" b="0" dirty="0"/>
              <a:t>Multiple “banks” of memory </a:t>
            </a:r>
            <a:r>
              <a:rPr lang="zh-CN" altLang="en-US" b="0" dirty="0"/>
              <a:t>内存体</a:t>
            </a:r>
            <a:r>
              <a:rPr lang="en-US" altLang="en-US" b="0" dirty="0"/>
              <a:t>, which can be accessed more or less independently.</a:t>
            </a:r>
          </a:p>
          <a:p>
            <a:pPr lvl="1"/>
            <a:r>
              <a:rPr lang="en-US" altLang="en-US" b="0" dirty="0"/>
              <a:t>Distribute elements of a vector across multiple banks, so reduce or eliminate delay in loading/storing successive elements.</a:t>
            </a:r>
          </a:p>
          <a:p>
            <a:r>
              <a:rPr lang="en-US" altLang="en-US" b="0" dirty="0" err="1"/>
              <a:t>Strided</a:t>
            </a:r>
            <a:r>
              <a:rPr lang="en-US" altLang="en-US" b="0" dirty="0"/>
              <a:t> memory access and hardware scatter/gather.</a:t>
            </a:r>
          </a:p>
          <a:p>
            <a:pPr lvl="1"/>
            <a:r>
              <a:rPr lang="en-US" altLang="en-US" b="0" dirty="0"/>
              <a:t>The program accesses elements of a vector located at fixed intervals.</a:t>
            </a:r>
          </a:p>
          <a:p>
            <a:endParaRPr lang="en-US" altLang="en-US" b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Vector processors - Pros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/>
              <a:t>Fast.</a:t>
            </a:r>
          </a:p>
          <a:p>
            <a:r>
              <a:rPr lang="en-US" altLang="en-US" sz="3200" b="0" dirty="0"/>
              <a:t>Easy to use.</a:t>
            </a:r>
          </a:p>
          <a:p>
            <a:r>
              <a:rPr lang="en-US" altLang="en-US" sz="3200" b="0" dirty="0"/>
              <a:t>Vectorizing compilers are good at identifying code to exploit.</a:t>
            </a:r>
          </a:p>
          <a:p>
            <a:r>
              <a:rPr lang="en-US" altLang="en-US" sz="3200" b="0" dirty="0"/>
              <a:t>Compilers also can provide information about code that cannot be vectorized.</a:t>
            </a:r>
          </a:p>
          <a:p>
            <a:pPr lvl="1"/>
            <a:r>
              <a:rPr lang="en-US" altLang="en-US" sz="2800" b="0" dirty="0"/>
              <a:t>Helps the programmer re-evaluate code.</a:t>
            </a:r>
          </a:p>
          <a:p>
            <a:r>
              <a:rPr lang="en-US" altLang="en-US" sz="3200" b="0" dirty="0"/>
              <a:t>High memory bandwidth.</a:t>
            </a:r>
          </a:p>
          <a:p>
            <a:r>
              <a:rPr lang="en-US" altLang="en-US" sz="3200" b="0" dirty="0"/>
              <a:t>Uses every item in a cache line.</a:t>
            </a:r>
          </a:p>
        </p:txBody>
      </p:sp>
      <p:pic>
        <p:nvPicPr>
          <p:cNvPr id="80900" name="Picture 2" descr="C:\Documents and Settings\liszka\Local Settings\Temporary Internet Files\Content.IE5\EGYLQZJJ\MC900423171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153" y="864235"/>
            <a:ext cx="13684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Vector processors - Cons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81922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They don’t handle irregular </a:t>
            </a:r>
            <a:br>
              <a:rPr lang="en-US" altLang="en-US" sz="3200" dirty="0"/>
            </a:br>
            <a:r>
              <a:rPr lang="en-US" altLang="en-US" sz="3200" dirty="0"/>
              <a:t>data structures as well as other </a:t>
            </a:r>
            <a:br>
              <a:rPr lang="en-US" altLang="en-US" sz="3200" dirty="0"/>
            </a:br>
            <a:r>
              <a:rPr lang="en-US" altLang="en-US" sz="3200" dirty="0"/>
              <a:t>parallel architectures.</a:t>
            </a:r>
            <a:br>
              <a:rPr lang="en-US" altLang="en-US" sz="3200" dirty="0"/>
            </a:br>
            <a:endParaRPr lang="en-US" altLang="en-US" sz="3200" dirty="0"/>
          </a:p>
          <a:p>
            <a:r>
              <a:rPr lang="en-US" altLang="en-US" sz="3200" dirty="0"/>
              <a:t>A very finite limit to their ability to handle ever larger problems. (scalability)</a:t>
            </a:r>
          </a:p>
        </p:txBody>
      </p:sp>
      <p:pic>
        <p:nvPicPr>
          <p:cNvPr id="81924" name="Picture 5" descr="C:\Documents and Settings\liszka\Local Settings\Temporary Internet Files\Content.IE5\0AVCOKV0\MC900423165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1152525"/>
            <a:ext cx="1417638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Graphics Processing Units (GPU)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82946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Real time graphics application programming interfaces or API’s use points, lines, and triangles to internally represent the surface of an object.</a:t>
            </a:r>
          </a:p>
        </p:txBody>
      </p:sp>
      <p:sp>
        <p:nvSpPr>
          <p:cNvPr id="82948" name="Isosceles Triangle 4"/>
          <p:cNvSpPr>
            <a:spLocks noChangeArrowheads="1"/>
          </p:cNvSpPr>
          <p:nvPr/>
        </p:nvSpPr>
        <p:spPr bwMode="auto">
          <a:xfrm>
            <a:off x="6399848" y="4177030"/>
            <a:ext cx="576262" cy="935038"/>
          </a:xfrm>
          <a:prstGeom prst="triangle">
            <a:avLst>
              <a:gd name="adj" fmla="val 50000"/>
            </a:avLst>
          </a:prstGeom>
          <a:noFill/>
          <a:ln w="952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cxnSp>
        <p:nvCxnSpPr>
          <p:cNvPr id="82949" name="Straight Connector 6"/>
          <p:cNvCxnSpPr>
            <a:cxnSpLocks noChangeShapeType="1"/>
          </p:cNvCxnSpPr>
          <p:nvPr/>
        </p:nvCxnSpPr>
        <p:spPr bwMode="auto">
          <a:xfrm flipV="1">
            <a:off x="5607685" y="4177030"/>
            <a:ext cx="2160588" cy="719138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0" name="Rectangle 7"/>
          <p:cNvSpPr>
            <a:spLocks noChangeArrowheads="1"/>
          </p:cNvSpPr>
          <p:nvPr/>
        </p:nvSpPr>
        <p:spPr bwMode="auto">
          <a:xfrm>
            <a:off x="4815523" y="3888105"/>
            <a:ext cx="1008062" cy="647700"/>
          </a:xfrm>
          <a:prstGeom prst="rect">
            <a:avLst/>
          </a:prstGeom>
          <a:noFill/>
          <a:ln w="952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cxnSp>
        <p:nvCxnSpPr>
          <p:cNvPr id="82951" name="Straight Connector 9"/>
          <p:cNvCxnSpPr>
            <a:cxnSpLocks noChangeShapeType="1"/>
          </p:cNvCxnSpPr>
          <p:nvPr/>
        </p:nvCxnSpPr>
        <p:spPr bwMode="auto">
          <a:xfrm>
            <a:off x="4456748" y="3456305"/>
            <a:ext cx="2663825" cy="2376488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2" name="Oval 10"/>
          <p:cNvSpPr>
            <a:spLocks noChangeArrowheads="1"/>
          </p:cNvSpPr>
          <p:nvPr/>
        </p:nvSpPr>
        <p:spPr bwMode="auto">
          <a:xfrm>
            <a:off x="6688773" y="3456305"/>
            <a:ext cx="792162" cy="647700"/>
          </a:xfrm>
          <a:prstGeom prst="ellipse">
            <a:avLst/>
          </a:prstGeom>
          <a:noFill/>
          <a:ln w="9525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B76EDC-C48C-4A51-919C-8CB9B936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2" y="2897846"/>
            <a:ext cx="6400800" cy="3600450"/>
          </a:xfrm>
          <a:prstGeom prst="rect">
            <a:avLst/>
          </a:prstGeom>
        </p:spPr>
      </p:pic>
      <p:sp>
        <p:nvSpPr>
          <p:cNvPr id="5" name="AutoShape 2" descr="RTX 4090 Performance – 45 Games, VR &amp; Pro Apps Benchmarked –  BabelTechReviews">
            <a:extLst>
              <a:ext uri="{FF2B5EF4-FFF2-40B4-BE49-F238E27FC236}">
                <a16:creationId xmlns:a16="http://schemas.microsoft.com/office/drawing/2014/main" id="{A63893F5-0C7A-4E32-9A80-0DBD0E3A02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4480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RTX 4090 Performance – 45 Games, VR &amp; Pro Apps Benchmarked –  BabelTechReviews">
            <a:extLst>
              <a:ext uri="{FF2B5EF4-FFF2-40B4-BE49-F238E27FC236}">
                <a16:creationId xmlns:a16="http://schemas.microsoft.com/office/drawing/2014/main" id="{6D3DED63-D77D-44A2-A265-7000C3158B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6004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B3155E-D8A3-4F40-975B-E3CB3D2D0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65" y="3239669"/>
            <a:ext cx="5004324" cy="288106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GPUs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83970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A graphics processing pipeline converts the internal representation into an array of pixels that can be sent to a computer screen.</a:t>
            </a:r>
            <a:br>
              <a:rPr lang="en-US" altLang="en-US" sz="3200" dirty="0"/>
            </a:br>
            <a:endParaRPr lang="en-US" altLang="en-US" sz="3200" dirty="0"/>
          </a:p>
          <a:p>
            <a:r>
              <a:rPr lang="en-US" altLang="en-US" sz="3200" dirty="0"/>
              <a:t>Several stages of this pipeline </a:t>
            </a:r>
            <a:br>
              <a:rPr lang="en-US" altLang="en-US" sz="3200" dirty="0"/>
            </a:br>
            <a:r>
              <a:rPr lang="en-US" altLang="en-US" sz="3200" dirty="0"/>
              <a:t>(called shader functions) are programmable.</a:t>
            </a:r>
          </a:p>
          <a:p>
            <a:pPr lvl="1"/>
            <a:r>
              <a:rPr lang="en-US" altLang="en-US" sz="2800" dirty="0"/>
              <a:t>Typically just a few lines of C code.</a:t>
            </a:r>
          </a:p>
        </p:txBody>
      </p:sp>
      <p:pic>
        <p:nvPicPr>
          <p:cNvPr id="83972" name="Picture 2" descr="C:\Documents and Settings\liszka\Local Settings\Temporary Internet Files\Content.IE5\60RV4HYO\MC900431566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205" y="4392930"/>
            <a:ext cx="1905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C:\Documents and Settings\liszka\Local Settings\Temporary Internet Files\Content.IE5\60RV4HYO\MC900431566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05" y="4519930"/>
            <a:ext cx="1905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GPUs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84994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zh-CN" sz="3200" dirty="0"/>
              <a:t>F</a:t>
            </a:r>
            <a:r>
              <a:rPr lang="en-US" altLang="en-US" sz="3200" dirty="0"/>
              <a:t>unctions are also implicitly parallel, since they can be applied to multiple elements in the graphics stream. </a:t>
            </a:r>
            <a:br>
              <a:rPr lang="en-US" altLang="en-US" sz="3200" dirty="0"/>
            </a:br>
            <a:endParaRPr lang="en-US" altLang="en-US" sz="3200" dirty="0"/>
          </a:p>
          <a:p>
            <a:r>
              <a:rPr lang="en-US" altLang="en-US" sz="3200" dirty="0"/>
              <a:t>GPUs can often optimize performance by using SIMD parallelism. </a:t>
            </a:r>
          </a:p>
          <a:p>
            <a:endParaRPr lang="en-US" altLang="en-US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Summary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76005" y="6625913"/>
            <a:ext cx="2987040" cy="383381"/>
          </a:xfrm>
        </p:spPr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70</a:t>
            </a:fld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3618935" y="1005708"/>
            <a:ext cx="6769666" cy="2685002"/>
            <a:chOff x="482600" y="931938"/>
            <a:chExt cx="8582273" cy="4729162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7645400" y="39085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31825" y="974725"/>
              <a:ext cx="20638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863600" y="936700"/>
              <a:ext cx="7858125" cy="763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897292" y="931938"/>
              <a:ext cx="804062" cy="927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Access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8026400" y="936700"/>
              <a:ext cx="838200" cy="927167"/>
            </a:xfrm>
            <a:prstGeom prst="rect">
              <a:avLst/>
            </a:prstGeom>
            <a:noFill/>
            <a:ln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Write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Back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371405" y="931938"/>
              <a:ext cx="960829" cy="927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Fetch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160708" y="936700"/>
              <a:ext cx="1116019" cy="927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Instr. Decode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Reg. Fetch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995863" y="931938"/>
              <a:ext cx="1427162" cy="9271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Execute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Addr</a:t>
              </a:r>
              <a:r>
                <a:rPr lang="en-US" sz="1200" dirty="0">
                  <a:solidFill>
                    <a:schemeClr val="tx1"/>
                  </a:solidFill>
                </a:rPr>
                <a:t>. </a:t>
              </a:r>
              <a:r>
                <a:rPr lang="en-US" sz="1200" dirty="0" err="1">
                  <a:solidFill>
                    <a:schemeClr val="tx1"/>
                  </a:solidFill>
                </a:rPr>
                <a:t>Calc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 bwMode="auto">
            <a:xfrm>
              <a:off x="5740400" y="2994100"/>
              <a:ext cx="449263" cy="1095375"/>
              <a:chOff x="3360" y="2112"/>
              <a:chExt cx="283" cy="816"/>
            </a:xfrm>
          </p:grpSpPr>
          <p:grpSp>
            <p:nvGrpSpPr>
              <p:cNvPr id="13" name="Group 12"/>
              <p:cNvGrpSpPr/>
              <p:nvPr/>
            </p:nvGrpSpPr>
            <p:grpSpPr bwMode="auto">
              <a:xfrm>
                <a:off x="3360" y="2112"/>
                <a:ext cx="283" cy="816"/>
                <a:chOff x="3360" y="2112"/>
                <a:chExt cx="283" cy="816"/>
              </a:xfrm>
            </p:grpSpPr>
            <p:sp>
              <p:nvSpPr>
                <p:cNvPr id="15" name="AutoShape 13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101" y="2386"/>
                  <a:ext cx="816" cy="26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513 h 21600"/>
                    <a:gd name="T14" fmla="*/ 17100 w 21600"/>
                    <a:gd name="T15" fmla="*/ 17087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endParaRPr lang="en-US" sz="1200"/>
                </a:p>
              </p:txBody>
            </p:sp>
            <p:sp>
              <p:nvSpPr>
                <p:cNvPr id="16" name="AutoShape 14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301" y="2419"/>
                  <a:ext cx="247" cy="12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  <p:sp>
              <p:nvSpPr>
                <p:cNvPr id="17" name="Text Box 15"/>
                <p:cNvSpPr txBox="1">
                  <a:spLocks noChangeAspect="1" noChangeArrowheads="1"/>
                </p:cNvSpPr>
                <p:nvPr/>
              </p:nvSpPr>
              <p:spPr bwMode="auto">
                <a:xfrm rot="5400000">
                  <a:off x="3189" y="2434"/>
                  <a:ext cx="663" cy="1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>
                  <a:spAutoFit/>
                </a:bodyPr>
                <a:lstStyle>
                  <a:lvl1pPr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  <a:cs typeface="MS PGothic" panose="020B0600070205080204" charset="-128"/>
                    </a:defRPr>
                  </a:lvl1pPr>
                  <a:lvl2pPr marL="742950" indent="-28575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+mn-lt"/>
                    </a:rPr>
                    <a:t>ALU</a:t>
                  </a:r>
                  <a:endParaRPr lang="en-US" sz="7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p:grpSp>
          <p:sp>
            <p:nvSpPr>
              <p:cNvPr id="14" name="Freeform 16"/>
              <p:cNvSpPr>
                <a:spLocks noChangeAspect="1"/>
              </p:cNvSpPr>
              <p:nvPr/>
            </p:nvSpPr>
            <p:spPr bwMode="auto">
              <a:xfrm rot="5400000">
                <a:off x="3307" y="2425"/>
                <a:ext cx="245" cy="115"/>
              </a:xfrm>
              <a:custGeom>
                <a:avLst/>
                <a:gdLst>
                  <a:gd name="T0" fmla="*/ 0 w 384"/>
                  <a:gd name="T1" fmla="*/ 0 h 288"/>
                  <a:gd name="T2" fmla="*/ 1 w 384"/>
                  <a:gd name="T3" fmla="*/ 0 h 288"/>
                  <a:gd name="T4" fmla="*/ 1 w 384"/>
                  <a:gd name="T5" fmla="*/ 0 h 28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288"/>
                  <a:gd name="T11" fmla="*/ 384 w 384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</p:grp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549400" y="2994100"/>
              <a:ext cx="762000" cy="9144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pPr algn="ctr"/>
              <a:r>
                <a:rPr lang="en-US" sz="1200" b="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6215063" y="2271788"/>
              <a:ext cx="922337" cy="365125"/>
            </a:xfrm>
            <a:custGeom>
              <a:avLst/>
              <a:gdLst>
                <a:gd name="T0" fmla="*/ 0 w 576"/>
                <a:gd name="T1" fmla="*/ 2147483647 h 240"/>
                <a:gd name="T2" fmla="*/ 2147483647 w 576"/>
                <a:gd name="T3" fmla="*/ 2147483647 h 240"/>
                <a:gd name="T4" fmla="*/ 2147483647 w 576"/>
                <a:gd name="T5" fmla="*/ 0 h 240"/>
                <a:gd name="T6" fmla="*/ 0 60000 65536"/>
                <a:gd name="T7" fmla="*/ 0 60000 65536"/>
                <a:gd name="T8" fmla="*/ 0 60000 65536"/>
                <a:gd name="T9" fmla="*/ 0 w 576"/>
                <a:gd name="T10" fmla="*/ 0 h 240"/>
                <a:gd name="T11" fmla="*/ 576 w 57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40">
                  <a:moveTo>
                    <a:pt x="0" y="240"/>
                  </a:moveTo>
                  <a:lnTo>
                    <a:pt x="576" y="240"/>
                  </a:lnTo>
                  <a:lnTo>
                    <a:pt x="57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835400" y="2741688"/>
              <a:ext cx="590550" cy="14763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pPr algn="ctr"/>
              <a:r>
                <a:rPr lang="en-US" sz="1200" b="0">
                  <a:solidFill>
                    <a:schemeClr val="tx1"/>
                  </a:solidFill>
                </a:rPr>
                <a:t>Reg File</a:t>
              </a:r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5300663" y="2941713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vert="eaVert" wrap="none" anchor="ctr"/>
            <a:lstStyle/>
            <a:p>
              <a:pPr algn="ctr"/>
              <a:r>
                <a:rPr lang="en-US" sz="1100" b="0">
                  <a:solidFill>
                    <a:schemeClr val="tx1"/>
                  </a:solidFill>
                </a:rPr>
                <a:t>MUX</a:t>
              </a:r>
              <a:endParaRPr lang="en-US" sz="1200" b="0">
                <a:solidFill>
                  <a:schemeClr val="tx1"/>
                </a:solidFill>
              </a:endParaRPr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5300663" y="3551313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vert="eaVert" wrap="none" anchor="ctr"/>
            <a:lstStyle/>
            <a:p>
              <a:pPr algn="ctr"/>
              <a:r>
                <a:rPr lang="en-US" sz="1100" b="0" dirty="0">
                  <a:solidFill>
                    <a:schemeClr val="tx1"/>
                  </a:solidFill>
                </a:rPr>
                <a:t>MUX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4978400" y="2636913"/>
              <a:ext cx="750888" cy="661987"/>
            </a:xfrm>
            <a:custGeom>
              <a:avLst/>
              <a:gdLst>
                <a:gd name="T0" fmla="*/ 0 w 336"/>
                <a:gd name="T1" fmla="*/ 2147483647 h 480"/>
                <a:gd name="T2" fmla="*/ 0 w 336"/>
                <a:gd name="T3" fmla="*/ 0 h 480"/>
                <a:gd name="T4" fmla="*/ 2147483647 w 336"/>
                <a:gd name="T5" fmla="*/ 0 h 480"/>
                <a:gd name="T6" fmla="*/ 0 60000 65536"/>
                <a:gd name="T7" fmla="*/ 0 60000 65536"/>
                <a:gd name="T8" fmla="*/ 0 60000 65536"/>
                <a:gd name="T9" fmla="*/ 0 w 336"/>
                <a:gd name="T10" fmla="*/ 0 h 480"/>
                <a:gd name="T11" fmla="*/ 336 w 33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480">
                  <a:moveTo>
                    <a:pt x="0" y="480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8331200" y="3832300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vert="eaVert" wrap="none" anchor="ctr"/>
            <a:lstStyle/>
            <a:p>
              <a:pPr algn="ctr"/>
              <a:r>
                <a:rPr lang="en-US" sz="1100" b="0">
                  <a:solidFill>
                    <a:schemeClr val="tx1"/>
                  </a:solidFill>
                </a:rPr>
                <a:t>MUX</a:t>
              </a:r>
              <a:endParaRPr lang="en-US" sz="1200" b="0">
                <a:solidFill>
                  <a:schemeClr val="tx1"/>
                </a:solidFill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835400" y="4302200"/>
              <a:ext cx="447675" cy="67627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Sign</a:t>
              </a:r>
            </a:p>
            <a:p>
              <a:pPr algn="ctr"/>
              <a:r>
                <a:rPr lang="en-US" sz="700">
                  <a:solidFill>
                    <a:schemeClr val="tx1"/>
                  </a:solidFill>
                </a:rPr>
                <a:t>Extend</a:t>
              </a:r>
              <a:endParaRPr lang="en-US" sz="1000" b="0">
                <a:solidFill>
                  <a:schemeClr val="tx1"/>
                </a:solidFill>
              </a:endParaRP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2311400" y="34513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2921000" y="34513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9" name="Freeform 32"/>
            <p:cNvSpPr/>
            <p:nvPr/>
          </p:nvSpPr>
          <p:spPr bwMode="auto">
            <a:xfrm>
              <a:off x="3149600" y="2913138"/>
              <a:ext cx="685800" cy="1757362"/>
            </a:xfrm>
            <a:custGeom>
              <a:avLst/>
              <a:gdLst>
                <a:gd name="T0" fmla="*/ 0 w 480"/>
                <a:gd name="T1" fmla="*/ 0 h 1056"/>
                <a:gd name="T2" fmla="*/ 0 w 480"/>
                <a:gd name="T3" fmla="*/ 2147483647 h 1056"/>
                <a:gd name="T4" fmla="*/ 2147483647 w 480"/>
                <a:gd name="T5" fmla="*/ 2147483647 h 1056"/>
                <a:gd name="T6" fmla="*/ 0 60000 65536"/>
                <a:gd name="T7" fmla="*/ 0 60000 65536"/>
                <a:gd name="T8" fmla="*/ 0 60000 65536"/>
                <a:gd name="T9" fmla="*/ 0 w 480"/>
                <a:gd name="T10" fmla="*/ 0 h 1056"/>
                <a:gd name="T11" fmla="*/ 480 w 480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1056">
                  <a:moveTo>
                    <a:pt x="0" y="0"/>
                  </a:moveTo>
                  <a:lnTo>
                    <a:pt x="0" y="1056"/>
                  </a:lnTo>
                  <a:lnTo>
                    <a:pt x="480" y="105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3149600" y="29179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3149600" y="32227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4445000" y="329890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5740400" y="2460700"/>
              <a:ext cx="457200" cy="381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Zero?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5511800" y="32227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5511800" y="38323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482600" y="1622500"/>
              <a:ext cx="7086600" cy="1812925"/>
            </a:xfrm>
            <a:custGeom>
              <a:avLst/>
              <a:gdLst>
                <a:gd name="T0" fmla="*/ 2147483647 w 4464"/>
                <a:gd name="T1" fmla="*/ 2147483647 h 1142"/>
                <a:gd name="T2" fmla="*/ 2147483647 w 4464"/>
                <a:gd name="T3" fmla="*/ 2147483647 h 1142"/>
                <a:gd name="T4" fmla="*/ 2147483647 w 4464"/>
                <a:gd name="T5" fmla="*/ 0 h 1142"/>
                <a:gd name="T6" fmla="*/ 0 w 4464"/>
                <a:gd name="T7" fmla="*/ 0 h 1142"/>
                <a:gd name="T8" fmla="*/ 2147483647 w 4464"/>
                <a:gd name="T9" fmla="*/ 2147483647 h 1142"/>
                <a:gd name="T10" fmla="*/ 2147483647 w 4464"/>
                <a:gd name="T11" fmla="*/ 2147483647 h 1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64"/>
                <a:gd name="T19" fmla="*/ 0 h 1142"/>
                <a:gd name="T20" fmla="*/ 4464 w 4464"/>
                <a:gd name="T21" fmla="*/ 1142 h 11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64" h="1142">
                  <a:moveTo>
                    <a:pt x="4224" y="253"/>
                  </a:moveTo>
                  <a:lnTo>
                    <a:pt x="4464" y="253"/>
                  </a:lnTo>
                  <a:lnTo>
                    <a:pt x="4464" y="0"/>
                  </a:lnTo>
                  <a:lnTo>
                    <a:pt x="0" y="0"/>
                  </a:lnTo>
                  <a:lnTo>
                    <a:pt x="2" y="1142"/>
                  </a:lnTo>
                  <a:lnTo>
                    <a:pt x="172" y="114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6197600" y="35275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8" name="Freeform 41"/>
            <p:cNvSpPr/>
            <p:nvPr/>
          </p:nvSpPr>
          <p:spPr bwMode="auto">
            <a:xfrm>
              <a:off x="6723063" y="2140025"/>
              <a:ext cx="304800" cy="1371600"/>
            </a:xfrm>
            <a:custGeom>
              <a:avLst/>
              <a:gdLst>
                <a:gd name="T0" fmla="*/ 0 w 192"/>
                <a:gd name="T1" fmla="*/ 2147483647 h 960"/>
                <a:gd name="T2" fmla="*/ 0 w 192"/>
                <a:gd name="T3" fmla="*/ 0 h 960"/>
                <a:gd name="T4" fmla="*/ 2147483647 w 192"/>
                <a:gd name="T5" fmla="*/ 0 h 960"/>
                <a:gd name="T6" fmla="*/ 0 60000 65536"/>
                <a:gd name="T7" fmla="*/ 0 60000 65536"/>
                <a:gd name="T8" fmla="*/ 0 60000 65536"/>
                <a:gd name="T9" fmla="*/ 0 w 192"/>
                <a:gd name="T10" fmla="*/ 0 h 960"/>
                <a:gd name="T11" fmla="*/ 192 w 192"/>
                <a:gd name="T12" fmla="*/ 960 h 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960">
                  <a:moveTo>
                    <a:pt x="0" y="960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>
              <a:off x="4445000" y="375610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>
              <a:off x="1092200" y="34513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>
              <a:off x="1549400" y="26893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2" name="Freeform 45"/>
            <p:cNvSpPr/>
            <p:nvPr/>
          </p:nvSpPr>
          <p:spPr bwMode="auto">
            <a:xfrm>
              <a:off x="1244600" y="2079700"/>
              <a:ext cx="533400" cy="1371600"/>
            </a:xfrm>
            <a:custGeom>
              <a:avLst/>
              <a:gdLst>
                <a:gd name="T0" fmla="*/ 0 w 336"/>
                <a:gd name="T1" fmla="*/ 2147483647 h 864"/>
                <a:gd name="T2" fmla="*/ 0 w 336"/>
                <a:gd name="T3" fmla="*/ 0 h 864"/>
                <a:gd name="T4" fmla="*/ 2147483647 w 336"/>
                <a:gd name="T5" fmla="*/ 0 h 864"/>
                <a:gd name="T6" fmla="*/ 0 60000 65536"/>
                <a:gd name="T7" fmla="*/ 0 60000 65536"/>
                <a:gd name="T8" fmla="*/ 0 60000 65536"/>
                <a:gd name="T9" fmla="*/ 0 w 336"/>
                <a:gd name="T10" fmla="*/ 0 h 864"/>
                <a:gd name="T11" fmla="*/ 336 w 33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864">
                  <a:moveTo>
                    <a:pt x="0" y="864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3" name="Freeform 46"/>
            <p:cNvSpPr/>
            <p:nvPr/>
          </p:nvSpPr>
          <p:spPr bwMode="auto">
            <a:xfrm>
              <a:off x="6716713" y="3527500"/>
              <a:ext cx="1614487" cy="1143000"/>
            </a:xfrm>
            <a:custGeom>
              <a:avLst/>
              <a:gdLst>
                <a:gd name="T0" fmla="*/ 0 w 1008"/>
                <a:gd name="T1" fmla="*/ 0 h 720"/>
                <a:gd name="T2" fmla="*/ 0 w 1008"/>
                <a:gd name="T3" fmla="*/ 2147483647 h 720"/>
                <a:gd name="T4" fmla="*/ 2147483647 w 1008"/>
                <a:gd name="T5" fmla="*/ 2147483647 h 720"/>
                <a:gd name="T6" fmla="*/ 2147483647 w 1008"/>
                <a:gd name="T7" fmla="*/ 2147483647 h 720"/>
                <a:gd name="T8" fmla="*/ 2147483647 w 1008"/>
                <a:gd name="T9" fmla="*/ 2147483647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720"/>
                <a:gd name="T17" fmla="*/ 1008 w 1008"/>
                <a:gd name="T18" fmla="*/ 720 h 7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720">
                  <a:moveTo>
                    <a:pt x="0" y="0"/>
                  </a:moveTo>
                  <a:lnTo>
                    <a:pt x="0" y="720"/>
                  </a:lnTo>
                  <a:lnTo>
                    <a:pt x="864" y="720"/>
                  </a:lnTo>
                  <a:lnTo>
                    <a:pt x="864" y="480"/>
                  </a:lnTo>
                  <a:lnTo>
                    <a:pt x="1008" y="4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4" name="Freeform 47"/>
            <p:cNvSpPr/>
            <p:nvPr/>
          </p:nvSpPr>
          <p:spPr bwMode="auto">
            <a:xfrm>
              <a:off x="3454400" y="3832300"/>
              <a:ext cx="5334000" cy="1828800"/>
            </a:xfrm>
            <a:custGeom>
              <a:avLst/>
              <a:gdLst>
                <a:gd name="T0" fmla="*/ 2147483647 w 3312"/>
                <a:gd name="T1" fmla="*/ 2147483647 h 768"/>
                <a:gd name="T2" fmla="*/ 2147483647 w 3312"/>
                <a:gd name="T3" fmla="*/ 2147483647 h 768"/>
                <a:gd name="T4" fmla="*/ 2147483647 w 3312"/>
                <a:gd name="T5" fmla="*/ 2147483647 h 768"/>
                <a:gd name="T6" fmla="*/ 0 w 3312"/>
                <a:gd name="T7" fmla="*/ 2147483647 h 768"/>
                <a:gd name="T8" fmla="*/ 0 w 3312"/>
                <a:gd name="T9" fmla="*/ 0 h 768"/>
                <a:gd name="T10" fmla="*/ 2147483647 w 33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12"/>
                <a:gd name="T19" fmla="*/ 0 h 768"/>
                <a:gd name="T20" fmla="*/ 3312 w 3312"/>
                <a:gd name="T21" fmla="*/ 768 h 7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12" h="768">
                  <a:moveTo>
                    <a:pt x="3168" y="96"/>
                  </a:moveTo>
                  <a:lnTo>
                    <a:pt x="3312" y="96"/>
                  </a:lnTo>
                  <a:lnTo>
                    <a:pt x="33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5" name="Freeform 48"/>
            <p:cNvSpPr/>
            <p:nvPr/>
          </p:nvSpPr>
          <p:spPr bwMode="auto">
            <a:xfrm>
              <a:off x="4978400" y="3756100"/>
              <a:ext cx="2133600" cy="533400"/>
            </a:xfrm>
            <a:custGeom>
              <a:avLst/>
              <a:gdLst>
                <a:gd name="T0" fmla="*/ 0 w 1344"/>
                <a:gd name="T1" fmla="*/ 0 h 336"/>
                <a:gd name="T2" fmla="*/ 0 w 1344"/>
                <a:gd name="T3" fmla="*/ 2147483647 h 336"/>
                <a:gd name="T4" fmla="*/ 2147483647 w 1344"/>
                <a:gd name="T5" fmla="*/ 2147483647 h 336"/>
                <a:gd name="T6" fmla="*/ 0 60000 65536"/>
                <a:gd name="T7" fmla="*/ 0 60000 65536"/>
                <a:gd name="T8" fmla="*/ 0 60000 65536"/>
                <a:gd name="T9" fmla="*/ 0 w 1344"/>
                <a:gd name="T10" fmla="*/ 0 h 336"/>
                <a:gd name="T11" fmla="*/ 1344 w 134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4" h="336">
                  <a:moveTo>
                    <a:pt x="0" y="0"/>
                  </a:moveTo>
                  <a:lnTo>
                    <a:pt x="0" y="336"/>
                  </a:lnTo>
                  <a:lnTo>
                    <a:pt x="1344" y="33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6" name="Freeform 49"/>
            <p:cNvSpPr/>
            <p:nvPr/>
          </p:nvSpPr>
          <p:spPr bwMode="auto">
            <a:xfrm>
              <a:off x="3302000" y="3603700"/>
              <a:ext cx="5257800" cy="1828800"/>
            </a:xfrm>
            <a:custGeom>
              <a:avLst/>
              <a:gdLst>
                <a:gd name="T0" fmla="*/ 2147483647 w 3312"/>
                <a:gd name="T1" fmla="*/ 2147483647 h 1200"/>
                <a:gd name="T2" fmla="*/ 2147483647 w 3312"/>
                <a:gd name="T3" fmla="*/ 2147483647 h 1200"/>
                <a:gd name="T4" fmla="*/ 2147483647 w 3312"/>
                <a:gd name="T5" fmla="*/ 2147483647 h 1200"/>
                <a:gd name="T6" fmla="*/ 0 w 3312"/>
                <a:gd name="T7" fmla="*/ 2147483647 h 1200"/>
                <a:gd name="T8" fmla="*/ 0 w 3312"/>
                <a:gd name="T9" fmla="*/ 0 h 1200"/>
                <a:gd name="T10" fmla="*/ 2147483647 w 3312"/>
                <a:gd name="T11" fmla="*/ 0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12"/>
                <a:gd name="T19" fmla="*/ 0 h 1200"/>
                <a:gd name="T20" fmla="*/ 3312 w 3312"/>
                <a:gd name="T21" fmla="*/ 1200 h 12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12" h="1200">
                  <a:moveTo>
                    <a:pt x="3024" y="960"/>
                  </a:moveTo>
                  <a:lnTo>
                    <a:pt x="3312" y="960"/>
                  </a:lnTo>
                  <a:lnTo>
                    <a:pt x="3312" y="1200"/>
                  </a:lnTo>
                  <a:lnTo>
                    <a:pt x="0" y="1200"/>
                  </a:ln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grpSp>
          <p:nvGrpSpPr>
            <p:cNvPr id="47" name="Group 50"/>
            <p:cNvGrpSpPr/>
            <p:nvPr/>
          </p:nvGrpSpPr>
          <p:grpSpPr bwMode="auto">
            <a:xfrm>
              <a:off x="2616200" y="1698700"/>
              <a:ext cx="5487988" cy="3643313"/>
              <a:chOff x="1631" y="1405"/>
              <a:chExt cx="3457" cy="2295"/>
            </a:xfrm>
          </p:grpSpPr>
          <p:grpSp>
            <p:nvGrpSpPr>
              <p:cNvPr id="48" name="Group 51"/>
              <p:cNvGrpSpPr/>
              <p:nvPr/>
            </p:nvGrpSpPr>
            <p:grpSpPr bwMode="auto">
              <a:xfrm>
                <a:off x="1631" y="1405"/>
                <a:ext cx="192" cy="2295"/>
                <a:chOff x="1486" y="1488"/>
                <a:chExt cx="192" cy="2295"/>
              </a:xfrm>
            </p:grpSpPr>
            <p:sp>
              <p:nvSpPr>
                <p:cNvPr id="58" name="Rectangle 52"/>
                <p:cNvSpPr>
                  <a:spLocks noChangeArrowheads="1"/>
                </p:cNvSpPr>
                <p:nvPr/>
              </p:nvSpPr>
              <p:spPr bwMode="auto">
                <a:xfrm>
                  <a:off x="1486" y="1488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IF/ID</a:t>
                  </a:r>
                </a:p>
              </p:txBody>
            </p:sp>
            <p:sp>
              <p:nvSpPr>
                <p:cNvPr id="59" name="AutoShape 53"/>
                <p:cNvSpPr>
                  <a:spLocks noChangeArrowheads="1"/>
                </p:cNvSpPr>
                <p:nvPr/>
              </p:nvSpPr>
              <p:spPr bwMode="auto">
                <a:xfrm>
                  <a:off x="1486" y="3591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grpSp>
            <p:nvGrpSpPr>
              <p:cNvPr id="49" name="Group 54"/>
              <p:cNvGrpSpPr/>
              <p:nvPr/>
            </p:nvGrpSpPr>
            <p:grpSpPr bwMode="auto">
              <a:xfrm>
                <a:off x="2832" y="1405"/>
                <a:ext cx="193" cy="2295"/>
                <a:chOff x="2740" y="1436"/>
                <a:chExt cx="193" cy="2295"/>
              </a:xfrm>
            </p:grpSpPr>
            <p:sp>
              <p:nvSpPr>
                <p:cNvPr id="56" name="Rectangle 55"/>
                <p:cNvSpPr>
                  <a:spLocks noChangeArrowheads="1"/>
                </p:cNvSpPr>
                <p:nvPr/>
              </p:nvSpPr>
              <p:spPr bwMode="auto">
                <a:xfrm>
                  <a:off x="2741" y="1436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ID/EX</a:t>
                  </a:r>
                </a:p>
              </p:txBody>
            </p:sp>
            <p:sp>
              <p:nvSpPr>
                <p:cNvPr id="57" name="AutoShape 56"/>
                <p:cNvSpPr>
                  <a:spLocks noChangeArrowheads="1"/>
                </p:cNvSpPr>
                <p:nvPr/>
              </p:nvSpPr>
              <p:spPr bwMode="auto">
                <a:xfrm>
                  <a:off x="2740" y="3533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grpSp>
            <p:nvGrpSpPr>
              <p:cNvPr id="50" name="Group 57"/>
              <p:cNvGrpSpPr/>
              <p:nvPr/>
            </p:nvGrpSpPr>
            <p:grpSpPr bwMode="auto">
              <a:xfrm>
                <a:off x="4896" y="1405"/>
                <a:ext cx="192" cy="2295"/>
                <a:chOff x="4972" y="1431"/>
                <a:chExt cx="192" cy="2295"/>
              </a:xfrm>
            </p:grpSpPr>
            <p:sp>
              <p:nvSpPr>
                <p:cNvPr id="54" name="Rectangle 58"/>
                <p:cNvSpPr>
                  <a:spLocks noChangeArrowheads="1"/>
                </p:cNvSpPr>
                <p:nvPr/>
              </p:nvSpPr>
              <p:spPr bwMode="auto">
                <a:xfrm>
                  <a:off x="4972" y="1431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MEM/WB</a:t>
                  </a:r>
                </a:p>
              </p:txBody>
            </p:sp>
            <p:sp>
              <p:nvSpPr>
                <p:cNvPr id="55" name="AutoShape 59"/>
                <p:cNvSpPr>
                  <a:spLocks noChangeArrowheads="1"/>
                </p:cNvSpPr>
                <p:nvPr/>
              </p:nvSpPr>
              <p:spPr bwMode="auto">
                <a:xfrm>
                  <a:off x="4972" y="353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grpSp>
            <p:nvGrpSpPr>
              <p:cNvPr id="51" name="Group 60"/>
              <p:cNvGrpSpPr/>
              <p:nvPr/>
            </p:nvGrpSpPr>
            <p:grpSpPr bwMode="auto">
              <a:xfrm>
                <a:off x="3966" y="1405"/>
                <a:ext cx="192" cy="2295"/>
                <a:chOff x="3920" y="1447"/>
                <a:chExt cx="192" cy="2295"/>
              </a:xfrm>
            </p:grpSpPr>
            <p:sp>
              <p:nvSpPr>
                <p:cNvPr id="52" name="Rectangle 61"/>
                <p:cNvSpPr>
                  <a:spLocks noChangeArrowheads="1"/>
                </p:cNvSpPr>
                <p:nvPr/>
              </p:nvSpPr>
              <p:spPr bwMode="auto">
                <a:xfrm>
                  <a:off x="3920" y="1447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EX/MEM</a:t>
                  </a:r>
                </a:p>
              </p:txBody>
            </p:sp>
            <p:sp>
              <p:nvSpPr>
                <p:cNvPr id="53" name="AutoShape 62"/>
                <p:cNvSpPr>
                  <a:spLocks noChangeArrowheads="1"/>
                </p:cNvSpPr>
                <p:nvPr/>
              </p:nvSpPr>
              <p:spPr bwMode="auto">
                <a:xfrm>
                  <a:off x="3920" y="354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</p:grpSp>
        <p:sp>
          <p:nvSpPr>
            <p:cNvPr id="60" name="Line 63"/>
            <p:cNvSpPr>
              <a:spLocks noChangeShapeType="1"/>
            </p:cNvSpPr>
            <p:nvPr/>
          </p:nvSpPr>
          <p:spPr bwMode="auto">
            <a:xfrm>
              <a:off x="4292600" y="4670500"/>
              <a:ext cx="2286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1" name="Freeform 64"/>
            <p:cNvSpPr/>
            <p:nvPr/>
          </p:nvSpPr>
          <p:spPr bwMode="auto">
            <a:xfrm>
              <a:off x="4826000" y="3984700"/>
              <a:ext cx="457200" cy="685800"/>
            </a:xfrm>
            <a:custGeom>
              <a:avLst/>
              <a:gdLst>
                <a:gd name="T0" fmla="*/ 0 w 336"/>
                <a:gd name="T1" fmla="*/ 2147483647 h 432"/>
                <a:gd name="T2" fmla="*/ 2147483647 w 336"/>
                <a:gd name="T3" fmla="*/ 2147483647 h 432"/>
                <a:gd name="T4" fmla="*/ 2147483647 w 336"/>
                <a:gd name="T5" fmla="*/ 0 h 432"/>
                <a:gd name="T6" fmla="*/ 2147483647 w 336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432"/>
                <a:gd name="T14" fmla="*/ 336 w 336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432">
                  <a:moveTo>
                    <a:pt x="0" y="432"/>
                  </a:moveTo>
                  <a:lnTo>
                    <a:pt x="192" y="432"/>
                  </a:lnTo>
                  <a:lnTo>
                    <a:pt x="192" y="0"/>
                  </a:lnTo>
                  <a:lnTo>
                    <a:pt x="33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2" name="Line 65"/>
            <p:cNvSpPr>
              <a:spLocks noChangeShapeType="1"/>
            </p:cNvSpPr>
            <p:nvPr/>
          </p:nvSpPr>
          <p:spPr bwMode="auto">
            <a:xfrm>
              <a:off x="2921000" y="1851100"/>
              <a:ext cx="1600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3" name="Freeform 66"/>
            <p:cNvSpPr/>
            <p:nvPr/>
          </p:nvSpPr>
          <p:spPr bwMode="auto">
            <a:xfrm>
              <a:off x="3149600" y="4670500"/>
              <a:ext cx="1371600" cy="381000"/>
            </a:xfrm>
            <a:custGeom>
              <a:avLst/>
              <a:gdLst>
                <a:gd name="T0" fmla="*/ 0 w 864"/>
                <a:gd name="T1" fmla="*/ 0 h 288"/>
                <a:gd name="T2" fmla="*/ 0 w 864"/>
                <a:gd name="T3" fmla="*/ 2147483647 h 288"/>
                <a:gd name="T4" fmla="*/ 2147483647 w 86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864"/>
                <a:gd name="T10" fmla="*/ 0 h 288"/>
                <a:gd name="T11" fmla="*/ 864 w 86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88">
                  <a:moveTo>
                    <a:pt x="0" y="0"/>
                  </a:moveTo>
                  <a:lnTo>
                    <a:pt x="0" y="288"/>
                  </a:lnTo>
                  <a:lnTo>
                    <a:pt x="86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4" name="Line 67"/>
            <p:cNvSpPr>
              <a:spLocks noChangeShapeType="1"/>
            </p:cNvSpPr>
            <p:nvPr/>
          </p:nvSpPr>
          <p:spPr bwMode="auto">
            <a:xfrm>
              <a:off x="4826000" y="5051500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5" name="Line 68"/>
            <p:cNvSpPr>
              <a:spLocks noChangeShapeType="1"/>
            </p:cNvSpPr>
            <p:nvPr/>
          </p:nvSpPr>
          <p:spPr bwMode="auto">
            <a:xfrm>
              <a:off x="6654800" y="5051500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6" name="Freeform 69"/>
            <p:cNvSpPr/>
            <p:nvPr/>
          </p:nvSpPr>
          <p:spPr bwMode="auto">
            <a:xfrm>
              <a:off x="2159000" y="1851100"/>
              <a:ext cx="457200" cy="533400"/>
            </a:xfrm>
            <a:custGeom>
              <a:avLst/>
              <a:gdLst>
                <a:gd name="T0" fmla="*/ 0 w 240"/>
                <a:gd name="T1" fmla="*/ 2147483647 h 336"/>
                <a:gd name="T2" fmla="*/ 2147483647 w 240"/>
                <a:gd name="T3" fmla="*/ 2147483647 h 336"/>
                <a:gd name="T4" fmla="*/ 2147483647 w 240"/>
                <a:gd name="T5" fmla="*/ 0 h 336"/>
                <a:gd name="T6" fmla="*/ 2147483647 w 240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336"/>
                <a:gd name="T14" fmla="*/ 240 w 24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336">
                  <a:moveTo>
                    <a:pt x="0" y="336"/>
                  </a:moveTo>
                  <a:lnTo>
                    <a:pt x="144" y="336"/>
                  </a:lnTo>
                  <a:lnTo>
                    <a:pt x="144" y="0"/>
                  </a:lnTo>
                  <a:lnTo>
                    <a:pt x="24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grpSp>
          <p:nvGrpSpPr>
            <p:cNvPr id="67" name="Group 70"/>
            <p:cNvGrpSpPr/>
            <p:nvPr/>
          </p:nvGrpSpPr>
          <p:grpSpPr bwMode="auto">
            <a:xfrm>
              <a:off x="1338263" y="1868564"/>
              <a:ext cx="914400" cy="1189038"/>
              <a:chOff x="827" y="1403"/>
              <a:chExt cx="576" cy="749"/>
            </a:xfrm>
          </p:grpSpPr>
          <p:sp>
            <p:nvSpPr>
              <p:cNvPr id="68" name="Text Box 71"/>
              <p:cNvSpPr txBox="1">
                <a:spLocks noChangeArrowheads="1"/>
              </p:cNvSpPr>
              <p:nvPr/>
            </p:nvSpPr>
            <p:spPr bwMode="auto">
              <a:xfrm>
                <a:off x="827" y="1721"/>
                <a:ext cx="192" cy="4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600">
                    <a:solidFill>
                      <a:schemeClr val="tx1"/>
                    </a:solidFill>
                    <a:latin typeface="+mn-lt"/>
                  </a:rPr>
                  <a:t>4</a:t>
                </a:r>
              </a:p>
            </p:txBody>
          </p:sp>
          <p:sp>
            <p:nvSpPr>
              <p:cNvPr id="69" name="AutoShape 72"/>
              <p:cNvSpPr>
                <a:spLocks noChangeAspect="1" noChangeArrowheads="1"/>
              </p:cNvSpPr>
              <p:nvPr/>
            </p:nvSpPr>
            <p:spPr bwMode="auto">
              <a:xfrm rot="-5400000">
                <a:off x="965" y="1592"/>
                <a:ext cx="576" cy="30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21 h 21600"/>
                  <a:gd name="T14" fmla="*/ 17100 w 21600"/>
                  <a:gd name="T15" fmla="*/ 1707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endParaRPr lang="en-US" sz="1200"/>
              </a:p>
            </p:txBody>
          </p:sp>
          <p:sp>
            <p:nvSpPr>
              <p:cNvPr id="70" name="AutoShape 73"/>
              <p:cNvSpPr>
                <a:spLocks noChangeAspect="1" noChangeArrowheads="1"/>
              </p:cNvSpPr>
              <p:nvPr/>
            </p:nvSpPr>
            <p:spPr bwMode="auto">
              <a:xfrm rot="5400000">
                <a:off x="1071" y="1644"/>
                <a:ext cx="174" cy="145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71" name="Text Box 74"/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916" y="1655"/>
                <a:ext cx="688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100">
                    <a:solidFill>
                      <a:schemeClr val="tx1"/>
                    </a:solidFill>
                    <a:latin typeface="+mn-lt"/>
                  </a:rPr>
                  <a:t>Adder</a:t>
                </a:r>
                <a:endParaRPr lang="en-US" sz="70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2" name="Freeform 75"/>
              <p:cNvSpPr>
                <a:spLocks noChangeAspect="1"/>
              </p:cNvSpPr>
              <p:nvPr/>
            </p:nvSpPr>
            <p:spPr bwMode="auto">
              <a:xfrm rot="5400000">
                <a:off x="1076" y="1652"/>
                <a:ext cx="173" cy="130"/>
              </a:xfrm>
              <a:custGeom>
                <a:avLst/>
                <a:gdLst>
                  <a:gd name="T0" fmla="*/ 0 w 384"/>
                  <a:gd name="T1" fmla="*/ 0 h 288"/>
                  <a:gd name="T2" fmla="*/ 0 w 384"/>
                  <a:gd name="T3" fmla="*/ 0 h 288"/>
                  <a:gd name="T4" fmla="*/ 0 w 384"/>
                  <a:gd name="T5" fmla="*/ 0 h 28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288"/>
                  <a:gd name="T11" fmla="*/ 384 w 384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</p:grp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4826000" y="1851100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654800" y="18511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5" name="Freeform 78"/>
            <p:cNvSpPr/>
            <p:nvPr/>
          </p:nvSpPr>
          <p:spPr bwMode="auto">
            <a:xfrm>
              <a:off x="5054600" y="1851100"/>
              <a:ext cx="228600" cy="1219200"/>
            </a:xfrm>
            <a:custGeom>
              <a:avLst/>
              <a:gdLst>
                <a:gd name="T0" fmla="*/ 0 w 96"/>
                <a:gd name="T1" fmla="*/ 0 h 768"/>
                <a:gd name="T2" fmla="*/ 0 w 96"/>
                <a:gd name="T3" fmla="*/ 2147483647 h 768"/>
                <a:gd name="T4" fmla="*/ 2147483647 w 96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96"/>
                <a:gd name="T10" fmla="*/ 0 h 768"/>
                <a:gd name="T11" fmla="*/ 96 w 96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768">
                  <a:moveTo>
                    <a:pt x="0" y="0"/>
                  </a:moveTo>
                  <a:lnTo>
                    <a:pt x="0" y="768"/>
                  </a:lnTo>
                  <a:lnTo>
                    <a:pt x="96" y="76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6" name="Text Box 79"/>
            <p:cNvSpPr txBox="1">
              <a:spLocks noChangeArrowheads="1"/>
            </p:cNvSpPr>
            <p:nvPr/>
          </p:nvSpPr>
          <p:spPr bwMode="auto">
            <a:xfrm>
              <a:off x="3104135" y="1693298"/>
              <a:ext cx="998981" cy="528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50" b="0">
                  <a:solidFill>
                    <a:schemeClr val="tx1"/>
                  </a:solidFill>
                  <a:latin typeface="+mn-lt"/>
                </a:rPr>
                <a:t>Next SEQ PC</a:t>
              </a:r>
            </a:p>
          </p:txBody>
        </p:sp>
        <p:sp>
          <p:nvSpPr>
            <p:cNvPr id="77" name="Oval 80"/>
            <p:cNvSpPr>
              <a:spLocks noChangeArrowheads="1"/>
            </p:cNvSpPr>
            <p:nvPr/>
          </p:nvSpPr>
          <p:spPr bwMode="auto">
            <a:xfrm>
              <a:off x="6678613" y="3489400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8" name="Oval 81"/>
            <p:cNvSpPr>
              <a:spLocks noChangeArrowheads="1"/>
            </p:cNvSpPr>
            <p:nvPr/>
          </p:nvSpPr>
          <p:spPr bwMode="auto">
            <a:xfrm>
              <a:off x="4940300" y="3722763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79" name="Oval 82"/>
            <p:cNvSpPr>
              <a:spLocks noChangeArrowheads="1"/>
            </p:cNvSpPr>
            <p:nvPr/>
          </p:nvSpPr>
          <p:spPr bwMode="auto">
            <a:xfrm>
              <a:off x="4935538" y="3256038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0" name="Oval 83"/>
            <p:cNvSpPr>
              <a:spLocks noChangeArrowheads="1"/>
            </p:cNvSpPr>
            <p:nvPr/>
          </p:nvSpPr>
          <p:spPr bwMode="auto">
            <a:xfrm>
              <a:off x="3106738" y="3179838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1" name="Oval 84"/>
            <p:cNvSpPr>
              <a:spLocks noChangeArrowheads="1"/>
            </p:cNvSpPr>
            <p:nvPr/>
          </p:nvSpPr>
          <p:spPr bwMode="auto">
            <a:xfrm>
              <a:off x="3125788" y="4613350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2" name="Oval 85"/>
            <p:cNvSpPr>
              <a:spLocks noChangeArrowheads="1"/>
            </p:cNvSpPr>
            <p:nvPr/>
          </p:nvSpPr>
          <p:spPr bwMode="auto">
            <a:xfrm>
              <a:off x="1196975" y="3408438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3" name="Oval 86"/>
            <p:cNvSpPr>
              <a:spLocks noChangeArrowheads="1"/>
            </p:cNvSpPr>
            <p:nvPr/>
          </p:nvSpPr>
          <p:spPr bwMode="auto">
            <a:xfrm>
              <a:off x="3106738" y="4632400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4" name="Oval 87"/>
            <p:cNvSpPr>
              <a:spLocks noChangeArrowheads="1"/>
            </p:cNvSpPr>
            <p:nvPr/>
          </p:nvSpPr>
          <p:spPr bwMode="auto">
            <a:xfrm>
              <a:off x="5018088" y="1814588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85" name="Text Box 88"/>
            <p:cNvSpPr txBox="1">
              <a:spLocks noChangeArrowheads="1"/>
            </p:cNvSpPr>
            <p:nvPr/>
          </p:nvSpPr>
          <p:spPr bwMode="auto">
            <a:xfrm>
              <a:off x="5139310" y="1699647"/>
              <a:ext cx="998981" cy="528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50" b="0">
                  <a:solidFill>
                    <a:schemeClr val="tx1"/>
                  </a:solidFill>
                  <a:latin typeface="+mn-lt"/>
                </a:rPr>
                <a:t>Next SEQ PC</a:t>
              </a:r>
            </a:p>
          </p:txBody>
        </p:sp>
        <p:sp>
          <p:nvSpPr>
            <p:cNvPr id="86" name="Text Box 89"/>
            <p:cNvSpPr txBox="1">
              <a:spLocks noChangeArrowheads="1"/>
            </p:cNvSpPr>
            <p:nvPr/>
          </p:nvSpPr>
          <p:spPr bwMode="auto">
            <a:xfrm>
              <a:off x="3849069" y="4946710"/>
              <a:ext cx="382238" cy="512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00" b="0">
                  <a:solidFill>
                    <a:schemeClr val="tx1"/>
                  </a:solidFill>
                  <a:latin typeface="+mn-lt"/>
                </a:rPr>
                <a:t>RD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Text Box 90"/>
            <p:cNvSpPr txBox="1">
              <a:spLocks noChangeArrowheads="1"/>
            </p:cNvSpPr>
            <p:nvPr/>
          </p:nvSpPr>
          <p:spPr bwMode="auto">
            <a:xfrm>
              <a:off x="5268294" y="4946710"/>
              <a:ext cx="382238" cy="512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00" b="0">
                  <a:solidFill>
                    <a:schemeClr val="tx1"/>
                  </a:solidFill>
                  <a:latin typeface="+mn-lt"/>
                </a:rPr>
                <a:t>RD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Text Box 91"/>
            <p:cNvSpPr txBox="1">
              <a:spLocks noChangeArrowheads="1"/>
            </p:cNvSpPr>
            <p:nvPr/>
          </p:nvSpPr>
          <p:spPr bwMode="auto">
            <a:xfrm>
              <a:off x="6944694" y="4946710"/>
              <a:ext cx="382238" cy="512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00" b="0">
                  <a:solidFill>
                    <a:schemeClr val="tx1"/>
                  </a:solidFill>
                  <a:latin typeface="+mn-lt"/>
                </a:rPr>
                <a:t>RD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Text Box 92"/>
            <p:cNvSpPr txBox="1">
              <a:spLocks noChangeArrowheads="1"/>
            </p:cNvSpPr>
            <p:nvPr/>
          </p:nvSpPr>
          <p:spPr bwMode="auto">
            <a:xfrm rot="16200000">
              <a:off x="8225466" y="4653583"/>
              <a:ext cx="1386219" cy="292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50" b="0">
                  <a:solidFill>
                    <a:schemeClr val="tx1"/>
                  </a:solidFill>
                  <a:latin typeface="+mn-lt"/>
                </a:rPr>
                <a:t>WB Data</a:t>
              </a:r>
            </a:p>
          </p:txBody>
        </p:sp>
        <p:sp>
          <p:nvSpPr>
            <p:cNvPr id="90" name="Text Box 94"/>
            <p:cNvSpPr txBox="1">
              <a:spLocks noChangeArrowheads="1"/>
            </p:cNvSpPr>
            <p:nvPr/>
          </p:nvSpPr>
          <p:spPr bwMode="auto">
            <a:xfrm>
              <a:off x="686338" y="1520260"/>
              <a:ext cx="708538" cy="528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1050" b="0">
                  <a:solidFill>
                    <a:schemeClr val="tx1"/>
                  </a:solidFill>
                  <a:latin typeface="+mn-lt"/>
                </a:rPr>
                <a:t>Next PC</a:t>
              </a:r>
            </a:p>
          </p:txBody>
        </p:sp>
        <p:grpSp>
          <p:nvGrpSpPr>
            <p:cNvPr id="91" name="Group 95"/>
            <p:cNvGrpSpPr/>
            <p:nvPr/>
          </p:nvGrpSpPr>
          <p:grpSpPr bwMode="auto">
            <a:xfrm>
              <a:off x="774700" y="2841700"/>
              <a:ext cx="304800" cy="1228725"/>
              <a:chOff x="488" y="1914"/>
              <a:chExt cx="192" cy="774"/>
            </a:xfrm>
          </p:grpSpPr>
          <p:sp>
            <p:nvSpPr>
              <p:cNvPr id="92" name="Rectangle 96"/>
              <p:cNvSpPr>
                <a:spLocks noChangeArrowheads="1"/>
              </p:cNvSpPr>
              <p:nvPr/>
            </p:nvSpPr>
            <p:spPr bwMode="auto">
              <a:xfrm>
                <a:off x="488" y="1914"/>
                <a:ext cx="192" cy="768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200" b="0">
                    <a:solidFill>
                      <a:schemeClr val="tx1"/>
                    </a:solidFill>
                  </a:rPr>
                  <a:t>Address</a:t>
                </a:r>
              </a:p>
            </p:txBody>
          </p:sp>
          <p:sp>
            <p:nvSpPr>
              <p:cNvPr id="93" name="AutoShape 97"/>
              <p:cNvSpPr>
                <a:spLocks noChangeArrowheads="1"/>
              </p:cNvSpPr>
              <p:nvPr/>
            </p:nvSpPr>
            <p:spPr bwMode="auto">
              <a:xfrm>
                <a:off x="496" y="2544"/>
                <a:ext cx="175" cy="144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</p:grpSp>
        <p:sp>
          <p:nvSpPr>
            <p:cNvPr id="94" name="Text Box 98"/>
            <p:cNvSpPr txBox="1">
              <a:spLocks noChangeArrowheads="1"/>
            </p:cNvSpPr>
            <p:nvPr/>
          </p:nvSpPr>
          <p:spPr bwMode="auto">
            <a:xfrm>
              <a:off x="3302819" y="2619054"/>
              <a:ext cx="357137" cy="40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700" b="0">
                  <a:solidFill>
                    <a:schemeClr val="tx1"/>
                  </a:solidFill>
                  <a:latin typeface="+mn-lt"/>
                </a:rPr>
                <a:t>RS1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Text Box 99"/>
            <p:cNvSpPr txBox="1">
              <a:spLocks noChangeArrowheads="1"/>
            </p:cNvSpPr>
            <p:nvPr/>
          </p:nvSpPr>
          <p:spPr bwMode="auto">
            <a:xfrm>
              <a:off x="3313138" y="2923854"/>
              <a:ext cx="357137" cy="40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700" b="0">
                  <a:solidFill>
                    <a:schemeClr val="tx1"/>
                  </a:solidFill>
                  <a:latin typeface="+mn-lt"/>
                </a:rPr>
                <a:t>RS2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Text Box 100"/>
            <p:cNvSpPr txBox="1">
              <a:spLocks noChangeArrowheads="1"/>
            </p:cNvSpPr>
            <p:nvPr/>
          </p:nvSpPr>
          <p:spPr bwMode="auto">
            <a:xfrm>
              <a:off x="3445228" y="4584378"/>
              <a:ext cx="392994" cy="40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sz="700" b="0">
                  <a:solidFill>
                    <a:schemeClr val="tx1"/>
                  </a:solidFill>
                  <a:latin typeface="+mn-lt"/>
                </a:rPr>
                <a:t>Imm</a:t>
              </a:r>
              <a:endParaRPr lang="en-US" sz="1050" b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Oval 101"/>
            <p:cNvSpPr>
              <a:spLocks noChangeArrowheads="1"/>
            </p:cNvSpPr>
            <p:nvPr/>
          </p:nvSpPr>
          <p:spPr bwMode="auto">
            <a:xfrm>
              <a:off x="7035800" y="1722513"/>
              <a:ext cx="209550" cy="552450"/>
            </a:xfrm>
            <a:prstGeom prst="ellipse">
              <a:avLst/>
            </a:prstGeom>
            <a:solidFill>
              <a:srgbClr val="07F707"/>
            </a:solidFill>
            <a:ln w="28575">
              <a:solidFill>
                <a:schemeClr val="tx1"/>
              </a:solidFill>
              <a:round/>
            </a:ln>
          </p:spPr>
          <p:txBody>
            <a:bodyPr vert="eaVert" wrap="none" anchor="ctr"/>
            <a:lstStyle/>
            <a:p>
              <a:pPr algn="ctr"/>
              <a:r>
                <a:rPr lang="en-US" sz="1100" b="0">
                  <a:solidFill>
                    <a:schemeClr val="tx1"/>
                  </a:solidFill>
                </a:rPr>
                <a:t>MUX</a:t>
              </a:r>
              <a:endParaRPr lang="en-US" sz="1200" b="0">
                <a:solidFill>
                  <a:schemeClr val="tx1"/>
                </a:solidFill>
              </a:endParaRPr>
            </a:p>
          </p:txBody>
        </p:sp>
      </p:grpSp>
      <p:sp>
        <p:nvSpPr>
          <p:cNvPr id="98" name="Oval 25"/>
          <p:cNvSpPr>
            <a:spLocks noChangeArrowheads="1"/>
          </p:cNvSpPr>
          <p:nvPr/>
        </p:nvSpPr>
        <p:spPr bwMode="auto">
          <a:xfrm>
            <a:off x="7361949" y="2996309"/>
            <a:ext cx="686777" cy="1149119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US" altLang="zh-CN" sz="1600" b="0" dirty="0"/>
              <a:t>Unit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99" name="Rectangle 19"/>
          <p:cNvSpPr>
            <a:spLocks noChangeArrowheads="1"/>
          </p:cNvSpPr>
          <p:nvPr/>
        </p:nvSpPr>
        <p:spPr bwMode="auto">
          <a:xfrm>
            <a:off x="6307906" y="3472244"/>
            <a:ext cx="347648" cy="103352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2000" b="0" dirty="0" err="1">
                <a:solidFill>
                  <a:schemeClr val="tx1"/>
                </a:solidFill>
              </a:rPr>
              <a:t>Reg</a:t>
            </a:r>
            <a:r>
              <a:rPr lang="en-US" sz="2000" b="0" dirty="0">
                <a:solidFill>
                  <a:schemeClr val="tx1"/>
                </a:solidFill>
              </a:rPr>
              <a:t> File</a:t>
            </a:r>
          </a:p>
        </p:txBody>
      </p:sp>
      <p:sp>
        <p:nvSpPr>
          <p:cNvPr id="107" name="Rectangle 23"/>
          <p:cNvSpPr>
            <a:spLocks noChangeArrowheads="1"/>
          </p:cNvSpPr>
          <p:nvPr/>
        </p:nvSpPr>
        <p:spPr bwMode="auto">
          <a:xfrm>
            <a:off x="8934585" y="3484133"/>
            <a:ext cx="446996" cy="106458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1600" b="0" dirty="0">
                <a:solidFill>
                  <a:schemeClr val="tx1"/>
                </a:solidFill>
              </a:rPr>
              <a:t>Data</a:t>
            </a:r>
          </a:p>
          <a:p>
            <a:pPr algn="ctr">
              <a:lnSpc>
                <a:spcPct val="80000"/>
              </a:lnSpc>
            </a:pPr>
            <a:r>
              <a:rPr lang="en-US" sz="1600" b="0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113" name="Rectangle 23"/>
          <p:cNvSpPr>
            <a:spLocks noChangeArrowheads="1"/>
          </p:cNvSpPr>
          <p:nvPr/>
        </p:nvSpPr>
        <p:spPr bwMode="auto">
          <a:xfrm>
            <a:off x="8868927" y="2080890"/>
            <a:ext cx="388557" cy="101040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Data</a:t>
            </a:r>
          </a:p>
          <a:p>
            <a:pPr algn="ctr">
              <a:lnSpc>
                <a:spcPct val="80000"/>
              </a:lnSpc>
            </a:pPr>
            <a:r>
              <a:rPr lang="en-US" sz="1400" b="0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114" name="Rectangle 8"/>
          <p:cNvSpPr>
            <a:spLocks noChangeArrowheads="1"/>
          </p:cNvSpPr>
          <p:nvPr/>
        </p:nvSpPr>
        <p:spPr bwMode="auto">
          <a:xfrm>
            <a:off x="7306083" y="4193747"/>
            <a:ext cx="847990" cy="33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/>
              <a:t>Pipeline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5" name="Rectangle 8"/>
          <p:cNvSpPr>
            <a:spLocks noChangeArrowheads="1"/>
          </p:cNvSpPr>
          <p:nvPr/>
        </p:nvSpPr>
        <p:spPr bwMode="auto">
          <a:xfrm>
            <a:off x="7056820" y="4548718"/>
            <a:ext cx="1346523" cy="33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/>
              <a:t>Multiple issue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11" name="曲线连接符 210"/>
          <p:cNvCxnSpPr/>
          <p:nvPr/>
        </p:nvCxnSpPr>
        <p:spPr>
          <a:xfrm>
            <a:off x="2333361" y="1620437"/>
            <a:ext cx="729762" cy="568092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组合 212"/>
          <p:cNvGrpSpPr/>
          <p:nvPr/>
        </p:nvGrpSpPr>
        <p:grpSpPr>
          <a:xfrm>
            <a:off x="3840479" y="4053575"/>
            <a:ext cx="6769666" cy="2685002"/>
            <a:chOff x="1567753" y="4035160"/>
            <a:chExt cx="6769666" cy="2685002"/>
          </a:xfrm>
        </p:grpSpPr>
        <p:grpSp>
          <p:nvGrpSpPr>
            <p:cNvPr id="116" name="组合 115"/>
            <p:cNvGrpSpPr/>
            <p:nvPr/>
          </p:nvGrpSpPr>
          <p:grpSpPr>
            <a:xfrm>
              <a:off x="1567753" y="4035160"/>
              <a:ext cx="6769666" cy="2685002"/>
              <a:chOff x="482600" y="931938"/>
              <a:chExt cx="8582273" cy="4729162"/>
            </a:xfrm>
          </p:grpSpPr>
          <p:sp>
            <p:nvSpPr>
              <p:cNvPr id="117" name="Line 3"/>
              <p:cNvSpPr>
                <a:spLocks noChangeShapeType="1"/>
              </p:cNvSpPr>
              <p:nvPr/>
            </p:nvSpPr>
            <p:spPr bwMode="auto">
              <a:xfrm>
                <a:off x="7645400" y="3908500"/>
                <a:ext cx="685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18" name="Rectangle 4"/>
              <p:cNvSpPr>
                <a:spLocks noChangeArrowheads="1"/>
              </p:cNvSpPr>
              <p:nvPr/>
            </p:nvSpPr>
            <p:spPr bwMode="auto">
              <a:xfrm>
                <a:off x="631825" y="974725"/>
                <a:ext cx="20638" cy="206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19" name="Rectangle 5"/>
              <p:cNvSpPr>
                <a:spLocks noChangeArrowheads="1"/>
              </p:cNvSpPr>
              <p:nvPr/>
            </p:nvSpPr>
            <p:spPr bwMode="auto">
              <a:xfrm>
                <a:off x="863600" y="936700"/>
                <a:ext cx="7858125" cy="7635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20" name="Rectangle 6"/>
              <p:cNvSpPr>
                <a:spLocks noChangeArrowheads="1"/>
              </p:cNvSpPr>
              <p:nvPr/>
            </p:nvSpPr>
            <p:spPr bwMode="auto">
              <a:xfrm>
                <a:off x="6897292" y="931938"/>
                <a:ext cx="804062" cy="9271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Memory</a:t>
                </a: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Access</a:t>
                </a:r>
              </a:p>
            </p:txBody>
          </p:sp>
          <p:sp>
            <p:nvSpPr>
              <p:cNvPr id="121" name="Rectangle 7"/>
              <p:cNvSpPr>
                <a:spLocks noChangeArrowheads="1"/>
              </p:cNvSpPr>
              <p:nvPr/>
            </p:nvSpPr>
            <p:spPr bwMode="auto">
              <a:xfrm>
                <a:off x="8026400" y="936700"/>
                <a:ext cx="838200" cy="927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Write</a:t>
                </a: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Back</a:t>
                </a:r>
              </a:p>
            </p:txBody>
          </p:sp>
          <p:sp>
            <p:nvSpPr>
              <p:cNvPr id="122" name="Rectangle 8"/>
              <p:cNvSpPr>
                <a:spLocks noChangeArrowheads="1"/>
              </p:cNvSpPr>
              <p:nvPr/>
            </p:nvSpPr>
            <p:spPr bwMode="auto">
              <a:xfrm>
                <a:off x="1371405" y="931938"/>
                <a:ext cx="960829" cy="9271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Instruction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Fetch</a:t>
                </a:r>
              </a:p>
            </p:txBody>
          </p:sp>
          <p:sp>
            <p:nvSpPr>
              <p:cNvPr id="123" name="Rectangle 9"/>
              <p:cNvSpPr>
                <a:spLocks noChangeArrowheads="1"/>
              </p:cNvSpPr>
              <p:nvPr/>
            </p:nvSpPr>
            <p:spPr bwMode="auto">
              <a:xfrm>
                <a:off x="3160708" y="936700"/>
                <a:ext cx="1116019" cy="9271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Instr. Decode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Reg. Fetch</a:t>
                </a:r>
              </a:p>
            </p:txBody>
          </p:sp>
          <p:sp>
            <p:nvSpPr>
              <p:cNvPr id="124" name="Rectangle 10"/>
              <p:cNvSpPr>
                <a:spLocks noChangeArrowheads="1"/>
              </p:cNvSpPr>
              <p:nvPr/>
            </p:nvSpPr>
            <p:spPr bwMode="auto">
              <a:xfrm>
                <a:off x="4995863" y="931938"/>
                <a:ext cx="1427162" cy="9271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Execute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Addr</a:t>
                </a:r>
                <a:r>
                  <a:rPr lang="en-US" sz="1200" dirty="0">
                    <a:solidFill>
                      <a:schemeClr val="tx1"/>
                    </a:solidFill>
                  </a:rPr>
                  <a:t>.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Calc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25" name="Group 11"/>
              <p:cNvGrpSpPr/>
              <p:nvPr/>
            </p:nvGrpSpPr>
            <p:grpSpPr bwMode="auto">
              <a:xfrm>
                <a:off x="5740400" y="2994100"/>
                <a:ext cx="449263" cy="1095375"/>
                <a:chOff x="3360" y="2112"/>
                <a:chExt cx="283" cy="816"/>
              </a:xfrm>
            </p:grpSpPr>
            <p:grpSp>
              <p:nvGrpSpPr>
                <p:cNvPr id="205" name="Group 12"/>
                <p:cNvGrpSpPr/>
                <p:nvPr/>
              </p:nvGrpSpPr>
              <p:grpSpPr bwMode="auto">
                <a:xfrm>
                  <a:off x="3360" y="2112"/>
                  <a:ext cx="283" cy="816"/>
                  <a:chOff x="3360" y="2112"/>
                  <a:chExt cx="283" cy="816"/>
                </a:xfrm>
              </p:grpSpPr>
              <p:sp>
                <p:nvSpPr>
                  <p:cNvPr id="207" name="AutoShape 13"/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3101" y="2386"/>
                    <a:ext cx="816" cy="26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513 h 21600"/>
                      <a:gd name="T14" fmla="*/ 17100 w 21600"/>
                      <a:gd name="T15" fmla="*/ 17087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vert="eaVert" wrap="none" anchor="ctr"/>
                  <a:lstStyle/>
                  <a:p>
                    <a:endParaRPr lang="en-US" sz="1200"/>
                  </a:p>
                </p:txBody>
              </p:sp>
              <p:sp>
                <p:nvSpPr>
                  <p:cNvPr id="208" name="AutoShape 14"/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3301" y="2419"/>
                    <a:ext cx="247" cy="129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none" anchor="ctr"/>
                  <a:lstStyle/>
                  <a:p>
                    <a:endParaRPr lang="en-US" sz="1200"/>
                  </a:p>
                </p:txBody>
              </p:sp>
              <p:sp>
                <p:nvSpPr>
                  <p:cNvPr id="209" name="Text Box 15"/>
                  <p:cNvSpPr txBox="1">
                    <a:spLocks noChangeAspect="1" noChangeArrowheads="1"/>
                  </p:cNvSpPr>
                  <p:nvPr/>
                </p:nvSpPr>
                <p:spPr bwMode="auto">
                  <a:xfrm rot="5400000">
                    <a:off x="3189" y="2434"/>
                    <a:ext cx="663" cy="19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  <a:cs typeface="MS PGothic" panose="020B060007020508020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charset="-128"/>
                      </a:defRPr>
                    </a:lvl9pPr>
                  </a:lstStyle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+mn-lt"/>
                      </a:rPr>
                      <a:t>ALU</a:t>
                    </a:r>
                    <a:endParaRPr lang="en-US" sz="7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p:grpSp>
            <p:sp>
              <p:nvSpPr>
                <p:cNvPr id="206" name="Freeform 16"/>
                <p:cNvSpPr>
                  <a:spLocks noChangeAspect="1"/>
                </p:cNvSpPr>
                <p:nvPr/>
              </p:nvSpPr>
              <p:spPr bwMode="auto">
                <a:xfrm rot="5400000">
                  <a:off x="3307" y="2425"/>
                  <a:ext cx="245" cy="115"/>
                </a:xfrm>
                <a:custGeom>
                  <a:avLst/>
                  <a:gdLst>
                    <a:gd name="T0" fmla="*/ 0 w 384"/>
                    <a:gd name="T1" fmla="*/ 0 h 288"/>
                    <a:gd name="T2" fmla="*/ 1 w 384"/>
                    <a:gd name="T3" fmla="*/ 0 h 288"/>
                    <a:gd name="T4" fmla="*/ 1 w 384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384"/>
                    <a:gd name="T10" fmla="*/ 0 h 288"/>
                    <a:gd name="T11" fmla="*/ 384 w 384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sp>
            <p:nvSpPr>
              <p:cNvPr id="126" name="Rectangle 17"/>
              <p:cNvSpPr>
                <a:spLocks noChangeArrowheads="1"/>
              </p:cNvSpPr>
              <p:nvPr/>
            </p:nvSpPr>
            <p:spPr bwMode="auto">
              <a:xfrm>
                <a:off x="1549400" y="2994100"/>
                <a:ext cx="762000" cy="91440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200" b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127" name="Freeform 18"/>
              <p:cNvSpPr/>
              <p:nvPr/>
            </p:nvSpPr>
            <p:spPr bwMode="auto">
              <a:xfrm>
                <a:off x="6215063" y="2271788"/>
                <a:ext cx="922337" cy="365125"/>
              </a:xfrm>
              <a:custGeom>
                <a:avLst/>
                <a:gdLst>
                  <a:gd name="T0" fmla="*/ 0 w 576"/>
                  <a:gd name="T1" fmla="*/ 2147483647 h 240"/>
                  <a:gd name="T2" fmla="*/ 2147483647 w 576"/>
                  <a:gd name="T3" fmla="*/ 2147483647 h 240"/>
                  <a:gd name="T4" fmla="*/ 2147483647 w 576"/>
                  <a:gd name="T5" fmla="*/ 0 h 24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240"/>
                  <a:gd name="T11" fmla="*/ 576 w 576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240">
                    <a:moveTo>
                      <a:pt x="0" y="240"/>
                    </a:moveTo>
                    <a:lnTo>
                      <a:pt x="576" y="240"/>
                    </a:lnTo>
                    <a:lnTo>
                      <a:pt x="57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28" name="Rectangle 19"/>
              <p:cNvSpPr>
                <a:spLocks noChangeArrowheads="1"/>
              </p:cNvSpPr>
              <p:nvPr/>
            </p:nvSpPr>
            <p:spPr bwMode="auto">
              <a:xfrm>
                <a:off x="3835400" y="2741688"/>
                <a:ext cx="590550" cy="147637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200" b="0">
                    <a:solidFill>
                      <a:schemeClr val="tx1"/>
                    </a:solidFill>
                  </a:rPr>
                  <a:t>Reg File</a:t>
                </a:r>
              </a:p>
            </p:txBody>
          </p:sp>
          <p:sp>
            <p:nvSpPr>
              <p:cNvPr id="129" name="Oval 20"/>
              <p:cNvSpPr>
                <a:spLocks noChangeArrowheads="1"/>
              </p:cNvSpPr>
              <p:nvPr/>
            </p:nvSpPr>
            <p:spPr bwMode="auto">
              <a:xfrm>
                <a:off x="5300663" y="2941713"/>
                <a:ext cx="209550" cy="5524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100" b="0">
                    <a:solidFill>
                      <a:schemeClr val="tx1"/>
                    </a:solidFill>
                  </a:rPr>
                  <a:t>MUX</a:t>
                </a:r>
                <a:endParaRPr lang="en-US" sz="12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Oval 21"/>
              <p:cNvSpPr>
                <a:spLocks noChangeArrowheads="1"/>
              </p:cNvSpPr>
              <p:nvPr/>
            </p:nvSpPr>
            <p:spPr bwMode="auto">
              <a:xfrm>
                <a:off x="5300663" y="3551313"/>
                <a:ext cx="209550" cy="5524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100" b="0" dirty="0">
                    <a:solidFill>
                      <a:schemeClr val="tx1"/>
                    </a:solidFill>
                  </a:rPr>
                  <a:t>MUX</a:t>
                </a:r>
                <a:endParaRPr lang="en-US" sz="12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Freeform 22"/>
              <p:cNvSpPr/>
              <p:nvPr/>
            </p:nvSpPr>
            <p:spPr bwMode="auto">
              <a:xfrm>
                <a:off x="4978400" y="2636913"/>
                <a:ext cx="750888" cy="661987"/>
              </a:xfrm>
              <a:custGeom>
                <a:avLst/>
                <a:gdLst>
                  <a:gd name="T0" fmla="*/ 0 w 336"/>
                  <a:gd name="T1" fmla="*/ 2147483647 h 480"/>
                  <a:gd name="T2" fmla="*/ 0 w 336"/>
                  <a:gd name="T3" fmla="*/ 0 h 480"/>
                  <a:gd name="T4" fmla="*/ 2147483647 w 336"/>
                  <a:gd name="T5" fmla="*/ 0 h 480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480"/>
                  <a:gd name="T11" fmla="*/ 336 w 336"/>
                  <a:gd name="T12" fmla="*/ 480 h 4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480">
                    <a:moveTo>
                      <a:pt x="0" y="480"/>
                    </a:moveTo>
                    <a:lnTo>
                      <a:pt x="0" y="0"/>
                    </a:lnTo>
                    <a:lnTo>
                      <a:pt x="33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2" name="Oval 24"/>
              <p:cNvSpPr>
                <a:spLocks noChangeArrowheads="1"/>
              </p:cNvSpPr>
              <p:nvPr/>
            </p:nvSpPr>
            <p:spPr bwMode="auto">
              <a:xfrm>
                <a:off x="8331200" y="3832300"/>
                <a:ext cx="209550" cy="5524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100" b="0">
                    <a:solidFill>
                      <a:schemeClr val="tx1"/>
                    </a:solidFill>
                  </a:rPr>
                  <a:t>MUX</a:t>
                </a:r>
                <a:endParaRPr lang="en-US" sz="12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Oval 25"/>
              <p:cNvSpPr>
                <a:spLocks noChangeArrowheads="1"/>
              </p:cNvSpPr>
              <p:nvPr/>
            </p:nvSpPr>
            <p:spPr bwMode="auto">
              <a:xfrm>
                <a:off x="3835400" y="4302200"/>
                <a:ext cx="447675" cy="676275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700">
                    <a:solidFill>
                      <a:schemeClr val="tx1"/>
                    </a:solidFill>
                  </a:rPr>
                  <a:t>Sign</a:t>
                </a:r>
              </a:p>
              <a:p>
                <a:pPr algn="ctr"/>
                <a:r>
                  <a:rPr lang="en-US" sz="700">
                    <a:solidFill>
                      <a:schemeClr val="tx1"/>
                    </a:solidFill>
                  </a:rPr>
                  <a:t>Extend</a:t>
                </a:r>
                <a:endParaRPr lang="en-US" sz="10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Line 30"/>
              <p:cNvSpPr>
                <a:spLocks noChangeShapeType="1"/>
              </p:cNvSpPr>
              <p:nvPr/>
            </p:nvSpPr>
            <p:spPr bwMode="auto">
              <a:xfrm>
                <a:off x="2311400" y="3451300"/>
                <a:ext cx="304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5" name="Line 31"/>
              <p:cNvSpPr>
                <a:spLocks noChangeShapeType="1"/>
              </p:cNvSpPr>
              <p:nvPr/>
            </p:nvSpPr>
            <p:spPr bwMode="auto">
              <a:xfrm>
                <a:off x="2921000" y="345130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6" name="Freeform 32"/>
              <p:cNvSpPr/>
              <p:nvPr/>
            </p:nvSpPr>
            <p:spPr bwMode="auto">
              <a:xfrm>
                <a:off x="3149600" y="2913138"/>
                <a:ext cx="685800" cy="1757362"/>
              </a:xfrm>
              <a:custGeom>
                <a:avLst/>
                <a:gdLst>
                  <a:gd name="T0" fmla="*/ 0 w 480"/>
                  <a:gd name="T1" fmla="*/ 0 h 1056"/>
                  <a:gd name="T2" fmla="*/ 0 w 480"/>
                  <a:gd name="T3" fmla="*/ 2147483647 h 1056"/>
                  <a:gd name="T4" fmla="*/ 2147483647 w 480"/>
                  <a:gd name="T5" fmla="*/ 2147483647 h 1056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1056"/>
                  <a:gd name="T11" fmla="*/ 480 w 480"/>
                  <a:gd name="T12" fmla="*/ 1056 h 10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1056">
                    <a:moveTo>
                      <a:pt x="0" y="0"/>
                    </a:moveTo>
                    <a:lnTo>
                      <a:pt x="0" y="1056"/>
                    </a:lnTo>
                    <a:lnTo>
                      <a:pt x="480" y="10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7" name="Line 33"/>
              <p:cNvSpPr>
                <a:spLocks noChangeShapeType="1"/>
              </p:cNvSpPr>
              <p:nvPr/>
            </p:nvSpPr>
            <p:spPr bwMode="auto">
              <a:xfrm>
                <a:off x="3149600" y="2917900"/>
                <a:ext cx="685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8" name="Line 34"/>
              <p:cNvSpPr>
                <a:spLocks noChangeShapeType="1"/>
              </p:cNvSpPr>
              <p:nvPr/>
            </p:nvSpPr>
            <p:spPr bwMode="auto">
              <a:xfrm>
                <a:off x="3149600" y="3222700"/>
                <a:ext cx="685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9" name="Line 35"/>
              <p:cNvSpPr>
                <a:spLocks noChangeShapeType="1"/>
              </p:cNvSpPr>
              <p:nvPr/>
            </p:nvSpPr>
            <p:spPr bwMode="auto">
              <a:xfrm>
                <a:off x="4445000" y="3298900"/>
                <a:ext cx="838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0" name="Rectangle 36"/>
              <p:cNvSpPr>
                <a:spLocks noChangeArrowheads="1"/>
              </p:cNvSpPr>
              <p:nvPr/>
            </p:nvSpPr>
            <p:spPr bwMode="auto">
              <a:xfrm>
                <a:off x="5740400" y="2460700"/>
                <a:ext cx="4572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en-US" sz="1000" b="0" dirty="0">
                    <a:solidFill>
                      <a:schemeClr val="tx1"/>
                    </a:solidFill>
                  </a:rPr>
                  <a:t>Zero?</a:t>
                </a:r>
                <a:endParaRPr lang="en-US" sz="12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Line 37"/>
              <p:cNvSpPr>
                <a:spLocks noChangeShapeType="1"/>
              </p:cNvSpPr>
              <p:nvPr/>
            </p:nvSpPr>
            <p:spPr bwMode="auto">
              <a:xfrm>
                <a:off x="5511800" y="322270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2" name="Line 38"/>
              <p:cNvSpPr>
                <a:spLocks noChangeShapeType="1"/>
              </p:cNvSpPr>
              <p:nvPr/>
            </p:nvSpPr>
            <p:spPr bwMode="auto">
              <a:xfrm>
                <a:off x="5511800" y="383230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3" name="Freeform 39"/>
              <p:cNvSpPr/>
              <p:nvPr/>
            </p:nvSpPr>
            <p:spPr bwMode="auto">
              <a:xfrm>
                <a:off x="482600" y="1622500"/>
                <a:ext cx="7086600" cy="1812925"/>
              </a:xfrm>
              <a:custGeom>
                <a:avLst/>
                <a:gdLst>
                  <a:gd name="T0" fmla="*/ 2147483647 w 4464"/>
                  <a:gd name="T1" fmla="*/ 2147483647 h 1142"/>
                  <a:gd name="T2" fmla="*/ 2147483647 w 4464"/>
                  <a:gd name="T3" fmla="*/ 2147483647 h 1142"/>
                  <a:gd name="T4" fmla="*/ 2147483647 w 4464"/>
                  <a:gd name="T5" fmla="*/ 0 h 1142"/>
                  <a:gd name="T6" fmla="*/ 0 w 4464"/>
                  <a:gd name="T7" fmla="*/ 0 h 1142"/>
                  <a:gd name="T8" fmla="*/ 2147483647 w 4464"/>
                  <a:gd name="T9" fmla="*/ 2147483647 h 1142"/>
                  <a:gd name="T10" fmla="*/ 2147483647 w 4464"/>
                  <a:gd name="T11" fmla="*/ 2147483647 h 11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64"/>
                  <a:gd name="T19" fmla="*/ 0 h 1142"/>
                  <a:gd name="T20" fmla="*/ 4464 w 4464"/>
                  <a:gd name="T21" fmla="*/ 1142 h 11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64" h="1142">
                    <a:moveTo>
                      <a:pt x="4224" y="253"/>
                    </a:moveTo>
                    <a:lnTo>
                      <a:pt x="4464" y="253"/>
                    </a:lnTo>
                    <a:lnTo>
                      <a:pt x="4464" y="0"/>
                    </a:lnTo>
                    <a:lnTo>
                      <a:pt x="0" y="0"/>
                    </a:lnTo>
                    <a:lnTo>
                      <a:pt x="2" y="1142"/>
                    </a:lnTo>
                    <a:lnTo>
                      <a:pt x="172" y="114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4" name="Line 40"/>
              <p:cNvSpPr>
                <a:spLocks noChangeShapeType="1"/>
              </p:cNvSpPr>
              <p:nvPr/>
            </p:nvSpPr>
            <p:spPr bwMode="auto">
              <a:xfrm>
                <a:off x="6197600" y="3527500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5" name="Freeform 41"/>
              <p:cNvSpPr/>
              <p:nvPr/>
            </p:nvSpPr>
            <p:spPr bwMode="auto">
              <a:xfrm>
                <a:off x="6723063" y="2140025"/>
                <a:ext cx="304800" cy="1371600"/>
              </a:xfrm>
              <a:custGeom>
                <a:avLst/>
                <a:gdLst>
                  <a:gd name="T0" fmla="*/ 0 w 192"/>
                  <a:gd name="T1" fmla="*/ 2147483647 h 960"/>
                  <a:gd name="T2" fmla="*/ 0 w 192"/>
                  <a:gd name="T3" fmla="*/ 0 h 960"/>
                  <a:gd name="T4" fmla="*/ 2147483647 w 192"/>
                  <a:gd name="T5" fmla="*/ 0 h 960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960"/>
                  <a:gd name="T11" fmla="*/ 192 w 192"/>
                  <a:gd name="T12" fmla="*/ 960 h 9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960">
                    <a:moveTo>
                      <a:pt x="0" y="960"/>
                    </a:moveTo>
                    <a:lnTo>
                      <a:pt x="0" y="0"/>
                    </a:lnTo>
                    <a:lnTo>
                      <a:pt x="19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6" name="Line 42"/>
              <p:cNvSpPr>
                <a:spLocks noChangeShapeType="1"/>
              </p:cNvSpPr>
              <p:nvPr/>
            </p:nvSpPr>
            <p:spPr bwMode="auto">
              <a:xfrm>
                <a:off x="4445000" y="3756100"/>
                <a:ext cx="838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7" name="Line 43"/>
              <p:cNvSpPr>
                <a:spLocks noChangeShapeType="1"/>
              </p:cNvSpPr>
              <p:nvPr/>
            </p:nvSpPr>
            <p:spPr bwMode="auto">
              <a:xfrm>
                <a:off x="1092200" y="3451300"/>
                <a:ext cx="457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8" name="Line 44"/>
              <p:cNvSpPr>
                <a:spLocks noChangeShapeType="1"/>
              </p:cNvSpPr>
              <p:nvPr/>
            </p:nvSpPr>
            <p:spPr bwMode="auto">
              <a:xfrm>
                <a:off x="1549400" y="2689300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9" name="Freeform 45"/>
              <p:cNvSpPr/>
              <p:nvPr/>
            </p:nvSpPr>
            <p:spPr bwMode="auto">
              <a:xfrm>
                <a:off x="1244600" y="2079700"/>
                <a:ext cx="533400" cy="1371600"/>
              </a:xfrm>
              <a:custGeom>
                <a:avLst/>
                <a:gdLst>
                  <a:gd name="T0" fmla="*/ 0 w 336"/>
                  <a:gd name="T1" fmla="*/ 2147483647 h 864"/>
                  <a:gd name="T2" fmla="*/ 0 w 336"/>
                  <a:gd name="T3" fmla="*/ 0 h 864"/>
                  <a:gd name="T4" fmla="*/ 2147483647 w 336"/>
                  <a:gd name="T5" fmla="*/ 0 h 864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864"/>
                  <a:gd name="T11" fmla="*/ 336 w 336"/>
                  <a:gd name="T12" fmla="*/ 864 h 8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864">
                    <a:moveTo>
                      <a:pt x="0" y="864"/>
                    </a:moveTo>
                    <a:lnTo>
                      <a:pt x="0" y="0"/>
                    </a:lnTo>
                    <a:lnTo>
                      <a:pt x="33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0" name="Freeform 46"/>
              <p:cNvSpPr/>
              <p:nvPr/>
            </p:nvSpPr>
            <p:spPr bwMode="auto">
              <a:xfrm>
                <a:off x="6716713" y="3527500"/>
                <a:ext cx="1614487" cy="1143000"/>
              </a:xfrm>
              <a:custGeom>
                <a:avLst/>
                <a:gdLst>
                  <a:gd name="T0" fmla="*/ 0 w 1008"/>
                  <a:gd name="T1" fmla="*/ 0 h 720"/>
                  <a:gd name="T2" fmla="*/ 0 w 1008"/>
                  <a:gd name="T3" fmla="*/ 2147483647 h 720"/>
                  <a:gd name="T4" fmla="*/ 2147483647 w 1008"/>
                  <a:gd name="T5" fmla="*/ 2147483647 h 720"/>
                  <a:gd name="T6" fmla="*/ 2147483647 w 1008"/>
                  <a:gd name="T7" fmla="*/ 2147483647 h 720"/>
                  <a:gd name="T8" fmla="*/ 2147483647 w 1008"/>
                  <a:gd name="T9" fmla="*/ 2147483647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8"/>
                  <a:gd name="T16" fmla="*/ 0 h 720"/>
                  <a:gd name="T17" fmla="*/ 1008 w 1008"/>
                  <a:gd name="T18" fmla="*/ 720 h 7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8" h="720">
                    <a:moveTo>
                      <a:pt x="0" y="0"/>
                    </a:moveTo>
                    <a:lnTo>
                      <a:pt x="0" y="720"/>
                    </a:lnTo>
                    <a:lnTo>
                      <a:pt x="864" y="720"/>
                    </a:lnTo>
                    <a:lnTo>
                      <a:pt x="864" y="480"/>
                    </a:lnTo>
                    <a:lnTo>
                      <a:pt x="1008" y="48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1" name="Freeform 47"/>
              <p:cNvSpPr/>
              <p:nvPr/>
            </p:nvSpPr>
            <p:spPr bwMode="auto">
              <a:xfrm>
                <a:off x="3454400" y="3832300"/>
                <a:ext cx="5334000" cy="1828800"/>
              </a:xfrm>
              <a:custGeom>
                <a:avLst/>
                <a:gdLst>
                  <a:gd name="T0" fmla="*/ 2147483647 w 3312"/>
                  <a:gd name="T1" fmla="*/ 2147483647 h 768"/>
                  <a:gd name="T2" fmla="*/ 2147483647 w 3312"/>
                  <a:gd name="T3" fmla="*/ 2147483647 h 768"/>
                  <a:gd name="T4" fmla="*/ 2147483647 w 3312"/>
                  <a:gd name="T5" fmla="*/ 2147483647 h 768"/>
                  <a:gd name="T6" fmla="*/ 0 w 3312"/>
                  <a:gd name="T7" fmla="*/ 2147483647 h 768"/>
                  <a:gd name="T8" fmla="*/ 0 w 3312"/>
                  <a:gd name="T9" fmla="*/ 0 h 768"/>
                  <a:gd name="T10" fmla="*/ 2147483647 w 3312"/>
                  <a:gd name="T11" fmla="*/ 0 h 7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12"/>
                  <a:gd name="T19" fmla="*/ 0 h 768"/>
                  <a:gd name="T20" fmla="*/ 3312 w 3312"/>
                  <a:gd name="T21" fmla="*/ 768 h 7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12" h="768">
                    <a:moveTo>
                      <a:pt x="3168" y="96"/>
                    </a:moveTo>
                    <a:lnTo>
                      <a:pt x="3312" y="96"/>
                    </a:lnTo>
                    <a:lnTo>
                      <a:pt x="3312" y="768"/>
                    </a:lnTo>
                    <a:lnTo>
                      <a:pt x="0" y="768"/>
                    </a:lnTo>
                    <a:lnTo>
                      <a:pt x="0" y="0"/>
                    </a:lnTo>
                    <a:lnTo>
                      <a:pt x="24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2" name="Freeform 48"/>
              <p:cNvSpPr/>
              <p:nvPr/>
            </p:nvSpPr>
            <p:spPr bwMode="auto">
              <a:xfrm>
                <a:off x="4978400" y="3756100"/>
                <a:ext cx="2133600" cy="533400"/>
              </a:xfrm>
              <a:custGeom>
                <a:avLst/>
                <a:gdLst>
                  <a:gd name="T0" fmla="*/ 0 w 1344"/>
                  <a:gd name="T1" fmla="*/ 0 h 336"/>
                  <a:gd name="T2" fmla="*/ 0 w 1344"/>
                  <a:gd name="T3" fmla="*/ 2147483647 h 336"/>
                  <a:gd name="T4" fmla="*/ 2147483647 w 1344"/>
                  <a:gd name="T5" fmla="*/ 2147483647 h 336"/>
                  <a:gd name="T6" fmla="*/ 0 60000 65536"/>
                  <a:gd name="T7" fmla="*/ 0 60000 65536"/>
                  <a:gd name="T8" fmla="*/ 0 60000 65536"/>
                  <a:gd name="T9" fmla="*/ 0 w 1344"/>
                  <a:gd name="T10" fmla="*/ 0 h 336"/>
                  <a:gd name="T11" fmla="*/ 1344 w 1344"/>
                  <a:gd name="T12" fmla="*/ 336 h 3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44" h="336">
                    <a:moveTo>
                      <a:pt x="0" y="0"/>
                    </a:moveTo>
                    <a:lnTo>
                      <a:pt x="0" y="336"/>
                    </a:lnTo>
                    <a:lnTo>
                      <a:pt x="1344" y="3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3" name="Freeform 49"/>
              <p:cNvSpPr/>
              <p:nvPr/>
            </p:nvSpPr>
            <p:spPr bwMode="auto">
              <a:xfrm>
                <a:off x="3302000" y="3603700"/>
                <a:ext cx="5257800" cy="1828800"/>
              </a:xfrm>
              <a:custGeom>
                <a:avLst/>
                <a:gdLst>
                  <a:gd name="T0" fmla="*/ 2147483647 w 3312"/>
                  <a:gd name="T1" fmla="*/ 2147483647 h 1200"/>
                  <a:gd name="T2" fmla="*/ 2147483647 w 3312"/>
                  <a:gd name="T3" fmla="*/ 2147483647 h 1200"/>
                  <a:gd name="T4" fmla="*/ 2147483647 w 3312"/>
                  <a:gd name="T5" fmla="*/ 2147483647 h 1200"/>
                  <a:gd name="T6" fmla="*/ 0 w 3312"/>
                  <a:gd name="T7" fmla="*/ 2147483647 h 1200"/>
                  <a:gd name="T8" fmla="*/ 0 w 3312"/>
                  <a:gd name="T9" fmla="*/ 0 h 1200"/>
                  <a:gd name="T10" fmla="*/ 2147483647 w 3312"/>
                  <a:gd name="T11" fmla="*/ 0 h 12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12"/>
                  <a:gd name="T19" fmla="*/ 0 h 1200"/>
                  <a:gd name="T20" fmla="*/ 3312 w 3312"/>
                  <a:gd name="T21" fmla="*/ 1200 h 12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12" h="1200">
                    <a:moveTo>
                      <a:pt x="3024" y="960"/>
                    </a:moveTo>
                    <a:lnTo>
                      <a:pt x="3312" y="960"/>
                    </a:lnTo>
                    <a:lnTo>
                      <a:pt x="3312" y="1200"/>
                    </a:lnTo>
                    <a:lnTo>
                      <a:pt x="0" y="1200"/>
                    </a:lnTo>
                    <a:lnTo>
                      <a:pt x="0" y="0"/>
                    </a:lnTo>
                    <a:lnTo>
                      <a:pt x="33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grpSp>
            <p:nvGrpSpPr>
              <p:cNvPr id="154" name="Group 50"/>
              <p:cNvGrpSpPr/>
              <p:nvPr/>
            </p:nvGrpSpPr>
            <p:grpSpPr bwMode="auto">
              <a:xfrm>
                <a:off x="2616200" y="1698700"/>
                <a:ext cx="5487988" cy="3643313"/>
                <a:chOff x="1631" y="1405"/>
                <a:chExt cx="3457" cy="2295"/>
              </a:xfrm>
            </p:grpSpPr>
            <p:grpSp>
              <p:nvGrpSpPr>
                <p:cNvPr id="193" name="Group 51"/>
                <p:cNvGrpSpPr/>
                <p:nvPr/>
              </p:nvGrpSpPr>
              <p:grpSpPr bwMode="auto">
                <a:xfrm>
                  <a:off x="1631" y="1405"/>
                  <a:ext cx="192" cy="2295"/>
                  <a:chOff x="1486" y="1488"/>
                  <a:chExt cx="192" cy="2295"/>
                </a:xfrm>
              </p:grpSpPr>
              <p:sp>
                <p:nvSpPr>
                  <p:cNvPr id="203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486" y="1488"/>
                    <a:ext cx="192" cy="2295"/>
                  </a:xfrm>
                  <a:prstGeom prst="rect">
                    <a:avLst/>
                  </a:prstGeom>
                  <a:solidFill>
                    <a:srgbClr val="07F707"/>
                  </a:solidFill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vert="eaVert" wrap="none" anchor="ctr"/>
                  <a:lstStyle/>
                  <a:p>
                    <a:pPr algn="ctr"/>
                    <a:r>
                      <a:rPr lang="en-US" sz="1200">
                        <a:solidFill>
                          <a:schemeClr val="tx1"/>
                        </a:solidFill>
                      </a:rPr>
                      <a:t>IF/ID</a:t>
                    </a:r>
                  </a:p>
                </p:txBody>
              </p:sp>
              <p:sp>
                <p:nvSpPr>
                  <p:cNvPr id="204" name="AutoShape 53"/>
                  <p:cNvSpPr>
                    <a:spLocks noChangeArrowheads="1"/>
                  </p:cNvSpPr>
                  <p:nvPr/>
                </p:nvSpPr>
                <p:spPr bwMode="auto">
                  <a:xfrm>
                    <a:off x="1486" y="3591"/>
                    <a:ext cx="192" cy="192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en-US" sz="1200"/>
                  </a:p>
                </p:txBody>
              </p:sp>
            </p:grpSp>
            <p:grpSp>
              <p:nvGrpSpPr>
                <p:cNvPr id="194" name="Group 54"/>
                <p:cNvGrpSpPr/>
                <p:nvPr/>
              </p:nvGrpSpPr>
              <p:grpSpPr bwMode="auto">
                <a:xfrm>
                  <a:off x="2832" y="1405"/>
                  <a:ext cx="193" cy="2295"/>
                  <a:chOff x="2740" y="1436"/>
                  <a:chExt cx="193" cy="2295"/>
                </a:xfrm>
              </p:grpSpPr>
              <p:sp>
                <p:nvSpPr>
                  <p:cNvPr id="201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2741" y="1436"/>
                    <a:ext cx="192" cy="2295"/>
                  </a:xfrm>
                  <a:prstGeom prst="rect">
                    <a:avLst/>
                  </a:prstGeom>
                  <a:solidFill>
                    <a:srgbClr val="07F707"/>
                  </a:solidFill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vert="eaVert" wrap="none" anchor="ctr"/>
                  <a:lstStyle/>
                  <a:p>
                    <a:pPr algn="ctr"/>
                    <a:r>
                      <a:rPr lang="en-US" sz="1200">
                        <a:solidFill>
                          <a:schemeClr val="tx1"/>
                        </a:solidFill>
                      </a:rPr>
                      <a:t>ID/EX</a:t>
                    </a:r>
                  </a:p>
                </p:txBody>
              </p:sp>
              <p:sp>
                <p:nvSpPr>
                  <p:cNvPr id="202" name="AutoShape 56"/>
                  <p:cNvSpPr>
                    <a:spLocks noChangeArrowheads="1"/>
                  </p:cNvSpPr>
                  <p:nvPr/>
                </p:nvSpPr>
                <p:spPr bwMode="auto">
                  <a:xfrm>
                    <a:off x="2740" y="3533"/>
                    <a:ext cx="192" cy="192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en-US" sz="1200"/>
                  </a:p>
                </p:txBody>
              </p:sp>
            </p:grpSp>
            <p:grpSp>
              <p:nvGrpSpPr>
                <p:cNvPr id="195" name="Group 57"/>
                <p:cNvGrpSpPr/>
                <p:nvPr/>
              </p:nvGrpSpPr>
              <p:grpSpPr bwMode="auto">
                <a:xfrm>
                  <a:off x="4896" y="1405"/>
                  <a:ext cx="192" cy="2295"/>
                  <a:chOff x="4972" y="1431"/>
                  <a:chExt cx="192" cy="2295"/>
                </a:xfrm>
              </p:grpSpPr>
              <p:sp>
                <p:nvSpPr>
                  <p:cNvPr id="199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972" y="1431"/>
                    <a:ext cx="192" cy="2295"/>
                  </a:xfrm>
                  <a:prstGeom prst="rect">
                    <a:avLst/>
                  </a:prstGeom>
                  <a:solidFill>
                    <a:srgbClr val="07F707"/>
                  </a:solidFill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vert="eaVert" wrap="none" anchor="ctr"/>
                  <a:lstStyle/>
                  <a:p>
                    <a:pPr algn="ctr"/>
                    <a:r>
                      <a:rPr lang="en-US" sz="1200">
                        <a:solidFill>
                          <a:schemeClr val="tx1"/>
                        </a:solidFill>
                      </a:rPr>
                      <a:t>MEM/WB</a:t>
                    </a:r>
                  </a:p>
                </p:txBody>
              </p:sp>
              <p:sp>
                <p:nvSpPr>
                  <p:cNvPr id="200" name="AutoShape 59"/>
                  <p:cNvSpPr>
                    <a:spLocks noChangeArrowheads="1"/>
                  </p:cNvSpPr>
                  <p:nvPr/>
                </p:nvSpPr>
                <p:spPr bwMode="auto">
                  <a:xfrm>
                    <a:off x="4972" y="3534"/>
                    <a:ext cx="192" cy="192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en-US" sz="1200"/>
                  </a:p>
                </p:txBody>
              </p:sp>
            </p:grpSp>
            <p:grpSp>
              <p:nvGrpSpPr>
                <p:cNvPr id="196" name="Group 60"/>
                <p:cNvGrpSpPr/>
                <p:nvPr/>
              </p:nvGrpSpPr>
              <p:grpSpPr bwMode="auto">
                <a:xfrm>
                  <a:off x="3966" y="1405"/>
                  <a:ext cx="192" cy="2295"/>
                  <a:chOff x="3920" y="1447"/>
                  <a:chExt cx="192" cy="2295"/>
                </a:xfrm>
              </p:grpSpPr>
              <p:sp>
                <p:nvSpPr>
                  <p:cNvPr id="197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920" y="1447"/>
                    <a:ext cx="192" cy="2295"/>
                  </a:xfrm>
                  <a:prstGeom prst="rect">
                    <a:avLst/>
                  </a:prstGeom>
                  <a:solidFill>
                    <a:srgbClr val="07F707"/>
                  </a:solidFill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vert="eaVert" wrap="none" anchor="ctr"/>
                  <a:lstStyle/>
                  <a:p>
                    <a:pPr algn="ctr"/>
                    <a:r>
                      <a:rPr lang="en-US" sz="1200">
                        <a:solidFill>
                          <a:schemeClr val="tx1"/>
                        </a:solidFill>
                      </a:rPr>
                      <a:t>EX/MEM</a:t>
                    </a:r>
                  </a:p>
                </p:txBody>
              </p:sp>
              <p:sp>
                <p:nvSpPr>
                  <p:cNvPr id="198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3920" y="3544"/>
                    <a:ext cx="192" cy="192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endParaRPr lang="en-US" sz="1200"/>
                  </a:p>
                </p:txBody>
              </p:sp>
            </p:grpSp>
          </p:grpSp>
          <p:sp>
            <p:nvSpPr>
              <p:cNvPr id="155" name="Line 63"/>
              <p:cNvSpPr>
                <a:spLocks noChangeShapeType="1"/>
              </p:cNvSpPr>
              <p:nvPr/>
            </p:nvSpPr>
            <p:spPr bwMode="auto">
              <a:xfrm>
                <a:off x="4292600" y="4670500"/>
                <a:ext cx="228600" cy="15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6" name="Freeform 64"/>
              <p:cNvSpPr/>
              <p:nvPr/>
            </p:nvSpPr>
            <p:spPr bwMode="auto">
              <a:xfrm>
                <a:off x="4826000" y="3984700"/>
                <a:ext cx="457200" cy="685800"/>
              </a:xfrm>
              <a:custGeom>
                <a:avLst/>
                <a:gdLst>
                  <a:gd name="T0" fmla="*/ 0 w 336"/>
                  <a:gd name="T1" fmla="*/ 2147483647 h 432"/>
                  <a:gd name="T2" fmla="*/ 2147483647 w 336"/>
                  <a:gd name="T3" fmla="*/ 2147483647 h 432"/>
                  <a:gd name="T4" fmla="*/ 2147483647 w 336"/>
                  <a:gd name="T5" fmla="*/ 0 h 432"/>
                  <a:gd name="T6" fmla="*/ 2147483647 w 336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6"/>
                  <a:gd name="T13" fmla="*/ 0 h 432"/>
                  <a:gd name="T14" fmla="*/ 336 w 336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6" h="432">
                    <a:moveTo>
                      <a:pt x="0" y="432"/>
                    </a:moveTo>
                    <a:lnTo>
                      <a:pt x="192" y="432"/>
                    </a:lnTo>
                    <a:lnTo>
                      <a:pt x="192" y="0"/>
                    </a:lnTo>
                    <a:lnTo>
                      <a:pt x="33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7" name="Line 65"/>
              <p:cNvSpPr>
                <a:spLocks noChangeShapeType="1"/>
              </p:cNvSpPr>
              <p:nvPr/>
            </p:nvSpPr>
            <p:spPr bwMode="auto">
              <a:xfrm>
                <a:off x="2921000" y="1851100"/>
                <a:ext cx="1600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8" name="Freeform 66"/>
              <p:cNvSpPr/>
              <p:nvPr/>
            </p:nvSpPr>
            <p:spPr bwMode="auto">
              <a:xfrm>
                <a:off x="3149600" y="4670500"/>
                <a:ext cx="1371600" cy="381000"/>
              </a:xfrm>
              <a:custGeom>
                <a:avLst/>
                <a:gdLst>
                  <a:gd name="T0" fmla="*/ 0 w 864"/>
                  <a:gd name="T1" fmla="*/ 0 h 288"/>
                  <a:gd name="T2" fmla="*/ 0 w 864"/>
                  <a:gd name="T3" fmla="*/ 2147483647 h 288"/>
                  <a:gd name="T4" fmla="*/ 2147483647 w 864"/>
                  <a:gd name="T5" fmla="*/ 2147483647 h 288"/>
                  <a:gd name="T6" fmla="*/ 0 60000 65536"/>
                  <a:gd name="T7" fmla="*/ 0 60000 65536"/>
                  <a:gd name="T8" fmla="*/ 0 60000 65536"/>
                  <a:gd name="T9" fmla="*/ 0 w 864"/>
                  <a:gd name="T10" fmla="*/ 0 h 288"/>
                  <a:gd name="T11" fmla="*/ 864 w 864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4" h="288">
                    <a:moveTo>
                      <a:pt x="0" y="0"/>
                    </a:moveTo>
                    <a:lnTo>
                      <a:pt x="0" y="288"/>
                    </a:lnTo>
                    <a:lnTo>
                      <a:pt x="864" y="2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9" name="Line 67"/>
              <p:cNvSpPr>
                <a:spLocks noChangeShapeType="1"/>
              </p:cNvSpPr>
              <p:nvPr/>
            </p:nvSpPr>
            <p:spPr bwMode="auto">
              <a:xfrm>
                <a:off x="4826000" y="5051500"/>
                <a:ext cx="1447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0" name="Line 68"/>
              <p:cNvSpPr>
                <a:spLocks noChangeShapeType="1"/>
              </p:cNvSpPr>
              <p:nvPr/>
            </p:nvSpPr>
            <p:spPr bwMode="auto">
              <a:xfrm>
                <a:off x="6654800" y="5051500"/>
                <a:ext cx="11430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1" name="Freeform 69"/>
              <p:cNvSpPr/>
              <p:nvPr/>
            </p:nvSpPr>
            <p:spPr bwMode="auto">
              <a:xfrm>
                <a:off x="2159000" y="1851100"/>
                <a:ext cx="457200" cy="533400"/>
              </a:xfrm>
              <a:custGeom>
                <a:avLst/>
                <a:gdLst>
                  <a:gd name="T0" fmla="*/ 0 w 240"/>
                  <a:gd name="T1" fmla="*/ 2147483647 h 336"/>
                  <a:gd name="T2" fmla="*/ 2147483647 w 240"/>
                  <a:gd name="T3" fmla="*/ 2147483647 h 336"/>
                  <a:gd name="T4" fmla="*/ 2147483647 w 240"/>
                  <a:gd name="T5" fmla="*/ 0 h 336"/>
                  <a:gd name="T6" fmla="*/ 2147483647 w 240"/>
                  <a:gd name="T7" fmla="*/ 0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336"/>
                  <a:gd name="T14" fmla="*/ 240 w 24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336">
                    <a:moveTo>
                      <a:pt x="0" y="336"/>
                    </a:moveTo>
                    <a:lnTo>
                      <a:pt x="144" y="336"/>
                    </a:lnTo>
                    <a:lnTo>
                      <a:pt x="144" y="0"/>
                    </a:lnTo>
                    <a:lnTo>
                      <a:pt x="24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grpSp>
            <p:nvGrpSpPr>
              <p:cNvPr id="162" name="Group 70"/>
              <p:cNvGrpSpPr/>
              <p:nvPr/>
            </p:nvGrpSpPr>
            <p:grpSpPr bwMode="auto">
              <a:xfrm>
                <a:off x="1338263" y="1868564"/>
                <a:ext cx="914400" cy="1189038"/>
                <a:chOff x="827" y="1403"/>
                <a:chExt cx="576" cy="749"/>
              </a:xfrm>
            </p:grpSpPr>
            <p:sp>
              <p:nvSpPr>
                <p:cNvPr id="188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827" y="1721"/>
                  <a:ext cx="192" cy="4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  <a:cs typeface="MS PGothic" panose="020B0600070205080204" charset="-128"/>
                    </a:defRPr>
                  </a:lvl1pPr>
                  <a:lvl2pPr marL="742950" indent="-28575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pPr algn="ctr"/>
                  <a:r>
                    <a:rPr lang="en-US" sz="1600">
                      <a:solidFill>
                        <a:schemeClr val="tx1"/>
                      </a:solidFill>
                      <a:latin typeface="+mn-lt"/>
                    </a:rPr>
                    <a:t>4</a:t>
                  </a:r>
                </a:p>
              </p:txBody>
            </p:sp>
            <p:sp>
              <p:nvSpPr>
                <p:cNvPr id="189" name="AutoShape 72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965" y="1592"/>
                  <a:ext cx="576" cy="30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521 h 21600"/>
                    <a:gd name="T14" fmla="*/ 17100 w 21600"/>
                    <a:gd name="T15" fmla="*/ 17079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endParaRPr lang="en-US" sz="1200"/>
                </a:p>
              </p:txBody>
            </p:sp>
            <p:sp>
              <p:nvSpPr>
                <p:cNvPr id="190" name="AutoShape 73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1071" y="1644"/>
                  <a:ext cx="174" cy="145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  <p:sp>
              <p:nvSpPr>
                <p:cNvPr id="191" name="Text Box 74"/>
                <p:cNvSpPr txBox="1">
                  <a:spLocks noChangeAspect="1" noChangeArrowheads="1"/>
                </p:cNvSpPr>
                <p:nvPr/>
              </p:nvSpPr>
              <p:spPr bwMode="auto">
                <a:xfrm rot="5400000">
                  <a:off x="916" y="1655"/>
                  <a:ext cx="688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>
                  <a:spAutoFit/>
                </a:bodyPr>
                <a:lstStyle>
                  <a:lvl1pPr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  <a:cs typeface="MS PGothic" panose="020B0600070205080204" charset="-128"/>
                    </a:defRPr>
                  </a:lvl1pPr>
                  <a:lvl2pPr marL="742950" indent="-28575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accent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pPr algn="ctr"/>
                  <a:r>
                    <a:rPr lang="en-US" sz="1100">
                      <a:solidFill>
                        <a:schemeClr val="tx1"/>
                      </a:solidFill>
                      <a:latin typeface="+mn-lt"/>
                    </a:rPr>
                    <a:t>Adder</a:t>
                  </a:r>
                  <a:endParaRPr lang="en-US" sz="70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  <p:sp>
              <p:nvSpPr>
                <p:cNvPr id="192" name="Freeform 75"/>
                <p:cNvSpPr>
                  <a:spLocks noChangeAspect="1"/>
                </p:cNvSpPr>
                <p:nvPr/>
              </p:nvSpPr>
              <p:spPr bwMode="auto">
                <a:xfrm rot="5400000">
                  <a:off x="1076" y="1652"/>
                  <a:ext cx="173" cy="130"/>
                </a:xfrm>
                <a:custGeom>
                  <a:avLst/>
                  <a:gdLst>
                    <a:gd name="T0" fmla="*/ 0 w 384"/>
                    <a:gd name="T1" fmla="*/ 0 h 288"/>
                    <a:gd name="T2" fmla="*/ 0 w 384"/>
                    <a:gd name="T3" fmla="*/ 0 h 288"/>
                    <a:gd name="T4" fmla="*/ 0 w 384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384"/>
                    <a:gd name="T10" fmla="*/ 0 h 288"/>
                    <a:gd name="T11" fmla="*/ 384 w 384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sp>
            <p:nvSpPr>
              <p:cNvPr id="163" name="Line 76"/>
              <p:cNvSpPr>
                <a:spLocks noChangeShapeType="1"/>
              </p:cNvSpPr>
              <p:nvPr/>
            </p:nvSpPr>
            <p:spPr bwMode="auto">
              <a:xfrm>
                <a:off x="4826000" y="1851100"/>
                <a:ext cx="1447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4" name="Line 77"/>
              <p:cNvSpPr>
                <a:spLocks noChangeShapeType="1"/>
              </p:cNvSpPr>
              <p:nvPr/>
            </p:nvSpPr>
            <p:spPr bwMode="auto">
              <a:xfrm>
                <a:off x="6654800" y="1851100"/>
                <a:ext cx="3810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5" name="Freeform 78"/>
              <p:cNvSpPr/>
              <p:nvPr/>
            </p:nvSpPr>
            <p:spPr bwMode="auto">
              <a:xfrm>
                <a:off x="5054600" y="1851100"/>
                <a:ext cx="228600" cy="1219200"/>
              </a:xfrm>
              <a:custGeom>
                <a:avLst/>
                <a:gdLst>
                  <a:gd name="T0" fmla="*/ 0 w 96"/>
                  <a:gd name="T1" fmla="*/ 0 h 768"/>
                  <a:gd name="T2" fmla="*/ 0 w 96"/>
                  <a:gd name="T3" fmla="*/ 2147483647 h 768"/>
                  <a:gd name="T4" fmla="*/ 2147483647 w 96"/>
                  <a:gd name="T5" fmla="*/ 2147483647 h 76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768"/>
                  <a:gd name="T11" fmla="*/ 96 w 96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768">
                    <a:moveTo>
                      <a:pt x="0" y="0"/>
                    </a:moveTo>
                    <a:lnTo>
                      <a:pt x="0" y="768"/>
                    </a:lnTo>
                    <a:lnTo>
                      <a:pt x="96" y="76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6" name="Text Box 79"/>
              <p:cNvSpPr txBox="1">
                <a:spLocks noChangeArrowheads="1"/>
              </p:cNvSpPr>
              <p:nvPr/>
            </p:nvSpPr>
            <p:spPr bwMode="auto">
              <a:xfrm>
                <a:off x="3104135" y="1693298"/>
                <a:ext cx="998981" cy="528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50" b="0">
                    <a:solidFill>
                      <a:schemeClr val="tx1"/>
                    </a:solidFill>
                    <a:latin typeface="+mn-lt"/>
                  </a:rPr>
                  <a:t>Next SEQ PC</a:t>
                </a:r>
              </a:p>
            </p:txBody>
          </p:sp>
          <p:sp>
            <p:nvSpPr>
              <p:cNvPr id="167" name="Oval 80"/>
              <p:cNvSpPr>
                <a:spLocks noChangeArrowheads="1"/>
              </p:cNvSpPr>
              <p:nvPr/>
            </p:nvSpPr>
            <p:spPr bwMode="auto">
              <a:xfrm>
                <a:off x="6678613" y="3489400"/>
                <a:ext cx="74612" cy="7461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8" name="Oval 81"/>
              <p:cNvSpPr>
                <a:spLocks noChangeArrowheads="1"/>
              </p:cNvSpPr>
              <p:nvPr/>
            </p:nvSpPr>
            <p:spPr bwMode="auto">
              <a:xfrm>
                <a:off x="4940300" y="3722763"/>
                <a:ext cx="74613" cy="74612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9" name="Oval 82"/>
              <p:cNvSpPr>
                <a:spLocks noChangeArrowheads="1"/>
              </p:cNvSpPr>
              <p:nvPr/>
            </p:nvSpPr>
            <p:spPr bwMode="auto">
              <a:xfrm>
                <a:off x="4935538" y="3256038"/>
                <a:ext cx="74612" cy="74612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0" name="Oval 83"/>
              <p:cNvSpPr>
                <a:spLocks noChangeArrowheads="1"/>
              </p:cNvSpPr>
              <p:nvPr/>
            </p:nvSpPr>
            <p:spPr bwMode="auto">
              <a:xfrm>
                <a:off x="3106738" y="3179838"/>
                <a:ext cx="74612" cy="74612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1" name="Oval 84"/>
              <p:cNvSpPr>
                <a:spLocks noChangeArrowheads="1"/>
              </p:cNvSpPr>
              <p:nvPr/>
            </p:nvSpPr>
            <p:spPr bwMode="auto">
              <a:xfrm>
                <a:off x="3125788" y="4613350"/>
                <a:ext cx="74612" cy="7461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2" name="Oval 85"/>
              <p:cNvSpPr>
                <a:spLocks noChangeArrowheads="1"/>
              </p:cNvSpPr>
              <p:nvPr/>
            </p:nvSpPr>
            <p:spPr bwMode="auto">
              <a:xfrm>
                <a:off x="1196975" y="3408438"/>
                <a:ext cx="74613" cy="74612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3" name="Oval 86"/>
              <p:cNvSpPr>
                <a:spLocks noChangeArrowheads="1"/>
              </p:cNvSpPr>
              <p:nvPr/>
            </p:nvSpPr>
            <p:spPr bwMode="auto">
              <a:xfrm>
                <a:off x="3106738" y="4632400"/>
                <a:ext cx="74612" cy="7461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4" name="Oval 87"/>
              <p:cNvSpPr>
                <a:spLocks noChangeArrowheads="1"/>
              </p:cNvSpPr>
              <p:nvPr/>
            </p:nvSpPr>
            <p:spPr bwMode="auto">
              <a:xfrm>
                <a:off x="5018088" y="1814588"/>
                <a:ext cx="74612" cy="74612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5" name="Text Box 88"/>
              <p:cNvSpPr txBox="1">
                <a:spLocks noChangeArrowheads="1"/>
              </p:cNvSpPr>
              <p:nvPr/>
            </p:nvSpPr>
            <p:spPr bwMode="auto">
              <a:xfrm>
                <a:off x="5139310" y="1699647"/>
                <a:ext cx="998981" cy="528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50" b="0">
                    <a:solidFill>
                      <a:schemeClr val="tx1"/>
                    </a:solidFill>
                    <a:latin typeface="+mn-lt"/>
                  </a:rPr>
                  <a:t>Next SEQ PC</a:t>
                </a:r>
              </a:p>
            </p:txBody>
          </p:sp>
          <p:sp>
            <p:nvSpPr>
              <p:cNvPr id="176" name="Text Box 89"/>
              <p:cNvSpPr txBox="1">
                <a:spLocks noChangeArrowheads="1"/>
              </p:cNvSpPr>
              <p:nvPr/>
            </p:nvSpPr>
            <p:spPr bwMode="auto">
              <a:xfrm>
                <a:off x="3849069" y="4946710"/>
                <a:ext cx="382238" cy="512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00" b="0">
                    <a:solidFill>
                      <a:schemeClr val="tx1"/>
                    </a:solidFill>
                    <a:latin typeface="+mn-lt"/>
                  </a:rPr>
                  <a:t>RD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77" name="Text Box 90"/>
              <p:cNvSpPr txBox="1">
                <a:spLocks noChangeArrowheads="1"/>
              </p:cNvSpPr>
              <p:nvPr/>
            </p:nvSpPr>
            <p:spPr bwMode="auto">
              <a:xfrm>
                <a:off x="5268294" y="4946710"/>
                <a:ext cx="382238" cy="512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00" b="0">
                    <a:solidFill>
                      <a:schemeClr val="tx1"/>
                    </a:solidFill>
                    <a:latin typeface="+mn-lt"/>
                  </a:rPr>
                  <a:t>RD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78" name="Text Box 91"/>
              <p:cNvSpPr txBox="1">
                <a:spLocks noChangeArrowheads="1"/>
              </p:cNvSpPr>
              <p:nvPr/>
            </p:nvSpPr>
            <p:spPr bwMode="auto">
              <a:xfrm>
                <a:off x="6944694" y="4946710"/>
                <a:ext cx="382238" cy="512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00" b="0">
                    <a:solidFill>
                      <a:schemeClr val="tx1"/>
                    </a:solidFill>
                    <a:latin typeface="+mn-lt"/>
                  </a:rPr>
                  <a:t>RD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79" name="Text Box 92"/>
              <p:cNvSpPr txBox="1">
                <a:spLocks noChangeArrowheads="1"/>
              </p:cNvSpPr>
              <p:nvPr/>
            </p:nvSpPr>
            <p:spPr bwMode="auto">
              <a:xfrm rot="16200000">
                <a:off x="8225466" y="4653583"/>
                <a:ext cx="1386219" cy="2925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50" b="0">
                    <a:solidFill>
                      <a:schemeClr val="tx1"/>
                    </a:solidFill>
                    <a:latin typeface="+mn-lt"/>
                  </a:rPr>
                  <a:t>WB Data</a:t>
                </a:r>
              </a:p>
            </p:txBody>
          </p:sp>
          <p:sp>
            <p:nvSpPr>
              <p:cNvPr id="180" name="Text Box 94"/>
              <p:cNvSpPr txBox="1">
                <a:spLocks noChangeArrowheads="1"/>
              </p:cNvSpPr>
              <p:nvPr/>
            </p:nvSpPr>
            <p:spPr bwMode="auto">
              <a:xfrm>
                <a:off x="686338" y="1520260"/>
                <a:ext cx="708538" cy="528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1050" b="0">
                    <a:solidFill>
                      <a:schemeClr val="tx1"/>
                    </a:solidFill>
                    <a:latin typeface="+mn-lt"/>
                  </a:rPr>
                  <a:t>Next PC</a:t>
                </a:r>
              </a:p>
            </p:txBody>
          </p:sp>
          <p:grpSp>
            <p:nvGrpSpPr>
              <p:cNvPr id="181" name="Group 95"/>
              <p:cNvGrpSpPr/>
              <p:nvPr/>
            </p:nvGrpSpPr>
            <p:grpSpPr bwMode="auto">
              <a:xfrm>
                <a:off x="774700" y="2841700"/>
                <a:ext cx="304800" cy="1228725"/>
                <a:chOff x="488" y="1914"/>
                <a:chExt cx="192" cy="774"/>
              </a:xfrm>
            </p:grpSpPr>
            <p:sp>
              <p:nvSpPr>
                <p:cNvPr id="186" name="Rectangle 96"/>
                <p:cNvSpPr>
                  <a:spLocks noChangeArrowheads="1"/>
                </p:cNvSpPr>
                <p:nvPr/>
              </p:nvSpPr>
              <p:spPr bwMode="auto">
                <a:xfrm>
                  <a:off x="488" y="1914"/>
                  <a:ext cx="192" cy="768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vert="eaVert" wrap="none" anchor="ctr"/>
                <a:lstStyle/>
                <a:p>
                  <a:pPr algn="ctr"/>
                  <a:r>
                    <a:rPr lang="en-US" sz="1200" b="0">
                      <a:solidFill>
                        <a:schemeClr val="tx1"/>
                      </a:solidFill>
                    </a:rPr>
                    <a:t>Address</a:t>
                  </a:r>
                </a:p>
              </p:txBody>
            </p:sp>
            <p:sp>
              <p:nvSpPr>
                <p:cNvPr id="187" name="AutoShape 97"/>
                <p:cNvSpPr>
                  <a:spLocks noChangeArrowheads="1"/>
                </p:cNvSpPr>
                <p:nvPr/>
              </p:nvSpPr>
              <p:spPr bwMode="auto">
                <a:xfrm>
                  <a:off x="496" y="2544"/>
                  <a:ext cx="175" cy="144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sz="1200"/>
                </a:p>
              </p:txBody>
            </p:sp>
          </p:grpSp>
          <p:sp>
            <p:nvSpPr>
              <p:cNvPr id="182" name="Text Box 98"/>
              <p:cNvSpPr txBox="1">
                <a:spLocks noChangeArrowheads="1"/>
              </p:cNvSpPr>
              <p:nvPr/>
            </p:nvSpPr>
            <p:spPr bwMode="auto">
              <a:xfrm>
                <a:off x="3302819" y="2619054"/>
                <a:ext cx="357137" cy="404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700" b="0">
                    <a:solidFill>
                      <a:schemeClr val="tx1"/>
                    </a:solidFill>
                    <a:latin typeface="+mn-lt"/>
                  </a:rPr>
                  <a:t>RS1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83" name="Text Box 99"/>
              <p:cNvSpPr txBox="1">
                <a:spLocks noChangeArrowheads="1"/>
              </p:cNvSpPr>
              <p:nvPr/>
            </p:nvSpPr>
            <p:spPr bwMode="auto">
              <a:xfrm>
                <a:off x="3313138" y="2923854"/>
                <a:ext cx="357137" cy="404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700" b="0">
                    <a:solidFill>
                      <a:schemeClr val="tx1"/>
                    </a:solidFill>
                    <a:latin typeface="+mn-lt"/>
                  </a:rPr>
                  <a:t>RS2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84" name="Text Box 100"/>
              <p:cNvSpPr txBox="1">
                <a:spLocks noChangeArrowheads="1"/>
              </p:cNvSpPr>
              <p:nvPr/>
            </p:nvSpPr>
            <p:spPr bwMode="auto">
              <a:xfrm>
                <a:off x="3445228" y="4584378"/>
                <a:ext cx="392994" cy="404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sz="700" b="0">
                    <a:solidFill>
                      <a:schemeClr val="tx1"/>
                    </a:solidFill>
                    <a:latin typeface="+mn-lt"/>
                  </a:rPr>
                  <a:t>Imm</a:t>
                </a:r>
                <a:endParaRPr lang="en-US" sz="1050" b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185" name="Oval 101"/>
              <p:cNvSpPr>
                <a:spLocks noChangeArrowheads="1"/>
              </p:cNvSpPr>
              <p:nvPr/>
            </p:nvSpPr>
            <p:spPr bwMode="auto">
              <a:xfrm>
                <a:off x="7035800" y="1722513"/>
                <a:ext cx="209550" cy="552450"/>
              </a:xfrm>
              <a:prstGeom prst="ellipse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/>
              <a:p>
                <a:pPr algn="ctr"/>
                <a:r>
                  <a:rPr lang="en-US" sz="1100" b="0">
                    <a:solidFill>
                      <a:schemeClr val="tx1"/>
                    </a:solidFill>
                  </a:rPr>
                  <a:t>MUX</a:t>
                </a:r>
                <a:endParaRPr lang="en-US" sz="12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2" name="Rectangle 23"/>
            <p:cNvSpPr>
              <a:spLocks noChangeArrowheads="1"/>
            </p:cNvSpPr>
            <p:nvPr/>
          </p:nvSpPr>
          <p:spPr bwMode="auto">
            <a:xfrm>
              <a:off x="6800757" y="5143582"/>
              <a:ext cx="388557" cy="97445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pPr algn="ctr"/>
              <a:r>
                <a:rPr lang="en-US" sz="1400" b="0" dirty="0">
                  <a:solidFill>
                    <a:schemeClr val="tx1"/>
                  </a:solidFill>
                </a:rPr>
                <a:t>Data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b="0" dirty="0">
                  <a:solidFill>
                    <a:schemeClr val="tx1"/>
                  </a:solidFill>
                </a:rPr>
                <a:t>Memory</a:t>
              </a:r>
            </a:p>
          </p:txBody>
        </p:sp>
      </p:grpSp>
      <p:sp>
        <p:nvSpPr>
          <p:cNvPr id="214" name="Rectangle 8"/>
          <p:cNvSpPr>
            <a:spLocks noChangeArrowheads="1"/>
          </p:cNvSpPr>
          <p:nvPr/>
        </p:nvSpPr>
        <p:spPr bwMode="auto">
          <a:xfrm>
            <a:off x="2189154" y="2315731"/>
            <a:ext cx="1155446" cy="33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/>
              <a:t>Speculation</a:t>
            </a:r>
          </a:p>
        </p:txBody>
      </p:sp>
      <p:sp>
        <p:nvSpPr>
          <p:cNvPr id="215" name="Rectangle 8"/>
          <p:cNvSpPr>
            <a:spLocks noChangeArrowheads="1"/>
          </p:cNvSpPr>
          <p:nvPr/>
        </p:nvSpPr>
        <p:spPr bwMode="auto">
          <a:xfrm>
            <a:off x="2177516" y="2777240"/>
            <a:ext cx="1220270" cy="582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/>
              <a:t>Out of </a:t>
            </a:r>
            <a:r>
              <a:rPr lang="en-US" altLang="zh-CN" sz="1600" dirty="0"/>
              <a:t>order</a:t>
            </a:r>
          </a:p>
          <a:p>
            <a:pPr algn="ctr"/>
            <a:r>
              <a:rPr lang="en-US" sz="1600" dirty="0"/>
              <a:t>execution</a:t>
            </a:r>
          </a:p>
        </p:txBody>
      </p:sp>
      <p:cxnSp>
        <p:nvCxnSpPr>
          <p:cNvPr id="217" name="曲线连接符 216"/>
          <p:cNvCxnSpPr/>
          <p:nvPr/>
        </p:nvCxnSpPr>
        <p:spPr>
          <a:xfrm>
            <a:off x="2401996" y="4193747"/>
            <a:ext cx="729762" cy="568092"/>
          </a:xfrm>
          <a:prstGeom prst="curvedConnector3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8"/>
          <p:cNvSpPr>
            <a:spLocks noChangeArrowheads="1"/>
          </p:cNvSpPr>
          <p:nvPr/>
        </p:nvSpPr>
        <p:spPr bwMode="auto">
          <a:xfrm>
            <a:off x="2242281" y="4884707"/>
            <a:ext cx="1489447" cy="1074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altLang="zh-CN" sz="1600" dirty="0"/>
              <a:t>Multithreading:</a:t>
            </a:r>
          </a:p>
          <a:p>
            <a:pPr algn="ctr"/>
            <a:r>
              <a:rPr lang="en-US" sz="1600" dirty="0"/>
              <a:t>Coarse-grained,</a:t>
            </a:r>
          </a:p>
          <a:p>
            <a:pPr algn="ctr"/>
            <a:r>
              <a:rPr lang="en-US" sz="1600" dirty="0"/>
              <a:t>Fine-grained,</a:t>
            </a:r>
          </a:p>
          <a:p>
            <a:pPr algn="ctr"/>
            <a:r>
              <a:rPr lang="en-US" sz="1600" dirty="0"/>
              <a:t>SMT</a:t>
            </a:r>
          </a:p>
        </p:txBody>
      </p:sp>
      <p:sp>
        <p:nvSpPr>
          <p:cNvPr id="219" name="Rectangle 19"/>
          <p:cNvSpPr>
            <a:spLocks noChangeArrowheads="1"/>
          </p:cNvSpPr>
          <p:nvPr/>
        </p:nvSpPr>
        <p:spPr bwMode="auto">
          <a:xfrm>
            <a:off x="4770923" y="4007933"/>
            <a:ext cx="347648" cy="239116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2000" b="0" dirty="0" err="1">
                <a:solidFill>
                  <a:schemeClr val="tx1"/>
                </a:solidFill>
              </a:rPr>
              <a:t>Reg</a:t>
            </a:r>
            <a:r>
              <a:rPr lang="en-US" sz="2000" b="0" dirty="0">
                <a:solidFill>
                  <a:schemeClr val="tx1"/>
                </a:solidFill>
              </a:rPr>
              <a:t> File</a:t>
            </a:r>
          </a:p>
        </p:txBody>
      </p:sp>
      <p:grpSp>
        <p:nvGrpSpPr>
          <p:cNvPr id="220" name="Group 11"/>
          <p:cNvGrpSpPr/>
          <p:nvPr/>
        </p:nvGrpSpPr>
        <p:grpSpPr bwMode="auto">
          <a:xfrm>
            <a:off x="8327494" y="3869703"/>
            <a:ext cx="728791" cy="3014879"/>
            <a:chOff x="3360" y="2112"/>
            <a:chExt cx="326" cy="816"/>
          </a:xfrm>
        </p:grpSpPr>
        <p:grpSp>
          <p:nvGrpSpPr>
            <p:cNvPr id="221" name="Group 12"/>
            <p:cNvGrpSpPr/>
            <p:nvPr/>
          </p:nvGrpSpPr>
          <p:grpSpPr bwMode="auto">
            <a:xfrm>
              <a:off x="3360" y="2112"/>
              <a:ext cx="326" cy="816"/>
              <a:chOff x="3360" y="2112"/>
              <a:chExt cx="326" cy="816"/>
            </a:xfrm>
          </p:grpSpPr>
          <p:sp>
            <p:nvSpPr>
              <p:cNvPr id="223" name="AutoShape 13"/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/>
              <a:p>
                <a:endParaRPr lang="en-US" sz="2000"/>
              </a:p>
            </p:txBody>
          </p:sp>
          <p:sp>
            <p:nvSpPr>
              <p:cNvPr id="224" name="AutoShape 14"/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25" name="Text Box 15"/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333" y="2378"/>
                <a:ext cx="454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ALU</a:t>
                </a:r>
                <a:endParaRPr lang="en-US" sz="105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sp>
          <p:nvSpPr>
            <p:cNvPr id="222" name="Freeform 16"/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0 h 288"/>
                <a:gd name="T2" fmla="*/ 1 w 384"/>
                <a:gd name="T3" fmla="*/ 0 h 288"/>
                <a:gd name="T4" fmla="*/ 1 w 384"/>
                <a:gd name="T5" fmla="*/ 0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227" name="Rectangle 17"/>
          <p:cNvSpPr>
            <a:spLocks noChangeArrowheads="1"/>
          </p:cNvSpPr>
          <p:nvPr/>
        </p:nvSpPr>
        <p:spPr bwMode="auto">
          <a:xfrm>
            <a:off x="3425758" y="3069779"/>
            <a:ext cx="601063" cy="122756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pPr algn="ctr"/>
            <a:r>
              <a:rPr lang="en-US" sz="1200" b="0" dirty="0">
                <a:solidFill>
                  <a:schemeClr val="tx1"/>
                </a:solidFill>
              </a:rPr>
              <a:t>Instruction</a:t>
            </a:r>
          </a:p>
          <a:p>
            <a:pPr algn="ctr"/>
            <a:r>
              <a:rPr lang="en-US" sz="1200" dirty="0"/>
              <a:t>Buffer</a:t>
            </a:r>
            <a:endParaRPr lang="en-US" sz="1200" b="0" dirty="0">
              <a:solidFill>
                <a:schemeClr val="tx1"/>
              </a:solidFill>
            </a:endParaRPr>
          </a:p>
        </p:txBody>
      </p:sp>
      <p:sp>
        <p:nvSpPr>
          <p:cNvPr id="228" name="Rectangle 8"/>
          <p:cNvSpPr>
            <a:spLocks noChangeArrowheads="1"/>
          </p:cNvSpPr>
          <p:nvPr/>
        </p:nvSpPr>
        <p:spPr bwMode="auto">
          <a:xfrm>
            <a:off x="2249237" y="3334871"/>
            <a:ext cx="1081323" cy="582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/>
              <a:t>Vector </a:t>
            </a:r>
          </a:p>
          <a:p>
            <a:pPr algn="ctr"/>
            <a:r>
              <a:rPr lang="en-US" sz="1600" dirty="0"/>
              <a:t>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  <p:bldP spid="99" grpId="0" bldLvl="0" animBg="1"/>
      <p:bldP spid="107" grpId="0" bldLvl="0" animBg="1"/>
      <p:bldP spid="114" grpId="0" bldLvl="0" animBg="1"/>
      <p:bldP spid="115" grpId="0" bldLvl="0" animBg="1"/>
      <p:bldP spid="214" grpId="0" bldLvl="0" animBg="1"/>
      <p:bldP spid="215" grpId="0" bldLvl="0" animBg="1"/>
      <p:bldP spid="218" grpId="0" bldLvl="0" animBg="1"/>
      <p:bldP spid="219" grpId="0" bldLvl="0" animBg="1"/>
      <p:bldP spid="227" grpId="0" bldLvl="0" animBg="1"/>
      <p:bldP spid="228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MIMD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860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Supports multiple simultaneous instruction streams operating on multiple data streams. 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Typically consist of a collection of fully independent processing units or cores, each of which has its own control unit and its own ALU.</a:t>
            </a:r>
          </a:p>
          <a:p>
            <a:endParaRPr lang="en-US" altLang="en-US" b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 System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87042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dirty="0"/>
              <a:t>A collection of autonomous processors is connected to a memory system via an interconnection network.</a:t>
            </a:r>
          </a:p>
          <a:p>
            <a:r>
              <a:rPr lang="en-US" altLang="en-US" dirty="0"/>
              <a:t>Each processor can access each memory location. </a:t>
            </a:r>
          </a:p>
          <a:p>
            <a:r>
              <a:rPr lang="en-US" altLang="en-US" dirty="0"/>
              <a:t>The processors usually communicate implicitly by accessing shared data structures.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 System (2)</a:t>
            </a:r>
            <a:endParaRPr 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755"/>
            <a:ext cx="8271510" cy="4425950"/>
          </a:xfrm>
          <a:prstGeom prst="rect">
            <a:avLst/>
          </a:prstGeom>
        </p:spPr>
      </p:pic>
      <p:sp>
        <p:nvSpPr>
          <p:cNvPr id="88066" name="Content Placeholder 2"/>
          <p:cNvSpPr>
            <a:spLocks noGrp="1"/>
          </p:cNvSpPr>
          <p:nvPr>
            <p:ph idx="1"/>
          </p:nvPr>
        </p:nvSpPr>
        <p:spPr>
          <a:xfrm>
            <a:off x="7769225" y="1367790"/>
            <a:ext cx="4656455" cy="5288915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Most widely available shared memory systems use one or more multicore processors.</a:t>
            </a:r>
          </a:p>
          <a:p>
            <a:pPr lvl="1"/>
            <a:r>
              <a:rPr lang="en-US" altLang="en-US" sz="2800" dirty="0"/>
              <a:t>(multiple CPU’s or cores on a single chip)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 System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89091" name="Text Box 8"/>
          <p:cNvSpPr txBox="1">
            <a:spLocks noChangeArrowheads="1"/>
          </p:cNvSpPr>
          <p:nvPr/>
        </p:nvSpPr>
        <p:spPr bwMode="auto">
          <a:xfrm>
            <a:off x="5251768" y="5616258"/>
            <a:ext cx="1782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2.3</a:t>
            </a:r>
          </a:p>
        </p:txBody>
      </p:sp>
      <p:pic>
        <p:nvPicPr>
          <p:cNvPr id="890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360" y="1152525"/>
            <a:ext cx="8992235" cy="4032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UMA</a:t>
            </a:r>
            <a:r>
              <a:rPr>
                <a:sym typeface="+mn-ea"/>
              </a:rPr>
              <a:t>一致内存访问</a:t>
            </a:r>
            <a:r>
              <a:rPr lang="en-US">
                <a:sym typeface="+mn-ea"/>
              </a:rPr>
              <a:t> multicore system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901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965" y="1080135"/>
            <a:ext cx="7291705" cy="4126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Text Box 8"/>
          <p:cNvSpPr txBox="1">
            <a:spLocks noChangeArrowheads="1"/>
          </p:cNvSpPr>
          <p:nvPr/>
        </p:nvSpPr>
        <p:spPr bwMode="auto">
          <a:xfrm>
            <a:off x="7624763" y="5473065"/>
            <a:ext cx="1782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2.5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1440" y="3961130"/>
            <a:ext cx="3559810" cy="2072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solidFill>
                  <a:srgbClr val="00B050"/>
                </a:solidFill>
                <a:latin typeface="Arial" panose="020B0604020202020204"/>
              </a:rPr>
              <a:t>Time to access all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solidFill>
                  <a:srgbClr val="00B050"/>
                </a:solidFill>
                <a:latin typeface="Arial" panose="020B0604020202020204"/>
              </a:rPr>
              <a:t>the memory locations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solidFill>
                  <a:srgbClr val="00B050"/>
                </a:solidFill>
                <a:latin typeface="Arial" panose="020B0604020202020204"/>
              </a:rPr>
              <a:t>will be the same for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800" kern="0" dirty="0">
                <a:solidFill>
                  <a:srgbClr val="00B050"/>
                </a:solidFill>
                <a:latin typeface="Arial" panose="020B0604020202020204"/>
              </a:rPr>
              <a:t>all the cores.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NUMA multicore system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9113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35990"/>
            <a:ext cx="728472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978535" y="4065270"/>
            <a:ext cx="415480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rgbClr val="00B050"/>
                </a:solidFill>
                <a:latin typeface="NimbusRomNo9L-Regu"/>
              </a:rPr>
              <a:t>A memory location a core is directly connected to can be accessed faster than a memory location that must be accessed through another chip</a:t>
            </a:r>
            <a:r>
              <a:rPr lang="en-US" sz="2400" kern="0" dirty="0">
                <a:solidFill>
                  <a:srgbClr val="00B050"/>
                </a:solidFill>
                <a:latin typeface="Arial" panose="020B0604020202020204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Distributed Memory System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92162" name="Content Placeholder 3"/>
          <p:cNvSpPr>
            <a:spLocks noGrp="1"/>
          </p:cNvSpPr>
          <p:nvPr>
            <p:ph idx="1"/>
          </p:nvPr>
        </p:nvSpPr>
        <p:spPr>
          <a:xfrm>
            <a:off x="684530" y="1125855"/>
            <a:ext cx="11450955" cy="5422900"/>
          </a:xfrm>
        </p:spPr>
        <p:txBody>
          <a:bodyPr>
            <a:normAutofit fontScale="80000" lnSpcReduction="20000"/>
          </a:bodyPr>
          <a:lstStyle/>
          <a:p>
            <a:r>
              <a:rPr lang="en-US" altLang="en-US" b="0" dirty="0">
                <a:solidFill>
                  <a:srgbClr val="0066FF"/>
                </a:solidFill>
              </a:rPr>
              <a:t>Clusters</a:t>
            </a:r>
            <a:r>
              <a:rPr lang="en-US" altLang="en-US" b="0" dirty="0"/>
              <a:t> (most popular)</a:t>
            </a:r>
          </a:p>
          <a:p>
            <a:pPr lvl="1"/>
            <a:r>
              <a:rPr lang="en-US" altLang="en-US" b="0" dirty="0"/>
              <a:t>A collection of commodity systems.</a:t>
            </a:r>
          </a:p>
          <a:p>
            <a:pPr lvl="1"/>
            <a:r>
              <a:rPr lang="en-US" altLang="en-US" b="0" dirty="0"/>
              <a:t>Connected by a commodity interconnection network.</a:t>
            </a:r>
          </a:p>
          <a:p>
            <a:r>
              <a:rPr lang="en-US" altLang="en-US" b="0" dirty="0">
                <a:solidFill>
                  <a:srgbClr val="00B050"/>
                </a:solidFill>
              </a:rPr>
              <a:t>Nodes</a:t>
            </a:r>
            <a:r>
              <a:rPr lang="en-US" altLang="en-US" b="0" dirty="0"/>
              <a:t> of a cluster are individual computations units joined by a communication network.</a:t>
            </a:r>
          </a:p>
          <a:p>
            <a:r>
              <a:rPr lang="en-US" altLang="en-US" b="0" dirty="0">
                <a:solidFill>
                  <a:srgbClr val="FF0000"/>
                </a:solidFill>
              </a:rPr>
              <a:t>Data</a:t>
            </a:r>
            <a:r>
              <a:rPr lang="en-US" altLang="en-US" b="0" dirty="0"/>
              <a:t> exchanged through messages</a:t>
            </a:r>
          </a:p>
          <a:p>
            <a:pPr lvl="1"/>
            <a:r>
              <a:rPr lang="en-US" altLang="en-US" b="0" dirty="0"/>
              <a:t>HPC cluster using MPI</a:t>
            </a:r>
          </a:p>
          <a:p>
            <a:pPr lvl="1"/>
            <a:r>
              <a:rPr lang="en-US" altLang="en-US" b="0" dirty="0"/>
              <a:t>Hadoop or Spark Cluster</a:t>
            </a:r>
          </a:p>
          <a:p>
            <a:pPr lvl="1"/>
            <a:r>
              <a:rPr lang="en-US" altLang="en-US" b="0" dirty="0"/>
              <a:t>Special purpose clusters (e.g. </a:t>
            </a:r>
            <a:r>
              <a:rPr lang="en-US" altLang="en-US" b="0" dirty="0" err="1"/>
              <a:t>WebTier</a:t>
            </a:r>
            <a:r>
              <a:rPr lang="en-US" altLang="en-US" b="0" dirty="0"/>
              <a:t> , database)</a:t>
            </a:r>
          </a:p>
          <a:p>
            <a:r>
              <a:rPr lang="en-US" altLang="en-US" b="0" dirty="0"/>
              <a:t>Networks</a:t>
            </a:r>
          </a:p>
          <a:p>
            <a:pPr lvl="1"/>
            <a:r>
              <a:rPr lang="en-US" altLang="en-US" b="0" dirty="0"/>
              <a:t>Ethernet, </a:t>
            </a:r>
            <a:r>
              <a:rPr lang="en-US" altLang="en-US" b="0" dirty="0" err="1"/>
              <a:t>Infiniband</a:t>
            </a:r>
            <a:r>
              <a:rPr lang="en-US" altLang="en-US" b="0" dirty="0"/>
              <a:t> , Intel </a:t>
            </a:r>
            <a:r>
              <a:rPr lang="en-US" altLang="en-US" b="0" dirty="0" err="1"/>
              <a:t>Omnipath</a:t>
            </a:r>
            <a:endParaRPr lang="en-US" altLang="en-US" b="0" dirty="0"/>
          </a:p>
          <a:p>
            <a:pPr lvl="1"/>
            <a:r>
              <a:rPr lang="en-US" altLang="en-US" b="0" dirty="0"/>
              <a:t>Many topologies possible (common in cloud data center is Fat tree)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5102" y="6552248"/>
            <a:ext cx="37528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Lucida Handwriting" panose="03010101010101010101" pitchFamily="66" charset="0"/>
              </a:rPr>
              <a:t>a.k.a. hybrid systems</a:t>
            </a:r>
            <a:endParaRPr lang="en-US" sz="2400" dirty="0">
              <a:solidFill>
                <a:srgbClr val="C00000"/>
              </a:solidFill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Distributed Memory System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93187" name="Text Box 8"/>
          <p:cNvSpPr txBox="1">
            <a:spLocks noChangeArrowheads="1"/>
          </p:cNvSpPr>
          <p:nvPr/>
        </p:nvSpPr>
        <p:spPr bwMode="auto">
          <a:xfrm>
            <a:off x="5248910" y="5544503"/>
            <a:ext cx="1782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2.4</a:t>
            </a:r>
          </a:p>
        </p:txBody>
      </p:sp>
      <p:pic>
        <p:nvPicPr>
          <p:cNvPr id="931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315" y="1296035"/>
            <a:ext cx="9389110" cy="385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Hybrid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0475"/>
            <a:ext cx="11122660" cy="3063240"/>
          </a:xfrm>
        </p:spPr>
        <p:txBody>
          <a:bodyPr>
            <a:normAutofit fontScale="87500" lnSpcReduction="10000"/>
          </a:bodyPr>
          <a:lstStyle/>
          <a:p>
            <a:r>
              <a:rPr lang="en-US" b="0" dirty="0"/>
              <a:t>Most all clusters today are mixture of both shared memory and distributed memory</a:t>
            </a:r>
          </a:p>
          <a:p>
            <a:pPr lvl="1"/>
            <a:r>
              <a:rPr lang="en-US" b="0" dirty="0"/>
              <a:t>Very common to use 2 socket server nodes connected by high speed network </a:t>
            </a:r>
          </a:p>
          <a:p>
            <a:r>
              <a:rPr lang="en-US" b="0" dirty="0"/>
              <a:t>Local (intra server) communication can be done with shared memory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4045585"/>
            <a:ext cx="9621520" cy="288988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Interconnection networks </a:t>
            </a:r>
            <a:r>
              <a:rPr>
                <a:sym typeface="+mn-ea"/>
              </a:rPr>
              <a:t>互连网络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94210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Affects performance of both distributed and shared memory systems.</a:t>
            </a: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Two categories:</a:t>
            </a:r>
          </a:p>
          <a:p>
            <a:pPr lvl="1"/>
            <a:r>
              <a:rPr lang="en-US" altLang="en-US" b="0"/>
              <a:t>Shared memory interconnects</a:t>
            </a:r>
          </a:p>
          <a:p>
            <a:pPr lvl="1"/>
            <a:r>
              <a:rPr lang="en-US" altLang="en-US" b="0"/>
              <a:t>Distributed memory interconnects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 interconnects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952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/>
              <a:t>Bus interconnect</a:t>
            </a:r>
          </a:p>
          <a:p>
            <a:pPr lvl="1"/>
            <a:r>
              <a:rPr lang="en-US" altLang="en-US" b="0"/>
              <a:t>A collection of parallel communication wires together with some hardware that controls access to the bus.</a:t>
            </a:r>
          </a:p>
          <a:p>
            <a:pPr lvl="1"/>
            <a:r>
              <a:rPr lang="en-US" altLang="en-US" b="0"/>
              <a:t>Communication wires are shared by the devices that are connected to it.</a:t>
            </a:r>
          </a:p>
          <a:p>
            <a:pPr lvl="1"/>
            <a:r>
              <a:rPr lang="en-US" altLang="en-US" b="0"/>
              <a:t>As the number of devices connected to the bus increases, contention for use of the bus increases, and performance decreases.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 interconnects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Switched interconnect</a:t>
            </a:r>
          </a:p>
          <a:p>
            <a:pPr lvl="1"/>
            <a:r>
              <a:rPr lang="en-US" altLang="en-US" b="0" dirty="0"/>
              <a:t>Uses switches to control the routing of data among the connected devices.</a:t>
            </a:r>
            <a:br>
              <a:rPr lang="en-US" altLang="en-US" b="0" dirty="0"/>
            </a:br>
            <a:endParaRPr lang="en-US" altLang="en-US" b="0" dirty="0"/>
          </a:p>
          <a:p>
            <a:pPr lvl="1"/>
            <a:r>
              <a:rPr lang="en-US" altLang="en-US" b="0" dirty="0">
                <a:solidFill>
                  <a:srgbClr val="00B050"/>
                </a:solidFill>
              </a:rPr>
              <a:t>Crossbar </a:t>
            </a:r>
            <a:r>
              <a:rPr lang="zh-CN" altLang="en-US" b="0" dirty="0">
                <a:solidFill>
                  <a:srgbClr val="00B050"/>
                </a:solidFill>
              </a:rPr>
              <a:t>交叉开关矩阵</a:t>
            </a:r>
            <a:r>
              <a:rPr lang="en-US" altLang="en-US" b="0" dirty="0"/>
              <a:t> – </a:t>
            </a:r>
          </a:p>
          <a:p>
            <a:pPr lvl="2"/>
            <a:r>
              <a:rPr lang="en-US" altLang="en-US" b="0" dirty="0"/>
              <a:t>Allows simultaneous communication among different devices.</a:t>
            </a:r>
          </a:p>
          <a:p>
            <a:pPr lvl="2"/>
            <a:r>
              <a:rPr lang="en-US" altLang="en-US" b="0" dirty="0"/>
              <a:t>Faster than buses. </a:t>
            </a:r>
          </a:p>
          <a:p>
            <a:pPr lvl="2"/>
            <a:r>
              <a:rPr lang="en-US" altLang="en-US" b="0" dirty="0"/>
              <a:t>But the cost of the switches and links is relatively high.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83</a:t>
            </a:fld>
            <a:endParaRPr lang="zh-CN" altLang="en-US"/>
          </a:p>
        </p:txBody>
      </p:sp>
      <p:pic>
        <p:nvPicPr>
          <p:cNvPr id="9728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180" y="432435"/>
            <a:ext cx="3886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Text Box 8"/>
          <p:cNvSpPr txBox="1">
            <a:spLocks noChangeArrowheads="1"/>
          </p:cNvSpPr>
          <p:nvPr/>
        </p:nvSpPr>
        <p:spPr bwMode="auto">
          <a:xfrm>
            <a:off x="539750" y="260350"/>
            <a:ext cx="1338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2.7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7284" name="Rectangle 6"/>
          <p:cNvSpPr>
            <a:spLocks noChangeArrowheads="1"/>
          </p:cNvSpPr>
          <p:nvPr/>
        </p:nvSpPr>
        <p:spPr bwMode="auto">
          <a:xfrm>
            <a:off x="1288098" y="1439863"/>
            <a:ext cx="4572000" cy="201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RomNo9L-Regu"/>
              </a:rPr>
              <a:t>(a) </a:t>
            </a:r>
          </a:p>
          <a:p>
            <a:r>
              <a:rPr lang="en-US" altLang="en-US" sz="2400">
                <a:latin typeface="NimbusRomNo9L-Regu"/>
              </a:rPr>
              <a:t>A crossbar switch connecting 4 processors (</a:t>
            </a:r>
            <a:r>
              <a:rPr lang="en-US" altLang="en-US" sz="2400">
                <a:latin typeface="NimbusRomNo9L-ReguItal"/>
              </a:rPr>
              <a:t>P</a:t>
            </a:r>
            <a:r>
              <a:rPr lang="en-US" altLang="en-US" sz="1400">
                <a:latin typeface="NimbusRomNo9L-ReguItal"/>
              </a:rPr>
              <a:t>i</a:t>
            </a:r>
            <a:r>
              <a:rPr lang="en-US" altLang="en-US" sz="2400">
                <a:latin typeface="NimbusRomNo9L-Regu"/>
              </a:rPr>
              <a:t>) and 4 memory modules (</a:t>
            </a:r>
            <a:r>
              <a:rPr lang="en-US" altLang="en-US" sz="2400">
                <a:latin typeface="NimbusRomNo9L-ReguItal"/>
              </a:rPr>
              <a:t>M</a:t>
            </a:r>
            <a:r>
              <a:rPr lang="en-US" altLang="en-US" sz="1400">
                <a:latin typeface="NimbusRomNo9L-ReguItal"/>
              </a:rPr>
              <a:t>j</a:t>
            </a:r>
            <a:r>
              <a:rPr lang="en-US" altLang="en-US" sz="2400">
                <a:latin typeface="NimbusRomNo9L-Regu"/>
              </a:rPr>
              <a:t>)</a:t>
            </a:r>
          </a:p>
        </p:txBody>
      </p:sp>
      <p:sp>
        <p:nvSpPr>
          <p:cNvPr id="97285" name="Rectangle 7"/>
          <p:cNvSpPr>
            <a:spLocks noChangeArrowheads="1"/>
          </p:cNvSpPr>
          <p:nvPr/>
        </p:nvSpPr>
        <p:spPr bwMode="auto">
          <a:xfrm>
            <a:off x="1288098" y="3600450"/>
            <a:ext cx="4103687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RomNo9L-Regu"/>
              </a:rPr>
              <a:t>(b)</a:t>
            </a:r>
          </a:p>
          <a:p>
            <a:r>
              <a:rPr lang="en-US" altLang="en-US" sz="2400">
                <a:latin typeface="NimbusRomNo9L-Regu"/>
              </a:rPr>
              <a:t>Configuration of internal switches in a crossbar </a:t>
            </a:r>
          </a:p>
        </p:txBody>
      </p:sp>
      <p:sp>
        <p:nvSpPr>
          <p:cNvPr id="97286" name="Rectangle 8"/>
          <p:cNvSpPr>
            <a:spLocks noChangeArrowheads="1"/>
          </p:cNvSpPr>
          <p:nvPr/>
        </p:nvSpPr>
        <p:spPr bwMode="auto">
          <a:xfrm>
            <a:off x="1360170" y="5113020"/>
            <a:ext cx="447929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en-US" altLang="en-US" sz="2400">
                <a:solidFill>
                  <a:srgbClr val="000000"/>
                </a:solidFill>
                <a:latin typeface="NimbusRomNo9L-Regu"/>
              </a:rPr>
              <a:t>(c) Simultaneous memory accesses by the processors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5248910" y="6336665"/>
            <a:ext cx="1338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2.7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Distributed memory interconnects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983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Two groups</a:t>
            </a:r>
          </a:p>
          <a:p>
            <a:pPr lvl="1"/>
            <a:r>
              <a:rPr lang="en-US" altLang="en-US" b="0" dirty="0"/>
              <a:t>Direct interconnect </a:t>
            </a:r>
            <a:r>
              <a:rPr lang="zh-CN" altLang="en-US" b="0" dirty="0"/>
              <a:t>直接互连</a:t>
            </a:r>
            <a:endParaRPr lang="en-US" altLang="en-US" b="0" dirty="0"/>
          </a:p>
          <a:p>
            <a:pPr lvl="2"/>
            <a:r>
              <a:rPr lang="en-US" altLang="en-US" b="0" dirty="0"/>
              <a:t>Each switch is directly connected to a </a:t>
            </a:r>
            <a:r>
              <a:rPr lang="en-US" altLang="zh-CN" b="0" dirty="0"/>
              <a:t>computing node</a:t>
            </a:r>
            <a:r>
              <a:rPr lang="en-US" altLang="en-US" b="0" dirty="0"/>
              <a:t> and the switches are connected to each other.</a:t>
            </a:r>
            <a:br>
              <a:rPr lang="en-US" altLang="en-US" b="0" dirty="0"/>
            </a:br>
            <a:endParaRPr lang="en-US" altLang="en-US" b="0" dirty="0"/>
          </a:p>
          <a:p>
            <a:pPr lvl="1"/>
            <a:r>
              <a:rPr lang="en-US" altLang="en-US" b="0" dirty="0"/>
              <a:t>Indirect interconnect </a:t>
            </a:r>
            <a:r>
              <a:rPr lang="zh-CN" altLang="en-US" b="0" dirty="0"/>
              <a:t>间接互连</a:t>
            </a:r>
            <a:endParaRPr lang="en-US" altLang="en-US" b="0" dirty="0"/>
          </a:p>
          <a:p>
            <a:pPr lvl="2"/>
            <a:r>
              <a:rPr lang="en-US" altLang="en-US" b="0" dirty="0"/>
              <a:t>Switches may not be directly connected to a </a:t>
            </a:r>
            <a:r>
              <a:rPr lang="en-US" altLang="zh-CN" b="0" dirty="0"/>
              <a:t>computing node</a:t>
            </a:r>
            <a:r>
              <a:rPr lang="en-US" altLang="en-US" b="0" dirty="0"/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Direct interconnect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053" y="1728446"/>
            <a:ext cx="7523162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208203" y="6607810"/>
            <a:ext cx="4054475" cy="384175"/>
          </a:xfrm>
        </p:spPr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sp>
        <p:nvSpPr>
          <p:cNvPr id="99333" name="Text Box 8"/>
          <p:cNvSpPr txBox="1">
            <a:spLocks noChangeArrowheads="1"/>
          </p:cNvSpPr>
          <p:nvPr/>
        </p:nvSpPr>
        <p:spPr bwMode="auto">
          <a:xfrm>
            <a:off x="5520690" y="5804963"/>
            <a:ext cx="612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000066"/>
                </a:solidFill>
                <a:latin typeface="Arial" panose="020B0604020202020204" pitchFamily="34" charset="0"/>
              </a:rPr>
              <a:t>ring</a:t>
            </a:r>
            <a:endParaRPr lang="en-GB" altLang="en-US" sz="2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9334" name="Text Box 8"/>
          <p:cNvSpPr txBox="1">
            <a:spLocks noChangeArrowheads="1"/>
          </p:cNvSpPr>
          <p:nvPr/>
        </p:nvSpPr>
        <p:spPr bwMode="auto">
          <a:xfrm>
            <a:off x="8826964" y="5804963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000066"/>
                </a:solidFill>
                <a:latin typeface="Arial" panose="020B0604020202020204" pitchFamily="34" charset="0"/>
              </a:rPr>
              <a:t>toroidal mesh</a:t>
            </a:r>
            <a:endParaRPr lang="en-GB" altLang="en-US" sz="2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4235"/>
            <a:ext cx="4540885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Bisection width </a:t>
            </a:r>
            <a:r>
              <a:rPr>
                <a:sym typeface="+mn-ea"/>
              </a:rPr>
              <a:t>（等分宽度）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>
          <a:xfrm>
            <a:off x="640080" y="1080135"/>
            <a:ext cx="11994515" cy="4752340"/>
          </a:xfrm>
        </p:spPr>
        <p:txBody>
          <a:bodyPr/>
          <a:lstStyle/>
          <a:p>
            <a:r>
              <a:rPr lang="en-US" altLang="en-US" b="0" dirty="0"/>
              <a:t>A measure of “number of simultaneous communications” or “connectivity”.</a:t>
            </a:r>
          </a:p>
          <a:p>
            <a:pPr lvl="1"/>
            <a:endParaRPr lang="en-US" altLang="en-US" b="0" dirty="0"/>
          </a:p>
          <a:p>
            <a:r>
              <a:rPr lang="en-US" altLang="en-US" b="0" dirty="0"/>
              <a:t>How many simultaneous communications can take place “across the divide” between the halves?</a:t>
            </a:r>
          </a:p>
          <a:p>
            <a:endParaRPr lang="en-US" altLang="en-US" b="0" dirty="0"/>
          </a:p>
          <a:p>
            <a:r>
              <a:rPr lang="en-US" altLang="en-US" b="0" dirty="0"/>
              <a:t>Bisection width is defined by the worst case</a:t>
            </a:r>
          </a:p>
          <a:p>
            <a:endParaRPr lang="en-US" altLang="en-US" b="0" dirty="0"/>
          </a:p>
        </p:txBody>
      </p:sp>
      <p:pic>
        <p:nvPicPr>
          <p:cNvPr id="100356" name="Picture 2" descr="C:\Documents and Settings\liszka\Local Settings\Temporary Internet Files\Content.IE5\0AVCOKV0\MC90043478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843" y="4464685"/>
            <a:ext cx="182721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Two bisections of a ring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101379" name="Text Box 8"/>
          <p:cNvSpPr txBox="1">
            <a:spLocks noChangeArrowheads="1"/>
          </p:cNvSpPr>
          <p:nvPr/>
        </p:nvSpPr>
        <p:spPr bwMode="auto">
          <a:xfrm>
            <a:off x="5218430" y="4993958"/>
            <a:ext cx="1782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2.9</a:t>
            </a:r>
          </a:p>
        </p:txBody>
      </p:sp>
      <p:pic>
        <p:nvPicPr>
          <p:cNvPr id="1013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505" y="1584325"/>
            <a:ext cx="7977505" cy="3477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 bisection of a toroidal mesh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88</a:t>
            </a:fld>
            <a:endParaRPr lang="zh-CN" altLang="en-US"/>
          </a:p>
        </p:txBody>
      </p:sp>
      <p:pic>
        <p:nvPicPr>
          <p:cNvPr id="102403" name="Picture 3" descr="f02-10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268" y="1223963"/>
            <a:ext cx="511175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4" name="Text Box 8"/>
          <p:cNvSpPr txBox="1">
            <a:spLocks noChangeArrowheads="1"/>
          </p:cNvSpPr>
          <p:nvPr/>
        </p:nvSpPr>
        <p:spPr bwMode="auto">
          <a:xfrm>
            <a:off x="5515610" y="5472748"/>
            <a:ext cx="19799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2.10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Definitions 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1034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Bandwidth </a:t>
            </a:r>
            <a:r>
              <a:rPr lang="zh-CN" altLang="en-US" b="0" dirty="0"/>
              <a:t>（</a:t>
            </a:r>
            <a:r>
              <a:rPr lang="en-US" altLang="zh-CN" b="0" dirty="0"/>
              <a:t>Bytes/s</a:t>
            </a:r>
            <a:r>
              <a:rPr lang="zh-CN" altLang="en-US" b="0" dirty="0"/>
              <a:t>）</a:t>
            </a:r>
            <a:endParaRPr lang="en-US" altLang="en-US" b="0" dirty="0"/>
          </a:p>
          <a:p>
            <a:pPr lvl="1"/>
            <a:r>
              <a:rPr lang="en-US" altLang="en-US" b="0" dirty="0"/>
              <a:t>The rate at which a link can transmit data.</a:t>
            </a:r>
          </a:p>
          <a:p>
            <a:pPr lvl="1"/>
            <a:r>
              <a:rPr lang="en-US" altLang="en-US" b="0" dirty="0"/>
              <a:t>Usually given in megabits or megabytes per second.</a:t>
            </a:r>
          </a:p>
          <a:p>
            <a:pPr lvl="1"/>
            <a:endParaRPr lang="en-US" altLang="en-US" b="0" dirty="0"/>
          </a:p>
          <a:p>
            <a:r>
              <a:rPr lang="en-US" altLang="en-US" b="0" dirty="0"/>
              <a:t>Bisection bandwidth</a:t>
            </a:r>
          </a:p>
          <a:p>
            <a:pPr lvl="1"/>
            <a:r>
              <a:rPr lang="en-US" altLang="en-US" b="0" dirty="0"/>
              <a:t>A measure of network quality.</a:t>
            </a:r>
          </a:p>
          <a:p>
            <a:pPr lvl="1"/>
            <a:r>
              <a:rPr lang="en-US" altLang="en-US" b="0" dirty="0"/>
              <a:t>Instead of counting the number of links joining the halves, it sums the bandwidth of the links.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Fully connected network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104450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48060" cy="1150620"/>
          </a:xfrm>
        </p:spPr>
        <p:txBody>
          <a:bodyPr/>
          <a:lstStyle/>
          <a:p>
            <a:r>
              <a:rPr lang="en-US" altLang="en-US" b="0"/>
              <a:t>Each switch is directly connected to every other switch.</a:t>
            </a:r>
          </a:p>
        </p:txBody>
      </p:sp>
      <p:pic>
        <p:nvPicPr>
          <p:cNvPr id="104452" name="Picture 4" descr="f02-11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348" y="2276475"/>
            <a:ext cx="403225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3" name="Text Box 8"/>
          <p:cNvSpPr txBox="1">
            <a:spLocks noChangeArrowheads="1"/>
          </p:cNvSpPr>
          <p:nvPr/>
        </p:nvSpPr>
        <p:spPr bwMode="auto">
          <a:xfrm>
            <a:off x="6544310" y="5084763"/>
            <a:ext cx="146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2.11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2367598" y="4292600"/>
            <a:ext cx="3457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00B050"/>
                </a:solidFill>
                <a:latin typeface="NimbusRomNo9L-Regu"/>
              </a:rPr>
              <a:t>bisection width = </a:t>
            </a:r>
            <a:r>
              <a:rPr lang="en-US" altLang="en-US" sz="2400">
                <a:solidFill>
                  <a:srgbClr val="00B050"/>
                </a:solidFill>
                <a:latin typeface="NimbusRomNo9L-ReguItal"/>
              </a:rPr>
              <a:t>p</a:t>
            </a:r>
            <a:r>
              <a:rPr lang="en-US" altLang="en-US" sz="2400" baseline="30000">
                <a:solidFill>
                  <a:srgbClr val="00B050"/>
                </a:solidFill>
                <a:latin typeface="NimbusRomNo9L-Regu"/>
              </a:rPr>
              <a:t>2</a:t>
            </a:r>
            <a:r>
              <a:rPr lang="en-US" altLang="en-US" sz="2400">
                <a:solidFill>
                  <a:srgbClr val="00B050"/>
                </a:solidFill>
                <a:latin typeface="CMMI10"/>
              </a:rPr>
              <a:t>/</a:t>
            </a:r>
            <a:r>
              <a:rPr lang="en-US" altLang="en-US" sz="2400">
                <a:solidFill>
                  <a:srgbClr val="00B050"/>
                </a:solidFill>
                <a:latin typeface="NimbusRomNo9L-Regu"/>
              </a:rPr>
              <a:t>4</a:t>
            </a:r>
            <a:endParaRPr lang="en-US" altLang="en-US" sz="2400">
              <a:solidFill>
                <a:srgbClr val="00B0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rot="18803715">
            <a:off x="2605722" y="2820988"/>
            <a:ext cx="21431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kern="0" dirty="0">
                <a:solidFill>
                  <a:srgbClr val="C00000"/>
                </a:solidFill>
                <a:latin typeface="Arial" panose="020B0604020202020204"/>
              </a:rPr>
              <a:t>impractical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Hypercube </a:t>
            </a:r>
            <a:r>
              <a:rPr>
                <a:sym typeface="+mn-ea"/>
              </a:rPr>
              <a:t>超立方体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10547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en-US" b="0" dirty="0"/>
              <a:t>Highly connected direct interconnect. </a:t>
            </a:r>
          </a:p>
          <a:p>
            <a:pPr marL="685800" lvl="2">
              <a:spcBef>
                <a:spcPts val="1000"/>
              </a:spcBef>
            </a:pPr>
            <a:r>
              <a:rPr lang="zh-CN" altLang="en-US" b="0" dirty="0"/>
              <a:t>每个交换机（</a:t>
            </a:r>
            <a:r>
              <a:rPr lang="en-US" altLang="zh-CN" b="0" dirty="0"/>
              <a:t>switch</a:t>
            </a:r>
            <a:r>
              <a:rPr lang="zh-CN" altLang="en-US" b="0" dirty="0"/>
              <a:t>）</a:t>
            </a:r>
            <a:r>
              <a:rPr lang="zh-CN" altLang="en-US" b="0" strike="sngStrike" dirty="0"/>
              <a:t>与一个处理器</a:t>
            </a:r>
            <a:r>
              <a:rPr lang="zh-CN" altLang="en-US" b="0" dirty="0"/>
              <a:t>和</a:t>
            </a:r>
            <a:r>
              <a:rPr lang="en-US" altLang="zh-CN" b="0" dirty="0"/>
              <a:t>d</a:t>
            </a:r>
            <a:r>
              <a:rPr lang="zh-CN" altLang="en-US" b="0" dirty="0"/>
              <a:t>个交换机（</a:t>
            </a:r>
            <a:r>
              <a:rPr lang="en-US" altLang="zh-CN" b="0" dirty="0"/>
              <a:t>switch</a:t>
            </a:r>
            <a:r>
              <a:rPr lang="zh-CN" altLang="en-US" b="0" dirty="0"/>
              <a:t>）直接相连（</a:t>
            </a:r>
            <a:r>
              <a:rPr lang="en-US" altLang="zh-CN" b="0" dirty="0"/>
              <a:t>d</a:t>
            </a:r>
            <a:r>
              <a:rPr lang="zh-CN" altLang="en-US" b="0" dirty="0"/>
              <a:t>维超立方体）</a:t>
            </a:r>
            <a:endParaRPr lang="en-US" altLang="en-US" b="0" dirty="0"/>
          </a:p>
          <a:p>
            <a:r>
              <a:rPr lang="en-US" altLang="en-US" b="0" dirty="0"/>
              <a:t>Built inductively:</a:t>
            </a:r>
          </a:p>
          <a:p>
            <a:pPr lvl="1"/>
            <a:r>
              <a:rPr lang="en-US" altLang="en-US" b="0" dirty="0"/>
              <a:t>A </a:t>
            </a:r>
            <a:r>
              <a:rPr lang="en-US" altLang="en-US" b="0" dirty="0">
                <a:solidFill>
                  <a:srgbClr val="00B050"/>
                </a:solidFill>
              </a:rPr>
              <a:t>one-dimensional hypercube </a:t>
            </a:r>
            <a:r>
              <a:rPr lang="en-US" altLang="en-US" b="0" dirty="0"/>
              <a:t>is a fully-connected system with two processors. </a:t>
            </a:r>
          </a:p>
          <a:p>
            <a:pPr lvl="1"/>
            <a:r>
              <a:rPr lang="en-US" altLang="en-US" b="0" dirty="0"/>
              <a:t>A </a:t>
            </a:r>
            <a:r>
              <a:rPr lang="en-US" altLang="en-US" b="0" dirty="0">
                <a:solidFill>
                  <a:srgbClr val="00B050"/>
                </a:solidFill>
              </a:rPr>
              <a:t>two-dimensional hypercube </a:t>
            </a:r>
            <a:r>
              <a:rPr lang="en-US" altLang="en-US" b="0" dirty="0"/>
              <a:t>is built from two one-dimensional </a:t>
            </a:r>
            <a:r>
              <a:rPr lang="en-US" altLang="en-US" b="0" dirty="0" err="1"/>
              <a:t>hypercubes</a:t>
            </a:r>
            <a:r>
              <a:rPr lang="en-US" altLang="en-US" b="0" dirty="0"/>
              <a:t> by joining “corresponding” switches. </a:t>
            </a:r>
          </a:p>
          <a:p>
            <a:pPr lvl="1"/>
            <a:r>
              <a:rPr lang="en-US" altLang="en-US" b="0" dirty="0"/>
              <a:t>Similarly a </a:t>
            </a:r>
            <a:r>
              <a:rPr lang="en-US" altLang="en-US" b="0" dirty="0">
                <a:solidFill>
                  <a:srgbClr val="00B050"/>
                </a:solidFill>
              </a:rPr>
              <a:t>three-dimensional hypercube </a:t>
            </a:r>
            <a:r>
              <a:rPr lang="en-US" altLang="en-US" b="0" dirty="0"/>
              <a:t>is built from two two-dimensional </a:t>
            </a:r>
            <a:r>
              <a:rPr lang="en-US" altLang="en-US" b="0" dirty="0" err="1"/>
              <a:t>hypercubes</a:t>
            </a:r>
            <a:r>
              <a:rPr lang="en-US" altLang="en-US" b="0" dirty="0"/>
              <a:t>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ym typeface="+mn-ea"/>
              </a:rPr>
              <a:t>Hypercubes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92</a:t>
            </a:fld>
            <a:endParaRPr lang="zh-CN" altLang="en-US"/>
          </a:p>
        </p:txBody>
      </p:sp>
      <p:pic>
        <p:nvPicPr>
          <p:cNvPr id="1064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5" y="1224280"/>
            <a:ext cx="9737725" cy="435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Text Box 8"/>
          <p:cNvSpPr txBox="1">
            <a:spLocks noChangeArrowheads="1"/>
          </p:cNvSpPr>
          <p:nvPr/>
        </p:nvSpPr>
        <p:spPr bwMode="auto">
          <a:xfrm>
            <a:off x="1651635" y="1294765"/>
            <a:ext cx="1481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2.12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2728278" y="5616258"/>
            <a:ext cx="801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RomNo9L-Regu"/>
              </a:rPr>
              <a:t>one-</a:t>
            </a:r>
            <a:endParaRPr lang="en-US" altLang="en-US" sz="2400"/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6904990" y="5616258"/>
            <a:ext cx="2635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RomNo9L-Regu"/>
              </a:rPr>
              <a:t>three-dimensional</a:t>
            </a:r>
            <a:endParaRPr lang="en-US" altLang="en-US" sz="2400"/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5176203" y="5616258"/>
            <a:ext cx="766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RomNo9L-Regu"/>
              </a:rPr>
              <a:t>two-</a:t>
            </a:r>
            <a:endParaRPr lang="en-US" altLang="en-US" sz="2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Indirect interconnects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1075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Simple examples of indirect networks:</a:t>
            </a:r>
          </a:p>
          <a:p>
            <a:pPr lvl="1"/>
            <a:r>
              <a:rPr lang="en-US" altLang="en-US" b="0" dirty="0">
                <a:solidFill>
                  <a:srgbClr val="00B050"/>
                </a:solidFill>
              </a:rPr>
              <a:t>Crossbar</a:t>
            </a:r>
          </a:p>
          <a:p>
            <a:pPr lvl="1"/>
            <a:r>
              <a:rPr lang="en-US" altLang="en-US" b="0" dirty="0">
                <a:solidFill>
                  <a:srgbClr val="00B050"/>
                </a:solidFill>
              </a:rPr>
              <a:t>Omega network</a:t>
            </a:r>
          </a:p>
          <a:p>
            <a:pPr lvl="1"/>
            <a:r>
              <a:rPr lang="en-US" altLang="en-US" b="0" dirty="0">
                <a:solidFill>
                  <a:srgbClr val="FF0000"/>
                </a:solidFill>
              </a:rPr>
              <a:t>Fat-tree network</a:t>
            </a:r>
          </a:p>
          <a:p>
            <a:pPr lvl="1"/>
            <a:r>
              <a:rPr lang="en-US" altLang="en-US" b="0" dirty="0">
                <a:solidFill>
                  <a:srgbClr val="FF0000"/>
                </a:solidFill>
              </a:rPr>
              <a:t>Dragonfly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Often shown with unidirectional links and a collection of processors, each of which has an outgoing and an incoming link, and a switching network.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  <a:latin typeface="NimbusRomNo9L-Regu"/>
                <a:sym typeface="+mn-ea"/>
              </a:rPr>
              <a:t>A generic indirect network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94</a:t>
            </a:fld>
            <a:endParaRPr lang="zh-CN" altLang="en-US"/>
          </a:p>
        </p:txBody>
      </p:sp>
      <p:pic>
        <p:nvPicPr>
          <p:cNvPr id="1085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253" y="1152208"/>
            <a:ext cx="66944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7" name="Text Box 8"/>
          <p:cNvSpPr txBox="1">
            <a:spLocks noChangeArrowheads="1"/>
          </p:cNvSpPr>
          <p:nvPr/>
        </p:nvSpPr>
        <p:spPr bwMode="auto">
          <a:xfrm>
            <a:off x="5104765" y="5646420"/>
            <a:ext cx="19799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  <a:t>Figure 2.13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2471" y="504026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Crossbar interconnect for distributed memory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95</a:t>
            </a:fld>
            <a:endParaRPr lang="zh-CN" altLang="en-US"/>
          </a:p>
        </p:txBody>
      </p:sp>
      <p:pic>
        <p:nvPicPr>
          <p:cNvPr id="1095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218" y="1584008"/>
            <a:ext cx="6637337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2" name="Text Box 8"/>
          <p:cNvSpPr txBox="1">
            <a:spLocks noChangeArrowheads="1"/>
          </p:cNvSpPr>
          <p:nvPr/>
        </p:nvSpPr>
        <p:spPr bwMode="auto">
          <a:xfrm>
            <a:off x="5588318" y="5830570"/>
            <a:ext cx="1481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2.14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An omega network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96</a:t>
            </a:fld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08944" y="5052573"/>
            <a:ext cx="35752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000066"/>
                </a:solidFill>
                <a:latin typeface="Arial" panose="020B0604020202020204" pitchFamily="34" charset="0"/>
              </a:rPr>
              <a:t>A switch in an omega network</a:t>
            </a:r>
            <a:endParaRPr lang="en-GB" altLang="en-US" sz="2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pic>
        <p:nvPicPr>
          <p:cNvPr id="11059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24" y="1152208"/>
            <a:ext cx="5148262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576" y="2707346"/>
            <a:ext cx="3178686" cy="188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/>
          <p:cNvSpPr/>
          <p:nvPr/>
        </p:nvSpPr>
        <p:spPr>
          <a:xfrm>
            <a:off x="1908944" y="2676878"/>
            <a:ext cx="3336987" cy="232996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/>
        </p:nvSpPr>
        <p:spPr>
          <a:xfrm>
            <a:off x="7081752" y="3947061"/>
            <a:ext cx="988219" cy="39449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13"/>
          <p:cNvSpPr txBox="1"/>
          <p:nvPr/>
        </p:nvSpPr>
        <p:spPr>
          <a:xfrm>
            <a:off x="6780066" y="17028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780066" y="5252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749902" y="45700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 fat-tree network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97</a:t>
            </a:fld>
            <a:endParaRPr lang="zh-CN" altLang="en-US"/>
          </a:p>
        </p:txBody>
      </p:sp>
      <p:pic>
        <p:nvPicPr>
          <p:cNvPr id="1026" name="Picture 2" descr="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88" y="2266852"/>
            <a:ext cx="6636943" cy="440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152943" y="1079834"/>
            <a:ext cx="746125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Hierarchical tree-based topology</a:t>
            </a:r>
          </a:p>
          <a:p>
            <a:r>
              <a:rPr lang="en-US" sz="3200" dirty="0"/>
              <a:t>Links near the root have a higher bandwidth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 dragonfly network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98</a:t>
            </a:fld>
            <a:endParaRPr lang="zh-CN" altLang="en-US"/>
          </a:p>
        </p:txBody>
      </p:sp>
      <p:pic>
        <p:nvPicPr>
          <p:cNvPr id="2050" name="Picture 2" descr="Figure 1 from Modeling a Million-Node Dragonfly Network Using Massively  Parallel Discrete-Event Simulation | Semantic Schol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845" y="1656080"/>
            <a:ext cx="4528820" cy="387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216224" y="1341755"/>
            <a:ext cx="5504552" cy="483108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360045" indent="-360045">
              <a:spcBef>
                <a:spcPct val="20000"/>
              </a:spcBef>
              <a:buFont typeface="Arial" panose="020B0604020202020204" pitchFamily="34" charset="0"/>
              <a:buChar char="»"/>
              <a:defRPr kumimoji="1" lang="zh-CN" altLang="en-US" sz="3200">
                <a:solidFill>
                  <a:srgbClr val="0070C0"/>
                </a:solidFill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 marL="1028700" indent="-457200">
              <a:spcBef>
                <a:spcPct val="20000"/>
              </a:spcBef>
              <a:buFont typeface="Arial" panose="020B0604020202020204" pitchFamily="34" charset="0"/>
              <a:buChar char="»"/>
              <a:defRPr kumimoji="1" lang="zh-CN" altLang="en-US" sz="280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»"/>
              <a:defRPr kumimoji="1" lang="zh-CN" altLang="en-US" sz="280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»"/>
              <a:defRPr kumimoji="1" lang="zh-CN" altLang="en-US" sz="240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kumimoji="1" lang="zh-CN" altLang="en-US" sz="200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  <a:lvl6pPr marL="2640330" indent="-240030" defTabSz="959485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latin typeface="+mn-lt"/>
                <a:ea typeface="+mn-ea"/>
              </a:defRPr>
            </a:lvl6pPr>
            <a:lvl7pPr marL="3120390" indent="-240030" defTabSz="959485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latin typeface="+mn-lt"/>
                <a:ea typeface="+mn-ea"/>
              </a:defRPr>
            </a:lvl7pPr>
            <a:lvl8pPr marL="3600450" indent="-240030" defTabSz="959485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latin typeface="+mn-lt"/>
                <a:ea typeface="+mn-ea"/>
              </a:defRPr>
            </a:lvl8pPr>
            <a:lvl9pPr marL="4080510" indent="-240030" defTabSz="959485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latin typeface="+mn-lt"/>
                <a:ea typeface="+mn-ea"/>
              </a:defRPr>
            </a:lvl9pPr>
          </a:lstStyle>
          <a:p>
            <a:r>
              <a:rPr lang="en-US" dirty="0"/>
              <a:t>The dragonfly topology is mostly used within Cray systems.</a:t>
            </a:r>
          </a:p>
          <a:p>
            <a:r>
              <a:rPr lang="en-US" altLang="zh-CN" dirty="0"/>
              <a:t>A</a:t>
            </a:r>
            <a:r>
              <a:rPr lang="en-US" dirty="0"/>
              <a:t> number of switch groups, a direct one-to-one connection between each group.</a:t>
            </a:r>
          </a:p>
          <a:p>
            <a:r>
              <a:rPr lang="en-US" dirty="0"/>
              <a:t>In a group, switches are connected via a common topology like torus or fat tree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HPC interconnect technologies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99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05" y="4968875"/>
            <a:ext cx="6978650" cy="178054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72208" y="936154"/>
            <a:ext cx="9938692" cy="4428188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sz="2400" dirty="0"/>
              <a:t>Ethernet: 10/100 Mbps – 100 </a:t>
            </a:r>
            <a:r>
              <a:rPr lang="en-US" sz="2400" dirty="0" err="1"/>
              <a:t>Gbps</a:t>
            </a:r>
            <a:endParaRPr lang="en-US" sz="2400" dirty="0"/>
          </a:p>
          <a:p>
            <a:pPr lvl="1"/>
            <a:r>
              <a:rPr lang="en-US" sz="2000" dirty="0"/>
              <a:t>Early versions used shared-medium coaxial cable</a:t>
            </a:r>
          </a:p>
          <a:p>
            <a:pPr lvl="1"/>
            <a:r>
              <a:rPr lang="en-US" sz="2000" dirty="0"/>
              <a:t>Newer versions use twisted pair or fiber optic with hubs or switches</a:t>
            </a:r>
          </a:p>
          <a:p>
            <a:r>
              <a:rPr lang="en-US" sz="2400" dirty="0"/>
              <a:t>InfiniBand (IB): 24-300 Gbps w/ 0.5</a:t>
            </a:r>
            <a:r>
              <a:rPr lang="el-GR" sz="2400" dirty="0"/>
              <a:t>μ</a:t>
            </a:r>
            <a:r>
              <a:rPr lang="en-US" sz="2400" dirty="0"/>
              <a:t>s latency</a:t>
            </a:r>
          </a:p>
          <a:p>
            <a:pPr lvl="1"/>
            <a:r>
              <a:rPr lang="en-US" sz="2000" dirty="0"/>
              <a:t>Packet-based switched fabric (bus, fat tree, or mesh/torus)</a:t>
            </a:r>
          </a:p>
          <a:p>
            <a:pPr lvl="1"/>
            <a:r>
              <a:rPr lang="en-US" sz="2000" dirty="0"/>
              <a:t>Very loose API; more formal spec provided by </a:t>
            </a:r>
            <a:r>
              <a:rPr lang="en-US" sz="2000" dirty="0" err="1"/>
              <a:t>OpenFabrics</a:t>
            </a:r>
            <a:r>
              <a:rPr lang="en-US" sz="2000" dirty="0"/>
              <a:t> Alliance</a:t>
            </a:r>
          </a:p>
          <a:p>
            <a:pPr lvl="1"/>
            <a:r>
              <a:rPr lang="en-US" sz="2000" dirty="0"/>
              <a:t>Used on many current high-performance clusters</a:t>
            </a:r>
          </a:p>
          <a:p>
            <a:pPr lvl="1"/>
            <a:r>
              <a:rPr lang="en-US" sz="2000" dirty="0"/>
              <a:t>Vendors: </a:t>
            </a:r>
            <a:r>
              <a:rPr lang="en-US" sz="2000" dirty="0" err="1"/>
              <a:t>Mellanox</a:t>
            </a:r>
            <a:r>
              <a:rPr lang="en-US" sz="2000" dirty="0"/>
              <a:t>, Intel, and Oracle</a:t>
            </a:r>
          </a:p>
          <a:p>
            <a:r>
              <a:rPr lang="en-US" sz="2400" dirty="0" err="1"/>
              <a:t>OmniPath</a:t>
            </a:r>
            <a:r>
              <a:rPr lang="en-US" sz="2400" dirty="0"/>
              <a:t> (Intel) or Aries / Slingshot (Cray)</a:t>
            </a:r>
          </a:p>
          <a:p>
            <a:pPr lvl="1"/>
            <a:r>
              <a:rPr lang="en-US" sz="2000" dirty="0"/>
              <a:t>Proprietary interconnects for HPC machines</a:t>
            </a:r>
          </a:p>
          <a:p>
            <a:r>
              <a:rPr lang="en-US" sz="2400" dirty="0"/>
              <a:t>TH Express-2</a:t>
            </a:r>
            <a:r>
              <a:rPr lang="zh-CN" altLang="en-US" sz="2400" dirty="0"/>
              <a:t>主干拓扑结构网络连接（天河二号）</a:t>
            </a:r>
            <a:endParaRPr lang="en-US" sz="2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More definitions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100</a:t>
            </a:fld>
            <a:endParaRPr lang="zh-CN" altLang="en-US"/>
          </a:p>
        </p:txBody>
      </p:sp>
      <p:sp>
        <p:nvSpPr>
          <p:cNvPr id="112642" name="Content Placeholder 2"/>
          <p:cNvSpPr>
            <a:spLocks noGrp="1"/>
          </p:cNvSpPr>
          <p:nvPr>
            <p:ph idx="1"/>
          </p:nvPr>
        </p:nvSpPr>
        <p:spPr>
          <a:xfrm>
            <a:off x="468630" y="981075"/>
            <a:ext cx="11507470" cy="5531485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Any time data is transmitted, we’re interested in how long it will take for the data to reach its destination.</a:t>
            </a:r>
          </a:p>
          <a:p>
            <a:r>
              <a:rPr lang="en-US" altLang="en-US" sz="3200" dirty="0"/>
              <a:t>Latency</a:t>
            </a:r>
          </a:p>
          <a:p>
            <a:pPr lvl="1"/>
            <a:r>
              <a:rPr lang="en-US" altLang="en-US" sz="2800" dirty="0"/>
              <a:t>The time that elapses between the source’s beginning to transmit the data and the destination’s starting to receive the first byte.</a:t>
            </a:r>
          </a:p>
          <a:p>
            <a:r>
              <a:rPr lang="en-US" altLang="en-US" sz="3200" dirty="0"/>
              <a:t>Bandwidth</a:t>
            </a:r>
          </a:p>
          <a:p>
            <a:pPr lvl="1"/>
            <a:r>
              <a:rPr lang="en-US" altLang="en-US" sz="2800" dirty="0"/>
              <a:t>The rate at which the destination receives data after it has started to receive the first byte.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101</a:t>
            </a:fld>
            <a:endParaRPr lang="zh-CN" altLang="en-US"/>
          </a:p>
        </p:txBody>
      </p:sp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2453322" y="1808099"/>
            <a:ext cx="996378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3600" dirty="0">
                <a:latin typeface="NimbusRomNo9L-Regu"/>
              </a:rPr>
              <a:t>Message transmission time </a:t>
            </a:r>
            <a:r>
              <a:rPr lang="en-US" altLang="en-US" sz="3600" dirty="0">
                <a:latin typeface="CMR10"/>
              </a:rPr>
              <a:t>= </a:t>
            </a:r>
            <a:r>
              <a:rPr lang="en-US" altLang="zh-CN" sz="3600" dirty="0">
                <a:latin typeface="NimbusRomNo9L-ReguItal"/>
              </a:rPr>
              <a:t>l</a:t>
            </a:r>
            <a:r>
              <a:rPr lang="en-US" altLang="en-US" sz="3600" dirty="0">
                <a:latin typeface="NimbusRomNo9L-ReguItal"/>
              </a:rPr>
              <a:t> </a:t>
            </a:r>
            <a:r>
              <a:rPr lang="en-US" altLang="en-US" sz="3600">
                <a:latin typeface="CMR10"/>
              </a:rPr>
              <a:t>+ </a:t>
            </a:r>
            <a:r>
              <a:rPr lang="en-US" altLang="en-US" sz="3600">
                <a:latin typeface="NimbusRomNo9L-ReguItal"/>
              </a:rPr>
              <a:t>n </a:t>
            </a:r>
            <a:r>
              <a:rPr lang="en-US" altLang="en-US" sz="3600">
                <a:latin typeface="CMMI10"/>
              </a:rPr>
              <a:t>/ </a:t>
            </a:r>
            <a:r>
              <a:rPr lang="en-US" altLang="en-US" sz="3600">
                <a:latin typeface="NimbusRomNo9L-ReguItal"/>
              </a:rPr>
              <a:t>b</a:t>
            </a:r>
            <a:endParaRPr lang="en-US" altLang="en-US" sz="3600" dirty="0"/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3808571" y="3024441"/>
            <a:ext cx="2598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B050"/>
                </a:solidFill>
                <a:latin typeface="NimbusRomNo9L-Regu"/>
              </a:rPr>
              <a:t>latency (seconds)</a:t>
            </a:r>
            <a:endParaRPr lang="en-US" altLang="en-US" sz="2400" dirty="0">
              <a:solidFill>
                <a:srgbClr val="00B050"/>
              </a:solidFill>
            </a:endParaRP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4315778" y="4775200"/>
            <a:ext cx="422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C00000"/>
                </a:solidFill>
                <a:latin typeface="NimbusRomNo9L-Regu"/>
              </a:rPr>
              <a:t>bandwidth (bytes per second)</a:t>
            </a:r>
            <a:endParaRPr lang="en-US" altLang="en-US" sz="2400">
              <a:solidFill>
                <a:srgbClr val="C00000"/>
              </a:solidFill>
            </a:endParaRP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5107940" y="3911600"/>
            <a:ext cx="3694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0066FF"/>
                </a:solidFill>
                <a:latin typeface="NimbusRomNo9L-Regu"/>
              </a:rPr>
              <a:t>length of message (bytes)</a:t>
            </a:r>
            <a:endParaRPr lang="en-US" altLang="en-US" sz="2400">
              <a:solidFill>
                <a:srgbClr val="0066FF"/>
              </a:solidFill>
            </a:endParaRPr>
          </a:p>
        </p:txBody>
      </p:sp>
      <p:sp>
        <p:nvSpPr>
          <p:cNvPr id="113670" name="Freeform 6"/>
          <p:cNvSpPr>
            <a:spLocks noChangeArrowheads="1"/>
          </p:cNvSpPr>
          <p:nvPr/>
        </p:nvSpPr>
        <p:spPr bwMode="auto">
          <a:xfrm>
            <a:off x="6160811" y="2395793"/>
            <a:ext cx="2251075" cy="874712"/>
          </a:xfrm>
          <a:custGeom>
            <a:avLst/>
            <a:gdLst>
              <a:gd name="T0" fmla="*/ 0 w 2249714"/>
              <a:gd name="T1" fmla="*/ 812800 h 873276"/>
              <a:gd name="T2" fmla="*/ 2002971 w 2249714"/>
              <a:gd name="T3" fmla="*/ 812800 h 873276"/>
              <a:gd name="T4" fmla="*/ 1480457 w 2249714"/>
              <a:gd name="T5" fmla="*/ 449943 h 873276"/>
              <a:gd name="T6" fmla="*/ 1988457 w 2249714"/>
              <a:gd name="T7" fmla="*/ 406400 h 873276"/>
              <a:gd name="T8" fmla="*/ 1857828 w 2249714"/>
              <a:gd name="T9" fmla="*/ 0 h 8732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49714"/>
              <a:gd name="T16" fmla="*/ 0 h 873276"/>
              <a:gd name="T17" fmla="*/ 2249714 w 2249714"/>
              <a:gd name="T18" fmla="*/ 873276 h 8732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49714" h="873276">
                <a:moveTo>
                  <a:pt x="0" y="812800"/>
                </a:moveTo>
                <a:cubicBezTo>
                  <a:pt x="878114" y="843038"/>
                  <a:pt x="1756228" y="873276"/>
                  <a:pt x="2002971" y="812800"/>
                </a:cubicBezTo>
                <a:cubicBezTo>
                  <a:pt x="2249714" y="752324"/>
                  <a:pt x="1482876" y="517676"/>
                  <a:pt x="1480457" y="449943"/>
                </a:cubicBezTo>
                <a:cubicBezTo>
                  <a:pt x="1478038" y="382210"/>
                  <a:pt x="1925562" y="481390"/>
                  <a:pt x="1988457" y="406400"/>
                </a:cubicBezTo>
                <a:cubicBezTo>
                  <a:pt x="2051352" y="331410"/>
                  <a:pt x="1954590" y="165705"/>
                  <a:pt x="1857828" y="0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13671" name="Freeform 7"/>
          <p:cNvSpPr>
            <a:spLocks noChangeArrowheads="1"/>
          </p:cNvSpPr>
          <p:nvPr/>
        </p:nvSpPr>
        <p:spPr bwMode="auto">
          <a:xfrm>
            <a:off x="8633778" y="2371725"/>
            <a:ext cx="590550" cy="1797050"/>
          </a:xfrm>
          <a:custGeom>
            <a:avLst/>
            <a:gdLst>
              <a:gd name="T0" fmla="*/ 137885 w 590247"/>
              <a:gd name="T1" fmla="*/ 1785258 h 1797353"/>
              <a:gd name="T2" fmla="*/ 515257 w 590247"/>
              <a:gd name="T3" fmla="*/ 1712686 h 1797353"/>
              <a:gd name="T4" fmla="*/ 36285 w 590247"/>
              <a:gd name="T5" fmla="*/ 1277258 h 1797353"/>
              <a:gd name="T6" fmla="*/ 587828 w 590247"/>
              <a:gd name="T7" fmla="*/ 1030515 h 1797353"/>
              <a:gd name="T8" fmla="*/ 21771 w 590247"/>
              <a:gd name="T9" fmla="*/ 711200 h 1797353"/>
              <a:gd name="T10" fmla="*/ 457200 w 590247"/>
              <a:gd name="T11" fmla="*/ 406400 h 1797353"/>
              <a:gd name="T12" fmla="*/ 65314 w 590247"/>
              <a:gd name="T13" fmla="*/ 391886 h 1797353"/>
              <a:gd name="T14" fmla="*/ 65314 w 590247"/>
              <a:gd name="T15" fmla="*/ 0 h 17973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90247"/>
              <a:gd name="T25" fmla="*/ 0 h 1797353"/>
              <a:gd name="T26" fmla="*/ 590247 w 590247"/>
              <a:gd name="T27" fmla="*/ 1797353 h 179735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90247" h="1797353">
                <a:moveTo>
                  <a:pt x="137885" y="1785258"/>
                </a:moveTo>
                <a:cubicBezTo>
                  <a:pt x="335037" y="1791305"/>
                  <a:pt x="532190" y="1797353"/>
                  <a:pt x="515257" y="1712686"/>
                </a:cubicBezTo>
                <a:cubicBezTo>
                  <a:pt x="498324" y="1628019"/>
                  <a:pt x="24190" y="1390953"/>
                  <a:pt x="36285" y="1277258"/>
                </a:cubicBezTo>
                <a:cubicBezTo>
                  <a:pt x="48380" y="1163563"/>
                  <a:pt x="590247" y="1124858"/>
                  <a:pt x="587828" y="1030515"/>
                </a:cubicBezTo>
                <a:cubicBezTo>
                  <a:pt x="585409" y="936172"/>
                  <a:pt x="43542" y="815219"/>
                  <a:pt x="21771" y="711200"/>
                </a:cubicBezTo>
                <a:cubicBezTo>
                  <a:pt x="0" y="607181"/>
                  <a:pt x="449943" y="459619"/>
                  <a:pt x="457200" y="406400"/>
                </a:cubicBezTo>
                <a:cubicBezTo>
                  <a:pt x="464457" y="353181"/>
                  <a:pt x="130628" y="459619"/>
                  <a:pt x="65314" y="391886"/>
                </a:cubicBezTo>
                <a:cubicBezTo>
                  <a:pt x="0" y="324153"/>
                  <a:pt x="32657" y="162076"/>
                  <a:pt x="65314" y="0"/>
                </a:cubicBezTo>
              </a:path>
            </a:pathLst>
          </a:custGeom>
          <a:noFill/>
          <a:ln w="9525" algn="ctr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13672" name="Freeform 8"/>
          <p:cNvSpPr>
            <a:spLocks noChangeArrowheads="1"/>
          </p:cNvSpPr>
          <p:nvPr/>
        </p:nvSpPr>
        <p:spPr bwMode="auto">
          <a:xfrm>
            <a:off x="8524240" y="2414588"/>
            <a:ext cx="1824038" cy="2852737"/>
          </a:xfrm>
          <a:custGeom>
            <a:avLst/>
            <a:gdLst>
              <a:gd name="T0" fmla="*/ 0 w 1823962"/>
              <a:gd name="T1" fmla="*/ 2598056 h 2852058"/>
              <a:gd name="T2" fmla="*/ 1625600 w 1823962"/>
              <a:gd name="T3" fmla="*/ 2670628 h 2852058"/>
              <a:gd name="T4" fmla="*/ 1190171 w 1823962"/>
              <a:gd name="T5" fmla="*/ 1509486 h 2852058"/>
              <a:gd name="T6" fmla="*/ 1756228 w 1823962"/>
              <a:gd name="T7" fmla="*/ 899886 h 2852058"/>
              <a:gd name="T8" fmla="*/ 972457 w 1823962"/>
              <a:gd name="T9" fmla="*/ 957943 h 2852058"/>
              <a:gd name="T10" fmla="*/ 1204685 w 1823962"/>
              <a:gd name="T11" fmla="*/ 174172 h 2852058"/>
              <a:gd name="T12" fmla="*/ 812800 w 1823962"/>
              <a:gd name="T13" fmla="*/ 217715 h 2852058"/>
              <a:gd name="T14" fmla="*/ 783771 w 1823962"/>
              <a:gd name="T15" fmla="*/ 0 h 285205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823962"/>
              <a:gd name="T25" fmla="*/ 0 h 2852058"/>
              <a:gd name="T26" fmla="*/ 1823962 w 1823962"/>
              <a:gd name="T27" fmla="*/ 2852058 h 285205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823962" h="2852058">
                <a:moveTo>
                  <a:pt x="0" y="2598057"/>
                </a:moveTo>
                <a:cubicBezTo>
                  <a:pt x="713619" y="2725057"/>
                  <a:pt x="1427238" y="2852058"/>
                  <a:pt x="1625600" y="2670629"/>
                </a:cubicBezTo>
                <a:cubicBezTo>
                  <a:pt x="1823962" y="2489201"/>
                  <a:pt x="1168400" y="1804610"/>
                  <a:pt x="1190171" y="1509486"/>
                </a:cubicBezTo>
                <a:cubicBezTo>
                  <a:pt x="1211942" y="1214362"/>
                  <a:pt x="1792514" y="991810"/>
                  <a:pt x="1756228" y="899886"/>
                </a:cubicBezTo>
                <a:cubicBezTo>
                  <a:pt x="1719942" y="807962"/>
                  <a:pt x="1064381" y="1078895"/>
                  <a:pt x="972457" y="957943"/>
                </a:cubicBezTo>
                <a:cubicBezTo>
                  <a:pt x="880533" y="836991"/>
                  <a:pt x="1231294" y="297543"/>
                  <a:pt x="1204685" y="174172"/>
                </a:cubicBezTo>
                <a:cubicBezTo>
                  <a:pt x="1178076" y="50801"/>
                  <a:pt x="882952" y="246744"/>
                  <a:pt x="812800" y="217715"/>
                </a:cubicBezTo>
                <a:cubicBezTo>
                  <a:pt x="742648" y="188686"/>
                  <a:pt x="763209" y="94343"/>
                  <a:pt x="783771" y="0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 coherence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102</a:t>
            </a:fld>
            <a:endParaRPr lang="zh-CN" altLang="en-US"/>
          </a:p>
        </p:txBody>
      </p:sp>
      <p:sp>
        <p:nvSpPr>
          <p:cNvPr id="114690" name="Content Placeholder 2"/>
          <p:cNvSpPr>
            <a:spLocks noGrp="1"/>
          </p:cNvSpPr>
          <p:nvPr>
            <p:ph idx="1"/>
          </p:nvPr>
        </p:nvSpPr>
        <p:spPr>
          <a:xfrm>
            <a:off x="1720215" y="1368425"/>
            <a:ext cx="5680075" cy="3168015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Programmers have no </a:t>
            </a:r>
            <a:br>
              <a:rPr lang="en-US" altLang="en-US" sz="3200" dirty="0"/>
            </a:br>
            <a:r>
              <a:rPr lang="en-US" altLang="en-US" sz="3200" dirty="0"/>
              <a:t>control over caches </a:t>
            </a:r>
            <a:br>
              <a:rPr lang="en-US" altLang="en-US" sz="3200" dirty="0"/>
            </a:br>
            <a:r>
              <a:rPr lang="en-US" altLang="en-US" sz="3200" dirty="0"/>
              <a:t>and when they get updated.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 </a:t>
            </a:r>
          </a:p>
        </p:txBody>
      </p:sp>
      <p:sp>
        <p:nvSpPr>
          <p:cNvPr id="114692" name="Text Box 8"/>
          <p:cNvSpPr txBox="1">
            <a:spLocks noChangeArrowheads="1"/>
          </p:cNvSpPr>
          <p:nvPr/>
        </p:nvSpPr>
        <p:spPr bwMode="auto">
          <a:xfrm>
            <a:off x="5531168" y="4824095"/>
            <a:ext cx="1481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Figure 2.17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14693" name="Rectangle 11"/>
          <p:cNvSpPr>
            <a:spLocks noChangeArrowheads="1"/>
          </p:cNvSpPr>
          <p:nvPr/>
        </p:nvSpPr>
        <p:spPr bwMode="auto">
          <a:xfrm>
            <a:off x="2440305" y="5400358"/>
            <a:ext cx="45720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algn="r"/>
            <a:r>
              <a:rPr lang="en-US" altLang="en-US" sz="2000">
                <a:latin typeface="NimbusRomNo9L-Regu"/>
              </a:rPr>
              <a:t>A shared memory system with two cores and two caches</a:t>
            </a:r>
            <a:endParaRPr lang="en-US" altLang="en-US" sz="2000"/>
          </a:p>
        </p:txBody>
      </p:sp>
      <p:pic>
        <p:nvPicPr>
          <p:cNvPr id="1146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170" y="1080135"/>
            <a:ext cx="3443288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Cache coherence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103</a:t>
            </a:fld>
            <a:endParaRPr lang="zh-CN" altLang="en-US"/>
          </a:p>
        </p:txBody>
      </p:sp>
      <p:pic>
        <p:nvPicPr>
          <p:cNvPr id="1167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05" y="3096260"/>
            <a:ext cx="7755255" cy="1548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0" name="Rectangle 5"/>
          <p:cNvSpPr>
            <a:spLocks noChangeArrowheads="1"/>
          </p:cNvSpPr>
          <p:nvPr/>
        </p:nvSpPr>
        <p:spPr bwMode="auto">
          <a:xfrm>
            <a:off x="2444115" y="2447925"/>
            <a:ext cx="4108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 dirty="0">
                <a:latin typeface="+mn-lt"/>
              </a:rPr>
              <a:t>x = 2;  /* </a:t>
            </a:r>
            <a:r>
              <a:rPr lang="en-US" altLang="en-US" sz="2800" dirty="0">
                <a:solidFill>
                  <a:srgbClr val="C00000"/>
                </a:solidFill>
                <a:latin typeface="+mn-lt"/>
              </a:rPr>
              <a:t>shared variable </a:t>
            </a:r>
            <a:r>
              <a:rPr lang="en-US" altLang="en-US" sz="2800" dirty="0">
                <a:latin typeface="+mn-lt"/>
              </a:rPr>
              <a:t>*/</a:t>
            </a:r>
          </a:p>
        </p:txBody>
      </p:sp>
      <p:sp>
        <p:nvSpPr>
          <p:cNvPr id="116741" name="Rectangle 6"/>
          <p:cNvSpPr>
            <a:spLocks noChangeArrowheads="1"/>
          </p:cNvSpPr>
          <p:nvPr/>
        </p:nvSpPr>
        <p:spPr bwMode="auto">
          <a:xfrm>
            <a:off x="3523615" y="1152208"/>
            <a:ext cx="5466373" cy="103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latin typeface="+mn-lt"/>
              </a:rPr>
              <a:t>y0  privately owned by Core 0</a:t>
            </a:r>
          </a:p>
          <a:p>
            <a:r>
              <a:rPr lang="en-US" altLang="en-US" sz="2800">
                <a:latin typeface="+mn-lt"/>
              </a:rPr>
              <a:t>y1 and z1 privately owned by Core 1</a:t>
            </a:r>
          </a:p>
        </p:txBody>
      </p:sp>
      <p:sp>
        <p:nvSpPr>
          <p:cNvPr id="116742" name="Rectangle 7"/>
          <p:cNvSpPr>
            <a:spLocks noChangeArrowheads="1"/>
          </p:cNvSpPr>
          <p:nvPr/>
        </p:nvSpPr>
        <p:spPr bwMode="auto">
          <a:xfrm>
            <a:off x="2444115" y="4751705"/>
            <a:ext cx="398145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 dirty="0">
                <a:latin typeface="+mn-lt"/>
              </a:rPr>
              <a:t>y0 eventually ends up = 2</a:t>
            </a:r>
          </a:p>
          <a:p>
            <a:r>
              <a:rPr lang="en-US" altLang="en-US" sz="2400" dirty="0">
                <a:latin typeface="+mn-lt"/>
              </a:rPr>
              <a:t>z1 = ???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Snooping Cache Coherence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104</a:t>
            </a:fld>
            <a:endParaRPr lang="zh-CN" altLang="en-US"/>
          </a:p>
        </p:txBody>
      </p:sp>
      <p:sp>
        <p:nvSpPr>
          <p:cNvPr id="117762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The cores share a bus .</a:t>
            </a:r>
          </a:p>
          <a:p>
            <a:r>
              <a:rPr lang="en-US" altLang="en-US" sz="3200" dirty="0"/>
              <a:t>Any signal transmitted on the bus can be “seen” by all cores connected to the bus.</a:t>
            </a:r>
          </a:p>
          <a:p>
            <a:r>
              <a:rPr lang="en-US" altLang="en-US" sz="3200" dirty="0"/>
              <a:t>When core 0 updates the copy of x stored in its cache it also broadcasts this information across the bus.</a:t>
            </a:r>
          </a:p>
          <a:p>
            <a:r>
              <a:rPr lang="en-US" altLang="en-US" sz="3200" dirty="0"/>
              <a:t>If core 1 is “snooping” the bus, it will see that x has been updated and it can mark its copy of x as invalid.</a:t>
            </a:r>
          </a:p>
          <a:p>
            <a:r>
              <a:rPr lang="en-US" altLang="en-US" sz="3200" dirty="0"/>
              <a:t>Snooping is high cost in multi-core or many-core CPU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3706FB-99EB-4E61-B311-2AE27C417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155" y="2736349"/>
            <a:ext cx="4320480" cy="3240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Directory Based Cache Coherence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105</a:t>
            </a:fld>
            <a:endParaRPr lang="zh-CN" altLang="en-US"/>
          </a:p>
        </p:txBody>
      </p:sp>
      <p:sp>
        <p:nvSpPr>
          <p:cNvPr id="118786" name="Content Placeholder 2"/>
          <p:cNvSpPr>
            <a:spLocks noGrp="1"/>
          </p:cNvSpPr>
          <p:nvPr>
            <p:ph idx="1"/>
          </p:nvPr>
        </p:nvSpPr>
        <p:spPr>
          <a:xfrm>
            <a:off x="640080" y="1368460"/>
            <a:ext cx="11521440" cy="4752261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Uses a data structure called a directory that stores the status of each cache line.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A08C8C-DE09-4065-9F1E-F872F0F65C9B}"/>
              </a:ext>
            </a:extLst>
          </p:cNvPr>
          <p:cNvSpPr txBox="1">
            <a:spLocks/>
          </p:cNvSpPr>
          <p:nvPr/>
        </p:nvSpPr>
        <p:spPr>
          <a:xfrm>
            <a:off x="64096" y="2592338"/>
            <a:ext cx="8784976" cy="3528383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360045" indent="-36004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600" b="0" i="0" kern="1200" baseline="0">
                <a:solidFill>
                  <a:srgbClr val="0070C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defRPr>
            </a:lvl1pPr>
            <a:lvl2pPr marL="10287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0" i="0" kern="1200" baseline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defRPr>
            </a:lvl2pPr>
            <a:lvl3pPr marL="1200150" indent="-24003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i="0" kern="1200" baseline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defRPr>
            </a:lvl3pPr>
            <a:lvl4pPr marL="1680210" indent="-24003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400" b="0" i="0" kern="1200" baseline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defRPr>
            </a:lvl4pPr>
            <a:lvl5pPr marL="2160270" indent="-24003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000" b="0" i="0" kern="1200" baseline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defRPr>
            </a:lvl5pPr>
            <a:lvl6pPr marL="2640330" indent="-240030" algn="l" defTabSz="95948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0390" indent="-240030" algn="l" defTabSz="95948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450" indent="-240030" algn="l" defTabSz="95948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80510" indent="-240030" algn="l" defTabSz="95948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/>
            <a:r>
              <a:rPr lang="en-US" sz="2400" dirty="0"/>
              <a:t>In a directory based scheme, participating caches do not broadcast requests to all other sharing caches of the block in order to locate cached copies</a:t>
            </a:r>
          </a:p>
          <a:p>
            <a:pPr lvl="1" defTabSz="914400"/>
            <a:r>
              <a:rPr lang="en-US" altLang="zh-CN" sz="2400" dirty="0"/>
              <a:t>I</a:t>
            </a:r>
            <a:r>
              <a:rPr lang="en-US" sz="2400" dirty="0"/>
              <a:t>nstead it queries the directory to retrieve the information about which block have cached copies and sends only to those particular processors and hence traffic saving compared to a snoopy protocol is large.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9A1841-E46E-42D2-B96C-332FFF091A85}"/>
              </a:ext>
            </a:extLst>
          </p:cNvPr>
          <p:cNvSpPr/>
          <p:nvPr/>
        </p:nvSpPr>
        <p:spPr>
          <a:xfrm>
            <a:off x="6544816" y="5877507"/>
            <a:ext cx="64008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Diagram of full bit vector directory format, where E=Exclusive, S=Shared, M=Modified, and U=</a:t>
            </a:r>
            <a:r>
              <a:rPr lang="en-US" sz="2000" dirty="0" err="1">
                <a:solidFill>
                  <a:srgbClr val="202122"/>
                </a:solidFill>
                <a:latin typeface="Arial" panose="020B0604020202020204" pitchFamily="34" charset="0"/>
              </a:rPr>
              <a:t>Uncached</a:t>
            </a:r>
            <a:endParaRPr lang="en-US" sz="2000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106</a:t>
            </a:fld>
            <a:endParaRPr lang="zh-CN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419543" y="4424680"/>
            <a:ext cx="7772400" cy="708025"/>
          </a:xfrm>
        </p:spPr>
        <p:txBody>
          <a:bodyPr/>
          <a:lstStyle/>
          <a:p>
            <a:pPr>
              <a:defRPr/>
            </a:pPr>
            <a:r>
              <a:rPr lang="en-US" sz="4400" dirty="0"/>
              <a:t>Parallel software</a:t>
            </a:r>
          </a:p>
        </p:txBody>
      </p:sp>
      <p:pic>
        <p:nvPicPr>
          <p:cNvPr id="119811" name="Picture 5" descr="C:\Documents and Settings\liszka\Local Settings\Temporary Internet Files\Content.IE5\0AVCOKV0\MP90031634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60" y="1224280"/>
            <a:ext cx="3794760" cy="2675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226" y="64817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The burden is on software</a:t>
            </a:r>
            <a:br>
              <a:rPr lang="en-US">
                <a:sym typeface="+mn-ea"/>
              </a:rPr>
            </a:br>
            <a:r>
              <a:rPr>
                <a:sym typeface="+mn-ea"/>
              </a:rPr>
              <a:t>从硬件到软件，我们需要注意什么？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107</a:t>
            </a:fld>
            <a:endParaRPr lang="zh-CN" altLang="en-US"/>
          </a:p>
        </p:txBody>
      </p:sp>
      <p:sp>
        <p:nvSpPr>
          <p:cNvPr id="120834" name="Content Placeholder 2"/>
          <p:cNvSpPr>
            <a:spLocks noGrp="1"/>
          </p:cNvSpPr>
          <p:nvPr>
            <p:ph idx="1"/>
          </p:nvPr>
        </p:nvSpPr>
        <p:spPr>
          <a:xfrm>
            <a:off x="712470" y="1728470"/>
            <a:ext cx="11524615" cy="4262755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3200" dirty="0"/>
              <a:t>Hardware and compilers can keep up the pace needed.</a:t>
            </a:r>
          </a:p>
          <a:p>
            <a:r>
              <a:rPr lang="en-US" altLang="en-US" sz="3200" dirty="0"/>
              <a:t>From now on…</a:t>
            </a:r>
          </a:p>
          <a:p>
            <a:pPr lvl="1"/>
            <a:r>
              <a:rPr lang="en-US" altLang="en-US" sz="2800" dirty="0"/>
              <a:t>In shared memory programs:</a:t>
            </a:r>
          </a:p>
          <a:p>
            <a:pPr lvl="2"/>
            <a:r>
              <a:rPr lang="en-US" altLang="en-US" dirty="0"/>
              <a:t>Start a single process and fork threads.</a:t>
            </a:r>
          </a:p>
          <a:p>
            <a:pPr lvl="2"/>
            <a:r>
              <a:rPr lang="en-US" altLang="en-US" dirty="0"/>
              <a:t>Threads carry out tasks.</a:t>
            </a:r>
          </a:p>
          <a:p>
            <a:pPr lvl="1"/>
            <a:r>
              <a:rPr lang="en-US" altLang="en-US" sz="2800" dirty="0"/>
              <a:t>In distributed memory programs:</a:t>
            </a:r>
          </a:p>
          <a:p>
            <a:pPr lvl="2"/>
            <a:r>
              <a:rPr lang="en-US" altLang="en-US" dirty="0"/>
              <a:t>Start multiple processes.</a:t>
            </a:r>
          </a:p>
          <a:p>
            <a:pPr lvl="2"/>
            <a:r>
              <a:rPr lang="en-US" altLang="en-US" dirty="0"/>
              <a:t>Processes carry out tasks.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2516" y="1439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SPMD – single program multiple data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108</a:t>
            </a:fld>
            <a:endParaRPr lang="zh-CN" altLang="en-US"/>
          </a:p>
        </p:txBody>
      </p:sp>
      <p:sp>
        <p:nvSpPr>
          <p:cNvPr id="121858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09960" cy="2893060"/>
          </a:xfrm>
        </p:spPr>
        <p:txBody>
          <a:bodyPr/>
          <a:lstStyle/>
          <a:p>
            <a:r>
              <a:rPr lang="en-US" altLang="en-US" b="0"/>
              <a:t>A SPMD programs consists of a single executable that can behave as if it were multiple different programs through the use of conditional branches.</a:t>
            </a:r>
          </a:p>
        </p:txBody>
      </p:sp>
      <p:sp>
        <p:nvSpPr>
          <p:cNvPr id="121860" name="TextBox 4"/>
          <p:cNvSpPr txBox="1">
            <a:spLocks noChangeArrowheads="1"/>
          </p:cNvSpPr>
          <p:nvPr/>
        </p:nvSpPr>
        <p:spPr bwMode="auto">
          <a:xfrm>
            <a:off x="3160395" y="4018915"/>
            <a:ext cx="4696460" cy="2355215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>
                <a:latin typeface="Bodoni MT" panose="02070603080606020203" pitchFamily="18" charset="0"/>
              </a:rPr>
              <a:t>if (I’m thread process </a:t>
            </a:r>
            <a:r>
              <a:rPr lang="en-US" altLang="en-US" dirty="0" err="1">
                <a:latin typeface="Bodoni MT" panose="02070603080606020203" pitchFamily="18" charset="0"/>
              </a:rPr>
              <a:t>i</a:t>
            </a:r>
            <a:r>
              <a:rPr lang="en-US" altLang="en-US" dirty="0">
                <a:latin typeface="Bodoni MT" panose="02070603080606020203" pitchFamily="18" charset="0"/>
              </a:rPr>
              <a:t>)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     do this;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else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     do that;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Writing Parallel Programs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109</a:t>
            </a:fld>
            <a:endParaRPr lang="zh-CN" altLang="en-US"/>
          </a:p>
        </p:txBody>
      </p:sp>
      <p:sp>
        <p:nvSpPr>
          <p:cNvPr id="122884" name="TextBox 4"/>
          <p:cNvSpPr txBox="1">
            <a:spLocks noChangeArrowheads="1"/>
          </p:cNvSpPr>
          <p:nvPr/>
        </p:nvSpPr>
        <p:spPr bwMode="auto">
          <a:xfrm>
            <a:off x="784225" y="1268730"/>
            <a:ext cx="10563225" cy="431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914400" indent="-4572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>
              <a:buSzPct val="100000"/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Divide the work among the</a:t>
            </a:r>
            <a:b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     processes/threads</a:t>
            </a:r>
          </a:p>
          <a:p>
            <a:pPr lvl="1">
              <a:buSzPct val="100000"/>
              <a:buFont typeface="Wingdings" panose="05000000000000000000" pitchFamily="2" charset="2"/>
              <a:buAutoNum type="alphaLcParenBoth"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so each process/thread</a:t>
            </a:r>
            <a:b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gets roughly the </a:t>
            </a:r>
            <a:r>
              <a:rPr lang="en-US" altLang="en-US" sz="2800" b="1" dirty="0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same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b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amount of work</a:t>
            </a:r>
          </a:p>
          <a:p>
            <a:pPr lvl="1">
              <a:buSzPct val="100000"/>
              <a:buFont typeface="Wingdings" panose="05000000000000000000" pitchFamily="2" charset="2"/>
              <a:buAutoNum type="alphaLcParenBoth"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and communication is</a:t>
            </a:r>
            <a:b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minimized.</a:t>
            </a:r>
          </a:p>
          <a:p>
            <a:pPr>
              <a:buSzPct val="100000"/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Arrange for the processes/threads to </a:t>
            </a:r>
            <a:r>
              <a:rPr lang="en-US" altLang="en-US" sz="2800" dirty="0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synchronize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.</a:t>
            </a:r>
          </a:p>
          <a:p>
            <a:pPr>
              <a:buSzPct val="100000"/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Arrange for </a:t>
            </a:r>
            <a:r>
              <a:rPr lang="en-US" altLang="en-US" sz="2800" dirty="0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communication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</a:rPr>
              <a:t> among processes/threads.</a:t>
            </a:r>
          </a:p>
        </p:txBody>
      </p:sp>
      <p:sp>
        <p:nvSpPr>
          <p:cNvPr id="122883" name="TextBox 3"/>
          <p:cNvSpPr txBox="1">
            <a:spLocks noChangeArrowheads="1"/>
          </p:cNvSpPr>
          <p:nvPr/>
        </p:nvSpPr>
        <p:spPr bwMode="auto">
          <a:xfrm>
            <a:off x="7552690" y="1268730"/>
            <a:ext cx="3711575" cy="2357438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>
                <a:latin typeface="Bodoni MT" panose="02070603080606020203" pitchFamily="18" charset="0"/>
              </a:rPr>
              <a:t>double x[n], y[n];</a:t>
            </a:r>
          </a:p>
          <a:p>
            <a:r>
              <a:rPr lang="en-US" altLang="en-US">
                <a:latin typeface="Bodoni MT" panose="02070603080606020203" pitchFamily="18" charset="0"/>
              </a:rPr>
              <a:t>…</a:t>
            </a:r>
          </a:p>
          <a:p>
            <a:r>
              <a:rPr lang="en-US" altLang="en-US">
                <a:latin typeface="Bodoni MT" panose="02070603080606020203" pitchFamily="18" charset="0"/>
              </a:rPr>
              <a:t>for (i = 0; i &lt; n; i++)</a:t>
            </a:r>
          </a:p>
          <a:p>
            <a:r>
              <a:rPr lang="en-US" altLang="en-US">
                <a:latin typeface="Bodoni MT" panose="02070603080606020203" pitchFamily="18" charset="0"/>
              </a:rPr>
              <a:t>     x[i] += y[i];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Shared Memory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110</a:t>
            </a:fld>
            <a:endParaRPr lang="zh-CN" altLang="en-US"/>
          </a:p>
        </p:txBody>
      </p:sp>
      <p:sp>
        <p:nvSpPr>
          <p:cNvPr id="123906" name="Content Placeholder 3"/>
          <p:cNvSpPr>
            <a:spLocks noGrp="1"/>
          </p:cNvSpPr>
          <p:nvPr>
            <p:ph idx="1"/>
          </p:nvPr>
        </p:nvSpPr>
        <p:spPr>
          <a:xfrm>
            <a:off x="611505" y="981075"/>
            <a:ext cx="11204575" cy="5289550"/>
          </a:xfrm>
        </p:spPr>
        <p:txBody>
          <a:bodyPr>
            <a:normAutofit fontScale="80000" lnSpcReduction="10000"/>
          </a:bodyPr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Dynamic threads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Master thread waits for work, forks new threads, and when threads are done, they terminate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Efficient use of resources, but thread creation and termination is time consuming.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Static threads</a:t>
            </a:r>
          </a:p>
          <a:p>
            <a:pPr lvl="1"/>
            <a:r>
              <a:rPr lang="en-US" altLang="en-US" b="0" dirty="0">
                <a:solidFill>
                  <a:srgbClr val="C00000"/>
                </a:solidFill>
                <a:latin typeface="Comic Sans MS" panose="030F0702030302020204" pitchFamily="66" charset="0"/>
              </a:rPr>
              <a:t>Pool of threads </a:t>
            </a:r>
            <a:r>
              <a:rPr lang="en-US" altLang="en-US" b="0" dirty="0">
                <a:latin typeface="Comic Sans MS" panose="030F0702030302020204" pitchFamily="66" charset="0"/>
              </a:rPr>
              <a:t>created and are allocated work, but do not terminate until cleanup.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Better performance, but potential waste of system resources.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Suppose that a system pursuing extremely high throughput and low latency services, which mode it should select?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Nondeterminism </a:t>
            </a:r>
            <a:r>
              <a:rPr>
                <a:sym typeface="+mn-ea"/>
              </a:rPr>
              <a:t>非确定性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111</a:t>
            </a:fld>
            <a:endParaRPr lang="zh-CN" altLang="en-US"/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2439988" y="1296035"/>
            <a:ext cx="7489825" cy="2259013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>
                <a:latin typeface="Bodoni MT" panose="02070603080606020203" pitchFamily="18" charset="0"/>
              </a:rPr>
              <a:t>. . .</a:t>
            </a:r>
          </a:p>
          <a:p>
            <a:r>
              <a:rPr lang="en-US" altLang="en-US" dirty="0" err="1">
                <a:latin typeface="Bodoni MT" panose="02070603080606020203" pitchFamily="18" charset="0"/>
              </a:rPr>
              <a:t>printf</a:t>
            </a:r>
            <a:r>
              <a:rPr lang="en-US" altLang="en-US" dirty="0">
                <a:latin typeface="Bodoni MT" panose="02070603080606020203" pitchFamily="18" charset="0"/>
              </a:rPr>
              <a:t> ( "Thread %d &gt; </a:t>
            </a:r>
            <a:r>
              <a:rPr lang="en-US" altLang="en-US" dirty="0" err="1">
                <a:latin typeface="Bodoni MT" panose="02070603080606020203" pitchFamily="18" charset="0"/>
              </a:rPr>
              <a:t>my_val</a:t>
            </a:r>
            <a:r>
              <a:rPr lang="en-US" altLang="en-US" dirty="0">
                <a:latin typeface="Bodoni MT" panose="02070603080606020203" pitchFamily="18" charset="0"/>
              </a:rPr>
              <a:t> = %d\n" , </a:t>
            </a:r>
            <a:br>
              <a:rPr lang="en-US" altLang="en-US" dirty="0">
                <a:latin typeface="Bodoni MT" panose="02070603080606020203" pitchFamily="18" charset="0"/>
              </a:rPr>
            </a:br>
            <a:r>
              <a:rPr lang="en-US" altLang="en-US" dirty="0">
                <a:latin typeface="Bodoni MT" panose="02070603080606020203" pitchFamily="18" charset="0"/>
              </a:rPr>
              <a:t>              </a:t>
            </a:r>
            <a:r>
              <a:rPr lang="en-US" altLang="en-US" dirty="0" err="1">
                <a:latin typeface="Bodoni MT" panose="02070603080606020203" pitchFamily="18" charset="0"/>
              </a:rPr>
              <a:t>my_tid</a:t>
            </a:r>
            <a:r>
              <a:rPr lang="en-US" altLang="en-US" dirty="0">
                <a:latin typeface="Bodoni MT" panose="02070603080606020203" pitchFamily="18" charset="0"/>
              </a:rPr>
              <a:t> , </a:t>
            </a:r>
            <a:r>
              <a:rPr lang="en-US" altLang="en-US" dirty="0" err="1">
                <a:latin typeface="Bodoni MT" panose="02070603080606020203" pitchFamily="18" charset="0"/>
              </a:rPr>
              <a:t>my_x</a:t>
            </a:r>
            <a:r>
              <a:rPr lang="en-US" altLang="en-US" dirty="0">
                <a:latin typeface="Bodoni MT" panose="02070603080606020203" pitchFamily="18" charset="0"/>
              </a:rPr>
              <a:t> ) ;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. . .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6472238" y="4032885"/>
            <a:ext cx="36004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latin typeface="NimbusMonL-Regu-Extend_850"/>
              </a:rPr>
              <a:t>Thread </a:t>
            </a:r>
            <a:r>
              <a:rPr lang="en-US" altLang="en-US" sz="2400">
                <a:latin typeface="NimbusRomNo9L-Regu"/>
              </a:rPr>
              <a:t>0 </a:t>
            </a:r>
            <a:r>
              <a:rPr lang="en-US" altLang="en-US" sz="2400">
                <a:latin typeface="CMMI10"/>
              </a:rPr>
              <a:t>&gt; </a:t>
            </a:r>
            <a:r>
              <a:rPr lang="en-US" altLang="en-US" sz="2400">
                <a:latin typeface="NimbusMonL-Regu-Extend_850"/>
              </a:rPr>
              <a:t>my_val </a:t>
            </a:r>
            <a:r>
              <a:rPr lang="en-US" altLang="en-US" sz="2400">
                <a:latin typeface="NimbusRomNo9L-Regu"/>
              </a:rPr>
              <a:t>= 7</a:t>
            </a:r>
          </a:p>
          <a:p>
            <a:r>
              <a:rPr lang="en-US" altLang="en-US" sz="2400">
                <a:latin typeface="NimbusMonL-Regu-Extend_850"/>
              </a:rPr>
              <a:t>Thread </a:t>
            </a:r>
            <a:r>
              <a:rPr lang="en-US" altLang="en-US" sz="2400">
                <a:latin typeface="NimbusRomNo9L-Regu"/>
              </a:rPr>
              <a:t>1 </a:t>
            </a:r>
            <a:r>
              <a:rPr lang="en-US" altLang="en-US" sz="2400">
                <a:latin typeface="CMMI10"/>
              </a:rPr>
              <a:t>&gt; </a:t>
            </a:r>
            <a:r>
              <a:rPr lang="en-US" altLang="en-US" sz="2400">
                <a:latin typeface="NimbusMonL-Regu-Extend_850"/>
              </a:rPr>
              <a:t>my_val </a:t>
            </a:r>
            <a:r>
              <a:rPr lang="en-US" altLang="en-US" sz="2400">
                <a:latin typeface="NimbusRomNo9L-Regu"/>
              </a:rPr>
              <a:t>= 19</a:t>
            </a:r>
            <a:endParaRPr lang="en-US" altLang="en-US" sz="2400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2439988" y="4752023"/>
            <a:ext cx="38893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 dirty="0">
                <a:latin typeface="NimbusMonL-Regu-Extend_850"/>
              </a:rPr>
              <a:t>Thread </a:t>
            </a:r>
            <a:r>
              <a:rPr lang="en-US" altLang="en-US" sz="2400" dirty="0">
                <a:latin typeface="NimbusRomNo9L-Regu"/>
              </a:rPr>
              <a:t>1 </a:t>
            </a:r>
            <a:r>
              <a:rPr lang="en-US" altLang="en-US" sz="2400" dirty="0">
                <a:latin typeface="CMMI10"/>
              </a:rPr>
              <a:t>&gt; </a:t>
            </a:r>
            <a:r>
              <a:rPr lang="en-US" altLang="en-US" sz="2400" dirty="0" err="1">
                <a:latin typeface="NimbusMonL-Regu-Extend_850"/>
              </a:rPr>
              <a:t>my_val</a:t>
            </a:r>
            <a:r>
              <a:rPr lang="en-US" altLang="en-US" sz="2400" dirty="0">
                <a:latin typeface="NimbusMonL-Regu-Extend_850"/>
              </a:rPr>
              <a:t> </a:t>
            </a:r>
            <a:r>
              <a:rPr lang="en-US" altLang="en-US" sz="2400" dirty="0">
                <a:latin typeface="NimbusRomNo9L-Regu"/>
              </a:rPr>
              <a:t>= 19</a:t>
            </a:r>
            <a:endParaRPr lang="en-US" altLang="en-US" sz="2400" dirty="0"/>
          </a:p>
          <a:p>
            <a:r>
              <a:rPr lang="en-US" altLang="en-US" sz="2400" dirty="0">
                <a:latin typeface="NimbusMonL-Regu-Extend_850"/>
              </a:rPr>
              <a:t>Thread </a:t>
            </a:r>
            <a:r>
              <a:rPr lang="en-US" altLang="en-US" sz="2400" dirty="0">
                <a:latin typeface="NimbusRomNo9L-Regu"/>
              </a:rPr>
              <a:t>0 </a:t>
            </a:r>
            <a:r>
              <a:rPr lang="en-US" altLang="en-US" sz="2400" dirty="0">
                <a:latin typeface="CMMI10"/>
              </a:rPr>
              <a:t>&gt; </a:t>
            </a:r>
            <a:r>
              <a:rPr lang="en-US" altLang="en-US" sz="2400" dirty="0" err="1">
                <a:latin typeface="NimbusMonL-Regu-Extend_850"/>
              </a:rPr>
              <a:t>my_val</a:t>
            </a:r>
            <a:r>
              <a:rPr lang="en-US" altLang="en-US" sz="2400" dirty="0">
                <a:latin typeface="NimbusMonL-Regu-Extend_850"/>
              </a:rPr>
              <a:t> </a:t>
            </a:r>
            <a:r>
              <a:rPr lang="en-US" altLang="en-US" sz="2400" dirty="0">
                <a:latin typeface="NimbusRomNo9L-Regu"/>
              </a:rPr>
              <a:t>= 7</a:t>
            </a:r>
          </a:p>
        </p:txBody>
      </p:sp>
      <p:pic>
        <p:nvPicPr>
          <p:cNvPr id="124934" name="Picture 13" descr="C:\Documents and Settings\liszka\Local Settings\Temporary Internet Files\Content.IE5\60RV4HYO\MC90043979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22728">
            <a:off x="3314700" y="3105785"/>
            <a:ext cx="1512888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5" name="Picture 13" descr="C:\Documents and Settings\liszka\Local Settings\Temporary Internet Files\Content.IE5\60RV4HYO\MC900439799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57650">
            <a:off x="6636544" y="2682716"/>
            <a:ext cx="1511300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Nondeterminism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112</a:t>
            </a:fld>
            <a:endParaRPr lang="zh-CN" altLang="en-US"/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1792605" y="1224280"/>
            <a:ext cx="7964170" cy="117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dirty="0" err="1">
                <a:latin typeface="Bodoni MT" panose="02070603080606020203" pitchFamily="18" charset="0"/>
              </a:rPr>
              <a:t>my_val</a:t>
            </a:r>
            <a:r>
              <a:rPr lang="en-US" altLang="en-US" dirty="0">
                <a:latin typeface="Bodoni MT" panose="02070603080606020203" pitchFamily="18" charset="0"/>
              </a:rPr>
              <a:t> = </a:t>
            </a:r>
            <a:r>
              <a:rPr lang="en-US" altLang="en-US" dirty="0" err="1">
                <a:latin typeface="Bodoni MT" panose="02070603080606020203" pitchFamily="18" charset="0"/>
              </a:rPr>
              <a:t>Compute_val</a:t>
            </a:r>
            <a:r>
              <a:rPr lang="en-US" altLang="en-US" dirty="0">
                <a:latin typeface="Bodoni MT" panose="02070603080606020203" pitchFamily="18" charset="0"/>
              </a:rPr>
              <a:t> ( </a:t>
            </a:r>
            <a:r>
              <a:rPr lang="en-US" altLang="en-US" dirty="0" err="1">
                <a:latin typeface="Bodoni MT" panose="02070603080606020203" pitchFamily="18" charset="0"/>
              </a:rPr>
              <a:t>my_rank</a:t>
            </a:r>
            <a:r>
              <a:rPr lang="en-US" altLang="en-US" dirty="0">
                <a:latin typeface="Bodoni MT" panose="02070603080606020203" pitchFamily="18" charset="0"/>
              </a:rPr>
              <a:t> ) ;</a:t>
            </a:r>
          </a:p>
          <a:p>
            <a:r>
              <a:rPr lang="en-US" altLang="en-US" dirty="0">
                <a:latin typeface="Bodoni MT" panose="02070603080606020203" pitchFamily="18" charset="0"/>
              </a:rPr>
              <a:t>x += </a:t>
            </a:r>
            <a:r>
              <a:rPr lang="en-US" altLang="en-US" dirty="0" err="1">
                <a:latin typeface="Bodoni MT" panose="02070603080606020203" pitchFamily="18" charset="0"/>
              </a:rPr>
              <a:t>my_val</a:t>
            </a:r>
            <a:r>
              <a:rPr lang="en-US" altLang="en-US" dirty="0">
                <a:latin typeface="Bodoni MT" panose="02070603080606020203" pitchFamily="18" charset="0"/>
              </a:rPr>
              <a:t> ; // </a:t>
            </a:r>
            <a:r>
              <a:rPr lang="en-US" altLang="zh-CN" dirty="0">
                <a:latin typeface="Bodoni MT" panose="02070603080606020203" pitchFamily="18" charset="0"/>
              </a:rPr>
              <a:t>x is</a:t>
            </a:r>
            <a:r>
              <a:rPr lang="zh-CN" altLang="en-US" dirty="0">
                <a:latin typeface="Bodoni MT" panose="02070603080606020203" pitchFamily="18" charset="0"/>
              </a:rPr>
              <a:t> </a:t>
            </a:r>
            <a:r>
              <a:rPr lang="en-US" altLang="zh-CN" dirty="0">
                <a:latin typeface="Bodoni MT" panose="02070603080606020203" pitchFamily="18" charset="0"/>
              </a:rPr>
              <a:t>global variable</a:t>
            </a:r>
            <a:endParaRPr lang="en-US" altLang="en-US" dirty="0">
              <a:latin typeface="Bodoni MT" panose="02070603080606020203" pitchFamily="18" charset="0"/>
            </a:endParaRPr>
          </a:p>
        </p:txBody>
      </p:sp>
      <p:pic>
        <p:nvPicPr>
          <p:cNvPr id="1259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15" y="3100070"/>
            <a:ext cx="9352915" cy="287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Nondeterminism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113</a:t>
            </a:fld>
            <a:endParaRPr lang="zh-CN" altLang="en-US"/>
          </a:p>
        </p:txBody>
      </p:sp>
      <p:sp>
        <p:nvSpPr>
          <p:cNvPr id="126978" name="Content Placeholder 3"/>
          <p:cNvSpPr>
            <a:spLocks noGrp="1"/>
          </p:cNvSpPr>
          <p:nvPr>
            <p:ph idx="1"/>
          </p:nvPr>
        </p:nvSpPr>
        <p:spPr>
          <a:xfrm>
            <a:off x="1504315" y="1080135"/>
            <a:ext cx="10680700" cy="2962910"/>
          </a:xfrm>
        </p:spPr>
        <p:txBody>
          <a:bodyPr/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Race condition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Critical section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Mutually exclusive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Mutual exclusion lock (mutex, or simply lock)</a:t>
            </a: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3132455" y="4392930"/>
            <a:ext cx="6248400" cy="2072640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latin typeface="Bodoni MT" panose="02070603080606020203" pitchFamily="18" charset="0"/>
              </a:rPr>
              <a:t>my_val = Compute_val ( my_rank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Lock(&amp;add_my_val_lock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x += my_val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Unlock(&amp;add_my_val_lock ) ;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busy-waiting </a:t>
            </a:r>
            <a:r>
              <a:rPr>
                <a:sym typeface="+mn-ea"/>
              </a:rPr>
              <a:t>忙等待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114</a:t>
            </a:fld>
            <a:endParaRPr lang="zh-CN" altLang="en-US"/>
          </a:p>
        </p:txBody>
      </p:sp>
      <p:sp>
        <p:nvSpPr>
          <p:cNvPr id="128003" name="Rectangle 4"/>
          <p:cNvSpPr>
            <a:spLocks noChangeArrowheads="1"/>
          </p:cNvSpPr>
          <p:nvPr/>
        </p:nvSpPr>
        <p:spPr bwMode="auto">
          <a:xfrm>
            <a:off x="1792605" y="1440180"/>
            <a:ext cx="9838690" cy="3966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3600">
                <a:latin typeface="Bodoni MT" panose="02070603080606020203" pitchFamily="18" charset="0"/>
              </a:rPr>
              <a:t>my_val = Compute_val ( my_rank ) ;</a:t>
            </a:r>
          </a:p>
          <a:p>
            <a:r>
              <a:rPr lang="en-US" altLang="en-US" sz="3600">
                <a:latin typeface="Bodoni MT" panose="02070603080606020203" pitchFamily="18" charset="0"/>
              </a:rPr>
              <a:t>i f ( my_rank == 1)</a:t>
            </a:r>
          </a:p>
          <a:p>
            <a:r>
              <a:rPr lang="en-US" altLang="en-US" sz="3600">
                <a:latin typeface="Bodoni MT" panose="02070603080606020203" pitchFamily="18" charset="0"/>
              </a:rPr>
              <a:t>     whi l e ( ! ok_for_1 ) ;  /* </a:t>
            </a:r>
            <a:r>
              <a:rPr lang="en-US" altLang="en-US" sz="3600" i="1">
                <a:latin typeface="Bodoni MT" panose="02070603080606020203" pitchFamily="18" charset="0"/>
              </a:rPr>
              <a:t>Busy−wait loop </a:t>
            </a:r>
            <a:r>
              <a:rPr lang="en-US" altLang="en-US" sz="3600">
                <a:latin typeface="Bodoni MT" panose="02070603080606020203" pitchFamily="18" charset="0"/>
              </a:rPr>
              <a:t>*/</a:t>
            </a:r>
          </a:p>
          <a:p>
            <a:r>
              <a:rPr lang="pt-BR" altLang="en-US" sz="3600">
                <a:latin typeface="Bodoni MT" panose="02070603080606020203" pitchFamily="18" charset="0"/>
              </a:rPr>
              <a:t>x += my_val ;  /* </a:t>
            </a:r>
            <a:r>
              <a:rPr lang="pt-BR" altLang="en-US" sz="3600" i="1">
                <a:latin typeface="Bodoni MT" panose="02070603080606020203" pitchFamily="18" charset="0"/>
              </a:rPr>
              <a:t>Critical section </a:t>
            </a:r>
            <a:r>
              <a:rPr lang="pt-BR" altLang="en-US" sz="3600">
                <a:latin typeface="Bodoni MT" panose="02070603080606020203" pitchFamily="18" charset="0"/>
              </a:rPr>
              <a:t>*/</a:t>
            </a:r>
          </a:p>
          <a:p>
            <a:r>
              <a:rPr lang="en-US" altLang="en-US" sz="3600">
                <a:latin typeface="Bodoni MT" panose="02070603080606020203" pitchFamily="18" charset="0"/>
              </a:rPr>
              <a:t>i f ( my_rank == 0)</a:t>
            </a:r>
          </a:p>
          <a:p>
            <a:r>
              <a:rPr lang="en-US" altLang="en-US" sz="3600">
                <a:latin typeface="Bodoni MT" panose="02070603080606020203" pitchFamily="18" charset="0"/>
              </a:rPr>
              <a:t>     ok_for_1 = true ;  /* </a:t>
            </a:r>
            <a:r>
              <a:rPr lang="en-US" altLang="en-US" sz="3600" i="1">
                <a:latin typeface="Bodoni MT" panose="02070603080606020203" pitchFamily="18" charset="0"/>
              </a:rPr>
              <a:t>Let thread 1 update x </a:t>
            </a:r>
            <a:r>
              <a:rPr lang="en-US" altLang="en-US" sz="3600">
                <a:latin typeface="Bodoni MT" panose="02070603080606020203" pitchFamily="18" charset="0"/>
              </a:rPr>
              <a:t>*/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message-passing </a:t>
            </a:r>
            <a:r>
              <a:rPr>
                <a:sym typeface="+mn-ea"/>
              </a:rPr>
              <a:t>消息传递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115</a:t>
            </a:fld>
            <a:endParaRPr lang="zh-CN" altLang="en-US"/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1864360" y="1296035"/>
            <a:ext cx="9545320" cy="517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800">
                <a:latin typeface="Bodoni MT" panose="02070603080606020203" pitchFamily="18" charset="0"/>
              </a:rPr>
              <a:t>char message [ 1 0 0 ]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. . .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my_rank = Get_rank (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i f ( my_rank == 1) {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     sprintf ( message , "Greetings from process 1" ) ;</a:t>
            </a:r>
          </a:p>
          <a:p>
            <a:r>
              <a:rPr lang="da-DK" altLang="en-US" sz="2800">
                <a:latin typeface="Bodoni MT" panose="02070603080606020203" pitchFamily="18" charset="0"/>
              </a:rPr>
              <a:t>     Send ( message , MSG_CHAR , 100 , 0 )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} e l s e i f ( my_rank == 0) {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     Receive ( message , MSG_CHAR , 100 , 1 )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     printf ( "Process 0 &gt; Received: %s\n" , message ) ;</a:t>
            </a:r>
          </a:p>
          <a:p>
            <a:r>
              <a:rPr lang="en-US" altLang="en-US" sz="2800">
                <a:latin typeface="Bodoni MT" panose="02070603080606020203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226" y="5757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Partitioned Global Address Space Languages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116</a:t>
            </a:fld>
            <a:endParaRPr lang="zh-CN" altLang="en-US"/>
          </a:p>
        </p:txBody>
      </p:sp>
      <p:sp>
        <p:nvSpPr>
          <p:cNvPr id="130051" name="Rectangle 5"/>
          <p:cNvSpPr>
            <a:spLocks noChangeArrowheads="1"/>
          </p:cNvSpPr>
          <p:nvPr/>
        </p:nvSpPr>
        <p:spPr bwMode="auto">
          <a:xfrm>
            <a:off x="1215977" y="1656156"/>
            <a:ext cx="5258288" cy="474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pt-BR" altLang="en-US" sz="2400" dirty="0">
                <a:latin typeface="Bodoni MT" panose="02070603080606020203" pitchFamily="18" charset="0"/>
              </a:rPr>
              <a:t>shared i n t n = . . . ;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shared double x [ n ] , y [ n ] ;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private </a:t>
            </a:r>
            <a:r>
              <a:rPr lang="en-US" altLang="en-US" sz="2400" dirty="0" err="1">
                <a:latin typeface="Bodoni MT" panose="02070603080606020203" pitchFamily="18" charset="0"/>
              </a:rPr>
              <a:t>int</a:t>
            </a:r>
            <a:r>
              <a:rPr lang="en-US" altLang="en-US" sz="2400" dirty="0">
                <a:latin typeface="Bodoni MT" panose="02070603080606020203" pitchFamily="18" charset="0"/>
              </a:rPr>
              <a:t> 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 , </a:t>
            </a:r>
            <a:r>
              <a:rPr lang="en-US" altLang="en-US" sz="2400" dirty="0" err="1">
                <a:latin typeface="Bodoni MT" panose="02070603080606020203" pitchFamily="18" charset="0"/>
              </a:rPr>
              <a:t>my_first_element</a:t>
            </a:r>
            <a:r>
              <a:rPr lang="en-US" altLang="en-US" sz="2400" dirty="0">
                <a:latin typeface="Bodoni MT" panose="02070603080606020203" pitchFamily="18" charset="0"/>
              </a:rPr>
              <a:t> , </a:t>
            </a:r>
            <a:r>
              <a:rPr lang="en-US" altLang="en-US" sz="2400" dirty="0" err="1">
                <a:latin typeface="Bodoni MT" panose="02070603080606020203" pitchFamily="18" charset="0"/>
              </a:rPr>
              <a:t>my_last_element</a:t>
            </a:r>
            <a:r>
              <a:rPr lang="en-US" altLang="en-US" sz="2400" dirty="0">
                <a:latin typeface="Bodoni MT" panose="02070603080606020203" pitchFamily="18" charset="0"/>
              </a:rPr>
              <a:t> ;</a:t>
            </a:r>
          </a:p>
          <a:p>
            <a:r>
              <a:rPr lang="en-US" altLang="en-US" sz="2400" dirty="0" err="1">
                <a:latin typeface="Bodoni MT" panose="02070603080606020203" pitchFamily="18" charset="0"/>
              </a:rPr>
              <a:t>my_first_element</a:t>
            </a:r>
            <a:r>
              <a:rPr lang="en-US" altLang="en-US" sz="2400" dirty="0">
                <a:latin typeface="Bodoni MT" panose="02070603080606020203" pitchFamily="18" charset="0"/>
              </a:rPr>
              <a:t> = . . . ;</a:t>
            </a:r>
          </a:p>
          <a:p>
            <a:r>
              <a:rPr lang="en-US" altLang="en-US" sz="2400" dirty="0" err="1">
                <a:latin typeface="Bodoni MT" panose="02070603080606020203" pitchFamily="18" charset="0"/>
              </a:rPr>
              <a:t>my_last_element</a:t>
            </a:r>
            <a:r>
              <a:rPr lang="en-US" altLang="en-US" sz="2400" dirty="0">
                <a:latin typeface="Bodoni MT" panose="02070603080606020203" pitchFamily="18" charset="0"/>
              </a:rPr>
              <a:t> = . . . ;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/ * Initialize x and y  */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. . .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f o r (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 = </a:t>
            </a:r>
            <a:r>
              <a:rPr lang="en-US" altLang="en-US" sz="2400" dirty="0" err="1">
                <a:latin typeface="Bodoni MT" panose="02070603080606020203" pitchFamily="18" charset="0"/>
              </a:rPr>
              <a:t>my_first_element</a:t>
            </a:r>
            <a:r>
              <a:rPr lang="en-US" altLang="en-US" sz="2400" dirty="0">
                <a:latin typeface="Bodoni MT" panose="02070603080606020203" pitchFamily="18" charset="0"/>
              </a:rPr>
              <a:t> ;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 &lt;= </a:t>
            </a:r>
            <a:r>
              <a:rPr lang="en-US" altLang="en-US" sz="2400" dirty="0" err="1">
                <a:latin typeface="Bodoni MT" panose="02070603080606020203" pitchFamily="18" charset="0"/>
              </a:rPr>
              <a:t>my_last_element</a:t>
            </a:r>
            <a:r>
              <a:rPr lang="en-US" altLang="en-US" sz="2400" dirty="0">
                <a:latin typeface="Bodoni MT" panose="02070603080606020203" pitchFamily="18" charset="0"/>
              </a:rPr>
              <a:t> ;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++)</a:t>
            </a:r>
          </a:p>
          <a:p>
            <a:r>
              <a:rPr lang="en-US" altLang="en-US" sz="2400" dirty="0">
                <a:latin typeface="Bodoni MT" panose="02070603080606020203" pitchFamily="18" charset="0"/>
              </a:rPr>
              <a:t>     x [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 ] += y [ </a:t>
            </a:r>
            <a:r>
              <a:rPr lang="en-US" altLang="en-US" sz="2400" dirty="0" err="1">
                <a:latin typeface="Bodoni MT" panose="02070603080606020203" pitchFamily="18" charset="0"/>
              </a:rPr>
              <a:t>i</a:t>
            </a:r>
            <a:r>
              <a:rPr lang="en-US" altLang="en-US" sz="2400" dirty="0">
                <a:latin typeface="Bodoni MT" panose="02070603080606020203" pitchFamily="18" charset="0"/>
              </a:rPr>
              <a:t> ] ;</a:t>
            </a:r>
          </a:p>
        </p:txBody>
      </p:sp>
      <p:pic>
        <p:nvPicPr>
          <p:cNvPr id="1026" name="Picture 2" descr="https://ss3.bdstatic.com/70cFv8Sh_Q1YnxGkpoWK1HF6hhy/it/u=2883954185,4051267802&amp;fm=26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282" y="2088591"/>
            <a:ext cx="3980395" cy="191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s1.bdstatic.com/70cFuXSh_Q1YnxGkpoWK1HF6hhy/it/u=966737067,1736054690&amp;fm=26&amp;gp=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180" y="4176395"/>
            <a:ext cx="3434715" cy="258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760994" y="1512745"/>
            <a:ext cx="4279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Distributed Hash Table: Amazon </a:t>
            </a:r>
            <a:r>
              <a:rPr lang="en-US" altLang="zh-CN" dirty="0" err="1"/>
              <a:t>DynamoDB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Input and Output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117</a:t>
            </a:fld>
            <a:endParaRPr lang="zh-CN" altLang="en-US"/>
          </a:p>
        </p:txBody>
      </p:sp>
      <p:sp>
        <p:nvSpPr>
          <p:cNvPr id="131074" name="Content Placeholder 2"/>
          <p:cNvSpPr>
            <a:spLocks noGrp="1"/>
          </p:cNvSpPr>
          <p:nvPr>
            <p:ph idx="1"/>
          </p:nvPr>
        </p:nvSpPr>
        <p:spPr>
          <a:xfrm>
            <a:off x="640080" y="1512605"/>
            <a:ext cx="11521440" cy="4752261"/>
          </a:xfrm>
        </p:spPr>
        <p:txBody>
          <a:bodyPr/>
          <a:lstStyle/>
          <a:p>
            <a:r>
              <a:rPr lang="en-US" altLang="en-US" sz="3200" b="0" dirty="0"/>
              <a:t>In distributed memory programs, only process 0 will access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stdin</a:t>
            </a:r>
            <a:r>
              <a:rPr lang="en-US" altLang="en-US" sz="3200" b="0" dirty="0"/>
              <a:t>. In shared memory programs, only the master thread or thread 0 will access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stdin</a:t>
            </a:r>
            <a:r>
              <a:rPr lang="en-US" altLang="en-US" sz="3200" b="0" dirty="0"/>
              <a:t>. </a:t>
            </a:r>
            <a:br>
              <a:rPr lang="en-US" altLang="en-US" sz="3200" b="0" dirty="0"/>
            </a:br>
            <a:endParaRPr lang="en-US" altLang="en-US" sz="3200" b="0" dirty="0"/>
          </a:p>
          <a:p>
            <a:r>
              <a:rPr lang="en-US" altLang="en-US" sz="3200" b="0" dirty="0"/>
              <a:t>In both distributed memory and shared memory programs all the processes/threads can access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stdout</a:t>
            </a:r>
            <a:r>
              <a:rPr lang="en-US" altLang="en-US" sz="3200" b="0" dirty="0"/>
              <a:t> and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stderr</a:t>
            </a:r>
            <a:r>
              <a:rPr lang="en-US" altLang="en-US" sz="3200" b="0" dirty="0"/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Input and Output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118</a:t>
            </a:fld>
            <a:endParaRPr lang="zh-CN" altLang="en-US"/>
          </a:p>
        </p:txBody>
      </p:sp>
      <p:sp>
        <p:nvSpPr>
          <p:cNvPr id="1320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/>
              <a:t>However, because of the indeterminacy of the order of output to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stdout</a:t>
            </a:r>
            <a:r>
              <a:rPr lang="en-US" altLang="en-US" sz="3200" b="0" dirty="0"/>
              <a:t>, in most cases only a single process/thread will be used for all output to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stdout</a:t>
            </a:r>
            <a:r>
              <a:rPr lang="en-US" altLang="en-US" sz="3200" b="0" dirty="0"/>
              <a:t> other than debugging output.</a:t>
            </a:r>
          </a:p>
          <a:p>
            <a:endParaRPr lang="en-US" altLang="en-US" sz="3200" b="0" dirty="0"/>
          </a:p>
          <a:p>
            <a:r>
              <a:rPr lang="en-US" altLang="en-US" sz="3200" b="0" dirty="0"/>
              <a:t>Debug output should always include the rank or id of the process/thread that’s generating the output.</a:t>
            </a:r>
          </a:p>
          <a:p>
            <a:pPr lvl="1"/>
            <a:r>
              <a:rPr lang="en-US" altLang="en-US" sz="2800" b="0" dirty="0" err="1"/>
              <a:t>Printf</a:t>
            </a:r>
            <a:r>
              <a:rPr lang="en-US" altLang="en-US" sz="2800" b="0" dirty="0"/>
              <a:t>(“Rank %d, access wrong memory address”, </a:t>
            </a:r>
            <a:r>
              <a:rPr lang="en-US" altLang="en-US" sz="2800" b="0" dirty="0" err="1"/>
              <a:t>rank_id</a:t>
            </a:r>
            <a:r>
              <a:rPr lang="en-US" altLang="en-US" sz="2800" b="0" dirty="0"/>
              <a:t>).</a:t>
            </a:r>
          </a:p>
          <a:p>
            <a:pPr marL="0" indent="0">
              <a:buNone/>
            </a:pPr>
            <a:endParaRPr lang="en-US" altLang="en-US" sz="2800" b="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Input and Output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119</a:t>
            </a:fld>
            <a:endParaRPr lang="zh-CN" altLang="en-US"/>
          </a:p>
        </p:txBody>
      </p:sp>
      <p:sp>
        <p:nvSpPr>
          <p:cNvPr id="1331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0" dirty="0"/>
              <a:t>Only a single process/thread will attempt to access any single file other than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stdin</a:t>
            </a:r>
            <a:r>
              <a:rPr lang="en-US" altLang="en-US" sz="3200" b="0" dirty="0"/>
              <a:t>,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stdout</a:t>
            </a:r>
            <a:r>
              <a:rPr lang="en-US" altLang="en-US" sz="3200" b="0" dirty="0"/>
              <a:t>, or </a:t>
            </a:r>
            <a:r>
              <a:rPr lang="en-US" altLang="en-US" sz="3200" b="0" i="1" dirty="0" err="1">
                <a:solidFill>
                  <a:srgbClr val="00B0F0"/>
                </a:solidFill>
              </a:rPr>
              <a:t>stderr</a:t>
            </a:r>
            <a:r>
              <a:rPr lang="en-US" altLang="en-US" sz="3200" b="0" dirty="0"/>
              <a:t>. So, for example, each process/thread can open its own, private file for reading or writing, but no two processes/threads will open the same file.</a:t>
            </a:r>
          </a:p>
          <a:p>
            <a:pPr marL="0" indent="0">
              <a:buNone/>
            </a:pPr>
            <a:r>
              <a:rPr lang="zh-CN" altLang="en-US" sz="3200" b="0" dirty="0"/>
              <a:t>   （高性能计算文件系统会详细介绍）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120</a:t>
            </a:fld>
            <a:endParaRPr lang="zh-CN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99223" y="3930015"/>
            <a:ext cx="7772400" cy="708025"/>
          </a:xfrm>
        </p:spPr>
        <p:txBody>
          <a:bodyPr/>
          <a:lstStyle/>
          <a:p>
            <a:pPr>
              <a:defRPr/>
            </a:pPr>
            <a:r>
              <a:rPr lang="en-US" sz="5400" dirty="0"/>
              <a:t>Performance</a:t>
            </a:r>
          </a:p>
        </p:txBody>
      </p:sp>
      <p:pic>
        <p:nvPicPr>
          <p:cNvPr id="134147" name="Picture 4" descr="View Detai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270" y="1728470"/>
            <a:ext cx="1979295" cy="1979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Speedup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121</a:t>
            </a:fld>
            <a:endParaRPr lang="zh-CN" altLang="en-US"/>
          </a:p>
        </p:txBody>
      </p:sp>
      <p:sp>
        <p:nvSpPr>
          <p:cNvPr id="135170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943100"/>
          </a:xfrm>
        </p:spPr>
        <p:txBody>
          <a:bodyPr/>
          <a:lstStyle/>
          <a:p>
            <a:r>
              <a:rPr lang="en-US" altLang="en-US" dirty="0"/>
              <a:t>Number of cores = p</a:t>
            </a:r>
          </a:p>
          <a:p>
            <a:r>
              <a:rPr lang="en-US" altLang="en-US" dirty="0"/>
              <a:t>Serial run-time =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serial</a:t>
            </a:r>
            <a:endParaRPr lang="en-US" altLang="en-US" baseline="-25000" dirty="0"/>
          </a:p>
          <a:p>
            <a:r>
              <a:rPr lang="en-US" altLang="en-US" dirty="0"/>
              <a:t>Parallel run-time =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parallel</a:t>
            </a:r>
            <a:endParaRPr lang="en-US" altLang="en-US" baseline="-25000" dirty="0"/>
          </a:p>
          <a:p>
            <a:endParaRPr lang="en-US" altLang="en-US" dirty="0"/>
          </a:p>
        </p:txBody>
      </p:sp>
      <p:pic>
        <p:nvPicPr>
          <p:cNvPr id="135174" name="Picture 2" descr="View Detai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60" y="1152525"/>
            <a:ext cx="1842770" cy="184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3"/>
          <p:cNvGrpSpPr/>
          <p:nvPr/>
        </p:nvGrpSpPr>
        <p:grpSpPr bwMode="auto">
          <a:xfrm>
            <a:off x="1343025" y="3888740"/>
            <a:ext cx="7715885" cy="1548848"/>
            <a:chOff x="2411760" y="2215982"/>
            <a:chExt cx="3047023" cy="1302993"/>
          </a:xfrm>
        </p:grpSpPr>
        <p:sp>
          <p:nvSpPr>
            <p:cNvPr id="9" name="Rectangle 4"/>
            <p:cNvSpPr/>
            <p:nvPr/>
          </p:nvSpPr>
          <p:spPr>
            <a:xfrm>
              <a:off x="4050838" y="2215982"/>
              <a:ext cx="1407945" cy="5945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4000" kern="0" dirty="0">
                  <a:solidFill>
                    <a:srgbClr val="003399"/>
                  </a:solidFill>
                  <a:latin typeface="Arial" panose="020B0604020202020204"/>
                </a:rPr>
                <a:t>T</a:t>
              </a:r>
              <a:r>
                <a:rPr lang="en-US" sz="4000" kern="0" baseline="-25000" dirty="0">
                  <a:solidFill>
                    <a:srgbClr val="003399"/>
                  </a:solidFill>
                  <a:latin typeface="Arial" panose="020B0604020202020204"/>
                </a:rPr>
                <a:t>serial </a:t>
              </a:r>
              <a:endParaRPr lang="en-US" sz="4000" dirty="0"/>
            </a:p>
          </p:txBody>
        </p:sp>
        <p:sp>
          <p:nvSpPr>
            <p:cNvPr id="10" name="Rectangle 5"/>
            <p:cNvSpPr/>
            <p:nvPr/>
          </p:nvSpPr>
          <p:spPr>
            <a:xfrm>
              <a:off x="3780021" y="2924406"/>
              <a:ext cx="951141" cy="5945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4000" kern="0" dirty="0">
                  <a:solidFill>
                    <a:srgbClr val="003399"/>
                  </a:solidFill>
                  <a:latin typeface="Arial" panose="020B0604020202020204"/>
                </a:rPr>
                <a:t>    </a:t>
              </a:r>
              <a:r>
                <a:rPr lang="en-US" sz="4000" kern="0" dirty="0" err="1">
                  <a:solidFill>
                    <a:srgbClr val="003399"/>
                  </a:solidFill>
                  <a:latin typeface="Arial" panose="020B0604020202020204"/>
                </a:rPr>
                <a:t>T</a:t>
              </a:r>
              <a:r>
                <a:rPr lang="en-US" sz="4000" kern="0" baseline="-25000" dirty="0" err="1">
                  <a:solidFill>
                    <a:srgbClr val="003399"/>
                  </a:solidFill>
                  <a:latin typeface="Arial" panose="020B0604020202020204"/>
                </a:rPr>
                <a:t>parallel</a:t>
              </a:r>
              <a:endParaRPr lang="en-US" sz="4000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angle 6"/>
            <p:cNvSpPr/>
            <p:nvPr/>
          </p:nvSpPr>
          <p:spPr>
            <a:xfrm>
              <a:off x="2411760" y="2492363"/>
              <a:ext cx="1599422" cy="5945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altLang="zh-CN" sz="4000" kern="0" dirty="0">
                  <a:solidFill>
                    <a:srgbClr val="003399"/>
                  </a:solidFill>
                  <a:latin typeface="Arial" panose="020B0604020202020204"/>
                </a:rPr>
                <a:t>Speedup (</a:t>
              </a:r>
              <a:r>
                <a:rPr lang="en-US" sz="4000" kern="0" dirty="0">
                  <a:solidFill>
                    <a:srgbClr val="003399"/>
                  </a:solidFill>
                  <a:latin typeface="Arial" panose="020B0604020202020204"/>
                </a:rPr>
                <a:t>S) = </a:t>
              </a:r>
              <a:endParaRPr lang="en-US" dirty="0"/>
            </a:p>
          </p:txBody>
        </p:sp>
        <p:cxnSp>
          <p:nvCxnSpPr>
            <p:cNvPr id="12" name="Straight Connector 11"/>
            <p:cNvCxnSpPr>
              <a:cxnSpLocks noChangeShapeType="1"/>
            </p:cNvCxnSpPr>
            <p:nvPr/>
          </p:nvCxnSpPr>
          <p:spPr bwMode="auto">
            <a:xfrm flipV="1">
              <a:off x="3948673" y="2906053"/>
              <a:ext cx="829885" cy="11657"/>
            </a:xfrm>
            <a:prstGeom prst="line">
              <a:avLst/>
            </a:prstGeom>
            <a:noFill/>
            <a:ln w="38100" algn="ctr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Efficiency of a parallel program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122</a:t>
            </a:fld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2943860" y="3168333"/>
            <a:ext cx="11112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E = </a:t>
            </a:r>
            <a:endParaRPr lang="en-US" dirty="0"/>
          </a:p>
        </p:txBody>
      </p:sp>
      <p:grpSp>
        <p:nvGrpSpPr>
          <p:cNvPr id="137220" name="Group 19"/>
          <p:cNvGrpSpPr/>
          <p:nvPr/>
        </p:nvGrpSpPr>
        <p:grpSpPr bwMode="auto">
          <a:xfrm>
            <a:off x="5680710" y="1944369"/>
            <a:ext cx="1655763" cy="1243944"/>
            <a:chOff x="3635896" y="2204864"/>
            <a:chExt cx="1656184" cy="1243878"/>
          </a:xfrm>
        </p:grpSpPr>
        <p:sp>
          <p:nvSpPr>
            <p:cNvPr id="10" name="Rectangle 9"/>
            <p:cNvSpPr/>
            <p:nvPr/>
          </p:nvSpPr>
          <p:spPr>
            <a:xfrm>
              <a:off x="3707352" y="2204864"/>
              <a:ext cx="1042538" cy="5231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800" kern="0" dirty="0">
                  <a:solidFill>
                    <a:srgbClr val="003399"/>
                  </a:solidFill>
                  <a:latin typeface="Arial" panose="020B0604020202020204"/>
                </a:rPr>
                <a:t>T</a:t>
              </a:r>
              <a:r>
                <a:rPr lang="en-US" sz="2800" kern="0" baseline="-25000" dirty="0">
                  <a:solidFill>
                    <a:srgbClr val="003399"/>
                  </a:solidFill>
                  <a:latin typeface="Arial" panose="020B0604020202020204"/>
                </a:rPr>
                <a:t>serial </a:t>
              </a:r>
              <a:endParaRPr lang="en-US" sz="28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80396" y="2925550"/>
              <a:ext cx="1175621" cy="5231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800" kern="0" dirty="0">
                  <a:solidFill>
                    <a:srgbClr val="003399"/>
                  </a:solidFill>
                  <a:latin typeface="Arial" panose="020B0604020202020204"/>
                </a:rPr>
                <a:t>T</a:t>
              </a:r>
              <a:r>
                <a:rPr lang="en-US" sz="2800" kern="0" baseline="-25000" dirty="0">
                  <a:solidFill>
                    <a:srgbClr val="003399"/>
                  </a:solidFill>
                  <a:latin typeface="Arial" panose="020B0604020202020204"/>
                </a:rPr>
                <a:t>parallel</a:t>
              </a:r>
              <a:endParaRPr lang="en-US" sz="2800" dirty="0">
                <a:solidFill>
                  <a:srgbClr val="000000"/>
                </a:solidFill>
              </a:endParaRPr>
            </a:p>
          </p:txBody>
        </p:sp>
        <p:cxnSp>
          <p:nvCxnSpPr>
            <p:cNvPr id="137236" name="Straight Connector 13"/>
            <p:cNvCxnSpPr>
              <a:cxnSpLocks noChangeShapeType="1"/>
            </p:cNvCxnSpPr>
            <p:nvPr/>
          </p:nvCxnSpPr>
          <p:spPr bwMode="auto">
            <a:xfrm>
              <a:off x="3635896" y="2924944"/>
              <a:ext cx="1656184" cy="0"/>
            </a:xfrm>
            <a:prstGeom prst="line">
              <a:avLst/>
            </a:prstGeom>
            <a:noFill/>
            <a:ln w="38100" algn="ctr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Rectangle 14"/>
          <p:cNvSpPr/>
          <p:nvPr/>
        </p:nvSpPr>
        <p:spPr>
          <a:xfrm>
            <a:off x="3993198" y="2807970"/>
            <a:ext cx="668337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S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993198" y="3744595"/>
            <a:ext cx="6127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p </a:t>
            </a:r>
            <a:endParaRPr lang="en-US" dirty="0"/>
          </a:p>
        </p:txBody>
      </p:sp>
      <p:cxnSp>
        <p:nvCxnSpPr>
          <p:cNvPr id="137223" name="Straight Connector 16"/>
          <p:cNvCxnSpPr>
            <a:cxnSpLocks noChangeShapeType="1"/>
          </p:cNvCxnSpPr>
          <p:nvPr/>
        </p:nvCxnSpPr>
        <p:spPr bwMode="auto">
          <a:xfrm>
            <a:off x="3967798" y="3600133"/>
            <a:ext cx="719137" cy="0"/>
          </a:xfrm>
          <a:prstGeom prst="line">
            <a:avLst/>
          </a:prstGeom>
          <a:noFill/>
          <a:ln w="38100" algn="ctr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18"/>
          <p:cNvSpPr/>
          <p:nvPr/>
        </p:nvSpPr>
        <p:spPr>
          <a:xfrm>
            <a:off x="4744085" y="3168333"/>
            <a:ext cx="627063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=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968048" y="3744595"/>
            <a:ext cx="6127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p </a:t>
            </a:r>
            <a:endParaRPr lang="en-US" dirty="0"/>
          </a:p>
        </p:txBody>
      </p:sp>
      <p:sp>
        <p:nvSpPr>
          <p:cNvPr id="137226" name="Double Bracket 23"/>
          <p:cNvSpPr>
            <a:spLocks noChangeArrowheads="1"/>
          </p:cNvSpPr>
          <p:nvPr/>
        </p:nvSpPr>
        <p:spPr bwMode="auto">
          <a:xfrm>
            <a:off x="5536248" y="1944370"/>
            <a:ext cx="1944687" cy="1655763"/>
          </a:xfrm>
          <a:prstGeom prst="bracketPair">
            <a:avLst>
              <a:gd name="adj" fmla="val 16667"/>
            </a:avLst>
          </a:prstGeom>
          <a:noFill/>
          <a:ln w="9525" algn="ctr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cxnSp>
        <p:nvCxnSpPr>
          <p:cNvPr id="137227" name="Straight Connector 24"/>
          <p:cNvCxnSpPr>
            <a:cxnSpLocks noChangeShapeType="1"/>
          </p:cNvCxnSpPr>
          <p:nvPr/>
        </p:nvCxnSpPr>
        <p:spPr bwMode="auto">
          <a:xfrm>
            <a:off x="5320348" y="3673158"/>
            <a:ext cx="2160587" cy="0"/>
          </a:xfrm>
          <a:prstGeom prst="line">
            <a:avLst/>
          </a:prstGeom>
          <a:noFill/>
          <a:ln w="38100" algn="ctr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26"/>
          <p:cNvSpPr/>
          <p:nvPr/>
        </p:nvSpPr>
        <p:spPr>
          <a:xfrm>
            <a:off x="7768273" y="3168333"/>
            <a:ext cx="627062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= </a:t>
            </a:r>
            <a:endParaRPr lang="en-US" dirty="0"/>
          </a:p>
        </p:txBody>
      </p:sp>
      <p:grpSp>
        <p:nvGrpSpPr>
          <p:cNvPr id="137229" name="Group 27"/>
          <p:cNvGrpSpPr/>
          <p:nvPr/>
        </p:nvGrpSpPr>
        <p:grpSpPr bwMode="auto">
          <a:xfrm>
            <a:off x="8488998" y="2952432"/>
            <a:ext cx="1718932" cy="1243944"/>
            <a:chOff x="3635896" y="2204864"/>
            <a:chExt cx="1719960" cy="1243878"/>
          </a:xfrm>
        </p:grpSpPr>
        <p:sp>
          <p:nvSpPr>
            <p:cNvPr id="29" name="Rectangle 28"/>
            <p:cNvSpPr/>
            <p:nvPr/>
          </p:nvSpPr>
          <p:spPr>
            <a:xfrm>
              <a:off x="3707376" y="2204864"/>
              <a:ext cx="1042896" cy="5231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800" kern="0" dirty="0">
                  <a:solidFill>
                    <a:srgbClr val="003399"/>
                  </a:solidFill>
                  <a:latin typeface="Arial" panose="020B0604020202020204"/>
                </a:rPr>
                <a:t>T</a:t>
              </a:r>
              <a:r>
                <a:rPr lang="en-US" sz="2800" kern="0" baseline="-25000" dirty="0">
                  <a:solidFill>
                    <a:srgbClr val="003399"/>
                  </a:solidFill>
                  <a:latin typeface="Arial" panose="020B0604020202020204"/>
                </a:rPr>
                <a:t>serial </a:t>
              </a:r>
              <a:endParaRPr lang="en-US" sz="28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780444" y="2925550"/>
              <a:ext cx="1575412" cy="5231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sz="2800" kern="0" dirty="0">
                  <a:solidFill>
                    <a:srgbClr val="003399"/>
                  </a:solidFill>
                  <a:latin typeface="Arial" panose="020B0604020202020204"/>
                </a:rPr>
                <a:t>p  T</a:t>
              </a:r>
              <a:r>
                <a:rPr lang="en-US" sz="2800" kern="0" baseline="-25000" dirty="0">
                  <a:solidFill>
                    <a:srgbClr val="003399"/>
                  </a:solidFill>
                  <a:latin typeface="Arial" panose="020B0604020202020204"/>
                </a:rPr>
                <a:t>parallel</a:t>
              </a:r>
              <a:endParaRPr lang="en-US" sz="2800" dirty="0">
                <a:solidFill>
                  <a:srgbClr val="000000"/>
                </a:solidFill>
              </a:endParaRPr>
            </a:p>
          </p:txBody>
        </p:sp>
        <p:cxnSp>
          <p:nvCxnSpPr>
            <p:cNvPr id="137233" name="Straight Connector 30"/>
            <p:cNvCxnSpPr>
              <a:cxnSpLocks noChangeShapeType="1"/>
            </p:cNvCxnSpPr>
            <p:nvPr/>
          </p:nvCxnSpPr>
          <p:spPr bwMode="auto">
            <a:xfrm>
              <a:off x="3635896" y="2924944"/>
              <a:ext cx="1656184" cy="0"/>
            </a:xfrm>
            <a:prstGeom prst="line">
              <a:avLst/>
            </a:prstGeom>
            <a:noFill/>
            <a:ln w="38100" algn="ctr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8371" y="5757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Speedups and efficiencies of a parallel program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123</a:t>
            </a:fld>
            <a:endParaRPr lang="zh-CN" altLang="en-US"/>
          </a:p>
        </p:txBody>
      </p:sp>
      <p:pic>
        <p:nvPicPr>
          <p:cNvPr id="1382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30" y="1872615"/>
            <a:ext cx="78041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9137185" y="2304415"/>
            <a:ext cx="13519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Perfect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2516" y="5757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Speedups and efficiencies of parallel program on different problem sizes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124</a:t>
            </a:fld>
            <a:endParaRPr lang="zh-CN" altLang="en-US"/>
          </a:p>
        </p:txBody>
      </p:sp>
      <p:pic>
        <p:nvPicPr>
          <p:cNvPr id="139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60" y="2016274"/>
            <a:ext cx="7252970" cy="3501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9486BC-DDB6-BA4D-928B-ED14E6DF4C36}"/>
              </a:ext>
            </a:extLst>
          </p:cNvPr>
          <p:cNvSpPr txBox="1"/>
          <p:nvPr/>
        </p:nvSpPr>
        <p:spPr>
          <a:xfrm>
            <a:off x="7893130" y="2815620"/>
            <a:ext cx="4626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omic Sans MS" panose="030F0902030302020204" pitchFamily="66" charset="0"/>
              </a:rPr>
              <a:t>e.g.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endParaRPr lang="en-US" altLang="zh-CN" sz="2400" dirty="0">
              <a:latin typeface="Comic Sans MS" panose="030F0902030302020204" pitchFamily="66" charset="0"/>
            </a:endParaRPr>
          </a:p>
          <a:p>
            <a:r>
              <a:rPr lang="en-US" altLang="zh-CN" sz="2400" dirty="0">
                <a:latin typeface="Comic Sans MS" panose="030F0902030302020204" pitchFamily="66" charset="0"/>
              </a:rPr>
              <a:t>Original: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sum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of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1000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elements</a:t>
            </a:r>
          </a:p>
          <a:p>
            <a:r>
              <a:rPr lang="en-US" altLang="zh-CN" sz="2400" dirty="0">
                <a:latin typeface="Comic Sans MS" panose="030F0902030302020204" pitchFamily="66" charset="0"/>
              </a:rPr>
              <a:t>Half: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sum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of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500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elements</a:t>
            </a:r>
          </a:p>
          <a:p>
            <a:r>
              <a:rPr lang="en-US" altLang="zh-CN" sz="2400" dirty="0">
                <a:latin typeface="Comic Sans MS" panose="030F0902030302020204" pitchFamily="66" charset="0"/>
              </a:rPr>
              <a:t>Double: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sum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of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2000</a:t>
            </a:r>
            <a:r>
              <a:rPr lang="zh-CN" altLang="en-US" sz="2400" dirty="0">
                <a:latin typeface="Comic Sans MS" panose="030F0902030302020204" pitchFamily="66" charset="0"/>
              </a:rPr>
              <a:t> </a:t>
            </a:r>
            <a:r>
              <a:rPr lang="en-US" altLang="zh-CN" sz="2400" dirty="0">
                <a:latin typeface="Comic Sans MS" panose="030F0902030302020204" pitchFamily="66" charset="0"/>
              </a:rPr>
              <a:t>elements</a:t>
            </a:r>
            <a:endParaRPr lang="en-CN" sz="24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Speedup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125</a:t>
            </a:fld>
            <a:endParaRPr lang="zh-CN" altLang="en-US"/>
          </a:p>
        </p:txBody>
      </p:sp>
      <p:pic>
        <p:nvPicPr>
          <p:cNvPr id="140291" name="Picture 2" descr="f02-18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5" y="1152525"/>
            <a:ext cx="8654415" cy="574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Efficiency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126</a:t>
            </a:fld>
            <a:endParaRPr lang="zh-CN" altLang="en-US"/>
          </a:p>
        </p:txBody>
      </p:sp>
      <p:pic>
        <p:nvPicPr>
          <p:cNvPr id="141315" name="Picture 3" descr="f02-19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1323340"/>
            <a:ext cx="8296910" cy="535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Effect of overhead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127</a:t>
            </a:fld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2606192" y="1296194"/>
            <a:ext cx="8065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T</a:t>
            </a:r>
            <a:r>
              <a:rPr lang="en-US" sz="4000" kern="0" baseline="-25000" dirty="0">
                <a:solidFill>
                  <a:srgbClr val="003399"/>
                </a:solidFill>
                <a:latin typeface="Arial" panose="020B0604020202020204"/>
              </a:rPr>
              <a:t>parallel </a:t>
            </a: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= </a:t>
            </a:r>
            <a:r>
              <a:rPr lang="en-US" sz="4000" kern="0" dirty="0" err="1">
                <a:solidFill>
                  <a:srgbClr val="003399"/>
                </a:solidFill>
                <a:latin typeface="Arial" panose="020B0604020202020204"/>
              </a:rPr>
              <a:t>T</a:t>
            </a:r>
            <a:r>
              <a:rPr lang="en-US" altLang="zh-CN" sz="4000" kern="0" baseline="-25000" dirty="0" err="1">
                <a:solidFill>
                  <a:srgbClr val="003399"/>
                </a:solidFill>
                <a:latin typeface="Arial" panose="020B0604020202020204"/>
              </a:rPr>
              <a:t>parallizable</a:t>
            </a:r>
            <a:r>
              <a:rPr lang="en-US" sz="4000" kern="0" baseline="-25000" dirty="0">
                <a:solidFill>
                  <a:srgbClr val="003399"/>
                </a:solidFill>
                <a:latin typeface="Arial" panose="020B0604020202020204"/>
              </a:rPr>
              <a:t> </a:t>
            </a:r>
            <a:r>
              <a:rPr lang="en-US" sz="4000" kern="0" dirty="0">
                <a:solidFill>
                  <a:srgbClr val="003399"/>
                </a:solidFill>
                <a:latin typeface="Arial" panose="020B0604020202020204"/>
              </a:rPr>
              <a:t> / p + T</a:t>
            </a:r>
            <a:r>
              <a:rPr lang="en-US" sz="4000" kern="0" baseline="-25000" dirty="0">
                <a:solidFill>
                  <a:srgbClr val="003399"/>
                </a:solidFill>
                <a:latin typeface="Arial" panose="020B0604020202020204"/>
              </a:rPr>
              <a:t>overhead</a:t>
            </a:r>
            <a:endParaRPr lang="en-US" sz="4000" baseline="-25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07DE7-EFA0-C940-97E5-E6D25EC88F84}"/>
              </a:ext>
            </a:extLst>
          </p:cNvPr>
          <p:cNvSpPr/>
          <p:nvPr/>
        </p:nvSpPr>
        <p:spPr>
          <a:xfrm>
            <a:off x="1576264" y="3024386"/>
            <a:ext cx="1440160" cy="318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9680F-E05C-974F-BD36-8261353A1E3D}"/>
              </a:ext>
            </a:extLst>
          </p:cNvPr>
          <p:cNvSpPr/>
          <p:nvPr/>
        </p:nvSpPr>
        <p:spPr>
          <a:xfrm>
            <a:off x="3009456" y="3024386"/>
            <a:ext cx="5760000" cy="3183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FAB050-BC55-4649-9DAC-C8436F9A9E50}"/>
              </a:ext>
            </a:extLst>
          </p:cNvPr>
          <p:cNvSpPr/>
          <p:nvPr/>
        </p:nvSpPr>
        <p:spPr>
          <a:xfrm>
            <a:off x="8777064" y="3024386"/>
            <a:ext cx="1440160" cy="31831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2F3AB-9666-CB46-8BBE-EECA26638876}"/>
              </a:ext>
            </a:extLst>
          </p:cNvPr>
          <p:cNvSpPr txBox="1"/>
          <p:nvPr/>
        </p:nvSpPr>
        <p:spPr>
          <a:xfrm>
            <a:off x="10145216" y="2827954"/>
            <a:ext cx="1507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One</a:t>
            </a:r>
            <a:r>
              <a:rPr lang="zh-CN" altLang="en-US" sz="2800" dirty="0"/>
              <a:t> </a:t>
            </a:r>
            <a:r>
              <a:rPr lang="en-US" altLang="zh-CN" sz="2800" dirty="0"/>
              <a:t>core</a:t>
            </a:r>
            <a:endParaRPr lang="en-CN" sz="2800" dirty="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07A039D3-B700-CD48-AC34-BFE0CE49C8C1}"/>
              </a:ext>
            </a:extLst>
          </p:cNvPr>
          <p:cNvSpPr/>
          <p:nvPr/>
        </p:nvSpPr>
        <p:spPr>
          <a:xfrm>
            <a:off x="5104656" y="3600450"/>
            <a:ext cx="792088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C897E-D4BC-4B41-BE83-88212DD09892}"/>
              </a:ext>
            </a:extLst>
          </p:cNvPr>
          <p:cNvSpPr/>
          <p:nvPr/>
        </p:nvSpPr>
        <p:spPr>
          <a:xfrm>
            <a:off x="1569296" y="5226348"/>
            <a:ext cx="1440160" cy="318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94BEC-C748-C64C-A780-93D8E9A39FC5}"/>
              </a:ext>
            </a:extLst>
          </p:cNvPr>
          <p:cNvSpPr/>
          <p:nvPr/>
        </p:nvSpPr>
        <p:spPr>
          <a:xfrm>
            <a:off x="3448632" y="4602812"/>
            <a:ext cx="1440000" cy="3183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52BFF-C7BD-D045-96C1-6BCAFDB48CA4}"/>
              </a:ext>
            </a:extLst>
          </p:cNvPr>
          <p:cNvSpPr/>
          <p:nvPr/>
        </p:nvSpPr>
        <p:spPr>
          <a:xfrm>
            <a:off x="5300068" y="5212408"/>
            <a:ext cx="1440160" cy="31831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711C1-EDBF-1843-8D70-47694B8E431B}"/>
              </a:ext>
            </a:extLst>
          </p:cNvPr>
          <p:cNvSpPr txBox="1"/>
          <p:nvPr/>
        </p:nvSpPr>
        <p:spPr>
          <a:xfrm>
            <a:off x="6740228" y="5123897"/>
            <a:ext cx="170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Four</a:t>
            </a:r>
            <a:r>
              <a:rPr lang="zh-CN" altLang="en-US" sz="2800" dirty="0"/>
              <a:t> </a:t>
            </a:r>
            <a:r>
              <a:rPr lang="en-US" altLang="zh-CN" sz="2800" dirty="0"/>
              <a:t>cores</a:t>
            </a:r>
            <a:endParaRPr lang="en-CN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4AB0B-7D94-C545-8396-C0D292373308}"/>
              </a:ext>
            </a:extLst>
          </p:cNvPr>
          <p:cNvSpPr/>
          <p:nvPr/>
        </p:nvSpPr>
        <p:spPr>
          <a:xfrm>
            <a:off x="3448632" y="5026681"/>
            <a:ext cx="1440000" cy="3183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0A90D4-15B4-EA4E-B93F-DF00577BC651}"/>
              </a:ext>
            </a:extLst>
          </p:cNvPr>
          <p:cNvSpPr/>
          <p:nvPr/>
        </p:nvSpPr>
        <p:spPr>
          <a:xfrm>
            <a:off x="3448632" y="5450550"/>
            <a:ext cx="1440000" cy="3183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53453A-CBB6-0C4C-A0A5-F6025DCBFA6D}"/>
              </a:ext>
            </a:extLst>
          </p:cNvPr>
          <p:cNvSpPr/>
          <p:nvPr/>
        </p:nvSpPr>
        <p:spPr>
          <a:xfrm>
            <a:off x="3448632" y="5874420"/>
            <a:ext cx="1440000" cy="3183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876FC39-0D56-624A-A45D-FBCA42C80682}"/>
              </a:ext>
            </a:extLst>
          </p:cNvPr>
          <p:cNvSpPr/>
          <p:nvPr/>
        </p:nvSpPr>
        <p:spPr>
          <a:xfrm>
            <a:off x="3109044" y="4550396"/>
            <a:ext cx="267420" cy="164234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7EAD3726-28F7-3E49-BB6A-41916F1C1896}"/>
              </a:ext>
            </a:extLst>
          </p:cNvPr>
          <p:cNvSpPr/>
          <p:nvPr/>
        </p:nvSpPr>
        <p:spPr>
          <a:xfrm flipH="1">
            <a:off x="4960640" y="4536554"/>
            <a:ext cx="267420" cy="164234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E28C8-35D0-6540-BD24-A0AEB9A7A4FE}"/>
              </a:ext>
            </a:extLst>
          </p:cNvPr>
          <p:cNvSpPr txBox="1"/>
          <p:nvPr/>
        </p:nvSpPr>
        <p:spPr>
          <a:xfrm>
            <a:off x="1215183" y="2436588"/>
            <a:ext cx="2968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Input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preprocess</a:t>
            </a:r>
            <a:endParaRPr lang="en-C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36D1C-83F0-024A-B11A-A5A1AE125ACF}"/>
              </a:ext>
            </a:extLst>
          </p:cNvPr>
          <p:cNvSpPr txBox="1"/>
          <p:nvPr/>
        </p:nvSpPr>
        <p:spPr>
          <a:xfrm>
            <a:off x="8198519" y="2415712"/>
            <a:ext cx="2597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reduce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output</a:t>
            </a:r>
            <a:endParaRPr lang="en-CN" sz="2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Example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128</a:t>
            </a:fld>
            <a:endParaRPr lang="zh-CN" altLang="en-US"/>
          </a:p>
        </p:txBody>
      </p:sp>
      <p:sp>
        <p:nvSpPr>
          <p:cNvPr id="144386" name="Content Placeholder 2"/>
          <p:cNvSpPr>
            <a:spLocks noGrp="1"/>
          </p:cNvSpPr>
          <p:nvPr>
            <p:ph idx="1"/>
          </p:nvPr>
        </p:nvSpPr>
        <p:spPr>
          <a:xfrm>
            <a:off x="1072515" y="1152525"/>
            <a:ext cx="11095355" cy="3978910"/>
          </a:xfrm>
        </p:spPr>
        <p:txBody>
          <a:bodyPr/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We can parallelize 90% of a serial program.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Parallelization is “perfect” regardless of the number of cores </a:t>
            </a:r>
            <a:r>
              <a:rPr lang="en-US" altLang="en-US" b="0" i="1" dirty="0">
                <a:latin typeface="Comic Sans MS" panose="030F0702030302020204" pitchFamily="66" charset="0"/>
              </a:rPr>
              <a:t>p</a:t>
            </a:r>
            <a:r>
              <a:rPr lang="en-US" altLang="en-US" b="0" dirty="0">
                <a:latin typeface="Comic Sans MS" panose="030F0702030302020204" pitchFamily="66" charset="0"/>
              </a:rPr>
              <a:t> we use.</a:t>
            </a:r>
          </a:p>
          <a:p>
            <a:r>
              <a:rPr lang="en-US" altLang="en-US" b="0" dirty="0" err="1">
                <a:latin typeface="Comic Sans MS" panose="030F0702030302020204" pitchFamily="66" charset="0"/>
              </a:rPr>
              <a:t>T</a:t>
            </a:r>
            <a:r>
              <a:rPr lang="en-US" altLang="en-US" b="0" baseline="-25000" dirty="0" err="1">
                <a:latin typeface="Comic Sans MS" panose="030F0702030302020204" pitchFamily="66" charset="0"/>
              </a:rPr>
              <a:t>serial</a:t>
            </a:r>
            <a:r>
              <a:rPr lang="en-US" altLang="en-US" b="0" baseline="-25000" dirty="0">
                <a:latin typeface="Comic Sans MS" panose="030F0702030302020204" pitchFamily="66" charset="0"/>
              </a:rPr>
              <a:t> </a:t>
            </a:r>
            <a:r>
              <a:rPr lang="en-US" altLang="en-US" b="0" dirty="0">
                <a:latin typeface="Comic Sans MS" panose="030F0702030302020204" pitchFamily="66" charset="0"/>
              </a:rPr>
              <a:t>= 20 seconds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Runtime  of parallelizable part is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9435" y="5112703"/>
            <a:ext cx="40627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200" kern="0" dirty="0">
                <a:solidFill>
                  <a:srgbClr val="003399"/>
                </a:solidFill>
                <a:latin typeface="Arial" panose="020B0604020202020204"/>
              </a:rPr>
              <a:t>0.9 x T</a:t>
            </a:r>
            <a:r>
              <a:rPr lang="en-US" sz="3200" kern="0" baseline="-25000" dirty="0">
                <a:solidFill>
                  <a:srgbClr val="003399"/>
                </a:solidFill>
                <a:latin typeface="Arial" panose="020B0604020202020204"/>
              </a:rPr>
              <a:t>serial </a:t>
            </a:r>
            <a:r>
              <a:rPr lang="en-US" sz="3200" kern="0" dirty="0">
                <a:solidFill>
                  <a:srgbClr val="003399"/>
                </a:solidFill>
                <a:latin typeface="Arial" panose="020B0604020202020204"/>
              </a:rPr>
              <a:t>/ p = 18 / p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Example (cont.)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129</a:t>
            </a:fld>
            <a:endParaRPr lang="zh-CN" altLang="en-US"/>
          </a:p>
        </p:txBody>
      </p:sp>
      <p:sp>
        <p:nvSpPr>
          <p:cNvPr id="145410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511280" cy="3235325"/>
          </a:xfrm>
        </p:spPr>
        <p:txBody>
          <a:bodyPr/>
          <a:lstStyle/>
          <a:p>
            <a:r>
              <a:rPr lang="en-US" altLang="en-US" b="0" dirty="0"/>
              <a:t>Runtime  of “unparallelizable” part is  </a:t>
            </a:r>
          </a:p>
          <a:p>
            <a:endParaRPr lang="en-US" altLang="en-US" b="0" dirty="0"/>
          </a:p>
          <a:p>
            <a:endParaRPr lang="en-US" altLang="en-US" b="0" dirty="0"/>
          </a:p>
          <a:p>
            <a:r>
              <a:rPr lang="en-US" altLang="en-US" b="0" dirty="0"/>
              <a:t>Overall parallel run-time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2785" y="2088515"/>
            <a:ext cx="310261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600" kern="0" dirty="0">
                <a:solidFill>
                  <a:srgbClr val="003399"/>
                </a:solidFill>
                <a:latin typeface="Arial" panose="020B0604020202020204"/>
              </a:rPr>
              <a:t>0.1 x T</a:t>
            </a:r>
            <a:r>
              <a:rPr lang="en-US" sz="3600" kern="0" baseline="-25000" dirty="0">
                <a:solidFill>
                  <a:srgbClr val="003399"/>
                </a:solidFill>
                <a:latin typeface="Arial" panose="020B0604020202020204"/>
              </a:rPr>
              <a:t>serial  </a:t>
            </a:r>
            <a:r>
              <a:rPr lang="en-US" sz="3600" kern="0" dirty="0">
                <a:solidFill>
                  <a:srgbClr val="003399"/>
                </a:solidFill>
                <a:latin typeface="Arial" panose="020B0604020202020204"/>
              </a:rPr>
              <a:t>=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798" y="4176395"/>
            <a:ext cx="876427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200" kern="0" dirty="0">
                <a:solidFill>
                  <a:srgbClr val="C00000"/>
                </a:solidFill>
                <a:latin typeface="Arial" panose="020B0604020202020204"/>
              </a:rPr>
              <a:t>T</a:t>
            </a:r>
            <a:r>
              <a:rPr lang="en-US" sz="3200" kern="0" baseline="-25000" dirty="0">
                <a:solidFill>
                  <a:srgbClr val="C00000"/>
                </a:solidFill>
                <a:latin typeface="Arial" panose="020B0604020202020204"/>
              </a:rPr>
              <a:t>parallel</a:t>
            </a:r>
            <a:r>
              <a:rPr lang="en-US" sz="3200" kern="0" dirty="0">
                <a:solidFill>
                  <a:srgbClr val="C00000"/>
                </a:solidFill>
                <a:latin typeface="Arial" panose="020B0604020202020204"/>
              </a:rPr>
              <a:t> = 0.9 x T</a:t>
            </a:r>
            <a:r>
              <a:rPr lang="en-US" sz="3200" kern="0" baseline="-25000" dirty="0">
                <a:solidFill>
                  <a:srgbClr val="C00000"/>
                </a:solidFill>
                <a:latin typeface="Arial" panose="020B0604020202020204"/>
              </a:rPr>
              <a:t>serial </a:t>
            </a:r>
            <a:r>
              <a:rPr lang="en-US" sz="3200" kern="0" dirty="0">
                <a:solidFill>
                  <a:srgbClr val="C00000"/>
                </a:solidFill>
                <a:latin typeface="Arial" panose="020B0604020202020204"/>
              </a:rPr>
              <a:t>/ p + 0.1 x T</a:t>
            </a:r>
            <a:r>
              <a:rPr lang="en-US" sz="3200" kern="0" baseline="-25000" dirty="0">
                <a:solidFill>
                  <a:srgbClr val="C00000"/>
                </a:solidFill>
                <a:latin typeface="Arial" panose="020B0604020202020204"/>
              </a:rPr>
              <a:t>serial</a:t>
            </a:r>
            <a:r>
              <a:rPr lang="en-US" sz="3200" kern="0" dirty="0">
                <a:solidFill>
                  <a:srgbClr val="C00000"/>
                </a:solidFill>
                <a:latin typeface="Arial" panose="020B0604020202020204"/>
              </a:rPr>
              <a:t>  = 18 / p + 2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Example (cont.)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130</a:t>
            </a:fld>
            <a:endParaRPr lang="zh-CN" altLang="en-US"/>
          </a:p>
        </p:txBody>
      </p:sp>
      <p:sp>
        <p:nvSpPr>
          <p:cNvPr id="146434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008062"/>
          </a:xfrm>
        </p:spPr>
        <p:txBody>
          <a:bodyPr/>
          <a:lstStyle/>
          <a:p>
            <a:r>
              <a:rPr lang="en-US" altLang="en-US" b="0"/>
              <a:t>Speed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089275" y="3313430"/>
            <a:ext cx="37893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Arial" panose="020B0604020202020204"/>
              </a:rPr>
              <a:t>0.9 x T</a:t>
            </a:r>
            <a:r>
              <a:rPr lang="en-US" sz="2400" kern="0" baseline="-25000" dirty="0">
                <a:solidFill>
                  <a:srgbClr val="C00000"/>
                </a:solidFill>
                <a:latin typeface="Arial" panose="020B0604020202020204"/>
              </a:rPr>
              <a:t>serial </a:t>
            </a:r>
            <a:r>
              <a:rPr lang="en-US" sz="2400" kern="0" dirty="0">
                <a:solidFill>
                  <a:srgbClr val="C00000"/>
                </a:solidFill>
                <a:latin typeface="Arial" panose="020B0604020202020204"/>
              </a:rPr>
              <a:t>/ p + 0.1 x T</a:t>
            </a:r>
            <a:r>
              <a:rPr lang="en-US" sz="2400" kern="0" baseline="-25000" dirty="0">
                <a:solidFill>
                  <a:srgbClr val="C00000"/>
                </a:solidFill>
                <a:latin typeface="Arial" panose="020B0604020202020204"/>
              </a:rPr>
              <a:t>serial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29138" y="2665730"/>
            <a:ext cx="8604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Arial" panose="020B0604020202020204"/>
              </a:rPr>
              <a:t>T</a:t>
            </a:r>
            <a:r>
              <a:rPr lang="en-US" sz="2400" kern="0" baseline="-25000" dirty="0">
                <a:solidFill>
                  <a:srgbClr val="C00000"/>
                </a:solidFill>
                <a:latin typeface="Arial" panose="020B0604020202020204"/>
              </a:rPr>
              <a:t>serial</a:t>
            </a:r>
            <a:endParaRPr lang="en-US" sz="2400" baseline="-25000" dirty="0"/>
          </a:p>
        </p:txBody>
      </p:sp>
      <p:sp>
        <p:nvSpPr>
          <p:cNvPr id="7" name="Rectangle 6"/>
          <p:cNvSpPr/>
          <p:nvPr/>
        </p:nvSpPr>
        <p:spPr>
          <a:xfrm>
            <a:off x="2152650" y="3024505"/>
            <a:ext cx="812800" cy="585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kern="0" dirty="0">
                <a:solidFill>
                  <a:srgbClr val="C00000"/>
                </a:solidFill>
                <a:latin typeface="Arial" panose="020B0604020202020204"/>
              </a:rPr>
              <a:t>S =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905625" y="3024505"/>
            <a:ext cx="425450" cy="585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kern="0" dirty="0">
                <a:solidFill>
                  <a:srgbClr val="C00000"/>
                </a:solidFill>
                <a:latin typeface="Arial" panose="020B0604020202020204"/>
              </a:rPr>
              <a:t>=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481888" y="3313430"/>
            <a:ext cx="1474787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Arial" panose="020B0604020202020204"/>
              </a:rPr>
              <a:t>18 / p + 2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13688" y="2737168"/>
            <a:ext cx="527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Arial" panose="020B0604020202020204"/>
              </a:rPr>
              <a:t>20</a:t>
            </a:r>
            <a:endParaRPr lang="en-US" dirty="0"/>
          </a:p>
        </p:txBody>
      </p:sp>
      <p:cxnSp>
        <p:nvCxnSpPr>
          <p:cNvPr id="146442" name="Straight Connector 11"/>
          <p:cNvCxnSpPr>
            <a:cxnSpLocks noChangeShapeType="1"/>
          </p:cNvCxnSpPr>
          <p:nvPr/>
        </p:nvCxnSpPr>
        <p:spPr bwMode="auto">
          <a:xfrm>
            <a:off x="3232150" y="3240405"/>
            <a:ext cx="3600450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443" name="Straight Connector 13"/>
          <p:cNvCxnSpPr>
            <a:cxnSpLocks noChangeShapeType="1"/>
          </p:cNvCxnSpPr>
          <p:nvPr/>
        </p:nvCxnSpPr>
        <p:spPr bwMode="auto">
          <a:xfrm>
            <a:off x="7553325" y="3240405"/>
            <a:ext cx="1295400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Scalability </a:t>
            </a:r>
            <a:r>
              <a:rPr lang="en-US" dirty="0" err="1">
                <a:sym typeface="+mn-ea"/>
              </a:rPr>
              <a:t>可扩展</a:t>
            </a:r>
            <a:r>
              <a:rPr dirty="0">
                <a:sym typeface="+mn-ea"/>
              </a:rPr>
              <a:t>性分析</a:t>
            </a:r>
            <a:r>
              <a:rPr lang="zh-CN" altLang="en-US" dirty="0">
                <a:sym typeface="+mn-ea"/>
              </a:rPr>
              <a:t>（定性）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131</a:t>
            </a:fld>
            <a:endParaRPr lang="zh-CN" altLang="en-US"/>
          </a:p>
        </p:txBody>
      </p:sp>
      <p:sp>
        <p:nvSpPr>
          <p:cNvPr id="147458" name="Content Placeholder 2"/>
          <p:cNvSpPr>
            <a:spLocks noGrp="1"/>
          </p:cNvSpPr>
          <p:nvPr>
            <p:ph idx="1"/>
          </p:nvPr>
        </p:nvSpPr>
        <p:spPr>
          <a:xfrm>
            <a:off x="611505" y="981075"/>
            <a:ext cx="11222990" cy="5441315"/>
          </a:xfrm>
          <a:noFill/>
          <a:ln w="9525">
            <a:noFill/>
          </a:ln>
        </p:spPr>
        <p:txBody>
          <a:bodyPr lIns="114181" tIns="57091" rIns="114181" bIns="57091"/>
          <a:lstStyle/>
          <a:p>
            <a:r>
              <a:rPr lang="en-US" altLang="en-US" sz="2800" dirty="0"/>
              <a:t>Qu</a:t>
            </a:r>
            <a:r>
              <a:rPr lang="en-US" altLang="zh-CN" sz="2800" dirty="0"/>
              <a:t>alitative</a:t>
            </a:r>
            <a:r>
              <a:rPr lang="zh-CN" altLang="en-US" sz="2800" dirty="0"/>
              <a:t> </a:t>
            </a:r>
            <a:r>
              <a:rPr lang="en-US" altLang="zh-CN" sz="2800" dirty="0"/>
              <a:t>or</a:t>
            </a:r>
            <a:r>
              <a:rPr lang="zh-CN" altLang="en-US" sz="2800" dirty="0"/>
              <a:t> </a:t>
            </a:r>
            <a:r>
              <a:rPr lang="en-US" altLang="zh-CN" sz="2800" dirty="0"/>
              <a:t>Quantitative</a:t>
            </a:r>
            <a:r>
              <a:rPr lang="zh-CN" altLang="en-US" sz="2800" dirty="0"/>
              <a:t> </a:t>
            </a:r>
            <a:r>
              <a:rPr lang="en-US" altLang="zh-CN" sz="2800" dirty="0"/>
              <a:t>Analysis</a:t>
            </a:r>
            <a:endParaRPr lang="en-US" altLang="en-US" sz="2800" dirty="0"/>
          </a:p>
          <a:p>
            <a:r>
              <a:rPr lang="en-US" altLang="en-US" sz="2800" dirty="0"/>
              <a:t>In general, a </a:t>
            </a:r>
            <a:r>
              <a:rPr lang="en-US" altLang="zh-CN" sz="2800" dirty="0"/>
              <a:t>method/algorithm</a:t>
            </a:r>
            <a:r>
              <a:rPr lang="en-US" altLang="en-US" sz="2800" dirty="0"/>
              <a:t> is scalable if it can handle ever increasing problem sizes.</a:t>
            </a:r>
          </a:p>
          <a:p>
            <a:r>
              <a:rPr lang="en-US" altLang="en-US" sz="2800" dirty="0"/>
              <a:t>If we increase the number of processes/threads and keep the efficiency fixed without increasing problem size, the problem is strongly scalable. </a:t>
            </a:r>
            <a:r>
              <a:rPr lang="zh-CN" altLang="en-US" sz="2800" dirty="0"/>
              <a:t>定性分析</a:t>
            </a:r>
            <a:endParaRPr lang="en-US" altLang="en-US" sz="2800" dirty="0"/>
          </a:p>
          <a:p>
            <a:r>
              <a:rPr lang="en-US" altLang="en-US" sz="2800" dirty="0"/>
              <a:t>If we keep the efficiency fixed by increasing the problem size at the same rate as we increase the number of processes/threads, the problem is weakly scalable.</a:t>
            </a:r>
            <a:r>
              <a:rPr lang="zh-CN" altLang="en-US" sz="2800" dirty="0"/>
              <a:t>定性分析</a:t>
            </a:r>
            <a:endParaRPr lang="en-US" altLang="en-US" sz="2800" dirty="0"/>
          </a:p>
          <a:p>
            <a:r>
              <a:rPr lang="zh-CN" altLang="en-US" sz="2800" dirty="0"/>
              <a:t>在强扩展的情况下和弱扩展情况下，并行程序扩展性（</a:t>
            </a:r>
            <a:r>
              <a:rPr lang="en-US" altLang="zh-CN" sz="2800" dirty="0"/>
              <a:t>E</a:t>
            </a:r>
            <a:r>
              <a:rPr lang="zh-CN" altLang="en-US" sz="2800" dirty="0"/>
              <a:t>）与理想情况的对比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226" y="575781"/>
            <a:ext cx="11233328" cy="575776"/>
          </a:xfrm>
        </p:spPr>
        <p:txBody>
          <a:bodyPr/>
          <a:lstStyle/>
          <a:p>
            <a:r>
              <a:rPr lang="en-US" altLang="zh-CN">
                <a:sym typeface="+mn-ea"/>
              </a:rPr>
              <a:t>Perfect scalability vs strong or weak scalability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132</a:t>
            </a:fld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460914" y="2465475"/>
            <a:ext cx="0" cy="26416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460914" y="5107075"/>
            <a:ext cx="301752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2460914" y="2714856"/>
            <a:ext cx="2521527" cy="239221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368550" y="215998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speedup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460914" y="3573838"/>
            <a:ext cx="2706254" cy="15332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96177" y="5070007"/>
            <a:ext cx="172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Cores/processes</a:t>
            </a:r>
            <a:endParaRPr 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107046" y="2386591"/>
            <a:ext cx="849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Perfect</a:t>
            </a:r>
            <a:endParaRPr 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979636" y="3093031"/>
            <a:ext cx="13012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460914" y="5581395"/>
            <a:ext cx="34494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Strong scalability evaluation,</a:t>
            </a:r>
          </a:p>
          <a:p>
            <a:r>
              <a:rPr lang="en-US" dirty="0">
                <a:solidFill>
                  <a:srgbClr val="0070C0"/>
                </a:solidFill>
              </a:rPr>
              <a:t>Keep problem size fixed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707659" y="2483949"/>
            <a:ext cx="0" cy="26416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6707659" y="5125549"/>
            <a:ext cx="301752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707659" y="3286826"/>
            <a:ext cx="2736936" cy="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615295" y="217846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speedup</a:t>
            </a:r>
            <a:endParaRPr lang="en-US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6704854" y="3295938"/>
            <a:ext cx="2655046" cy="52592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8342922" y="5088481"/>
            <a:ext cx="172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Cores/processes</a:t>
            </a:r>
            <a:endParaRPr 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8432878" y="2866136"/>
            <a:ext cx="849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Perfect</a:t>
            </a:r>
            <a:endParaRPr 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9260916" y="3444737"/>
            <a:ext cx="13012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Program1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156012" y="5597598"/>
            <a:ext cx="41413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Weak scalability evaluation,</a:t>
            </a:r>
          </a:p>
          <a:p>
            <a:r>
              <a:rPr lang="en-US" dirty="0">
                <a:solidFill>
                  <a:srgbClr val="0070C0"/>
                </a:solidFill>
              </a:rPr>
              <a:t>Increase problem size with the cores/processes at the same rate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29D8BC1-74E4-46FC-AE46-357178BDEE3D}"/>
              </a:ext>
            </a:extLst>
          </p:cNvPr>
          <p:cNvCxnSpPr>
            <a:cxnSpLocks/>
          </p:cNvCxnSpPr>
          <p:nvPr/>
        </p:nvCxnSpPr>
        <p:spPr>
          <a:xfrm flipV="1">
            <a:off x="2460914" y="4464546"/>
            <a:ext cx="2521527" cy="60546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CDA54CF-FD15-43C9-B07F-F2B5F32B58D8}"/>
              </a:ext>
            </a:extLst>
          </p:cNvPr>
          <p:cNvSpPr txBox="1"/>
          <p:nvPr/>
        </p:nvSpPr>
        <p:spPr>
          <a:xfrm>
            <a:off x="5016844" y="4204140"/>
            <a:ext cx="13012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Program2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630A0D4-4D96-4931-803A-93DA9D17DCF5}"/>
              </a:ext>
            </a:extLst>
          </p:cNvPr>
          <p:cNvCxnSpPr>
            <a:cxnSpLocks/>
          </p:cNvCxnSpPr>
          <p:nvPr/>
        </p:nvCxnSpPr>
        <p:spPr>
          <a:xfrm>
            <a:off x="6704854" y="3269250"/>
            <a:ext cx="2577167" cy="11628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32C8F2A9-C351-4496-907F-289262D26DAE}"/>
              </a:ext>
            </a:extLst>
          </p:cNvPr>
          <p:cNvSpPr txBox="1"/>
          <p:nvPr/>
        </p:nvSpPr>
        <p:spPr>
          <a:xfrm>
            <a:off x="9257395" y="4202862"/>
            <a:ext cx="13012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80098" indent="-300038"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200150" indent="-240030"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80210" indent="-240030"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160270" indent="-240030"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640330" indent="-240030" eaLnBrk="0" fontAlgn="base" hangingPunct="0">
              <a:spcBef>
                <a:spcPct val="0"/>
              </a:spcBef>
              <a:spcAft>
                <a:spcPct val="0"/>
              </a:spcAft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3120390" indent="-240030" eaLnBrk="0" fontAlgn="base" hangingPunct="0">
              <a:spcBef>
                <a:spcPct val="0"/>
              </a:spcBef>
              <a:spcAft>
                <a:spcPct val="0"/>
              </a:spcAft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600450" indent="-240030" eaLnBrk="0" fontAlgn="base" hangingPunct="0">
              <a:spcBef>
                <a:spcPct val="0"/>
              </a:spcBef>
              <a:spcAft>
                <a:spcPct val="0"/>
              </a:spcAft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4080510" indent="-240030" eaLnBrk="0" fontAlgn="base" hangingPunct="0">
              <a:spcBef>
                <a:spcPct val="0"/>
              </a:spcBef>
              <a:spcAft>
                <a:spcPct val="0"/>
              </a:spcAft>
              <a:defRPr sz="2520">
                <a:solidFill>
                  <a:schemeClr val="accent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F32AE2-2364-C44F-AE90-D0C0C9F3EED1}" type="slidenum">
              <a:rPr kumimoji="0" lang="en-US" sz="147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pPr marL="0" marR="0" lvl="0" indent="0" algn="l" defTabSz="11417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4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MS PGothic" charset="0"/>
            </a:endParaRPr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639" y="321708"/>
            <a:ext cx="7002541" cy="443389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  <a:ea typeface="MS PGothic" charset="0"/>
                <a:cs typeface="MS PGothic" charset="0"/>
              </a:rPr>
              <a:t>Limits to Parallelism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960120"/>
            <a:ext cx="12024146" cy="5211581"/>
          </a:xfrm>
        </p:spPr>
        <p:txBody>
          <a:bodyPr/>
          <a:lstStyle/>
          <a:p>
            <a:r>
              <a:rPr lang="en-US" altLang="zh-CN" dirty="0">
                <a:ea typeface="MS PGothic" charset="0"/>
                <a:cs typeface="MS PGothic" charset="0"/>
              </a:rPr>
              <a:t>Amdahl’s</a:t>
            </a:r>
            <a:r>
              <a:rPr lang="zh-CN" altLang="en-US" dirty="0">
                <a:ea typeface="MS PGothic" charset="0"/>
                <a:cs typeface="MS PGothic" charset="0"/>
              </a:rPr>
              <a:t> </a:t>
            </a:r>
            <a:r>
              <a:rPr lang="en-US" altLang="zh-CN" dirty="0">
                <a:ea typeface="MS PGothic" charset="0"/>
                <a:cs typeface="MS PGothic" charset="0"/>
              </a:rPr>
              <a:t>Law</a:t>
            </a:r>
          </a:p>
          <a:p>
            <a:pPr lvl="1"/>
            <a:r>
              <a:rPr lang="en-US" altLang="en-US" dirty="0">
                <a:ea typeface="MS PGothic" charset="0"/>
              </a:rPr>
              <a:t> "the overall performance improvement gained by optimizing a single part of a system is limited by the fraction of time that the improved part is actually used".</a:t>
            </a:r>
          </a:p>
          <a:p>
            <a:r>
              <a:rPr lang="en-US" dirty="0">
                <a:ea typeface="MS PGothic" charset="0"/>
                <a:cs typeface="MS PGothic" charset="0"/>
              </a:rPr>
              <a:t>Besides Amdahl’s Law, here are some other limits</a:t>
            </a:r>
            <a:endParaRPr lang="en-US" sz="2400" dirty="0">
              <a:ea typeface="MS PGothic" charset="0"/>
              <a:cs typeface="MS PGothic" charset="0"/>
            </a:endParaRPr>
          </a:p>
          <a:p>
            <a:r>
              <a:rPr lang="en-US" dirty="0">
                <a:ea typeface="MS PGothic" charset="0"/>
                <a:cs typeface="MS PGothic" charset="0"/>
              </a:rPr>
              <a:t>Parallelism overheads include:</a:t>
            </a:r>
          </a:p>
          <a:p>
            <a:pPr lvl="1"/>
            <a:r>
              <a:rPr lang="en-US" sz="2800" dirty="0">
                <a:ea typeface="MS PGothic" charset="0"/>
                <a:cs typeface="MS PGothic" charset="0"/>
              </a:rPr>
              <a:t>cost of creating parallelism (starting a thread/process)</a:t>
            </a:r>
          </a:p>
          <a:p>
            <a:pPr lvl="1"/>
            <a:r>
              <a:rPr lang="en-US" sz="2800" dirty="0">
                <a:ea typeface="MS PGothic" charset="0"/>
                <a:cs typeface="MS PGothic" charset="0"/>
              </a:rPr>
              <a:t>cost of communicating shared data</a:t>
            </a:r>
          </a:p>
          <a:p>
            <a:pPr lvl="1"/>
            <a:r>
              <a:rPr lang="en-US" sz="2800" dirty="0">
                <a:ea typeface="MS PGothic" charset="0"/>
                <a:cs typeface="MS PGothic" charset="0"/>
              </a:rPr>
              <a:t>cost of synchronizing</a:t>
            </a:r>
          </a:p>
          <a:p>
            <a:pPr lvl="1"/>
            <a:r>
              <a:rPr lang="en-US" sz="2800" dirty="0">
                <a:ea typeface="MS PGothic" charset="0"/>
                <a:cs typeface="MS PGothic" charset="0"/>
              </a:rPr>
              <a:t>extra (redundant) computation</a:t>
            </a:r>
          </a:p>
        </p:txBody>
      </p:sp>
    </p:spTree>
    <p:extLst>
      <p:ext uri="{BB962C8B-B14F-4D97-AF65-F5344CB8AC3E}">
        <p14:creationId xmlns:p14="http://schemas.microsoft.com/office/powerpoint/2010/main" val="33177395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481060" y="6560820"/>
            <a:ext cx="200025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6679" tIns="48340" rIns="96679" bIns="483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70" b="0" kern="12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480060" algn="l" rtl="0" eaLnBrk="0" fontAlgn="base" hangingPunct="0">
              <a:spcBef>
                <a:spcPct val="0"/>
              </a:spcBef>
              <a:spcAft>
                <a:spcPct val="0"/>
              </a:spcAft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60120" algn="l" rtl="0" eaLnBrk="0" fontAlgn="base" hangingPunct="0">
              <a:spcBef>
                <a:spcPct val="0"/>
              </a:spcBef>
              <a:spcAft>
                <a:spcPct val="0"/>
              </a:spcAft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440180" algn="l" rtl="0" eaLnBrk="0" fontAlgn="base" hangingPunct="0">
              <a:spcBef>
                <a:spcPct val="0"/>
              </a:spcBef>
              <a:spcAft>
                <a:spcPct val="0"/>
              </a:spcAft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920240" algn="l" rtl="0" eaLnBrk="0" fontAlgn="base" hangingPunct="0">
              <a:spcBef>
                <a:spcPct val="0"/>
              </a:spcBef>
              <a:spcAft>
                <a:spcPct val="0"/>
              </a:spcAft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400300" algn="l" defTabSz="480060" rtl="0" eaLnBrk="1" latinLnBrk="0" hangingPunct="1"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880360" algn="l" defTabSz="480060" rtl="0" eaLnBrk="1" latinLnBrk="0" hangingPunct="1"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360420" algn="l" defTabSz="480060" rtl="0" eaLnBrk="1" latinLnBrk="0" hangingPunct="1"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40480" algn="l" defTabSz="480060" rtl="0" eaLnBrk="1" latinLnBrk="0" hangingPunct="1">
              <a:defRPr sz="2100" b="1" kern="1200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87729-7572-2540-9575-666F8823F236}" type="slidenum">
              <a:rPr kumimoji="0" lang="en-US" sz="147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pPr marL="0" marR="0" lvl="0" indent="0" algn="r" defTabSz="114173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4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ＭＳ Ｐゴシック" charset="0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1096" y="74600"/>
            <a:ext cx="9700304" cy="700461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  <a:ea typeface="ＭＳ Ｐゴシック" charset="0"/>
                <a:cs typeface="ＭＳ Ｐゴシック" charset="0"/>
              </a:rPr>
              <a:t>Limits </a:t>
            </a:r>
            <a:r>
              <a:rPr lang="en-US">
                <a:latin typeface="Comic Sans MS" panose="030F0702030302020204" pitchFamily="66" charset="0"/>
                <a:ea typeface="ＭＳ Ｐゴシック" charset="0"/>
                <a:cs typeface="ＭＳ Ｐゴシック" charset="0"/>
              </a:rPr>
              <a:t>to Performance</a:t>
            </a:r>
            <a:br>
              <a:rPr lang="en-US" dirty="0">
                <a:latin typeface="Comic Sans MS" panose="030F0702030302020204" pitchFamily="66" charset="0"/>
                <a:ea typeface="ＭＳ Ｐゴシック" charset="0"/>
                <a:cs typeface="ＭＳ Ｐゴシック" charset="0"/>
              </a:rPr>
            </a:br>
            <a:r>
              <a:rPr lang="en-US" sz="1890" dirty="0">
                <a:latin typeface="Comic Sans MS" panose="030F0702030302020204" pitchFamily="66" charset="0"/>
                <a:ea typeface="ＭＳ Ｐゴシック" charset="0"/>
                <a:cs typeface="ＭＳ Ｐゴシック" charset="0"/>
              </a:rPr>
              <a:t>           (Single Processor Memory Hierarchy)</a:t>
            </a:r>
            <a:endParaRPr lang="en-US" dirty="0">
              <a:latin typeface="Comic Sans MS" panose="030F0702030302020204" pitchFamily="66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0280" y="960120"/>
            <a:ext cx="8401050" cy="1565400"/>
          </a:xfrm>
        </p:spPr>
        <p:txBody>
          <a:bodyPr/>
          <a:lstStyle/>
          <a:p>
            <a:r>
              <a:rPr lang="en-US" sz="2100" dirty="0">
                <a:ea typeface="ＭＳ Ｐゴシック" charset="0"/>
                <a:cs typeface="ＭＳ Ｐゴシック" charset="0"/>
              </a:rPr>
              <a:t>Large memories are slow; fast memories are small</a:t>
            </a:r>
          </a:p>
          <a:p>
            <a:r>
              <a:rPr lang="en-US" sz="2100" dirty="0">
                <a:ea typeface="ＭＳ Ｐゴシック" charset="0"/>
                <a:cs typeface="ＭＳ Ｐゴシック" charset="0"/>
              </a:rPr>
              <a:t>Most programs have a </a:t>
            </a:r>
            <a:r>
              <a:rPr lang="en-US" sz="1890" dirty="0">
                <a:ea typeface="ＭＳ Ｐゴシック" charset="0"/>
              </a:rPr>
              <a:t>things nearby previous accesses</a:t>
            </a:r>
          </a:p>
          <a:p>
            <a:pPr lvl="1"/>
            <a:r>
              <a:rPr lang="en-US" sz="1890" b="1" dirty="0">
                <a:solidFill>
                  <a:srgbClr val="008000"/>
                </a:solidFill>
                <a:ea typeface="ＭＳ Ｐゴシック" charset="0"/>
              </a:rPr>
              <a:t>temporal locality:</a:t>
            </a:r>
            <a:r>
              <a:rPr lang="en-US" sz="1890" dirty="0">
                <a:solidFill>
                  <a:srgbClr val="008000"/>
                </a:solidFill>
                <a:ea typeface="ＭＳ Ｐゴシック" charset="0"/>
              </a:rPr>
              <a:t> </a:t>
            </a:r>
            <a:r>
              <a:rPr lang="en-US" sz="1890" dirty="0">
                <a:ea typeface="ＭＳ Ｐゴシック" charset="0"/>
              </a:rPr>
              <a:t>reusing an item that was previously accessed</a:t>
            </a:r>
          </a:p>
          <a:p>
            <a:r>
              <a:rPr lang="en-US" sz="2100" dirty="0">
                <a:ea typeface="ＭＳ Ｐゴシック" charset="0"/>
                <a:cs typeface="ＭＳ Ｐゴシック" charset="0"/>
              </a:rPr>
              <a:t>Memory hierarchy use this to improve </a:t>
            </a:r>
            <a:r>
              <a:rPr lang="en-US" sz="2100" i="1" dirty="0">
                <a:solidFill>
                  <a:srgbClr val="008000"/>
                </a:solidFill>
                <a:ea typeface="ＭＳ Ｐゴシック" charset="0"/>
                <a:cs typeface="ＭＳ Ｐゴシック" charset="0"/>
              </a:rPr>
              <a:t>average case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370421" y="2960370"/>
            <a:ext cx="1935242" cy="1920240"/>
          </a:xfrm>
          <a:prstGeom prst="rect">
            <a:avLst/>
          </a:prstGeom>
          <a:solidFill>
            <a:srgbClr val="89B0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512106" y="3200400"/>
            <a:ext cx="1638538" cy="56007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3512106" y="4320540"/>
            <a:ext cx="818435" cy="32004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4437222" y="4240530"/>
            <a:ext cx="818436" cy="51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on-chip </a:t>
            </a: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cache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4437222" y="4160520"/>
            <a:ext cx="743426" cy="6400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3440430" y="3840480"/>
            <a:ext cx="968455" cy="88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3472102" y="4323667"/>
            <a:ext cx="898445" cy="3185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rIns="0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registers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3378756" y="4000501"/>
            <a:ext cx="1085554" cy="31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arithmetic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3938827" y="3280411"/>
            <a:ext cx="824265" cy="31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3867150" y="2880361"/>
            <a:ext cx="1095172" cy="31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processor</a:t>
            </a: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5432346" y="3360420"/>
            <a:ext cx="893445" cy="120015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6499146" y="3120390"/>
            <a:ext cx="893445" cy="1680210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7565947" y="2960370"/>
            <a:ext cx="1116806" cy="2000250"/>
          </a:xfrm>
          <a:prstGeom prst="rect">
            <a:avLst/>
          </a:prstGeom>
          <a:solidFill>
            <a:srgbClr val="CF9E6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8917781" y="2800350"/>
            <a:ext cx="1413510" cy="2240280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11417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5352336" y="3440430"/>
            <a:ext cx="1005125" cy="99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Second level cache (SRAM)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6499147" y="3520440"/>
            <a:ext cx="976789" cy="88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Main memory</a:t>
            </a:r>
          </a:p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(DRAM)</a:t>
            </a: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7512606" y="3440430"/>
            <a:ext cx="1200150" cy="77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Secondary storage (Disk)</a:t>
            </a: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8952786" y="3520440"/>
            <a:ext cx="1378505" cy="88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Tertiary storage</a:t>
            </a:r>
          </a:p>
          <a:p>
            <a:pPr marL="0" marR="0" lvl="0" indent="0" algn="ctr" defTabSz="114173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(Tape/Cloud)</a:t>
            </a:r>
          </a:p>
        </p:txBody>
      </p:sp>
      <p:graphicFrame>
        <p:nvGraphicFramePr>
          <p:cNvPr id="14388" name="Group 52"/>
          <p:cNvGraphicFramePr>
            <a:graphicFrameLocks noGrp="1"/>
          </p:cNvGraphicFramePr>
          <p:nvPr/>
        </p:nvGraphicFramePr>
        <p:xfrm>
          <a:off x="2346961" y="5040630"/>
          <a:ext cx="7984331" cy="1395175"/>
        </p:xfrm>
        <a:graphic>
          <a:graphicData uri="http://schemas.openxmlformats.org/drawingml/2006/table">
            <a:tbl>
              <a:tblPr/>
              <a:tblGrid>
                <a:gridCol w="1330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01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38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Speed</a:t>
                      </a:r>
                    </a:p>
                  </a:txBody>
                  <a:tcPr marL="96012" marR="96012" marT="47972" marB="47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1ns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B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10ns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100ns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10ms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9E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10sec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2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Size</a:t>
                      </a:r>
                    </a:p>
                  </a:txBody>
                  <a:tcPr marL="96012" marR="96012" marT="47972" marB="47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KB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B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MB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GB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TB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9E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PB</a:t>
                      </a:r>
                    </a:p>
                  </a:txBody>
                  <a:tcPr marL="96012" marR="96012" marT="47972" marB="47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24527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Taking Timings </a:t>
            </a:r>
            <a:r>
              <a:rPr>
                <a:sym typeface="+mn-ea"/>
              </a:rPr>
              <a:t>计时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135</a:t>
            </a:fld>
            <a:endParaRPr lang="zh-CN" altLang="en-US"/>
          </a:p>
        </p:txBody>
      </p:sp>
      <p:sp>
        <p:nvSpPr>
          <p:cNvPr id="148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/>
              <a:t>What is time?</a:t>
            </a:r>
          </a:p>
          <a:p>
            <a:r>
              <a:rPr lang="en-US" altLang="en-US" b="0" dirty="0"/>
              <a:t>Start to finish?</a:t>
            </a:r>
          </a:p>
          <a:p>
            <a:r>
              <a:rPr lang="en-US" altLang="en-US" b="0" dirty="0"/>
              <a:t>A program segment of interest?</a:t>
            </a:r>
          </a:p>
          <a:p>
            <a:r>
              <a:rPr lang="en-US" altLang="en-US" b="0" dirty="0"/>
              <a:t>CPU time?</a:t>
            </a:r>
          </a:p>
          <a:p>
            <a:r>
              <a:rPr lang="en-US" altLang="en-US" b="0" dirty="0"/>
              <a:t>Wall clock time?</a:t>
            </a:r>
          </a:p>
        </p:txBody>
      </p:sp>
      <p:pic>
        <p:nvPicPr>
          <p:cNvPr id="148481" name="Picture 2" descr="analog clocks,clipped images,clocks,cropped images,cropped pictures,icons,PNG,timepieces,times,transparent background,wall cloc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53" y="3240405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Taking Timings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136</a:t>
            </a:fld>
            <a:endParaRPr lang="zh-CN" altLang="en-US"/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360" y="1728470"/>
            <a:ext cx="8101013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976110" y="1296670"/>
            <a:ext cx="1692275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rgbClr val="00B050"/>
                </a:solidFill>
                <a:latin typeface="+mn-lt"/>
              </a:rPr>
              <a:t>theoretical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rgbClr val="00B050"/>
                </a:solidFill>
                <a:latin typeface="+mn-lt"/>
              </a:rPr>
              <a:t>function</a:t>
            </a:r>
          </a:p>
        </p:txBody>
      </p:sp>
      <p:sp>
        <p:nvSpPr>
          <p:cNvPr id="149509" name="Freeform 6"/>
          <p:cNvSpPr>
            <a:spLocks noChangeArrowheads="1"/>
          </p:cNvSpPr>
          <p:nvPr/>
        </p:nvSpPr>
        <p:spPr bwMode="auto">
          <a:xfrm>
            <a:off x="4837748" y="1609408"/>
            <a:ext cx="2117725" cy="725487"/>
          </a:xfrm>
          <a:custGeom>
            <a:avLst/>
            <a:gdLst>
              <a:gd name="T0" fmla="*/ 2119086 w 2119086"/>
              <a:gd name="T1" fmla="*/ 0 h 725714"/>
              <a:gd name="T2" fmla="*/ 1045029 w 2119086"/>
              <a:gd name="T3" fmla="*/ 43543 h 725714"/>
              <a:gd name="T4" fmla="*/ 1538514 w 2119086"/>
              <a:gd name="T5" fmla="*/ 493485 h 725714"/>
              <a:gd name="T6" fmla="*/ 464457 w 2119086"/>
              <a:gd name="T7" fmla="*/ 362857 h 725714"/>
              <a:gd name="T8" fmla="*/ 0 w 2119086"/>
              <a:gd name="T9" fmla="*/ 725714 h 7257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19086"/>
              <a:gd name="T16" fmla="*/ 0 h 725714"/>
              <a:gd name="T17" fmla="*/ 2119086 w 2119086"/>
              <a:gd name="T18" fmla="*/ 725714 h 7257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19086" h="725714">
                <a:moveTo>
                  <a:pt x="2119086" y="0"/>
                </a:moveTo>
                <a:lnTo>
                  <a:pt x="1045029" y="43543"/>
                </a:lnTo>
                <a:cubicBezTo>
                  <a:pt x="948267" y="125791"/>
                  <a:pt x="1635276" y="440266"/>
                  <a:pt x="1538514" y="493485"/>
                </a:cubicBezTo>
                <a:cubicBezTo>
                  <a:pt x="1441752" y="546704"/>
                  <a:pt x="720876" y="324152"/>
                  <a:pt x="464457" y="362857"/>
                </a:cubicBezTo>
                <a:cubicBezTo>
                  <a:pt x="208038" y="401562"/>
                  <a:pt x="104019" y="563638"/>
                  <a:pt x="0" y="725714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49510" name="Rectangle 7"/>
          <p:cNvSpPr>
            <a:spLocks noChangeArrowheads="1"/>
          </p:cNvSpPr>
          <p:nvPr/>
        </p:nvSpPr>
        <p:spPr bwMode="auto">
          <a:xfrm>
            <a:off x="2512060" y="4536758"/>
            <a:ext cx="1509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000">
                <a:solidFill>
                  <a:srgbClr val="00B050"/>
                </a:solidFill>
                <a:latin typeface="NimbusMonL-Regu-Extend_850"/>
              </a:rPr>
              <a:t>MPI_Wtime</a:t>
            </a:r>
            <a:endParaRPr lang="en-US" altLang="en-US" sz="2000">
              <a:solidFill>
                <a:srgbClr val="00B050"/>
              </a:solidFill>
            </a:endParaRPr>
          </a:p>
        </p:txBody>
      </p:sp>
      <p:sp>
        <p:nvSpPr>
          <p:cNvPr id="149511" name="Rectangle 8"/>
          <p:cNvSpPr>
            <a:spLocks noChangeArrowheads="1"/>
          </p:cNvSpPr>
          <p:nvPr/>
        </p:nvSpPr>
        <p:spPr bwMode="auto">
          <a:xfrm>
            <a:off x="6112510" y="4392295"/>
            <a:ext cx="2360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2400">
                <a:solidFill>
                  <a:srgbClr val="00B050"/>
                </a:solidFill>
                <a:latin typeface="NimbusMonL-Regu-Extend_850"/>
              </a:rPr>
              <a:t>omp_get_wtime</a:t>
            </a:r>
            <a:endParaRPr lang="en-US" altLang="en-US" sz="2400">
              <a:solidFill>
                <a:srgbClr val="00B050"/>
              </a:solidFill>
            </a:endParaRPr>
          </a:p>
        </p:txBody>
      </p:sp>
      <p:sp>
        <p:nvSpPr>
          <p:cNvPr id="149512" name="Freeform 9"/>
          <p:cNvSpPr>
            <a:spLocks noChangeArrowheads="1"/>
          </p:cNvSpPr>
          <p:nvPr/>
        </p:nvSpPr>
        <p:spPr bwMode="auto">
          <a:xfrm>
            <a:off x="3185160" y="2639695"/>
            <a:ext cx="1201738" cy="1800225"/>
          </a:xfrm>
          <a:custGeom>
            <a:avLst/>
            <a:gdLst>
              <a:gd name="T0" fmla="*/ 984552 w 1202266"/>
              <a:gd name="T1" fmla="*/ 0 h 1799771"/>
              <a:gd name="T2" fmla="*/ 26609 w 1202266"/>
              <a:gd name="T3" fmla="*/ 493486 h 1799771"/>
              <a:gd name="T4" fmla="*/ 1144209 w 1202266"/>
              <a:gd name="T5" fmla="*/ 551543 h 1799771"/>
              <a:gd name="T6" fmla="*/ 374952 w 1202266"/>
              <a:gd name="T7" fmla="*/ 1799771 h 1799771"/>
              <a:gd name="T8" fmla="*/ 0 60000 65536"/>
              <a:gd name="T9" fmla="*/ 0 60000 65536"/>
              <a:gd name="T10" fmla="*/ 0 60000 65536"/>
              <a:gd name="T11" fmla="*/ 0 60000 65536"/>
              <a:gd name="T12" fmla="*/ 0 w 1202266"/>
              <a:gd name="T13" fmla="*/ 0 h 1799771"/>
              <a:gd name="T14" fmla="*/ 1202266 w 1202266"/>
              <a:gd name="T15" fmla="*/ 1799771 h 17997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2266" h="1799771">
                <a:moveTo>
                  <a:pt x="984552" y="0"/>
                </a:moveTo>
                <a:cubicBezTo>
                  <a:pt x="492276" y="200781"/>
                  <a:pt x="0" y="401562"/>
                  <a:pt x="26609" y="493486"/>
                </a:cubicBezTo>
                <a:cubicBezTo>
                  <a:pt x="53218" y="585410"/>
                  <a:pt x="1086152" y="333829"/>
                  <a:pt x="1144209" y="551543"/>
                </a:cubicBezTo>
                <a:cubicBezTo>
                  <a:pt x="1202266" y="769257"/>
                  <a:pt x="788609" y="1284514"/>
                  <a:pt x="374952" y="1799771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49513" name="Freeform 10"/>
          <p:cNvSpPr>
            <a:spLocks noChangeArrowheads="1"/>
          </p:cNvSpPr>
          <p:nvPr/>
        </p:nvSpPr>
        <p:spPr bwMode="auto">
          <a:xfrm>
            <a:off x="5010785" y="2639695"/>
            <a:ext cx="1263650" cy="1755775"/>
          </a:xfrm>
          <a:custGeom>
            <a:avLst/>
            <a:gdLst>
              <a:gd name="T0" fmla="*/ 0 w 1262742"/>
              <a:gd name="T1" fmla="*/ 0 h 1756229"/>
              <a:gd name="T2" fmla="*/ 1059542 w 1262742"/>
              <a:gd name="T3" fmla="*/ 377371 h 1756229"/>
              <a:gd name="T4" fmla="*/ 304800 w 1262742"/>
              <a:gd name="T5" fmla="*/ 580571 h 1756229"/>
              <a:gd name="T6" fmla="*/ 1262742 w 1262742"/>
              <a:gd name="T7" fmla="*/ 1756229 h 1756229"/>
              <a:gd name="T8" fmla="*/ 0 60000 65536"/>
              <a:gd name="T9" fmla="*/ 0 60000 65536"/>
              <a:gd name="T10" fmla="*/ 0 60000 65536"/>
              <a:gd name="T11" fmla="*/ 0 60000 65536"/>
              <a:gd name="T12" fmla="*/ 0 w 1262742"/>
              <a:gd name="T13" fmla="*/ 0 h 1756229"/>
              <a:gd name="T14" fmla="*/ 1262742 w 1262742"/>
              <a:gd name="T15" fmla="*/ 1756229 h 1756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2742" h="1756229">
                <a:moveTo>
                  <a:pt x="0" y="0"/>
                </a:moveTo>
                <a:cubicBezTo>
                  <a:pt x="504371" y="140304"/>
                  <a:pt x="1008742" y="280609"/>
                  <a:pt x="1059542" y="377371"/>
                </a:cubicBezTo>
                <a:cubicBezTo>
                  <a:pt x="1110342" y="474133"/>
                  <a:pt x="270933" y="350761"/>
                  <a:pt x="304800" y="580571"/>
                </a:cubicBezTo>
                <a:cubicBezTo>
                  <a:pt x="338667" y="810381"/>
                  <a:pt x="800704" y="1283305"/>
                  <a:pt x="1262742" y="1756229"/>
                </a:cubicBezTo>
              </a:path>
            </a:pathLst>
          </a:cu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Taking Timings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137</a:t>
            </a:fld>
            <a:endParaRPr lang="zh-CN" altLang="en-US"/>
          </a:p>
        </p:txBody>
      </p:sp>
      <p:pic>
        <p:nvPicPr>
          <p:cNvPr id="1505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5" y="1727835"/>
            <a:ext cx="1098931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2" name="Oval 5"/>
          <p:cNvSpPr>
            <a:spLocks noChangeArrowheads="1"/>
          </p:cNvSpPr>
          <p:nvPr/>
        </p:nvSpPr>
        <p:spPr bwMode="auto">
          <a:xfrm>
            <a:off x="1216660" y="1727835"/>
            <a:ext cx="1582420" cy="817241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Taking Timings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138</a:t>
            </a:fld>
            <a:endParaRPr lang="zh-CN" altLang="en-US"/>
          </a:p>
        </p:txBody>
      </p:sp>
      <p:pic>
        <p:nvPicPr>
          <p:cNvPr id="151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" y="1152525"/>
            <a:ext cx="8882380" cy="510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139</a:t>
            </a:fld>
            <a:endParaRPr lang="zh-CN" altLang="en-US"/>
          </a:p>
        </p:txBody>
      </p:sp>
      <p:pic>
        <p:nvPicPr>
          <p:cNvPr id="152579" name="Picture 3" descr="C:\Program Files\Microsoft Office\MEDIA\CAGCAT10\j0291984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970" y="1152525"/>
            <a:ext cx="2357755" cy="2494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68325" y="3816350"/>
            <a:ext cx="8699500" cy="2019935"/>
          </a:xfrm>
        </p:spPr>
        <p:txBody>
          <a:bodyPr/>
          <a:lstStyle/>
          <a:p>
            <a:pPr>
              <a:defRPr/>
            </a:pPr>
            <a:r>
              <a:rPr lang="en-US" sz="4800" dirty="0"/>
              <a:t>Parallel program design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Foster’s methodology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140</a:t>
            </a:fld>
            <a:endParaRPr lang="zh-CN" altLang="en-US"/>
          </a:p>
        </p:txBody>
      </p:sp>
      <p:sp>
        <p:nvSpPr>
          <p:cNvPr id="153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>
                <a:solidFill>
                  <a:srgbClr val="FF0000"/>
                </a:solidFill>
              </a:rPr>
              <a:t>Partitioning</a:t>
            </a:r>
            <a:r>
              <a:rPr lang="en-US" altLang="en-US" b="0"/>
              <a:t>: divide the computation to be performed and the data operated on by the computation into small tasks. </a:t>
            </a:r>
            <a:br>
              <a:rPr lang="en-US" altLang="en-US" b="0"/>
            </a:br>
            <a:br>
              <a:rPr lang="en-US" altLang="en-US" b="0"/>
            </a:br>
            <a:r>
              <a:rPr lang="en-US" altLang="en-US" b="0"/>
              <a:t>The focus here should be on identifying tasks that can be executed in parallel.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Foster’s methodology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141</a:t>
            </a:fld>
            <a:endParaRPr lang="zh-CN" altLang="en-US"/>
          </a:p>
        </p:txBody>
      </p:sp>
      <p:sp>
        <p:nvSpPr>
          <p:cNvPr id="154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 startAt="2"/>
            </a:pPr>
            <a:r>
              <a:rPr lang="en-US" altLang="en-US" b="0">
                <a:solidFill>
                  <a:srgbClr val="FF0000"/>
                </a:solidFill>
              </a:rPr>
              <a:t>Communication</a:t>
            </a:r>
            <a:r>
              <a:rPr lang="en-US" altLang="en-US" b="0"/>
              <a:t>: determine what communication needs to be carried out among the tasks identified in the previous step.</a:t>
            </a:r>
          </a:p>
        </p:txBody>
      </p:sp>
      <p:pic>
        <p:nvPicPr>
          <p:cNvPr id="154628" name="Picture 2" descr="communications,phones,Photographs,receivers,telecommunications,telephone receivers,teleph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707" y="2880361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Foster’s methodology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142</a:t>
            </a:fld>
            <a:endParaRPr lang="zh-CN" altLang="en-US"/>
          </a:p>
        </p:txBody>
      </p:sp>
      <p:sp>
        <p:nvSpPr>
          <p:cNvPr id="155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 startAt="3"/>
            </a:pPr>
            <a:r>
              <a:rPr lang="en-US" altLang="en-US" b="0">
                <a:solidFill>
                  <a:srgbClr val="FF0000"/>
                </a:solidFill>
              </a:rPr>
              <a:t>Agglomeration or aggregation</a:t>
            </a:r>
            <a:r>
              <a:rPr lang="en-US" altLang="en-US" b="0"/>
              <a:t>: combine tasks and communications identified in the first step into larger tasks. </a:t>
            </a:r>
            <a:br>
              <a:rPr lang="en-US" altLang="en-US" b="0"/>
            </a:br>
            <a:br>
              <a:rPr lang="en-US" altLang="en-US" b="0"/>
            </a:br>
            <a:r>
              <a:rPr lang="en-US" altLang="en-US" b="0"/>
              <a:t>For example, if task A must be executed before task B can be executed, it may make sense to aggregate them into a single composite task.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Foster’s methodology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143</a:t>
            </a:fld>
            <a:endParaRPr lang="zh-CN" altLang="en-US"/>
          </a:p>
        </p:txBody>
      </p:sp>
      <p:sp>
        <p:nvSpPr>
          <p:cNvPr id="156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 startAt="4"/>
            </a:pPr>
            <a:r>
              <a:rPr lang="en-US" altLang="en-US" b="0">
                <a:solidFill>
                  <a:srgbClr val="FF0000"/>
                </a:solidFill>
              </a:rPr>
              <a:t>Mapping</a:t>
            </a:r>
            <a:r>
              <a:rPr lang="en-US" altLang="en-US" b="0"/>
              <a:t>: assign the composite tasks identified in the previous step to processes/threads.</a:t>
            </a:r>
            <a:br>
              <a:rPr lang="en-US" altLang="en-US" b="0"/>
            </a:br>
            <a:br>
              <a:rPr lang="en-US" altLang="en-US" b="0"/>
            </a:br>
            <a:r>
              <a:rPr lang="en-US" altLang="en-US" b="0"/>
              <a:t>This should be done so that communication is minimized, and each process/thread gets roughly the same amount of work.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Example - histogram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144</a:t>
            </a:fld>
            <a:endParaRPr lang="zh-CN" altLang="en-US"/>
          </a:p>
        </p:txBody>
      </p:sp>
      <p:sp>
        <p:nvSpPr>
          <p:cNvPr id="157698" name="Content Placeholder 2"/>
          <p:cNvSpPr>
            <a:spLocks noGrp="1"/>
          </p:cNvSpPr>
          <p:nvPr>
            <p:ph idx="1"/>
          </p:nvPr>
        </p:nvSpPr>
        <p:spPr>
          <a:xfrm>
            <a:off x="684530" y="1125855"/>
            <a:ext cx="11188700" cy="1557020"/>
          </a:xfrm>
        </p:spPr>
        <p:txBody>
          <a:bodyPr/>
          <a:lstStyle/>
          <a:p>
            <a:r>
              <a:rPr lang="en-US" altLang="en-US" b="0"/>
              <a:t>1.3,2.9,0.4,0.3,1.3,4.4,1.7,0.4,3.2,0.3,4.9,2.4,3.1,4.4,3.9,0.4,4.2,4.5,4.9,0.9</a:t>
            </a:r>
          </a:p>
        </p:txBody>
      </p:sp>
      <p:pic>
        <p:nvPicPr>
          <p:cNvPr id="157700" name="Picture 5" descr="f02-20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495" y="2664460"/>
            <a:ext cx="6805295" cy="352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Serial program - input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145</a:t>
            </a:fld>
            <a:endParaRPr lang="zh-CN" altLang="en-US"/>
          </a:p>
        </p:txBody>
      </p:sp>
      <p:sp>
        <p:nvSpPr>
          <p:cNvPr id="1587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/>
              <a:t>The number of measurements: </a:t>
            </a:r>
            <a:r>
              <a:rPr lang="en-US" altLang="en-US" b="0">
                <a:solidFill>
                  <a:srgbClr val="00B050"/>
                </a:solidFill>
              </a:rPr>
              <a:t>data_count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/>
              <a:t>An array of data_count floats: </a:t>
            </a:r>
            <a:r>
              <a:rPr lang="en-US" altLang="en-US" b="0">
                <a:solidFill>
                  <a:srgbClr val="00B050"/>
                </a:solidFill>
              </a:rPr>
              <a:t>data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/>
              <a:t>The minimum value for the bin containing the smallest values: </a:t>
            </a:r>
            <a:r>
              <a:rPr lang="en-US" altLang="en-US" b="0">
                <a:solidFill>
                  <a:srgbClr val="00B050"/>
                </a:solidFill>
              </a:rPr>
              <a:t>min_meas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/>
              <a:t>The maximum value for the bin containing the largest values: </a:t>
            </a:r>
            <a:r>
              <a:rPr lang="en-US" altLang="en-US" b="0">
                <a:solidFill>
                  <a:srgbClr val="00B050"/>
                </a:solidFill>
              </a:rPr>
              <a:t>max_meas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/>
              <a:t>The number of bins: </a:t>
            </a:r>
            <a:r>
              <a:rPr lang="en-US" altLang="en-US" b="0">
                <a:solidFill>
                  <a:srgbClr val="00B050"/>
                </a:solidFill>
              </a:rPr>
              <a:t>bin_count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Serial program - output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146</a:t>
            </a:fld>
            <a:endParaRPr lang="zh-CN" altLang="en-US"/>
          </a:p>
        </p:txBody>
      </p:sp>
      <p:sp>
        <p:nvSpPr>
          <p:cNvPr id="159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 err="1">
                <a:solidFill>
                  <a:srgbClr val="00B050"/>
                </a:solidFill>
              </a:rPr>
              <a:t>bin_maxes</a:t>
            </a:r>
            <a:r>
              <a:rPr lang="en-US" altLang="en-US" b="0" dirty="0"/>
              <a:t> : an array of </a:t>
            </a:r>
            <a:r>
              <a:rPr lang="en-US" altLang="en-US" b="0" dirty="0" err="1"/>
              <a:t>bin_count</a:t>
            </a:r>
            <a:r>
              <a:rPr lang="en-US" altLang="en-US" b="0" dirty="0"/>
              <a:t> floats, </a:t>
            </a:r>
            <a:r>
              <a:rPr lang="zh-CN" altLang="en-US" b="0" dirty="0"/>
              <a:t>每个桶的上界</a:t>
            </a:r>
            <a:br>
              <a:rPr lang="en-US" altLang="en-US" b="0" dirty="0"/>
            </a:br>
            <a:endParaRPr lang="en-US" altLang="en-US" b="0" dirty="0"/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 err="1">
                <a:solidFill>
                  <a:srgbClr val="00B050"/>
                </a:solidFill>
              </a:rPr>
              <a:t>bin_counts</a:t>
            </a:r>
            <a:r>
              <a:rPr lang="en-US" altLang="en-US" b="0" dirty="0"/>
              <a:t> : an array of </a:t>
            </a:r>
            <a:r>
              <a:rPr lang="en-US" altLang="en-US" b="0" dirty="0" err="1"/>
              <a:t>bin_count</a:t>
            </a:r>
            <a:r>
              <a:rPr lang="en-US" altLang="en-US" b="0" dirty="0"/>
              <a:t> </a:t>
            </a:r>
            <a:r>
              <a:rPr lang="en-US" altLang="en-US" b="0" dirty="0" err="1"/>
              <a:t>ints</a:t>
            </a:r>
            <a:r>
              <a:rPr lang="zh-CN" altLang="en-US" b="0" dirty="0"/>
              <a:t>，每个桶的数据个数</a:t>
            </a:r>
            <a:endParaRPr lang="en-US" altLang="en-US" b="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First two stages of Foster’s Methodology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147</a:t>
            </a:fld>
            <a:endParaRPr lang="zh-CN" altLang="en-US"/>
          </a:p>
        </p:txBody>
      </p:sp>
      <p:pic>
        <p:nvPicPr>
          <p:cNvPr id="160771" name="Picture 2" descr="f02-21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2301240"/>
            <a:ext cx="11398250" cy="2598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0FB79E-D0FC-5D49-920F-679F5E8B1484}"/>
              </a:ext>
            </a:extLst>
          </p:cNvPr>
          <p:cNvSpPr txBox="1"/>
          <p:nvPr/>
        </p:nvSpPr>
        <p:spPr>
          <a:xfrm>
            <a:off x="928192" y="5328642"/>
            <a:ext cx="703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mic Sans MS" panose="030F0902030302020204" pitchFamily="66" charset="0"/>
              </a:rPr>
              <a:t>Global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variable: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 err="1">
                <a:latin typeface="Comic Sans MS" panose="030F0902030302020204" pitchFamily="66" charset="0"/>
              </a:rPr>
              <a:t>bin_counts</a:t>
            </a:r>
            <a:r>
              <a:rPr lang="en-US" altLang="zh-CN" sz="3200" dirty="0">
                <a:latin typeface="Comic Sans MS" panose="030F0902030302020204" pitchFamily="66" charset="0"/>
              </a:rPr>
              <a:t>[],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data[]</a:t>
            </a:r>
            <a:endParaRPr lang="en-CN" sz="32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226" y="575781"/>
            <a:ext cx="11233328" cy="575776"/>
          </a:xfrm>
        </p:spPr>
        <p:txBody>
          <a:bodyPr/>
          <a:lstStyle/>
          <a:p>
            <a:r>
              <a:rPr lang="en-US">
                <a:sym typeface="+mn-ea"/>
              </a:rPr>
              <a:t>Alternative definition of tasks and communication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148</a:t>
            </a:fld>
            <a:endParaRPr lang="zh-CN" altLang="en-US"/>
          </a:p>
        </p:txBody>
      </p:sp>
      <p:pic>
        <p:nvPicPr>
          <p:cNvPr id="161795" name="Picture 3" descr="f02-22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966595"/>
            <a:ext cx="10161905" cy="357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D0CC45-F76B-EF4C-B4E6-BCD4A30D7572}"/>
              </a:ext>
            </a:extLst>
          </p:cNvPr>
          <p:cNvSpPr txBox="1"/>
          <p:nvPr/>
        </p:nvSpPr>
        <p:spPr>
          <a:xfrm>
            <a:off x="2143388" y="5752594"/>
            <a:ext cx="70310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mic Sans MS" panose="030F0902030302020204" pitchFamily="66" charset="0"/>
              </a:rPr>
              <a:t>Global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variable: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 err="1">
                <a:latin typeface="Comic Sans MS" panose="030F0902030302020204" pitchFamily="66" charset="0"/>
              </a:rPr>
              <a:t>bin_counts</a:t>
            </a:r>
            <a:r>
              <a:rPr lang="en-US" altLang="zh-CN" sz="3200" dirty="0">
                <a:latin typeface="Comic Sans MS" panose="030F0902030302020204" pitchFamily="66" charset="0"/>
              </a:rPr>
              <a:t>[],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data[]</a:t>
            </a:r>
          </a:p>
          <a:p>
            <a:r>
              <a:rPr lang="en-US" altLang="zh-CN" sz="3200" dirty="0">
                <a:latin typeface="Comic Sans MS" panose="030F0902030302020204" pitchFamily="66" charset="0"/>
              </a:rPr>
              <a:t>Local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variable:</a:t>
            </a:r>
            <a:r>
              <a:rPr lang="zh-CN" altLang="en-US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 err="1">
                <a:latin typeface="Comic Sans MS" panose="030F0902030302020204" pitchFamily="66" charset="0"/>
              </a:rPr>
              <a:t>loc_bin_cts</a:t>
            </a:r>
            <a:r>
              <a:rPr lang="en-US" altLang="zh-CN" sz="3200">
                <a:latin typeface="Comic Sans MS" panose="030F0902030302020204" pitchFamily="66" charset="0"/>
              </a:rPr>
              <a:t>[]</a:t>
            </a:r>
            <a:endParaRPr lang="en-CN" sz="32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Adding the local arrays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149</a:t>
            </a:fld>
            <a:endParaRPr lang="zh-CN" altLang="en-US"/>
          </a:p>
        </p:txBody>
      </p:sp>
      <p:pic>
        <p:nvPicPr>
          <p:cNvPr id="162819" name="Picture 3" descr="f02-23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05" y="1472565"/>
            <a:ext cx="7472045" cy="444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Concluding Remarks 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150</a:t>
            </a:fld>
            <a:endParaRPr lang="zh-CN" altLang="en-US"/>
          </a:p>
        </p:txBody>
      </p:sp>
      <p:sp>
        <p:nvSpPr>
          <p:cNvPr id="163842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Serial systems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The standard model of computer hardware has been the von Neumann architecture.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Parallel hardware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Flynn’s taxonomy.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Parallel software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We focus on software for homogeneous MIMD systems, consisting of a single program that obtains parallelism by branching.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 SPMD programs.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Concluding Remarks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151</a:t>
            </a:fld>
            <a:endParaRPr lang="zh-CN" altLang="en-US"/>
          </a:p>
        </p:txBody>
      </p:sp>
      <p:sp>
        <p:nvSpPr>
          <p:cNvPr id="164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Input and Output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We’ll write programs in which one process or thread can access stdin, and all processes can access </a:t>
            </a:r>
            <a:r>
              <a:rPr lang="en-US" altLang="en-US" b="0" dirty="0" err="1">
                <a:latin typeface="Comic Sans MS" panose="030F0702030302020204" pitchFamily="66" charset="0"/>
              </a:rPr>
              <a:t>stdout</a:t>
            </a:r>
            <a:r>
              <a:rPr lang="en-US" altLang="en-US" b="0" dirty="0">
                <a:latin typeface="Comic Sans MS" panose="030F0702030302020204" pitchFamily="66" charset="0"/>
              </a:rPr>
              <a:t> and stderr. 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However, because of nondeterminism, except for debug output we’ll usually have a single process or thread accessing </a:t>
            </a:r>
            <a:r>
              <a:rPr lang="en-US" altLang="en-US" b="0" dirty="0" err="1">
                <a:latin typeface="Comic Sans MS" panose="030F0702030302020204" pitchFamily="66" charset="0"/>
              </a:rPr>
              <a:t>stdout</a:t>
            </a:r>
            <a:r>
              <a:rPr lang="en-US" altLang="en-US" b="0" dirty="0"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Concluding Remarks (3)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t>152</a:t>
            </a:fld>
            <a:endParaRPr lang="zh-CN" altLang="en-US"/>
          </a:p>
        </p:txBody>
      </p:sp>
      <p:sp>
        <p:nvSpPr>
          <p:cNvPr id="165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0" dirty="0">
                <a:latin typeface="Comic Sans MS" panose="030F0702030302020204" pitchFamily="66" charset="0"/>
              </a:rPr>
              <a:t>Performance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Speedup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Efficiency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Amdahl’s law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Scalability</a:t>
            </a:r>
          </a:p>
          <a:p>
            <a:r>
              <a:rPr lang="en-US" altLang="en-US" b="0" dirty="0">
                <a:latin typeface="Comic Sans MS" panose="030F0702030302020204" pitchFamily="66" charset="0"/>
              </a:rPr>
              <a:t>Parallel Program Design</a:t>
            </a:r>
          </a:p>
          <a:p>
            <a:pPr lvl="1"/>
            <a:r>
              <a:rPr lang="en-US" altLang="en-US" b="0" dirty="0">
                <a:latin typeface="Comic Sans MS" panose="030F0702030302020204" pitchFamily="66" charset="0"/>
              </a:rPr>
              <a:t>Foster’s methodology</a:t>
            </a:r>
          </a:p>
          <a:p>
            <a:endParaRPr lang="en-US" altLang="en-US" b="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b84f2b5-c482-4dcc-806b-467d602bb0da}"/>
  <p:tag name="TABLE_ENDDRAG_ORIGIN_RECT" val="528*186"/>
  <p:tag name="TABLE_ENDDRAG_RECT" val="264*294*528*18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2249</TotalTime>
  <Words>6311</Words>
  <Application>Microsoft Office PowerPoint</Application>
  <PresentationFormat>自定义</PresentationFormat>
  <Paragraphs>1092</Paragraphs>
  <Slides>152</Slides>
  <Notes>3</Notes>
  <HiddenSlides>12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152</vt:i4>
      </vt:variant>
    </vt:vector>
  </HeadingPairs>
  <TitlesOfParts>
    <vt:vector size="176" baseType="lpstr">
      <vt:lpstr>CMMI10</vt:lpstr>
      <vt:lpstr>CMR10</vt:lpstr>
      <vt:lpstr>CMSY10</vt:lpstr>
      <vt:lpstr>ＭＳ Ｐゴシック</vt:lpstr>
      <vt:lpstr>ＭＳ Ｐゴシック</vt:lpstr>
      <vt:lpstr>NimbusMonL-Regu-Extend_850</vt:lpstr>
      <vt:lpstr>NimbusRomNo9L-Medi</vt:lpstr>
      <vt:lpstr>NimbusRomNo9L-Regu</vt:lpstr>
      <vt:lpstr>NimbusRomNo9L-ReguItal</vt:lpstr>
      <vt:lpstr>宋体</vt:lpstr>
      <vt:lpstr>微软雅黑</vt:lpstr>
      <vt:lpstr>黑体</vt:lpstr>
      <vt:lpstr>Arial</vt:lpstr>
      <vt:lpstr>Arial Black</vt:lpstr>
      <vt:lpstr>Bodoni MT</vt:lpstr>
      <vt:lpstr>Calibri</vt:lpstr>
      <vt:lpstr>Century Gothic</vt:lpstr>
      <vt:lpstr>Comic Sans MS</vt:lpstr>
      <vt:lpstr>Helvetica</vt:lpstr>
      <vt:lpstr>Lucida Handwriting</vt:lpstr>
      <vt:lpstr>Times New Roman</vt:lpstr>
      <vt:lpstr>Wingdings</vt:lpstr>
      <vt:lpstr>Office 主题​​</vt:lpstr>
      <vt:lpstr>教育部工程研究中心项目汇报-改</vt:lpstr>
      <vt:lpstr>PowerPoint 演示文稿</vt:lpstr>
      <vt:lpstr>    并行硬件和软件</vt:lpstr>
      <vt:lpstr>Roadmap</vt:lpstr>
      <vt:lpstr>Some background</vt:lpstr>
      <vt:lpstr>Serial hardware and software</vt:lpstr>
      <vt:lpstr>The von Neumann Architecture</vt:lpstr>
      <vt:lpstr>Main memory</vt:lpstr>
      <vt:lpstr>Central processing unit (CPU)</vt:lpstr>
      <vt:lpstr>Key terms</vt:lpstr>
      <vt:lpstr>PowerPoint 演示文稿</vt:lpstr>
      <vt:lpstr>PowerPoint 演示文稿</vt:lpstr>
      <vt:lpstr>von Neumann bottleneck（冯诺依曼瓶颈）</vt:lpstr>
      <vt:lpstr>An operating system “process” （进程）</vt:lpstr>
      <vt:lpstr>Multitasking （多任务）</vt:lpstr>
      <vt:lpstr>Threading（线程） </vt:lpstr>
      <vt:lpstr>A process and two threads</vt:lpstr>
      <vt:lpstr>Modifications to the von neumann model （对冯诺依曼模型的改进）</vt:lpstr>
      <vt:lpstr>Basics of caching</vt:lpstr>
      <vt:lpstr>Principle of locality（局部性）</vt:lpstr>
      <vt:lpstr>Principle of locality</vt:lpstr>
      <vt:lpstr>Levels of Cache</vt:lpstr>
      <vt:lpstr>Cache Basics</vt:lpstr>
      <vt:lpstr>Cache hit</vt:lpstr>
      <vt:lpstr>Cache miss</vt:lpstr>
      <vt:lpstr>Issues with cache</vt:lpstr>
      <vt:lpstr>Cache mappings</vt:lpstr>
      <vt:lpstr>n-way set associative（n路组相联）</vt:lpstr>
      <vt:lpstr>Example </vt:lpstr>
      <vt:lpstr>Caches and programs</vt:lpstr>
      <vt:lpstr>Virtual memory 虚拟存储器 (1)</vt:lpstr>
      <vt:lpstr>Virtual memory虚拟存储器(2)</vt:lpstr>
      <vt:lpstr>Virtual memory (3)</vt:lpstr>
      <vt:lpstr>Virtual memory (4)</vt:lpstr>
      <vt:lpstr>Virtual page numbers（虚拟页号）</vt:lpstr>
      <vt:lpstr>Page table</vt:lpstr>
      <vt:lpstr>Translation-lookaside buffer (TLB)</vt:lpstr>
      <vt:lpstr>Translation-lookaside buffer (2)</vt:lpstr>
      <vt:lpstr>Instruction Level Parallelism (ILP)  指令级并行</vt:lpstr>
      <vt:lpstr>Instruction Level Parallelism (ILP)</vt:lpstr>
      <vt:lpstr>Instruction Level Parallelism (2)</vt:lpstr>
      <vt:lpstr>Pipelining</vt:lpstr>
      <vt:lpstr>Pipelining example (1)</vt:lpstr>
      <vt:lpstr>Pipelining example (2)</vt:lpstr>
      <vt:lpstr>Pipelining (3)</vt:lpstr>
      <vt:lpstr>Pipelining (4)</vt:lpstr>
      <vt:lpstr>Pipelining (5)</vt:lpstr>
      <vt:lpstr>Multiple Issue (1)</vt:lpstr>
      <vt:lpstr>Multiple Issue (2)</vt:lpstr>
      <vt:lpstr>Speculation (1) </vt:lpstr>
      <vt:lpstr>Speculation (2) </vt:lpstr>
      <vt:lpstr>Hardware multithreading 硬件多线程(1)</vt:lpstr>
      <vt:lpstr>Hardware multithreading (2)</vt:lpstr>
      <vt:lpstr>Hardware multithreading (3)</vt:lpstr>
      <vt:lpstr>Hardware multithreading (3)</vt:lpstr>
      <vt:lpstr>PowerPoint 演示文稿</vt:lpstr>
      <vt:lpstr>PowerPoint 演示文稿</vt:lpstr>
      <vt:lpstr>Flynn’s Taxonomy</vt:lpstr>
      <vt:lpstr>SIMD</vt:lpstr>
      <vt:lpstr>SIMD example</vt:lpstr>
      <vt:lpstr>SIMD</vt:lpstr>
      <vt:lpstr>SIMD drawbacks</vt:lpstr>
      <vt:lpstr>Vector processors 向量处理器 (1)</vt:lpstr>
      <vt:lpstr>Vector processors (2)</vt:lpstr>
      <vt:lpstr>Vector processors (3)</vt:lpstr>
      <vt:lpstr>Vector processors - Pros</vt:lpstr>
      <vt:lpstr>Vector processors - Cons</vt:lpstr>
      <vt:lpstr>Graphics Processing Units (GPU)</vt:lpstr>
      <vt:lpstr>GPUs</vt:lpstr>
      <vt:lpstr>GPUs</vt:lpstr>
      <vt:lpstr>Summary </vt:lpstr>
      <vt:lpstr>MIMD</vt:lpstr>
      <vt:lpstr>Shared Memory System (1)</vt:lpstr>
      <vt:lpstr>Shared Memory System (2)</vt:lpstr>
      <vt:lpstr>Shared Memory System</vt:lpstr>
      <vt:lpstr>UMA一致内存访问 multicore system</vt:lpstr>
      <vt:lpstr>NUMA multicore system</vt:lpstr>
      <vt:lpstr>Distributed Memory System</vt:lpstr>
      <vt:lpstr>Distributed Memory System</vt:lpstr>
      <vt:lpstr>Hybrid</vt:lpstr>
      <vt:lpstr>Interconnection networks 互连网络</vt:lpstr>
      <vt:lpstr>Shared memory interconnects</vt:lpstr>
      <vt:lpstr>Shared memory interconnects</vt:lpstr>
      <vt:lpstr>PowerPoint 演示文稿</vt:lpstr>
      <vt:lpstr>Distributed memory interconnects</vt:lpstr>
      <vt:lpstr>Direct interconnect</vt:lpstr>
      <vt:lpstr>Bisection width （等分宽度）</vt:lpstr>
      <vt:lpstr>Two bisections of a ring</vt:lpstr>
      <vt:lpstr>A bisection of a toroidal mesh</vt:lpstr>
      <vt:lpstr>Definitions  </vt:lpstr>
      <vt:lpstr>Fully connected network</vt:lpstr>
      <vt:lpstr>Hypercube 超立方体</vt:lpstr>
      <vt:lpstr>Hypercubes</vt:lpstr>
      <vt:lpstr>Indirect interconnects</vt:lpstr>
      <vt:lpstr>A generic indirect network</vt:lpstr>
      <vt:lpstr>Crossbar interconnect for distributed memory</vt:lpstr>
      <vt:lpstr>An omega network</vt:lpstr>
      <vt:lpstr>A fat-tree network</vt:lpstr>
      <vt:lpstr>A dragonfly network </vt:lpstr>
      <vt:lpstr>HPC interconnect technologies</vt:lpstr>
      <vt:lpstr>More definitions</vt:lpstr>
      <vt:lpstr>PowerPoint 演示文稿</vt:lpstr>
      <vt:lpstr>Cache coherence</vt:lpstr>
      <vt:lpstr>Cache coherence</vt:lpstr>
      <vt:lpstr>Snooping Cache Coherence</vt:lpstr>
      <vt:lpstr>Directory Based Cache Coherence</vt:lpstr>
      <vt:lpstr>Parallel software</vt:lpstr>
      <vt:lpstr>The burden is on software 从硬件到软件，我们需要注意什么？</vt:lpstr>
      <vt:lpstr>SPMD – single program multiple data</vt:lpstr>
      <vt:lpstr>Writing Parallel Programs</vt:lpstr>
      <vt:lpstr>Shared Memory</vt:lpstr>
      <vt:lpstr>Nondeterminism 非确定性</vt:lpstr>
      <vt:lpstr>Nondeterminism</vt:lpstr>
      <vt:lpstr>Nondeterminism</vt:lpstr>
      <vt:lpstr>busy-waiting 忙等待</vt:lpstr>
      <vt:lpstr>message-passing 消息传递</vt:lpstr>
      <vt:lpstr>Partitioned Global Address Space Languages</vt:lpstr>
      <vt:lpstr>Input and Output</vt:lpstr>
      <vt:lpstr>Input and Output</vt:lpstr>
      <vt:lpstr>Input and Output</vt:lpstr>
      <vt:lpstr>Performance</vt:lpstr>
      <vt:lpstr>Speedup </vt:lpstr>
      <vt:lpstr>Efficiency of a parallel program</vt:lpstr>
      <vt:lpstr>Speedups and efficiencies of a parallel program</vt:lpstr>
      <vt:lpstr>Speedups and efficiencies of parallel program on different problem sizes</vt:lpstr>
      <vt:lpstr>Speedup</vt:lpstr>
      <vt:lpstr>Efficiency</vt:lpstr>
      <vt:lpstr>Effect of overhead</vt:lpstr>
      <vt:lpstr>Example</vt:lpstr>
      <vt:lpstr>Example (cont.)</vt:lpstr>
      <vt:lpstr>Example (cont.)</vt:lpstr>
      <vt:lpstr>Scalability 可扩展性分析（定性）</vt:lpstr>
      <vt:lpstr>Perfect scalability vs strong or weak scalability</vt:lpstr>
      <vt:lpstr>Limits to Parallelism</vt:lpstr>
      <vt:lpstr>Limits to Performance            (Single Processor Memory Hierarchy)</vt:lpstr>
      <vt:lpstr>Taking Timings 计时</vt:lpstr>
      <vt:lpstr>Taking Timings</vt:lpstr>
      <vt:lpstr>Taking Timings</vt:lpstr>
      <vt:lpstr>Taking Timings</vt:lpstr>
      <vt:lpstr>Parallel program design</vt:lpstr>
      <vt:lpstr>Foster’s methodology</vt:lpstr>
      <vt:lpstr>Foster’s methodology</vt:lpstr>
      <vt:lpstr>Foster’s methodology</vt:lpstr>
      <vt:lpstr>Foster’s methodology</vt:lpstr>
      <vt:lpstr>Example - histogram</vt:lpstr>
      <vt:lpstr>Serial program - input</vt:lpstr>
      <vt:lpstr>Serial program - output</vt:lpstr>
      <vt:lpstr>First two stages of Foster’s Methodology</vt:lpstr>
      <vt:lpstr>Alternative definition of tasks and communication</vt:lpstr>
      <vt:lpstr>Adding the local arrays</vt:lpstr>
      <vt:lpstr>Concluding Remarks (2)</vt:lpstr>
      <vt:lpstr>Concluding Remarks (3)</vt:lpstr>
      <vt:lpstr>Concluding Remarks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2841</cp:revision>
  <dcterms:created xsi:type="dcterms:W3CDTF">2016-05-19T09:43:00Z</dcterms:created>
  <dcterms:modified xsi:type="dcterms:W3CDTF">2025-02-23T13:19:52Z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72F41233F51447EE8CDBBFEDE81AA927</vt:lpwstr>
  </property>
</Properties>
</file>