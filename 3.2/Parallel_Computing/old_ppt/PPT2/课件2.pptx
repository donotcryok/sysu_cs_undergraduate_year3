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1231" r:id="rId3"/>
    <p:sldId id="1288" r:id="rId4"/>
    <p:sldId id="1289" r:id="rId5"/>
    <p:sldId id="1290" r:id="rId6"/>
    <p:sldId id="1291" r:id="rId7"/>
    <p:sldId id="1292" r:id="rId8"/>
    <p:sldId id="1293" r:id="rId9"/>
    <p:sldId id="1294" r:id="rId10"/>
    <p:sldId id="1295" r:id="rId11"/>
    <p:sldId id="1296" r:id="rId12"/>
    <p:sldId id="1297" r:id="rId13"/>
    <p:sldId id="1298" r:id="rId14"/>
    <p:sldId id="1299" r:id="rId15"/>
    <p:sldId id="1300" r:id="rId16"/>
    <p:sldId id="1301" r:id="rId17"/>
    <p:sldId id="1302" r:id="rId18"/>
    <p:sldId id="1303" r:id="rId19"/>
    <p:sldId id="1329" r:id="rId20"/>
    <p:sldId id="1305" r:id="rId21"/>
    <p:sldId id="1306" r:id="rId22"/>
    <p:sldId id="1307" r:id="rId23"/>
    <p:sldId id="1308" r:id="rId24"/>
    <p:sldId id="1309" r:id="rId25"/>
    <p:sldId id="1310" r:id="rId26"/>
    <p:sldId id="1311" r:id="rId27"/>
    <p:sldId id="1312" r:id="rId28"/>
    <p:sldId id="1313" r:id="rId29"/>
    <p:sldId id="1314" r:id="rId30"/>
    <p:sldId id="1315" r:id="rId31"/>
    <p:sldId id="1316" r:id="rId32"/>
    <p:sldId id="1317" r:id="rId33"/>
    <p:sldId id="1318" r:id="rId34"/>
    <p:sldId id="1319" r:id="rId35"/>
    <p:sldId id="1320" r:id="rId36"/>
    <p:sldId id="1321" r:id="rId37"/>
    <p:sldId id="1322" r:id="rId38"/>
    <p:sldId id="1323" r:id="rId39"/>
    <p:sldId id="1324" r:id="rId40"/>
    <p:sldId id="1325" r:id="rId41"/>
    <p:sldId id="1326" r:id="rId42"/>
    <p:sldId id="1327" r:id="rId43"/>
    <p:sldId id="1328" r:id="rId44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6">
          <p15:clr>
            <a:srgbClr val="A4A3A4"/>
          </p15:clr>
        </p15:guide>
        <p15:guide id="2" pos="408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38446-675D-434B-8313-9E1A732F8088}" v="1" dt="2023-08-27T09:42:59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78" d="100"/>
          <a:sy n="78" d="100"/>
        </p:scale>
        <p:origin x="1003" y="72"/>
      </p:cViewPr>
      <p:guideLst>
        <p:guide orient="horz" pos="2286"/>
        <p:guide pos="40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黄聃" userId="05fd6555-67a9-4797-980c-de46b7ca3e6c" providerId="ADAL" clId="{19438446-675D-434B-8313-9E1A732F8088}"/>
    <pc:docChg chg="modSld">
      <pc:chgData name="黄聃" userId="05fd6555-67a9-4797-980c-de46b7ca3e6c" providerId="ADAL" clId="{19438446-675D-434B-8313-9E1A732F8088}" dt="2023-08-27T09:42:59.411" v="34" actId="2711"/>
      <pc:docMkLst>
        <pc:docMk/>
      </pc:docMkLst>
      <pc:sldChg chg="modSp mod">
        <pc:chgData name="黄聃" userId="05fd6555-67a9-4797-980c-de46b7ca3e6c" providerId="ADAL" clId="{19438446-675D-434B-8313-9E1A732F8088}" dt="2023-08-26T16:02:36.167" v="33" actId="20577"/>
        <pc:sldMkLst>
          <pc:docMk/>
          <pc:sldMk cId="0" sldId="256"/>
        </pc:sldMkLst>
        <pc:spChg chg="mod">
          <ac:chgData name="黄聃" userId="05fd6555-67a9-4797-980c-de46b7ca3e6c" providerId="ADAL" clId="{19438446-675D-434B-8313-9E1A732F8088}" dt="2023-08-26T16:02:31.231" v="32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黄聃" userId="05fd6555-67a9-4797-980c-de46b7ca3e6c" providerId="ADAL" clId="{19438446-675D-434B-8313-9E1A732F8088}" dt="2023-08-26T16:02:36.167" v="33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">
        <pc:chgData name="黄聃" userId="05fd6555-67a9-4797-980c-de46b7ca3e6c" providerId="ADAL" clId="{19438446-675D-434B-8313-9E1A732F8088}" dt="2023-08-27T09:42:59.411" v="34" actId="2711"/>
        <pc:sldMkLst>
          <pc:docMk/>
          <pc:sldMk cId="0" sldId="1309"/>
        </pc:sldMkLst>
        <pc:spChg chg="mod">
          <ac:chgData name="黄聃" userId="05fd6555-67a9-4797-980c-de46b7ca3e6c" providerId="ADAL" clId="{19438446-675D-434B-8313-9E1A732F8088}" dt="2023-08-27T09:42:59.411" v="34" actId="2711"/>
          <ac:spMkLst>
            <pc:docMk/>
            <pc:sldMk cId="0" sldId="1309"/>
            <ac:spMk id="430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32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8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4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4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20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38523FED-A90C-3245-9F60-193B78B5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>
              <a:defRPr sz="3200" b="0" i="0" baseline="0">
                <a:latin typeface="Comic Sans MS" panose="030F0902030302020204" pitchFamily="66" charset="0"/>
              </a:defRPr>
            </a:lvl1pPr>
            <a:lvl2pPr>
              <a:defRPr sz="2800" b="0" i="0" baseline="0">
                <a:latin typeface="Comic Sans MS" panose="030F0902030302020204" pitchFamily="66" charset="0"/>
              </a:defRPr>
            </a:lvl2pPr>
            <a:lvl3pPr>
              <a:defRPr sz="2400" b="0" i="0" baseline="0">
                <a:latin typeface="Comic Sans MS" panose="030F0902030302020204" pitchFamily="66" charset="0"/>
              </a:defRPr>
            </a:lvl3pPr>
            <a:lvl4pPr>
              <a:defRPr sz="2000" b="0" i="0" baseline="0">
                <a:latin typeface="Comic Sans MS" panose="030F0902030302020204" pitchFamily="66" charset="0"/>
              </a:defRPr>
            </a:lvl4pPr>
            <a:lvl5pPr>
              <a:defRPr sz="1800" b="0" i="0" baseline="0">
                <a:latin typeface="Comic Sans MS" panose="030F0902030302020204" pitchFamily="66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dirty="0">
          <a:solidFill>
            <a:srgbClr val="0070C0"/>
          </a:solidFill>
          <a:latin typeface="+mn-lt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8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</a:t>
            </a: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97572"/>
            <a:ext cx="8136904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Roadmap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1480820"/>
            <a:ext cx="11483340" cy="4563110"/>
          </a:xfrm>
        </p:spPr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Why we need ever-increasing performance.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Why we</a:t>
            </a:r>
            <a:r>
              <a:rPr lang="en-US" altLang="zh-CN" dirty="0"/>
              <a:t>’</a:t>
            </a:r>
            <a:r>
              <a:rPr lang="en-US" altLang="ja-JP" dirty="0"/>
              <a:t>re building parallel systems.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Why we need to write parallel programs.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How do we write parallel programs?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What we</a:t>
            </a:r>
            <a:r>
              <a:rPr lang="zh-CN" altLang="en-US" dirty="0"/>
              <a:t> </a:t>
            </a:r>
            <a:r>
              <a:rPr lang="en-US" altLang="ja-JP" dirty="0"/>
              <a:t>will be doing.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Concurrent, parallel, distributed!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Changing times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21508" name="Content Placeholder 8"/>
          <p:cNvSpPr>
            <a:spLocks noGrp="1"/>
          </p:cNvSpPr>
          <p:nvPr>
            <p:ph idx="1"/>
          </p:nvPr>
        </p:nvSpPr>
        <p:spPr>
          <a:xfrm>
            <a:off x="539750" y="1244600"/>
            <a:ext cx="11730355" cy="5111750"/>
          </a:xfrm>
        </p:spPr>
        <p:txBody>
          <a:bodyPr/>
          <a:lstStyle/>
          <a:p>
            <a:r>
              <a:rPr lang="en-US" altLang="en-US" sz="2800" dirty="0"/>
              <a:t>From 1986 – 2002, microprocessors were speeding like a rocket, increasing in performance an average of 50% per year.</a:t>
            </a:r>
            <a:br>
              <a:rPr lang="en-US" altLang="en-US" sz="2800" dirty="0"/>
            </a:br>
            <a:endParaRPr lang="en-US" altLang="en-US" sz="2800" dirty="0"/>
          </a:p>
          <a:p>
            <a:r>
              <a:rPr lang="en-US" altLang="en-US" sz="2800" dirty="0"/>
              <a:t>Since then, it’</a:t>
            </a:r>
            <a:r>
              <a:rPr lang="en-US" altLang="ja-JP" sz="2800" dirty="0"/>
              <a:t>s dropped to about 20% increase per year.</a:t>
            </a:r>
          </a:p>
        </p:txBody>
      </p:sp>
      <p:pic>
        <p:nvPicPr>
          <p:cNvPr id="21507" name="Picture 4" descr="C:\Documents and Settings\liszka\Local Settings\Temporary Internet Files\Content.IE5\EGYLQZJJ\MC90028108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295" y="3960495"/>
            <a:ext cx="2460625" cy="267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An intelligent solution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2531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Instead of designing and building faster microprocessors, put </a:t>
            </a:r>
            <a:r>
              <a:rPr lang="en-US" altLang="en-US" sz="3200" u="sng" dirty="0">
                <a:solidFill>
                  <a:srgbClr val="FF0000"/>
                </a:solidFill>
              </a:rPr>
              <a:t>multiple</a:t>
            </a:r>
            <a:r>
              <a:rPr lang="en-US" altLang="en-US" sz="3200" u="sng" dirty="0"/>
              <a:t> </a:t>
            </a:r>
            <a:r>
              <a:rPr lang="en-US" altLang="en-US" sz="3200" dirty="0"/>
              <a:t>processors on a single integrated circuit.</a:t>
            </a:r>
            <a:br>
              <a:rPr lang="en-US" altLang="en-US" sz="3200" dirty="0"/>
            </a:br>
            <a:endParaRPr lang="en-US" altLang="en-US" sz="3200" dirty="0"/>
          </a:p>
          <a:p>
            <a:endParaRPr lang="en-US" altLang="en-US" sz="3200" dirty="0"/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2532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75" y="453580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920" y="403288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445" y="5040630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845" y="403288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489648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latin typeface="Comic Sans MS" panose="030F0702030302020204" pitchFamily="66" charset="0"/>
                <a:sym typeface="+mn-ea"/>
              </a:rPr>
              <a:t>Now it’</a:t>
            </a:r>
            <a:r>
              <a:rPr lang="en-US" altLang="ja-JP" dirty="0">
                <a:latin typeface="Comic Sans MS" panose="030F0702030302020204" pitchFamily="66" charset="0"/>
                <a:sym typeface="+mn-ea"/>
              </a:rPr>
              <a:t>s up to the programmers</a:t>
            </a:r>
            <a:endParaRPr lang="zh-CN" altLang="en-US" b="1" dirty="0">
              <a:solidFill>
                <a:srgbClr val="002060"/>
              </a:solidFill>
              <a:latin typeface="Comic Sans MS" panose="030F0702030302020204" pitchFamily="66" charset="0"/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36245" y="1427480"/>
            <a:ext cx="12109450" cy="5360035"/>
          </a:xfrm>
        </p:spPr>
        <p:txBody>
          <a:bodyPr/>
          <a:lstStyle/>
          <a:p>
            <a:r>
              <a:rPr lang="en-US" altLang="en-US" sz="2800" dirty="0"/>
              <a:t>Adding more processors doesn’</a:t>
            </a:r>
            <a:r>
              <a:rPr lang="en-US" altLang="ja-JP" sz="2800" dirty="0"/>
              <a:t>t help much if programmers aren</a:t>
            </a:r>
            <a:r>
              <a:rPr lang="en-US" altLang="zh-CN" sz="2800" dirty="0"/>
              <a:t>’</a:t>
            </a:r>
            <a:r>
              <a:rPr lang="en-US" altLang="ja-JP" sz="2800" dirty="0"/>
              <a:t>t aware of them…</a:t>
            </a:r>
          </a:p>
          <a:p>
            <a:r>
              <a:rPr lang="en-US" altLang="en-US" sz="2800" dirty="0"/>
              <a:t>… or don</a:t>
            </a:r>
            <a:r>
              <a:rPr lang="en-US" altLang="zh-CN" sz="2800" dirty="0"/>
              <a:t>’</a:t>
            </a:r>
            <a:r>
              <a:rPr lang="en-US" altLang="ja-JP" sz="2800" dirty="0"/>
              <a:t>t know how to use them.</a:t>
            </a:r>
            <a:br>
              <a:rPr lang="en-US" altLang="ja-JP" sz="2800" dirty="0"/>
            </a:br>
            <a:endParaRPr lang="en-US" altLang="ja-JP" sz="2800" dirty="0"/>
          </a:p>
          <a:p>
            <a:r>
              <a:rPr lang="en-US" altLang="en-US" sz="2800" dirty="0"/>
              <a:t>Serial programs don</a:t>
            </a:r>
            <a:r>
              <a:rPr lang="en-US" altLang="zh-CN" sz="2800" dirty="0"/>
              <a:t>’</a:t>
            </a:r>
            <a:r>
              <a:rPr lang="en-US" altLang="ja-JP" sz="2800" dirty="0"/>
              <a:t>t benefit from this approach (in most cases).</a:t>
            </a:r>
          </a:p>
        </p:txBody>
      </p:sp>
      <p:pic>
        <p:nvPicPr>
          <p:cNvPr id="23556" name="Picture 2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2915" y="4172585"/>
            <a:ext cx="2436495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784225" y="432199"/>
            <a:ext cx="10762906" cy="792000"/>
          </a:xfrm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Why we need ever-increasing performance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712470" y="1800225"/>
            <a:ext cx="11322685" cy="5118100"/>
          </a:xfrm>
        </p:spPr>
        <p:txBody>
          <a:bodyPr/>
          <a:lstStyle/>
          <a:p>
            <a:r>
              <a:rPr lang="en-US" altLang="en-US" sz="3200" b="0" dirty="0"/>
              <a:t>Computational power is increasing, but so are our computation problems and needs.</a:t>
            </a:r>
          </a:p>
          <a:p>
            <a:r>
              <a:rPr lang="en-US" altLang="en-US" sz="3200" b="0" dirty="0"/>
              <a:t>Problems that we never dreamed of, have been solved because of past increases, such as decoding the human genome.</a:t>
            </a:r>
          </a:p>
          <a:p>
            <a:r>
              <a:rPr lang="en-US" altLang="en-US" sz="3200" b="0" dirty="0"/>
              <a:t>More complex problems are still waiting to be solved.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Climate modeling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5603" name="Picture 4" descr="C:\Documents and Settings\liszka\Local Settings\Temporary Internet Files\Content.IE5\0AVCOKV0\MP910218826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605" y="1296035"/>
            <a:ext cx="749427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Protein folding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66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584325"/>
            <a:ext cx="7866380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Drug discovery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7651" name="Picture 2" descr="C:\Documents and Settings\liszka\Local Settings\Temporary Internet Files\Content.IE5\Q7HGDQRM\MP91022105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1368425"/>
            <a:ext cx="3476625" cy="5226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 descr="C:\Documents and Settings\liszka\Local Settings\Temporary Internet Files\Content.IE5\5W39ONER\MP900178842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30" y="2060575"/>
            <a:ext cx="5148580" cy="345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Energy research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8675" name="Picture 5" descr="C:\Documents and Settings\liszka\Local Settings\Temporary Internet Files\Content.IE5\5W39ONER\MP90043718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935" y="1136015"/>
            <a:ext cx="3423920" cy="512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11" descr="C:\Documents and Settings\liszka\Local Settings\Temporary Internet Files\Content.IE5\Q7HGDQRM\MP900437387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60" y="1152525"/>
            <a:ext cx="3420745" cy="514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Data analysis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9699" name="Picture 2" descr="C:\Documents and Settings\liszka\Local Settings\Temporary Internet Files\Content.IE5\5W39ONER\MP900309271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843" y="1368425"/>
            <a:ext cx="2427287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6" descr="C:\Documents and Settings\liszka\Local Settings\Temporary Internet Files\Content.IE5\3X5GU20H\MP900399836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80" y="1369060"/>
            <a:ext cx="344805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C:\Documents and Settings\liszka\Local Settings\Temporary Internet Files\Content.IE5\1G3WK4XC\MP900400426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548" y="1347153"/>
            <a:ext cx="3744912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000125" y="143909"/>
            <a:ext cx="10762906" cy="792000"/>
          </a:xfrm>
        </p:spPr>
        <p:txBody>
          <a:bodyPr/>
          <a:lstStyle/>
          <a:p>
            <a:pPr algn="ctr"/>
            <a:r>
              <a:rPr lang="en-US" altLang="en-US" dirty="0">
                <a:sym typeface="+mn-ea"/>
              </a:rPr>
              <a:t>Why we</a:t>
            </a:r>
            <a:r>
              <a:rPr lang="en-US" altLang="zh-CN" dirty="0">
                <a:sym typeface="+mn-ea"/>
              </a:rPr>
              <a:t>’</a:t>
            </a:r>
            <a:r>
              <a:rPr lang="en-US" altLang="ja-JP" dirty="0">
                <a:sym typeface="+mn-ea"/>
              </a:rPr>
              <a:t>re building parallel systems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684530" y="1628775"/>
            <a:ext cx="10621645" cy="4813935"/>
          </a:xfrm>
        </p:spPr>
        <p:txBody>
          <a:bodyPr/>
          <a:lstStyle/>
          <a:p>
            <a:r>
              <a:rPr lang="en-US" altLang="en-US" b="0" dirty="0"/>
              <a:t>Up to now, performance increases have been attributable to increasing density of transistors.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But there are inherent problems.</a:t>
            </a: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110" y="3918666"/>
            <a:ext cx="4203065" cy="321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A little physics lesson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31748" name="Picture 2" descr="C:\Documents and Settings\liszka\Local Settings\Temporary Internet Files\Content.IE5\1G3WK4XC\MC900241091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105" y="72390"/>
            <a:ext cx="91281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611505" y="1196975"/>
            <a:ext cx="11890375" cy="5598160"/>
          </a:xfrm>
        </p:spPr>
        <p:txBody>
          <a:bodyPr/>
          <a:lstStyle/>
          <a:p>
            <a:r>
              <a:rPr lang="en-US" altLang="en-US" dirty="0"/>
              <a:t>Smaller transistors -&gt; faster processors. </a:t>
            </a:r>
            <a:r>
              <a:rPr lang="zh-CN" altLang="en-US" dirty="0"/>
              <a:t> </a:t>
            </a:r>
            <a:r>
              <a:rPr lang="en-US" altLang="zh-CN" dirty="0"/>
              <a:t>(Dennard Scaling)</a:t>
            </a:r>
            <a:endParaRPr lang="en-US" altLang="en-US" dirty="0"/>
          </a:p>
          <a:p>
            <a:r>
              <a:rPr lang="en-US" altLang="en-US" dirty="0"/>
              <a:t>Faster processors -&gt; increased power consumption.</a:t>
            </a:r>
          </a:p>
          <a:p>
            <a:r>
              <a:rPr lang="en-US" altLang="en-US" dirty="0"/>
              <a:t>Increased power consumption -&gt; increased heat.</a:t>
            </a:r>
          </a:p>
          <a:p>
            <a:r>
              <a:rPr lang="en-US" altLang="en-US" dirty="0"/>
              <a:t>Increased heat -&gt; unreliable processors.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Solution 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720830" cy="2469515"/>
          </a:xfrm>
        </p:spPr>
        <p:txBody>
          <a:bodyPr/>
          <a:lstStyle/>
          <a:p>
            <a:r>
              <a:rPr lang="en-US" altLang="en-US" sz="3200"/>
              <a:t>Move away from single-core systems to multicore processors.</a:t>
            </a:r>
          </a:p>
          <a:p>
            <a:r>
              <a:rPr lang="ja-JP" altLang="en-US" sz="3200"/>
              <a:t>“</a:t>
            </a:r>
            <a:r>
              <a:rPr lang="en-US" altLang="ja-JP" sz="3200"/>
              <a:t>core</a:t>
            </a:r>
            <a:r>
              <a:rPr lang="ja-JP" altLang="en-US" sz="3200"/>
              <a:t>”</a:t>
            </a:r>
            <a:r>
              <a:rPr lang="en-US" altLang="ja-JP" sz="3200"/>
              <a:t> = central processing unit (CPU)</a:t>
            </a:r>
            <a:br>
              <a:rPr lang="en-US" altLang="ja-JP" sz="3200"/>
            </a:br>
            <a:endParaRPr lang="en-US" altLang="ja-JP" sz="3200"/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0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2772" name="Picture 3" descr="C:\Documents and Settings\liszka\Local Settings\Temporary Internet Files\Content.IE5\3X5GU20H\MP90040097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415" y="2952750"/>
            <a:ext cx="2541588" cy="317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/>
          <p:nvPr/>
        </p:nvSpPr>
        <p:spPr bwMode="auto">
          <a:xfrm>
            <a:off x="4456430" y="4032568"/>
            <a:ext cx="5184775" cy="1511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kern="0" dirty="0">
                <a:solidFill>
                  <a:srgbClr val="003399"/>
                </a:solidFill>
                <a:latin typeface="+mn-lt"/>
                <a:ea typeface="+mn-ea"/>
              </a:rPr>
              <a:t>Introducing parallelism!!!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Why we need to write parallel programs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684530" y="1700530"/>
            <a:ext cx="11742420" cy="5014595"/>
          </a:xfrm>
        </p:spPr>
        <p:txBody>
          <a:bodyPr/>
          <a:lstStyle/>
          <a:p>
            <a:r>
              <a:rPr lang="en-US" altLang="en-US" sz="2800" dirty="0"/>
              <a:t>Running multiple instances of a serial program often isn’</a:t>
            </a:r>
            <a:r>
              <a:rPr lang="en-US" altLang="ja-JP" sz="2800" dirty="0"/>
              <a:t>t very useful.</a:t>
            </a:r>
          </a:p>
          <a:p>
            <a:r>
              <a:rPr lang="en-US" altLang="en-US" sz="2800" dirty="0"/>
              <a:t>Think of running multiple instances of your favorite game.</a:t>
            </a:r>
          </a:p>
          <a:p>
            <a:endParaRPr lang="en-US" altLang="en-US" sz="2800" dirty="0"/>
          </a:p>
          <a:p>
            <a:r>
              <a:rPr lang="en-US" altLang="en-US" sz="2800" dirty="0"/>
              <a:t>What you really want is for it to run faster.</a:t>
            </a:r>
          </a:p>
        </p:txBody>
      </p:sp>
      <p:pic>
        <p:nvPicPr>
          <p:cNvPr id="33796" name="Picture 2" descr="C:\Documents and Settings\liszka\Local Settings\Temporary Internet Files\Content.IE5\5W39ONER\MC900434783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260" y="3816350"/>
            <a:ext cx="2739390" cy="273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Approaches to the serial problem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b="0" dirty="0">
                <a:latin typeface="Comic Sans MS" panose="030F0902030302020204" pitchFamily="66" charset="0"/>
              </a:rPr>
              <a:t>Rewrite serial programs so that they</a:t>
            </a:r>
            <a:r>
              <a:rPr lang="en-US" altLang="zh-CN" b="0" dirty="0">
                <a:latin typeface="Comic Sans MS" panose="030F0902030302020204" pitchFamily="66" charset="0"/>
              </a:rPr>
              <a:t>’</a:t>
            </a:r>
            <a:r>
              <a:rPr lang="en-US" altLang="ja-JP" b="0" dirty="0">
                <a:latin typeface="Comic Sans MS" panose="030F0902030302020204" pitchFamily="66" charset="0"/>
              </a:rPr>
              <a:t>re parallel.</a:t>
            </a:r>
            <a:br>
              <a:rPr lang="en-US" altLang="ja-JP" b="0" dirty="0">
                <a:latin typeface="Comic Sans MS" panose="030F0902030302020204" pitchFamily="66" charset="0"/>
              </a:rPr>
            </a:br>
            <a:endParaRPr lang="en-US" altLang="ja-JP" b="0" dirty="0">
              <a:latin typeface="Comic Sans MS" panose="030F0902030302020204" pitchFamily="66" charset="0"/>
            </a:endParaRPr>
          </a:p>
          <a:p>
            <a:r>
              <a:rPr lang="en-US" altLang="en-US" b="0" dirty="0">
                <a:latin typeface="Comic Sans MS" panose="030F0902030302020204" pitchFamily="66" charset="0"/>
              </a:rPr>
              <a:t>Write translation programs that automatically convert serial programs into parallel programs.</a:t>
            </a:r>
          </a:p>
          <a:p>
            <a:pPr lvl="1"/>
            <a:r>
              <a:rPr lang="en-US" altLang="en-US" sz="2800" b="0" dirty="0">
                <a:latin typeface="Comic Sans MS" panose="030F0902030302020204" pitchFamily="66" charset="0"/>
              </a:rPr>
              <a:t>This is very difficult to do.</a:t>
            </a:r>
          </a:p>
          <a:p>
            <a:pPr lvl="1"/>
            <a:r>
              <a:rPr lang="en-US" altLang="en-US" sz="2800" b="0" dirty="0">
                <a:latin typeface="Comic Sans MS" panose="030F0902030302020204" pitchFamily="66" charset="0"/>
              </a:rPr>
              <a:t>Success has been limited.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More problems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latin typeface="Comic Sans MS" panose="030F0702030302020204" pitchFamily="66" charset="0"/>
                <a:cs typeface="Calibri" panose="020F0502020204030204" pitchFamily="34" charset="0"/>
              </a:rPr>
              <a:t>Some coding constructs can be recognized by an automatic program generator, and converted to a parallel construct.</a:t>
            </a:r>
          </a:p>
          <a:p>
            <a:r>
              <a:rPr lang="en-US" altLang="en-US" sz="3200" dirty="0">
                <a:latin typeface="Comic Sans MS" panose="030F0702030302020204" pitchFamily="66" charset="0"/>
                <a:cs typeface="Calibri" panose="020F0502020204030204" pitchFamily="34" charset="0"/>
              </a:rPr>
              <a:t>However, it</a:t>
            </a:r>
            <a:r>
              <a:rPr lang="en-US" altLang="zh-CN" sz="3200" dirty="0">
                <a:latin typeface="Comic Sans MS" panose="030F0702030302020204" pitchFamily="66" charset="0"/>
                <a:cs typeface="Calibri" panose="020F0502020204030204" pitchFamily="34" charset="0"/>
              </a:rPr>
              <a:t>’</a:t>
            </a:r>
            <a:r>
              <a:rPr lang="en-US" altLang="ja-JP" sz="3200" dirty="0">
                <a:latin typeface="Comic Sans MS" panose="030F0702030302020204" pitchFamily="66" charset="0"/>
                <a:cs typeface="Calibri" panose="020F0502020204030204" pitchFamily="34" charset="0"/>
              </a:rPr>
              <a:t>s likely that the result will be a very </a:t>
            </a:r>
            <a:r>
              <a:rPr lang="en-US" altLang="ja-JP" sz="32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inefficient</a:t>
            </a:r>
            <a:r>
              <a:rPr lang="en-US" altLang="ja-JP" sz="3200" dirty="0">
                <a:latin typeface="Comic Sans MS" panose="030F0702030302020204" pitchFamily="66" charset="0"/>
                <a:cs typeface="Calibri" panose="020F0502020204030204" pitchFamily="34" charset="0"/>
              </a:rPr>
              <a:t> program.</a:t>
            </a:r>
          </a:p>
          <a:p>
            <a:r>
              <a:rPr lang="en-US" altLang="en-US" sz="3200" dirty="0">
                <a:latin typeface="Comic Sans MS" panose="030F0702030302020204" pitchFamily="66" charset="0"/>
                <a:cs typeface="Calibri" panose="020F0502020204030204" pitchFamily="34" charset="0"/>
              </a:rPr>
              <a:t>Sometimes the best parallel solution is to step back and devise an entirely new algorithm.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712470" y="1226185"/>
            <a:ext cx="10677525" cy="2065655"/>
          </a:xfrm>
        </p:spPr>
        <p:txBody>
          <a:bodyPr/>
          <a:lstStyle/>
          <a:p>
            <a:r>
              <a:rPr lang="en-US" altLang="en-US" b="0"/>
              <a:t>Compute n values and add them together.</a:t>
            </a:r>
          </a:p>
          <a:p>
            <a:r>
              <a:rPr lang="en-US" altLang="en-US" b="0"/>
              <a:t>Serial solution:</a:t>
            </a:r>
          </a:p>
        </p:txBody>
      </p:sp>
      <p:pic>
        <p:nvPicPr>
          <p:cNvPr id="36868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695" y="3240405"/>
            <a:ext cx="6040438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1388110" y="1035050"/>
            <a:ext cx="10506075" cy="2359660"/>
          </a:xfrm>
        </p:spPr>
        <p:txBody>
          <a:bodyPr/>
          <a:lstStyle/>
          <a:p>
            <a:r>
              <a:rPr lang="en-US" altLang="en-US"/>
              <a:t>We have p cores, p much smaller than n.</a:t>
            </a:r>
          </a:p>
          <a:p>
            <a:r>
              <a:rPr lang="en-US" altLang="en-US"/>
              <a:t>Each core performs a partial sum of approximately n/p values.</a:t>
            </a:r>
          </a:p>
        </p:txBody>
      </p:sp>
      <p:sp>
        <p:nvSpPr>
          <p:cNvPr id="37891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42" y="3298746"/>
            <a:ext cx="7864316" cy="219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TextBox 5"/>
          <p:cNvSpPr txBox="1">
            <a:spLocks noChangeArrowheads="1"/>
          </p:cNvSpPr>
          <p:nvPr/>
        </p:nvSpPr>
        <p:spPr bwMode="auto">
          <a:xfrm>
            <a:off x="6022420" y="5188982"/>
            <a:ext cx="4583430" cy="1020445"/>
          </a:xfrm>
          <a:prstGeom prst="rect">
            <a:avLst/>
          </a:prstGeom>
          <a:noFill/>
          <a:ln w="9525">
            <a:solidFill>
              <a:srgbClr val="3399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90">
                <a:latin typeface="Arial" panose="020B0604020202020204" pitchFamily="34" charset="0"/>
              </a:rPr>
              <a:t>Each core uses it</a:t>
            </a:r>
            <a:r>
              <a:rPr lang="ja-JP" altLang="en-US" sz="1890">
                <a:latin typeface="Arial" panose="020B0604020202020204" pitchFamily="34" charset="0"/>
              </a:rPr>
              <a:t>’</a:t>
            </a:r>
            <a:r>
              <a:rPr lang="en-US" altLang="ja-JP" sz="1890">
                <a:latin typeface="Arial" panose="020B0604020202020204" pitchFamily="34" charset="0"/>
              </a:rPr>
              <a:t>s own private variables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90">
                <a:latin typeface="Arial" panose="020B0604020202020204" pitchFamily="34" charset="0"/>
              </a:rPr>
              <a:t>and executes this block of code</a:t>
            </a:r>
            <a:br>
              <a:rPr lang="en-US" altLang="en-US" sz="1890">
                <a:latin typeface="Arial" panose="020B0604020202020204" pitchFamily="34" charset="0"/>
              </a:rPr>
            </a:br>
            <a:r>
              <a:rPr lang="en-US" altLang="en-US" sz="1890">
                <a:latin typeface="Arial" panose="020B0604020202020204" pitchFamily="34" charset="0"/>
              </a:rPr>
              <a:t>independently of the other cores.</a:t>
            </a:r>
          </a:p>
        </p:txBody>
      </p:sp>
      <p:sp>
        <p:nvSpPr>
          <p:cNvPr id="37894" name="Freeform 7"/>
          <p:cNvSpPr>
            <a:spLocks noChangeArrowheads="1"/>
          </p:cNvSpPr>
          <p:nvPr/>
        </p:nvSpPr>
        <p:spPr bwMode="auto">
          <a:xfrm>
            <a:off x="3227070" y="5077301"/>
            <a:ext cx="2815352" cy="446405"/>
          </a:xfrm>
          <a:custGeom>
            <a:avLst/>
            <a:gdLst>
              <a:gd name="T0" fmla="*/ 77493 w 2681206"/>
              <a:gd name="T1" fmla="*/ 0 h 681926"/>
              <a:gd name="T2" fmla="*/ 108491 w 2681206"/>
              <a:gd name="T3" fmla="*/ 356826 h 681926"/>
              <a:gd name="T4" fmla="*/ 728442 w 2681206"/>
              <a:gd name="T5" fmla="*/ 139628 h 681926"/>
              <a:gd name="T6" fmla="*/ 619951 w 2681206"/>
              <a:gd name="T7" fmla="*/ 558511 h 681926"/>
              <a:gd name="T8" fmla="*/ 1611872 w 2681206"/>
              <a:gd name="T9" fmla="*/ 186171 h 681926"/>
              <a:gd name="T10" fmla="*/ 1441386 w 2681206"/>
              <a:gd name="T11" fmla="*/ 651596 h 681926"/>
              <a:gd name="T12" fmla="*/ 2681288 w 2681206"/>
              <a:gd name="T13" fmla="*/ 372341 h 6819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81206"/>
              <a:gd name="T22" fmla="*/ 0 h 681926"/>
              <a:gd name="T23" fmla="*/ 2681206 w 2681206"/>
              <a:gd name="T24" fmla="*/ 681926 h 6819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81206" h="681926">
                <a:moveTo>
                  <a:pt x="77491" y="0"/>
                </a:moveTo>
                <a:cubicBezTo>
                  <a:pt x="38745" y="166607"/>
                  <a:pt x="0" y="333214"/>
                  <a:pt x="108488" y="356461"/>
                </a:cubicBezTo>
                <a:cubicBezTo>
                  <a:pt x="216976" y="379708"/>
                  <a:pt x="643179" y="105905"/>
                  <a:pt x="728420" y="139485"/>
                </a:cubicBezTo>
                <a:cubicBezTo>
                  <a:pt x="813661" y="173065"/>
                  <a:pt x="472698" y="550190"/>
                  <a:pt x="619932" y="557939"/>
                </a:cubicBezTo>
                <a:cubicBezTo>
                  <a:pt x="767166" y="565688"/>
                  <a:pt x="1474921" y="170482"/>
                  <a:pt x="1611823" y="185980"/>
                </a:cubicBezTo>
                <a:cubicBezTo>
                  <a:pt x="1748725" y="201478"/>
                  <a:pt x="1263112" y="619932"/>
                  <a:pt x="1441342" y="650929"/>
                </a:cubicBezTo>
                <a:cubicBezTo>
                  <a:pt x="1619572" y="681926"/>
                  <a:pt x="2150389" y="526943"/>
                  <a:pt x="2681206" y="371960"/>
                </a:cubicBezTo>
              </a:path>
            </a:pathLst>
          </a:custGeom>
          <a:noFill/>
          <a:ln w="9525">
            <a:solidFill>
              <a:srgbClr val="3399FF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2310"/>
          </a:p>
        </p:txBody>
      </p:sp>
      <p:sp>
        <p:nvSpPr>
          <p:cNvPr id="37895" name="Freeform 8"/>
          <p:cNvSpPr>
            <a:spLocks noChangeArrowheads="1"/>
          </p:cNvSpPr>
          <p:nvPr/>
        </p:nvSpPr>
        <p:spPr bwMode="auto">
          <a:xfrm>
            <a:off x="2318624" y="3070384"/>
            <a:ext cx="416719" cy="446405"/>
          </a:xfrm>
          <a:custGeom>
            <a:avLst/>
            <a:gdLst>
              <a:gd name="T0" fmla="*/ 103084 w 397790"/>
              <a:gd name="T1" fmla="*/ 0 h 366793"/>
              <a:gd name="T2" fmla="*/ 25772 w 397790"/>
              <a:gd name="T3" fmla="*/ 124496 h 366793"/>
              <a:gd name="T4" fmla="*/ 257712 w 397790"/>
              <a:gd name="T5" fmla="*/ 171182 h 366793"/>
              <a:gd name="T6" fmla="*/ 87622 w 397790"/>
              <a:gd name="T7" fmla="*/ 342364 h 366793"/>
              <a:gd name="T8" fmla="*/ 396875 w 397790"/>
              <a:gd name="T9" fmla="*/ 326802 h 3667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7790"/>
              <a:gd name="T16" fmla="*/ 0 h 366793"/>
              <a:gd name="T17" fmla="*/ 397790 w 397790"/>
              <a:gd name="T18" fmla="*/ 366793 h 3667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7790" h="366793">
                <a:moveTo>
                  <a:pt x="103322" y="0"/>
                </a:moveTo>
                <a:cubicBezTo>
                  <a:pt x="51661" y="47786"/>
                  <a:pt x="0" y="95573"/>
                  <a:pt x="25831" y="123987"/>
                </a:cubicBezTo>
                <a:cubicBezTo>
                  <a:pt x="51662" y="152401"/>
                  <a:pt x="247974" y="134319"/>
                  <a:pt x="258306" y="170482"/>
                </a:cubicBezTo>
                <a:cubicBezTo>
                  <a:pt x="268638" y="206645"/>
                  <a:pt x="64577" y="315133"/>
                  <a:pt x="87824" y="340963"/>
                </a:cubicBezTo>
                <a:cubicBezTo>
                  <a:pt x="111071" y="366793"/>
                  <a:pt x="254430" y="346129"/>
                  <a:pt x="397790" y="325465"/>
                </a:cubicBezTo>
              </a:path>
            </a:pathLst>
          </a:custGeom>
          <a:noFill/>
          <a:ln w="9525">
            <a:solidFill>
              <a:srgbClr val="3399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231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713845" cy="4264660"/>
          </a:xfrm>
        </p:spPr>
        <p:txBody>
          <a:bodyPr/>
          <a:lstStyle/>
          <a:p>
            <a:pPr algn="l"/>
            <a:r>
              <a:rPr lang="en-US" altLang="en-US" sz="3200" b="0"/>
              <a:t>After each core completes execution of the code, is a private variable </a:t>
            </a:r>
            <a:r>
              <a:rPr lang="en-US" altLang="en-US" sz="3200" b="0">
                <a:solidFill>
                  <a:srgbClr val="3399FF"/>
                </a:solidFill>
              </a:rPr>
              <a:t>my_sum</a:t>
            </a:r>
            <a:r>
              <a:rPr lang="en-US" altLang="en-US" sz="3200" b="0"/>
              <a:t> contains the sum of the values computed by its calls to </a:t>
            </a:r>
            <a:r>
              <a:rPr lang="en-US" altLang="en-US" sz="3200" b="0">
                <a:solidFill>
                  <a:srgbClr val="3399FF"/>
                </a:solidFill>
              </a:rPr>
              <a:t>Compute_next_value</a:t>
            </a:r>
            <a:r>
              <a:rPr lang="en-US" altLang="en-US" sz="3200" b="0"/>
              <a:t>.</a:t>
            </a:r>
          </a:p>
          <a:p>
            <a:pPr algn="l"/>
            <a:endParaRPr lang="en-US" altLang="en-US" sz="3200" b="0"/>
          </a:p>
          <a:p>
            <a:pPr algn="l"/>
            <a:r>
              <a:rPr lang="en-US" altLang="en-US" sz="3200" b="0"/>
              <a:t>Ex., 8 cores, n = 24, then the calls to </a:t>
            </a:r>
            <a:r>
              <a:rPr lang="en-US" altLang="en-US" sz="3200" b="0">
                <a:solidFill>
                  <a:srgbClr val="3399FF"/>
                </a:solidFill>
              </a:rPr>
              <a:t>Compute_next_value</a:t>
            </a:r>
            <a:r>
              <a:rPr lang="en-US" altLang="en-US" sz="3200" b="0"/>
              <a:t> return: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824730"/>
            <a:ext cx="96545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1,4,3,   9,2,8,    5,1,1,   5,2,7,   2,5,0,   4,1,8,   6,5,1,   2,3,9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148060" cy="2842895"/>
          </a:xfrm>
        </p:spPr>
        <p:txBody>
          <a:bodyPr/>
          <a:lstStyle/>
          <a:p>
            <a:r>
              <a:rPr lang="en-US" altLang="en-US" b="0"/>
              <a:t>Once all the cores are done computing their private </a:t>
            </a:r>
            <a:r>
              <a:rPr lang="en-US" altLang="en-US" b="0">
                <a:solidFill>
                  <a:srgbClr val="3399FF"/>
                </a:solidFill>
              </a:rPr>
              <a:t>my_sum</a:t>
            </a:r>
            <a:r>
              <a:rPr lang="en-US" altLang="en-US" b="0"/>
              <a:t>, they form a global sum by sending results to a designated </a:t>
            </a:r>
            <a:r>
              <a:rPr lang="ja-JP" altLang="en-US" b="0"/>
              <a:t>“</a:t>
            </a:r>
            <a:r>
              <a:rPr lang="en-US" altLang="ja-JP" b="0"/>
              <a:t>master</a:t>
            </a:r>
            <a:r>
              <a:rPr lang="ja-JP" altLang="en-US" b="0"/>
              <a:t>”</a:t>
            </a:r>
            <a:r>
              <a:rPr lang="en-US" altLang="ja-JP" b="0"/>
              <a:t> core which adds the final result.</a:t>
            </a:r>
            <a:endParaRPr lang="en-US" altLang="en-US" b="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70" y="1224280"/>
            <a:ext cx="8630285" cy="430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92605" y="1513205"/>
          <a:ext cx="7908925" cy="115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lang="en-US" sz="1800" dirty="0"/>
                        <a:t>Core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my_sum</a:t>
                      </a:r>
                      <a:endParaRPr lang="en-US" sz="1800" dirty="0"/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64360" y="3182620"/>
            <a:ext cx="7987030" cy="835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u="sng" dirty="0">
                <a:latin typeface="+mj-lt"/>
                <a:ea typeface="+mn-ea"/>
              </a:rPr>
              <a:t>Global sum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  <a:ea typeface="+mn-ea"/>
              </a:rPr>
              <a:t>8 + 19 + 7 + 15 + 7 + 13 + 12 + 14 = 95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92605" y="4681855"/>
          <a:ext cx="7908925" cy="115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lang="en-US" sz="1800" dirty="0"/>
                        <a:t>Core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my_sum</a:t>
                      </a:r>
                      <a:endParaRPr lang="en-US" sz="1800" dirty="0"/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95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43011" name="TextBox 7"/>
          <p:cNvSpPr txBox="1">
            <a:spLocks noChangeArrowheads="1"/>
          </p:cNvSpPr>
          <p:nvPr/>
        </p:nvSpPr>
        <p:spPr bwMode="auto">
          <a:xfrm>
            <a:off x="784225" y="2376170"/>
            <a:ext cx="626427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dirty="0">
                <a:latin typeface="Comic Sans MS" panose="030F0902030302020204" pitchFamily="66" charset="0"/>
              </a:rPr>
              <a:t>But wait!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dirty="0">
                <a:latin typeface="Comic Sans MS" panose="030F0902030302020204" pitchFamily="66" charset="0"/>
              </a:rPr>
              <a:t>There</a:t>
            </a:r>
            <a:r>
              <a:rPr lang="ja-JP" altLang="en-US">
                <a:latin typeface="Comic Sans MS" panose="030F0902030302020204" pitchFamily="66" charset="0"/>
              </a:rPr>
              <a:t>’</a:t>
            </a:r>
            <a:r>
              <a:rPr lang="en-US" altLang="ja-JP" dirty="0">
                <a:latin typeface="Comic Sans MS" panose="030F0902030302020204" pitchFamily="66" charset="0"/>
              </a:rPr>
              <a:t>s a much better way</a:t>
            </a:r>
            <a:br>
              <a:rPr lang="en-US" altLang="ja-JP" dirty="0">
                <a:latin typeface="Comic Sans MS" panose="030F0902030302020204" pitchFamily="66" charset="0"/>
              </a:rPr>
            </a:br>
            <a:r>
              <a:rPr lang="en-US" altLang="ja-JP" dirty="0">
                <a:latin typeface="Comic Sans MS" panose="030F0902030302020204" pitchFamily="66" charset="0"/>
              </a:rPr>
              <a:t>to compute the global sum.</a:t>
            </a:r>
            <a:endParaRPr lang="en-US" altLang="en-US" dirty="0">
              <a:latin typeface="Comic Sans MS" panose="030F0902030302020204" pitchFamily="66" charset="0"/>
            </a:endParaRPr>
          </a:p>
        </p:txBody>
      </p:sp>
      <p:pic>
        <p:nvPicPr>
          <p:cNvPr id="43010" name="Picture 6" descr="C:\Documents and Settings\liszka\Local Settings\Temporary Internet Files\Content.IE5\Q7HGDQRM\MP900442237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025" y="1656080"/>
            <a:ext cx="3535363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Better parallel algorithm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/>
              <a:t>Don’</a:t>
            </a:r>
            <a:r>
              <a:rPr lang="en-US" altLang="ja-JP" dirty="0"/>
              <a:t>t make the master core do all the work.</a:t>
            </a:r>
          </a:p>
          <a:p>
            <a:r>
              <a:rPr lang="en-US" altLang="en-US" dirty="0"/>
              <a:t>Share it among the other cores.</a:t>
            </a:r>
          </a:p>
          <a:p>
            <a:r>
              <a:rPr lang="en-US" altLang="en-US" dirty="0"/>
              <a:t>Pair the cores so that core 0 adds its result with </a:t>
            </a:r>
            <a:r>
              <a:rPr lang="en-US" altLang="en-US"/>
              <a:t>core 1’</a:t>
            </a:r>
            <a:r>
              <a:rPr lang="en-US" altLang="ja-JP" dirty="0"/>
              <a:t>s result.</a:t>
            </a:r>
          </a:p>
          <a:p>
            <a:r>
              <a:rPr lang="en-US" altLang="en-US" dirty="0"/>
              <a:t>Core 2 adds its result with </a:t>
            </a:r>
            <a:r>
              <a:rPr lang="en-US" altLang="en-US"/>
              <a:t>core 3’</a:t>
            </a:r>
            <a:r>
              <a:rPr lang="en-US" altLang="ja-JP" dirty="0"/>
              <a:t>s result, etc.</a:t>
            </a:r>
          </a:p>
          <a:p>
            <a:r>
              <a:rPr lang="en-US" altLang="en-US" dirty="0"/>
              <a:t>Work with odd and even numbered pairs of cores.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Better parallel algorithm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Repeat the process now with only the evenly ranked cores.</a:t>
            </a:r>
          </a:p>
          <a:p>
            <a:r>
              <a:rPr lang="en-US" altLang="en-US" b="0" dirty="0"/>
              <a:t>Core 0 adds result from core 2.</a:t>
            </a:r>
          </a:p>
          <a:p>
            <a:r>
              <a:rPr lang="en-US" altLang="en-US" b="0" dirty="0"/>
              <a:t>Core 4 adds the result from core 6, etc.</a:t>
            </a:r>
          </a:p>
          <a:p>
            <a:endParaRPr lang="en-US" altLang="en-US" b="0" dirty="0"/>
          </a:p>
          <a:p>
            <a:r>
              <a:rPr lang="en-US" altLang="en-US" b="0" dirty="0"/>
              <a:t>Now cores divisible by 4 repeat the process, and so forth, until core 0 has the final result.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Multiple cores forming a global sum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70" y="1008380"/>
            <a:ext cx="8416925" cy="5685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Analysis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539750" y="1125855"/>
            <a:ext cx="11417935" cy="5445125"/>
          </a:xfrm>
        </p:spPr>
        <p:txBody>
          <a:bodyPr/>
          <a:lstStyle/>
          <a:p>
            <a:r>
              <a:rPr lang="en-US" altLang="en-US" b="0"/>
              <a:t>In the first example, the master core performs 7 receives and 7 additions.</a:t>
            </a:r>
          </a:p>
          <a:p>
            <a:endParaRPr lang="en-US" altLang="en-US" b="0"/>
          </a:p>
          <a:p>
            <a:r>
              <a:rPr lang="en-US" altLang="en-US" b="0"/>
              <a:t>In the second example, the master core performs 3 receives and 3 additions.</a:t>
            </a:r>
          </a:p>
          <a:p>
            <a:endParaRPr lang="en-US" altLang="en-US" b="0"/>
          </a:p>
          <a:p>
            <a:r>
              <a:rPr lang="en-US" altLang="en-US" b="0"/>
              <a:t>The improvement is more than a factor of 2!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Analysis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0" dirty="0"/>
              <a:t>The difference is more dramatic with a larger number of cores.</a:t>
            </a:r>
          </a:p>
          <a:p>
            <a:r>
              <a:rPr lang="en-US" altLang="en-US" sz="3200" b="0" dirty="0"/>
              <a:t>If we have 1000 cores:</a:t>
            </a:r>
          </a:p>
          <a:p>
            <a:pPr lvl="1"/>
            <a:r>
              <a:rPr lang="en-US" altLang="en-US" sz="2800" b="0" dirty="0"/>
              <a:t>The first example would require the master to perform 999 receives and 999 additions.</a:t>
            </a:r>
          </a:p>
          <a:p>
            <a:pPr lvl="1"/>
            <a:r>
              <a:rPr lang="en-US" altLang="en-US" sz="2800" b="0" dirty="0"/>
              <a:t>The second example would only require 10 receives and 10 additions.</a:t>
            </a:r>
            <a:br>
              <a:rPr lang="en-US" altLang="en-US" sz="2800" b="0" dirty="0"/>
            </a:br>
            <a:endParaRPr lang="en-US" altLang="en-US" sz="2800" b="0" dirty="0"/>
          </a:p>
          <a:p>
            <a:r>
              <a:rPr lang="en-US" altLang="en-US" sz="3200" b="0"/>
              <a:t>Tha</a:t>
            </a:r>
            <a:r>
              <a:rPr lang="en-US" altLang="zh-CN" sz="3200" b="0"/>
              <a:t>t’</a:t>
            </a:r>
            <a:r>
              <a:rPr lang="en-US" altLang="ja-JP" sz="3200" b="0"/>
              <a:t>s </a:t>
            </a:r>
            <a:r>
              <a:rPr lang="en-US" altLang="ja-JP" sz="3200" b="0" dirty="0"/>
              <a:t>an improvement of almost a factor of 100!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How do we write parallel programs?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684530" y="1628775"/>
            <a:ext cx="11291570" cy="5033010"/>
          </a:xfrm>
        </p:spPr>
        <p:txBody>
          <a:bodyPr/>
          <a:lstStyle/>
          <a:p>
            <a:r>
              <a:rPr lang="en-US" altLang="en-US" b="0" dirty="0"/>
              <a:t>Task parallelism </a:t>
            </a:r>
          </a:p>
          <a:p>
            <a:pPr lvl="1"/>
            <a:r>
              <a:rPr lang="en-US" altLang="en-US" b="0" dirty="0"/>
              <a:t>Partition various tasks carried out solving the problem among the cores.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Data parallelism</a:t>
            </a:r>
          </a:p>
          <a:p>
            <a:pPr lvl="1"/>
            <a:r>
              <a:rPr lang="en-US" altLang="en-US" b="0" dirty="0"/>
              <a:t>Partition the data used in solving the problem among the cores.</a:t>
            </a:r>
          </a:p>
          <a:p>
            <a:pPr lvl="1"/>
            <a:r>
              <a:rPr lang="en-US" altLang="en-US" b="0" dirty="0"/>
              <a:t>Each core carries out similar operations </a:t>
            </a:r>
            <a:r>
              <a:rPr lang="en-US" altLang="en-US" b="0"/>
              <a:t>on it’</a:t>
            </a:r>
            <a:r>
              <a:rPr lang="en-US" altLang="ja-JP" b="0"/>
              <a:t>s </a:t>
            </a:r>
            <a:r>
              <a:rPr lang="en-US" altLang="ja-JP" b="0" dirty="0"/>
              <a:t>part of the data.</a:t>
            </a:r>
            <a:endParaRPr lang="en-US" altLang="en-US" b="0" dirty="0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Professor P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0179" name="Picture 2" descr="C:\Documents and Settings\liszka\Local Settings\Temporary Internet Files\Content.IE5\1G3WK4XC\MP90042259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780" y="1368108"/>
            <a:ext cx="3248025" cy="486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3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85" y="4031615"/>
            <a:ext cx="2463165" cy="146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32785" y="2304415"/>
            <a:ext cx="3175000" cy="103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15 questions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300 exams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Professor P</a:t>
            </a:r>
            <a:r>
              <a:rPr lang="en-US" altLang="zh-CN" dirty="0">
                <a:sym typeface="+mn-ea"/>
              </a:rPr>
              <a:t>’</a:t>
            </a:r>
            <a:r>
              <a:rPr lang="en-US" altLang="ja-JP" dirty="0">
                <a:sym typeface="+mn-ea"/>
              </a:rPr>
              <a:t>s grading assistants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1203" name="Picture 4" descr="C:\Documents and Settings\liszka\Local Settings\Temporary Internet Files\Content.IE5\1G3WK4XC\MP900439561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505" y="1152525"/>
            <a:ext cx="8323580" cy="555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data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2227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215" y="2088515"/>
            <a:ext cx="2152650" cy="1276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00113" y="198913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9090" y="5185410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36380" y="266477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TA#3</a:t>
            </a:r>
          </a:p>
        </p:txBody>
      </p:sp>
      <p:pic>
        <p:nvPicPr>
          <p:cNvPr id="52231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720" y="4176395"/>
            <a:ext cx="19478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1769745"/>
            <a:ext cx="2121535" cy="125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87450" y="3429000"/>
            <a:ext cx="17164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100 exams</a:t>
            </a:r>
          </a:p>
        </p:txBody>
      </p:sp>
      <p:sp>
        <p:nvSpPr>
          <p:cNvPr id="2" name="TextBox 10"/>
          <p:cNvSpPr txBox="1"/>
          <p:nvPr/>
        </p:nvSpPr>
        <p:spPr>
          <a:xfrm>
            <a:off x="7048818" y="2952115"/>
            <a:ext cx="17164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100 exams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1165" y="5472748"/>
            <a:ext cx="17164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100 exams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task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41893" y="216058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20255" y="5328285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7605" y="259238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9230" y="3600450"/>
            <a:ext cx="23463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Questions 1 - 5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6793" y="5688648"/>
            <a:ext cx="252666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Questions 6 - 10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8605" y="3168650"/>
            <a:ext cx="27070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Questions 11 - 15</a:t>
            </a:r>
          </a:p>
        </p:txBody>
      </p:sp>
      <p:pic>
        <p:nvPicPr>
          <p:cNvPr id="53257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720" y="1955165"/>
            <a:ext cx="1442085" cy="140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8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910" y="4320540"/>
            <a:ext cx="1403350" cy="136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9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280" y="1800225"/>
            <a:ext cx="1306513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8D53F2-55C1-488D-93F5-7BCFFAFBB177}"/>
              </a:ext>
            </a:extLst>
          </p:cNvPr>
          <p:cNvSpPr txBox="1"/>
          <p:nvPr/>
        </p:nvSpPr>
        <p:spPr>
          <a:xfrm>
            <a:off x="9497144" y="4895328"/>
            <a:ext cx="1838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Pipeline?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640080" y="71519"/>
            <a:ext cx="10762906" cy="792000"/>
          </a:xfrm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data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060575"/>
            <a:ext cx="9147810" cy="294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task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80" y="1584325"/>
            <a:ext cx="8087995" cy="403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9956483" y="3888740"/>
            <a:ext cx="2066015" cy="2074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u="sng" dirty="0">
                <a:solidFill>
                  <a:srgbClr val="0066FF"/>
                </a:solidFill>
                <a:latin typeface="+mj-lt"/>
                <a:ea typeface="+mn-ea"/>
              </a:rPr>
              <a:t>Tasks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  <a:ea typeface="+mn-ea"/>
              </a:rPr>
              <a:t>Receiving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  <a:ea typeface="+mn-ea"/>
              </a:rPr>
              <a:t>Addition 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</a:rPr>
              <a:t>Sending</a:t>
            </a:r>
            <a:endParaRPr lang="en-US" sz="2800" dirty="0">
              <a:solidFill>
                <a:srgbClr val="0066FF"/>
              </a:solidFill>
              <a:latin typeface="+mj-lt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Coordination and enhancement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395605" y="981075"/>
            <a:ext cx="11485880" cy="5487670"/>
          </a:xfrm>
        </p:spPr>
        <p:txBody>
          <a:bodyPr/>
          <a:lstStyle/>
          <a:p>
            <a:r>
              <a:rPr lang="en-US" altLang="en-US" b="0"/>
              <a:t>Cores usually need to coordinate their work.</a:t>
            </a:r>
          </a:p>
          <a:p>
            <a:r>
              <a:rPr lang="en-US" altLang="en-US" b="0">
                <a:solidFill>
                  <a:srgbClr val="3399FF"/>
                </a:solidFill>
              </a:rPr>
              <a:t>Communication</a:t>
            </a:r>
            <a:r>
              <a:rPr lang="en-US" altLang="en-US" b="0"/>
              <a:t> – one or more cores send their current partial sums to another core.</a:t>
            </a:r>
          </a:p>
          <a:p>
            <a:r>
              <a:rPr lang="en-US" altLang="en-US" b="0">
                <a:solidFill>
                  <a:srgbClr val="3399FF"/>
                </a:solidFill>
              </a:rPr>
              <a:t>Load balancing </a:t>
            </a:r>
            <a:r>
              <a:rPr lang="en-US" altLang="en-US" b="0"/>
              <a:t>– share the work evenly among the cores so that one is not heavily loaded.</a:t>
            </a:r>
          </a:p>
          <a:p>
            <a:r>
              <a:rPr lang="en-US" altLang="en-US" b="0">
                <a:solidFill>
                  <a:srgbClr val="3399FF"/>
                </a:solidFill>
              </a:rPr>
              <a:t>Synchronization</a:t>
            </a:r>
            <a:r>
              <a:rPr lang="en-US" altLang="en-US" b="0"/>
              <a:t> – because each core works at its own pace, make sure cores do not get too far ahead of the rest.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What we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wi</a:t>
            </a:r>
            <a:r>
              <a:rPr lang="en-US" altLang="ja-JP" dirty="0">
                <a:sym typeface="+mn-ea"/>
              </a:rPr>
              <a:t>ll be doing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Learning to write programs that are explicitly parallel.</a:t>
            </a:r>
          </a:p>
          <a:p>
            <a:r>
              <a:rPr lang="en-US" altLang="en-US" b="0"/>
              <a:t>Using the C language.</a:t>
            </a:r>
          </a:p>
          <a:p>
            <a:r>
              <a:rPr lang="en-US" altLang="en-US" b="0"/>
              <a:t>Using three different extensions to C.</a:t>
            </a:r>
          </a:p>
          <a:p>
            <a:pPr lvl="1"/>
            <a:r>
              <a:rPr lang="en-US" altLang="en-US" b="0"/>
              <a:t>Message-Passing Interface (MPI)</a:t>
            </a:r>
          </a:p>
          <a:p>
            <a:pPr lvl="1"/>
            <a:r>
              <a:rPr lang="en-US" altLang="en-US" b="0"/>
              <a:t>Posix Threads (Pthreads)</a:t>
            </a:r>
          </a:p>
          <a:p>
            <a:pPr lvl="1"/>
            <a:r>
              <a:rPr lang="en-US" altLang="en-US" b="0"/>
              <a:t>OpenMP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Type of parallel systems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Shared-memory</a:t>
            </a:r>
          </a:p>
          <a:p>
            <a:pPr lvl="1"/>
            <a:r>
              <a:rPr lang="en-US" altLang="en-US" b="0" dirty="0"/>
              <a:t>The cores can share access to the computer</a:t>
            </a:r>
            <a:r>
              <a:rPr lang="en-US" altLang="en-US" dirty="0"/>
              <a:t>’</a:t>
            </a:r>
            <a:r>
              <a:rPr lang="en-US" altLang="ja-JP" b="0" dirty="0"/>
              <a:t>s memory.</a:t>
            </a:r>
          </a:p>
          <a:p>
            <a:pPr lvl="1"/>
            <a:r>
              <a:rPr lang="en-US" altLang="en-US" b="0" dirty="0"/>
              <a:t>Coordinate the cores by having them examine and update shared memory locations.</a:t>
            </a:r>
          </a:p>
          <a:p>
            <a:r>
              <a:rPr lang="en-US" altLang="en-US" b="0" dirty="0"/>
              <a:t>Distributed-memory</a:t>
            </a:r>
          </a:p>
          <a:p>
            <a:pPr lvl="1"/>
            <a:r>
              <a:rPr lang="en-US" altLang="en-US" b="0" dirty="0"/>
              <a:t>Each core has its own, private memory.</a:t>
            </a:r>
          </a:p>
          <a:p>
            <a:pPr lvl="1"/>
            <a:r>
              <a:rPr lang="en-US" altLang="en-US" b="0" dirty="0"/>
              <a:t>The cores must communicate explicitly by sending messages across a network.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Type of parallel systems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820" y="1152525"/>
            <a:ext cx="9083675" cy="5297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Terminology 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0" dirty="0">
                <a:solidFill>
                  <a:srgbClr val="0066FF"/>
                </a:solidFill>
              </a:rPr>
              <a:t>Concurrent computing </a:t>
            </a:r>
            <a:r>
              <a:rPr lang="en-US" altLang="en-US" sz="3200" b="0" dirty="0"/>
              <a:t>– a program is one in which multiple tasks can be </a:t>
            </a:r>
            <a:r>
              <a:rPr lang="en-US" altLang="en-US" sz="3200" b="0" u="sng" dirty="0"/>
              <a:t>in progress </a:t>
            </a:r>
            <a:r>
              <a:rPr lang="en-US" altLang="en-US" sz="3200" b="0" dirty="0"/>
              <a:t>at any instant.</a:t>
            </a:r>
          </a:p>
          <a:p>
            <a:pPr lvl="1"/>
            <a:r>
              <a:rPr lang="en-US" altLang="en-US" sz="2800" b="0" dirty="0"/>
              <a:t>E.g. E-business website</a:t>
            </a:r>
          </a:p>
          <a:p>
            <a:r>
              <a:rPr lang="en-US" altLang="en-US" sz="3200" b="0" dirty="0">
                <a:solidFill>
                  <a:srgbClr val="0066FF"/>
                </a:solidFill>
              </a:rPr>
              <a:t>Parallel computing </a:t>
            </a:r>
            <a:r>
              <a:rPr lang="en-US" altLang="en-US" sz="3200" b="0" dirty="0"/>
              <a:t>– a program is one in which multiple tasks </a:t>
            </a:r>
            <a:r>
              <a:rPr lang="en-US" altLang="en-US" sz="3200" b="0" u="sng" dirty="0"/>
              <a:t>cooperate closely </a:t>
            </a:r>
            <a:r>
              <a:rPr lang="en-US" altLang="en-US" sz="3200" b="0" dirty="0"/>
              <a:t>to solve a problem</a:t>
            </a:r>
          </a:p>
          <a:p>
            <a:pPr lvl="1"/>
            <a:r>
              <a:rPr lang="en-US" altLang="en-US" sz="2800" b="0" dirty="0"/>
              <a:t>Parallel matrix multiplication solver</a:t>
            </a:r>
          </a:p>
          <a:p>
            <a:r>
              <a:rPr lang="en-US" altLang="en-US" sz="3200" b="0" dirty="0">
                <a:solidFill>
                  <a:srgbClr val="0066FF"/>
                </a:solidFill>
              </a:rPr>
              <a:t>Distributed computing </a:t>
            </a:r>
            <a:r>
              <a:rPr lang="en-US" altLang="en-US" sz="3200" b="0" dirty="0"/>
              <a:t>– a program may need to cooperate with other programs to solve a problem.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Concluding Remarks (1)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The laws of physics have brought us to the doorstep of multicore technology.</a:t>
            </a:r>
          </a:p>
          <a:p>
            <a:r>
              <a:rPr lang="en-US" altLang="en-US" b="0"/>
              <a:t>Serial programs typically don</a:t>
            </a:r>
            <a:r>
              <a:rPr lang="ja-JP" altLang="en-US" b="0"/>
              <a:t>’</a:t>
            </a:r>
            <a:r>
              <a:rPr lang="en-US" altLang="ja-JP" b="0"/>
              <a:t>t benefit from multiple cores.</a:t>
            </a:r>
          </a:p>
          <a:p>
            <a:r>
              <a:rPr lang="en-US" altLang="en-US" b="0"/>
              <a:t>Automatic parallel program generation from serial program code isn</a:t>
            </a:r>
            <a:r>
              <a:rPr lang="ja-JP" altLang="en-US" b="0"/>
              <a:t>’</a:t>
            </a:r>
            <a:r>
              <a:rPr lang="en-US" altLang="ja-JP" b="0"/>
              <a:t>t the most efficient approach to get high performance from multicore computers.</a:t>
            </a:r>
            <a:endParaRPr lang="en-US" altLang="en-US" b="0"/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Concluding Remarks (2)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Learning to write parallel programs involves learning how to coordinate the cores.</a:t>
            </a:r>
          </a:p>
          <a:p>
            <a:r>
              <a:rPr lang="en-US" altLang="en-US" b="0"/>
              <a:t>Parallel programs are usually very complex and therefore, require sound program techniques and development.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062.5007874015746,&quot;width&quot;:9512.50078740157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fbb7d7a-e8ad-44ef-82fe-4a080d68a000}"/>
</p:tagLst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157</TotalTime>
  <Words>2161</Words>
  <Application>Microsoft Office PowerPoint</Application>
  <PresentationFormat>自定义</PresentationFormat>
  <Paragraphs>327</Paragraphs>
  <Slides>43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MS PGothic</vt:lpstr>
      <vt:lpstr>宋体</vt:lpstr>
      <vt:lpstr>微软雅黑</vt:lpstr>
      <vt:lpstr>等线</vt:lpstr>
      <vt:lpstr>Arial</vt:lpstr>
      <vt:lpstr>Calibri</vt:lpstr>
      <vt:lpstr>Calibri Light</vt:lpstr>
      <vt:lpstr>Comic Sans MS</vt:lpstr>
      <vt:lpstr>Wingdings</vt:lpstr>
      <vt:lpstr>教育部工程研究中心项目汇报-改</vt:lpstr>
      <vt:lpstr>PowerPoint 演示文稿</vt:lpstr>
      <vt:lpstr>Roadmap</vt:lpstr>
      <vt:lpstr>Changing times</vt:lpstr>
      <vt:lpstr>An intelligent solution</vt:lpstr>
      <vt:lpstr>Now it’s up to the programmers</vt:lpstr>
      <vt:lpstr>Why we need ever-increasing performance</vt:lpstr>
      <vt:lpstr>Climate modeling</vt:lpstr>
      <vt:lpstr>Protein folding</vt:lpstr>
      <vt:lpstr>Drug discovery</vt:lpstr>
      <vt:lpstr>Energy research</vt:lpstr>
      <vt:lpstr>Data analysis</vt:lpstr>
      <vt:lpstr>Why we’re building parallel systems</vt:lpstr>
      <vt:lpstr>A little physics lesson</vt:lpstr>
      <vt:lpstr>Solution </vt:lpstr>
      <vt:lpstr>Why we need to write parallel programs</vt:lpstr>
      <vt:lpstr>Approaches to the serial problem</vt:lpstr>
      <vt:lpstr>More problems</vt:lpstr>
      <vt:lpstr>Example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Better parallel algorithm</vt:lpstr>
      <vt:lpstr>Better parallel algorithm (cont.)</vt:lpstr>
      <vt:lpstr>Multiple cores forming a global sum</vt:lpstr>
      <vt:lpstr>Analysis</vt:lpstr>
      <vt:lpstr>Analysis (cont.)</vt:lpstr>
      <vt:lpstr>How do we write parallel programs?</vt:lpstr>
      <vt:lpstr>Professor P</vt:lpstr>
      <vt:lpstr>Professor P’s grading assistants</vt:lpstr>
      <vt:lpstr>Division of work – data parallelism</vt:lpstr>
      <vt:lpstr>Division of work – task parallelism</vt:lpstr>
      <vt:lpstr>Division of work – data parallelism</vt:lpstr>
      <vt:lpstr>Division of work – task parallelism</vt:lpstr>
      <vt:lpstr>Coordination and enhancement</vt:lpstr>
      <vt:lpstr>What we will be doing</vt:lpstr>
      <vt:lpstr>Type of parallel systems</vt:lpstr>
      <vt:lpstr>Type of parallel systems</vt:lpstr>
      <vt:lpstr>Terminology </vt:lpstr>
      <vt:lpstr>Concluding Remarks (1)</vt:lpstr>
      <vt:lpstr>Concluding Remarks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Lab317-Dan</cp:lastModifiedBy>
  <cp:revision>2598</cp:revision>
  <dcterms:created xsi:type="dcterms:W3CDTF">2016-05-19T09:43:00Z</dcterms:created>
  <dcterms:modified xsi:type="dcterms:W3CDTF">2025-02-23T13:19:24Z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B9EA0971408F4A94A57BE94789587C85</vt:lpwstr>
  </property>
</Properties>
</file>