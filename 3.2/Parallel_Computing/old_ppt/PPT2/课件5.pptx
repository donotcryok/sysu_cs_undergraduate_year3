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omments/comment1.xml" ContentType="application/vnd.openxmlformats-officedocument.presentationml.comment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6"/>
  </p:notesMasterIdLst>
  <p:sldIdLst>
    <p:sldId id="256" r:id="rId2"/>
    <p:sldId id="1289" r:id="rId3"/>
    <p:sldId id="1290" r:id="rId4"/>
    <p:sldId id="1291" r:id="rId5"/>
    <p:sldId id="1292" r:id="rId6"/>
    <p:sldId id="1293" r:id="rId7"/>
    <p:sldId id="1294" r:id="rId8"/>
    <p:sldId id="1295" r:id="rId9"/>
    <p:sldId id="1296" r:id="rId10"/>
    <p:sldId id="1297" r:id="rId11"/>
    <p:sldId id="1298" r:id="rId12"/>
    <p:sldId id="1299" r:id="rId13"/>
    <p:sldId id="1300" r:id="rId14"/>
    <p:sldId id="1301" r:id="rId15"/>
    <p:sldId id="1302" r:id="rId16"/>
    <p:sldId id="1303" r:id="rId17"/>
    <p:sldId id="1304" r:id="rId18"/>
    <p:sldId id="1305" r:id="rId19"/>
    <p:sldId id="1306" r:id="rId20"/>
    <p:sldId id="1307" r:id="rId21"/>
    <p:sldId id="1308" r:id="rId22"/>
    <p:sldId id="1309" r:id="rId23"/>
    <p:sldId id="1310" r:id="rId24"/>
    <p:sldId id="1311" r:id="rId25"/>
    <p:sldId id="1312" r:id="rId26"/>
    <p:sldId id="1313" r:id="rId27"/>
    <p:sldId id="1314" r:id="rId28"/>
    <p:sldId id="1315" r:id="rId29"/>
    <p:sldId id="1316" r:id="rId30"/>
    <p:sldId id="1317" r:id="rId31"/>
    <p:sldId id="1318" r:id="rId32"/>
    <p:sldId id="1319" r:id="rId33"/>
    <p:sldId id="1320" r:id="rId34"/>
    <p:sldId id="1321" r:id="rId35"/>
    <p:sldId id="1322" r:id="rId36"/>
    <p:sldId id="1323" r:id="rId37"/>
    <p:sldId id="1324" r:id="rId38"/>
    <p:sldId id="1325" r:id="rId39"/>
    <p:sldId id="1326" r:id="rId40"/>
    <p:sldId id="1327" r:id="rId41"/>
    <p:sldId id="1328" r:id="rId42"/>
    <p:sldId id="1329" r:id="rId43"/>
    <p:sldId id="1330" r:id="rId44"/>
    <p:sldId id="1331" r:id="rId45"/>
    <p:sldId id="1332" r:id="rId46"/>
    <p:sldId id="1333" r:id="rId47"/>
    <p:sldId id="1334" r:id="rId48"/>
    <p:sldId id="1335" r:id="rId49"/>
    <p:sldId id="1336" r:id="rId50"/>
    <p:sldId id="1401" r:id="rId51"/>
    <p:sldId id="1402" r:id="rId52"/>
    <p:sldId id="1338" r:id="rId53"/>
    <p:sldId id="1339" r:id="rId54"/>
    <p:sldId id="1340" r:id="rId55"/>
    <p:sldId id="1341" r:id="rId56"/>
    <p:sldId id="1342" r:id="rId57"/>
    <p:sldId id="1343" r:id="rId58"/>
    <p:sldId id="1344" r:id="rId59"/>
    <p:sldId id="1345" r:id="rId60"/>
    <p:sldId id="1346" r:id="rId61"/>
    <p:sldId id="1347" r:id="rId62"/>
    <p:sldId id="1348" r:id="rId63"/>
    <p:sldId id="1349" r:id="rId64"/>
    <p:sldId id="1350" r:id="rId65"/>
    <p:sldId id="1351" r:id="rId66"/>
    <p:sldId id="1352" r:id="rId67"/>
    <p:sldId id="1353" r:id="rId68"/>
    <p:sldId id="1354" r:id="rId69"/>
    <p:sldId id="1355" r:id="rId70"/>
    <p:sldId id="1356" r:id="rId71"/>
    <p:sldId id="1357" r:id="rId72"/>
    <p:sldId id="1358" r:id="rId73"/>
    <p:sldId id="1359" r:id="rId74"/>
    <p:sldId id="1360" r:id="rId75"/>
    <p:sldId id="1361" r:id="rId76"/>
    <p:sldId id="1362" r:id="rId77"/>
    <p:sldId id="1363" r:id="rId78"/>
    <p:sldId id="1364" r:id="rId79"/>
    <p:sldId id="1365" r:id="rId80"/>
    <p:sldId id="1366" r:id="rId81"/>
    <p:sldId id="1367" r:id="rId82"/>
    <p:sldId id="1368" r:id="rId83"/>
    <p:sldId id="1369" r:id="rId84"/>
    <p:sldId id="1370" r:id="rId85"/>
    <p:sldId id="1371" r:id="rId86"/>
    <p:sldId id="1372" r:id="rId87"/>
    <p:sldId id="1373" r:id="rId88"/>
    <p:sldId id="1374" r:id="rId89"/>
    <p:sldId id="1375" r:id="rId90"/>
    <p:sldId id="1376" r:id="rId91"/>
    <p:sldId id="1377" r:id="rId92"/>
    <p:sldId id="1378" r:id="rId93"/>
    <p:sldId id="1379" r:id="rId94"/>
    <p:sldId id="1380" r:id="rId95"/>
    <p:sldId id="1381" r:id="rId96"/>
    <p:sldId id="1382" r:id="rId97"/>
    <p:sldId id="1383" r:id="rId98"/>
    <p:sldId id="1384" r:id="rId99"/>
    <p:sldId id="1385" r:id="rId100"/>
    <p:sldId id="1386" r:id="rId101"/>
    <p:sldId id="1387" r:id="rId102"/>
    <p:sldId id="1388" r:id="rId103"/>
    <p:sldId id="1389" r:id="rId104"/>
    <p:sldId id="1390" r:id="rId105"/>
    <p:sldId id="1391" r:id="rId106"/>
    <p:sldId id="1392" r:id="rId107"/>
    <p:sldId id="1393" r:id="rId108"/>
    <p:sldId id="1394" r:id="rId109"/>
    <p:sldId id="1395" r:id="rId110"/>
    <p:sldId id="1396" r:id="rId111"/>
    <p:sldId id="1397" r:id="rId112"/>
    <p:sldId id="1398" r:id="rId113"/>
    <p:sldId id="1399" r:id="rId114"/>
    <p:sldId id="1400" r:id="rId115"/>
  </p:sldIdLst>
  <p:sldSz cx="12801600" cy="7200900"/>
  <p:notesSz cx="6797675" cy="9928225"/>
  <p:defaultTextStyle>
    <a:defPPr>
      <a:defRPr lang="zh-CN"/>
    </a:defPPr>
    <a:lvl1pPr marL="0" lvl="0" indent="0"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1pPr>
    <a:lvl2pPr marL="570230" lvl="1" indent="-113030"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2pPr>
    <a:lvl3pPr marL="1141730" lvl="2" indent="-227330"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3pPr>
    <a:lvl4pPr marL="1711325" lvl="3" indent="-3397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4pPr>
    <a:lvl5pPr marL="2282825" lvl="4" indent="-4540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4540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4540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4540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454025" algn="l" defTabSz="1141730" rtl="0" eaLnBrk="0" fontAlgn="base" latinLnBrk="0" hangingPunct="0">
      <a:lnSpc>
        <a:spcPct val="100000"/>
      </a:lnSpc>
      <a:spcBef>
        <a:spcPct val="0"/>
      </a:spcBef>
      <a:spcAft>
        <a:spcPct val="0"/>
      </a:spcAft>
      <a:buNone/>
      <a:defRPr sz="2200"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1">
          <p15:clr>
            <a:srgbClr val="A4A3A4"/>
          </p15:clr>
        </p15:guide>
        <p15:guide id="2" pos="407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 id="3" name="黄聃" initials="黄聃" lastIdx="1" clrIdx="2">
    <p:extLst>
      <p:ext uri="{19B8F6BF-5375-455C-9EA6-DF929625EA0E}">
        <p15:presenceInfo xmlns:p15="http://schemas.microsoft.com/office/powerpoint/2012/main" userId="S::huangd79@ms.sysu.edu.cn::05fd6555-67a9-4797-980c-de46b7ca3e6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24600"/>
    <a:srgbClr val="BDEBBD"/>
    <a:srgbClr val="1C00FF"/>
    <a:srgbClr val="000000"/>
    <a:srgbClr val="D9D9D9"/>
    <a:srgbClr val="F7AA89"/>
    <a:srgbClr val="FFD78E"/>
    <a:srgbClr val="0070C0"/>
    <a:srgbClr val="A0B0DC"/>
    <a:srgbClr val="338D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D63741-1762-1A49-B1BA-B8E4BDCFFF1E}" v="2" dt="2023-10-08T12:56:38.79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24" autoAdjust="0"/>
    <p:restoredTop sz="82615" autoAdjust="0"/>
  </p:normalViewPr>
  <p:slideViewPr>
    <p:cSldViewPr showGuides="1">
      <p:cViewPr varScale="1">
        <p:scale>
          <a:sx n="78" d="100"/>
          <a:sy n="78" d="100"/>
        </p:scale>
        <p:origin x="1003" y="72"/>
      </p:cViewPr>
      <p:guideLst>
        <p:guide orient="horz" pos="2261"/>
        <p:guide pos="407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269"/>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黄聃" userId="05fd6555-67a9-4797-980c-de46b7ca3e6c" providerId="ADAL" clId="{5ED63741-1762-1A49-B1BA-B8E4BDCFFF1E}"/>
    <pc:docChg chg="undo custSel delSld modSld">
      <pc:chgData name="黄聃" userId="05fd6555-67a9-4797-980c-de46b7ca3e6c" providerId="ADAL" clId="{5ED63741-1762-1A49-B1BA-B8E4BDCFFF1E}" dt="2023-10-10T07:22:57.009" v="159" actId="207"/>
      <pc:docMkLst>
        <pc:docMk/>
      </pc:docMkLst>
      <pc:sldChg chg="modSp mod">
        <pc:chgData name="黄聃" userId="05fd6555-67a9-4797-980c-de46b7ca3e6c" providerId="ADAL" clId="{5ED63741-1762-1A49-B1BA-B8E4BDCFFF1E}" dt="2023-10-08T12:22:45.455" v="0" actId="20577"/>
        <pc:sldMkLst>
          <pc:docMk/>
          <pc:sldMk cId="0" sldId="1296"/>
        </pc:sldMkLst>
        <pc:spChg chg="mod">
          <ac:chgData name="黄聃" userId="05fd6555-67a9-4797-980c-de46b7ca3e6c" providerId="ADAL" clId="{5ED63741-1762-1A49-B1BA-B8E4BDCFFF1E}" dt="2023-10-08T12:22:45.455" v="0" actId="20577"/>
          <ac:spMkLst>
            <pc:docMk/>
            <pc:sldMk cId="0" sldId="1296"/>
            <ac:spMk id="3" creationId="{00000000-0000-0000-0000-000000000000}"/>
          </ac:spMkLst>
        </pc:spChg>
      </pc:sldChg>
      <pc:sldChg chg="modSp mod">
        <pc:chgData name="黄聃" userId="05fd6555-67a9-4797-980c-de46b7ca3e6c" providerId="ADAL" clId="{5ED63741-1762-1A49-B1BA-B8E4BDCFFF1E}" dt="2023-10-10T07:12:48.987" v="158" actId="20577"/>
        <pc:sldMkLst>
          <pc:docMk/>
          <pc:sldMk cId="0" sldId="1306"/>
        </pc:sldMkLst>
        <pc:spChg chg="mod">
          <ac:chgData name="黄聃" userId="05fd6555-67a9-4797-980c-de46b7ca3e6c" providerId="ADAL" clId="{5ED63741-1762-1A49-B1BA-B8E4BDCFFF1E}" dt="2023-10-10T07:12:48.987" v="158" actId="20577"/>
          <ac:spMkLst>
            <pc:docMk/>
            <pc:sldMk cId="0" sldId="1306"/>
            <ac:spMk id="8" creationId="{00000000-0000-0000-0000-000000000000}"/>
          </ac:spMkLst>
        </pc:spChg>
      </pc:sldChg>
      <pc:sldChg chg="modSp mod">
        <pc:chgData name="黄聃" userId="05fd6555-67a9-4797-980c-de46b7ca3e6c" providerId="ADAL" clId="{5ED63741-1762-1A49-B1BA-B8E4BDCFFF1E}" dt="2023-10-08T12:34:38.990" v="37" actId="14100"/>
        <pc:sldMkLst>
          <pc:docMk/>
          <pc:sldMk cId="0" sldId="1320"/>
        </pc:sldMkLst>
        <pc:spChg chg="mod">
          <ac:chgData name="黄聃" userId="05fd6555-67a9-4797-980c-de46b7ca3e6c" providerId="ADAL" clId="{5ED63741-1762-1A49-B1BA-B8E4BDCFFF1E}" dt="2023-10-08T12:34:38.990" v="37" actId="14100"/>
          <ac:spMkLst>
            <pc:docMk/>
            <pc:sldMk cId="0" sldId="1320"/>
            <ac:spMk id="8" creationId="{CB63E77F-E9DA-49D7-8FAA-542A780E498A}"/>
          </ac:spMkLst>
        </pc:spChg>
      </pc:sldChg>
      <pc:sldChg chg="addSp modSp mod addCm">
        <pc:chgData name="黄聃" userId="05fd6555-67a9-4797-980c-de46b7ca3e6c" providerId="ADAL" clId="{5ED63741-1762-1A49-B1BA-B8E4BDCFFF1E}" dt="2023-10-10T07:22:57.009" v="159" actId="207"/>
        <pc:sldMkLst>
          <pc:docMk/>
          <pc:sldMk cId="0" sldId="1348"/>
        </pc:sldMkLst>
        <pc:spChg chg="mod">
          <ac:chgData name="黄聃" userId="05fd6555-67a9-4797-980c-de46b7ca3e6c" providerId="ADAL" clId="{5ED63741-1762-1A49-B1BA-B8E4BDCFFF1E}" dt="2023-10-08T12:56:48.817" v="126" actId="1076"/>
          <ac:spMkLst>
            <pc:docMk/>
            <pc:sldMk cId="0" sldId="1348"/>
            <ac:spMk id="4" creationId="{00000000-0000-0000-0000-000000000000}"/>
          </ac:spMkLst>
        </pc:spChg>
        <pc:spChg chg="mod">
          <ac:chgData name="黄聃" userId="05fd6555-67a9-4797-980c-de46b7ca3e6c" providerId="ADAL" clId="{5ED63741-1762-1A49-B1BA-B8E4BDCFFF1E}" dt="2023-10-08T12:57:20.600" v="130" actId="208"/>
          <ac:spMkLst>
            <pc:docMk/>
            <pc:sldMk cId="0" sldId="1348"/>
            <ac:spMk id="10" creationId="{00000000-0000-0000-0000-000000000000}"/>
          </ac:spMkLst>
        </pc:spChg>
        <pc:spChg chg="mod">
          <ac:chgData name="黄聃" userId="05fd6555-67a9-4797-980c-de46b7ca3e6c" providerId="ADAL" clId="{5ED63741-1762-1A49-B1BA-B8E4BDCFFF1E}" dt="2023-10-10T07:22:57.009" v="159" actId="207"/>
          <ac:spMkLst>
            <pc:docMk/>
            <pc:sldMk cId="0" sldId="1348"/>
            <ac:spMk id="11" creationId="{00000000-0000-0000-0000-000000000000}"/>
          </ac:spMkLst>
        </pc:spChg>
        <pc:spChg chg="add mod">
          <ac:chgData name="黄聃" userId="05fd6555-67a9-4797-980c-de46b7ca3e6c" providerId="ADAL" clId="{5ED63741-1762-1A49-B1BA-B8E4BDCFFF1E}" dt="2023-10-08T12:56:35.701" v="122" actId="207"/>
          <ac:spMkLst>
            <pc:docMk/>
            <pc:sldMk cId="0" sldId="1348"/>
            <ac:spMk id="19" creationId="{9C688B6F-A786-A948-9315-81597AB58BB5}"/>
          </ac:spMkLst>
        </pc:spChg>
        <pc:spChg chg="add mod">
          <ac:chgData name="黄聃" userId="05fd6555-67a9-4797-980c-de46b7ca3e6c" providerId="ADAL" clId="{5ED63741-1762-1A49-B1BA-B8E4BDCFFF1E}" dt="2023-10-08T12:56:51.970" v="127" actId="1076"/>
          <ac:spMkLst>
            <pc:docMk/>
            <pc:sldMk cId="0" sldId="1348"/>
            <ac:spMk id="20" creationId="{14556928-F1E1-FD4A-82BF-DDE895348FFA}"/>
          </ac:spMkLst>
        </pc:spChg>
        <pc:cxnChg chg="mod">
          <ac:chgData name="黄聃" userId="05fd6555-67a9-4797-980c-de46b7ca3e6c" providerId="ADAL" clId="{5ED63741-1762-1A49-B1BA-B8E4BDCFFF1E}" dt="2023-10-08T12:55:28.259" v="110" actId="14100"/>
          <ac:cxnSpMkLst>
            <pc:docMk/>
            <pc:sldMk cId="0" sldId="1348"/>
            <ac:cxnSpMk id="13" creationId="{B3DE915D-634C-4989-993C-E40EC702B0A5}"/>
          </ac:cxnSpMkLst>
        </pc:cxnChg>
        <pc:cxnChg chg="mod">
          <ac:chgData name="黄聃" userId="05fd6555-67a9-4797-980c-de46b7ca3e6c" providerId="ADAL" clId="{5ED63741-1762-1A49-B1BA-B8E4BDCFFF1E}" dt="2023-10-08T12:57:20.600" v="130" actId="208"/>
          <ac:cxnSpMkLst>
            <pc:docMk/>
            <pc:sldMk cId="0" sldId="1348"/>
            <ac:cxnSpMk id="18" creationId="{DB410669-7D0F-40D7-B2CA-2BCE42CD906F}"/>
          </ac:cxnSpMkLst>
        </pc:cxnChg>
      </pc:sldChg>
      <pc:sldChg chg="del">
        <pc:chgData name="黄聃" userId="05fd6555-67a9-4797-980c-de46b7ca3e6c" providerId="ADAL" clId="{5ED63741-1762-1A49-B1BA-B8E4BDCFFF1E}" dt="2023-10-08T12:39:35.599" v="38" actId="2696"/>
        <pc:sldMkLst>
          <pc:docMk/>
          <pc:sldMk cId="1799978469" sldId="1403"/>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3" dt="2023-10-08T20:55:56.396"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2"/>
          </a:xfrm>
          <a:prstGeom prst="rect">
            <a:avLst/>
          </a:prstGeom>
        </p:spPr>
        <p:txBody>
          <a:bodyPr vert="horz" lIns="91440" tIns="45720" rIns="91440" bIns="45720" rtlCol="0"/>
          <a:lstStyle>
            <a:lvl1pPr algn="l" eaLnBrk="1" hangingPunct="1">
              <a:defRPr sz="1200">
                <a:latin typeface="Calibri" panose="020F0502020204030204" pitchFamily="34" charset="0"/>
                <a:ea typeface="宋体" panose="02010600030101010101" pitchFamily="2" charset="-122"/>
                <a:cs typeface="+mn-cs"/>
              </a:defRPr>
            </a:lvl1pPr>
          </a:lstStyle>
          <a:p>
            <a:pPr marL="0" marR="0" lvl="0" indent="0" algn="l" defTabSz="114173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50836" y="0"/>
            <a:ext cx="2945659" cy="496412"/>
          </a:xfrm>
          <a:prstGeom prst="rect">
            <a:avLst/>
          </a:prstGeom>
        </p:spPr>
        <p:txBody>
          <a:bodyPr vert="horz" wrap="square" lIns="91440" tIns="45720" rIns="91440" bIns="45720" numCol="1" anchor="t" anchorCtr="0" compatLnSpc="1"/>
          <a:lstStyle>
            <a:lvl1pPr algn="r" eaLnBrk="1" hangingPunct="1">
              <a:defRPr sz="1200"/>
            </a:lvl1pPr>
          </a:lstStyle>
          <a:p>
            <a:pPr marL="0" marR="0" lvl="0" indent="0" algn="r" defTabSz="1141730" rtl="0" eaLnBrk="1" fontAlgn="base" latinLnBrk="0" hangingPunct="1">
              <a:lnSpc>
                <a:spcPct val="100000"/>
              </a:lnSpc>
              <a:spcBef>
                <a:spcPct val="0"/>
              </a:spcBef>
              <a:spcAft>
                <a:spcPct val="0"/>
              </a:spcAft>
              <a:buClrTx/>
              <a:buSzTx/>
              <a:buFontTx/>
              <a:buNone/>
              <a:defRPr/>
            </a:pPr>
            <a:fld id="{DE0D72EB-56EB-4991-A892-A5CE144BC12E}"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2025/2/23</a:t>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mn-lt"/>
              <a:ea typeface="+mn-ea"/>
              <a:cs typeface="宋体" panose="02010600030101010101" pitchFamily="2" charset="-122"/>
            </a:endParaRPr>
          </a:p>
        </p:txBody>
      </p:sp>
      <p:sp>
        <p:nvSpPr>
          <p:cNvPr id="5" name="备注占位符 4"/>
          <p:cNvSpPr>
            <a:spLocks noGrp="1"/>
          </p:cNvSpPr>
          <p:nvPr>
            <p:ph type="body" sz="quarter" idx="3"/>
          </p:nvPr>
        </p:nvSpPr>
        <p:spPr>
          <a:xfrm>
            <a:off x="679768" y="4715907"/>
            <a:ext cx="5438140" cy="4467702"/>
          </a:xfrm>
          <a:prstGeom prst="rect">
            <a:avLst/>
          </a:prstGeo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mn-lt"/>
                <a:ea typeface="+mn-ea"/>
                <a:cs typeface="宋体" panose="02010600030101010101" pitchFamily="2" charset="-122"/>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9429516"/>
            <a:ext cx="2945659" cy="496412"/>
          </a:xfrm>
          <a:prstGeom prst="rect">
            <a:avLst/>
          </a:prstGeom>
        </p:spPr>
        <p:txBody>
          <a:bodyPr vert="horz" lIns="91440" tIns="45720" rIns="91440" bIns="45720" rtlCol="0" anchor="b"/>
          <a:lstStyle>
            <a:lvl1pPr algn="l" eaLnBrk="1" hangingPunct="1">
              <a:defRPr sz="1200">
                <a:latin typeface="Calibri" panose="020F0502020204030204" pitchFamily="34" charset="0"/>
                <a:ea typeface="宋体" panose="02010600030101010101" pitchFamily="2" charset="-122"/>
                <a:cs typeface="+mn-cs"/>
              </a:defRPr>
            </a:lvl1pPr>
          </a:lstStyle>
          <a:p>
            <a:pPr marL="0" marR="0" lvl="0" indent="0" algn="l" defTabSz="114173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50836" y="9429516"/>
            <a:ext cx="2945659" cy="496412"/>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1141730" rtl="0" eaLnBrk="1" fontAlgn="base" latinLnBrk="0" hangingPunct="1">
              <a:lnSpc>
                <a:spcPct val="100000"/>
              </a:lnSpc>
              <a:spcBef>
                <a:spcPct val="0"/>
              </a:spcBef>
              <a:spcAft>
                <a:spcPct val="0"/>
              </a:spcAft>
              <a:buClrTx/>
              <a:buSzTx/>
              <a:buFontTx/>
              <a:buNone/>
              <a:defRPr/>
            </a:pPr>
            <a:fld id="{07B66D08-2390-484F-8BCE-1AC42F82CB25}" type="slidenum">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solidFill>
              <a:srgbClr val="000000">
                <a:alpha val="100000"/>
              </a:srgbClr>
            </a:solidFill>
            <a:miter lim="800000"/>
          </a:ln>
        </p:spPr>
      </p:sp>
      <p:sp>
        <p:nvSpPr>
          <p:cNvPr id="5123" name="备注占位符 2"/>
          <p:cNvSpPr>
            <a:spLocks noGrp="1"/>
          </p:cNvSpPr>
          <p:nvPr>
            <p:ph type="body" idx="1"/>
          </p:nvPr>
        </p:nvSpPr>
        <p:spPr>
          <a:noFill/>
          <a:ln>
            <a:noFill/>
          </a:ln>
        </p:spPr>
        <p:txBody>
          <a:bodyPr wrap="square" lIns="91440" tIns="45720" rIns="91440" bIns="45720" anchor="t"/>
          <a:lstStyle/>
          <a:p>
            <a:endParaRPr kumimoji="1" lang="en-US" sz="1200" kern="1200" dirty="0">
              <a:solidFill>
                <a:schemeClr val="tx1"/>
              </a:solidFill>
              <a:effectLst/>
              <a:latin typeface="+mn-lt"/>
              <a:ea typeface="+mn-ea"/>
              <a:cs typeface="宋体" panose="02010600030101010101" pitchFamily="2" charset="-122"/>
            </a:endParaRPr>
          </a:p>
        </p:txBody>
      </p:sp>
      <p:sp>
        <p:nvSpPr>
          <p:cNvPr id="5124" name="灯片编号占位符 3"/>
          <p:cNvSpPr txBox="1">
            <a:spLocks noGrp="1"/>
          </p:cNvSpPr>
          <p:nvPr>
            <p:ph type="sldNum" sz="quarter"/>
          </p:nvPr>
        </p:nvSpPr>
        <p:spPr>
          <a:xfrm>
            <a:off x="3850836" y="9429516"/>
            <a:ext cx="2945659" cy="496412"/>
          </a:xfrm>
          <a:prstGeom prst="rect">
            <a:avLst/>
          </a:prstGeom>
          <a:noFill/>
          <a:ln w="9525">
            <a:noFill/>
          </a:ln>
        </p:spPr>
        <p:txBody>
          <a:bodyPr anchor="b"/>
          <a:lstStyle/>
          <a:p>
            <a:pPr lvl="0" algn="r" eaLnBrk="1" hangingPunct="1"/>
            <a:fld id="{9A0DB2DC-4C9A-4742-B13C-FB6460FD3503}" type="slidenum">
              <a:rPr lang="zh-CN" altLang="en-US" sz="1200" dirty="0"/>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6828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60121" y="2236947"/>
            <a:ext cx="10881360" cy="1543526"/>
          </a:xfrm>
        </p:spPr>
        <p:txBody>
          <a:bodyPr/>
          <a:lstStyle/>
          <a:p>
            <a:r>
              <a:rPr lang="zh-CN" altLang="en-US"/>
              <a:t>单击此处编辑母版标题样式</a:t>
            </a:r>
          </a:p>
        </p:txBody>
      </p:sp>
      <p:sp>
        <p:nvSpPr>
          <p:cNvPr id="3" name="副标题 2"/>
          <p:cNvSpPr>
            <a:spLocks noGrp="1"/>
          </p:cNvSpPr>
          <p:nvPr>
            <p:ph type="subTitle" idx="1"/>
          </p:nvPr>
        </p:nvSpPr>
        <p:spPr>
          <a:xfrm>
            <a:off x="1920241" y="4080510"/>
            <a:ext cx="8961120" cy="1840230"/>
          </a:xfrm>
        </p:spPr>
        <p:txBody>
          <a:bodyPr/>
          <a:lstStyle>
            <a:lvl1pPr marL="0" indent="0" algn="ctr">
              <a:buNone/>
              <a:defRPr>
                <a:solidFill>
                  <a:schemeClr val="tx1">
                    <a:tint val="75000"/>
                  </a:schemeClr>
                </a:solidFill>
              </a:defRPr>
            </a:lvl1pPr>
            <a:lvl2pPr marL="570865" indent="0" algn="ctr">
              <a:buNone/>
              <a:defRPr>
                <a:solidFill>
                  <a:schemeClr val="tx1">
                    <a:tint val="75000"/>
                  </a:schemeClr>
                </a:solidFill>
              </a:defRPr>
            </a:lvl2pPr>
            <a:lvl3pPr marL="1141730" indent="0" algn="ctr">
              <a:buNone/>
              <a:defRPr>
                <a:solidFill>
                  <a:schemeClr val="tx1">
                    <a:tint val="75000"/>
                  </a:schemeClr>
                </a:solidFill>
              </a:defRPr>
            </a:lvl3pPr>
            <a:lvl4pPr marL="1712595" indent="0" algn="ctr">
              <a:buNone/>
              <a:defRPr>
                <a:solidFill>
                  <a:schemeClr val="tx1">
                    <a:tint val="75000"/>
                  </a:schemeClr>
                </a:solidFill>
              </a:defRPr>
            </a:lvl4pPr>
            <a:lvl5pPr marL="2283460" indent="0" algn="ctr">
              <a:buNone/>
              <a:defRPr>
                <a:solidFill>
                  <a:schemeClr val="tx1">
                    <a:tint val="75000"/>
                  </a:schemeClr>
                </a:solidFill>
              </a:defRPr>
            </a:lvl5pPr>
            <a:lvl6pPr marL="2854325" indent="0" algn="ctr">
              <a:buNone/>
              <a:defRPr>
                <a:solidFill>
                  <a:schemeClr val="tx1">
                    <a:tint val="75000"/>
                  </a:schemeClr>
                </a:solidFill>
              </a:defRPr>
            </a:lvl6pPr>
            <a:lvl7pPr marL="3425190" indent="0" algn="ctr">
              <a:buNone/>
              <a:defRPr>
                <a:solidFill>
                  <a:schemeClr val="tx1">
                    <a:tint val="75000"/>
                  </a:schemeClr>
                </a:solidFill>
              </a:defRPr>
            </a:lvl7pPr>
            <a:lvl8pPr marL="3996055" indent="0" algn="ctr">
              <a:buNone/>
              <a:defRPr>
                <a:solidFill>
                  <a:schemeClr val="tx1">
                    <a:tint val="75000"/>
                  </a:schemeClr>
                </a:solidFill>
              </a:defRPr>
            </a:lvl8pPr>
            <a:lvl9pPr marL="456692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04256" y="72058"/>
            <a:ext cx="9900000" cy="792088"/>
          </a:xfrm>
        </p:spPr>
        <p:txBody>
          <a:bodyPr/>
          <a:lstStyle>
            <a:lvl1pPr algn="l">
              <a:defRPr sz="3800" baseline="0">
                <a:latin typeface="Comic Sans MS" panose="030F0902030302020204" pitchFamily="66" charset="0"/>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52128" y="1224187"/>
            <a:ext cx="12097344" cy="5208364"/>
          </a:xfrm>
        </p:spPr>
        <p:txBody>
          <a:bodyPr/>
          <a:lstStyle>
            <a:lvl1pPr>
              <a:lnSpc>
                <a:spcPct val="125000"/>
              </a:lnSpc>
              <a:defRPr sz="3200" baseline="0">
                <a:latin typeface="Comic Sans MS" panose="030F0902030302020204" pitchFamily="66" charset="0"/>
                <a:ea typeface="微软雅黑" panose="020B0503020204020204" pitchFamily="34" charset="-122"/>
              </a:defRPr>
            </a:lvl1pPr>
            <a:lvl2pPr>
              <a:lnSpc>
                <a:spcPct val="125000"/>
              </a:lnSpc>
              <a:defRPr sz="3200" baseline="0">
                <a:latin typeface="Comic Sans MS" panose="030F0902030302020204" pitchFamily="66" charset="0"/>
                <a:ea typeface="微软雅黑" panose="020B0503020204020204" pitchFamily="34" charset="-122"/>
              </a:defRPr>
            </a:lvl2pPr>
            <a:lvl3pPr>
              <a:lnSpc>
                <a:spcPct val="125000"/>
              </a:lnSpc>
              <a:defRPr sz="3200" baseline="0">
                <a:latin typeface="Comic Sans MS" panose="030F0902030302020204" pitchFamily="66" charset="0"/>
                <a:ea typeface="微软雅黑" panose="020B0503020204020204" pitchFamily="34" charset="-122"/>
              </a:defRPr>
            </a:lvl3pPr>
            <a:lvl4pPr>
              <a:lnSpc>
                <a:spcPct val="125000"/>
              </a:lnSpc>
              <a:defRPr sz="3200" baseline="0">
                <a:latin typeface="Comic Sans MS" panose="030F0902030302020204" pitchFamily="66" charset="0"/>
                <a:ea typeface="微软雅黑" panose="020B0503020204020204" pitchFamily="34" charset="-122"/>
              </a:defRPr>
            </a:lvl4pPr>
            <a:lvl5pPr>
              <a:lnSpc>
                <a:spcPct val="125000"/>
              </a:lnSpc>
              <a:defRPr sz="3200" baseline="0">
                <a:latin typeface="Comic Sans MS" panose="030F0902030302020204" pitchFamily="66"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1239" y="4627250"/>
            <a:ext cx="10881360" cy="1430179"/>
          </a:xfrm>
        </p:spPr>
        <p:txBody>
          <a:bodyPr anchor="t"/>
          <a:lstStyle>
            <a:lvl1pPr algn="l">
              <a:defRPr sz="5000" b="1" cap="all"/>
            </a:lvl1pPr>
          </a:lstStyle>
          <a:p>
            <a:r>
              <a:rPr lang="zh-CN" altLang="en-US"/>
              <a:t>单击此处编辑母版标题样式</a:t>
            </a:r>
          </a:p>
        </p:txBody>
      </p:sp>
      <p:sp>
        <p:nvSpPr>
          <p:cNvPr id="3" name="文本占位符 2"/>
          <p:cNvSpPr>
            <a:spLocks noGrp="1"/>
          </p:cNvSpPr>
          <p:nvPr>
            <p:ph type="body" idx="1"/>
          </p:nvPr>
        </p:nvSpPr>
        <p:spPr>
          <a:xfrm>
            <a:off x="1011239" y="3052049"/>
            <a:ext cx="10881360" cy="1575196"/>
          </a:xfrm>
        </p:spPr>
        <p:txBody>
          <a:bodyPr anchor="b"/>
          <a:lstStyle>
            <a:lvl1pPr marL="0" indent="0">
              <a:buNone/>
              <a:defRPr sz="2500">
                <a:solidFill>
                  <a:schemeClr val="tx1">
                    <a:tint val="75000"/>
                  </a:schemeClr>
                </a:solidFill>
              </a:defRPr>
            </a:lvl1pPr>
            <a:lvl2pPr marL="570865" indent="0">
              <a:buNone/>
              <a:defRPr sz="2200">
                <a:solidFill>
                  <a:schemeClr val="tx1">
                    <a:tint val="75000"/>
                  </a:schemeClr>
                </a:solidFill>
              </a:defRPr>
            </a:lvl2pPr>
            <a:lvl3pPr marL="1141730" indent="0">
              <a:buNone/>
              <a:defRPr sz="2000">
                <a:solidFill>
                  <a:schemeClr val="tx1">
                    <a:tint val="75000"/>
                  </a:schemeClr>
                </a:solidFill>
              </a:defRPr>
            </a:lvl3pPr>
            <a:lvl4pPr marL="1712595" indent="0">
              <a:buNone/>
              <a:defRPr sz="1700">
                <a:solidFill>
                  <a:schemeClr val="tx1">
                    <a:tint val="75000"/>
                  </a:schemeClr>
                </a:solidFill>
              </a:defRPr>
            </a:lvl4pPr>
            <a:lvl5pPr marL="2283460" indent="0">
              <a:buNone/>
              <a:defRPr sz="1700">
                <a:solidFill>
                  <a:schemeClr val="tx1">
                    <a:tint val="75000"/>
                  </a:schemeClr>
                </a:solidFill>
              </a:defRPr>
            </a:lvl5pPr>
            <a:lvl6pPr marL="2854325" indent="0">
              <a:buNone/>
              <a:defRPr sz="1700">
                <a:solidFill>
                  <a:schemeClr val="tx1">
                    <a:tint val="75000"/>
                  </a:schemeClr>
                </a:solidFill>
              </a:defRPr>
            </a:lvl6pPr>
            <a:lvl7pPr marL="3425190" indent="0">
              <a:buNone/>
              <a:defRPr sz="1700">
                <a:solidFill>
                  <a:schemeClr val="tx1">
                    <a:tint val="75000"/>
                  </a:schemeClr>
                </a:solidFill>
              </a:defRPr>
            </a:lvl7pPr>
            <a:lvl8pPr marL="3996055" indent="0">
              <a:buNone/>
              <a:defRPr sz="1700">
                <a:solidFill>
                  <a:schemeClr val="tx1">
                    <a:tint val="75000"/>
                  </a:schemeClr>
                </a:solidFill>
              </a:defRPr>
            </a:lvl8pPr>
            <a:lvl9pPr marL="4566920" indent="0">
              <a:buNone/>
              <a:defRPr sz="17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40080" y="1680216"/>
            <a:ext cx="5654040" cy="4752261"/>
          </a:xfrm>
        </p:spPr>
        <p:txBody>
          <a:bodyPr/>
          <a:lstStyle>
            <a:lvl1pPr>
              <a:defRPr sz="3500"/>
            </a:lvl1pPr>
            <a:lvl2pPr>
              <a:defRPr sz="3000"/>
            </a:lvl2pPr>
            <a:lvl3pPr>
              <a:defRPr sz="2500"/>
            </a:lvl3pPr>
            <a:lvl4pPr>
              <a:defRPr sz="2200"/>
            </a:lvl4pPr>
            <a:lvl5pPr>
              <a:defRPr sz="2200"/>
            </a:lvl5pPr>
            <a:lvl6pPr>
              <a:defRPr sz="2200"/>
            </a:lvl6pPr>
            <a:lvl7pPr>
              <a:defRPr sz="2200"/>
            </a:lvl7pPr>
            <a:lvl8pPr>
              <a:defRPr sz="2200"/>
            </a:lvl8pPr>
            <a:lvl9pPr>
              <a:defRPr sz="2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507481" y="1680216"/>
            <a:ext cx="5654040" cy="4752261"/>
          </a:xfrm>
        </p:spPr>
        <p:txBody>
          <a:bodyPr/>
          <a:lstStyle>
            <a:lvl1pPr>
              <a:defRPr sz="3500"/>
            </a:lvl1pPr>
            <a:lvl2pPr>
              <a:defRPr sz="3000"/>
            </a:lvl2pPr>
            <a:lvl3pPr>
              <a:defRPr sz="2500"/>
            </a:lvl3pPr>
            <a:lvl4pPr>
              <a:defRPr sz="2200"/>
            </a:lvl4pPr>
            <a:lvl5pPr>
              <a:defRPr sz="2200"/>
            </a:lvl5pPr>
            <a:lvl6pPr>
              <a:defRPr sz="2200"/>
            </a:lvl6pPr>
            <a:lvl7pPr>
              <a:defRPr sz="2200"/>
            </a:lvl7pPr>
            <a:lvl8pPr>
              <a:defRPr sz="2200"/>
            </a:lvl8pPr>
            <a:lvl9pPr>
              <a:defRPr sz="2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40083" y="1611869"/>
            <a:ext cx="5656263" cy="671750"/>
          </a:xfrm>
        </p:spPr>
        <p:txBody>
          <a:bodyPr anchor="b"/>
          <a:lstStyle>
            <a:lvl1pPr marL="0" indent="0">
              <a:buNone/>
              <a:defRPr sz="3000" b="1"/>
            </a:lvl1pPr>
            <a:lvl2pPr marL="570865" indent="0">
              <a:buNone/>
              <a:defRPr sz="2500" b="1"/>
            </a:lvl2pPr>
            <a:lvl3pPr marL="1141730" indent="0">
              <a:buNone/>
              <a:defRPr sz="2200" b="1"/>
            </a:lvl3pPr>
            <a:lvl4pPr marL="1712595" indent="0">
              <a:buNone/>
              <a:defRPr sz="2000" b="1"/>
            </a:lvl4pPr>
            <a:lvl5pPr marL="2283460" indent="0">
              <a:buNone/>
              <a:defRPr sz="2000" b="1"/>
            </a:lvl5pPr>
            <a:lvl6pPr marL="2854325" indent="0">
              <a:buNone/>
              <a:defRPr sz="2000" b="1"/>
            </a:lvl6pPr>
            <a:lvl7pPr marL="3425190" indent="0">
              <a:buNone/>
              <a:defRPr sz="2000" b="1"/>
            </a:lvl7pPr>
            <a:lvl8pPr marL="3996055" indent="0">
              <a:buNone/>
              <a:defRPr sz="2000" b="1"/>
            </a:lvl8pPr>
            <a:lvl9pPr marL="4566920" indent="0">
              <a:buNone/>
              <a:defRPr sz="2000" b="1"/>
            </a:lvl9pPr>
          </a:lstStyle>
          <a:p>
            <a:pPr lvl="0"/>
            <a:r>
              <a:rPr lang="zh-CN" altLang="en-US"/>
              <a:t>单击此处编辑母版文本样式</a:t>
            </a:r>
          </a:p>
        </p:txBody>
      </p:sp>
      <p:sp>
        <p:nvSpPr>
          <p:cNvPr id="4" name="内容占位符 3"/>
          <p:cNvSpPr>
            <a:spLocks noGrp="1"/>
          </p:cNvSpPr>
          <p:nvPr>
            <p:ph sz="half" idx="2"/>
          </p:nvPr>
        </p:nvSpPr>
        <p:spPr>
          <a:xfrm>
            <a:off x="640083" y="2283619"/>
            <a:ext cx="5656263" cy="4148852"/>
          </a:xfrm>
        </p:spPr>
        <p:txBody>
          <a:bodyPr/>
          <a:lstStyle>
            <a:lvl1pPr>
              <a:defRPr sz="30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503036" y="1611869"/>
            <a:ext cx="5658485" cy="671750"/>
          </a:xfrm>
        </p:spPr>
        <p:txBody>
          <a:bodyPr anchor="b"/>
          <a:lstStyle>
            <a:lvl1pPr marL="0" indent="0">
              <a:buNone/>
              <a:defRPr sz="3000" b="1"/>
            </a:lvl1pPr>
            <a:lvl2pPr marL="570865" indent="0">
              <a:buNone/>
              <a:defRPr sz="2500" b="1"/>
            </a:lvl2pPr>
            <a:lvl3pPr marL="1141730" indent="0">
              <a:buNone/>
              <a:defRPr sz="2200" b="1"/>
            </a:lvl3pPr>
            <a:lvl4pPr marL="1712595" indent="0">
              <a:buNone/>
              <a:defRPr sz="2000" b="1"/>
            </a:lvl4pPr>
            <a:lvl5pPr marL="2283460" indent="0">
              <a:buNone/>
              <a:defRPr sz="2000" b="1"/>
            </a:lvl5pPr>
            <a:lvl6pPr marL="2854325" indent="0">
              <a:buNone/>
              <a:defRPr sz="2000" b="1"/>
            </a:lvl6pPr>
            <a:lvl7pPr marL="3425190" indent="0">
              <a:buNone/>
              <a:defRPr sz="2000" b="1"/>
            </a:lvl7pPr>
            <a:lvl8pPr marL="3996055" indent="0">
              <a:buNone/>
              <a:defRPr sz="2000" b="1"/>
            </a:lvl8pPr>
            <a:lvl9pPr marL="4566920" indent="0">
              <a:buNone/>
              <a:defRPr sz="2000" b="1"/>
            </a:lvl9pPr>
          </a:lstStyle>
          <a:p>
            <a:pPr lvl="0"/>
            <a:r>
              <a:rPr lang="zh-CN" altLang="en-US"/>
              <a:t>单击此处编辑母版文本样式</a:t>
            </a:r>
          </a:p>
        </p:txBody>
      </p:sp>
      <p:sp>
        <p:nvSpPr>
          <p:cNvPr id="6" name="内容占位符 5"/>
          <p:cNvSpPr>
            <a:spLocks noGrp="1"/>
          </p:cNvSpPr>
          <p:nvPr>
            <p:ph sz="quarter" idx="4"/>
          </p:nvPr>
        </p:nvSpPr>
        <p:spPr>
          <a:xfrm>
            <a:off x="6503036" y="2283619"/>
            <a:ext cx="5658485" cy="4148852"/>
          </a:xfrm>
        </p:spPr>
        <p:txBody>
          <a:bodyPr/>
          <a:lstStyle>
            <a:lvl1pPr>
              <a:defRPr sz="30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41350" y="71519"/>
            <a:ext cx="10762906" cy="792000"/>
          </a:xfrm>
        </p:spPr>
        <p:txBody>
          <a:bodyPr/>
          <a:lstStyle>
            <a:lvl1pPr algn="ctr">
              <a:defRPr sz="4000" baseline="0">
                <a:latin typeface="Comic Sans MS" panose="030F0902030302020204" pitchFamily="66"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6" name="图片 1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92230" y="0"/>
            <a:ext cx="10033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0083" y="286707"/>
            <a:ext cx="4211639" cy="1220153"/>
          </a:xfrm>
        </p:spPr>
        <p:txBody>
          <a:bodyPr anchor="b"/>
          <a:lstStyle>
            <a:lvl1pPr algn="l">
              <a:defRPr sz="2500" b="1"/>
            </a:lvl1pPr>
          </a:lstStyle>
          <a:p>
            <a:r>
              <a:rPr lang="zh-CN" altLang="en-US"/>
              <a:t>单击此处编辑母版标题样式</a:t>
            </a:r>
          </a:p>
        </p:txBody>
      </p:sp>
      <p:sp>
        <p:nvSpPr>
          <p:cNvPr id="3" name="内容占位符 2"/>
          <p:cNvSpPr>
            <a:spLocks noGrp="1"/>
          </p:cNvSpPr>
          <p:nvPr>
            <p:ph idx="1"/>
          </p:nvPr>
        </p:nvSpPr>
        <p:spPr>
          <a:xfrm>
            <a:off x="5005072" y="286708"/>
            <a:ext cx="7156451" cy="6145769"/>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40083" y="1506856"/>
            <a:ext cx="4211639" cy="4925616"/>
          </a:xfrm>
        </p:spPr>
        <p:txBody>
          <a:bodyPr/>
          <a:lstStyle>
            <a:lvl1pPr marL="0" indent="0">
              <a:buNone/>
              <a:defRPr sz="1700"/>
            </a:lvl1pPr>
            <a:lvl2pPr marL="570865" indent="0">
              <a:buNone/>
              <a:defRPr sz="1500"/>
            </a:lvl2pPr>
            <a:lvl3pPr marL="1141730" indent="0">
              <a:buNone/>
              <a:defRPr sz="1200"/>
            </a:lvl3pPr>
            <a:lvl4pPr marL="1712595" indent="0">
              <a:buNone/>
              <a:defRPr sz="1100"/>
            </a:lvl4pPr>
            <a:lvl5pPr marL="2283460" indent="0">
              <a:buNone/>
              <a:defRPr sz="1100"/>
            </a:lvl5pPr>
            <a:lvl6pPr marL="2854325" indent="0">
              <a:buNone/>
              <a:defRPr sz="1100"/>
            </a:lvl6pPr>
            <a:lvl7pPr marL="3425190" indent="0">
              <a:buNone/>
              <a:defRPr sz="1100"/>
            </a:lvl7pPr>
            <a:lvl8pPr marL="3996055" indent="0">
              <a:buNone/>
              <a:defRPr sz="1100"/>
            </a:lvl8pPr>
            <a:lvl9pPr marL="456692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09203" y="5040635"/>
            <a:ext cx="7680960" cy="595075"/>
          </a:xfrm>
        </p:spPr>
        <p:txBody>
          <a:bodyPr anchor="b"/>
          <a:lstStyle>
            <a:lvl1pPr algn="l">
              <a:defRPr sz="2500" b="1"/>
            </a:lvl1pPr>
          </a:lstStyle>
          <a:p>
            <a:r>
              <a:rPr lang="zh-CN" altLang="en-US"/>
              <a:t>单击此处编辑母版标题样式</a:t>
            </a:r>
          </a:p>
        </p:txBody>
      </p:sp>
      <p:sp>
        <p:nvSpPr>
          <p:cNvPr id="3" name="图片占位符 2"/>
          <p:cNvSpPr>
            <a:spLocks noGrp="1"/>
          </p:cNvSpPr>
          <p:nvPr>
            <p:ph type="pic" idx="1"/>
          </p:nvPr>
        </p:nvSpPr>
        <p:spPr>
          <a:xfrm>
            <a:off x="2509203" y="643414"/>
            <a:ext cx="7680960" cy="4320540"/>
          </a:xfrm>
        </p:spPr>
        <p:txBody>
          <a:bodyPr vert="horz" wrap="square" lIns="114181" tIns="57091" rIns="114181" bIns="57091" numCol="1" rtlCol="0" anchor="t" anchorCtr="0" compatLnSpc="1">
            <a:normAutofit/>
          </a:bodyPr>
          <a:lstStyle>
            <a:lvl1pPr marL="0" indent="0">
              <a:buNone/>
              <a:defRPr sz="4000"/>
            </a:lvl1pPr>
            <a:lvl2pPr marL="570865" indent="0">
              <a:buNone/>
              <a:defRPr sz="3500"/>
            </a:lvl2pPr>
            <a:lvl3pPr marL="1141730" indent="0">
              <a:buNone/>
              <a:defRPr sz="3000"/>
            </a:lvl3pPr>
            <a:lvl4pPr marL="1712595" indent="0">
              <a:buNone/>
              <a:defRPr sz="2500"/>
            </a:lvl4pPr>
            <a:lvl5pPr marL="2283460" indent="0">
              <a:buNone/>
              <a:defRPr sz="2500"/>
            </a:lvl5pPr>
            <a:lvl6pPr marL="2854325" indent="0">
              <a:buNone/>
              <a:defRPr sz="2500"/>
            </a:lvl6pPr>
            <a:lvl7pPr marL="3425190" indent="0">
              <a:buNone/>
              <a:defRPr sz="2500"/>
            </a:lvl7pPr>
            <a:lvl8pPr marL="3996055" indent="0">
              <a:buNone/>
              <a:defRPr sz="2500"/>
            </a:lvl8pPr>
            <a:lvl9pPr marL="4566920" indent="0">
              <a:buNone/>
              <a:defRPr sz="2500"/>
            </a:lvl9pPr>
          </a:lstStyle>
          <a:p>
            <a:pPr marL="0" marR="0" lvl="0" indent="0" algn="l" defTabSz="1139825" rtl="0" eaLnBrk="0" fontAlgn="base" latinLnBrk="0" hangingPunct="0">
              <a:lnSpc>
                <a:spcPct val="100000"/>
              </a:lnSpc>
              <a:spcBef>
                <a:spcPct val="20000"/>
              </a:spcBef>
              <a:spcAft>
                <a:spcPct val="0"/>
              </a:spcAft>
              <a:buClrTx/>
              <a:buSzTx/>
              <a:buFont typeface="Arial" panose="020B0604020202020204" pitchFamily="34" charset="0"/>
              <a:buNone/>
              <a:defRPr/>
            </a:pPr>
            <a:r>
              <a:rPr kumimoji="1" lang="zh-CN" altLang="en-US" sz="4000" b="0" i="0" u="none" strike="noStrike" kern="1200" cap="none" spc="0" normalizeH="0" baseline="0" noProof="0">
                <a:ln>
                  <a:noFill/>
                </a:ln>
                <a:solidFill>
                  <a:schemeClr val="tx1"/>
                </a:solidFill>
                <a:effectLst/>
                <a:uLnTx/>
                <a:uFillTx/>
                <a:latin typeface="+mn-lt"/>
                <a:ea typeface="+mn-ea"/>
              </a:rPr>
              <a:t>单击图标添加图片</a:t>
            </a:r>
            <a:endParaRPr kumimoji="1" lang="zh-CN" altLang="en-US" sz="4000" b="0" i="0" u="none" strike="noStrike" kern="1200" cap="none" spc="0" normalizeH="0" baseline="0" noProof="0">
              <a:ln>
                <a:noFill/>
              </a:ln>
              <a:solidFill>
                <a:schemeClr val="tx1"/>
              </a:solidFill>
              <a:effectLst/>
              <a:uLnTx/>
              <a:uFillTx/>
              <a:latin typeface="+mn-lt"/>
              <a:ea typeface="+mn-ea"/>
              <a:cs typeface="宋体" panose="02010600030101010101" pitchFamily="2" charset="-122"/>
            </a:endParaRPr>
          </a:p>
        </p:txBody>
      </p:sp>
      <p:sp>
        <p:nvSpPr>
          <p:cNvPr id="4" name="文本占位符 3"/>
          <p:cNvSpPr>
            <a:spLocks noGrp="1"/>
          </p:cNvSpPr>
          <p:nvPr>
            <p:ph type="body" sz="half" idx="2"/>
          </p:nvPr>
        </p:nvSpPr>
        <p:spPr>
          <a:xfrm>
            <a:off x="2509203" y="5635710"/>
            <a:ext cx="7680960" cy="845105"/>
          </a:xfrm>
        </p:spPr>
        <p:txBody>
          <a:bodyPr/>
          <a:lstStyle>
            <a:lvl1pPr marL="0" indent="0">
              <a:buNone/>
              <a:defRPr sz="1700"/>
            </a:lvl1pPr>
            <a:lvl2pPr marL="570865" indent="0">
              <a:buNone/>
              <a:defRPr sz="1500"/>
            </a:lvl2pPr>
            <a:lvl3pPr marL="1141730" indent="0">
              <a:buNone/>
              <a:defRPr sz="1200"/>
            </a:lvl3pPr>
            <a:lvl4pPr marL="1712595" indent="0">
              <a:buNone/>
              <a:defRPr sz="1100"/>
            </a:lvl4pPr>
            <a:lvl5pPr marL="2283460" indent="0">
              <a:buNone/>
              <a:defRPr sz="1100"/>
            </a:lvl5pPr>
            <a:lvl6pPr marL="2854325" indent="0">
              <a:buNone/>
              <a:defRPr sz="1100"/>
            </a:lvl6pPr>
            <a:lvl7pPr marL="3425190" indent="0">
              <a:buNone/>
              <a:defRPr sz="1100"/>
            </a:lvl7pPr>
            <a:lvl8pPr marL="3996055" indent="0">
              <a:buNone/>
              <a:defRPr sz="1100"/>
            </a:lvl8pPr>
            <a:lvl9pPr marL="456692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281160" y="288376"/>
            <a:ext cx="2880360" cy="614410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40080" y="288376"/>
            <a:ext cx="8427720" cy="614410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41350" y="193535"/>
            <a:ext cx="11085662" cy="575221"/>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1027" name="文本占位符 2"/>
          <p:cNvSpPr>
            <a:spLocks noGrp="1"/>
          </p:cNvSpPr>
          <p:nvPr>
            <p:ph type="body" idx="1"/>
          </p:nvPr>
        </p:nvSpPr>
        <p:spPr>
          <a:xfrm>
            <a:off x="641350" y="1211244"/>
            <a:ext cx="11518900" cy="4778411"/>
          </a:xfrm>
          <a:prstGeom prst="rect">
            <a:avLst/>
          </a:prstGeom>
          <a:noFill/>
          <a:ln w="9525">
            <a:noFill/>
          </a:ln>
        </p:spPr>
        <p:txBody>
          <a:bodyPr lIns="114181" tIns="57091" rIns="114181" bIns="5709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41350" y="6673850"/>
            <a:ext cx="2986088" cy="384175"/>
          </a:xfrm>
          <a:prstGeom prst="rect">
            <a:avLst/>
          </a:prstGeom>
        </p:spPr>
        <p:txBody>
          <a:bodyPr vert="horz" wrap="square" lIns="114181" tIns="57091" rIns="114181" bIns="57091" numCol="1" anchor="ctr" anchorCtr="0" compatLnSpc="1"/>
          <a:lstStyle>
            <a:lvl1pPr eaLnBrk="1" hangingPunct="1">
              <a:defRPr sz="1500">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4373563" y="6673850"/>
            <a:ext cx="4054475" cy="384175"/>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500">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9497144" y="6661892"/>
            <a:ext cx="2986088" cy="384175"/>
          </a:xfrm>
          <a:prstGeom prst="rect">
            <a:avLst/>
          </a:prstGeom>
        </p:spPr>
        <p:txBody>
          <a:bodyPr vert="horz" wrap="square" lIns="114181" tIns="57091" rIns="114181" bIns="57091" numCol="1" anchor="ctr" anchorCtr="0" compatLnSpc="1"/>
          <a:lstStyle>
            <a:lvl1pPr algn="r" eaLnBrk="1" hangingPunct="1">
              <a:defRPr sz="1500">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defTabSz="1139825" rtl="0" eaLnBrk="1" fontAlgn="base" hangingPunct="1">
        <a:spcBef>
          <a:spcPct val="0"/>
        </a:spcBef>
        <a:spcAft>
          <a:spcPct val="0"/>
        </a:spcAft>
        <a:defRPr kumimoji="1" sz="3800" b="1" kern="1200" baseline="0">
          <a:solidFill>
            <a:schemeClr val="tx1"/>
          </a:solidFill>
          <a:latin typeface="Comic Sans MS" panose="030F0902030302020204" pitchFamily="66" charset="0"/>
          <a:ea typeface="微软雅黑" panose="020B0503020204020204" pitchFamily="34" charset="-122"/>
          <a:cs typeface="微软雅黑" panose="020B0503020204020204" pitchFamily="34" charset="-122"/>
        </a:defRPr>
      </a:lvl1pPr>
      <a:lvl2pPr algn="ctr" defTabSz="1139825" rtl="0" eaLnBrk="1" fontAlgn="base" hangingPunct="1">
        <a:spcBef>
          <a:spcPct val="0"/>
        </a:spcBef>
        <a:spcAft>
          <a:spcPct val="0"/>
        </a:spcAft>
        <a:defRPr kumimoji="1" sz="55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defTabSz="1139825" rtl="0" eaLnBrk="1" fontAlgn="base" hangingPunct="1">
        <a:spcBef>
          <a:spcPct val="0"/>
        </a:spcBef>
        <a:spcAft>
          <a:spcPct val="0"/>
        </a:spcAft>
        <a:defRPr kumimoji="1" sz="55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defTabSz="1139825" rtl="0" eaLnBrk="1" fontAlgn="base" hangingPunct="1">
        <a:spcBef>
          <a:spcPct val="0"/>
        </a:spcBef>
        <a:spcAft>
          <a:spcPct val="0"/>
        </a:spcAft>
        <a:defRPr kumimoji="1" sz="55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defTabSz="1139825" rtl="0" eaLnBrk="1" fontAlgn="base" hangingPunct="1">
        <a:spcBef>
          <a:spcPct val="0"/>
        </a:spcBef>
        <a:spcAft>
          <a:spcPct val="0"/>
        </a:spcAft>
        <a:defRPr kumimoji="1" sz="55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defTabSz="1141095" rtl="0" eaLnBrk="1" fontAlgn="base" hangingPunct="1">
        <a:spcBef>
          <a:spcPct val="0"/>
        </a:spcBef>
        <a:spcAft>
          <a:spcPct val="0"/>
        </a:spcAft>
        <a:defRPr sz="5500">
          <a:solidFill>
            <a:schemeClr val="tx1"/>
          </a:solidFill>
          <a:latin typeface="Calibri" panose="020F0502020204030204" pitchFamily="34" charset="0"/>
          <a:ea typeface="宋体" panose="02010600030101010101" pitchFamily="2" charset="-122"/>
        </a:defRPr>
      </a:lvl6pPr>
      <a:lvl7pPr marL="914400" algn="ctr" defTabSz="1141095" rtl="0" eaLnBrk="1" fontAlgn="base" hangingPunct="1">
        <a:spcBef>
          <a:spcPct val="0"/>
        </a:spcBef>
        <a:spcAft>
          <a:spcPct val="0"/>
        </a:spcAft>
        <a:defRPr sz="5500">
          <a:solidFill>
            <a:schemeClr val="tx1"/>
          </a:solidFill>
          <a:latin typeface="Calibri" panose="020F0502020204030204" pitchFamily="34" charset="0"/>
          <a:ea typeface="宋体" panose="02010600030101010101" pitchFamily="2" charset="-122"/>
        </a:defRPr>
      </a:lvl7pPr>
      <a:lvl8pPr marL="1371600" algn="ctr" defTabSz="1141095" rtl="0" eaLnBrk="1" fontAlgn="base" hangingPunct="1">
        <a:spcBef>
          <a:spcPct val="0"/>
        </a:spcBef>
        <a:spcAft>
          <a:spcPct val="0"/>
        </a:spcAft>
        <a:defRPr sz="5500">
          <a:solidFill>
            <a:schemeClr val="tx1"/>
          </a:solidFill>
          <a:latin typeface="Calibri" panose="020F0502020204030204" pitchFamily="34" charset="0"/>
          <a:ea typeface="宋体" panose="02010600030101010101" pitchFamily="2" charset="-122"/>
        </a:defRPr>
      </a:lvl8pPr>
      <a:lvl9pPr marL="1828800" algn="ctr" defTabSz="1141095" rtl="0" eaLnBrk="1" fontAlgn="base" hangingPunct="1">
        <a:spcBef>
          <a:spcPct val="0"/>
        </a:spcBef>
        <a:spcAft>
          <a:spcPct val="0"/>
        </a:spcAft>
        <a:defRPr sz="5500">
          <a:solidFill>
            <a:schemeClr val="tx1"/>
          </a:solidFill>
          <a:latin typeface="Calibri" panose="020F0502020204030204" pitchFamily="34" charset="0"/>
          <a:ea typeface="宋体" panose="02010600030101010101" pitchFamily="2" charset="-122"/>
        </a:defRPr>
      </a:lvl9pPr>
    </p:titleStyle>
    <p:bodyStyle>
      <a:lvl1pPr marL="425450" indent="-425450" algn="l" defTabSz="1139825" rtl="0" eaLnBrk="1" fontAlgn="base" hangingPunct="1">
        <a:spcBef>
          <a:spcPct val="20000"/>
        </a:spcBef>
        <a:spcAft>
          <a:spcPct val="0"/>
        </a:spcAft>
        <a:buFont typeface="Arial" panose="020B0604020202020204" pitchFamily="34" charset="0"/>
        <a:buChar char="»"/>
        <a:defRPr kumimoji="1" lang="zh-CN" altLang="en-US" sz="3200" b="1" kern="1200" baseline="0" dirty="0">
          <a:solidFill>
            <a:srgbClr val="0070C0"/>
          </a:solidFill>
          <a:latin typeface="Comic Sans MS" panose="030F0902030302020204" pitchFamily="66" charset="0"/>
          <a:ea typeface="微软雅黑" panose="020B0503020204020204" pitchFamily="34" charset="-122"/>
          <a:cs typeface="微软雅黑" panose="020B0503020204020204" pitchFamily="34" charset="-122"/>
        </a:defRPr>
      </a:lvl1pPr>
      <a:lvl2pPr marL="925830" indent="-354330" algn="l" defTabSz="1139825" rtl="0" eaLnBrk="1" fontAlgn="base" hangingPunct="1">
        <a:spcBef>
          <a:spcPct val="20000"/>
        </a:spcBef>
        <a:spcAft>
          <a:spcPct val="0"/>
        </a:spcAft>
        <a:buFont typeface="Arial" panose="020B0604020202020204" pitchFamily="34" charset="0"/>
        <a:buChar char="»"/>
        <a:defRPr kumimoji="1" lang="zh-CN" altLang="en-US" sz="3200" b="1" kern="1200" baseline="0" dirty="0">
          <a:solidFill>
            <a:schemeClr val="tx1"/>
          </a:solidFill>
          <a:latin typeface="Comic Sans MS" panose="030F0902030302020204" pitchFamily="66" charset="0"/>
          <a:ea typeface="微软雅黑" panose="020B0503020204020204" pitchFamily="34" charset="-122"/>
          <a:cs typeface="+mn-cs"/>
        </a:defRPr>
      </a:lvl2pPr>
      <a:lvl3pPr marL="1425575" indent="-282575" algn="l" defTabSz="1139825" rtl="0" eaLnBrk="1" fontAlgn="base" hangingPunct="1">
        <a:spcBef>
          <a:spcPct val="20000"/>
        </a:spcBef>
        <a:spcAft>
          <a:spcPct val="0"/>
        </a:spcAft>
        <a:buFont typeface="Arial" panose="020B0604020202020204" pitchFamily="34" charset="0"/>
        <a:buChar char="»"/>
        <a:defRPr kumimoji="1" lang="zh-CN" altLang="en-US" sz="3200" b="1" kern="1200" baseline="0" dirty="0">
          <a:solidFill>
            <a:schemeClr val="tx1"/>
          </a:solidFill>
          <a:latin typeface="Comic Sans MS" panose="030F0902030302020204" pitchFamily="66" charset="0"/>
          <a:ea typeface="微软雅黑" panose="020B0503020204020204" pitchFamily="34" charset="-122"/>
          <a:cs typeface="+mn-cs"/>
        </a:defRPr>
      </a:lvl3pPr>
      <a:lvl4pPr marL="1995805" indent="-282575" algn="l" defTabSz="1139825" rtl="0" eaLnBrk="1" fontAlgn="base" hangingPunct="1">
        <a:spcBef>
          <a:spcPct val="20000"/>
        </a:spcBef>
        <a:spcAft>
          <a:spcPct val="0"/>
        </a:spcAft>
        <a:buFont typeface="Arial" panose="020B0604020202020204" pitchFamily="34" charset="0"/>
        <a:buChar char="»"/>
        <a:defRPr kumimoji="1" lang="zh-CN" altLang="en-US" sz="3200" b="1" kern="1200" baseline="0" dirty="0">
          <a:solidFill>
            <a:schemeClr val="tx1"/>
          </a:solidFill>
          <a:latin typeface="Comic Sans MS" panose="030F0902030302020204" pitchFamily="66" charset="0"/>
          <a:ea typeface="微软雅黑" panose="020B0503020204020204" pitchFamily="34" charset="-122"/>
          <a:cs typeface="+mn-cs"/>
        </a:defRPr>
      </a:lvl4pPr>
      <a:lvl5pPr marL="2567305" indent="-282575" algn="l" defTabSz="1139825" rtl="0" eaLnBrk="1" fontAlgn="base" hangingPunct="1">
        <a:spcBef>
          <a:spcPct val="20000"/>
        </a:spcBef>
        <a:spcAft>
          <a:spcPct val="0"/>
        </a:spcAft>
        <a:buFont typeface="Arial" panose="020B0604020202020204" pitchFamily="34" charset="0"/>
        <a:buChar char="»"/>
        <a:defRPr kumimoji="1" lang="zh-CN" altLang="en-US" sz="3200" b="1" kern="1200" baseline="0" dirty="0">
          <a:solidFill>
            <a:schemeClr val="tx1"/>
          </a:solidFill>
          <a:latin typeface="Comic Sans MS" panose="030F0902030302020204" pitchFamily="66" charset="0"/>
          <a:ea typeface="微软雅黑" panose="020B0503020204020204" pitchFamily="34" charset="-122"/>
          <a:cs typeface="+mn-cs"/>
        </a:defRPr>
      </a:lvl5pPr>
      <a:lvl6pPr marL="3140075" indent="-285750" algn="l" defTabSz="1141730"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6pPr>
      <a:lvl7pPr marL="3710940" indent="-285750" algn="l" defTabSz="1141730"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7pPr>
      <a:lvl8pPr marL="4281805" indent="-285750" algn="l" defTabSz="1141730"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8pPr>
      <a:lvl9pPr marL="4852670" indent="-285750" algn="l" defTabSz="1141730"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9pPr>
    </p:bodyStyle>
    <p:otherStyle>
      <a:defPPr>
        <a:defRPr lang="zh-CN"/>
      </a:defPPr>
      <a:lvl1pPr marL="0" algn="l" defTabSz="1141730" rtl="0" eaLnBrk="1" latinLnBrk="0" hangingPunct="1">
        <a:defRPr sz="2200" kern="1200">
          <a:solidFill>
            <a:schemeClr val="tx1"/>
          </a:solidFill>
          <a:latin typeface="+mn-lt"/>
          <a:ea typeface="+mn-ea"/>
          <a:cs typeface="+mn-cs"/>
        </a:defRPr>
      </a:lvl1pPr>
      <a:lvl2pPr marL="570865" algn="l" defTabSz="1141730" rtl="0" eaLnBrk="1" latinLnBrk="0" hangingPunct="1">
        <a:defRPr sz="2200" kern="1200">
          <a:solidFill>
            <a:schemeClr val="tx1"/>
          </a:solidFill>
          <a:latin typeface="+mn-lt"/>
          <a:ea typeface="+mn-ea"/>
          <a:cs typeface="+mn-cs"/>
        </a:defRPr>
      </a:lvl2pPr>
      <a:lvl3pPr marL="1141730" algn="l" defTabSz="1141730" rtl="0" eaLnBrk="1" latinLnBrk="0" hangingPunct="1">
        <a:defRPr sz="2200" kern="1200">
          <a:solidFill>
            <a:schemeClr val="tx1"/>
          </a:solidFill>
          <a:latin typeface="+mn-lt"/>
          <a:ea typeface="+mn-ea"/>
          <a:cs typeface="+mn-cs"/>
        </a:defRPr>
      </a:lvl3pPr>
      <a:lvl4pPr marL="1712595" algn="l" defTabSz="1141730" rtl="0" eaLnBrk="1" latinLnBrk="0" hangingPunct="1">
        <a:defRPr sz="2200" kern="1200">
          <a:solidFill>
            <a:schemeClr val="tx1"/>
          </a:solidFill>
          <a:latin typeface="+mn-lt"/>
          <a:ea typeface="+mn-ea"/>
          <a:cs typeface="+mn-cs"/>
        </a:defRPr>
      </a:lvl4pPr>
      <a:lvl5pPr marL="2283460" algn="l" defTabSz="1141730" rtl="0" eaLnBrk="1" latinLnBrk="0" hangingPunct="1">
        <a:defRPr sz="2200" kern="1200">
          <a:solidFill>
            <a:schemeClr val="tx1"/>
          </a:solidFill>
          <a:latin typeface="+mn-lt"/>
          <a:ea typeface="+mn-ea"/>
          <a:cs typeface="+mn-cs"/>
        </a:defRPr>
      </a:lvl5pPr>
      <a:lvl6pPr marL="2854325" algn="l" defTabSz="1141730" rtl="0" eaLnBrk="1" latinLnBrk="0" hangingPunct="1">
        <a:defRPr sz="2200" kern="1200">
          <a:solidFill>
            <a:schemeClr val="tx1"/>
          </a:solidFill>
          <a:latin typeface="+mn-lt"/>
          <a:ea typeface="+mn-ea"/>
          <a:cs typeface="+mn-cs"/>
        </a:defRPr>
      </a:lvl6pPr>
      <a:lvl7pPr marL="3425190" algn="l" defTabSz="1141730" rtl="0" eaLnBrk="1" latinLnBrk="0" hangingPunct="1">
        <a:defRPr sz="2200" kern="1200">
          <a:solidFill>
            <a:schemeClr val="tx1"/>
          </a:solidFill>
          <a:latin typeface="+mn-lt"/>
          <a:ea typeface="+mn-ea"/>
          <a:cs typeface="+mn-cs"/>
        </a:defRPr>
      </a:lvl7pPr>
      <a:lvl8pPr marL="3996055" algn="l" defTabSz="1141730" rtl="0" eaLnBrk="1" latinLnBrk="0" hangingPunct="1">
        <a:defRPr sz="2200" kern="1200">
          <a:solidFill>
            <a:schemeClr val="tx1"/>
          </a:solidFill>
          <a:latin typeface="+mn-lt"/>
          <a:ea typeface="+mn-ea"/>
          <a:cs typeface="+mn-cs"/>
        </a:defRPr>
      </a:lvl8pPr>
      <a:lvl9pPr marL="4566920" algn="l" defTabSz="114173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hyperlink" Target="https://man7.org/linux/man-pages/man7/pthreads.7.html"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man7.org/linux/man-pages/man3/pthread_attr_init.3.html" TargetMode="External"/><Relationship Id="rId2" Type="http://schemas.openxmlformats.org/officeDocument/2006/relationships/hyperlink" Target="https://man7.org/linux/man-pages/man3/pthread_create.3.html"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hyperlink" Target="https://man7.org/linux/man-pages/man3/pthread_join.3.html" TargetMode="Externa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pubs.opengroup.org/onlinepubs/007908799/xsh/pthread_mutex_init.html" TargetMode="External"/><Relationship Id="rId1" Type="http://schemas.openxmlformats.org/officeDocument/2006/relationships/slideLayout" Target="../slideLayouts/slideLayout6.xml"/><Relationship Id="rId5" Type="http://schemas.openxmlformats.org/officeDocument/2006/relationships/image" Target="../media/image35.jpeg"/><Relationship Id="rId4" Type="http://schemas.openxmlformats.org/officeDocument/2006/relationships/image" Target="../media/image34.jpe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6.xml"/><Relationship Id="rId5" Type="http://schemas.openxmlformats.org/officeDocument/2006/relationships/hyperlink" Target="https://www.man7.org/linux/man-pages/man3/sem_init.3.html" TargetMode="External"/><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hyperlink" Target="https://www.man7.org/linux/man-pages/man3/sem_wait.3.html" TargetMode="External"/><Relationship Id="rId2" Type="http://schemas.openxmlformats.org/officeDocument/2006/relationships/image" Target="../media/image48.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6.xml"/><Relationship Id="rId4" Type="http://schemas.openxmlformats.org/officeDocument/2006/relationships/comments" Target="../comments/comment1.xml"/></Relationships>
</file>

<file path=ppt/slides/_rels/slide6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1.jpe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hyperlink" Target="https://android.googlesource.com/platform/bionic/+/ics-mr0/libc/string/strtok.c" TargetMode="External"/><Relationship Id="rId2" Type="http://schemas.openxmlformats.org/officeDocument/2006/relationships/image" Target="../media/image86.jpe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hyperlink" Target="https://linux.die.net/man/3/localtime" TargetMode="External"/><Relationship Id="rId2" Type="http://schemas.openxmlformats.org/officeDocument/2006/relationships/hyperlink" Target="https://linux.die.net/man/3/rand_r" TargetMode="Externa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pic>
        <p:nvPicPr>
          <p:cNvPr id="4101" name="图片 2"/>
          <p:cNvPicPr>
            <a:picLocks noChangeAspect="1"/>
          </p:cNvPicPr>
          <p:nvPr/>
        </p:nvPicPr>
        <p:blipFill>
          <a:blip r:embed="rId4"/>
          <a:stretch>
            <a:fillRect/>
          </a:stretch>
        </p:blipFill>
        <p:spPr>
          <a:xfrm>
            <a:off x="136104" y="83283"/>
            <a:ext cx="5059363" cy="812800"/>
          </a:xfrm>
          <a:prstGeom prst="rect">
            <a:avLst/>
          </a:prstGeom>
          <a:noFill/>
          <a:ln w="9525">
            <a:noFill/>
          </a:ln>
        </p:spPr>
      </p:pic>
      <p:sp>
        <p:nvSpPr>
          <p:cNvPr id="10" name="TextBox 17"/>
          <p:cNvSpPr txBox="1">
            <a:spLocks noChangeArrowheads="1"/>
          </p:cNvSpPr>
          <p:nvPr/>
        </p:nvSpPr>
        <p:spPr bwMode="auto">
          <a:xfrm>
            <a:off x="784429" y="2489342"/>
            <a:ext cx="11377264" cy="70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8" rIns="91436" bIns="45718"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ctr" eaLnBrk="1" hangingPunct="1">
              <a:defRPr/>
            </a:pPr>
            <a:r>
              <a:rPr lang="zh-CN" altLang="en-US" sz="4000" b="1" spc="300">
                <a:latin typeface="微软雅黑" panose="020B0503020204020204" pitchFamily="34" charset="-122"/>
                <a:ea typeface="微软雅黑" panose="020B0503020204020204" pitchFamily="34" charset="-122"/>
                <a:sym typeface="+mn-ea"/>
              </a:rPr>
              <a:t>并行</a:t>
            </a:r>
            <a:r>
              <a:rPr lang="zh-CN" altLang="en-US" sz="4000" b="1" spc="300">
                <a:solidFill>
                  <a:schemeClr val="tx1"/>
                </a:solidFill>
                <a:latin typeface="微软雅黑" panose="020B0503020204020204" pitchFamily="34" charset="-122"/>
                <a:ea typeface="微软雅黑" panose="020B0503020204020204" pitchFamily="34" charset="-122"/>
                <a:sym typeface="+mn-ea"/>
              </a:rPr>
              <a:t>程序设计</a:t>
            </a:r>
            <a:endParaRPr lang="zh-CN" altLang="en-US" sz="4000" b="1" spc="300" dirty="0">
              <a:solidFill>
                <a:schemeClr val="tx1"/>
              </a:solidFill>
              <a:latin typeface="微软雅黑" panose="020B0503020204020204" pitchFamily="34" charset="-122"/>
              <a:ea typeface="微软雅黑" panose="020B0503020204020204" pitchFamily="34" charset="-122"/>
              <a:sym typeface="+mn-ea"/>
            </a:endParaRPr>
          </a:p>
        </p:txBody>
      </p:sp>
      <p:sp>
        <p:nvSpPr>
          <p:cNvPr id="12" name="文本框 13"/>
          <p:cNvSpPr txBox="1"/>
          <p:nvPr/>
        </p:nvSpPr>
        <p:spPr>
          <a:xfrm>
            <a:off x="1239224" y="1847676"/>
            <a:ext cx="10259219" cy="700769"/>
          </a:xfrm>
          <a:prstGeom prst="rect">
            <a:avLst/>
          </a:prstGeom>
          <a:noFill/>
        </p:spPr>
        <p:txBody>
          <a:bodyPr wrap="square" rtlCol="0">
            <a:spAutoFit/>
          </a:bodyPr>
          <a:lstStyle/>
          <a:p>
            <a:pPr algn="ctr">
              <a:lnSpc>
                <a:spcPct val="120000"/>
              </a:lnSpc>
            </a:pPr>
            <a:endParaRPr lang="zh-CN" altLang="en-US" sz="3600" dirty="0">
              <a:latin typeface="微软雅黑" panose="020B0503020204020204" pitchFamily="34" charset="-122"/>
              <a:ea typeface="微软雅黑" panose="020B0503020204020204" pitchFamily="34" charset="-122"/>
            </a:endParaRPr>
          </a:p>
        </p:txBody>
      </p:sp>
      <p:sp>
        <p:nvSpPr>
          <p:cNvPr id="13" name="TextBox 18"/>
          <p:cNvSpPr txBox="1">
            <a:spLocks noChangeArrowheads="1"/>
          </p:cNvSpPr>
          <p:nvPr/>
        </p:nvSpPr>
        <p:spPr bwMode="auto">
          <a:xfrm>
            <a:off x="2224200" y="3866114"/>
            <a:ext cx="8136904" cy="175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8" rIns="91436" bIns="45718"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defRPr/>
            </a:pPr>
            <a:r>
              <a:rPr lang="zh-CN" altLang="en-US" sz="2400" b="1" dirty="0">
                <a:solidFill>
                  <a:schemeClr val="tx1"/>
                </a:solidFill>
                <a:latin typeface="微软雅黑" panose="020B0503020204020204" pitchFamily="34" charset="-122"/>
                <a:ea typeface="微软雅黑" panose="020B0503020204020204" pitchFamily="34" charset="-122"/>
                <a:sym typeface="+mn-ea"/>
              </a:rPr>
              <a:t>任课教师：</a:t>
            </a:r>
            <a:endParaRPr lang="zh-CN" altLang="en-US" sz="2400" b="1" dirty="0">
              <a:solidFill>
                <a:schemeClr val="tx1"/>
              </a:solidFill>
              <a:latin typeface="微软雅黑" panose="020B0503020204020204" pitchFamily="34" charset="-122"/>
              <a:ea typeface="微软雅黑" panose="020B0503020204020204" pitchFamily="34" charset="-122"/>
            </a:endParaRPr>
          </a:p>
          <a:p>
            <a:pPr algn="ctr" eaLnBrk="1" hangingPunct="1">
              <a:lnSpc>
                <a:spcPct val="150000"/>
              </a:lnSpc>
              <a:defRPr/>
            </a:pPr>
            <a:r>
              <a:rPr lang="zh-CN" altLang="en-US" sz="2400" b="1" dirty="0">
                <a:solidFill>
                  <a:schemeClr val="tx1"/>
                </a:solidFill>
                <a:latin typeface="微软雅黑" panose="020B0503020204020204" pitchFamily="34" charset="-122"/>
                <a:ea typeface="微软雅黑" panose="020B0503020204020204" pitchFamily="34" charset="-122"/>
                <a:sym typeface="+mn-ea"/>
              </a:rPr>
              <a:t>黄聃（Huang，Dan）</a:t>
            </a:r>
            <a:endParaRPr lang="zh-CN" altLang="en-US" sz="2400" b="1" dirty="0">
              <a:solidFill>
                <a:schemeClr val="tx1"/>
              </a:solidFill>
              <a:latin typeface="微软雅黑" panose="020B0503020204020204" pitchFamily="34" charset="-122"/>
              <a:ea typeface="微软雅黑" panose="020B0503020204020204" pitchFamily="34" charset="-122"/>
            </a:endParaRPr>
          </a:p>
          <a:p>
            <a:pPr algn="ctr" eaLnBrk="1" hangingPunct="1">
              <a:lnSpc>
                <a:spcPct val="150000"/>
              </a:lnSpc>
              <a:defRPr/>
            </a:pPr>
            <a:endParaRPr lang="zh-CN" altLang="en-US" sz="2400" b="1" dirty="0">
              <a:solidFill>
                <a:schemeClr val="tx1"/>
              </a:solidFill>
              <a:latin typeface="微软雅黑" panose="020B0503020204020204" pitchFamily="34" charset="-122"/>
              <a:ea typeface="微软雅黑" panose="020B0503020204020204" pitchFamily="34" charset="-122"/>
            </a:endParaRPr>
          </a:p>
        </p:txBody>
      </p:sp>
      <p:pic>
        <p:nvPicPr>
          <p:cNvPr id="9" name="图片 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93288" y="-43295"/>
            <a:ext cx="973455" cy="90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0" dirty="0"/>
              <a:t>Roadmap</a:t>
            </a:r>
            <a:endParaRPr sz="4620" dirty="0"/>
          </a:p>
        </p:txBody>
      </p:sp>
      <p:sp>
        <p:nvSpPr>
          <p:cNvPr id="3" name="object 3"/>
          <p:cNvSpPr txBox="1"/>
          <p:nvPr/>
        </p:nvSpPr>
        <p:spPr>
          <a:xfrm>
            <a:off x="2343119" y="1466292"/>
            <a:ext cx="7840980" cy="4590415"/>
          </a:xfrm>
          <a:prstGeom prst="rect">
            <a:avLst/>
          </a:prstGeom>
        </p:spPr>
        <p:txBody>
          <a:bodyPr vert="horz" wrap="square" lIns="0" tIns="104012" rIns="0" bIns="0" rtlCol="0">
            <a:spAutoFit/>
          </a:bodyPr>
          <a:lstStyle/>
          <a:p>
            <a:pPr marL="241300" indent="-228600">
              <a:lnSpc>
                <a:spcPct val="100000"/>
              </a:lnSpc>
              <a:spcBef>
                <a:spcPts val="780"/>
              </a:spcBef>
              <a:buFont typeface="Arial" panose="020B0604020202020204"/>
              <a:buChar char="•"/>
              <a:tabLst>
                <a:tab pos="241300" algn="l"/>
              </a:tabLst>
            </a:pPr>
            <a:r>
              <a:rPr sz="2730" spc="-10" dirty="0">
                <a:latin typeface="Calibri" panose="020F0502020204030204"/>
                <a:cs typeface="Calibri" panose="020F0502020204030204"/>
              </a:rPr>
              <a:t>Problems programming shared </a:t>
            </a:r>
            <a:r>
              <a:rPr sz="2730" dirty="0">
                <a:latin typeface="Calibri" panose="020F0502020204030204"/>
                <a:cs typeface="Calibri" panose="020F0502020204030204"/>
              </a:rPr>
              <a:t>memory</a:t>
            </a:r>
            <a:r>
              <a:rPr sz="2730" spc="-60" dirty="0">
                <a:latin typeface="Calibri" panose="020F0502020204030204"/>
                <a:cs typeface="Calibri" panose="020F0502020204030204"/>
              </a:rPr>
              <a:t> </a:t>
            </a:r>
            <a:r>
              <a:rPr sz="2730" spc="-15" dirty="0">
                <a:latin typeface="Calibri" panose="020F0502020204030204"/>
                <a:cs typeface="Calibri" panose="020F0502020204030204"/>
              </a:rPr>
              <a:t>systems.</a:t>
            </a:r>
            <a:endParaRPr sz="2730" dirty="0">
              <a:latin typeface="Calibri" panose="020F0502020204030204"/>
              <a:cs typeface="Calibri" panose="020F0502020204030204"/>
            </a:endParaRPr>
          </a:p>
          <a:p>
            <a:pPr marL="241300" indent="-228600">
              <a:lnSpc>
                <a:spcPct val="100000"/>
              </a:lnSpc>
              <a:spcBef>
                <a:spcPts val="685"/>
              </a:spcBef>
              <a:buFont typeface="Arial" panose="020B0604020202020204"/>
              <a:buChar char="•"/>
              <a:tabLst>
                <a:tab pos="241300" algn="l"/>
              </a:tabLst>
            </a:pPr>
            <a:r>
              <a:rPr sz="2730" spc="-10" dirty="0">
                <a:latin typeface="Calibri" panose="020F0502020204030204"/>
                <a:cs typeface="Calibri" panose="020F0502020204030204"/>
              </a:rPr>
              <a:t>Controlling </a:t>
            </a:r>
            <a:r>
              <a:rPr sz="2730" dirty="0">
                <a:latin typeface="Calibri" panose="020F0502020204030204"/>
                <a:cs typeface="Calibri" panose="020F0502020204030204"/>
              </a:rPr>
              <a:t>access </a:t>
            </a:r>
            <a:r>
              <a:rPr sz="2730" spc="-10" dirty="0">
                <a:latin typeface="Calibri" panose="020F0502020204030204"/>
                <a:cs typeface="Calibri" panose="020F0502020204030204"/>
              </a:rPr>
              <a:t>to </a:t>
            </a:r>
            <a:r>
              <a:rPr sz="2730" dirty="0">
                <a:latin typeface="Calibri" panose="020F0502020204030204"/>
                <a:cs typeface="Calibri" panose="020F0502020204030204"/>
              </a:rPr>
              <a:t>a </a:t>
            </a:r>
            <a:r>
              <a:rPr sz="2730" spc="-5" dirty="0">
                <a:latin typeface="Calibri" panose="020F0502020204030204"/>
                <a:cs typeface="Calibri" panose="020F0502020204030204"/>
              </a:rPr>
              <a:t>critical</a:t>
            </a:r>
            <a:r>
              <a:rPr sz="2730" spc="-45" dirty="0">
                <a:latin typeface="Calibri" panose="020F0502020204030204"/>
                <a:cs typeface="Calibri" panose="020F0502020204030204"/>
              </a:rPr>
              <a:t> </a:t>
            </a:r>
            <a:r>
              <a:rPr sz="2730" spc="-5" dirty="0">
                <a:latin typeface="Calibri" panose="020F0502020204030204"/>
                <a:cs typeface="Calibri" panose="020F0502020204030204"/>
              </a:rPr>
              <a:t>section.</a:t>
            </a:r>
            <a:endParaRPr sz="2730" dirty="0">
              <a:latin typeface="Calibri" panose="020F0502020204030204"/>
              <a:cs typeface="Calibri" panose="020F0502020204030204"/>
            </a:endParaRPr>
          </a:p>
          <a:p>
            <a:pPr marL="241300" indent="-228600">
              <a:lnSpc>
                <a:spcPct val="100000"/>
              </a:lnSpc>
              <a:spcBef>
                <a:spcPts val="695"/>
              </a:spcBef>
              <a:buFont typeface="Arial" panose="020B0604020202020204"/>
              <a:buChar char="•"/>
              <a:tabLst>
                <a:tab pos="241300" algn="l"/>
              </a:tabLst>
            </a:pPr>
            <a:r>
              <a:rPr sz="2730" spc="-5" dirty="0">
                <a:latin typeface="Calibri" panose="020F0502020204030204"/>
                <a:cs typeface="Calibri" panose="020F0502020204030204"/>
              </a:rPr>
              <a:t>Thread</a:t>
            </a:r>
            <a:r>
              <a:rPr sz="2730" spc="-30" dirty="0">
                <a:latin typeface="Calibri" panose="020F0502020204030204"/>
                <a:cs typeface="Calibri" panose="020F0502020204030204"/>
              </a:rPr>
              <a:t> </a:t>
            </a:r>
            <a:r>
              <a:rPr sz="2730" spc="-10" dirty="0">
                <a:latin typeface="Calibri" panose="020F0502020204030204"/>
                <a:cs typeface="Calibri" panose="020F0502020204030204"/>
              </a:rPr>
              <a:t>synchronization.</a:t>
            </a:r>
            <a:endParaRPr sz="2730" dirty="0">
              <a:latin typeface="Calibri" panose="020F0502020204030204"/>
              <a:cs typeface="Calibri" panose="020F0502020204030204"/>
            </a:endParaRPr>
          </a:p>
          <a:p>
            <a:pPr marL="241300" indent="-228600">
              <a:lnSpc>
                <a:spcPct val="100000"/>
              </a:lnSpc>
              <a:spcBef>
                <a:spcPts val="685"/>
              </a:spcBef>
              <a:buFont typeface="Arial" panose="020B0604020202020204"/>
              <a:buChar char="•"/>
              <a:tabLst>
                <a:tab pos="241300" algn="l"/>
              </a:tabLst>
            </a:pPr>
            <a:r>
              <a:rPr sz="2730" spc="-10" dirty="0">
                <a:latin typeface="Calibri" panose="020F0502020204030204"/>
                <a:cs typeface="Calibri" panose="020F0502020204030204"/>
              </a:rPr>
              <a:t>Programming </a:t>
            </a:r>
            <a:r>
              <a:rPr sz="2730" dirty="0">
                <a:latin typeface="Calibri" panose="020F0502020204030204"/>
                <a:cs typeface="Calibri" panose="020F0502020204030204"/>
              </a:rPr>
              <a:t>with POSIX</a:t>
            </a:r>
            <a:r>
              <a:rPr sz="2730" spc="-40" dirty="0">
                <a:latin typeface="Calibri" panose="020F0502020204030204"/>
                <a:cs typeface="Calibri" panose="020F0502020204030204"/>
              </a:rPr>
              <a:t> </a:t>
            </a:r>
            <a:r>
              <a:rPr sz="2730" spc="-5" dirty="0">
                <a:latin typeface="Calibri" panose="020F0502020204030204"/>
                <a:cs typeface="Calibri" panose="020F0502020204030204"/>
              </a:rPr>
              <a:t>threads.</a:t>
            </a:r>
            <a:endParaRPr sz="2730" dirty="0">
              <a:latin typeface="Calibri" panose="020F0502020204030204"/>
              <a:cs typeface="Calibri" panose="020F0502020204030204"/>
            </a:endParaRPr>
          </a:p>
          <a:p>
            <a:pPr marL="241300" indent="-228600">
              <a:lnSpc>
                <a:spcPct val="100000"/>
              </a:lnSpc>
              <a:spcBef>
                <a:spcPts val="685"/>
              </a:spcBef>
              <a:buFont typeface="Arial" panose="020B0604020202020204"/>
              <a:buChar char="•"/>
              <a:tabLst>
                <a:tab pos="241300" algn="l"/>
              </a:tabLst>
            </a:pPr>
            <a:r>
              <a:rPr sz="2730" spc="-20" dirty="0">
                <a:latin typeface="Calibri" panose="020F0502020204030204"/>
                <a:cs typeface="Calibri" panose="020F0502020204030204"/>
              </a:rPr>
              <a:t>Mutexes.</a:t>
            </a:r>
            <a:endParaRPr sz="2730" dirty="0">
              <a:latin typeface="Calibri" panose="020F0502020204030204"/>
              <a:cs typeface="Calibri" panose="020F0502020204030204"/>
            </a:endParaRPr>
          </a:p>
          <a:p>
            <a:pPr marL="241300" indent="-228600">
              <a:lnSpc>
                <a:spcPct val="100000"/>
              </a:lnSpc>
              <a:spcBef>
                <a:spcPts val="700"/>
              </a:spcBef>
              <a:buFont typeface="Arial" panose="020B0604020202020204"/>
              <a:buChar char="•"/>
              <a:tabLst>
                <a:tab pos="241300" algn="l"/>
              </a:tabLst>
            </a:pPr>
            <a:r>
              <a:rPr sz="2730" spc="-10" dirty="0">
                <a:latin typeface="Calibri" panose="020F0502020204030204"/>
                <a:cs typeface="Calibri" panose="020F0502020204030204"/>
              </a:rPr>
              <a:t>Producer-consumer synchronization </a:t>
            </a:r>
            <a:r>
              <a:rPr sz="2730" dirty="0">
                <a:latin typeface="Calibri" panose="020F0502020204030204"/>
                <a:cs typeface="Calibri" panose="020F0502020204030204"/>
              </a:rPr>
              <a:t>and</a:t>
            </a:r>
            <a:r>
              <a:rPr sz="2730" spc="-75" dirty="0">
                <a:latin typeface="Calibri" panose="020F0502020204030204"/>
                <a:cs typeface="Calibri" panose="020F0502020204030204"/>
              </a:rPr>
              <a:t> </a:t>
            </a:r>
            <a:r>
              <a:rPr sz="2730" spc="-5" dirty="0">
                <a:latin typeface="Calibri" panose="020F0502020204030204"/>
                <a:cs typeface="Calibri" panose="020F0502020204030204"/>
              </a:rPr>
              <a:t>semaphores.</a:t>
            </a:r>
            <a:endParaRPr sz="2730" dirty="0">
              <a:latin typeface="Calibri" panose="020F0502020204030204"/>
              <a:cs typeface="Calibri" panose="020F0502020204030204"/>
            </a:endParaRPr>
          </a:p>
          <a:p>
            <a:pPr marL="241300" indent="-228600">
              <a:lnSpc>
                <a:spcPct val="100000"/>
              </a:lnSpc>
              <a:spcBef>
                <a:spcPts val="680"/>
              </a:spcBef>
              <a:buFont typeface="Arial" panose="020B0604020202020204"/>
              <a:buChar char="•"/>
              <a:tabLst>
                <a:tab pos="241300" algn="l"/>
              </a:tabLst>
            </a:pPr>
            <a:r>
              <a:rPr sz="2730" spc="-5" dirty="0">
                <a:latin typeface="Calibri" panose="020F0502020204030204"/>
                <a:cs typeface="Calibri" panose="020F0502020204030204"/>
              </a:rPr>
              <a:t>Barriers </a:t>
            </a:r>
            <a:r>
              <a:rPr sz="2730" dirty="0">
                <a:latin typeface="Calibri" panose="020F0502020204030204"/>
                <a:cs typeface="Calibri" panose="020F0502020204030204"/>
              </a:rPr>
              <a:t>and </a:t>
            </a:r>
            <a:r>
              <a:rPr sz="2730" spc="-5" dirty="0">
                <a:latin typeface="Calibri" panose="020F0502020204030204"/>
                <a:cs typeface="Calibri" panose="020F0502020204030204"/>
              </a:rPr>
              <a:t>condition</a:t>
            </a:r>
            <a:r>
              <a:rPr sz="2730" spc="-30" dirty="0">
                <a:latin typeface="Calibri" panose="020F0502020204030204"/>
                <a:cs typeface="Calibri" panose="020F0502020204030204"/>
              </a:rPr>
              <a:t> </a:t>
            </a:r>
            <a:r>
              <a:rPr sz="2730" spc="-5" dirty="0">
                <a:latin typeface="Calibri" panose="020F0502020204030204"/>
                <a:cs typeface="Calibri" panose="020F0502020204030204"/>
              </a:rPr>
              <a:t>variables.</a:t>
            </a:r>
            <a:endParaRPr sz="2730" dirty="0">
              <a:latin typeface="Calibri" panose="020F0502020204030204"/>
              <a:cs typeface="Calibri" panose="020F0502020204030204"/>
            </a:endParaRPr>
          </a:p>
          <a:p>
            <a:pPr marL="241300" indent="-228600">
              <a:lnSpc>
                <a:spcPct val="100000"/>
              </a:lnSpc>
              <a:spcBef>
                <a:spcPts val="685"/>
              </a:spcBef>
              <a:buFont typeface="Arial" panose="020B0604020202020204"/>
              <a:buChar char="•"/>
              <a:tabLst>
                <a:tab pos="241300" algn="l"/>
              </a:tabLst>
            </a:pPr>
            <a:r>
              <a:rPr sz="2730" spc="-10" dirty="0">
                <a:latin typeface="Calibri" panose="020F0502020204030204"/>
                <a:cs typeface="Calibri" panose="020F0502020204030204"/>
              </a:rPr>
              <a:t>Read-write</a:t>
            </a:r>
            <a:r>
              <a:rPr sz="2730" spc="-15" dirty="0">
                <a:latin typeface="Calibri" panose="020F0502020204030204"/>
                <a:cs typeface="Calibri" panose="020F0502020204030204"/>
              </a:rPr>
              <a:t> </a:t>
            </a:r>
            <a:r>
              <a:rPr sz="2730" spc="-5" dirty="0">
                <a:latin typeface="Calibri" panose="020F0502020204030204"/>
                <a:cs typeface="Calibri" panose="020F0502020204030204"/>
              </a:rPr>
              <a:t>locks.</a:t>
            </a:r>
            <a:endParaRPr sz="2730" dirty="0">
              <a:latin typeface="Calibri" panose="020F0502020204030204"/>
              <a:cs typeface="Calibri" panose="020F0502020204030204"/>
            </a:endParaRPr>
          </a:p>
          <a:p>
            <a:pPr marL="241300" indent="-228600">
              <a:lnSpc>
                <a:spcPct val="100000"/>
              </a:lnSpc>
              <a:spcBef>
                <a:spcPts val="700"/>
              </a:spcBef>
              <a:buFont typeface="Arial" panose="020B0604020202020204"/>
              <a:buChar char="•"/>
              <a:tabLst>
                <a:tab pos="241300" algn="l"/>
              </a:tabLst>
            </a:pPr>
            <a:r>
              <a:rPr sz="2730" spc="-5" dirty="0">
                <a:latin typeface="Calibri" panose="020F0502020204030204"/>
                <a:cs typeface="Calibri" panose="020F0502020204030204"/>
              </a:rPr>
              <a:t>Thread</a:t>
            </a:r>
            <a:r>
              <a:rPr sz="2730" spc="-30" dirty="0">
                <a:latin typeface="Calibri" panose="020F0502020204030204"/>
                <a:cs typeface="Calibri" panose="020F0502020204030204"/>
              </a:rPr>
              <a:t> </a:t>
            </a:r>
            <a:r>
              <a:rPr sz="2730" spc="-40" dirty="0">
                <a:latin typeface="Calibri" panose="020F0502020204030204"/>
                <a:cs typeface="Calibri" panose="020F0502020204030204"/>
              </a:rPr>
              <a:t>safety.</a:t>
            </a:r>
            <a:endParaRPr sz="2730" dirty="0">
              <a:latin typeface="Calibri" panose="020F0502020204030204"/>
              <a:cs typeface="Calibri" panose="020F0502020204030204"/>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b="1" spc="-20" dirty="0">
                <a:latin typeface="+mj-ea"/>
                <a:cs typeface="Times New Roman" panose="02020603050405020304" pitchFamily="18" charset="0"/>
              </a:rPr>
              <a:t>A Shared Memory System</a:t>
            </a:r>
          </a:p>
        </p:txBody>
      </p:sp>
      <p:sp>
        <p:nvSpPr>
          <p:cNvPr id="3" name="object 3"/>
          <p:cNvSpPr/>
          <p:nvPr/>
        </p:nvSpPr>
        <p:spPr>
          <a:xfrm>
            <a:off x="2960726" y="2164740"/>
            <a:ext cx="6808561" cy="2961463"/>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a:t>
            </a:fld>
            <a:endParaRPr sz="1575"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48887"/>
            <a:ext cx="2986088" cy="210185"/>
          </a:xfrm>
          <a:prstGeom prst="rect">
            <a:avLst/>
          </a:prstGeom>
        </p:spPr>
        <p:txBody>
          <a:bodyPr vert="horz" wrap="square" lIns="0" tIns="0" rIns="0" bIns="0" rtlCol="0">
            <a:spAutoFit/>
          </a:bodyPr>
          <a:lstStyle/>
          <a:p>
            <a:pPr marL="38100">
              <a:lnSpc>
                <a:spcPts val="1240"/>
              </a:lnSpc>
            </a:pP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0" dirty="0"/>
              <a:t>Processes </a:t>
            </a:r>
            <a:r>
              <a:rPr sz="4620" dirty="0"/>
              <a:t>and</a:t>
            </a:r>
            <a:r>
              <a:rPr sz="4620" spc="-25" dirty="0"/>
              <a:t> </a:t>
            </a:r>
            <a:r>
              <a:rPr sz="4620" spc="-15" dirty="0"/>
              <a:t>Threads</a:t>
            </a:r>
            <a:endParaRPr sz="4620" dirty="0"/>
          </a:p>
        </p:txBody>
      </p:sp>
      <p:sp>
        <p:nvSpPr>
          <p:cNvPr id="3" name="object 3"/>
          <p:cNvSpPr txBox="1">
            <a:spLocks noGrp="1"/>
          </p:cNvSpPr>
          <p:nvPr>
            <p:ph type="body" idx="4294967295"/>
          </p:nvPr>
        </p:nvSpPr>
        <p:spPr>
          <a:xfrm>
            <a:off x="1864360" y="1080135"/>
            <a:ext cx="9488805" cy="2214245"/>
          </a:xfrm>
          <a:prstGeom prst="rect">
            <a:avLst/>
          </a:prstGeom>
        </p:spPr>
        <p:txBody>
          <a:bodyPr vert="horz" wrap="square" lIns="0" tIns="64007" rIns="0" bIns="0" rtlCol="0">
            <a:spAutoFit/>
          </a:bodyPr>
          <a:lstStyle/>
          <a:p>
            <a:pPr marL="262255" marR="5080" indent="-228600">
              <a:lnSpc>
                <a:spcPts val="3020"/>
              </a:lnSpc>
              <a:spcBef>
                <a:spcPts val="480"/>
              </a:spcBef>
              <a:buFont typeface="Arial" panose="020B0604020202020204"/>
              <a:buChar char="•"/>
              <a:tabLst>
                <a:tab pos="262255" algn="l"/>
              </a:tabLst>
            </a:pPr>
            <a:r>
              <a:rPr sz="2520" spc="-5" dirty="0">
                <a:solidFill>
                  <a:srgbClr val="000000"/>
                </a:solidFill>
              </a:rPr>
              <a:t>A </a:t>
            </a:r>
            <a:r>
              <a:rPr sz="2520" spc="-10" dirty="0">
                <a:solidFill>
                  <a:srgbClr val="000000"/>
                </a:solidFill>
              </a:rPr>
              <a:t>process </a:t>
            </a:r>
            <a:r>
              <a:rPr sz="2520" spc="-5" dirty="0">
                <a:solidFill>
                  <a:srgbClr val="000000"/>
                </a:solidFill>
              </a:rPr>
              <a:t>is an </a:t>
            </a:r>
            <a:r>
              <a:rPr sz="2520" spc="-10" dirty="0"/>
              <a:t>instance </a:t>
            </a:r>
            <a:r>
              <a:rPr sz="2520" spc="-5" dirty="0">
                <a:solidFill>
                  <a:srgbClr val="000000"/>
                </a:solidFill>
              </a:rPr>
              <a:t>of a </a:t>
            </a:r>
            <a:r>
              <a:rPr sz="2520" spc="-5" dirty="0"/>
              <a:t>running </a:t>
            </a:r>
            <a:r>
              <a:rPr sz="2520" spc="-5" dirty="0">
                <a:solidFill>
                  <a:srgbClr val="000000"/>
                </a:solidFill>
              </a:rPr>
              <a:t>(or </a:t>
            </a:r>
            <a:r>
              <a:rPr sz="2520" spc="-5" dirty="0"/>
              <a:t>suspended</a:t>
            </a:r>
            <a:r>
              <a:rPr sz="2520" spc="-5" dirty="0">
                <a:solidFill>
                  <a:srgbClr val="000000"/>
                </a:solidFill>
              </a:rPr>
              <a:t>) </a:t>
            </a:r>
            <a:r>
              <a:rPr sz="2520" spc="-5" dirty="0"/>
              <a:t> </a:t>
            </a:r>
            <a:r>
              <a:rPr sz="2520" spc="-20" dirty="0"/>
              <a:t>program</a:t>
            </a:r>
            <a:r>
              <a:rPr sz="2520" spc="-20" dirty="0">
                <a:solidFill>
                  <a:srgbClr val="000000"/>
                </a:solidFill>
              </a:rPr>
              <a:t>.</a:t>
            </a:r>
          </a:p>
          <a:p>
            <a:pPr marL="262255" indent="-228600">
              <a:lnSpc>
                <a:spcPct val="100000"/>
              </a:lnSpc>
              <a:spcBef>
                <a:spcPts val="630"/>
              </a:spcBef>
              <a:buFont typeface="Arial" panose="020B0604020202020204"/>
              <a:buChar char="•"/>
              <a:tabLst>
                <a:tab pos="262255" algn="l"/>
              </a:tabLst>
            </a:pPr>
            <a:r>
              <a:rPr sz="2520" spc="-10" dirty="0"/>
              <a:t>Threads </a:t>
            </a:r>
            <a:r>
              <a:rPr sz="2520" spc="-15" dirty="0">
                <a:solidFill>
                  <a:srgbClr val="000000"/>
                </a:solidFill>
              </a:rPr>
              <a:t>are </a:t>
            </a:r>
            <a:r>
              <a:rPr sz="2520" spc="-10" dirty="0">
                <a:solidFill>
                  <a:srgbClr val="000000"/>
                </a:solidFill>
              </a:rPr>
              <a:t>analogous </a:t>
            </a:r>
            <a:r>
              <a:rPr sz="2520" spc="-20" dirty="0">
                <a:solidFill>
                  <a:srgbClr val="000000"/>
                </a:solidFill>
              </a:rPr>
              <a:t>to </a:t>
            </a:r>
            <a:r>
              <a:rPr sz="2520" spc="-5" dirty="0">
                <a:solidFill>
                  <a:srgbClr val="000000"/>
                </a:solidFill>
              </a:rPr>
              <a:t>a “</a:t>
            </a:r>
            <a:r>
              <a:rPr sz="2520" spc="-5" dirty="0"/>
              <a:t>light-weight”</a:t>
            </a:r>
            <a:r>
              <a:rPr sz="2520" spc="95" dirty="0"/>
              <a:t> </a:t>
            </a:r>
            <a:r>
              <a:rPr sz="2520" spc="-10" dirty="0"/>
              <a:t>process</a:t>
            </a:r>
            <a:r>
              <a:rPr sz="2520" spc="-10" dirty="0">
                <a:solidFill>
                  <a:srgbClr val="000000"/>
                </a:solidFill>
              </a:rPr>
              <a:t>.</a:t>
            </a:r>
          </a:p>
          <a:p>
            <a:pPr marL="262255" marR="186055" indent="-228600">
              <a:lnSpc>
                <a:spcPts val="3020"/>
              </a:lnSpc>
              <a:spcBef>
                <a:spcPts val="1045"/>
              </a:spcBef>
              <a:buFont typeface="Arial" panose="020B0604020202020204"/>
              <a:buChar char="•"/>
              <a:tabLst>
                <a:tab pos="262255" algn="l"/>
              </a:tabLst>
            </a:pPr>
            <a:r>
              <a:rPr sz="2520" spc="-5" dirty="0">
                <a:solidFill>
                  <a:srgbClr val="000000"/>
                </a:solidFill>
              </a:rPr>
              <a:t>In a </a:t>
            </a:r>
            <a:r>
              <a:rPr sz="2520" spc="-15" dirty="0">
                <a:solidFill>
                  <a:srgbClr val="000000"/>
                </a:solidFill>
              </a:rPr>
              <a:t>shared </a:t>
            </a:r>
            <a:r>
              <a:rPr sz="2520" spc="-5" dirty="0">
                <a:solidFill>
                  <a:srgbClr val="000000"/>
                </a:solidFill>
              </a:rPr>
              <a:t>memory </a:t>
            </a:r>
            <a:r>
              <a:rPr sz="2520" spc="-20" dirty="0">
                <a:solidFill>
                  <a:srgbClr val="000000"/>
                </a:solidFill>
              </a:rPr>
              <a:t>program, </a:t>
            </a:r>
            <a:r>
              <a:rPr sz="2520" spc="-5" dirty="0">
                <a:solidFill>
                  <a:srgbClr val="000000"/>
                </a:solidFill>
              </a:rPr>
              <a:t>a </a:t>
            </a:r>
            <a:r>
              <a:rPr sz="2520" spc="-10" dirty="0">
                <a:solidFill>
                  <a:srgbClr val="000000"/>
                </a:solidFill>
              </a:rPr>
              <a:t>single </a:t>
            </a:r>
            <a:r>
              <a:rPr sz="2520" spc="-15" dirty="0">
                <a:solidFill>
                  <a:srgbClr val="000000"/>
                </a:solidFill>
              </a:rPr>
              <a:t>process </a:t>
            </a:r>
            <a:r>
              <a:rPr sz="2520" spc="-20" dirty="0">
                <a:solidFill>
                  <a:srgbClr val="000000"/>
                </a:solidFill>
              </a:rPr>
              <a:t>may  </a:t>
            </a:r>
            <a:r>
              <a:rPr sz="2520" spc="-25" dirty="0">
                <a:solidFill>
                  <a:srgbClr val="000000"/>
                </a:solidFill>
              </a:rPr>
              <a:t>have </a:t>
            </a:r>
            <a:r>
              <a:rPr sz="2520" spc="-5" dirty="0"/>
              <a:t>multiple </a:t>
            </a:r>
            <a:r>
              <a:rPr sz="2520" spc="-10" dirty="0">
                <a:solidFill>
                  <a:srgbClr val="000000"/>
                </a:solidFill>
              </a:rPr>
              <a:t>threads </a:t>
            </a:r>
            <a:r>
              <a:rPr sz="2520" spc="-5" dirty="0">
                <a:solidFill>
                  <a:srgbClr val="000000"/>
                </a:solidFill>
              </a:rPr>
              <a:t>of</a:t>
            </a:r>
            <a:r>
              <a:rPr sz="2520" spc="80" dirty="0">
                <a:solidFill>
                  <a:srgbClr val="000000"/>
                </a:solidFill>
              </a:rPr>
              <a:t> </a:t>
            </a:r>
            <a:r>
              <a:rPr sz="2520" spc="-20" dirty="0">
                <a:solidFill>
                  <a:srgbClr val="000000"/>
                </a:solidFill>
              </a:rPr>
              <a:t>control.</a:t>
            </a:r>
          </a:p>
        </p:txBody>
      </p:sp>
      <p:sp>
        <p:nvSpPr>
          <p:cNvPr id="5" name="object 4"/>
          <p:cNvSpPr/>
          <p:nvPr/>
        </p:nvSpPr>
        <p:spPr>
          <a:xfrm>
            <a:off x="2194521" y="3600450"/>
            <a:ext cx="3726218" cy="3600450"/>
          </a:xfrm>
          <a:prstGeom prst="rect">
            <a:avLst/>
          </a:prstGeom>
          <a:blipFill>
            <a:blip r:embed="rId2" cstate="print"/>
            <a:stretch>
              <a:fillRect/>
            </a:stretch>
          </a:blipFill>
        </p:spPr>
        <p:txBody>
          <a:bodyPr wrap="square" lIns="0" tIns="0" rIns="0" bIns="0" rtlCol="0"/>
          <a:lstStyle/>
          <a:p>
            <a:endParaRPr sz="2310"/>
          </a:p>
        </p:txBody>
      </p:sp>
      <p:sp>
        <p:nvSpPr>
          <p:cNvPr id="6" name="object 4"/>
          <p:cNvSpPr/>
          <p:nvPr/>
        </p:nvSpPr>
        <p:spPr>
          <a:xfrm>
            <a:off x="6389920" y="3600450"/>
            <a:ext cx="4095390" cy="3440430"/>
          </a:xfrm>
          <a:prstGeom prst="rect">
            <a:avLst/>
          </a:prstGeom>
          <a:blipFill>
            <a:blip r:embed="rId3" cstate="print"/>
            <a:stretch>
              <a:fillRect/>
            </a:stretch>
          </a:blipFill>
        </p:spPr>
        <p:txBody>
          <a:bodyPr wrap="square" lIns="0" tIns="0" rIns="0" bIns="0" rtlCol="0"/>
          <a:lstStyle/>
          <a:p>
            <a:endParaRPr sz="231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38100">
              <a:lnSpc>
                <a:spcPct val="100000"/>
              </a:lnSpc>
              <a:spcBef>
                <a:spcPts val="105"/>
              </a:spcBef>
            </a:pPr>
            <a:r>
              <a:rPr sz="4620" spc="-35" dirty="0"/>
              <a:t>POSIX® Threads</a:t>
            </a:r>
          </a:p>
        </p:txBody>
      </p:sp>
      <p:sp>
        <p:nvSpPr>
          <p:cNvPr id="3" name="object 3"/>
          <p:cNvSpPr txBox="1"/>
          <p:nvPr/>
        </p:nvSpPr>
        <p:spPr>
          <a:xfrm>
            <a:off x="2343119" y="1793314"/>
            <a:ext cx="8190357" cy="3599815"/>
          </a:xfrm>
          <a:prstGeom prst="rect">
            <a:avLst/>
          </a:prstGeom>
        </p:spPr>
        <p:txBody>
          <a:bodyPr vert="horz" wrap="square" lIns="0" tIns="102679" rIns="0" bIns="0" rtlCol="0">
            <a:spAutoFit/>
          </a:bodyPr>
          <a:lstStyle/>
          <a:p>
            <a:pPr marL="241300" indent="-228600">
              <a:lnSpc>
                <a:spcPct val="100000"/>
              </a:lnSpc>
              <a:spcBef>
                <a:spcPts val="770"/>
              </a:spcBef>
              <a:buFont typeface="Arial" panose="020B0604020202020204"/>
              <a:buChar char="•"/>
              <a:tabLst>
                <a:tab pos="241300" algn="l"/>
              </a:tabLst>
            </a:pPr>
            <a:r>
              <a:rPr sz="2940" spc="-20" dirty="0">
                <a:latin typeface="Calibri" panose="020F0502020204030204"/>
                <a:cs typeface="Calibri" panose="020F0502020204030204"/>
              </a:rPr>
              <a:t>Portable Operating </a:t>
            </a:r>
            <a:r>
              <a:rPr sz="2940" spc="-30" dirty="0">
                <a:latin typeface="Calibri" panose="020F0502020204030204"/>
                <a:cs typeface="Calibri" panose="020F0502020204030204"/>
              </a:rPr>
              <a:t>System </a:t>
            </a:r>
            <a:r>
              <a:rPr sz="2940" spc="-15" dirty="0">
                <a:latin typeface="Calibri" panose="020F0502020204030204"/>
                <a:cs typeface="Calibri" panose="020F0502020204030204"/>
              </a:rPr>
              <a:t>Interface</a:t>
            </a:r>
            <a:r>
              <a:rPr sz="2940" spc="114" dirty="0">
                <a:latin typeface="Calibri" panose="020F0502020204030204"/>
                <a:cs typeface="Calibri" panose="020F0502020204030204"/>
              </a:rPr>
              <a:t> </a:t>
            </a:r>
            <a:r>
              <a:rPr sz="2940" spc="-10" dirty="0">
                <a:latin typeface="Calibri" panose="020F0502020204030204"/>
                <a:cs typeface="Calibri" panose="020F0502020204030204"/>
              </a:rPr>
              <a:t>(POSIX)</a:t>
            </a:r>
            <a:endParaRPr sz="2940" dirty="0">
              <a:latin typeface="Calibri" panose="020F0502020204030204"/>
              <a:cs typeface="Calibri" panose="020F0502020204030204"/>
            </a:endParaRPr>
          </a:p>
          <a:p>
            <a:pPr marL="241300" indent="-228600">
              <a:lnSpc>
                <a:spcPct val="100000"/>
              </a:lnSpc>
              <a:spcBef>
                <a:spcPts val="670"/>
              </a:spcBef>
              <a:buFont typeface="Arial" panose="020B0604020202020204"/>
              <a:buChar char="•"/>
              <a:tabLst>
                <a:tab pos="241300" algn="l"/>
              </a:tabLst>
            </a:pPr>
            <a:r>
              <a:rPr sz="2940" spc="-5" dirty="0">
                <a:latin typeface="Calibri" panose="020F0502020204030204"/>
                <a:cs typeface="Calibri" panose="020F0502020204030204"/>
              </a:rPr>
              <a:t>Also known as</a:t>
            </a:r>
            <a:r>
              <a:rPr sz="2940" spc="40" dirty="0">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Pthreads</a:t>
            </a:r>
            <a:r>
              <a:rPr sz="2940" spc="-10" dirty="0">
                <a:latin typeface="Calibri" panose="020F0502020204030204"/>
                <a:cs typeface="Calibri" panose="020F0502020204030204"/>
              </a:rPr>
              <a:t>.</a:t>
            </a:r>
            <a:endParaRPr sz="2940" dirty="0">
              <a:latin typeface="Calibri" panose="020F0502020204030204"/>
              <a:cs typeface="Calibri" panose="020F0502020204030204"/>
            </a:endParaRPr>
          </a:p>
          <a:p>
            <a:pPr marL="241300" indent="-228600">
              <a:lnSpc>
                <a:spcPct val="100000"/>
              </a:lnSpc>
              <a:spcBef>
                <a:spcPts val="665"/>
              </a:spcBef>
              <a:buFont typeface="Arial" panose="020B0604020202020204"/>
              <a:buChar char="•"/>
              <a:tabLst>
                <a:tab pos="241300" algn="l"/>
              </a:tabLst>
            </a:pPr>
            <a:r>
              <a:rPr sz="2940" spc="-5" dirty="0">
                <a:latin typeface="Calibri" panose="020F0502020204030204"/>
                <a:cs typeface="Calibri" panose="020F0502020204030204"/>
              </a:rPr>
              <a:t>A </a:t>
            </a:r>
            <a:r>
              <a:rPr sz="2940" spc="-20" dirty="0">
                <a:latin typeface="Calibri" panose="020F0502020204030204"/>
                <a:cs typeface="Calibri" panose="020F0502020204030204"/>
              </a:rPr>
              <a:t>standard </a:t>
            </a:r>
            <a:r>
              <a:rPr sz="2940" spc="-25" dirty="0">
                <a:latin typeface="Calibri" panose="020F0502020204030204"/>
                <a:cs typeface="Calibri" panose="020F0502020204030204"/>
              </a:rPr>
              <a:t>for </a:t>
            </a:r>
            <a:r>
              <a:rPr sz="2940" spc="-15" dirty="0">
                <a:solidFill>
                  <a:srgbClr val="FF0000"/>
                </a:solidFill>
                <a:latin typeface="Calibri" panose="020F0502020204030204"/>
                <a:cs typeface="Calibri" panose="020F0502020204030204"/>
              </a:rPr>
              <a:t>Unix-like </a:t>
            </a:r>
            <a:r>
              <a:rPr sz="2940" spc="-20" dirty="0">
                <a:latin typeface="Calibri" panose="020F0502020204030204"/>
                <a:cs typeface="Calibri" panose="020F0502020204030204"/>
              </a:rPr>
              <a:t>operating</a:t>
            </a:r>
            <a:r>
              <a:rPr sz="2940" spc="160" dirty="0">
                <a:latin typeface="Calibri" panose="020F0502020204030204"/>
                <a:cs typeface="Calibri" panose="020F0502020204030204"/>
              </a:rPr>
              <a:t> </a:t>
            </a:r>
            <a:r>
              <a:rPr sz="2940" spc="-25" dirty="0">
                <a:latin typeface="Calibri" panose="020F0502020204030204"/>
                <a:cs typeface="Calibri" panose="020F0502020204030204"/>
              </a:rPr>
              <a:t>systems.</a:t>
            </a:r>
            <a:endParaRPr sz="2940" dirty="0">
              <a:latin typeface="Calibri" panose="020F0502020204030204"/>
              <a:cs typeface="Calibri" panose="020F0502020204030204"/>
            </a:endParaRPr>
          </a:p>
          <a:p>
            <a:pPr marL="241300" indent="-228600">
              <a:lnSpc>
                <a:spcPct val="100000"/>
              </a:lnSpc>
              <a:spcBef>
                <a:spcPts val="660"/>
              </a:spcBef>
              <a:buFont typeface="Arial" panose="020B0604020202020204"/>
              <a:buChar char="•"/>
              <a:tabLst>
                <a:tab pos="241300" algn="l"/>
              </a:tabLst>
            </a:pPr>
            <a:r>
              <a:rPr sz="2940" spc="-5" dirty="0">
                <a:latin typeface="Calibri" panose="020F0502020204030204"/>
                <a:cs typeface="Calibri" panose="020F0502020204030204"/>
              </a:rPr>
              <a:t>A </a:t>
            </a:r>
            <a:r>
              <a:rPr sz="2940" spc="-15" dirty="0">
                <a:solidFill>
                  <a:srgbClr val="FF0000"/>
                </a:solidFill>
                <a:latin typeface="Calibri" panose="020F0502020204030204"/>
                <a:cs typeface="Calibri" panose="020F0502020204030204"/>
              </a:rPr>
              <a:t>library </a:t>
            </a:r>
            <a:r>
              <a:rPr sz="2940" spc="-10" dirty="0">
                <a:latin typeface="Calibri" panose="020F0502020204030204"/>
                <a:cs typeface="Calibri" panose="020F0502020204030204"/>
              </a:rPr>
              <a:t>that can </a:t>
            </a:r>
            <a:r>
              <a:rPr sz="2940" spc="-5" dirty="0">
                <a:latin typeface="Calibri" panose="020F0502020204030204"/>
                <a:cs typeface="Calibri" panose="020F0502020204030204"/>
              </a:rPr>
              <a:t>be </a:t>
            </a:r>
            <a:r>
              <a:rPr sz="2940" spc="-25" dirty="0">
                <a:latin typeface="Calibri" panose="020F0502020204030204"/>
                <a:cs typeface="Calibri" panose="020F0502020204030204"/>
              </a:rPr>
              <a:t>linked </a:t>
            </a:r>
            <a:r>
              <a:rPr sz="2940" spc="-5" dirty="0">
                <a:latin typeface="Calibri" panose="020F0502020204030204"/>
                <a:cs typeface="Calibri" panose="020F0502020204030204"/>
              </a:rPr>
              <a:t>with C</a:t>
            </a:r>
            <a:r>
              <a:rPr sz="2940" spc="140" dirty="0">
                <a:latin typeface="Calibri" panose="020F0502020204030204"/>
                <a:cs typeface="Calibri" panose="020F0502020204030204"/>
              </a:rPr>
              <a:t> </a:t>
            </a:r>
            <a:r>
              <a:rPr sz="2940" spc="-20" dirty="0">
                <a:latin typeface="Calibri" panose="020F0502020204030204"/>
                <a:cs typeface="Calibri" panose="020F0502020204030204"/>
              </a:rPr>
              <a:t>programs.</a:t>
            </a:r>
            <a:endParaRPr sz="2940" dirty="0">
              <a:latin typeface="Calibri" panose="020F0502020204030204"/>
              <a:cs typeface="Calibri" panose="020F0502020204030204"/>
            </a:endParaRPr>
          </a:p>
          <a:p>
            <a:pPr marL="241300" marR="5080" indent="-228600">
              <a:lnSpc>
                <a:spcPts val="3030"/>
              </a:lnSpc>
              <a:spcBef>
                <a:spcPts val="1045"/>
              </a:spcBef>
              <a:buFont typeface="Arial" panose="020B0604020202020204"/>
              <a:buChar char="•"/>
              <a:tabLst>
                <a:tab pos="241300" algn="l"/>
              </a:tabLst>
            </a:pPr>
            <a:r>
              <a:rPr sz="2940" spc="-10" dirty="0">
                <a:latin typeface="Calibri" panose="020F0502020204030204"/>
                <a:cs typeface="Calibri" panose="020F0502020204030204"/>
              </a:rPr>
              <a:t>Specifies </a:t>
            </a:r>
            <a:r>
              <a:rPr sz="2940" dirty="0">
                <a:latin typeface="Calibri" panose="020F0502020204030204"/>
                <a:cs typeface="Calibri" panose="020F0502020204030204"/>
              </a:rPr>
              <a:t>an </a:t>
            </a:r>
            <a:r>
              <a:rPr sz="2940" spc="-10" dirty="0">
                <a:latin typeface="Calibri" panose="020F0502020204030204"/>
                <a:cs typeface="Calibri" panose="020F0502020204030204"/>
              </a:rPr>
              <a:t>application </a:t>
            </a:r>
            <a:r>
              <a:rPr sz="2940" spc="-15" dirty="0">
                <a:latin typeface="Calibri" panose="020F0502020204030204"/>
                <a:cs typeface="Calibri" panose="020F0502020204030204"/>
              </a:rPr>
              <a:t>programming interface </a:t>
            </a:r>
            <a:r>
              <a:rPr sz="2940" spc="5" dirty="0">
                <a:latin typeface="Calibri" panose="020F0502020204030204"/>
                <a:cs typeface="Calibri" panose="020F0502020204030204"/>
              </a:rPr>
              <a:t>(</a:t>
            </a:r>
            <a:r>
              <a:rPr sz="2940" spc="5" dirty="0">
                <a:solidFill>
                  <a:srgbClr val="FF0000"/>
                </a:solidFill>
                <a:latin typeface="Calibri" panose="020F0502020204030204"/>
                <a:cs typeface="Calibri" panose="020F0502020204030204"/>
              </a:rPr>
              <a:t>API</a:t>
            </a:r>
            <a:r>
              <a:rPr sz="2940" spc="5" dirty="0">
                <a:latin typeface="Calibri" panose="020F0502020204030204"/>
                <a:cs typeface="Calibri" panose="020F0502020204030204"/>
              </a:rPr>
              <a:t>)  </a:t>
            </a:r>
            <a:r>
              <a:rPr sz="2940" spc="-25" dirty="0">
                <a:latin typeface="Calibri" panose="020F0502020204030204"/>
                <a:cs typeface="Calibri" panose="020F0502020204030204"/>
              </a:rPr>
              <a:t>for </a:t>
            </a:r>
            <a:r>
              <a:rPr sz="2940" spc="-10" dirty="0">
                <a:latin typeface="Calibri" panose="020F0502020204030204"/>
                <a:cs typeface="Calibri" panose="020F0502020204030204"/>
              </a:rPr>
              <a:t>multi-threaded</a:t>
            </a:r>
            <a:r>
              <a:rPr sz="2940" spc="75" dirty="0">
                <a:latin typeface="Calibri" panose="020F0502020204030204"/>
                <a:cs typeface="Calibri" panose="020F0502020204030204"/>
              </a:rPr>
              <a:t> </a:t>
            </a:r>
            <a:r>
              <a:rPr sz="2940" spc="-15" dirty="0">
                <a:latin typeface="Calibri" panose="020F0502020204030204"/>
                <a:cs typeface="Calibri" panose="020F0502020204030204"/>
              </a:rPr>
              <a:t>programming.</a:t>
            </a:r>
            <a:endParaRPr lang="en-US" sz="2940" spc="-15" dirty="0">
              <a:latin typeface="Calibri" panose="020F0502020204030204"/>
              <a:cs typeface="Calibri" panose="020F0502020204030204"/>
            </a:endParaRPr>
          </a:p>
          <a:p>
            <a:pPr marL="241300" marR="5080" indent="-228600">
              <a:lnSpc>
                <a:spcPts val="3030"/>
              </a:lnSpc>
              <a:spcBef>
                <a:spcPts val="1045"/>
              </a:spcBef>
              <a:buFont typeface="Arial" panose="020B0604020202020204"/>
              <a:buChar char="•"/>
              <a:tabLst>
                <a:tab pos="241300" algn="l"/>
              </a:tabLst>
            </a:pPr>
            <a:r>
              <a:rPr lang="en-US" sz="2940" dirty="0">
                <a:cs typeface="Calibri" panose="020F0502020204030204"/>
              </a:rPr>
              <a:t>https://computing.llnl.gov/tutorials/pthreads/</a:t>
            </a:r>
            <a:endParaRPr sz="2940" dirty="0">
              <a:latin typeface="Calibri" panose="020F0502020204030204"/>
              <a:cs typeface="Calibri" panose="020F0502020204030204"/>
            </a:endParaRPr>
          </a:p>
        </p:txBody>
      </p:sp>
      <p:sp>
        <p:nvSpPr>
          <p:cNvPr id="5" name="文本框 4"/>
          <p:cNvSpPr txBox="1"/>
          <p:nvPr/>
        </p:nvSpPr>
        <p:spPr>
          <a:xfrm>
            <a:off x="3091648" y="5863097"/>
            <a:ext cx="6976745" cy="446405"/>
          </a:xfrm>
          <a:prstGeom prst="rect">
            <a:avLst/>
          </a:prstGeom>
          <a:noFill/>
        </p:spPr>
        <p:txBody>
          <a:bodyPr wrap="none" rtlCol="0">
            <a:spAutoFit/>
          </a:bodyPr>
          <a:lstStyle/>
          <a:p>
            <a:r>
              <a:rPr lang="en-US" altLang="zh-CN" sz="2310" dirty="0">
                <a:solidFill>
                  <a:srgbClr val="FF0000"/>
                </a:solidFill>
              </a:rPr>
              <a:t>Question: can </a:t>
            </a:r>
            <a:r>
              <a:rPr lang="en-US" altLang="zh-CN" sz="2310" dirty="0" err="1">
                <a:solidFill>
                  <a:srgbClr val="FF0000"/>
                </a:solidFill>
              </a:rPr>
              <a:t>pthreads</a:t>
            </a:r>
            <a:r>
              <a:rPr lang="en-US" altLang="zh-CN" sz="2310" dirty="0">
                <a:solidFill>
                  <a:srgbClr val="FF0000"/>
                </a:solidFill>
              </a:rPr>
              <a:t> be supported by windows? How?</a:t>
            </a:r>
            <a:endParaRPr lang="en-US" sz="2310" dirty="0">
              <a:solidFill>
                <a:srgbClr val="FF0000"/>
              </a:solidFill>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4620" spc="-35" dirty="0"/>
              <a:t>Lightweight </a:t>
            </a:r>
            <a:r>
              <a:rPr lang="en-US" altLang="zh-CN" sz="4620" spc="-35" dirty="0" err="1"/>
              <a:t>Pthread</a:t>
            </a:r>
            <a:r>
              <a:rPr lang="en-US" altLang="zh-CN" sz="4620" spc="-35" dirty="0"/>
              <a:t> vs Fork()</a:t>
            </a:r>
            <a:endParaRPr lang="en-US" sz="4620" spc="-35" dirty="0"/>
          </a:p>
        </p:txBody>
      </p:sp>
      <p:graphicFrame>
        <p:nvGraphicFramePr>
          <p:cNvPr id="4" name="表格 3"/>
          <p:cNvGraphicFramePr>
            <a:graphicFrameLocks noGrp="1"/>
          </p:cNvGraphicFramePr>
          <p:nvPr>
            <p:extLst>
              <p:ext uri="{D42A27DB-BD31-4B8C-83A1-F6EECF244321}">
                <p14:modId xmlns:p14="http://schemas.microsoft.com/office/powerpoint/2010/main" val="4232355955"/>
              </p:ext>
            </p:extLst>
          </p:nvPr>
        </p:nvGraphicFramePr>
        <p:xfrm>
          <a:off x="568152" y="864146"/>
          <a:ext cx="8401050" cy="6000115"/>
        </p:xfrm>
        <a:graphic>
          <a:graphicData uri="http://schemas.openxmlformats.org/drawingml/2006/table">
            <a:tbl>
              <a:tblPr firstRow="1" bandRow="1">
                <a:tableStyleId>{5C22544A-7EE6-4342-B048-85BDC9FD1C3A}</a:tableStyleId>
              </a:tblPr>
              <a:tblGrid>
                <a:gridCol w="27203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8011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20140">
                  <a:extLst>
                    <a:ext uri="{9D8B030D-6E8A-4147-A177-3AD203B41FA5}">
                      <a16:colId xmlns:a16="http://schemas.microsoft.com/office/drawing/2014/main" val="20005"/>
                    </a:ext>
                  </a:extLst>
                </a:gridCol>
                <a:gridCol w="800100">
                  <a:extLst>
                    <a:ext uri="{9D8B030D-6E8A-4147-A177-3AD203B41FA5}">
                      <a16:colId xmlns:a16="http://schemas.microsoft.com/office/drawing/2014/main" val="20006"/>
                    </a:ext>
                  </a:extLst>
                </a:gridCol>
              </a:tblGrid>
              <a:tr h="332740">
                <a:tc rowSpan="2">
                  <a:txBody>
                    <a:bodyPr/>
                    <a:lstStyle/>
                    <a:p>
                      <a:pPr algn="ctr"/>
                      <a:r>
                        <a:rPr lang="en-US" sz="1470" b="1" i="0" dirty="0">
                          <a:solidFill>
                            <a:schemeClr val="lt1"/>
                          </a:solidFill>
                          <a:effectLst/>
                          <a:latin typeface="+mn-lt"/>
                          <a:ea typeface="+mn-ea"/>
                          <a:cs typeface="+mn-cs"/>
                        </a:rPr>
                        <a:t>Platform</a:t>
                      </a:r>
                      <a:endParaRPr lang="en-US" sz="1470" dirty="0"/>
                    </a:p>
                  </a:txBody>
                  <a:tcPr marL="96011" marR="96011" marT="48005" marB="48005" anchor="ctr"/>
                </a:tc>
                <a:tc gridSpan="3">
                  <a:txBody>
                    <a:bodyPr/>
                    <a:lstStyle/>
                    <a:p>
                      <a:pPr algn="ctr"/>
                      <a:r>
                        <a:rPr lang="en-US" sz="1470" b="1" i="0" dirty="0">
                          <a:solidFill>
                            <a:schemeClr val="lt1"/>
                          </a:solidFill>
                          <a:effectLst/>
                          <a:latin typeface="+mn-lt"/>
                          <a:ea typeface="+mn-ea"/>
                          <a:cs typeface="+mn-cs"/>
                        </a:rPr>
                        <a:t>fork()</a:t>
                      </a:r>
                      <a:endParaRPr lang="en-US" sz="1470" dirty="0"/>
                    </a:p>
                  </a:txBody>
                  <a:tcPr marL="96011" marR="96011" marT="48005" marB="48005"/>
                </a:tc>
                <a:tc hMerge="1">
                  <a:txBody>
                    <a:bodyPr/>
                    <a:lstStyle/>
                    <a:p>
                      <a:endParaRPr lang="en-US"/>
                    </a:p>
                  </a:txBody>
                  <a:tcPr/>
                </a:tc>
                <a:tc hMerge="1">
                  <a:txBody>
                    <a:bodyPr/>
                    <a:lstStyle/>
                    <a:p>
                      <a:endParaRPr lang="en-US"/>
                    </a:p>
                  </a:txBody>
                  <a:tcPr/>
                </a:tc>
                <a:tc gridSpan="3">
                  <a:txBody>
                    <a:bodyPr/>
                    <a:lstStyle/>
                    <a:p>
                      <a:pPr algn="ctr"/>
                      <a:r>
                        <a:rPr lang="en-US" sz="1470" b="1" i="0" dirty="0" err="1">
                          <a:solidFill>
                            <a:schemeClr val="lt1"/>
                          </a:solidFill>
                          <a:effectLst/>
                          <a:latin typeface="+mn-lt"/>
                          <a:ea typeface="+mn-ea"/>
                          <a:cs typeface="+mn-cs"/>
                        </a:rPr>
                        <a:t>pthread_create</a:t>
                      </a:r>
                      <a:r>
                        <a:rPr lang="en-US" sz="1470" b="1" i="0" dirty="0">
                          <a:solidFill>
                            <a:schemeClr val="lt1"/>
                          </a:solidFill>
                          <a:effectLst/>
                          <a:latin typeface="+mn-lt"/>
                          <a:ea typeface="+mn-ea"/>
                          <a:cs typeface="+mn-cs"/>
                        </a:rPr>
                        <a:t>()</a:t>
                      </a:r>
                      <a:endParaRPr lang="en-US" sz="1470" dirty="0"/>
                    </a:p>
                  </a:txBody>
                  <a:tcPr marL="96011" marR="96011" marT="48005" marB="4800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6550">
                <a:tc vMerge="1">
                  <a:txBody>
                    <a:bodyPr/>
                    <a:lstStyle/>
                    <a:p>
                      <a:endParaRPr lang="en-US"/>
                    </a:p>
                  </a:txBody>
                  <a:tcPr/>
                </a:tc>
                <a:tc>
                  <a:txBody>
                    <a:bodyPr/>
                    <a:lstStyle/>
                    <a:p>
                      <a:pPr algn="ctr"/>
                      <a:r>
                        <a:rPr lang="en-US" sz="1470" dirty="0">
                          <a:effectLst/>
                          <a:latin typeface="Arial" panose="020B0604020202020204" pitchFamily="34" charset="0"/>
                        </a:rPr>
                        <a:t>real</a:t>
                      </a:r>
                    </a:p>
                  </a:txBody>
                  <a:tcPr marL="50006" marR="50006" marT="50006" marB="50006" anchor="ctr"/>
                </a:tc>
                <a:tc>
                  <a:txBody>
                    <a:bodyPr/>
                    <a:lstStyle/>
                    <a:p>
                      <a:pPr algn="ctr"/>
                      <a:r>
                        <a:rPr lang="en-US" sz="1470" dirty="0">
                          <a:effectLst/>
                          <a:latin typeface="Arial" panose="020B0604020202020204" pitchFamily="34" charset="0"/>
                        </a:rPr>
                        <a:t>user</a:t>
                      </a:r>
                    </a:p>
                  </a:txBody>
                  <a:tcPr marL="50006" marR="50006" marT="50006" marB="50006" anchor="ctr"/>
                </a:tc>
                <a:tc>
                  <a:txBody>
                    <a:bodyPr/>
                    <a:lstStyle/>
                    <a:p>
                      <a:pPr algn="ctr"/>
                      <a:r>
                        <a:rPr lang="en-US" sz="1470" dirty="0">
                          <a:effectLst/>
                          <a:latin typeface="Arial" panose="020B0604020202020204" pitchFamily="34" charset="0"/>
                        </a:rPr>
                        <a:t>sys</a:t>
                      </a:r>
                    </a:p>
                  </a:txBody>
                  <a:tcPr marL="50006" marR="50006" marT="50006" marB="50006" anchor="ctr"/>
                </a:tc>
                <a:tc>
                  <a:txBody>
                    <a:bodyPr/>
                    <a:lstStyle/>
                    <a:p>
                      <a:pPr algn="ctr"/>
                      <a:r>
                        <a:rPr lang="en-US" sz="1470">
                          <a:effectLst/>
                          <a:latin typeface="Arial" panose="020B0604020202020204" pitchFamily="34" charset="0"/>
                        </a:rPr>
                        <a:t>real</a:t>
                      </a:r>
                    </a:p>
                  </a:txBody>
                  <a:tcPr marL="50006" marR="50006" marT="50006" marB="50006" anchor="ctr"/>
                </a:tc>
                <a:tc>
                  <a:txBody>
                    <a:bodyPr/>
                    <a:lstStyle/>
                    <a:p>
                      <a:pPr algn="ctr"/>
                      <a:r>
                        <a:rPr lang="en-US" sz="1470">
                          <a:effectLst/>
                          <a:latin typeface="Arial" panose="020B0604020202020204" pitchFamily="34" charset="0"/>
                        </a:rPr>
                        <a:t>user</a:t>
                      </a:r>
                    </a:p>
                  </a:txBody>
                  <a:tcPr marL="50006" marR="50006" marT="50006" marB="50006" anchor="ctr"/>
                </a:tc>
                <a:tc>
                  <a:txBody>
                    <a:bodyPr/>
                    <a:lstStyle/>
                    <a:p>
                      <a:pPr algn="ctr"/>
                      <a:r>
                        <a:rPr lang="en-US" sz="1470" dirty="0">
                          <a:effectLst/>
                          <a:latin typeface="Arial" panose="020B0604020202020204" pitchFamily="34" charset="0"/>
                        </a:rPr>
                        <a:t>sys</a:t>
                      </a:r>
                    </a:p>
                  </a:txBody>
                  <a:tcPr marL="50006" marR="50006" marT="50006" marB="50006" anchor="ctr"/>
                </a:tc>
                <a:extLst>
                  <a:ext uri="{0D108BD9-81ED-4DB2-BD59-A6C34878D82A}">
                    <a16:rowId xmlns:a16="http://schemas.microsoft.com/office/drawing/2014/main" val="10001"/>
                  </a:ext>
                </a:extLst>
              </a:tr>
              <a:tr h="565150">
                <a:tc>
                  <a:txBody>
                    <a:bodyPr/>
                    <a:lstStyle/>
                    <a:p>
                      <a:pPr algn="l"/>
                      <a:r>
                        <a:rPr lang="pt-BR" sz="1470" b="1" dirty="0"/>
                        <a:t>Intel 2.6 GHz Xeon E5-2670 (16 cores/node)</a:t>
                      </a:r>
                      <a:endParaRPr lang="pt-BR" sz="1470" dirty="0"/>
                    </a:p>
                  </a:txBody>
                  <a:tcPr marL="96011" marR="96011" marT="48005" marB="48005"/>
                </a:tc>
                <a:tc>
                  <a:txBody>
                    <a:bodyPr/>
                    <a:lstStyle/>
                    <a:p>
                      <a:pPr algn="ctr"/>
                      <a:r>
                        <a:rPr lang="en-US" sz="1470" dirty="0"/>
                        <a:t>8.1</a:t>
                      </a:r>
                    </a:p>
                  </a:txBody>
                  <a:tcPr marL="96011" marR="96011" marT="48005" marB="48005"/>
                </a:tc>
                <a:tc>
                  <a:txBody>
                    <a:bodyPr/>
                    <a:lstStyle/>
                    <a:p>
                      <a:pPr algn="ctr"/>
                      <a:r>
                        <a:rPr lang="en-US" sz="1470" dirty="0"/>
                        <a:t>0.1</a:t>
                      </a:r>
                    </a:p>
                  </a:txBody>
                  <a:tcPr marL="96011" marR="96011" marT="48005" marB="48005"/>
                </a:tc>
                <a:tc>
                  <a:txBody>
                    <a:bodyPr/>
                    <a:lstStyle/>
                    <a:p>
                      <a:pPr algn="ctr"/>
                      <a:r>
                        <a:rPr lang="en-US" sz="1470"/>
                        <a:t>2.9</a:t>
                      </a:r>
                    </a:p>
                  </a:txBody>
                  <a:tcPr marL="96011" marR="96011" marT="48005" marB="48005"/>
                </a:tc>
                <a:tc>
                  <a:txBody>
                    <a:bodyPr/>
                    <a:lstStyle/>
                    <a:p>
                      <a:pPr algn="ctr"/>
                      <a:r>
                        <a:rPr lang="en-US" sz="1470" dirty="0"/>
                        <a:t>0.9</a:t>
                      </a:r>
                    </a:p>
                  </a:txBody>
                  <a:tcPr marL="96011" marR="96011" marT="48005" marB="48005"/>
                </a:tc>
                <a:tc>
                  <a:txBody>
                    <a:bodyPr/>
                    <a:lstStyle/>
                    <a:p>
                      <a:pPr algn="ctr"/>
                      <a:r>
                        <a:rPr lang="en-US" sz="1470"/>
                        <a:t>0.2</a:t>
                      </a:r>
                    </a:p>
                  </a:txBody>
                  <a:tcPr marL="96011" marR="96011" marT="48005" marB="48005"/>
                </a:tc>
                <a:tc>
                  <a:txBody>
                    <a:bodyPr/>
                    <a:lstStyle/>
                    <a:p>
                      <a:pPr algn="ctr"/>
                      <a:r>
                        <a:rPr lang="en-US" sz="1470"/>
                        <a:t>0.3</a:t>
                      </a:r>
                    </a:p>
                  </a:txBody>
                  <a:tcPr marL="96011" marR="96011" marT="48005" marB="48005"/>
                </a:tc>
                <a:extLst>
                  <a:ext uri="{0D108BD9-81ED-4DB2-BD59-A6C34878D82A}">
                    <a16:rowId xmlns:a16="http://schemas.microsoft.com/office/drawing/2014/main" val="10002"/>
                  </a:ext>
                </a:extLst>
              </a:tr>
              <a:tr h="565785">
                <a:tc>
                  <a:txBody>
                    <a:bodyPr/>
                    <a:lstStyle/>
                    <a:p>
                      <a:pPr algn="l"/>
                      <a:r>
                        <a:rPr lang="en-US" sz="1470" b="1" dirty="0"/>
                        <a:t>Intel 2.8 GHz Xeon 5660 (12 cores/node)</a:t>
                      </a:r>
                      <a:endParaRPr lang="en-US" sz="1470" dirty="0"/>
                    </a:p>
                  </a:txBody>
                  <a:tcPr marL="96011" marR="96011" marT="48005" marB="48005"/>
                </a:tc>
                <a:tc>
                  <a:txBody>
                    <a:bodyPr/>
                    <a:lstStyle/>
                    <a:p>
                      <a:pPr algn="ctr"/>
                      <a:r>
                        <a:rPr lang="en-US" sz="1470"/>
                        <a:t>4.4</a:t>
                      </a:r>
                    </a:p>
                  </a:txBody>
                  <a:tcPr marL="96011" marR="96011" marT="48005" marB="48005"/>
                </a:tc>
                <a:tc>
                  <a:txBody>
                    <a:bodyPr/>
                    <a:lstStyle/>
                    <a:p>
                      <a:pPr algn="ctr"/>
                      <a:r>
                        <a:rPr lang="en-US" sz="1470"/>
                        <a:t>0.4</a:t>
                      </a:r>
                    </a:p>
                  </a:txBody>
                  <a:tcPr marL="96011" marR="96011" marT="48005" marB="48005"/>
                </a:tc>
                <a:tc>
                  <a:txBody>
                    <a:bodyPr/>
                    <a:lstStyle/>
                    <a:p>
                      <a:pPr algn="ctr"/>
                      <a:r>
                        <a:rPr lang="en-US" sz="1470"/>
                        <a:t>4.3</a:t>
                      </a:r>
                    </a:p>
                  </a:txBody>
                  <a:tcPr marL="96011" marR="96011" marT="48005" marB="48005"/>
                </a:tc>
                <a:tc>
                  <a:txBody>
                    <a:bodyPr/>
                    <a:lstStyle/>
                    <a:p>
                      <a:pPr algn="ctr"/>
                      <a:r>
                        <a:rPr lang="en-US" sz="1470"/>
                        <a:t>0.7</a:t>
                      </a:r>
                    </a:p>
                  </a:txBody>
                  <a:tcPr marL="96011" marR="96011" marT="48005" marB="48005"/>
                </a:tc>
                <a:tc>
                  <a:txBody>
                    <a:bodyPr/>
                    <a:lstStyle/>
                    <a:p>
                      <a:pPr algn="ctr"/>
                      <a:r>
                        <a:rPr lang="en-US" sz="1470"/>
                        <a:t>0.2</a:t>
                      </a:r>
                    </a:p>
                  </a:txBody>
                  <a:tcPr marL="96011" marR="96011" marT="48005" marB="48005"/>
                </a:tc>
                <a:tc>
                  <a:txBody>
                    <a:bodyPr/>
                    <a:lstStyle/>
                    <a:p>
                      <a:pPr algn="ctr"/>
                      <a:r>
                        <a:rPr lang="en-US" sz="1470"/>
                        <a:t>0.5</a:t>
                      </a:r>
                    </a:p>
                  </a:txBody>
                  <a:tcPr marL="96011" marR="96011" marT="48005" marB="48005"/>
                </a:tc>
                <a:extLst>
                  <a:ext uri="{0D108BD9-81ED-4DB2-BD59-A6C34878D82A}">
                    <a16:rowId xmlns:a16="http://schemas.microsoft.com/office/drawing/2014/main" val="10003"/>
                  </a:ext>
                </a:extLst>
              </a:tr>
              <a:tr h="565150">
                <a:tc>
                  <a:txBody>
                    <a:bodyPr/>
                    <a:lstStyle/>
                    <a:p>
                      <a:pPr algn="l"/>
                      <a:r>
                        <a:rPr lang="fr-FR" sz="1470" b="1"/>
                        <a:t>AMD 2.3 GHz Opteron (16 cores/node)</a:t>
                      </a:r>
                      <a:endParaRPr lang="fr-FR" sz="1470"/>
                    </a:p>
                  </a:txBody>
                  <a:tcPr marL="96011" marR="96011" marT="48005" marB="48005"/>
                </a:tc>
                <a:tc>
                  <a:txBody>
                    <a:bodyPr/>
                    <a:lstStyle/>
                    <a:p>
                      <a:pPr algn="ctr"/>
                      <a:r>
                        <a:rPr lang="en-US" sz="1470"/>
                        <a:t>12.5</a:t>
                      </a:r>
                    </a:p>
                  </a:txBody>
                  <a:tcPr marL="96011" marR="96011" marT="48005" marB="48005"/>
                </a:tc>
                <a:tc>
                  <a:txBody>
                    <a:bodyPr/>
                    <a:lstStyle/>
                    <a:p>
                      <a:pPr algn="ctr"/>
                      <a:r>
                        <a:rPr lang="en-US" sz="1470" dirty="0"/>
                        <a:t>1.0</a:t>
                      </a:r>
                    </a:p>
                  </a:txBody>
                  <a:tcPr marL="96011" marR="96011" marT="48005" marB="48005"/>
                </a:tc>
                <a:tc>
                  <a:txBody>
                    <a:bodyPr/>
                    <a:lstStyle/>
                    <a:p>
                      <a:pPr algn="ctr"/>
                      <a:r>
                        <a:rPr lang="en-US" sz="1470"/>
                        <a:t>12.5</a:t>
                      </a:r>
                    </a:p>
                  </a:txBody>
                  <a:tcPr marL="96011" marR="96011" marT="48005" marB="48005"/>
                </a:tc>
                <a:tc>
                  <a:txBody>
                    <a:bodyPr/>
                    <a:lstStyle/>
                    <a:p>
                      <a:pPr algn="ctr"/>
                      <a:r>
                        <a:rPr lang="en-US" sz="1470" dirty="0"/>
                        <a:t>1.2</a:t>
                      </a:r>
                    </a:p>
                  </a:txBody>
                  <a:tcPr marL="96011" marR="96011" marT="48005" marB="48005"/>
                </a:tc>
                <a:tc>
                  <a:txBody>
                    <a:bodyPr/>
                    <a:lstStyle/>
                    <a:p>
                      <a:pPr algn="ctr"/>
                      <a:r>
                        <a:rPr lang="en-US" sz="1470"/>
                        <a:t>0.2</a:t>
                      </a:r>
                    </a:p>
                  </a:txBody>
                  <a:tcPr marL="96011" marR="96011" marT="48005" marB="48005"/>
                </a:tc>
                <a:tc>
                  <a:txBody>
                    <a:bodyPr/>
                    <a:lstStyle/>
                    <a:p>
                      <a:pPr algn="ctr"/>
                      <a:r>
                        <a:rPr lang="en-US" sz="1470"/>
                        <a:t>1.3</a:t>
                      </a:r>
                    </a:p>
                  </a:txBody>
                  <a:tcPr marL="96011" marR="96011" marT="48005" marB="48005"/>
                </a:tc>
                <a:extLst>
                  <a:ext uri="{0D108BD9-81ED-4DB2-BD59-A6C34878D82A}">
                    <a16:rowId xmlns:a16="http://schemas.microsoft.com/office/drawing/2014/main" val="10004"/>
                  </a:ext>
                </a:extLst>
              </a:tr>
              <a:tr h="565150">
                <a:tc>
                  <a:txBody>
                    <a:bodyPr/>
                    <a:lstStyle/>
                    <a:p>
                      <a:pPr algn="l"/>
                      <a:r>
                        <a:rPr lang="fr-FR" sz="1470" b="1" dirty="0"/>
                        <a:t>AMD 2.4 GHz Opteron (8 cores/node)</a:t>
                      </a:r>
                      <a:endParaRPr lang="fr-FR" sz="1470" dirty="0"/>
                    </a:p>
                  </a:txBody>
                  <a:tcPr marL="96011" marR="96011" marT="48005" marB="48005"/>
                </a:tc>
                <a:tc>
                  <a:txBody>
                    <a:bodyPr/>
                    <a:lstStyle/>
                    <a:p>
                      <a:pPr algn="ctr"/>
                      <a:r>
                        <a:rPr lang="en-US" sz="1470"/>
                        <a:t>17.6</a:t>
                      </a:r>
                    </a:p>
                  </a:txBody>
                  <a:tcPr marL="96011" marR="96011" marT="48005" marB="48005"/>
                </a:tc>
                <a:tc>
                  <a:txBody>
                    <a:bodyPr/>
                    <a:lstStyle/>
                    <a:p>
                      <a:pPr algn="ctr"/>
                      <a:r>
                        <a:rPr lang="en-US" sz="1470" dirty="0"/>
                        <a:t>2.2</a:t>
                      </a:r>
                    </a:p>
                  </a:txBody>
                  <a:tcPr marL="96011" marR="96011" marT="48005" marB="48005"/>
                </a:tc>
                <a:tc>
                  <a:txBody>
                    <a:bodyPr/>
                    <a:lstStyle/>
                    <a:p>
                      <a:pPr algn="ctr"/>
                      <a:r>
                        <a:rPr lang="en-US" sz="1470" dirty="0"/>
                        <a:t>15.7</a:t>
                      </a:r>
                    </a:p>
                  </a:txBody>
                  <a:tcPr marL="96011" marR="96011" marT="48005" marB="48005"/>
                </a:tc>
                <a:tc>
                  <a:txBody>
                    <a:bodyPr/>
                    <a:lstStyle/>
                    <a:p>
                      <a:pPr algn="ctr"/>
                      <a:r>
                        <a:rPr lang="en-US" sz="1470" dirty="0"/>
                        <a:t>1.4</a:t>
                      </a:r>
                    </a:p>
                  </a:txBody>
                  <a:tcPr marL="96011" marR="96011" marT="48005" marB="48005"/>
                </a:tc>
                <a:tc>
                  <a:txBody>
                    <a:bodyPr/>
                    <a:lstStyle/>
                    <a:p>
                      <a:pPr algn="ctr"/>
                      <a:r>
                        <a:rPr lang="en-US" sz="1470" dirty="0"/>
                        <a:t>0.3</a:t>
                      </a:r>
                    </a:p>
                  </a:txBody>
                  <a:tcPr marL="96011" marR="96011" marT="48005" marB="48005"/>
                </a:tc>
                <a:tc>
                  <a:txBody>
                    <a:bodyPr/>
                    <a:lstStyle/>
                    <a:p>
                      <a:pPr algn="ctr"/>
                      <a:r>
                        <a:rPr lang="en-US" sz="1470"/>
                        <a:t>1.3</a:t>
                      </a:r>
                    </a:p>
                  </a:txBody>
                  <a:tcPr marL="96011" marR="96011" marT="48005" marB="48005"/>
                </a:tc>
                <a:extLst>
                  <a:ext uri="{0D108BD9-81ED-4DB2-BD59-A6C34878D82A}">
                    <a16:rowId xmlns:a16="http://schemas.microsoft.com/office/drawing/2014/main" val="10005"/>
                  </a:ext>
                </a:extLst>
              </a:tr>
              <a:tr h="565150">
                <a:tc>
                  <a:txBody>
                    <a:bodyPr/>
                    <a:lstStyle/>
                    <a:p>
                      <a:pPr algn="l"/>
                      <a:r>
                        <a:rPr lang="en-US" sz="1470" b="1"/>
                        <a:t>IBM 4.0 GHz POWER6 (8 cpus/node)</a:t>
                      </a:r>
                      <a:endParaRPr lang="en-US" sz="1470"/>
                    </a:p>
                  </a:txBody>
                  <a:tcPr marL="96011" marR="96011" marT="48005" marB="48005"/>
                </a:tc>
                <a:tc>
                  <a:txBody>
                    <a:bodyPr/>
                    <a:lstStyle/>
                    <a:p>
                      <a:pPr algn="ctr"/>
                      <a:r>
                        <a:rPr lang="en-US" sz="1470" dirty="0"/>
                        <a:t>9.5</a:t>
                      </a:r>
                    </a:p>
                  </a:txBody>
                  <a:tcPr marL="96011" marR="96011" marT="48005" marB="48005"/>
                </a:tc>
                <a:tc>
                  <a:txBody>
                    <a:bodyPr/>
                    <a:lstStyle/>
                    <a:p>
                      <a:pPr algn="ctr"/>
                      <a:r>
                        <a:rPr lang="en-US" sz="1470"/>
                        <a:t>0.6</a:t>
                      </a:r>
                    </a:p>
                  </a:txBody>
                  <a:tcPr marL="96011" marR="96011" marT="48005" marB="48005"/>
                </a:tc>
                <a:tc>
                  <a:txBody>
                    <a:bodyPr/>
                    <a:lstStyle/>
                    <a:p>
                      <a:pPr algn="ctr"/>
                      <a:r>
                        <a:rPr lang="en-US" sz="1470"/>
                        <a:t>8.8</a:t>
                      </a:r>
                    </a:p>
                  </a:txBody>
                  <a:tcPr marL="96011" marR="96011" marT="48005" marB="48005"/>
                </a:tc>
                <a:tc>
                  <a:txBody>
                    <a:bodyPr/>
                    <a:lstStyle/>
                    <a:p>
                      <a:pPr algn="ctr"/>
                      <a:r>
                        <a:rPr lang="en-US" sz="1470"/>
                        <a:t>1.6</a:t>
                      </a:r>
                    </a:p>
                  </a:txBody>
                  <a:tcPr marL="96011" marR="96011" marT="48005" marB="48005"/>
                </a:tc>
                <a:tc>
                  <a:txBody>
                    <a:bodyPr/>
                    <a:lstStyle/>
                    <a:p>
                      <a:pPr algn="ctr"/>
                      <a:r>
                        <a:rPr lang="en-US" sz="1470" dirty="0"/>
                        <a:t>0.1</a:t>
                      </a:r>
                    </a:p>
                  </a:txBody>
                  <a:tcPr marL="96011" marR="96011" marT="48005" marB="48005"/>
                </a:tc>
                <a:tc>
                  <a:txBody>
                    <a:bodyPr/>
                    <a:lstStyle/>
                    <a:p>
                      <a:pPr algn="ctr"/>
                      <a:r>
                        <a:rPr lang="en-US" sz="1470" dirty="0"/>
                        <a:t>0.4</a:t>
                      </a:r>
                    </a:p>
                  </a:txBody>
                  <a:tcPr marL="96011" marR="96011" marT="48005" marB="48005"/>
                </a:tc>
                <a:extLst>
                  <a:ext uri="{0D108BD9-81ED-4DB2-BD59-A6C34878D82A}">
                    <a16:rowId xmlns:a16="http://schemas.microsoft.com/office/drawing/2014/main" val="10006"/>
                  </a:ext>
                </a:extLst>
              </a:tr>
              <a:tr h="565150">
                <a:tc>
                  <a:txBody>
                    <a:bodyPr/>
                    <a:lstStyle/>
                    <a:p>
                      <a:pPr algn="l"/>
                      <a:r>
                        <a:rPr lang="en-US" sz="1470" b="1"/>
                        <a:t>IBM 1.9 GHz POWER5 p5-575 (8 cpus/node)</a:t>
                      </a:r>
                      <a:endParaRPr lang="en-US" sz="1470"/>
                    </a:p>
                  </a:txBody>
                  <a:tcPr marL="96011" marR="96011" marT="48005" marB="48005"/>
                </a:tc>
                <a:tc>
                  <a:txBody>
                    <a:bodyPr/>
                    <a:lstStyle/>
                    <a:p>
                      <a:pPr algn="ctr"/>
                      <a:r>
                        <a:rPr lang="en-US" sz="1470"/>
                        <a:t>64.2</a:t>
                      </a:r>
                    </a:p>
                  </a:txBody>
                  <a:tcPr marL="96011" marR="96011" marT="48005" marB="48005"/>
                </a:tc>
                <a:tc>
                  <a:txBody>
                    <a:bodyPr/>
                    <a:lstStyle/>
                    <a:p>
                      <a:pPr algn="ctr"/>
                      <a:r>
                        <a:rPr lang="en-US" sz="1470"/>
                        <a:t>30.7</a:t>
                      </a:r>
                    </a:p>
                  </a:txBody>
                  <a:tcPr marL="96011" marR="96011" marT="48005" marB="48005"/>
                </a:tc>
                <a:tc>
                  <a:txBody>
                    <a:bodyPr/>
                    <a:lstStyle/>
                    <a:p>
                      <a:pPr algn="ctr"/>
                      <a:r>
                        <a:rPr lang="en-US" sz="1470"/>
                        <a:t>27.6</a:t>
                      </a:r>
                    </a:p>
                  </a:txBody>
                  <a:tcPr marL="96011" marR="96011" marT="48005" marB="48005"/>
                </a:tc>
                <a:tc>
                  <a:txBody>
                    <a:bodyPr/>
                    <a:lstStyle/>
                    <a:p>
                      <a:pPr algn="ctr"/>
                      <a:r>
                        <a:rPr lang="en-US" sz="1470"/>
                        <a:t>1.7</a:t>
                      </a:r>
                    </a:p>
                  </a:txBody>
                  <a:tcPr marL="96011" marR="96011" marT="48005" marB="48005"/>
                </a:tc>
                <a:tc>
                  <a:txBody>
                    <a:bodyPr/>
                    <a:lstStyle/>
                    <a:p>
                      <a:pPr algn="ctr"/>
                      <a:r>
                        <a:rPr lang="en-US" sz="1470" dirty="0"/>
                        <a:t>0.6</a:t>
                      </a:r>
                    </a:p>
                  </a:txBody>
                  <a:tcPr marL="96011" marR="96011" marT="48005" marB="48005"/>
                </a:tc>
                <a:tc>
                  <a:txBody>
                    <a:bodyPr/>
                    <a:lstStyle/>
                    <a:p>
                      <a:pPr algn="ctr"/>
                      <a:r>
                        <a:rPr lang="en-US" sz="1470" dirty="0"/>
                        <a:t>1.1</a:t>
                      </a:r>
                    </a:p>
                  </a:txBody>
                  <a:tcPr marL="96011" marR="96011" marT="48005" marB="48005"/>
                </a:tc>
                <a:extLst>
                  <a:ext uri="{0D108BD9-81ED-4DB2-BD59-A6C34878D82A}">
                    <a16:rowId xmlns:a16="http://schemas.microsoft.com/office/drawing/2014/main" val="10007"/>
                  </a:ext>
                </a:extLst>
              </a:tr>
              <a:tr h="565150">
                <a:tc>
                  <a:txBody>
                    <a:bodyPr/>
                    <a:lstStyle/>
                    <a:p>
                      <a:pPr algn="l"/>
                      <a:r>
                        <a:rPr lang="en-US" sz="1470" b="1"/>
                        <a:t>IBM 1.5 GHz POWER4 (8 cpus/node)</a:t>
                      </a:r>
                      <a:endParaRPr lang="en-US" sz="1470"/>
                    </a:p>
                  </a:txBody>
                  <a:tcPr marL="96011" marR="96011" marT="48005" marB="48005"/>
                </a:tc>
                <a:tc>
                  <a:txBody>
                    <a:bodyPr/>
                    <a:lstStyle/>
                    <a:p>
                      <a:pPr algn="ctr"/>
                      <a:r>
                        <a:rPr lang="en-US" sz="1470"/>
                        <a:t>104.5</a:t>
                      </a:r>
                    </a:p>
                  </a:txBody>
                  <a:tcPr marL="96011" marR="96011" marT="48005" marB="48005"/>
                </a:tc>
                <a:tc>
                  <a:txBody>
                    <a:bodyPr/>
                    <a:lstStyle/>
                    <a:p>
                      <a:pPr algn="ctr"/>
                      <a:r>
                        <a:rPr lang="en-US" sz="1470"/>
                        <a:t>48.6</a:t>
                      </a:r>
                    </a:p>
                  </a:txBody>
                  <a:tcPr marL="96011" marR="96011" marT="48005" marB="48005"/>
                </a:tc>
                <a:tc>
                  <a:txBody>
                    <a:bodyPr/>
                    <a:lstStyle/>
                    <a:p>
                      <a:pPr algn="ctr"/>
                      <a:r>
                        <a:rPr lang="en-US" sz="1470"/>
                        <a:t>47.2</a:t>
                      </a:r>
                    </a:p>
                  </a:txBody>
                  <a:tcPr marL="96011" marR="96011" marT="48005" marB="48005"/>
                </a:tc>
                <a:tc>
                  <a:txBody>
                    <a:bodyPr/>
                    <a:lstStyle/>
                    <a:p>
                      <a:pPr algn="ctr"/>
                      <a:r>
                        <a:rPr lang="en-US" sz="1470"/>
                        <a:t>2.1</a:t>
                      </a:r>
                    </a:p>
                  </a:txBody>
                  <a:tcPr marL="96011" marR="96011" marT="48005" marB="48005"/>
                </a:tc>
                <a:tc>
                  <a:txBody>
                    <a:bodyPr/>
                    <a:lstStyle/>
                    <a:p>
                      <a:pPr algn="ctr"/>
                      <a:r>
                        <a:rPr lang="en-US" sz="1470" dirty="0"/>
                        <a:t>1.0</a:t>
                      </a:r>
                    </a:p>
                  </a:txBody>
                  <a:tcPr marL="96011" marR="96011" marT="48005" marB="48005"/>
                </a:tc>
                <a:tc>
                  <a:txBody>
                    <a:bodyPr/>
                    <a:lstStyle/>
                    <a:p>
                      <a:pPr algn="ctr"/>
                      <a:r>
                        <a:rPr lang="en-US" sz="1470" dirty="0"/>
                        <a:t>1.5</a:t>
                      </a:r>
                    </a:p>
                  </a:txBody>
                  <a:tcPr marL="96011" marR="96011" marT="48005" marB="48005"/>
                </a:tc>
                <a:extLst>
                  <a:ext uri="{0D108BD9-81ED-4DB2-BD59-A6C34878D82A}">
                    <a16:rowId xmlns:a16="http://schemas.microsoft.com/office/drawing/2014/main" val="10008"/>
                  </a:ext>
                </a:extLst>
              </a:tr>
              <a:tr h="565150">
                <a:tc>
                  <a:txBody>
                    <a:bodyPr/>
                    <a:lstStyle/>
                    <a:p>
                      <a:pPr algn="l"/>
                      <a:r>
                        <a:rPr lang="en-US" sz="1470" b="1"/>
                        <a:t>INTEL 2.4 GHz Xeon (2 cpus/node)</a:t>
                      </a:r>
                      <a:endParaRPr lang="en-US" sz="1470"/>
                    </a:p>
                  </a:txBody>
                  <a:tcPr marL="96011" marR="96011" marT="48005" marB="48005"/>
                </a:tc>
                <a:tc>
                  <a:txBody>
                    <a:bodyPr/>
                    <a:lstStyle/>
                    <a:p>
                      <a:pPr algn="ctr"/>
                      <a:r>
                        <a:rPr lang="en-US" sz="1470"/>
                        <a:t>54.9</a:t>
                      </a:r>
                    </a:p>
                  </a:txBody>
                  <a:tcPr marL="96011" marR="96011" marT="48005" marB="48005"/>
                </a:tc>
                <a:tc>
                  <a:txBody>
                    <a:bodyPr/>
                    <a:lstStyle/>
                    <a:p>
                      <a:pPr algn="ctr"/>
                      <a:r>
                        <a:rPr lang="en-US" sz="1470"/>
                        <a:t>1.5</a:t>
                      </a:r>
                    </a:p>
                  </a:txBody>
                  <a:tcPr marL="96011" marR="96011" marT="48005" marB="48005"/>
                </a:tc>
                <a:tc>
                  <a:txBody>
                    <a:bodyPr/>
                    <a:lstStyle/>
                    <a:p>
                      <a:pPr algn="ctr"/>
                      <a:r>
                        <a:rPr lang="en-US" sz="1470"/>
                        <a:t>20.8</a:t>
                      </a:r>
                    </a:p>
                  </a:txBody>
                  <a:tcPr marL="96011" marR="96011" marT="48005" marB="48005"/>
                </a:tc>
                <a:tc>
                  <a:txBody>
                    <a:bodyPr/>
                    <a:lstStyle/>
                    <a:p>
                      <a:pPr algn="ctr"/>
                      <a:r>
                        <a:rPr lang="en-US" sz="1470"/>
                        <a:t>1.6</a:t>
                      </a:r>
                    </a:p>
                  </a:txBody>
                  <a:tcPr marL="96011" marR="96011" marT="48005" marB="48005"/>
                </a:tc>
                <a:tc>
                  <a:txBody>
                    <a:bodyPr/>
                    <a:lstStyle/>
                    <a:p>
                      <a:pPr algn="ctr"/>
                      <a:r>
                        <a:rPr lang="en-US" sz="1470" dirty="0"/>
                        <a:t>0.7</a:t>
                      </a:r>
                    </a:p>
                  </a:txBody>
                  <a:tcPr marL="96011" marR="96011" marT="48005" marB="48005"/>
                </a:tc>
                <a:tc>
                  <a:txBody>
                    <a:bodyPr/>
                    <a:lstStyle/>
                    <a:p>
                      <a:pPr algn="ctr"/>
                      <a:r>
                        <a:rPr lang="en-US" sz="1470"/>
                        <a:t>0.9</a:t>
                      </a:r>
                    </a:p>
                  </a:txBody>
                  <a:tcPr marL="96011" marR="96011" marT="48005" marB="48005"/>
                </a:tc>
                <a:extLst>
                  <a:ext uri="{0D108BD9-81ED-4DB2-BD59-A6C34878D82A}">
                    <a16:rowId xmlns:a16="http://schemas.microsoft.com/office/drawing/2014/main" val="10009"/>
                  </a:ext>
                </a:extLst>
              </a:tr>
              <a:tr h="808990">
                <a:tc>
                  <a:txBody>
                    <a:bodyPr/>
                    <a:lstStyle/>
                    <a:p>
                      <a:pPr algn="l"/>
                      <a:r>
                        <a:rPr lang="en-US" sz="1470" b="1" dirty="0"/>
                        <a:t>INTEL 1.4 GHz Itanium2 (4 </a:t>
                      </a:r>
                      <a:r>
                        <a:rPr lang="en-US" sz="1470" b="1" dirty="0" err="1"/>
                        <a:t>cpus</a:t>
                      </a:r>
                      <a:r>
                        <a:rPr lang="en-US" sz="1470" b="1" dirty="0"/>
                        <a:t>/node)</a:t>
                      </a:r>
                      <a:endParaRPr lang="en-US" sz="1470" dirty="0"/>
                    </a:p>
                  </a:txBody>
                  <a:tcPr marL="96011" marR="96011" marT="48005" marB="48005"/>
                </a:tc>
                <a:tc>
                  <a:txBody>
                    <a:bodyPr/>
                    <a:lstStyle/>
                    <a:p>
                      <a:pPr algn="ctr"/>
                      <a:r>
                        <a:rPr lang="en-US" sz="1470"/>
                        <a:t>54.5</a:t>
                      </a:r>
                    </a:p>
                  </a:txBody>
                  <a:tcPr marL="96011" marR="96011" marT="48005" marB="48005"/>
                </a:tc>
                <a:tc>
                  <a:txBody>
                    <a:bodyPr/>
                    <a:lstStyle/>
                    <a:p>
                      <a:pPr algn="ctr"/>
                      <a:r>
                        <a:rPr lang="en-US" sz="1470"/>
                        <a:t>1.1</a:t>
                      </a:r>
                    </a:p>
                  </a:txBody>
                  <a:tcPr marL="96011" marR="96011" marT="48005" marB="48005"/>
                </a:tc>
                <a:tc>
                  <a:txBody>
                    <a:bodyPr/>
                    <a:lstStyle/>
                    <a:p>
                      <a:pPr algn="ctr"/>
                      <a:r>
                        <a:rPr lang="en-US" sz="1470"/>
                        <a:t>22.2</a:t>
                      </a:r>
                    </a:p>
                  </a:txBody>
                  <a:tcPr marL="96011" marR="96011" marT="48005" marB="48005"/>
                </a:tc>
                <a:tc>
                  <a:txBody>
                    <a:bodyPr/>
                    <a:lstStyle/>
                    <a:p>
                      <a:pPr algn="ctr"/>
                      <a:r>
                        <a:rPr lang="en-US" sz="1470"/>
                        <a:t>2.0</a:t>
                      </a:r>
                    </a:p>
                  </a:txBody>
                  <a:tcPr marL="96011" marR="96011" marT="48005" marB="48005"/>
                </a:tc>
                <a:tc>
                  <a:txBody>
                    <a:bodyPr/>
                    <a:lstStyle/>
                    <a:p>
                      <a:pPr algn="ctr"/>
                      <a:r>
                        <a:rPr lang="en-US" sz="1470" dirty="0"/>
                        <a:t>1.2</a:t>
                      </a:r>
                    </a:p>
                  </a:txBody>
                  <a:tcPr marL="96011" marR="96011" marT="48005" marB="48005"/>
                </a:tc>
                <a:tc>
                  <a:txBody>
                    <a:bodyPr/>
                    <a:lstStyle/>
                    <a:p>
                      <a:pPr algn="ctr"/>
                      <a:r>
                        <a:rPr lang="en-US" sz="1470" dirty="0"/>
                        <a:t>0.6</a:t>
                      </a:r>
                    </a:p>
                  </a:txBody>
                  <a:tcPr marL="96011" marR="96011" marT="48005" marB="48005"/>
                </a:tc>
                <a:extLst>
                  <a:ext uri="{0D108BD9-81ED-4DB2-BD59-A6C34878D82A}">
                    <a16:rowId xmlns:a16="http://schemas.microsoft.com/office/drawing/2014/main" val="10010"/>
                  </a:ext>
                </a:extLst>
              </a:tr>
            </a:tbl>
          </a:graphicData>
        </a:graphic>
      </p:graphicFrame>
      <p:sp>
        <p:nvSpPr>
          <p:cNvPr id="5" name="object 5"/>
          <p:cNvSpPr/>
          <p:nvPr/>
        </p:nvSpPr>
        <p:spPr>
          <a:xfrm>
            <a:off x="3195925" y="3864519"/>
            <a:ext cx="5773277" cy="2769824"/>
          </a:xfrm>
          <a:custGeom>
            <a:avLst/>
            <a:gdLst/>
            <a:ahLst/>
            <a:cxnLst/>
            <a:rect l="l" t="t" r="r" b="b"/>
            <a:pathLst>
              <a:path w="4828540" h="474345">
                <a:moveTo>
                  <a:pt x="4749038" y="0"/>
                </a:moveTo>
                <a:lnTo>
                  <a:pt x="78994" y="0"/>
                </a:lnTo>
                <a:lnTo>
                  <a:pt x="48220" y="6199"/>
                </a:lnTo>
                <a:lnTo>
                  <a:pt x="23114" y="23114"/>
                </a:lnTo>
                <a:lnTo>
                  <a:pt x="6199" y="48220"/>
                </a:lnTo>
                <a:lnTo>
                  <a:pt x="0" y="78994"/>
                </a:lnTo>
                <a:lnTo>
                  <a:pt x="0" y="394970"/>
                </a:lnTo>
                <a:lnTo>
                  <a:pt x="6199" y="425743"/>
                </a:lnTo>
                <a:lnTo>
                  <a:pt x="23113" y="450850"/>
                </a:lnTo>
                <a:lnTo>
                  <a:pt x="48220" y="467764"/>
                </a:lnTo>
                <a:lnTo>
                  <a:pt x="78994" y="473964"/>
                </a:lnTo>
                <a:lnTo>
                  <a:pt x="4749038" y="473964"/>
                </a:lnTo>
                <a:lnTo>
                  <a:pt x="4779811" y="467764"/>
                </a:lnTo>
                <a:lnTo>
                  <a:pt x="4804918" y="450850"/>
                </a:lnTo>
                <a:lnTo>
                  <a:pt x="4821832" y="425743"/>
                </a:lnTo>
                <a:lnTo>
                  <a:pt x="4828032" y="394970"/>
                </a:lnTo>
                <a:lnTo>
                  <a:pt x="4828032" y="78994"/>
                </a:lnTo>
                <a:lnTo>
                  <a:pt x="4821832" y="48220"/>
                </a:lnTo>
                <a:lnTo>
                  <a:pt x="4804917" y="23114"/>
                </a:lnTo>
                <a:lnTo>
                  <a:pt x="4779811" y="6199"/>
                </a:lnTo>
                <a:lnTo>
                  <a:pt x="4749038" y="0"/>
                </a:lnTo>
                <a:close/>
              </a:path>
            </a:pathLst>
          </a:custGeom>
          <a:solidFill>
            <a:schemeClr val="accent2">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3" name="矩形 2">
            <a:extLst>
              <a:ext uri="{FF2B5EF4-FFF2-40B4-BE49-F238E27FC236}">
                <a16:creationId xmlns:a16="http://schemas.microsoft.com/office/drawing/2014/main" id="{9035EAC6-39D3-4739-8987-CB2E33B2732A}"/>
              </a:ext>
            </a:extLst>
          </p:cNvPr>
          <p:cNvSpPr/>
          <p:nvPr/>
        </p:nvSpPr>
        <p:spPr>
          <a:xfrm>
            <a:off x="9045585" y="1450431"/>
            <a:ext cx="3756015" cy="5509200"/>
          </a:xfrm>
          <a:prstGeom prst="rect">
            <a:avLst/>
          </a:prstGeom>
        </p:spPr>
        <p:txBody>
          <a:bodyPr wrap="square">
            <a:spAutoFit/>
          </a:bodyPr>
          <a:lstStyle/>
          <a:p>
            <a:r>
              <a:rPr lang="en-US" altLang="zh-CN" b="1" dirty="0">
                <a:solidFill>
                  <a:srgbClr val="0C0D0E"/>
                </a:solidFill>
                <a:latin typeface="inherit"/>
              </a:rPr>
              <a:t>real</a:t>
            </a:r>
            <a:r>
              <a:rPr lang="en-US" altLang="zh-CN" dirty="0">
                <a:solidFill>
                  <a:srgbClr val="0C0D0E"/>
                </a:solidFill>
                <a:latin typeface="-apple-system"/>
              </a:rPr>
              <a:t>: The actual time spent in running the process from start to finish, as if it was measured by a human with a stopwatch</a:t>
            </a:r>
          </a:p>
          <a:p>
            <a:r>
              <a:rPr lang="en-US" altLang="zh-CN" dirty="0">
                <a:solidFill>
                  <a:srgbClr val="0C0D0E"/>
                </a:solidFill>
                <a:latin typeface="-apple-system"/>
              </a:rPr>
              <a:t>• </a:t>
            </a:r>
            <a:r>
              <a:rPr lang="en-US" altLang="zh-CN" b="1" dirty="0">
                <a:solidFill>
                  <a:srgbClr val="0C0D0E"/>
                </a:solidFill>
                <a:latin typeface="inherit"/>
              </a:rPr>
              <a:t>user</a:t>
            </a:r>
            <a:r>
              <a:rPr lang="en-US" altLang="zh-CN" dirty="0">
                <a:solidFill>
                  <a:srgbClr val="0C0D0E"/>
                </a:solidFill>
                <a:latin typeface="-apple-system"/>
              </a:rPr>
              <a:t>: The cumulative time spent by all the CPUs during the computation</a:t>
            </a:r>
          </a:p>
          <a:p>
            <a:r>
              <a:rPr lang="en-US" altLang="zh-CN" dirty="0">
                <a:solidFill>
                  <a:srgbClr val="0C0D0E"/>
                </a:solidFill>
                <a:latin typeface="-apple-system"/>
              </a:rPr>
              <a:t>• </a:t>
            </a:r>
            <a:r>
              <a:rPr lang="en-US" altLang="zh-CN" b="1" dirty="0">
                <a:solidFill>
                  <a:srgbClr val="0C0D0E"/>
                </a:solidFill>
                <a:latin typeface="inherit"/>
              </a:rPr>
              <a:t>sys</a:t>
            </a:r>
            <a:r>
              <a:rPr lang="en-US" altLang="zh-CN" dirty="0">
                <a:solidFill>
                  <a:srgbClr val="0C0D0E"/>
                </a:solidFill>
                <a:latin typeface="-apple-system"/>
              </a:rPr>
              <a:t>: The cumulative time spent by all the CPUs during system-related tasks such as memory allocation.</a:t>
            </a:r>
          </a:p>
          <a:p>
            <a:endParaRPr lang="en-US" altLang="zh-CN" dirty="0">
              <a:solidFill>
                <a:srgbClr val="0C0D0E"/>
              </a:solidFill>
              <a:latin typeface="-apple-system"/>
            </a:endParaRPr>
          </a:p>
          <a:p>
            <a:r>
              <a:rPr lang="en-US" altLang="zh-CN" dirty="0">
                <a:solidFill>
                  <a:srgbClr val="0C0D0E"/>
                </a:solidFill>
                <a:latin typeface="-apple-system"/>
              </a:rPr>
              <a:t>Note: </a:t>
            </a:r>
            <a:r>
              <a:rPr lang="en-US" altLang="zh-CN" b="1" dirty="0">
                <a:solidFill>
                  <a:srgbClr val="0C0D0E"/>
                </a:solidFill>
                <a:latin typeface="-apple-system"/>
              </a:rPr>
              <a:t>user </a:t>
            </a:r>
            <a:r>
              <a:rPr lang="en-US" altLang="zh-CN" dirty="0">
                <a:solidFill>
                  <a:srgbClr val="0C0D0E"/>
                </a:solidFill>
                <a:latin typeface="-apple-system"/>
              </a:rPr>
              <a:t>and </a:t>
            </a:r>
            <a:r>
              <a:rPr lang="en-US" altLang="zh-CN" b="1" dirty="0">
                <a:solidFill>
                  <a:srgbClr val="0C0D0E"/>
                </a:solidFill>
                <a:latin typeface="-apple-system"/>
              </a:rPr>
              <a:t>sys</a:t>
            </a:r>
            <a:r>
              <a:rPr lang="en-US" altLang="zh-CN" dirty="0">
                <a:solidFill>
                  <a:srgbClr val="0C0D0E"/>
                </a:solidFill>
                <a:latin typeface="-apple-system"/>
              </a:rPr>
              <a:t> do not include the time spent while being inactive, in sleeping state.</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35" dirty="0"/>
              <a:t>Lightweight </a:t>
            </a:r>
            <a:r>
              <a:rPr lang="en-US" altLang="zh-CN" spc="-35" dirty="0" err="1"/>
              <a:t>Pthread</a:t>
            </a:r>
            <a:r>
              <a:rPr lang="en-US" altLang="zh-CN" spc="-35" dirty="0"/>
              <a:t> vs Fork()</a:t>
            </a:r>
            <a:endParaRPr lang="en-US" dirty="0"/>
          </a:p>
        </p:txBody>
      </p:sp>
      <p:sp>
        <p:nvSpPr>
          <p:cNvPr id="3" name="内容占位符 2"/>
          <p:cNvSpPr>
            <a:spLocks noGrp="1"/>
          </p:cNvSpPr>
          <p:nvPr>
            <p:ph idx="4294967295"/>
          </p:nvPr>
        </p:nvSpPr>
        <p:spPr>
          <a:xfrm>
            <a:off x="5680710" y="1296035"/>
            <a:ext cx="3752850" cy="4935220"/>
          </a:xfrm>
        </p:spPr>
        <p:txBody>
          <a:bodyPr>
            <a:noAutofit/>
          </a:bodyPr>
          <a:lstStyle/>
          <a:p>
            <a:pPr marL="0" indent="0">
              <a:buNone/>
            </a:pPr>
            <a:r>
              <a:rPr kumimoji="0" lang="en-US" sz="1890" dirty="0">
                <a:solidFill>
                  <a:schemeClr val="tx1"/>
                </a:solidFill>
                <a:latin typeface="+mn-lt"/>
                <a:ea typeface="+mn-ea"/>
                <a:cs typeface="+mn-cs"/>
              </a:rPr>
              <a:t>fork()</a:t>
            </a:r>
          </a:p>
          <a:p>
            <a:pPr marL="228600" indent="-228600" algn="l" defTabSz="914400">
              <a:lnSpc>
                <a:spcPct val="120000"/>
              </a:lnSpc>
              <a:spcBef>
                <a:spcPts val="1000"/>
              </a:spcBef>
              <a:buClrTx/>
              <a:buSzTx/>
              <a:buChar char="•"/>
            </a:pPr>
            <a:r>
              <a:rPr kumimoji="0" lang="en-US" sz="1890" b="0" dirty="0">
                <a:solidFill>
                  <a:schemeClr val="tx1"/>
                </a:solidFill>
                <a:latin typeface="+mn-lt"/>
                <a:ea typeface="+mn-ea"/>
                <a:cs typeface="+mn-cs"/>
              </a:rPr>
              <a:t>Purpose is to create a new process, which becomes the child process of the caller</a:t>
            </a:r>
          </a:p>
          <a:p>
            <a:pPr marL="228600" indent="-228600" algn="l" defTabSz="914400">
              <a:lnSpc>
                <a:spcPct val="120000"/>
              </a:lnSpc>
              <a:spcBef>
                <a:spcPts val="1000"/>
              </a:spcBef>
              <a:buClrTx/>
              <a:buSzTx/>
              <a:buChar char="•"/>
            </a:pPr>
            <a:r>
              <a:rPr kumimoji="0" lang="en-US" sz="1890" b="0" dirty="0">
                <a:solidFill>
                  <a:schemeClr val="tx1"/>
                </a:solidFill>
                <a:latin typeface="+mn-lt"/>
                <a:ea typeface="+mn-ea"/>
                <a:cs typeface="+mn-cs"/>
              </a:rPr>
              <a:t>Both </a:t>
            </a:r>
            <a:r>
              <a:rPr kumimoji="0" lang="en-US" sz="1890" b="0">
                <a:solidFill>
                  <a:schemeClr val="tx1"/>
                </a:solidFill>
                <a:latin typeface="+mn-lt"/>
                <a:ea typeface="+mn-ea"/>
                <a:cs typeface="+mn-cs"/>
              </a:rPr>
              <a:t>processes </a:t>
            </a:r>
            <a:r>
              <a:rPr kumimoji="0" lang="en-US" sz="1890" b="0" dirty="0">
                <a:solidFill>
                  <a:schemeClr val="tx1"/>
                </a:solidFill>
                <a:latin typeface="+mn-lt"/>
                <a:ea typeface="+mn-ea"/>
                <a:cs typeface="+mn-cs"/>
              </a:rPr>
              <a:t>will execute the next instruction following the fork() system call</a:t>
            </a:r>
          </a:p>
          <a:p>
            <a:pPr marL="228600" indent="-228600" algn="l" defTabSz="914400">
              <a:lnSpc>
                <a:spcPct val="120000"/>
              </a:lnSpc>
              <a:spcBef>
                <a:spcPts val="1000"/>
              </a:spcBef>
              <a:buClrTx/>
              <a:buSzTx/>
              <a:buChar char="•"/>
            </a:pPr>
            <a:r>
              <a:rPr kumimoji="0" lang="en-US" sz="1890" b="0" dirty="0">
                <a:solidFill>
                  <a:schemeClr val="tx1"/>
                </a:solidFill>
                <a:latin typeface="+mn-lt"/>
                <a:ea typeface="+mn-ea"/>
                <a:cs typeface="+mn-cs"/>
              </a:rPr>
              <a:t>Two identical copies of the computer's address space, code, and stack are created one for parent and child.</a:t>
            </a:r>
          </a:p>
          <a:p>
            <a:pPr marL="228600" indent="-228600" algn="l" defTabSz="914400">
              <a:lnSpc>
                <a:spcPct val="120000"/>
              </a:lnSpc>
              <a:spcBef>
                <a:spcPts val="1000"/>
              </a:spcBef>
              <a:buClrTx/>
              <a:buSzTx/>
              <a:buChar char="•"/>
            </a:pPr>
            <a:r>
              <a:rPr kumimoji="0" lang="en-US" sz="1890" b="0" dirty="0">
                <a:solidFill>
                  <a:schemeClr val="tx1"/>
                </a:solidFill>
                <a:latin typeface="+mn-lt"/>
                <a:ea typeface="+mn-ea"/>
                <a:cs typeface="+mn-cs"/>
              </a:rPr>
              <a:t>Thinking of the fork as it was a person; Forking causes a clone of your program (process), that is running the code it copied.</a:t>
            </a:r>
          </a:p>
        </p:txBody>
      </p:sp>
      <p:sp>
        <p:nvSpPr>
          <p:cNvPr id="4" name="内容占位符 2"/>
          <p:cNvSpPr txBox="1"/>
          <p:nvPr/>
        </p:nvSpPr>
        <p:spPr>
          <a:xfrm>
            <a:off x="1143987" y="1352330"/>
            <a:ext cx="3752777" cy="4935481"/>
          </a:xfrm>
          <a:prstGeom prst="rect">
            <a:avLst/>
          </a:prstGeom>
        </p:spPr>
        <p:txBody>
          <a:bodyPr vert="horz" lIns="96011" tIns="48005" rIns="96011" bIns="48005"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90" b="1" dirty="0" err="1"/>
              <a:t>pthread_create</a:t>
            </a:r>
            <a:r>
              <a:rPr lang="en-US" sz="1890" b="1" dirty="0"/>
              <a:t>()</a:t>
            </a:r>
          </a:p>
          <a:p>
            <a:r>
              <a:rPr lang="en-US" sz="1890" dirty="0"/>
              <a:t>Purpose is to create a new thread in the program which is given the same process of the caller</a:t>
            </a:r>
          </a:p>
          <a:p>
            <a:r>
              <a:rPr lang="en-US" sz="1890" b="1" dirty="0"/>
              <a:t>Threads within the same process can communicate using shared memory. Zero copy compared to MPI</a:t>
            </a:r>
          </a:p>
          <a:p>
            <a:r>
              <a:rPr lang="en-US" sz="1890" dirty="0"/>
              <a:t>Thread will </a:t>
            </a:r>
            <a:r>
              <a:rPr lang="en-US" sz="1890" b="1" dirty="0"/>
              <a:t>share</a:t>
            </a:r>
            <a:r>
              <a:rPr lang="en-US" sz="1890" dirty="0"/>
              <a:t> data, open files, signal handlers and signal dispositions, current working directory, user and group ID's. The new thread will get its own stack, thread ID, and registers though.</a:t>
            </a:r>
          </a:p>
        </p:txBody>
      </p:sp>
      <p:sp>
        <p:nvSpPr>
          <p:cNvPr id="5" name="文本框 4"/>
          <p:cNvSpPr txBox="1"/>
          <p:nvPr/>
        </p:nvSpPr>
        <p:spPr>
          <a:xfrm>
            <a:off x="9352651" y="1224341"/>
            <a:ext cx="2559050" cy="801370"/>
          </a:xfrm>
          <a:prstGeom prst="rect">
            <a:avLst/>
          </a:prstGeom>
          <a:noFill/>
        </p:spPr>
        <p:txBody>
          <a:bodyPr wrap="none" rtlCol="0">
            <a:spAutoFit/>
          </a:bodyPr>
          <a:lstStyle/>
          <a:p>
            <a:r>
              <a:rPr lang="en-US" sz="2310" i="1" dirty="0">
                <a:solidFill>
                  <a:srgbClr val="FF0000"/>
                </a:solidFill>
              </a:rPr>
              <a:t>Difference between </a:t>
            </a:r>
          </a:p>
          <a:p>
            <a:r>
              <a:rPr lang="en-US" sz="2310" i="1" dirty="0">
                <a:solidFill>
                  <a:srgbClr val="FF0000"/>
                </a:solidFill>
              </a:rPr>
              <a:t>fork and clone ?</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sz="4620" spc="-35" dirty="0" err="1"/>
              <a:t>Pthread</a:t>
            </a:r>
            <a:r>
              <a:rPr lang="en-US" sz="4620" spc="-35" dirty="0"/>
              <a:t> vs MPI</a:t>
            </a:r>
          </a:p>
        </p:txBody>
      </p:sp>
      <p:graphicFrame>
        <p:nvGraphicFramePr>
          <p:cNvPr id="4" name="表格 3"/>
          <p:cNvGraphicFramePr>
            <a:graphicFrameLocks noGrp="1"/>
          </p:cNvGraphicFramePr>
          <p:nvPr>
            <p:custDataLst>
              <p:tags r:id="rId1"/>
            </p:custDataLst>
          </p:nvPr>
        </p:nvGraphicFramePr>
        <p:xfrm>
          <a:off x="1216025" y="1051560"/>
          <a:ext cx="10387965" cy="5682615"/>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2530475">
                  <a:extLst>
                    <a:ext uri="{9D8B030D-6E8A-4147-A177-3AD203B41FA5}">
                      <a16:colId xmlns:a16="http://schemas.microsoft.com/office/drawing/2014/main" val="20001"/>
                    </a:ext>
                  </a:extLst>
                </a:gridCol>
                <a:gridCol w="3834130">
                  <a:extLst>
                    <a:ext uri="{9D8B030D-6E8A-4147-A177-3AD203B41FA5}">
                      <a16:colId xmlns:a16="http://schemas.microsoft.com/office/drawing/2014/main" val="20002"/>
                    </a:ext>
                  </a:extLst>
                </a:gridCol>
              </a:tblGrid>
              <a:tr h="1608455">
                <a:tc>
                  <a:txBody>
                    <a:bodyPr/>
                    <a:lstStyle/>
                    <a:p>
                      <a:pPr algn="ctr"/>
                      <a:r>
                        <a:rPr lang="en-US" sz="2310" dirty="0">
                          <a:effectLst/>
                          <a:latin typeface="Arial" panose="020B0604020202020204" pitchFamily="34" charset="0"/>
                        </a:rPr>
                        <a:t>Platform</a:t>
                      </a:r>
                    </a:p>
                  </a:txBody>
                  <a:tcPr marL="50006" marR="50006" marT="50006" marB="50006" anchor="ctr"/>
                </a:tc>
                <a:tc>
                  <a:txBody>
                    <a:bodyPr/>
                    <a:lstStyle/>
                    <a:p>
                      <a:pPr algn="ctr"/>
                      <a:r>
                        <a:rPr lang="en-US" sz="2310">
                          <a:effectLst/>
                          <a:latin typeface="Arial" panose="020B0604020202020204" pitchFamily="34" charset="0"/>
                        </a:rPr>
                        <a:t>MPI Shared Memory Bandwidth</a:t>
                      </a:r>
                      <a:br>
                        <a:rPr lang="en-US" sz="2310">
                          <a:effectLst/>
                          <a:latin typeface="Arial" panose="020B0604020202020204" pitchFamily="34" charset="0"/>
                        </a:rPr>
                      </a:br>
                      <a:r>
                        <a:rPr lang="en-US" sz="2310">
                          <a:effectLst/>
                          <a:latin typeface="Arial" panose="020B0604020202020204" pitchFamily="34" charset="0"/>
                        </a:rPr>
                        <a:t>(GB/sec)</a:t>
                      </a:r>
                    </a:p>
                  </a:txBody>
                  <a:tcPr marL="50006" marR="50006" marT="50006" marB="50006" anchor="ctr"/>
                </a:tc>
                <a:tc>
                  <a:txBody>
                    <a:bodyPr/>
                    <a:lstStyle/>
                    <a:p>
                      <a:pPr algn="ctr"/>
                      <a:r>
                        <a:rPr lang="en-US" sz="2310" dirty="0" err="1">
                          <a:effectLst/>
                          <a:latin typeface="Arial" panose="020B0604020202020204" pitchFamily="34" charset="0"/>
                        </a:rPr>
                        <a:t>Pthreads</a:t>
                      </a:r>
                      <a:r>
                        <a:rPr lang="en-US" sz="2310" dirty="0">
                          <a:effectLst/>
                          <a:latin typeface="Arial" panose="020B0604020202020204" pitchFamily="34" charset="0"/>
                        </a:rPr>
                        <a:t> Worst Case</a:t>
                      </a:r>
                      <a:br>
                        <a:rPr lang="en-US" sz="2310" dirty="0">
                          <a:effectLst/>
                          <a:latin typeface="Arial" panose="020B0604020202020204" pitchFamily="34" charset="0"/>
                        </a:rPr>
                      </a:br>
                      <a:r>
                        <a:rPr lang="en-US" sz="2310" dirty="0">
                          <a:effectLst/>
                          <a:latin typeface="Arial" panose="020B0604020202020204" pitchFamily="34" charset="0"/>
                        </a:rPr>
                        <a:t>Memory-to-CPU Bandwidth</a:t>
                      </a:r>
                      <a:br>
                        <a:rPr lang="en-US" sz="2310" dirty="0">
                          <a:effectLst/>
                          <a:latin typeface="Arial" panose="020B0604020202020204" pitchFamily="34" charset="0"/>
                        </a:rPr>
                      </a:br>
                      <a:r>
                        <a:rPr lang="en-US" sz="2310" dirty="0">
                          <a:effectLst/>
                          <a:latin typeface="Arial" panose="020B0604020202020204" pitchFamily="34" charset="0"/>
                        </a:rPr>
                        <a:t>(GB/sec)</a:t>
                      </a:r>
                    </a:p>
                  </a:txBody>
                  <a:tcPr marL="50006" marR="50006" marT="50006" marB="50006" anchor="ctr"/>
                </a:tc>
                <a:extLst>
                  <a:ext uri="{0D108BD9-81ED-4DB2-BD59-A6C34878D82A}">
                    <a16:rowId xmlns:a16="http://schemas.microsoft.com/office/drawing/2014/main" val="10000"/>
                  </a:ext>
                </a:extLst>
              </a:tr>
              <a:tr h="692150">
                <a:tc>
                  <a:txBody>
                    <a:bodyPr/>
                    <a:lstStyle/>
                    <a:p>
                      <a:r>
                        <a:rPr lang="en-US" sz="2310" b="1" dirty="0"/>
                        <a:t>Intel 2.6 GHz Xeon E5-2670</a:t>
                      </a:r>
                      <a:endParaRPr lang="en-US" sz="2310" dirty="0"/>
                    </a:p>
                  </a:txBody>
                  <a:tcPr marL="96011" marR="96011" marT="48005" marB="48005"/>
                </a:tc>
                <a:tc>
                  <a:txBody>
                    <a:bodyPr/>
                    <a:lstStyle/>
                    <a:p>
                      <a:pPr algn="ctr"/>
                      <a:r>
                        <a:rPr lang="en-US" sz="2310" dirty="0"/>
                        <a:t>4.5</a:t>
                      </a:r>
                    </a:p>
                  </a:txBody>
                  <a:tcPr marL="96011" marR="96011" marT="48005" marB="48005"/>
                </a:tc>
                <a:tc>
                  <a:txBody>
                    <a:bodyPr/>
                    <a:lstStyle/>
                    <a:p>
                      <a:pPr algn="ctr"/>
                      <a:r>
                        <a:rPr lang="en-US" sz="2310"/>
                        <a:t>51.2</a:t>
                      </a:r>
                    </a:p>
                  </a:txBody>
                  <a:tcPr marL="96011" marR="96011" marT="48005" marB="48005"/>
                </a:tc>
                <a:extLst>
                  <a:ext uri="{0D108BD9-81ED-4DB2-BD59-A6C34878D82A}">
                    <a16:rowId xmlns:a16="http://schemas.microsoft.com/office/drawing/2014/main" val="10001"/>
                  </a:ext>
                </a:extLst>
              </a:tr>
              <a:tr h="448310">
                <a:tc>
                  <a:txBody>
                    <a:bodyPr/>
                    <a:lstStyle/>
                    <a:p>
                      <a:r>
                        <a:rPr lang="en-US" sz="2310" b="1"/>
                        <a:t>Intel 2.8 GHz Xeon 5660</a:t>
                      </a:r>
                      <a:endParaRPr lang="en-US" sz="2310"/>
                    </a:p>
                  </a:txBody>
                  <a:tcPr marL="96011" marR="96011" marT="48005" marB="48005"/>
                </a:tc>
                <a:tc>
                  <a:txBody>
                    <a:bodyPr/>
                    <a:lstStyle/>
                    <a:p>
                      <a:pPr algn="ctr"/>
                      <a:r>
                        <a:rPr lang="en-US" sz="2310" dirty="0"/>
                        <a:t>5.6</a:t>
                      </a:r>
                    </a:p>
                  </a:txBody>
                  <a:tcPr marL="96011" marR="96011" marT="48005" marB="48005"/>
                </a:tc>
                <a:tc>
                  <a:txBody>
                    <a:bodyPr/>
                    <a:lstStyle/>
                    <a:p>
                      <a:pPr algn="ctr"/>
                      <a:r>
                        <a:rPr lang="en-US" sz="2310"/>
                        <a:t>32</a:t>
                      </a:r>
                    </a:p>
                  </a:txBody>
                  <a:tcPr marL="96011" marR="96011" marT="48005" marB="48005"/>
                </a:tc>
                <a:extLst>
                  <a:ext uri="{0D108BD9-81ED-4DB2-BD59-A6C34878D82A}">
                    <a16:rowId xmlns:a16="http://schemas.microsoft.com/office/drawing/2014/main" val="10002"/>
                  </a:ext>
                </a:extLst>
              </a:tr>
              <a:tr h="448310">
                <a:tc>
                  <a:txBody>
                    <a:bodyPr/>
                    <a:lstStyle/>
                    <a:p>
                      <a:r>
                        <a:rPr lang="en-US" sz="2310" b="1"/>
                        <a:t>AMD 2.3 GHz Opteron</a:t>
                      </a:r>
                      <a:endParaRPr lang="en-US" sz="2310"/>
                    </a:p>
                  </a:txBody>
                  <a:tcPr marL="96011" marR="96011" marT="48005" marB="48005"/>
                </a:tc>
                <a:tc>
                  <a:txBody>
                    <a:bodyPr/>
                    <a:lstStyle/>
                    <a:p>
                      <a:pPr algn="ctr"/>
                      <a:r>
                        <a:rPr lang="en-US" sz="2310"/>
                        <a:t>1.8</a:t>
                      </a:r>
                    </a:p>
                  </a:txBody>
                  <a:tcPr marL="96011" marR="96011" marT="48005" marB="48005"/>
                </a:tc>
                <a:tc>
                  <a:txBody>
                    <a:bodyPr/>
                    <a:lstStyle/>
                    <a:p>
                      <a:pPr algn="ctr"/>
                      <a:r>
                        <a:rPr lang="en-US" sz="2310" dirty="0"/>
                        <a:t>5.3</a:t>
                      </a:r>
                    </a:p>
                  </a:txBody>
                  <a:tcPr marL="96011" marR="96011" marT="48005" marB="48005"/>
                </a:tc>
                <a:extLst>
                  <a:ext uri="{0D108BD9-81ED-4DB2-BD59-A6C34878D82A}">
                    <a16:rowId xmlns:a16="http://schemas.microsoft.com/office/drawing/2014/main" val="10003"/>
                  </a:ext>
                </a:extLst>
              </a:tr>
              <a:tr h="448310">
                <a:tc>
                  <a:txBody>
                    <a:bodyPr/>
                    <a:lstStyle/>
                    <a:p>
                      <a:r>
                        <a:rPr lang="en-US" sz="2310" b="1"/>
                        <a:t>AMD 2.4 GHz Opteron</a:t>
                      </a:r>
                      <a:endParaRPr lang="en-US" sz="2310"/>
                    </a:p>
                  </a:txBody>
                  <a:tcPr marL="96011" marR="96011" marT="48005" marB="48005"/>
                </a:tc>
                <a:tc>
                  <a:txBody>
                    <a:bodyPr/>
                    <a:lstStyle/>
                    <a:p>
                      <a:pPr algn="ctr"/>
                      <a:r>
                        <a:rPr lang="en-US" sz="2310"/>
                        <a:t>1.2</a:t>
                      </a:r>
                    </a:p>
                  </a:txBody>
                  <a:tcPr marL="96011" marR="96011" marT="48005" marB="48005"/>
                </a:tc>
                <a:tc>
                  <a:txBody>
                    <a:bodyPr/>
                    <a:lstStyle/>
                    <a:p>
                      <a:pPr algn="ctr"/>
                      <a:r>
                        <a:rPr lang="en-US" sz="2310" dirty="0"/>
                        <a:t>5.3</a:t>
                      </a:r>
                    </a:p>
                  </a:txBody>
                  <a:tcPr marL="96011" marR="96011" marT="48005" marB="48005"/>
                </a:tc>
                <a:extLst>
                  <a:ext uri="{0D108BD9-81ED-4DB2-BD59-A6C34878D82A}">
                    <a16:rowId xmlns:a16="http://schemas.microsoft.com/office/drawing/2014/main" val="10004"/>
                  </a:ext>
                </a:extLst>
              </a:tr>
              <a:tr h="692150">
                <a:tc>
                  <a:txBody>
                    <a:bodyPr/>
                    <a:lstStyle/>
                    <a:p>
                      <a:r>
                        <a:rPr lang="en-US" sz="2310" b="1"/>
                        <a:t>IBM 1.9 GHz POWER5 p5-575</a:t>
                      </a:r>
                      <a:endParaRPr lang="en-US" sz="2310"/>
                    </a:p>
                  </a:txBody>
                  <a:tcPr marL="96011" marR="96011" marT="48005" marB="48005"/>
                </a:tc>
                <a:tc>
                  <a:txBody>
                    <a:bodyPr/>
                    <a:lstStyle/>
                    <a:p>
                      <a:pPr algn="ctr"/>
                      <a:r>
                        <a:rPr lang="en-US" sz="2310"/>
                        <a:t>4.1</a:t>
                      </a:r>
                    </a:p>
                  </a:txBody>
                  <a:tcPr marL="96011" marR="96011" marT="48005" marB="48005"/>
                </a:tc>
                <a:tc>
                  <a:txBody>
                    <a:bodyPr/>
                    <a:lstStyle/>
                    <a:p>
                      <a:pPr algn="ctr"/>
                      <a:r>
                        <a:rPr lang="en-US" sz="2310" dirty="0"/>
                        <a:t>16</a:t>
                      </a:r>
                    </a:p>
                  </a:txBody>
                  <a:tcPr marL="96011" marR="96011" marT="48005" marB="48005"/>
                </a:tc>
                <a:extLst>
                  <a:ext uri="{0D108BD9-81ED-4DB2-BD59-A6C34878D82A}">
                    <a16:rowId xmlns:a16="http://schemas.microsoft.com/office/drawing/2014/main" val="10005"/>
                  </a:ext>
                </a:extLst>
              </a:tr>
              <a:tr h="448310">
                <a:tc>
                  <a:txBody>
                    <a:bodyPr/>
                    <a:lstStyle/>
                    <a:p>
                      <a:r>
                        <a:rPr lang="en-US" sz="2310" b="1"/>
                        <a:t>IBM 1.5 GHz POWER4</a:t>
                      </a:r>
                      <a:endParaRPr lang="en-US" sz="2310"/>
                    </a:p>
                  </a:txBody>
                  <a:tcPr marL="96011" marR="96011" marT="48005" marB="48005"/>
                </a:tc>
                <a:tc>
                  <a:txBody>
                    <a:bodyPr/>
                    <a:lstStyle/>
                    <a:p>
                      <a:pPr algn="ctr"/>
                      <a:r>
                        <a:rPr lang="en-US" sz="2310" dirty="0"/>
                        <a:t>2.1</a:t>
                      </a:r>
                    </a:p>
                  </a:txBody>
                  <a:tcPr marL="96011" marR="96011" marT="48005" marB="48005"/>
                </a:tc>
                <a:tc>
                  <a:txBody>
                    <a:bodyPr/>
                    <a:lstStyle/>
                    <a:p>
                      <a:pPr algn="ctr"/>
                      <a:r>
                        <a:rPr lang="en-US" sz="2310" dirty="0"/>
                        <a:t>4</a:t>
                      </a:r>
                    </a:p>
                  </a:txBody>
                  <a:tcPr marL="96011" marR="96011" marT="48005" marB="48005"/>
                </a:tc>
                <a:extLst>
                  <a:ext uri="{0D108BD9-81ED-4DB2-BD59-A6C34878D82A}">
                    <a16:rowId xmlns:a16="http://schemas.microsoft.com/office/drawing/2014/main" val="10006"/>
                  </a:ext>
                </a:extLst>
              </a:tr>
              <a:tr h="448310">
                <a:tc>
                  <a:txBody>
                    <a:bodyPr/>
                    <a:lstStyle/>
                    <a:p>
                      <a:r>
                        <a:rPr lang="en-US" sz="2310" b="1"/>
                        <a:t>Intel 2.4 GHz Xeon</a:t>
                      </a:r>
                      <a:endParaRPr lang="en-US" sz="2310"/>
                    </a:p>
                  </a:txBody>
                  <a:tcPr marL="96011" marR="96011" marT="48005" marB="48005"/>
                </a:tc>
                <a:tc>
                  <a:txBody>
                    <a:bodyPr/>
                    <a:lstStyle/>
                    <a:p>
                      <a:pPr algn="ctr"/>
                      <a:r>
                        <a:rPr lang="en-US" sz="2310"/>
                        <a:t>0.3</a:t>
                      </a:r>
                    </a:p>
                  </a:txBody>
                  <a:tcPr marL="96011" marR="96011" marT="48005" marB="48005"/>
                </a:tc>
                <a:tc>
                  <a:txBody>
                    <a:bodyPr/>
                    <a:lstStyle/>
                    <a:p>
                      <a:pPr algn="ctr"/>
                      <a:r>
                        <a:rPr lang="en-US" sz="2310" dirty="0"/>
                        <a:t>4.3</a:t>
                      </a:r>
                    </a:p>
                  </a:txBody>
                  <a:tcPr marL="96011" marR="96011" marT="48005" marB="48005"/>
                </a:tc>
                <a:extLst>
                  <a:ext uri="{0D108BD9-81ED-4DB2-BD59-A6C34878D82A}">
                    <a16:rowId xmlns:a16="http://schemas.microsoft.com/office/drawing/2014/main" val="10007"/>
                  </a:ext>
                </a:extLst>
              </a:tr>
              <a:tr h="448310">
                <a:tc>
                  <a:txBody>
                    <a:bodyPr/>
                    <a:lstStyle/>
                    <a:p>
                      <a:r>
                        <a:rPr lang="de-DE" sz="2310" b="1"/>
                        <a:t>Intel 1.4 GHz Itanium 2</a:t>
                      </a:r>
                      <a:endParaRPr lang="de-DE" sz="2310"/>
                    </a:p>
                  </a:txBody>
                  <a:tcPr marL="96011" marR="96011" marT="48005" marB="48005"/>
                </a:tc>
                <a:tc>
                  <a:txBody>
                    <a:bodyPr/>
                    <a:lstStyle/>
                    <a:p>
                      <a:pPr algn="ctr"/>
                      <a:r>
                        <a:rPr lang="en-US" sz="2310"/>
                        <a:t>1.8</a:t>
                      </a:r>
                    </a:p>
                  </a:txBody>
                  <a:tcPr marL="96011" marR="96011" marT="48005" marB="48005"/>
                </a:tc>
                <a:tc>
                  <a:txBody>
                    <a:bodyPr/>
                    <a:lstStyle/>
                    <a:p>
                      <a:pPr algn="ctr"/>
                      <a:r>
                        <a:rPr lang="en-US" sz="2310" dirty="0"/>
                        <a:t>6.4</a:t>
                      </a:r>
                    </a:p>
                  </a:txBody>
                  <a:tcPr marL="96011" marR="96011" marT="48005" marB="48005"/>
                </a:tc>
                <a:extLst>
                  <a:ext uri="{0D108BD9-81ED-4DB2-BD59-A6C34878D82A}">
                    <a16:rowId xmlns:a16="http://schemas.microsoft.com/office/drawing/2014/main" val="10008"/>
                  </a:ext>
                </a:extLst>
              </a:tr>
            </a:tbl>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35" dirty="0"/>
              <a:t>Caveat</a:t>
            </a:r>
            <a:r>
              <a:rPr lang="en-US" sz="4620" spc="-35" dirty="0"/>
              <a:t> </a:t>
            </a:r>
            <a:r>
              <a:rPr lang="zh-CN" altLang="en-US" sz="4620" spc="-35" dirty="0"/>
              <a:t>（注意）</a:t>
            </a:r>
            <a:endParaRPr sz="4620" dirty="0"/>
          </a:p>
        </p:txBody>
      </p:sp>
      <p:sp>
        <p:nvSpPr>
          <p:cNvPr id="3" name="object 3"/>
          <p:cNvSpPr txBox="1"/>
          <p:nvPr/>
        </p:nvSpPr>
        <p:spPr>
          <a:xfrm>
            <a:off x="2343119" y="1883168"/>
            <a:ext cx="6977539" cy="837565"/>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10" dirty="0">
                <a:latin typeface="Calibri" panose="020F0502020204030204"/>
                <a:cs typeface="Calibri" panose="020F0502020204030204"/>
              </a:rPr>
              <a:t>The Pthreads </a:t>
            </a:r>
            <a:r>
              <a:rPr sz="2940" spc="-5" dirty="0">
                <a:latin typeface="Calibri" panose="020F0502020204030204"/>
                <a:cs typeface="Calibri" panose="020F0502020204030204"/>
              </a:rPr>
              <a:t>API is </a:t>
            </a:r>
            <a:r>
              <a:rPr sz="2940" spc="-10" dirty="0">
                <a:latin typeface="Calibri" panose="020F0502020204030204"/>
                <a:cs typeface="Calibri" panose="020F0502020204030204"/>
              </a:rPr>
              <a:t>only </a:t>
            </a:r>
            <a:r>
              <a:rPr sz="2940" spc="-15" dirty="0">
                <a:latin typeface="Calibri" panose="020F0502020204030204"/>
                <a:cs typeface="Calibri" panose="020F0502020204030204"/>
              </a:rPr>
              <a:t>available </a:t>
            </a:r>
            <a:r>
              <a:rPr sz="2940" spc="-5" dirty="0">
                <a:latin typeface="Calibri" panose="020F0502020204030204"/>
                <a:cs typeface="Calibri" panose="020F0502020204030204"/>
              </a:rPr>
              <a:t>on </a:t>
            </a:r>
            <a:r>
              <a:rPr sz="2940" spc="-10" dirty="0">
                <a:latin typeface="Calibri" panose="020F0502020204030204"/>
                <a:cs typeface="Calibri" panose="020F0502020204030204"/>
              </a:rPr>
              <a:t>POSIX  </a:t>
            </a:r>
            <a:r>
              <a:rPr sz="2940" spc="-25" dirty="0">
                <a:latin typeface="Calibri" panose="020F0502020204030204"/>
                <a:cs typeface="Calibri" panose="020F0502020204030204"/>
              </a:rPr>
              <a:t>systems </a:t>
            </a:r>
            <a:r>
              <a:rPr sz="2940" spc="-5" dirty="0">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Linux, </a:t>
            </a:r>
            <a:r>
              <a:rPr sz="2940" spc="-5" dirty="0">
                <a:solidFill>
                  <a:srgbClr val="FF0000"/>
                </a:solidFill>
                <a:latin typeface="Calibri" panose="020F0502020204030204"/>
                <a:cs typeface="Calibri" panose="020F0502020204030204"/>
              </a:rPr>
              <a:t>MacOS X, </a:t>
            </a:r>
            <a:r>
              <a:rPr sz="2940" spc="-10" dirty="0">
                <a:solidFill>
                  <a:srgbClr val="FF0000"/>
                </a:solidFill>
                <a:latin typeface="Calibri" panose="020F0502020204030204"/>
                <a:cs typeface="Calibri" panose="020F0502020204030204"/>
              </a:rPr>
              <a:t>Solaris, </a:t>
            </a:r>
            <a:r>
              <a:rPr sz="2940" dirty="0">
                <a:solidFill>
                  <a:srgbClr val="FF0000"/>
                </a:solidFill>
                <a:latin typeface="Calibri" panose="020F0502020204030204"/>
                <a:cs typeface="Calibri" panose="020F0502020204030204"/>
              </a:rPr>
              <a:t>HPUX</a:t>
            </a:r>
            <a:r>
              <a:rPr sz="2940" dirty="0">
                <a:latin typeface="Calibri" panose="020F0502020204030204"/>
                <a:cs typeface="Calibri" panose="020F0502020204030204"/>
              </a:rPr>
              <a:t>,</a:t>
            </a:r>
            <a:r>
              <a:rPr sz="2940" spc="135"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p:txBody>
      </p:sp>
      <p:sp>
        <p:nvSpPr>
          <p:cNvPr id="4" name="object 4"/>
          <p:cNvSpPr/>
          <p:nvPr/>
        </p:nvSpPr>
        <p:spPr>
          <a:xfrm>
            <a:off x="8334540" y="3752468"/>
            <a:ext cx="2151495" cy="2417902"/>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Hello </a:t>
            </a:r>
            <a:r>
              <a:rPr sz="4620" spc="-35" dirty="0"/>
              <a:t>World!</a:t>
            </a:r>
            <a:r>
              <a:rPr sz="4620" spc="-65" dirty="0"/>
              <a:t> </a:t>
            </a:r>
            <a:r>
              <a:rPr sz="4620" dirty="0"/>
              <a:t>(1)</a:t>
            </a:r>
          </a:p>
        </p:txBody>
      </p:sp>
      <p:sp>
        <p:nvSpPr>
          <p:cNvPr id="3" name="object 3"/>
          <p:cNvSpPr/>
          <p:nvPr/>
        </p:nvSpPr>
        <p:spPr>
          <a:xfrm>
            <a:off x="2359702" y="1849056"/>
            <a:ext cx="7984642" cy="4309415"/>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7000875" y="906273"/>
            <a:ext cx="4119180" cy="2078990"/>
          </a:xfrm>
          <a:prstGeom prst="rect">
            <a:avLst/>
          </a:prstGeom>
        </p:spPr>
        <p:txBody>
          <a:bodyPr vert="horz" wrap="square" lIns="0" tIns="90677" rIns="0" bIns="0" rtlCol="0">
            <a:spAutoFit/>
          </a:bodyPr>
          <a:lstStyle/>
          <a:p>
            <a:pPr marL="12700">
              <a:lnSpc>
                <a:spcPct val="100000"/>
              </a:lnSpc>
              <a:spcBef>
                <a:spcPts val="680"/>
              </a:spcBef>
            </a:pPr>
            <a:r>
              <a:rPr sz="2520" spc="-10" dirty="0">
                <a:solidFill>
                  <a:srgbClr val="FF0000"/>
                </a:solidFill>
                <a:latin typeface="Calibri" panose="020F0502020204030204"/>
                <a:cs typeface="Calibri" panose="020F0502020204030204"/>
              </a:rPr>
              <a:t>declares </a:t>
            </a:r>
            <a:r>
              <a:rPr sz="2520" dirty="0">
                <a:solidFill>
                  <a:srgbClr val="FF0000"/>
                </a:solidFill>
                <a:latin typeface="Calibri" panose="020F0502020204030204"/>
                <a:cs typeface="Calibri" panose="020F0502020204030204"/>
              </a:rPr>
              <a:t>the </a:t>
            </a:r>
            <a:r>
              <a:rPr sz="2520" spc="-10" dirty="0">
                <a:solidFill>
                  <a:srgbClr val="FF0000"/>
                </a:solidFill>
                <a:latin typeface="Calibri" panose="020F0502020204030204"/>
                <a:cs typeface="Calibri" panose="020F0502020204030204"/>
              </a:rPr>
              <a:t>various</a:t>
            </a:r>
            <a:r>
              <a:rPr sz="2520" spc="-15"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Pthreads</a:t>
            </a:r>
            <a:endParaRPr sz="2520" dirty="0">
              <a:latin typeface="Calibri" panose="020F0502020204030204"/>
              <a:cs typeface="Calibri" panose="020F0502020204030204"/>
            </a:endParaRPr>
          </a:p>
          <a:p>
            <a:pPr marL="12700">
              <a:lnSpc>
                <a:spcPct val="100000"/>
              </a:lnSpc>
              <a:spcBef>
                <a:spcPts val="580"/>
              </a:spcBef>
            </a:pPr>
            <a:r>
              <a:rPr sz="2520" spc="-5" dirty="0">
                <a:solidFill>
                  <a:srgbClr val="FF0000"/>
                </a:solidFill>
                <a:latin typeface="Calibri" panose="020F0502020204030204"/>
                <a:cs typeface="Calibri" panose="020F0502020204030204"/>
              </a:rPr>
              <a:t>functions, </a:t>
            </a:r>
            <a:r>
              <a:rPr sz="2520" spc="-15" dirty="0">
                <a:solidFill>
                  <a:srgbClr val="FF0000"/>
                </a:solidFill>
                <a:latin typeface="Calibri" panose="020F0502020204030204"/>
                <a:cs typeface="Calibri" panose="020F0502020204030204"/>
              </a:rPr>
              <a:t>constants, </a:t>
            </a:r>
            <a:r>
              <a:rPr sz="2520" dirty="0">
                <a:solidFill>
                  <a:srgbClr val="FF0000"/>
                </a:solidFill>
                <a:latin typeface="Calibri" panose="020F0502020204030204"/>
                <a:cs typeface="Calibri" panose="020F0502020204030204"/>
              </a:rPr>
              <a:t>types,</a:t>
            </a:r>
            <a:r>
              <a:rPr sz="2520" spc="-80" dirty="0">
                <a:solidFill>
                  <a:srgbClr val="FF0000"/>
                </a:solidFill>
                <a:latin typeface="Calibri" panose="020F0502020204030204"/>
                <a:cs typeface="Calibri" panose="020F0502020204030204"/>
              </a:rPr>
              <a:t> </a:t>
            </a:r>
            <a:r>
              <a:rPr sz="2520" spc="-10" dirty="0">
                <a:solidFill>
                  <a:srgbClr val="FF0000"/>
                </a:solidFill>
                <a:latin typeface="Calibri" panose="020F0502020204030204"/>
                <a:cs typeface="Calibri" panose="020F0502020204030204"/>
              </a:rPr>
              <a:t>etc.</a:t>
            </a:r>
            <a:endParaRPr lang="en-US" sz="2520" spc="-10" dirty="0">
              <a:solidFill>
                <a:srgbClr val="FF0000"/>
              </a:solidFill>
              <a:latin typeface="Calibri" panose="020F0502020204030204"/>
              <a:cs typeface="Calibri" panose="020F0502020204030204"/>
            </a:endParaRPr>
          </a:p>
          <a:p>
            <a:pPr marL="12700">
              <a:lnSpc>
                <a:spcPct val="100000"/>
              </a:lnSpc>
              <a:spcBef>
                <a:spcPts val="580"/>
              </a:spcBef>
            </a:pPr>
            <a:r>
              <a:rPr lang="en-US" sz="2310" dirty="0">
                <a:solidFill>
                  <a:srgbClr val="FF0000"/>
                </a:solidFill>
                <a:cs typeface="Calibri" panose="020F0502020204030204"/>
              </a:rPr>
              <a:t>https://pubs.opengroup.org/onlinepubs/7908799/xsh/pthread.h.html</a:t>
            </a:r>
            <a:endParaRPr sz="2310" dirty="0">
              <a:solidFill>
                <a:srgbClr val="FF0000"/>
              </a:solidFill>
              <a:latin typeface="Calibri" panose="020F0502020204030204"/>
              <a:cs typeface="Calibri" panose="020F0502020204030204"/>
            </a:endParaRPr>
          </a:p>
        </p:txBody>
      </p:sp>
      <p:sp>
        <p:nvSpPr>
          <p:cNvPr id="5" name="object 5"/>
          <p:cNvSpPr/>
          <p:nvPr/>
        </p:nvSpPr>
        <p:spPr>
          <a:xfrm>
            <a:off x="4957419" y="1799957"/>
            <a:ext cx="1872234" cy="716756"/>
          </a:xfrm>
          <a:custGeom>
            <a:avLst/>
            <a:gdLst/>
            <a:ahLst/>
            <a:cxnLst/>
            <a:rect l="l" t="t" r="r" b="b"/>
            <a:pathLst>
              <a:path w="1783079" h="682625">
                <a:moveTo>
                  <a:pt x="36438" y="612456"/>
                </a:moveTo>
                <a:lnTo>
                  <a:pt x="25052" y="617947"/>
                </a:lnTo>
                <a:lnTo>
                  <a:pt x="35449" y="625158"/>
                </a:lnTo>
                <a:lnTo>
                  <a:pt x="574421" y="664717"/>
                </a:lnTo>
                <a:lnTo>
                  <a:pt x="788035" y="676148"/>
                </a:lnTo>
                <a:lnTo>
                  <a:pt x="937768" y="681227"/>
                </a:lnTo>
                <a:lnTo>
                  <a:pt x="1031494" y="682625"/>
                </a:lnTo>
                <a:lnTo>
                  <a:pt x="1076325" y="682625"/>
                </a:lnTo>
                <a:lnTo>
                  <a:pt x="1119632" y="682116"/>
                </a:lnTo>
                <a:lnTo>
                  <a:pt x="1161542" y="681101"/>
                </a:lnTo>
                <a:lnTo>
                  <a:pt x="1201801" y="679576"/>
                </a:lnTo>
                <a:lnTo>
                  <a:pt x="1240282" y="677417"/>
                </a:lnTo>
                <a:lnTo>
                  <a:pt x="1312164" y="671576"/>
                </a:lnTo>
                <a:lnTo>
                  <a:pt x="1325629" y="669925"/>
                </a:lnTo>
                <a:lnTo>
                  <a:pt x="1031621" y="669925"/>
                </a:lnTo>
                <a:lnTo>
                  <a:pt x="938149" y="668527"/>
                </a:lnTo>
                <a:lnTo>
                  <a:pt x="788543" y="663448"/>
                </a:lnTo>
                <a:lnTo>
                  <a:pt x="575183" y="652017"/>
                </a:lnTo>
                <a:lnTo>
                  <a:pt x="36438" y="612456"/>
                </a:lnTo>
                <a:close/>
              </a:path>
              <a:path w="1783079" h="682625">
                <a:moveTo>
                  <a:pt x="92328" y="571373"/>
                </a:moveTo>
                <a:lnTo>
                  <a:pt x="89281" y="572896"/>
                </a:lnTo>
                <a:lnTo>
                  <a:pt x="0" y="615950"/>
                </a:lnTo>
                <a:lnTo>
                  <a:pt x="84327" y="674496"/>
                </a:lnTo>
                <a:lnTo>
                  <a:pt x="88264" y="673734"/>
                </a:lnTo>
                <a:lnTo>
                  <a:pt x="90170" y="670813"/>
                </a:lnTo>
                <a:lnTo>
                  <a:pt x="92201" y="668019"/>
                </a:lnTo>
                <a:lnTo>
                  <a:pt x="91567" y="663955"/>
                </a:lnTo>
                <a:lnTo>
                  <a:pt x="88646" y="662051"/>
                </a:lnTo>
                <a:lnTo>
                  <a:pt x="35449" y="625158"/>
                </a:lnTo>
                <a:lnTo>
                  <a:pt x="12065" y="623315"/>
                </a:lnTo>
                <a:lnTo>
                  <a:pt x="13081" y="610615"/>
                </a:lnTo>
                <a:lnTo>
                  <a:pt x="40253" y="610615"/>
                </a:lnTo>
                <a:lnTo>
                  <a:pt x="97917" y="582802"/>
                </a:lnTo>
                <a:lnTo>
                  <a:pt x="99187" y="578992"/>
                </a:lnTo>
                <a:lnTo>
                  <a:pt x="96138" y="572642"/>
                </a:lnTo>
                <a:lnTo>
                  <a:pt x="92328" y="571373"/>
                </a:lnTo>
                <a:close/>
              </a:path>
              <a:path w="1783079" h="682625">
                <a:moveTo>
                  <a:pt x="1783080" y="0"/>
                </a:moveTo>
                <a:lnTo>
                  <a:pt x="1712722" y="634"/>
                </a:lnTo>
                <a:lnTo>
                  <a:pt x="1644014" y="2539"/>
                </a:lnTo>
                <a:lnTo>
                  <a:pt x="1578102" y="6857"/>
                </a:lnTo>
                <a:lnTo>
                  <a:pt x="1517014" y="14858"/>
                </a:lnTo>
                <a:lnTo>
                  <a:pt x="1462024" y="27939"/>
                </a:lnTo>
                <a:lnTo>
                  <a:pt x="1425956" y="41655"/>
                </a:lnTo>
                <a:lnTo>
                  <a:pt x="1385443" y="66675"/>
                </a:lnTo>
                <a:lnTo>
                  <a:pt x="1355978" y="100456"/>
                </a:lnTo>
                <a:lnTo>
                  <a:pt x="1348232" y="115696"/>
                </a:lnTo>
                <a:lnTo>
                  <a:pt x="1347977" y="116204"/>
                </a:lnTo>
                <a:lnTo>
                  <a:pt x="1346581" y="122174"/>
                </a:lnTo>
                <a:lnTo>
                  <a:pt x="1345692" y="128650"/>
                </a:lnTo>
                <a:lnTo>
                  <a:pt x="1345438" y="135381"/>
                </a:lnTo>
                <a:lnTo>
                  <a:pt x="1346581" y="148208"/>
                </a:lnTo>
                <a:lnTo>
                  <a:pt x="1362328" y="194944"/>
                </a:lnTo>
                <a:lnTo>
                  <a:pt x="1380363" y="229234"/>
                </a:lnTo>
                <a:lnTo>
                  <a:pt x="1402334" y="265811"/>
                </a:lnTo>
                <a:lnTo>
                  <a:pt x="1426845" y="304038"/>
                </a:lnTo>
                <a:lnTo>
                  <a:pt x="1452499" y="343280"/>
                </a:lnTo>
                <a:lnTo>
                  <a:pt x="1477645" y="383031"/>
                </a:lnTo>
                <a:lnTo>
                  <a:pt x="1500632" y="422275"/>
                </a:lnTo>
                <a:lnTo>
                  <a:pt x="1519809" y="460248"/>
                </a:lnTo>
                <a:lnTo>
                  <a:pt x="1533906" y="496569"/>
                </a:lnTo>
                <a:lnTo>
                  <a:pt x="1541907" y="545338"/>
                </a:lnTo>
                <a:lnTo>
                  <a:pt x="1541399" y="552703"/>
                </a:lnTo>
                <a:lnTo>
                  <a:pt x="1526667" y="591312"/>
                </a:lnTo>
                <a:lnTo>
                  <a:pt x="1494917" y="616965"/>
                </a:lnTo>
                <a:lnTo>
                  <a:pt x="1454150" y="632459"/>
                </a:lnTo>
                <a:lnTo>
                  <a:pt x="1403350" y="645159"/>
                </a:lnTo>
                <a:lnTo>
                  <a:pt x="1343787" y="654938"/>
                </a:lnTo>
                <a:lnTo>
                  <a:pt x="1276223" y="662051"/>
                </a:lnTo>
                <a:lnTo>
                  <a:pt x="1201165" y="666876"/>
                </a:lnTo>
                <a:lnTo>
                  <a:pt x="1161288" y="668527"/>
                </a:lnTo>
                <a:lnTo>
                  <a:pt x="1076325" y="669925"/>
                </a:lnTo>
                <a:lnTo>
                  <a:pt x="1325629" y="669925"/>
                </a:lnTo>
                <a:lnTo>
                  <a:pt x="1376426" y="662939"/>
                </a:lnTo>
                <a:lnTo>
                  <a:pt x="1432687" y="651637"/>
                </a:lnTo>
                <a:lnTo>
                  <a:pt x="1480439" y="637158"/>
                </a:lnTo>
                <a:lnTo>
                  <a:pt x="1517185" y="617947"/>
                </a:lnTo>
                <a:lnTo>
                  <a:pt x="1545209" y="585596"/>
                </a:lnTo>
                <a:lnTo>
                  <a:pt x="1554480" y="546100"/>
                </a:lnTo>
                <a:lnTo>
                  <a:pt x="1553845" y="529336"/>
                </a:lnTo>
                <a:lnTo>
                  <a:pt x="1539621" y="474471"/>
                </a:lnTo>
                <a:lnTo>
                  <a:pt x="1522222" y="435990"/>
                </a:lnTo>
                <a:lnTo>
                  <a:pt x="1500505" y="396366"/>
                </a:lnTo>
                <a:lnTo>
                  <a:pt x="1463294" y="336550"/>
                </a:lnTo>
                <a:lnTo>
                  <a:pt x="1425067" y="277875"/>
                </a:lnTo>
                <a:lnTo>
                  <a:pt x="1413002" y="258952"/>
                </a:lnTo>
                <a:lnTo>
                  <a:pt x="1391285" y="222757"/>
                </a:lnTo>
                <a:lnTo>
                  <a:pt x="1367155" y="173989"/>
                </a:lnTo>
                <a:lnTo>
                  <a:pt x="1359395" y="147192"/>
                </a:lnTo>
                <a:lnTo>
                  <a:pt x="1359185" y="146426"/>
                </a:lnTo>
                <a:lnTo>
                  <a:pt x="1359191" y="146176"/>
                </a:lnTo>
                <a:lnTo>
                  <a:pt x="1358238" y="135381"/>
                </a:lnTo>
                <a:lnTo>
                  <a:pt x="1358333" y="128650"/>
                </a:lnTo>
                <a:lnTo>
                  <a:pt x="1359153" y="124078"/>
                </a:lnTo>
                <a:lnTo>
                  <a:pt x="1360080" y="120268"/>
                </a:lnTo>
                <a:lnTo>
                  <a:pt x="1360297" y="119379"/>
                </a:lnTo>
                <a:lnTo>
                  <a:pt x="1362075" y="115188"/>
                </a:lnTo>
                <a:lnTo>
                  <a:pt x="1386205" y="83057"/>
                </a:lnTo>
                <a:lnTo>
                  <a:pt x="1421257" y="58165"/>
                </a:lnTo>
                <a:lnTo>
                  <a:pt x="1466342" y="39877"/>
                </a:lnTo>
                <a:lnTo>
                  <a:pt x="1519555" y="27304"/>
                </a:lnTo>
                <a:lnTo>
                  <a:pt x="1579499" y="19557"/>
                </a:lnTo>
                <a:lnTo>
                  <a:pt x="1644650" y="15239"/>
                </a:lnTo>
                <a:lnTo>
                  <a:pt x="1712976" y="13334"/>
                </a:lnTo>
                <a:lnTo>
                  <a:pt x="1783080" y="12700"/>
                </a:lnTo>
                <a:lnTo>
                  <a:pt x="1783080" y="0"/>
                </a:lnTo>
                <a:close/>
              </a:path>
              <a:path w="1783079" h="682625">
                <a:moveTo>
                  <a:pt x="13081" y="610615"/>
                </a:moveTo>
                <a:lnTo>
                  <a:pt x="12065" y="623315"/>
                </a:lnTo>
                <a:lnTo>
                  <a:pt x="35449" y="625158"/>
                </a:lnTo>
                <a:lnTo>
                  <a:pt x="31877" y="622680"/>
                </a:lnTo>
                <a:lnTo>
                  <a:pt x="15240" y="622680"/>
                </a:lnTo>
                <a:lnTo>
                  <a:pt x="16129" y="611758"/>
                </a:lnTo>
                <a:lnTo>
                  <a:pt x="27588" y="611758"/>
                </a:lnTo>
                <a:lnTo>
                  <a:pt x="13081" y="610615"/>
                </a:lnTo>
                <a:close/>
              </a:path>
              <a:path w="1783079" h="682625">
                <a:moveTo>
                  <a:pt x="16129" y="611758"/>
                </a:moveTo>
                <a:lnTo>
                  <a:pt x="15240" y="622680"/>
                </a:lnTo>
                <a:lnTo>
                  <a:pt x="25052" y="617947"/>
                </a:lnTo>
                <a:lnTo>
                  <a:pt x="16129" y="611758"/>
                </a:lnTo>
                <a:close/>
              </a:path>
              <a:path w="1783079" h="682625">
                <a:moveTo>
                  <a:pt x="25052" y="617947"/>
                </a:moveTo>
                <a:lnTo>
                  <a:pt x="15240" y="622680"/>
                </a:lnTo>
                <a:lnTo>
                  <a:pt x="31877" y="622680"/>
                </a:lnTo>
                <a:lnTo>
                  <a:pt x="25052" y="617947"/>
                </a:lnTo>
                <a:close/>
              </a:path>
              <a:path w="1783079" h="682625">
                <a:moveTo>
                  <a:pt x="27588" y="611758"/>
                </a:moveTo>
                <a:lnTo>
                  <a:pt x="16129" y="611758"/>
                </a:lnTo>
                <a:lnTo>
                  <a:pt x="25052" y="617947"/>
                </a:lnTo>
                <a:lnTo>
                  <a:pt x="36438" y="612456"/>
                </a:lnTo>
                <a:lnTo>
                  <a:pt x="27588" y="611758"/>
                </a:lnTo>
                <a:close/>
              </a:path>
              <a:path w="1783079" h="682625">
                <a:moveTo>
                  <a:pt x="40253" y="610615"/>
                </a:moveTo>
                <a:lnTo>
                  <a:pt x="13081" y="610615"/>
                </a:lnTo>
                <a:lnTo>
                  <a:pt x="36438" y="612456"/>
                </a:lnTo>
                <a:lnTo>
                  <a:pt x="40253" y="610615"/>
                </a:lnTo>
                <a:close/>
              </a:path>
              <a:path w="1783079" h="682625">
                <a:moveTo>
                  <a:pt x="1359153" y="146176"/>
                </a:moveTo>
                <a:lnTo>
                  <a:pt x="1359281" y="147192"/>
                </a:lnTo>
                <a:lnTo>
                  <a:pt x="1359213" y="146426"/>
                </a:lnTo>
                <a:lnTo>
                  <a:pt x="1359153" y="146176"/>
                </a:lnTo>
                <a:close/>
              </a:path>
              <a:path w="1783079" h="682625">
                <a:moveTo>
                  <a:pt x="1359213" y="146426"/>
                </a:moveTo>
                <a:lnTo>
                  <a:pt x="1359281" y="147192"/>
                </a:lnTo>
                <a:lnTo>
                  <a:pt x="1359213" y="146426"/>
                </a:lnTo>
                <a:close/>
              </a:path>
              <a:path w="1783079" h="682625">
                <a:moveTo>
                  <a:pt x="1359191" y="146176"/>
                </a:moveTo>
                <a:lnTo>
                  <a:pt x="1359213" y="146426"/>
                </a:lnTo>
                <a:lnTo>
                  <a:pt x="1359191" y="146176"/>
                </a:lnTo>
                <a:close/>
              </a:path>
              <a:path w="1783079" h="682625">
                <a:moveTo>
                  <a:pt x="1360297" y="119379"/>
                </a:moveTo>
                <a:lnTo>
                  <a:pt x="1360043" y="120268"/>
                </a:lnTo>
                <a:lnTo>
                  <a:pt x="1360139" y="120028"/>
                </a:lnTo>
                <a:lnTo>
                  <a:pt x="1360297" y="119379"/>
                </a:lnTo>
                <a:close/>
              </a:path>
              <a:path w="1783079" h="682625">
                <a:moveTo>
                  <a:pt x="1360139" y="120028"/>
                </a:moveTo>
                <a:lnTo>
                  <a:pt x="1360043" y="120268"/>
                </a:lnTo>
                <a:lnTo>
                  <a:pt x="1360139" y="120028"/>
                </a:lnTo>
                <a:close/>
              </a:path>
              <a:path w="1783079" h="682625">
                <a:moveTo>
                  <a:pt x="1360398" y="119379"/>
                </a:moveTo>
                <a:lnTo>
                  <a:pt x="1360139" y="120028"/>
                </a:lnTo>
                <a:lnTo>
                  <a:pt x="1360398" y="119379"/>
                </a:lnTo>
                <a:close/>
              </a:path>
            </a:pathLst>
          </a:custGeom>
          <a:solidFill>
            <a:srgbClr val="FF0000"/>
          </a:solidFill>
        </p:spPr>
        <p:txBody>
          <a:bodyPr wrap="square" lIns="0" tIns="0" rIns="0" bIns="0" rtlCol="0"/>
          <a:lstStyle/>
          <a:p>
            <a:endParaRPr sz="2310"/>
          </a:p>
        </p:txBody>
      </p:sp>
      <p:sp>
        <p:nvSpPr>
          <p:cNvPr id="6" name="object 6"/>
          <p:cNvSpPr/>
          <p:nvPr/>
        </p:nvSpPr>
        <p:spPr>
          <a:xfrm>
            <a:off x="2778746" y="4932615"/>
            <a:ext cx="3052382" cy="0"/>
          </a:xfrm>
          <a:custGeom>
            <a:avLst/>
            <a:gdLst/>
            <a:ahLst/>
            <a:cxnLst/>
            <a:rect l="l" t="t" r="r" b="b"/>
            <a:pathLst>
              <a:path w="2907029">
                <a:moveTo>
                  <a:pt x="0" y="0"/>
                </a:moveTo>
                <a:lnTo>
                  <a:pt x="2906522" y="0"/>
                </a:lnTo>
              </a:path>
            </a:pathLst>
          </a:custGeom>
          <a:ln w="25908">
            <a:solidFill>
              <a:srgbClr val="FF0000"/>
            </a:solidFill>
          </a:ln>
        </p:spPr>
        <p:txBody>
          <a:bodyPr wrap="square" lIns="0" tIns="0" rIns="0" bIns="0" rtlCol="0"/>
          <a:lstStyle/>
          <a:p>
            <a:endParaRPr sz="2310"/>
          </a:p>
        </p:txBody>
      </p:sp>
      <p:sp>
        <p:nvSpPr>
          <p:cNvPr id="7" name="object 7"/>
          <p:cNvSpPr/>
          <p:nvPr/>
        </p:nvSpPr>
        <p:spPr>
          <a:xfrm>
            <a:off x="4942217" y="6207976"/>
            <a:ext cx="4767929" cy="40005"/>
          </a:xfrm>
          <a:custGeom>
            <a:avLst/>
            <a:gdLst/>
            <a:ahLst/>
            <a:cxnLst/>
            <a:rect l="l" t="t" r="r" b="b"/>
            <a:pathLst>
              <a:path w="4540884" h="38100">
                <a:moveTo>
                  <a:pt x="0" y="0"/>
                </a:moveTo>
                <a:lnTo>
                  <a:pt x="4540884" y="38099"/>
                </a:lnTo>
              </a:path>
            </a:pathLst>
          </a:custGeom>
          <a:ln w="25908">
            <a:solidFill>
              <a:srgbClr val="FF0000"/>
            </a:solidFill>
          </a:ln>
        </p:spPr>
        <p:txBody>
          <a:bodyPr wrap="square" lIns="0" tIns="0" rIns="0" bIns="0" rtlCol="0"/>
          <a:lstStyle/>
          <a:p>
            <a:endParaRPr sz="2310"/>
          </a:p>
        </p:txBody>
      </p:sp>
      <p:sp>
        <p:nvSpPr>
          <p:cNvPr id="8" name="object 8"/>
          <p:cNvSpPr/>
          <p:nvPr/>
        </p:nvSpPr>
        <p:spPr>
          <a:xfrm>
            <a:off x="2348292" y="2623528"/>
            <a:ext cx="2447639" cy="0"/>
          </a:xfrm>
          <a:custGeom>
            <a:avLst/>
            <a:gdLst/>
            <a:ahLst/>
            <a:cxnLst/>
            <a:rect l="l" t="t" r="r" b="b"/>
            <a:pathLst>
              <a:path w="2331085">
                <a:moveTo>
                  <a:pt x="0" y="0"/>
                </a:moveTo>
                <a:lnTo>
                  <a:pt x="2331085" y="0"/>
                </a:lnTo>
              </a:path>
            </a:pathLst>
          </a:custGeom>
          <a:ln w="25908">
            <a:solidFill>
              <a:srgbClr val="FF0000"/>
            </a:solidFill>
          </a:ln>
        </p:spPr>
        <p:txBody>
          <a:bodyPr wrap="square" lIns="0" tIns="0" rIns="0" bIns="0" rtlCol="0"/>
          <a:lstStyle/>
          <a:p>
            <a:endParaRPr sz="2310"/>
          </a:p>
        </p:txBody>
      </p:sp>
      <p:sp>
        <p:nvSpPr>
          <p:cNvPr id="9" name="object 9"/>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Hello </a:t>
            </a:r>
            <a:r>
              <a:rPr sz="4620" spc="-35" dirty="0"/>
              <a:t>World!</a:t>
            </a:r>
            <a:r>
              <a:rPr sz="4620" spc="-65" dirty="0"/>
              <a:t> </a:t>
            </a:r>
            <a:r>
              <a:rPr sz="4620" dirty="0"/>
              <a:t>(2)</a:t>
            </a:r>
            <a:endParaRPr sz="4620"/>
          </a:p>
        </p:txBody>
      </p:sp>
      <p:sp>
        <p:nvSpPr>
          <p:cNvPr id="3" name="object 3"/>
          <p:cNvSpPr/>
          <p:nvPr/>
        </p:nvSpPr>
        <p:spPr>
          <a:xfrm>
            <a:off x="2304604" y="2166676"/>
            <a:ext cx="7674301" cy="3625545"/>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3218801" y="2721139"/>
            <a:ext cx="6520815" cy="0"/>
          </a:xfrm>
          <a:custGeom>
            <a:avLst/>
            <a:gdLst/>
            <a:ahLst/>
            <a:cxnLst/>
            <a:rect l="l" t="t" r="r" b="b"/>
            <a:pathLst>
              <a:path w="6210300">
                <a:moveTo>
                  <a:pt x="0" y="0"/>
                </a:moveTo>
                <a:lnTo>
                  <a:pt x="6210300" y="0"/>
                </a:lnTo>
              </a:path>
            </a:pathLst>
          </a:custGeom>
          <a:ln w="25908">
            <a:solidFill>
              <a:srgbClr val="FF0000"/>
            </a:solidFill>
          </a:ln>
        </p:spPr>
        <p:txBody>
          <a:bodyPr wrap="square" lIns="0" tIns="0" rIns="0" bIns="0" rtlCol="0"/>
          <a:lstStyle/>
          <a:p>
            <a:endParaRPr sz="2310"/>
          </a:p>
        </p:txBody>
      </p:sp>
      <p:sp>
        <p:nvSpPr>
          <p:cNvPr id="5" name="object 5"/>
          <p:cNvSpPr/>
          <p:nvPr/>
        </p:nvSpPr>
        <p:spPr>
          <a:xfrm>
            <a:off x="3141993" y="4594973"/>
            <a:ext cx="6520815" cy="0"/>
          </a:xfrm>
          <a:custGeom>
            <a:avLst/>
            <a:gdLst/>
            <a:ahLst/>
            <a:cxnLst/>
            <a:rect l="l" t="t" r="r" b="b"/>
            <a:pathLst>
              <a:path w="6210300">
                <a:moveTo>
                  <a:pt x="0" y="0"/>
                </a:moveTo>
                <a:lnTo>
                  <a:pt x="6210300" y="0"/>
                </a:lnTo>
              </a:path>
            </a:pathLst>
          </a:custGeom>
          <a:ln w="25908">
            <a:solidFill>
              <a:srgbClr val="FF0000"/>
            </a:solidFill>
          </a:ln>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11</a:t>
            </a:fld>
            <a:endParaRPr sz="1575"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Hello </a:t>
            </a:r>
            <a:r>
              <a:rPr sz="4620" spc="-35" dirty="0"/>
              <a:t>World!</a:t>
            </a:r>
            <a:r>
              <a:rPr sz="4620" spc="-65" dirty="0"/>
              <a:t> </a:t>
            </a:r>
            <a:r>
              <a:rPr sz="4620" dirty="0"/>
              <a:t>(3)</a:t>
            </a:r>
            <a:endParaRPr sz="4620"/>
          </a:p>
        </p:txBody>
      </p:sp>
      <p:sp>
        <p:nvSpPr>
          <p:cNvPr id="3" name="object 3"/>
          <p:cNvSpPr/>
          <p:nvPr/>
        </p:nvSpPr>
        <p:spPr>
          <a:xfrm>
            <a:off x="2181669" y="2133067"/>
            <a:ext cx="8651955" cy="2259738"/>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7419327" y="3423627"/>
            <a:ext cx="2592324" cy="0"/>
          </a:xfrm>
          <a:custGeom>
            <a:avLst/>
            <a:gdLst/>
            <a:ahLst/>
            <a:cxnLst/>
            <a:rect l="l" t="t" r="r" b="b"/>
            <a:pathLst>
              <a:path w="2468879">
                <a:moveTo>
                  <a:pt x="0" y="0"/>
                </a:moveTo>
                <a:lnTo>
                  <a:pt x="2468372" y="0"/>
                </a:lnTo>
              </a:path>
            </a:pathLst>
          </a:custGeom>
          <a:ln w="25908">
            <a:solidFill>
              <a:srgbClr val="FF0000"/>
            </a:solidFill>
          </a:ln>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12</a:t>
            </a:fld>
            <a:endParaRPr sz="1575"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Compiling a </a:t>
            </a:r>
            <a:r>
              <a:rPr sz="4620" spc="-5" dirty="0"/>
              <a:t>Pthread</a:t>
            </a:r>
            <a:r>
              <a:rPr sz="4620" spc="-100" dirty="0"/>
              <a:t> </a:t>
            </a:r>
            <a:r>
              <a:rPr sz="4620" spc="-25" dirty="0"/>
              <a:t>program</a:t>
            </a:r>
            <a:endParaRPr sz="4620" dirty="0"/>
          </a:p>
        </p:txBody>
      </p:sp>
      <p:sp>
        <p:nvSpPr>
          <p:cNvPr id="3" name="object 3"/>
          <p:cNvSpPr txBox="1"/>
          <p:nvPr/>
        </p:nvSpPr>
        <p:spPr>
          <a:xfrm>
            <a:off x="2443291" y="2213477"/>
            <a:ext cx="7423595" cy="463550"/>
          </a:xfrm>
          <a:prstGeom prst="rect">
            <a:avLst/>
          </a:prstGeom>
        </p:spPr>
        <p:txBody>
          <a:bodyPr vert="horz" wrap="square" lIns="0" tIns="12668" rIns="0" bIns="0" rtlCol="0">
            <a:spAutoFit/>
          </a:bodyPr>
          <a:lstStyle/>
          <a:p>
            <a:pPr marL="12700">
              <a:lnSpc>
                <a:spcPct val="100000"/>
              </a:lnSpc>
              <a:spcBef>
                <a:spcPts val="95"/>
              </a:spcBef>
            </a:pPr>
            <a:r>
              <a:rPr sz="2940" spc="-10" dirty="0">
                <a:latin typeface="Calibri" panose="020F0502020204030204"/>
                <a:cs typeface="Calibri" panose="020F0502020204030204"/>
              </a:rPr>
              <a:t>gcc </a:t>
            </a:r>
            <a:r>
              <a:rPr sz="2940" spc="-5" dirty="0">
                <a:latin typeface="Calibri" panose="020F0502020204030204"/>
                <a:cs typeface="Calibri" panose="020F0502020204030204"/>
              </a:rPr>
              <a:t>−g </a:t>
            </a:r>
            <a:r>
              <a:rPr sz="2940" spc="-25" dirty="0">
                <a:latin typeface="Calibri" panose="020F0502020204030204"/>
                <a:cs typeface="Calibri" panose="020F0502020204030204"/>
              </a:rPr>
              <a:t>−Wall </a:t>
            </a:r>
            <a:r>
              <a:rPr sz="2940" spc="-5" dirty="0">
                <a:latin typeface="Calibri" panose="020F0502020204030204"/>
                <a:cs typeface="Calibri" panose="020F0502020204030204"/>
              </a:rPr>
              <a:t>−o pth_hello </a:t>
            </a:r>
            <a:r>
              <a:rPr sz="2940" spc="-10" dirty="0">
                <a:latin typeface="Calibri" panose="020F0502020204030204"/>
                <a:cs typeface="Calibri" panose="020F0502020204030204"/>
              </a:rPr>
              <a:t>pth_hello </a:t>
            </a:r>
            <a:r>
              <a:rPr sz="2940" spc="-5" dirty="0">
                <a:latin typeface="Calibri" panose="020F0502020204030204"/>
                <a:cs typeface="Calibri" panose="020F0502020204030204"/>
              </a:rPr>
              <a:t>. c</a:t>
            </a:r>
            <a:r>
              <a:rPr sz="2940" spc="170" dirty="0">
                <a:latin typeface="Calibri" panose="020F0502020204030204"/>
                <a:cs typeface="Calibri" panose="020F0502020204030204"/>
              </a:rPr>
              <a:t> </a:t>
            </a:r>
            <a:r>
              <a:rPr sz="2940" spc="-15" dirty="0">
                <a:solidFill>
                  <a:srgbClr val="FF0000"/>
                </a:solidFill>
                <a:latin typeface="Calibri" panose="020F0502020204030204"/>
                <a:cs typeface="Calibri" panose="020F0502020204030204"/>
              </a:rPr>
              <a:t>−lpthread</a:t>
            </a:r>
            <a:endParaRPr sz="2940">
              <a:latin typeface="Calibri" panose="020F0502020204030204"/>
              <a:cs typeface="Calibri" panose="020F0502020204030204"/>
            </a:endParaRPr>
          </a:p>
        </p:txBody>
      </p:sp>
      <p:sp>
        <p:nvSpPr>
          <p:cNvPr id="4" name="object 4"/>
          <p:cNvSpPr txBox="1"/>
          <p:nvPr/>
        </p:nvSpPr>
        <p:spPr>
          <a:xfrm>
            <a:off x="4023036" y="3864615"/>
            <a:ext cx="4007168" cy="463550"/>
          </a:xfrm>
          <a:prstGeom prst="rect">
            <a:avLst/>
          </a:prstGeom>
        </p:spPr>
        <p:txBody>
          <a:bodyPr vert="horz" wrap="square" lIns="0" tIns="12668" rIns="0" bIns="0" rtlCol="0">
            <a:spAutoFit/>
          </a:bodyPr>
          <a:lstStyle/>
          <a:p>
            <a:pPr marL="12700">
              <a:lnSpc>
                <a:spcPct val="100000"/>
              </a:lnSpc>
              <a:spcBef>
                <a:spcPts val="95"/>
              </a:spcBef>
            </a:pPr>
            <a:r>
              <a:rPr sz="2940" spc="-10" dirty="0">
                <a:solidFill>
                  <a:srgbClr val="C00000"/>
                </a:solidFill>
                <a:latin typeface="Calibri" panose="020F0502020204030204"/>
                <a:cs typeface="Calibri" panose="020F0502020204030204"/>
              </a:rPr>
              <a:t>link </a:t>
            </a:r>
            <a:r>
              <a:rPr sz="2940" spc="-5" dirty="0">
                <a:solidFill>
                  <a:srgbClr val="C00000"/>
                </a:solidFill>
                <a:latin typeface="Calibri" panose="020F0502020204030204"/>
                <a:cs typeface="Calibri" panose="020F0502020204030204"/>
              </a:rPr>
              <a:t>in the </a:t>
            </a:r>
            <a:r>
              <a:rPr sz="2940" spc="-10" dirty="0">
                <a:solidFill>
                  <a:srgbClr val="C00000"/>
                </a:solidFill>
                <a:latin typeface="Calibri" panose="020F0502020204030204"/>
                <a:cs typeface="Calibri" panose="020F0502020204030204"/>
              </a:rPr>
              <a:t>Pthreads</a:t>
            </a:r>
            <a:r>
              <a:rPr sz="2940" spc="45" dirty="0">
                <a:solidFill>
                  <a:srgbClr val="C00000"/>
                </a:solidFill>
                <a:latin typeface="Calibri" panose="020F0502020204030204"/>
                <a:cs typeface="Calibri" panose="020F0502020204030204"/>
              </a:rPr>
              <a:t> </a:t>
            </a:r>
            <a:r>
              <a:rPr sz="2940" spc="-15" dirty="0">
                <a:solidFill>
                  <a:srgbClr val="C00000"/>
                </a:solidFill>
                <a:latin typeface="Calibri" panose="020F0502020204030204"/>
                <a:cs typeface="Calibri" panose="020F0502020204030204"/>
              </a:rPr>
              <a:t>library</a:t>
            </a:r>
            <a:endParaRPr sz="2940">
              <a:latin typeface="Calibri" panose="020F0502020204030204"/>
              <a:cs typeface="Calibri" panose="020F0502020204030204"/>
            </a:endParaRPr>
          </a:p>
        </p:txBody>
      </p:sp>
      <p:sp>
        <p:nvSpPr>
          <p:cNvPr id="5" name="object 5"/>
          <p:cNvSpPr/>
          <p:nvPr/>
        </p:nvSpPr>
        <p:spPr>
          <a:xfrm>
            <a:off x="8269567" y="2810884"/>
            <a:ext cx="1658874" cy="1297496"/>
          </a:xfrm>
          <a:custGeom>
            <a:avLst/>
            <a:gdLst/>
            <a:ahLst/>
            <a:cxnLst/>
            <a:rect l="l" t="t" r="r" b="b"/>
            <a:pathLst>
              <a:path w="1579879" h="1235710">
                <a:moveTo>
                  <a:pt x="508" y="1196339"/>
                </a:moveTo>
                <a:lnTo>
                  <a:pt x="0" y="1209039"/>
                </a:lnTo>
                <a:lnTo>
                  <a:pt x="281940" y="1219199"/>
                </a:lnTo>
                <a:lnTo>
                  <a:pt x="933196" y="1235709"/>
                </a:lnTo>
                <a:lnTo>
                  <a:pt x="1200023" y="1235709"/>
                </a:lnTo>
                <a:lnTo>
                  <a:pt x="1370965" y="1230629"/>
                </a:lnTo>
                <a:lnTo>
                  <a:pt x="1439672" y="1225549"/>
                </a:lnTo>
                <a:lnTo>
                  <a:pt x="1469136" y="1223009"/>
                </a:lnTo>
                <a:lnTo>
                  <a:pt x="933323" y="1223009"/>
                </a:lnTo>
                <a:lnTo>
                  <a:pt x="282321" y="1206499"/>
                </a:lnTo>
                <a:lnTo>
                  <a:pt x="508" y="1196339"/>
                </a:lnTo>
                <a:close/>
              </a:path>
              <a:path w="1579879" h="1235710">
                <a:moveTo>
                  <a:pt x="1561083" y="1187449"/>
                </a:moveTo>
                <a:lnTo>
                  <a:pt x="1550162" y="1193799"/>
                </a:lnTo>
                <a:lnTo>
                  <a:pt x="1535176" y="1197609"/>
                </a:lnTo>
                <a:lnTo>
                  <a:pt x="1516379" y="1202689"/>
                </a:lnTo>
                <a:lnTo>
                  <a:pt x="1467866" y="1210309"/>
                </a:lnTo>
                <a:lnTo>
                  <a:pt x="1370456" y="1217929"/>
                </a:lnTo>
                <a:lnTo>
                  <a:pt x="1200023" y="1223009"/>
                </a:lnTo>
                <a:lnTo>
                  <a:pt x="1469136" y="1223009"/>
                </a:lnTo>
                <a:lnTo>
                  <a:pt x="1518412" y="1215389"/>
                </a:lnTo>
                <a:lnTo>
                  <a:pt x="1566418" y="1200149"/>
                </a:lnTo>
                <a:lnTo>
                  <a:pt x="1566926" y="1198879"/>
                </a:lnTo>
                <a:lnTo>
                  <a:pt x="1567688" y="1198879"/>
                </a:lnTo>
                <a:lnTo>
                  <a:pt x="1575307" y="1192529"/>
                </a:lnTo>
                <a:lnTo>
                  <a:pt x="1576070" y="1192529"/>
                </a:lnTo>
                <a:lnTo>
                  <a:pt x="1576577" y="1191259"/>
                </a:lnTo>
                <a:lnTo>
                  <a:pt x="1578440" y="1188720"/>
                </a:lnTo>
                <a:lnTo>
                  <a:pt x="1559941" y="1188720"/>
                </a:lnTo>
                <a:lnTo>
                  <a:pt x="1561083" y="1187449"/>
                </a:lnTo>
                <a:close/>
              </a:path>
              <a:path w="1579879" h="1235710">
                <a:moveTo>
                  <a:pt x="1567042" y="1182899"/>
                </a:moveTo>
                <a:lnTo>
                  <a:pt x="1559941" y="1188720"/>
                </a:lnTo>
                <a:lnTo>
                  <a:pt x="1578440" y="1188720"/>
                </a:lnTo>
                <a:lnTo>
                  <a:pt x="1579372" y="1187449"/>
                </a:lnTo>
                <a:lnTo>
                  <a:pt x="1579752" y="1186179"/>
                </a:lnTo>
                <a:lnTo>
                  <a:pt x="1579752" y="1184909"/>
                </a:lnTo>
                <a:lnTo>
                  <a:pt x="1566037" y="1184909"/>
                </a:lnTo>
                <a:lnTo>
                  <a:pt x="1567042" y="1182899"/>
                </a:lnTo>
                <a:close/>
              </a:path>
              <a:path w="1579879" h="1235710">
                <a:moveTo>
                  <a:pt x="1567122" y="1182833"/>
                </a:moveTo>
                <a:lnTo>
                  <a:pt x="1566037" y="1184909"/>
                </a:lnTo>
                <a:lnTo>
                  <a:pt x="1567107" y="1183262"/>
                </a:lnTo>
                <a:lnTo>
                  <a:pt x="1567122" y="1182833"/>
                </a:lnTo>
                <a:close/>
              </a:path>
              <a:path w="1579879" h="1235710">
                <a:moveTo>
                  <a:pt x="1567107" y="1183262"/>
                </a:moveTo>
                <a:lnTo>
                  <a:pt x="1566037" y="1184909"/>
                </a:lnTo>
                <a:lnTo>
                  <a:pt x="1567052" y="1184909"/>
                </a:lnTo>
                <a:lnTo>
                  <a:pt x="1567107" y="1183262"/>
                </a:lnTo>
                <a:close/>
              </a:path>
              <a:path w="1579879" h="1235710">
                <a:moveTo>
                  <a:pt x="1567357" y="1182877"/>
                </a:moveTo>
                <a:lnTo>
                  <a:pt x="1567107" y="1183262"/>
                </a:lnTo>
                <a:lnTo>
                  <a:pt x="1567052" y="1184909"/>
                </a:lnTo>
                <a:lnTo>
                  <a:pt x="1567349" y="1183639"/>
                </a:lnTo>
                <a:lnTo>
                  <a:pt x="1567357" y="1182877"/>
                </a:lnTo>
                <a:close/>
              </a:path>
              <a:path w="1579879" h="1235710">
                <a:moveTo>
                  <a:pt x="1567467" y="1183131"/>
                </a:moveTo>
                <a:lnTo>
                  <a:pt x="1567052" y="1184909"/>
                </a:lnTo>
                <a:lnTo>
                  <a:pt x="1579752" y="1184909"/>
                </a:lnTo>
                <a:lnTo>
                  <a:pt x="1579795" y="1183639"/>
                </a:lnTo>
                <a:lnTo>
                  <a:pt x="1567688" y="1183639"/>
                </a:lnTo>
                <a:lnTo>
                  <a:pt x="1567467" y="1183131"/>
                </a:lnTo>
                <a:close/>
              </a:path>
              <a:path w="1579879" h="1235710">
                <a:moveTo>
                  <a:pt x="1567531" y="1182858"/>
                </a:moveTo>
                <a:lnTo>
                  <a:pt x="1567524" y="1183262"/>
                </a:lnTo>
                <a:lnTo>
                  <a:pt x="1567688" y="1183639"/>
                </a:lnTo>
                <a:lnTo>
                  <a:pt x="1567531" y="1182858"/>
                </a:lnTo>
                <a:close/>
              </a:path>
              <a:path w="1579879" h="1235710">
                <a:moveTo>
                  <a:pt x="1579837" y="1182370"/>
                </a:moveTo>
                <a:lnTo>
                  <a:pt x="1567688" y="1182370"/>
                </a:lnTo>
                <a:lnTo>
                  <a:pt x="1567586" y="1183131"/>
                </a:lnTo>
                <a:lnTo>
                  <a:pt x="1567688" y="1183639"/>
                </a:lnTo>
                <a:lnTo>
                  <a:pt x="1579795" y="1183639"/>
                </a:lnTo>
                <a:lnTo>
                  <a:pt x="1579837" y="1182370"/>
                </a:lnTo>
                <a:close/>
              </a:path>
              <a:path w="1579879" h="1235710">
                <a:moveTo>
                  <a:pt x="1567281" y="1182702"/>
                </a:moveTo>
                <a:lnTo>
                  <a:pt x="1567122" y="1182833"/>
                </a:lnTo>
                <a:lnTo>
                  <a:pt x="1567107" y="1183262"/>
                </a:lnTo>
                <a:lnTo>
                  <a:pt x="1567344" y="1182899"/>
                </a:lnTo>
                <a:lnTo>
                  <a:pt x="1567281" y="1182702"/>
                </a:lnTo>
                <a:close/>
              </a:path>
              <a:path w="1579879" h="1235710">
                <a:moveTo>
                  <a:pt x="1567469" y="1182548"/>
                </a:moveTo>
                <a:lnTo>
                  <a:pt x="1567357" y="1182877"/>
                </a:lnTo>
                <a:lnTo>
                  <a:pt x="1567471" y="1182702"/>
                </a:lnTo>
                <a:lnTo>
                  <a:pt x="1567469" y="1182548"/>
                </a:lnTo>
                <a:close/>
              </a:path>
              <a:path w="1579879" h="1235710">
                <a:moveTo>
                  <a:pt x="1567216" y="1182551"/>
                </a:moveTo>
                <a:lnTo>
                  <a:pt x="1567122" y="1182833"/>
                </a:lnTo>
                <a:lnTo>
                  <a:pt x="1567216" y="1182551"/>
                </a:lnTo>
                <a:close/>
              </a:path>
              <a:path w="1579879" h="1235710">
                <a:moveTo>
                  <a:pt x="1567397" y="1182188"/>
                </a:moveTo>
                <a:lnTo>
                  <a:pt x="1567281" y="1182702"/>
                </a:lnTo>
                <a:lnTo>
                  <a:pt x="1567466" y="1182551"/>
                </a:lnTo>
                <a:lnTo>
                  <a:pt x="1567397" y="1182188"/>
                </a:lnTo>
                <a:close/>
              </a:path>
              <a:path w="1579879" h="1235710">
                <a:moveTo>
                  <a:pt x="1567635" y="1182412"/>
                </a:moveTo>
                <a:lnTo>
                  <a:pt x="1567493" y="1182668"/>
                </a:lnTo>
                <a:lnTo>
                  <a:pt x="1567635" y="1182412"/>
                </a:lnTo>
                <a:close/>
              </a:path>
              <a:path w="1579879" h="1235710">
                <a:moveTo>
                  <a:pt x="1567179" y="1181099"/>
                </a:moveTo>
                <a:lnTo>
                  <a:pt x="1567216" y="1182551"/>
                </a:lnTo>
                <a:lnTo>
                  <a:pt x="1567397" y="1182188"/>
                </a:lnTo>
                <a:lnTo>
                  <a:pt x="1567179" y="1181099"/>
                </a:lnTo>
                <a:close/>
              </a:path>
              <a:path w="1579879" h="1235710">
                <a:moveTo>
                  <a:pt x="1567942" y="1181099"/>
                </a:moveTo>
                <a:lnTo>
                  <a:pt x="1567397" y="1182188"/>
                </a:lnTo>
                <a:lnTo>
                  <a:pt x="1567469" y="1182548"/>
                </a:lnTo>
                <a:lnTo>
                  <a:pt x="1567687" y="1182188"/>
                </a:lnTo>
                <a:lnTo>
                  <a:pt x="1567942" y="1181099"/>
                </a:lnTo>
                <a:close/>
              </a:path>
              <a:path w="1579879" h="1235710">
                <a:moveTo>
                  <a:pt x="1579879" y="1181099"/>
                </a:moveTo>
                <a:lnTo>
                  <a:pt x="1567942" y="1181099"/>
                </a:lnTo>
                <a:lnTo>
                  <a:pt x="1567635" y="1182412"/>
                </a:lnTo>
                <a:lnTo>
                  <a:pt x="1579837" y="1182370"/>
                </a:lnTo>
                <a:lnTo>
                  <a:pt x="1579879" y="1181099"/>
                </a:lnTo>
                <a:close/>
              </a:path>
              <a:path w="1579879" h="1235710">
                <a:moveTo>
                  <a:pt x="371982" y="802639"/>
                </a:moveTo>
                <a:lnTo>
                  <a:pt x="359282" y="802639"/>
                </a:lnTo>
                <a:lnTo>
                  <a:pt x="359409" y="804926"/>
                </a:lnTo>
                <a:lnTo>
                  <a:pt x="359918" y="808989"/>
                </a:lnTo>
                <a:lnTo>
                  <a:pt x="360172" y="808989"/>
                </a:lnTo>
                <a:lnTo>
                  <a:pt x="360679" y="810260"/>
                </a:lnTo>
                <a:lnTo>
                  <a:pt x="363093" y="814069"/>
                </a:lnTo>
                <a:lnTo>
                  <a:pt x="363600" y="815339"/>
                </a:lnTo>
                <a:lnTo>
                  <a:pt x="363854" y="815339"/>
                </a:lnTo>
                <a:lnTo>
                  <a:pt x="367792" y="819150"/>
                </a:lnTo>
                <a:lnTo>
                  <a:pt x="368046" y="820419"/>
                </a:lnTo>
                <a:lnTo>
                  <a:pt x="368553" y="820419"/>
                </a:lnTo>
                <a:lnTo>
                  <a:pt x="374776" y="825500"/>
                </a:lnTo>
                <a:lnTo>
                  <a:pt x="382397" y="829310"/>
                </a:lnTo>
                <a:lnTo>
                  <a:pt x="391414" y="834389"/>
                </a:lnTo>
                <a:lnTo>
                  <a:pt x="401954" y="839469"/>
                </a:lnTo>
                <a:lnTo>
                  <a:pt x="413766" y="845819"/>
                </a:lnTo>
                <a:lnTo>
                  <a:pt x="426974" y="850900"/>
                </a:lnTo>
                <a:lnTo>
                  <a:pt x="441451" y="855979"/>
                </a:lnTo>
                <a:lnTo>
                  <a:pt x="457200" y="862329"/>
                </a:lnTo>
                <a:lnTo>
                  <a:pt x="474091" y="867410"/>
                </a:lnTo>
                <a:lnTo>
                  <a:pt x="511175" y="880110"/>
                </a:lnTo>
                <a:lnTo>
                  <a:pt x="574294" y="899160"/>
                </a:lnTo>
                <a:lnTo>
                  <a:pt x="644905" y="918210"/>
                </a:lnTo>
                <a:lnTo>
                  <a:pt x="669925" y="925829"/>
                </a:lnTo>
                <a:lnTo>
                  <a:pt x="721741" y="938529"/>
                </a:lnTo>
                <a:lnTo>
                  <a:pt x="775589" y="952499"/>
                </a:lnTo>
                <a:lnTo>
                  <a:pt x="830833" y="967739"/>
                </a:lnTo>
                <a:lnTo>
                  <a:pt x="944372" y="995679"/>
                </a:lnTo>
                <a:lnTo>
                  <a:pt x="1001649" y="1010919"/>
                </a:lnTo>
                <a:lnTo>
                  <a:pt x="1223391" y="1066799"/>
                </a:lnTo>
                <a:lnTo>
                  <a:pt x="1249426" y="1073149"/>
                </a:lnTo>
                <a:lnTo>
                  <a:pt x="1299464" y="1087120"/>
                </a:lnTo>
                <a:lnTo>
                  <a:pt x="1323467" y="1093470"/>
                </a:lnTo>
                <a:lnTo>
                  <a:pt x="1369187" y="1106170"/>
                </a:lnTo>
                <a:lnTo>
                  <a:pt x="1390777" y="1112520"/>
                </a:lnTo>
                <a:lnTo>
                  <a:pt x="1411351" y="1118870"/>
                </a:lnTo>
                <a:lnTo>
                  <a:pt x="1431036" y="1123949"/>
                </a:lnTo>
                <a:lnTo>
                  <a:pt x="1449577" y="1130299"/>
                </a:lnTo>
                <a:lnTo>
                  <a:pt x="1467103" y="1135379"/>
                </a:lnTo>
                <a:lnTo>
                  <a:pt x="1483360" y="1141729"/>
                </a:lnTo>
                <a:lnTo>
                  <a:pt x="1498473" y="1146809"/>
                </a:lnTo>
                <a:lnTo>
                  <a:pt x="1512316" y="1151889"/>
                </a:lnTo>
                <a:lnTo>
                  <a:pt x="1524635" y="1156970"/>
                </a:lnTo>
                <a:lnTo>
                  <a:pt x="1535683" y="1162049"/>
                </a:lnTo>
                <a:lnTo>
                  <a:pt x="1545208" y="1165859"/>
                </a:lnTo>
                <a:lnTo>
                  <a:pt x="1553082" y="1170939"/>
                </a:lnTo>
                <a:lnTo>
                  <a:pt x="1559178" y="1174749"/>
                </a:lnTo>
                <a:lnTo>
                  <a:pt x="1564386" y="1178559"/>
                </a:lnTo>
                <a:lnTo>
                  <a:pt x="1563624" y="1178559"/>
                </a:lnTo>
                <a:lnTo>
                  <a:pt x="1567052" y="1182370"/>
                </a:lnTo>
                <a:lnTo>
                  <a:pt x="1566037" y="1179829"/>
                </a:lnTo>
                <a:lnTo>
                  <a:pt x="1579626" y="1179829"/>
                </a:lnTo>
                <a:lnTo>
                  <a:pt x="1579245" y="1178559"/>
                </a:lnTo>
                <a:lnTo>
                  <a:pt x="1577594" y="1174749"/>
                </a:lnTo>
                <a:lnTo>
                  <a:pt x="1577340" y="1174749"/>
                </a:lnTo>
                <a:lnTo>
                  <a:pt x="1576958" y="1173479"/>
                </a:lnTo>
                <a:lnTo>
                  <a:pt x="1576451" y="1173479"/>
                </a:lnTo>
                <a:lnTo>
                  <a:pt x="1573022" y="1169670"/>
                </a:lnTo>
                <a:lnTo>
                  <a:pt x="1572641" y="1168399"/>
                </a:lnTo>
                <a:lnTo>
                  <a:pt x="1572387" y="1168399"/>
                </a:lnTo>
                <a:lnTo>
                  <a:pt x="1567179" y="1164589"/>
                </a:lnTo>
                <a:lnTo>
                  <a:pt x="1559941" y="1159509"/>
                </a:lnTo>
                <a:lnTo>
                  <a:pt x="1551304" y="1155699"/>
                </a:lnTo>
                <a:lnTo>
                  <a:pt x="1541272" y="1150620"/>
                </a:lnTo>
                <a:lnTo>
                  <a:pt x="1529715" y="1145539"/>
                </a:lnTo>
                <a:lnTo>
                  <a:pt x="1517015" y="1140459"/>
                </a:lnTo>
                <a:lnTo>
                  <a:pt x="1502918" y="1135379"/>
                </a:lnTo>
                <a:lnTo>
                  <a:pt x="1487677" y="1129029"/>
                </a:lnTo>
                <a:lnTo>
                  <a:pt x="1471168" y="1123949"/>
                </a:lnTo>
                <a:lnTo>
                  <a:pt x="1453515" y="1117599"/>
                </a:lnTo>
                <a:lnTo>
                  <a:pt x="1434846" y="1112520"/>
                </a:lnTo>
                <a:lnTo>
                  <a:pt x="1394332" y="1099820"/>
                </a:lnTo>
                <a:lnTo>
                  <a:pt x="1350137" y="1087120"/>
                </a:lnTo>
                <a:lnTo>
                  <a:pt x="1326896" y="1080770"/>
                </a:lnTo>
                <a:lnTo>
                  <a:pt x="1252601" y="1061720"/>
                </a:lnTo>
                <a:lnTo>
                  <a:pt x="1226566" y="1054099"/>
                </a:lnTo>
                <a:lnTo>
                  <a:pt x="947420" y="984249"/>
                </a:lnTo>
                <a:lnTo>
                  <a:pt x="890397" y="969009"/>
                </a:lnTo>
                <a:lnTo>
                  <a:pt x="778637" y="941069"/>
                </a:lnTo>
                <a:lnTo>
                  <a:pt x="724916" y="927100"/>
                </a:lnTo>
                <a:lnTo>
                  <a:pt x="698753" y="919479"/>
                </a:lnTo>
                <a:lnTo>
                  <a:pt x="648335" y="906779"/>
                </a:lnTo>
                <a:lnTo>
                  <a:pt x="624077" y="899160"/>
                </a:lnTo>
                <a:lnTo>
                  <a:pt x="600455" y="892810"/>
                </a:lnTo>
                <a:lnTo>
                  <a:pt x="577723" y="886460"/>
                </a:lnTo>
                <a:lnTo>
                  <a:pt x="534924" y="873760"/>
                </a:lnTo>
                <a:lnTo>
                  <a:pt x="514985" y="867410"/>
                </a:lnTo>
                <a:lnTo>
                  <a:pt x="495935" y="861060"/>
                </a:lnTo>
                <a:lnTo>
                  <a:pt x="478027" y="855979"/>
                </a:lnTo>
                <a:lnTo>
                  <a:pt x="461391" y="849629"/>
                </a:lnTo>
                <a:lnTo>
                  <a:pt x="445770" y="844550"/>
                </a:lnTo>
                <a:lnTo>
                  <a:pt x="431546" y="839469"/>
                </a:lnTo>
                <a:lnTo>
                  <a:pt x="418592" y="833119"/>
                </a:lnTo>
                <a:lnTo>
                  <a:pt x="407035" y="828039"/>
                </a:lnTo>
                <a:lnTo>
                  <a:pt x="397001" y="822960"/>
                </a:lnTo>
                <a:lnTo>
                  <a:pt x="388493" y="819150"/>
                </a:lnTo>
                <a:lnTo>
                  <a:pt x="381507" y="814069"/>
                </a:lnTo>
                <a:lnTo>
                  <a:pt x="376427" y="810260"/>
                </a:lnTo>
                <a:lnTo>
                  <a:pt x="377190" y="810260"/>
                </a:lnTo>
                <a:lnTo>
                  <a:pt x="374480" y="807719"/>
                </a:lnTo>
                <a:lnTo>
                  <a:pt x="373888" y="807719"/>
                </a:lnTo>
                <a:lnTo>
                  <a:pt x="373126" y="806450"/>
                </a:lnTo>
                <a:lnTo>
                  <a:pt x="372364" y="806450"/>
                </a:lnTo>
                <a:lnTo>
                  <a:pt x="371601" y="803910"/>
                </a:lnTo>
                <a:lnTo>
                  <a:pt x="371855" y="803910"/>
                </a:lnTo>
                <a:lnTo>
                  <a:pt x="371982" y="802639"/>
                </a:lnTo>
                <a:close/>
              </a:path>
              <a:path w="1579879" h="1235710">
                <a:moveTo>
                  <a:pt x="1579879" y="1179829"/>
                </a:moveTo>
                <a:lnTo>
                  <a:pt x="1566037" y="1179829"/>
                </a:lnTo>
                <a:lnTo>
                  <a:pt x="1567137" y="1182370"/>
                </a:lnTo>
                <a:lnTo>
                  <a:pt x="1567179" y="1181099"/>
                </a:lnTo>
                <a:lnTo>
                  <a:pt x="1579879" y="1181099"/>
                </a:lnTo>
                <a:lnTo>
                  <a:pt x="1579879" y="1179829"/>
                </a:lnTo>
                <a:close/>
              </a:path>
              <a:path w="1579879" h="1235710">
                <a:moveTo>
                  <a:pt x="1567942" y="1181099"/>
                </a:moveTo>
                <a:lnTo>
                  <a:pt x="1567179" y="1181099"/>
                </a:lnTo>
                <a:lnTo>
                  <a:pt x="1567397" y="1182188"/>
                </a:lnTo>
                <a:lnTo>
                  <a:pt x="1567942" y="1181099"/>
                </a:lnTo>
                <a:close/>
              </a:path>
              <a:path w="1579879" h="1235710">
                <a:moveTo>
                  <a:pt x="373126" y="806450"/>
                </a:moveTo>
                <a:lnTo>
                  <a:pt x="373888" y="807719"/>
                </a:lnTo>
                <a:lnTo>
                  <a:pt x="374480" y="807719"/>
                </a:lnTo>
                <a:lnTo>
                  <a:pt x="373126" y="806450"/>
                </a:lnTo>
                <a:close/>
              </a:path>
              <a:path w="1579879" h="1235710">
                <a:moveTo>
                  <a:pt x="371601" y="803910"/>
                </a:moveTo>
                <a:lnTo>
                  <a:pt x="372364" y="806450"/>
                </a:lnTo>
                <a:lnTo>
                  <a:pt x="372211" y="804926"/>
                </a:lnTo>
                <a:lnTo>
                  <a:pt x="371601" y="803910"/>
                </a:lnTo>
                <a:close/>
              </a:path>
              <a:path w="1579879" h="1235710">
                <a:moveTo>
                  <a:pt x="372211" y="804926"/>
                </a:moveTo>
                <a:lnTo>
                  <a:pt x="372364" y="806450"/>
                </a:lnTo>
                <a:lnTo>
                  <a:pt x="373126" y="806450"/>
                </a:lnTo>
                <a:lnTo>
                  <a:pt x="372211" y="804926"/>
                </a:lnTo>
                <a:close/>
              </a:path>
              <a:path w="1579879" h="1235710">
                <a:moveTo>
                  <a:pt x="372037" y="803184"/>
                </a:moveTo>
                <a:lnTo>
                  <a:pt x="371855" y="803910"/>
                </a:lnTo>
                <a:lnTo>
                  <a:pt x="371601" y="803910"/>
                </a:lnTo>
                <a:lnTo>
                  <a:pt x="372211" y="804926"/>
                </a:lnTo>
                <a:lnTo>
                  <a:pt x="372037" y="803184"/>
                </a:lnTo>
                <a:close/>
              </a:path>
              <a:path w="1579879" h="1235710">
                <a:moveTo>
                  <a:pt x="372395" y="801750"/>
                </a:moveTo>
                <a:lnTo>
                  <a:pt x="371728" y="802639"/>
                </a:lnTo>
                <a:lnTo>
                  <a:pt x="371982" y="802639"/>
                </a:lnTo>
                <a:lnTo>
                  <a:pt x="372037" y="803184"/>
                </a:lnTo>
                <a:lnTo>
                  <a:pt x="372395" y="801750"/>
                </a:lnTo>
                <a:close/>
              </a:path>
              <a:path w="1579879" h="1235710">
                <a:moveTo>
                  <a:pt x="375539" y="797560"/>
                </a:moveTo>
                <a:lnTo>
                  <a:pt x="360045" y="797560"/>
                </a:lnTo>
                <a:lnTo>
                  <a:pt x="359918" y="798829"/>
                </a:lnTo>
                <a:lnTo>
                  <a:pt x="359410" y="802639"/>
                </a:lnTo>
                <a:lnTo>
                  <a:pt x="371728" y="802639"/>
                </a:lnTo>
                <a:lnTo>
                  <a:pt x="372491" y="801369"/>
                </a:lnTo>
                <a:lnTo>
                  <a:pt x="375539" y="797560"/>
                </a:lnTo>
                <a:close/>
              </a:path>
              <a:path w="1579879" h="1235710">
                <a:moveTo>
                  <a:pt x="372491" y="801369"/>
                </a:moveTo>
                <a:lnTo>
                  <a:pt x="371728" y="802639"/>
                </a:lnTo>
                <a:lnTo>
                  <a:pt x="372395" y="801750"/>
                </a:lnTo>
                <a:lnTo>
                  <a:pt x="372491" y="801369"/>
                </a:lnTo>
                <a:close/>
              </a:path>
              <a:path w="1579879" h="1235710">
                <a:moveTo>
                  <a:pt x="373633" y="800100"/>
                </a:moveTo>
                <a:lnTo>
                  <a:pt x="372491" y="801369"/>
                </a:lnTo>
                <a:lnTo>
                  <a:pt x="372395" y="801750"/>
                </a:lnTo>
                <a:lnTo>
                  <a:pt x="373633" y="800100"/>
                </a:lnTo>
                <a:close/>
              </a:path>
              <a:path w="1579879" h="1235710">
                <a:moveTo>
                  <a:pt x="1307127" y="22755"/>
                </a:moveTo>
                <a:lnTo>
                  <a:pt x="1305786" y="35130"/>
                </a:lnTo>
                <a:lnTo>
                  <a:pt x="1314069" y="53339"/>
                </a:lnTo>
                <a:lnTo>
                  <a:pt x="1336802" y="105410"/>
                </a:lnTo>
                <a:lnTo>
                  <a:pt x="1358519" y="156210"/>
                </a:lnTo>
                <a:lnTo>
                  <a:pt x="1379093" y="205739"/>
                </a:lnTo>
                <a:lnTo>
                  <a:pt x="1398016" y="255269"/>
                </a:lnTo>
                <a:lnTo>
                  <a:pt x="1406652" y="280669"/>
                </a:lnTo>
                <a:lnTo>
                  <a:pt x="1414906" y="303529"/>
                </a:lnTo>
                <a:lnTo>
                  <a:pt x="1429257" y="351789"/>
                </a:lnTo>
                <a:lnTo>
                  <a:pt x="1440942" y="396239"/>
                </a:lnTo>
                <a:lnTo>
                  <a:pt x="1449070" y="440689"/>
                </a:lnTo>
                <a:lnTo>
                  <a:pt x="1453769" y="482600"/>
                </a:lnTo>
                <a:lnTo>
                  <a:pt x="1454657" y="502919"/>
                </a:lnTo>
                <a:lnTo>
                  <a:pt x="1454403" y="521969"/>
                </a:lnTo>
                <a:lnTo>
                  <a:pt x="1447038" y="576579"/>
                </a:lnTo>
                <a:lnTo>
                  <a:pt x="1428623" y="624839"/>
                </a:lnTo>
                <a:lnTo>
                  <a:pt x="1397762" y="668019"/>
                </a:lnTo>
                <a:lnTo>
                  <a:pt x="1377188" y="685800"/>
                </a:lnTo>
                <a:lnTo>
                  <a:pt x="1368678" y="692150"/>
                </a:lnTo>
                <a:lnTo>
                  <a:pt x="1359027" y="697229"/>
                </a:lnTo>
                <a:lnTo>
                  <a:pt x="1348613" y="702310"/>
                </a:lnTo>
                <a:lnTo>
                  <a:pt x="1337182" y="706119"/>
                </a:lnTo>
                <a:lnTo>
                  <a:pt x="1324610" y="711200"/>
                </a:lnTo>
                <a:lnTo>
                  <a:pt x="1282319" y="722629"/>
                </a:lnTo>
                <a:lnTo>
                  <a:pt x="1232916" y="732789"/>
                </a:lnTo>
                <a:lnTo>
                  <a:pt x="1158494" y="742950"/>
                </a:lnTo>
                <a:lnTo>
                  <a:pt x="1076198" y="750569"/>
                </a:lnTo>
                <a:lnTo>
                  <a:pt x="1032891" y="753110"/>
                </a:lnTo>
                <a:lnTo>
                  <a:pt x="807847" y="759460"/>
                </a:lnTo>
                <a:lnTo>
                  <a:pt x="763143" y="759460"/>
                </a:lnTo>
                <a:lnTo>
                  <a:pt x="676655" y="760729"/>
                </a:lnTo>
                <a:lnTo>
                  <a:pt x="635380" y="760729"/>
                </a:lnTo>
                <a:lnTo>
                  <a:pt x="595883" y="762000"/>
                </a:lnTo>
                <a:lnTo>
                  <a:pt x="558546" y="762000"/>
                </a:lnTo>
                <a:lnTo>
                  <a:pt x="540639" y="763269"/>
                </a:lnTo>
                <a:lnTo>
                  <a:pt x="506856" y="764539"/>
                </a:lnTo>
                <a:lnTo>
                  <a:pt x="490981" y="765810"/>
                </a:lnTo>
                <a:lnTo>
                  <a:pt x="475996" y="765810"/>
                </a:lnTo>
                <a:lnTo>
                  <a:pt x="435355" y="769619"/>
                </a:lnTo>
                <a:lnTo>
                  <a:pt x="423418" y="772160"/>
                </a:lnTo>
                <a:lnTo>
                  <a:pt x="402463" y="774700"/>
                </a:lnTo>
                <a:lnTo>
                  <a:pt x="393319" y="777239"/>
                </a:lnTo>
                <a:lnTo>
                  <a:pt x="385445" y="779779"/>
                </a:lnTo>
                <a:lnTo>
                  <a:pt x="378205" y="782319"/>
                </a:lnTo>
                <a:lnTo>
                  <a:pt x="372745" y="784860"/>
                </a:lnTo>
                <a:lnTo>
                  <a:pt x="371982" y="784860"/>
                </a:lnTo>
                <a:lnTo>
                  <a:pt x="367283" y="788669"/>
                </a:lnTo>
                <a:lnTo>
                  <a:pt x="363600" y="792479"/>
                </a:lnTo>
                <a:lnTo>
                  <a:pt x="362712" y="792479"/>
                </a:lnTo>
                <a:lnTo>
                  <a:pt x="362457" y="793750"/>
                </a:lnTo>
                <a:lnTo>
                  <a:pt x="360679" y="796289"/>
                </a:lnTo>
                <a:lnTo>
                  <a:pt x="360299" y="797560"/>
                </a:lnTo>
                <a:lnTo>
                  <a:pt x="375539" y="797560"/>
                </a:lnTo>
                <a:lnTo>
                  <a:pt x="374650" y="798829"/>
                </a:lnTo>
                <a:lnTo>
                  <a:pt x="378968" y="796289"/>
                </a:lnTo>
                <a:lnTo>
                  <a:pt x="378205" y="796289"/>
                </a:lnTo>
                <a:lnTo>
                  <a:pt x="383540" y="793750"/>
                </a:lnTo>
                <a:lnTo>
                  <a:pt x="389636" y="791210"/>
                </a:lnTo>
                <a:lnTo>
                  <a:pt x="397001" y="789939"/>
                </a:lnTo>
                <a:lnTo>
                  <a:pt x="405383" y="787400"/>
                </a:lnTo>
                <a:lnTo>
                  <a:pt x="414908" y="786129"/>
                </a:lnTo>
                <a:lnTo>
                  <a:pt x="425450" y="783589"/>
                </a:lnTo>
                <a:lnTo>
                  <a:pt x="449325" y="781050"/>
                </a:lnTo>
                <a:lnTo>
                  <a:pt x="476885" y="778510"/>
                </a:lnTo>
                <a:lnTo>
                  <a:pt x="491871" y="778510"/>
                </a:lnTo>
                <a:lnTo>
                  <a:pt x="524001" y="775969"/>
                </a:lnTo>
                <a:lnTo>
                  <a:pt x="558926" y="774700"/>
                </a:lnTo>
                <a:lnTo>
                  <a:pt x="577215" y="774700"/>
                </a:lnTo>
                <a:lnTo>
                  <a:pt x="635635" y="773429"/>
                </a:lnTo>
                <a:lnTo>
                  <a:pt x="676782" y="773429"/>
                </a:lnTo>
                <a:lnTo>
                  <a:pt x="763270" y="772160"/>
                </a:lnTo>
                <a:lnTo>
                  <a:pt x="807974" y="772160"/>
                </a:lnTo>
                <a:lnTo>
                  <a:pt x="1033526" y="765810"/>
                </a:lnTo>
                <a:lnTo>
                  <a:pt x="1076960" y="762000"/>
                </a:lnTo>
                <a:lnTo>
                  <a:pt x="1118997" y="759460"/>
                </a:lnTo>
                <a:lnTo>
                  <a:pt x="1159637" y="755650"/>
                </a:lnTo>
                <a:lnTo>
                  <a:pt x="1234948" y="745489"/>
                </a:lnTo>
                <a:lnTo>
                  <a:pt x="1284986" y="735329"/>
                </a:lnTo>
                <a:lnTo>
                  <a:pt x="1328547" y="722629"/>
                </a:lnTo>
                <a:lnTo>
                  <a:pt x="1341374" y="718819"/>
                </a:lnTo>
                <a:lnTo>
                  <a:pt x="1353566" y="713739"/>
                </a:lnTo>
                <a:lnTo>
                  <a:pt x="1364615" y="708660"/>
                </a:lnTo>
                <a:lnTo>
                  <a:pt x="1374775" y="702310"/>
                </a:lnTo>
                <a:lnTo>
                  <a:pt x="1384046" y="697229"/>
                </a:lnTo>
                <a:lnTo>
                  <a:pt x="1419098" y="662939"/>
                </a:lnTo>
                <a:lnTo>
                  <a:pt x="1447546" y="614679"/>
                </a:lnTo>
                <a:lnTo>
                  <a:pt x="1463167" y="561339"/>
                </a:lnTo>
                <a:lnTo>
                  <a:pt x="1467103" y="521969"/>
                </a:lnTo>
                <a:lnTo>
                  <a:pt x="1467357" y="502919"/>
                </a:lnTo>
                <a:lnTo>
                  <a:pt x="1466469" y="481329"/>
                </a:lnTo>
                <a:lnTo>
                  <a:pt x="1461643" y="439419"/>
                </a:lnTo>
                <a:lnTo>
                  <a:pt x="1453261" y="393700"/>
                </a:lnTo>
                <a:lnTo>
                  <a:pt x="1441450" y="347979"/>
                </a:lnTo>
                <a:lnTo>
                  <a:pt x="1426972" y="299719"/>
                </a:lnTo>
                <a:lnTo>
                  <a:pt x="1410080" y="251460"/>
                </a:lnTo>
                <a:lnTo>
                  <a:pt x="1390903" y="201929"/>
                </a:lnTo>
                <a:lnTo>
                  <a:pt x="1370329" y="151129"/>
                </a:lnTo>
                <a:lnTo>
                  <a:pt x="1348486" y="100329"/>
                </a:lnTo>
                <a:lnTo>
                  <a:pt x="1325752" y="48260"/>
                </a:lnTo>
                <a:lnTo>
                  <a:pt x="1317498" y="30110"/>
                </a:lnTo>
                <a:lnTo>
                  <a:pt x="1307127" y="22755"/>
                </a:lnTo>
                <a:close/>
              </a:path>
              <a:path w="1579879" h="1235710">
                <a:moveTo>
                  <a:pt x="1296924" y="0"/>
                </a:moveTo>
                <a:lnTo>
                  <a:pt x="1286128" y="97789"/>
                </a:lnTo>
                <a:lnTo>
                  <a:pt x="1285748" y="101600"/>
                </a:lnTo>
                <a:lnTo>
                  <a:pt x="1288288" y="105410"/>
                </a:lnTo>
                <a:lnTo>
                  <a:pt x="1295273" y="105410"/>
                </a:lnTo>
                <a:lnTo>
                  <a:pt x="1298448" y="102869"/>
                </a:lnTo>
                <a:lnTo>
                  <a:pt x="1305786" y="35130"/>
                </a:lnTo>
                <a:lnTo>
                  <a:pt x="1296162" y="13969"/>
                </a:lnTo>
                <a:lnTo>
                  <a:pt x="1307846" y="8889"/>
                </a:lnTo>
                <a:lnTo>
                  <a:pt x="1309429" y="8889"/>
                </a:lnTo>
                <a:lnTo>
                  <a:pt x="1296924" y="0"/>
                </a:lnTo>
                <a:close/>
              </a:path>
              <a:path w="1579879" h="1235710">
                <a:moveTo>
                  <a:pt x="1309429" y="8889"/>
                </a:moveTo>
                <a:lnTo>
                  <a:pt x="1307846" y="8889"/>
                </a:lnTo>
                <a:lnTo>
                  <a:pt x="1317498" y="30110"/>
                </a:lnTo>
                <a:lnTo>
                  <a:pt x="1369949" y="67310"/>
                </a:lnTo>
                <a:lnTo>
                  <a:pt x="1372870" y="69850"/>
                </a:lnTo>
                <a:lnTo>
                  <a:pt x="1376806" y="68579"/>
                </a:lnTo>
                <a:lnTo>
                  <a:pt x="1380871" y="63500"/>
                </a:lnTo>
                <a:lnTo>
                  <a:pt x="1380236" y="59689"/>
                </a:lnTo>
                <a:lnTo>
                  <a:pt x="1377315" y="57150"/>
                </a:lnTo>
                <a:lnTo>
                  <a:pt x="1309429" y="8889"/>
                </a:lnTo>
                <a:close/>
              </a:path>
              <a:path w="1579879" h="1235710">
                <a:moveTo>
                  <a:pt x="1307846" y="8889"/>
                </a:moveTo>
                <a:lnTo>
                  <a:pt x="1296162" y="13969"/>
                </a:lnTo>
                <a:lnTo>
                  <a:pt x="1305786" y="35130"/>
                </a:lnTo>
                <a:lnTo>
                  <a:pt x="1307127" y="22755"/>
                </a:lnTo>
                <a:lnTo>
                  <a:pt x="1298321" y="16510"/>
                </a:lnTo>
                <a:lnTo>
                  <a:pt x="1308353" y="11429"/>
                </a:lnTo>
                <a:lnTo>
                  <a:pt x="1309001" y="11429"/>
                </a:lnTo>
                <a:lnTo>
                  <a:pt x="1307846" y="8889"/>
                </a:lnTo>
                <a:close/>
              </a:path>
              <a:path w="1579879" h="1235710">
                <a:moveTo>
                  <a:pt x="1309001" y="11429"/>
                </a:moveTo>
                <a:lnTo>
                  <a:pt x="1308353" y="11429"/>
                </a:lnTo>
                <a:lnTo>
                  <a:pt x="1307127" y="22755"/>
                </a:lnTo>
                <a:lnTo>
                  <a:pt x="1317498" y="30110"/>
                </a:lnTo>
                <a:lnTo>
                  <a:pt x="1309001" y="11429"/>
                </a:lnTo>
                <a:close/>
              </a:path>
              <a:path w="1579879" h="1235710">
                <a:moveTo>
                  <a:pt x="1308353" y="11429"/>
                </a:moveTo>
                <a:lnTo>
                  <a:pt x="1298321" y="16510"/>
                </a:lnTo>
                <a:lnTo>
                  <a:pt x="1307127" y="22755"/>
                </a:lnTo>
                <a:lnTo>
                  <a:pt x="1308353" y="11429"/>
                </a:lnTo>
                <a:close/>
              </a:path>
            </a:pathLst>
          </a:custGeom>
          <a:solidFill>
            <a:srgbClr val="FF0000"/>
          </a:solidFill>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Running </a:t>
            </a:r>
            <a:r>
              <a:rPr sz="4620" dirty="0"/>
              <a:t>a </a:t>
            </a:r>
            <a:r>
              <a:rPr sz="4620" spc="-10" dirty="0"/>
              <a:t>Pthreads</a:t>
            </a:r>
            <a:r>
              <a:rPr sz="4620" spc="-20" dirty="0"/>
              <a:t> </a:t>
            </a:r>
            <a:r>
              <a:rPr sz="4620" spc="-25" dirty="0"/>
              <a:t>program</a:t>
            </a:r>
            <a:endParaRPr sz="4620" dirty="0"/>
          </a:p>
        </p:txBody>
      </p:sp>
      <p:sp>
        <p:nvSpPr>
          <p:cNvPr id="3" name="object 3"/>
          <p:cNvSpPr txBox="1"/>
          <p:nvPr/>
        </p:nvSpPr>
        <p:spPr>
          <a:xfrm>
            <a:off x="2438811" y="1671942"/>
            <a:ext cx="4877943" cy="5065395"/>
          </a:xfrm>
          <a:prstGeom prst="rect">
            <a:avLst/>
          </a:prstGeom>
        </p:spPr>
        <p:txBody>
          <a:bodyPr vert="horz" wrap="square" lIns="0" tIns="13334" rIns="0" bIns="0" rtlCol="0">
            <a:spAutoFit/>
          </a:bodyPr>
          <a:lstStyle/>
          <a:p>
            <a:pPr marL="12700">
              <a:lnSpc>
                <a:spcPct val="100000"/>
              </a:lnSpc>
              <a:spcBef>
                <a:spcPts val="100"/>
              </a:spcBef>
              <a:tabLst>
                <a:tab pos="1616075" algn="l"/>
              </a:tabLst>
            </a:pPr>
            <a:r>
              <a:rPr sz="2520" b="0" dirty="0">
                <a:solidFill>
                  <a:srgbClr val="FF0000"/>
                </a:solidFill>
                <a:latin typeface="Calibri Light" panose="020F0302020204030204"/>
                <a:cs typeface="Calibri Light" panose="020F0302020204030204"/>
              </a:rPr>
              <a:t>. </a:t>
            </a:r>
            <a:r>
              <a:rPr sz="2520" b="0" spc="-20" dirty="0">
                <a:solidFill>
                  <a:srgbClr val="FF0000"/>
                </a:solidFill>
                <a:latin typeface="Calibri Light" panose="020F0302020204030204"/>
                <a:cs typeface="Calibri Light" panose="020F0302020204030204"/>
              </a:rPr>
              <a:t>/pth_hello	&lt;number </a:t>
            </a:r>
            <a:r>
              <a:rPr sz="2520" b="0" spc="-5" dirty="0">
                <a:solidFill>
                  <a:srgbClr val="FF0000"/>
                </a:solidFill>
                <a:latin typeface="Calibri Light" panose="020F0302020204030204"/>
                <a:cs typeface="Calibri Light" panose="020F0302020204030204"/>
              </a:rPr>
              <a:t>of</a:t>
            </a:r>
            <a:r>
              <a:rPr sz="2520" b="0" spc="-100" dirty="0">
                <a:solidFill>
                  <a:srgbClr val="FF0000"/>
                </a:solidFill>
                <a:latin typeface="Calibri Light" panose="020F0302020204030204"/>
                <a:cs typeface="Calibri Light" panose="020F0302020204030204"/>
              </a:rPr>
              <a:t> </a:t>
            </a:r>
            <a:r>
              <a:rPr sz="2520" b="0" spc="-20" dirty="0">
                <a:solidFill>
                  <a:srgbClr val="FF0000"/>
                </a:solidFill>
                <a:latin typeface="Calibri Light" panose="020F0302020204030204"/>
                <a:cs typeface="Calibri Light" panose="020F0302020204030204"/>
              </a:rPr>
              <a:t>threads&gt;</a:t>
            </a:r>
            <a:endParaRPr sz="2520">
              <a:latin typeface="Calibri Light" panose="020F0302020204030204"/>
              <a:cs typeface="Calibri Light" panose="020F0302020204030204"/>
            </a:endParaRPr>
          </a:p>
          <a:p>
            <a:pPr>
              <a:lnSpc>
                <a:spcPct val="100000"/>
              </a:lnSpc>
              <a:spcBef>
                <a:spcPts val="45"/>
              </a:spcBef>
            </a:pPr>
            <a:endParaRPr sz="2205">
              <a:latin typeface="Calibri Light" panose="020F0302020204030204"/>
              <a:cs typeface="Calibri Light" panose="020F0302020204030204"/>
            </a:endParaRPr>
          </a:p>
          <a:p>
            <a:pPr marL="12700">
              <a:lnSpc>
                <a:spcPct val="100000"/>
              </a:lnSpc>
              <a:tabLst>
                <a:tab pos="1572895" algn="l"/>
              </a:tabLst>
            </a:pPr>
            <a:r>
              <a:rPr sz="2520" b="0" dirty="0">
                <a:latin typeface="Calibri Light" panose="020F0302020204030204"/>
                <a:cs typeface="Calibri Light" panose="020F0302020204030204"/>
              </a:rPr>
              <a:t>.</a:t>
            </a:r>
            <a:r>
              <a:rPr sz="2520" b="0" spc="10" dirty="0">
                <a:latin typeface="Calibri Light" panose="020F0302020204030204"/>
                <a:cs typeface="Calibri Light" panose="020F0302020204030204"/>
              </a:rPr>
              <a:t> </a:t>
            </a:r>
            <a:r>
              <a:rPr sz="2520" b="0" spc="-5" dirty="0">
                <a:latin typeface="Calibri Light" panose="020F0302020204030204"/>
                <a:cs typeface="Calibri Light" panose="020F0302020204030204"/>
              </a:rPr>
              <a:t>/pth_hello	</a:t>
            </a:r>
            <a:r>
              <a:rPr sz="2520" b="0" dirty="0">
                <a:latin typeface="Calibri Light" panose="020F0302020204030204"/>
                <a:cs typeface="Calibri Light" panose="020F0302020204030204"/>
              </a:rPr>
              <a:t>1</a:t>
            </a:r>
            <a:endParaRPr sz="2520">
              <a:latin typeface="Calibri Light" panose="020F0302020204030204"/>
              <a:cs typeface="Calibri Light" panose="020F0302020204030204"/>
            </a:endParaRPr>
          </a:p>
          <a:p>
            <a:pPr marL="1308100" marR="5080">
              <a:lnSpc>
                <a:spcPct val="120000"/>
              </a:lnSpc>
              <a:spcBef>
                <a:spcPts val="230"/>
              </a:spcBef>
            </a:pP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dirty="0">
                <a:solidFill>
                  <a:srgbClr val="3399FF"/>
                </a:solidFill>
                <a:latin typeface="Calibri Light" panose="020F0302020204030204"/>
                <a:cs typeface="Calibri Light" panose="020F0302020204030204"/>
              </a:rPr>
              <a:t>the </a:t>
            </a:r>
            <a:r>
              <a:rPr sz="2520" b="0" spc="-5" dirty="0">
                <a:solidFill>
                  <a:srgbClr val="3399FF"/>
                </a:solidFill>
                <a:latin typeface="Calibri Light" panose="020F0302020204030204"/>
                <a:cs typeface="Calibri Light" panose="020F0302020204030204"/>
              </a:rPr>
              <a:t>main</a:t>
            </a:r>
            <a:r>
              <a:rPr sz="2520" b="0" spc="-105" dirty="0">
                <a:solidFill>
                  <a:srgbClr val="3399FF"/>
                </a:solidFill>
                <a:latin typeface="Calibri Light" panose="020F0302020204030204"/>
                <a:cs typeface="Calibri Light" panose="020F0302020204030204"/>
              </a:rPr>
              <a:t> </a:t>
            </a:r>
            <a:r>
              <a:rPr sz="2520" b="0" spc="-10" dirty="0">
                <a:solidFill>
                  <a:srgbClr val="3399FF"/>
                </a:solidFill>
                <a:latin typeface="Calibri Light" panose="020F0302020204030204"/>
                <a:cs typeface="Calibri Light" panose="020F0302020204030204"/>
              </a:rPr>
              <a:t>thread  </a:t>
            </a: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spc="-10" dirty="0">
                <a:solidFill>
                  <a:srgbClr val="3399FF"/>
                </a:solidFill>
                <a:latin typeface="Calibri Light" panose="020F0302020204030204"/>
                <a:cs typeface="Calibri Light" panose="020F0302020204030204"/>
              </a:rPr>
              <a:t>thread </a:t>
            </a:r>
            <a:r>
              <a:rPr sz="2520" b="0" dirty="0">
                <a:solidFill>
                  <a:srgbClr val="3399FF"/>
                </a:solidFill>
                <a:latin typeface="Calibri Light" panose="020F0302020204030204"/>
                <a:cs typeface="Calibri Light" panose="020F0302020204030204"/>
              </a:rPr>
              <a:t>0 </a:t>
            </a:r>
            <a:r>
              <a:rPr sz="2520" b="0" spc="-5" dirty="0">
                <a:solidFill>
                  <a:srgbClr val="3399FF"/>
                </a:solidFill>
                <a:latin typeface="Calibri Light" panose="020F0302020204030204"/>
                <a:cs typeface="Calibri Light" panose="020F0302020204030204"/>
              </a:rPr>
              <a:t>of</a:t>
            </a:r>
            <a:r>
              <a:rPr sz="2520" b="0" spc="-85" dirty="0">
                <a:solidFill>
                  <a:srgbClr val="3399FF"/>
                </a:solidFill>
                <a:latin typeface="Calibri Light" panose="020F0302020204030204"/>
                <a:cs typeface="Calibri Light" panose="020F0302020204030204"/>
              </a:rPr>
              <a:t> </a:t>
            </a:r>
            <a:r>
              <a:rPr sz="2520" b="0" dirty="0">
                <a:solidFill>
                  <a:srgbClr val="3399FF"/>
                </a:solidFill>
                <a:latin typeface="Calibri Light" panose="020F0302020204030204"/>
                <a:cs typeface="Calibri Light" panose="020F0302020204030204"/>
              </a:rPr>
              <a:t>1</a:t>
            </a:r>
            <a:endParaRPr sz="2520">
              <a:latin typeface="Calibri Light" panose="020F0302020204030204"/>
              <a:cs typeface="Calibri Light" panose="020F0302020204030204"/>
            </a:endParaRPr>
          </a:p>
          <a:p>
            <a:pPr marL="12700">
              <a:lnSpc>
                <a:spcPct val="100000"/>
              </a:lnSpc>
              <a:spcBef>
                <a:spcPts val="1765"/>
              </a:spcBef>
            </a:pPr>
            <a:r>
              <a:rPr sz="2520" b="0" dirty="0">
                <a:latin typeface="Calibri Light" panose="020F0302020204030204"/>
                <a:cs typeface="Calibri Light" panose="020F0302020204030204"/>
              </a:rPr>
              <a:t>. </a:t>
            </a:r>
            <a:r>
              <a:rPr sz="2520" b="0" spc="-5" dirty="0">
                <a:latin typeface="Calibri Light" panose="020F0302020204030204"/>
                <a:cs typeface="Calibri Light" panose="020F0302020204030204"/>
              </a:rPr>
              <a:t>/pth_hello</a:t>
            </a:r>
            <a:r>
              <a:rPr sz="2520" b="0" spc="-20" dirty="0">
                <a:latin typeface="Calibri Light" panose="020F0302020204030204"/>
                <a:cs typeface="Calibri Light" panose="020F0302020204030204"/>
              </a:rPr>
              <a:t> </a:t>
            </a:r>
            <a:r>
              <a:rPr sz="2520" b="0" dirty="0">
                <a:latin typeface="Calibri Light" panose="020F0302020204030204"/>
                <a:cs typeface="Calibri Light" panose="020F0302020204030204"/>
              </a:rPr>
              <a:t>4</a:t>
            </a:r>
            <a:endParaRPr sz="2520">
              <a:latin typeface="Calibri Light" panose="020F0302020204030204"/>
              <a:cs typeface="Calibri Light" panose="020F0302020204030204"/>
            </a:endParaRPr>
          </a:p>
          <a:p>
            <a:pPr marL="1308100" marR="5080">
              <a:lnSpc>
                <a:spcPct val="120000"/>
              </a:lnSpc>
              <a:spcBef>
                <a:spcPts val="360"/>
              </a:spcBef>
            </a:pP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dirty="0">
                <a:solidFill>
                  <a:srgbClr val="3399FF"/>
                </a:solidFill>
                <a:latin typeface="Calibri Light" panose="020F0302020204030204"/>
                <a:cs typeface="Calibri Light" panose="020F0302020204030204"/>
              </a:rPr>
              <a:t>the </a:t>
            </a:r>
            <a:r>
              <a:rPr sz="2520" b="0" spc="-5" dirty="0">
                <a:solidFill>
                  <a:srgbClr val="3399FF"/>
                </a:solidFill>
                <a:latin typeface="Calibri Light" panose="020F0302020204030204"/>
                <a:cs typeface="Calibri Light" panose="020F0302020204030204"/>
              </a:rPr>
              <a:t>main</a:t>
            </a:r>
            <a:r>
              <a:rPr sz="2520" b="0" spc="-105" dirty="0">
                <a:solidFill>
                  <a:srgbClr val="3399FF"/>
                </a:solidFill>
                <a:latin typeface="Calibri Light" panose="020F0302020204030204"/>
                <a:cs typeface="Calibri Light" panose="020F0302020204030204"/>
              </a:rPr>
              <a:t> </a:t>
            </a:r>
            <a:r>
              <a:rPr sz="2520" b="0" spc="-10" dirty="0">
                <a:solidFill>
                  <a:srgbClr val="3399FF"/>
                </a:solidFill>
                <a:latin typeface="Calibri Light" panose="020F0302020204030204"/>
                <a:cs typeface="Calibri Light" panose="020F0302020204030204"/>
              </a:rPr>
              <a:t>thread  </a:t>
            </a: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spc="-10" dirty="0">
                <a:solidFill>
                  <a:srgbClr val="3399FF"/>
                </a:solidFill>
                <a:latin typeface="Calibri Light" panose="020F0302020204030204"/>
                <a:cs typeface="Calibri Light" panose="020F0302020204030204"/>
              </a:rPr>
              <a:t>thread </a:t>
            </a:r>
            <a:r>
              <a:rPr sz="2520" b="0" dirty="0">
                <a:solidFill>
                  <a:srgbClr val="3399FF"/>
                </a:solidFill>
                <a:latin typeface="Calibri Light" panose="020F0302020204030204"/>
                <a:cs typeface="Calibri Light" panose="020F0302020204030204"/>
              </a:rPr>
              <a:t>0 </a:t>
            </a:r>
            <a:r>
              <a:rPr sz="2520" b="0" spc="-5" dirty="0">
                <a:solidFill>
                  <a:srgbClr val="3399FF"/>
                </a:solidFill>
                <a:latin typeface="Calibri Light" panose="020F0302020204030204"/>
                <a:cs typeface="Calibri Light" panose="020F0302020204030204"/>
              </a:rPr>
              <a:t>of</a:t>
            </a:r>
            <a:r>
              <a:rPr sz="2520" b="0" spc="-85" dirty="0">
                <a:solidFill>
                  <a:srgbClr val="3399FF"/>
                </a:solidFill>
                <a:latin typeface="Calibri Light" panose="020F0302020204030204"/>
                <a:cs typeface="Calibri Light" panose="020F0302020204030204"/>
              </a:rPr>
              <a:t> </a:t>
            </a:r>
            <a:r>
              <a:rPr sz="2520" b="0" dirty="0">
                <a:solidFill>
                  <a:srgbClr val="3399FF"/>
                </a:solidFill>
                <a:latin typeface="Calibri Light" panose="020F0302020204030204"/>
                <a:cs typeface="Calibri Light" panose="020F0302020204030204"/>
              </a:rPr>
              <a:t>4</a:t>
            </a:r>
            <a:endParaRPr sz="2520">
              <a:latin typeface="Calibri Light" panose="020F0302020204030204"/>
              <a:cs typeface="Calibri Light" panose="020F0302020204030204"/>
            </a:endParaRPr>
          </a:p>
          <a:p>
            <a:pPr marL="1308100">
              <a:lnSpc>
                <a:spcPct val="100000"/>
              </a:lnSpc>
              <a:spcBef>
                <a:spcPts val="580"/>
              </a:spcBef>
            </a:pP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spc="-10" dirty="0">
                <a:solidFill>
                  <a:srgbClr val="3399FF"/>
                </a:solidFill>
                <a:latin typeface="Calibri Light" panose="020F0302020204030204"/>
                <a:cs typeface="Calibri Light" panose="020F0302020204030204"/>
              </a:rPr>
              <a:t>thread </a:t>
            </a:r>
            <a:r>
              <a:rPr sz="2520" b="0" dirty="0">
                <a:solidFill>
                  <a:srgbClr val="3399FF"/>
                </a:solidFill>
                <a:latin typeface="Calibri Light" panose="020F0302020204030204"/>
                <a:cs typeface="Calibri Light" panose="020F0302020204030204"/>
              </a:rPr>
              <a:t>1 </a:t>
            </a:r>
            <a:r>
              <a:rPr sz="2520" b="0" spc="-5" dirty="0">
                <a:solidFill>
                  <a:srgbClr val="3399FF"/>
                </a:solidFill>
                <a:latin typeface="Calibri Light" panose="020F0302020204030204"/>
                <a:cs typeface="Calibri Light" panose="020F0302020204030204"/>
              </a:rPr>
              <a:t>of</a:t>
            </a:r>
            <a:r>
              <a:rPr sz="2520" b="0" spc="-120" dirty="0">
                <a:solidFill>
                  <a:srgbClr val="3399FF"/>
                </a:solidFill>
                <a:latin typeface="Calibri Light" panose="020F0302020204030204"/>
                <a:cs typeface="Calibri Light" panose="020F0302020204030204"/>
              </a:rPr>
              <a:t> </a:t>
            </a:r>
            <a:r>
              <a:rPr sz="2520" b="0" dirty="0">
                <a:solidFill>
                  <a:srgbClr val="3399FF"/>
                </a:solidFill>
                <a:latin typeface="Calibri Light" panose="020F0302020204030204"/>
                <a:cs typeface="Calibri Light" panose="020F0302020204030204"/>
              </a:rPr>
              <a:t>4</a:t>
            </a:r>
            <a:endParaRPr sz="2520">
              <a:latin typeface="Calibri Light" panose="020F0302020204030204"/>
              <a:cs typeface="Calibri Light" panose="020F0302020204030204"/>
            </a:endParaRPr>
          </a:p>
          <a:p>
            <a:pPr marL="1308100">
              <a:lnSpc>
                <a:spcPct val="100000"/>
              </a:lnSpc>
              <a:spcBef>
                <a:spcPts val="575"/>
              </a:spcBef>
            </a:pP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spc="-10" dirty="0">
                <a:solidFill>
                  <a:srgbClr val="3399FF"/>
                </a:solidFill>
                <a:latin typeface="Calibri Light" panose="020F0302020204030204"/>
                <a:cs typeface="Calibri Light" panose="020F0302020204030204"/>
              </a:rPr>
              <a:t>thread </a:t>
            </a:r>
            <a:r>
              <a:rPr sz="2520" b="0" dirty="0">
                <a:solidFill>
                  <a:srgbClr val="3399FF"/>
                </a:solidFill>
                <a:latin typeface="Calibri Light" panose="020F0302020204030204"/>
                <a:cs typeface="Calibri Light" panose="020F0302020204030204"/>
              </a:rPr>
              <a:t>2 </a:t>
            </a:r>
            <a:r>
              <a:rPr sz="2520" b="0" spc="-5" dirty="0">
                <a:solidFill>
                  <a:srgbClr val="3399FF"/>
                </a:solidFill>
                <a:latin typeface="Calibri Light" panose="020F0302020204030204"/>
                <a:cs typeface="Calibri Light" panose="020F0302020204030204"/>
              </a:rPr>
              <a:t>of</a:t>
            </a:r>
            <a:r>
              <a:rPr sz="2520" b="0" spc="-120" dirty="0">
                <a:solidFill>
                  <a:srgbClr val="3399FF"/>
                </a:solidFill>
                <a:latin typeface="Calibri Light" panose="020F0302020204030204"/>
                <a:cs typeface="Calibri Light" panose="020F0302020204030204"/>
              </a:rPr>
              <a:t> </a:t>
            </a:r>
            <a:r>
              <a:rPr sz="2520" b="0" dirty="0">
                <a:solidFill>
                  <a:srgbClr val="3399FF"/>
                </a:solidFill>
                <a:latin typeface="Calibri Light" panose="020F0302020204030204"/>
                <a:cs typeface="Calibri Light" panose="020F0302020204030204"/>
              </a:rPr>
              <a:t>4</a:t>
            </a:r>
            <a:endParaRPr sz="2520">
              <a:latin typeface="Calibri Light" panose="020F0302020204030204"/>
              <a:cs typeface="Calibri Light" panose="020F0302020204030204"/>
            </a:endParaRPr>
          </a:p>
          <a:p>
            <a:pPr marL="1308100">
              <a:lnSpc>
                <a:spcPct val="100000"/>
              </a:lnSpc>
              <a:spcBef>
                <a:spcPts val="575"/>
              </a:spcBef>
            </a:pPr>
            <a:r>
              <a:rPr sz="2520" b="0" spc="-5" dirty="0">
                <a:solidFill>
                  <a:srgbClr val="3399FF"/>
                </a:solidFill>
                <a:latin typeface="Calibri Light" panose="020F0302020204030204"/>
                <a:cs typeface="Calibri Light" panose="020F0302020204030204"/>
              </a:rPr>
              <a:t>Hello </a:t>
            </a:r>
            <a:r>
              <a:rPr sz="2520" b="0" spc="-15" dirty="0">
                <a:solidFill>
                  <a:srgbClr val="3399FF"/>
                </a:solidFill>
                <a:latin typeface="Calibri Light" panose="020F0302020204030204"/>
                <a:cs typeface="Calibri Light" panose="020F0302020204030204"/>
              </a:rPr>
              <a:t>from </a:t>
            </a:r>
            <a:r>
              <a:rPr sz="2520" b="0" spc="-10" dirty="0">
                <a:solidFill>
                  <a:srgbClr val="3399FF"/>
                </a:solidFill>
                <a:latin typeface="Calibri Light" panose="020F0302020204030204"/>
                <a:cs typeface="Calibri Light" panose="020F0302020204030204"/>
              </a:rPr>
              <a:t>thread </a:t>
            </a:r>
            <a:r>
              <a:rPr sz="2520" b="0" dirty="0">
                <a:solidFill>
                  <a:srgbClr val="3399FF"/>
                </a:solidFill>
                <a:latin typeface="Calibri Light" panose="020F0302020204030204"/>
                <a:cs typeface="Calibri Light" panose="020F0302020204030204"/>
              </a:rPr>
              <a:t>3 </a:t>
            </a:r>
            <a:r>
              <a:rPr sz="2520" b="0" spc="-5" dirty="0">
                <a:solidFill>
                  <a:srgbClr val="3399FF"/>
                </a:solidFill>
                <a:latin typeface="Calibri Light" panose="020F0302020204030204"/>
                <a:cs typeface="Calibri Light" panose="020F0302020204030204"/>
              </a:rPr>
              <a:t>of</a:t>
            </a:r>
            <a:r>
              <a:rPr sz="2520" b="0" spc="-120" dirty="0">
                <a:solidFill>
                  <a:srgbClr val="3399FF"/>
                </a:solidFill>
                <a:latin typeface="Calibri Light" panose="020F0302020204030204"/>
                <a:cs typeface="Calibri Light" panose="020F0302020204030204"/>
              </a:rPr>
              <a:t> </a:t>
            </a:r>
            <a:r>
              <a:rPr sz="2520" b="0" dirty="0">
                <a:solidFill>
                  <a:srgbClr val="3399FF"/>
                </a:solidFill>
                <a:latin typeface="Calibri Light" panose="020F0302020204030204"/>
                <a:cs typeface="Calibri Light" panose="020F0302020204030204"/>
              </a:rPr>
              <a:t>4</a:t>
            </a:r>
            <a:endParaRPr sz="2520">
              <a:latin typeface="Calibri Light" panose="020F0302020204030204"/>
              <a:cs typeface="Calibri Light" panose="020F0302020204030204"/>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Global</a:t>
            </a:r>
            <a:r>
              <a:rPr sz="4620" spc="-75" dirty="0"/>
              <a:t> </a:t>
            </a:r>
            <a:r>
              <a:rPr sz="4620" spc="-5" dirty="0"/>
              <a:t>variables</a:t>
            </a:r>
            <a:endParaRPr sz="4620" dirty="0"/>
          </a:p>
        </p:txBody>
      </p:sp>
      <p:sp>
        <p:nvSpPr>
          <p:cNvPr id="3" name="object 3"/>
          <p:cNvSpPr txBox="1"/>
          <p:nvPr/>
        </p:nvSpPr>
        <p:spPr>
          <a:xfrm>
            <a:off x="2343119" y="1655353"/>
            <a:ext cx="7777639" cy="2324735"/>
          </a:xfrm>
          <a:prstGeom prst="rect">
            <a:avLst/>
          </a:prstGeom>
        </p:spPr>
        <p:txBody>
          <a:bodyPr vert="horz" wrap="square" lIns="0" tIns="12668" rIns="0" bIns="0" rtlCol="0">
            <a:spAutoFit/>
          </a:bodyPr>
          <a:lstStyle/>
          <a:p>
            <a:pPr marL="241300" indent="-228600">
              <a:lnSpc>
                <a:spcPct val="100000"/>
              </a:lnSpc>
              <a:spcBef>
                <a:spcPts val="95"/>
              </a:spcBef>
              <a:buFont typeface="Arial" panose="020B0604020202020204"/>
              <a:buChar char="•"/>
              <a:tabLst>
                <a:tab pos="241300" algn="l"/>
              </a:tabLst>
            </a:pPr>
            <a:r>
              <a:rPr sz="2940" spc="-5" dirty="0">
                <a:latin typeface="Calibri" panose="020F0502020204030204"/>
                <a:cs typeface="Calibri" panose="020F0502020204030204"/>
              </a:rPr>
              <a:t>Can </a:t>
            </a:r>
            <a:r>
              <a:rPr sz="2940" spc="-15" dirty="0">
                <a:latin typeface="Calibri" panose="020F0502020204030204"/>
                <a:cs typeface="Calibri" panose="020F0502020204030204"/>
              </a:rPr>
              <a:t>introduce </a:t>
            </a:r>
            <a:r>
              <a:rPr sz="2940" spc="-10" dirty="0">
                <a:latin typeface="Calibri" panose="020F0502020204030204"/>
                <a:cs typeface="Calibri" panose="020F0502020204030204"/>
              </a:rPr>
              <a:t>subtle </a:t>
            </a:r>
            <a:r>
              <a:rPr sz="2940" spc="-5" dirty="0">
                <a:latin typeface="Calibri" panose="020F0502020204030204"/>
                <a:cs typeface="Calibri" panose="020F0502020204030204"/>
              </a:rPr>
              <a:t>and </a:t>
            </a:r>
            <a:r>
              <a:rPr sz="2940" spc="-10" dirty="0">
                <a:latin typeface="Calibri" panose="020F0502020204030204"/>
                <a:cs typeface="Calibri" panose="020F0502020204030204"/>
              </a:rPr>
              <a:t>confusing</a:t>
            </a:r>
            <a:r>
              <a:rPr sz="2940" spc="135" dirty="0">
                <a:latin typeface="Calibri" panose="020F0502020204030204"/>
                <a:cs typeface="Calibri" panose="020F0502020204030204"/>
              </a:rPr>
              <a:t> </a:t>
            </a:r>
            <a:r>
              <a:rPr sz="2940" spc="-5" dirty="0">
                <a:solidFill>
                  <a:srgbClr val="FF0000"/>
                </a:solidFill>
                <a:latin typeface="Calibri" panose="020F0502020204030204"/>
                <a:cs typeface="Calibri" panose="020F0502020204030204"/>
              </a:rPr>
              <a:t>bugs</a:t>
            </a:r>
            <a:r>
              <a:rPr sz="2940" spc="-5" dirty="0">
                <a:latin typeface="Calibri" panose="020F0502020204030204"/>
                <a:cs typeface="Calibri" panose="020F0502020204030204"/>
              </a:rPr>
              <a:t>!</a:t>
            </a:r>
            <a:endParaRPr sz="2940">
              <a:latin typeface="Calibri" panose="020F0502020204030204"/>
              <a:cs typeface="Calibri" panose="020F0502020204030204"/>
            </a:endParaRPr>
          </a:p>
          <a:p>
            <a:pPr>
              <a:lnSpc>
                <a:spcPct val="100000"/>
              </a:lnSpc>
              <a:spcBef>
                <a:spcPts val="15"/>
              </a:spcBef>
              <a:buFont typeface="Arial" panose="020B0604020202020204"/>
              <a:buChar char="•"/>
            </a:pPr>
            <a:endParaRPr sz="4355">
              <a:latin typeface="Calibri" panose="020F0502020204030204"/>
              <a:cs typeface="Calibri" panose="020F0502020204030204"/>
            </a:endParaRPr>
          </a:p>
          <a:p>
            <a:pPr marL="241300" marR="5080" indent="-228600">
              <a:lnSpc>
                <a:spcPts val="3020"/>
              </a:lnSpc>
              <a:buFont typeface="Arial" panose="020B0604020202020204"/>
              <a:buChar char="•"/>
              <a:tabLst>
                <a:tab pos="241300" algn="l"/>
              </a:tabLst>
            </a:pPr>
            <a:r>
              <a:rPr sz="2940" spc="-10" dirty="0">
                <a:latin typeface="Calibri" panose="020F0502020204030204"/>
                <a:cs typeface="Calibri" panose="020F0502020204030204"/>
              </a:rPr>
              <a:t>Limit use </a:t>
            </a:r>
            <a:r>
              <a:rPr sz="2940" spc="-5" dirty="0">
                <a:latin typeface="Calibri" panose="020F0502020204030204"/>
                <a:cs typeface="Calibri" panose="020F0502020204030204"/>
              </a:rPr>
              <a:t>of global </a:t>
            </a:r>
            <a:r>
              <a:rPr sz="2940" spc="-10" dirty="0">
                <a:latin typeface="Calibri" panose="020F0502020204030204"/>
                <a:cs typeface="Calibri" panose="020F0502020204030204"/>
              </a:rPr>
              <a:t>variables </a:t>
            </a:r>
            <a:r>
              <a:rPr sz="2940" spc="-20" dirty="0">
                <a:latin typeface="Calibri" panose="020F0502020204030204"/>
                <a:cs typeface="Calibri" panose="020F0502020204030204"/>
              </a:rPr>
              <a:t>to </a:t>
            </a:r>
            <a:r>
              <a:rPr sz="2940" spc="-10" dirty="0">
                <a:latin typeface="Calibri" panose="020F0502020204030204"/>
                <a:cs typeface="Calibri" panose="020F0502020204030204"/>
              </a:rPr>
              <a:t>situations </a:t>
            </a:r>
            <a:r>
              <a:rPr sz="2940" spc="-5" dirty="0">
                <a:latin typeface="Calibri" panose="020F0502020204030204"/>
                <a:cs typeface="Calibri" panose="020F0502020204030204"/>
              </a:rPr>
              <a:t>in which  </a:t>
            </a:r>
            <a:r>
              <a:rPr sz="2940" spc="-10" dirty="0">
                <a:latin typeface="Calibri" panose="020F0502020204030204"/>
                <a:cs typeface="Calibri" panose="020F0502020204030204"/>
              </a:rPr>
              <a:t>they’re </a:t>
            </a:r>
            <a:r>
              <a:rPr sz="2940" spc="-15" dirty="0">
                <a:solidFill>
                  <a:srgbClr val="FF0000"/>
                </a:solidFill>
                <a:latin typeface="Calibri" panose="020F0502020204030204"/>
                <a:cs typeface="Calibri" panose="020F0502020204030204"/>
              </a:rPr>
              <a:t>really</a:t>
            </a:r>
            <a:r>
              <a:rPr sz="2940" spc="5" dirty="0">
                <a:solidFill>
                  <a:srgbClr val="FF0000"/>
                </a:solidFill>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needed</a:t>
            </a:r>
            <a:r>
              <a:rPr sz="2940" spc="-10" dirty="0">
                <a:latin typeface="Calibri" panose="020F0502020204030204"/>
                <a:cs typeface="Calibri" panose="020F0502020204030204"/>
              </a:rPr>
              <a:t>.</a:t>
            </a:r>
            <a:endParaRPr sz="2940">
              <a:latin typeface="Calibri" panose="020F0502020204030204"/>
              <a:cs typeface="Calibri" panose="020F0502020204030204"/>
            </a:endParaRPr>
          </a:p>
          <a:p>
            <a:pPr marL="697865" lvl="1" indent="-228600">
              <a:lnSpc>
                <a:spcPct val="100000"/>
              </a:lnSpc>
              <a:spcBef>
                <a:spcPts val="205"/>
              </a:spcBef>
              <a:buFont typeface="Arial" panose="020B0604020202020204"/>
              <a:buChar char="•"/>
              <a:tabLst>
                <a:tab pos="698500" algn="l"/>
              </a:tabLst>
            </a:pPr>
            <a:r>
              <a:rPr sz="2520" spc="-10" dirty="0">
                <a:latin typeface="Calibri" panose="020F0502020204030204"/>
                <a:cs typeface="Calibri" panose="020F0502020204030204"/>
              </a:rPr>
              <a:t>Shared</a:t>
            </a:r>
            <a:r>
              <a:rPr sz="2520" spc="-5" dirty="0">
                <a:latin typeface="Calibri" panose="020F0502020204030204"/>
                <a:cs typeface="Calibri" panose="020F0502020204030204"/>
              </a:rPr>
              <a:t> </a:t>
            </a:r>
            <a:r>
              <a:rPr sz="2520" spc="-10" dirty="0">
                <a:latin typeface="Calibri" panose="020F0502020204030204"/>
                <a:cs typeface="Calibri" panose="020F0502020204030204"/>
              </a:rPr>
              <a:t>variables.</a:t>
            </a:r>
            <a:endParaRPr sz="2520">
              <a:latin typeface="Calibri" panose="020F0502020204030204"/>
              <a:cs typeface="Calibri" panose="020F0502020204030204"/>
            </a:endParaRPr>
          </a:p>
        </p:txBody>
      </p:sp>
      <p:sp>
        <p:nvSpPr>
          <p:cNvPr id="4" name="object 4"/>
          <p:cNvSpPr/>
          <p:nvPr/>
        </p:nvSpPr>
        <p:spPr>
          <a:xfrm>
            <a:off x="8678707" y="4280535"/>
            <a:ext cx="1584207" cy="1737817"/>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0" dirty="0"/>
              <a:t>Starting </a:t>
            </a:r>
            <a:r>
              <a:rPr sz="4620" dirty="0"/>
              <a:t>the</a:t>
            </a:r>
            <a:r>
              <a:rPr sz="4620" spc="-35" dirty="0"/>
              <a:t> </a:t>
            </a:r>
            <a:r>
              <a:rPr sz="4620" spc="-15" dirty="0"/>
              <a:t>Threads</a:t>
            </a:r>
            <a:endParaRPr sz="4620" dirty="0"/>
          </a:p>
        </p:txBody>
      </p:sp>
      <p:sp>
        <p:nvSpPr>
          <p:cNvPr id="3" name="object 3"/>
          <p:cNvSpPr txBox="1"/>
          <p:nvPr/>
        </p:nvSpPr>
        <p:spPr>
          <a:xfrm>
            <a:off x="2343119" y="1883168"/>
            <a:ext cx="7968328" cy="1911350"/>
          </a:xfrm>
          <a:prstGeom prst="rect">
            <a:avLst/>
          </a:prstGeom>
        </p:spPr>
        <p:txBody>
          <a:bodyPr vert="horz" wrap="square" lIns="0" tIns="12668" rIns="0" bIns="0" rtlCol="0">
            <a:spAutoFit/>
          </a:bodyPr>
          <a:lstStyle/>
          <a:p>
            <a:pPr marL="241300" indent="-228600">
              <a:lnSpc>
                <a:spcPct val="100000"/>
              </a:lnSpc>
              <a:spcBef>
                <a:spcPts val="95"/>
              </a:spcBef>
              <a:buFont typeface="Arial" panose="020B0604020202020204"/>
              <a:buChar char="•"/>
              <a:tabLst>
                <a:tab pos="241300" algn="l"/>
              </a:tabLst>
            </a:pPr>
            <a:r>
              <a:rPr sz="2940" spc="-15" dirty="0">
                <a:latin typeface="Calibri" panose="020F0502020204030204"/>
                <a:cs typeface="Calibri" panose="020F0502020204030204"/>
              </a:rPr>
              <a:t>Processes </a:t>
            </a:r>
            <a:r>
              <a:rPr sz="2940" spc="-5" dirty="0">
                <a:latin typeface="Calibri" panose="020F0502020204030204"/>
                <a:cs typeface="Calibri" panose="020F0502020204030204"/>
              </a:rPr>
              <a:t>in MPI </a:t>
            </a:r>
            <a:r>
              <a:rPr sz="2940" spc="-20" dirty="0">
                <a:latin typeface="Calibri" panose="020F0502020204030204"/>
                <a:cs typeface="Calibri" panose="020F0502020204030204"/>
              </a:rPr>
              <a:t>are </a:t>
            </a:r>
            <a:r>
              <a:rPr sz="2940" spc="-10" dirty="0">
                <a:latin typeface="Calibri" panose="020F0502020204030204"/>
                <a:cs typeface="Calibri" panose="020F0502020204030204"/>
              </a:rPr>
              <a:t>usually </a:t>
            </a:r>
            <a:r>
              <a:rPr sz="2940" spc="-20" dirty="0">
                <a:latin typeface="Calibri" panose="020F0502020204030204"/>
                <a:cs typeface="Calibri" panose="020F0502020204030204"/>
              </a:rPr>
              <a:t>started </a:t>
            </a:r>
            <a:r>
              <a:rPr sz="2940" spc="-15" dirty="0">
                <a:latin typeface="Calibri" panose="020F0502020204030204"/>
                <a:cs typeface="Calibri" panose="020F0502020204030204"/>
              </a:rPr>
              <a:t>by </a:t>
            </a:r>
            <a:r>
              <a:rPr sz="2940" spc="-5" dirty="0">
                <a:latin typeface="Calibri" panose="020F0502020204030204"/>
                <a:cs typeface="Calibri" panose="020F0502020204030204"/>
              </a:rPr>
              <a:t>a</a:t>
            </a:r>
            <a:r>
              <a:rPr sz="2940" spc="220" dirty="0">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script</a:t>
            </a:r>
            <a:r>
              <a:rPr sz="2940" spc="-10" dirty="0">
                <a:latin typeface="Calibri" panose="020F0502020204030204"/>
                <a:cs typeface="Calibri" panose="020F0502020204030204"/>
              </a:rPr>
              <a:t>.</a:t>
            </a:r>
            <a:endParaRPr sz="2940" dirty="0">
              <a:latin typeface="Calibri" panose="020F0502020204030204"/>
              <a:cs typeface="Calibri" panose="020F0502020204030204"/>
            </a:endParaRPr>
          </a:p>
          <a:p>
            <a:pPr>
              <a:lnSpc>
                <a:spcPct val="100000"/>
              </a:lnSpc>
              <a:spcBef>
                <a:spcPts val="10"/>
              </a:spcBef>
              <a:buFont typeface="Arial" panose="020B0604020202020204"/>
              <a:buChar char="•"/>
            </a:pPr>
            <a:endParaRPr sz="4355" dirty="0">
              <a:latin typeface="Calibri" panose="020F0502020204030204"/>
              <a:cs typeface="Calibri" panose="020F0502020204030204"/>
            </a:endParaRPr>
          </a:p>
          <a:p>
            <a:pPr marL="241300" marR="5080" indent="-228600">
              <a:lnSpc>
                <a:spcPts val="3020"/>
              </a:lnSpc>
              <a:spcBef>
                <a:spcPts val="5"/>
              </a:spcBef>
              <a:buFont typeface="Arial" panose="020B0604020202020204"/>
              <a:buChar char="•"/>
              <a:tabLst>
                <a:tab pos="241300" algn="l"/>
              </a:tabLst>
            </a:pPr>
            <a:r>
              <a:rPr sz="2940" spc="-5" dirty="0">
                <a:latin typeface="Calibri" panose="020F0502020204030204"/>
                <a:cs typeface="Calibri" panose="020F0502020204030204"/>
              </a:rPr>
              <a:t>In </a:t>
            </a:r>
            <a:r>
              <a:rPr sz="2940" spc="-10" dirty="0">
                <a:latin typeface="Calibri" panose="020F0502020204030204"/>
                <a:cs typeface="Calibri" panose="020F0502020204030204"/>
              </a:rPr>
              <a:t>Pthreads </a:t>
            </a:r>
            <a:r>
              <a:rPr sz="2940" spc="-5" dirty="0">
                <a:latin typeface="Calibri" panose="020F0502020204030204"/>
                <a:cs typeface="Calibri" panose="020F0502020204030204"/>
              </a:rPr>
              <a:t>the </a:t>
            </a:r>
            <a:r>
              <a:rPr sz="2940" spc="-10" dirty="0">
                <a:latin typeface="Calibri" panose="020F0502020204030204"/>
                <a:cs typeface="Calibri" panose="020F0502020204030204"/>
              </a:rPr>
              <a:t>threads </a:t>
            </a:r>
            <a:r>
              <a:rPr sz="2940" spc="-20" dirty="0">
                <a:latin typeface="Calibri" panose="020F0502020204030204"/>
                <a:cs typeface="Calibri" panose="020F0502020204030204"/>
              </a:rPr>
              <a:t>are started </a:t>
            </a:r>
            <a:r>
              <a:rPr sz="2940" spc="-15" dirty="0">
                <a:latin typeface="Calibri" panose="020F0502020204030204"/>
                <a:cs typeface="Calibri" panose="020F0502020204030204"/>
              </a:rPr>
              <a:t>by </a:t>
            </a:r>
            <a:r>
              <a:rPr sz="2940" spc="-5" dirty="0">
                <a:latin typeface="Calibri" panose="020F0502020204030204"/>
                <a:cs typeface="Calibri" panose="020F0502020204030204"/>
              </a:rPr>
              <a:t>the </a:t>
            </a:r>
            <a:r>
              <a:rPr sz="2940" spc="-25" dirty="0">
                <a:solidFill>
                  <a:srgbClr val="FF0000"/>
                </a:solidFill>
                <a:latin typeface="Calibri" panose="020F0502020204030204"/>
                <a:cs typeface="Calibri" panose="020F0502020204030204"/>
              </a:rPr>
              <a:t>program  </a:t>
            </a:r>
            <a:r>
              <a:rPr sz="2940" spc="-20" dirty="0">
                <a:solidFill>
                  <a:srgbClr val="FF0000"/>
                </a:solidFill>
                <a:latin typeface="Calibri" panose="020F0502020204030204"/>
                <a:cs typeface="Calibri" panose="020F0502020204030204"/>
              </a:rPr>
              <a:t>executable</a:t>
            </a:r>
            <a:r>
              <a:rPr sz="2940" spc="-20" dirty="0">
                <a:latin typeface="Calibri" panose="020F0502020204030204"/>
                <a:cs typeface="Calibri" panose="020F0502020204030204"/>
              </a:rPr>
              <a:t>.</a:t>
            </a:r>
            <a:endParaRPr sz="2940" dirty="0">
              <a:latin typeface="Calibri" panose="020F0502020204030204"/>
              <a:cs typeface="Calibri" panose="020F0502020204030204"/>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Starting </a:t>
            </a:r>
            <a:r>
              <a:rPr sz="4620" dirty="0"/>
              <a:t>the</a:t>
            </a:r>
            <a:r>
              <a:rPr sz="4620" spc="-85" dirty="0"/>
              <a:t> </a:t>
            </a:r>
            <a:r>
              <a:rPr sz="4620" spc="-10" dirty="0"/>
              <a:t>Threads</a:t>
            </a:r>
            <a:endParaRPr sz="4620" dirty="0"/>
          </a:p>
        </p:txBody>
      </p:sp>
      <p:sp>
        <p:nvSpPr>
          <p:cNvPr id="3" name="object 3"/>
          <p:cNvSpPr txBox="1"/>
          <p:nvPr/>
        </p:nvSpPr>
        <p:spPr>
          <a:xfrm>
            <a:off x="3064115" y="1785903"/>
            <a:ext cx="1498187" cy="463550"/>
          </a:xfrm>
          <a:prstGeom prst="rect">
            <a:avLst/>
          </a:prstGeom>
        </p:spPr>
        <p:txBody>
          <a:bodyPr vert="horz" wrap="square" lIns="0" tIns="12668" rIns="0" bIns="0" rtlCol="0">
            <a:spAutoFit/>
          </a:bodyPr>
          <a:lstStyle/>
          <a:p>
            <a:pPr marL="12700">
              <a:lnSpc>
                <a:spcPct val="100000"/>
              </a:lnSpc>
              <a:spcBef>
                <a:spcPts val="95"/>
              </a:spcBef>
            </a:pPr>
            <a:r>
              <a:rPr sz="2940" b="0" spc="-15" dirty="0">
                <a:latin typeface="Calibri Light" panose="020F0302020204030204"/>
                <a:cs typeface="Calibri Light" panose="020F0302020204030204"/>
              </a:rPr>
              <a:t>pthread.h</a:t>
            </a:r>
            <a:endParaRPr sz="2940">
              <a:latin typeface="Calibri Light" panose="020F0302020204030204"/>
              <a:cs typeface="Calibri Light" panose="020F0302020204030204"/>
            </a:endParaRPr>
          </a:p>
        </p:txBody>
      </p:sp>
      <p:sp>
        <p:nvSpPr>
          <p:cNvPr id="4" name="object 4"/>
          <p:cNvSpPr txBox="1"/>
          <p:nvPr/>
        </p:nvSpPr>
        <p:spPr>
          <a:xfrm>
            <a:off x="5233988" y="2494844"/>
            <a:ext cx="1520190" cy="463550"/>
          </a:xfrm>
          <a:prstGeom prst="rect">
            <a:avLst/>
          </a:prstGeom>
        </p:spPr>
        <p:txBody>
          <a:bodyPr vert="horz" wrap="square" lIns="0" tIns="12668" rIns="0" bIns="0" rtlCol="0">
            <a:spAutoFit/>
          </a:bodyPr>
          <a:lstStyle/>
          <a:p>
            <a:pPr marL="12700">
              <a:lnSpc>
                <a:spcPct val="100000"/>
              </a:lnSpc>
              <a:spcBef>
                <a:spcPts val="95"/>
              </a:spcBef>
            </a:pPr>
            <a:r>
              <a:rPr sz="2940" b="0" spc="-15" dirty="0">
                <a:latin typeface="Calibri Light" panose="020F0302020204030204"/>
                <a:cs typeface="Calibri Light" panose="020F0302020204030204"/>
              </a:rPr>
              <a:t>pthread_t</a:t>
            </a:r>
            <a:endParaRPr sz="2940">
              <a:latin typeface="Calibri Light" panose="020F0302020204030204"/>
              <a:cs typeface="Calibri Light" panose="020F0302020204030204"/>
            </a:endParaRPr>
          </a:p>
        </p:txBody>
      </p:sp>
      <p:sp>
        <p:nvSpPr>
          <p:cNvPr id="5" name="object 5"/>
          <p:cNvSpPr txBox="1"/>
          <p:nvPr/>
        </p:nvSpPr>
        <p:spPr>
          <a:xfrm>
            <a:off x="2482337" y="3615408"/>
            <a:ext cx="5381339" cy="1630680"/>
          </a:xfrm>
          <a:prstGeom prst="rect">
            <a:avLst/>
          </a:prstGeom>
        </p:spPr>
        <p:txBody>
          <a:bodyPr vert="horz" wrap="square" lIns="0" tIns="102679" rIns="0" bIns="0" rtlCol="0">
            <a:spAutoFit/>
          </a:bodyPr>
          <a:lstStyle/>
          <a:p>
            <a:pPr marL="12700">
              <a:lnSpc>
                <a:spcPct val="100000"/>
              </a:lnSpc>
              <a:spcBef>
                <a:spcPts val="770"/>
              </a:spcBef>
            </a:pPr>
            <a:r>
              <a:rPr sz="2940" b="0" spc="-15" dirty="0">
                <a:latin typeface="Calibri Light" panose="020F0302020204030204"/>
                <a:cs typeface="Calibri Light" panose="020F0302020204030204"/>
              </a:rPr>
              <a:t>int pthread_create</a:t>
            </a:r>
            <a:r>
              <a:rPr sz="2940" b="0" spc="10"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a:p>
            <a:pPr marL="926465">
              <a:lnSpc>
                <a:spcPct val="100000"/>
              </a:lnSpc>
              <a:spcBef>
                <a:spcPts val="670"/>
              </a:spcBef>
              <a:tabLst>
                <a:tab pos="2690495" algn="l"/>
              </a:tabLst>
            </a:pPr>
            <a:r>
              <a:rPr sz="2940" b="0" spc="-10" dirty="0">
                <a:latin typeface="Calibri Light" panose="020F0302020204030204"/>
                <a:cs typeface="Calibri Light" panose="020F0302020204030204"/>
              </a:rPr>
              <a:t>pthread_t*	thread_p</a:t>
            </a:r>
            <a:endParaRPr sz="2940">
              <a:latin typeface="Calibri Light" panose="020F0302020204030204"/>
              <a:cs typeface="Calibri Light" panose="020F0302020204030204"/>
            </a:endParaRPr>
          </a:p>
          <a:p>
            <a:pPr marL="926465">
              <a:lnSpc>
                <a:spcPct val="100000"/>
              </a:lnSpc>
              <a:spcBef>
                <a:spcPts val="675"/>
              </a:spcBef>
              <a:tabLst>
                <a:tab pos="4232910" algn="l"/>
              </a:tabLst>
            </a:pPr>
            <a:r>
              <a:rPr sz="2940" b="0" spc="-35" dirty="0">
                <a:latin typeface="Calibri Light" panose="020F0302020204030204"/>
                <a:cs typeface="Calibri Light" panose="020F0302020204030204"/>
              </a:rPr>
              <a:t>c</a:t>
            </a:r>
            <a:r>
              <a:rPr sz="2940" b="0" spc="-10" dirty="0">
                <a:latin typeface="Calibri Light" panose="020F0302020204030204"/>
                <a:cs typeface="Calibri Light" panose="020F0302020204030204"/>
              </a:rPr>
              <a:t>on</a:t>
            </a:r>
            <a:r>
              <a:rPr sz="2940" b="0" spc="-40" dirty="0">
                <a:latin typeface="Calibri Light" panose="020F0302020204030204"/>
                <a:cs typeface="Calibri Light" panose="020F0302020204030204"/>
              </a:rPr>
              <a:t>s</a:t>
            </a:r>
            <a:r>
              <a:rPr sz="2940" b="0" spc="-5" dirty="0">
                <a:latin typeface="Calibri Light" panose="020F0302020204030204"/>
                <a:cs typeface="Calibri Light" panose="020F0302020204030204"/>
              </a:rPr>
              <a:t>t</a:t>
            </a:r>
            <a:r>
              <a:rPr sz="2940" b="0" spc="10" dirty="0">
                <a:latin typeface="Calibri Light" panose="020F0302020204030204"/>
                <a:cs typeface="Calibri Light" panose="020F0302020204030204"/>
              </a:rPr>
              <a:t> </a:t>
            </a:r>
            <a:r>
              <a:rPr sz="2940" b="0" spc="-15" dirty="0">
                <a:latin typeface="Calibri Light" panose="020F0302020204030204"/>
                <a:cs typeface="Calibri Light" panose="020F0302020204030204"/>
              </a:rPr>
              <a:t>p</a:t>
            </a:r>
            <a:r>
              <a:rPr sz="2940" b="0" spc="-5" dirty="0">
                <a:latin typeface="Calibri Light" panose="020F0302020204030204"/>
                <a:cs typeface="Calibri Light" panose="020F0302020204030204"/>
              </a:rPr>
              <a:t>th</a:t>
            </a:r>
            <a:r>
              <a:rPr sz="2940" b="0" spc="-35" dirty="0">
                <a:latin typeface="Calibri Light" panose="020F0302020204030204"/>
                <a:cs typeface="Calibri Light" panose="020F0302020204030204"/>
              </a:rPr>
              <a:t>r</a:t>
            </a:r>
            <a:r>
              <a:rPr sz="2940" b="0" spc="-10" dirty="0">
                <a:latin typeface="Calibri Light" panose="020F0302020204030204"/>
                <a:cs typeface="Calibri Light" panose="020F0302020204030204"/>
              </a:rPr>
              <a:t>ead</a:t>
            </a:r>
            <a:r>
              <a:rPr sz="2940" b="0" dirty="0">
                <a:latin typeface="Calibri Light" panose="020F0302020204030204"/>
                <a:cs typeface="Calibri Light" panose="020F0302020204030204"/>
              </a:rPr>
              <a:t>_</a:t>
            </a:r>
            <a:r>
              <a:rPr sz="2940" b="0" spc="-25" dirty="0">
                <a:latin typeface="Calibri Light" panose="020F0302020204030204"/>
                <a:cs typeface="Calibri Light" panose="020F0302020204030204"/>
              </a:rPr>
              <a:t>a</a:t>
            </a:r>
            <a:r>
              <a:rPr sz="2940" b="0" spc="-35" dirty="0">
                <a:latin typeface="Calibri Light" panose="020F0302020204030204"/>
                <a:cs typeface="Calibri Light" panose="020F0302020204030204"/>
              </a:rPr>
              <a:t>t</a:t>
            </a:r>
            <a:r>
              <a:rPr sz="2940" b="0" spc="-5" dirty="0">
                <a:latin typeface="Calibri Light" panose="020F0302020204030204"/>
                <a:cs typeface="Calibri Light" panose="020F0302020204030204"/>
              </a:rPr>
              <a:t>tr_</a:t>
            </a:r>
            <a:r>
              <a:rPr sz="2940" b="0" spc="-15" dirty="0">
                <a:latin typeface="Calibri Light" panose="020F0302020204030204"/>
                <a:cs typeface="Calibri Light" panose="020F0302020204030204"/>
              </a:rPr>
              <a:t>t</a:t>
            </a:r>
            <a:r>
              <a:rPr sz="2940" b="0" spc="-5" dirty="0">
                <a:latin typeface="Calibri Light" panose="020F0302020204030204"/>
                <a:cs typeface="Calibri Light" panose="020F0302020204030204"/>
              </a:rPr>
              <a:t>*</a:t>
            </a:r>
            <a:r>
              <a:rPr sz="2940" b="0" dirty="0">
                <a:latin typeface="Calibri Light" panose="020F0302020204030204"/>
                <a:cs typeface="Calibri Light" panose="020F0302020204030204"/>
              </a:rPr>
              <a:t>	</a:t>
            </a:r>
            <a:r>
              <a:rPr sz="2940" b="0" spc="-25" dirty="0">
                <a:latin typeface="Calibri Light" panose="020F0302020204030204"/>
                <a:cs typeface="Calibri Light" panose="020F0302020204030204"/>
              </a:rPr>
              <a:t>a</a:t>
            </a:r>
            <a:r>
              <a:rPr sz="2940" b="0" spc="-35" dirty="0">
                <a:latin typeface="Calibri Light" panose="020F0302020204030204"/>
                <a:cs typeface="Calibri Light" panose="020F0302020204030204"/>
              </a:rPr>
              <a:t>t</a:t>
            </a:r>
            <a:r>
              <a:rPr sz="2940" b="0" spc="-5" dirty="0">
                <a:latin typeface="Calibri Light" panose="020F0302020204030204"/>
                <a:cs typeface="Calibri Light" panose="020F0302020204030204"/>
              </a:rPr>
              <a:t>tr_p</a:t>
            </a:r>
            <a:endParaRPr sz="2940">
              <a:latin typeface="Calibri Light" panose="020F0302020204030204"/>
              <a:cs typeface="Calibri Light" panose="020F0302020204030204"/>
            </a:endParaRPr>
          </a:p>
        </p:txBody>
      </p:sp>
      <p:sp>
        <p:nvSpPr>
          <p:cNvPr id="6" name="object 6"/>
          <p:cNvSpPr txBox="1"/>
          <p:nvPr/>
        </p:nvSpPr>
        <p:spPr>
          <a:xfrm>
            <a:off x="8243697" y="4152078"/>
            <a:ext cx="1530191" cy="1093470"/>
          </a:xfrm>
          <a:prstGeom prst="rect">
            <a:avLst/>
          </a:prstGeom>
        </p:spPr>
        <p:txBody>
          <a:bodyPr vert="horz" wrap="square" lIns="0" tIns="103346" rIns="0" bIns="0" rtlCol="0">
            <a:spAutoFit/>
          </a:bodyPr>
          <a:lstStyle/>
          <a:p>
            <a:pPr marL="12700">
              <a:lnSpc>
                <a:spcPct val="100000"/>
              </a:lnSpc>
              <a:spcBef>
                <a:spcPts val="775"/>
              </a:spcBef>
            </a:pPr>
            <a:r>
              <a:rPr sz="2940" b="0" spc="-5" dirty="0">
                <a:latin typeface="Calibri Light" panose="020F0302020204030204"/>
                <a:cs typeface="Calibri Light" panose="020F0302020204030204"/>
              </a:rPr>
              <a:t>/* out */</a:t>
            </a:r>
            <a:r>
              <a:rPr sz="2940" b="0" spc="-35"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a:p>
            <a:pPr marL="12700">
              <a:lnSpc>
                <a:spcPct val="100000"/>
              </a:lnSpc>
              <a:spcBef>
                <a:spcPts val="675"/>
              </a:spcBef>
            </a:pPr>
            <a:r>
              <a:rPr sz="2940" b="0" spc="-5" dirty="0">
                <a:latin typeface="Calibri Light" panose="020F0302020204030204"/>
                <a:cs typeface="Calibri Light" panose="020F0302020204030204"/>
              </a:rPr>
              <a:t>/* in */</a:t>
            </a:r>
            <a:r>
              <a:rPr sz="2940" b="0" spc="-10"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p:txBody>
      </p:sp>
      <p:graphicFrame>
        <p:nvGraphicFramePr>
          <p:cNvPr id="7" name="object 7"/>
          <p:cNvGraphicFramePr>
            <a:graphicFrameLocks noGrp="1"/>
          </p:cNvGraphicFramePr>
          <p:nvPr/>
        </p:nvGraphicFramePr>
        <p:xfrm>
          <a:off x="3422427" y="5425077"/>
          <a:ext cx="6337935" cy="910590"/>
        </p:xfrm>
        <a:graphic>
          <a:graphicData uri="http://schemas.openxmlformats.org/drawingml/2006/table">
            <a:tbl>
              <a:tblPr firstRow="1" bandRow="1">
                <a:tableStyleId>{2D5ABB26-0587-4C30-8999-92F81FD0307C}</a:tableStyleId>
              </a:tblPr>
              <a:tblGrid>
                <a:gridCol w="934085">
                  <a:extLst>
                    <a:ext uri="{9D8B030D-6E8A-4147-A177-3AD203B41FA5}">
                      <a16:colId xmlns:a16="http://schemas.microsoft.com/office/drawing/2014/main" val="20000"/>
                    </a:ext>
                  </a:extLst>
                </a:gridCol>
                <a:gridCol w="375793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5295">
                <a:tc>
                  <a:txBody>
                    <a:bodyPr/>
                    <a:lstStyle/>
                    <a:p>
                      <a:pPr marL="31750">
                        <a:lnSpc>
                          <a:spcPts val="2655"/>
                        </a:lnSpc>
                      </a:pPr>
                      <a:r>
                        <a:rPr sz="2940" b="0" spc="-10" dirty="0">
                          <a:latin typeface="Calibri Light" panose="020F0302020204030204"/>
                          <a:cs typeface="Calibri Light" panose="020F0302020204030204"/>
                        </a:rPr>
                        <a:t>void*</a:t>
                      </a:r>
                      <a:endParaRPr sz="2940">
                        <a:latin typeface="Calibri Light" panose="020F0302020204030204"/>
                        <a:cs typeface="Calibri Light" panose="020F0302020204030204"/>
                      </a:endParaRPr>
                    </a:p>
                  </a:txBody>
                  <a:tcPr marL="0" marR="0" marT="0" marB="0"/>
                </a:tc>
                <a:tc>
                  <a:txBody>
                    <a:bodyPr/>
                    <a:lstStyle/>
                    <a:p>
                      <a:pPr marL="79375">
                        <a:lnSpc>
                          <a:spcPts val="2655"/>
                        </a:lnSpc>
                      </a:pPr>
                      <a:r>
                        <a:rPr sz="2940" b="0" spc="-25" dirty="0">
                          <a:latin typeface="Calibri Light" panose="020F0302020204030204"/>
                          <a:cs typeface="Calibri Light" panose="020F0302020204030204"/>
                        </a:rPr>
                        <a:t>(*</a:t>
                      </a:r>
                      <a:r>
                        <a:rPr sz="2940" b="0" spc="-25" dirty="0">
                          <a:solidFill>
                            <a:srgbClr val="FF0000"/>
                          </a:solidFill>
                          <a:latin typeface="Calibri Light" panose="020F0302020204030204"/>
                          <a:cs typeface="Calibri Light" panose="020F0302020204030204"/>
                        </a:rPr>
                        <a:t>start_routine </a:t>
                      </a:r>
                      <a:r>
                        <a:rPr sz="2940" b="0" spc="-5" dirty="0">
                          <a:latin typeface="Calibri Light" panose="020F0302020204030204"/>
                          <a:cs typeface="Calibri Light" panose="020F0302020204030204"/>
                        </a:rPr>
                        <a:t>) ( </a:t>
                      </a:r>
                      <a:r>
                        <a:rPr sz="2940" b="0" spc="-10" dirty="0">
                          <a:latin typeface="Calibri Light" panose="020F0302020204030204"/>
                          <a:cs typeface="Calibri Light" panose="020F0302020204030204"/>
                        </a:rPr>
                        <a:t>void</a:t>
                      </a:r>
                      <a:r>
                        <a:rPr sz="2940" b="0" spc="-80"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a:txBody>
                  <a:tcPr marL="0" marR="0" marT="0" marB="0"/>
                </a:tc>
                <a:tc>
                  <a:txBody>
                    <a:bodyPr/>
                    <a:lstStyle/>
                    <a:p>
                      <a:pPr marL="135890">
                        <a:lnSpc>
                          <a:spcPts val="2655"/>
                        </a:lnSpc>
                      </a:pPr>
                      <a:r>
                        <a:rPr sz="2940" b="0" spc="-5" dirty="0">
                          <a:latin typeface="Calibri Light" panose="020F0302020204030204"/>
                          <a:cs typeface="Calibri Light" panose="020F0302020204030204"/>
                        </a:rPr>
                        <a:t>/* in */</a:t>
                      </a:r>
                      <a:r>
                        <a:rPr sz="2940" b="0" spc="-10"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a:txBody>
                  <a:tcPr marL="0" marR="0" marT="0" marB="0"/>
                </a:tc>
                <a:extLst>
                  <a:ext uri="{0D108BD9-81ED-4DB2-BD59-A6C34878D82A}">
                    <a16:rowId xmlns:a16="http://schemas.microsoft.com/office/drawing/2014/main" val="10000"/>
                  </a:ext>
                </a:extLst>
              </a:tr>
              <a:tr h="455295">
                <a:tc>
                  <a:txBody>
                    <a:bodyPr/>
                    <a:lstStyle/>
                    <a:p>
                      <a:pPr marL="31750">
                        <a:lnSpc>
                          <a:spcPts val="3275"/>
                        </a:lnSpc>
                      </a:pPr>
                      <a:r>
                        <a:rPr sz="2940" b="0" spc="-10" dirty="0">
                          <a:latin typeface="Calibri Light" panose="020F0302020204030204"/>
                          <a:cs typeface="Calibri Light" panose="020F0302020204030204"/>
                        </a:rPr>
                        <a:t>void*</a:t>
                      </a:r>
                      <a:endParaRPr sz="2940">
                        <a:latin typeface="Calibri Light" panose="020F0302020204030204"/>
                        <a:cs typeface="Calibri Light" panose="020F0302020204030204"/>
                      </a:endParaRPr>
                    </a:p>
                  </a:txBody>
                  <a:tcPr marL="0" marR="0" marT="0" marB="0"/>
                </a:tc>
                <a:tc>
                  <a:txBody>
                    <a:bodyPr/>
                    <a:lstStyle/>
                    <a:p>
                      <a:pPr marL="82550">
                        <a:lnSpc>
                          <a:spcPts val="3275"/>
                        </a:lnSpc>
                      </a:pPr>
                      <a:r>
                        <a:rPr sz="2940" b="0" spc="-10" dirty="0">
                          <a:latin typeface="Calibri Light" panose="020F0302020204030204"/>
                          <a:cs typeface="Calibri Light" panose="020F0302020204030204"/>
                        </a:rPr>
                        <a:t>arg_p</a:t>
                      </a:r>
                      <a:endParaRPr sz="2940">
                        <a:latin typeface="Calibri Light" panose="020F0302020204030204"/>
                        <a:cs typeface="Calibri Light" panose="020F0302020204030204"/>
                      </a:endParaRPr>
                    </a:p>
                  </a:txBody>
                  <a:tcPr marL="0" marR="0" marT="0" marB="0"/>
                </a:tc>
                <a:tc>
                  <a:txBody>
                    <a:bodyPr/>
                    <a:lstStyle/>
                    <a:p>
                      <a:pPr marL="135890">
                        <a:lnSpc>
                          <a:spcPts val="3275"/>
                        </a:lnSpc>
                      </a:pPr>
                      <a:r>
                        <a:rPr sz="2940" b="0" spc="-5" dirty="0">
                          <a:latin typeface="Calibri Light" panose="020F0302020204030204"/>
                          <a:cs typeface="Calibri Light" panose="020F0302020204030204"/>
                        </a:rPr>
                        <a:t>/* in */ )</a:t>
                      </a:r>
                      <a:r>
                        <a:rPr sz="2940" b="0" spc="-30" dirty="0">
                          <a:latin typeface="Calibri Light" panose="020F0302020204030204"/>
                          <a:cs typeface="Calibri Light" panose="020F0302020204030204"/>
                        </a:rPr>
                        <a:t> </a:t>
                      </a:r>
                      <a:r>
                        <a:rPr sz="2940" b="0" spc="-5" dirty="0">
                          <a:latin typeface="Calibri Light" panose="020F0302020204030204"/>
                          <a:cs typeface="Calibri Light" panose="020F0302020204030204"/>
                        </a:rPr>
                        <a:t>;</a:t>
                      </a:r>
                      <a:endParaRPr sz="2940">
                        <a:latin typeface="Calibri Light" panose="020F0302020204030204"/>
                        <a:cs typeface="Calibri Light" panose="020F0302020204030204"/>
                      </a:endParaRPr>
                    </a:p>
                  </a:txBody>
                  <a:tcPr marL="0" marR="0" marT="0" marB="0"/>
                </a:tc>
                <a:extLst>
                  <a:ext uri="{0D108BD9-81ED-4DB2-BD59-A6C34878D82A}">
                    <a16:rowId xmlns:a16="http://schemas.microsoft.com/office/drawing/2014/main" val="10001"/>
                  </a:ext>
                </a:extLst>
              </a:tr>
            </a:tbl>
          </a:graphicData>
        </a:graphic>
      </p:graphicFrame>
      <p:sp>
        <p:nvSpPr>
          <p:cNvPr id="8" name="object 8"/>
          <p:cNvSpPr/>
          <p:nvPr/>
        </p:nvSpPr>
        <p:spPr>
          <a:xfrm>
            <a:off x="3817676" y="2318690"/>
            <a:ext cx="1332833" cy="463391"/>
          </a:xfrm>
          <a:custGeom>
            <a:avLst/>
            <a:gdLst/>
            <a:ahLst/>
            <a:cxnLst/>
            <a:rect l="l" t="t" r="r" b="b"/>
            <a:pathLst>
              <a:path w="1269364" h="441325">
                <a:moveTo>
                  <a:pt x="1232808" y="413939"/>
                </a:moveTo>
                <a:lnTo>
                  <a:pt x="1166241" y="428371"/>
                </a:lnTo>
                <a:lnTo>
                  <a:pt x="1164082" y="431673"/>
                </a:lnTo>
                <a:lnTo>
                  <a:pt x="1164844" y="435101"/>
                </a:lnTo>
                <a:lnTo>
                  <a:pt x="1165479" y="438531"/>
                </a:lnTo>
                <a:lnTo>
                  <a:pt x="1168908" y="440816"/>
                </a:lnTo>
                <a:lnTo>
                  <a:pt x="1259254" y="421259"/>
                </a:lnTo>
                <a:lnTo>
                  <a:pt x="1255268" y="421259"/>
                </a:lnTo>
                <a:lnTo>
                  <a:pt x="1232808" y="413939"/>
                </a:lnTo>
                <a:close/>
              </a:path>
              <a:path w="1269364" h="441325">
                <a:moveTo>
                  <a:pt x="1245243" y="411247"/>
                </a:moveTo>
                <a:lnTo>
                  <a:pt x="1232808" y="413939"/>
                </a:lnTo>
                <a:lnTo>
                  <a:pt x="1255268" y="421259"/>
                </a:lnTo>
                <a:lnTo>
                  <a:pt x="1255889" y="419353"/>
                </a:lnTo>
                <a:lnTo>
                  <a:pt x="1252474" y="419353"/>
                </a:lnTo>
                <a:lnTo>
                  <a:pt x="1245243" y="411247"/>
                </a:lnTo>
                <a:close/>
              </a:path>
              <a:path w="1269364" h="441325">
                <a:moveTo>
                  <a:pt x="1196975" y="342264"/>
                </a:moveTo>
                <a:lnTo>
                  <a:pt x="1191641" y="346837"/>
                </a:lnTo>
                <a:lnTo>
                  <a:pt x="1191514" y="350900"/>
                </a:lnTo>
                <a:lnTo>
                  <a:pt x="1193800" y="353568"/>
                </a:lnTo>
                <a:lnTo>
                  <a:pt x="1236939" y="401936"/>
                </a:lnTo>
                <a:lnTo>
                  <a:pt x="1259205" y="409194"/>
                </a:lnTo>
                <a:lnTo>
                  <a:pt x="1255268" y="421259"/>
                </a:lnTo>
                <a:lnTo>
                  <a:pt x="1259254" y="421259"/>
                </a:lnTo>
                <a:lnTo>
                  <a:pt x="1269238" y="419100"/>
                </a:lnTo>
                <a:lnTo>
                  <a:pt x="1203325" y="345059"/>
                </a:lnTo>
                <a:lnTo>
                  <a:pt x="1200912" y="342391"/>
                </a:lnTo>
                <a:lnTo>
                  <a:pt x="1196975" y="342264"/>
                </a:lnTo>
                <a:close/>
              </a:path>
              <a:path w="1269364" h="441325">
                <a:moveTo>
                  <a:pt x="1255903" y="408939"/>
                </a:moveTo>
                <a:lnTo>
                  <a:pt x="1245243" y="411247"/>
                </a:lnTo>
                <a:lnTo>
                  <a:pt x="1252474" y="419353"/>
                </a:lnTo>
                <a:lnTo>
                  <a:pt x="1255903" y="408939"/>
                </a:lnTo>
                <a:close/>
              </a:path>
              <a:path w="1269364" h="441325">
                <a:moveTo>
                  <a:pt x="1258425" y="408939"/>
                </a:moveTo>
                <a:lnTo>
                  <a:pt x="1255903" y="408939"/>
                </a:lnTo>
                <a:lnTo>
                  <a:pt x="1252474" y="419353"/>
                </a:lnTo>
                <a:lnTo>
                  <a:pt x="1255889" y="419353"/>
                </a:lnTo>
                <a:lnTo>
                  <a:pt x="1259205" y="409194"/>
                </a:lnTo>
                <a:lnTo>
                  <a:pt x="1258425" y="408939"/>
                </a:lnTo>
                <a:close/>
              </a:path>
              <a:path w="1269364" h="441325">
                <a:moveTo>
                  <a:pt x="3810" y="0"/>
                </a:moveTo>
                <a:lnTo>
                  <a:pt x="0" y="12191"/>
                </a:lnTo>
                <a:lnTo>
                  <a:pt x="1232808" y="413939"/>
                </a:lnTo>
                <a:lnTo>
                  <a:pt x="1245243" y="411247"/>
                </a:lnTo>
                <a:lnTo>
                  <a:pt x="1236939" y="401936"/>
                </a:lnTo>
                <a:lnTo>
                  <a:pt x="3810" y="0"/>
                </a:lnTo>
                <a:close/>
              </a:path>
              <a:path w="1269364" h="441325">
                <a:moveTo>
                  <a:pt x="1236939" y="401936"/>
                </a:moveTo>
                <a:lnTo>
                  <a:pt x="1245243" y="411247"/>
                </a:lnTo>
                <a:lnTo>
                  <a:pt x="1255903" y="408939"/>
                </a:lnTo>
                <a:lnTo>
                  <a:pt x="1258425" y="408939"/>
                </a:lnTo>
                <a:lnTo>
                  <a:pt x="1236939" y="401936"/>
                </a:lnTo>
                <a:close/>
              </a:path>
            </a:pathLst>
          </a:custGeom>
          <a:solidFill>
            <a:srgbClr val="0066FF"/>
          </a:solidFill>
        </p:spPr>
        <p:txBody>
          <a:bodyPr wrap="square" lIns="0" tIns="0" rIns="0" bIns="0" rtlCol="0"/>
          <a:lstStyle/>
          <a:p>
            <a:endParaRPr sz="2310"/>
          </a:p>
        </p:txBody>
      </p:sp>
      <p:sp>
        <p:nvSpPr>
          <p:cNvPr id="9" name="object 9"/>
          <p:cNvSpPr/>
          <p:nvPr/>
        </p:nvSpPr>
        <p:spPr>
          <a:xfrm>
            <a:off x="4318940" y="3026377"/>
            <a:ext cx="1686211" cy="827437"/>
          </a:xfrm>
          <a:custGeom>
            <a:avLst/>
            <a:gdLst/>
            <a:ahLst/>
            <a:cxnLst/>
            <a:rect l="l" t="t" r="r" b="b"/>
            <a:pathLst>
              <a:path w="1605914" h="788035">
                <a:moveTo>
                  <a:pt x="61213" y="693674"/>
                </a:moveTo>
                <a:lnTo>
                  <a:pt x="57276" y="694436"/>
                </a:lnTo>
                <a:lnTo>
                  <a:pt x="55372" y="697357"/>
                </a:lnTo>
                <a:lnTo>
                  <a:pt x="0" y="779526"/>
                </a:lnTo>
                <a:lnTo>
                  <a:pt x="102235" y="787527"/>
                </a:lnTo>
                <a:lnTo>
                  <a:pt x="105282" y="784860"/>
                </a:lnTo>
                <a:lnTo>
                  <a:pt x="105537" y="781431"/>
                </a:lnTo>
                <a:lnTo>
                  <a:pt x="105713" y="779780"/>
                </a:lnTo>
                <a:lnTo>
                  <a:pt x="14097" y="779780"/>
                </a:lnTo>
                <a:lnTo>
                  <a:pt x="8509" y="768350"/>
                </a:lnTo>
                <a:lnTo>
                  <a:pt x="29806" y="758069"/>
                </a:lnTo>
                <a:lnTo>
                  <a:pt x="65912" y="704469"/>
                </a:lnTo>
                <a:lnTo>
                  <a:pt x="67818" y="701548"/>
                </a:lnTo>
                <a:lnTo>
                  <a:pt x="67056" y="697611"/>
                </a:lnTo>
                <a:lnTo>
                  <a:pt x="64135" y="695579"/>
                </a:lnTo>
                <a:lnTo>
                  <a:pt x="61213" y="693674"/>
                </a:lnTo>
                <a:close/>
              </a:path>
              <a:path w="1605914" h="788035">
                <a:moveTo>
                  <a:pt x="29806" y="758069"/>
                </a:moveTo>
                <a:lnTo>
                  <a:pt x="8509" y="768350"/>
                </a:lnTo>
                <a:lnTo>
                  <a:pt x="14097" y="779780"/>
                </a:lnTo>
                <a:lnTo>
                  <a:pt x="18569" y="777621"/>
                </a:lnTo>
                <a:lnTo>
                  <a:pt x="16637" y="777621"/>
                </a:lnTo>
                <a:lnTo>
                  <a:pt x="11811" y="767715"/>
                </a:lnTo>
                <a:lnTo>
                  <a:pt x="23309" y="767715"/>
                </a:lnTo>
                <a:lnTo>
                  <a:pt x="29806" y="758069"/>
                </a:lnTo>
                <a:close/>
              </a:path>
              <a:path w="1605914" h="788035">
                <a:moveTo>
                  <a:pt x="35306" y="769542"/>
                </a:moveTo>
                <a:lnTo>
                  <a:pt x="14097" y="779780"/>
                </a:lnTo>
                <a:lnTo>
                  <a:pt x="105713" y="779780"/>
                </a:lnTo>
                <a:lnTo>
                  <a:pt x="105918" y="777875"/>
                </a:lnTo>
                <a:lnTo>
                  <a:pt x="103250" y="774827"/>
                </a:lnTo>
                <a:lnTo>
                  <a:pt x="35306" y="769542"/>
                </a:lnTo>
                <a:close/>
              </a:path>
              <a:path w="1605914" h="788035">
                <a:moveTo>
                  <a:pt x="11811" y="767715"/>
                </a:moveTo>
                <a:lnTo>
                  <a:pt x="16637" y="777621"/>
                </a:lnTo>
                <a:lnTo>
                  <a:pt x="22737" y="768564"/>
                </a:lnTo>
                <a:lnTo>
                  <a:pt x="11811" y="767715"/>
                </a:lnTo>
                <a:close/>
              </a:path>
              <a:path w="1605914" h="788035">
                <a:moveTo>
                  <a:pt x="22737" y="768564"/>
                </a:moveTo>
                <a:lnTo>
                  <a:pt x="16637" y="777621"/>
                </a:lnTo>
                <a:lnTo>
                  <a:pt x="18569" y="777621"/>
                </a:lnTo>
                <a:lnTo>
                  <a:pt x="35306" y="769542"/>
                </a:lnTo>
                <a:lnTo>
                  <a:pt x="22737" y="768564"/>
                </a:lnTo>
                <a:close/>
              </a:path>
              <a:path w="1605914" h="788035">
                <a:moveTo>
                  <a:pt x="1600327" y="0"/>
                </a:moveTo>
                <a:lnTo>
                  <a:pt x="29806" y="758069"/>
                </a:lnTo>
                <a:lnTo>
                  <a:pt x="22737" y="768564"/>
                </a:lnTo>
                <a:lnTo>
                  <a:pt x="35306" y="769542"/>
                </a:lnTo>
                <a:lnTo>
                  <a:pt x="1605914" y="11430"/>
                </a:lnTo>
                <a:lnTo>
                  <a:pt x="1600327" y="0"/>
                </a:lnTo>
                <a:close/>
              </a:path>
              <a:path w="1605914" h="788035">
                <a:moveTo>
                  <a:pt x="23309" y="767715"/>
                </a:moveTo>
                <a:lnTo>
                  <a:pt x="11811" y="767715"/>
                </a:lnTo>
                <a:lnTo>
                  <a:pt x="22737" y="768564"/>
                </a:lnTo>
                <a:lnTo>
                  <a:pt x="23309" y="767715"/>
                </a:lnTo>
                <a:close/>
              </a:path>
            </a:pathLst>
          </a:custGeom>
          <a:solidFill>
            <a:srgbClr val="0066FF"/>
          </a:solidFill>
        </p:spPr>
        <p:txBody>
          <a:bodyPr wrap="square" lIns="0" tIns="0" rIns="0" bIns="0" rtlCol="0"/>
          <a:lstStyle/>
          <a:p>
            <a:endParaRPr sz="2310"/>
          </a:p>
        </p:txBody>
      </p:sp>
      <p:sp>
        <p:nvSpPr>
          <p:cNvPr id="10" name="object 10"/>
          <p:cNvSpPr txBox="1"/>
          <p:nvPr/>
        </p:nvSpPr>
        <p:spPr>
          <a:xfrm>
            <a:off x="7466000" y="2199742"/>
            <a:ext cx="2152935" cy="915670"/>
          </a:xfrm>
          <a:prstGeom prst="rect">
            <a:avLst/>
          </a:prstGeom>
        </p:spPr>
        <p:txBody>
          <a:bodyPr vert="horz" wrap="square" lIns="0" tIns="12668" rIns="0" bIns="0" rtlCol="0">
            <a:spAutoFit/>
          </a:bodyPr>
          <a:lstStyle/>
          <a:p>
            <a:pPr marL="12700" marR="5080">
              <a:lnSpc>
                <a:spcPct val="100000"/>
              </a:lnSpc>
              <a:spcBef>
                <a:spcPts val="95"/>
              </a:spcBef>
            </a:pPr>
            <a:r>
              <a:rPr sz="2940" b="0" spc="-15" dirty="0">
                <a:solidFill>
                  <a:srgbClr val="FF0000"/>
                </a:solidFill>
                <a:latin typeface="Calibri Light" panose="020F0302020204030204"/>
                <a:cs typeface="Calibri Light" panose="020F0302020204030204"/>
              </a:rPr>
              <a:t>One object</a:t>
            </a:r>
            <a:r>
              <a:rPr sz="2940" b="0" spc="-165" dirty="0">
                <a:solidFill>
                  <a:srgbClr val="FF0000"/>
                </a:solidFill>
                <a:latin typeface="Calibri Light" panose="020F0302020204030204"/>
                <a:cs typeface="Calibri Light" panose="020F0302020204030204"/>
              </a:rPr>
              <a:t> </a:t>
            </a:r>
            <a:r>
              <a:rPr sz="2940" b="0" spc="-40" dirty="0">
                <a:solidFill>
                  <a:srgbClr val="FF0000"/>
                </a:solidFill>
                <a:latin typeface="Calibri Light" panose="020F0302020204030204"/>
                <a:cs typeface="Calibri Light" panose="020F0302020204030204"/>
              </a:rPr>
              <a:t>for  </a:t>
            </a:r>
            <a:r>
              <a:rPr sz="2940" b="0" spc="-15" dirty="0">
                <a:solidFill>
                  <a:srgbClr val="FF0000"/>
                </a:solidFill>
                <a:latin typeface="Calibri Light" panose="020F0302020204030204"/>
                <a:cs typeface="Calibri Light" panose="020F0302020204030204"/>
              </a:rPr>
              <a:t>each</a:t>
            </a:r>
            <a:r>
              <a:rPr sz="2940" b="0" spc="-80" dirty="0">
                <a:solidFill>
                  <a:srgbClr val="FF0000"/>
                </a:solidFill>
                <a:latin typeface="Calibri Light" panose="020F0302020204030204"/>
                <a:cs typeface="Calibri Light" panose="020F0302020204030204"/>
              </a:rPr>
              <a:t> </a:t>
            </a:r>
            <a:r>
              <a:rPr sz="2940" b="0" spc="-25" dirty="0">
                <a:solidFill>
                  <a:srgbClr val="FF0000"/>
                </a:solidFill>
                <a:latin typeface="Calibri Light" panose="020F0302020204030204"/>
                <a:cs typeface="Calibri Light" panose="020F0302020204030204"/>
              </a:rPr>
              <a:t>thread.</a:t>
            </a:r>
            <a:endParaRPr sz="2940">
              <a:latin typeface="Calibri Light" panose="020F0302020204030204"/>
              <a:cs typeface="Calibri Light" panose="020F0302020204030204"/>
            </a:endParaRPr>
          </a:p>
        </p:txBody>
      </p:sp>
      <p:sp>
        <p:nvSpPr>
          <p:cNvPr id="11" name="object 11"/>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0" dirty="0"/>
              <a:t>pthread_t</a:t>
            </a:r>
            <a:r>
              <a:rPr sz="4620" spc="-100" dirty="0"/>
              <a:t> </a:t>
            </a:r>
            <a:r>
              <a:rPr sz="4620" spc="-5" dirty="0"/>
              <a:t>objects</a:t>
            </a:r>
            <a:endParaRPr sz="4620" dirty="0"/>
          </a:p>
        </p:txBody>
      </p:sp>
      <p:sp>
        <p:nvSpPr>
          <p:cNvPr id="3" name="object 3"/>
          <p:cNvSpPr txBox="1"/>
          <p:nvPr/>
        </p:nvSpPr>
        <p:spPr>
          <a:xfrm>
            <a:off x="2135413" y="1403774"/>
            <a:ext cx="8803100" cy="5608955"/>
          </a:xfrm>
          <a:prstGeom prst="rect">
            <a:avLst/>
          </a:prstGeom>
        </p:spPr>
        <p:txBody>
          <a:bodyPr vert="horz" wrap="square" lIns="0" tIns="13334" rIns="0" bIns="0" rtlCol="0">
            <a:spAutoFit/>
          </a:bodyPr>
          <a:lstStyle/>
          <a:p>
            <a:pPr marL="241300" indent="-228600">
              <a:lnSpc>
                <a:spcPct val="100000"/>
              </a:lnSpc>
              <a:spcBef>
                <a:spcPts val="100"/>
              </a:spcBef>
              <a:buFont typeface="Arial" panose="020B0604020202020204"/>
              <a:buChar char="•"/>
              <a:tabLst>
                <a:tab pos="241300" algn="l"/>
              </a:tabLst>
            </a:pPr>
            <a:r>
              <a:rPr sz="3150" spc="-5" dirty="0">
                <a:solidFill>
                  <a:srgbClr val="FF0000"/>
                </a:solidFill>
                <a:latin typeface="Calibri" panose="020F0502020204030204"/>
                <a:cs typeface="Calibri" panose="020F0502020204030204"/>
              </a:rPr>
              <a:t>Opaque</a:t>
            </a:r>
            <a:endParaRPr sz="3150" dirty="0">
              <a:latin typeface="Calibri" panose="020F0502020204030204"/>
              <a:cs typeface="Calibri" panose="020F0502020204030204"/>
            </a:endParaRPr>
          </a:p>
          <a:p>
            <a:pPr>
              <a:lnSpc>
                <a:spcPct val="100000"/>
              </a:lnSpc>
              <a:spcBef>
                <a:spcPts val="40"/>
              </a:spcBef>
              <a:buChar char="•"/>
            </a:pPr>
            <a:endParaRPr sz="3360" dirty="0">
              <a:latin typeface="Calibri" panose="020F0502020204030204"/>
              <a:cs typeface="Calibri" panose="020F0502020204030204"/>
            </a:endParaRPr>
          </a:p>
          <a:p>
            <a:pPr marL="241300" indent="-228600">
              <a:lnSpc>
                <a:spcPct val="100000"/>
              </a:lnSpc>
              <a:spcBef>
                <a:spcPts val="5"/>
              </a:spcBef>
              <a:buFont typeface="Arial" panose="020B0604020202020204"/>
              <a:buChar char="•"/>
              <a:tabLst>
                <a:tab pos="241300" algn="l"/>
              </a:tabLst>
            </a:pPr>
            <a:r>
              <a:rPr sz="3150" spc="-5" dirty="0">
                <a:latin typeface="Calibri" panose="020F0502020204030204"/>
                <a:cs typeface="Calibri" panose="020F0502020204030204"/>
              </a:rPr>
              <a:t>The </a:t>
            </a:r>
            <a:r>
              <a:rPr sz="3150" dirty="0">
                <a:latin typeface="Calibri" panose="020F0502020204030204"/>
                <a:cs typeface="Calibri" panose="020F0502020204030204"/>
              </a:rPr>
              <a:t>actual </a:t>
            </a:r>
            <a:r>
              <a:rPr sz="3150" spc="-15" dirty="0">
                <a:latin typeface="Calibri" panose="020F0502020204030204"/>
                <a:cs typeface="Calibri" panose="020F0502020204030204"/>
              </a:rPr>
              <a:t>data </a:t>
            </a:r>
            <a:r>
              <a:rPr sz="3150" spc="-5" dirty="0">
                <a:latin typeface="Calibri" panose="020F0502020204030204"/>
                <a:cs typeface="Calibri" panose="020F0502020204030204"/>
              </a:rPr>
              <a:t>that </a:t>
            </a:r>
            <a:r>
              <a:rPr sz="3150" spc="-10" dirty="0">
                <a:latin typeface="Calibri" panose="020F0502020204030204"/>
                <a:cs typeface="Calibri" panose="020F0502020204030204"/>
              </a:rPr>
              <a:t>they </a:t>
            </a:r>
            <a:r>
              <a:rPr sz="3150" spc="-20" dirty="0">
                <a:latin typeface="Calibri" panose="020F0502020204030204"/>
                <a:cs typeface="Calibri" panose="020F0502020204030204"/>
              </a:rPr>
              <a:t>store </a:t>
            </a:r>
            <a:r>
              <a:rPr sz="3150" dirty="0">
                <a:latin typeface="Calibri" panose="020F0502020204030204"/>
                <a:cs typeface="Calibri" panose="020F0502020204030204"/>
              </a:rPr>
              <a:t>is</a:t>
            </a:r>
            <a:r>
              <a:rPr sz="3150" spc="-80" dirty="0">
                <a:latin typeface="Calibri" panose="020F0502020204030204"/>
                <a:cs typeface="Calibri" panose="020F0502020204030204"/>
              </a:rPr>
              <a:t> </a:t>
            </a:r>
            <a:r>
              <a:rPr sz="3150" spc="-15" dirty="0">
                <a:solidFill>
                  <a:srgbClr val="FF0000"/>
                </a:solidFill>
                <a:latin typeface="Calibri" panose="020F0502020204030204"/>
                <a:cs typeface="Calibri" panose="020F0502020204030204"/>
              </a:rPr>
              <a:t>system-specific.</a:t>
            </a:r>
            <a:endParaRPr sz="3150" dirty="0">
              <a:latin typeface="Calibri" panose="020F0502020204030204"/>
              <a:cs typeface="Calibri" panose="020F0502020204030204"/>
            </a:endParaRPr>
          </a:p>
          <a:p>
            <a:pPr>
              <a:lnSpc>
                <a:spcPct val="100000"/>
              </a:lnSpc>
              <a:spcBef>
                <a:spcPts val="20"/>
              </a:spcBef>
              <a:buChar char="•"/>
            </a:pPr>
            <a:endParaRPr sz="3725" dirty="0">
              <a:latin typeface="Calibri" panose="020F0502020204030204"/>
              <a:cs typeface="Calibri" panose="020F0502020204030204"/>
            </a:endParaRPr>
          </a:p>
          <a:p>
            <a:pPr marL="241300" marR="722630" indent="-228600">
              <a:lnSpc>
                <a:spcPts val="3240"/>
              </a:lnSpc>
              <a:buFont typeface="Arial" panose="020B0604020202020204"/>
              <a:buChar char="•"/>
              <a:tabLst>
                <a:tab pos="241300" algn="l"/>
              </a:tabLst>
            </a:pPr>
            <a:r>
              <a:rPr sz="3150" spc="-5" dirty="0">
                <a:latin typeface="Calibri" panose="020F0502020204030204"/>
                <a:cs typeface="Calibri" panose="020F0502020204030204"/>
              </a:rPr>
              <a:t>Their </a:t>
            </a:r>
            <a:r>
              <a:rPr sz="3150" spc="-15" dirty="0">
                <a:latin typeface="Calibri" panose="020F0502020204030204"/>
                <a:cs typeface="Calibri" panose="020F0502020204030204"/>
              </a:rPr>
              <a:t>data </a:t>
            </a:r>
            <a:r>
              <a:rPr sz="3150" spc="-10" dirty="0">
                <a:latin typeface="Calibri" panose="020F0502020204030204"/>
                <a:cs typeface="Calibri" panose="020F0502020204030204"/>
              </a:rPr>
              <a:t>members </a:t>
            </a:r>
            <a:r>
              <a:rPr sz="3150" spc="-10" dirty="0">
                <a:solidFill>
                  <a:srgbClr val="FF0000"/>
                </a:solidFill>
                <a:latin typeface="Calibri" panose="020F0502020204030204"/>
                <a:cs typeface="Calibri" panose="020F0502020204030204"/>
              </a:rPr>
              <a:t>aren’t directly </a:t>
            </a:r>
            <a:r>
              <a:rPr sz="3150" spc="-5" dirty="0">
                <a:solidFill>
                  <a:srgbClr val="FF0000"/>
                </a:solidFill>
                <a:latin typeface="Calibri" panose="020F0502020204030204"/>
                <a:cs typeface="Calibri" panose="020F0502020204030204"/>
              </a:rPr>
              <a:t>accessible </a:t>
            </a:r>
            <a:r>
              <a:rPr sz="3150" spc="-15" dirty="0">
                <a:latin typeface="Calibri" panose="020F0502020204030204"/>
                <a:cs typeface="Calibri" panose="020F0502020204030204"/>
              </a:rPr>
              <a:t>to  </a:t>
            </a:r>
            <a:r>
              <a:rPr sz="3150" spc="-5" dirty="0">
                <a:latin typeface="Calibri" panose="020F0502020204030204"/>
                <a:cs typeface="Calibri" panose="020F0502020204030204"/>
              </a:rPr>
              <a:t>user</a:t>
            </a:r>
            <a:r>
              <a:rPr sz="3150" spc="-10" dirty="0">
                <a:latin typeface="Calibri" panose="020F0502020204030204"/>
                <a:cs typeface="Calibri" panose="020F0502020204030204"/>
              </a:rPr>
              <a:t> code.</a:t>
            </a:r>
            <a:endParaRPr sz="3150" dirty="0">
              <a:latin typeface="Calibri" panose="020F0502020204030204"/>
              <a:cs typeface="Calibri" panose="020F0502020204030204"/>
            </a:endParaRPr>
          </a:p>
          <a:p>
            <a:pPr>
              <a:lnSpc>
                <a:spcPct val="100000"/>
              </a:lnSpc>
              <a:spcBef>
                <a:spcPts val="35"/>
              </a:spcBef>
              <a:buChar char="•"/>
            </a:pPr>
            <a:endParaRPr sz="3675" dirty="0">
              <a:latin typeface="Calibri" panose="020F0502020204030204"/>
              <a:cs typeface="Calibri" panose="020F0502020204030204"/>
            </a:endParaRPr>
          </a:p>
          <a:p>
            <a:pPr marL="241300" marR="382905" indent="-228600">
              <a:lnSpc>
                <a:spcPts val="3240"/>
              </a:lnSpc>
              <a:spcBef>
                <a:spcPts val="5"/>
              </a:spcBef>
              <a:buFont typeface="Arial" panose="020B0604020202020204"/>
              <a:buChar char="•"/>
              <a:tabLst>
                <a:tab pos="241300" algn="l"/>
              </a:tabLst>
            </a:pPr>
            <a:r>
              <a:rPr sz="3150" spc="-45" dirty="0">
                <a:latin typeface="Calibri" panose="020F0502020204030204"/>
                <a:cs typeface="Calibri" panose="020F0502020204030204"/>
              </a:rPr>
              <a:t>However, </a:t>
            </a:r>
            <a:r>
              <a:rPr sz="3150" dirty="0">
                <a:latin typeface="Calibri" panose="020F0502020204030204"/>
                <a:cs typeface="Calibri" panose="020F0502020204030204"/>
              </a:rPr>
              <a:t>the </a:t>
            </a:r>
            <a:r>
              <a:rPr sz="3150" spc="-5" dirty="0">
                <a:latin typeface="Calibri" panose="020F0502020204030204"/>
                <a:cs typeface="Calibri" panose="020F0502020204030204"/>
              </a:rPr>
              <a:t>Pthreads </a:t>
            </a:r>
            <a:r>
              <a:rPr sz="3150" spc="-15" dirty="0">
                <a:latin typeface="Calibri" panose="020F0502020204030204"/>
                <a:cs typeface="Calibri" panose="020F0502020204030204"/>
              </a:rPr>
              <a:t>standard guarantees </a:t>
            </a:r>
            <a:r>
              <a:rPr sz="3150" spc="-5" dirty="0">
                <a:latin typeface="Calibri" panose="020F0502020204030204"/>
                <a:cs typeface="Calibri" panose="020F0502020204030204"/>
              </a:rPr>
              <a:t>that </a:t>
            </a:r>
            <a:r>
              <a:rPr sz="3150" dirty="0">
                <a:latin typeface="Calibri" panose="020F0502020204030204"/>
                <a:cs typeface="Calibri" panose="020F0502020204030204"/>
              </a:rPr>
              <a:t>a  </a:t>
            </a:r>
            <a:r>
              <a:rPr sz="3150" spc="-10" dirty="0">
                <a:latin typeface="Calibri" panose="020F0502020204030204"/>
                <a:cs typeface="Calibri" panose="020F0502020204030204"/>
              </a:rPr>
              <a:t>pthread_t </a:t>
            </a:r>
            <a:r>
              <a:rPr sz="3150" spc="-5" dirty="0">
                <a:latin typeface="Calibri" panose="020F0502020204030204"/>
                <a:cs typeface="Calibri" panose="020F0502020204030204"/>
              </a:rPr>
              <a:t>object does </a:t>
            </a:r>
            <a:r>
              <a:rPr sz="3150" spc="-20" dirty="0">
                <a:solidFill>
                  <a:srgbClr val="FF0000"/>
                </a:solidFill>
                <a:latin typeface="Calibri" panose="020F0502020204030204"/>
                <a:cs typeface="Calibri" panose="020F0502020204030204"/>
              </a:rPr>
              <a:t>store </a:t>
            </a:r>
            <a:r>
              <a:rPr sz="3150" dirty="0">
                <a:solidFill>
                  <a:srgbClr val="FF0000"/>
                </a:solidFill>
                <a:latin typeface="Calibri" panose="020F0502020204030204"/>
                <a:cs typeface="Calibri" panose="020F0502020204030204"/>
              </a:rPr>
              <a:t>enough</a:t>
            </a:r>
            <a:r>
              <a:rPr sz="3150" spc="-30" dirty="0">
                <a:solidFill>
                  <a:srgbClr val="FF0000"/>
                </a:solidFill>
                <a:latin typeface="Calibri" panose="020F0502020204030204"/>
                <a:cs typeface="Calibri" panose="020F0502020204030204"/>
              </a:rPr>
              <a:t> </a:t>
            </a:r>
            <a:r>
              <a:rPr sz="3150" spc="-10" dirty="0">
                <a:solidFill>
                  <a:srgbClr val="FF0000"/>
                </a:solidFill>
                <a:latin typeface="Calibri" panose="020F0502020204030204"/>
                <a:cs typeface="Calibri" panose="020F0502020204030204"/>
              </a:rPr>
              <a:t>information</a:t>
            </a:r>
            <a:endParaRPr sz="3150" dirty="0">
              <a:latin typeface="Calibri" panose="020F0502020204030204"/>
              <a:cs typeface="Calibri" panose="020F0502020204030204"/>
            </a:endParaRPr>
          </a:p>
          <a:p>
            <a:pPr marL="698500" lvl="1" indent="-229235">
              <a:lnSpc>
                <a:spcPct val="100000"/>
              </a:lnSpc>
              <a:spcBef>
                <a:spcPts val="175"/>
              </a:spcBef>
              <a:buFont typeface="Arial" panose="020B0604020202020204"/>
              <a:buChar char="•"/>
              <a:tabLst>
                <a:tab pos="699135" algn="l"/>
              </a:tabLst>
            </a:pPr>
            <a:r>
              <a:rPr sz="2730" spc="-15" dirty="0">
                <a:latin typeface="Calibri" panose="020F0502020204030204"/>
                <a:cs typeface="Calibri" panose="020F0502020204030204"/>
              </a:rPr>
              <a:t>to </a:t>
            </a:r>
            <a:r>
              <a:rPr sz="2730" spc="-5" dirty="0">
                <a:latin typeface="Calibri" panose="020F0502020204030204"/>
                <a:cs typeface="Calibri" panose="020F0502020204030204"/>
              </a:rPr>
              <a:t>uniquely identify </a:t>
            </a:r>
            <a:r>
              <a:rPr sz="2730" spc="-10" dirty="0">
                <a:latin typeface="Calibri" panose="020F0502020204030204"/>
                <a:cs typeface="Calibri" panose="020F0502020204030204"/>
              </a:rPr>
              <a:t>the thread </a:t>
            </a:r>
            <a:r>
              <a:rPr sz="2730" spc="-5" dirty="0">
                <a:latin typeface="Calibri" panose="020F0502020204030204"/>
                <a:cs typeface="Calibri" panose="020F0502020204030204"/>
              </a:rPr>
              <a:t>with </a:t>
            </a:r>
            <a:r>
              <a:rPr sz="2730" dirty="0">
                <a:latin typeface="Calibri" panose="020F0502020204030204"/>
                <a:cs typeface="Calibri" panose="020F0502020204030204"/>
              </a:rPr>
              <a:t>which </a:t>
            </a:r>
            <a:r>
              <a:rPr sz="2730" spc="-20" dirty="0">
                <a:latin typeface="Calibri" panose="020F0502020204030204"/>
                <a:cs typeface="Calibri" panose="020F0502020204030204"/>
              </a:rPr>
              <a:t>it’s</a:t>
            </a:r>
            <a:r>
              <a:rPr sz="2730" spc="45" dirty="0">
                <a:latin typeface="Calibri" panose="020F0502020204030204"/>
                <a:cs typeface="Calibri" panose="020F0502020204030204"/>
              </a:rPr>
              <a:t> </a:t>
            </a:r>
            <a:r>
              <a:rPr sz="2730" spc="-10" dirty="0">
                <a:latin typeface="Calibri" panose="020F0502020204030204"/>
                <a:cs typeface="Calibri" panose="020F0502020204030204"/>
              </a:rPr>
              <a:t>associated.</a:t>
            </a:r>
            <a:endParaRPr lang="en-US" sz="2730" spc="-10" dirty="0">
              <a:latin typeface="Calibri" panose="020F0502020204030204"/>
              <a:cs typeface="Calibri" panose="020F0502020204030204"/>
            </a:endParaRPr>
          </a:p>
          <a:p>
            <a:pPr marL="698500" lvl="1" indent="-229235">
              <a:spcBef>
                <a:spcPts val="175"/>
              </a:spcBef>
              <a:buFont typeface="Arial" panose="020B0604020202020204"/>
              <a:buChar char="•"/>
              <a:tabLst>
                <a:tab pos="699135" algn="l"/>
              </a:tabLst>
            </a:pPr>
            <a:r>
              <a:rPr lang="en-US" sz="2520" spc="-5" dirty="0">
                <a:solidFill>
                  <a:srgbClr val="FF0000"/>
                </a:solidFill>
                <a:cs typeface="Calibri" panose="020F0502020204030204"/>
                <a:hlinkClick r:id="rId2"/>
              </a:rPr>
              <a:t>https://man7.org/linux/man-pages/man7/pthreads.7.html</a:t>
            </a:r>
            <a:endParaRPr lang="en-US" sz="2520" spc="-5" dirty="0">
              <a:solidFill>
                <a:srgbClr val="FF0000"/>
              </a:solidFill>
              <a:cs typeface="Calibri" panose="020F0502020204030204"/>
            </a:endParaRPr>
          </a:p>
          <a:p>
            <a:pPr marL="698500" lvl="1" indent="-229235">
              <a:lnSpc>
                <a:spcPct val="100000"/>
              </a:lnSpc>
              <a:spcBef>
                <a:spcPts val="175"/>
              </a:spcBef>
              <a:buFont typeface="Arial" panose="020B0604020202020204"/>
              <a:buChar char="•"/>
              <a:tabLst>
                <a:tab pos="699135" algn="l"/>
              </a:tabLst>
            </a:pPr>
            <a:endParaRPr sz="2730" dirty="0">
              <a:latin typeface="Calibri" panose="020F0502020204030204"/>
              <a:cs typeface="Calibri" panose="020F0502020204030204"/>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A </a:t>
            </a:r>
            <a:r>
              <a:rPr sz="4620" spc="-5" dirty="0"/>
              <a:t>closer </a:t>
            </a:r>
            <a:r>
              <a:rPr sz="4620" dirty="0"/>
              <a:t>look</a:t>
            </a:r>
            <a:r>
              <a:rPr sz="4620" spc="-70" dirty="0"/>
              <a:t> </a:t>
            </a:r>
            <a:r>
              <a:rPr sz="4620" dirty="0"/>
              <a:t>(1)</a:t>
            </a:r>
          </a:p>
        </p:txBody>
      </p:sp>
      <p:sp>
        <p:nvSpPr>
          <p:cNvPr id="3" name="object 3"/>
          <p:cNvSpPr txBox="1"/>
          <p:nvPr/>
        </p:nvSpPr>
        <p:spPr>
          <a:xfrm>
            <a:off x="2347599" y="1628963"/>
            <a:ext cx="8078342" cy="3821430"/>
          </a:xfrm>
          <a:prstGeom prst="rect">
            <a:avLst/>
          </a:prstGeom>
        </p:spPr>
        <p:txBody>
          <a:bodyPr vert="horz" wrap="square" lIns="0" tIns="103346" rIns="0" bIns="0" rtlCol="0">
            <a:spAutoFit/>
          </a:bodyPr>
          <a:lstStyle/>
          <a:p>
            <a:pPr marL="85725">
              <a:lnSpc>
                <a:spcPct val="100000"/>
              </a:lnSpc>
              <a:spcBef>
                <a:spcPts val="775"/>
              </a:spcBef>
            </a:pPr>
            <a:r>
              <a:rPr sz="2940" spc="-15" dirty="0">
                <a:latin typeface="Calibri" panose="020F0502020204030204"/>
                <a:cs typeface="Calibri" panose="020F0502020204030204"/>
              </a:rPr>
              <a:t>int pthread_create</a:t>
            </a:r>
            <a:r>
              <a:rPr sz="2940" spc="30"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marL="1000125">
              <a:lnSpc>
                <a:spcPct val="100000"/>
              </a:lnSpc>
              <a:spcBef>
                <a:spcPts val="675"/>
              </a:spcBef>
              <a:tabLst>
                <a:tab pos="2781935" algn="l"/>
              </a:tabLst>
            </a:pPr>
            <a:r>
              <a:rPr sz="2940" spc="-10" dirty="0">
                <a:latin typeface="Calibri" panose="020F0502020204030204"/>
                <a:cs typeface="Calibri" panose="020F0502020204030204"/>
              </a:rPr>
              <a:t>pthread_t*	thread_p </a:t>
            </a:r>
            <a:r>
              <a:rPr sz="2940" spc="-5" dirty="0">
                <a:latin typeface="Calibri" panose="020F0502020204030204"/>
                <a:cs typeface="Calibri" panose="020F0502020204030204"/>
              </a:rPr>
              <a:t>/* </a:t>
            </a:r>
            <a:r>
              <a:rPr sz="2940" spc="-10" dirty="0">
                <a:latin typeface="Calibri" panose="020F0502020204030204"/>
                <a:cs typeface="Calibri" panose="020F0502020204030204"/>
              </a:rPr>
              <a:t>out </a:t>
            </a:r>
            <a:r>
              <a:rPr sz="2940" spc="-5" dirty="0">
                <a:latin typeface="Calibri" panose="020F0502020204030204"/>
                <a:cs typeface="Calibri" panose="020F0502020204030204"/>
              </a:rPr>
              <a:t>*/</a:t>
            </a:r>
            <a:r>
              <a:rPr sz="2940" spc="80"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marL="1000125" marR="979805">
              <a:lnSpc>
                <a:spcPct val="120000"/>
              </a:lnSpc>
              <a:tabLst>
                <a:tab pos="1951355" algn="l"/>
                <a:tab pos="4340860" algn="l"/>
              </a:tabLst>
            </a:pPr>
            <a:r>
              <a:rPr sz="2940" spc="-20" dirty="0">
                <a:latin typeface="Calibri" panose="020F0502020204030204"/>
                <a:cs typeface="Calibri" panose="020F0502020204030204"/>
              </a:rPr>
              <a:t>const</a:t>
            </a:r>
            <a:r>
              <a:rPr sz="2940" spc="95" dirty="0">
                <a:latin typeface="Calibri" panose="020F0502020204030204"/>
                <a:cs typeface="Calibri" panose="020F0502020204030204"/>
              </a:rPr>
              <a:t> </a:t>
            </a:r>
            <a:r>
              <a:rPr sz="2940" spc="-15" dirty="0">
                <a:latin typeface="Calibri" panose="020F0502020204030204"/>
                <a:cs typeface="Calibri" panose="020F0502020204030204"/>
              </a:rPr>
              <a:t>pthread_attr_t*	attr_p </a:t>
            </a:r>
            <a:r>
              <a:rPr sz="2940" spc="-5" dirty="0">
                <a:latin typeface="Calibri" panose="020F0502020204030204"/>
                <a:cs typeface="Calibri" panose="020F0502020204030204"/>
              </a:rPr>
              <a:t>/* in */ ,  </a:t>
            </a:r>
            <a:r>
              <a:rPr sz="2940" spc="-15" dirty="0">
                <a:latin typeface="Calibri" panose="020F0502020204030204"/>
                <a:cs typeface="Calibri" panose="020F0502020204030204"/>
              </a:rPr>
              <a:t>void*	(*start_routine </a:t>
            </a:r>
            <a:r>
              <a:rPr sz="2940" spc="-5" dirty="0">
                <a:latin typeface="Calibri" panose="020F0502020204030204"/>
                <a:cs typeface="Calibri" panose="020F0502020204030204"/>
              </a:rPr>
              <a:t>) ( </a:t>
            </a:r>
            <a:r>
              <a:rPr sz="2940" spc="-10" dirty="0">
                <a:latin typeface="Calibri" panose="020F0502020204030204"/>
                <a:cs typeface="Calibri" panose="020F0502020204030204"/>
              </a:rPr>
              <a:t>void </a:t>
            </a:r>
            <a:r>
              <a:rPr sz="2940" spc="-5" dirty="0">
                <a:latin typeface="Calibri" panose="020F0502020204030204"/>
                <a:cs typeface="Calibri" panose="020F0502020204030204"/>
              </a:rPr>
              <a:t>) /* in */ ,  </a:t>
            </a:r>
            <a:r>
              <a:rPr sz="2940" spc="-15" dirty="0">
                <a:latin typeface="Calibri" panose="020F0502020204030204"/>
                <a:cs typeface="Calibri" panose="020F0502020204030204"/>
              </a:rPr>
              <a:t>void*	</a:t>
            </a:r>
            <a:r>
              <a:rPr sz="2940" spc="-10" dirty="0">
                <a:latin typeface="Calibri" panose="020F0502020204030204"/>
                <a:cs typeface="Calibri" panose="020F0502020204030204"/>
              </a:rPr>
              <a:t>arg_p </a:t>
            </a:r>
            <a:r>
              <a:rPr sz="2940" spc="-5" dirty="0">
                <a:latin typeface="Calibri" panose="020F0502020204030204"/>
                <a:cs typeface="Calibri" panose="020F0502020204030204"/>
              </a:rPr>
              <a:t>/* in */ )</a:t>
            </a:r>
            <a:r>
              <a:rPr sz="2940" spc="45"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marL="12700" marR="5080" indent="1729105">
              <a:lnSpc>
                <a:spcPct val="202000"/>
              </a:lnSpc>
              <a:spcBef>
                <a:spcPts val="1460"/>
              </a:spcBef>
            </a:pPr>
            <a:endParaRPr lang="en-US" sz="2940" spc="-15" dirty="0">
              <a:solidFill>
                <a:srgbClr val="FF0000"/>
              </a:solidFill>
              <a:latin typeface="Calibri" panose="020F0502020204030204"/>
              <a:cs typeface="Calibri" panose="020F0502020204030204"/>
            </a:endParaRPr>
          </a:p>
        </p:txBody>
      </p:sp>
      <p:sp>
        <p:nvSpPr>
          <p:cNvPr id="4" name="object 4"/>
          <p:cNvSpPr/>
          <p:nvPr/>
        </p:nvSpPr>
        <p:spPr>
          <a:xfrm>
            <a:off x="2286111" y="2392832"/>
            <a:ext cx="1034795" cy="3442429"/>
          </a:xfrm>
          <a:custGeom>
            <a:avLst/>
            <a:gdLst/>
            <a:ahLst/>
            <a:cxnLst/>
            <a:rect l="l" t="t" r="r" b="b"/>
            <a:pathLst>
              <a:path w="985519" h="3278504">
                <a:moveTo>
                  <a:pt x="448792" y="0"/>
                </a:moveTo>
                <a:lnTo>
                  <a:pt x="385508" y="2921"/>
                </a:lnTo>
                <a:lnTo>
                  <a:pt x="340156" y="10540"/>
                </a:lnTo>
                <a:lnTo>
                  <a:pt x="296875" y="23495"/>
                </a:lnTo>
                <a:lnTo>
                  <a:pt x="255765" y="42163"/>
                </a:lnTo>
                <a:lnTo>
                  <a:pt x="217195" y="66801"/>
                </a:lnTo>
                <a:lnTo>
                  <a:pt x="181241" y="98044"/>
                </a:lnTo>
                <a:lnTo>
                  <a:pt x="148247" y="136144"/>
                </a:lnTo>
                <a:lnTo>
                  <a:pt x="118275" y="181610"/>
                </a:lnTo>
                <a:lnTo>
                  <a:pt x="100126" y="216026"/>
                </a:lnTo>
                <a:lnTo>
                  <a:pt x="83375" y="253873"/>
                </a:lnTo>
                <a:lnTo>
                  <a:pt x="68173" y="295401"/>
                </a:lnTo>
                <a:lnTo>
                  <a:pt x="54546" y="340740"/>
                </a:lnTo>
                <a:lnTo>
                  <a:pt x="37211" y="415798"/>
                </a:lnTo>
                <a:lnTo>
                  <a:pt x="27622" y="470662"/>
                </a:lnTo>
                <a:lnTo>
                  <a:pt x="19494" y="529209"/>
                </a:lnTo>
                <a:lnTo>
                  <a:pt x="12903" y="591312"/>
                </a:lnTo>
                <a:lnTo>
                  <a:pt x="7645" y="656716"/>
                </a:lnTo>
                <a:lnTo>
                  <a:pt x="3822" y="725551"/>
                </a:lnTo>
                <a:lnTo>
                  <a:pt x="1339" y="798067"/>
                </a:lnTo>
                <a:lnTo>
                  <a:pt x="12" y="872744"/>
                </a:lnTo>
                <a:lnTo>
                  <a:pt x="0" y="950849"/>
                </a:lnTo>
                <a:lnTo>
                  <a:pt x="1054" y="1031748"/>
                </a:lnTo>
                <a:lnTo>
                  <a:pt x="3251" y="1115314"/>
                </a:lnTo>
                <a:lnTo>
                  <a:pt x="6578" y="1201547"/>
                </a:lnTo>
                <a:lnTo>
                  <a:pt x="10782" y="1290065"/>
                </a:lnTo>
                <a:lnTo>
                  <a:pt x="16014" y="1381125"/>
                </a:lnTo>
                <a:lnTo>
                  <a:pt x="22212" y="1474343"/>
                </a:lnTo>
                <a:lnTo>
                  <a:pt x="29171" y="1569593"/>
                </a:lnTo>
                <a:lnTo>
                  <a:pt x="36982" y="1666748"/>
                </a:lnTo>
                <a:lnTo>
                  <a:pt x="45466" y="1765935"/>
                </a:lnTo>
                <a:lnTo>
                  <a:pt x="54711" y="1866773"/>
                </a:lnTo>
                <a:lnTo>
                  <a:pt x="64617" y="1969262"/>
                </a:lnTo>
                <a:lnTo>
                  <a:pt x="86245" y="2178304"/>
                </a:lnTo>
                <a:lnTo>
                  <a:pt x="109766" y="2392426"/>
                </a:lnTo>
                <a:lnTo>
                  <a:pt x="134924" y="2610485"/>
                </a:lnTo>
                <a:lnTo>
                  <a:pt x="161315" y="2831465"/>
                </a:lnTo>
                <a:lnTo>
                  <a:pt x="188455" y="3054477"/>
                </a:lnTo>
                <a:lnTo>
                  <a:pt x="216077" y="3278378"/>
                </a:lnTo>
                <a:lnTo>
                  <a:pt x="228688" y="3276854"/>
                </a:lnTo>
                <a:lnTo>
                  <a:pt x="201066" y="3052953"/>
                </a:lnTo>
                <a:lnTo>
                  <a:pt x="173913" y="2829941"/>
                </a:lnTo>
                <a:lnTo>
                  <a:pt x="147535" y="2608961"/>
                </a:lnTo>
                <a:lnTo>
                  <a:pt x="122389" y="2391029"/>
                </a:lnTo>
                <a:lnTo>
                  <a:pt x="98869" y="2177034"/>
                </a:lnTo>
                <a:lnTo>
                  <a:pt x="77254" y="1967992"/>
                </a:lnTo>
                <a:lnTo>
                  <a:pt x="67348" y="1865630"/>
                </a:lnTo>
                <a:lnTo>
                  <a:pt x="58115" y="1764792"/>
                </a:lnTo>
                <a:lnTo>
                  <a:pt x="49644" y="1665732"/>
                </a:lnTo>
                <a:lnTo>
                  <a:pt x="41833" y="1568704"/>
                </a:lnTo>
                <a:lnTo>
                  <a:pt x="34886" y="1473454"/>
                </a:lnTo>
                <a:lnTo>
                  <a:pt x="28702" y="1380363"/>
                </a:lnTo>
                <a:lnTo>
                  <a:pt x="23456" y="1289431"/>
                </a:lnTo>
                <a:lnTo>
                  <a:pt x="19278" y="1201039"/>
                </a:lnTo>
                <a:lnTo>
                  <a:pt x="15938" y="1114933"/>
                </a:lnTo>
                <a:lnTo>
                  <a:pt x="13754" y="1031494"/>
                </a:lnTo>
                <a:lnTo>
                  <a:pt x="12700" y="950849"/>
                </a:lnTo>
                <a:lnTo>
                  <a:pt x="12704" y="872744"/>
                </a:lnTo>
                <a:lnTo>
                  <a:pt x="14046" y="797687"/>
                </a:lnTo>
                <a:lnTo>
                  <a:pt x="16510" y="726313"/>
                </a:lnTo>
                <a:lnTo>
                  <a:pt x="20307" y="657733"/>
                </a:lnTo>
                <a:lnTo>
                  <a:pt x="25527" y="592582"/>
                </a:lnTo>
                <a:lnTo>
                  <a:pt x="32080" y="530860"/>
                </a:lnTo>
                <a:lnTo>
                  <a:pt x="40144" y="472821"/>
                </a:lnTo>
                <a:lnTo>
                  <a:pt x="49606" y="418464"/>
                </a:lnTo>
                <a:lnTo>
                  <a:pt x="60706" y="367919"/>
                </a:lnTo>
                <a:lnTo>
                  <a:pt x="73279" y="321437"/>
                </a:lnTo>
                <a:lnTo>
                  <a:pt x="87439" y="278764"/>
                </a:lnTo>
                <a:lnTo>
                  <a:pt x="103085" y="239775"/>
                </a:lnTo>
                <a:lnTo>
                  <a:pt x="120116" y="204470"/>
                </a:lnTo>
                <a:lnTo>
                  <a:pt x="148183" y="157861"/>
                </a:lnTo>
                <a:lnTo>
                  <a:pt x="179184" y="118745"/>
                </a:lnTo>
                <a:lnTo>
                  <a:pt x="212801" y="86487"/>
                </a:lnTo>
                <a:lnTo>
                  <a:pt x="248958" y="60578"/>
                </a:lnTo>
                <a:lnTo>
                  <a:pt x="287591" y="40766"/>
                </a:lnTo>
                <a:lnTo>
                  <a:pt x="328612" y="26542"/>
                </a:lnTo>
                <a:lnTo>
                  <a:pt x="386524" y="15494"/>
                </a:lnTo>
                <a:lnTo>
                  <a:pt x="448221" y="12700"/>
                </a:lnTo>
                <a:lnTo>
                  <a:pt x="567101" y="12700"/>
                </a:lnTo>
                <a:lnTo>
                  <a:pt x="548792" y="9398"/>
                </a:lnTo>
                <a:lnTo>
                  <a:pt x="514832" y="4572"/>
                </a:lnTo>
                <a:lnTo>
                  <a:pt x="481495" y="1397"/>
                </a:lnTo>
                <a:lnTo>
                  <a:pt x="448792" y="0"/>
                </a:lnTo>
                <a:close/>
              </a:path>
              <a:path w="985519" h="3278504">
                <a:moveTo>
                  <a:pt x="949115" y="146085"/>
                </a:moveTo>
                <a:lnTo>
                  <a:pt x="885228" y="156717"/>
                </a:lnTo>
                <a:lnTo>
                  <a:pt x="881799" y="157225"/>
                </a:lnTo>
                <a:lnTo>
                  <a:pt x="879386" y="160527"/>
                </a:lnTo>
                <a:lnTo>
                  <a:pt x="880021" y="163957"/>
                </a:lnTo>
                <a:lnTo>
                  <a:pt x="880529" y="167512"/>
                </a:lnTo>
                <a:lnTo>
                  <a:pt x="883831" y="169799"/>
                </a:lnTo>
                <a:lnTo>
                  <a:pt x="887260" y="169290"/>
                </a:lnTo>
                <a:lnTo>
                  <a:pt x="976646" y="154432"/>
                </a:lnTo>
                <a:lnTo>
                  <a:pt x="971080" y="154432"/>
                </a:lnTo>
                <a:lnTo>
                  <a:pt x="949115" y="146085"/>
                </a:lnTo>
                <a:close/>
              </a:path>
              <a:path w="985519" h="3278504">
                <a:moveTo>
                  <a:pt x="961539" y="144018"/>
                </a:moveTo>
                <a:lnTo>
                  <a:pt x="949115" y="146085"/>
                </a:lnTo>
                <a:lnTo>
                  <a:pt x="971080" y="154432"/>
                </a:lnTo>
                <a:lnTo>
                  <a:pt x="971797" y="152526"/>
                </a:lnTo>
                <a:lnTo>
                  <a:pt x="968413" y="152526"/>
                </a:lnTo>
                <a:lnTo>
                  <a:pt x="961539" y="144018"/>
                </a:lnTo>
                <a:close/>
              </a:path>
              <a:path w="985519" h="3278504">
                <a:moveTo>
                  <a:pt x="916724" y="72771"/>
                </a:moveTo>
                <a:lnTo>
                  <a:pt x="913930" y="74929"/>
                </a:lnTo>
                <a:lnTo>
                  <a:pt x="911263" y="77088"/>
                </a:lnTo>
                <a:lnTo>
                  <a:pt x="910755" y="81152"/>
                </a:lnTo>
                <a:lnTo>
                  <a:pt x="953715" y="134333"/>
                </a:lnTo>
                <a:lnTo>
                  <a:pt x="975525" y="142621"/>
                </a:lnTo>
                <a:lnTo>
                  <a:pt x="971080" y="154432"/>
                </a:lnTo>
                <a:lnTo>
                  <a:pt x="976646" y="154432"/>
                </a:lnTo>
                <a:lnTo>
                  <a:pt x="985050" y="153035"/>
                </a:lnTo>
                <a:lnTo>
                  <a:pt x="922820" y="75946"/>
                </a:lnTo>
                <a:lnTo>
                  <a:pt x="920661" y="73151"/>
                </a:lnTo>
                <a:lnTo>
                  <a:pt x="916724" y="72771"/>
                </a:lnTo>
                <a:close/>
              </a:path>
              <a:path w="985519" h="3278504">
                <a:moveTo>
                  <a:pt x="972223" y="142239"/>
                </a:moveTo>
                <a:lnTo>
                  <a:pt x="961539" y="144018"/>
                </a:lnTo>
                <a:lnTo>
                  <a:pt x="968413" y="152526"/>
                </a:lnTo>
                <a:lnTo>
                  <a:pt x="972223" y="142239"/>
                </a:lnTo>
                <a:close/>
              </a:path>
              <a:path w="985519" h="3278504">
                <a:moveTo>
                  <a:pt x="974522" y="142239"/>
                </a:moveTo>
                <a:lnTo>
                  <a:pt x="972223" y="142239"/>
                </a:lnTo>
                <a:lnTo>
                  <a:pt x="968413" y="152526"/>
                </a:lnTo>
                <a:lnTo>
                  <a:pt x="971797" y="152526"/>
                </a:lnTo>
                <a:lnTo>
                  <a:pt x="975525" y="142621"/>
                </a:lnTo>
                <a:lnTo>
                  <a:pt x="974522" y="142239"/>
                </a:lnTo>
                <a:close/>
              </a:path>
              <a:path w="985519" h="3278504">
                <a:moveTo>
                  <a:pt x="567101" y="12700"/>
                </a:moveTo>
                <a:lnTo>
                  <a:pt x="448221" y="12700"/>
                </a:lnTo>
                <a:lnTo>
                  <a:pt x="480288" y="14097"/>
                </a:lnTo>
                <a:lnTo>
                  <a:pt x="513054" y="17272"/>
                </a:lnTo>
                <a:lnTo>
                  <a:pt x="580593" y="28066"/>
                </a:lnTo>
                <a:lnTo>
                  <a:pt x="650532" y="44450"/>
                </a:lnTo>
                <a:lnTo>
                  <a:pt x="722414" y="65277"/>
                </a:lnTo>
                <a:lnTo>
                  <a:pt x="758863" y="77088"/>
                </a:lnTo>
                <a:lnTo>
                  <a:pt x="795693" y="89535"/>
                </a:lnTo>
                <a:lnTo>
                  <a:pt x="832777" y="102742"/>
                </a:lnTo>
                <a:lnTo>
                  <a:pt x="907580" y="130301"/>
                </a:lnTo>
                <a:lnTo>
                  <a:pt x="949115" y="146085"/>
                </a:lnTo>
                <a:lnTo>
                  <a:pt x="961539" y="144018"/>
                </a:lnTo>
                <a:lnTo>
                  <a:pt x="912025" y="118490"/>
                </a:lnTo>
                <a:lnTo>
                  <a:pt x="837095" y="90804"/>
                </a:lnTo>
                <a:lnTo>
                  <a:pt x="799884" y="77470"/>
                </a:lnTo>
                <a:lnTo>
                  <a:pt x="762927" y="65024"/>
                </a:lnTo>
                <a:lnTo>
                  <a:pt x="726351" y="53212"/>
                </a:lnTo>
                <a:lnTo>
                  <a:pt x="653961" y="32258"/>
                </a:lnTo>
                <a:lnTo>
                  <a:pt x="583298" y="15621"/>
                </a:lnTo>
                <a:lnTo>
                  <a:pt x="567101" y="12700"/>
                </a:lnTo>
                <a:close/>
              </a:path>
              <a:path w="985519" h="3278504">
                <a:moveTo>
                  <a:pt x="953715" y="134333"/>
                </a:moveTo>
                <a:lnTo>
                  <a:pt x="961539" y="144017"/>
                </a:lnTo>
                <a:lnTo>
                  <a:pt x="972223" y="142239"/>
                </a:lnTo>
                <a:lnTo>
                  <a:pt x="974522" y="142239"/>
                </a:lnTo>
                <a:lnTo>
                  <a:pt x="953715" y="134333"/>
                </a:lnTo>
                <a:close/>
              </a:path>
            </a:pathLst>
          </a:custGeom>
          <a:solidFill>
            <a:srgbClr val="FF0000"/>
          </a:solidFill>
        </p:spPr>
        <p:txBody>
          <a:bodyPr wrap="square" lIns="0" tIns="0" rIns="0" bIns="0" rtlCol="0"/>
          <a:lstStyle/>
          <a:p>
            <a:endParaRPr sz="2310"/>
          </a:p>
        </p:txBody>
      </p:sp>
      <p:sp>
        <p:nvSpPr>
          <p:cNvPr id="5" name="object 5"/>
          <p:cNvSpPr/>
          <p:nvPr/>
        </p:nvSpPr>
        <p:spPr>
          <a:xfrm>
            <a:off x="2887293" y="2827552"/>
            <a:ext cx="1150811" cy="2451640"/>
          </a:xfrm>
          <a:custGeom>
            <a:avLst/>
            <a:gdLst/>
            <a:ahLst/>
            <a:cxnLst/>
            <a:rect l="l" t="t" r="r" b="b"/>
            <a:pathLst>
              <a:path w="1096010" h="2334895">
                <a:moveTo>
                  <a:pt x="132334" y="0"/>
                </a:moveTo>
                <a:lnTo>
                  <a:pt x="118237" y="0"/>
                </a:lnTo>
                <a:lnTo>
                  <a:pt x="104775" y="1650"/>
                </a:lnTo>
                <a:lnTo>
                  <a:pt x="104521" y="1777"/>
                </a:lnTo>
                <a:lnTo>
                  <a:pt x="104140" y="1777"/>
                </a:lnTo>
                <a:lnTo>
                  <a:pt x="103886" y="1904"/>
                </a:lnTo>
                <a:lnTo>
                  <a:pt x="91693" y="5461"/>
                </a:lnTo>
                <a:lnTo>
                  <a:pt x="91312" y="5461"/>
                </a:lnTo>
                <a:lnTo>
                  <a:pt x="79375" y="11049"/>
                </a:lnTo>
                <a:lnTo>
                  <a:pt x="78993" y="11175"/>
                </a:lnTo>
                <a:lnTo>
                  <a:pt x="78486" y="11429"/>
                </a:lnTo>
                <a:lnTo>
                  <a:pt x="67690" y="18668"/>
                </a:lnTo>
                <a:lnTo>
                  <a:pt x="67437" y="18795"/>
                </a:lnTo>
                <a:lnTo>
                  <a:pt x="66929" y="19303"/>
                </a:lnTo>
                <a:lnTo>
                  <a:pt x="56896" y="28447"/>
                </a:lnTo>
                <a:lnTo>
                  <a:pt x="46990" y="40512"/>
                </a:lnTo>
                <a:lnTo>
                  <a:pt x="26365" y="80009"/>
                </a:lnTo>
                <a:lnTo>
                  <a:pt x="14173" y="121919"/>
                </a:lnTo>
                <a:lnTo>
                  <a:pt x="7594" y="160019"/>
                </a:lnTo>
                <a:lnTo>
                  <a:pt x="2209" y="221361"/>
                </a:lnTo>
                <a:lnTo>
                  <a:pt x="0" y="301497"/>
                </a:lnTo>
                <a:lnTo>
                  <a:pt x="88" y="348361"/>
                </a:lnTo>
                <a:lnTo>
                  <a:pt x="863" y="399288"/>
                </a:lnTo>
                <a:lnTo>
                  <a:pt x="2476" y="453897"/>
                </a:lnTo>
                <a:lnTo>
                  <a:pt x="4673" y="512063"/>
                </a:lnTo>
                <a:lnTo>
                  <a:pt x="7721" y="573277"/>
                </a:lnTo>
                <a:lnTo>
                  <a:pt x="11341" y="637158"/>
                </a:lnTo>
                <a:lnTo>
                  <a:pt x="15735" y="703579"/>
                </a:lnTo>
                <a:lnTo>
                  <a:pt x="20777" y="772032"/>
                </a:lnTo>
                <a:lnTo>
                  <a:pt x="26504" y="842137"/>
                </a:lnTo>
                <a:lnTo>
                  <a:pt x="39941" y="986408"/>
                </a:lnTo>
                <a:lnTo>
                  <a:pt x="55880" y="1133728"/>
                </a:lnTo>
                <a:lnTo>
                  <a:pt x="74295" y="1281175"/>
                </a:lnTo>
                <a:lnTo>
                  <a:pt x="94996" y="1426209"/>
                </a:lnTo>
                <a:lnTo>
                  <a:pt x="106172" y="1497075"/>
                </a:lnTo>
                <a:lnTo>
                  <a:pt x="117983" y="1566164"/>
                </a:lnTo>
                <a:lnTo>
                  <a:pt x="130302" y="1633473"/>
                </a:lnTo>
                <a:lnTo>
                  <a:pt x="143129" y="1698497"/>
                </a:lnTo>
                <a:lnTo>
                  <a:pt x="156590" y="1760854"/>
                </a:lnTo>
                <a:lnTo>
                  <a:pt x="170434" y="1820290"/>
                </a:lnTo>
                <a:lnTo>
                  <a:pt x="184912" y="1876424"/>
                </a:lnTo>
                <a:lnTo>
                  <a:pt x="199898" y="1928875"/>
                </a:lnTo>
                <a:lnTo>
                  <a:pt x="215265" y="1977516"/>
                </a:lnTo>
                <a:lnTo>
                  <a:pt x="231140" y="2021839"/>
                </a:lnTo>
                <a:lnTo>
                  <a:pt x="247523" y="2061590"/>
                </a:lnTo>
                <a:lnTo>
                  <a:pt x="264414" y="2096515"/>
                </a:lnTo>
                <a:lnTo>
                  <a:pt x="290957" y="2141981"/>
                </a:lnTo>
                <a:lnTo>
                  <a:pt x="319405" y="2181860"/>
                </a:lnTo>
                <a:lnTo>
                  <a:pt x="359918" y="2226944"/>
                </a:lnTo>
                <a:lnTo>
                  <a:pt x="403478" y="2263140"/>
                </a:lnTo>
                <a:lnTo>
                  <a:pt x="449579" y="2291206"/>
                </a:lnTo>
                <a:lnTo>
                  <a:pt x="498221" y="2311780"/>
                </a:lnTo>
                <a:lnTo>
                  <a:pt x="549021" y="2325369"/>
                </a:lnTo>
                <a:lnTo>
                  <a:pt x="601598" y="2332609"/>
                </a:lnTo>
                <a:lnTo>
                  <a:pt x="655954" y="2334386"/>
                </a:lnTo>
                <a:lnTo>
                  <a:pt x="683768" y="2333243"/>
                </a:lnTo>
                <a:lnTo>
                  <a:pt x="711708" y="2331211"/>
                </a:lnTo>
                <a:lnTo>
                  <a:pt x="740156" y="2327910"/>
                </a:lnTo>
                <a:lnTo>
                  <a:pt x="768731" y="2323718"/>
                </a:lnTo>
                <a:lnTo>
                  <a:pt x="780313" y="2321686"/>
                </a:lnTo>
                <a:lnTo>
                  <a:pt x="656082" y="2321686"/>
                </a:lnTo>
                <a:lnTo>
                  <a:pt x="629412" y="2321433"/>
                </a:lnTo>
                <a:lnTo>
                  <a:pt x="577215" y="2317115"/>
                </a:lnTo>
                <a:lnTo>
                  <a:pt x="527050" y="2307209"/>
                </a:lnTo>
                <a:lnTo>
                  <a:pt x="479044" y="2290953"/>
                </a:lnTo>
                <a:lnTo>
                  <a:pt x="433197" y="2267585"/>
                </a:lnTo>
                <a:lnTo>
                  <a:pt x="389763" y="2236597"/>
                </a:lnTo>
                <a:lnTo>
                  <a:pt x="348869" y="2197227"/>
                </a:lnTo>
                <a:lnTo>
                  <a:pt x="320167" y="2161793"/>
                </a:lnTo>
                <a:lnTo>
                  <a:pt x="292862" y="2121027"/>
                </a:lnTo>
                <a:lnTo>
                  <a:pt x="259334" y="2056764"/>
                </a:lnTo>
                <a:lnTo>
                  <a:pt x="243078" y="2017521"/>
                </a:lnTo>
                <a:lnTo>
                  <a:pt x="227330" y="1973706"/>
                </a:lnTo>
                <a:lnTo>
                  <a:pt x="212090" y="1925446"/>
                </a:lnTo>
                <a:lnTo>
                  <a:pt x="197231" y="1873249"/>
                </a:lnTo>
                <a:lnTo>
                  <a:pt x="182880" y="1817369"/>
                </a:lnTo>
                <a:lnTo>
                  <a:pt x="169037" y="1758060"/>
                </a:lnTo>
                <a:lnTo>
                  <a:pt x="155702" y="1696084"/>
                </a:lnTo>
                <a:lnTo>
                  <a:pt x="142748" y="1631187"/>
                </a:lnTo>
                <a:lnTo>
                  <a:pt x="130556" y="1564131"/>
                </a:lnTo>
                <a:lnTo>
                  <a:pt x="118745" y="1495043"/>
                </a:lnTo>
                <a:lnTo>
                  <a:pt x="107568" y="1424431"/>
                </a:lnTo>
                <a:lnTo>
                  <a:pt x="86868" y="1279524"/>
                </a:lnTo>
                <a:lnTo>
                  <a:pt x="68453" y="1132331"/>
                </a:lnTo>
                <a:lnTo>
                  <a:pt x="52578" y="985265"/>
                </a:lnTo>
                <a:lnTo>
                  <a:pt x="39154" y="841120"/>
                </a:lnTo>
                <a:lnTo>
                  <a:pt x="33451" y="771016"/>
                </a:lnTo>
                <a:lnTo>
                  <a:pt x="28397" y="702690"/>
                </a:lnTo>
                <a:lnTo>
                  <a:pt x="24028" y="636524"/>
                </a:lnTo>
                <a:lnTo>
                  <a:pt x="20408" y="572642"/>
                </a:lnTo>
                <a:lnTo>
                  <a:pt x="17360" y="511682"/>
                </a:lnTo>
                <a:lnTo>
                  <a:pt x="15176" y="453643"/>
                </a:lnTo>
                <a:lnTo>
                  <a:pt x="13550" y="399033"/>
                </a:lnTo>
                <a:lnTo>
                  <a:pt x="12788" y="348361"/>
                </a:lnTo>
                <a:lnTo>
                  <a:pt x="12703" y="301497"/>
                </a:lnTo>
                <a:lnTo>
                  <a:pt x="13360" y="259587"/>
                </a:lnTo>
                <a:lnTo>
                  <a:pt x="17056" y="189991"/>
                </a:lnTo>
                <a:lnTo>
                  <a:pt x="22034" y="148970"/>
                </a:lnTo>
                <a:lnTo>
                  <a:pt x="31953" y="103631"/>
                </a:lnTo>
                <a:lnTo>
                  <a:pt x="48768" y="61340"/>
                </a:lnTo>
                <a:lnTo>
                  <a:pt x="74877" y="29209"/>
                </a:lnTo>
                <a:lnTo>
                  <a:pt x="74676" y="29209"/>
                </a:lnTo>
                <a:lnTo>
                  <a:pt x="75565" y="28575"/>
                </a:lnTo>
                <a:lnTo>
                  <a:pt x="84892" y="22478"/>
                </a:lnTo>
                <a:lnTo>
                  <a:pt x="84582" y="22478"/>
                </a:lnTo>
                <a:lnTo>
                  <a:pt x="95175" y="17652"/>
                </a:lnTo>
                <a:lnTo>
                  <a:pt x="96012" y="17271"/>
                </a:lnTo>
                <a:lnTo>
                  <a:pt x="96429" y="17271"/>
                </a:lnTo>
                <a:lnTo>
                  <a:pt x="106444" y="14350"/>
                </a:lnTo>
                <a:lnTo>
                  <a:pt x="107315" y="14096"/>
                </a:lnTo>
                <a:lnTo>
                  <a:pt x="108262" y="14096"/>
                </a:lnTo>
                <a:lnTo>
                  <a:pt x="118364" y="12700"/>
                </a:lnTo>
                <a:lnTo>
                  <a:pt x="130937" y="12572"/>
                </a:lnTo>
                <a:lnTo>
                  <a:pt x="185939" y="12572"/>
                </a:lnTo>
                <a:lnTo>
                  <a:pt x="177037" y="9270"/>
                </a:lnTo>
                <a:lnTo>
                  <a:pt x="161798" y="4825"/>
                </a:lnTo>
                <a:lnTo>
                  <a:pt x="146812" y="1650"/>
                </a:lnTo>
                <a:lnTo>
                  <a:pt x="132334" y="0"/>
                </a:lnTo>
                <a:close/>
              </a:path>
              <a:path w="1096010" h="2334895">
                <a:moveTo>
                  <a:pt x="1091565" y="2224531"/>
                </a:moveTo>
                <a:lnTo>
                  <a:pt x="971550" y="2261742"/>
                </a:lnTo>
                <a:lnTo>
                  <a:pt x="912114" y="2278760"/>
                </a:lnTo>
                <a:lnTo>
                  <a:pt x="853313" y="2293747"/>
                </a:lnTo>
                <a:lnTo>
                  <a:pt x="795401" y="2306066"/>
                </a:lnTo>
                <a:lnTo>
                  <a:pt x="738632" y="2315336"/>
                </a:lnTo>
                <a:lnTo>
                  <a:pt x="683260" y="2320671"/>
                </a:lnTo>
                <a:lnTo>
                  <a:pt x="656082" y="2321686"/>
                </a:lnTo>
                <a:lnTo>
                  <a:pt x="780313" y="2321686"/>
                </a:lnTo>
                <a:lnTo>
                  <a:pt x="826770" y="2312669"/>
                </a:lnTo>
                <a:lnTo>
                  <a:pt x="885571" y="2298827"/>
                </a:lnTo>
                <a:lnTo>
                  <a:pt x="975106" y="2273935"/>
                </a:lnTo>
                <a:lnTo>
                  <a:pt x="1035177" y="2255647"/>
                </a:lnTo>
                <a:lnTo>
                  <a:pt x="1095502" y="2236597"/>
                </a:lnTo>
                <a:lnTo>
                  <a:pt x="1091565" y="2224531"/>
                </a:lnTo>
                <a:close/>
              </a:path>
              <a:path w="1096010" h="2334895">
                <a:moveTo>
                  <a:pt x="338074" y="162178"/>
                </a:moveTo>
                <a:lnTo>
                  <a:pt x="334899" y="164591"/>
                </a:lnTo>
                <a:lnTo>
                  <a:pt x="333883" y="171576"/>
                </a:lnTo>
                <a:lnTo>
                  <a:pt x="336296" y="174751"/>
                </a:lnTo>
                <a:lnTo>
                  <a:pt x="437896" y="189356"/>
                </a:lnTo>
                <a:lnTo>
                  <a:pt x="436804" y="186562"/>
                </a:lnTo>
                <a:lnTo>
                  <a:pt x="424053" y="186562"/>
                </a:lnTo>
                <a:lnTo>
                  <a:pt x="405559" y="171904"/>
                </a:lnTo>
                <a:lnTo>
                  <a:pt x="338074" y="162178"/>
                </a:lnTo>
                <a:close/>
              </a:path>
              <a:path w="1096010" h="2334895">
                <a:moveTo>
                  <a:pt x="405559" y="171904"/>
                </a:moveTo>
                <a:lnTo>
                  <a:pt x="424053" y="186562"/>
                </a:lnTo>
                <a:lnTo>
                  <a:pt x="426146" y="183895"/>
                </a:lnTo>
                <a:lnTo>
                  <a:pt x="422021" y="183895"/>
                </a:lnTo>
                <a:lnTo>
                  <a:pt x="418050" y="173701"/>
                </a:lnTo>
                <a:lnTo>
                  <a:pt x="405559" y="171904"/>
                </a:lnTo>
                <a:close/>
              </a:path>
              <a:path w="1096010" h="2334895">
                <a:moveTo>
                  <a:pt x="396875" y="92201"/>
                </a:moveTo>
                <a:lnTo>
                  <a:pt x="393573" y="93471"/>
                </a:lnTo>
                <a:lnTo>
                  <a:pt x="390398" y="94741"/>
                </a:lnTo>
                <a:lnTo>
                  <a:pt x="388747" y="98425"/>
                </a:lnTo>
                <a:lnTo>
                  <a:pt x="390017" y="101726"/>
                </a:lnTo>
                <a:lnTo>
                  <a:pt x="413456" y="161907"/>
                </a:lnTo>
                <a:lnTo>
                  <a:pt x="431927" y="176529"/>
                </a:lnTo>
                <a:lnTo>
                  <a:pt x="424053" y="186562"/>
                </a:lnTo>
                <a:lnTo>
                  <a:pt x="436804" y="186562"/>
                </a:lnTo>
                <a:lnTo>
                  <a:pt x="401828" y="97027"/>
                </a:lnTo>
                <a:lnTo>
                  <a:pt x="400558" y="93725"/>
                </a:lnTo>
                <a:lnTo>
                  <a:pt x="396875" y="92201"/>
                </a:lnTo>
                <a:close/>
              </a:path>
              <a:path w="1096010" h="2334895">
                <a:moveTo>
                  <a:pt x="418050" y="173701"/>
                </a:moveTo>
                <a:lnTo>
                  <a:pt x="422021" y="183895"/>
                </a:lnTo>
                <a:lnTo>
                  <a:pt x="428878" y="175259"/>
                </a:lnTo>
                <a:lnTo>
                  <a:pt x="418050" y="173701"/>
                </a:lnTo>
                <a:close/>
              </a:path>
              <a:path w="1096010" h="2334895">
                <a:moveTo>
                  <a:pt x="413456" y="161907"/>
                </a:moveTo>
                <a:lnTo>
                  <a:pt x="418050" y="173701"/>
                </a:lnTo>
                <a:lnTo>
                  <a:pt x="428878" y="175259"/>
                </a:lnTo>
                <a:lnTo>
                  <a:pt x="422021" y="183895"/>
                </a:lnTo>
                <a:lnTo>
                  <a:pt x="426146" y="183895"/>
                </a:lnTo>
                <a:lnTo>
                  <a:pt x="431927" y="176529"/>
                </a:lnTo>
                <a:lnTo>
                  <a:pt x="413456" y="161907"/>
                </a:lnTo>
                <a:close/>
              </a:path>
              <a:path w="1096010" h="2334895">
                <a:moveTo>
                  <a:pt x="185939" y="12572"/>
                </a:moveTo>
                <a:lnTo>
                  <a:pt x="130937" y="12572"/>
                </a:lnTo>
                <a:lnTo>
                  <a:pt x="144145" y="13969"/>
                </a:lnTo>
                <a:lnTo>
                  <a:pt x="158242" y="16890"/>
                </a:lnTo>
                <a:lnTo>
                  <a:pt x="203327" y="33654"/>
                </a:lnTo>
                <a:lnTo>
                  <a:pt x="252603" y="60451"/>
                </a:lnTo>
                <a:lnTo>
                  <a:pt x="287274" y="83057"/>
                </a:lnTo>
                <a:lnTo>
                  <a:pt x="322834" y="108330"/>
                </a:lnTo>
                <a:lnTo>
                  <a:pt x="359409" y="135762"/>
                </a:lnTo>
                <a:lnTo>
                  <a:pt x="396494" y="164718"/>
                </a:lnTo>
                <a:lnTo>
                  <a:pt x="405559" y="171904"/>
                </a:lnTo>
                <a:lnTo>
                  <a:pt x="418050" y="173701"/>
                </a:lnTo>
                <a:lnTo>
                  <a:pt x="367284" y="125729"/>
                </a:lnTo>
                <a:lnTo>
                  <a:pt x="330454" y="98170"/>
                </a:lnTo>
                <a:lnTo>
                  <a:pt x="294513" y="72643"/>
                </a:lnTo>
                <a:lnTo>
                  <a:pt x="259461" y="49783"/>
                </a:lnTo>
                <a:lnTo>
                  <a:pt x="225425" y="30352"/>
                </a:lnTo>
                <a:lnTo>
                  <a:pt x="192786" y="15112"/>
                </a:lnTo>
                <a:lnTo>
                  <a:pt x="185939" y="12572"/>
                </a:lnTo>
                <a:close/>
              </a:path>
              <a:path w="1096010" h="2334895">
                <a:moveTo>
                  <a:pt x="75565" y="28575"/>
                </a:moveTo>
                <a:lnTo>
                  <a:pt x="74676" y="29209"/>
                </a:lnTo>
                <a:lnTo>
                  <a:pt x="75379" y="28746"/>
                </a:lnTo>
                <a:lnTo>
                  <a:pt x="75565" y="28575"/>
                </a:lnTo>
                <a:close/>
              </a:path>
              <a:path w="1096010" h="2334895">
                <a:moveTo>
                  <a:pt x="75379" y="28746"/>
                </a:moveTo>
                <a:lnTo>
                  <a:pt x="74676" y="29209"/>
                </a:lnTo>
                <a:lnTo>
                  <a:pt x="74877" y="29209"/>
                </a:lnTo>
                <a:lnTo>
                  <a:pt x="75379" y="28746"/>
                </a:lnTo>
                <a:close/>
              </a:path>
              <a:path w="1096010" h="2334895">
                <a:moveTo>
                  <a:pt x="75639" y="28575"/>
                </a:moveTo>
                <a:lnTo>
                  <a:pt x="75379" y="28746"/>
                </a:lnTo>
                <a:lnTo>
                  <a:pt x="75639" y="28575"/>
                </a:lnTo>
                <a:close/>
              </a:path>
              <a:path w="1096010" h="2334895">
                <a:moveTo>
                  <a:pt x="85471" y="22097"/>
                </a:moveTo>
                <a:lnTo>
                  <a:pt x="84582" y="22478"/>
                </a:lnTo>
                <a:lnTo>
                  <a:pt x="84892" y="22478"/>
                </a:lnTo>
                <a:lnTo>
                  <a:pt x="85471" y="22097"/>
                </a:lnTo>
                <a:close/>
              </a:path>
              <a:path w="1096010" h="2334895">
                <a:moveTo>
                  <a:pt x="96012" y="17271"/>
                </a:moveTo>
                <a:lnTo>
                  <a:pt x="95123" y="17652"/>
                </a:lnTo>
                <a:lnTo>
                  <a:pt x="95269" y="17610"/>
                </a:lnTo>
                <a:lnTo>
                  <a:pt x="96012" y="17271"/>
                </a:lnTo>
                <a:close/>
              </a:path>
              <a:path w="1096010" h="2334895">
                <a:moveTo>
                  <a:pt x="95269" y="17610"/>
                </a:moveTo>
                <a:lnTo>
                  <a:pt x="95123" y="17652"/>
                </a:lnTo>
                <a:lnTo>
                  <a:pt x="95269" y="17610"/>
                </a:lnTo>
                <a:close/>
              </a:path>
              <a:path w="1096010" h="2334895">
                <a:moveTo>
                  <a:pt x="96429" y="17271"/>
                </a:moveTo>
                <a:lnTo>
                  <a:pt x="96012" y="17271"/>
                </a:lnTo>
                <a:lnTo>
                  <a:pt x="95269" y="17610"/>
                </a:lnTo>
                <a:lnTo>
                  <a:pt x="96429" y="17271"/>
                </a:lnTo>
                <a:close/>
              </a:path>
              <a:path w="1096010" h="2334895">
                <a:moveTo>
                  <a:pt x="108262" y="14096"/>
                </a:moveTo>
                <a:lnTo>
                  <a:pt x="107315" y="14096"/>
                </a:lnTo>
                <a:lnTo>
                  <a:pt x="106460" y="14346"/>
                </a:lnTo>
                <a:lnTo>
                  <a:pt x="108262" y="14096"/>
                </a:lnTo>
                <a:close/>
              </a:path>
            </a:pathLst>
          </a:custGeom>
          <a:solidFill>
            <a:srgbClr val="FF0000"/>
          </a:solidFill>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7" name="文本框 6"/>
          <p:cNvSpPr txBox="1"/>
          <p:nvPr/>
        </p:nvSpPr>
        <p:spPr>
          <a:xfrm>
            <a:off x="3973481" y="4774345"/>
            <a:ext cx="7401560" cy="1383665"/>
          </a:xfrm>
          <a:prstGeom prst="rect">
            <a:avLst/>
          </a:prstGeom>
          <a:noFill/>
        </p:spPr>
        <p:txBody>
          <a:bodyPr wrap="none" rtlCol="0">
            <a:spAutoFit/>
          </a:bodyPr>
          <a:lstStyle/>
          <a:p>
            <a:r>
              <a:rPr lang="en-US" sz="2100" spc="-65" dirty="0">
                <a:solidFill>
                  <a:srgbClr val="FF0000"/>
                </a:solidFill>
                <a:cs typeface="Calibri" panose="020F0502020204030204"/>
              </a:rPr>
              <a:t>We </a:t>
            </a:r>
            <a:r>
              <a:rPr lang="en-US" sz="2100" spc="-10" dirty="0">
                <a:solidFill>
                  <a:srgbClr val="FF0000"/>
                </a:solidFill>
                <a:cs typeface="Calibri" panose="020F0502020204030204"/>
              </a:rPr>
              <a:t>won’t </a:t>
            </a:r>
            <a:r>
              <a:rPr lang="en-US" sz="2100" spc="-5" dirty="0">
                <a:solidFill>
                  <a:srgbClr val="FF0000"/>
                </a:solidFill>
                <a:cs typeface="Calibri" panose="020F0502020204030204"/>
              </a:rPr>
              <a:t>be using, so </a:t>
            </a:r>
            <a:r>
              <a:rPr lang="en-US" sz="2100" spc="-15" dirty="0">
                <a:solidFill>
                  <a:srgbClr val="FF0000"/>
                </a:solidFill>
                <a:cs typeface="Calibri" panose="020F0502020204030204"/>
              </a:rPr>
              <a:t>we </a:t>
            </a:r>
            <a:r>
              <a:rPr lang="en-US" sz="2100" spc="-20" dirty="0">
                <a:solidFill>
                  <a:srgbClr val="FF0000"/>
                </a:solidFill>
                <a:cs typeface="Calibri" panose="020F0502020204030204"/>
              </a:rPr>
              <a:t>just </a:t>
            </a:r>
            <a:r>
              <a:rPr lang="en-US" sz="2100" spc="-10" dirty="0">
                <a:solidFill>
                  <a:srgbClr val="FF0000"/>
                </a:solidFill>
                <a:cs typeface="Calibri" panose="020F0502020204030204"/>
              </a:rPr>
              <a:t>pass </a:t>
            </a:r>
            <a:r>
              <a:rPr lang="en-US" sz="2100" spc="-5" dirty="0">
                <a:solidFill>
                  <a:srgbClr val="FF0000"/>
                </a:solidFill>
                <a:cs typeface="Calibri" panose="020F0502020204030204"/>
              </a:rPr>
              <a:t>NULL.</a:t>
            </a:r>
          </a:p>
          <a:p>
            <a:r>
              <a:rPr lang="en-US" sz="2100" spc="-5" dirty="0">
                <a:solidFill>
                  <a:srgbClr val="FF0000"/>
                </a:solidFill>
                <a:cs typeface="Calibri" panose="020F0502020204030204"/>
                <a:hlinkClick r:id="rId2"/>
              </a:rPr>
              <a:t>https://man7.org/linux/man-pages/man3/pthread_create.3.html</a:t>
            </a:r>
            <a:endParaRPr lang="en-US" sz="2100" spc="-5" dirty="0">
              <a:solidFill>
                <a:srgbClr val="FF0000"/>
              </a:solidFill>
              <a:cs typeface="Calibri" panose="020F0502020204030204"/>
            </a:endParaRPr>
          </a:p>
          <a:p>
            <a:r>
              <a:rPr lang="en-US" sz="2100" spc="-5" dirty="0">
                <a:solidFill>
                  <a:srgbClr val="FF0000"/>
                </a:solidFill>
                <a:cs typeface="Calibri" panose="020F0502020204030204"/>
                <a:hlinkClick r:id="rId3"/>
              </a:rPr>
              <a:t>https://man7.org/linux/man-pages/man3/pthread_attr_init.3.html</a:t>
            </a:r>
            <a:endParaRPr lang="en-US" sz="2100" spc="-5" dirty="0">
              <a:solidFill>
                <a:srgbClr val="FF0000"/>
              </a:solidFill>
              <a:cs typeface="Calibri" panose="020F0502020204030204"/>
            </a:endParaRPr>
          </a:p>
          <a:p>
            <a:endParaRPr lang="en-US" sz="2100" spc="-5" dirty="0">
              <a:solidFill>
                <a:srgbClr val="FF0000"/>
              </a:solidFill>
              <a:cs typeface="Calibri" panose="020F0502020204030204"/>
            </a:endParaRPr>
          </a:p>
        </p:txBody>
      </p:sp>
      <p:sp>
        <p:nvSpPr>
          <p:cNvPr id="8" name="文本框 7"/>
          <p:cNvSpPr txBox="1"/>
          <p:nvPr/>
        </p:nvSpPr>
        <p:spPr>
          <a:xfrm>
            <a:off x="633596" y="5597171"/>
            <a:ext cx="6775315" cy="765146"/>
          </a:xfrm>
          <a:prstGeom prst="rect">
            <a:avLst/>
          </a:prstGeom>
          <a:noFill/>
        </p:spPr>
        <p:txBody>
          <a:bodyPr wrap="square" rtlCol="0">
            <a:spAutoFit/>
          </a:bodyPr>
          <a:lstStyle/>
          <a:p>
            <a:pPr marL="12700" marR="5080" indent="1729105">
              <a:lnSpc>
                <a:spcPct val="202000"/>
              </a:lnSpc>
              <a:spcBef>
                <a:spcPts val="1460"/>
              </a:spcBef>
            </a:pPr>
            <a:r>
              <a:rPr lang="en-US" sz="2520" spc="-15" dirty="0">
                <a:solidFill>
                  <a:srgbClr val="FF0000"/>
                </a:solidFill>
                <a:cs typeface="Calibri" panose="020F0502020204030204"/>
              </a:rPr>
              <a:t>Allocate </a:t>
            </a:r>
            <a:r>
              <a:rPr lang="en-US" sz="2520" u="heavy" spc="-30" dirty="0">
                <a:solidFill>
                  <a:srgbClr val="FF0000"/>
                </a:solidFill>
                <a:uFill>
                  <a:solidFill>
                    <a:srgbClr val="FF0000"/>
                  </a:solidFill>
                </a:uFill>
                <a:cs typeface="Calibri" panose="020F0502020204030204"/>
              </a:rPr>
              <a:t>before</a:t>
            </a:r>
            <a:r>
              <a:rPr lang="en-US" sz="2520" spc="20" dirty="0">
                <a:solidFill>
                  <a:srgbClr val="FF0000"/>
                </a:solidFill>
                <a:cs typeface="Calibri" panose="020F0502020204030204"/>
              </a:rPr>
              <a:t> </a:t>
            </a:r>
            <a:r>
              <a:rPr lang="en-US" sz="2520" spc="-10" dirty="0">
                <a:solidFill>
                  <a:srgbClr val="FF0000"/>
                </a:solidFill>
                <a:cs typeface="Calibri" panose="020F0502020204030204"/>
              </a:rPr>
              <a:t>calling</a:t>
            </a:r>
            <a:r>
              <a:rPr lang="zh-CN" altLang="en-US" sz="2520" spc="-10" dirty="0">
                <a:solidFill>
                  <a:srgbClr val="FF0000"/>
                </a:solidFill>
                <a:cs typeface="Calibri" panose="020F0502020204030204"/>
              </a:rPr>
              <a:t> </a:t>
            </a:r>
            <a:r>
              <a:rPr lang="en-US" altLang="zh-CN" sz="2520" spc="-10" dirty="0">
                <a:solidFill>
                  <a:srgbClr val="FF0000"/>
                </a:solidFill>
                <a:cs typeface="Calibri" panose="020F0502020204030204"/>
              </a:rPr>
              <a:t>to</a:t>
            </a:r>
            <a:r>
              <a:rPr lang="zh-CN" altLang="en-US" sz="2520" spc="-10" dirty="0">
                <a:solidFill>
                  <a:srgbClr val="FF0000"/>
                </a:solidFill>
                <a:cs typeface="Calibri" panose="020F0502020204030204"/>
              </a:rPr>
              <a:t> </a:t>
            </a:r>
            <a:r>
              <a:rPr lang="en-US" altLang="zh-CN" sz="2520" spc="-10" dirty="0">
                <a:solidFill>
                  <a:srgbClr val="FF0000"/>
                </a:solidFill>
                <a:cs typeface="Calibri" panose="020F0502020204030204"/>
              </a:rPr>
              <a:t>initialize</a:t>
            </a:r>
            <a:r>
              <a:rPr lang="en-US" sz="2520" spc="-10" dirty="0">
                <a:solidFill>
                  <a:srgbClr val="FF0000"/>
                </a:solidFill>
                <a:cs typeface="Calibri" panose="020F0502020204030204"/>
              </a:rPr>
              <a:t>.</a:t>
            </a:r>
            <a:endParaRPr lang="en-US" sz="2520" dirty="0">
              <a:cs typeface="Calibri" panose="020F0502020204030204"/>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A </a:t>
            </a:r>
            <a:r>
              <a:rPr sz="4620" spc="-5" dirty="0"/>
              <a:t>closer </a:t>
            </a:r>
            <a:r>
              <a:rPr sz="4620" dirty="0"/>
              <a:t>look</a:t>
            </a:r>
            <a:r>
              <a:rPr sz="4620" spc="-70" dirty="0"/>
              <a:t> </a:t>
            </a:r>
            <a:r>
              <a:rPr sz="4620" dirty="0"/>
              <a:t>(2)</a:t>
            </a:r>
          </a:p>
        </p:txBody>
      </p:sp>
      <p:sp>
        <p:nvSpPr>
          <p:cNvPr id="3" name="object 3"/>
          <p:cNvSpPr txBox="1"/>
          <p:nvPr/>
        </p:nvSpPr>
        <p:spPr>
          <a:xfrm>
            <a:off x="2411607" y="1576890"/>
            <a:ext cx="7735634" cy="5001895"/>
          </a:xfrm>
          <a:prstGeom prst="rect">
            <a:avLst/>
          </a:prstGeom>
        </p:spPr>
        <p:txBody>
          <a:bodyPr vert="horz" wrap="square" lIns="0" tIns="102679" rIns="0" bIns="0" rtlCol="0">
            <a:spAutoFit/>
          </a:bodyPr>
          <a:lstStyle/>
          <a:p>
            <a:pPr marL="100965">
              <a:lnSpc>
                <a:spcPct val="100000"/>
              </a:lnSpc>
              <a:spcBef>
                <a:spcPts val="770"/>
              </a:spcBef>
            </a:pPr>
            <a:r>
              <a:rPr sz="2940" spc="-15" dirty="0">
                <a:latin typeface="Calibri" panose="020F0502020204030204"/>
                <a:cs typeface="Calibri" panose="020F0502020204030204"/>
              </a:rPr>
              <a:t>int pthread_create</a:t>
            </a:r>
            <a:r>
              <a:rPr sz="2940" spc="35"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marL="1015365">
              <a:lnSpc>
                <a:spcPct val="100000"/>
              </a:lnSpc>
              <a:spcBef>
                <a:spcPts val="675"/>
              </a:spcBef>
              <a:tabLst>
                <a:tab pos="2797175" algn="l"/>
              </a:tabLst>
            </a:pPr>
            <a:r>
              <a:rPr sz="2940" spc="-10" dirty="0">
                <a:latin typeface="Calibri" panose="020F0502020204030204"/>
                <a:cs typeface="Calibri" panose="020F0502020204030204"/>
              </a:rPr>
              <a:t>pthread_t*	thread_p </a:t>
            </a:r>
            <a:r>
              <a:rPr sz="2940" spc="-5" dirty="0">
                <a:latin typeface="Calibri" panose="020F0502020204030204"/>
                <a:cs typeface="Calibri" panose="020F0502020204030204"/>
              </a:rPr>
              <a:t>/* </a:t>
            </a:r>
            <a:r>
              <a:rPr sz="2940" spc="-10" dirty="0">
                <a:latin typeface="Calibri" panose="020F0502020204030204"/>
                <a:cs typeface="Calibri" panose="020F0502020204030204"/>
              </a:rPr>
              <a:t>out </a:t>
            </a:r>
            <a:r>
              <a:rPr sz="2940" spc="-5" dirty="0">
                <a:latin typeface="Calibri" panose="020F0502020204030204"/>
                <a:cs typeface="Calibri" panose="020F0502020204030204"/>
              </a:rPr>
              <a:t>*/</a:t>
            </a:r>
            <a:r>
              <a:rPr sz="2940" spc="80"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marL="1015365" marR="639445">
              <a:lnSpc>
                <a:spcPct val="120000"/>
              </a:lnSpc>
              <a:tabLst>
                <a:tab pos="1966595" algn="l"/>
                <a:tab pos="4356100" algn="l"/>
              </a:tabLst>
            </a:pPr>
            <a:r>
              <a:rPr sz="2940" spc="-20" dirty="0">
                <a:latin typeface="Calibri" panose="020F0502020204030204"/>
                <a:cs typeface="Calibri" panose="020F0502020204030204"/>
              </a:rPr>
              <a:t>const</a:t>
            </a:r>
            <a:r>
              <a:rPr sz="2940" spc="95" dirty="0">
                <a:latin typeface="Calibri" panose="020F0502020204030204"/>
                <a:cs typeface="Calibri" panose="020F0502020204030204"/>
              </a:rPr>
              <a:t> </a:t>
            </a:r>
            <a:r>
              <a:rPr sz="2940" spc="-15" dirty="0">
                <a:latin typeface="Calibri" panose="020F0502020204030204"/>
                <a:cs typeface="Calibri" panose="020F0502020204030204"/>
              </a:rPr>
              <a:t>pthread_attr_t*	attr_p </a:t>
            </a:r>
            <a:r>
              <a:rPr sz="2940" spc="-5" dirty="0">
                <a:latin typeface="Calibri" panose="020F0502020204030204"/>
                <a:cs typeface="Calibri" panose="020F0502020204030204"/>
              </a:rPr>
              <a:t>/* in */ ,  </a:t>
            </a:r>
            <a:r>
              <a:rPr sz="2940" spc="-15" dirty="0">
                <a:latin typeface="Calibri" panose="020F0502020204030204"/>
                <a:cs typeface="Calibri" panose="020F0502020204030204"/>
              </a:rPr>
              <a:t>void*	(*start_routine </a:t>
            </a:r>
            <a:r>
              <a:rPr sz="2940" spc="-5" dirty="0">
                <a:latin typeface="Calibri" panose="020F0502020204030204"/>
                <a:cs typeface="Calibri" panose="020F0502020204030204"/>
              </a:rPr>
              <a:t>) ( </a:t>
            </a:r>
            <a:r>
              <a:rPr sz="2940" spc="-15" dirty="0">
                <a:latin typeface="Calibri" panose="020F0502020204030204"/>
                <a:cs typeface="Calibri" panose="020F0502020204030204"/>
              </a:rPr>
              <a:t>void </a:t>
            </a:r>
            <a:r>
              <a:rPr sz="2940" spc="-5" dirty="0">
                <a:latin typeface="Calibri" panose="020F0502020204030204"/>
                <a:cs typeface="Calibri" panose="020F0502020204030204"/>
              </a:rPr>
              <a:t>) /* in */ ,  </a:t>
            </a:r>
            <a:r>
              <a:rPr sz="2940" spc="-15" dirty="0">
                <a:latin typeface="Calibri" panose="020F0502020204030204"/>
                <a:cs typeface="Calibri" panose="020F0502020204030204"/>
              </a:rPr>
              <a:t>void*	</a:t>
            </a:r>
            <a:r>
              <a:rPr sz="2940" spc="-10" dirty="0">
                <a:latin typeface="Calibri" panose="020F0502020204030204"/>
                <a:cs typeface="Calibri" panose="020F0502020204030204"/>
              </a:rPr>
              <a:t>arg_p </a:t>
            </a:r>
            <a:r>
              <a:rPr sz="2940" spc="-5" dirty="0">
                <a:latin typeface="Calibri" panose="020F0502020204030204"/>
                <a:cs typeface="Calibri" panose="020F0502020204030204"/>
              </a:rPr>
              <a:t>/* in */ )</a:t>
            </a:r>
            <a:r>
              <a:rPr sz="2940" spc="45" dirty="0">
                <a:latin typeface="Calibri" panose="020F0502020204030204"/>
                <a:cs typeface="Calibri" panose="020F0502020204030204"/>
              </a:rPr>
              <a:t> </a:t>
            </a:r>
            <a:r>
              <a:rPr sz="2940" spc="-5" dirty="0">
                <a:latin typeface="Calibri" panose="020F0502020204030204"/>
                <a:cs typeface="Calibri" panose="020F0502020204030204"/>
              </a:rPr>
              <a:t>;</a:t>
            </a:r>
            <a:endParaRPr sz="2940" dirty="0">
              <a:latin typeface="Calibri" panose="020F0502020204030204"/>
              <a:cs typeface="Calibri" panose="020F0502020204030204"/>
            </a:endParaRPr>
          </a:p>
          <a:p>
            <a:pPr>
              <a:lnSpc>
                <a:spcPct val="100000"/>
              </a:lnSpc>
              <a:spcBef>
                <a:spcPts val="40"/>
              </a:spcBef>
            </a:pPr>
            <a:endParaRPr sz="3205" dirty="0">
              <a:latin typeface="Calibri" panose="020F0502020204030204"/>
              <a:cs typeface="Calibri" panose="020F0502020204030204"/>
            </a:endParaRPr>
          </a:p>
          <a:p>
            <a:pPr marL="1612265">
              <a:lnSpc>
                <a:spcPct val="100000"/>
              </a:lnSpc>
            </a:pPr>
            <a:r>
              <a:rPr sz="2940" spc="-25" dirty="0">
                <a:solidFill>
                  <a:srgbClr val="FF0000"/>
                </a:solidFill>
                <a:latin typeface="Calibri" panose="020F0502020204030204"/>
                <a:cs typeface="Calibri" panose="020F0502020204030204"/>
              </a:rPr>
              <a:t>Pointer </a:t>
            </a:r>
            <a:r>
              <a:rPr sz="2940" spc="-20" dirty="0">
                <a:solidFill>
                  <a:srgbClr val="FF0000"/>
                </a:solidFill>
                <a:latin typeface="Calibri" panose="020F0502020204030204"/>
                <a:cs typeface="Calibri" panose="020F0502020204030204"/>
              </a:rPr>
              <a:t>to </a:t>
            </a:r>
            <a:r>
              <a:rPr sz="2940" spc="-10" dirty="0">
                <a:solidFill>
                  <a:srgbClr val="FF0000"/>
                </a:solidFill>
                <a:latin typeface="Calibri" panose="020F0502020204030204"/>
                <a:cs typeface="Calibri" panose="020F0502020204030204"/>
              </a:rPr>
              <a:t>the </a:t>
            </a:r>
            <a:r>
              <a:rPr sz="2940" spc="-15" dirty="0">
                <a:solidFill>
                  <a:srgbClr val="FF0000"/>
                </a:solidFill>
                <a:latin typeface="Calibri" panose="020F0502020204030204"/>
                <a:cs typeface="Calibri" panose="020F0502020204030204"/>
              </a:rPr>
              <a:t>argument </a:t>
            </a:r>
            <a:r>
              <a:rPr sz="2940" spc="-10" dirty="0">
                <a:solidFill>
                  <a:srgbClr val="FF0000"/>
                </a:solidFill>
                <a:latin typeface="Calibri" panose="020F0502020204030204"/>
                <a:cs typeface="Calibri" panose="020F0502020204030204"/>
              </a:rPr>
              <a:t>that</a:t>
            </a:r>
            <a:r>
              <a:rPr sz="2940" spc="105" dirty="0">
                <a:solidFill>
                  <a:srgbClr val="FF0000"/>
                </a:solidFill>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should</a:t>
            </a:r>
            <a:endParaRPr sz="2940" dirty="0">
              <a:latin typeface="Calibri" panose="020F0502020204030204"/>
              <a:cs typeface="Calibri" panose="020F0502020204030204"/>
            </a:endParaRPr>
          </a:p>
          <a:p>
            <a:pPr marL="1612265">
              <a:lnSpc>
                <a:spcPct val="100000"/>
              </a:lnSpc>
              <a:spcBef>
                <a:spcPts val="675"/>
              </a:spcBef>
            </a:pPr>
            <a:r>
              <a:rPr sz="2940" spc="-5" dirty="0">
                <a:solidFill>
                  <a:srgbClr val="FF0000"/>
                </a:solidFill>
                <a:latin typeface="Calibri" panose="020F0502020204030204"/>
                <a:cs typeface="Calibri" panose="020F0502020204030204"/>
              </a:rPr>
              <a:t>be </a:t>
            </a:r>
            <a:r>
              <a:rPr sz="2940" spc="-10" dirty="0">
                <a:solidFill>
                  <a:srgbClr val="FF0000"/>
                </a:solidFill>
                <a:latin typeface="Calibri" panose="020F0502020204030204"/>
                <a:cs typeface="Calibri" panose="020F0502020204030204"/>
              </a:rPr>
              <a:t>passed </a:t>
            </a:r>
            <a:r>
              <a:rPr sz="2940" spc="-20" dirty="0">
                <a:solidFill>
                  <a:srgbClr val="FF0000"/>
                </a:solidFill>
                <a:latin typeface="Calibri" panose="020F0502020204030204"/>
                <a:cs typeface="Calibri" panose="020F0502020204030204"/>
              </a:rPr>
              <a:t>to </a:t>
            </a:r>
            <a:r>
              <a:rPr sz="2940" spc="-5" dirty="0">
                <a:solidFill>
                  <a:srgbClr val="FF0000"/>
                </a:solidFill>
                <a:latin typeface="Calibri" panose="020F0502020204030204"/>
                <a:cs typeface="Calibri" panose="020F0502020204030204"/>
              </a:rPr>
              <a:t>the function</a:t>
            </a:r>
            <a:r>
              <a:rPr sz="2940" spc="80" dirty="0">
                <a:solidFill>
                  <a:srgbClr val="FF0000"/>
                </a:solidFill>
                <a:latin typeface="Calibri" panose="020F0502020204030204"/>
                <a:cs typeface="Calibri" panose="020F0502020204030204"/>
              </a:rPr>
              <a:t> </a:t>
            </a:r>
            <a:r>
              <a:rPr sz="2940" i="1" spc="-10" dirty="0">
                <a:solidFill>
                  <a:srgbClr val="C00000"/>
                </a:solidFill>
                <a:latin typeface="Calibri" panose="020F0502020204030204"/>
                <a:cs typeface="Calibri" panose="020F0502020204030204"/>
              </a:rPr>
              <a:t>start_routine</a:t>
            </a:r>
            <a:r>
              <a:rPr sz="2940" spc="-10" dirty="0">
                <a:solidFill>
                  <a:srgbClr val="C00000"/>
                </a:solidFill>
                <a:latin typeface="Calibri" panose="020F0502020204030204"/>
                <a:cs typeface="Calibri" panose="020F0502020204030204"/>
              </a:rPr>
              <a:t>.</a:t>
            </a:r>
            <a:endParaRPr sz="2940" dirty="0">
              <a:latin typeface="Calibri" panose="020F0502020204030204"/>
              <a:cs typeface="Calibri" panose="020F0502020204030204"/>
            </a:endParaRPr>
          </a:p>
          <a:p>
            <a:pPr>
              <a:lnSpc>
                <a:spcPct val="100000"/>
              </a:lnSpc>
              <a:spcBef>
                <a:spcPts val="5"/>
              </a:spcBef>
            </a:pPr>
            <a:endParaRPr sz="2205" dirty="0">
              <a:latin typeface="Calibri" panose="020F0502020204030204"/>
              <a:cs typeface="Calibri" panose="020F0502020204030204"/>
            </a:endParaRPr>
          </a:p>
          <a:p>
            <a:pPr marL="12700">
              <a:lnSpc>
                <a:spcPct val="100000"/>
              </a:lnSpc>
            </a:pPr>
            <a:r>
              <a:rPr sz="2940" spc="-10" dirty="0">
                <a:solidFill>
                  <a:srgbClr val="FF0000"/>
                </a:solidFill>
                <a:latin typeface="Calibri" panose="020F0502020204030204"/>
                <a:cs typeface="Calibri" panose="020F0502020204030204"/>
              </a:rPr>
              <a:t>The function that </a:t>
            </a:r>
            <a:r>
              <a:rPr sz="2940" spc="-5" dirty="0">
                <a:solidFill>
                  <a:srgbClr val="FF0000"/>
                </a:solidFill>
                <a:latin typeface="Calibri" panose="020F0502020204030204"/>
                <a:cs typeface="Calibri" panose="020F0502020204030204"/>
              </a:rPr>
              <a:t>the </a:t>
            </a:r>
            <a:r>
              <a:rPr sz="2940" spc="-10" dirty="0">
                <a:solidFill>
                  <a:srgbClr val="FF0000"/>
                </a:solidFill>
                <a:latin typeface="Calibri" panose="020F0502020204030204"/>
                <a:cs typeface="Calibri" panose="020F0502020204030204"/>
              </a:rPr>
              <a:t>thread </a:t>
            </a:r>
            <a:r>
              <a:rPr sz="2940" spc="-5" dirty="0">
                <a:solidFill>
                  <a:srgbClr val="FF0000"/>
                </a:solidFill>
                <a:latin typeface="Calibri" panose="020F0502020204030204"/>
                <a:cs typeface="Calibri" panose="020F0502020204030204"/>
              </a:rPr>
              <a:t>is </a:t>
            </a:r>
            <a:r>
              <a:rPr sz="2940" spc="-15" dirty="0">
                <a:solidFill>
                  <a:srgbClr val="FF0000"/>
                </a:solidFill>
                <a:latin typeface="Calibri" panose="020F0502020204030204"/>
                <a:cs typeface="Calibri" panose="020F0502020204030204"/>
              </a:rPr>
              <a:t>to</a:t>
            </a:r>
            <a:r>
              <a:rPr sz="2940" spc="90" dirty="0">
                <a:solidFill>
                  <a:srgbClr val="FF0000"/>
                </a:solidFill>
                <a:latin typeface="Calibri" panose="020F0502020204030204"/>
                <a:cs typeface="Calibri" panose="020F0502020204030204"/>
              </a:rPr>
              <a:t> </a:t>
            </a:r>
            <a:r>
              <a:rPr sz="2940" spc="-5" dirty="0">
                <a:solidFill>
                  <a:srgbClr val="FF0000"/>
                </a:solidFill>
                <a:latin typeface="Calibri" panose="020F0502020204030204"/>
                <a:cs typeface="Calibri" panose="020F0502020204030204"/>
              </a:rPr>
              <a:t>run.</a:t>
            </a:r>
            <a:endParaRPr sz="2940" dirty="0">
              <a:latin typeface="Calibri" panose="020F0502020204030204"/>
              <a:cs typeface="Calibri" panose="020F0502020204030204"/>
            </a:endParaRPr>
          </a:p>
        </p:txBody>
      </p:sp>
      <p:sp>
        <p:nvSpPr>
          <p:cNvPr id="4" name="object 4"/>
          <p:cNvSpPr/>
          <p:nvPr/>
        </p:nvSpPr>
        <p:spPr>
          <a:xfrm>
            <a:off x="2152602" y="3272008"/>
            <a:ext cx="1232154" cy="2873693"/>
          </a:xfrm>
          <a:custGeom>
            <a:avLst/>
            <a:gdLst/>
            <a:ahLst/>
            <a:cxnLst/>
            <a:rect l="l" t="t" r="r" b="b"/>
            <a:pathLst>
              <a:path w="1173480" h="2736850">
                <a:moveTo>
                  <a:pt x="316458" y="0"/>
                </a:moveTo>
                <a:lnTo>
                  <a:pt x="264604" y="2666"/>
                </a:lnTo>
                <a:lnTo>
                  <a:pt x="216547" y="10795"/>
                </a:lnTo>
                <a:lnTo>
                  <a:pt x="172339" y="24764"/>
                </a:lnTo>
                <a:lnTo>
                  <a:pt x="132486" y="45085"/>
                </a:lnTo>
                <a:lnTo>
                  <a:pt x="97142" y="72136"/>
                </a:lnTo>
                <a:lnTo>
                  <a:pt x="66865" y="106425"/>
                </a:lnTo>
                <a:lnTo>
                  <a:pt x="41973" y="147954"/>
                </a:lnTo>
                <a:lnTo>
                  <a:pt x="22707" y="197230"/>
                </a:lnTo>
                <a:lnTo>
                  <a:pt x="13119" y="234441"/>
                </a:lnTo>
                <a:lnTo>
                  <a:pt x="6184" y="275209"/>
                </a:lnTo>
                <a:lnTo>
                  <a:pt x="1841" y="319659"/>
                </a:lnTo>
                <a:lnTo>
                  <a:pt x="0" y="367411"/>
                </a:lnTo>
                <a:lnTo>
                  <a:pt x="571" y="418464"/>
                </a:lnTo>
                <a:lnTo>
                  <a:pt x="3340" y="472821"/>
                </a:lnTo>
                <a:lnTo>
                  <a:pt x="8407" y="530098"/>
                </a:lnTo>
                <a:lnTo>
                  <a:pt x="15570" y="590550"/>
                </a:lnTo>
                <a:lnTo>
                  <a:pt x="24828" y="653795"/>
                </a:lnTo>
                <a:lnTo>
                  <a:pt x="36004" y="719708"/>
                </a:lnTo>
                <a:lnTo>
                  <a:pt x="49161" y="788415"/>
                </a:lnTo>
                <a:lnTo>
                  <a:pt x="64046" y="859536"/>
                </a:lnTo>
                <a:lnTo>
                  <a:pt x="80645" y="933195"/>
                </a:lnTo>
                <a:lnTo>
                  <a:pt x="98856" y="1009014"/>
                </a:lnTo>
                <a:lnTo>
                  <a:pt x="118592" y="1087246"/>
                </a:lnTo>
                <a:lnTo>
                  <a:pt x="139852" y="1167383"/>
                </a:lnTo>
                <a:lnTo>
                  <a:pt x="162534" y="1249426"/>
                </a:lnTo>
                <a:lnTo>
                  <a:pt x="186461" y="1333373"/>
                </a:lnTo>
                <a:lnTo>
                  <a:pt x="211709" y="1419225"/>
                </a:lnTo>
                <a:lnTo>
                  <a:pt x="238010" y="1506474"/>
                </a:lnTo>
                <a:lnTo>
                  <a:pt x="265366" y="1595374"/>
                </a:lnTo>
                <a:lnTo>
                  <a:pt x="322999" y="1777111"/>
                </a:lnTo>
                <a:lnTo>
                  <a:pt x="383984" y="1963420"/>
                </a:lnTo>
                <a:lnTo>
                  <a:pt x="447433" y="2153412"/>
                </a:lnTo>
                <a:lnTo>
                  <a:pt x="512978" y="2346198"/>
                </a:lnTo>
                <a:lnTo>
                  <a:pt x="579755" y="2540952"/>
                </a:lnTo>
                <a:lnTo>
                  <a:pt x="647192" y="2736507"/>
                </a:lnTo>
                <a:lnTo>
                  <a:pt x="659193" y="2732366"/>
                </a:lnTo>
                <a:lnTo>
                  <a:pt x="591756" y="2536825"/>
                </a:lnTo>
                <a:lnTo>
                  <a:pt x="524992" y="2342134"/>
                </a:lnTo>
                <a:lnTo>
                  <a:pt x="459473" y="2149348"/>
                </a:lnTo>
                <a:lnTo>
                  <a:pt x="396049" y="1959483"/>
                </a:lnTo>
                <a:lnTo>
                  <a:pt x="335114" y="1773301"/>
                </a:lnTo>
                <a:lnTo>
                  <a:pt x="277495" y="1591690"/>
                </a:lnTo>
                <a:lnTo>
                  <a:pt x="250177" y="1502790"/>
                </a:lnTo>
                <a:lnTo>
                  <a:pt x="223901" y="1415669"/>
                </a:lnTo>
                <a:lnTo>
                  <a:pt x="198666" y="1329944"/>
                </a:lnTo>
                <a:lnTo>
                  <a:pt x="174777" y="1246124"/>
                </a:lnTo>
                <a:lnTo>
                  <a:pt x="152120" y="1164082"/>
                </a:lnTo>
                <a:lnTo>
                  <a:pt x="130898" y="1084071"/>
                </a:lnTo>
                <a:lnTo>
                  <a:pt x="111201" y="1006094"/>
                </a:lnTo>
                <a:lnTo>
                  <a:pt x="93027" y="930275"/>
                </a:lnTo>
                <a:lnTo>
                  <a:pt x="76479" y="856995"/>
                </a:lnTo>
                <a:lnTo>
                  <a:pt x="61645" y="786002"/>
                </a:lnTo>
                <a:lnTo>
                  <a:pt x="48514" y="717550"/>
                </a:lnTo>
                <a:lnTo>
                  <a:pt x="37401" y="651890"/>
                </a:lnTo>
                <a:lnTo>
                  <a:pt x="28181" y="589026"/>
                </a:lnTo>
                <a:lnTo>
                  <a:pt x="21056" y="529082"/>
                </a:lnTo>
                <a:lnTo>
                  <a:pt x="16027" y="472059"/>
                </a:lnTo>
                <a:lnTo>
                  <a:pt x="13271" y="418338"/>
                </a:lnTo>
                <a:lnTo>
                  <a:pt x="12700" y="367918"/>
                </a:lnTo>
                <a:lnTo>
                  <a:pt x="14478" y="320801"/>
                </a:lnTo>
                <a:lnTo>
                  <a:pt x="18707" y="277367"/>
                </a:lnTo>
                <a:lnTo>
                  <a:pt x="25488" y="237362"/>
                </a:lnTo>
                <a:lnTo>
                  <a:pt x="40259" y="184530"/>
                </a:lnTo>
                <a:lnTo>
                  <a:pt x="60579" y="139826"/>
                </a:lnTo>
                <a:lnTo>
                  <a:pt x="85864" y="102615"/>
                </a:lnTo>
                <a:lnTo>
                  <a:pt x="116128" y="72516"/>
                </a:lnTo>
                <a:lnTo>
                  <a:pt x="151053" y="48895"/>
                </a:lnTo>
                <a:lnTo>
                  <a:pt x="190487" y="31496"/>
                </a:lnTo>
                <a:lnTo>
                  <a:pt x="234302" y="19938"/>
                </a:lnTo>
                <a:lnTo>
                  <a:pt x="282168" y="13842"/>
                </a:lnTo>
                <a:lnTo>
                  <a:pt x="316128" y="12573"/>
                </a:lnTo>
                <a:lnTo>
                  <a:pt x="449556" y="12573"/>
                </a:lnTo>
                <a:lnTo>
                  <a:pt x="429755" y="9143"/>
                </a:lnTo>
                <a:lnTo>
                  <a:pt x="390550" y="4063"/>
                </a:lnTo>
                <a:lnTo>
                  <a:pt x="352831" y="888"/>
                </a:lnTo>
                <a:lnTo>
                  <a:pt x="316458" y="0"/>
                </a:lnTo>
                <a:close/>
              </a:path>
              <a:path w="1173480" h="2736850">
                <a:moveTo>
                  <a:pt x="1137343" y="261731"/>
                </a:moveTo>
                <a:lnTo>
                  <a:pt x="1069784" y="270890"/>
                </a:lnTo>
                <a:lnTo>
                  <a:pt x="1067371" y="274065"/>
                </a:lnTo>
                <a:lnTo>
                  <a:pt x="1067879" y="277622"/>
                </a:lnTo>
                <a:lnTo>
                  <a:pt x="1068260" y="281050"/>
                </a:lnTo>
                <a:lnTo>
                  <a:pt x="1071562" y="283463"/>
                </a:lnTo>
                <a:lnTo>
                  <a:pt x="1074991" y="282955"/>
                </a:lnTo>
                <a:lnTo>
                  <a:pt x="1165610" y="270763"/>
                </a:lnTo>
                <a:lnTo>
                  <a:pt x="1159065" y="270763"/>
                </a:lnTo>
                <a:lnTo>
                  <a:pt x="1137343" y="261731"/>
                </a:lnTo>
                <a:close/>
              </a:path>
              <a:path w="1173480" h="2736850">
                <a:moveTo>
                  <a:pt x="1149917" y="260031"/>
                </a:moveTo>
                <a:lnTo>
                  <a:pt x="1137343" y="261731"/>
                </a:lnTo>
                <a:lnTo>
                  <a:pt x="1159065" y="270763"/>
                </a:lnTo>
                <a:lnTo>
                  <a:pt x="1159926" y="268731"/>
                </a:lnTo>
                <a:lnTo>
                  <a:pt x="1156525" y="268731"/>
                </a:lnTo>
                <a:lnTo>
                  <a:pt x="1149917" y="260031"/>
                </a:lnTo>
                <a:close/>
              </a:path>
              <a:path w="1173480" h="2736850">
                <a:moveTo>
                  <a:pt x="1107249" y="187451"/>
                </a:moveTo>
                <a:lnTo>
                  <a:pt x="1104455" y="189611"/>
                </a:lnTo>
                <a:lnTo>
                  <a:pt x="1101661" y="191642"/>
                </a:lnTo>
                <a:lnTo>
                  <a:pt x="1101026" y="195706"/>
                </a:lnTo>
                <a:lnTo>
                  <a:pt x="1103185" y="198500"/>
                </a:lnTo>
                <a:lnTo>
                  <a:pt x="1142366" y="250089"/>
                </a:lnTo>
                <a:lnTo>
                  <a:pt x="1164018" y="259079"/>
                </a:lnTo>
                <a:lnTo>
                  <a:pt x="1159065" y="270763"/>
                </a:lnTo>
                <a:lnTo>
                  <a:pt x="1165610" y="270763"/>
                </a:lnTo>
                <a:lnTo>
                  <a:pt x="1173162" y="269748"/>
                </a:lnTo>
                <a:lnTo>
                  <a:pt x="1113345" y="190753"/>
                </a:lnTo>
                <a:lnTo>
                  <a:pt x="1111186" y="187960"/>
                </a:lnTo>
                <a:lnTo>
                  <a:pt x="1107249" y="187451"/>
                </a:lnTo>
                <a:close/>
              </a:path>
              <a:path w="1173480" h="2736850">
                <a:moveTo>
                  <a:pt x="1160716" y="258572"/>
                </a:moveTo>
                <a:lnTo>
                  <a:pt x="1149917" y="260031"/>
                </a:lnTo>
                <a:lnTo>
                  <a:pt x="1156525" y="268731"/>
                </a:lnTo>
                <a:lnTo>
                  <a:pt x="1160716" y="258572"/>
                </a:lnTo>
                <a:close/>
              </a:path>
              <a:path w="1173480" h="2736850">
                <a:moveTo>
                  <a:pt x="1162795" y="258572"/>
                </a:moveTo>
                <a:lnTo>
                  <a:pt x="1160716" y="258572"/>
                </a:lnTo>
                <a:lnTo>
                  <a:pt x="1156525" y="268731"/>
                </a:lnTo>
                <a:lnTo>
                  <a:pt x="1159926" y="268731"/>
                </a:lnTo>
                <a:lnTo>
                  <a:pt x="1164018" y="259079"/>
                </a:lnTo>
                <a:lnTo>
                  <a:pt x="1162795" y="258572"/>
                </a:lnTo>
                <a:close/>
              </a:path>
              <a:path w="1173480" h="2736850">
                <a:moveTo>
                  <a:pt x="449556" y="12573"/>
                </a:moveTo>
                <a:lnTo>
                  <a:pt x="316128" y="12573"/>
                </a:lnTo>
                <a:lnTo>
                  <a:pt x="351764" y="13588"/>
                </a:lnTo>
                <a:lnTo>
                  <a:pt x="388912" y="16637"/>
                </a:lnTo>
                <a:lnTo>
                  <a:pt x="427621" y="21716"/>
                </a:lnTo>
                <a:lnTo>
                  <a:pt x="467487" y="28448"/>
                </a:lnTo>
                <a:lnTo>
                  <a:pt x="508736" y="37084"/>
                </a:lnTo>
                <a:lnTo>
                  <a:pt x="551141" y="47371"/>
                </a:lnTo>
                <a:lnTo>
                  <a:pt x="594626" y="59181"/>
                </a:lnTo>
                <a:lnTo>
                  <a:pt x="639165" y="72262"/>
                </a:lnTo>
                <a:lnTo>
                  <a:pt x="684504" y="86740"/>
                </a:lnTo>
                <a:lnTo>
                  <a:pt x="730808" y="102235"/>
                </a:lnTo>
                <a:lnTo>
                  <a:pt x="777811" y="118872"/>
                </a:lnTo>
                <a:lnTo>
                  <a:pt x="825436" y="136398"/>
                </a:lnTo>
                <a:lnTo>
                  <a:pt x="873696" y="154812"/>
                </a:lnTo>
                <a:lnTo>
                  <a:pt x="971486" y="193548"/>
                </a:lnTo>
                <a:lnTo>
                  <a:pt x="1137343" y="261731"/>
                </a:lnTo>
                <a:lnTo>
                  <a:pt x="1149917" y="260031"/>
                </a:lnTo>
                <a:lnTo>
                  <a:pt x="976312" y="181737"/>
                </a:lnTo>
                <a:lnTo>
                  <a:pt x="927163" y="162051"/>
                </a:lnTo>
                <a:lnTo>
                  <a:pt x="830008" y="124587"/>
                </a:lnTo>
                <a:lnTo>
                  <a:pt x="782129" y="106934"/>
                </a:lnTo>
                <a:lnTo>
                  <a:pt x="735025" y="90297"/>
                </a:lnTo>
                <a:lnTo>
                  <a:pt x="688555" y="74675"/>
                </a:lnTo>
                <a:lnTo>
                  <a:pt x="643026" y="60198"/>
                </a:lnTo>
                <a:lnTo>
                  <a:pt x="598220" y="46989"/>
                </a:lnTo>
                <a:lnTo>
                  <a:pt x="554456" y="35051"/>
                </a:lnTo>
                <a:lnTo>
                  <a:pt x="511708" y="24764"/>
                </a:lnTo>
                <a:lnTo>
                  <a:pt x="470090" y="16128"/>
                </a:lnTo>
                <a:lnTo>
                  <a:pt x="449556" y="12573"/>
                </a:lnTo>
                <a:close/>
              </a:path>
              <a:path w="1173480" h="2736850">
                <a:moveTo>
                  <a:pt x="1142366" y="250089"/>
                </a:moveTo>
                <a:lnTo>
                  <a:pt x="1149917" y="260031"/>
                </a:lnTo>
                <a:lnTo>
                  <a:pt x="1160716" y="258572"/>
                </a:lnTo>
                <a:lnTo>
                  <a:pt x="1162795" y="258572"/>
                </a:lnTo>
                <a:lnTo>
                  <a:pt x="1142366" y="250089"/>
                </a:lnTo>
                <a:close/>
              </a:path>
            </a:pathLst>
          </a:custGeom>
          <a:solidFill>
            <a:srgbClr val="FF0000"/>
          </a:solidFill>
        </p:spPr>
        <p:txBody>
          <a:bodyPr wrap="square" lIns="0" tIns="0" rIns="0" bIns="0" rtlCol="0"/>
          <a:lstStyle/>
          <a:p>
            <a:endParaRPr sz="2310"/>
          </a:p>
        </p:txBody>
      </p:sp>
      <p:sp>
        <p:nvSpPr>
          <p:cNvPr id="5" name="object 5"/>
          <p:cNvSpPr/>
          <p:nvPr/>
        </p:nvSpPr>
        <p:spPr>
          <a:xfrm>
            <a:off x="2894695" y="4012100"/>
            <a:ext cx="1048798" cy="898779"/>
          </a:xfrm>
          <a:custGeom>
            <a:avLst/>
            <a:gdLst/>
            <a:ahLst/>
            <a:cxnLst/>
            <a:rect l="l" t="t" r="r" b="b"/>
            <a:pathLst>
              <a:path w="998855" h="855979">
                <a:moveTo>
                  <a:pt x="280098" y="37592"/>
                </a:moveTo>
                <a:lnTo>
                  <a:pt x="242125" y="42925"/>
                </a:lnTo>
                <a:lnTo>
                  <a:pt x="206819" y="63245"/>
                </a:lnTo>
                <a:lnTo>
                  <a:pt x="181419" y="92328"/>
                </a:lnTo>
                <a:lnTo>
                  <a:pt x="157162" y="135508"/>
                </a:lnTo>
                <a:lnTo>
                  <a:pt x="133667" y="181863"/>
                </a:lnTo>
                <a:lnTo>
                  <a:pt x="115887" y="218694"/>
                </a:lnTo>
                <a:lnTo>
                  <a:pt x="97218" y="259333"/>
                </a:lnTo>
                <a:lnTo>
                  <a:pt x="78295" y="303021"/>
                </a:lnTo>
                <a:lnTo>
                  <a:pt x="51244" y="372363"/>
                </a:lnTo>
                <a:lnTo>
                  <a:pt x="34988" y="420115"/>
                </a:lnTo>
                <a:lnTo>
                  <a:pt x="21094" y="468121"/>
                </a:lnTo>
                <a:lnTo>
                  <a:pt x="10045" y="515365"/>
                </a:lnTo>
                <a:lnTo>
                  <a:pt x="2819" y="561339"/>
                </a:lnTo>
                <a:lnTo>
                  <a:pt x="0" y="605155"/>
                </a:lnTo>
                <a:lnTo>
                  <a:pt x="482" y="625982"/>
                </a:lnTo>
                <a:lnTo>
                  <a:pt x="5715" y="665226"/>
                </a:lnTo>
                <a:lnTo>
                  <a:pt x="25920" y="716026"/>
                </a:lnTo>
                <a:lnTo>
                  <a:pt x="36956" y="731138"/>
                </a:lnTo>
                <a:lnTo>
                  <a:pt x="48831" y="743331"/>
                </a:lnTo>
                <a:lnTo>
                  <a:pt x="95694" y="775462"/>
                </a:lnTo>
                <a:lnTo>
                  <a:pt x="133667" y="792861"/>
                </a:lnTo>
                <a:lnTo>
                  <a:pt x="176974" y="807719"/>
                </a:lnTo>
                <a:lnTo>
                  <a:pt x="224980" y="820038"/>
                </a:lnTo>
                <a:lnTo>
                  <a:pt x="277431" y="830199"/>
                </a:lnTo>
                <a:lnTo>
                  <a:pt x="333946" y="838326"/>
                </a:lnTo>
                <a:lnTo>
                  <a:pt x="394017" y="844550"/>
                </a:lnTo>
                <a:lnTo>
                  <a:pt x="457390" y="849249"/>
                </a:lnTo>
                <a:lnTo>
                  <a:pt x="523684" y="852424"/>
                </a:lnTo>
                <a:lnTo>
                  <a:pt x="592518" y="854456"/>
                </a:lnTo>
                <a:lnTo>
                  <a:pt x="699579" y="855599"/>
                </a:lnTo>
                <a:lnTo>
                  <a:pt x="998410" y="851915"/>
                </a:lnTo>
                <a:lnTo>
                  <a:pt x="998230" y="842899"/>
                </a:lnTo>
                <a:lnTo>
                  <a:pt x="699579" y="842899"/>
                </a:lnTo>
                <a:lnTo>
                  <a:pt x="627824" y="842390"/>
                </a:lnTo>
                <a:lnTo>
                  <a:pt x="558228" y="840867"/>
                </a:lnTo>
                <a:lnTo>
                  <a:pt x="490918" y="838326"/>
                </a:lnTo>
                <a:lnTo>
                  <a:pt x="426402" y="834389"/>
                </a:lnTo>
                <a:lnTo>
                  <a:pt x="364934" y="829056"/>
                </a:lnTo>
                <a:lnTo>
                  <a:pt x="307149" y="821944"/>
                </a:lnTo>
                <a:lnTo>
                  <a:pt x="253301" y="812926"/>
                </a:lnTo>
                <a:lnTo>
                  <a:pt x="203771" y="801877"/>
                </a:lnTo>
                <a:lnTo>
                  <a:pt x="159067" y="788669"/>
                </a:lnTo>
                <a:lnTo>
                  <a:pt x="119697" y="773049"/>
                </a:lnTo>
                <a:lnTo>
                  <a:pt x="85788" y="755014"/>
                </a:lnTo>
                <a:lnTo>
                  <a:pt x="46037" y="722376"/>
                </a:lnTo>
                <a:lnTo>
                  <a:pt x="46201" y="722376"/>
                </a:lnTo>
                <a:lnTo>
                  <a:pt x="37071" y="710057"/>
                </a:lnTo>
                <a:lnTo>
                  <a:pt x="18224" y="662939"/>
                </a:lnTo>
                <a:lnTo>
                  <a:pt x="12700" y="605663"/>
                </a:lnTo>
                <a:lnTo>
                  <a:pt x="13436" y="584707"/>
                </a:lnTo>
                <a:lnTo>
                  <a:pt x="18516" y="540765"/>
                </a:lnTo>
                <a:lnTo>
                  <a:pt x="27470" y="494919"/>
                </a:lnTo>
                <a:lnTo>
                  <a:pt x="39814" y="447801"/>
                </a:lnTo>
                <a:lnTo>
                  <a:pt x="54800" y="400431"/>
                </a:lnTo>
                <a:lnTo>
                  <a:pt x="80835" y="330581"/>
                </a:lnTo>
                <a:lnTo>
                  <a:pt x="99377" y="285876"/>
                </a:lnTo>
                <a:lnTo>
                  <a:pt x="127317" y="224155"/>
                </a:lnTo>
                <a:lnTo>
                  <a:pt x="144970" y="187578"/>
                </a:lnTo>
                <a:lnTo>
                  <a:pt x="175069" y="128905"/>
                </a:lnTo>
                <a:lnTo>
                  <a:pt x="197421" y="91948"/>
                </a:lnTo>
                <a:lnTo>
                  <a:pt x="226885" y="64007"/>
                </a:lnTo>
                <a:lnTo>
                  <a:pt x="265366" y="50800"/>
                </a:lnTo>
                <a:lnTo>
                  <a:pt x="279082" y="50292"/>
                </a:lnTo>
                <a:lnTo>
                  <a:pt x="339812" y="50292"/>
                </a:lnTo>
                <a:lnTo>
                  <a:pt x="326961" y="45974"/>
                </a:lnTo>
                <a:lnTo>
                  <a:pt x="311213" y="41909"/>
                </a:lnTo>
                <a:lnTo>
                  <a:pt x="295719" y="38862"/>
                </a:lnTo>
                <a:lnTo>
                  <a:pt x="280098" y="37592"/>
                </a:lnTo>
                <a:close/>
              </a:path>
              <a:path w="998855" h="855979">
                <a:moveTo>
                  <a:pt x="998156" y="839215"/>
                </a:moveTo>
                <a:lnTo>
                  <a:pt x="699579" y="842899"/>
                </a:lnTo>
                <a:lnTo>
                  <a:pt x="998230" y="842899"/>
                </a:lnTo>
                <a:lnTo>
                  <a:pt x="998156" y="839215"/>
                </a:lnTo>
                <a:close/>
              </a:path>
              <a:path w="998855" h="855979">
                <a:moveTo>
                  <a:pt x="46201" y="722376"/>
                </a:moveTo>
                <a:lnTo>
                  <a:pt x="46037" y="722376"/>
                </a:lnTo>
                <a:lnTo>
                  <a:pt x="46672" y="723011"/>
                </a:lnTo>
                <a:lnTo>
                  <a:pt x="46201" y="722376"/>
                </a:lnTo>
                <a:close/>
              </a:path>
              <a:path w="998855" h="855979">
                <a:moveTo>
                  <a:pt x="368495" y="75264"/>
                </a:moveTo>
                <a:lnTo>
                  <a:pt x="300545" y="82168"/>
                </a:lnTo>
                <a:lnTo>
                  <a:pt x="298005" y="85217"/>
                </a:lnTo>
                <a:lnTo>
                  <a:pt x="298767" y="92201"/>
                </a:lnTo>
                <a:lnTo>
                  <a:pt x="301815" y="94742"/>
                </a:lnTo>
                <a:lnTo>
                  <a:pt x="398869" y="84962"/>
                </a:lnTo>
                <a:lnTo>
                  <a:pt x="389826" y="84962"/>
                </a:lnTo>
                <a:lnTo>
                  <a:pt x="369506" y="75692"/>
                </a:lnTo>
                <a:lnTo>
                  <a:pt x="368495" y="75264"/>
                </a:lnTo>
                <a:close/>
              </a:path>
              <a:path w="998855" h="855979">
                <a:moveTo>
                  <a:pt x="381054" y="73992"/>
                </a:moveTo>
                <a:lnTo>
                  <a:pt x="368495" y="75264"/>
                </a:lnTo>
                <a:lnTo>
                  <a:pt x="369506" y="75692"/>
                </a:lnTo>
                <a:lnTo>
                  <a:pt x="389826" y="84962"/>
                </a:lnTo>
                <a:lnTo>
                  <a:pt x="390822" y="82803"/>
                </a:lnTo>
                <a:lnTo>
                  <a:pt x="387286" y="82803"/>
                </a:lnTo>
                <a:lnTo>
                  <a:pt x="381054" y="73992"/>
                </a:lnTo>
                <a:close/>
              </a:path>
              <a:path w="998855" h="855979">
                <a:moveTo>
                  <a:pt x="340677" y="0"/>
                </a:moveTo>
                <a:lnTo>
                  <a:pt x="337883" y="2031"/>
                </a:lnTo>
                <a:lnTo>
                  <a:pt x="334962" y="4063"/>
                </a:lnTo>
                <a:lnTo>
                  <a:pt x="334327" y="8000"/>
                </a:lnTo>
                <a:lnTo>
                  <a:pt x="336359" y="10794"/>
                </a:lnTo>
                <a:lnTo>
                  <a:pt x="373816" y="63757"/>
                </a:lnTo>
                <a:lnTo>
                  <a:pt x="374713" y="64134"/>
                </a:lnTo>
                <a:lnTo>
                  <a:pt x="395160" y="73406"/>
                </a:lnTo>
                <a:lnTo>
                  <a:pt x="389826" y="84962"/>
                </a:lnTo>
                <a:lnTo>
                  <a:pt x="398869" y="84962"/>
                </a:lnTo>
                <a:lnTo>
                  <a:pt x="403923" y="84455"/>
                </a:lnTo>
                <a:lnTo>
                  <a:pt x="346773" y="3556"/>
                </a:lnTo>
                <a:lnTo>
                  <a:pt x="344741" y="634"/>
                </a:lnTo>
                <a:lnTo>
                  <a:pt x="340677" y="0"/>
                </a:lnTo>
                <a:close/>
              </a:path>
              <a:path w="998855" h="855979">
                <a:moveTo>
                  <a:pt x="391858" y="72898"/>
                </a:moveTo>
                <a:lnTo>
                  <a:pt x="381054" y="73992"/>
                </a:lnTo>
                <a:lnTo>
                  <a:pt x="387286" y="82803"/>
                </a:lnTo>
                <a:lnTo>
                  <a:pt x="391858" y="72898"/>
                </a:lnTo>
                <a:close/>
              </a:path>
              <a:path w="998855" h="855979">
                <a:moveTo>
                  <a:pt x="394040" y="72898"/>
                </a:moveTo>
                <a:lnTo>
                  <a:pt x="391858" y="72898"/>
                </a:lnTo>
                <a:lnTo>
                  <a:pt x="387286" y="82803"/>
                </a:lnTo>
                <a:lnTo>
                  <a:pt x="390822" y="82803"/>
                </a:lnTo>
                <a:lnTo>
                  <a:pt x="395160" y="73406"/>
                </a:lnTo>
                <a:lnTo>
                  <a:pt x="394040" y="72898"/>
                </a:lnTo>
                <a:close/>
              </a:path>
              <a:path w="998855" h="855979">
                <a:moveTo>
                  <a:pt x="339812" y="50292"/>
                </a:moveTo>
                <a:lnTo>
                  <a:pt x="279082" y="50292"/>
                </a:lnTo>
                <a:lnTo>
                  <a:pt x="293306" y="51434"/>
                </a:lnTo>
                <a:lnTo>
                  <a:pt x="308038" y="54101"/>
                </a:lnTo>
                <a:lnTo>
                  <a:pt x="322897" y="58038"/>
                </a:lnTo>
                <a:lnTo>
                  <a:pt x="338264" y="63118"/>
                </a:lnTo>
                <a:lnTo>
                  <a:pt x="353885" y="69087"/>
                </a:lnTo>
                <a:lnTo>
                  <a:pt x="368495" y="75264"/>
                </a:lnTo>
                <a:lnTo>
                  <a:pt x="381054" y="73992"/>
                </a:lnTo>
                <a:lnTo>
                  <a:pt x="373816" y="63757"/>
                </a:lnTo>
                <a:lnTo>
                  <a:pt x="358711" y="57403"/>
                </a:lnTo>
                <a:lnTo>
                  <a:pt x="342836" y="51307"/>
                </a:lnTo>
                <a:lnTo>
                  <a:pt x="339812" y="50292"/>
                </a:lnTo>
                <a:close/>
              </a:path>
              <a:path w="998855" h="855979">
                <a:moveTo>
                  <a:pt x="373816" y="63757"/>
                </a:moveTo>
                <a:lnTo>
                  <a:pt x="381054" y="73992"/>
                </a:lnTo>
                <a:lnTo>
                  <a:pt x="391858" y="72898"/>
                </a:lnTo>
                <a:lnTo>
                  <a:pt x="394040" y="72898"/>
                </a:lnTo>
                <a:lnTo>
                  <a:pt x="374713" y="64134"/>
                </a:lnTo>
                <a:lnTo>
                  <a:pt x="373816" y="63757"/>
                </a:lnTo>
                <a:close/>
              </a:path>
            </a:pathLst>
          </a:custGeom>
          <a:solidFill>
            <a:srgbClr val="FF0000"/>
          </a:solidFill>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53829"/>
            <a:ext cx="10762906" cy="627380"/>
          </a:xfrm>
          <a:prstGeom prst="rect">
            <a:avLst/>
          </a:prstGeom>
        </p:spPr>
        <p:txBody>
          <a:bodyPr vert="horz" wrap="square" lIns="0" tIns="12668" rIns="0" bIns="0" rtlCol="0">
            <a:spAutoFit/>
          </a:bodyPr>
          <a:lstStyle/>
          <a:p>
            <a:pPr marL="12700">
              <a:lnSpc>
                <a:spcPct val="100000"/>
              </a:lnSpc>
              <a:spcBef>
                <a:spcPts val="95"/>
              </a:spcBef>
            </a:pPr>
            <a:r>
              <a:rPr spc="-5" dirty="0"/>
              <a:t>Function </a:t>
            </a:r>
            <a:r>
              <a:rPr spc="-25" dirty="0"/>
              <a:t>started </a:t>
            </a:r>
            <a:r>
              <a:rPr spc="-20" dirty="0"/>
              <a:t>by</a:t>
            </a:r>
            <a:r>
              <a:rPr spc="-40" dirty="0"/>
              <a:t> </a:t>
            </a:r>
            <a:r>
              <a:rPr spc="-20" dirty="0"/>
              <a:t>pthread_create</a:t>
            </a:r>
          </a:p>
        </p:txBody>
      </p:sp>
      <p:sp>
        <p:nvSpPr>
          <p:cNvPr id="3" name="object 3"/>
          <p:cNvSpPr txBox="1"/>
          <p:nvPr/>
        </p:nvSpPr>
        <p:spPr>
          <a:xfrm>
            <a:off x="2348879" y="1470717"/>
            <a:ext cx="8043672" cy="4611370"/>
          </a:xfrm>
          <a:prstGeom prst="rect">
            <a:avLst/>
          </a:prstGeom>
        </p:spPr>
        <p:txBody>
          <a:bodyPr vert="horz" wrap="square" lIns="0" tIns="12668" rIns="0" bIns="0" rtlCol="0">
            <a:spAutoFit/>
          </a:bodyPr>
          <a:lstStyle/>
          <a:p>
            <a:pPr marL="241300" indent="-228600">
              <a:lnSpc>
                <a:spcPts val="3190"/>
              </a:lnSpc>
              <a:spcBef>
                <a:spcPts val="95"/>
              </a:spcBef>
              <a:buFont typeface="Arial" panose="020B0604020202020204"/>
              <a:buChar char="•"/>
              <a:tabLst>
                <a:tab pos="241300" algn="l"/>
              </a:tabLst>
            </a:pPr>
            <a:r>
              <a:rPr sz="2940" spc="-15" dirty="0">
                <a:latin typeface="Calibri" panose="020F0502020204030204"/>
                <a:cs typeface="Calibri" panose="020F0502020204030204"/>
              </a:rPr>
              <a:t>Prototype:</a:t>
            </a:r>
            <a:endParaRPr sz="2940" dirty="0">
              <a:latin typeface="Calibri" panose="020F0502020204030204"/>
              <a:cs typeface="Calibri" panose="020F0502020204030204"/>
            </a:endParaRPr>
          </a:p>
          <a:p>
            <a:pPr marL="321945">
              <a:lnSpc>
                <a:spcPts val="3190"/>
              </a:lnSpc>
              <a:tabLst>
                <a:tab pos="1274445" algn="l"/>
                <a:tab pos="4842510" algn="l"/>
              </a:tabLst>
            </a:pPr>
            <a:r>
              <a:rPr sz="2940" spc="-15" dirty="0">
                <a:solidFill>
                  <a:srgbClr val="FF0000"/>
                </a:solidFill>
                <a:latin typeface="Calibri" panose="020F0502020204030204"/>
                <a:cs typeface="Calibri" panose="020F0502020204030204"/>
              </a:rPr>
              <a:t>void*	</a:t>
            </a:r>
            <a:r>
              <a:rPr sz="2940" spc="-5" dirty="0">
                <a:solidFill>
                  <a:srgbClr val="FF0000"/>
                </a:solidFill>
                <a:latin typeface="Calibri" panose="020F0502020204030204"/>
                <a:cs typeface="Calibri" panose="020F0502020204030204"/>
              </a:rPr>
              <a:t>thread_function</a:t>
            </a:r>
            <a:r>
              <a:rPr sz="2940" spc="25" dirty="0">
                <a:solidFill>
                  <a:srgbClr val="FF0000"/>
                </a:solidFill>
                <a:latin typeface="Calibri" panose="020F0502020204030204"/>
                <a:cs typeface="Calibri" panose="020F0502020204030204"/>
              </a:rPr>
              <a:t> </a:t>
            </a:r>
            <a:r>
              <a:rPr sz="2940" spc="-5" dirty="0">
                <a:solidFill>
                  <a:srgbClr val="FF0000"/>
                </a:solidFill>
                <a:latin typeface="Calibri" panose="020F0502020204030204"/>
                <a:cs typeface="Calibri" panose="020F0502020204030204"/>
              </a:rPr>
              <a:t>(</a:t>
            </a:r>
            <a:r>
              <a:rPr sz="2940" spc="5" dirty="0">
                <a:solidFill>
                  <a:srgbClr val="FF0000"/>
                </a:solidFill>
                <a:latin typeface="Calibri" panose="020F0502020204030204"/>
                <a:cs typeface="Calibri" panose="020F0502020204030204"/>
              </a:rPr>
              <a:t> </a:t>
            </a:r>
            <a:r>
              <a:rPr sz="2940" spc="-15" dirty="0">
                <a:solidFill>
                  <a:srgbClr val="FF0000"/>
                </a:solidFill>
                <a:latin typeface="Calibri" panose="020F0502020204030204"/>
                <a:cs typeface="Calibri" panose="020F0502020204030204"/>
              </a:rPr>
              <a:t>void*	</a:t>
            </a:r>
            <a:r>
              <a:rPr sz="2940" spc="-10" dirty="0">
                <a:solidFill>
                  <a:srgbClr val="FF0000"/>
                </a:solidFill>
                <a:latin typeface="Calibri" panose="020F0502020204030204"/>
                <a:cs typeface="Calibri" panose="020F0502020204030204"/>
              </a:rPr>
              <a:t>args_p </a:t>
            </a:r>
            <a:r>
              <a:rPr sz="2940" spc="-5" dirty="0">
                <a:solidFill>
                  <a:srgbClr val="FF0000"/>
                </a:solidFill>
                <a:latin typeface="Calibri" panose="020F0502020204030204"/>
                <a:cs typeface="Calibri" panose="020F0502020204030204"/>
              </a:rPr>
              <a:t>)</a:t>
            </a:r>
            <a:r>
              <a:rPr sz="2940" spc="15" dirty="0">
                <a:solidFill>
                  <a:srgbClr val="FF0000"/>
                </a:solidFill>
                <a:latin typeface="Calibri" panose="020F0502020204030204"/>
                <a:cs typeface="Calibri" panose="020F0502020204030204"/>
              </a:rPr>
              <a:t> </a:t>
            </a:r>
            <a:r>
              <a:rPr sz="2940" spc="-5" dirty="0">
                <a:solidFill>
                  <a:srgbClr val="FF0000"/>
                </a:solidFill>
                <a:latin typeface="Calibri" panose="020F0502020204030204"/>
                <a:cs typeface="Calibri" panose="020F0502020204030204"/>
              </a:rPr>
              <a:t>;</a:t>
            </a:r>
            <a:endParaRPr sz="2940" dirty="0">
              <a:latin typeface="Calibri" panose="020F0502020204030204"/>
              <a:cs typeface="Calibri" panose="020F0502020204030204"/>
            </a:endParaRPr>
          </a:p>
          <a:p>
            <a:pPr>
              <a:lnSpc>
                <a:spcPct val="100000"/>
              </a:lnSpc>
              <a:spcBef>
                <a:spcPts val="30"/>
              </a:spcBef>
            </a:pPr>
            <a:endParaRPr sz="2835" dirty="0">
              <a:latin typeface="Calibri" panose="020F0502020204030204"/>
              <a:cs typeface="Calibri" panose="020F0502020204030204"/>
            </a:endParaRPr>
          </a:p>
          <a:p>
            <a:pPr marL="241300" indent="-228600">
              <a:lnSpc>
                <a:spcPct val="100000"/>
              </a:lnSpc>
              <a:buFont typeface="Arial" panose="020B0604020202020204"/>
              <a:buChar char="•"/>
              <a:tabLst>
                <a:tab pos="241300" algn="l"/>
              </a:tabLst>
            </a:pPr>
            <a:r>
              <a:rPr sz="2940" spc="-35" dirty="0">
                <a:latin typeface="Calibri" panose="020F0502020204030204"/>
                <a:cs typeface="Calibri" panose="020F0502020204030204"/>
              </a:rPr>
              <a:t>Void* </a:t>
            </a:r>
            <a:r>
              <a:rPr sz="2940" spc="-10" dirty="0">
                <a:latin typeface="Calibri" panose="020F0502020204030204"/>
                <a:cs typeface="Calibri" panose="020F0502020204030204"/>
              </a:rPr>
              <a:t>can </a:t>
            </a:r>
            <a:r>
              <a:rPr sz="2940" spc="-5" dirty="0">
                <a:latin typeface="Calibri" panose="020F0502020204030204"/>
                <a:cs typeface="Calibri" panose="020F0502020204030204"/>
              </a:rPr>
              <a:t>be </a:t>
            </a:r>
            <a:r>
              <a:rPr sz="2940" b="1" spc="-20" dirty="0">
                <a:latin typeface="Calibri" panose="020F0502020204030204"/>
                <a:cs typeface="Calibri" panose="020F0502020204030204"/>
              </a:rPr>
              <a:t>cast</a:t>
            </a:r>
            <a:r>
              <a:rPr sz="2940" spc="-20" dirty="0">
                <a:latin typeface="Calibri" panose="020F0502020204030204"/>
                <a:cs typeface="Calibri" panose="020F0502020204030204"/>
              </a:rPr>
              <a:t> to any </a:t>
            </a:r>
            <a:r>
              <a:rPr sz="2940" spc="-15" dirty="0">
                <a:latin typeface="Calibri" panose="020F0502020204030204"/>
                <a:cs typeface="Calibri" panose="020F0502020204030204"/>
              </a:rPr>
              <a:t>pointer </a:t>
            </a:r>
            <a:r>
              <a:rPr sz="2940" spc="-10" dirty="0">
                <a:latin typeface="Calibri" panose="020F0502020204030204"/>
                <a:cs typeface="Calibri" panose="020F0502020204030204"/>
              </a:rPr>
              <a:t>type </a:t>
            </a:r>
            <a:r>
              <a:rPr sz="2940" spc="-5" dirty="0">
                <a:latin typeface="Calibri" panose="020F0502020204030204"/>
                <a:cs typeface="Calibri" panose="020F0502020204030204"/>
              </a:rPr>
              <a:t>in</a:t>
            </a:r>
            <a:r>
              <a:rPr sz="2940" spc="185" dirty="0">
                <a:latin typeface="Calibri" panose="020F0502020204030204"/>
                <a:cs typeface="Calibri" panose="020F0502020204030204"/>
              </a:rPr>
              <a:t> </a:t>
            </a:r>
            <a:r>
              <a:rPr sz="2940" spc="-10" dirty="0">
                <a:latin typeface="Calibri" panose="020F0502020204030204"/>
                <a:cs typeface="Calibri" panose="020F0502020204030204"/>
              </a:rPr>
              <a:t>C.</a:t>
            </a:r>
            <a:endParaRPr sz="2940" dirty="0">
              <a:latin typeface="Calibri" panose="020F0502020204030204"/>
              <a:cs typeface="Calibri" panose="020F0502020204030204"/>
            </a:endParaRPr>
          </a:p>
          <a:p>
            <a:pPr>
              <a:lnSpc>
                <a:spcPct val="100000"/>
              </a:lnSpc>
              <a:spcBef>
                <a:spcPts val="10"/>
              </a:spcBef>
              <a:buFont typeface="Arial" panose="020B0604020202020204"/>
              <a:buChar char="•"/>
            </a:pPr>
            <a:endParaRPr sz="4355" dirty="0">
              <a:latin typeface="Calibri" panose="020F0502020204030204"/>
              <a:cs typeface="Calibri" panose="020F0502020204030204"/>
            </a:endParaRPr>
          </a:p>
          <a:p>
            <a:pPr marL="241300" marR="5080" indent="-228600">
              <a:lnSpc>
                <a:spcPts val="3020"/>
              </a:lnSpc>
              <a:spcBef>
                <a:spcPts val="5"/>
              </a:spcBef>
              <a:buFont typeface="Arial" panose="020B0604020202020204"/>
              <a:buChar char="•"/>
              <a:tabLst>
                <a:tab pos="241300" algn="l"/>
              </a:tabLst>
            </a:pPr>
            <a:r>
              <a:rPr sz="2940" spc="-5" dirty="0">
                <a:latin typeface="Calibri" panose="020F0502020204030204"/>
                <a:cs typeface="Calibri" panose="020F0502020204030204"/>
              </a:rPr>
              <a:t>So </a:t>
            </a:r>
            <a:r>
              <a:rPr sz="2940" spc="-10" dirty="0">
                <a:latin typeface="Calibri" panose="020F0502020204030204"/>
                <a:cs typeface="Calibri" panose="020F0502020204030204"/>
              </a:rPr>
              <a:t>args_p can </a:t>
            </a:r>
            <a:r>
              <a:rPr sz="2940" spc="-15" dirty="0">
                <a:latin typeface="Calibri" panose="020F0502020204030204"/>
                <a:cs typeface="Calibri" panose="020F0502020204030204"/>
              </a:rPr>
              <a:t>point </a:t>
            </a:r>
            <a:r>
              <a:rPr sz="2940" spc="-20" dirty="0">
                <a:latin typeface="Calibri" panose="020F0502020204030204"/>
                <a:cs typeface="Calibri" panose="020F0502020204030204"/>
              </a:rPr>
              <a:t>to </a:t>
            </a:r>
            <a:r>
              <a:rPr sz="2940" spc="-5" dirty="0">
                <a:latin typeface="Calibri" panose="020F0502020204030204"/>
                <a:cs typeface="Calibri" panose="020F0502020204030204"/>
              </a:rPr>
              <a:t>a </a:t>
            </a:r>
            <a:r>
              <a:rPr sz="2940" spc="-15" dirty="0">
                <a:latin typeface="Calibri" panose="020F0502020204030204"/>
                <a:cs typeface="Calibri" panose="020F0502020204030204"/>
              </a:rPr>
              <a:t>list containing </a:t>
            </a:r>
            <a:r>
              <a:rPr sz="2940" spc="-10" dirty="0">
                <a:latin typeface="Calibri" panose="020F0502020204030204"/>
                <a:cs typeface="Calibri" panose="020F0502020204030204"/>
              </a:rPr>
              <a:t>one </a:t>
            </a:r>
            <a:r>
              <a:rPr sz="2940" spc="-5" dirty="0">
                <a:latin typeface="Calibri" panose="020F0502020204030204"/>
                <a:cs typeface="Calibri" panose="020F0502020204030204"/>
              </a:rPr>
              <a:t>or </a:t>
            </a:r>
            <a:r>
              <a:rPr sz="2940" spc="-15" dirty="0">
                <a:latin typeface="Calibri" panose="020F0502020204030204"/>
                <a:cs typeface="Calibri" panose="020F0502020204030204"/>
              </a:rPr>
              <a:t>more  </a:t>
            </a:r>
            <a:r>
              <a:rPr sz="2940" spc="-10" dirty="0">
                <a:latin typeface="Calibri" panose="020F0502020204030204"/>
                <a:cs typeface="Calibri" panose="020F0502020204030204"/>
              </a:rPr>
              <a:t>values needed </a:t>
            </a:r>
            <a:r>
              <a:rPr sz="2940" spc="-15" dirty="0">
                <a:latin typeface="Calibri" panose="020F0502020204030204"/>
                <a:cs typeface="Calibri" panose="020F0502020204030204"/>
              </a:rPr>
              <a:t>by</a:t>
            </a:r>
            <a:r>
              <a:rPr sz="2940" spc="60" dirty="0">
                <a:latin typeface="Calibri" panose="020F0502020204030204"/>
                <a:cs typeface="Calibri" panose="020F0502020204030204"/>
              </a:rPr>
              <a:t> </a:t>
            </a:r>
            <a:r>
              <a:rPr sz="2940" spc="-10" dirty="0">
                <a:latin typeface="Calibri" panose="020F0502020204030204"/>
                <a:cs typeface="Calibri" panose="020F0502020204030204"/>
              </a:rPr>
              <a:t>thread_function.</a:t>
            </a:r>
            <a:endParaRPr sz="2940" dirty="0">
              <a:latin typeface="Calibri" panose="020F0502020204030204"/>
              <a:cs typeface="Calibri" panose="020F0502020204030204"/>
            </a:endParaRPr>
          </a:p>
          <a:p>
            <a:pPr>
              <a:lnSpc>
                <a:spcPct val="100000"/>
              </a:lnSpc>
              <a:spcBef>
                <a:spcPts val="30"/>
              </a:spcBef>
              <a:buFont typeface="Arial" panose="020B0604020202020204"/>
              <a:buChar char="•"/>
            </a:pPr>
            <a:endParaRPr sz="4305" dirty="0">
              <a:latin typeface="Calibri" panose="020F0502020204030204"/>
              <a:cs typeface="Calibri" panose="020F0502020204030204"/>
            </a:endParaRPr>
          </a:p>
          <a:p>
            <a:pPr marL="241300" marR="327660" indent="-228600">
              <a:lnSpc>
                <a:spcPts val="3020"/>
              </a:lnSpc>
              <a:buFont typeface="Arial" panose="020B0604020202020204"/>
              <a:buChar char="•"/>
              <a:tabLst>
                <a:tab pos="241300" algn="l"/>
              </a:tabLst>
            </a:pPr>
            <a:r>
              <a:rPr sz="2940" spc="-30" dirty="0">
                <a:latin typeface="Calibri" panose="020F0502020204030204"/>
                <a:cs typeface="Calibri" panose="020F0502020204030204"/>
              </a:rPr>
              <a:t>Similarly, </a:t>
            </a:r>
            <a:r>
              <a:rPr sz="2940" spc="-5" dirty="0">
                <a:latin typeface="Calibri" panose="020F0502020204030204"/>
                <a:cs typeface="Calibri" panose="020F0502020204030204"/>
              </a:rPr>
              <a:t>the </a:t>
            </a:r>
            <a:r>
              <a:rPr sz="2940" spc="-15" dirty="0">
                <a:latin typeface="Calibri" panose="020F0502020204030204"/>
                <a:cs typeface="Calibri" panose="020F0502020204030204"/>
              </a:rPr>
              <a:t>return </a:t>
            </a:r>
            <a:r>
              <a:rPr sz="2940" spc="-10" dirty="0">
                <a:latin typeface="Calibri" panose="020F0502020204030204"/>
                <a:cs typeface="Calibri" panose="020F0502020204030204"/>
              </a:rPr>
              <a:t>value </a:t>
            </a:r>
            <a:r>
              <a:rPr sz="2940" spc="-5" dirty="0">
                <a:latin typeface="Calibri" panose="020F0502020204030204"/>
                <a:cs typeface="Calibri" panose="020F0502020204030204"/>
              </a:rPr>
              <a:t>of </a:t>
            </a:r>
            <a:r>
              <a:rPr sz="2940" spc="-10" dirty="0">
                <a:latin typeface="Calibri" panose="020F0502020204030204"/>
                <a:cs typeface="Calibri" panose="020F0502020204030204"/>
              </a:rPr>
              <a:t>thread_function can  </a:t>
            </a:r>
            <a:r>
              <a:rPr sz="2940" spc="-15" dirty="0">
                <a:latin typeface="Calibri" panose="020F0502020204030204"/>
                <a:cs typeface="Calibri" panose="020F0502020204030204"/>
              </a:rPr>
              <a:t>point </a:t>
            </a:r>
            <a:r>
              <a:rPr sz="2940" spc="-20" dirty="0">
                <a:latin typeface="Calibri" panose="020F0502020204030204"/>
                <a:cs typeface="Calibri" panose="020F0502020204030204"/>
              </a:rPr>
              <a:t>to </a:t>
            </a:r>
            <a:r>
              <a:rPr sz="2940" spc="-5" dirty="0">
                <a:latin typeface="Calibri" panose="020F0502020204030204"/>
                <a:cs typeface="Calibri" panose="020F0502020204030204"/>
              </a:rPr>
              <a:t>a </a:t>
            </a:r>
            <a:r>
              <a:rPr sz="2940" spc="-20" dirty="0">
                <a:latin typeface="Calibri" panose="020F0502020204030204"/>
                <a:cs typeface="Calibri" panose="020F0502020204030204"/>
              </a:rPr>
              <a:t>list </a:t>
            </a:r>
            <a:r>
              <a:rPr sz="2940" spc="-5" dirty="0">
                <a:latin typeface="Calibri" panose="020F0502020204030204"/>
                <a:cs typeface="Calibri" panose="020F0502020204030204"/>
              </a:rPr>
              <a:t>of </a:t>
            </a:r>
            <a:r>
              <a:rPr sz="2940" spc="-10" dirty="0">
                <a:latin typeface="Calibri" panose="020F0502020204030204"/>
                <a:cs typeface="Calibri" panose="020F0502020204030204"/>
              </a:rPr>
              <a:t>one </a:t>
            </a:r>
            <a:r>
              <a:rPr sz="2940" dirty="0">
                <a:latin typeface="Calibri" panose="020F0502020204030204"/>
                <a:cs typeface="Calibri" panose="020F0502020204030204"/>
              </a:rPr>
              <a:t>or </a:t>
            </a:r>
            <a:r>
              <a:rPr sz="2940" spc="-15" dirty="0">
                <a:latin typeface="Calibri" panose="020F0502020204030204"/>
                <a:cs typeface="Calibri" panose="020F0502020204030204"/>
              </a:rPr>
              <a:t>more</a:t>
            </a:r>
            <a:r>
              <a:rPr sz="2940" spc="105" dirty="0">
                <a:latin typeface="Calibri" panose="020F0502020204030204"/>
                <a:cs typeface="Calibri" panose="020F0502020204030204"/>
              </a:rPr>
              <a:t> </a:t>
            </a:r>
            <a:r>
              <a:rPr sz="2940" spc="-10" dirty="0">
                <a:latin typeface="Calibri" panose="020F0502020204030204"/>
                <a:cs typeface="Calibri" panose="020F0502020204030204"/>
              </a:rPr>
              <a:t>values.</a:t>
            </a:r>
            <a:endParaRPr sz="2940" dirty="0">
              <a:latin typeface="Calibri" panose="020F0502020204030204"/>
              <a:cs typeface="Calibri" panose="020F0502020204030204"/>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Pointer to a function</a:t>
            </a:r>
          </a:p>
        </p:txBody>
      </p:sp>
      <p:sp>
        <p:nvSpPr>
          <p:cNvPr id="3" name="内容占位符 2"/>
          <p:cNvSpPr>
            <a:spLocks noGrp="1"/>
          </p:cNvSpPr>
          <p:nvPr>
            <p:ph idx="4294967295"/>
          </p:nvPr>
        </p:nvSpPr>
        <p:spPr>
          <a:xfrm>
            <a:off x="352425" y="1296670"/>
            <a:ext cx="6034405" cy="3308985"/>
          </a:xfrm>
        </p:spPr>
        <p:txBody>
          <a:bodyPr/>
          <a:lstStyle/>
          <a:p>
            <a:r>
              <a:rPr lang="en-US" sz="2000" b="0" dirty="0"/>
              <a:t>Unlike normal pointers, a function pointer points to code, not data. Typically a function pointer stores the start of executable code.</a:t>
            </a:r>
          </a:p>
          <a:p>
            <a:r>
              <a:rPr lang="en-US" sz="2000" b="0" dirty="0"/>
              <a:t>Not allocate de-allocate memory using function pointers.</a:t>
            </a:r>
          </a:p>
          <a:p>
            <a:r>
              <a:rPr lang="en-US" sz="2000" b="0" dirty="0"/>
              <a:t>A function’s name can also be used to get functions’ address. </a:t>
            </a:r>
          </a:p>
        </p:txBody>
      </p:sp>
      <p:sp>
        <p:nvSpPr>
          <p:cNvPr id="6" name="文本框 5"/>
          <p:cNvSpPr txBox="1"/>
          <p:nvPr/>
        </p:nvSpPr>
        <p:spPr>
          <a:xfrm>
            <a:off x="6930079" y="1308973"/>
            <a:ext cx="4039235" cy="5517515"/>
          </a:xfrm>
          <a:prstGeom prst="rect">
            <a:avLst/>
          </a:prstGeom>
          <a:noFill/>
        </p:spPr>
        <p:txBody>
          <a:bodyPr wrap="none" rtlCol="0">
            <a:spAutoFit/>
          </a:bodyPr>
          <a:lstStyle/>
          <a:p>
            <a:r>
              <a:rPr lang="en-US" sz="1680" dirty="0"/>
              <a:t>#include &lt;</a:t>
            </a:r>
            <a:r>
              <a:rPr lang="en-US" sz="1680" dirty="0" err="1"/>
              <a:t>stdio.h</a:t>
            </a:r>
            <a:r>
              <a:rPr lang="en-US" sz="1680" dirty="0"/>
              <a:t>&gt;</a:t>
            </a:r>
          </a:p>
          <a:p>
            <a:r>
              <a:rPr lang="en-US" sz="1680" dirty="0" err="1"/>
              <a:t>typedef</a:t>
            </a:r>
            <a:r>
              <a:rPr lang="en-US" sz="1680" dirty="0"/>
              <a:t> void (* proto_1)();</a:t>
            </a:r>
          </a:p>
          <a:p>
            <a:r>
              <a:rPr lang="en-US" sz="1680" dirty="0" err="1"/>
              <a:t>typedef</a:t>
            </a:r>
            <a:r>
              <a:rPr lang="en-US" sz="1680" dirty="0"/>
              <a:t> void proto_2();</a:t>
            </a:r>
          </a:p>
          <a:p>
            <a:r>
              <a:rPr lang="en-US" sz="1680" dirty="0"/>
              <a:t>void </a:t>
            </a:r>
            <a:r>
              <a:rPr lang="en-US" sz="1680" dirty="0" err="1"/>
              <a:t>my_function</a:t>
            </a:r>
            <a:r>
              <a:rPr lang="en-US" sz="1680" dirty="0"/>
              <a:t>(</a:t>
            </a:r>
            <a:r>
              <a:rPr lang="en-US" sz="1680" dirty="0" err="1"/>
              <a:t>int</a:t>
            </a:r>
            <a:r>
              <a:rPr lang="en-US" sz="1680" dirty="0"/>
              <a:t> j){</a:t>
            </a:r>
          </a:p>
          <a:p>
            <a:r>
              <a:rPr lang="en-US" sz="1680" dirty="0"/>
              <a:t>    </a:t>
            </a:r>
            <a:r>
              <a:rPr lang="en-US" sz="1680" dirty="0" err="1"/>
              <a:t>printf</a:t>
            </a:r>
            <a:r>
              <a:rPr lang="en-US" sz="1680" dirty="0"/>
              <a:t>("hello from function. I got %d.\</a:t>
            </a:r>
            <a:r>
              <a:rPr lang="en-US" sz="1680" dirty="0" err="1"/>
              <a:t>n",j</a:t>
            </a:r>
            <a:r>
              <a:rPr lang="en-US" sz="1680" dirty="0"/>
              <a:t>);</a:t>
            </a:r>
          </a:p>
          <a:p>
            <a:r>
              <a:rPr lang="en-US" sz="1680" dirty="0"/>
              <a:t>}</a:t>
            </a:r>
          </a:p>
          <a:p>
            <a:r>
              <a:rPr lang="en-US" sz="1680" dirty="0"/>
              <a:t>void call_arg_1(proto_1 </a:t>
            </a:r>
            <a:r>
              <a:rPr lang="en-US" sz="1680" dirty="0" err="1"/>
              <a:t>arg</a:t>
            </a:r>
            <a:r>
              <a:rPr lang="en-US" sz="1680" dirty="0"/>
              <a:t>){</a:t>
            </a:r>
          </a:p>
          <a:p>
            <a:r>
              <a:rPr lang="en-US" sz="1680" dirty="0"/>
              <a:t>    </a:t>
            </a:r>
            <a:r>
              <a:rPr lang="en-US" sz="1680" dirty="0" err="1"/>
              <a:t>arg</a:t>
            </a:r>
            <a:r>
              <a:rPr lang="en-US" sz="1680" dirty="0"/>
              <a:t>(5);</a:t>
            </a:r>
          </a:p>
          <a:p>
            <a:r>
              <a:rPr lang="en-US" sz="1680" dirty="0"/>
              <a:t>}</a:t>
            </a:r>
          </a:p>
          <a:p>
            <a:r>
              <a:rPr lang="en-US" sz="1680" dirty="0"/>
              <a:t>void call_arg_2(proto_2 </a:t>
            </a:r>
            <a:r>
              <a:rPr lang="en-US" sz="1680" dirty="0" err="1"/>
              <a:t>arg</a:t>
            </a:r>
            <a:r>
              <a:rPr lang="en-US" sz="1680" dirty="0"/>
              <a:t>){</a:t>
            </a:r>
          </a:p>
          <a:p>
            <a:r>
              <a:rPr lang="en-US" sz="1680" dirty="0"/>
              <a:t>    </a:t>
            </a:r>
            <a:r>
              <a:rPr lang="en-US" sz="1680" dirty="0" err="1"/>
              <a:t>arg</a:t>
            </a:r>
            <a:r>
              <a:rPr lang="en-US" sz="1680" dirty="0"/>
              <a:t>(5);</a:t>
            </a:r>
          </a:p>
          <a:p>
            <a:r>
              <a:rPr lang="en-US" sz="1680" dirty="0"/>
              <a:t>}</a:t>
            </a:r>
          </a:p>
          <a:p>
            <a:r>
              <a:rPr lang="en-US" sz="1680" dirty="0"/>
              <a:t>void main(){</a:t>
            </a:r>
          </a:p>
          <a:p>
            <a:r>
              <a:rPr lang="en-US" sz="1680" dirty="0"/>
              <a:t>    call_arg_1(&amp;</a:t>
            </a:r>
            <a:r>
              <a:rPr lang="en-US" sz="1680" dirty="0" err="1"/>
              <a:t>my_function</a:t>
            </a:r>
            <a:r>
              <a:rPr lang="en-US" sz="1680" dirty="0"/>
              <a:t>);</a:t>
            </a:r>
          </a:p>
          <a:p>
            <a:r>
              <a:rPr lang="en-US" sz="1680" dirty="0"/>
              <a:t>    call_arg_1(</a:t>
            </a:r>
            <a:r>
              <a:rPr lang="en-US" sz="1680" dirty="0" err="1"/>
              <a:t>my_function</a:t>
            </a:r>
            <a:r>
              <a:rPr lang="en-US" sz="1680" dirty="0"/>
              <a:t>);</a:t>
            </a:r>
          </a:p>
          <a:p>
            <a:r>
              <a:rPr lang="en-US" sz="1680" dirty="0"/>
              <a:t>    call_arg_2(&amp;</a:t>
            </a:r>
            <a:r>
              <a:rPr lang="en-US" sz="1680" dirty="0" err="1"/>
              <a:t>my_function</a:t>
            </a:r>
            <a:r>
              <a:rPr lang="en-US" sz="1680" dirty="0"/>
              <a:t>);</a:t>
            </a:r>
          </a:p>
          <a:p>
            <a:r>
              <a:rPr lang="en-US" sz="1680" dirty="0"/>
              <a:t>    call_arg_2(</a:t>
            </a:r>
            <a:r>
              <a:rPr lang="en-US" sz="1680" dirty="0" err="1"/>
              <a:t>my_function</a:t>
            </a:r>
            <a:r>
              <a:rPr lang="en-US" sz="1680" dirty="0"/>
              <a:t>);</a:t>
            </a:r>
          </a:p>
          <a:p>
            <a:r>
              <a:rPr lang="en-US" sz="1680" dirty="0"/>
              <a:t>    </a:t>
            </a:r>
            <a:r>
              <a:rPr lang="en-US" sz="1680" dirty="0" err="1"/>
              <a:t>printf</a:t>
            </a:r>
            <a:r>
              <a:rPr lang="en-US" sz="1680" dirty="0"/>
              <a:t>("%d\n", </a:t>
            </a:r>
            <a:r>
              <a:rPr lang="en-US" sz="1680" dirty="0" err="1"/>
              <a:t>my_function</a:t>
            </a:r>
            <a:r>
              <a:rPr lang="en-US" sz="1680" dirty="0"/>
              <a:t>);</a:t>
            </a:r>
          </a:p>
          <a:p>
            <a:r>
              <a:rPr lang="en-US" sz="1680" dirty="0"/>
              <a:t>    </a:t>
            </a:r>
            <a:r>
              <a:rPr lang="en-US" sz="1680" dirty="0" err="1"/>
              <a:t>printf</a:t>
            </a:r>
            <a:r>
              <a:rPr lang="en-US" sz="1680" dirty="0"/>
              <a:t>("%d\n", *</a:t>
            </a:r>
            <a:r>
              <a:rPr lang="en-US" sz="1680" dirty="0" err="1"/>
              <a:t>my_function</a:t>
            </a:r>
            <a:r>
              <a:rPr lang="en-US" sz="1680" dirty="0"/>
              <a:t>);</a:t>
            </a:r>
          </a:p>
          <a:p>
            <a:r>
              <a:rPr lang="en-US" sz="1680" dirty="0"/>
              <a:t>    </a:t>
            </a:r>
            <a:r>
              <a:rPr lang="en-US" sz="1680" dirty="0" err="1"/>
              <a:t>printf</a:t>
            </a:r>
            <a:r>
              <a:rPr lang="en-US" sz="1680" dirty="0"/>
              <a:t>("%d\n", &amp;</a:t>
            </a:r>
            <a:r>
              <a:rPr lang="en-US" sz="1680" dirty="0" err="1"/>
              <a:t>my_function</a:t>
            </a:r>
            <a:r>
              <a:rPr lang="en-US" sz="1680" dirty="0"/>
              <a:t>);</a:t>
            </a:r>
          </a:p>
          <a:p>
            <a:r>
              <a:rPr lang="en-US" sz="1680" dirty="0"/>
              <a:t>}</a:t>
            </a:r>
          </a:p>
        </p:txBody>
      </p:sp>
      <p:sp>
        <p:nvSpPr>
          <p:cNvPr id="7" name="文本框 6"/>
          <p:cNvSpPr txBox="1"/>
          <p:nvPr/>
        </p:nvSpPr>
        <p:spPr>
          <a:xfrm>
            <a:off x="1576070" y="4032885"/>
            <a:ext cx="3436620" cy="2578100"/>
          </a:xfrm>
          <a:prstGeom prst="rect">
            <a:avLst/>
          </a:prstGeom>
          <a:noFill/>
        </p:spPr>
        <p:txBody>
          <a:bodyPr wrap="square" rtlCol="0">
            <a:spAutoFit/>
          </a:bodyPr>
          <a:lstStyle/>
          <a:p>
            <a:r>
              <a:rPr lang="en-US" sz="2310" i="1" dirty="0"/>
              <a:t>hello from function. I got 5.   </a:t>
            </a:r>
          </a:p>
          <a:p>
            <a:r>
              <a:rPr lang="en-US" sz="2310" i="1" dirty="0"/>
              <a:t>hello from function. I got 5.   </a:t>
            </a:r>
          </a:p>
          <a:p>
            <a:r>
              <a:rPr lang="en-US" sz="2310" i="1" dirty="0"/>
              <a:t>hello from function. I got 5.            </a:t>
            </a:r>
          </a:p>
          <a:p>
            <a:r>
              <a:rPr lang="en-US" sz="2310" i="1" dirty="0"/>
              <a:t>hello from function. I got 5.  </a:t>
            </a:r>
          </a:p>
          <a:p>
            <a:r>
              <a:rPr lang="en-US" sz="2310" i="1" dirty="0"/>
              <a:t>-1067448758    </a:t>
            </a:r>
          </a:p>
          <a:p>
            <a:r>
              <a:rPr lang="en-US" sz="2310" i="1" dirty="0"/>
              <a:t>-1067448758     </a:t>
            </a:r>
          </a:p>
          <a:p>
            <a:r>
              <a:rPr lang="en-US" sz="2310" i="1" dirty="0"/>
              <a:t>-1067448758 </a:t>
            </a:r>
          </a:p>
        </p:txBody>
      </p:sp>
      <p:cxnSp>
        <p:nvCxnSpPr>
          <p:cNvPr id="11" name="曲线连接符 10"/>
          <p:cNvCxnSpPr>
            <a:endCxn id="7" idx="3"/>
          </p:cNvCxnSpPr>
          <p:nvPr/>
        </p:nvCxnSpPr>
        <p:spPr>
          <a:xfrm rot="10800000" flipV="1">
            <a:off x="5012577" y="5055913"/>
            <a:ext cx="1769884" cy="26585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Running </a:t>
            </a:r>
            <a:r>
              <a:rPr sz="4620" dirty="0"/>
              <a:t>the</a:t>
            </a:r>
            <a:r>
              <a:rPr sz="4620" spc="-50" dirty="0"/>
              <a:t> </a:t>
            </a:r>
            <a:r>
              <a:rPr sz="4620" spc="-15" dirty="0"/>
              <a:t>Threads</a:t>
            </a:r>
            <a:endParaRPr sz="4620" dirty="0"/>
          </a:p>
        </p:txBody>
      </p:sp>
      <p:sp>
        <p:nvSpPr>
          <p:cNvPr id="3" name="object 3"/>
          <p:cNvSpPr txBox="1"/>
          <p:nvPr/>
        </p:nvSpPr>
        <p:spPr>
          <a:xfrm>
            <a:off x="3602184" y="5042364"/>
            <a:ext cx="6187440" cy="463550"/>
          </a:xfrm>
          <a:prstGeom prst="rect">
            <a:avLst/>
          </a:prstGeom>
        </p:spPr>
        <p:txBody>
          <a:bodyPr vert="horz" wrap="square" lIns="0" tIns="12668" rIns="0" bIns="0" rtlCol="0">
            <a:spAutoFit/>
          </a:bodyPr>
          <a:lstStyle/>
          <a:p>
            <a:pPr marL="12700">
              <a:lnSpc>
                <a:spcPct val="100000"/>
              </a:lnSpc>
              <a:spcBef>
                <a:spcPts val="95"/>
              </a:spcBef>
            </a:pPr>
            <a:r>
              <a:rPr sz="2940" spc="-5" dirty="0">
                <a:latin typeface="Calibri" panose="020F0502020204030204"/>
                <a:cs typeface="Calibri" panose="020F0502020204030204"/>
              </a:rPr>
              <a:t>Main </a:t>
            </a:r>
            <a:r>
              <a:rPr sz="2940" spc="-10" dirty="0">
                <a:latin typeface="Calibri" panose="020F0502020204030204"/>
                <a:cs typeface="Calibri" panose="020F0502020204030204"/>
              </a:rPr>
              <a:t>thread </a:t>
            </a:r>
            <a:r>
              <a:rPr sz="2940" spc="-25" dirty="0">
                <a:solidFill>
                  <a:srgbClr val="FF0000"/>
                </a:solidFill>
                <a:latin typeface="Calibri" panose="020F0502020204030204"/>
                <a:cs typeface="Calibri" panose="020F0502020204030204"/>
              </a:rPr>
              <a:t>forks </a:t>
            </a:r>
            <a:r>
              <a:rPr sz="2940" spc="-5" dirty="0">
                <a:latin typeface="Calibri" panose="020F0502020204030204"/>
                <a:cs typeface="Calibri" panose="020F0502020204030204"/>
              </a:rPr>
              <a:t>and </a:t>
            </a:r>
            <a:r>
              <a:rPr sz="2940" spc="-10" dirty="0">
                <a:solidFill>
                  <a:srgbClr val="FF0000"/>
                </a:solidFill>
                <a:latin typeface="Calibri" panose="020F0502020204030204"/>
                <a:cs typeface="Calibri" panose="020F0502020204030204"/>
              </a:rPr>
              <a:t>joins </a:t>
            </a:r>
            <a:r>
              <a:rPr sz="2940" spc="-10" dirty="0">
                <a:latin typeface="Calibri" panose="020F0502020204030204"/>
                <a:cs typeface="Calibri" panose="020F0502020204030204"/>
              </a:rPr>
              <a:t>two</a:t>
            </a:r>
            <a:r>
              <a:rPr sz="2940" spc="110" dirty="0">
                <a:latin typeface="Calibri" panose="020F0502020204030204"/>
                <a:cs typeface="Calibri" panose="020F0502020204030204"/>
              </a:rPr>
              <a:t> </a:t>
            </a:r>
            <a:r>
              <a:rPr sz="2940" spc="-10" dirty="0">
                <a:latin typeface="Calibri" panose="020F0502020204030204"/>
                <a:cs typeface="Calibri" panose="020F0502020204030204"/>
              </a:rPr>
              <a:t>threads.</a:t>
            </a:r>
            <a:endParaRPr sz="2940">
              <a:latin typeface="Calibri" panose="020F0502020204030204"/>
              <a:cs typeface="Calibri" panose="020F0502020204030204"/>
            </a:endParaRPr>
          </a:p>
        </p:txBody>
      </p:sp>
      <p:sp>
        <p:nvSpPr>
          <p:cNvPr id="4" name="object 4"/>
          <p:cNvSpPr/>
          <p:nvPr/>
        </p:nvSpPr>
        <p:spPr>
          <a:xfrm>
            <a:off x="2724719" y="2363599"/>
            <a:ext cx="7685501" cy="1983198"/>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0" dirty="0"/>
              <a:t>Stopping </a:t>
            </a:r>
            <a:r>
              <a:rPr sz="4620" dirty="0"/>
              <a:t>the</a:t>
            </a:r>
            <a:r>
              <a:rPr sz="4620" spc="-35" dirty="0"/>
              <a:t> </a:t>
            </a:r>
            <a:r>
              <a:rPr sz="4620" spc="-15" dirty="0"/>
              <a:t>Threads</a:t>
            </a:r>
            <a:r>
              <a:rPr lang="en-US" sz="4620" spc="-15" dirty="0"/>
              <a:t> </a:t>
            </a:r>
            <a:endParaRPr sz="4620" dirty="0"/>
          </a:p>
        </p:txBody>
      </p:sp>
      <p:sp>
        <p:nvSpPr>
          <p:cNvPr id="3" name="object 3"/>
          <p:cNvSpPr txBox="1"/>
          <p:nvPr/>
        </p:nvSpPr>
        <p:spPr>
          <a:xfrm>
            <a:off x="641350" y="1334564"/>
            <a:ext cx="11376074" cy="5806845"/>
          </a:xfrm>
          <a:prstGeom prst="rect">
            <a:avLst/>
          </a:prstGeom>
        </p:spPr>
        <p:txBody>
          <a:bodyPr vert="horz" wrap="square" lIns="0" tIns="64007" rIns="0" bIns="0" rtlCol="0">
            <a:spAutoFit/>
          </a:bodyPr>
          <a:lstStyle/>
          <a:p>
            <a:pPr marL="241300" marR="509270" indent="-228600">
              <a:lnSpc>
                <a:spcPts val="3020"/>
              </a:lnSpc>
              <a:spcBef>
                <a:spcPts val="1200"/>
              </a:spcBef>
              <a:buFont typeface="Arial" panose="020B0604020202020204"/>
              <a:buChar char="•"/>
              <a:tabLst>
                <a:tab pos="241300" algn="l"/>
              </a:tabLst>
            </a:pPr>
            <a:r>
              <a:rPr sz="2940" spc="-65" dirty="0">
                <a:latin typeface="Comic Sans MS" panose="030F0702030302020204" pitchFamily="66" charset="0"/>
                <a:cs typeface="Calibri" panose="020F0502020204030204"/>
              </a:rPr>
              <a:t>We </a:t>
            </a:r>
            <a:r>
              <a:rPr sz="2940" spc="-10" dirty="0">
                <a:latin typeface="Comic Sans MS" panose="030F0702030302020204" pitchFamily="66" charset="0"/>
                <a:cs typeface="Calibri" panose="020F0502020204030204"/>
              </a:rPr>
              <a:t>call </a:t>
            </a:r>
            <a:r>
              <a:rPr sz="2940" spc="-5" dirty="0">
                <a:latin typeface="Comic Sans MS" panose="030F0702030302020204" pitchFamily="66" charset="0"/>
                <a:cs typeface="Calibri" panose="020F0502020204030204"/>
              </a:rPr>
              <a:t>the function </a:t>
            </a:r>
            <a:r>
              <a:rPr sz="2940" spc="-10" dirty="0">
                <a:solidFill>
                  <a:srgbClr val="FF0000"/>
                </a:solidFill>
                <a:latin typeface="Comic Sans MS" panose="030F0702030302020204" pitchFamily="66" charset="0"/>
                <a:cs typeface="Calibri" panose="020F0502020204030204"/>
              </a:rPr>
              <a:t>pthread_join </a:t>
            </a:r>
            <a:r>
              <a:rPr sz="2940" spc="-10" dirty="0">
                <a:latin typeface="Comic Sans MS" panose="030F0702030302020204" pitchFamily="66" charset="0"/>
                <a:cs typeface="Calibri" panose="020F0502020204030204"/>
              </a:rPr>
              <a:t>once </a:t>
            </a:r>
            <a:r>
              <a:rPr sz="2940" spc="-25" dirty="0">
                <a:latin typeface="Comic Sans MS" panose="030F0702030302020204" pitchFamily="66" charset="0"/>
                <a:cs typeface="Calibri" panose="020F0502020204030204"/>
              </a:rPr>
              <a:t>for </a:t>
            </a:r>
            <a:r>
              <a:rPr sz="2940" spc="-5" dirty="0">
                <a:latin typeface="Comic Sans MS" panose="030F0702030302020204" pitchFamily="66" charset="0"/>
                <a:cs typeface="Calibri" panose="020F0502020204030204"/>
              </a:rPr>
              <a:t>each  </a:t>
            </a:r>
            <a:r>
              <a:rPr sz="2940" spc="-10" dirty="0">
                <a:latin typeface="Comic Sans MS" panose="030F0702030302020204" pitchFamily="66" charset="0"/>
                <a:cs typeface="Calibri" panose="020F0502020204030204"/>
              </a:rPr>
              <a:t>thread.</a:t>
            </a:r>
            <a:endParaRPr sz="2940" dirty="0">
              <a:latin typeface="Comic Sans MS" panose="030F0702030302020204" pitchFamily="66" charset="0"/>
              <a:cs typeface="Calibri" panose="020F0502020204030204"/>
            </a:endParaRPr>
          </a:p>
          <a:p>
            <a:pPr marL="241300" marR="5080" indent="-228600">
              <a:lnSpc>
                <a:spcPts val="3020"/>
              </a:lnSpc>
              <a:spcBef>
                <a:spcPts val="120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single call </a:t>
            </a:r>
            <a:r>
              <a:rPr sz="2940" spc="-15" dirty="0">
                <a:latin typeface="Comic Sans MS" panose="030F0702030302020204" pitchFamily="66" charset="0"/>
                <a:cs typeface="Calibri" panose="020F0502020204030204"/>
              </a:rPr>
              <a:t>to </a:t>
            </a:r>
            <a:r>
              <a:rPr sz="2940" spc="-10" dirty="0">
                <a:solidFill>
                  <a:srgbClr val="0066FF"/>
                </a:solidFill>
                <a:latin typeface="Comic Sans MS" panose="030F0702030302020204" pitchFamily="66" charset="0"/>
                <a:cs typeface="Calibri" panose="020F0502020204030204"/>
              </a:rPr>
              <a:t>pthread_join </a:t>
            </a:r>
            <a:r>
              <a:rPr sz="2940" spc="-5" dirty="0">
                <a:latin typeface="Comic Sans MS" panose="030F0702030302020204" pitchFamily="66" charset="0"/>
                <a:cs typeface="Calibri" panose="020F0502020204030204"/>
              </a:rPr>
              <a:t>will </a:t>
            </a:r>
            <a:r>
              <a:rPr sz="2940" spc="-15" dirty="0">
                <a:latin typeface="Comic Sans MS" panose="030F0702030302020204" pitchFamily="66" charset="0"/>
                <a:cs typeface="Calibri" panose="020F0502020204030204"/>
              </a:rPr>
              <a:t>wait </a:t>
            </a:r>
            <a:r>
              <a:rPr sz="2940" spc="-25" dirty="0">
                <a:latin typeface="Comic Sans MS" panose="030F0702030302020204" pitchFamily="66" charset="0"/>
                <a:cs typeface="Calibri" panose="020F0502020204030204"/>
              </a:rPr>
              <a:t>for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thread  associated </a:t>
            </a:r>
            <a:r>
              <a:rPr sz="2940" spc="-5" dirty="0">
                <a:latin typeface="Comic Sans MS" panose="030F0702030302020204" pitchFamily="66" charset="0"/>
                <a:cs typeface="Calibri" panose="020F0502020204030204"/>
              </a:rPr>
              <a:t>with the </a:t>
            </a:r>
            <a:r>
              <a:rPr sz="2940" spc="-10" dirty="0">
                <a:solidFill>
                  <a:srgbClr val="0066FF"/>
                </a:solidFill>
                <a:latin typeface="Comic Sans MS" panose="030F0702030302020204" pitchFamily="66" charset="0"/>
                <a:cs typeface="Calibri" panose="020F0502020204030204"/>
              </a:rPr>
              <a:t>pthread_t </a:t>
            </a:r>
            <a:r>
              <a:rPr sz="2940" spc="-5" dirty="0">
                <a:latin typeface="Comic Sans MS" panose="030F0702030302020204" pitchFamily="66" charset="0"/>
                <a:cs typeface="Calibri" panose="020F0502020204030204"/>
              </a:rPr>
              <a:t>object </a:t>
            </a:r>
            <a:r>
              <a:rPr sz="2940" spc="-20" dirty="0">
                <a:latin typeface="Comic Sans MS" panose="030F0702030302020204" pitchFamily="66" charset="0"/>
                <a:cs typeface="Calibri" panose="020F0502020204030204"/>
              </a:rPr>
              <a:t>to</a:t>
            </a:r>
            <a:r>
              <a:rPr sz="2940" spc="90"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complete.</a:t>
            </a:r>
            <a:endParaRPr lang="en-US" sz="2940" spc="-15" dirty="0">
              <a:latin typeface="Comic Sans MS" panose="030F0702030302020204" pitchFamily="66" charset="0"/>
              <a:cs typeface="Calibri" panose="020F0502020204030204"/>
            </a:endParaRPr>
          </a:p>
          <a:p>
            <a:pPr marL="241300" marR="5080" indent="-228600">
              <a:lnSpc>
                <a:spcPts val="3020"/>
              </a:lnSpc>
              <a:spcBef>
                <a:spcPts val="1200"/>
              </a:spcBef>
              <a:buFont typeface="Arial" panose="020B0604020202020204"/>
              <a:buChar char="•"/>
              <a:tabLst>
                <a:tab pos="241300" algn="l"/>
              </a:tabLst>
            </a:pPr>
            <a:r>
              <a:rPr lang="en-US" sz="2940" dirty="0">
                <a:latin typeface="Comic Sans MS" panose="030F0702030302020204" pitchFamily="66" charset="0"/>
                <a:cs typeface="Calibri" panose="020F0502020204030204"/>
              </a:rPr>
              <a:t>If that thread has already terminated, then   </a:t>
            </a:r>
            <a:r>
              <a:rPr lang="en-US" sz="2940" dirty="0" err="1">
                <a:latin typeface="Comic Sans MS" panose="030F0702030302020204" pitchFamily="66" charset="0"/>
                <a:cs typeface="Calibri" panose="020F0502020204030204"/>
              </a:rPr>
              <a:t>pthread_join</a:t>
            </a:r>
            <a:r>
              <a:rPr lang="en-US" sz="2940" dirty="0">
                <a:latin typeface="Comic Sans MS" panose="030F0702030302020204" pitchFamily="66" charset="0"/>
                <a:cs typeface="Calibri" panose="020F0502020204030204"/>
              </a:rPr>
              <a:t>() returns immediately. </a:t>
            </a:r>
          </a:p>
          <a:p>
            <a:pPr marL="241300" marR="5080" indent="-228600">
              <a:lnSpc>
                <a:spcPts val="3020"/>
              </a:lnSpc>
              <a:spcBef>
                <a:spcPts val="1200"/>
              </a:spcBef>
              <a:buFont typeface="Arial" panose="020B0604020202020204"/>
              <a:buChar char="•"/>
              <a:tabLst>
                <a:tab pos="241300" algn="l"/>
              </a:tabLst>
            </a:pPr>
            <a:endParaRPr lang="en-US" sz="2940" dirty="0">
              <a:latin typeface="Comic Sans MS" panose="030F0702030302020204" pitchFamily="66" charset="0"/>
              <a:cs typeface="Calibri" panose="020F0502020204030204"/>
            </a:endParaRPr>
          </a:p>
          <a:p>
            <a:pPr marL="241300" marR="5080" indent="-228600">
              <a:lnSpc>
                <a:spcPts val="3020"/>
              </a:lnSpc>
              <a:spcBef>
                <a:spcPts val="1200"/>
              </a:spcBef>
              <a:buFont typeface="Arial" panose="020B0604020202020204"/>
              <a:buChar char="•"/>
              <a:tabLst>
                <a:tab pos="241300" algn="l"/>
              </a:tabLst>
            </a:pPr>
            <a:r>
              <a:rPr lang="en-US" sz="2940" dirty="0">
                <a:latin typeface="Comic Sans MS" panose="030F0702030302020204" pitchFamily="66" charset="0"/>
                <a:cs typeface="Calibri" panose="020F0502020204030204"/>
              </a:rPr>
              <a:t> int </a:t>
            </a:r>
            <a:r>
              <a:rPr lang="en-US" sz="2940" dirty="0" err="1">
                <a:latin typeface="Comic Sans MS" panose="030F0702030302020204" pitchFamily="66" charset="0"/>
                <a:cs typeface="Calibri" panose="020F0502020204030204"/>
              </a:rPr>
              <a:t>pthread_join</a:t>
            </a:r>
            <a:r>
              <a:rPr lang="zh-CN" altLang="en-US" sz="2940" dirty="0">
                <a:latin typeface="Comic Sans MS" panose="030F0702030302020204" pitchFamily="66" charset="0"/>
                <a:cs typeface="Calibri" panose="020F0502020204030204"/>
              </a:rPr>
              <a:t> </a:t>
            </a:r>
            <a:r>
              <a:rPr lang="en-US" sz="2940" dirty="0">
                <a:latin typeface="Comic Sans MS" panose="030F0702030302020204" pitchFamily="66" charset="0"/>
                <a:cs typeface="Calibri" panose="020F0502020204030204"/>
              </a:rPr>
              <a:t>(</a:t>
            </a:r>
            <a:r>
              <a:rPr lang="en-US" sz="2940" dirty="0" err="1">
                <a:latin typeface="Comic Sans MS" panose="030F0702030302020204" pitchFamily="66" charset="0"/>
                <a:cs typeface="Calibri" panose="020F0502020204030204"/>
              </a:rPr>
              <a:t>pthread_t</a:t>
            </a:r>
            <a:r>
              <a:rPr lang="en-US" sz="2940" dirty="0">
                <a:latin typeface="Comic Sans MS" panose="030F0702030302020204" pitchFamily="66" charset="0"/>
                <a:cs typeface="Calibri" panose="020F0502020204030204"/>
              </a:rPr>
              <a:t> thread, void **</a:t>
            </a:r>
            <a:r>
              <a:rPr lang="en-US" sz="2940" dirty="0" err="1">
                <a:latin typeface="Comic Sans MS" panose="030F0702030302020204" pitchFamily="66" charset="0"/>
                <a:cs typeface="Calibri" panose="020F0502020204030204"/>
              </a:rPr>
              <a:t>retval</a:t>
            </a:r>
            <a:r>
              <a:rPr lang="en-US" sz="2940" dirty="0">
                <a:latin typeface="Comic Sans MS" panose="030F0702030302020204" pitchFamily="66" charset="0"/>
                <a:cs typeface="Calibri" panose="020F0502020204030204"/>
              </a:rPr>
              <a:t>);</a:t>
            </a:r>
          </a:p>
          <a:p>
            <a:pPr marL="241300" marR="5080" indent="-228600">
              <a:lnSpc>
                <a:spcPts val="3020"/>
              </a:lnSpc>
              <a:spcBef>
                <a:spcPts val="1200"/>
              </a:spcBef>
              <a:buFont typeface="Arial" panose="020B0604020202020204"/>
              <a:buChar char="•"/>
              <a:tabLst>
                <a:tab pos="241300" algn="l"/>
              </a:tabLst>
            </a:pPr>
            <a:r>
              <a:rPr lang="en-US" sz="2940" dirty="0">
                <a:latin typeface="Comic Sans MS" panose="030F0702030302020204" pitchFamily="66" charset="0"/>
                <a:cs typeface="Calibri" panose="020F0502020204030204"/>
              </a:rPr>
              <a:t> If </a:t>
            </a:r>
            <a:r>
              <a:rPr lang="en-US" sz="2940" dirty="0" err="1">
                <a:solidFill>
                  <a:srgbClr val="FF0000"/>
                </a:solidFill>
                <a:latin typeface="Comic Sans MS" panose="030F0702030302020204" pitchFamily="66" charset="0"/>
                <a:cs typeface="Calibri" panose="020F0502020204030204"/>
              </a:rPr>
              <a:t>retval</a:t>
            </a:r>
            <a:r>
              <a:rPr lang="en-US" sz="2940" dirty="0">
                <a:latin typeface="Comic Sans MS" panose="030F0702030302020204" pitchFamily="66" charset="0"/>
                <a:cs typeface="Calibri" panose="020F0502020204030204"/>
              </a:rPr>
              <a:t> is not NULL, then </a:t>
            </a:r>
            <a:r>
              <a:rPr lang="en-US" sz="2940" dirty="0" err="1">
                <a:latin typeface="Comic Sans MS" panose="030F0702030302020204" pitchFamily="66" charset="0"/>
                <a:cs typeface="Calibri" panose="020F0502020204030204"/>
              </a:rPr>
              <a:t>pthread_join</a:t>
            </a:r>
            <a:r>
              <a:rPr lang="en-US" sz="2940" dirty="0">
                <a:latin typeface="Comic Sans MS" panose="030F0702030302020204" pitchFamily="66" charset="0"/>
                <a:cs typeface="Calibri" panose="020F0502020204030204"/>
              </a:rPr>
              <a:t>() copies the exit status of the target thread (i.e., the value that the target thread supplied to </a:t>
            </a:r>
            <a:r>
              <a:rPr lang="en-US" sz="2940" dirty="0" err="1">
                <a:latin typeface="Comic Sans MS" panose="030F0702030302020204" pitchFamily="66" charset="0"/>
                <a:cs typeface="Calibri" panose="020F0502020204030204"/>
              </a:rPr>
              <a:t>pthread_exit</a:t>
            </a:r>
            <a:r>
              <a:rPr lang="en-US" sz="2940" dirty="0">
                <a:latin typeface="Comic Sans MS" panose="030F0702030302020204" pitchFamily="66" charset="0"/>
                <a:cs typeface="Calibri" panose="020F0502020204030204"/>
              </a:rPr>
              <a:t>(3)) into the location pointed to by </a:t>
            </a:r>
            <a:r>
              <a:rPr lang="en-US" sz="2940" dirty="0" err="1">
                <a:solidFill>
                  <a:srgbClr val="FF0000"/>
                </a:solidFill>
                <a:latin typeface="Comic Sans MS" panose="030F0702030302020204" pitchFamily="66" charset="0"/>
                <a:cs typeface="Calibri" panose="020F0502020204030204"/>
              </a:rPr>
              <a:t>retval</a:t>
            </a:r>
            <a:r>
              <a:rPr lang="en-US" sz="2940" dirty="0">
                <a:latin typeface="Comic Sans MS" panose="030F0702030302020204" pitchFamily="66" charset="0"/>
                <a:cs typeface="Calibri" panose="020F0502020204030204"/>
              </a:rPr>
              <a:t>. </a:t>
            </a:r>
          </a:p>
          <a:p>
            <a:pPr marL="241300" marR="5080" indent="-228600">
              <a:lnSpc>
                <a:spcPts val="3020"/>
              </a:lnSpc>
              <a:spcBef>
                <a:spcPts val="5"/>
              </a:spcBef>
              <a:buFont typeface="Arial" panose="020B0604020202020204"/>
              <a:buChar char="•"/>
              <a:tabLst>
                <a:tab pos="241300" algn="l"/>
              </a:tabLst>
            </a:pPr>
            <a:r>
              <a:rPr lang="en-US" sz="2100" dirty="0">
                <a:latin typeface="Comic Sans MS" panose="030F0702030302020204" pitchFamily="66" charset="0"/>
                <a:cs typeface="Calibri" panose="020F0502020204030204"/>
                <a:hlinkClick r:id="rId2"/>
              </a:rPr>
              <a:t>https://man7.org/linux/man-pages/man3/pthread_join.3.html</a:t>
            </a:r>
            <a:endParaRPr lang="en-US" sz="2100" dirty="0">
              <a:latin typeface="Comic Sans MS" panose="030F0702030302020204" pitchFamily="66" charset="0"/>
              <a:cs typeface="Calibri" panose="020F0502020204030204"/>
            </a:endParaRPr>
          </a:p>
          <a:p>
            <a:pPr marL="241300" marR="5080" indent="-228600">
              <a:lnSpc>
                <a:spcPts val="3020"/>
              </a:lnSpc>
              <a:spcBef>
                <a:spcPts val="5"/>
              </a:spcBef>
              <a:buFont typeface="Arial" panose="020B0604020202020204"/>
              <a:buChar char="•"/>
              <a:tabLst>
                <a:tab pos="241300" algn="l"/>
              </a:tabLst>
            </a:pPr>
            <a:endParaRPr sz="2100" dirty="0">
              <a:latin typeface="Comic Sans MS" panose="030F0702030302020204" pitchFamily="66" charset="0"/>
              <a:cs typeface="Calibri" panose="020F0502020204030204"/>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872521" y="1080179"/>
            <a:ext cx="7793058" cy="2888072"/>
          </a:xfrm>
          <a:prstGeom prst="rect">
            <a:avLst/>
          </a:prstGeom>
          <a:blipFill>
            <a:blip r:embed="rId2" cstate="print"/>
            <a:stretch>
              <a:fillRect/>
            </a:stretch>
          </a:blipFill>
        </p:spPr>
        <p:txBody>
          <a:bodyPr wrap="square" lIns="0" tIns="0" rIns="0" bIns="0" rtlCol="0"/>
          <a:lstStyle/>
          <a:p>
            <a:endParaRPr sz="2310"/>
          </a:p>
        </p:txBody>
      </p:sp>
      <p:sp>
        <p:nvSpPr>
          <p:cNvPr id="3" name="object 3"/>
          <p:cNvSpPr/>
          <p:nvPr/>
        </p:nvSpPr>
        <p:spPr>
          <a:xfrm>
            <a:off x="2241879" y="3523639"/>
            <a:ext cx="8166354" cy="1134809"/>
          </a:xfrm>
          <a:custGeom>
            <a:avLst/>
            <a:gdLst/>
            <a:ahLst/>
            <a:cxnLst/>
            <a:rect l="l" t="t" r="r" b="b"/>
            <a:pathLst>
              <a:path w="7777480" h="1080770">
                <a:moveTo>
                  <a:pt x="7776972" y="0"/>
                </a:moveTo>
                <a:lnTo>
                  <a:pt x="0" y="0"/>
                </a:lnTo>
                <a:lnTo>
                  <a:pt x="0" y="1080515"/>
                </a:lnTo>
                <a:lnTo>
                  <a:pt x="7776972" y="1080515"/>
                </a:lnTo>
                <a:lnTo>
                  <a:pt x="7776972" y="0"/>
                </a:lnTo>
                <a:close/>
              </a:path>
            </a:pathLst>
          </a:custGeom>
          <a:solidFill>
            <a:srgbClr val="FFFFFF"/>
          </a:solidFill>
        </p:spPr>
        <p:txBody>
          <a:bodyPr wrap="square" lIns="0" tIns="0" rIns="0" bIns="0" rtlCol="0"/>
          <a:lstStyle/>
          <a:p>
            <a:endParaRPr sz="2310"/>
          </a:p>
        </p:txBody>
      </p:sp>
      <p:sp>
        <p:nvSpPr>
          <p:cNvPr id="4" name="object 4"/>
          <p:cNvSpPr txBox="1">
            <a:spLocks noGrp="1"/>
          </p:cNvSpPr>
          <p:nvPr>
            <p:ph type="title"/>
          </p:nvPr>
        </p:nvSpPr>
        <p:spPr>
          <a:xfrm>
            <a:off x="1288415" y="4032727"/>
            <a:ext cx="10762906" cy="1783715"/>
          </a:xfrm>
          <a:prstGeom prst="rect">
            <a:avLst/>
          </a:prstGeom>
        </p:spPr>
        <p:txBody>
          <a:bodyPr vert="horz" wrap="square" lIns="0" tIns="122015" rIns="0" bIns="0" rtlCol="0">
            <a:spAutoFit/>
          </a:bodyPr>
          <a:lstStyle/>
          <a:p>
            <a:pPr marL="12700" marR="5080">
              <a:lnSpc>
                <a:spcPts val="6480"/>
              </a:lnSpc>
              <a:spcBef>
                <a:spcPts val="915"/>
              </a:spcBef>
            </a:pPr>
            <a:r>
              <a:rPr sz="6000" spc="-40" dirty="0"/>
              <a:t>Matrix-Vector  </a:t>
            </a:r>
            <a:r>
              <a:rPr sz="6000" spc="-15" dirty="0"/>
              <a:t>Multiplication </a:t>
            </a:r>
            <a:r>
              <a:rPr sz="6000" dirty="0"/>
              <a:t>in </a:t>
            </a:r>
            <a:r>
              <a:rPr sz="6000" spc="-20" dirty="0"/>
              <a:t>pthreads</a:t>
            </a:r>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25</a:t>
            </a:fld>
            <a:endParaRPr sz="1575"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Serial</a:t>
            </a:r>
            <a:r>
              <a:rPr sz="4620" spc="-55" dirty="0"/>
              <a:t> </a:t>
            </a:r>
            <a:r>
              <a:rPr sz="4620" spc="-10" dirty="0"/>
              <a:t>pseudo-code</a:t>
            </a:r>
            <a:endParaRPr sz="4620"/>
          </a:p>
        </p:txBody>
      </p:sp>
      <p:sp>
        <p:nvSpPr>
          <p:cNvPr id="3" name="object 3"/>
          <p:cNvSpPr/>
          <p:nvPr/>
        </p:nvSpPr>
        <p:spPr>
          <a:xfrm>
            <a:off x="6492561" y="4857991"/>
            <a:ext cx="1790973" cy="951364"/>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335719" y="2109491"/>
            <a:ext cx="8535319" cy="2090605"/>
          </a:xfrm>
          <a:prstGeom prst="rect">
            <a:avLst/>
          </a:prstGeom>
          <a:blipFill>
            <a:blip r:embed="rId3" cstate="print"/>
            <a:stretch>
              <a:fillRect/>
            </a:stretch>
          </a:blipFill>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26</a:t>
            </a:fld>
            <a:endParaRPr sz="1575"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Using 3</a:t>
            </a:r>
            <a:r>
              <a:rPr sz="4620" spc="-60" dirty="0"/>
              <a:t> </a:t>
            </a:r>
            <a:r>
              <a:rPr sz="4620" spc="-10" dirty="0"/>
              <a:t>Pthreads</a:t>
            </a:r>
            <a:endParaRPr sz="4620" dirty="0"/>
          </a:p>
        </p:txBody>
      </p:sp>
      <p:sp>
        <p:nvSpPr>
          <p:cNvPr id="3" name="object 3"/>
          <p:cNvSpPr/>
          <p:nvPr/>
        </p:nvSpPr>
        <p:spPr>
          <a:xfrm>
            <a:off x="2590338" y="1791823"/>
            <a:ext cx="2760714" cy="1750219"/>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6181151" y="3762009"/>
            <a:ext cx="3679306" cy="839471"/>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2932767" y="5464814"/>
            <a:ext cx="3530441" cy="841029"/>
          </a:xfrm>
          <a:prstGeom prst="rect">
            <a:avLst/>
          </a:prstGeom>
          <a:blipFill>
            <a:blip r:embed="rId4" cstate="print"/>
            <a:stretch>
              <a:fillRect/>
            </a:stretch>
          </a:blipFill>
        </p:spPr>
        <p:txBody>
          <a:bodyPr wrap="square" lIns="0" tIns="0" rIns="0" bIns="0" rtlCol="0"/>
          <a:lstStyle/>
          <a:p>
            <a:endParaRPr sz="2310"/>
          </a:p>
        </p:txBody>
      </p:sp>
      <p:sp>
        <p:nvSpPr>
          <p:cNvPr id="6" name="object 6"/>
          <p:cNvSpPr txBox="1"/>
          <p:nvPr/>
        </p:nvSpPr>
        <p:spPr>
          <a:xfrm>
            <a:off x="8171021" y="3236003"/>
            <a:ext cx="1308164" cy="463550"/>
          </a:xfrm>
          <a:prstGeom prst="rect">
            <a:avLst/>
          </a:prstGeom>
        </p:spPr>
        <p:txBody>
          <a:bodyPr vert="horz" wrap="square" lIns="0" tIns="12668" rIns="0" bIns="0" rtlCol="0">
            <a:spAutoFit/>
          </a:bodyPr>
          <a:lstStyle/>
          <a:p>
            <a:pPr marL="12700">
              <a:lnSpc>
                <a:spcPct val="100000"/>
              </a:lnSpc>
              <a:spcBef>
                <a:spcPts val="95"/>
              </a:spcBef>
            </a:pPr>
            <a:r>
              <a:rPr sz="2940" spc="-10" dirty="0">
                <a:solidFill>
                  <a:srgbClr val="FF0000"/>
                </a:solidFill>
                <a:latin typeface="Calibri" panose="020F0502020204030204"/>
                <a:cs typeface="Calibri" panose="020F0502020204030204"/>
              </a:rPr>
              <a:t>thread</a:t>
            </a:r>
            <a:r>
              <a:rPr sz="2940" spc="-65" dirty="0">
                <a:solidFill>
                  <a:srgbClr val="FF0000"/>
                </a:solidFill>
                <a:latin typeface="Calibri" panose="020F0502020204030204"/>
                <a:cs typeface="Calibri" panose="020F0502020204030204"/>
              </a:rPr>
              <a:t> </a:t>
            </a:r>
            <a:r>
              <a:rPr sz="2940" spc="-5" dirty="0">
                <a:solidFill>
                  <a:srgbClr val="FF0000"/>
                </a:solidFill>
                <a:latin typeface="Calibri" panose="020F0502020204030204"/>
                <a:cs typeface="Calibri" panose="020F0502020204030204"/>
              </a:rPr>
              <a:t>0</a:t>
            </a:r>
            <a:endParaRPr sz="2940">
              <a:latin typeface="Calibri" panose="020F0502020204030204"/>
              <a:cs typeface="Calibri" panose="020F0502020204030204"/>
            </a:endParaRPr>
          </a:p>
        </p:txBody>
      </p:sp>
      <p:sp>
        <p:nvSpPr>
          <p:cNvPr id="7" name="object 7"/>
          <p:cNvSpPr txBox="1"/>
          <p:nvPr/>
        </p:nvSpPr>
        <p:spPr>
          <a:xfrm>
            <a:off x="5058632" y="5130641"/>
            <a:ext cx="1902238" cy="463550"/>
          </a:xfrm>
          <a:prstGeom prst="rect">
            <a:avLst/>
          </a:prstGeom>
        </p:spPr>
        <p:txBody>
          <a:bodyPr vert="horz" wrap="square" lIns="0" tIns="12668" rIns="0" bIns="0" rtlCol="0">
            <a:spAutoFit/>
          </a:bodyPr>
          <a:lstStyle/>
          <a:p>
            <a:pPr marL="12700">
              <a:lnSpc>
                <a:spcPct val="100000"/>
              </a:lnSpc>
              <a:spcBef>
                <a:spcPts val="95"/>
              </a:spcBef>
            </a:pPr>
            <a:r>
              <a:rPr sz="2940" spc="-15" dirty="0">
                <a:solidFill>
                  <a:srgbClr val="FF0000"/>
                </a:solidFill>
                <a:latin typeface="Calibri" panose="020F0502020204030204"/>
                <a:cs typeface="Calibri" panose="020F0502020204030204"/>
              </a:rPr>
              <a:t>general</a:t>
            </a:r>
            <a:r>
              <a:rPr sz="2940" spc="-80" dirty="0">
                <a:solidFill>
                  <a:srgbClr val="FF0000"/>
                </a:solidFill>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case</a:t>
            </a:r>
            <a:endParaRPr sz="2940">
              <a:latin typeface="Calibri" panose="020F0502020204030204"/>
              <a:cs typeface="Calibri" panose="020F0502020204030204"/>
            </a:endParaRPr>
          </a:p>
        </p:txBody>
      </p:sp>
      <p:sp>
        <p:nvSpPr>
          <p:cNvPr id="8" name="object 8"/>
          <p:cNvSpPr/>
          <p:nvPr/>
        </p:nvSpPr>
        <p:spPr>
          <a:xfrm>
            <a:off x="5572162" y="2608992"/>
            <a:ext cx="1294162" cy="771430"/>
          </a:xfrm>
          <a:custGeom>
            <a:avLst/>
            <a:gdLst/>
            <a:ahLst/>
            <a:cxnLst/>
            <a:rect l="l" t="t" r="r" b="b"/>
            <a:pathLst>
              <a:path w="1232535" h="734694">
                <a:moveTo>
                  <a:pt x="1093724" y="702056"/>
                </a:moveTo>
                <a:lnTo>
                  <a:pt x="1084833" y="702056"/>
                </a:lnTo>
                <a:lnTo>
                  <a:pt x="1077722" y="709168"/>
                </a:lnTo>
                <a:lnTo>
                  <a:pt x="1077594" y="717931"/>
                </a:lnTo>
                <a:lnTo>
                  <a:pt x="1077594" y="726821"/>
                </a:lnTo>
                <a:lnTo>
                  <a:pt x="1084706" y="734060"/>
                </a:lnTo>
                <a:lnTo>
                  <a:pt x="1232153" y="734568"/>
                </a:lnTo>
                <a:lnTo>
                  <a:pt x="1230874" y="732282"/>
                </a:lnTo>
                <a:lnTo>
                  <a:pt x="1196720" y="732282"/>
                </a:lnTo>
                <a:lnTo>
                  <a:pt x="1145686" y="702234"/>
                </a:lnTo>
                <a:lnTo>
                  <a:pt x="1093724" y="702056"/>
                </a:lnTo>
                <a:close/>
              </a:path>
              <a:path w="1232535" h="734694">
                <a:moveTo>
                  <a:pt x="1145686" y="702234"/>
                </a:moveTo>
                <a:lnTo>
                  <a:pt x="1196720" y="732282"/>
                </a:lnTo>
                <a:lnTo>
                  <a:pt x="1200214" y="726313"/>
                </a:lnTo>
                <a:lnTo>
                  <a:pt x="1190878" y="726313"/>
                </a:lnTo>
                <a:lnTo>
                  <a:pt x="1177450" y="702343"/>
                </a:lnTo>
                <a:lnTo>
                  <a:pt x="1145686" y="702234"/>
                </a:lnTo>
                <a:close/>
              </a:path>
              <a:path w="1232535" h="734694">
                <a:moveTo>
                  <a:pt x="1148693" y="605627"/>
                </a:moveTo>
                <a:lnTo>
                  <a:pt x="1142618" y="607568"/>
                </a:lnTo>
                <a:lnTo>
                  <a:pt x="1137844" y="611711"/>
                </a:lnTo>
                <a:lnTo>
                  <a:pt x="1135094" y="617188"/>
                </a:lnTo>
                <a:lnTo>
                  <a:pt x="1134582" y="623284"/>
                </a:lnTo>
                <a:lnTo>
                  <a:pt x="1136523" y="629285"/>
                </a:lnTo>
                <a:lnTo>
                  <a:pt x="1162010" y="674781"/>
                </a:lnTo>
                <a:lnTo>
                  <a:pt x="1212850" y="704723"/>
                </a:lnTo>
                <a:lnTo>
                  <a:pt x="1196720" y="732282"/>
                </a:lnTo>
                <a:lnTo>
                  <a:pt x="1230874" y="732282"/>
                </a:lnTo>
                <a:lnTo>
                  <a:pt x="1164463" y="613664"/>
                </a:lnTo>
                <a:lnTo>
                  <a:pt x="1160317" y="608889"/>
                </a:lnTo>
                <a:lnTo>
                  <a:pt x="1154826" y="606139"/>
                </a:lnTo>
                <a:lnTo>
                  <a:pt x="1148693" y="605627"/>
                </a:lnTo>
                <a:close/>
              </a:path>
              <a:path w="1232535" h="734694">
                <a:moveTo>
                  <a:pt x="1177450" y="702343"/>
                </a:moveTo>
                <a:lnTo>
                  <a:pt x="1190878" y="726313"/>
                </a:lnTo>
                <a:lnTo>
                  <a:pt x="1204849" y="702437"/>
                </a:lnTo>
                <a:lnTo>
                  <a:pt x="1177450" y="702343"/>
                </a:lnTo>
                <a:close/>
              </a:path>
              <a:path w="1232535" h="734694">
                <a:moveTo>
                  <a:pt x="1162010" y="674781"/>
                </a:moveTo>
                <a:lnTo>
                  <a:pt x="1177450" y="702343"/>
                </a:lnTo>
                <a:lnTo>
                  <a:pt x="1204849" y="702437"/>
                </a:lnTo>
                <a:lnTo>
                  <a:pt x="1190878" y="726313"/>
                </a:lnTo>
                <a:lnTo>
                  <a:pt x="1200214" y="726313"/>
                </a:lnTo>
                <a:lnTo>
                  <a:pt x="1212850" y="704723"/>
                </a:lnTo>
                <a:lnTo>
                  <a:pt x="1162010" y="674781"/>
                </a:lnTo>
                <a:close/>
              </a:path>
              <a:path w="1232535" h="734694">
                <a:moveTo>
                  <a:pt x="16255" y="0"/>
                </a:moveTo>
                <a:lnTo>
                  <a:pt x="0" y="27686"/>
                </a:lnTo>
                <a:lnTo>
                  <a:pt x="1145686" y="702234"/>
                </a:lnTo>
                <a:lnTo>
                  <a:pt x="1177450" y="702343"/>
                </a:lnTo>
                <a:lnTo>
                  <a:pt x="1162010" y="674781"/>
                </a:lnTo>
                <a:lnTo>
                  <a:pt x="16255" y="0"/>
                </a:lnTo>
                <a:close/>
              </a:path>
            </a:pathLst>
          </a:custGeom>
          <a:solidFill>
            <a:srgbClr val="FF0000"/>
          </a:solidFill>
        </p:spPr>
        <p:txBody>
          <a:bodyPr wrap="square" lIns="0" tIns="0" rIns="0" bIns="0" rtlCol="0"/>
          <a:lstStyle/>
          <a:p>
            <a:endParaRPr sz="2310"/>
          </a:p>
        </p:txBody>
      </p:sp>
      <p:sp>
        <p:nvSpPr>
          <p:cNvPr id="9" name="object 9"/>
          <p:cNvSpPr/>
          <p:nvPr/>
        </p:nvSpPr>
        <p:spPr>
          <a:xfrm>
            <a:off x="4220394" y="4345075"/>
            <a:ext cx="1596866" cy="790766"/>
          </a:xfrm>
          <a:custGeom>
            <a:avLst/>
            <a:gdLst/>
            <a:ahLst/>
            <a:cxnLst/>
            <a:rect l="l" t="t" r="r" b="b"/>
            <a:pathLst>
              <a:path w="1520825" h="753110">
                <a:moveTo>
                  <a:pt x="113601" y="581913"/>
                </a:moveTo>
                <a:lnTo>
                  <a:pt x="106279" y="584838"/>
                </a:lnTo>
                <a:lnTo>
                  <a:pt x="100456" y="590549"/>
                </a:lnTo>
                <a:lnTo>
                  <a:pt x="0" y="737742"/>
                </a:lnTo>
                <a:lnTo>
                  <a:pt x="177545" y="752601"/>
                </a:lnTo>
                <a:lnTo>
                  <a:pt x="185715" y="751703"/>
                </a:lnTo>
                <a:lnTo>
                  <a:pt x="192611" y="747887"/>
                </a:lnTo>
                <a:lnTo>
                  <a:pt x="197530" y="741761"/>
                </a:lnTo>
                <a:lnTo>
                  <a:pt x="198389" y="738758"/>
                </a:lnTo>
                <a:lnTo>
                  <a:pt x="45719" y="738758"/>
                </a:lnTo>
                <a:lnTo>
                  <a:pt x="28066" y="701547"/>
                </a:lnTo>
                <a:lnTo>
                  <a:pt x="96823" y="668834"/>
                </a:lnTo>
                <a:lnTo>
                  <a:pt x="134493" y="613663"/>
                </a:lnTo>
                <a:lnTo>
                  <a:pt x="137640" y="606145"/>
                </a:lnTo>
                <a:lnTo>
                  <a:pt x="137668" y="598281"/>
                </a:lnTo>
                <a:lnTo>
                  <a:pt x="134743" y="590964"/>
                </a:lnTo>
                <a:lnTo>
                  <a:pt x="129031" y="585088"/>
                </a:lnTo>
                <a:lnTo>
                  <a:pt x="121495" y="581941"/>
                </a:lnTo>
                <a:lnTo>
                  <a:pt x="113601" y="581913"/>
                </a:lnTo>
                <a:close/>
              </a:path>
              <a:path w="1520825" h="753110">
                <a:moveTo>
                  <a:pt x="96823" y="668834"/>
                </a:moveTo>
                <a:lnTo>
                  <a:pt x="28066" y="701547"/>
                </a:lnTo>
                <a:lnTo>
                  <a:pt x="45719" y="738758"/>
                </a:lnTo>
                <a:lnTo>
                  <a:pt x="60399" y="731773"/>
                </a:lnTo>
                <a:lnTo>
                  <a:pt x="53847" y="731773"/>
                </a:lnTo>
                <a:lnTo>
                  <a:pt x="38607" y="699642"/>
                </a:lnTo>
                <a:lnTo>
                  <a:pt x="75786" y="699642"/>
                </a:lnTo>
                <a:lnTo>
                  <a:pt x="96823" y="668834"/>
                </a:lnTo>
                <a:close/>
              </a:path>
              <a:path w="1520825" h="753110">
                <a:moveTo>
                  <a:pt x="114431" y="706063"/>
                </a:moveTo>
                <a:lnTo>
                  <a:pt x="45719" y="738758"/>
                </a:lnTo>
                <a:lnTo>
                  <a:pt x="198389" y="738758"/>
                </a:lnTo>
                <a:lnTo>
                  <a:pt x="199770" y="733932"/>
                </a:lnTo>
                <a:lnTo>
                  <a:pt x="198872" y="725763"/>
                </a:lnTo>
                <a:lnTo>
                  <a:pt x="195056" y="718867"/>
                </a:lnTo>
                <a:lnTo>
                  <a:pt x="188930" y="713948"/>
                </a:lnTo>
                <a:lnTo>
                  <a:pt x="181101" y="711707"/>
                </a:lnTo>
                <a:lnTo>
                  <a:pt x="114431" y="706063"/>
                </a:lnTo>
                <a:close/>
              </a:path>
              <a:path w="1520825" h="753110">
                <a:moveTo>
                  <a:pt x="38607" y="699642"/>
                </a:moveTo>
                <a:lnTo>
                  <a:pt x="53847" y="731773"/>
                </a:lnTo>
                <a:lnTo>
                  <a:pt x="73754" y="702618"/>
                </a:lnTo>
                <a:lnTo>
                  <a:pt x="38607" y="699642"/>
                </a:lnTo>
                <a:close/>
              </a:path>
              <a:path w="1520825" h="753110">
                <a:moveTo>
                  <a:pt x="73754" y="702618"/>
                </a:moveTo>
                <a:lnTo>
                  <a:pt x="53847" y="731773"/>
                </a:lnTo>
                <a:lnTo>
                  <a:pt x="60399" y="731773"/>
                </a:lnTo>
                <a:lnTo>
                  <a:pt x="114431" y="706063"/>
                </a:lnTo>
                <a:lnTo>
                  <a:pt x="73754" y="702618"/>
                </a:lnTo>
                <a:close/>
              </a:path>
              <a:path w="1520825" h="753110">
                <a:moveTo>
                  <a:pt x="1502537" y="0"/>
                </a:moveTo>
                <a:lnTo>
                  <a:pt x="96823" y="668834"/>
                </a:lnTo>
                <a:lnTo>
                  <a:pt x="73754" y="702618"/>
                </a:lnTo>
                <a:lnTo>
                  <a:pt x="114431" y="706063"/>
                </a:lnTo>
                <a:lnTo>
                  <a:pt x="1520316" y="37083"/>
                </a:lnTo>
                <a:lnTo>
                  <a:pt x="1502537" y="0"/>
                </a:lnTo>
                <a:close/>
              </a:path>
              <a:path w="1520825" h="753110">
                <a:moveTo>
                  <a:pt x="75786" y="699642"/>
                </a:moveTo>
                <a:lnTo>
                  <a:pt x="38607" y="699642"/>
                </a:lnTo>
                <a:lnTo>
                  <a:pt x="73754" y="702618"/>
                </a:lnTo>
                <a:lnTo>
                  <a:pt x="75786" y="699642"/>
                </a:lnTo>
                <a:close/>
              </a:path>
            </a:pathLst>
          </a:custGeom>
          <a:solidFill>
            <a:srgbClr val="FF0000"/>
          </a:solidFill>
        </p:spPr>
        <p:txBody>
          <a:bodyPr wrap="square" lIns="0" tIns="0" rIns="0" bIns="0" rtlCol="0"/>
          <a:lstStyle/>
          <a:p>
            <a:endParaRPr sz="2310"/>
          </a:p>
        </p:txBody>
      </p:sp>
      <p:sp>
        <p:nvSpPr>
          <p:cNvPr id="10" name="object 10"/>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470" y="86360"/>
            <a:ext cx="10549255" cy="1434465"/>
          </a:xfrm>
          <a:prstGeom prst="rect">
            <a:avLst/>
          </a:prstGeom>
        </p:spPr>
        <p:txBody>
          <a:bodyPr vert="horz" wrap="square" lIns="0" tIns="14001" rIns="0" bIns="0" rtlCol="0">
            <a:spAutoFit/>
          </a:bodyPr>
          <a:lstStyle/>
          <a:p>
            <a:pPr marL="12700">
              <a:lnSpc>
                <a:spcPct val="100000"/>
              </a:lnSpc>
              <a:spcBef>
                <a:spcPts val="105"/>
              </a:spcBef>
            </a:pPr>
            <a:r>
              <a:rPr sz="4620" spc="-10" dirty="0"/>
              <a:t>Pthreads </a:t>
            </a:r>
            <a:r>
              <a:rPr sz="4620" spc="-15" dirty="0"/>
              <a:t>matrix-vector</a:t>
            </a:r>
            <a:r>
              <a:rPr sz="4620" spc="10" dirty="0"/>
              <a:t> </a:t>
            </a:r>
            <a:r>
              <a:rPr sz="4620" spc="-10" dirty="0"/>
              <a:t>multiplication</a:t>
            </a:r>
            <a:endParaRPr sz="4620"/>
          </a:p>
        </p:txBody>
      </p:sp>
      <p:sp>
        <p:nvSpPr>
          <p:cNvPr id="3" name="object 3"/>
          <p:cNvSpPr/>
          <p:nvPr/>
        </p:nvSpPr>
        <p:spPr>
          <a:xfrm>
            <a:off x="2549439" y="1728285"/>
            <a:ext cx="7702400" cy="4742793"/>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3687660" y="2938767"/>
            <a:ext cx="3600450" cy="0"/>
          </a:xfrm>
          <a:custGeom>
            <a:avLst/>
            <a:gdLst/>
            <a:ahLst/>
            <a:cxnLst/>
            <a:rect l="l" t="t" r="r" b="b"/>
            <a:pathLst>
              <a:path w="3429000">
                <a:moveTo>
                  <a:pt x="0" y="0"/>
                </a:moveTo>
                <a:lnTo>
                  <a:pt x="3429000" y="0"/>
                </a:lnTo>
              </a:path>
            </a:pathLst>
          </a:custGeom>
          <a:ln w="32004">
            <a:solidFill>
              <a:srgbClr val="FF0000"/>
            </a:solidFill>
          </a:ln>
        </p:spPr>
        <p:txBody>
          <a:bodyPr wrap="square" lIns="0" tIns="0" rIns="0" bIns="0" rtlCol="0"/>
          <a:lstStyle/>
          <a:p>
            <a:endParaRPr sz="2310"/>
          </a:p>
        </p:txBody>
      </p:sp>
      <p:sp>
        <p:nvSpPr>
          <p:cNvPr id="5" name="object 5"/>
          <p:cNvSpPr/>
          <p:nvPr/>
        </p:nvSpPr>
        <p:spPr>
          <a:xfrm>
            <a:off x="3794874" y="4241329"/>
            <a:ext cx="6069425" cy="0"/>
          </a:xfrm>
          <a:custGeom>
            <a:avLst/>
            <a:gdLst/>
            <a:ahLst/>
            <a:cxnLst/>
            <a:rect l="l" t="t" r="r" b="b"/>
            <a:pathLst>
              <a:path w="5780405">
                <a:moveTo>
                  <a:pt x="0" y="0"/>
                </a:moveTo>
                <a:lnTo>
                  <a:pt x="5780278" y="0"/>
                </a:lnTo>
              </a:path>
            </a:pathLst>
          </a:custGeom>
          <a:ln w="32004">
            <a:solidFill>
              <a:srgbClr val="FF0000"/>
            </a:solidFill>
          </a:ln>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28</a:t>
            </a:fld>
            <a:endParaRPr sz="1575"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2" name="object 2"/>
          <p:cNvSpPr txBox="1"/>
          <p:nvPr/>
        </p:nvSpPr>
        <p:spPr>
          <a:xfrm>
            <a:off x="2441372" y="4400017"/>
            <a:ext cx="4534567" cy="884555"/>
          </a:xfrm>
          <a:prstGeom prst="rect">
            <a:avLst/>
          </a:prstGeom>
        </p:spPr>
        <p:txBody>
          <a:bodyPr vert="horz" wrap="square" lIns="0" tIns="13334" rIns="0" bIns="0" rtlCol="0">
            <a:spAutoFit/>
          </a:bodyPr>
          <a:lstStyle/>
          <a:p>
            <a:pPr marL="12700">
              <a:lnSpc>
                <a:spcPct val="100000"/>
              </a:lnSpc>
              <a:spcBef>
                <a:spcPts val="100"/>
              </a:spcBef>
            </a:pPr>
            <a:r>
              <a:rPr sz="5670" b="0" spc="-15" dirty="0">
                <a:latin typeface="Calibri Light" panose="020F0302020204030204"/>
                <a:cs typeface="Calibri Light" panose="020F0302020204030204"/>
              </a:rPr>
              <a:t>Critical</a:t>
            </a:r>
            <a:r>
              <a:rPr sz="5670" b="0" spc="-40" dirty="0">
                <a:latin typeface="Calibri Light" panose="020F0302020204030204"/>
                <a:cs typeface="Calibri Light" panose="020F0302020204030204"/>
              </a:rPr>
              <a:t> </a:t>
            </a:r>
            <a:r>
              <a:rPr sz="5670" b="0" spc="-10" dirty="0">
                <a:latin typeface="Calibri Light" panose="020F0302020204030204"/>
                <a:cs typeface="Calibri Light" panose="020F0302020204030204"/>
              </a:rPr>
              <a:t>sections</a:t>
            </a:r>
            <a:endParaRPr sz="5670">
              <a:latin typeface="Calibri Light" panose="020F0302020204030204"/>
              <a:cs typeface="Calibri Light" panose="020F0302020204030204"/>
            </a:endParaRPr>
          </a:p>
        </p:txBody>
      </p:sp>
      <p:sp>
        <p:nvSpPr>
          <p:cNvPr id="3" name="object 3"/>
          <p:cNvSpPr/>
          <p:nvPr/>
        </p:nvSpPr>
        <p:spPr>
          <a:xfrm>
            <a:off x="2694737" y="1722548"/>
            <a:ext cx="3241601" cy="2180004"/>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29</a:t>
            </a:fld>
            <a:endParaRPr sz="1575" dirty="0"/>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0" dirty="0"/>
              <a:t>Estimating</a:t>
            </a:r>
            <a:r>
              <a:rPr sz="4620" spc="-95" dirty="0"/>
              <a:t> </a:t>
            </a:r>
            <a:r>
              <a:rPr sz="4620" dirty="0"/>
              <a:t>π</a:t>
            </a:r>
            <a:endParaRPr sz="4620"/>
          </a:p>
        </p:txBody>
      </p:sp>
      <p:sp>
        <p:nvSpPr>
          <p:cNvPr id="3" name="object 3"/>
          <p:cNvSpPr/>
          <p:nvPr/>
        </p:nvSpPr>
        <p:spPr>
          <a:xfrm>
            <a:off x="2628298" y="2054829"/>
            <a:ext cx="7279352" cy="880651"/>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254672" y="3683237"/>
            <a:ext cx="8550683" cy="2369938"/>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7132890" y="4870209"/>
            <a:ext cx="3137726" cy="0"/>
          </a:xfrm>
          <a:custGeom>
            <a:avLst/>
            <a:gdLst/>
            <a:ahLst/>
            <a:cxnLst/>
            <a:rect l="l" t="t" r="r" b="b"/>
            <a:pathLst>
              <a:path w="2988309">
                <a:moveTo>
                  <a:pt x="0" y="0"/>
                </a:moveTo>
                <a:lnTo>
                  <a:pt x="2988183" y="0"/>
                </a:lnTo>
              </a:path>
            </a:pathLst>
          </a:custGeom>
          <a:ln w="32004">
            <a:solidFill>
              <a:srgbClr val="FF0000"/>
            </a:solidFill>
          </a:ln>
        </p:spPr>
        <p:txBody>
          <a:bodyPr wrap="square" lIns="0" tIns="0" rIns="0" bIns="0" rtlCol="0"/>
          <a:lstStyle/>
          <a:p>
            <a:endParaRPr sz="2310"/>
          </a:p>
        </p:txBody>
      </p:sp>
      <p:sp>
        <p:nvSpPr>
          <p:cNvPr id="6" name="object 6"/>
          <p:cNvSpPr/>
          <p:nvPr/>
        </p:nvSpPr>
        <p:spPr>
          <a:xfrm>
            <a:off x="3263607" y="4023702"/>
            <a:ext cx="3137726" cy="0"/>
          </a:xfrm>
          <a:custGeom>
            <a:avLst/>
            <a:gdLst/>
            <a:ahLst/>
            <a:cxnLst/>
            <a:rect l="l" t="t" r="r" b="b"/>
            <a:pathLst>
              <a:path w="2988310">
                <a:moveTo>
                  <a:pt x="0" y="0"/>
                </a:moveTo>
                <a:lnTo>
                  <a:pt x="2988182" y="0"/>
                </a:lnTo>
              </a:path>
            </a:pathLst>
          </a:custGeom>
          <a:ln w="32004">
            <a:solidFill>
              <a:srgbClr val="FF0000"/>
            </a:solidFill>
          </a:ln>
        </p:spPr>
        <p:txBody>
          <a:bodyPr wrap="square" lIns="0" tIns="0" rIns="0" bIns="0" rtlCol="0"/>
          <a:lstStyle/>
          <a:p>
            <a:endParaRPr sz="2310"/>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30</a:t>
            </a:fld>
            <a:endParaRPr sz="1575"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Using a dual </a:t>
            </a:r>
            <a:r>
              <a:rPr sz="4620" spc="-30" dirty="0"/>
              <a:t>core</a:t>
            </a:r>
            <a:r>
              <a:rPr sz="4620" spc="-75" dirty="0"/>
              <a:t> </a:t>
            </a:r>
            <a:r>
              <a:rPr sz="4620" spc="-10" dirty="0"/>
              <a:t>processor</a:t>
            </a:r>
            <a:endParaRPr sz="4620" dirty="0"/>
          </a:p>
        </p:txBody>
      </p:sp>
      <p:sp>
        <p:nvSpPr>
          <p:cNvPr id="3" name="object 3"/>
          <p:cNvSpPr/>
          <p:nvPr/>
        </p:nvSpPr>
        <p:spPr>
          <a:xfrm>
            <a:off x="2356401" y="2198884"/>
            <a:ext cx="8041454" cy="2029305"/>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2584376" y="4862474"/>
            <a:ext cx="7721440" cy="1370086"/>
          </a:xfrm>
          <a:prstGeom prst="rect">
            <a:avLst/>
          </a:prstGeom>
        </p:spPr>
        <p:txBody>
          <a:bodyPr vert="horz" wrap="square" lIns="0" tIns="12668" rIns="0" bIns="0" rtlCol="0">
            <a:spAutoFit/>
          </a:bodyPr>
          <a:lstStyle/>
          <a:p>
            <a:pPr marL="12700" marR="5080">
              <a:lnSpc>
                <a:spcPct val="100000"/>
              </a:lnSpc>
              <a:spcBef>
                <a:spcPts val="95"/>
              </a:spcBef>
            </a:pPr>
            <a:r>
              <a:rPr sz="2940" spc="-10" dirty="0">
                <a:latin typeface="Comic Sans MS" panose="030F0702030302020204" pitchFamily="66" charset="0"/>
                <a:cs typeface="Calibri" panose="020F0502020204030204"/>
              </a:rPr>
              <a:t>Note that </a:t>
            </a:r>
            <a:r>
              <a:rPr sz="2940" spc="-5" dirty="0">
                <a:latin typeface="Comic Sans MS" panose="030F0702030302020204" pitchFamily="66" charset="0"/>
                <a:cs typeface="Calibri" panose="020F0502020204030204"/>
              </a:rPr>
              <a:t>as </a:t>
            </a:r>
            <a:r>
              <a:rPr sz="2940" spc="-15" dirty="0">
                <a:latin typeface="Comic Sans MS" panose="030F0702030302020204" pitchFamily="66" charset="0"/>
                <a:cs typeface="Calibri" panose="020F0502020204030204"/>
              </a:rPr>
              <a:t>we </a:t>
            </a:r>
            <a:r>
              <a:rPr sz="2940" spc="-10" dirty="0">
                <a:latin typeface="Comic Sans MS" panose="030F0702030302020204" pitchFamily="66" charset="0"/>
                <a:cs typeface="Calibri" panose="020F0502020204030204"/>
              </a:rPr>
              <a:t>increase </a:t>
            </a:r>
            <a:r>
              <a:rPr sz="2940" spc="-5" dirty="0">
                <a:latin typeface="Comic Sans MS" panose="030F0702030302020204" pitchFamily="66" charset="0"/>
                <a:cs typeface="Calibri" panose="020F0502020204030204"/>
              </a:rPr>
              <a:t>n, the </a:t>
            </a:r>
            <a:r>
              <a:rPr sz="2940" spc="-15" dirty="0">
                <a:solidFill>
                  <a:srgbClr val="FF0000"/>
                </a:solidFill>
                <a:latin typeface="Comic Sans MS" panose="030F0702030302020204" pitchFamily="66" charset="0"/>
                <a:cs typeface="Calibri" panose="020F0502020204030204"/>
              </a:rPr>
              <a:t>estimate </a:t>
            </a:r>
            <a:r>
              <a:rPr sz="2940" spc="-5" dirty="0">
                <a:latin typeface="Comic Sans MS" panose="030F0702030302020204" pitchFamily="66" charset="0"/>
                <a:cs typeface="Calibri" panose="020F0502020204030204"/>
              </a:rPr>
              <a:t>with  </a:t>
            </a:r>
            <a:r>
              <a:rPr sz="2940" spc="-10" dirty="0">
                <a:solidFill>
                  <a:srgbClr val="FF0000"/>
                </a:solidFill>
                <a:latin typeface="Comic Sans MS" panose="030F0702030302020204" pitchFamily="66" charset="0"/>
                <a:cs typeface="Calibri" panose="020F0502020204030204"/>
              </a:rPr>
              <a:t>one thread </a:t>
            </a:r>
            <a:r>
              <a:rPr sz="2940" spc="-10" dirty="0">
                <a:latin typeface="Comic Sans MS" panose="030F0702030302020204" pitchFamily="66" charset="0"/>
                <a:cs typeface="Calibri" panose="020F0502020204030204"/>
              </a:rPr>
              <a:t>gets </a:t>
            </a:r>
            <a:r>
              <a:rPr sz="2940" spc="-20" dirty="0">
                <a:solidFill>
                  <a:srgbClr val="FF0000"/>
                </a:solidFill>
                <a:latin typeface="Comic Sans MS" panose="030F0702030302020204" pitchFamily="66" charset="0"/>
                <a:cs typeface="Calibri" panose="020F0502020204030204"/>
              </a:rPr>
              <a:t>better </a:t>
            </a:r>
            <a:r>
              <a:rPr sz="2940" spc="-5" dirty="0">
                <a:latin typeface="Comic Sans MS" panose="030F0702030302020204" pitchFamily="66" charset="0"/>
                <a:cs typeface="Calibri" panose="020F0502020204030204"/>
              </a:rPr>
              <a:t>and</a:t>
            </a:r>
            <a:r>
              <a:rPr sz="2940" spc="65" dirty="0">
                <a:latin typeface="Comic Sans MS" panose="030F0702030302020204" pitchFamily="66" charset="0"/>
                <a:cs typeface="Calibri" panose="020F0502020204030204"/>
              </a:rPr>
              <a:t> </a:t>
            </a:r>
            <a:r>
              <a:rPr sz="2940" spc="-60" dirty="0">
                <a:latin typeface="Comic Sans MS" panose="030F0702030302020204" pitchFamily="66" charset="0"/>
                <a:cs typeface="Calibri" panose="020F0502020204030204"/>
              </a:rPr>
              <a:t>better</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than</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the</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case</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of</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two</a:t>
            </a:r>
            <a:r>
              <a:rPr lang="zh-CN" altLang="en-US" sz="2940" spc="-60" dirty="0">
                <a:latin typeface="Comic Sans MS" panose="030F0702030302020204" pitchFamily="66" charset="0"/>
                <a:cs typeface="Calibri" panose="020F0502020204030204"/>
              </a:rPr>
              <a:t> </a:t>
            </a:r>
            <a:r>
              <a:rPr lang="en-US" altLang="zh-CN" sz="2940" spc="-60" dirty="0">
                <a:latin typeface="Comic Sans MS" panose="030F0702030302020204" pitchFamily="66" charset="0"/>
                <a:cs typeface="Calibri" panose="020F0502020204030204"/>
              </a:rPr>
              <a:t>threads</a:t>
            </a:r>
            <a:r>
              <a:rPr sz="2940" spc="-6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
        <p:nvSpPr>
          <p:cNvPr id="5" name="object 5"/>
          <p:cNvSpPr/>
          <p:nvPr/>
        </p:nvSpPr>
        <p:spPr>
          <a:xfrm>
            <a:off x="5354268" y="3794073"/>
            <a:ext cx="5069967" cy="498062"/>
          </a:xfrm>
          <a:custGeom>
            <a:avLst/>
            <a:gdLst/>
            <a:ahLst/>
            <a:cxnLst/>
            <a:rect l="l" t="t" r="r" b="b"/>
            <a:pathLst>
              <a:path w="4828540" h="474345">
                <a:moveTo>
                  <a:pt x="4749038" y="0"/>
                </a:moveTo>
                <a:lnTo>
                  <a:pt x="78994" y="0"/>
                </a:lnTo>
                <a:lnTo>
                  <a:pt x="48220" y="6199"/>
                </a:lnTo>
                <a:lnTo>
                  <a:pt x="23114" y="23114"/>
                </a:lnTo>
                <a:lnTo>
                  <a:pt x="6199" y="48220"/>
                </a:lnTo>
                <a:lnTo>
                  <a:pt x="0" y="78994"/>
                </a:lnTo>
                <a:lnTo>
                  <a:pt x="0" y="394970"/>
                </a:lnTo>
                <a:lnTo>
                  <a:pt x="6199" y="425743"/>
                </a:lnTo>
                <a:lnTo>
                  <a:pt x="23113" y="450850"/>
                </a:lnTo>
                <a:lnTo>
                  <a:pt x="48220" y="467764"/>
                </a:lnTo>
                <a:lnTo>
                  <a:pt x="78994" y="473964"/>
                </a:lnTo>
                <a:lnTo>
                  <a:pt x="4749038" y="473964"/>
                </a:lnTo>
                <a:lnTo>
                  <a:pt x="4779811" y="467764"/>
                </a:lnTo>
                <a:lnTo>
                  <a:pt x="4804918" y="450850"/>
                </a:lnTo>
                <a:lnTo>
                  <a:pt x="4821832" y="425743"/>
                </a:lnTo>
                <a:lnTo>
                  <a:pt x="4828032" y="394970"/>
                </a:lnTo>
                <a:lnTo>
                  <a:pt x="4828032" y="78994"/>
                </a:lnTo>
                <a:lnTo>
                  <a:pt x="4821832" y="48220"/>
                </a:lnTo>
                <a:lnTo>
                  <a:pt x="4804917" y="23114"/>
                </a:lnTo>
                <a:lnTo>
                  <a:pt x="4779811" y="6199"/>
                </a:lnTo>
                <a:lnTo>
                  <a:pt x="4749038" y="0"/>
                </a:lnTo>
                <a:close/>
              </a:path>
            </a:pathLst>
          </a:cu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6" name="object 6"/>
          <p:cNvSpPr/>
          <p:nvPr/>
        </p:nvSpPr>
        <p:spPr>
          <a:xfrm>
            <a:off x="5354268" y="3794073"/>
            <a:ext cx="5069967" cy="498062"/>
          </a:xfrm>
          <a:custGeom>
            <a:avLst/>
            <a:gdLst/>
            <a:ahLst/>
            <a:cxnLst/>
            <a:rect l="l" t="t" r="r" b="b"/>
            <a:pathLst>
              <a:path w="4828540" h="474345">
                <a:moveTo>
                  <a:pt x="0" y="78994"/>
                </a:moveTo>
                <a:lnTo>
                  <a:pt x="6199" y="48220"/>
                </a:lnTo>
                <a:lnTo>
                  <a:pt x="23114" y="23114"/>
                </a:lnTo>
                <a:lnTo>
                  <a:pt x="48220" y="6199"/>
                </a:lnTo>
                <a:lnTo>
                  <a:pt x="78994" y="0"/>
                </a:lnTo>
                <a:lnTo>
                  <a:pt x="4749038" y="0"/>
                </a:lnTo>
                <a:lnTo>
                  <a:pt x="4779811" y="6199"/>
                </a:lnTo>
                <a:lnTo>
                  <a:pt x="4804917" y="23114"/>
                </a:lnTo>
                <a:lnTo>
                  <a:pt x="4821832" y="48220"/>
                </a:lnTo>
                <a:lnTo>
                  <a:pt x="4828032" y="78994"/>
                </a:lnTo>
                <a:lnTo>
                  <a:pt x="4828032" y="394970"/>
                </a:lnTo>
                <a:lnTo>
                  <a:pt x="4821832" y="425743"/>
                </a:lnTo>
                <a:lnTo>
                  <a:pt x="4804918" y="450850"/>
                </a:lnTo>
                <a:lnTo>
                  <a:pt x="4779811" y="467764"/>
                </a:lnTo>
                <a:lnTo>
                  <a:pt x="4749038" y="473964"/>
                </a:lnTo>
                <a:lnTo>
                  <a:pt x="78994" y="473964"/>
                </a:lnTo>
                <a:lnTo>
                  <a:pt x="48220" y="467764"/>
                </a:lnTo>
                <a:lnTo>
                  <a:pt x="23113" y="450850"/>
                </a:lnTo>
                <a:lnTo>
                  <a:pt x="6199" y="425743"/>
                </a:lnTo>
                <a:lnTo>
                  <a:pt x="0" y="394970"/>
                </a:lnTo>
                <a:lnTo>
                  <a:pt x="0" y="78994"/>
                </a:lnTo>
                <a:close/>
              </a:path>
            </a:pathLst>
          </a:custGeom>
          <a:ln w="12192">
            <a:solidFill>
              <a:srgbClr val="41709C"/>
            </a:solidFill>
          </a:ln>
        </p:spPr>
        <p:txBody>
          <a:bodyPr wrap="square" lIns="0" tIns="0" rIns="0" bIns="0" rtlCol="0"/>
          <a:lstStyle/>
          <a:p>
            <a:endParaRPr sz="2310"/>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A </a:t>
            </a:r>
            <a:r>
              <a:rPr sz="4620" spc="-10" dirty="0"/>
              <a:t>thread </a:t>
            </a:r>
            <a:r>
              <a:rPr sz="4620" dirty="0"/>
              <a:t>function </a:t>
            </a:r>
            <a:r>
              <a:rPr sz="4620" spc="-40" dirty="0"/>
              <a:t>for </a:t>
            </a:r>
            <a:r>
              <a:rPr sz="4620" spc="-10" dirty="0"/>
              <a:t>computing</a:t>
            </a:r>
            <a:r>
              <a:rPr sz="4620" spc="35" dirty="0"/>
              <a:t> </a:t>
            </a:r>
            <a:r>
              <a:rPr sz="4620" dirty="0"/>
              <a:t>π</a:t>
            </a:r>
            <a:endParaRPr sz="4620"/>
          </a:p>
        </p:txBody>
      </p:sp>
      <p:sp>
        <p:nvSpPr>
          <p:cNvPr id="3" name="object 3"/>
          <p:cNvSpPr/>
          <p:nvPr/>
        </p:nvSpPr>
        <p:spPr>
          <a:xfrm>
            <a:off x="2563925" y="1522788"/>
            <a:ext cx="8051396" cy="5003337"/>
          </a:xfrm>
          <a:prstGeom prst="rect">
            <a:avLst/>
          </a:prstGeom>
          <a:blipFill>
            <a:blip r:embed="rId2" cstate="print"/>
            <a:stretch>
              <a:fillRect/>
            </a:stretch>
          </a:blipFill>
        </p:spPr>
        <p:txBody>
          <a:bodyPr wrap="square" lIns="0" tIns="0" rIns="0" bIns="0" rtlCol="0"/>
          <a:lstStyle/>
          <a:p>
            <a:endParaRPr sz="2310" dirty="0"/>
          </a:p>
        </p:txBody>
      </p:sp>
      <p:sp>
        <p:nvSpPr>
          <p:cNvPr id="4" name="object 4"/>
          <p:cNvSpPr/>
          <p:nvPr/>
        </p:nvSpPr>
        <p:spPr>
          <a:xfrm>
            <a:off x="2647531" y="1754619"/>
            <a:ext cx="3629119" cy="0"/>
          </a:xfrm>
          <a:custGeom>
            <a:avLst/>
            <a:gdLst/>
            <a:ahLst/>
            <a:cxnLst/>
            <a:rect l="l" t="t" r="r" b="b"/>
            <a:pathLst>
              <a:path w="3456304">
                <a:moveTo>
                  <a:pt x="0" y="0"/>
                </a:moveTo>
                <a:lnTo>
                  <a:pt x="3456178" y="0"/>
                </a:lnTo>
              </a:path>
            </a:pathLst>
          </a:custGeom>
          <a:ln w="32004">
            <a:solidFill>
              <a:srgbClr val="FF0000"/>
            </a:solidFill>
          </a:ln>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32</a:t>
            </a:fld>
            <a:endParaRPr sz="1575" dirty="0"/>
          </a:p>
        </p:txBody>
      </p:sp>
      <p:sp>
        <p:nvSpPr>
          <p:cNvPr id="6" name="圆角矩形 5"/>
          <p:cNvSpPr/>
          <p:nvPr/>
        </p:nvSpPr>
        <p:spPr>
          <a:xfrm>
            <a:off x="3206555" y="5197572"/>
            <a:ext cx="627771" cy="3600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a:p>
        </p:txBody>
      </p:sp>
      <p:sp>
        <p:nvSpPr>
          <p:cNvPr id="7" name="文本框 6"/>
          <p:cNvSpPr txBox="1"/>
          <p:nvPr/>
        </p:nvSpPr>
        <p:spPr>
          <a:xfrm>
            <a:off x="3866608" y="5557617"/>
            <a:ext cx="1929130" cy="446405"/>
          </a:xfrm>
          <a:prstGeom prst="rect">
            <a:avLst/>
          </a:prstGeom>
          <a:noFill/>
        </p:spPr>
        <p:txBody>
          <a:bodyPr wrap="none" rtlCol="0">
            <a:spAutoFit/>
          </a:bodyPr>
          <a:lstStyle/>
          <a:p>
            <a:r>
              <a:rPr lang="en-US" sz="2310" dirty="0">
                <a:solidFill>
                  <a:srgbClr val="FF0000"/>
                </a:solidFill>
              </a:rPr>
              <a:t>Critical section</a:t>
            </a:r>
          </a:p>
        </p:txBody>
      </p:sp>
      <p:cxnSp>
        <p:nvCxnSpPr>
          <p:cNvPr id="9" name="曲线连接符 8"/>
          <p:cNvCxnSpPr>
            <a:cxnSpLocks/>
          </p:cNvCxnSpPr>
          <p:nvPr/>
        </p:nvCxnSpPr>
        <p:spPr>
          <a:xfrm rot="10800000">
            <a:off x="3471614" y="5564509"/>
            <a:ext cx="362712" cy="234696"/>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圆角矩形 9"/>
          <p:cNvSpPr/>
          <p:nvPr/>
        </p:nvSpPr>
        <p:spPr>
          <a:xfrm>
            <a:off x="3834326" y="1969962"/>
            <a:ext cx="1024743" cy="3600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84104" y="5523261"/>
            <a:ext cx="2440305" cy="967978"/>
          </a:xfrm>
          <a:prstGeom prst="rect">
            <a:avLst/>
          </a:prstGeom>
          <a:blipFill>
            <a:blip r:embed="rId2" cstate="print"/>
            <a:stretch>
              <a:fillRect/>
            </a:stretch>
          </a:blipFill>
        </p:spPr>
        <p:txBody>
          <a:bodyPr wrap="square" lIns="0" tIns="0" rIns="0" bIns="0" rtlCol="0"/>
          <a:lstStyle/>
          <a:p>
            <a:endParaRPr sz="2310" dirty="0"/>
          </a:p>
        </p:txBody>
      </p:sp>
      <p:sp>
        <p:nvSpPr>
          <p:cNvPr id="3" name="object 3"/>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5" dirty="0"/>
              <a:t>Possible race</a:t>
            </a:r>
            <a:r>
              <a:rPr sz="4620" spc="-65" dirty="0"/>
              <a:t> </a:t>
            </a:r>
            <a:r>
              <a:rPr sz="4620" spc="-10" dirty="0"/>
              <a:t>condition</a:t>
            </a:r>
            <a:endParaRPr sz="4620" dirty="0"/>
          </a:p>
        </p:txBody>
      </p:sp>
      <p:sp>
        <p:nvSpPr>
          <p:cNvPr id="4" name="object 4"/>
          <p:cNvSpPr/>
          <p:nvPr/>
        </p:nvSpPr>
        <p:spPr>
          <a:xfrm>
            <a:off x="2342276" y="1839030"/>
            <a:ext cx="8079842" cy="2780348"/>
          </a:xfrm>
          <a:prstGeom prst="rect">
            <a:avLst/>
          </a:prstGeom>
          <a:blipFill>
            <a:blip r:embed="rId3" cstate="print"/>
            <a:stretch>
              <a:fillRect/>
            </a:stretch>
          </a:blipFill>
        </p:spPr>
        <p:txBody>
          <a:bodyPr wrap="square" lIns="0" tIns="0" rIns="0" bIns="0" rtlCol="0"/>
          <a:lstStyle/>
          <a:p>
            <a:endParaRPr sz="2310"/>
          </a:p>
        </p:txBody>
      </p:sp>
      <p:sp>
        <p:nvSpPr>
          <p:cNvPr id="5" name="object 5"/>
          <p:cNvSpPr txBox="1"/>
          <p:nvPr/>
        </p:nvSpPr>
        <p:spPr>
          <a:xfrm>
            <a:off x="5987457" y="5147789"/>
            <a:ext cx="3624208" cy="1590306"/>
          </a:xfrm>
          <a:prstGeom prst="rect">
            <a:avLst/>
          </a:prstGeom>
        </p:spPr>
        <p:txBody>
          <a:bodyPr vert="horz" wrap="square" lIns="0" tIns="13334" rIns="0" bIns="0" rtlCol="0">
            <a:spAutoFit/>
          </a:bodyPr>
          <a:lstStyle/>
          <a:p>
            <a:pPr marL="12700" marR="5080">
              <a:lnSpc>
                <a:spcPct val="100000"/>
              </a:lnSpc>
              <a:spcBef>
                <a:spcPts val="100"/>
              </a:spcBef>
            </a:pPr>
            <a:r>
              <a:rPr sz="3360" spc="-5" dirty="0">
                <a:solidFill>
                  <a:srgbClr val="FF0000"/>
                </a:solidFill>
                <a:latin typeface="Calibri" panose="020F0502020204030204"/>
                <a:cs typeface="Calibri" panose="020F0502020204030204"/>
              </a:rPr>
              <a:t>x=1+</a:t>
            </a:r>
            <a:r>
              <a:rPr sz="3360" dirty="0">
                <a:solidFill>
                  <a:srgbClr val="FF0000"/>
                </a:solidFill>
                <a:latin typeface="Calibri" panose="020F0502020204030204"/>
                <a:cs typeface="Calibri" panose="020F0502020204030204"/>
              </a:rPr>
              <a:t>2</a:t>
            </a:r>
            <a:r>
              <a:rPr lang="en-US" sz="3360" dirty="0">
                <a:solidFill>
                  <a:srgbClr val="FF0000"/>
                </a:solidFill>
                <a:latin typeface="Calibri" panose="020F0502020204030204"/>
                <a:cs typeface="Calibri" panose="020F0502020204030204"/>
              </a:rPr>
              <a:t> (expected)</a:t>
            </a:r>
          </a:p>
          <a:p>
            <a:pPr marL="12700" marR="5080">
              <a:lnSpc>
                <a:spcPct val="100000"/>
              </a:lnSpc>
              <a:spcBef>
                <a:spcPts val="100"/>
              </a:spcBef>
            </a:pPr>
            <a:r>
              <a:rPr lang="en-US" sz="3360" dirty="0">
                <a:solidFill>
                  <a:srgbClr val="FF0000"/>
                </a:solidFill>
                <a:latin typeface="Calibri" panose="020F0502020204030204"/>
                <a:cs typeface="Calibri" panose="020F0502020204030204"/>
              </a:rPr>
              <a:t>x=0+2?</a:t>
            </a:r>
          </a:p>
          <a:p>
            <a:pPr marL="12700" marR="5080">
              <a:lnSpc>
                <a:spcPct val="100000"/>
              </a:lnSpc>
              <a:spcBef>
                <a:spcPts val="100"/>
              </a:spcBef>
            </a:pPr>
            <a:r>
              <a:rPr sz="3360" dirty="0">
                <a:solidFill>
                  <a:srgbClr val="FF0000"/>
                </a:solidFill>
                <a:latin typeface="Calibri" panose="020F0502020204030204"/>
                <a:cs typeface="Calibri" panose="020F0502020204030204"/>
              </a:rPr>
              <a:t>x=</a:t>
            </a:r>
            <a:r>
              <a:rPr lang="en-US" sz="3360" dirty="0">
                <a:solidFill>
                  <a:srgbClr val="FF0000"/>
                </a:solidFill>
                <a:latin typeface="Calibri" panose="020F0502020204030204"/>
                <a:cs typeface="Calibri" panose="020F0502020204030204"/>
              </a:rPr>
              <a:t>0+1?</a:t>
            </a:r>
            <a:endParaRPr sz="3360" dirty="0">
              <a:latin typeface="Calibri" panose="020F0502020204030204"/>
              <a:cs typeface="Calibri" panose="020F0502020204030204"/>
            </a:endParaRPr>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6" name="object 6"/>
          <p:cNvSpPr txBox="1"/>
          <p:nvPr/>
        </p:nvSpPr>
        <p:spPr>
          <a:xfrm>
            <a:off x="10773976" y="1695728"/>
            <a:ext cx="1738884" cy="786765"/>
          </a:xfrm>
          <a:prstGeom prst="rect">
            <a:avLst/>
          </a:prstGeom>
        </p:spPr>
        <p:txBody>
          <a:bodyPr vert="horz" wrap="square" lIns="0" tIns="13334" rIns="0" bIns="0" rtlCol="0">
            <a:spAutoFit/>
          </a:bodyPr>
          <a:lstStyle/>
          <a:p>
            <a:pPr marL="12700" marR="5080">
              <a:lnSpc>
                <a:spcPct val="100000"/>
              </a:lnSpc>
              <a:spcBef>
                <a:spcPts val="100"/>
              </a:spcBef>
            </a:pPr>
            <a:r>
              <a:rPr sz="2520" b="0" spc="-5" dirty="0">
                <a:solidFill>
                  <a:srgbClr val="FF0000"/>
                </a:solidFill>
                <a:latin typeface="Calibri Light" panose="020F0302020204030204"/>
                <a:cs typeface="Calibri Light" panose="020F0302020204030204"/>
              </a:rPr>
              <a:t>y=</a:t>
            </a:r>
            <a:r>
              <a:rPr sz="2520" b="0" spc="-65" dirty="0">
                <a:solidFill>
                  <a:srgbClr val="FF0000"/>
                </a:solidFill>
                <a:latin typeface="Calibri Light" panose="020F0302020204030204"/>
                <a:cs typeface="Calibri Light" panose="020F0302020204030204"/>
              </a:rPr>
              <a:t> </a:t>
            </a:r>
            <a:r>
              <a:rPr sz="2520" b="0" spc="-10" dirty="0">
                <a:solidFill>
                  <a:srgbClr val="FF0000"/>
                </a:solidFill>
                <a:latin typeface="Calibri Light" panose="020F0302020204030204"/>
                <a:cs typeface="Calibri Light" panose="020F0302020204030204"/>
              </a:rPr>
              <a:t>compute()  </a:t>
            </a:r>
            <a:r>
              <a:rPr sz="2520" b="0" dirty="0">
                <a:solidFill>
                  <a:srgbClr val="FF0000"/>
                </a:solidFill>
                <a:latin typeface="Calibri Light" panose="020F0302020204030204"/>
                <a:cs typeface="Calibri Light" panose="020F0302020204030204"/>
              </a:rPr>
              <a:t>x=x+y</a:t>
            </a:r>
            <a:endParaRPr sz="2520" dirty="0">
              <a:latin typeface="Calibri Light" panose="020F0302020204030204"/>
              <a:cs typeface="Calibri Light" panose="020F0302020204030204"/>
            </a:endParaRPr>
          </a:p>
        </p:txBody>
      </p:sp>
      <p:sp>
        <p:nvSpPr>
          <p:cNvPr id="8" name="文本框 7">
            <a:extLst>
              <a:ext uri="{FF2B5EF4-FFF2-40B4-BE49-F238E27FC236}">
                <a16:creationId xmlns:a16="http://schemas.microsoft.com/office/drawing/2014/main" id="{CB63E77F-E9DA-49D7-8FAA-542A780E498A}"/>
              </a:ext>
            </a:extLst>
          </p:cNvPr>
          <p:cNvSpPr txBox="1"/>
          <p:nvPr/>
        </p:nvSpPr>
        <p:spPr>
          <a:xfrm>
            <a:off x="1792288" y="1193650"/>
            <a:ext cx="9865096" cy="461665"/>
          </a:xfrm>
          <a:prstGeom prst="rect">
            <a:avLst/>
          </a:prstGeom>
          <a:noFill/>
        </p:spPr>
        <p:txBody>
          <a:bodyPr wrap="square" rtlCol="0">
            <a:spAutoFit/>
          </a:bodyPr>
          <a:lstStyle/>
          <a:p>
            <a:r>
              <a:rPr lang="en-US" sz="2400" dirty="0">
                <a:solidFill>
                  <a:srgbClr val="FF0000"/>
                </a:solidFill>
              </a:rPr>
              <a:t>The final results depend on who win the race</a:t>
            </a:r>
            <a:r>
              <a:rPr lang="en-US" altLang="zh-CN" sz="2400" dirty="0">
                <a:solidFill>
                  <a:srgbClr val="FF0000"/>
                </a:solidFill>
              </a:rPr>
              <a:t>.</a:t>
            </a:r>
            <a:r>
              <a:rPr lang="zh-CN" altLang="en-US" sz="2400" dirty="0">
                <a:solidFill>
                  <a:srgbClr val="FF0000"/>
                </a:solidFill>
              </a:rPr>
              <a:t> </a:t>
            </a:r>
            <a:r>
              <a:rPr lang="en-US" altLang="zh-CN" sz="2400" dirty="0">
                <a:solidFill>
                  <a:srgbClr val="FF0000"/>
                </a:solidFill>
              </a:rPr>
              <a:t>X</a:t>
            </a:r>
            <a:r>
              <a:rPr lang="zh-CN" altLang="en-US" sz="2400" dirty="0">
                <a:solidFill>
                  <a:srgbClr val="FF0000"/>
                </a:solidFill>
              </a:rPr>
              <a:t> </a:t>
            </a:r>
            <a:r>
              <a:rPr lang="en-US" altLang="zh-CN" sz="2400" dirty="0">
                <a:solidFill>
                  <a:srgbClr val="FF0000"/>
                </a:solidFill>
              </a:rPr>
              <a:t>and</a:t>
            </a:r>
            <a:r>
              <a:rPr lang="zh-CN" altLang="en-US" sz="2400" dirty="0">
                <a:solidFill>
                  <a:srgbClr val="FF0000"/>
                </a:solidFill>
              </a:rPr>
              <a:t> </a:t>
            </a:r>
            <a:r>
              <a:rPr lang="en-US" altLang="zh-CN" sz="2400" dirty="0">
                <a:solidFill>
                  <a:srgbClr val="FF0000"/>
                </a:solidFill>
              </a:rPr>
              <a:t>y</a:t>
            </a:r>
            <a:r>
              <a:rPr lang="zh-CN" altLang="en-US" sz="2400" dirty="0">
                <a:solidFill>
                  <a:srgbClr val="FF0000"/>
                </a:solidFill>
              </a:rPr>
              <a:t> </a:t>
            </a:r>
            <a:r>
              <a:rPr lang="en-US" altLang="zh-CN" sz="2400" dirty="0">
                <a:solidFill>
                  <a:srgbClr val="FF0000"/>
                </a:solidFill>
              </a:rPr>
              <a:t>are</a:t>
            </a:r>
            <a:r>
              <a:rPr lang="zh-CN" altLang="en-US" sz="2400" dirty="0">
                <a:solidFill>
                  <a:srgbClr val="FF0000"/>
                </a:solidFill>
              </a:rPr>
              <a:t> </a:t>
            </a:r>
            <a:r>
              <a:rPr lang="en-US" altLang="zh-CN" sz="2400" dirty="0">
                <a:solidFill>
                  <a:srgbClr val="FF0000"/>
                </a:solidFill>
              </a:rPr>
              <a:t>global</a:t>
            </a:r>
            <a:r>
              <a:rPr lang="zh-CN" altLang="en-US" sz="2400" dirty="0">
                <a:solidFill>
                  <a:srgbClr val="FF0000"/>
                </a:solidFill>
              </a:rPr>
              <a:t> </a:t>
            </a:r>
            <a:r>
              <a:rPr lang="en-US" altLang="zh-CN" sz="2400" dirty="0">
                <a:solidFill>
                  <a:srgbClr val="FF0000"/>
                </a:solidFill>
              </a:rPr>
              <a:t>variables.</a:t>
            </a:r>
            <a:endParaRPr lang="en-US" sz="2400" dirty="0">
              <a:solidFill>
                <a:srgbClr val="FF0000"/>
              </a:solidFill>
            </a:endParaRPr>
          </a:p>
        </p:txBody>
      </p:sp>
      <p:sp>
        <p:nvSpPr>
          <p:cNvPr id="9" name="object 6">
            <a:extLst>
              <a:ext uri="{FF2B5EF4-FFF2-40B4-BE49-F238E27FC236}">
                <a16:creationId xmlns:a16="http://schemas.microsoft.com/office/drawing/2014/main" id="{A3993FF9-3CAF-49B0-AFA4-5E1B2DDDE739}"/>
              </a:ext>
            </a:extLst>
          </p:cNvPr>
          <p:cNvSpPr txBox="1"/>
          <p:nvPr/>
        </p:nvSpPr>
        <p:spPr>
          <a:xfrm>
            <a:off x="569802" y="1839030"/>
            <a:ext cx="1738884" cy="786765"/>
          </a:xfrm>
          <a:prstGeom prst="rect">
            <a:avLst/>
          </a:prstGeom>
        </p:spPr>
        <p:txBody>
          <a:bodyPr vert="horz" wrap="square" lIns="0" tIns="13334" rIns="0" bIns="0" rtlCol="0">
            <a:spAutoFit/>
          </a:bodyPr>
          <a:lstStyle/>
          <a:p>
            <a:pPr marL="12700" marR="5080">
              <a:lnSpc>
                <a:spcPct val="100000"/>
              </a:lnSpc>
              <a:spcBef>
                <a:spcPts val="100"/>
              </a:spcBef>
            </a:pPr>
            <a:r>
              <a:rPr sz="2520" b="0" spc="-5" dirty="0">
                <a:solidFill>
                  <a:srgbClr val="FF0000"/>
                </a:solidFill>
                <a:latin typeface="Calibri Light" panose="020F0302020204030204"/>
                <a:cs typeface="Calibri Light" panose="020F0302020204030204"/>
              </a:rPr>
              <a:t>y=</a:t>
            </a:r>
            <a:r>
              <a:rPr sz="2520" b="0" spc="-65" dirty="0">
                <a:solidFill>
                  <a:srgbClr val="FF0000"/>
                </a:solidFill>
                <a:latin typeface="Calibri Light" panose="020F0302020204030204"/>
                <a:cs typeface="Calibri Light" panose="020F0302020204030204"/>
              </a:rPr>
              <a:t> </a:t>
            </a:r>
            <a:r>
              <a:rPr sz="2520" b="0" spc="-10" dirty="0">
                <a:solidFill>
                  <a:srgbClr val="FF0000"/>
                </a:solidFill>
                <a:latin typeface="Calibri Light" panose="020F0302020204030204"/>
                <a:cs typeface="Calibri Light" panose="020F0302020204030204"/>
              </a:rPr>
              <a:t>compute()  </a:t>
            </a:r>
            <a:r>
              <a:rPr sz="2520" b="0" dirty="0">
                <a:solidFill>
                  <a:srgbClr val="FF0000"/>
                </a:solidFill>
                <a:latin typeface="Calibri Light" panose="020F0302020204030204"/>
                <a:cs typeface="Calibri Light" panose="020F0302020204030204"/>
              </a:rPr>
              <a:t>x=x+y</a:t>
            </a:r>
            <a:endParaRPr sz="2520" dirty="0">
              <a:latin typeface="Calibri Light" panose="020F0302020204030204"/>
              <a:cs typeface="Calibri Light" panose="020F0302020204030204"/>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Bu</a:t>
            </a:r>
            <a:r>
              <a:rPr sz="4620" spc="-90" dirty="0"/>
              <a:t>s</a:t>
            </a:r>
            <a:r>
              <a:rPr sz="4620" dirty="0"/>
              <a:t>y</a:t>
            </a:r>
            <a:r>
              <a:rPr sz="4620" spc="-5" dirty="0"/>
              <a:t>-</a:t>
            </a:r>
            <a:r>
              <a:rPr sz="4620" spc="-160" dirty="0"/>
              <a:t>W</a:t>
            </a:r>
            <a:r>
              <a:rPr sz="4620" dirty="0"/>
              <a:t>aiting</a:t>
            </a:r>
          </a:p>
        </p:txBody>
      </p:sp>
      <p:sp>
        <p:nvSpPr>
          <p:cNvPr id="3" name="object 3"/>
          <p:cNvSpPr txBox="1"/>
          <p:nvPr/>
        </p:nvSpPr>
        <p:spPr>
          <a:xfrm>
            <a:off x="568152" y="1136664"/>
            <a:ext cx="8367046" cy="2162175"/>
          </a:xfrm>
          <a:prstGeom prst="rect">
            <a:avLst/>
          </a:prstGeom>
        </p:spPr>
        <p:txBody>
          <a:bodyPr vert="horz" wrap="square" lIns="0" tIns="63341" rIns="0" bIns="0" rtlCol="0">
            <a:spAutoFit/>
          </a:bodyPr>
          <a:lstStyle/>
          <a:p>
            <a:pPr marL="241300" marR="5080" indent="-229235">
              <a:lnSpc>
                <a:spcPts val="3030"/>
              </a:lnSpc>
              <a:spcBef>
                <a:spcPts val="475"/>
              </a:spcBef>
              <a:buFont typeface="Arial" panose="020B0604020202020204"/>
              <a:buChar char="•"/>
              <a:tabLst>
                <a:tab pos="241935" algn="l"/>
              </a:tabLst>
            </a:pPr>
            <a:r>
              <a:rPr sz="2800" spc="-5" dirty="0">
                <a:latin typeface="Comic Sans MS" panose="030F0702030302020204" pitchFamily="66" charset="0"/>
                <a:cs typeface="Calibri" panose="020F0502020204030204"/>
              </a:rPr>
              <a:t>A </a:t>
            </a:r>
            <a:r>
              <a:rPr sz="2800" spc="-10" dirty="0">
                <a:latin typeface="Comic Sans MS" panose="030F0702030302020204" pitchFamily="66" charset="0"/>
                <a:cs typeface="Calibri" panose="020F0502020204030204"/>
              </a:rPr>
              <a:t>thread </a:t>
            </a:r>
            <a:r>
              <a:rPr sz="2800" spc="-15" dirty="0">
                <a:solidFill>
                  <a:srgbClr val="FF0000"/>
                </a:solidFill>
                <a:latin typeface="Comic Sans MS" panose="030F0702030302020204" pitchFamily="66" charset="0"/>
                <a:cs typeface="Calibri" panose="020F0502020204030204"/>
              </a:rPr>
              <a:t>repeatedly </a:t>
            </a:r>
            <a:r>
              <a:rPr sz="2800" spc="-15" dirty="0">
                <a:latin typeface="Comic Sans MS" panose="030F0702030302020204" pitchFamily="66" charset="0"/>
                <a:cs typeface="Calibri" panose="020F0502020204030204"/>
              </a:rPr>
              <a:t>tests </a:t>
            </a:r>
            <a:r>
              <a:rPr sz="2800" spc="-5" dirty="0">
                <a:latin typeface="Comic Sans MS" panose="030F0702030302020204" pitchFamily="66" charset="0"/>
                <a:cs typeface="Calibri" panose="020F0502020204030204"/>
              </a:rPr>
              <a:t>a </a:t>
            </a:r>
            <a:r>
              <a:rPr sz="2800" spc="-10" dirty="0">
                <a:latin typeface="Comic Sans MS" panose="030F0702030302020204" pitchFamily="66" charset="0"/>
                <a:cs typeface="Calibri" panose="020F0502020204030204"/>
              </a:rPr>
              <a:t>condition, but, </a:t>
            </a:r>
            <a:r>
              <a:rPr sz="2800" spc="-35" dirty="0">
                <a:latin typeface="Comic Sans MS" panose="030F0702030302020204" pitchFamily="66" charset="0"/>
                <a:cs typeface="Calibri" panose="020F0502020204030204"/>
              </a:rPr>
              <a:t>effectively,  </a:t>
            </a:r>
            <a:r>
              <a:rPr sz="2800" spc="-10" dirty="0">
                <a:latin typeface="Comic Sans MS" panose="030F0702030302020204" pitchFamily="66" charset="0"/>
                <a:cs typeface="Calibri" panose="020F0502020204030204"/>
              </a:rPr>
              <a:t>does </a:t>
            </a:r>
            <a:r>
              <a:rPr sz="2800" spc="-5" dirty="0">
                <a:solidFill>
                  <a:srgbClr val="FF0000"/>
                </a:solidFill>
                <a:latin typeface="Comic Sans MS" panose="030F0702030302020204" pitchFamily="66" charset="0"/>
                <a:cs typeface="Calibri" panose="020F0502020204030204"/>
              </a:rPr>
              <a:t>no </a:t>
            </a:r>
            <a:r>
              <a:rPr sz="2800" spc="-15" dirty="0">
                <a:solidFill>
                  <a:srgbClr val="FF0000"/>
                </a:solidFill>
                <a:latin typeface="Comic Sans MS" panose="030F0702030302020204" pitchFamily="66" charset="0"/>
                <a:cs typeface="Calibri" panose="020F0502020204030204"/>
              </a:rPr>
              <a:t>useful </a:t>
            </a:r>
            <a:r>
              <a:rPr sz="2800" spc="-10" dirty="0">
                <a:solidFill>
                  <a:srgbClr val="FF0000"/>
                </a:solidFill>
                <a:latin typeface="Comic Sans MS" panose="030F0702030302020204" pitchFamily="66" charset="0"/>
                <a:cs typeface="Calibri" panose="020F0502020204030204"/>
              </a:rPr>
              <a:t>work </a:t>
            </a:r>
            <a:r>
              <a:rPr sz="2800" spc="-10" dirty="0">
                <a:latin typeface="Comic Sans MS" panose="030F0702030302020204" pitchFamily="66" charset="0"/>
                <a:cs typeface="Calibri" panose="020F0502020204030204"/>
              </a:rPr>
              <a:t>until </a:t>
            </a:r>
            <a:r>
              <a:rPr sz="2800" spc="-5" dirty="0">
                <a:latin typeface="Comic Sans MS" panose="030F0702030302020204" pitchFamily="66" charset="0"/>
                <a:cs typeface="Calibri" panose="020F0502020204030204"/>
              </a:rPr>
              <a:t>the </a:t>
            </a:r>
            <a:r>
              <a:rPr sz="2800" spc="-10" dirty="0">
                <a:latin typeface="Comic Sans MS" panose="030F0702030302020204" pitchFamily="66" charset="0"/>
                <a:cs typeface="Calibri" panose="020F0502020204030204"/>
              </a:rPr>
              <a:t>condition has </a:t>
            </a:r>
            <a:r>
              <a:rPr sz="2800" spc="-5" dirty="0">
                <a:latin typeface="Comic Sans MS" panose="030F0702030302020204" pitchFamily="66" charset="0"/>
                <a:cs typeface="Calibri" panose="020F0502020204030204"/>
              </a:rPr>
              <a:t>the  </a:t>
            </a:r>
            <a:r>
              <a:rPr sz="2800" spc="-15" dirty="0">
                <a:latin typeface="Comic Sans MS" panose="030F0702030302020204" pitchFamily="66" charset="0"/>
                <a:cs typeface="Calibri" panose="020F0502020204030204"/>
              </a:rPr>
              <a:t>appropriate</a:t>
            </a:r>
            <a:r>
              <a:rPr sz="2800" spc="20" dirty="0">
                <a:latin typeface="Comic Sans MS" panose="030F0702030302020204" pitchFamily="66" charset="0"/>
                <a:cs typeface="Calibri" panose="020F0502020204030204"/>
              </a:rPr>
              <a:t> </a:t>
            </a:r>
            <a:r>
              <a:rPr sz="2800" spc="-10" dirty="0">
                <a:latin typeface="Comic Sans MS" panose="030F0702030302020204" pitchFamily="66" charset="0"/>
                <a:cs typeface="Calibri" panose="020F0502020204030204"/>
              </a:rPr>
              <a:t>value.</a:t>
            </a:r>
            <a:endParaRPr sz="2800" dirty="0">
              <a:latin typeface="Comic Sans MS" panose="030F0702030302020204" pitchFamily="66" charset="0"/>
              <a:cs typeface="Calibri" panose="020F0502020204030204"/>
            </a:endParaRPr>
          </a:p>
          <a:p>
            <a:pPr>
              <a:lnSpc>
                <a:spcPct val="100000"/>
              </a:lnSpc>
              <a:spcBef>
                <a:spcPts val="35"/>
              </a:spcBef>
              <a:buFont typeface="Arial" panose="020B0604020202020204"/>
              <a:buChar char="•"/>
            </a:pPr>
            <a:endParaRPr sz="2800" dirty="0">
              <a:latin typeface="Comic Sans MS" panose="030F0702030302020204" pitchFamily="66" charset="0"/>
              <a:cs typeface="Calibri" panose="020F0502020204030204"/>
            </a:endParaRPr>
          </a:p>
          <a:p>
            <a:pPr marL="241300" indent="-229235">
              <a:lnSpc>
                <a:spcPct val="100000"/>
              </a:lnSpc>
              <a:buFont typeface="Arial" panose="020B0604020202020204"/>
              <a:buChar char="•"/>
              <a:tabLst>
                <a:tab pos="241935" algn="l"/>
              </a:tabLst>
            </a:pPr>
            <a:r>
              <a:rPr sz="2800" spc="-20" dirty="0">
                <a:latin typeface="Comic Sans MS" panose="030F0702030302020204" pitchFamily="66" charset="0"/>
                <a:cs typeface="Calibri" panose="020F0502020204030204"/>
              </a:rPr>
              <a:t>Beware </a:t>
            </a:r>
            <a:r>
              <a:rPr sz="2800" spc="-5" dirty="0">
                <a:latin typeface="Comic Sans MS" panose="030F0702030302020204" pitchFamily="66" charset="0"/>
                <a:cs typeface="Calibri" panose="020F0502020204030204"/>
              </a:rPr>
              <a:t>of </a:t>
            </a:r>
            <a:r>
              <a:rPr sz="2800" spc="-10" dirty="0">
                <a:latin typeface="Comic Sans MS" panose="030F0702030302020204" pitchFamily="66" charset="0"/>
                <a:cs typeface="Calibri" panose="020F0502020204030204"/>
              </a:rPr>
              <a:t>optimizing </a:t>
            </a:r>
            <a:r>
              <a:rPr sz="2800" spc="-15" dirty="0">
                <a:latin typeface="Comic Sans MS" panose="030F0702030302020204" pitchFamily="66" charset="0"/>
                <a:cs typeface="Calibri" panose="020F0502020204030204"/>
              </a:rPr>
              <a:t>compilers,</a:t>
            </a:r>
            <a:r>
              <a:rPr sz="2800" spc="45" dirty="0">
                <a:latin typeface="Comic Sans MS" panose="030F0702030302020204" pitchFamily="66" charset="0"/>
                <a:cs typeface="Calibri" panose="020F0502020204030204"/>
              </a:rPr>
              <a:t> </a:t>
            </a:r>
            <a:r>
              <a:rPr sz="2800" spc="-5" dirty="0">
                <a:latin typeface="Comic Sans MS" panose="030F0702030302020204" pitchFamily="66" charset="0"/>
                <a:cs typeface="Calibri" panose="020F0502020204030204"/>
              </a:rPr>
              <a:t>though!</a:t>
            </a:r>
            <a:endParaRPr sz="2800" dirty="0">
              <a:latin typeface="Comic Sans MS" panose="030F0702030302020204" pitchFamily="66" charset="0"/>
              <a:cs typeface="Calibri" panose="020F0502020204030204"/>
            </a:endParaRPr>
          </a:p>
        </p:txBody>
      </p:sp>
      <p:sp>
        <p:nvSpPr>
          <p:cNvPr id="4" name="object 4"/>
          <p:cNvSpPr/>
          <p:nvPr/>
        </p:nvSpPr>
        <p:spPr>
          <a:xfrm>
            <a:off x="1911771" y="4056847"/>
            <a:ext cx="4709464" cy="1539484"/>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p:nvPr/>
        </p:nvSpPr>
        <p:spPr>
          <a:xfrm>
            <a:off x="1729558" y="6043937"/>
            <a:ext cx="5167313" cy="463550"/>
          </a:xfrm>
          <a:prstGeom prst="rect">
            <a:avLst/>
          </a:prstGeom>
        </p:spPr>
        <p:txBody>
          <a:bodyPr vert="horz" wrap="square" lIns="0" tIns="12668" rIns="0" bIns="0" rtlCol="0">
            <a:spAutoFit/>
          </a:bodyPr>
          <a:lstStyle/>
          <a:p>
            <a:pPr marL="12700">
              <a:lnSpc>
                <a:spcPct val="100000"/>
              </a:lnSpc>
              <a:spcBef>
                <a:spcPts val="95"/>
              </a:spcBef>
            </a:pPr>
            <a:r>
              <a:rPr sz="2940" spc="-10" dirty="0">
                <a:solidFill>
                  <a:srgbClr val="FF0000"/>
                </a:solidFill>
                <a:latin typeface="Calibri" panose="020F0502020204030204"/>
                <a:cs typeface="Calibri" panose="020F0502020204030204"/>
              </a:rPr>
              <a:t>flag </a:t>
            </a:r>
            <a:r>
              <a:rPr sz="2940" spc="-15" dirty="0">
                <a:solidFill>
                  <a:srgbClr val="FF0000"/>
                </a:solidFill>
                <a:latin typeface="Calibri" panose="020F0502020204030204"/>
                <a:cs typeface="Calibri" panose="020F0502020204030204"/>
              </a:rPr>
              <a:t>initialized </a:t>
            </a:r>
            <a:r>
              <a:rPr sz="2940" spc="-20" dirty="0">
                <a:solidFill>
                  <a:srgbClr val="FF0000"/>
                </a:solidFill>
                <a:latin typeface="Calibri" panose="020F0502020204030204"/>
                <a:cs typeface="Calibri" panose="020F0502020204030204"/>
              </a:rPr>
              <a:t>to </a:t>
            </a:r>
            <a:r>
              <a:rPr sz="2940" spc="-5" dirty="0">
                <a:solidFill>
                  <a:srgbClr val="FF0000"/>
                </a:solidFill>
                <a:latin typeface="Calibri" panose="020F0502020204030204"/>
                <a:cs typeface="Calibri" panose="020F0502020204030204"/>
              </a:rPr>
              <a:t>0 </a:t>
            </a:r>
            <a:r>
              <a:rPr sz="2940" spc="-15" dirty="0">
                <a:solidFill>
                  <a:srgbClr val="FF0000"/>
                </a:solidFill>
                <a:latin typeface="Calibri" panose="020F0502020204030204"/>
                <a:cs typeface="Calibri" panose="020F0502020204030204"/>
              </a:rPr>
              <a:t>by </a:t>
            </a:r>
            <a:r>
              <a:rPr sz="2940" spc="-5" dirty="0">
                <a:solidFill>
                  <a:srgbClr val="FF0000"/>
                </a:solidFill>
                <a:latin typeface="Calibri" panose="020F0502020204030204"/>
                <a:cs typeface="Calibri" panose="020F0502020204030204"/>
              </a:rPr>
              <a:t>main</a:t>
            </a:r>
            <a:r>
              <a:rPr sz="2940" spc="60" dirty="0">
                <a:solidFill>
                  <a:srgbClr val="FF0000"/>
                </a:solidFill>
                <a:latin typeface="Calibri" panose="020F0502020204030204"/>
                <a:cs typeface="Calibri" panose="020F0502020204030204"/>
              </a:rPr>
              <a:t> </a:t>
            </a:r>
            <a:r>
              <a:rPr sz="2940" spc="-10" dirty="0">
                <a:solidFill>
                  <a:srgbClr val="FF0000"/>
                </a:solidFill>
                <a:latin typeface="Calibri" panose="020F0502020204030204"/>
                <a:cs typeface="Calibri" panose="020F0502020204030204"/>
              </a:rPr>
              <a:t>thread</a:t>
            </a:r>
            <a:endParaRPr sz="2940" dirty="0">
              <a:latin typeface="Calibri" panose="020F0502020204030204"/>
              <a:cs typeface="Calibri" panose="020F0502020204030204"/>
            </a:endParaRPr>
          </a:p>
        </p:txBody>
      </p:sp>
      <p:sp>
        <p:nvSpPr>
          <p:cNvPr id="6" name="object 6"/>
          <p:cNvSpPr/>
          <p:nvPr/>
        </p:nvSpPr>
        <p:spPr>
          <a:xfrm>
            <a:off x="1721784" y="4405644"/>
            <a:ext cx="5069967" cy="498062"/>
          </a:xfrm>
          <a:custGeom>
            <a:avLst/>
            <a:gdLst/>
            <a:ahLst/>
            <a:cxnLst/>
            <a:rect l="l" t="t" r="r" b="b"/>
            <a:pathLst>
              <a:path w="4828540" h="474345">
                <a:moveTo>
                  <a:pt x="4749038" y="0"/>
                </a:moveTo>
                <a:lnTo>
                  <a:pt x="78993" y="0"/>
                </a:lnTo>
                <a:lnTo>
                  <a:pt x="48220" y="6199"/>
                </a:lnTo>
                <a:lnTo>
                  <a:pt x="23113" y="23113"/>
                </a:lnTo>
                <a:lnTo>
                  <a:pt x="6199" y="48220"/>
                </a:lnTo>
                <a:lnTo>
                  <a:pt x="0" y="78993"/>
                </a:lnTo>
                <a:lnTo>
                  <a:pt x="0" y="394969"/>
                </a:lnTo>
                <a:lnTo>
                  <a:pt x="6199" y="425743"/>
                </a:lnTo>
                <a:lnTo>
                  <a:pt x="23114" y="450850"/>
                </a:lnTo>
                <a:lnTo>
                  <a:pt x="48220" y="467764"/>
                </a:lnTo>
                <a:lnTo>
                  <a:pt x="78993" y="473963"/>
                </a:lnTo>
                <a:lnTo>
                  <a:pt x="4749038" y="473963"/>
                </a:lnTo>
                <a:lnTo>
                  <a:pt x="4779811" y="467764"/>
                </a:lnTo>
                <a:lnTo>
                  <a:pt x="4804918" y="450850"/>
                </a:lnTo>
                <a:lnTo>
                  <a:pt x="4821832" y="425743"/>
                </a:lnTo>
                <a:lnTo>
                  <a:pt x="4828032" y="394969"/>
                </a:lnTo>
                <a:lnTo>
                  <a:pt x="4828032" y="78993"/>
                </a:lnTo>
                <a:lnTo>
                  <a:pt x="4821832" y="48220"/>
                </a:lnTo>
                <a:lnTo>
                  <a:pt x="4804918" y="23113"/>
                </a:lnTo>
                <a:lnTo>
                  <a:pt x="4779811" y="6199"/>
                </a:lnTo>
                <a:lnTo>
                  <a:pt x="4749038" y="0"/>
                </a:lnTo>
                <a:close/>
              </a:path>
            </a:pathLst>
          </a:cu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lIns="0" tIns="0" rIns="0" bIns="0" rtlCol="0"/>
          <a:lstStyle/>
          <a:p>
            <a:endParaRPr sz="2310"/>
          </a:p>
        </p:txBody>
      </p:sp>
      <p:sp>
        <p:nvSpPr>
          <p:cNvPr id="8" name="object 8"/>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9" name="矩形 8"/>
          <p:cNvSpPr/>
          <p:nvPr/>
        </p:nvSpPr>
        <p:spPr>
          <a:xfrm>
            <a:off x="8201000" y="2186191"/>
            <a:ext cx="3288030" cy="478155"/>
          </a:xfrm>
          <a:prstGeom prst="rect">
            <a:avLst/>
          </a:prstGeom>
        </p:spPr>
        <p:txBody>
          <a:bodyPr wrap="none">
            <a:spAutoFit/>
          </a:bodyPr>
          <a:lstStyle/>
          <a:p>
            <a:r>
              <a:rPr lang="en-US" sz="2520" dirty="0">
                <a:solidFill>
                  <a:srgbClr val="FF0000"/>
                </a:solidFill>
              </a:rPr>
              <a:t>“volatile” key word in C.</a:t>
            </a:r>
          </a:p>
        </p:txBody>
      </p:sp>
      <p:sp>
        <p:nvSpPr>
          <p:cNvPr id="7" name="矩形 6">
            <a:extLst>
              <a:ext uri="{FF2B5EF4-FFF2-40B4-BE49-F238E27FC236}">
                <a16:creationId xmlns:a16="http://schemas.microsoft.com/office/drawing/2014/main" id="{C2A6322D-2DC4-4197-B88C-9252A04674F3}"/>
              </a:ext>
            </a:extLst>
          </p:cNvPr>
          <p:cNvSpPr/>
          <p:nvPr/>
        </p:nvSpPr>
        <p:spPr>
          <a:xfrm>
            <a:off x="7480920" y="2592333"/>
            <a:ext cx="5002312" cy="4154984"/>
          </a:xfrm>
          <a:prstGeom prst="rect">
            <a:avLst/>
          </a:prstGeom>
        </p:spPr>
        <p:txBody>
          <a:bodyPr wrap="square">
            <a:spAutoFit/>
          </a:bodyPr>
          <a:lstStyle/>
          <a:p>
            <a:r>
              <a:rPr lang="en-US" dirty="0">
                <a:latin typeface="Comic Sans MS" panose="030F0702030302020204" pitchFamily="66" charset="0"/>
              </a:rPr>
              <a:t>Objects declared as </a:t>
            </a:r>
            <a:r>
              <a:rPr lang="en-US" dirty="0">
                <a:solidFill>
                  <a:srgbClr val="FF0000"/>
                </a:solidFill>
                <a:latin typeface="Comic Sans MS" panose="030F0702030302020204" pitchFamily="66" charset="0"/>
              </a:rPr>
              <a:t>volatile</a:t>
            </a:r>
            <a:r>
              <a:rPr lang="en-US" dirty="0">
                <a:latin typeface="Comic Sans MS" panose="030F0702030302020204" pitchFamily="66" charset="0"/>
              </a:rPr>
              <a:t> are omitted from optimization because their values can be changed by code outside the scope of current code at any time. The system always reads the current value of a volatile object from the memory location rather than keeping its value in a temporary register at the point it is requested, even if a previous instruction asked for the value from the same object.</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53829"/>
            <a:ext cx="10762906" cy="627380"/>
          </a:xfrm>
          <a:prstGeom prst="rect">
            <a:avLst/>
          </a:prstGeom>
        </p:spPr>
        <p:txBody>
          <a:bodyPr vert="horz" wrap="square" lIns="0" tIns="12668" rIns="0" bIns="0" rtlCol="0">
            <a:spAutoFit/>
          </a:bodyPr>
          <a:lstStyle/>
          <a:p>
            <a:pPr marL="12700">
              <a:lnSpc>
                <a:spcPct val="100000"/>
              </a:lnSpc>
              <a:spcBef>
                <a:spcPts val="95"/>
              </a:spcBef>
            </a:pPr>
            <a:r>
              <a:rPr spc="-10" dirty="0"/>
              <a:t>Pthreads </a:t>
            </a:r>
            <a:r>
              <a:rPr spc="-5" dirty="0"/>
              <a:t>global sum with</a:t>
            </a:r>
            <a:r>
              <a:rPr spc="25" dirty="0"/>
              <a:t> </a:t>
            </a:r>
            <a:r>
              <a:rPr spc="-15" dirty="0"/>
              <a:t>busy-waiting</a:t>
            </a:r>
          </a:p>
        </p:txBody>
      </p:sp>
      <p:sp>
        <p:nvSpPr>
          <p:cNvPr id="3" name="object 3"/>
          <p:cNvSpPr/>
          <p:nvPr/>
        </p:nvSpPr>
        <p:spPr>
          <a:xfrm>
            <a:off x="2435896" y="1494993"/>
            <a:ext cx="7839808" cy="5391062"/>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697936" y="4794198"/>
            <a:ext cx="7434928" cy="1069467"/>
          </a:xfrm>
          <a:custGeom>
            <a:avLst/>
            <a:gdLst/>
            <a:ahLst/>
            <a:cxnLst/>
            <a:rect l="l" t="t" r="r" b="b"/>
            <a:pathLst>
              <a:path w="7080884" h="1018539">
                <a:moveTo>
                  <a:pt x="6910832" y="0"/>
                </a:moveTo>
                <a:lnTo>
                  <a:pt x="169672" y="0"/>
                </a:lnTo>
                <a:lnTo>
                  <a:pt x="124564" y="6059"/>
                </a:lnTo>
                <a:lnTo>
                  <a:pt x="84032" y="23161"/>
                </a:lnTo>
                <a:lnTo>
                  <a:pt x="49693" y="49688"/>
                </a:lnTo>
                <a:lnTo>
                  <a:pt x="23163" y="84026"/>
                </a:lnTo>
                <a:lnTo>
                  <a:pt x="6060" y="124559"/>
                </a:lnTo>
                <a:lnTo>
                  <a:pt x="0" y="169672"/>
                </a:lnTo>
                <a:lnTo>
                  <a:pt x="0" y="848360"/>
                </a:lnTo>
                <a:lnTo>
                  <a:pt x="6060" y="893472"/>
                </a:lnTo>
                <a:lnTo>
                  <a:pt x="23163" y="934005"/>
                </a:lnTo>
                <a:lnTo>
                  <a:pt x="49693" y="968343"/>
                </a:lnTo>
                <a:lnTo>
                  <a:pt x="84032" y="994870"/>
                </a:lnTo>
                <a:lnTo>
                  <a:pt x="124564" y="1011972"/>
                </a:lnTo>
                <a:lnTo>
                  <a:pt x="169672" y="1018032"/>
                </a:lnTo>
                <a:lnTo>
                  <a:pt x="6910832" y="1018032"/>
                </a:lnTo>
                <a:lnTo>
                  <a:pt x="6955944" y="1011972"/>
                </a:lnTo>
                <a:lnTo>
                  <a:pt x="6996477" y="994870"/>
                </a:lnTo>
                <a:lnTo>
                  <a:pt x="7030815" y="968343"/>
                </a:lnTo>
                <a:lnTo>
                  <a:pt x="7057342" y="934005"/>
                </a:lnTo>
                <a:lnTo>
                  <a:pt x="7074444" y="893472"/>
                </a:lnTo>
                <a:lnTo>
                  <a:pt x="7080504" y="848360"/>
                </a:lnTo>
                <a:lnTo>
                  <a:pt x="7080504" y="169672"/>
                </a:lnTo>
                <a:lnTo>
                  <a:pt x="7074444" y="124559"/>
                </a:lnTo>
                <a:lnTo>
                  <a:pt x="7057342" y="84026"/>
                </a:lnTo>
                <a:lnTo>
                  <a:pt x="7030815" y="49688"/>
                </a:lnTo>
                <a:lnTo>
                  <a:pt x="6996477" y="23161"/>
                </a:lnTo>
                <a:lnTo>
                  <a:pt x="6955944" y="6059"/>
                </a:lnTo>
                <a:lnTo>
                  <a:pt x="6910832" y="0"/>
                </a:lnTo>
                <a:close/>
              </a:path>
            </a:pathLst>
          </a:cu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35</a:t>
            </a:fld>
            <a:endParaRPr sz="1575" dirty="0"/>
          </a:p>
        </p:txBody>
      </p:sp>
      <p:sp>
        <p:nvSpPr>
          <p:cNvPr id="9" name="圆角矩形 8"/>
          <p:cNvSpPr/>
          <p:nvPr/>
        </p:nvSpPr>
        <p:spPr>
          <a:xfrm>
            <a:off x="3123468" y="5123718"/>
            <a:ext cx="3175782" cy="5077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5980" y="-159"/>
            <a:ext cx="10762906" cy="1353185"/>
          </a:xfrm>
          <a:prstGeom prst="rect">
            <a:avLst/>
          </a:prstGeom>
        </p:spPr>
        <p:txBody>
          <a:bodyPr vert="horz" wrap="square" lIns="0" tIns="245764" rIns="0" bIns="0" rtlCol="0">
            <a:spAutoFit/>
          </a:bodyPr>
          <a:lstStyle/>
          <a:p>
            <a:pPr marL="12700" marR="5080">
              <a:lnSpc>
                <a:spcPts val="4320"/>
              </a:lnSpc>
              <a:spcBef>
                <a:spcPts val="640"/>
              </a:spcBef>
            </a:pPr>
            <a:r>
              <a:rPr spc="-5" dirty="0"/>
              <a:t>Global sum function with </a:t>
            </a:r>
            <a:r>
              <a:rPr spc="-10" dirty="0"/>
              <a:t>critical  </a:t>
            </a:r>
            <a:r>
              <a:rPr spc="-5" dirty="0"/>
              <a:t>section </a:t>
            </a:r>
            <a:r>
              <a:rPr spc="-20" dirty="0"/>
              <a:t>after </a:t>
            </a:r>
            <a:r>
              <a:rPr spc="-5" dirty="0"/>
              <a:t>loop</a:t>
            </a:r>
            <a:r>
              <a:rPr spc="5" dirty="0"/>
              <a:t> </a:t>
            </a:r>
            <a:r>
              <a:rPr spc="-5" dirty="0"/>
              <a:t>(1)</a:t>
            </a:r>
          </a:p>
        </p:txBody>
      </p:sp>
      <p:sp>
        <p:nvSpPr>
          <p:cNvPr id="3" name="object 3"/>
          <p:cNvSpPr/>
          <p:nvPr/>
        </p:nvSpPr>
        <p:spPr>
          <a:xfrm>
            <a:off x="2688940" y="2118429"/>
            <a:ext cx="7615398" cy="4347086"/>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36</a:t>
            </a:fld>
            <a:endParaRPr sz="1575" dirty="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0125" y="71596"/>
            <a:ext cx="10762906" cy="1353185"/>
          </a:xfrm>
          <a:prstGeom prst="rect">
            <a:avLst/>
          </a:prstGeom>
        </p:spPr>
        <p:txBody>
          <a:bodyPr vert="horz" wrap="square" lIns="0" tIns="245764" rIns="0" bIns="0" rtlCol="0">
            <a:spAutoFit/>
          </a:bodyPr>
          <a:lstStyle/>
          <a:p>
            <a:pPr marL="12700" marR="5080">
              <a:lnSpc>
                <a:spcPts val="4320"/>
              </a:lnSpc>
              <a:spcBef>
                <a:spcPts val="640"/>
              </a:spcBef>
            </a:pPr>
            <a:r>
              <a:rPr spc="-5" dirty="0"/>
              <a:t>Global sum function with </a:t>
            </a:r>
            <a:r>
              <a:rPr spc="-10" dirty="0"/>
              <a:t>critical  </a:t>
            </a:r>
            <a:r>
              <a:rPr spc="-5" dirty="0"/>
              <a:t>section </a:t>
            </a:r>
            <a:r>
              <a:rPr spc="-20" dirty="0"/>
              <a:t>after </a:t>
            </a:r>
            <a:r>
              <a:rPr spc="-5" dirty="0"/>
              <a:t>loop</a:t>
            </a:r>
            <a:r>
              <a:rPr spc="5" dirty="0"/>
              <a:t> </a:t>
            </a:r>
            <a:r>
              <a:rPr spc="-5" dirty="0"/>
              <a:t>(2)</a:t>
            </a:r>
          </a:p>
        </p:txBody>
      </p:sp>
      <p:sp>
        <p:nvSpPr>
          <p:cNvPr id="3" name="object 3"/>
          <p:cNvSpPr/>
          <p:nvPr/>
        </p:nvSpPr>
        <p:spPr>
          <a:xfrm>
            <a:off x="1987628" y="2596021"/>
            <a:ext cx="8768464" cy="2625034"/>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116875" y="3373804"/>
            <a:ext cx="5023295" cy="1069467"/>
          </a:xfrm>
          <a:custGeom>
            <a:avLst/>
            <a:gdLst/>
            <a:ahLst/>
            <a:cxnLst/>
            <a:rect l="l" t="t" r="r" b="b"/>
            <a:pathLst>
              <a:path w="4784090" h="1018539">
                <a:moveTo>
                  <a:pt x="4614164" y="0"/>
                </a:moveTo>
                <a:lnTo>
                  <a:pt x="169672" y="0"/>
                </a:lnTo>
                <a:lnTo>
                  <a:pt x="124568" y="6059"/>
                </a:lnTo>
                <a:lnTo>
                  <a:pt x="84038" y="23161"/>
                </a:lnTo>
                <a:lnTo>
                  <a:pt x="49698" y="49688"/>
                </a:lnTo>
                <a:lnTo>
                  <a:pt x="23166" y="84026"/>
                </a:lnTo>
                <a:lnTo>
                  <a:pt x="6061" y="124559"/>
                </a:lnTo>
                <a:lnTo>
                  <a:pt x="0" y="169672"/>
                </a:lnTo>
                <a:lnTo>
                  <a:pt x="0" y="848359"/>
                </a:lnTo>
                <a:lnTo>
                  <a:pt x="6061" y="893472"/>
                </a:lnTo>
                <a:lnTo>
                  <a:pt x="23166" y="934005"/>
                </a:lnTo>
                <a:lnTo>
                  <a:pt x="49698" y="968343"/>
                </a:lnTo>
                <a:lnTo>
                  <a:pt x="84038" y="994870"/>
                </a:lnTo>
                <a:lnTo>
                  <a:pt x="124568" y="1011972"/>
                </a:lnTo>
                <a:lnTo>
                  <a:pt x="169672" y="1018032"/>
                </a:lnTo>
                <a:lnTo>
                  <a:pt x="4614164" y="1018032"/>
                </a:lnTo>
                <a:lnTo>
                  <a:pt x="4659276" y="1011972"/>
                </a:lnTo>
                <a:lnTo>
                  <a:pt x="4699809" y="994870"/>
                </a:lnTo>
                <a:lnTo>
                  <a:pt x="4734147" y="968343"/>
                </a:lnTo>
                <a:lnTo>
                  <a:pt x="4760674" y="934005"/>
                </a:lnTo>
                <a:lnTo>
                  <a:pt x="4777776" y="893472"/>
                </a:lnTo>
                <a:lnTo>
                  <a:pt x="4783836" y="848359"/>
                </a:lnTo>
                <a:lnTo>
                  <a:pt x="4783836" y="169672"/>
                </a:lnTo>
                <a:lnTo>
                  <a:pt x="4777776" y="124559"/>
                </a:lnTo>
                <a:lnTo>
                  <a:pt x="4760674" y="84026"/>
                </a:lnTo>
                <a:lnTo>
                  <a:pt x="4734147" y="49688"/>
                </a:lnTo>
                <a:lnTo>
                  <a:pt x="4699809" y="23161"/>
                </a:lnTo>
                <a:lnTo>
                  <a:pt x="4659276" y="6059"/>
                </a:lnTo>
                <a:lnTo>
                  <a:pt x="4614164" y="0"/>
                </a:lnTo>
                <a:close/>
              </a:path>
            </a:pathLst>
          </a:custGeom>
          <a:solidFill>
            <a:schemeClr val="accent1">
              <a:lumMod val="60000"/>
              <a:lumOff val="40000"/>
              <a:alpha val="21960"/>
            </a:schemeClr>
          </a:solidFill>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37</a:t>
            </a:fld>
            <a:endParaRPr sz="1575" dirty="0"/>
          </a:p>
        </p:txBody>
      </p:sp>
      <p:sp>
        <p:nvSpPr>
          <p:cNvPr id="7" name="object 4"/>
          <p:cNvSpPr/>
          <p:nvPr/>
        </p:nvSpPr>
        <p:spPr>
          <a:xfrm>
            <a:off x="2184575" y="2328114"/>
            <a:ext cx="8712171" cy="890390"/>
          </a:xfrm>
          <a:custGeom>
            <a:avLst/>
            <a:gdLst/>
            <a:ahLst/>
            <a:cxnLst/>
            <a:rect l="l" t="t" r="r" b="b"/>
            <a:pathLst>
              <a:path w="4784090" h="1018539">
                <a:moveTo>
                  <a:pt x="4614164" y="0"/>
                </a:moveTo>
                <a:lnTo>
                  <a:pt x="169672" y="0"/>
                </a:lnTo>
                <a:lnTo>
                  <a:pt x="124568" y="6059"/>
                </a:lnTo>
                <a:lnTo>
                  <a:pt x="84038" y="23161"/>
                </a:lnTo>
                <a:lnTo>
                  <a:pt x="49698" y="49688"/>
                </a:lnTo>
                <a:lnTo>
                  <a:pt x="23166" y="84026"/>
                </a:lnTo>
                <a:lnTo>
                  <a:pt x="6061" y="124559"/>
                </a:lnTo>
                <a:lnTo>
                  <a:pt x="0" y="169672"/>
                </a:lnTo>
                <a:lnTo>
                  <a:pt x="0" y="848359"/>
                </a:lnTo>
                <a:lnTo>
                  <a:pt x="6061" y="893472"/>
                </a:lnTo>
                <a:lnTo>
                  <a:pt x="23166" y="934005"/>
                </a:lnTo>
                <a:lnTo>
                  <a:pt x="49698" y="968343"/>
                </a:lnTo>
                <a:lnTo>
                  <a:pt x="84038" y="994870"/>
                </a:lnTo>
                <a:lnTo>
                  <a:pt x="124568" y="1011972"/>
                </a:lnTo>
                <a:lnTo>
                  <a:pt x="169672" y="1018032"/>
                </a:lnTo>
                <a:lnTo>
                  <a:pt x="4614164" y="1018032"/>
                </a:lnTo>
                <a:lnTo>
                  <a:pt x="4659276" y="1011972"/>
                </a:lnTo>
                <a:lnTo>
                  <a:pt x="4699809" y="994870"/>
                </a:lnTo>
                <a:lnTo>
                  <a:pt x="4734147" y="968343"/>
                </a:lnTo>
                <a:lnTo>
                  <a:pt x="4760674" y="934005"/>
                </a:lnTo>
                <a:lnTo>
                  <a:pt x="4777776" y="893472"/>
                </a:lnTo>
                <a:lnTo>
                  <a:pt x="4783836" y="848359"/>
                </a:lnTo>
                <a:lnTo>
                  <a:pt x="4783836" y="169672"/>
                </a:lnTo>
                <a:lnTo>
                  <a:pt x="4777776" y="124559"/>
                </a:lnTo>
                <a:lnTo>
                  <a:pt x="4760674" y="84026"/>
                </a:lnTo>
                <a:lnTo>
                  <a:pt x="4734147" y="49688"/>
                </a:lnTo>
                <a:lnTo>
                  <a:pt x="4699809" y="23161"/>
                </a:lnTo>
                <a:lnTo>
                  <a:pt x="4659276" y="6059"/>
                </a:lnTo>
                <a:lnTo>
                  <a:pt x="4614164" y="0"/>
                </a:lnTo>
                <a:close/>
              </a:path>
            </a:pathLst>
          </a:custGeom>
          <a:solidFill>
            <a:schemeClr val="accent1">
              <a:lumMod val="60000"/>
              <a:lumOff val="40000"/>
              <a:alpha val="21960"/>
            </a:schemeClr>
          </a:solidFill>
        </p:spPr>
        <p:txBody>
          <a:bodyPr wrap="square" lIns="0" tIns="0" rIns="0" bIns="0" rtlCol="0"/>
          <a:lstStyle/>
          <a:p>
            <a:endParaRPr sz="2310"/>
          </a:p>
        </p:txBody>
      </p:sp>
      <p:pic>
        <p:nvPicPr>
          <p:cNvPr id="5" name="图片 4">
            <a:extLst>
              <a:ext uri="{FF2B5EF4-FFF2-40B4-BE49-F238E27FC236}">
                <a16:creationId xmlns:a16="http://schemas.microsoft.com/office/drawing/2014/main" id="{48A7F43D-C648-4215-AAA0-0DA2B2F39202}"/>
              </a:ext>
            </a:extLst>
          </p:cNvPr>
          <p:cNvPicPr>
            <a:picLocks noChangeAspect="1"/>
          </p:cNvPicPr>
          <p:nvPr/>
        </p:nvPicPr>
        <p:blipFill>
          <a:blip r:embed="rId3"/>
          <a:stretch>
            <a:fillRect/>
          </a:stretch>
        </p:blipFill>
        <p:spPr>
          <a:xfrm>
            <a:off x="8417024" y="4458926"/>
            <a:ext cx="2809875" cy="1628775"/>
          </a:xfrm>
          <a:prstGeom prst="rect">
            <a:avLst/>
          </a:prstGeom>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err="1"/>
              <a:t>Mu</a:t>
            </a:r>
            <a:r>
              <a:rPr sz="4620" spc="-45" dirty="0" err="1"/>
              <a:t>t</a:t>
            </a:r>
            <a:r>
              <a:rPr sz="4620" spc="-65" dirty="0" err="1"/>
              <a:t>e</a:t>
            </a:r>
            <a:r>
              <a:rPr sz="4620" spc="-120" dirty="0" err="1"/>
              <a:t>x</a:t>
            </a:r>
            <a:r>
              <a:rPr sz="4620" spc="-5" dirty="0" err="1"/>
              <a:t>es</a:t>
            </a:r>
            <a:r>
              <a:rPr lang="en-US" sz="4620" spc="-5" dirty="0"/>
              <a:t> </a:t>
            </a:r>
            <a:endParaRPr sz="4620" dirty="0"/>
          </a:p>
        </p:txBody>
      </p:sp>
      <p:sp>
        <p:nvSpPr>
          <p:cNvPr id="3" name="object 3"/>
          <p:cNvSpPr txBox="1"/>
          <p:nvPr/>
        </p:nvSpPr>
        <p:spPr>
          <a:xfrm>
            <a:off x="2343118" y="1883168"/>
            <a:ext cx="8450169" cy="3312444"/>
          </a:xfrm>
          <a:prstGeom prst="rect">
            <a:avLst/>
          </a:prstGeom>
        </p:spPr>
        <p:txBody>
          <a:bodyPr vert="horz" wrap="square" lIns="0" tIns="64007" rIns="0" bIns="0" rtlCol="0">
            <a:spAutoFit/>
          </a:bodyPr>
          <a:lstStyle/>
          <a:p>
            <a:pPr marL="241300" marR="5080" indent="-228600">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thread that </a:t>
            </a:r>
            <a:r>
              <a:rPr sz="2940" spc="-5" dirty="0">
                <a:latin typeface="Comic Sans MS" panose="030F0702030302020204" pitchFamily="66" charset="0"/>
                <a:cs typeface="Calibri" panose="020F0502020204030204"/>
              </a:rPr>
              <a:t>is </a:t>
            </a:r>
            <a:r>
              <a:rPr sz="2940" spc="-15" dirty="0">
                <a:solidFill>
                  <a:srgbClr val="FF0000"/>
                </a:solidFill>
                <a:latin typeface="Comic Sans MS" panose="030F0702030302020204" pitchFamily="66" charset="0"/>
                <a:cs typeface="Calibri" panose="020F0502020204030204"/>
              </a:rPr>
              <a:t>busy-waiting </a:t>
            </a:r>
            <a:r>
              <a:rPr sz="2940" spc="-20" dirty="0">
                <a:latin typeface="Comic Sans MS" panose="030F0702030302020204" pitchFamily="66" charset="0"/>
                <a:cs typeface="Calibri" panose="020F0502020204030204"/>
              </a:rPr>
              <a:t>may </a:t>
            </a:r>
            <a:r>
              <a:rPr sz="2940" spc="-15" dirty="0">
                <a:latin typeface="Comic Sans MS" panose="030F0702030302020204" pitchFamily="66" charset="0"/>
                <a:cs typeface="Calibri" panose="020F0502020204030204"/>
              </a:rPr>
              <a:t>continually </a:t>
            </a:r>
            <a:r>
              <a:rPr sz="2940" spc="-10" dirty="0">
                <a:latin typeface="Comic Sans MS" panose="030F0702030302020204" pitchFamily="66" charset="0"/>
                <a:cs typeface="Calibri" panose="020F0502020204030204"/>
              </a:rPr>
              <a:t>use  </a:t>
            </a:r>
            <a:r>
              <a:rPr sz="2940" spc="-5" dirty="0">
                <a:latin typeface="Comic Sans MS" panose="030F0702030302020204" pitchFamily="66" charset="0"/>
                <a:cs typeface="Calibri" panose="020F0502020204030204"/>
              </a:rPr>
              <a:t>the CPU </a:t>
            </a:r>
            <a:r>
              <a:rPr sz="2940" spc="-10" dirty="0">
                <a:latin typeface="Comic Sans MS" panose="030F0702030302020204" pitchFamily="66" charset="0"/>
                <a:cs typeface="Calibri" panose="020F0502020204030204"/>
              </a:rPr>
              <a:t>accomplishing</a:t>
            </a:r>
            <a:r>
              <a:rPr sz="2940" spc="65" dirty="0">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nothing</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spcBef>
                <a:spcPts val="10"/>
              </a:spcBef>
              <a:buChar char="•"/>
            </a:pPr>
            <a:endParaRPr sz="3465" dirty="0">
              <a:latin typeface="Comic Sans MS" panose="030F0702030302020204" pitchFamily="66" charset="0"/>
              <a:cs typeface="Calibri" panose="020F0502020204030204"/>
            </a:endParaRPr>
          </a:p>
          <a:p>
            <a:pPr marL="241300" marR="324485" indent="-228600">
              <a:spcBef>
                <a:spcPts val="5"/>
              </a:spcBef>
              <a:buFont typeface="Arial" panose="020B0604020202020204"/>
              <a:buChar char="•"/>
              <a:tabLst>
                <a:tab pos="241300" algn="l"/>
              </a:tabLst>
            </a:pPr>
            <a:r>
              <a:rPr sz="2940" b="1" spc="-25" dirty="0">
                <a:solidFill>
                  <a:srgbClr val="0000FF"/>
                </a:solidFill>
                <a:latin typeface="Comic Sans MS" panose="030F0702030302020204" pitchFamily="66" charset="0"/>
                <a:cs typeface="Calibri" panose="020F0502020204030204"/>
              </a:rPr>
              <a:t>Mutex </a:t>
            </a:r>
            <a:r>
              <a:rPr sz="2940" spc="-10" dirty="0">
                <a:latin typeface="Comic Sans MS" panose="030F0702030302020204" pitchFamily="66" charset="0"/>
                <a:cs typeface="Calibri" panose="020F0502020204030204"/>
              </a:rPr>
              <a:t>(mutual </a:t>
            </a:r>
            <a:r>
              <a:rPr sz="2940" spc="-20" dirty="0">
                <a:latin typeface="Comic Sans MS" panose="030F0702030302020204" pitchFamily="66" charset="0"/>
                <a:cs typeface="Calibri" panose="020F0502020204030204"/>
              </a:rPr>
              <a:t>exclusion) </a:t>
            </a:r>
            <a:r>
              <a:rPr sz="2940" spc="-5" dirty="0">
                <a:latin typeface="Comic Sans MS" panose="030F0702030302020204" pitchFamily="66" charset="0"/>
                <a:cs typeface="Calibri" panose="020F0502020204030204"/>
              </a:rPr>
              <a:t>is a </a:t>
            </a:r>
            <a:r>
              <a:rPr sz="2940" spc="-10" dirty="0">
                <a:latin typeface="Comic Sans MS" panose="030F0702030302020204" pitchFamily="66" charset="0"/>
                <a:cs typeface="Calibri" panose="020F0502020204030204"/>
              </a:rPr>
              <a:t>special type of </a:t>
            </a:r>
            <a:r>
              <a:rPr sz="2940" spc="-10" dirty="0">
                <a:solidFill>
                  <a:srgbClr val="FF0000"/>
                </a:solidFill>
                <a:latin typeface="Comic Sans MS" panose="030F0702030302020204" pitchFamily="66" charset="0"/>
                <a:cs typeface="Calibri" panose="020F0502020204030204"/>
              </a:rPr>
              <a:t> variable </a:t>
            </a:r>
            <a:r>
              <a:rPr sz="2940" spc="-10" dirty="0">
                <a:latin typeface="Comic Sans MS" panose="030F0702030302020204" pitchFamily="66" charset="0"/>
                <a:cs typeface="Calibri" panose="020F0502020204030204"/>
              </a:rPr>
              <a:t>that can </a:t>
            </a:r>
            <a:r>
              <a:rPr sz="2940" spc="-5" dirty="0">
                <a:latin typeface="Comic Sans MS" panose="030F0702030302020204" pitchFamily="66" charset="0"/>
                <a:cs typeface="Calibri" panose="020F0502020204030204"/>
              </a:rPr>
              <a:t>be </a:t>
            </a:r>
            <a:r>
              <a:rPr sz="2940" spc="-10" dirty="0">
                <a:latin typeface="Comic Sans MS" panose="030F0702030302020204" pitchFamily="66" charset="0"/>
                <a:cs typeface="Calibri" panose="020F0502020204030204"/>
              </a:rPr>
              <a:t>used </a:t>
            </a:r>
            <a:r>
              <a:rPr sz="2940" spc="-20" dirty="0">
                <a:latin typeface="Comic Sans MS" panose="030F0702030302020204" pitchFamily="66" charset="0"/>
                <a:cs typeface="Calibri" panose="020F0502020204030204"/>
              </a:rPr>
              <a:t>to </a:t>
            </a:r>
            <a:r>
              <a:rPr sz="2940" spc="-15" dirty="0">
                <a:solidFill>
                  <a:srgbClr val="FF0000"/>
                </a:solidFill>
                <a:latin typeface="Comic Sans MS" panose="030F0702030302020204" pitchFamily="66" charset="0"/>
                <a:cs typeface="Calibri" panose="020F0502020204030204"/>
              </a:rPr>
              <a:t>restrict </a:t>
            </a:r>
            <a:r>
              <a:rPr sz="2940" spc="-5" dirty="0">
                <a:solidFill>
                  <a:srgbClr val="FF0000"/>
                </a:solidFill>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 </a:t>
            </a:r>
            <a:r>
              <a:rPr sz="2940" spc="-5"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critical section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single thread </a:t>
            </a:r>
            <a:r>
              <a:rPr sz="2940" spc="-15" dirty="0">
                <a:latin typeface="Comic Sans MS" panose="030F0702030302020204" pitchFamily="66" charset="0"/>
                <a:cs typeface="Calibri" panose="020F0502020204030204"/>
              </a:rPr>
              <a:t>at </a:t>
            </a:r>
            <a:r>
              <a:rPr sz="2940" spc="-5" dirty="0">
                <a:latin typeface="Comic Sans MS" panose="030F0702030302020204" pitchFamily="66" charset="0"/>
                <a:cs typeface="Calibri" panose="020F0502020204030204"/>
              </a:rPr>
              <a:t>a</a:t>
            </a:r>
            <a:r>
              <a:rPr sz="2940" spc="12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time.</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Mu</a:t>
            </a:r>
            <a:r>
              <a:rPr sz="4620" spc="-50" dirty="0"/>
              <a:t>t</a:t>
            </a:r>
            <a:r>
              <a:rPr sz="4620" spc="-70" dirty="0"/>
              <a:t>e</a:t>
            </a:r>
            <a:r>
              <a:rPr sz="4620" spc="-120" dirty="0"/>
              <a:t>x</a:t>
            </a:r>
            <a:r>
              <a:rPr sz="4620" spc="-5" dirty="0"/>
              <a:t>es</a:t>
            </a:r>
            <a:endParaRPr sz="4620" dirty="0"/>
          </a:p>
        </p:txBody>
      </p:sp>
      <p:sp>
        <p:nvSpPr>
          <p:cNvPr id="3" name="object 3"/>
          <p:cNvSpPr txBox="1"/>
          <p:nvPr/>
        </p:nvSpPr>
        <p:spPr>
          <a:xfrm>
            <a:off x="2080320" y="1728242"/>
            <a:ext cx="9458281" cy="3269099"/>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Used </a:t>
            </a:r>
            <a:r>
              <a:rPr sz="2940" spc="-20" dirty="0">
                <a:latin typeface="Comic Sans MS" panose="030F0702030302020204" pitchFamily="66" charset="0"/>
                <a:cs typeface="Calibri" panose="020F0502020204030204"/>
              </a:rPr>
              <a:t>to guarantee </a:t>
            </a:r>
            <a:r>
              <a:rPr sz="2940" spc="-10" dirty="0">
                <a:latin typeface="Comic Sans MS" panose="030F0702030302020204" pitchFamily="66" charset="0"/>
                <a:cs typeface="Calibri" panose="020F0502020204030204"/>
              </a:rPr>
              <a:t>that one thread </a:t>
            </a:r>
            <a:r>
              <a:rPr sz="2940" spc="-30" dirty="0">
                <a:latin typeface="Comic Sans MS" panose="030F0702030302020204" pitchFamily="66" charset="0"/>
                <a:cs typeface="Calibri" panose="020F0502020204030204"/>
              </a:rPr>
              <a:t>“</a:t>
            </a:r>
            <a:r>
              <a:rPr sz="2940" spc="-30" dirty="0">
                <a:solidFill>
                  <a:srgbClr val="FF0000"/>
                </a:solidFill>
                <a:latin typeface="Comic Sans MS" panose="030F0702030302020204" pitchFamily="66" charset="0"/>
                <a:cs typeface="Calibri" panose="020F0502020204030204"/>
              </a:rPr>
              <a:t>excludes</a:t>
            </a:r>
            <a:r>
              <a:rPr sz="2940" spc="-30" dirty="0">
                <a:latin typeface="Comic Sans MS" panose="030F0702030302020204" pitchFamily="66" charset="0"/>
                <a:cs typeface="Calibri" panose="020F0502020204030204"/>
              </a:rPr>
              <a:t>” </a:t>
            </a:r>
            <a:r>
              <a:rPr sz="2940" spc="-5" dirty="0">
                <a:solidFill>
                  <a:srgbClr val="0000FF"/>
                </a:solidFill>
                <a:latin typeface="Comic Sans MS" panose="030F0702030302020204" pitchFamily="66" charset="0"/>
                <a:cs typeface="Calibri" panose="020F0502020204030204"/>
              </a:rPr>
              <a:t>all  other </a:t>
            </a:r>
            <a:r>
              <a:rPr sz="2940" spc="-10" dirty="0">
                <a:solidFill>
                  <a:srgbClr val="0000FF"/>
                </a:solidFill>
                <a:latin typeface="Comic Sans MS" panose="030F0702030302020204" pitchFamily="66" charset="0"/>
                <a:cs typeface="Calibri" panose="020F0502020204030204"/>
              </a:rPr>
              <a:t>threads </a:t>
            </a:r>
            <a:r>
              <a:rPr sz="2940" spc="-5" dirty="0">
                <a:latin typeface="Comic Sans MS" panose="030F0702030302020204" pitchFamily="66" charset="0"/>
                <a:cs typeface="Calibri" panose="020F0502020204030204"/>
              </a:rPr>
              <a:t>while it </a:t>
            </a:r>
            <a:r>
              <a:rPr sz="2940" spc="-20" dirty="0">
                <a:latin typeface="Comic Sans MS" panose="030F0702030302020204" pitchFamily="66" charset="0"/>
                <a:cs typeface="Calibri" panose="020F0502020204030204"/>
              </a:rPr>
              <a:t>executes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critical</a:t>
            </a:r>
            <a:r>
              <a:rPr sz="2940" spc="9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section.</a:t>
            </a:r>
            <a:endParaRPr sz="2940" dirty="0">
              <a:latin typeface="Comic Sans MS" panose="030F0702030302020204" pitchFamily="66" charset="0"/>
              <a:cs typeface="Calibri" panose="020F0502020204030204"/>
            </a:endParaRPr>
          </a:p>
          <a:p>
            <a:pPr>
              <a:lnSpc>
                <a:spcPct val="100000"/>
              </a:lnSpc>
              <a:spcBef>
                <a:spcPts val="10"/>
              </a:spcBef>
              <a:buFont typeface="Arial" panose="020B0604020202020204"/>
              <a:buChar char="•"/>
            </a:pPr>
            <a:endParaRPr sz="3465" dirty="0">
              <a:latin typeface="Comic Sans MS" panose="030F0702030302020204" pitchFamily="66" charset="0"/>
              <a:cs typeface="Calibri" panose="020F0502020204030204"/>
            </a:endParaRPr>
          </a:p>
          <a:p>
            <a:pPr marL="241300" marR="212090" indent="-228600">
              <a:lnSpc>
                <a:spcPts val="3020"/>
              </a:lnSpc>
              <a:spcBef>
                <a:spcPts val="5"/>
              </a:spcBef>
              <a:buFont typeface="Arial" panose="020B0604020202020204"/>
              <a:buChar char="•"/>
              <a:tabLst>
                <a:tab pos="241300" algn="l"/>
              </a:tabLst>
            </a:pPr>
            <a:r>
              <a:rPr sz="2940" spc="-10" dirty="0">
                <a:latin typeface="Comic Sans MS" panose="030F0702030302020204" pitchFamily="66" charset="0"/>
                <a:cs typeface="Calibri" panose="020F0502020204030204"/>
              </a:rPr>
              <a:t>The Pthreads </a:t>
            </a:r>
            <a:r>
              <a:rPr sz="2940" spc="-20" dirty="0">
                <a:latin typeface="Comic Sans MS" panose="030F0702030302020204" pitchFamily="66" charset="0"/>
                <a:cs typeface="Calibri" panose="020F0502020204030204"/>
              </a:rPr>
              <a:t>standard </a:t>
            </a:r>
            <a:r>
              <a:rPr sz="2940" spc="-5" dirty="0">
                <a:latin typeface="Comic Sans MS" panose="030F0702030302020204" pitchFamily="66" charset="0"/>
                <a:cs typeface="Calibri" panose="020F0502020204030204"/>
              </a:rPr>
              <a:t>includes a </a:t>
            </a:r>
            <a:r>
              <a:rPr sz="2940" spc="-10" dirty="0">
                <a:latin typeface="Comic Sans MS" panose="030F0702030302020204" pitchFamily="66" charset="0"/>
                <a:cs typeface="Calibri" panose="020F0502020204030204"/>
              </a:rPr>
              <a:t>special type </a:t>
            </a:r>
            <a:r>
              <a:rPr sz="2940" spc="-30" dirty="0">
                <a:latin typeface="Comic Sans MS" panose="030F0702030302020204" pitchFamily="66" charset="0"/>
                <a:cs typeface="Calibri" panose="020F0502020204030204"/>
              </a:rPr>
              <a:t>for  </a:t>
            </a:r>
            <a:r>
              <a:rPr sz="2940" spc="-25" dirty="0">
                <a:latin typeface="Comic Sans MS" panose="030F0702030302020204" pitchFamily="66" charset="0"/>
                <a:cs typeface="Calibri" panose="020F0502020204030204"/>
              </a:rPr>
              <a:t>mutexes:</a:t>
            </a:r>
            <a:r>
              <a:rPr sz="2940" spc="10" dirty="0">
                <a:latin typeface="Comic Sans MS" panose="030F0702030302020204" pitchFamily="66" charset="0"/>
                <a:cs typeface="Calibri" panose="020F0502020204030204"/>
              </a:rPr>
              <a:t> </a:t>
            </a:r>
            <a:r>
              <a:rPr sz="2940" spc="-15" dirty="0" err="1">
                <a:solidFill>
                  <a:srgbClr val="FF0000"/>
                </a:solidFill>
                <a:latin typeface="Comic Sans MS" panose="030F0702030302020204" pitchFamily="66" charset="0"/>
                <a:cs typeface="Calibri" panose="020F0502020204030204"/>
              </a:rPr>
              <a:t>pthread_mutex_t</a:t>
            </a:r>
            <a:r>
              <a:rPr sz="2940" spc="-15" dirty="0">
                <a:solidFill>
                  <a:srgbClr val="FF0000"/>
                </a:solidFill>
                <a:latin typeface="Comic Sans MS" panose="030F0702030302020204" pitchFamily="66" charset="0"/>
                <a:cs typeface="Calibri" panose="020F0502020204030204"/>
              </a:rPr>
              <a:t>.</a:t>
            </a:r>
            <a:endParaRPr lang="en-US" sz="2940" spc="-15" dirty="0">
              <a:solidFill>
                <a:srgbClr val="FF0000"/>
              </a:solidFill>
              <a:latin typeface="Comic Sans MS" panose="030F0702030302020204" pitchFamily="66" charset="0"/>
              <a:cs typeface="Calibri" panose="020F0502020204030204"/>
            </a:endParaRPr>
          </a:p>
          <a:p>
            <a:pPr marL="698500" marR="212090" lvl="1" indent="-228600">
              <a:lnSpc>
                <a:spcPts val="3020"/>
              </a:lnSpc>
              <a:spcBef>
                <a:spcPts val="5"/>
              </a:spcBef>
              <a:buFont typeface="Arial" panose="020B0604020202020204"/>
              <a:buChar char="•"/>
              <a:tabLst>
                <a:tab pos="241300" algn="l"/>
              </a:tabLst>
            </a:pPr>
            <a:r>
              <a:rPr lang="en-US" sz="2310" dirty="0">
                <a:latin typeface="Comic Sans MS" panose="030F0702030302020204" pitchFamily="66" charset="0"/>
                <a:cs typeface="Calibri" panose="020F0502020204030204"/>
                <a:hlinkClick r:id="rId2"/>
              </a:rPr>
              <a:t>https://pubs.opengroup.org/onlinepubs/007908799/xsh/pthread_mutex_init.html</a:t>
            </a:r>
            <a:endParaRPr lang="en-US" sz="2310" dirty="0">
              <a:latin typeface="Comic Sans MS" panose="030F0702030302020204" pitchFamily="66" charset="0"/>
              <a:cs typeface="Calibri" panose="020F0502020204030204"/>
            </a:endParaRPr>
          </a:p>
          <a:p>
            <a:pPr marL="698500" marR="212090" lvl="1" indent="-228600">
              <a:lnSpc>
                <a:spcPts val="3020"/>
              </a:lnSpc>
              <a:spcBef>
                <a:spcPts val="5"/>
              </a:spcBef>
              <a:buFont typeface="Arial" panose="020B0604020202020204"/>
              <a:buChar char="•"/>
              <a:tabLst>
                <a:tab pos="241300" algn="l"/>
              </a:tabLst>
            </a:pPr>
            <a:endParaRPr sz="2310" dirty="0">
              <a:latin typeface="Comic Sans MS" panose="030F0702030302020204" pitchFamily="66" charset="0"/>
              <a:cs typeface="Calibri" panose="020F0502020204030204"/>
            </a:endParaRPr>
          </a:p>
        </p:txBody>
      </p:sp>
      <p:sp>
        <p:nvSpPr>
          <p:cNvPr id="4" name="object 4"/>
          <p:cNvSpPr/>
          <p:nvPr/>
        </p:nvSpPr>
        <p:spPr>
          <a:xfrm>
            <a:off x="9429916" y="273634"/>
            <a:ext cx="1369110" cy="1470584"/>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2361883" y="4930216"/>
            <a:ext cx="7910207" cy="530066"/>
          </a:xfrm>
          <a:prstGeom prst="rect">
            <a:avLst/>
          </a:prstGeom>
          <a:blipFill>
            <a:blip r:embed="rId4" cstate="print"/>
            <a:stretch>
              <a:fillRect/>
            </a:stretch>
          </a:blipFill>
        </p:spPr>
        <p:txBody>
          <a:bodyPr wrap="square" lIns="0" tIns="0" rIns="0" bIns="0" rtlCol="0"/>
          <a:lstStyle/>
          <a:p>
            <a:endParaRPr sz="2310"/>
          </a:p>
        </p:txBody>
      </p:sp>
      <p:sp>
        <p:nvSpPr>
          <p:cNvPr id="6" name="object 6"/>
          <p:cNvSpPr/>
          <p:nvPr/>
        </p:nvSpPr>
        <p:spPr>
          <a:xfrm>
            <a:off x="3229190" y="5600593"/>
            <a:ext cx="7259735" cy="220613"/>
          </a:xfrm>
          <a:prstGeom prst="rect">
            <a:avLst/>
          </a:prstGeom>
          <a:blipFill>
            <a:blip r:embed="rId5" cstate="print"/>
            <a:stretch>
              <a:fillRect/>
            </a:stretch>
          </a:blipFill>
        </p:spPr>
        <p:txBody>
          <a:bodyPr wrap="square" lIns="0" tIns="0" rIns="0" bIns="0" rtlCol="0"/>
          <a:lstStyle/>
          <a:p>
            <a:endParaRPr sz="2310"/>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Mu</a:t>
            </a:r>
            <a:r>
              <a:rPr sz="4620" spc="-50" dirty="0"/>
              <a:t>t</a:t>
            </a:r>
            <a:r>
              <a:rPr sz="4620" spc="-70" dirty="0"/>
              <a:t>e</a:t>
            </a:r>
            <a:r>
              <a:rPr sz="4620" spc="-120" dirty="0"/>
              <a:t>x</a:t>
            </a:r>
            <a:r>
              <a:rPr sz="4620" spc="-5" dirty="0"/>
              <a:t>es</a:t>
            </a:r>
            <a:endParaRPr sz="4620" dirty="0"/>
          </a:p>
        </p:txBody>
      </p:sp>
      <p:sp>
        <p:nvSpPr>
          <p:cNvPr id="3" name="object 3"/>
          <p:cNvSpPr txBox="1"/>
          <p:nvPr/>
        </p:nvSpPr>
        <p:spPr>
          <a:xfrm>
            <a:off x="2343119" y="1883168"/>
            <a:ext cx="7934325" cy="837565"/>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In </a:t>
            </a:r>
            <a:r>
              <a:rPr sz="2940" spc="-15" dirty="0">
                <a:latin typeface="Comic Sans MS" panose="030F0702030302020204" pitchFamily="66" charset="0"/>
                <a:cs typeface="Calibri" panose="020F0502020204030204"/>
              </a:rPr>
              <a:t>order to </a:t>
            </a:r>
            <a:r>
              <a:rPr sz="2940" spc="-15" dirty="0">
                <a:solidFill>
                  <a:srgbClr val="0000FF"/>
                </a:solidFill>
                <a:latin typeface="Comic Sans MS" panose="030F0702030302020204" pitchFamily="66" charset="0"/>
                <a:cs typeface="Calibri" panose="020F0502020204030204"/>
              </a:rPr>
              <a:t>gain </a:t>
            </a:r>
            <a:r>
              <a:rPr sz="2940" spc="-5" dirty="0">
                <a:solidFill>
                  <a:srgbClr val="0000FF"/>
                </a:solidFill>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critical section </a:t>
            </a:r>
            <a:r>
              <a:rPr sz="2940" spc="-5" dirty="0">
                <a:latin typeface="Comic Sans MS" panose="030F0702030302020204" pitchFamily="66" charset="0"/>
                <a:cs typeface="Calibri" panose="020F0502020204030204"/>
              </a:rPr>
              <a:t>a </a:t>
            </a:r>
            <a:r>
              <a:rPr sz="2940" spc="-15" dirty="0">
                <a:latin typeface="Comic Sans MS" panose="030F0702030302020204" pitchFamily="66" charset="0"/>
                <a:cs typeface="Calibri" panose="020F0502020204030204"/>
              </a:rPr>
              <a:t>thread  </a:t>
            </a:r>
            <a:r>
              <a:rPr sz="2940" spc="-10" dirty="0">
                <a:latin typeface="Comic Sans MS" panose="030F0702030302020204" pitchFamily="66" charset="0"/>
                <a:cs typeface="Calibri" panose="020F0502020204030204"/>
              </a:rPr>
              <a:t>calls</a:t>
            </a:r>
            <a:endParaRPr sz="2940" dirty="0">
              <a:latin typeface="Comic Sans MS" panose="030F0702030302020204" pitchFamily="66" charset="0"/>
              <a:cs typeface="Calibri" panose="020F0502020204030204"/>
            </a:endParaRPr>
          </a:p>
        </p:txBody>
      </p:sp>
      <p:sp>
        <p:nvSpPr>
          <p:cNvPr id="4" name="object 4"/>
          <p:cNvSpPr txBox="1"/>
          <p:nvPr/>
        </p:nvSpPr>
        <p:spPr>
          <a:xfrm>
            <a:off x="2343119" y="3896300"/>
            <a:ext cx="7718965" cy="839470"/>
          </a:xfrm>
          <a:prstGeom prst="rect">
            <a:avLst/>
          </a:prstGeom>
        </p:spPr>
        <p:txBody>
          <a:bodyPr vert="horz" wrap="square" lIns="0" tIns="63341" rIns="0" bIns="0" rtlCol="0">
            <a:spAutoFit/>
          </a:bodyPr>
          <a:lstStyle/>
          <a:p>
            <a:pPr marL="241300" marR="5080" indent="-228600">
              <a:lnSpc>
                <a:spcPts val="3030"/>
              </a:lnSpc>
              <a:spcBef>
                <a:spcPts val="475"/>
              </a:spcBef>
              <a:buFont typeface="Arial" panose="020B0604020202020204"/>
              <a:buChar char="•"/>
              <a:tabLst>
                <a:tab pos="241300" algn="l"/>
              </a:tabLst>
            </a:pPr>
            <a:r>
              <a:rPr sz="2940" spc="-5" dirty="0">
                <a:latin typeface="Comic Sans MS" panose="030F0702030302020204" pitchFamily="66" charset="0"/>
                <a:cs typeface="Calibri" panose="020F0502020204030204"/>
              </a:rPr>
              <a:t>When a </a:t>
            </a:r>
            <a:r>
              <a:rPr sz="2940" spc="-15" dirty="0">
                <a:latin typeface="Comic Sans MS" panose="030F0702030302020204" pitchFamily="66" charset="0"/>
                <a:cs typeface="Calibri" panose="020F0502020204030204"/>
              </a:rPr>
              <a:t>thread </a:t>
            </a:r>
            <a:r>
              <a:rPr sz="2940" spc="-5" dirty="0">
                <a:latin typeface="Comic Sans MS" panose="030F0702030302020204" pitchFamily="66" charset="0"/>
                <a:cs typeface="Calibri" panose="020F0502020204030204"/>
              </a:rPr>
              <a:t>is </a:t>
            </a:r>
            <a:r>
              <a:rPr sz="2940" spc="-10" dirty="0">
                <a:solidFill>
                  <a:srgbClr val="0000FF"/>
                </a:solidFill>
                <a:latin typeface="Comic Sans MS" panose="030F0702030302020204" pitchFamily="66" charset="0"/>
                <a:cs typeface="Calibri" panose="020F0502020204030204"/>
              </a:rPr>
              <a:t>finished </a:t>
            </a:r>
            <a:r>
              <a:rPr sz="2940" spc="-20" dirty="0">
                <a:solidFill>
                  <a:srgbClr val="0000FF"/>
                </a:solidFill>
                <a:latin typeface="Comic Sans MS" panose="030F0702030302020204" pitchFamily="66" charset="0"/>
                <a:cs typeface="Calibri" panose="020F0502020204030204"/>
              </a:rPr>
              <a:t>executing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code </a:t>
            </a:r>
            <a:r>
              <a:rPr sz="2940" spc="-5" dirty="0">
                <a:latin typeface="Comic Sans MS" panose="030F0702030302020204" pitchFamily="66" charset="0"/>
                <a:cs typeface="Calibri" panose="020F0502020204030204"/>
              </a:rPr>
              <a:t>in a  </a:t>
            </a:r>
            <a:r>
              <a:rPr sz="2940" spc="-10" dirty="0">
                <a:latin typeface="Comic Sans MS" panose="030F0702030302020204" pitchFamily="66" charset="0"/>
                <a:cs typeface="Calibri" panose="020F0502020204030204"/>
              </a:rPr>
              <a:t>critical section, </a:t>
            </a:r>
            <a:r>
              <a:rPr sz="2940" spc="-5" dirty="0">
                <a:latin typeface="Comic Sans MS" panose="030F0702030302020204" pitchFamily="66" charset="0"/>
                <a:cs typeface="Calibri" panose="020F0502020204030204"/>
              </a:rPr>
              <a:t>it </a:t>
            </a:r>
            <a:r>
              <a:rPr sz="2940" spc="-10" dirty="0">
                <a:latin typeface="Comic Sans MS" panose="030F0702030302020204" pitchFamily="66" charset="0"/>
                <a:cs typeface="Calibri" panose="020F0502020204030204"/>
              </a:rPr>
              <a:t>should</a:t>
            </a:r>
            <a:r>
              <a:rPr sz="2940" spc="6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call</a:t>
            </a:r>
            <a:endParaRPr sz="2940">
              <a:latin typeface="Comic Sans MS" panose="030F0702030302020204" pitchFamily="66" charset="0"/>
              <a:cs typeface="Calibri" panose="020F0502020204030204"/>
            </a:endParaRPr>
          </a:p>
        </p:txBody>
      </p:sp>
      <p:sp>
        <p:nvSpPr>
          <p:cNvPr id="5" name="object 5"/>
          <p:cNvSpPr/>
          <p:nvPr/>
        </p:nvSpPr>
        <p:spPr>
          <a:xfrm>
            <a:off x="2089618" y="3209201"/>
            <a:ext cx="8829887" cy="207706"/>
          </a:xfrm>
          <a:prstGeom prst="rect">
            <a:avLst/>
          </a:prstGeom>
          <a:blipFill>
            <a:blip r:embed="rId2" cstate="print"/>
            <a:stretch>
              <a:fillRect/>
            </a:stretch>
          </a:blipFill>
        </p:spPr>
        <p:txBody>
          <a:bodyPr wrap="square" lIns="0" tIns="0" rIns="0" bIns="0" rtlCol="0"/>
          <a:lstStyle/>
          <a:p>
            <a:endParaRPr sz="2310">
              <a:latin typeface="Comic Sans MS" panose="030F0702030302020204" pitchFamily="66" charset="0"/>
            </a:endParaRPr>
          </a:p>
        </p:txBody>
      </p:sp>
      <p:sp>
        <p:nvSpPr>
          <p:cNvPr id="6" name="object 6"/>
          <p:cNvSpPr/>
          <p:nvPr/>
        </p:nvSpPr>
        <p:spPr>
          <a:xfrm>
            <a:off x="4510164" y="3114789"/>
            <a:ext cx="702755" cy="442055"/>
          </a:xfrm>
          <a:custGeom>
            <a:avLst/>
            <a:gdLst/>
            <a:ahLst/>
            <a:cxnLst/>
            <a:rect l="l" t="t" r="r" b="b"/>
            <a:pathLst>
              <a:path w="669289" h="421004">
                <a:moveTo>
                  <a:pt x="0" y="70104"/>
                </a:moveTo>
                <a:lnTo>
                  <a:pt x="5506" y="42808"/>
                </a:lnTo>
                <a:lnTo>
                  <a:pt x="20526" y="20526"/>
                </a:lnTo>
                <a:lnTo>
                  <a:pt x="42808" y="5506"/>
                </a:lnTo>
                <a:lnTo>
                  <a:pt x="70104" y="0"/>
                </a:lnTo>
                <a:lnTo>
                  <a:pt x="598932" y="0"/>
                </a:lnTo>
                <a:lnTo>
                  <a:pt x="626227" y="5506"/>
                </a:lnTo>
                <a:lnTo>
                  <a:pt x="648509" y="20526"/>
                </a:lnTo>
                <a:lnTo>
                  <a:pt x="663529" y="42808"/>
                </a:lnTo>
                <a:lnTo>
                  <a:pt x="669035" y="70104"/>
                </a:lnTo>
                <a:lnTo>
                  <a:pt x="669035" y="350520"/>
                </a:lnTo>
                <a:lnTo>
                  <a:pt x="663529" y="377815"/>
                </a:lnTo>
                <a:lnTo>
                  <a:pt x="648509" y="400097"/>
                </a:lnTo>
                <a:lnTo>
                  <a:pt x="626227" y="415117"/>
                </a:lnTo>
                <a:lnTo>
                  <a:pt x="598932" y="420624"/>
                </a:lnTo>
                <a:lnTo>
                  <a:pt x="70104" y="420624"/>
                </a:lnTo>
                <a:lnTo>
                  <a:pt x="42808" y="415117"/>
                </a:lnTo>
                <a:lnTo>
                  <a:pt x="20526" y="400097"/>
                </a:lnTo>
                <a:lnTo>
                  <a:pt x="5506" y="377815"/>
                </a:lnTo>
                <a:lnTo>
                  <a:pt x="0" y="350520"/>
                </a:lnTo>
                <a:lnTo>
                  <a:pt x="0" y="70104"/>
                </a:lnTo>
                <a:close/>
              </a:path>
            </a:pathLst>
          </a:custGeom>
          <a:ln w="28956">
            <a:solidFill>
              <a:srgbClr val="FF0000"/>
            </a:solidFill>
          </a:ln>
        </p:spPr>
        <p:txBody>
          <a:bodyPr wrap="square" lIns="0" tIns="0" rIns="0" bIns="0" rtlCol="0"/>
          <a:lstStyle/>
          <a:p>
            <a:endParaRPr sz="2310">
              <a:latin typeface="Comic Sans MS" panose="030F0702030302020204" pitchFamily="66" charset="0"/>
            </a:endParaRPr>
          </a:p>
        </p:txBody>
      </p:sp>
      <p:sp>
        <p:nvSpPr>
          <p:cNvPr id="7" name="object 7"/>
          <p:cNvSpPr/>
          <p:nvPr/>
        </p:nvSpPr>
        <p:spPr>
          <a:xfrm>
            <a:off x="2062734" y="5162644"/>
            <a:ext cx="8542214" cy="195384"/>
          </a:xfrm>
          <a:prstGeom prst="rect">
            <a:avLst/>
          </a:prstGeom>
          <a:blipFill>
            <a:blip r:embed="rId3" cstate="print"/>
            <a:stretch>
              <a:fillRect/>
            </a:stretch>
          </a:blipFill>
        </p:spPr>
        <p:txBody>
          <a:bodyPr wrap="square" lIns="0" tIns="0" rIns="0" bIns="0" rtlCol="0"/>
          <a:lstStyle/>
          <a:p>
            <a:endParaRPr sz="2310">
              <a:latin typeface="Comic Sans MS" panose="030F0702030302020204" pitchFamily="66" charset="0"/>
            </a:endParaRPr>
          </a:p>
        </p:txBody>
      </p:sp>
      <p:sp>
        <p:nvSpPr>
          <p:cNvPr id="8" name="object 8"/>
          <p:cNvSpPr/>
          <p:nvPr/>
        </p:nvSpPr>
        <p:spPr>
          <a:xfrm>
            <a:off x="4409351" y="5030229"/>
            <a:ext cx="822770" cy="442055"/>
          </a:xfrm>
          <a:custGeom>
            <a:avLst/>
            <a:gdLst/>
            <a:ahLst/>
            <a:cxnLst/>
            <a:rect l="l" t="t" r="r" b="b"/>
            <a:pathLst>
              <a:path w="783589" h="421004">
                <a:moveTo>
                  <a:pt x="0" y="70103"/>
                </a:moveTo>
                <a:lnTo>
                  <a:pt x="5506" y="42808"/>
                </a:lnTo>
                <a:lnTo>
                  <a:pt x="20526" y="20526"/>
                </a:lnTo>
                <a:lnTo>
                  <a:pt x="42808" y="5506"/>
                </a:lnTo>
                <a:lnTo>
                  <a:pt x="70104" y="0"/>
                </a:lnTo>
                <a:lnTo>
                  <a:pt x="713232" y="0"/>
                </a:lnTo>
                <a:lnTo>
                  <a:pt x="740527" y="5506"/>
                </a:lnTo>
                <a:lnTo>
                  <a:pt x="762809" y="20526"/>
                </a:lnTo>
                <a:lnTo>
                  <a:pt x="777829" y="42808"/>
                </a:lnTo>
                <a:lnTo>
                  <a:pt x="783335" y="70103"/>
                </a:lnTo>
                <a:lnTo>
                  <a:pt x="783335" y="350519"/>
                </a:lnTo>
                <a:lnTo>
                  <a:pt x="777829" y="377815"/>
                </a:lnTo>
                <a:lnTo>
                  <a:pt x="762809" y="400097"/>
                </a:lnTo>
                <a:lnTo>
                  <a:pt x="740527" y="415117"/>
                </a:lnTo>
                <a:lnTo>
                  <a:pt x="713232" y="420623"/>
                </a:lnTo>
                <a:lnTo>
                  <a:pt x="70104" y="420623"/>
                </a:lnTo>
                <a:lnTo>
                  <a:pt x="42808" y="415117"/>
                </a:lnTo>
                <a:lnTo>
                  <a:pt x="20526" y="400097"/>
                </a:lnTo>
                <a:lnTo>
                  <a:pt x="5506" y="377815"/>
                </a:lnTo>
                <a:lnTo>
                  <a:pt x="0" y="350519"/>
                </a:lnTo>
                <a:lnTo>
                  <a:pt x="0" y="70103"/>
                </a:lnTo>
                <a:close/>
              </a:path>
            </a:pathLst>
          </a:custGeom>
          <a:ln w="28956">
            <a:solidFill>
              <a:srgbClr val="FF0000"/>
            </a:solidFill>
          </a:ln>
        </p:spPr>
        <p:txBody>
          <a:bodyPr wrap="square" lIns="0" tIns="0" rIns="0" bIns="0" rtlCol="0"/>
          <a:lstStyle/>
          <a:p>
            <a:endParaRPr sz="2310">
              <a:latin typeface="Comic Sans MS" panose="030F0702030302020204" pitchFamily="66" charset="0"/>
            </a:endParaRPr>
          </a:p>
        </p:txBody>
      </p:sp>
      <p:sp>
        <p:nvSpPr>
          <p:cNvPr id="9" name="object 9"/>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err="1"/>
              <a:t>Mu</a:t>
            </a:r>
            <a:r>
              <a:rPr sz="4620" spc="-50" dirty="0" err="1"/>
              <a:t>t</a:t>
            </a:r>
            <a:r>
              <a:rPr sz="4620" spc="-70" dirty="0" err="1"/>
              <a:t>e</a:t>
            </a:r>
            <a:r>
              <a:rPr sz="4620" spc="-120" dirty="0" err="1"/>
              <a:t>x</a:t>
            </a:r>
            <a:r>
              <a:rPr sz="4620" spc="-5" dirty="0" err="1"/>
              <a:t>es</a:t>
            </a:r>
            <a:r>
              <a:rPr lang="en-US" sz="4620" spc="-5" dirty="0"/>
              <a:t> </a:t>
            </a:r>
            <a:endParaRPr sz="4620" dirty="0"/>
          </a:p>
        </p:txBody>
      </p:sp>
      <p:sp>
        <p:nvSpPr>
          <p:cNvPr id="3" name="object 3"/>
          <p:cNvSpPr txBox="1"/>
          <p:nvPr/>
        </p:nvSpPr>
        <p:spPr>
          <a:xfrm>
            <a:off x="2343119" y="1883168"/>
            <a:ext cx="8072342" cy="837565"/>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When a </a:t>
            </a:r>
            <a:r>
              <a:rPr sz="2940" spc="-10" dirty="0">
                <a:latin typeface="Comic Sans MS" panose="030F0702030302020204" pitchFamily="66" charset="0"/>
                <a:cs typeface="Calibri" panose="020F0502020204030204"/>
              </a:rPr>
              <a:t>Pthreads </a:t>
            </a:r>
            <a:r>
              <a:rPr sz="2940" spc="-25" dirty="0">
                <a:latin typeface="Comic Sans MS" panose="030F0702030302020204" pitchFamily="66" charset="0"/>
                <a:cs typeface="Calibri" panose="020F0502020204030204"/>
              </a:rPr>
              <a:t>program </a:t>
            </a:r>
            <a:r>
              <a:rPr sz="2940" spc="-10" dirty="0">
                <a:solidFill>
                  <a:srgbClr val="0000FF"/>
                </a:solidFill>
                <a:latin typeface="Comic Sans MS" panose="030F0702030302020204" pitchFamily="66" charset="0"/>
                <a:cs typeface="Calibri" panose="020F0502020204030204"/>
              </a:rPr>
              <a:t>finishes using </a:t>
            </a:r>
            <a:r>
              <a:rPr sz="2940" spc="-5" dirty="0">
                <a:solidFill>
                  <a:srgbClr val="0000FF"/>
                </a:solidFill>
                <a:latin typeface="Comic Sans MS" panose="030F0702030302020204" pitchFamily="66" charset="0"/>
                <a:cs typeface="Calibri" panose="020F0502020204030204"/>
              </a:rPr>
              <a:t>a </a:t>
            </a:r>
            <a:r>
              <a:rPr sz="2940" spc="-20" dirty="0">
                <a:solidFill>
                  <a:srgbClr val="0000FF"/>
                </a:solidFill>
                <a:latin typeface="Comic Sans MS" panose="030F0702030302020204" pitchFamily="66" charset="0"/>
                <a:cs typeface="Calibri" panose="020F0502020204030204"/>
              </a:rPr>
              <a:t>mutex</a:t>
            </a:r>
            <a:r>
              <a:rPr sz="2940" spc="-2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it  </a:t>
            </a:r>
            <a:r>
              <a:rPr sz="2940" spc="-10" dirty="0">
                <a:latin typeface="Comic Sans MS" panose="030F0702030302020204" pitchFamily="66" charset="0"/>
                <a:cs typeface="Calibri" panose="020F0502020204030204"/>
              </a:rPr>
              <a:t>should</a:t>
            </a:r>
            <a:r>
              <a:rPr sz="2940" spc="2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call</a:t>
            </a:r>
            <a:endParaRPr sz="2940" dirty="0">
              <a:latin typeface="Comic Sans MS" panose="030F0702030302020204" pitchFamily="66" charset="0"/>
              <a:cs typeface="Calibri" panose="020F0502020204030204"/>
            </a:endParaRPr>
          </a:p>
        </p:txBody>
      </p:sp>
      <p:sp>
        <p:nvSpPr>
          <p:cNvPr id="4" name="object 4"/>
          <p:cNvSpPr/>
          <p:nvPr/>
        </p:nvSpPr>
        <p:spPr>
          <a:xfrm>
            <a:off x="2248240" y="3338599"/>
            <a:ext cx="8542281" cy="192023"/>
          </a:xfrm>
          <a:prstGeom prst="rect">
            <a:avLst/>
          </a:prstGeom>
          <a:blipFill>
            <a:blip r:embed="rId2" cstate="print"/>
            <a:stretch>
              <a:fillRect/>
            </a:stretch>
          </a:blipFill>
        </p:spPr>
        <p:txBody>
          <a:bodyPr wrap="square" lIns="0" tIns="0" rIns="0" bIns="0" rtlCol="0"/>
          <a:lstStyle/>
          <a:p>
            <a:endParaRPr sz="2310"/>
          </a:p>
        </p:txBody>
      </p:sp>
      <p:sp>
        <p:nvSpPr>
          <p:cNvPr id="5" name="object 5"/>
          <p:cNvSpPr/>
          <p:nvPr/>
        </p:nvSpPr>
        <p:spPr>
          <a:xfrm>
            <a:off x="4514964" y="3222002"/>
            <a:ext cx="1024128" cy="442055"/>
          </a:xfrm>
          <a:custGeom>
            <a:avLst/>
            <a:gdLst/>
            <a:ahLst/>
            <a:cxnLst/>
            <a:rect l="l" t="t" r="r" b="b"/>
            <a:pathLst>
              <a:path w="975360" h="421004">
                <a:moveTo>
                  <a:pt x="0" y="70103"/>
                </a:moveTo>
                <a:lnTo>
                  <a:pt x="5506" y="42808"/>
                </a:lnTo>
                <a:lnTo>
                  <a:pt x="20526" y="20526"/>
                </a:lnTo>
                <a:lnTo>
                  <a:pt x="42808" y="5506"/>
                </a:lnTo>
                <a:lnTo>
                  <a:pt x="70103" y="0"/>
                </a:lnTo>
                <a:lnTo>
                  <a:pt x="905256" y="0"/>
                </a:lnTo>
                <a:lnTo>
                  <a:pt x="932551" y="5506"/>
                </a:lnTo>
                <a:lnTo>
                  <a:pt x="954833" y="20526"/>
                </a:lnTo>
                <a:lnTo>
                  <a:pt x="969853" y="42808"/>
                </a:lnTo>
                <a:lnTo>
                  <a:pt x="975359" y="70103"/>
                </a:lnTo>
                <a:lnTo>
                  <a:pt x="975359" y="350520"/>
                </a:lnTo>
                <a:lnTo>
                  <a:pt x="969853" y="377815"/>
                </a:lnTo>
                <a:lnTo>
                  <a:pt x="954833" y="400097"/>
                </a:lnTo>
                <a:lnTo>
                  <a:pt x="932551" y="415117"/>
                </a:lnTo>
                <a:lnTo>
                  <a:pt x="905256" y="420624"/>
                </a:lnTo>
                <a:lnTo>
                  <a:pt x="70103" y="420624"/>
                </a:lnTo>
                <a:lnTo>
                  <a:pt x="42808" y="415117"/>
                </a:lnTo>
                <a:lnTo>
                  <a:pt x="20526" y="400097"/>
                </a:lnTo>
                <a:lnTo>
                  <a:pt x="5506" y="377815"/>
                </a:lnTo>
                <a:lnTo>
                  <a:pt x="0" y="350520"/>
                </a:lnTo>
                <a:lnTo>
                  <a:pt x="0" y="70103"/>
                </a:lnTo>
                <a:close/>
              </a:path>
            </a:pathLst>
          </a:custGeom>
          <a:ln w="28956">
            <a:solidFill>
              <a:srgbClr val="FF0000"/>
            </a:solidFill>
          </a:ln>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53829"/>
            <a:ext cx="10762906" cy="627380"/>
          </a:xfrm>
          <a:prstGeom prst="rect">
            <a:avLst/>
          </a:prstGeom>
        </p:spPr>
        <p:txBody>
          <a:bodyPr vert="horz" wrap="square" lIns="0" tIns="12668" rIns="0" bIns="0" rtlCol="0">
            <a:spAutoFit/>
          </a:bodyPr>
          <a:lstStyle/>
          <a:p>
            <a:pPr marL="12700">
              <a:lnSpc>
                <a:spcPct val="100000"/>
              </a:lnSpc>
              <a:spcBef>
                <a:spcPts val="95"/>
              </a:spcBef>
            </a:pPr>
            <a:r>
              <a:rPr spc="-5" dirty="0"/>
              <a:t>Global sum function </a:t>
            </a:r>
            <a:r>
              <a:rPr spc="-15" dirty="0"/>
              <a:t>that </a:t>
            </a:r>
            <a:r>
              <a:rPr spc="-5" dirty="0"/>
              <a:t>uses a </a:t>
            </a:r>
            <a:r>
              <a:rPr spc="-25" dirty="0"/>
              <a:t>mutex</a:t>
            </a:r>
            <a:r>
              <a:rPr spc="35" dirty="0"/>
              <a:t> </a:t>
            </a:r>
            <a:r>
              <a:rPr spc="-5" dirty="0"/>
              <a:t>(1)</a:t>
            </a:r>
          </a:p>
        </p:txBody>
      </p:sp>
      <p:sp>
        <p:nvSpPr>
          <p:cNvPr id="3" name="object 3"/>
          <p:cNvSpPr/>
          <p:nvPr/>
        </p:nvSpPr>
        <p:spPr>
          <a:xfrm>
            <a:off x="2788268" y="1894468"/>
            <a:ext cx="6925027" cy="4290234"/>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42</a:t>
            </a:fld>
            <a:endParaRPr sz="1575"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97421" y="2068542"/>
            <a:ext cx="8840211" cy="2571573"/>
          </a:xfrm>
          <a:prstGeom prst="rect">
            <a:avLst/>
          </a:prstGeom>
          <a:blipFill>
            <a:blip r:embed="rId2" cstate="print"/>
            <a:stretch>
              <a:fillRect/>
            </a:stretch>
          </a:blipFill>
        </p:spPr>
        <p:txBody>
          <a:bodyPr wrap="square" lIns="0" tIns="0" rIns="0" bIns="0" rtlCol="0"/>
          <a:lstStyle/>
          <a:p>
            <a:endParaRPr sz="2310"/>
          </a:p>
        </p:txBody>
      </p:sp>
      <p:sp>
        <p:nvSpPr>
          <p:cNvPr id="3" name="object 3"/>
          <p:cNvSpPr txBox="1">
            <a:spLocks noGrp="1"/>
          </p:cNvSpPr>
          <p:nvPr>
            <p:ph type="title"/>
          </p:nvPr>
        </p:nvSpPr>
        <p:spPr>
          <a:xfrm>
            <a:off x="641350" y="153829"/>
            <a:ext cx="10762906" cy="627380"/>
          </a:xfrm>
          <a:prstGeom prst="rect">
            <a:avLst/>
          </a:prstGeom>
        </p:spPr>
        <p:txBody>
          <a:bodyPr vert="horz" wrap="square" lIns="0" tIns="12668" rIns="0" bIns="0" rtlCol="0">
            <a:spAutoFit/>
          </a:bodyPr>
          <a:lstStyle/>
          <a:p>
            <a:pPr marL="12700">
              <a:lnSpc>
                <a:spcPct val="100000"/>
              </a:lnSpc>
              <a:spcBef>
                <a:spcPts val="95"/>
              </a:spcBef>
            </a:pPr>
            <a:r>
              <a:rPr spc="-5" dirty="0"/>
              <a:t>Global sum function </a:t>
            </a:r>
            <a:r>
              <a:rPr spc="-15" dirty="0"/>
              <a:t>that </a:t>
            </a:r>
            <a:r>
              <a:rPr spc="-5" dirty="0"/>
              <a:t>uses a </a:t>
            </a:r>
            <a:r>
              <a:rPr spc="-25" dirty="0"/>
              <a:t>mutex</a:t>
            </a:r>
            <a:r>
              <a:rPr spc="35" dirty="0"/>
              <a:t> </a:t>
            </a:r>
            <a:r>
              <a:rPr spc="-5" dirty="0"/>
              <a:t>(2)</a:t>
            </a:r>
          </a:p>
        </p:txBody>
      </p:sp>
      <p:sp>
        <p:nvSpPr>
          <p:cNvPr id="4" name="object 4"/>
          <p:cNvSpPr/>
          <p:nvPr/>
        </p:nvSpPr>
        <p:spPr>
          <a:xfrm>
            <a:off x="2332292" y="2857156"/>
            <a:ext cx="4200525" cy="1006793"/>
          </a:xfrm>
          <a:custGeom>
            <a:avLst/>
            <a:gdLst/>
            <a:ahLst/>
            <a:cxnLst/>
            <a:rect l="l" t="t" r="r" b="b"/>
            <a:pathLst>
              <a:path w="4000500" h="958850">
                <a:moveTo>
                  <a:pt x="0" y="159765"/>
                </a:moveTo>
                <a:lnTo>
                  <a:pt x="8144" y="109256"/>
                </a:lnTo>
                <a:lnTo>
                  <a:pt x="30824" y="65397"/>
                </a:lnTo>
                <a:lnTo>
                  <a:pt x="65408" y="30817"/>
                </a:lnTo>
                <a:lnTo>
                  <a:pt x="109266" y="8142"/>
                </a:lnTo>
                <a:lnTo>
                  <a:pt x="159766" y="0"/>
                </a:lnTo>
                <a:lnTo>
                  <a:pt x="3840734" y="0"/>
                </a:lnTo>
                <a:lnTo>
                  <a:pt x="3891243" y="8142"/>
                </a:lnTo>
                <a:lnTo>
                  <a:pt x="3935102" y="30817"/>
                </a:lnTo>
                <a:lnTo>
                  <a:pt x="3969682" y="65397"/>
                </a:lnTo>
                <a:lnTo>
                  <a:pt x="3992357" y="109256"/>
                </a:lnTo>
                <a:lnTo>
                  <a:pt x="4000500" y="159765"/>
                </a:lnTo>
                <a:lnTo>
                  <a:pt x="4000500" y="798830"/>
                </a:lnTo>
                <a:lnTo>
                  <a:pt x="3992357" y="849339"/>
                </a:lnTo>
                <a:lnTo>
                  <a:pt x="3969682" y="893198"/>
                </a:lnTo>
                <a:lnTo>
                  <a:pt x="3935102" y="927778"/>
                </a:lnTo>
                <a:lnTo>
                  <a:pt x="3891243" y="950453"/>
                </a:lnTo>
                <a:lnTo>
                  <a:pt x="3840734" y="958596"/>
                </a:lnTo>
                <a:lnTo>
                  <a:pt x="159766" y="958596"/>
                </a:lnTo>
                <a:lnTo>
                  <a:pt x="109266" y="950453"/>
                </a:lnTo>
                <a:lnTo>
                  <a:pt x="65408" y="927778"/>
                </a:lnTo>
                <a:lnTo>
                  <a:pt x="30824" y="893198"/>
                </a:lnTo>
                <a:lnTo>
                  <a:pt x="8144" y="849339"/>
                </a:lnTo>
                <a:lnTo>
                  <a:pt x="0" y="798830"/>
                </a:lnTo>
                <a:lnTo>
                  <a:pt x="0" y="159765"/>
                </a:lnTo>
                <a:close/>
              </a:path>
            </a:pathLst>
          </a:custGeom>
          <a:ln w="28956">
            <a:solidFill>
              <a:srgbClr val="FF0000"/>
            </a:solidFill>
          </a:ln>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43</a:t>
            </a:fld>
            <a:endParaRPr sz="1575" dirty="0"/>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endParaRPr lang="zh-CN" altLang="en-US"/>
          </a:p>
        </p:txBody>
      </p:sp>
      <p:sp>
        <p:nvSpPr>
          <p:cNvPr id="2" name="object 2"/>
          <p:cNvSpPr/>
          <p:nvPr/>
        </p:nvSpPr>
        <p:spPr>
          <a:xfrm>
            <a:off x="2276675" y="1262541"/>
            <a:ext cx="4900232" cy="3709694"/>
          </a:xfrm>
          <a:prstGeom prst="rect">
            <a:avLst/>
          </a:prstGeom>
          <a:blipFill>
            <a:blip r:embed="rId2" cstate="print"/>
            <a:stretch>
              <a:fillRect/>
            </a:stretch>
          </a:blipFill>
        </p:spPr>
        <p:txBody>
          <a:bodyPr wrap="square" lIns="0" tIns="0" rIns="0" bIns="0" rtlCol="0"/>
          <a:lstStyle/>
          <a:p>
            <a:endParaRPr sz="2310"/>
          </a:p>
        </p:txBody>
      </p:sp>
      <p:sp>
        <p:nvSpPr>
          <p:cNvPr id="3" name="object 3"/>
          <p:cNvSpPr/>
          <p:nvPr/>
        </p:nvSpPr>
        <p:spPr>
          <a:xfrm>
            <a:off x="7722429" y="2495182"/>
            <a:ext cx="2968506" cy="723921"/>
          </a:xfrm>
          <a:prstGeom prst="rect">
            <a:avLst/>
          </a:prstGeom>
          <a:blipFill>
            <a:blip r:embed="rId3" cstate="print"/>
            <a:stretch>
              <a:fillRect/>
            </a:stretch>
          </a:blipFill>
        </p:spPr>
        <p:txBody>
          <a:bodyPr wrap="square" lIns="0" tIns="0" rIns="0" bIns="0" rtlCol="0"/>
          <a:lstStyle/>
          <a:p>
            <a:endParaRPr sz="2310"/>
          </a:p>
        </p:txBody>
      </p:sp>
      <p:sp>
        <p:nvSpPr>
          <p:cNvPr id="4" name="object 4"/>
          <p:cNvSpPr/>
          <p:nvPr/>
        </p:nvSpPr>
        <p:spPr>
          <a:xfrm>
            <a:off x="2258682" y="3577247"/>
            <a:ext cx="4891945" cy="1384173"/>
          </a:xfrm>
          <a:custGeom>
            <a:avLst/>
            <a:gdLst/>
            <a:ahLst/>
            <a:cxnLst/>
            <a:rect l="l" t="t" r="r" b="b"/>
            <a:pathLst>
              <a:path w="4658995" h="1318260">
                <a:moveTo>
                  <a:pt x="0" y="219710"/>
                </a:moveTo>
                <a:lnTo>
                  <a:pt x="4464" y="175447"/>
                </a:lnTo>
                <a:lnTo>
                  <a:pt x="17267" y="134213"/>
                </a:lnTo>
                <a:lnTo>
                  <a:pt x="37525" y="96893"/>
                </a:lnTo>
                <a:lnTo>
                  <a:pt x="64355" y="64373"/>
                </a:lnTo>
                <a:lnTo>
                  <a:pt x="96874" y="37538"/>
                </a:lnTo>
                <a:lnTo>
                  <a:pt x="134197" y="17273"/>
                </a:lnTo>
                <a:lnTo>
                  <a:pt x="175441" y="4466"/>
                </a:lnTo>
                <a:lnTo>
                  <a:pt x="219722" y="0"/>
                </a:lnTo>
                <a:lnTo>
                  <a:pt x="4439158" y="0"/>
                </a:lnTo>
                <a:lnTo>
                  <a:pt x="4483420" y="4466"/>
                </a:lnTo>
                <a:lnTo>
                  <a:pt x="4524654" y="17273"/>
                </a:lnTo>
                <a:lnTo>
                  <a:pt x="4561974" y="37538"/>
                </a:lnTo>
                <a:lnTo>
                  <a:pt x="4594494" y="64373"/>
                </a:lnTo>
                <a:lnTo>
                  <a:pt x="4621329" y="96893"/>
                </a:lnTo>
                <a:lnTo>
                  <a:pt x="4641594" y="134213"/>
                </a:lnTo>
                <a:lnTo>
                  <a:pt x="4654401" y="175447"/>
                </a:lnTo>
                <a:lnTo>
                  <a:pt x="4658868" y="219710"/>
                </a:lnTo>
                <a:lnTo>
                  <a:pt x="4658868" y="1098550"/>
                </a:lnTo>
                <a:lnTo>
                  <a:pt x="4654401" y="1142812"/>
                </a:lnTo>
                <a:lnTo>
                  <a:pt x="4641594" y="1184046"/>
                </a:lnTo>
                <a:lnTo>
                  <a:pt x="4621329" y="1221366"/>
                </a:lnTo>
                <a:lnTo>
                  <a:pt x="4594494" y="1253886"/>
                </a:lnTo>
                <a:lnTo>
                  <a:pt x="4561974" y="1280721"/>
                </a:lnTo>
                <a:lnTo>
                  <a:pt x="4524654" y="1300986"/>
                </a:lnTo>
                <a:lnTo>
                  <a:pt x="4483420" y="1313793"/>
                </a:lnTo>
                <a:lnTo>
                  <a:pt x="4439158" y="1318260"/>
                </a:lnTo>
                <a:lnTo>
                  <a:pt x="219722" y="1318260"/>
                </a:lnTo>
                <a:lnTo>
                  <a:pt x="175441" y="1313793"/>
                </a:lnTo>
                <a:lnTo>
                  <a:pt x="134197" y="1300986"/>
                </a:lnTo>
                <a:lnTo>
                  <a:pt x="96874" y="1280721"/>
                </a:lnTo>
                <a:lnTo>
                  <a:pt x="64355" y="1253886"/>
                </a:lnTo>
                <a:lnTo>
                  <a:pt x="37525" y="1221366"/>
                </a:lnTo>
                <a:lnTo>
                  <a:pt x="17267" y="1184046"/>
                </a:lnTo>
                <a:lnTo>
                  <a:pt x="4464" y="1142812"/>
                </a:lnTo>
                <a:lnTo>
                  <a:pt x="0" y="1098550"/>
                </a:lnTo>
                <a:lnTo>
                  <a:pt x="0" y="219710"/>
                </a:lnTo>
                <a:close/>
              </a:path>
            </a:pathLst>
          </a:custGeom>
          <a:ln w="28956">
            <a:solidFill>
              <a:srgbClr val="FF0000"/>
            </a:solidFill>
          </a:ln>
        </p:spPr>
        <p:txBody>
          <a:bodyPr wrap="square" lIns="0" tIns="0" rIns="0" bIns="0" rtlCol="0"/>
          <a:lstStyle/>
          <a:p>
            <a:endParaRPr sz="2310"/>
          </a:p>
        </p:txBody>
      </p:sp>
      <p:sp>
        <p:nvSpPr>
          <p:cNvPr id="5" name="object 5"/>
          <p:cNvSpPr txBox="1"/>
          <p:nvPr/>
        </p:nvSpPr>
        <p:spPr>
          <a:xfrm>
            <a:off x="2209662" y="3990632"/>
            <a:ext cx="9447722" cy="1972945"/>
          </a:xfrm>
          <a:prstGeom prst="rect">
            <a:avLst/>
          </a:prstGeom>
        </p:spPr>
        <p:txBody>
          <a:bodyPr vert="horz" wrap="square" lIns="0" tIns="13334" rIns="0" bIns="0" rtlCol="0">
            <a:spAutoFit/>
          </a:bodyPr>
          <a:lstStyle/>
          <a:p>
            <a:pPr marL="5236210">
              <a:lnSpc>
                <a:spcPct val="100000"/>
              </a:lnSpc>
              <a:spcBef>
                <a:spcPts val="100"/>
              </a:spcBef>
            </a:pPr>
            <a:r>
              <a:rPr lang="en-US" sz="2520" dirty="0">
                <a:solidFill>
                  <a:srgbClr val="FF0000"/>
                </a:solidFill>
                <a:latin typeface="Calibri" panose="020F0502020204030204"/>
                <a:cs typeface="Calibri" panose="020F0502020204030204"/>
              </a:rPr>
              <a:t>    </a:t>
            </a:r>
            <a:r>
              <a:rPr sz="2520"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of </a:t>
            </a:r>
            <a:r>
              <a:rPr sz="2520" spc="-10" dirty="0">
                <a:solidFill>
                  <a:srgbClr val="FF0000"/>
                </a:solidFill>
                <a:latin typeface="Calibri" panose="020F0502020204030204"/>
                <a:cs typeface="Calibri" panose="020F0502020204030204"/>
              </a:rPr>
              <a:t>threads </a:t>
            </a:r>
            <a:r>
              <a:rPr sz="2520" dirty="0">
                <a:solidFill>
                  <a:srgbClr val="FF0000"/>
                </a:solidFill>
                <a:latin typeface="Calibri" panose="020F0502020204030204"/>
                <a:cs typeface="Calibri" panose="020F0502020204030204"/>
              </a:rPr>
              <a:t>&gt; # </a:t>
            </a:r>
            <a:r>
              <a:rPr sz="2520" spc="-5" dirty="0">
                <a:solidFill>
                  <a:srgbClr val="FF0000"/>
                </a:solidFill>
                <a:latin typeface="Calibri" panose="020F0502020204030204"/>
                <a:cs typeface="Calibri" panose="020F0502020204030204"/>
              </a:rPr>
              <a:t>of</a:t>
            </a:r>
            <a:r>
              <a:rPr sz="2520" spc="-70" dirty="0">
                <a:solidFill>
                  <a:srgbClr val="FF0000"/>
                </a:solidFill>
                <a:latin typeface="Calibri" panose="020F0502020204030204"/>
                <a:cs typeface="Calibri" panose="020F0502020204030204"/>
              </a:rPr>
              <a:t> </a:t>
            </a:r>
            <a:r>
              <a:rPr sz="2520" spc="-15" dirty="0">
                <a:solidFill>
                  <a:srgbClr val="FF0000"/>
                </a:solidFill>
                <a:latin typeface="Calibri" panose="020F0502020204030204"/>
                <a:cs typeface="Calibri" panose="020F0502020204030204"/>
              </a:rPr>
              <a:t>cores</a:t>
            </a:r>
            <a:endParaRPr sz="2520" dirty="0">
              <a:latin typeface="Calibri" panose="020F0502020204030204"/>
              <a:cs typeface="Calibri" panose="020F0502020204030204"/>
            </a:endParaRPr>
          </a:p>
          <a:p>
            <a:pPr>
              <a:lnSpc>
                <a:spcPct val="100000"/>
              </a:lnSpc>
            </a:pPr>
            <a:endParaRPr sz="2520" dirty="0">
              <a:latin typeface="Calibri" panose="020F0502020204030204"/>
              <a:cs typeface="Calibri" panose="020F0502020204030204"/>
            </a:endParaRPr>
          </a:p>
          <a:p>
            <a:pPr>
              <a:lnSpc>
                <a:spcPct val="100000"/>
              </a:lnSpc>
              <a:spcBef>
                <a:spcPts val="5"/>
              </a:spcBef>
            </a:pPr>
            <a:endParaRPr sz="2940" dirty="0">
              <a:latin typeface="Calibri" panose="020F0502020204030204"/>
              <a:cs typeface="Calibri" panose="020F0502020204030204"/>
            </a:endParaRPr>
          </a:p>
          <a:p>
            <a:pPr marL="50800" marR="1067435">
              <a:lnSpc>
                <a:spcPts val="2860"/>
              </a:lnSpc>
            </a:pPr>
            <a:r>
              <a:rPr sz="2520" spc="-5" dirty="0">
                <a:latin typeface="Calibri" panose="020F0502020204030204"/>
                <a:cs typeface="Calibri" panose="020F0502020204030204"/>
              </a:rPr>
              <a:t>Run-times (in </a:t>
            </a:r>
            <a:r>
              <a:rPr sz="2520" spc="-10" dirty="0">
                <a:latin typeface="Calibri" panose="020F0502020204030204"/>
                <a:cs typeface="Calibri" panose="020F0502020204030204"/>
              </a:rPr>
              <a:t>seconds) </a:t>
            </a:r>
            <a:r>
              <a:rPr sz="2520" spc="-5" dirty="0">
                <a:latin typeface="Calibri" panose="020F0502020204030204"/>
                <a:cs typeface="Calibri" panose="020F0502020204030204"/>
              </a:rPr>
              <a:t>of </a:t>
            </a:r>
            <a:r>
              <a:rPr sz="2520" dirty="0">
                <a:latin typeface="Arial" panose="020B0604020202020204"/>
                <a:cs typeface="Arial" panose="020B0604020202020204"/>
              </a:rPr>
              <a:t>π </a:t>
            </a:r>
            <a:r>
              <a:rPr sz="2520" spc="-15" dirty="0">
                <a:latin typeface="Calibri" panose="020F0502020204030204"/>
                <a:cs typeface="Calibri" panose="020F0502020204030204"/>
              </a:rPr>
              <a:t>programs </a:t>
            </a:r>
            <a:r>
              <a:rPr sz="2520" spc="-5" dirty="0">
                <a:latin typeface="Calibri" panose="020F0502020204030204"/>
                <a:cs typeface="Calibri" panose="020F0502020204030204"/>
              </a:rPr>
              <a:t>using </a:t>
            </a:r>
            <a:r>
              <a:rPr sz="2520" dirty="0">
                <a:latin typeface="Calibri" panose="020F0502020204030204"/>
                <a:cs typeface="Calibri" panose="020F0502020204030204"/>
              </a:rPr>
              <a:t>n = 10</a:t>
            </a:r>
            <a:r>
              <a:rPr sz="2520" baseline="24000" dirty="0">
                <a:latin typeface="Calibri" panose="020F0502020204030204"/>
                <a:cs typeface="Calibri" panose="020F0502020204030204"/>
              </a:rPr>
              <a:t>8 </a:t>
            </a:r>
            <a:r>
              <a:rPr sz="2520" spc="-5" dirty="0">
                <a:latin typeface="Calibri" panose="020F0502020204030204"/>
                <a:cs typeface="Calibri" panose="020F0502020204030204"/>
              </a:rPr>
              <a:t>terms  on </a:t>
            </a:r>
            <a:r>
              <a:rPr sz="2520" dirty="0">
                <a:latin typeface="Calibri" panose="020F0502020204030204"/>
                <a:cs typeface="Calibri" panose="020F0502020204030204"/>
              </a:rPr>
              <a:t>a </a:t>
            </a:r>
            <a:r>
              <a:rPr sz="2520" spc="-25" dirty="0">
                <a:latin typeface="Calibri" panose="020F0502020204030204"/>
                <a:cs typeface="Calibri" panose="020F0502020204030204"/>
              </a:rPr>
              <a:t>system </a:t>
            </a:r>
            <a:r>
              <a:rPr sz="2520" dirty="0">
                <a:latin typeface="Calibri" panose="020F0502020204030204"/>
                <a:cs typeface="Calibri" panose="020F0502020204030204"/>
              </a:rPr>
              <a:t>with </a:t>
            </a:r>
            <a:r>
              <a:rPr sz="2520" spc="-10" dirty="0">
                <a:solidFill>
                  <a:srgbClr val="FF0000"/>
                </a:solidFill>
                <a:latin typeface="Calibri" panose="020F0502020204030204"/>
                <a:cs typeface="Calibri" panose="020F0502020204030204"/>
              </a:rPr>
              <a:t>two </a:t>
            </a:r>
            <a:r>
              <a:rPr sz="2520" spc="-15" dirty="0">
                <a:solidFill>
                  <a:srgbClr val="FF0000"/>
                </a:solidFill>
                <a:latin typeface="Calibri" panose="020F0502020204030204"/>
                <a:cs typeface="Calibri" panose="020F0502020204030204"/>
              </a:rPr>
              <a:t>four-core</a:t>
            </a:r>
            <a:r>
              <a:rPr sz="2520" spc="-30" dirty="0">
                <a:solidFill>
                  <a:srgbClr val="FF0000"/>
                </a:solidFill>
                <a:latin typeface="Calibri" panose="020F0502020204030204"/>
                <a:cs typeface="Calibri" panose="020F0502020204030204"/>
              </a:rPr>
              <a:t> </a:t>
            </a:r>
            <a:r>
              <a:rPr sz="2520" spc="-10" dirty="0">
                <a:solidFill>
                  <a:srgbClr val="FF0000"/>
                </a:solidFill>
                <a:latin typeface="Calibri" panose="020F0502020204030204"/>
                <a:cs typeface="Calibri" panose="020F0502020204030204"/>
              </a:rPr>
              <a:t>processors</a:t>
            </a:r>
            <a:r>
              <a:rPr sz="2520" spc="-10" dirty="0">
                <a:latin typeface="Calibri" panose="020F0502020204030204"/>
                <a:cs typeface="Calibri" panose="020F0502020204030204"/>
              </a:rPr>
              <a:t>.</a:t>
            </a:r>
            <a:endParaRPr sz="2520" dirty="0">
              <a:latin typeface="Calibri" panose="020F0502020204030204"/>
              <a:cs typeface="Calibri" panose="020F0502020204030204"/>
            </a:endParaRPr>
          </a:p>
        </p:txBody>
      </p:sp>
      <p:sp>
        <p:nvSpPr>
          <p:cNvPr id="6" name="object 6"/>
          <p:cNvSpPr/>
          <p:nvPr/>
        </p:nvSpPr>
        <p:spPr>
          <a:xfrm>
            <a:off x="7281709" y="3922889"/>
            <a:ext cx="330041" cy="578072"/>
          </a:xfrm>
          <a:custGeom>
            <a:avLst/>
            <a:gdLst/>
            <a:ahLst/>
            <a:cxnLst/>
            <a:rect l="l" t="t" r="r" b="b"/>
            <a:pathLst>
              <a:path w="314325" h="550545">
                <a:moveTo>
                  <a:pt x="0" y="137540"/>
                </a:moveTo>
                <a:lnTo>
                  <a:pt x="151002" y="137540"/>
                </a:lnTo>
                <a:lnTo>
                  <a:pt x="151002" y="0"/>
                </a:lnTo>
                <a:lnTo>
                  <a:pt x="313943" y="275081"/>
                </a:lnTo>
                <a:lnTo>
                  <a:pt x="151002" y="550163"/>
                </a:lnTo>
                <a:lnTo>
                  <a:pt x="151002" y="412622"/>
                </a:lnTo>
                <a:lnTo>
                  <a:pt x="0" y="412622"/>
                </a:lnTo>
                <a:lnTo>
                  <a:pt x="0" y="137540"/>
                </a:lnTo>
                <a:close/>
              </a:path>
            </a:pathLst>
          </a:custGeom>
          <a:ln w="28956">
            <a:solidFill>
              <a:srgbClr val="C00000"/>
            </a:solidFill>
          </a:ln>
        </p:spPr>
        <p:txBody>
          <a:bodyPr wrap="square" lIns="0" tIns="0" rIns="0" bIns="0" rtlCol="0"/>
          <a:lstStyle/>
          <a:p>
            <a:endParaRPr sz="2310"/>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44</a:t>
            </a:fld>
            <a:endParaRPr sz="1575" dirty="0"/>
          </a:p>
        </p:txBody>
      </p:sp>
      <p:sp>
        <p:nvSpPr>
          <p:cNvPr id="8" name="文本框 7"/>
          <p:cNvSpPr txBox="1"/>
          <p:nvPr/>
        </p:nvSpPr>
        <p:spPr>
          <a:xfrm>
            <a:off x="4205431" y="874742"/>
            <a:ext cx="1068705" cy="414020"/>
          </a:xfrm>
          <a:prstGeom prst="rect">
            <a:avLst/>
          </a:prstGeom>
          <a:noFill/>
        </p:spPr>
        <p:txBody>
          <a:bodyPr wrap="none" rtlCol="0">
            <a:spAutoFit/>
          </a:bodyPr>
          <a:lstStyle/>
          <a:p>
            <a:r>
              <a:rPr lang="zh-CN" altLang="en-US" sz="2100" dirty="0"/>
              <a:t>程序</a:t>
            </a:r>
            <a:r>
              <a:rPr lang="en-US" altLang="zh-CN" sz="2100" dirty="0"/>
              <a:t>4-5</a:t>
            </a:r>
            <a:endParaRPr lang="en-US" sz="2100" dirty="0"/>
          </a:p>
        </p:txBody>
      </p:sp>
      <p:sp>
        <p:nvSpPr>
          <p:cNvPr id="9" name="文本框 8"/>
          <p:cNvSpPr txBox="1"/>
          <p:nvPr/>
        </p:nvSpPr>
        <p:spPr>
          <a:xfrm>
            <a:off x="5952000" y="874742"/>
            <a:ext cx="1068705" cy="414020"/>
          </a:xfrm>
          <a:prstGeom prst="rect">
            <a:avLst/>
          </a:prstGeom>
          <a:noFill/>
        </p:spPr>
        <p:txBody>
          <a:bodyPr wrap="none" rtlCol="0">
            <a:spAutoFit/>
          </a:bodyPr>
          <a:lstStyle/>
          <a:p>
            <a:r>
              <a:rPr lang="zh-CN" altLang="en-US" sz="2100" dirty="0"/>
              <a:t>程序</a:t>
            </a:r>
            <a:r>
              <a:rPr lang="en-US" altLang="zh-CN" sz="2100" dirty="0"/>
              <a:t>4-6</a:t>
            </a:r>
            <a:endParaRPr lang="en-US" sz="2100"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78373" y="4598707"/>
            <a:ext cx="6594824" cy="786765"/>
          </a:xfrm>
          <a:prstGeom prst="rect">
            <a:avLst/>
          </a:prstGeom>
        </p:spPr>
        <p:txBody>
          <a:bodyPr vert="horz" wrap="square" lIns="0" tIns="13334" rIns="0" bIns="0" rtlCol="0">
            <a:spAutoFit/>
          </a:bodyPr>
          <a:lstStyle/>
          <a:p>
            <a:pPr marL="12700" marR="5080">
              <a:lnSpc>
                <a:spcPct val="100000"/>
              </a:lnSpc>
              <a:spcBef>
                <a:spcPts val="100"/>
              </a:spcBef>
            </a:pPr>
            <a:r>
              <a:rPr sz="2520" spc="-15" dirty="0">
                <a:latin typeface="Calibri" panose="020F0502020204030204"/>
                <a:cs typeface="Calibri" panose="020F0502020204030204"/>
              </a:rPr>
              <a:t>Possible </a:t>
            </a:r>
            <a:r>
              <a:rPr sz="2520" spc="-5" dirty="0">
                <a:latin typeface="Calibri" panose="020F0502020204030204"/>
                <a:cs typeface="Calibri" panose="020F0502020204030204"/>
              </a:rPr>
              <a:t>sequence of </a:t>
            </a:r>
            <a:r>
              <a:rPr sz="2520" spc="-10" dirty="0">
                <a:latin typeface="Calibri" panose="020F0502020204030204"/>
                <a:cs typeface="Calibri" panose="020F0502020204030204"/>
              </a:rPr>
              <a:t>events </a:t>
            </a:r>
            <a:r>
              <a:rPr sz="2520" dirty="0">
                <a:latin typeface="Calibri" panose="020F0502020204030204"/>
                <a:cs typeface="Calibri" panose="020F0502020204030204"/>
              </a:rPr>
              <a:t>with </a:t>
            </a:r>
            <a:r>
              <a:rPr sz="2520" spc="-10" dirty="0">
                <a:latin typeface="Calibri" panose="020F0502020204030204"/>
                <a:cs typeface="Calibri" panose="020F0502020204030204"/>
              </a:rPr>
              <a:t>busy-waiting </a:t>
            </a:r>
            <a:r>
              <a:rPr sz="2520" dirty="0">
                <a:latin typeface="Calibri" panose="020F0502020204030204"/>
                <a:cs typeface="Calibri" panose="020F0502020204030204"/>
              </a:rPr>
              <a:t>and  </a:t>
            </a:r>
            <a:r>
              <a:rPr sz="2520" spc="-10" dirty="0">
                <a:solidFill>
                  <a:srgbClr val="FF0000"/>
                </a:solidFill>
                <a:latin typeface="Calibri" panose="020F0502020204030204"/>
                <a:cs typeface="Calibri" panose="020F0502020204030204"/>
              </a:rPr>
              <a:t>more </a:t>
            </a:r>
            <a:r>
              <a:rPr sz="2520" spc="-5" dirty="0">
                <a:solidFill>
                  <a:srgbClr val="FF0000"/>
                </a:solidFill>
                <a:latin typeface="Calibri" panose="020F0502020204030204"/>
                <a:cs typeface="Calibri" panose="020F0502020204030204"/>
              </a:rPr>
              <a:t>threads </a:t>
            </a:r>
            <a:r>
              <a:rPr sz="2520" dirty="0">
                <a:solidFill>
                  <a:srgbClr val="FF0000"/>
                </a:solidFill>
                <a:latin typeface="Calibri" panose="020F0502020204030204"/>
                <a:cs typeface="Calibri" panose="020F0502020204030204"/>
              </a:rPr>
              <a:t>than</a:t>
            </a:r>
            <a:r>
              <a:rPr sz="2520" spc="-10" dirty="0">
                <a:solidFill>
                  <a:srgbClr val="FF0000"/>
                </a:solidFill>
                <a:latin typeface="Calibri" panose="020F0502020204030204"/>
                <a:cs typeface="Calibri" panose="020F0502020204030204"/>
              </a:rPr>
              <a:t> </a:t>
            </a:r>
            <a:r>
              <a:rPr sz="2520" spc="-15" dirty="0">
                <a:solidFill>
                  <a:srgbClr val="FF0000"/>
                </a:solidFill>
                <a:latin typeface="Calibri" panose="020F0502020204030204"/>
                <a:cs typeface="Calibri" panose="020F0502020204030204"/>
              </a:rPr>
              <a:t>cores</a:t>
            </a:r>
            <a:r>
              <a:rPr sz="2520" spc="-15" dirty="0">
                <a:latin typeface="Calibri" panose="020F0502020204030204"/>
                <a:cs typeface="Calibri" panose="020F0502020204030204"/>
              </a:rPr>
              <a:t>.</a:t>
            </a:r>
            <a:endParaRPr sz="2520">
              <a:latin typeface="Calibri" panose="020F0502020204030204"/>
              <a:cs typeface="Calibri" panose="020F0502020204030204"/>
            </a:endParaRPr>
          </a:p>
        </p:txBody>
      </p:sp>
      <p:sp>
        <p:nvSpPr>
          <p:cNvPr id="3" name="object 3"/>
          <p:cNvSpPr/>
          <p:nvPr/>
        </p:nvSpPr>
        <p:spPr>
          <a:xfrm>
            <a:off x="2221131" y="1128951"/>
            <a:ext cx="8279861" cy="2550700"/>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7966352" y="2210674"/>
            <a:ext cx="1158812" cy="306038"/>
          </a:xfrm>
          <a:custGeom>
            <a:avLst/>
            <a:gdLst/>
            <a:ahLst/>
            <a:cxnLst/>
            <a:rect l="l" t="t" r="r" b="b"/>
            <a:pathLst>
              <a:path w="1103629" h="291464">
                <a:moveTo>
                  <a:pt x="0" y="48513"/>
                </a:moveTo>
                <a:lnTo>
                  <a:pt x="3811" y="29628"/>
                </a:lnTo>
                <a:lnTo>
                  <a:pt x="14208" y="14208"/>
                </a:lnTo>
                <a:lnTo>
                  <a:pt x="29628" y="3811"/>
                </a:lnTo>
                <a:lnTo>
                  <a:pt x="48513" y="0"/>
                </a:lnTo>
                <a:lnTo>
                  <a:pt x="1054862" y="0"/>
                </a:lnTo>
                <a:lnTo>
                  <a:pt x="1073747" y="3811"/>
                </a:lnTo>
                <a:lnTo>
                  <a:pt x="1089167" y="14208"/>
                </a:lnTo>
                <a:lnTo>
                  <a:pt x="1099564" y="29628"/>
                </a:lnTo>
                <a:lnTo>
                  <a:pt x="1103375" y="48513"/>
                </a:lnTo>
                <a:lnTo>
                  <a:pt x="1103375" y="242569"/>
                </a:lnTo>
                <a:lnTo>
                  <a:pt x="1099564" y="261455"/>
                </a:lnTo>
                <a:lnTo>
                  <a:pt x="1089167" y="276875"/>
                </a:lnTo>
                <a:lnTo>
                  <a:pt x="1073747" y="287272"/>
                </a:lnTo>
                <a:lnTo>
                  <a:pt x="1054862" y="291084"/>
                </a:lnTo>
                <a:lnTo>
                  <a:pt x="48513" y="291084"/>
                </a:lnTo>
                <a:lnTo>
                  <a:pt x="29628" y="287272"/>
                </a:lnTo>
                <a:lnTo>
                  <a:pt x="14208" y="276875"/>
                </a:lnTo>
                <a:lnTo>
                  <a:pt x="3811" y="261455"/>
                </a:lnTo>
                <a:lnTo>
                  <a:pt x="0" y="242569"/>
                </a:lnTo>
                <a:lnTo>
                  <a:pt x="0" y="48513"/>
                </a:lnTo>
                <a:close/>
              </a:path>
            </a:pathLst>
          </a:custGeom>
          <a:ln w="32004">
            <a:solidFill>
              <a:srgbClr val="FF0000"/>
            </a:solidFill>
          </a:ln>
        </p:spPr>
        <p:txBody>
          <a:bodyPr wrap="square" lIns="0" tIns="0" rIns="0" bIns="0" rtlCol="0"/>
          <a:lstStyle/>
          <a:p>
            <a:endParaRPr sz="2310"/>
          </a:p>
        </p:txBody>
      </p:sp>
      <p:sp>
        <p:nvSpPr>
          <p:cNvPr id="5" name="object 5"/>
          <p:cNvSpPr/>
          <p:nvPr/>
        </p:nvSpPr>
        <p:spPr>
          <a:xfrm>
            <a:off x="9253796" y="2516712"/>
            <a:ext cx="1158812" cy="352044"/>
          </a:xfrm>
          <a:custGeom>
            <a:avLst/>
            <a:gdLst/>
            <a:ahLst/>
            <a:cxnLst/>
            <a:rect l="l" t="t" r="r" b="b"/>
            <a:pathLst>
              <a:path w="1103629" h="335280">
                <a:moveTo>
                  <a:pt x="0" y="55879"/>
                </a:moveTo>
                <a:lnTo>
                  <a:pt x="4391" y="34129"/>
                </a:lnTo>
                <a:lnTo>
                  <a:pt x="16367" y="16367"/>
                </a:lnTo>
                <a:lnTo>
                  <a:pt x="34129" y="4391"/>
                </a:lnTo>
                <a:lnTo>
                  <a:pt x="55879" y="0"/>
                </a:lnTo>
                <a:lnTo>
                  <a:pt x="1047495" y="0"/>
                </a:lnTo>
                <a:lnTo>
                  <a:pt x="1069246" y="4391"/>
                </a:lnTo>
                <a:lnTo>
                  <a:pt x="1087008" y="16367"/>
                </a:lnTo>
                <a:lnTo>
                  <a:pt x="1098984" y="34129"/>
                </a:lnTo>
                <a:lnTo>
                  <a:pt x="1103376" y="55879"/>
                </a:lnTo>
                <a:lnTo>
                  <a:pt x="1103376" y="279400"/>
                </a:lnTo>
                <a:lnTo>
                  <a:pt x="1098984" y="301150"/>
                </a:lnTo>
                <a:lnTo>
                  <a:pt x="1087008" y="318912"/>
                </a:lnTo>
                <a:lnTo>
                  <a:pt x="1069246" y="330888"/>
                </a:lnTo>
                <a:lnTo>
                  <a:pt x="1047495" y="335279"/>
                </a:lnTo>
                <a:lnTo>
                  <a:pt x="55879" y="335279"/>
                </a:lnTo>
                <a:lnTo>
                  <a:pt x="34129" y="330888"/>
                </a:lnTo>
                <a:lnTo>
                  <a:pt x="16367" y="318912"/>
                </a:lnTo>
                <a:lnTo>
                  <a:pt x="4391" y="301150"/>
                </a:lnTo>
                <a:lnTo>
                  <a:pt x="0" y="279400"/>
                </a:lnTo>
                <a:lnTo>
                  <a:pt x="0" y="55879"/>
                </a:lnTo>
                <a:close/>
              </a:path>
            </a:pathLst>
          </a:custGeom>
          <a:ln w="32004">
            <a:solidFill>
              <a:srgbClr val="FF0000"/>
            </a:solidFill>
          </a:ln>
        </p:spPr>
        <p:txBody>
          <a:bodyPr wrap="square" lIns="0" tIns="0" rIns="0" bIns="0" rtlCol="0"/>
          <a:lstStyle/>
          <a:p>
            <a:endParaRPr sz="2310"/>
          </a:p>
        </p:txBody>
      </p:sp>
      <p:sp>
        <p:nvSpPr>
          <p:cNvPr id="6" name="object 6"/>
          <p:cNvSpPr/>
          <p:nvPr/>
        </p:nvSpPr>
        <p:spPr>
          <a:xfrm>
            <a:off x="7966352" y="2550050"/>
            <a:ext cx="1158812" cy="285369"/>
          </a:xfrm>
          <a:custGeom>
            <a:avLst/>
            <a:gdLst/>
            <a:ahLst/>
            <a:cxnLst/>
            <a:rect l="l" t="t" r="r" b="b"/>
            <a:pathLst>
              <a:path w="1103629" h="271780">
                <a:moveTo>
                  <a:pt x="0" y="45212"/>
                </a:moveTo>
                <a:lnTo>
                  <a:pt x="3546" y="27592"/>
                </a:lnTo>
                <a:lnTo>
                  <a:pt x="13223" y="13223"/>
                </a:lnTo>
                <a:lnTo>
                  <a:pt x="27592" y="3546"/>
                </a:lnTo>
                <a:lnTo>
                  <a:pt x="45212" y="0"/>
                </a:lnTo>
                <a:lnTo>
                  <a:pt x="1058164" y="0"/>
                </a:lnTo>
                <a:lnTo>
                  <a:pt x="1075783" y="3546"/>
                </a:lnTo>
                <a:lnTo>
                  <a:pt x="1090152" y="13223"/>
                </a:lnTo>
                <a:lnTo>
                  <a:pt x="1099829" y="27592"/>
                </a:lnTo>
                <a:lnTo>
                  <a:pt x="1103375" y="45212"/>
                </a:lnTo>
                <a:lnTo>
                  <a:pt x="1103375" y="226060"/>
                </a:lnTo>
                <a:lnTo>
                  <a:pt x="1099829" y="243679"/>
                </a:lnTo>
                <a:lnTo>
                  <a:pt x="1090152" y="258048"/>
                </a:lnTo>
                <a:lnTo>
                  <a:pt x="1075783" y="267725"/>
                </a:lnTo>
                <a:lnTo>
                  <a:pt x="1058164" y="271272"/>
                </a:lnTo>
                <a:lnTo>
                  <a:pt x="45212" y="271272"/>
                </a:lnTo>
                <a:lnTo>
                  <a:pt x="27592" y="267725"/>
                </a:lnTo>
                <a:lnTo>
                  <a:pt x="13223" y="258048"/>
                </a:lnTo>
                <a:lnTo>
                  <a:pt x="3546" y="243679"/>
                </a:lnTo>
                <a:lnTo>
                  <a:pt x="0" y="226060"/>
                </a:lnTo>
                <a:lnTo>
                  <a:pt x="0" y="45212"/>
                </a:lnTo>
                <a:close/>
              </a:path>
            </a:pathLst>
          </a:custGeom>
          <a:ln w="32004">
            <a:solidFill>
              <a:srgbClr val="FF0000"/>
            </a:solidFill>
          </a:ln>
        </p:spPr>
        <p:txBody>
          <a:bodyPr wrap="square" lIns="0" tIns="0" rIns="0" bIns="0" rtlCol="0"/>
          <a:lstStyle/>
          <a:p>
            <a:endParaRPr sz="2310"/>
          </a:p>
        </p:txBody>
      </p:sp>
      <p:sp>
        <p:nvSpPr>
          <p:cNvPr id="7" name="object 7"/>
          <p:cNvSpPr/>
          <p:nvPr/>
        </p:nvSpPr>
        <p:spPr>
          <a:xfrm>
            <a:off x="4116146" y="1914472"/>
            <a:ext cx="2613496" cy="240030"/>
          </a:xfrm>
          <a:custGeom>
            <a:avLst/>
            <a:gdLst/>
            <a:ahLst/>
            <a:cxnLst/>
            <a:rect l="l" t="t" r="r" b="b"/>
            <a:pathLst>
              <a:path w="3141345" h="228600">
                <a:moveTo>
                  <a:pt x="0" y="38100"/>
                </a:moveTo>
                <a:lnTo>
                  <a:pt x="2988" y="23252"/>
                </a:lnTo>
                <a:lnTo>
                  <a:pt x="11144" y="11144"/>
                </a:lnTo>
                <a:lnTo>
                  <a:pt x="23252" y="2988"/>
                </a:lnTo>
                <a:lnTo>
                  <a:pt x="38100" y="0"/>
                </a:lnTo>
                <a:lnTo>
                  <a:pt x="3102863" y="0"/>
                </a:lnTo>
                <a:lnTo>
                  <a:pt x="3117711" y="2988"/>
                </a:lnTo>
                <a:lnTo>
                  <a:pt x="3129819" y="11144"/>
                </a:lnTo>
                <a:lnTo>
                  <a:pt x="3137975" y="23252"/>
                </a:lnTo>
                <a:lnTo>
                  <a:pt x="3140963" y="38100"/>
                </a:lnTo>
                <a:lnTo>
                  <a:pt x="3140963" y="190500"/>
                </a:lnTo>
                <a:lnTo>
                  <a:pt x="3137975" y="205347"/>
                </a:lnTo>
                <a:lnTo>
                  <a:pt x="3129819" y="217455"/>
                </a:lnTo>
                <a:lnTo>
                  <a:pt x="3117711" y="225611"/>
                </a:lnTo>
                <a:lnTo>
                  <a:pt x="3102863" y="228600"/>
                </a:lnTo>
                <a:lnTo>
                  <a:pt x="38100" y="228600"/>
                </a:lnTo>
                <a:lnTo>
                  <a:pt x="23252" y="225611"/>
                </a:lnTo>
                <a:lnTo>
                  <a:pt x="11144" y="217455"/>
                </a:lnTo>
                <a:lnTo>
                  <a:pt x="2988" y="205347"/>
                </a:lnTo>
                <a:lnTo>
                  <a:pt x="0" y="190500"/>
                </a:lnTo>
                <a:lnTo>
                  <a:pt x="0" y="38100"/>
                </a:lnTo>
                <a:close/>
              </a:path>
            </a:pathLst>
          </a:custGeom>
          <a:ln w="32004">
            <a:solidFill>
              <a:srgbClr val="FF0000"/>
            </a:solidFill>
          </a:ln>
        </p:spPr>
        <p:txBody>
          <a:bodyPr wrap="square" lIns="0" tIns="0" rIns="0" bIns="0" rtlCol="0"/>
          <a:lstStyle/>
          <a:p>
            <a:endParaRPr sz="2310"/>
          </a:p>
        </p:txBody>
      </p:sp>
      <p:sp>
        <p:nvSpPr>
          <p:cNvPr id="8" name="object 8"/>
          <p:cNvSpPr/>
          <p:nvPr/>
        </p:nvSpPr>
        <p:spPr>
          <a:xfrm>
            <a:off x="6729642" y="3349837"/>
            <a:ext cx="1158812" cy="283369"/>
          </a:xfrm>
          <a:custGeom>
            <a:avLst/>
            <a:gdLst/>
            <a:ahLst/>
            <a:cxnLst/>
            <a:rect l="l" t="t" r="r" b="b"/>
            <a:pathLst>
              <a:path w="1103629" h="269875">
                <a:moveTo>
                  <a:pt x="0" y="44958"/>
                </a:moveTo>
                <a:lnTo>
                  <a:pt x="3524" y="27432"/>
                </a:lnTo>
                <a:lnTo>
                  <a:pt x="13144" y="13144"/>
                </a:lnTo>
                <a:lnTo>
                  <a:pt x="27431" y="3524"/>
                </a:lnTo>
                <a:lnTo>
                  <a:pt x="44957" y="0"/>
                </a:lnTo>
                <a:lnTo>
                  <a:pt x="1058417" y="0"/>
                </a:lnTo>
                <a:lnTo>
                  <a:pt x="1075943" y="3524"/>
                </a:lnTo>
                <a:lnTo>
                  <a:pt x="1090231" y="13144"/>
                </a:lnTo>
                <a:lnTo>
                  <a:pt x="1099851" y="27431"/>
                </a:lnTo>
                <a:lnTo>
                  <a:pt x="1103376" y="44958"/>
                </a:lnTo>
                <a:lnTo>
                  <a:pt x="1103376" y="224789"/>
                </a:lnTo>
                <a:lnTo>
                  <a:pt x="1099851" y="242315"/>
                </a:lnTo>
                <a:lnTo>
                  <a:pt x="1090231" y="256603"/>
                </a:lnTo>
                <a:lnTo>
                  <a:pt x="1075943" y="266223"/>
                </a:lnTo>
                <a:lnTo>
                  <a:pt x="1058417" y="269748"/>
                </a:lnTo>
                <a:lnTo>
                  <a:pt x="44957" y="269748"/>
                </a:lnTo>
                <a:lnTo>
                  <a:pt x="27431" y="266223"/>
                </a:lnTo>
                <a:lnTo>
                  <a:pt x="13144" y="256603"/>
                </a:lnTo>
                <a:lnTo>
                  <a:pt x="3524" y="242315"/>
                </a:lnTo>
                <a:lnTo>
                  <a:pt x="0" y="224789"/>
                </a:lnTo>
                <a:lnTo>
                  <a:pt x="0" y="44958"/>
                </a:lnTo>
                <a:close/>
              </a:path>
            </a:pathLst>
          </a:custGeom>
          <a:ln w="32004">
            <a:solidFill>
              <a:srgbClr val="FF0000"/>
            </a:solidFill>
          </a:ln>
        </p:spPr>
        <p:txBody>
          <a:bodyPr wrap="square" lIns="0" tIns="0" rIns="0" bIns="0" rtlCol="0"/>
          <a:lstStyle/>
          <a:p>
            <a:endParaRPr sz="2310"/>
          </a:p>
        </p:txBody>
      </p:sp>
      <p:sp>
        <p:nvSpPr>
          <p:cNvPr id="9" name="object 9"/>
          <p:cNvSpPr txBox="1">
            <a:spLocks noGrp="1"/>
          </p:cNvSpPr>
          <p:nvPr>
            <p:ph type="title"/>
          </p:nvPr>
        </p:nvSpPr>
        <p:spPr>
          <a:xfrm>
            <a:off x="64135" y="504349"/>
            <a:ext cx="10762906" cy="463550"/>
          </a:xfrm>
          <a:prstGeom prst="rect">
            <a:avLst/>
          </a:prstGeom>
        </p:spPr>
        <p:txBody>
          <a:bodyPr vert="horz" wrap="square" lIns="0" tIns="12668" rIns="0" bIns="0" rtlCol="0">
            <a:spAutoFit/>
          </a:bodyPr>
          <a:lstStyle/>
          <a:p>
            <a:pPr marL="12700">
              <a:lnSpc>
                <a:spcPct val="100000"/>
              </a:lnSpc>
              <a:spcBef>
                <a:spcPts val="95"/>
              </a:spcBef>
            </a:pPr>
            <a:r>
              <a:rPr sz="2940" b="0" spc="-5" dirty="0">
                <a:solidFill>
                  <a:srgbClr val="FF0000"/>
                </a:solidFill>
                <a:latin typeface="Calibri" panose="020F0502020204030204"/>
                <a:cs typeface="Calibri" panose="020F0502020204030204"/>
              </a:rPr>
              <a:t>5</a:t>
            </a:r>
            <a:r>
              <a:rPr sz="2940" b="0" spc="-65" dirty="0">
                <a:solidFill>
                  <a:srgbClr val="FF0000"/>
                </a:solidFill>
                <a:latin typeface="Calibri" panose="020F0502020204030204"/>
                <a:cs typeface="Calibri" panose="020F0502020204030204"/>
              </a:rPr>
              <a:t> </a:t>
            </a:r>
            <a:r>
              <a:rPr sz="2940" b="0" spc="-10" dirty="0">
                <a:solidFill>
                  <a:srgbClr val="FF0000"/>
                </a:solidFill>
                <a:latin typeface="Calibri" panose="020F0502020204030204"/>
                <a:cs typeface="Calibri" panose="020F0502020204030204"/>
              </a:rPr>
              <a:t>threads</a:t>
            </a:r>
            <a:endParaRPr sz="2940">
              <a:latin typeface="Calibri" panose="020F0502020204030204"/>
              <a:cs typeface="Calibri" panose="020F0502020204030204"/>
            </a:endParaRPr>
          </a:p>
        </p:txBody>
      </p:sp>
      <p:sp>
        <p:nvSpPr>
          <p:cNvPr id="11" name="object 11"/>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10" name="object 10"/>
          <p:cNvSpPr txBox="1"/>
          <p:nvPr/>
        </p:nvSpPr>
        <p:spPr>
          <a:xfrm>
            <a:off x="6590525" y="524066"/>
            <a:ext cx="1111472" cy="463550"/>
          </a:xfrm>
          <a:prstGeom prst="rect">
            <a:avLst/>
          </a:prstGeom>
        </p:spPr>
        <p:txBody>
          <a:bodyPr vert="horz" wrap="square" lIns="0" tIns="12668" rIns="0" bIns="0" rtlCol="0">
            <a:spAutoFit/>
          </a:bodyPr>
          <a:lstStyle/>
          <a:p>
            <a:pPr marL="12700">
              <a:lnSpc>
                <a:spcPct val="100000"/>
              </a:lnSpc>
              <a:spcBef>
                <a:spcPts val="95"/>
              </a:spcBef>
            </a:pPr>
            <a:r>
              <a:rPr sz="2940" spc="-5" dirty="0">
                <a:solidFill>
                  <a:srgbClr val="FF0000"/>
                </a:solidFill>
                <a:latin typeface="Calibri" panose="020F0502020204030204"/>
                <a:cs typeface="Calibri" panose="020F0502020204030204"/>
              </a:rPr>
              <a:t>2</a:t>
            </a:r>
            <a:r>
              <a:rPr sz="2940" spc="-70" dirty="0">
                <a:solidFill>
                  <a:srgbClr val="FF0000"/>
                </a:solidFill>
                <a:latin typeface="Calibri" panose="020F0502020204030204"/>
                <a:cs typeface="Calibri" panose="020F0502020204030204"/>
              </a:rPr>
              <a:t> </a:t>
            </a:r>
            <a:r>
              <a:rPr sz="2940" spc="-15" dirty="0">
                <a:solidFill>
                  <a:srgbClr val="FF0000"/>
                </a:solidFill>
                <a:latin typeface="Calibri" panose="020F0502020204030204"/>
                <a:cs typeface="Calibri" panose="020F0502020204030204"/>
              </a:rPr>
              <a:t>cores</a:t>
            </a:r>
            <a:endParaRPr sz="2940">
              <a:latin typeface="Calibri" panose="020F0502020204030204"/>
              <a:cs typeface="Calibri" panose="020F0502020204030204"/>
            </a:endParaRPr>
          </a:p>
        </p:txBody>
      </p:sp>
      <p:sp>
        <p:nvSpPr>
          <p:cNvPr id="12" name="object 4"/>
          <p:cNvSpPr/>
          <p:nvPr/>
        </p:nvSpPr>
        <p:spPr>
          <a:xfrm>
            <a:off x="5431713" y="2210675"/>
            <a:ext cx="1158812" cy="306038"/>
          </a:xfrm>
          <a:custGeom>
            <a:avLst/>
            <a:gdLst/>
            <a:ahLst/>
            <a:cxnLst/>
            <a:rect l="l" t="t" r="r" b="b"/>
            <a:pathLst>
              <a:path w="1103629" h="291464">
                <a:moveTo>
                  <a:pt x="0" y="48513"/>
                </a:moveTo>
                <a:lnTo>
                  <a:pt x="3811" y="29628"/>
                </a:lnTo>
                <a:lnTo>
                  <a:pt x="14208" y="14208"/>
                </a:lnTo>
                <a:lnTo>
                  <a:pt x="29628" y="3811"/>
                </a:lnTo>
                <a:lnTo>
                  <a:pt x="48513" y="0"/>
                </a:lnTo>
                <a:lnTo>
                  <a:pt x="1054862" y="0"/>
                </a:lnTo>
                <a:lnTo>
                  <a:pt x="1073747" y="3811"/>
                </a:lnTo>
                <a:lnTo>
                  <a:pt x="1089167" y="14208"/>
                </a:lnTo>
                <a:lnTo>
                  <a:pt x="1099564" y="29628"/>
                </a:lnTo>
                <a:lnTo>
                  <a:pt x="1103375" y="48513"/>
                </a:lnTo>
                <a:lnTo>
                  <a:pt x="1103375" y="242569"/>
                </a:lnTo>
                <a:lnTo>
                  <a:pt x="1099564" y="261455"/>
                </a:lnTo>
                <a:lnTo>
                  <a:pt x="1089167" y="276875"/>
                </a:lnTo>
                <a:lnTo>
                  <a:pt x="1073747" y="287272"/>
                </a:lnTo>
                <a:lnTo>
                  <a:pt x="1054862" y="291084"/>
                </a:lnTo>
                <a:lnTo>
                  <a:pt x="48513" y="291084"/>
                </a:lnTo>
                <a:lnTo>
                  <a:pt x="29628" y="287272"/>
                </a:lnTo>
                <a:lnTo>
                  <a:pt x="14208" y="276875"/>
                </a:lnTo>
                <a:lnTo>
                  <a:pt x="3811" y="261455"/>
                </a:lnTo>
                <a:lnTo>
                  <a:pt x="0" y="242569"/>
                </a:lnTo>
                <a:lnTo>
                  <a:pt x="0" y="48513"/>
                </a:lnTo>
                <a:close/>
              </a:path>
            </a:pathLst>
          </a:custGeom>
          <a:ln w="32004">
            <a:solidFill>
              <a:srgbClr val="FF0000"/>
            </a:solidFill>
          </a:ln>
        </p:spPr>
        <p:txBody>
          <a:bodyPr wrap="square" lIns="0" tIns="0" rIns="0" bIns="0" rtlCol="0"/>
          <a:lstStyle/>
          <a:p>
            <a:endParaRPr sz="2310"/>
          </a:p>
        </p:txBody>
      </p:sp>
      <p:sp>
        <p:nvSpPr>
          <p:cNvPr id="13" name="object 8"/>
          <p:cNvSpPr/>
          <p:nvPr/>
        </p:nvSpPr>
        <p:spPr>
          <a:xfrm>
            <a:off x="9253796" y="3359355"/>
            <a:ext cx="1158812" cy="283369"/>
          </a:xfrm>
          <a:custGeom>
            <a:avLst/>
            <a:gdLst/>
            <a:ahLst/>
            <a:cxnLst/>
            <a:rect l="l" t="t" r="r" b="b"/>
            <a:pathLst>
              <a:path w="1103629" h="269875">
                <a:moveTo>
                  <a:pt x="0" y="44958"/>
                </a:moveTo>
                <a:lnTo>
                  <a:pt x="3524" y="27432"/>
                </a:lnTo>
                <a:lnTo>
                  <a:pt x="13144" y="13144"/>
                </a:lnTo>
                <a:lnTo>
                  <a:pt x="27431" y="3524"/>
                </a:lnTo>
                <a:lnTo>
                  <a:pt x="44957" y="0"/>
                </a:lnTo>
                <a:lnTo>
                  <a:pt x="1058417" y="0"/>
                </a:lnTo>
                <a:lnTo>
                  <a:pt x="1075943" y="3524"/>
                </a:lnTo>
                <a:lnTo>
                  <a:pt x="1090231" y="13144"/>
                </a:lnTo>
                <a:lnTo>
                  <a:pt x="1099851" y="27431"/>
                </a:lnTo>
                <a:lnTo>
                  <a:pt x="1103376" y="44958"/>
                </a:lnTo>
                <a:lnTo>
                  <a:pt x="1103376" y="224789"/>
                </a:lnTo>
                <a:lnTo>
                  <a:pt x="1099851" y="242315"/>
                </a:lnTo>
                <a:lnTo>
                  <a:pt x="1090231" y="256603"/>
                </a:lnTo>
                <a:lnTo>
                  <a:pt x="1075943" y="266223"/>
                </a:lnTo>
                <a:lnTo>
                  <a:pt x="1058417" y="269748"/>
                </a:lnTo>
                <a:lnTo>
                  <a:pt x="44957" y="269748"/>
                </a:lnTo>
                <a:lnTo>
                  <a:pt x="27431" y="266223"/>
                </a:lnTo>
                <a:lnTo>
                  <a:pt x="13144" y="256603"/>
                </a:lnTo>
                <a:lnTo>
                  <a:pt x="3524" y="242315"/>
                </a:lnTo>
                <a:lnTo>
                  <a:pt x="0" y="224789"/>
                </a:lnTo>
                <a:lnTo>
                  <a:pt x="0" y="44958"/>
                </a:lnTo>
                <a:close/>
              </a:path>
            </a:pathLst>
          </a:custGeom>
          <a:ln w="32004">
            <a:solidFill>
              <a:srgbClr val="FF0000"/>
            </a:solidFill>
          </a:ln>
        </p:spPr>
        <p:txBody>
          <a:bodyPr wrap="square" lIns="0" tIns="0" rIns="0" bIns="0" rtlCol="0"/>
          <a:lstStyle/>
          <a:p>
            <a:endParaRPr sz="2310"/>
          </a:p>
        </p:txBody>
      </p:sp>
      <p:sp>
        <p:nvSpPr>
          <p:cNvPr id="14" name="文本框 13"/>
          <p:cNvSpPr txBox="1"/>
          <p:nvPr/>
        </p:nvSpPr>
        <p:spPr>
          <a:xfrm>
            <a:off x="2689568" y="4248325"/>
            <a:ext cx="4993005" cy="446405"/>
          </a:xfrm>
          <a:prstGeom prst="rect">
            <a:avLst/>
          </a:prstGeom>
          <a:noFill/>
        </p:spPr>
        <p:txBody>
          <a:bodyPr wrap="none" rtlCol="0">
            <a:spAutoFit/>
          </a:bodyPr>
          <a:lstStyle/>
          <a:p>
            <a:r>
              <a:rPr lang="en-US" sz="2310" dirty="0"/>
              <a:t>http://pages.cs.wisc.edu/~remzi/OSTEP/</a:t>
            </a:r>
          </a:p>
        </p:txBody>
      </p:sp>
      <p:sp>
        <p:nvSpPr>
          <p:cNvPr id="15" name="文本框 14">
            <a:extLst>
              <a:ext uri="{FF2B5EF4-FFF2-40B4-BE49-F238E27FC236}">
                <a16:creationId xmlns:a16="http://schemas.microsoft.com/office/drawing/2014/main" id="{EA067F3E-056F-4D4C-B9D0-F2C3F7CFDFCE}"/>
              </a:ext>
            </a:extLst>
          </p:cNvPr>
          <p:cNvSpPr txBox="1"/>
          <p:nvPr/>
        </p:nvSpPr>
        <p:spPr>
          <a:xfrm>
            <a:off x="6907512" y="3655808"/>
            <a:ext cx="4692567" cy="430887"/>
          </a:xfrm>
          <a:prstGeom prst="rect">
            <a:avLst/>
          </a:prstGeom>
          <a:noFill/>
        </p:spPr>
        <p:txBody>
          <a:bodyPr wrap="none" rtlCol="0">
            <a:spAutoFit/>
          </a:bodyPr>
          <a:lstStyle/>
          <a:p>
            <a:r>
              <a:rPr lang="en-US" altLang="zh-CN" dirty="0" err="1">
                <a:solidFill>
                  <a:srgbClr val="FF0000"/>
                </a:solidFill>
              </a:rPr>
              <a:t>susp</a:t>
            </a:r>
            <a:r>
              <a:rPr lang="en-US" altLang="zh-CN" dirty="0"/>
              <a:t> due to other long-term operations</a:t>
            </a:r>
            <a:endParaRPr lang="en-US"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2" name="object 2"/>
          <p:cNvSpPr txBox="1"/>
          <p:nvPr/>
        </p:nvSpPr>
        <p:spPr>
          <a:xfrm>
            <a:off x="2401367" y="3564444"/>
            <a:ext cx="5851398" cy="2353945"/>
          </a:xfrm>
          <a:prstGeom prst="rect">
            <a:avLst/>
          </a:prstGeom>
        </p:spPr>
        <p:txBody>
          <a:bodyPr vert="horz" wrap="square" lIns="0" tIns="111347" rIns="0" bIns="0" rtlCol="0">
            <a:spAutoFit/>
          </a:bodyPr>
          <a:lstStyle/>
          <a:p>
            <a:pPr marL="12700" marR="5080" algn="just">
              <a:lnSpc>
                <a:spcPts val="5830"/>
              </a:lnSpc>
              <a:spcBef>
                <a:spcPts val="835"/>
              </a:spcBef>
            </a:pPr>
            <a:r>
              <a:rPr sz="5670" b="0" spc="-15" dirty="0">
                <a:latin typeface="Calibri Light" panose="020F0302020204030204"/>
                <a:cs typeface="Calibri Light" panose="020F0302020204030204"/>
              </a:rPr>
              <a:t>Producer-Consumer  </a:t>
            </a:r>
            <a:r>
              <a:rPr sz="5670" b="0" spc="-25" dirty="0">
                <a:latin typeface="Calibri Light" panose="020F0302020204030204"/>
                <a:cs typeface="Calibri Light" panose="020F0302020204030204"/>
              </a:rPr>
              <a:t>Synchronization</a:t>
            </a:r>
            <a:r>
              <a:rPr sz="5670" b="0" spc="-125" dirty="0">
                <a:latin typeface="Calibri Light" panose="020F0302020204030204"/>
                <a:cs typeface="Calibri Light" panose="020F0302020204030204"/>
              </a:rPr>
              <a:t> </a:t>
            </a:r>
            <a:r>
              <a:rPr sz="5670" b="0" dirty="0">
                <a:latin typeface="Calibri Light" panose="020F0302020204030204"/>
                <a:cs typeface="Calibri Light" panose="020F0302020204030204"/>
              </a:rPr>
              <a:t>and  </a:t>
            </a:r>
            <a:r>
              <a:rPr sz="5670" b="0" spc="-10" dirty="0">
                <a:latin typeface="Calibri Light" panose="020F0302020204030204"/>
                <a:cs typeface="Calibri Light" panose="020F0302020204030204"/>
              </a:rPr>
              <a:t>Semaphores</a:t>
            </a:r>
            <a:endParaRPr sz="5670">
              <a:latin typeface="Calibri Light" panose="020F0302020204030204"/>
              <a:cs typeface="Calibri Light" panose="020F0302020204030204"/>
            </a:endParaRPr>
          </a:p>
        </p:txBody>
      </p:sp>
      <p:sp>
        <p:nvSpPr>
          <p:cNvPr id="3" name="object 3"/>
          <p:cNvSpPr/>
          <p:nvPr/>
        </p:nvSpPr>
        <p:spPr>
          <a:xfrm>
            <a:off x="2469109" y="1170888"/>
            <a:ext cx="2646731" cy="2540861"/>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46</a:t>
            </a:fld>
            <a:endParaRPr sz="1575" dirty="0"/>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Issues</a:t>
            </a:r>
            <a:endParaRPr sz="4620" dirty="0"/>
          </a:p>
        </p:txBody>
      </p:sp>
      <p:sp>
        <p:nvSpPr>
          <p:cNvPr id="3" name="object 3"/>
          <p:cNvSpPr txBox="1"/>
          <p:nvPr/>
        </p:nvSpPr>
        <p:spPr>
          <a:xfrm>
            <a:off x="2343119" y="1883168"/>
            <a:ext cx="7795641" cy="4082655"/>
          </a:xfrm>
          <a:prstGeom prst="rect">
            <a:avLst/>
          </a:prstGeom>
        </p:spPr>
        <p:txBody>
          <a:bodyPr vert="horz" wrap="square" lIns="0" tIns="64007" rIns="0" bIns="0" rtlCol="0">
            <a:spAutoFit/>
          </a:bodyPr>
          <a:lstStyle/>
          <a:p>
            <a:pPr marL="241300" marR="142875" indent="-228600">
              <a:lnSpc>
                <a:spcPts val="3020"/>
              </a:lnSpc>
              <a:spcBef>
                <a:spcPts val="480"/>
              </a:spcBef>
              <a:buFont typeface="Arial" panose="020B0604020202020204"/>
              <a:buChar char="•"/>
              <a:tabLst>
                <a:tab pos="241300" algn="l"/>
              </a:tabLst>
            </a:pPr>
            <a:r>
              <a:rPr sz="2940" spc="-15" dirty="0">
                <a:solidFill>
                  <a:srgbClr val="0000FF"/>
                </a:solidFill>
                <a:latin typeface="Comic Sans MS" panose="030F0702030302020204" pitchFamily="66" charset="0"/>
                <a:cs typeface="Calibri" panose="020F0502020204030204"/>
              </a:rPr>
              <a:t>Busy-waiting </a:t>
            </a:r>
            <a:r>
              <a:rPr sz="2940" spc="-20" dirty="0">
                <a:solidFill>
                  <a:srgbClr val="FF0000"/>
                </a:solidFill>
                <a:latin typeface="Comic Sans MS" panose="030F0702030302020204" pitchFamily="66" charset="0"/>
                <a:cs typeface="Calibri" panose="020F0502020204030204"/>
              </a:rPr>
              <a:t>enforces </a:t>
            </a:r>
            <a:r>
              <a:rPr sz="2940" spc="-5" dirty="0">
                <a:solidFill>
                  <a:srgbClr val="FF0000"/>
                </a:solidFill>
                <a:latin typeface="Comic Sans MS" panose="030F0702030302020204" pitchFamily="66" charset="0"/>
                <a:cs typeface="Calibri" panose="020F0502020204030204"/>
              </a:rPr>
              <a:t>the </a:t>
            </a:r>
            <a:r>
              <a:rPr sz="2940" spc="-15" dirty="0">
                <a:solidFill>
                  <a:srgbClr val="FF0000"/>
                </a:solidFill>
                <a:latin typeface="Comic Sans MS" panose="030F0702030302020204" pitchFamily="66" charset="0"/>
                <a:cs typeface="Calibri" panose="020F0502020204030204"/>
              </a:rPr>
              <a:t>order </a:t>
            </a:r>
            <a:r>
              <a:rPr sz="2940" spc="-10" dirty="0">
                <a:latin typeface="Comic Sans MS" panose="030F0702030302020204" pitchFamily="66" charset="0"/>
                <a:cs typeface="Calibri" panose="020F0502020204030204"/>
              </a:rPr>
              <a:t>threads </a:t>
            </a:r>
            <a:r>
              <a:rPr sz="2940" spc="-5" dirty="0">
                <a:latin typeface="Comic Sans MS" panose="030F0702030302020204" pitchFamily="66" charset="0"/>
                <a:cs typeface="Calibri" panose="020F0502020204030204"/>
              </a:rPr>
              <a:t>access a  </a:t>
            </a:r>
            <a:r>
              <a:rPr sz="2940" spc="-10" dirty="0">
                <a:latin typeface="Comic Sans MS" panose="030F0702030302020204" pitchFamily="66" charset="0"/>
                <a:cs typeface="Calibri" panose="020F0502020204030204"/>
              </a:rPr>
              <a:t>critical </a:t>
            </a:r>
            <a:r>
              <a:rPr sz="2940" spc="-5" dirty="0">
                <a:latin typeface="Comic Sans MS" panose="030F0702030302020204" pitchFamily="66" charset="0"/>
                <a:cs typeface="Calibri" panose="020F0502020204030204"/>
              </a:rPr>
              <a:t>section.</a:t>
            </a:r>
            <a:endParaRPr sz="2940" dirty="0">
              <a:latin typeface="Comic Sans MS" panose="030F0702030302020204" pitchFamily="66" charset="0"/>
              <a:cs typeface="Calibri" panose="020F0502020204030204"/>
            </a:endParaRPr>
          </a:p>
          <a:p>
            <a:pPr>
              <a:lnSpc>
                <a:spcPct val="100000"/>
              </a:lnSpc>
              <a:spcBef>
                <a:spcPts val="30"/>
              </a:spcBef>
              <a:buChar char="•"/>
            </a:pPr>
            <a:endParaRPr sz="4305" dirty="0">
              <a:latin typeface="Comic Sans MS" panose="030F0702030302020204" pitchFamily="66" charset="0"/>
              <a:cs typeface="Calibri" panose="020F0502020204030204"/>
            </a:endParaRPr>
          </a:p>
          <a:p>
            <a:pPr marL="241300" marR="5080" indent="-228600">
              <a:lnSpc>
                <a:spcPts val="3020"/>
              </a:lnSpc>
              <a:spcBef>
                <a:spcPts val="5"/>
              </a:spcBef>
              <a:buFont typeface="Arial" panose="020B0604020202020204"/>
              <a:buChar char="•"/>
              <a:tabLst>
                <a:tab pos="241300" algn="l"/>
              </a:tabLst>
            </a:pPr>
            <a:r>
              <a:rPr sz="2940" spc="-5" dirty="0">
                <a:latin typeface="Comic Sans MS" panose="030F0702030302020204" pitchFamily="66" charset="0"/>
                <a:cs typeface="Calibri" panose="020F0502020204030204"/>
              </a:rPr>
              <a:t>Using </a:t>
            </a:r>
            <a:r>
              <a:rPr sz="2940" spc="-25" dirty="0">
                <a:solidFill>
                  <a:srgbClr val="0000FF"/>
                </a:solidFill>
                <a:latin typeface="Comic Sans MS" panose="030F0702030302020204" pitchFamily="66" charset="0"/>
                <a:cs typeface="Calibri" panose="020F0502020204030204"/>
              </a:rPr>
              <a:t>mutexes</a:t>
            </a:r>
            <a:r>
              <a:rPr sz="2940" spc="-2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the </a:t>
            </a:r>
            <a:r>
              <a:rPr sz="2940" spc="-15" dirty="0">
                <a:latin typeface="Comic Sans MS" panose="030F0702030302020204" pitchFamily="66" charset="0"/>
                <a:cs typeface="Calibri" panose="020F0502020204030204"/>
              </a:rPr>
              <a:t>order </a:t>
            </a:r>
            <a:r>
              <a:rPr sz="2940" spc="-5" dirty="0">
                <a:latin typeface="Comic Sans MS" panose="030F0702030302020204" pitchFamily="66" charset="0"/>
                <a:cs typeface="Calibri" panose="020F0502020204030204"/>
              </a:rPr>
              <a:t>is </a:t>
            </a:r>
            <a:r>
              <a:rPr sz="2940" spc="-15" dirty="0">
                <a:solidFill>
                  <a:srgbClr val="FF0000"/>
                </a:solidFill>
                <a:latin typeface="Comic Sans MS" panose="030F0702030302020204" pitchFamily="66" charset="0"/>
                <a:cs typeface="Calibri" panose="020F0502020204030204"/>
              </a:rPr>
              <a:t>left </a:t>
            </a:r>
            <a:r>
              <a:rPr sz="2940" spc="-20" dirty="0">
                <a:solidFill>
                  <a:srgbClr val="FF0000"/>
                </a:solidFill>
                <a:latin typeface="Comic Sans MS" panose="030F0702030302020204" pitchFamily="66" charset="0"/>
                <a:cs typeface="Calibri" panose="020F0502020204030204"/>
              </a:rPr>
              <a:t>to </a:t>
            </a:r>
            <a:r>
              <a:rPr sz="2940" spc="-5" dirty="0">
                <a:solidFill>
                  <a:srgbClr val="FF0000"/>
                </a:solidFill>
                <a:latin typeface="Comic Sans MS" panose="030F0702030302020204" pitchFamily="66" charset="0"/>
                <a:cs typeface="Calibri" panose="020F0502020204030204"/>
              </a:rPr>
              <a:t>chance and the  system.</a:t>
            </a:r>
          </a:p>
          <a:p>
            <a:pPr>
              <a:lnSpc>
                <a:spcPct val="100000"/>
              </a:lnSpc>
              <a:spcBef>
                <a:spcPts val="30"/>
              </a:spcBef>
              <a:buChar char="•"/>
            </a:pPr>
            <a:endParaRPr sz="4305" dirty="0">
              <a:latin typeface="Comic Sans MS" panose="030F0702030302020204" pitchFamily="66" charset="0"/>
              <a:cs typeface="Calibri" panose="020F0502020204030204"/>
            </a:endParaRPr>
          </a:p>
          <a:p>
            <a:pPr marL="241300" marR="182245" indent="-228600">
              <a:lnSpc>
                <a:spcPts val="3020"/>
              </a:lnSpc>
              <a:buFont typeface="Arial" panose="020B0604020202020204"/>
              <a:buChar char="•"/>
              <a:tabLst>
                <a:tab pos="241300" algn="l"/>
              </a:tabLst>
            </a:pPr>
            <a:r>
              <a:rPr sz="2940" spc="-15" dirty="0">
                <a:latin typeface="Comic Sans MS" panose="030F0702030302020204" pitchFamily="66" charset="0"/>
                <a:cs typeface="Calibri" panose="020F0502020204030204"/>
              </a:rPr>
              <a:t>There are </a:t>
            </a:r>
            <a:r>
              <a:rPr sz="2940" spc="-10" dirty="0">
                <a:latin typeface="Comic Sans MS" panose="030F0702030302020204" pitchFamily="66" charset="0"/>
                <a:cs typeface="Calibri" panose="020F0502020204030204"/>
              </a:rPr>
              <a:t>applications </a:t>
            </a:r>
            <a:r>
              <a:rPr sz="2940" spc="-15" dirty="0">
                <a:latin typeface="Comic Sans MS" panose="030F0702030302020204" pitchFamily="66" charset="0"/>
                <a:cs typeface="Calibri" panose="020F0502020204030204"/>
              </a:rPr>
              <a:t>where we </a:t>
            </a:r>
            <a:r>
              <a:rPr sz="2940" spc="-10" dirty="0">
                <a:latin typeface="Comic Sans MS" panose="030F0702030302020204" pitchFamily="66" charset="0"/>
                <a:cs typeface="Calibri" panose="020F0502020204030204"/>
              </a:rPr>
              <a:t>need </a:t>
            </a:r>
            <a:r>
              <a:rPr sz="2940" spc="-20" dirty="0">
                <a:latin typeface="Comic Sans MS" panose="030F0702030302020204" pitchFamily="66" charset="0"/>
                <a:cs typeface="Calibri" panose="020F0502020204030204"/>
              </a:rPr>
              <a:t>to </a:t>
            </a:r>
            <a:r>
              <a:rPr sz="2940" spc="-20" dirty="0">
                <a:solidFill>
                  <a:srgbClr val="FF0000"/>
                </a:solidFill>
                <a:latin typeface="Comic Sans MS" panose="030F0702030302020204" pitchFamily="66" charset="0"/>
                <a:cs typeface="Calibri" panose="020F0502020204030204"/>
              </a:rPr>
              <a:t>control  </a:t>
            </a:r>
            <a:r>
              <a:rPr sz="2940" spc="-5" dirty="0">
                <a:solidFill>
                  <a:srgbClr val="FF0000"/>
                </a:solidFill>
                <a:latin typeface="Comic Sans MS" panose="030F0702030302020204" pitchFamily="66" charset="0"/>
                <a:cs typeface="Calibri" panose="020F0502020204030204"/>
              </a:rPr>
              <a:t>the </a:t>
            </a:r>
            <a:r>
              <a:rPr sz="2940" spc="-15" dirty="0">
                <a:solidFill>
                  <a:srgbClr val="FF0000"/>
                </a:solidFill>
                <a:latin typeface="Comic Sans MS" panose="030F0702030302020204" pitchFamily="66" charset="0"/>
                <a:cs typeface="Calibri" panose="020F0502020204030204"/>
              </a:rPr>
              <a:t>order </a:t>
            </a:r>
            <a:r>
              <a:rPr sz="2940" spc="-10" dirty="0">
                <a:latin typeface="Comic Sans MS" panose="030F0702030302020204" pitchFamily="66" charset="0"/>
                <a:cs typeface="Calibri" panose="020F0502020204030204"/>
              </a:rPr>
              <a:t>threads </a:t>
            </a:r>
            <a:r>
              <a:rPr sz="2940" spc="-5" dirty="0">
                <a:latin typeface="Comic Sans MS" panose="030F0702030302020204" pitchFamily="66" charset="0"/>
                <a:cs typeface="Calibri" panose="020F0502020204030204"/>
              </a:rPr>
              <a:t>access the </a:t>
            </a:r>
            <a:r>
              <a:rPr sz="2940" spc="-10" dirty="0">
                <a:latin typeface="Comic Sans MS" panose="030F0702030302020204" pitchFamily="66" charset="0"/>
                <a:cs typeface="Calibri" panose="020F0502020204030204"/>
              </a:rPr>
              <a:t>critical</a:t>
            </a:r>
            <a:r>
              <a:rPr sz="2940" spc="9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section.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0" dirty="0"/>
              <a:t>Problems </a:t>
            </a:r>
            <a:r>
              <a:rPr sz="4620" dirty="0"/>
              <a:t>with a </a:t>
            </a:r>
            <a:r>
              <a:rPr sz="4620" spc="-25" dirty="0"/>
              <a:t>mutex</a:t>
            </a:r>
            <a:r>
              <a:rPr sz="4620" spc="-40" dirty="0"/>
              <a:t> </a:t>
            </a:r>
            <a:r>
              <a:rPr sz="4620" dirty="0"/>
              <a:t>solution</a:t>
            </a:r>
          </a:p>
        </p:txBody>
      </p:sp>
      <p:sp>
        <p:nvSpPr>
          <p:cNvPr id="3" name="object 3"/>
          <p:cNvSpPr/>
          <p:nvPr/>
        </p:nvSpPr>
        <p:spPr>
          <a:xfrm>
            <a:off x="2645438" y="1832228"/>
            <a:ext cx="6718612" cy="3450318"/>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3047581" y="3189999"/>
            <a:ext cx="6468142" cy="1062800"/>
          </a:xfrm>
          <a:custGeom>
            <a:avLst/>
            <a:gdLst/>
            <a:ahLst/>
            <a:cxnLst/>
            <a:rect l="l" t="t" r="r" b="b"/>
            <a:pathLst>
              <a:path w="6160134" h="1012189">
                <a:moveTo>
                  <a:pt x="0" y="168655"/>
                </a:moveTo>
                <a:lnTo>
                  <a:pt x="6028" y="123839"/>
                </a:lnTo>
                <a:lnTo>
                  <a:pt x="23038" y="83556"/>
                </a:lnTo>
                <a:lnTo>
                  <a:pt x="49418" y="49418"/>
                </a:lnTo>
                <a:lnTo>
                  <a:pt x="83556" y="23038"/>
                </a:lnTo>
                <a:lnTo>
                  <a:pt x="123839" y="6028"/>
                </a:lnTo>
                <a:lnTo>
                  <a:pt x="168655" y="0"/>
                </a:lnTo>
                <a:lnTo>
                  <a:pt x="5991351" y="0"/>
                </a:lnTo>
                <a:lnTo>
                  <a:pt x="6036168" y="6028"/>
                </a:lnTo>
                <a:lnTo>
                  <a:pt x="6076451" y="23038"/>
                </a:lnTo>
                <a:lnTo>
                  <a:pt x="6110589" y="49418"/>
                </a:lnTo>
                <a:lnTo>
                  <a:pt x="6136969" y="83556"/>
                </a:lnTo>
                <a:lnTo>
                  <a:pt x="6153979" y="123839"/>
                </a:lnTo>
                <a:lnTo>
                  <a:pt x="6160008" y="168655"/>
                </a:lnTo>
                <a:lnTo>
                  <a:pt x="6160008" y="843279"/>
                </a:lnTo>
                <a:lnTo>
                  <a:pt x="6153979" y="888096"/>
                </a:lnTo>
                <a:lnTo>
                  <a:pt x="6136969" y="928379"/>
                </a:lnTo>
                <a:lnTo>
                  <a:pt x="6110589" y="962517"/>
                </a:lnTo>
                <a:lnTo>
                  <a:pt x="6076451" y="988897"/>
                </a:lnTo>
                <a:lnTo>
                  <a:pt x="6036168" y="1005907"/>
                </a:lnTo>
                <a:lnTo>
                  <a:pt x="5991351" y="1011935"/>
                </a:lnTo>
                <a:lnTo>
                  <a:pt x="168655" y="1011935"/>
                </a:lnTo>
                <a:lnTo>
                  <a:pt x="123839" y="1005907"/>
                </a:lnTo>
                <a:lnTo>
                  <a:pt x="83556" y="988897"/>
                </a:lnTo>
                <a:lnTo>
                  <a:pt x="49418" y="962517"/>
                </a:lnTo>
                <a:lnTo>
                  <a:pt x="23038" y="928379"/>
                </a:lnTo>
                <a:lnTo>
                  <a:pt x="6028" y="888096"/>
                </a:lnTo>
                <a:lnTo>
                  <a:pt x="0" y="843279"/>
                </a:lnTo>
                <a:lnTo>
                  <a:pt x="0" y="168655"/>
                </a:lnTo>
                <a:close/>
              </a:path>
            </a:pathLst>
          </a:custGeom>
          <a:ln w="25908">
            <a:solidFill>
              <a:srgbClr val="FF0000"/>
            </a:solidFill>
          </a:ln>
        </p:spPr>
        <p:txBody>
          <a:bodyPr wrap="square" lIns="0" tIns="0" rIns="0" bIns="0" rtlCol="0"/>
          <a:lstStyle/>
          <a:p>
            <a:endParaRPr sz="2310"/>
          </a:p>
        </p:txBody>
      </p:sp>
      <p:sp>
        <p:nvSpPr>
          <p:cNvPr id="5" name="object 5"/>
          <p:cNvSpPr txBox="1"/>
          <p:nvPr/>
        </p:nvSpPr>
        <p:spPr>
          <a:xfrm>
            <a:off x="3129191" y="5507355"/>
            <a:ext cx="6576822" cy="1174115"/>
          </a:xfrm>
          <a:prstGeom prst="rect">
            <a:avLst/>
          </a:prstGeom>
        </p:spPr>
        <p:txBody>
          <a:bodyPr vert="horz" wrap="square" lIns="0" tIns="13334" rIns="0" bIns="0" rtlCol="0">
            <a:spAutoFit/>
          </a:bodyPr>
          <a:lstStyle/>
          <a:p>
            <a:pPr marL="12700">
              <a:lnSpc>
                <a:spcPct val="100000"/>
              </a:lnSpc>
              <a:spcBef>
                <a:spcPts val="100"/>
              </a:spcBef>
            </a:pPr>
            <a:r>
              <a:rPr sz="2520" b="1" spc="-5" dirty="0">
                <a:solidFill>
                  <a:srgbClr val="C00000"/>
                </a:solidFill>
                <a:latin typeface="Calibri" panose="020F0502020204030204"/>
                <a:cs typeface="Calibri" panose="020F0502020204030204"/>
              </a:rPr>
              <a:t>Problem</a:t>
            </a:r>
            <a:r>
              <a:rPr sz="2520" spc="-5" dirty="0">
                <a:solidFill>
                  <a:srgbClr val="C00000"/>
                </a:solidFill>
                <a:latin typeface="Calibri" panose="020F0502020204030204"/>
                <a:cs typeface="Calibri" panose="020F0502020204030204"/>
              </a:rPr>
              <a:t>: matrix multiplication </a:t>
            </a:r>
            <a:r>
              <a:rPr sz="2520" dirty="0">
                <a:solidFill>
                  <a:srgbClr val="C00000"/>
                </a:solidFill>
                <a:latin typeface="Calibri" panose="020F0502020204030204"/>
                <a:cs typeface="Calibri" panose="020F0502020204030204"/>
              </a:rPr>
              <a:t>is </a:t>
            </a:r>
            <a:r>
              <a:rPr sz="2520" spc="-5" dirty="0">
                <a:solidFill>
                  <a:srgbClr val="C00000"/>
                </a:solidFill>
                <a:latin typeface="Calibri" panose="020F0502020204030204"/>
                <a:cs typeface="Calibri" panose="020F0502020204030204"/>
              </a:rPr>
              <a:t>not</a:t>
            </a:r>
            <a:r>
              <a:rPr sz="2520" spc="-100" dirty="0">
                <a:solidFill>
                  <a:srgbClr val="C00000"/>
                </a:solidFill>
                <a:latin typeface="Calibri" panose="020F0502020204030204"/>
                <a:cs typeface="Calibri" panose="020F0502020204030204"/>
              </a:rPr>
              <a:t> </a:t>
            </a:r>
            <a:r>
              <a:rPr sz="2520" spc="-15" dirty="0">
                <a:solidFill>
                  <a:srgbClr val="C00000"/>
                </a:solidFill>
                <a:latin typeface="Calibri" panose="020F0502020204030204"/>
                <a:cs typeface="Calibri" panose="020F0502020204030204"/>
              </a:rPr>
              <a:t>commutative</a:t>
            </a:r>
            <a:endParaRPr sz="2520">
              <a:latin typeface="Calibri" panose="020F0502020204030204"/>
              <a:cs typeface="Calibri" panose="020F0502020204030204"/>
            </a:endParaRPr>
          </a:p>
          <a:p>
            <a:pPr>
              <a:lnSpc>
                <a:spcPct val="100000"/>
              </a:lnSpc>
            </a:pPr>
            <a:endParaRPr sz="2520">
              <a:latin typeface="Calibri" panose="020F0502020204030204"/>
              <a:cs typeface="Calibri" panose="020F0502020204030204"/>
            </a:endParaRPr>
          </a:p>
          <a:p>
            <a:pPr marL="12700">
              <a:lnSpc>
                <a:spcPct val="100000"/>
              </a:lnSpc>
              <a:tabLst>
                <a:tab pos="1741805" algn="l"/>
              </a:tabLst>
            </a:pPr>
            <a:r>
              <a:rPr sz="2520" spc="-15" dirty="0">
                <a:solidFill>
                  <a:srgbClr val="C00000"/>
                </a:solidFill>
                <a:latin typeface="Calibri" panose="020F0502020204030204"/>
                <a:cs typeface="Calibri" panose="020F0502020204030204"/>
              </a:rPr>
              <a:t>For</a:t>
            </a:r>
            <a:r>
              <a:rPr sz="2520" spc="-5" dirty="0">
                <a:solidFill>
                  <a:srgbClr val="C00000"/>
                </a:solidFill>
                <a:latin typeface="Calibri" panose="020F0502020204030204"/>
                <a:cs typeface="Calibri" panose="020F0502020204030204"/>
              </a:rPr>
              <a:t> </a:t>
            </a:r>
            <a:r>
              <a:rPr sz="2520" spc="-10" dirty="0">
                <a:solidFill>
                  <a:srgbClr val="C00000"/>
                </a:solidFill>
                <a:latin typeface="Calibri" panose="020F0502020204030204"/>
                <a:cs typeface="Calibri" panose="020F0502020204030204"/>
              </a:rPr>
              <a:t>example,	</a:t>
            </a:r>
            <a:r>
              <a:rPr sz="2520" dirty="0">
                <a:solidFill>
                  <a:srgbClr val="C00000"/>
                </a:solidFill>
                <a:latin typeface="Calibri" panose="020F0502020204030204"/>
                <a:cs typeface="Calibri" panose="020F0502020204030204"/>
              </a:rPr>
              <a:t>A * B * C </a:t>
            </a:r>
            <a:r>
              <a:rPr sz="2520" dirty="0">
                <a:solidFill>
                  <a:srgbClr val="C00000"/>
                </a:solidFill>
                <a:latin typeface="宋体" panose="02010600030101010101" pitchFamily="2" charset="-122"/>
                <a:cs typeface="宋体" panose="02010600030101010101" pitchFamily="2" charset="-122"/>
              </a:rPr>
              <a:t>≠ </a:t>
            </a:r>
            <a:r>
              <a:rPr sz="2520" dirty="0">
                <a:solidFill>
                  <a:srgbClr val="C00000"/>
                </a:solidFill>
                <a:latin typeface="Calibri" panose="020F0502020204030204"/>
                <a:cs typeface="Calibri" panose="020F0502020204030204"/>
              </a:rPr>
              <a:t>C * B *</a:t>
            </a:r>
            <a:r>
              <a:rPr sz="2520" spc="-105" dirty="0">
                <a:solidFill>
                  <a:srgbClr val="C00000"/>
                </a:solidFill>
                <a:latin typeface="Calibri" panose="020F0502020204030204"/>
                <a:cs typeface="Calibri" panose="020F0502020204030204"/>
              </a:rPr>
              <a:t> </a:t>
            </a:r>
            <a:r>
              <a:rPr sz="2520" dirty="0">
                <a:solidFill>
                  <a:srgbClr val="C00000"/>
                </a:solidFill>
                <a:latin typeface="Calibri" panose="020F0502020204030204"/>
                <a:cs typeface="Calibri" panose="020F0502020204030204"/>
              </a:rPr>
              <a:t>A</a:t>
            </a:r>
            <a:endParaRPr sz="2520">
              <a:latin typeface="Calibri" panose="020F0502020204030204"/>
              <a:cs typeface="Calibri" panose="020F0502020204030204"/>
            </a:endParaRPr>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8370" y="216059"/>
            <a:ext cx="10762906" cy="1310640"/>
          </a:xfrm>
          <a:prstGeom prst="rect">
            <a:avLst/>
          </a:prstGeom>
        </p:spPr>
        <p:txBody>
          <a:bodyPr vert="horz" wrap="square" lIns="0" tIns="93344" rIns="0" bIns="0" rtlCol="0">
            <a:spAutoFit/>
          </a:bodyPr>
          <a:lstStyle/>
          <a:p>
            <a:pPr marL="12700" marR="5080">
              <a:lnSpc>
                <a:spcPts val="4750"/>
              </a:lnSpc>
              <a:spcBef>
                <a:spcPts val="700"/>
              </a:spcBef>
            </a:pPr>
            <a:r>
              <a:rPr sz="4620" dirty="0"/>
              <a:t>A </a:t>
            </a:r>
            <a:r>
              <a:rPr sz="4620" spc="-25" dirty="0"/>
              <a:t>first </a:t>
            </a:r>
            <a:r>
              <a:rPr sz="4620" spc="-30" dirty="0"/>
              <a:t>attempt </a:t>
            </a:r>
            <a:r>
              <a:rPr sz="4620" spc="-25" dirty="0"/>
              <a:t>at </a:t>
            </a:r>
            <a:r>
              <a:rPr sz="4620" dirty="0"/>
              <a:t>sending </a:t>
            </a:r>
            <a:r>
              <a:rPr sz="4620" spc="-10" dirty="0"/>
              <a:t>messages  </a:t>
            </a:r>
            <a:r>
              <a:rPr sz="4620" dirty="0"/>
              <a:t>using</a:t>
            </a:r>
            <a:r>
              <a:rPr sz="4620" spc="-25" dirty="0"/>
              <a:t> </a:t>
            </a:r>
            <a:r>
              <a:rPr sz="4620" spc="-10" dirty="0"/>
              <a:t>pthreads</a:t>
            </a:r>
            <a:endParaRPr sz="4620"/>
          </a:p>
        </p:txBody>
      </p:sp>
      <p:sp>
        <p:nvSpPr>
          <p:cNvPr id="3" name="object 3"/>
          <p:cNvSpPr/>
          <p:nvPr/>
        </p:nvSpPr>
        <p:spPr>
          <a:xfrm>
            <a:off x="1892093" y="1744805"/>
            <a:ext cx="9026325" cy="4917145"/>
          </a:xfrm>
          <a:prstGeom prst="rect">
            <a:avLst/>
          </a:prstGeom>
          <a:blipFill>
            <a:blip r:embed="rId2" cstate="print"/>
            <a:stretch>
              <a:fillRect/>
            </a:stretch>
          </a:blipFill>
        </p:spPr>
        <p:txBody>
          <a:bodyPr wrap="square" lIns="0" tIns="0" rIns="0" bIns="0" rtlCol="0"/>
          <a:lstStyle/>
          <a:p>
            <a:endParaRPr sz="2310"/>
          </a:p>
        </p:txBody>
      </p:sp>
      <p:sp>
        <p:nvSpPr>
          <p:cNvPr id="6" name="object 6"/>
          <p:cNvSpPr txBox="1"/>
          <p:nvPr/>
        </p:nvSpPr>
        <p:spPr>
          <a:xfrm>
            <a:off x="4771530" y="6108710"/>
            <a:ext cx="5446014" cy="658495"/>
          </a:xfrm>
          <a:prstGeom prst="rect">
            <a:avLst/>
          </a:prstGeom>
        </p:spPr>
        <p:txBody>
          <a:bodyPr vert="horz" wrap="square" lIns="0" tIns="13334" rIns="0" bIns="0" rtlCol="0">
            <a:spAutoFit/>
          </a:bodyPr>
          <a:lstStyle/>
          <a:p>
            <a:pPr marL="12700">
              <a:lnSpc>
                <a:spcPct val="100000"/>
              </a:lnSpc>
              <a:spcBef>
                <a:spcPts val="100"/>
              </a:spcBef>
            </a:pPr>
            <a:r>
              <a:rPr sz="2100" b="1" spc="-5" dirty="0">
                <a:solidFill>
                  <a:srgbClr val="C00000"/>
                </a:solidFill>
                <a:latin typeface="Calibri" panose="020F0502020204030204"/>
                <a:cs typeface="Calibri" panose="020F0502020204030204"/>
              </a:rPr>
              <a:t>Problem</a:t>
            </a:r>
            <a:r>
              <a:rPr sz="2100" spc="-5" dirty="0">
                <a:solidFill>
                  <a:srgbClr val="C00000"/>
                </a:solidFill>
                <a:latin typeface="Calibri" panose="020F0502020204030204"/>
                <a:cs typeface="Calibri" panose="020F0502020204030204"/>
              </a:rPr>
              <a:t>: </a:t>
            </a:r>
            <a:r>
              <a:rPr sz="2100" dirty="0">
                <a:solidFill>
                  <a:srgbClr val="C00000"/>
                </a:solidFill>
                <a:latin typeface="Calibri" panose="020F0502020204030204"/>
                <a:cs typeface="Calibri" panose="020F0502020204030204"/>
              </a:rPr>
              <a:t>If running 2+ </a:t>
            </a:r>
            <a:r>
              <a:rPr sz="2100" spc="-5" dirty="0">
                <a:solidFill>
                  <a:srgbClr val="C00000"/>
                </a:solidFill>
                <a:latin typeface="Calibri" panose="020F0502020204030204"/>
                <a:cs typeface="Calibri" panose="020F0502020204030204"/>
              </a:rPr>
              <a:t>threads on </a:t>
            </a:r>
            <a:r>
              <a:rPr sz="2100" dirty="0">
                <a:solidFill>
                  <a:srgbClr val="C00000"/>
                </a:solidFill>
                <a:latin typeface="Calibri" panose="020F0502020204030204"/>
                <a:cs typeface="Calibri" panose="020F0502020204030204"/>
              </a:rPr>
              <a:t>a</a:t>
            </a:r>
            <a:r>
              <a:rPr sz="2100" spc="-70" dirty="0">
                <a:solidFill>
                  <a:srgbClr val="C00000"/>
                </a:solidFill>
                <a:latin typeface="Calibri" panose="020F0502020204030204"/>
                <a:cs typeface="Calibri" panose="020F0502020204030204"/>
              </a:rPr>
              <a:t> </a:t>
            </a:r>
            <a:r>
              <a:rPr sz="2100" spc="-5" dirty="0">
                <a:solidFill>
                  <a:srgbClr val="C00000"/>
                </a:solidFill>
                <a:latin typeface="Calibri" panose="020F0502020204030204"/>
                <a:cs typeface="Calibri" panose="020F0502020204030204"/>
              </a:rPr>
              <a:t>dual-core</a:t>
            </a:r>
            <a:endParaRPr sz="2100" dirty="0">
              <a:latin typeface="Calibri" panose="020F0502020204030204"/>
              <a:cs typeface="Calibri" panose="020F0502020204030204"/>
            </a:endParaRPr>
          </a:p>
          <a:p>
            <a:pPr marL="12700">
              <a:lnSpc>
                <a:spcPct val="100000"/>
              </a:lnSpc>
            </a:pPr>
            <a:r>
              <a:rPr sz="2100" spc="-20" dirty="0">
                <a:solidFill>
                  <a:srgbClr val="C00000"/>
                </a:solidFill>
                <a:latin typeface="Calibri" panose="020F0502020204030204"/>
                <a:cs typeface="Calibri" panose="020F0502020204030204"/>
              </a:rPr>
              <a:t>system, </a:t>
            </a:r>
            <a:r>
              <a:rPr sz="2100" spc="-5" dirty="0">
                <a:solidFill>
                  <a:srgbClr val="C00000"/>
                </a:solidFill>
                <a:latin typeface="Calibri" panose="020F0502020204030204"/>
                <a:cs typeface="Calibri" panose="020F0502020204030204"/>
              </a:rPr>
              <a:t>some </a:t>
            </a:r>
            <a:r>
              <a:rPr sz="2100" dirty="0">
                <a:solidFill>
                  <a:srgbClr val="C00000"/>
                </a:solidFill>
                <a:latin typeface="Calibri" panose="020F0502020204030204"/>
                <a:cs typeface="Calibri" panose="020F0502020204030204"/>
              </a:rPr>
              <a:t>of the </a:t>
            </a:r>
            <a:r>
              <a:rPr sz="2100" spc="-5" dirty="0">
                <a:solidFill>
                  <a:srgbClr val="C00000"/>
                </a:solidFill>
                <a:latin typeface="Calibri" panose="020F0502020204030204"/>
                <a:cs typeface="Calibri" panose="020F0502020204030204"/>
              </a:rPr>
              <a:t>messages </a:t>
            </a:r>
            <a:r>
              <a:rPr sz="2100" spc="-10" dirty="0">
                <a:solidFill>
                  <a:srgbClr val="C00000"/>
                </a:solidFill>
                <a:latin typeface="Calibri" panose="020F0502020204030204"/>
                <a:cs typeface="Calibri" panose="020F0502020204030204"/>
              </a:rPr>
              <a:t>are never</a:t>
            </a:r>
            <a:r>
              <a:rPr sz="2100" spc="80" dirty="0">
                <a:solidFill>
                  <a:srgbClr val="C00000"/>
                </a:solidFill>
                <a:latin typeface="Calibri" panose="020F0502020204030204"/>
                <a:cs typeface="Calibri" panose="020F0502020204030204"/>
              </a:rPr>
              <a:t> </a:t>
            </a:r>
            <a:r>
              <a:rPr sz="2100" spc="-10" dirty="0">
                <a:solidFill>
                  <a:srgbClr val="C00000"/>
                </a:solidFill>
                <a:latin typeface="Calibri" panose="020F0502020204030204"/>
                <a:cs typeface="Calibri" panose="020F0502020204030204"/>
              </a:rPr>
              <a:t>received.</a:t>
            </a:r>
            <a:endParaRPr sz="2100" dirty="0">
              <a:latin typeface="Calibri" panose="020F0502020204030204"/>
              <a:cs typeface="Calibri" panose="020F0502020204030204"/>
            </a:endParaRPr>
          </a:p>
        </p:txBody>
      </p:sp>
      <p:sp>
        <p:nvSpPr>
          <p:cNvPr id="9" name="object 9"/>
          <p:cNvSpPr/>
          <p:nvPr/>
        </p:nvSpPr>
        <p:spPr>
          <a:xfrm>
            <a:off x="2290685" y="5025427"/>
            <a:ext cx="3941159" cy="0"/>
          </a:xfrm>
          <a:custGeom>
            <a:avLst/>
            <a:gdLst/>
            <a:ahLst/>
            <a:cxnLst/>
            <a:rect l="l" t="t" r="r" b="b"/>
            <a:pathLst>
              <a:path w="3753485">
                <a:moveTo>
                  <a:pt x="0" y="0"/>
                </a:moveTo>
                <a:lnTo>
                  <a:pt x="3753484" y="0"/>
                </a:lnTo>
              </a:path>
            </a:pathLst>
          </a:custGeom>
          <a:ln w="32004">
            <a:solidFill>
              <a:srgbClr val="FF0000"/>
            </a:solidFill>
          </a:ln>
        </p:spPr>
        <p:txBody>
          <a:bodyPr wrap="square" lIns="0" tIns="0" rIns="0" bIns="0" rtlCol="0"/>
          <a:lstStyle/>
          <a:p>
            <a:endParaRPr sz="2310"/>
          </a:p>
        </p:txBody>
      </p:sp>
      <p:sp>
        <p:nvSpPr>
          <p:cNvPr id="10" name="object 10"/>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11" name="object 4"/>
          <p:cNvSpPr/>
          <p:nvPr/>
        </p:nvSpPr>
        <p:spPr>
          <a:xfrm>
            <a:off x="2189012" y="2806504"/>
            <a:ext cx="7932253" cy="582400"/>
          </a:xfrm>
          <a:custGeom>
            <a:avLst/>
            <a:gdLst/>
            <a:ahLst/>
            <a:cxnLst/>
            <a:rect l="l" t="t" r="r" b="b"/>
            <a:pathLst>
              <a:path w="6160134" h="1012189">
                <a:moveTo>
                  <a:pt x="0" y="168655"/>
                </a:moveTo>
                <a:lnTo>
                  <a:pt x="6028" y="123839"/>
                </a:lnTo>
                <a:lnTo>
                  <a:pt x="23038" y="83556"/>
                </a:lnTo>
                <a:lnTo>
                  <a:pt x="49418" y="49418"/>
                </a:lnTo>
                <a:lnTo>
                  <a:pt x="83556" y="23038"/>
                </a:lnTo>
                <a:lnTo>
                  <a:pt x="123839" y="6028"/>
                </a:lnTo>
                <a:lnTo>
                  <a:pt x="168655" y="0"/>
                </a:lnTo>
                <a:lnTo>
                  <a:pt x="5991351" y="0"/>
                </a:lnTo>
                <a:lnTo>
                  <a:pt x="6036168" y="6028"/>
                </a:lnTo>
                <a:lnTo>
                  <a:pt x="6076451" y="23038"/>
                </a:lnTo>
                <a:lnTo>
                  <a:pt x="6110589" y="49418"/>
                </a:lnTo>
                <a:lnTo>
                  <a:pt x="6136969" y="83556"/>
                </a:lnTo>
                <a:lnTo>
                  <a:pt x="6153979" y="123839"/>
                </a:lnTo>
                <a:lnTo>
                  <a:pt x="6160008" y="168655"/>
                </a:lnTo>
                <a:lnTo>
                  <a:pt x="6160008" y="843279"/>
                </a:lnTo>
                <a:lnTo>
                  <a:pt x="6153979" y="888096"/>
                </a:lnTo>
                <a:lnTo>
                  <a:pt x="6136969" y="928379"/>
                </a:lnTo>
                <a:lnTo>
                  <a:pt x="6110589" y="962517"/>
                </a:lnTo>
                <a:lnTo>
                  <a:pt x="6076451" y="988897"/>
                </a:lnTo>
                <a:lnTo>
                  <a:pt x="6036168" y="1005907"/>
                </a:lnTo>
                <a:lnTo>
                  <a:pt x="5991351" y="1011935"/>
                </a:lnTo>
                <a:lnTo>
                  <a:pt x="168655" y="1011935"/>
                </a:lnTo>
                <a:lnTo>
                  <a:pt x="123839" y="1005907"/>
                </a:lnTo>
                <a:lnTo>
                  <a:pt x="83556" y="988897"/>
                </a:lnTo>
                <a:lnTo>
                  <a:pt x="49418" y="962517"/>
                </a:lnTo>
                <a:lnTo>
                  <a:pt x="23038" y="928379"/>
                </a:lnTo>
                <a:lnTo>
                  <a:pt x="6028" y="888096"/>
                </a:lnTo>
                <a:lnTo>
                  <a:pt x="0" y="843279"/>
                </a:lnTo>
                <a:lnTo>
                  <a:pt x="0" y="168655"/>
                </a:lnTo>
                <a:close/>
              </a:path>
            </a:pathLst>
          </a:custGeom>
          <a:ln w="25908">
            <a:solidFill>
              <a:srgbClr val="FF0000"/>
            </a:solidFill>
          </a:ln>
        </p:spPr>
        <p:txBody>
          <a:bodyPr wrap="square" lIns="0" tIns="0" rIns="0" bIns="0" rtlCol="0"/>
          <a:lstStyle/>
          <a:p>
            <a:endParaRPr sz="2310"/>
          </a:p>
        </p:txBody>
      </p:sp>
      <p:sp>
        <p:nvSpPr>
          <p:cNvPr id="12" name="object 4"/>
          <p:cNvSpPr/>
          <p:nvPr/>
        </p:nvSpPr>
        <p:spPr>
          <a:xfrm>
            <a:off x="1945011" y="4554415"/>
            <a:ext cx="691348" cy="582400"/>
          </a:xfrm>
          <a:custGeom>
            <a:avLst/>
            <a:gdLst/>
            <a:ahLst/>
            <a:cxnLst/>
            <a:rect l="l" t="t" r="r" b="b"/>
            <a:pathLst>
              <a:path w="6160134" h="1012189">
                <a:moveTo>
                  <a:pt x="0" y="168655"/>
                </a:moveTo>
                <a:lnTo>
                  <a:pt x="6028" y="123839"/>
                </a:lnTo>
                <a:lnTo>
                  <a:pt x="23038" y="83556"/>
                </a:lnTo>
                <a:lnTo>
                  <a:pt x="49418" y="49418"/>
                </a:lnTo>
                <a:lnTo>
                  <a:pt x="83556" y="23038"/>
                </a:lnTo>
                <a:lnTo>
                  <a:pt x="123839" y="6028"/>
                </a:lnTo>
                <a:lnTo>
                  <a:pt x="168655" y="0"/>
                </a:lnTo>
                <a:lnTo>
                  <a:pt x="5991351" y="0"/>
                </a:lnTo>
                <a:lnTo>
                  <a:pt x="6036168" y="6028"/>
                </a:lnTo>
                <a:lnTo>
                  <a:pt x="6076451" y="23038"/>
                </a:lnTo>
                <a:lnTo>
                  <a:pt x="6110589" y="49418"/>
                </a:lnTo>
                <a:lnTo>
                  <a:pt x="6136969" y="83556"/>
                </a:lnTo>
                <a:lnTo>
                  <a:pt x="6153979" y="123839"/>
                </a:lnTo>
                <a:lnTo>
                  <a:pt x="6160008" y="168655"/>
                </a:lnTo>
                <a:lnTo>
                  <a:pt x="6160008" y="843279"/>
                </a:lnTo>
                <a:lnTo>
                  <a:pt x="6153979" y="888096"/>
                </a:lnTo>
                <a:lnTo>
                  <a:pt x="6136969" y="928379"/>
                </a:lnTo>
                <a:lnTo>
                  <a:pt x="6110589" y="962517"/>
                </a:lnTo>
                <a:lnTo>
                  <a:pt x="6076451" y="988897"/>
                </a:lnTo>
                <a:lnTo>
                  <a:pt x="6036168" y="1005907"/>
                </a:lnTo>
                <a:lnTo>
                  <a:pt x="5991351" y="1011935"/>
                </a:lnTo>
                <a:lnTo>
                  <a:pt x="168655" y="1011935"/>
                </a:lnTo>
                <a:lnTo>
                  <a:pt x="123839" y="1005907"/>
                </a:lnTo>
                <a:lnTo>
                  <a:pt x="83556" y="988897"/>
                </a:lnTo>
                <a:lnTo>
                  <a:pt x="49418" y="962517"/>
                </a:lnTo>
                <a:lnTo>
                  <a:pt x="23038" y="928379"/>
                </a:lnTo>
                <a:lnTo>
                  <a:pt x="6028" y="888096"/>
                </a:lnTo>
                <a:lnTo>
                  <a:pt x="0" y="843279"/>
                </a:lnTo>
                <a:lnTo>
                  <a:pt x="0" y="168655"/>
                </a:lnTo>
                <a:close/>
              </a:path>
            </a:pathLst>
          </a:custGeom>
          <a:ln w="25908">
            <a:solidFill>
              <a:srgbClr val="FF0000"/>
            </a:solidFill>
          </a:ln>
        </p:spPr>
        <p:txBody>
          <a:bodyPr wrap="square" lIns="0" tIns="0" rIns="0" bIns="0" rtlCol="0"/>
          <a:lstStyle/>
          <a:p>
            <a:endParaRPr sz="231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4225" y="170974"/>
            <a:ext cx="10762906" cy="1311910"/>
          </a:xfrm>
          <a:prstGeom prst="rect">
            <a:avLst/>
          </a:prstGeom>
        </p:spPr>
        <p:txBody>
          <a:bodyPr vert="horz" wrap="square" lIns="0" tIns="94011" rIns="0" bIns="0" rtlCol="0">
            <a:spAutoFit/>
          </a:bodyPr>
          <a:lstStyle/>
          <a:p>
            <a:pPr marL="12700" marR="5080">
              <a:lnSpc>
                <a:spcPts val="4750"/>
              </a:lnSpc>
              <a:spcBef>
                <a:spcPts val="705"/>
              </a:spcBef>
            </a:pPr>
            <a:r>
              <a:rPr sz="4620" spc="-35" dirty="0"/>
              <a:t>Syntax </a:t>
            </a:r>
            <a:r>
              <a:rPr sz="4620" dirty="0"/>
              <a:t>of the </a:t>
            </a:r>
            <a:r>
              <a:rPr sz="4620" spc="-10" dirty="0"/>
              <a:t>various semaphore  </a:t>
            </a:r>
            <a:r>
              <a:rPr sz="4620" dirty="0"/>
              <a:t>functions</a:t>
            </a:r>
            <a:endParaRPr sz="4620"/>
          </a:p>
        </p:txBody>
      </p:sp>
      <p:sp>
        <p:nvSpPr>
          <p:cNvPr id="3" name="object 3"/>
          <p:cNvSpPr/>
          <p:nvPr/>
        </p:nvSpPr>
        <p:spPr>
          <a:xfrm>
            <a:off x="2516318" y="3153471"/>
            <a:ext cx="6061144" cy="1149204"/>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638791" y="5040610"/>
            <a:ext cx="7559792" cy="839807"/>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2536335" y="2498603"/>
            <a:ext cx="3311170" cy="219789"/>
          </a:xfrm>
          <a:prstGeom prst="rect">
            <a:avLst/>
          </a:prstGeom>
          <a:blipFill>
            <a:blip r:embed="rId4" cstate="print"/>
            <a:stretch>
              <a:fillRect/>
            </a:stretch>
          </a:blipFill>
        </p:spPr>
        <p:txBody>
          <a:bodyPr wrap="square" lIns="0" tIns="0" rIns="0" bIns="0" rtlCol="0"/>
          <a:lstStyle/>
          <a:p>
            <a:endParaRPr sz="2310"/>
          </a:p>
        </p:txBody>
      </p:sp>
      <p:sp>
        <p:nvSpPr>
          <p:cNvPr id="6" name="object 6"/>
          <p:cNvSpPr txBox="1"/>
          <p:nvPr/>
        </p:nvSpPr>
        <p:spPr>
          <a:xfrm>
            <a:off x="6692834" y="1481919"/>
            <a:ext cx="6332702" cy="1653913"/>
          </a:xfrm>
          <a:prstGeom prst="rect">
            <a:avLst/>
          </a:prstGeom>
        </p:spPr>
        <p:txBody>
          <a:bodyPr vert="horz" wrap="square" lIns="0" tIns="13334" rIns="0" bIns="0" rtlCol="0">
            <a:spAutoFit/>
          </a:bodyPr>
          <a:lstStyle/>
          <a:p>
            <a:pPr marL="12700" marR="5080">
              <a:lnSpc>
                <a:spcPct val="100000"/>
              </a:lnSpc>
              <a:spcBef>
                <a:spcPts val="100"/>
              </a:spcBef>
            </a:pPr>
            <a:r>
              <a:rPr sz="2520" spc="-5" dirty="0">
                <a:solidFill>
                  <a:srgbClr val="FF0000"/>
                </a:solidFill>
                <a:latin typeface="Calibri" panose="020F0502020204030204"/>
                <a:cs typeface="Calibri" panose="020F0502020204030204"/>
              </a:rPr>
              <a:t>Semaphores </a:t>
            </a:r>
            <a:r>
              <a:rPr sz="2520" spc="-15" dirty="0">
                <a:solidFill>
                  <a:srgbClr val="FF0000"/>
                </a:solidFill>
                <a:latin typeface="Calibri" panose="020F0502020204030204"/>
                <a:cs typeface="Calibri" panose="020F0502020204030204"/>
              </a:rPr>
              <a:t>are </a:t>
            </a:r>
            <a:r>
              <a:rPr sz="2520" spc="-5" dirty="0">
                <a:solidFill>
                  <a:srgbClr val="FF0000"/>
                </a:solidFill>
                <a:latin typeface="Calibri" panose="020F0502020204030204"/>
                <a:cs typeface="Calibri" panose="020F0502020204030204"/>
              </a:rPr>
              <a:t>not part</a:t>
            </a:r>
            <a:r>
              <a:rPr sz="2520" spc="-70"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of  Pthreads;</a:t>
            </a:r>
            <a:endParaRPr sz="2520" dirty="0">
              <a:latin typeface="Calibri" panose="020F0502020204030204"/>
              <a:cs typeface="Calibri" panose="020F0502020204030204"/>
            </a:endParaRPr>
          </a:p>
          <a:p>
            <a:pPr marL="12700">
              <a:lnSpc>
                <a:spcPct val="100000"/>
              </a:lnSpc>
              <a:spcBef>
                <a:spcPts val="575"/>
              </a:spcBef>
            </a:pPr>
            <a:r>
              <a:rPr sz="2520" spc="-10" dirty="0">
                <a:solidFill>
                  <a:srgbClr val="FF0000"/>
                </a:solidFill>
                <a:latin typeface="Calibri" panose="020F0502020204030204"/>
                <a:cs typeface="Calibri" panose="020F0502020204030204"/>
              </a:rPr>
              <a:t>you </a:t>
            </a:r>
            <a:r>
              <a:rPr sz="2520" spc="-5" dirty="0">
                <a:solidFill>
                  <a:srgbClr val="FF0000"/>
                </a:solidFill>
                <a:latin typeface="Calibri" panose="020F0502020204030204"/>
                <a:cs typeface="Calibri" panose="020F0502020204030204"/>
              </a:rPr>
              <a:t>need </a:t>
            </a:r>
            <a:r>
              <a:rPr sz="2520" spc="-15" dirty="0">
                <a:solidFill>
                  <a:srgbClr val="FF0000"/>
                </a:solidFill>
                <a:latin typeface="Calibri" panose="020F0502020204030204"/>
                <a:cs typeface="Calibri" panose="020F0502020204030204"/>
              </a:rPr>
              <a:t>to </a:t>
            </a:r>
            <a:r>
              <a:rPr sz="2520" dirty="0">
                <a:solidFill>
                  <a:srgbClr val="FF0000"/>
                </a:solidFill>
                <a:latin typeface="Calibri" panose="020F0502020204030204"/>
                <a:cs typeface="Calibri" panose="020F0502020204030204"/>
              </a:rPr>
              <a:t>add</a:t>
            </a:r>
            <a:r>
              <a:rPr sz="2520" spc="-40" dirty="0">
                <a:solidFill>
                  <a:srgbClr val="FF0000"/>
                </a:solidFill>
                <a:latin typeface="Calibri" panose="020F0502020204030204"/>
                <a:cs typeface="Calibri" panose="020F0502020204030204"/>
              </a:rPr>
              <a:t> </a:t>
            </a:r>
            <a:r>
              <a:rPr sz="2520" dirty="0">
                <a:solidFill>
                  <a:srgbClr val="FF0000"/>
                </a:solidFill>
                <a:latin typeface="Calibri" panose="020F0502020204030204"/>
                <a:cs typeface="Calibri" panose="020F0502020204030204"/>
              </a:rPr>
              <a:t>this.</a:t>
            </a:r>
            <a:endParaRPr lang="en-US" sz="2520" dirty="0">
              <a:solidFill>
                <a:srgbClr val="FF0000"/>
              </a:solidFill>
              <a:latin typeface="Calibri" panose="020F0502020204030204"/>
              <a:cs typeface="Calibri" panose="020F0502020204030204"/>
            </a:endParaRPr>
          </a:p>
          <a:p>
            <a:pPr marL="12700">
              <a:lnSpc>
                <a:spcPct val="100000"/>
              </a:lnSpc>
              <a:spcBef>
                <a:spcPts val="575"/>
              </a:spcBef>
            </a:pPr>
            <a:r>
              <a:rPr lang="en-US" sz="2310" dirty="0">
                <a:cs typeface="Calibri" panose="020F0502020204030204"/>
                <a:hlinkClick r:id="rId5"/>
              </a:rPr>
              <a:t>https://www.man7.org/linux/man-pages/man3/sem_init.3.html</a:t>
            </a:r>
            <a:endParaRPr lang="en-US" sz="2310" dirty="0">
              <a:cs typeface="Calibri" panose="020F0502020204030204"/>
            </a:endParaRPr>
          </a:p>
        </p:txBody>
      </p:sp>
      <p:sp>
        <p:nvSpPr>
          <p:cNvPr id="7" name="object 7"/>
          <p:cNvSpPr/>
          <p:nvPr/>
        </p:nvSpPr>
        <p:spPr>
          <a:xfrm>
            <a:off x="5943142" y="2612860"/>
            <a:ext cx="681419" cy="128016"/>
          </a:xfrm>
          <a:custGeom>
            <a:avLst/>
            <a:gdLst/>
            <a:ahLst/>
            <a:cxnLst/>
            <a:rect l="l" t="t" r="r" b="b"/>
            <a:pathLst>
              <a:path w="648970" h="121919">
                <a:moveTo>
                  <a:pt x="82168" y="18669"/>
                </a:moveTo>
                <a:lnTo>
                  <a:pt x="79375" y="20827"/>
                </a:lnTo>
                <a:lnTo>
                  <a:pt x="0" y="80010"/>
                </a:lnTo>
                <a:lnTo>
                  <a:pt x="93852" y="121412"/>
                </a:lnTo>
                <a:lnTo>
                  <a:pt x="97662" y="119887"/>
                </a:lnTo>
                <a:lnTo>
                  <a:pt x="100456" y="113537"/>
                </a:lnTo>
                <a:lnTo>
                  <a:pt x="99060" y="109727"/>
                </a:lnTo>
                <a:lnTo>
                  <a:pt x="95758" y="108331"/>
                </a:lnTo>
                <a:lnTo>
                  <a:pt x="42762" y="84962"/>
                </a:lnTo>
                <a:lnTo>
                  <a:pt x="13208" y="84962"/>
                </a:lnTo>
                <a:lnTo>
                  <a:pt x="11811" y="72262"/>
                </a:lnTo>
                <a:lnTo>
                  <a:pt x="35163" y="69606"/>
                </a:lnTo>
                <a:lnTo>
                  <a:pt x="86994" y="30987"/>
                </a:lnTo>
                <a:lnTo>
                  <a:pt x="89788" y="28828"/>
                </a:lnTo>
                <a:lnTo>
                  <a:pt x="90424" y="24891"/>
                </a:lnTo>
                <a:lnTo>
                  <a:pt x="86105" y="19303"/>
                </a:lnTo>
                <a:lnTo>
                  <a:pt x="82168" y="18669"/>
                </a:lnTo>
                <a:close/>
              </a:path>
              <a:path w="648970" h="121919">
                <a:moveTo>
                  <a:pt x="35163" y="69606"/>
                </a:moveTo>
                <a:lnTo>
                  <a:pt x="11811" y="72262"/>
                </a:lnTo>
                <a:lnTo>
                  <a:pt x="13208" y="84962"/>
                </a:lnTo>
                <a:lnTo>
                  <a:pt x="24372" y="83692"/>
                </a:lnTo>
                <a:lnTo>
                  <a:pt x="16255" y="83692"/>
                </a:lnTo>
                <a:lnTo>
                  <a:pt x="15112" y="72771"/>
                </a:lnTo>
                <a:lnTo>
                  <a:pt x="30915" y="72771"/>
                </a:lnTo>
                <a:lnTo>
                  <a:pt x="35163" y="69606"/>
                </a:lnTo>
                <a:close/>
              </a:path>
              <a:path w="648970" h="121919">
                <a:moveTo>
                  <a:pt x="36701" y="82290"/>
                </a:moveTo>
                <a:lnTo>
                  <a:pt x="13208" y="84962"/>
                </a:lnTo>
                <a:lnTo>
                  <a:pt x="42762" y="84962"/>
                </a:lnTo>
                <a:lnTo>
                  <a:pt x="36701" y="82290"/>
                </a:lnTo>
                <a:close/>
              </a:path>
              <a:path w="648970" h="121919">
                <a:moveTo>
                  <a:pt x="15112" y="72771"/>
                </a:moveTo>
                <a:lnTo>
                  <a:pt x="16255" y="83692"/>
                </a:lnTo>
                <a:lnTo>
                  <a:pt x="25040" y="77148"/>
                </a:lnTo>
                <a:lnTo>
                  <a:pt x="15112" y="72771"/>
                </a:lnTo>
                <a:close/>
              </a:path>
              <a:path w="648970" h="121919">
                <a:moveTo>
                  <a:pt x="25040" y="77148"/>
                </a:moveTo>
                <a:lnTo>
                  <a:pt x="16255" y="83692"/>
                </a:lnTo>
                <a:lnTo>
                  <a:pt x="24372" y="83692"/>
                </a:lnTo>
                <a:lnTo>
                  <a:pt x="36701" y="82290"/>
                </a:lnTo>
                <a:lnTo>
                  <a:pt x="25040" y="77148"/>
                </a:lnTo>
                <a:close/>
              </a:path>
              <a:path w="648970" h="121919">
                <a:moveTo>
                  <a:pt x="646938" y="0"/>
                </a:moveTo>
                <a:lnTo>
                  <a:pt x="35163" y="69606"/>
                </a:lnTo>
                <a:lnTo>
                  <a:pt x="25040" y="77148"/>
                </a:lnTo>
                <a:lnTo>
                  <a:pt x="36701" y="82290"/>
                </a:lnTo>
                <a:lnTo>
                  <a:pt x="648462" y="12700"/>
                </a:lnTo>
                <a:lnTo>
                  <a:pt x="646938" y="0"/>
                </a:lnTo>
                <a:close/>
              </a:path>
              <a:path w="648970" h="121919">
                <a:moveTo>
                  <a:pt x="30915" y="72771"/>
                </a:moveTo>
                <a:lnTo>
                  <a:pt x="15112" y="72771"/>
                </a:lnTo>
                <a:lnTo>
                  <a:pt x="25040" y="77148"/>
                </a:lnTo>
                <a:lnTo>
                  <a:pt x="30915" y="72771"/>
                </a:lnTo>
                <a:close/>
              </a:path>
            </a:pathLst>
          </a:custGeom>
          <a:solidFill>
            <a:srgbClr val="FF0000"/>
          </a:solidFill>
        </p:spPr>
        <p:txBody>
          <a:bodyPr wrap="square" lIns="0" tIns="0" rIns="0" bIns="0" rtlCol="0"/>
          <a:lstStyle/>
          <a:p>
            <a:endParaRPr sz="2310"/>
          </a:p>
        </p:txBody>
      </p:sp>
      <p:sp>
        <p:nvSpPr>
          <p:cNvPr id="8" name="object 8"/>
          <p:cNvSpPr/>
          <p:nvPr/>
        </p:nvSpPr>
        <p:spPr>
          <a:xfrm>
            <a:off x="2594724" y="2805950"/>
            <a:ext cx="3183731" cy="0"/>
          </a:xfrm>
          <a:custGeom>
            <a:avLst/>
            <a:gdLst/>
            <a:ahLst/>
            <a:cxnLst/>
            <a:rect l="l" t="t" r="r" b="b"/>
            <a:pathLst>
              <a:path w="3032125">
                <a:moveTo>
                  <a:pt x="0" y="0"/>
                </a:moveTo>
                <a:lnTo>
                  <a:pt x="3031617" y="0"/>
                </a:lnTo>
              </a:path>
            </a:pathLst>
          </a:custGeom>
          <a:ln w="32004">
            <a:solidFill>
              <a:srgbClr val="FF0000"/>
            </a:solidFill>
          </a:ln>
        </p:spPr>
        <p:txBody>
          <a:bodyPr wrap="square" lIns="0" tIns="0" rIns="0" bIns="0" rtlCol="0"/>
          <a:lstStyle/>
          <a:p>
            <a:endParaRPr sz="2310"/>
          </a:p>
        </p:txBody>
      </p:sp>
      <p:sp>
        <p:nvSpPr>
          <p:cNvPr id="9" name="object 9"/>
          <p:cNvSpPr/>
          <p:nvPr/>
        </p:nvSpPr>
        <p:spPr>
          <a:xfrm>
            <a:off x="3133991" y="3423627"/>
            <a:ext cx="1136809" cy="0"/>
          </a:xfrm>
          <a:custGeom>
            <a:avLst/>
            <a:gdLst/>
            <a:ahLst/>
            <a:cxnLst/>
            <a:rect l="l" t="t" r="r" b="b"/>
            <a:pathLst>
              <a:path w="1082675">
                <a:moveTo>
                  <a:pt x="0" y="0"/>
                </a:moveTo>
                <a:lnTo>
                  <a:pt x="1082167" y="0"/>
                </a:lnTo>
              </a:path>
            </a:pathLst>
          </a:custGeom>
          <a:ln w="32004">
            <a:solidFill>
              <a:srgbClr val="FF0000"/>
            </a:solidFill>
          </a:ln>
        </p:spPr>
        <p:txBody>
          <a:bodyPr wrap="square" lIns="0" tIns="0" rIns="0" bIns="0" rtlCol="0"/>
          <a:lstStyle/>
          <a:p>
            <a:endParaRPr sz="2310"/>
          </a:p>
        </p:txBody>
      </p:sp>
      <p:sp>
        <p:nvSpPr>
          <p:cNvPr id="10" name="object 10"/>
          <p:cNvSpPr/>
          <p:nvPr/>
        </p:nvSpPr>
        <p:spPr>
          <a:xfrm>
            <a:off x="3209280" y="5314692"/>
            <a:ext cx="1638872" cy="0"/>
          </a:xfrm>
          <a:custGeom>
            <a:avLst/>
            <a:gdLst/>
            <a:ahLst/>
            <a:cxnLst/>
            <a:rect l="l" t="t" r="r" b="b"/>
            <a:pathLst>
              <a:path w="1560830">
                <a:moveTo>
                  <a:pt x="0" y="0"/>
                </a:moveTo>
                <a:lnTo>
                  <a:pt x="1560576" y="0"/>
                </a:lnTo>
              </a:path>
            </a:pathLst>
          </a:custGeom>
          <a:ln w="32004">
            <a:solidFill>
              <a:srgbClr val="FF0000"/>
            </a:solidFill>
          </a:ln>
        </p:spPr>
        <p:txBody>
          <a:bodyPr wrap="square" lIns="0" tIns="0" rIns="0" bIns="0" rtlCol="0"/>
          <a:lstStyle/>
          <a:p>
            <a:endParaRPr sz="2310"/>
          </a:p>
        </p:txBody>
      </p:sp>
      <p:sp>
        <p:nvSpPr>
          <p:cNvPr id="11" name="object 11"/>
          <p:cNvSpPr/>
          <p:nvPr/>
        </p:nvSpPr>
        <p:spPr>
          <a:xfrm>
            <a:off x="3209280" y="5605927"/>
            <a:ext cx="1136809" cy="0"/>
          </a:xfrm>
          <a:custGeom>
            <a:avLst/>
            <a:gdLst/>
            <a:ahLst/>
            <a:cxnLst/>
            <a:rect l="l" t="t" r="r" b="b"/>
            <a:pathLst>
              <a:path w="1082675">
                <a:moveTo>
                  <a:pt x="0" y="0"/>
                </a:moveTo>
                <a:lnTo>
                  <a:pt x="1082167" y="0"/>
                </a:lnTo>
              </a:path>
            </a:pathLst>
          </a:custGeom>
          <a:ln w="32004">
            <a:solidFill>
              <a:srgbClr val="FF0000"/>
            </a:solidFill>
          </a:ln>
        </p:spPr>
        <p:txBody>
          <a:bodyPr wrap="square" lIns="0" tIns="0" rIns="0" bIns="0" rtlCol="0"/>
          <a:lstStyle/>
          <a:p>
            <a:endParaRPr sz="2310"/>
          </a:p>
        </p:txBody>
      </p:sp>
      <p:sp>
        <p:nvSpPr>
          <p:cNvPr id="12" name="object 12"/>
          <p:cNvSpPr/>
          <p:nvPr/>
        </p:nvSpPr>
        <p:spPr>
          <a:xfrm>
            <a:off x="3209280" y="5925967"/>
            <a:ext cx="1136809" cy="0"/>
          </a:xfrm>
          <a:custGeom>
            <a:avLst/>
            <a:gdLst/>
            <a:ahLst/>
            <a:cxnLst/>
            <a:rect l="l" t="t" r="r" b="b"/>
            <a:pathLst>
              <a:path w="1082675">
                <a:moveTo>
                  <a:pt x="0" y="0"/>
                </a:moveTo>
                <a:lnTo>
                  <a:pt x="1082167" y="0"/>
                </a:lnTo>
              </a:path>
            </a:pathLst>
          </a:custGeom>
          <a:ln w="32004">
            <a:solidFill>
              <a:srgbClr val="FF0000"/>
            </a:solidFill>
          </a:ln>
        </p:spPr>
        <p:txBody>
          <a:bodyPr wrap="square" lIns="0" tIns="0" rIns="0" bIns="0" rtlCol="0"/>
          <a:lstStyle/>
          <a:p>
            <a:endParaRPr sz="2310"/>
          </a:p>
        </p:txBody>
      </p:sp>
      <p:sp>
        <p:nvSpPr>
          <p:cNvPr id="13" name="object 13"/>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4F585-A8CF-E94F-AC08-BDAB69115A83}"/>
              </a:ext>
            </a:extLst>
          </p:cNvPr>
          <p:cNvSpPr>
            <a:spLocks noGrp="1"/>
          </p:cNvSpPr>
          <p:nvPr>
            <p:ph type="title"/>
          </p:nvPr>
        </p:nvSpPr>
        <p:spPr/>
        <p:txBody>
          <a:bodyPr/>
          <a:lstStyle/>
          <a:p>
            <a:endParaRPr lang="en-CN"/>
          </a:p>
        </p:txBody>
      </p:sp>
      <p:sp>
        <p:nvSpPr>
          <p:cNvPr id="3" name="object 4">
            <a:extLst>
              <a:ext uri="{FF2B5EF4-FFF2-40B4-BE49-F238E27FC236}">
                <a16:creationId xmlns:a16="http://schemas.microsoft.com/office/drawing/2014/main" id="{A911FF81-E909-DE4B-9A53-8328D6D01DE5}"/>
              </a:ext>
            </a:extLst>
          </p:cNvPr>
          <p:cNvSpPr/>
          <p:nvPr/>
        </p:nvSpPr>
        <p:spPr>
          <a:xfrm>
            <a:off x="1000200" y="1656234"/>
            <a:ext cx="7559792" cy="839807"/>
          </a:xfrm>
          <a:prstGeom prst="rect">
            <a:avLst/>
          </a:prstGeom>
          <a:blipFill>
            <a:blip r:embed="rId2" cstate="print"/>
            <a:stretch>
              <a:fillRect/>
            </a:stretch>
          </a:blipFill>
        </p:spPr>
        <p:txBody>
          <a:bodyPr wrap="square" lIns="0" tIns="0" rIns="0" bIns="0" rtlCol="0"/>
          <a:lstStyle/>
          <a:p>
            <a:endParaRPr sz="2310"/>
          </a:p>
        </p:txBody>
      </p:sp>
      <p:sp>
        <p:nvSpPr>
          <p:cNvPr id="4" name="TextBox 3">
            <a:extLst>
              <a:ext uri="{FF2B5EF4-FFF2-40B4-BE49-F238E27FC236}">
                <a16:creationId xmlns:a16="http://schemas.microsoft.com/office/drawing/2014/main" id="{7BE75BCF-E3C1-A94F-9592-AC519242B192}"/>
              </a:ext>
            </a:extLst>
          </p:cNvPr>
          <p:cNvSpPr txBox="1"/>
          <p:nvPr/>
        </p:nvSpPr>
        <p:spPr>
          <a:xfrm>
            <a:off x="856184" y="2734758"/>
            <a:ext cx="11377883" cy="1569660"/>
          </a:xfrm>
          <a:prstGeom prst="rect">
            <a:avLst/>
          </a:prstGeom>
          <a:noFill/>
        </p:spPr>
        <p:txBody>
          <a:bodyPr wrap="square">
            <a:spAutoFit/>
          </a:bodyPr>
          <a:lstStyle/>
          <a:p>
            <a:r>
              <a:rPr lang="en-US" sz="2400" b="1" dirty="0" err="1">
                <a:solidFill>
                  <a:srgbClr val="502000"/>
                </a:solidFill>
                <a:effectLst/>
                <a:latin typeface="Comic Sans MS" panose="030F0702030302020204" pitchFamily="66" charset="0"/>
              </a:rPr>
              <a:t>sem_post</a:t>
            </a:r>
            <a:r>
              <a:rPr lang="en-US" sz="2400" dirty="0">
                <a:latin typeface="Comic Sans MS" panose="030F0702030302020204" pitchFamily="66" charset="0"/>
              </a:rPr>
              <a:t>() increments (unlocks) the semaphore pointed to by </a:t>
            </a:r>
            <a:r>
              <a:rPr lang="en-US" sz="2400" i="1" dirty="0" err="1">
                <a:solidFill>
                  <a:srgbClr val="006000"/>
                </a:solidFill>
                <a:effectLst/>
                <a:latin typeface="Comic Sans MS" panose="030F0702030302020204" pitchFamily="66" charset="0"/>
              </a:rPr>
              <a:t>sema</a:t>
            </a:r>
            <a:r>
              <a:rPr lang="en-US" altLang="zh-CN" sz="2400" i="1" dirty="0" err="1">
                <a:solidFill>
                  <a:srgbClr val="006000"/>
                </a:solidFill>
                <a:effectLst/>
                <a:latin typeface="Comic Sans MS" panose="030F0702030302020204" pitchFamily="66" charset="0"/>
              </a:rPr>
              <a:t>phore_p</a:t>
            </a:r>
            <a:r>
              <a:rPr lang="en-US" sz="2400" dirty="0">
                <a:latin typeface="Comic Sans MS" panose="030F0702030302020204" pitchFamily="66" charset="0"/>
              </a:rPr>
              <a:t>. If the semaphore's value consequently becomes greater than zero, then another process or thread blocked in a </a:t>
            </a:r>
            <a:r>
              <a:rPr lang="en-US" sz="2400" u="none" strike="noStrike" dirty="0">
                <a:solidFill>
                  <a:srgbClr val="1030FF"/>
                </a:solidFill>
                <a:effectLst/>
                <a:latin typeface="Comic Sans MS" panose="030F0702030302020204" pitchFamily="66" charset="0"/>
                <a:hlinkClick r:id="rId3"/>
              </a:rPr>
              <a:t>sem_wait(3)</a:t>
            </a:r>
            <a:r>
              <a:rPr lang="en-US" sz="2400" dirty="0">
                <a:latin typeface="Comic Sans MS" panose="030F0702030302020204" pitchFamily="66" charset="0"/>
              </a:rPr>
              <a:t> call will be woken up and proceed to lock the semaphore.</a:t>
            </a:r>
            <a:endParaRPr lang="en-CN" sz="2400" dirty="0">
              <a:latin typeface="Comic Sans MS" panose="030F0702030302020204" pitchFamily="66" charset="0"/>
            </a:endParaRPr>
          </a:p>
        </p:txBody>
      </p:sp>
      <p:sp>
        <p:nvSpPr>
          <p:cNvPr id="6" name="TextBox 5">
            <a:extLst>
              <a:ext uri="{FF2B5EF4-FFF2-40B4-BE49-F238E27FC236}">
                <a16:creationId xmlns:a16="http://schemas.microsoft.com/office/drawing/2014/main" id="{72CE805E-0F8C-AA45-BEF3-CC5463FD01A9}"/>
              </a:ext>
            </a:extLst>
          </p:cNvPr>
          <p:cNvSpPr txBox="1"/>
          <p:nvPr/>
        </p:nvSpPr>
        <p:spPr>
          <a:xfrm>
            <a:off x="863976" y="4407634"/>
            <a:ext cx="11225456" cy="1785104"/>
          </a:xfrm>
          <a:prstGeom prst="rect">
            <a:avLst/>
          </a:prstGeom>
          <a:noFill/>
        </p:spPr>
        <p:txBody>
          <a:bodyPr wrap="square">
            <a:spAutoFit/>
          </a:bodyPr>
          <a:lstStyle/>
          <a:p>
            <a:r>
              <a:rPr lang="en-US" b="1" dirty="0" err="1">
                <a:solidFill>
                  <a:srgbClr val="502000"/>
                </a:solidFill>
                <a:effectLst/>
                <a:latin typeface="Comic Sans MS" panose="030F0702030302020204" pitchFamily="66" charset="0"/>
              </a:rPr>
              <a:t>sem_wait</a:t>
            </a:r>
            <a:r>
              <a:rPr lang="en-US" dirty="0">
                <a:latin typeface="Comic Sans MS" panose="030F0702030302020204" pitchFamily="66" charset="0"/>
              </a:rPr>
              <a:t>() decrements (locks) the semaphore pointed to by </a:t>
            </a:r>
            <a:r>
              <a:rPr lang="en-US" i="1" dirty="0" err="1">
                <a:solidFill>
                  <a:srgbClr val="006000"/>
                </a:solidFill>
                <a:latin typeface="Comic Sans MS" panose="030F0702030302020204" pitchFamily="66" charset="0"/>
              </a:rPr>
              <a:t>semaphore_p</a:t>
            </a:r>
            <a:r>
              <a:rPr lang="en-US" dirty="0">
                <a:latin typeface="Comic Sans MS" panose="030F0702030302020204" pitchFamily="66" charset="0"/>
              </a:rPr>
              <a:t>. If the semaphore's value is greater than zero, then the decrement proceeds, and the function returns, immediately. If the semaphore currently has the value zero, then the call blocks until either it becomes possible to perform the decrement (i.e., the semaphore value rises above zero), or a signal handler interrupts the call.</a:t>
            </a:r>
            <a:endParaRPr lang="en-CN" dirty="0">
              <a:latin typeface="Comic Sans MS" panose="030F0702030302020204" pitchFamily="66" charset="0"/>
            </a:endParaRPr>
          </a:p>
        </p:txBody>
      </p:sp>
    </p:spTree>
    <p:extLst>
      <p:ext uri="{BB962C8B-B14F-4D97-AF65-F5344CB8AC3E}">
        <p14:creationId xmlns:p14="http://schemas.microsoft.com/office/powerpoint/2010/main" val="2078980667"/>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Using </a:t>
            </a:r>
            <a:r>
              <a:rPr sz="4620" spc="-10" dirty="0"/>
              <a:t>Semaphores </a:t>
            </a:r>
            <a:r>
              <a:rPr sz="4620" spc="-20" dirty="0"/>
              <a:t>to </a:t>
            </a:r>
            <a:r>
              <a:rPr sz="4620" dirty="0"/>
              <a:t>send</a:t>
            </a:r>
            <a:r>
              <a:rPr sz="4620" spc="-55" dirty="0"/>
              <a:t> </a:t>
            </a:r>
            <a:r>
              <a:rPr sz="4620" spc="-5" dirty="0"/>
              <a:t>msgs</a:t>
            </a:r>
            <a:endParaRPr sz="4620" dirty="0"/>
          </a:p>
        </p:txBody>
      </p:sp>
      <p:sp>
        <p:nvSpPr>
          <p:cNvPr id="3" name="object 3"/>
          <p:cNvSpPr txBox="1"/>
          <p:nvPr/>
        </p:nvSpPr>
        <p:spPr>
          <a:xfrm>
            <a:off x="2343119" y="864146"/>
            <a:ext cx="7837646" cy="5822427"/>
          </a:xfrm>
          <a:prstGeom prst="rect">
            <a:avLst/>
          </a:prstGeom>
        </p:spPr>
        <p:txBody>
          <a:bodyPr vert="horz" wrap="square" lIns="0" tIns="113347" rIns="0" bIns="0" rtlCol="0">
            <a:spAutoFit/>
          </a:bodyPr>
          <a:lstStyle/>
          <a:p>
            <a:pPr marL="12700">
              <a:lnSpc>
                <a:spcPct val="100000"/>
              </a:lnSpc>
              <a:spcBef>
                <a:spcPts val="850"/>
              </a:spcBef>
            </a:pPr>
            <a:r>
              <a:rPr sz="2100" b="0" dirty="0">
                <a:solidFill>
                  <a:srgbClr val="006FC0"/>
                </a:solidFill>
                <a:latin typeface="Arial" panose="020B0604020202020204" pitchFamily="34" charset="0"/>
                <a:cs typeface="Arial" panose="020B0604020202020204" pitchFamily="34" charset="0"/>
              </a:rPr>
              <a:t>/* </a:t>
            </a:r>
            <a:r>
              <a:rPr sz="2100" b="0" spc="-5" dirty="0">
                <a:solidFill>
                  <a:srgbClr val="006FC0"/>
                </a:solidFill>
                <a:latin typeface="Arial" panose="020B0604020202020204" pitchFamily="34" charset="0"/>
                <a:cs typeface="Arial" panose="020B0604020202020204" pitchFamily="34" charset="0"/>
              </a:rPr>
              <a:t>semaphores are initialized </a:t>
            </a:r>
            <a:r>
              <a:rPr sz="2100" b="0" spc="-15" dirty="0">
                <a:solidFill>
                  <a:srgbClr val="006FC0"/>
                </a:solidFill>
                <a:latin typeface="Arial" panose="020B0604020202020204" pitchFamily="34" charset="0"/>
                <a:cs typeface="Arial" panose="020B0604020202020204" pitchFamily="34" charset="0"/>
              </a:rPr>
              <a:t>to </a:t>
            </a:r>
            <a:r>
              <a:rPr sz="2100" b="0" dirty="0">
                <a:solidFill>
                  <a:srgbClr val="006FC0"/>
                </a:solidFill>
                <a:latin typeface="Arial" panose="020B0604020202020204" pitchFamily="34" charset="0"/>
                <a:cs typeface="Arial" panose="020B0604020202020204" pitchFamily="34" charset="0"/>
              </a:rPr>
              <a:t>0 </a:t>
            </a:r>
            <a:r>
              <a:rPr sz="2100" b="0" spc="-10" dirty="0">
                <a:solidFill>
                  <a:srgbClr val="006FC0"/>
                </a:solidFill>
                <a:latin typeface="Arial" panose="020B0604020202020204" pitchFamily="34" charset="0"/>
                <a:cs typeface="Arial" panose="020B0604020202020204" pitchFamily="34" charset="0"/>
              </a:rPr>
              <a:t>(locked)</a:t>
            </a:r>
            <a:r>
              <a:rPr sz="2100" b="0" spc="-155" dirty="0">
                <a:solidFill>
                  <a:srgbClr val="006FC0"/>
                </a:solidFill>
                <a:latin typeface="Arial" panose="020B0604020202020204" pitchFamily="34" charset="0"/>
                <a:cs typeface="Arial" panose="020B0604020202020204" pitchFamily="34" charset="0"/>
              </a:rPr>
              <a:t> </a:t>
            </a:r>
            <a:r>
              <a:rPr sz="2100" b="0" spc="-5" dirty="0">
                <a:solidFill>
                  <a:srgbClr val="006FC0"/>
                </a:solidFill>
                <a:latin typeface="Arial" panose="020B0604020202020204" pitchFamily="34" charset="0"/>
                <a:cs typeface="Arial" panose="020B0604020202020204" pitchFamily="34" charset="0"/>
              </a:rPr>
              <a:t>*/</a:t>
            </a:r>
            <a:endParaRPr sz="2100" dirty="0">
              <a:latin typeface="Arial" panose="020B0604020202020204" pitchFamily="34" charset="0"/>
              <a:cs typeface="Arial" panose="020B0604020202020204" pitchFamily="34" charset="0"/>
            </a:endParaRPr>
          </a:p>
          <a:p>
            <a:pPr marL="12700">
              <a:lnSpc>
                <a:spcPct val="100000"/>
              </a:lnSpc>
              <a:spcBef>
                <a:spcPts val="755"/>
              </a:spcBef>
            </a:pPr>
            <a:r>
              <a:rPr sz="2100" b="0" spc="-10" dirty="0">
                <a:latin typeface="Arial" panose="020B0604020202020204" pitchFamily="34" charset="0"/>
                <a:cs typeface="Arial" panose="020B0604020202020204" pitchFamily="34" charset="0"/>
              </a:rPr>
              <a:t>void* </a:t>
            </a:r>
            <a:r>
              <a:rPr sz="2100" b="0" spc="-5" dirty="0">
                <a:latin typeface="Arial" panose="020B0604020202020204" pitchFamily="34" charset="0"/>
                <a:cs typeface="Arial" panose="020B0604020202020204" pitchFamily="34" charset="0"/>
              </a:rPr>
              <a:t>Send_msg(void* rank)</a:t>
            </a:r>
            <a:r>
              <a:rPr sz="2100" b="0" spc="-85" dirty="0">
                <a:latin typeface="Arial" panose="020B0604020202020204" pitchFamily="34" charset="0"/>
                <a:cs typeface="Arial" panose="020B0604020202020204" pitchFamily="34" charset="0"/>
              </a:rPr>
              <a:t> </a:t>
            </a:r>
            <a:r>
              <a:rPr sz="2100" b="0" dirty="0">
                <a:latin typeface="Arial" panose="020B0604020202020204" pitchFamily="34" charset="0"/>
                <a:cs typeface="Arial" panose="020B0604020202020204" pitchFamily="34" charset="0"/>
              </a:rPr>
              <a:t>{</a:t>
            </a:r>
            <a:endParaRPr sz="2100" dirty="0">
              <a:latin typeface="Arial" panose="020B0604020202020204" pitchFamily="34" charset="0"/>
              <a:cs typeface="Arial" panose="020B0604020202020204" pitchFamily="34" charset="0"/>
            </a:endParaRPr>
          </a:p>
          <a:p>
            <a:pPr marL="583565">
              <a:lnSpc>
                <a:spcPct val="100000"/>
              </a:lnSpc>
              <a:spcBef>
                <a:spcPts val="270"/>
              </a:spcBef>
            </a:pPr>
            <a:r>
              <a:rPr sz="2100" b="0" dirty="0">
                <a:latin typeface="Arial" panose="020B0604020202020204" pitchFamily="34" charset="0"/>
                <a:cs typeface="Arial" panose="020B0604020202020204" pitchFamily="34" charset="0"/>
              </a:rPr>
              <a:t>long </a:t>
            </a:r>
            <a:r>
              <a:rPr sz="2100" b="0" spc="-10" dirty="0">
                <a:latin typeface="Arial" panose="020B0604020202020204" pitchFamily="34" charset="0"/>
                <a:cs typeface="Arial" panose="020B0604020202020204" pitchFamily="34" charset="0"/>
              </a:rPr>
              <a:t>my_rank </a:t>
            </a:r>
            <a:r>
              <a:rPr sz="2100" b="0" dirty="0">
                <a:latin typeface="Arial" panose="020B0604020202020204" pitchFamily="34" charset="0"/>
                <a:cs typeface="Arial" panose="020B0604020202020204" pitchFamily="34" charset="0"/>
              </a:rPr>
              <a:t>= (long)</a:t>
            </a:r>
            <a:r>
              <a:rPr sz="2100" b="0" spc="-75" dirty="0">
                <a:latin typeface="Arial" panose="020B0604020202020204" pitchFamily="34" charset="0"/>
                <a:cs typeface="Arial" panose="020B0604020202020204" pitchFamily="34" charset="0"/>
              </a:rPr>
              <a:t> </a:t>
            </a:r>
            <a:r>
              <a:rPr sz="2100" b="0" spc="-10" dirty="0">
                <a:latin typeface="Arial" panose="020B0604020202020204" pitchFamily="34" charset="0"/>
                <a:cs typeface="Arial" panose="020B0604020202020204" pitchFamily="34" charset="0"/>
              </a:rPr>
              <a:t>rank;</a:t>
            </a:r>
            <a:endParaRPr sz="2100" dirty="0">
              <a:latin typeface="Arial" panose="020B0604020202020204" pitchFamily="34" charset="0"/>
              <a:cs typeface="Arial" panose="020B0604020202020204" pitchFamily="34" charset="0"/>
            </a:endParaRPr>
          </a:p>
          <a:p>
            <a:pPr marL="583565">
              <a:lnSpc>
                <a:spcPct val="100000"/>
              </a:lnSpc>
              <a:spcBef>
                <a:spcPts val="260"/>
              </a:spcBef>
            </a:pPr>
            <a:r>
              <a:rPr sz="2100" b="0" dirty="0">
                <a:latin typeface="Arial" panose="020B0604020202020204" pitchFamily="34" charset="0"/>
                <a:cs typeface="Arial" panose="020B0604020202020204" pitchFamily="34" charset="0"/>
              </a:rPr>
              <a:t>long </a:t>
            </a:r>
            <a:r>
              <a:rPr sz="2100" b="0" spc="-5" dirty="0">
                <a:latin typeface="Arial" panose="020B0604020202020204" pitchFamily="34" charset="0"/>
                <a:cs typeface="Arial" panose="020B0604020202020204" pitchFamily="34" charset="0"/>
              </a:rPr>
              <a:t>dest </a:t>
            </a:r>
            <a:r>
              <a:rPr sz="2100" b="0" dirty="0">
                <a:latin typeface="Arial" panose="020B0604020202020204" pitchFamily="34" charset="0"/>
                <a:cs typeface="Arial" panose="020B0604020202020204" pitchFamily="34" charset="0"/>
              </a:rPr>
              <a:t>= </a:t>
            </a:r>
            <a:r>
              <a:rPr sz="2100" b="0" spc="-10" dirty="0">
                <a:latin typeface="Arial" panose="020B0604020202020204" pitchFamily="34" charset="0"/>
                <a:cs typeface="Arial" panose="020B0604020202020204" pitchFamily="34" charset="0"/>
              </a:rPr>
              <a:t>(my_rank </a:t>
            </a:r>
            <a:r>
              <a:rPr sz="2100" b="0" dirty="0">
                <a:latin typeface="Arial" panose="020B0604020202020204" pitchFamily="34" charset="0"/>
                <a:cs typeface="Arial" panose="020B0604020202020204" pitchFamily="34" charset="0"/>
              </a:rPr>
              <a:t>+ 1) %</a:t>
            </a:r>
            <a:r>
              <a:rPr sz="2100" b="0" spc="-75" dirty="0">
                <a:latin typeface="Arial" panose="020B0604020202020204" pitchFamily="34" charset="0"/>
                <a:cs typeface="Arial" panose="020B0604020202020204" pitchFamily="34" charset="0"/>
              </a:rPr>
              <a:t> </a:t>
            </a:r>
            <a:r>
              <a:rPr sz="2100" b="0" spc="-10" dirty="0">
                <a:latin typeface="Arial" panose="020B0604020202020204" pitchFamily="34" charset="0"/>
                <a:cs typeface="Arial" panose="020B0604020202020204" pitchFamily="34" charset="0"/>
              </a:rPr>
              <a:t>thread_count;</a:t>
            </a:r>
            <a:endParaRPr sz="2100" dirty="0">
              <a:latin typeface="Arial" panose="020B0604020202020204" pitchFamily="34" charset="0"/>
              <a:cs typeface="Arial" panose="020B0604020202020204" pitchFamily="34" charset="0"/>
            </a:endParaRPr>
          </a:p>
          <a:p>
            <a:pPr marL="583565">
              <a:lnSpc>
                <a:spcPct val="100000"/>
              </a:lnSpc>
              <a:spcBef>
                <a:spcPts val="255"/>
              </a:spcBef>
            </a:pPr>
            <a:r>
              <a:rPr sz="2100" b="0" spc="-5" dirty="0">
                <a:latin typeface="Arial" panose="020B0604020202020204" pitchFamily="34" charset="0"/>
                <a:cs typeface="Arial" panose="020B0604020202020204" pitchFamily="34" charset="0"/>
              </a:rPr>
              <a:t>char* my_msg </a:t>
            </a:r>
            <a:r>
              <a:rPr sz="2100" b="0" dirty="0">
                <a:latin typeface="Arial" panose="020B0604020202020204" pitchFamily="34" charset="0"/>
                <a:cs typeface="Arial" panose="020B0604020202020204" pitchFamily="34" charset="0"/>
              </a:rPr>
              <a:t>=</a:t>
            </a:r>
            <a:r>
              <a:rPr sz="2100" b="0" spc="-20" dirty="0">
                <a:latin typeface="Arial" panose="020B0604020202020204" pitchFamily="34" charset="0"/>
                <a:cs typeface="Arial" panose="020B0604020202020204" pitchFamily="34" charset="0"/>
              </a:rPr>
              <a:t> </a:t>
            </a:r>
            <a:r>
              <a:rPr sz="2100" b="0" spc="-5" dirty="0">
                <a:latin typeface="Arial" panose="020B0604020202020204" pitchFamily="34" charset="0"/>
                <a:cs typeface="Arial" panose="020B0604020202020204" pitchFamily="34" charset="0"/>
              </a:rPr>
              <a:t>malloc(MSG_MAX*sizeof(char));</a:t>
            </a:r>
            <a:endParaRPr sz="2100" dirty="0">
              <a:latin typeface="Arial" panose="020B0604020202020204" pitchFamily="34" charset="0"/>
              <a:cs typeface="Arial" panose="020B0604020202020204" pitchFamily="34" charset="0"/>
            </a:endParaRPr>
          </a:p>
          <a:p>
            <a:pPr>
              <a:lnSpc>
                <a:spcPct val="100000"/>
              </a:lnSpc>
              <a:spcBef>
                <a:spcPts val="50"/>
              </a:spcBef>
            </a:pPr>
            <a:endParaRPr sz="2255" dirty="0">
              <a:latin typeface="Arial" panose="020B0604020202020204" pitchFamily="34" charset="0"/>
              <a:cs typeface="Arial" panose="020B0604020202020204" pitchFamily="34" charset="0"/>
            </a:endParaRPr>
          </a:p>
          <a:p>
            <a:pPr marL="583565" marR="1064895">
              <a:lnSpc>
                <a:spcPct val="111000"/>
              </a:lnSpc>
              <a:spcBef>
                <a:spcPts val="5"/>
              </a:spcBef>
            </a:pPr>
            <a:r>
              <a:rPr sz="2100" b="0" spc="-5" dirty="0">
                <a:latin typeface="Arial" panose="020B0604020202020204" pitchFamily="34" charset="0"/>
                <a:cs typeface="Arial" panose="020B0604020202020204" pitchFamily="34" charset="0"/>
              </a:rPr>
              <a:t>sprintf(my_msg, "Hello </a:t>
            </a:r>
            <a:r>
              <a:rPr sz="2100" b="0" spc="-15" dirty="0">
                <a:latin typeface="Arial" panose="020B0604020202020204" pitchFamily="34" charset="0"/>
                <a:cs typeface="Arial" panose="020B0604020202020204" pitchFamily="34" charset="0"/>
              </a:rPr>
              <a:t>to </a:t>
            </a:r>
            <a:r>
              <a:rPr sz="2100" b="0" dirty="0">
                <a:latin typeface="Arial" panose="020B0604020202020204" pitchFamily="34" charset="0"/>
                <a:cs typeface="Arial" panose="020B0604020202020204" pitchFamily="34" charset="0"/>
              </a:rPr>
              <a:t>%ld </a:t>
            </a:r>
            <a:r>
              <a:rPr sz="2100" b="0" spc="-10" dirty="0">
                <a:latin typeface="Arial" panose="020B0604020202020204" pitchFamily="34" charset="0"/>
                <a:cs typeface="Arial" panose="020B0604020202020204" pitchFamily="34" charset="0"/>
              </a:rPr>
              <a:t>from </a:t>
            </a:r>
            <a:r>
              <a:rPr sz="2100" b="0" dirty="0">
                <a:latin typeface="Arial" panose="020B0604020202020204" pitchFamily="34" charset="0"/>
                <a:cs typeface="Arial" panose="020B0604020202020204" pitchFamily="34" charset="0"/>
              </a:rPr>
              <a:t>%ld", </a:t>
            </a:r>
            <a:r>
              <a:rPr sz="2100" b="0" spc="-5" dirty="0">
                <a:latin typeface="Arial" panose="020B0604020202020204" pitchFamily="34" charset="0"/>
                <a:cs typeface="Arial" panose="020B0604020202020204" pitchFamily="34" charset="0"/>
              </a:rPr>
              <a:t>dest, </a:t>
            </a:r>
            <a:r>
              <a:rPr sz="2100" b="0" spc="-10" dirty="0">
                <a:latin typeface="Arial" panose="020B0604020202020204" pitchFamily="34" charset="0"/>
                <a:cs typeface="Arial" panose="020B0604020202020204" pitchFamily="34" charset="0"/>
              </a:rPr>
              <a:t>my_rank);  </a:t>
            </a:r>
            <a:r>
              <a:rPr sz="2100" b="0" spc="-5" dirty="0">
                <a:latin typeface="Arial" panose="020B0604020202020204" pitchFamily="34" charset="0"/>
                <a:cs typeface="Arial" panose="020B0604020202020204" pitchFamily="34" charset="0"/>
              </a:rPr>
              <a:t>messages[dest] </a:t>
            </a:r>
            <a:r>
              <a:rPr sz="2100" b="0" dirty="0">
                <a:latin typeface="Arial" panose="020B0604020202020204" pitchFamily="34" charset="0"/>
                <a:cs typeface="Arial" panose="020B0604020202020204" pitchFamily="34" charset="0"/>
              </a:rPr>
              <a:t>=</a:t>
            </a:r>
            <a:r>
              <a:rPr sz="2100" b="0" spc="-30" dirty="0">
                <a:latin typeface="Arial" panose="020B0604020202020204" pitchFamily="34" charset="0"/>
                <a:cs typeface="Arial" panose="020B0604020202020204" pitchFamily="34" charset="0"/>
              </a:rPr>
              <a:t> </a:t>
            </a:r>
            <a:r>
              <a:rPr sz="2100" b="0" spc="-5" dirty="0">
                <a:latin typeface="Arial" panose="020B0604020202020204" pitchFamily="34" charset="0"/>
                <a:cs typeface="Arial" panose="020B0604020202020204" pitchFamily="34" charset="0"/>
              </a:rPr>
              <a:t>my_msg;</a:t>
            </a:r>
            <a:endParaRPr sz="2100" dirty="0">
              <a:latin typeface="Arial" panose="020B0604020202020204" pitchFamily="34" charset="0"/>
              <a:cs typeface="Arial" panose="020B0604020202020204" pitchFamily="34" charset="0"/>
            </a:endParaRPr>
          </a:p>
          <a:p>
            <a:pPr marL="583565">
              <a:lnSpc>
                <a:spcPct val="100000"/>
              </a:lnSpc>
              <a:spcBef>
                <a:spcPts val="260"/>
              </a:spcBef>
              <a:tabLst>
                <a:tab pos="3976370" algn="l"/>
              </a:tabLst>
            </a:pPr>
            <a:r>
              <a:rPr sz="2100" b="0" spc="-5" dirty="0">
                <a:solidFill>
                  <a:srgbClr val="FF0000"/>
                </a:solidFill>
                <a:latin typeface="Arial" panose="020B0604020202020204" pitchFamily="34" charset="0"/>
                <a:cs typeface="Arial" panose="020B0604020202020204" pitchFamily="34" charset="0"/>
              </a:rPr>
              <a:t>sem_post(&amp;semaphores[dest]);	</a:t>
            </a:r>
            <a:r>
              <a:rPr sz="2100" b="0" spc="-5" dirty="0">
                <a:solidFill>
                  <a:srgbClr val="006FC0"/>
                </a:solidFill>
                <a:latin typeface="Arial" panose="020B0604020202020204" pitchFamily="34" charset="0"/>
                <a:cs typeface="Arial" panose="020B0604020202020204" pitchFamily="34" charset="0"/>
              </a:rPr>
              <a:t>/*unlock </a:t>
            </a:r>
            <a:r>
              <a:rPr sz="2100" b="0" dirty="0">
                <a:solidFill>
                  <a:srgbClr val="006FC0"/>
                </a:solidFill>
                <a:latin typeface="Arial" panose="020B0604020202020204" pitchFamily="34" charset="0"/>
                <a:cs typeface="Arial" panose="020B0604020202020204" pitchFamily="34" charset="0"/>
              </a:rPr>
              <a:t>the </a:t>
            </a:r>
            <a:r>
              <a:rPr sz="2100" b="0" spc="-5" dirty="0">
                <a:solidFill>
                  <a:srgbClr val="006FC0"/>
                </a:solidFill>
                <a:latin typeface="Arial" panose="020B0604020202020204" pitchFamily="34" charset="0"/>
                <a:cs typeface="Arial" panose="020B0604020202020204" pitchFamily="34" charset="0"/>
              </a:rPr>
              <a:t>semaphore of</a:t>
            </a:r>
            <a:r>
              <a:rPr sz="2100" b="0" spc="-95" dirty="0">
                <a:solidFill>
                  <a:srgbClr val="006FC0"/>
                </a:solidFill>
                <a:latin typeface="Arial" panose="020B0604020202020204" pitchFamily="34" charset="0"/>
                <a:cs typeface="Arial" panose="020B0604020202020204" pitchFamily="34" charset="0"/>
              </a:rPr>
              <a:t> </a:t>
            </a:r>
            <a:r>
              <a:rPr sz="2100" b="0" spc="-5" dirty="0">
                <a:solidFill>
                  <a:srgbClr val="006FC0"/>
                </a:solidFill>
                <a:latin typeface="Arial" panose="020B0604020202020204" pitchFamily="34" charset="0"/>
                <a:cs typeface="Arial" panose="020B0604020202020204" pitchFamily="34" charset="0"/>
              </a:rPr>
              <a:t>dest*/</a:t>
            </a:r>
            <a:endParaRPr sz="2100" dirty="0">
              <a:latin typeface="Arial" panose="020B0604020202020204" pitchFamily="34" charset="0"/>
              <a:cs typeface="Arial" panose="020B0604020202020204" pitchFamily="34" charset="0"/>
            </a:endParaRPr>
          </a:p>
          <a:p>
            <a:pPr>
              <a:lnSpc>
                <a:spcPct val="100000"/>
              </a:lnSpc>
              <a:spcBef>
                <a:spcPts val="30"/>
              </a:spcBef>
            </a:pPr>
            <a:endParaRPr sz="2255" dirty="0">
              <a:latin typeface="Arial" panose="020B0604020202020204" pitchFamily="34" charset="0"/>
              <a:cs typeface="Arial" panose="020B0604020202020204" pitchFamily="34" charset="0"/>
            </a:endParaRPr>
          </a:p>
          <a:p>
            <a:pPr marL="583565" marR="2475865">
              <a:lnSpc>
                <a:spcPct val="111000"/>
              </a:lnSpc>
            </a:pPr>
            <a:r>
              <a:rPr sz="2100" b="0" spc="-5" dirty="0">
                <a:solidFill>
                  <a:srgbClr val="006FC0"/>
                </a:solidFill>
                <a:latin typeface="Arial" panose="020B0604020202020204" pitchFamily="34" charset="0"/>
                <a:cs typeface="Arial" panose="020B0604020202020204" pitchFamily="34" charset="0"/>
              </a:rPr>
              <a:t>/*wait </a:t>
            </a:r>
            <a:r>
              <a:rPr sz="2100" b="0" spc="-20" dirty="0">
                <a:solidFill>
                  <a:srgbClr val="006FC0"/>
                </a:solidFill>
                <a:latin typeface="Arial" panose="020B0604020202020204" pitchFamily="34" charset="0"/>
                <a:cs typeface="Arial" panose="020B0604020202020204" pitchFamily="34" charset="0"/>
              </a:rPr>
              <a:t>for </a:t>
            </a:r>
            <a:r>
              <a:rPr sz="2100" b="0" spc="-5" dirty="0">
                <a:solidFill>
                  <a:srgbClr val="006FC0"/>
                </a:solidFill>
                <a:latin typeface="Arial" panose="020B0604020202020204" pitchFamily="34" charset="0"/>
                <a:cs typeface="Arial" panose="020B0604020202020204" pitchFamily="34" charset="0"/>
              </a:rPr>
              <a:t>our semaphore </a:t>
            </a:r>
            <a:r>
              <a:rPr sz="2100" b="0" spc="-15" dirty="0">
                <a:solidFill>
                  <a:srgbClr val="006FC0"/>
                </a:solidFill>
                <a:latin typeface="Arial" panose="020B0604020202020204" pitchFamily="34" charset="0"/>
                <a:cs typeface="Arial" panose="020B0604020202020204" pitchFamily="34" charset="0"/>
              </a:rPr>
              <a:t>to </a:t>
            </a:r>
            <a:r>
              <a:rPr sz="2100" b="0" dirty="0">
                <a:solidFill>
                  <a:srgbClr val="006FC0"/>
                </a:solidFill>
                <a:latin typeface="Arial" panose="020B0604020202020204" pitchFamily="34" charset="0"/>
                <a:cs typeface="Arial" panose="020B0604020202020204" pitchFamily="34" charset="0"/>
              </a:rPr>
              <a:t>be </a:t>
            </a:r>
            <a:r>
              <a:rPr sz="2100" b="0" spc="-10" dirty="0">
                <a:solidFill>
                  <a:srgbClr val="006FC0"/>
                </a:solidFill>
                <a:latin typeface="Arial" panose="020B0604020202020204" pitchFamily="34" charset="0"/>
                <a:cs typeface="Arial" panose="020B0604020202020204" pitchFamily="34" charset="0"/>
              </a:rPr>
              <a:t>unlocked*/  </a:t>
            </a:r>
            <a:r>
              <a:rPr sz="2100" b="0" spc="-5" dirty="0">
                <a:solidFill>
                  <a:srgbClr val="FF0000"/>
                </a:solidFill>
                <a:latin typeface="Arial" panose="020B0604020202020204" pitchFamily="34" charset="0"/>
                <a:cs typeface="Arial" panose="020B0604020202020204" pitchFamily="34" charset="0"/>
              </a:rPr>
              <a:t>sem_wait(&amp;semaphores[my_rank]);</a:t>
            </a:r>
            <a:endParaRPr sz="2100" dirty="0">
              <a:latin typeface="Arial" panose="020B0604020202020204" pitchFamily="34" charset="0"/>
              <a:cs typeface="Arial" panose="020B0604020202020204" pitchFamily="34" charset="0"/>
            </a:endParaRPr>
          </a:p>
          <a:p>
            <a:pPr marL="583565" marR="870585">
              <a:lnSpc>
                <a:spcPct val="111000"/>
              </a:lnSpc>
              <a:spcBef>
                <a:spcPts val="15"/>
              </a:spcBef>
            </a:pPr>
            <a:r>
              <a:rPr sz="2100" b="0" spc="-5" dirty="0">
                <a:latin typeface="Arial" panose="020B0604020202020204" pitchFamily="34" charset="0"/>
                <a:cs typeface="Arial" panose="020B0604020202020204" pitchFamily="34" charset="0"/>
              </a:rPr>
              <a:t>printf("Thread </a:t>
            </a:r>
            <a:r>
              <a:rPr sz="2100" b="0" dirty="0">
                <a:latin typeface="Arial" panose="020B0604020202020204" pitchFamily="34" charset="0"/>
                <a:cs typeface="Arial" panose="020B0604020202020204" pitchFamily="34" charset="0"/>
              </a:rPr>
              <a:t>%ld &gt; %s\n", </a:t>
            </a:r>
            <a:r>
              <a:rPr sz="2100" b="0" spc="-10" dirty="0">
                <a:latin typeface="Arial" panose="020B0604020202020204" pitchFamily="34" charset="0"/>
                <a:cs typeface="Arial" panose="020B0604020202020204" pitchFamily="34" charset="0"/>
              </a:rPr>
              <a:t>my_rank, </a:t>
            </a:r>
            <a:r>
              <a:rPr sz="2100" b="0" spc="-5" dirty="0">
                <a:latin typeface="Arial" panose="020B0604020202020204" pitchFamily="34" charset="0"/>
                <a:cs typeface="Arial" panose="020B0604020202020204" pitchFamily="34" charset="0"/>
              </a:rPr>
              <a:t>messages[my_rank]);  return</a:t>
            </a:r>
            <a:r>
              <a:rPr sz="2100" b="0" spc="-40" dirty="0">
                <a:latin typeface="Arial" panose="020B0604020202020204" pitchFamily="34" charset="0"/>
                <a:cs typeface="Arial" panose="020B0604020202020204" pitchFamily="34" charset="0"/>
              </a:rPr>
              <a:t> </a:t>
            </a:r>
            <a:r>
              <a:rPr sz="2100" b="0" spc="-5" dirty="0">
                <a:latin typeface="Arial" panose="020B0604020202020204" pitchFamily="34" charset="0"/>
                <a:cs typeface="Arial" panose="020B0604020202020204" pitchFamily="34" charset="0"/>
              </a:rPr>
              <a:t>NULL;</a:t>
            </a:r>
            <a:endParaRPr sz="2100" dirty="0">
              <a:latin typeface="Arial" panose="020B0604020202020204" pitchFamily="34" charset="0"/>
              <a:cs typeface="Arial" panose="020B0604020202020204" pitchFamily="34" charset="0"/>
            </a:endParaRPr>
          </a:p>
        </p:txBody>
      </p:sp>
      <p:sp>
        <p:nvSpPr>
          <p:cNvPr id="4" name="object 4"/>
          <p:cNvSpPr txBox="1"/>
          <p:nvPr/>
        </p:nvSpPr>
        <p:spPr>
          <a:xfrm>
            <a:off x="2343119" y="6660459"/>
            <a:ext cx="106680" cy="336550"/>
          </a:xfrm>
          <a:prstGeom prst="rect">
            <a:avLst/>
          </a:prstGeom>
        </p:spPr>
        <p:txBody>
          <a:bodyPr vert="horz" wrap="square" lIns="0" tIns="14001" rIns="0" bIns="0" rtlCol="0">
            <a:spAutoFit/>
          </a:bodyPr>
          <a:lstStyle/>
          <a:p>
            <a:pPr marL="12700">
              <a:lnSpc>
                <a:spcPct val="100000"/>
              </a:lnSpc>
              <a:spcBef>
                <a:spcPts val="105"/>
              </a:spcBef>
            </a:pPr>
            <a:r>
              <a:rPr sz="2100" b="0" dirty="0">
                <a:latin typeface="Calibri Light" panose="020F0302020204030204"/>
                <a:cs typeface="Calibri Light" panose="020F0302020204030204"/>
              </a:rPr>
              <a:t>}</a:t>
            </a:r>
            <a:endParaRPr sz="2100">
              <a:latin typeface="Calibri Light" panose="020F0302020204030204"/>
              <a:cs typeface="Calibri Light" panose="020F0302020204030204"/>
            </a:endParaRPr>
          </a:p>
        </p:txBody>
      </p:sp>
      <p:sp>
        <p:nvSpPr>
          <p:cNvPr id="5" name="object 5"/>
          <p:cNvSpPr txBox="1"/>
          <p:nvPr/>
        </p:nvSpPr>
        <p:spPr>
          <a:xfrm>
            <a:off x="10268616" y="6748470"/>
            <a:ext cx="190024" cy="205740"/>
          </a:xfrm>
          <a:prstGeom prst="rect">
            <a:avLst/>
          </a:prstGeom>
        </p:spPr>
        <p:txBody>
          <a:bodyPr vert="horz" wrap="square" lIns="0" tIns="13334" rIns="0" bIns="0" rtlCol="0">
            <a:spAutoFit/>
          </a:bodyPr>
          <a:lstStyle/>
          <a:p>
            <a:pPr marL="12700">
              <a:lnSpc>
                <a:spcPct val="100000"/>
              </a:lnSpc>
              <a:spcBef>
                <a:spcPts val="100"/>
              </a:spcBef>
            </a:pPr>
            <a:r>
              <a:rPr sz="1260" dirty="0">
                <a:solidFill>
                  <a:srgbClr val="888888"/>
                </a:solidFill>
                <a:latin typeface="Calibri" panose="020F0502020204030204"/>
                <a:cs typeface="Calibri" panose="020F0502020204030204"/>
              </a:rPr>
              <a:t>47</a:t>
            </a:r>
            <a:endParaRPr sz="1260">
              <a:latin typeface="Calibri" panose="020F0502020204030204"/>
              <a:cs typeface="Calibri" panose="020F0502020204030204"/>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8415" y="4247992"/>
            <a:ext cx="10762906" cy="765175"/>
          </a:xfrm>
          <a:prstGeom prst="rect">
            <a:avLst/>
          </a:prstGeom>
        </p:spPr>
        <p:txBody>
          <a:bodyPr vert="horz" wrap="square" lIns="0" tIns="100012" rIns="0" bIns="0" rtlCol="0">
            <a:spAutoFit/>
          </a:bodyPr>
          <a:lstStyle/>
          <a:p>
            <a:pPr marL="12700" marR="5080">
              <a:lnSpc>
                <a:spcPts val="5190"/>
              </a:lnSpc>
              <a:spcBef>
                <a:spcPts val="750"/>
              </a:spcBef>
            </a:pPr>
            <a:r>
              <a:rPr sz="5040" spc="-20" dirty="0"/>
              <a:t>Barriers </a:t>
            </a:r>
            <a:r>
              <a:rPr sz="5040" dirty="0"/>
              <a:t>and </a:t>
            </a:r>
            <a:r>
              <a:rPr sz="5040" spc="-10" dirty="0"/>
              <a:t>Condition  </a:t>
            </a:r>
            <a:r>
              <a:rPr sz="5040" spc="-35" dirty="0"/>
              <a:t>Variables</a:t>
            </a:r>
            <a:endParaRPr sz="5040"/>
          </a:p>
        </p:txBody>
      </p:sp>
      <p:sp>
        <p:nvSpPr>
          <p:cNvPr id="3" name="object 3"/>
          <p:cNvSpPr/>
          <p:nvPr/>
        </p:nvSpPr>
        <p:spPr>
          <a:xfrm>
            <a:off x="2694737" y="1936508"/>
            <a:ext cx="3251606" cy="1840909"/>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53</a:t>
            </a:fld>
            <a:endParaRPr sz="1575"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5" dirty="0"/>
              <a:t>Barriers</a:t>
            </a:r>
            <a:endParaRPr sz="4620" dirty="0"/>
          </a:p>
        </p:txBody>
      </p:sp>
      <p:sp>
        <p:nvSpPr>
          <p:cNvPr id="3" name="object 3"/>
          <p:cNvSpPr txBox="1"/>
          <p:nvPr/>
        </p:nvSpPr>
        <p:spPr>
          <a:xfrm>
            <a:off x="2343119" y="1883168"/>
            <a:ext cx="8011667" cy="2592705"/>
          </a:xfrm>
          <a:prstGeom prst="rect">
            <a:avLst/>
          </a:prstGeom>
        </p:spPr>
        <p:txBody>
          <a:bodyPr vert="horz" wrap="square" lIns="0" tIns="57340" rIns="0" bIns="0" rtlCol="0">
            <a:spAutoFit/>
          </a:bodyPr>
          <a:lstStyle/>
          <a:p>
            <a:pPr marL="241300" marR="300990" indent="-228600">
              <a:lnSpc>
                <a:spcPct val="90000"/>
              </a:lnSpc>
              <a:spcBef>
                <a:spcPts val="430"/>
              </a:spcBef>
              <a:buFont typeface="Arial" panose="020B0604020202020204"/>
              <a:buChar char="•"/>
              <a:tabLst>
                <a:tab pos="241300" algn="l"/>
              </a:tabLst>
            </a:pPr>
            <a:r>
              <a:rPr sz="2940" spc="-15" dirty="0">
                <a:solidFill>
                  <a:srgbClr val="FF0000"/>
                </a:solidFill>
                <a:latin typeface="Comic Sans MS" panose="030F0702030302020204" pitchFamily="66" charset="0"/>
                <a:cs typeface="Calibri" panose="020F0502020204030204"/>
              </a:rPr>
              <a:t>Synchronizing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threads </a:t>
            </a:r>
            <a:r>
              <a:rPr sz="2940" spc="-20" dirty="0">
                <a:latin typeface="Comic Sans MS" panose="030F0702030302020204" pitchFamily="66" charset="0"/>
                <a:cs typeface="Calibri" panose="020F0502020204030204"/>
              </a:rPr>
              <a:t>to </a:t>
            </a:r>
            <a:r>
              <a:rPr sz="2940" spc="-25" dirty="0">
                <a:latin typeface="Comic Sans MS" panose="030F0702030302020204" pitchFamily="66" charset="0"/>
                <a:cs typeface="Calibri" panose="020F0502020204030204"/>
              </a:rPr>
              <a:t>make </a:t>
            </a:r>
            <a:r>
              <a:rPr sz="2940" spc="-20" dirty="0">
                <a:latin typeface="Comic Sans MS" panose="030F0702030302020204" pitchFamily="66" charset="0"/>
                <a:cs typeface="Calibri" panose="020F0502020204030204"/>
              </a:rPr>
              <a:t>sure </a:t>
            </a:r>
            <a:r>
              <a:rPr sz="2940" spc="-10" dirty="0">
                <a:latin typeface="Comic Sans MS" panose="030F0702030302020204" pitchFamily="66" charset="0"/>
                <a:cs typeface="Calibri" panose="020F0502020204030204"/>
              </a:rPr>
              <a:t>that they  </a:t>
            </a:r>
            <a:r>
              <a:rPr sz="2940" spc="-5" dirty="0">
                <a:latin typeface="Comic Sans MS" panose="030F0702030302020204" pitchFamily="66" charset="0"/>
                <a:cs typeface="Calibri" panose="020F0502020204030204"/>
              </a:rPr>
              <a:t>all </a:t>
            </a:r>
            <a:r>
              <a:rPr sz="2940" spc="-15" dirty="0">
                <a:latin typeface="Comic Sans MS" panose="030F0702030302020204" pitchFamily="66" charset="0"/>
                <a:cs typeface="Calibri" panose="020F0502020204030204"/>
              </a:rPr>
              <a:t>are at </a:t>
            </a:r>
            <a:r>
              <a:rPr sz="2940" spc="-5" dirty="0">
                <a:latin typeface="Comic Sans MS" panose="030F0702030302020204" pitchFamily="66" charset="0"/>
                <a:cs typeface="Calibri" panose="020F0502020204030204"/>
              </a:rPr>
              <a:t>the </a:t>
            </a:r>
            <a:r>
              <a:rPr sz="2940" spc="-5" dirty="0">
                <a:solidFill>
                  <a:srgbClr val="FF0000"/>
                </a:solidFill>
                <a:latin typeface="Comic Sans MS" panose="030F0702030302020204" pitchFamily="66" charset="0"/>
                <a:cs typeface="Calibri" panose="020F0502020204030204"/>
              </a:rPr>
              <a:t>same </a:t>
            </a:r>
            <a:r>
              <a:rPr sz="2940" spc="-15" dirty="0">
                <a:solidFill>
                  <a:srgbClr val="FF0000"/>
                </a:solidFill>
                <a:latin typeface="Comic Sans MS" panose="030F0702030302020204" pitchFamily="66" charset="0"/>
                <a:cs typeface="Calibri" panose="020F0502020204030204"/>
              </a:rPr>
              <a:t>point </a:t>
            </a:r>
            <a:r>
              <a:rPr sz="2940" spc="-5" dirty="0">
                <a:latin typeface="Comic Sans MS" panose="030F0702030302020204" pitchFamily="66" charset="0"/>
                <a:cs typeface="Calibri" panose="020F0502020204030204"/>
              </a:rPr>
              <a:t>in a </a:t>
            </a:r>
            <a:r>
              <a:rPr sz="2940" spc="-25" dirty="0">
                <a:latin typeface="Comic Sans MS" panose="030F0702030302020204" pitchFamily="66" charset="0"/>
                <a:cs typeface="Calibri" panose="020F0502020204030204"/>
              </a:rPr>
              <a:t>program </a:t>
            </a:r>
            <a:r>
              <a:rPr sz="2940" spc="-5" dirty="0">
                <a:latin typeface="Comic Sans MS" panose="030F0702030302020204" pitchFamily="66" charset="0"/>
                <a:cs typeface="Calibri" panose="020F0502020204030204"/>
              </a:rPr>
              <a:t>is </a:t>
            </a:r>
            <a:r>
              <a:rPr sz="2940" spc="-10" dirty="0">
                <a:latin typeface="Comic Sans MS" panose="030F0702030302020204" pitchFamily="66" charset="0"/>
                <a:cs typeface="Calibri" panose="020F0502020204030204"/>
              </a:rPr>
              <a:t>called </a:t>
            </a:r>
            <a:r>
              <a:rPr sz="2940" spc="-5" dirty="0">
                <a:latin typeface="Comic Sans MS" panose="030F0702030302020204" pitchFamily="66" charset="0"/>
                <a:cs typeface="Calibri" panose="020F0502020204030204"/>
              </a:rPr>
              <a:t>a </a:t>
            </a:r>
            <a:r>
              <a:rPr sz="2940" spc="-5" dirty="0">
                <a:solidFill>
                  <a:srgbClr val="0000FF"/>
                </a:solidFill>
                <a:latin typeface="Comic Sans MS" panose="030F0702030302020204" pitchFamily="66" charset="0"/>
                <a:cs typeface="Calibri" panose="020F0502020204030204"/>
              </a:rPr>
              <a:t> </a:t>
            </a:r>
            <a:r>
              <a:rPr sz="2940" b="1" spc="-5" dirty="0">
                <a:solidFill>
                  <a:srgbClr val="0000FF"/>
                </a:solidFill>
                <a:latin typeface="Comic Sans MS" panose="030F0702030302020204" pitchFamily="66" charset="0"/>
                <a:cs typeface="Calibri" panose="020F0502020204030204"/>
              </a:rPr>
              <a:t>barrier</a:t>
            </a:r>
            <a:r>
              <a:rPr sz="2940" spc="-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50"/>
              </a:spcBef>
              <a:buClr>
                <a:srgbClr val="FF0000"/>
              </a:buClr>
              <a:buFont typeface="Arial" panose="020B0604020202020204"/>
              <a:buChar char="•"/>
            </a:pPr>
            <a:endParaRPr sz="3465" dirty="0">
              <a:latin typeface="Comic Sans MS" panose="030F0702030302020204" pitchFamily="66" charset="0"/>
              <a:cs typeface="Calibri" panose="020F0502020204030204"/>
            </a:endParaRPr>
          </a:p>
          <a:p>
            <a:pPr marL="241300" marR="5080" indent="-228600">
              <a:lnSpc>
                <a:spcPts val="3020"/>
              </a:lnSpc>
              <a:buFont typeface="Arial" panose="020B0604020202020204"/>
              <a:buChar char="•"/>
              <a:tabLst>
                <a:tab pos="241300" algn="l"/>
              </a:tabLst>
            </a:pPr>
            <a:r>
              <a:rPr sz="2940" spc="-5" dirty="0">
                <a:solidFill>
                  <a:srgbClr val="FF0000"/>
                </a:solidFill>
                <a:latin typeface="Comic Sans MS" panose="030F0702030302020204" pitchFamily="66" charset="0"/>
                <a:cs typeface="Calibri" panose="020F0502020204030204"/>
              </a:rPr>
              <a:t>No </a:t>
            </a:r>
            <a:r>
              <a:rPr sz="2940" spc="-10" dirty="0">
                <a:solidFill>
                  <a:srgbClr val="FF0000"/>
                </a:solidFill>
                <a:latin typeface="Comic Sans MS" panose="030F0702030302020204" pitchFamily="66" charset="0"/>
                <a:cs typeface="Calibri" panose="020F0502020204030204"/>
              </a:rPr>
              <a:t>thread can </a:t>
            </a:r>
            <a:r>
              <a:rPr sz="2940" spc="-15" dirty="0">
                <a:solidFill>
                  <a:srgbClr val="FF0000"/>
                </a:solidFill>
                <a:latin typeface="Comic Sans MS" panose="030F0702030302020204" pitchFamily="66" charset="0"/>
                <a:cs typeface="Calibri" panose="020F0502020204030204"/>
              </a:rPr>
              <a:t>cross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barrier until </a:t>
            </a:r>
            <a:r>
              <a:rPr sz="2940" spc="-5" dirty="0">
                <a:latin typeface="Comic Sans MS" panose="030F0702030302020204" pitchFamily="66" charset="0"/>
                <a:cs typeface="Calibri" panose="020F0502020204030204"/>
              </a:rPr>
              <a:t>all the </a:t>
            </a:r>
            <a:r>
              <a:rPr sz="2940" spc="-10" dirty="0">
                <a:latin typeface="Comic Sans MS" panose="030F0702030302020204" pitchFamily="66" charset="0"/>
                <a:cs typeface="Calibri" panose="020F0502020204030204"/>
              </a:rPr>
              <a:t>threads  </a:t>
            </a:r>
            <a:r>
              <a:rPr sz="2940" spc="-25" dirty="0">
                <a:latin typeface="Comic Sans MS" panose="030F0702030302020204" pitchFamily="66" charset="0"/>
                <a:cs typeface="Calibri" panose="020F0502020204030204"/>
              </a:rPr>
              <a:t>have </a:t>
            </a:r>
            <a:r>
              <a:rPr sz="2940" spc="-10" dirty="0">
                <a:latin typeface="Comic Sans MS" panose="030F0702030302020204" pitchFamily="66" charset="0"/>
                <a:cs typeface="Calibri" panose="020F0502020204030204"/>
              </a:rPr>
              <a:t>reached</a:t>
            </a:r>
            <a:r>
              <a:rPr sz="2940" spc="3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it.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4225" y="216059"/>
            <a:ext cx="10762906" cy="1311910"/>
          </a:xfrm>
          <a:prstGeom prst="rect">
            <a:avLst/>
          </a:prstGeom>
        </p:spPr>
        <p:txBody>
          <a:bodyPr vert="horz" wrap="square" lIns="0" tIns="94011" rIns="0" bIns="0" rtlCol="0">
            <a:spAutoFit/>
          </a:bodyPr>
          <a:lstStyle/>
          <a:p>
            <a:pPr marL="12700" marR="5080">
              <a:lnSpc>
                <a:spcPts val="4750"/>
              </a:lnSpc>
              <a:spcBef>
                <a:spcPts val="705"/>
              </a:spcBef>
            </a:pPr>
            <a:r>
              <a:rPr sz="4620" dirty="0"/>
              <a:t>Using </a:t>
            </a:r>
            <a:r>
              <a:rPr sz="4620" spc="-10" dirty="0"/>
              <a:t>barriers </a:t>
            </a:r>
            <a:r>
              <a:rPr sz="4620" spc="-20" dirty="0"/>
              <a:t>to </a:t>
            </a:r>
            <a:r>
              <a:rPr sz="4620" dirty="0"/>
              <a:t>time </a:t>
            </a:r>
            <a:r>
              <a:rPr sz="4620" spc="5" dirty="0"/>
              <a:t>the</a:t>
            </a:r>
            <a:r>
              <a:rPr sz="4620" spc="-70" dirty="0"/>
              <a:t> </a:t>
            </a:r>
            <a:r>
              <a:rPr sz="4620" spc="-20" dirty="0"/>
              <a:t>slowest  </a:t>
            </a:r>
            <a:r>
              <a:rPr sz="4620" spc="-10" dirty="0"/>
              <a:t>thread</a:t>
            </a:r>
            <a:endParaRPr sz="4620"/>
          </a:p>
        </p:txBody>
      </p:sp>
      <p:sp>
        <p:nvSpPr>
          <p:cNvPr id="3" name="object 3"/>
          <p:cNvSpPr/>
          <p:nvPr/>
        </p:nvSpPr>
        <p:spPr>
          <a:xfrm>
            <a:off x="2812464" y="1879331"/>
            <a:ext cx="6790228" cy="3867883"/>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794203" y="5930754"/>
            <a:ext cx="6464747" cy="920027"/>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2645930" y="3938892"/>
            <a:ext cx="7116223" cy="2995708"/>
          </a:xfrm>
          <a:custGeom>
            <a:avLst/>
            <a:gdLst/>
            <a:ahLst/>
            <a:cxnLst/>
            <a:rect l="l" t="t" r="r" b="b"/>
            <a:pathLst>
              <a:path w="6777355" h="2853054">
                <a:moveTo>
                  <a:pt x="0" y="475488"/>
                </a:moveTo>
                <a:lnTo>
                  <a:pt x="2454" y="426866"/>
                </a:lnTo>
                <a:lnTo>
                  <a:pt x="9660" y="379651"/>
                </a:lnTo>
                <a:lnTo>
                  <a:pt x="21377" y="334080"/>
                </a:lnTo>
                <a:lnTo>
                  <a:pt x="37367" y="290393"/>
                </a:lnTo>
                <a:lnTo>
                  <a:pt x="57390" y="248828"/>
                </a:lnTo>
                <a:lnTo>
                  <a:pt x="81207" y="209624"/>
                </a:lnTo>
                <a:lnTo>
                  <a:pt x="108580" y="173020"/>
                </a:lnTo>
                <a:lnTo>
                  <a:pt x="139269" y="139255"/>
                </a:lnTo>
                <a:lnTo>
                  <a:pt x="173036" y="108568"/>
                </a:lnTo>
                <a:lnTo>
                  <a:pt x="209641" y="81197"/>
                </a:lnTo>
                <a:lnTo>
                  <a:pt x="248845" y="57382"/>
                </a:lnTo>
                <a:lnTo>
                  <a:pt x="290409" y="37361"/>
                </a:lnTo>
                <a:lnTo>
                  <a:pt x="334094" y="21374"/>
                </a:lnTo>
                <a:lnTo>
                  <a:pt x="379662" y="9658"/>
                </a:lnTo>
                <a:lnTo>
                  <a:pt x="426873" y="2454"/>
                </a:lnTo>
                <a:lnTo>
                  <a:pt x="475488" y="0"/>
                </a:lnTo>
                <a:lnTo>
                  <a:pt x="6301740" y="0"/>
                </a:lnTo>
                <a:lnTo>
                  <a:pt x="6350361" y="2454"/>
                </a:lnTo>
                <a:lnTo>
                  <a:pt x="6397576" y="9658"/>
                </a:lnTo>
                <a:lnTo>
                  <a:pt x="6443147" y="21374"/>
                </a:lnTo>
                <a:lnTo>
                  <a:pt x="6486834" y="37361"/>
                </a:lnTo>
                <a:lnTo>
                  <a:pt x="6528399" y="57382"/>
                </a:lnTo>
                <a:lnTo>
                  <a:pt x="6567603" y="81197"/>
                </a:lnTo>
                <a:lnTo>
                  <a:pt x="6604207" y="108568"/>
                </a:lnTo>
                <a:lnTo>
                  <a:pt x="6637972" y="139255"/>
                </a:lnTo>
                <a:lnTo>
                  <a:pt x="6668659" y="173020"/>
                </a:lnTo>
                <a:lnTo>
                  <a:pt x="6696030" y="209624"/>
                </a:lnTo>
                <a:lnTo>
                  <a:pt x="6719845" y="248828"/>
                </a:lnTo>
                <a:lnTo>
                  <a:pt x="6739866" y="290393"/>
                </a:lnTo>
                <a:lnTo>
                  <a:pt x="6755853" y="334080"/>
                </a:lnTo>
                <a:lnTo>
                  <a:pt x="6767569" y="379651"/>
                </a:lnTo>
                <a:lnTo>
                  <a:pt x="6774773" y="426866"/>
                </a:lnTo>
                <a:lnTo>
                  <a:pt x="6777228" y="475488"/>
                </a:lnTo>
                <a:lnTo>
                  <a:pt x="6777228" y="2377427"/>
                </a:lnTo>
                <a:lnTo>
                  <a:pt x="6774773" y="2426044"/>
                </a:lnTo>
                <a:lnTo>
                  <a:pt x="6767569" y="2473256"/>
                </a:lnTo>
                <a:lnTo>
                  <a:pt x="6755853" y="2518826"/>
                </a:lnTo>
                <a:lnTo>
                  <a:pt x="6739866" y="2562513"/>
                </a:lnTo>
                <a:lnTo>
                  <a:pt x="6719845" y="2604078"/>
                </a:lnTo>
                <a:lnTo>
                  <a:pt x="6696030" y="2643283"/>
                </a:lnTo>
                <a:lnTo>
                  <a:pt x="6668659" y="2679889"/>
                </a:lnTo>
                <a:lnTo>
                  <a:pt x="6637972" y="2713656"/>
                </a:lnTo>
                <a:lnTo>
                  <a:pt x="6604207" y="2744346"/>
                </a:lnTo>
                <a:lnTo>
                  <a:pt x="6567603" y="2771719"/>
                </a:lnTo>
                <a:lnTo>
                  <a:pt x="6528399" y="2795537"/>
                </a:lnTo>
                <a:lnTo>
                  <a:pt x="6486834" y="2815560"/>
                </a:lnTo>
                <a:lnTo>
                  <a:pt x="6443147" y="2831550"/>
                </a:lnTo>
                <a:lnTo>
                  <a:pt x="6397576" y="2843267"/>
                </a:lnTo>
                <a:lnTo>
                  <a:pt x="6350361" y="2850473"/>
                </a:lnTo>
                <a:lnTo>
                  <a:pt x="6301740" y="2852928"/>
                </a:lnTo>
                <a:lnTo>
                  <a:pt x="475488" y="2852928"/>
                </a:lnTo>
                <a:lnTo>
                  <a:pt x="426873" y="2850473"/>
                </a:lnTo>
                <a:lnTo>
                  <a:pt x="379662" y="2843267"/>
                </a:lnTo>
                <a:lnTo>
                  <a:pt x="334094" y="2831550"/>
                </a:lnTo>
                <a:lnTo>
                  <a:pt x="290409" y="2815560"/>
                </a:lnTo>
                <a:lnTo>
                  <a:pt x="248845" y="2795537"/>
                </a:lnTo>
                <a:lnTo>
                  <a:pt x="209641" y="2771719"/>
                </a:lnTo>
                <a:lnTo>
                  <a:pt x="173036" y="2744346"/>
                </a:lnTo>
                <a:lnTo>
                  <a:pt x="139269" y="2713656"/>
                </a:lnTo>
                <a:lnTo>
                  <a:pt x="108580" y="2679889"/>
                </a:lnTo>
                <a:lnTo>
                  <a:pt x="81207" y="2643283"/>
                </a:lnTo>
                <a:lnTo>
                  <a:pt x="57390" y="2604078"/>
                </a:lnTo>
                <a:lnTo>
                  <a:pt x="37367" y="2562513"/>
                </a:lnTo>
                <a:lnTo>
                  <a:pt x="21377" y="2518826"/>
                </a:lnTo>
                <a:lnTo>
                  <a:pt x="9660" y="2473256"/>
                </a:lnTo>
                <a:lnTo>
                  <a:pt x="2454" y="2426044"/>
                </a:lnTo>
                <a:lnTo>
                  <a:pt x="0" y="2377427"/>
                </a:lnTo>
                <a:lnTo>
                  <a:pt x="0" y="475488"/>
                </a:lnTo>
                <a:close/>
              </a:path>
            </a:pathLst>
          </a:custGeom>
          <a:ln w="25908">
            <a:solidFill>
              <a:srgbClr val="FF0000"/>
            </a:solidFill>
          </a:ln>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55</a:t>
            </a:fld>
            <a:endParaRPr sz="1575"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Using </a:t>
            </a:r>
            <a:r>
              <a:rPr sz="4620" spc="-10" dirty="0"/>
              <a:t>barriers </a:t>
            </a:r>
            <a:r>
              <a:rPr sz="4620" spc="-40" dirty="0"/>
              <a:t>for</a:t>
            </a:r>
            <a:r>
              <a:rPr sz="4620" spc="-70" dirty="0"/>
              <a:t> </a:t>
            </a:r>
            <a:r>
              <a:rPr sz="4620" spc="5" dirty="0"/>
              <a:t>debugging</a:t>
            </a:r>
            <a:endParaRPr sz="4620"/>
          </a:p>
        </p:txBody>
      </p:sp>
      <p:sp>
        <p:nvSpPr>
          <p:cNvPr id="3" name="object 3"/>
          <p:cNvSpPr/>
          <p:nvPr/>
        </p:nvSpPr>
        <p:spPr>
          <a:xfrm>
            <a:off x="2436016" y="1958004"/>
            <a:ext cx="7929566" cy="2058176"/>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7384922" y="3448431"/>
            <a:ext cx="2797149" cy="2798750"/>
          </a:xfrm>
          <a:prstGeom prst="rect">
            <a:avLst/>
          </a:prstGeom>
          <a:blipFill>
            <a:blip r:embed="rId3" cstate="print"/>
            <a:stretch>
              <a:fillRect/>
            </a:stretch>
          </a:blipFill>
        </p:spPr>
        <p:txBody>
          <a:bodyPr wrap="square" lIns="0" tIns="0" rIns="0" bIns="0" rtlCol="0"/>
          <a:lstStyle/>
          <a:p>
            <a:endParaRPr sz="2310"/>
          </a:p>
        </p:txBody>
      </p:sp>
      <p:sp>
        <p:nvSpPr>
          <p:cNvPr id="5" name="object 5"/>
          <p:cNvSpPr/>
          <p:nvPr/>
        </p:nvSpPr>
        <p:spPr>
          <a:xfrm>
            <a:off x="2436305" y="2572320"/>
            <a:ext cx="1136809" cy="0"/>
          </a:xfrm>
          <a:custGeom>
            <a:avLst/>
            <a:gdLst/>
            <a:ahLst/>
            <a:cxnLst/>
            <a:rect l="l" t="t" r="r" b="b"/>
            <a:pathLst>
              <a:path w="1082675">
                <a:moveTo>
                  <a:pt x="0" y="0"/>
                </a:moveTo>
                <a:lnTo>
                  <a:pt x="1082167" y="0"/>
                </a:lnTo>
              </a:path>
            </a:pathLst>
          </a:custGeom>
          <a:ln w="32004">
            <a:solidFill>
              <a:srgbClr val="FF0000"/>
            </a:solidFill>
          </a:ln>
        </p:spPr>
        <p:txBody>
          <a:bodyPr wrap="square" lIns="0" tIns="0" rIns="0" bIns="0" rtlCol="0"/>
          <a:lstStyle/>
          <a:p>
            <a:endParaRPr sz="2310"/>
          </a:p>
        </p:txBody>
      </p:sp>
      <p:sp>
        <p:nvSpPr>
          <p:cNvPr id="6" name="object 6"/>
          <p:cNvSpPr/>
          <p:nvPr/>
        </p:nvSpPr>
        <p:spPr>
          <a:xfrm>
            <a:off x="2945168" y="3686061"/>
            <a:ext cx="2410968" cy="0"/>
          </a:xfrm>
          <a:custGeom>
            <a:avLst/>
            <a:gdLst/>
            <a:ahLst/>
            <a:cxnLst/>
            <a:rect l="l" t="t" r="r" b="b"/>
            <a:pathLst>
              <a:path w="2296160">
                <a:moveTo>
                  <a:pt x="0" y="0"/>
                </a:moveTo>
                <a:lnTo>
                  <a:pt x="2295905" y="0"/>
                </a:lnTo>
              </a:path>
            </a:pathLst>
          </a:custGeom>
          <a:ln w="32004">
            <a:solidFill>
              <a:srgbClr val="FF0000"/>
            </a:solidFill>
          </a:ln>
        </p:spPr>
        <p:txBody>
          <a:bodyPr wrap="square" lIns="0" tIns="0" rIns="0" bIns="0" rtlCol="0"/>
          <a:lstStyle/>
          <a:p>
            <a:endParaRPr sz="2310"/>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56</a:t>
            </a:fld>
            <a:endParaRPr sz="1575" dirty="0"/>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5" dirty="0"/>
              <a:t>Busy-waiting </a:t>
            </a:r>
            <a:r>
              <a:rPr sz="4620" dirty="0"/>
              <a:t>and a</a:t>
            </a:r>
            <a:r>
              <a:rPr sz="4620" spc="-35" dirty="0"/>
              <a:t> </a:t>
            </a:r>
            <a:r>
              <a:rPr sz="4620" spc="-20" dirty="0"/>
              <a:t>Mutex</a:t>
            </a:r>
            <a:endParaRPr sz="4620" dirty="0"/>
          </a:p>
        </p:txBody>
      </p:sp>
      <p:sp>
        <p:nvSpPr>
          <p:cNvPr id="3" name="object 3"/>
          <p:cNvSpPr txBox="1"/>
          <p:nvPr/>
        </p:nvSpPr>
        <p:spPr>
          <a:xfrm>
            <a:off x="2343119" y="1883168"/>
            <a:ext cx="8954225" cy="3724865"/>
          </a:xfrm>
          <a:prstGeom prst="rect">
            <a:avLst/>
          </a:prstGeom>
        </p:spPr>
        <p:txBody>
          <a:bodyPr vert="horz" wrap="square" lIns="0" tIns="64007" rIns="0" bIns="0" rtlCol="0">
            <a:spAutoFit/>
          </a:bodyPr>
          <a:lstStyle/>
          <a:p>
            <a:pPr marL="241300" marR="198120" indent="-228600">
              <a:lnSpc>
                <a:spcPts val="3020"/>
              </a:lnSpc>
              <a:spcBef>
                <a:spcPts val="480"/>
              </a:spcBef>
              <a:buFont typeface="Arial" panose="020B0604020202020204"/>
              <a:buChar char="•"/>
              <a:tabLst>
                <a:tab pos="241300" algn="l"/>
              </a:tabLst>
            </a:pPr>
            <a:r>
              <a:rPr sz="2940" spc="-10" dirty="0">
                <a:latin typeface="Comic Sans MS" panose="030F0702030302020204" pitchFamily="66" charset="0"/>
                <a:cs typeface="Calibri" panose="020F0502020204030204"/>
              </a:rPr>
              <a:t>Implementing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barrier using </a:t>
            </a:r>
            <a:r>
              <a:rPr sz="2940" spc="-15" dirty="0">
                <a:solidFill>
                  <a:srgbClr val="0000FF"/>
                </a:solidFill>
                <a:latin typeface="Comic Sans MS" panose="030F0702030302020204" pitchFamily="66" charset="0"/>
                <a:cs typeface="Calibri" panose="020F0502020204030204"/>
              </a:rPr>
              <a:t>busy-waiting </a:t>
            </a:r>
            <a:r>
              <a:rPr sz="2940" spc="-5" dirty="0">
                <a:latin typeface="Comic Sans MS" panose="030F0702030302020204" pitchFamily="66" charset="0"/>
                <a:cs typeface="Calibri" panose="020F0502020204030204"/>
              </a:rPr>
              <a:t>and a </a:t>
            </a:r>
            <a:r>
              <a:rPr sz="2940" spc="-5" dirty="0">
                <a:solidFill>
                  <a:srgbClr val="0000FF"/>
                </a:solidFill>
                <a:latin typeface="Comic Sans MS" panose="030F0702030302020204" pitchFamily="66" charset="0"/>
                <a:cs typeface="Calibri" panose="020F0502020204030204"/>
              </a:rPr>
              <a:t> </a:t>
            </a:r>
            <a:r>
              <a:rPr sz="2940" spc="-20" dirty="0">
                <a:solidFill>
                  <a:srgbClr val="0000FF"/>
                </a:solidFill>
                <a:latin typeface="Comic Sans MS" panose="030F0702030302020204" pitchFamily="66" charset="0"/>
                <a:cs typeface="Calibri" panose="020F0502020204030204"/>
              </a:rPr>
              <a:t>mutex </a:t>
            </a:r>
            <a:r>
              <a:rPr sz="2940" spc="-5" dirty="0">
                <a:latin typeface="Comic Sans MS" panose="030F0702030302020204" pitchFamily="66" charset="0"/>
                <a:cs typeface="Calibri" panose="020F0502020204030204"/>
              </a:rPr>
              <a:t>is</a:t>
            </a:r>
            <a:r>
              <a:rPr sz="2940" spc="30"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straightforward.</a:t>
            </a:r>
            <a:endParaRPr sz="2940">
              <a:latin typeface="Comic Sans MS" panose="030F0702030302020204" pitchFamily="66" charset="0"/>
              <a:cs typeface="Calibri" panose="020F0502020204030204"/>
            </a:endParaRPr>
          </a:p>
          <a:p>
            <a:pPr>
              <a:lnSpc>
                <a:spcPct val="100000"/>
              </a:lnSpc>
              <a:spcBef>
                <a:spcPts val="15"/>
              </a:spcBef>
              <a:buFont typeface="Arial" panose="020B0604020202020204"/>
              <a:buChar char="•"/>
            </a:pPr>
            <a:endParaRPr sz="399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sz="2940" spc="-65" dirty="0">
                <a:latin typeface="Comic Sans MS" panose="030F0702030302020204" pitchFamily="66" charset="0"/>
                <a:cs typeface="Calibri" panose="020F0502020204030204"/>
              </a:rPr>
              <a:t>We </a:t>
            </a:r>
            <a:r>
              <a:rPr sz="2940" spc="-10" dirty="0">
                <a:latin typeface="Comic Sans MS" panose="030F0702030302020204" pitchFamily="66" charset="0"/>
                <a:cs typeface="Calibri" panose="020F0502020204030204"/>
              </a:rPr>
              <a:t>use </a:t>
            </a:r>
            <a:r>
              <a:rPr sz="2940" spc="-5" dirty="0">
                <a:latin typeface="Comic Sans MS" panose="030F0702030302020204" pitchFamily="66" charset="0"/>
                <a:cs typeface="Calibri" panose="020F0502020204030204"/>
              </a:rPr>
              <a:t>a </a:t>
            </a:r>
            <a:r>
              <a:rPr sz="2940" spc="-15" dirty="0">
                <a:solidFill>
                  <a:srgbClr val="FF0000"/>
                </a:solidFill>
                <a:latin typeface="Comic Sans MS" panose="030F0702030302020204" pitchFamily="66" charset="0"/>
                <a:cs typeface="Calibri" panose="020F0502020204030204"/>
              </a:rPr>
              <a:t>shared counter </a:t>
            </a:r>
            <a:r>
              <a:rPr sz="2940" spc="-15" dirty="0">
                <a:latin typeface="Comic Sans MS" panose="030F0702030302020204" pitchFamily="66" charset="0"/>
                <a:cs typeface="Calibri" panose="020F0502020204030204"/>
              </a:rPr>
              <a:t>protected by </a:t>
            </a:r>
            <a:r>
              <a:rPr sz="2940" spc="-5" dirty="0">
                <a:latin typeface="Comic Sans MS" panose="030F0702030302020204" pitchFamily="66" charset="0"/>
                <a:cs typeface="Calibri" panose="020F0502020204030204"/>
              </a:rPr>
              <a:t>the</a:t>
            </a:r>
            <a:r>
              <a:rPr sz="2940" spc="200"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mutex.</a:t>
            </a:r>
            <a:endParaRPr sz="2940">
              <a:latin typeface="Comic Sans MS" panose="030F0702030302020204" pitchFamily="66" charset="0"/>
              <a:cs typeface="Calibri" panose="020F0502020204030204"/>
            </a:endParaRPr>
          </a:p>
          <a:p>
            <a:pPr>
              <a:lnSpc>
                <a:spcPct val="100000"/>
              </a:lnSpc>
              <a:spcBef>
                <a:spcPts val="10"/>
              </a:spcBef>
              <a:buFont typeface="Arial" panose="020B0604020202020204"/>
              <a:buChar char="•"/>
            </a:pPr>
            <a:endParaRPr sz="4355">
              <a:latin typeface="Comic Sans MS" panose="030F0702030302020204" pitchFamily="66" charset="0"/>
              <a:cs typeface="Calibri" panose="020F0502020204030204"/>
            </a:endParaRPr>
          </a:p>
          <a:p>
            <a:pPr marL="241300" marR="5080" indent="-228600" algn="just">
              <a:lnSpc>
                <a:spcPts val="3020"/>
              </a:lnSpc>
              <a:buFont typeface="Arial" panose="020B0604020202020204"/>
              <a:buChar char="•"/>
              <a:tabLst>
                <a:tab pos="241300" algn="l"/>
              </a:tabLst>
            </a:pPr>
            <a:r>
              <a:rPr sz="2940" spc="-5" dirty="0">
                <a:latin typeface="Comic Sans MS" panose="030F0702030302020204" pitchFamily="66" charset="0"/>
                <a:cs typeface="Calibri" panose="020F0502020204030204"/>
              </a:rPr>
              <a:t>When the </a:t>
            </a:r>
            <a:r>
              <a:rPr sz="2940" spc="-15" dirty="0">
                <a:solidFill>
                  <a:srgbClr val="FF0000"/>
                </a:solidFill>
                <a:latin typeface="Comic Sans MS" panose="030F0702030302020204" pitchFamily="66" charset="0"/>
                <a:cs typeface="Calibri" panose="020F0502020204030204"/>
              </a:rPr>
              <a:t>counter </a:t>
            </a:r>
            <a:r>
              <a:rPr sz="2940" spc="-15" dirty="0">
                <a:latin typeface="Comic Sans MS" panose="030F0702030302020204" pitchFamily="66" charset="0"/>
                <a:cs typeface="Calibri" panose="020F0502020204030204"/>
              </a:rPr>
              <a:t>indicates </a:t>
            </a:r>
            <a:r>
              <a:rPr sz="2940" spc="-10" dirty="0">
                <a:latin typeface="Comic Sans MS" panose="030F0702030302020204" pitchFamily="66" charset="0"/>
                <a:cs typeface="Calibri" panose="020F0502020204030204"/>
              </a:rPr>
              <a:t>that </a:t>
            </a:r>
            <a:r>
              <a:rPr sz="2940" spc="-10" dirty="0">
                <a:solidFill>
                  <a:srgbClr val="FF0000"/>
                </a:solidFill>
                <a:latin typeface="Comic Sans MS" panose="030F0702030302020204" pitchFamily="66" charset="0"/>
                <a:cs typeface="Calibri" panose="020F0502020204030204"/>
              </a:rPr>
              <a:t>every thread has  </a:t>
            </a:r>
            <a:r>
              <a:rPr sz="2940" spc="-20" dirty="0">
                <a:solidFill>
                  <a:srgbClr val="FF0000"/>
                </a:solidFill>
                <a:latin typeface="Comic Sans MS" panose="030F0702030302020204" pitchFamily="66" charset="0"/>
                <a:cs typeface="Calibri" panose="020F0502020204030204"/>
              </a:rPr>
              <a:t>entered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critical section, threads can </a:t>
            </a:r>
            <a:r>
              <a:rPr sz="2940" spc="-20" dirty="0">
                <a:latin typeface="Comic Sans MS" panose="030F0702030302020204" pitchFamily="66" charset="0"/>
                <a:cs typeface="Calibri" panose="020F0502020204030204"/>
              </a:rPr>
              <a:t>leave </a:t>
            </a:r>
            <a:r>
              <a:rPr sz="2940" spc="-10" dirty="0">
                <a:latin typeface="Comic Sans MS" panose="030F0702030302020204" pitchFamily="66" charset="0"/>
                <a:cs typeface="Calibri" panose="020F0502020204030204"/>
              </a:rPr>
              <a:t>the  critical section.</a:t>
            </a:r>
            <a:endParaRPr sz="2940">
              <a:latin typeface="Comic Sans MS" panose="030F0702030302020204" pitchFamily="66" charset="0"/>
              <a:cs typeface="Calibri" panose="020F0502020204030204"/>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6204"/>
            <a:ext cx="10762906" cy="722630"/>
          </a:xfrm>
          <a:prstGeom prst="rect">
            <a:avLst/>
          </a:prstGeom>
        </p:spPr>
        <p:txBody>
          <a:bodyPr vert="horz" wrap="square" lIns="0" tIns="13334" rIns="0" bIns="0" rtlCol="0">
            <a:spAutoFit/>
          </a:bodyPr>
          <a:lstStyle/>
          <a:p>
            <a:pPr marL="12700">
              <a:lnSpc>
                <a:spcPct val="100000"/>
              </a:lnSpc>
              <a:spcBef>
                <a:spcPts val="100"/>
              </a:spcBef>
            </a:pPr>
            <a:r>
              <a:rPr sz="4620" spc="-15" dirty="0"/>
              <a:t>Busy-waiting </a:t>
            </a:r>
            <a:r>
              <a:rPr sz="4620" dirty="0"/>
              <a:t>and a</a:t>
            </a:r>
            <a:r>
              <a:rPr sz="4620" spc="-30" dirty="0"/>
              <a:t> </a:t>
            </a:r>
            <a:r>
              <a:rPr sz="4620" spc="-20" dirty="0"/>
              <a:t>Mutex</a:t>
            </a:r>
            <a:endParaRPr sz="4620" dirty="0"/>
          </a:p>
        </p:txBody>
      </p:sp>
      <p:sp>
        <p:nvSpPr>
          <p:cNvPr id="3" name="object 3"/>
          <p:cNvSpPr/>
          <p:nvPr/>
        </p:nvSpPr>
        <p:spPr>
          <a:xfrm>
            <a:off x="2371842" y="1739864"/>
            <a:ext cx="7655798" cy="4992989"/>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7564279" y="2646224"/>
            <a:ext cx="3373755" cy="1575435"/>
          </a:xfrm>
          <a:prstGeom prst="rect">
            <a:avLst/>
          </a:prstGeom>
        </p:spPr>
        <p:txBody>
          <a:bodyPr vert="horz" wrap="square" lIns="0" tIns="13334" rIns="0" bIns="0" rtlCol="0">
            <a:spAutoFit/>
          </a:bodyPr>
          <a:lstStyle/>
          <a:p>
            <a:pPr marL="12700" marR="5080">
              <a:lnSpc>
                <a:spcPct val="120000"/>
              </a:lnSpc>
              <a:spcBef>
                <a:spcPts val="100"/>
              </a:spcBef>
            </a:pPr>
            <a:r>
              <a:rPr sz="2310" spc="-50" dirty="0">
                <a:solidFill>
                  <a:srgbClr val="FF0000"/>
                </a:solidFill>
                <a:latin typeface="Calibri" panose="020F0502020204030204"/>
                <a:cs typeface="Calibri" panose="020F0502020204030204"/>
              </a:rPr>
              <a:t>We </a:t>
            </a:r>
            <a:r>
              <a:rPr sz="2310" spc="-10" dirty="0">
                <a:solidFill>
                  <a:srgbClr val="FF0000"/>
                </a:solidFill>
                <a:latin typeface="Calibri" panose="020F0502020204030204"/>
                <a:cs typeface="Calibri" panose="020F0502020204030204"/>
              </a:rPr>
              <a:t>need </a:t>
            </a:r>
            <a:r>
              <a:rPr sz="2310" spc="-5" dirty="0">
                <a:solidFill>
                  <a:srgbClr val="FF0000"/>
                </a:solidFill>
                <a:latin typeface="Calibri" panose="020F0502020204030204"/>
                <a:cs typeface="Calibri" panose="020F0502020204030204"/>
              </a:rPr>
              <a:t>one </a:t>
            </a:r>
            <a:r>
              <a:rPr sz="2310" spc="-15" dirty="0">
                <a:solidFill>
                  <a:srgbClr val="FF0000"/>
                </a:solidFill>
                <a:latin typeface="Calibri" panose="020F0502020204030204"/>
                <a:cs typeface="Calibri" panose="020F0502020204030204"/>
              </a:rPr>
              <a:t>counter  </a:t>
            </a:r>
            <a:r>
              <a:rPr sz="2310" spc="-10" dirty="0">
                <a:solidFill>
                  <a:srgbClr val="FF0000"/>
                </a:solidFill>
                <a:latin typeface="Calibri" panose="020F0502020204030204"/>
                <a:cs typeface="Calibri" panose="020F0502020204030204"/>
              </a:rPr>
              <a:t>variable </a:t>
            </a:r>
            <a:r>
              <a:rPr sz="2310" spc="-20" dirty="0">
                <a:solidFill>
                  <a:srgbClr val="FF0000"/>
                </a:solidFill>
                <a:latin typeface="Calibri" panose="020F0502020204030204"/>
                <a:cs typeface="Calibri" panose="020F0502020204030204"/>
              </a:rPr>
              <a:t>for </a:t>
            </a:r>
            <a:r>
              <a:rPr sz="2310" spc="-5" dirty="0">
                <a:solidFill>
                  <a:srgbClr val="FF0000"/>
                </a:solidFill>
                <a:latin typeface="Calibri" panose="020F0502020204030204"/>
                <a:cs typeface="Calibri" panose="020F0502020204030204"/>
              </a:rPr>
              <a:t>each </a:t>
            </a:r>
            <a:r>
              <a:rPr sz="2310" spc="-10" dirty="0">
                <a:solidFill>
                  <a:srgbClr val="FF0000"/>
                </a:solidFill>
                <a:latin typeface="Calibri" panose="020F0502020204030204"/>
                <a:cs typeface="Calibri" panose="020F0502020204030204"/>
              </a:rPr>
              <a:t>instance</a:t>
            </a:r>
            <a:r>
              <a:rPr sz="2310" spc="-35" dirty="0">
                <a:solidFill>
                  <a:srgbClr val="FF0000"/>
                </a:solidFill>
                <a:latin typeface="Calibri" panose="020F0502020204030204"/>
                <a:cs typeface="Calibri" panose="020F0502020204030204"/>
              </a:rPr>
              <a:t> </a:t>
            </a:r>
            <a:r>
              <a:rPr sz="2310" spc="-5" dirty="0">
                <a:solidFill>
                  <a:srgbClr val="FF0000"/>
                </a:solidFill>
                <a:latin typeface="Calibri" panose="020F0502020204030204"/>
                <a:cs typeface="Calibri" panose="020F0502020204030204"/>
              </a:rPr>
              <a:t>of</a:t>
            </a:r>
            <a:endParaRPr sz="2310">
              <a:latin typeface="Calibri" panose="020F0502020204030204"/>
              <a:cs typeface="Calibri" panose="020F0502020204030204"/>
            </a:endParaRPr>
          </a:p>
          <a:p>
            <a:pPr marL="12700" marR="22860">
              <a:lnSpc>
                <a:spcPct val="100000"/>
              </a:lnSpc>
            </a:pPr>
            <a:r>
              <a:rPr sz="2310" spc="-5" dirty="0">
                <a:solidFill>
                  <a:srgbClr val="FF0000"/>
                </a:solidFill>
                <a:latin typeface="Calibri" panose="020F0502020204030204"/>
                <a:cs typeface="Calibri" panose="020F0502020204030204"/>
              </a:rPr>
              <a:t>the </a:t>
            </a:r>
            <a:r>
              <a:rPr sz="2310" spc="-30" dirty="0">
                <a:solidFill>
                  <a:srgbClr val="FF0000"/>
                </a:solidFill>
                <a:latin typeface="Calibri" panose="020F0502020204030204"/>
                <a:cs typeface="Calibri" panose="020F0502020204030204"/>
              </a:rPr>
              <a:t>barrier, </a:t>
            </a:r>
            <a:r>
              <a:rPr sz="2310" spc="-5" dirty="0">
                <a:solidFill>
                  <a:srgbClr val="FF0000"/>
                </a:solidFill>
                <a:latin typeface="Calibri" panose="020F0502020204030204"/>
                <a:cs typeface="Calibri" panose="020F0502020204030204"/>
              </a:rPr>
              <a:t>otherwise  </a:t>
            </a:r>
            <a:r>
              <a:rPr sz="2310" spc="-10" dirty="0">
                <a:solidFill>
                  <a:srgbClr val="FF0000"/>
                </a:solidFill>
                <a:latin typeface="Calibri" panose="020F0502020204030204"/>
                <a:cs typeface="Calibri" panose="020F0502020204030204"/>
              </a:rPr>
              <a:t>problems are </a:t>
            </a:r>
            <a:r>
              <a:rPr sz="2310" spc="-20" dirty="0">
                <a:solidFill>
                  <a:srgbClr val="FF0000"/>
                </a:solidFill>
                <a:latin typeface="Calibri" panose="020F0502020204030204"/>
                <a:cs typeface="Calibri" panose="020F0502020204030204"/>
              </a:rPr>
              <a:t>likely </a:t>
            </a:r>
            <a:r>
              <a:rPr sz="2310" spc="-15" dirty="0">
                <a:solidFill>
                  <a:srgbClr val="FF0000"/>
                </a:solidFill>
                <a:latin typeface="Calibri" panose="020F0502020204030204"/>
                <a:cs typeface="Calibri" panose="020F0502020204030204"/>
              </a:rPr>
              <a:t>to</a:t>
            </a:r>
            <a:r>
              <a:rPr sz="2310" spc="-5" dirty="0">
                <a:solidFill>
                  <a:srgbClr val="FF0000"/>
                </a:solidFill>
                <a:latin typeface="Calibri" panose="020F0502020204030204"/>
                <a:cs typeface="Calibri" panose="020F0502020204030204"/>
              </a:rPr>
              <a:t> </a:t>
            </a:r>
            <a:r>
              <a:rPr sz="2310" spc="-45" dirty="0">
                <a:solidFill>
                  <a:srgbClr val="FF0000"/>
                </a:solidFill>
                <a:latin typeface="Calibri" panose="020F0502020204030204"/>
                <a:cs typeface="Calibri" panose="020F0502020204030204"/>
              </a:rPr>
              <a:t>occur.</a:t>
            </a:r>
            <a:endParaRPr sz="2310">
              <a:latin typeface="Calibri" panose="020F0502020204030204"/>
              <a:cs typeface="Calibri" panose="020F0502020204030204"/>
            </a:endParaRPr>
          </a:p>
        </p:txBody>
      </p:sp>
      <p:sp>
        <p:nvSpPr>
          <p:cNvPr id="5" name="object 5"/>
          <p:cNvSpPr/>
          <p:nvPr/>
        </p:nvSpPr>
        <p:spPr>
          <a:xfrm>
            <a:off x="8244229" y="2148669"/>
            <a:ext cx="1044131" cy="516731"/>
          </a:xfrm>
          <a:custGeom>
            <a:avLst/>
            <a:gdLst/>
            <a:ahLst/>
            <a:cxnLst/>
            <a:rect l="l" t="t" r="r" b="b"/>
            <a:pathLst>
              <a:path w="994409" h="492125">
                <a:moveTo>
                  <a:pt x="800639" y="24764"/>
                </a:moveTo>
                <a:lnTo>
                  <a:pt x="621792" y="24764"/>
                </a:lnTo>
                <a:lnTo>
                  <a:pt x="649097" y="25146"/>
                </a:lnTo>
                <a:lnTo>
                  <a:pt x="675512" y="26035"/>
                </a:lnTo>
                <a:lnTo>
                  <a:pt x="725804" y="28828"/>
                </a:lnTo>
                <a:lnTo>
                  <a:pt x="772032" y="33400"/>
                </a:lnTo>
                <a:lnTo>
                  <a:pt x="814324" y="40004"/>
                </a:lnTo>
                <a:lnTo>
                  <a:pt x="851788" y="48513"/>
                </a:lnTo>
                <a:lnTo>
                  <a:pt x="898778" y="65659"/>
                </a:lnTo>
                <a:lnTo>
                  <a:pt x="933957" y="87757"/>
                </a:lnTo>
                <a:lnTo>
                  <a:pt x="964565" y="124460"/>
                </a:lnTo>
                <a:lnTo>
                  <a:pt x="979297" y="168656"/>
                </a:lnTo>
                <a:lnTo>
                  <a:pt x="981709" y="206501"/>
                </a:lnTo>
                <a:lnTo>
                  <a:pt x="980948" y="219963"/>
                </a:lnTo>
                <a:lnTo>
                  <a:pt x="974851" y="262382"/>
                </a:lnTo>
                <a:lnTo>
                  <a:pt x="958850" y="323214"/>
                </a:lnTo>
                <a:lnTo>
                  <a:pt x="936117" y="387350"/>
                </a:lnTo>
                <a:lnTo>
                  <a:pt x="909447" y="453644"/>
                </a:lnTo>
                <a:lnTo>
                  <a:pt x="895476" y="487172"/>
                </a:lnTo>
                <a:lnTo>
                  <a:pt x="907160" y="491998"/>
                </a:lnTo>
                <a:lnTo>
                  <a:pt x="934974" y="424941"/>
                </a:lnTo>
                <a:lnTo>
                  <a:pt x="960247" y="359028"/>
                </a:lnTo>
                <a:lnTo>
                  <a:pt x="980185" y="295275"/>
                </a:lnTo>
                <a:lnTo>
                  <a:pt x="989965" y="249682"/>
                </a:lnTo>
                <a:lnTo>
                  <a:pt x="994409" y="206501"/>
                </a:lnTo>
                <a:lnTo>
                  <a:pt x="994409" y="192659"/>
                </a:lnTo>
                <a:lnTo>
                  <a:pt x="989202" y="153415"/>
                </a:lnTo>
                <a:lnTo>
                  <a:pt x="975359" y="117856"/>
                </a:lnTo>
                <a:lnTo>
                  <a:pt x="951865" y="86868"/>
                </a:lnTo>
                <a:lnTo>
                  <a:pt x="917701" y="61213"/>
                </a:lnTo>
                <a:lnTo>
                  <a:pt x="872490" y="41528"/>
                </a:lnTo>
                <a:lnTo>
                  <a:pt x="816355" y="27432"/>
                </a:lnTo>
                <a:lnTo>
                  <a:pt x="800639" y="24764"/>
                </a:lnTo>
                <a:close/>
              </a:path>
              <a:path w="994409" h="492125">
                <a:moveTo>
                  <a:pt x="83312" y="0"/>
                </a:moveTo>
                <a:lnTo>
                  <a:pt x="0" y="59816"/>
                </a:lnTo>
                <a:lnTo>
                  <a:pt x="89915" y="101473"/>
                </a:lnTo>
                <a:lnTo>
                  <a:pt x="93090" y="102870"/>
                </a:lnTo>
                <a:lnTo>
                  <a:pt x="96900" y="101600"/>
                </a:lnTo>
                <a:lnTo>
                  <a:pt x="98298" y="98425"/>
                </a:lnTo>
                <a:lnTo>
                  <a:pt x="99822" y="95123"/>
                </a:lnTo>
                <a:lnTo>
                  <a:pt x="98425" y="91439"/>
                </a:lnTo>
                <a:lnTo>
                  <a:pt x="95250" y="89915"/>
                </a:lnTo>
                <a:lnTo>
                  <a:pt x="41270" y="64897"/>
                </a:lnTo>
                <a:lnTo>
                  <a:pt x="13080" y="64897"/>
                </a:lnTo>
                <a:lnTo>
                  <a:pt x="11937" y="52324"/>
                </a:lnTo>
                <a:lnTo>
                  <a:pt x="35233" y="50126"/>
                </a:lnTo>
                <a:lnTo>
                  <a:pt x="90677" y="10287"/>
                </a:lnTo>
                <a:lnTo>
                  <a:pt x="91439" y="6350"/>
                </a:lnTo>
                <a:lnTo>
                  <a:pt x="89280" y="3428"/>
                </a:lnTo>
                <a:lnTo>
                  <a:pt x="87249" y="635"/>
                </a:lnTo>
                <a:lnTo>
                  <a:pt x="83312" y="0"/>
                </a:lnTo>
                <a:close/>
              </a:path>
              <a:path w="994409" h="492125">
                <a:moveTo>
                  <a:pt x="35233" y="50126"/>
                </a:moveTo>
                <a:lnTo>
                  <a:pt x="11937" y="52324"/>
                </a:lnTo>
                <a:lnTo>
                  <a:pt x="13080" y="64897"/>
                </a:lnTo>
                <a:lnTo>
                  <a:pt x="25202" y="63753"/>
                </a:lnTo>
                <a:lnTo>
                  <a:pt x="16255" y="63753"/>
                </a:lnTo>
                <a:lnTo>
                  <a:pt x="15239" y="52832"/>
                </a:lnTo>
                <a:lnTo>
                  <a:pt x="31465" y="52832"/>
                </a:lnTo>
                <a:lnTo>
                  <a:pt x="35233" y="50126"/>
                </a:lnTo>
                <a:close/>
              </a:path>
              <a:path w="994409" h="492125">
                <a:moveTo>
                  <a:pt x="36504" y="62688"/>
                </a:moveTo>
                <a:lnTo>
                  <a:pt x="13080" y="64897"/>
                </a:lnTo>
                <a:lnTo>
                  <a:pt x="41270" y="64897"/>
                </a:lnTo>
                <a:lnTo>
                  <a:pt x="36504" y="62688"/>
                </a:lnTo>
                <a:close/>
              </a:path>
              <a:path w="994409" h="492125">
                <a:moveTo>
                  <a:pt x="15239" y="52832"/>
                </a:moveTo>
                <a:lnTo>
                  <a:pt x="16255" y="63753"/>
                </a:lnTo>
                <a:lnTo>
                  <a:pt x="25101" y="57402"/>
                </a:lnTo>
                <a:lnTo>
                  <a:pt x="15239" y="52832"/>
                </a:lnTo>
                <a:close/>
              </a:path>
              <a:path w="994409" h="492125">
                <a:moveTo>
                  <a:pt x="25101" y="57402"/>
                </a:moveTo>
                <a:lnTo>
                  <a:pt x="16255" y="63753"/>
                </a:lnTo>
                <a:lnTo>
                  <a:pt x="25202" y="63753"/>
                </a:lnTo>
                <a:lnTo>
                  <a:pt x="36504" y="62688"/>
                </a:lnTo>
                <a:lnTo>
                  <a:pt x="25101" y="57402"/>
                </a:lnTo>
                <a:close/>
              </a:path>
              <a:path w="994409" h="492125">
                <a:moveTo>
                  <a:pt x="621792" y="12064"/>
                </a:moveTo>
                <a:lnTo>
                  <a:pt x="564642" y="12573"/>
                </a:lnTo>
                <a:lnTo>
                  <a:pt x="504698" y="14097"/>
                </a:lnTo>
                <a:lnTo>
                  <a:pt x="410209" y="18796"/>
                </a:lnTo>
                <a:lnTo>
                  <a:pt x="277622" y="28321"/>
                </a:lnTo>
                <a:lnTo>
                  <a:pt x="35233" y="50126"/>
                </a:lnTo>
                <a:lnTo>
                  <a:pt x="25101" y="57402"/>
                </a:lnTo>
                <a:lnTo>
                  <a:pt x="36504" y="62688"/>
                </a:lnTo>
                <a:lnTo>
                  <a:pt x="278637" y="41021"/>
                </a:lnTo>
                <a:lnTo>
                  <a:pt x="345694" y="35813"/>
                </a:lnTo>
                <a:lnTo>
                  <a:pt x="411099" y="31496"/>
                </a:lnTo>
                <a:lnTo>
                  <a:pt x="505205" y="26797"/>
                </a:lnTo>
                <a:lnTo>
                  <a:pt x="564896" y="25146"/>
                </a:lnTo>
                <a:lnTo>
                  <a:pt x="593725" y="24764"/>
                </a:lnTo>
                <a:lnTo>
                  <a:pt x="800639" y="24764"/>
                </a:lnTo>
                <a:lnTo>
                  <a:pt x="795401" y="23875"/>
                </a:lnTo>
                <a:lnTo>
                  <a:pt x="750570" y="18287"/>
                </a:lnTo>
                <a:lnTo>
                  <a:pt x="701675" y="14477"/>
                </a:lnTo>
                <a:lnTo>
                  <a:pt x="649224" y="12573"/>
                </a:lnTo>
                <a:lnTo>
                  <a:pt x="621792" y="12064"/>
                </a:lnTo>
                <a:close/>
              </a:path>
              <a:path w="994409" h="492125">
                <a:moveTo>
                  <a:pt x="31465" y="52832"/>
                </a:moveTo>
                <a:lnTo>
                  <a:pt x="15239" y="52832"/>
                </a:lnTo>
                <a:lnTo>
                  <a:pt x="25101" y="57402"/>
                </a:lnTo>
                <a:lnTo>
                  <a:pt x="31465" y="52832"/>
                </a:lnTo>
                <a:close/>
              </a:path>
            </a:pathLst>
          </a:custGeom>
          <a:solidFill>
            <a:srgbClr val="FF0000"/>
          </a:solidFill>
        </p:spPr>
        <p:txBody>
          <a:bodyPr wrap="square" lIns="0" tIns="0" rIns="0" bIns="0" rtlCol="0"/>
          <a:lstStyle/>
          <a:p>
            <a:endParaRPr sz="2310"/>
          </a:p>
        </p:txBody>
      </p:sp>
      <p:sp>
        <p:nvSpPr>
          <p:cNvPr id="6" name="object 6"/>
          <p:cNvSpPr/>
          <p:nvPr/>
        </p:nvSpPr>
        <p:spPr>
          <a:xfrm>
            <a:off x="3041179" y="2705138"/>
            <a:ext cx="2000250" cy="0"/>
          </a:xfrm>
          <a:custGeom>
            <a:avLst/>
            <a:gdLst/>
            <a:ahLst/>
            <a:cxnLst/>
            <a:rect l="l" t="t" r="r" b="b"/>
            <a:pathLst>
              <a:path w="1905000">
                <a:moveTo>
                  <a:pt x="0" y="0"/>
                </a:moveTo>
                <a:lnTo>
                  <a:pt x="1905000" y="0"/>
                </a:lnTo>
              </a:path>
            </a:pathLst>
          </a:custGeom>
          <a:ln w="32004">
            <a:solidFill>
              <a:srgbClr val="FF0000"/>
            </a:solidFill>
          </a:ln>
        </p:spPr>
        <p:txBody>
          <a:bodyPr wrap="square" lIns="0" tIns="0" rIns="0" bIns="0" rtlCol="0"/>
          <a:lstStyle/>
          <a:p>
            <a:endParaRPr sz="2310"/>
          </a:p>
        </p:txBody>
      </p:sp>
      <p:sp>
        <p:nvSpPr>
          <p:cNvPr id="7" name="object 7"/>
          <p:cNvSpPr/>
          <p:nvPr/>
        </p:nvSpPr>
        <p:spPr>
          <a:xfrm>
            <a:off x="4983823" y="3057181"/>
            <a:ext cx="2223611" cy="0"/>
          </a:xfrm>
          <a:custGeom>
            <a:avLst/>
            <a:gdLst/>
            <a:ahLst/>
            <a:cxnLst/>
            <a:rect l="l" t="t" r="r" b="b"/>
            <a:pathLst>
              <a:path w="2117725">
                <a:moveTo>
                  <a:pt x="0" y="0"/>
                </a:moveTo>
                <a:lnTo>
                  <a:pt x="2117216" y="0"/>
                </a:lnTo>
              </a:path>
            </a:pathLst>
          </a:custGeom>
          <a:ln w="32004">
            <a:solidFill>
              <a:srgbClr val="FF0000"/>
            </a:solidFill>
          </a:ln>
        </p:spPr>
        <p:txBody>
          <a:bodyPr wrap="square" lIns="0" tIns="0" rIns="0" bIns="0" rtlCol="0"/>
          <a:lstStyle/>
          <a:p>
            <a:endParaRPr sz="2310"/>
          </a:p>
        </p:txBody>
      </p:sp>
      <p:sp>
        <p:nvSpPr>
          <p:cNvPr id="8" name="object 8"/>
          <p:cNvSpPr/>
          <p:nvPr/>
        </p:nvSpPr>
        <p:spPr>
          <a:xfrm>
            <a:off x="2645930" y="4750194"/>
            <a:ext cx="6384798" cy="1360170"/>
          </a:xfrm>
          <a:custGeom>
            <a:avLst/>
            <a:gdLst/>
            <a:ahLst/>
            <a:cxnLst/>
            <a:rect l="l" t="t" r="r" b="b"/>
            <a:pathLst>
              <a:path w="6080759" h="1295400">
                <a:moveTo>
                  <a:pt x="0" y="215899"/>
                </a:moveTo>
                <a:lnTo>
                  <a:pt x="5701" y="166391"/>
                </a:lnTo>
                <a:lnTo>
                  <a:pt x="21943" y="120946"/>
                </a:lnTo>
                <a:lnTo>
                  <a:pt x="47430" y="80859"/>
                </a:lnTo>
                <a:lnTo>
                  <a:pt x="80864" y="47426"/>
                </a:lnTo>
                <a:lnTo>
                  <a:pt x="120951" y="21941"/>
                </a:lnTo>
                <a:lnTo>
                  <a:pt x="166395" y="5701"/>
                </a:lnTo>
                <a:lnTo>
                  <a:pt x="215900" y="0"/>
                </a:lnTo>
                <a:lnTo>
                  <a:pt x="5864860" y="0"/>
                </a:lnTo>
                <a:lnTo>
                  <a:pt x="5914368" y="5701"/>
                </a:lnTo>
                <a:lnTo>
                  <a:pt x="5959813" y="21941"/>
                </a:lnTo>
                <a:lnTo>
                  <a:pt x="5999900" y="47426"/>
                </a:lnTo>
                <a:lnTo>
                  <a:pt x="6033333" y="80859"/>
                </a:lnTo>
                <a:lnTo>
                  <a:pt x="6058818" y="120946"/>
                </a:lnTo>
                <a:lnTo>
                  <a:pt x="6075058" y="166391"/>
                </a:lnTo>
                <a:lnTo>
                  <a:pt x="6080760" y="215899"/>
                </a:lnTo>
                <a:lnTo>
                  <a:pt x="6080760" y="1079499"/>
                </a:lnTo>
                <a:lnTo>
                  <a:pt x="6075058" y="1129004"/>
                </a:lnTo>
                <a:lnTo>
                  <a:pt x="6058818" y="1174448"/>
                </a:lnTo>
                <a:lnTo>
                  <a:pt x="6033333" y="1214535"/>
                </a:lnTo>
                <a:lnTo>
                  <a:pt x="5999900" y="1247969"/>
                </a:lnTo>
                <a:lnTo>
                  <a:pt x="5959813" y="1273456"/>
                </a:lnTo>
                <a:lnTo>
                  <a:pt x="5914368" y="1289698"/>
                </a:lnTo>
                <a:lnTo>
                  <a:pt x="5864860" y="1295399"/>
                </a:lnTo>
                <a:lnTo>
                  <a:pt x="215900" y="1295399"/>
                </a:lnTo>
                <a:lnTo>
                  <a:pt x="166395" y="1289698"/>
                </a:lnTo>
                <a:lnTo>
                  <a:pt x="120951" y="1273456"/>
                </a:lnTo>
                <a:lnTo>
                  <a:pt x="80864" y="1247969"/>
                </a:lnTo>
                <a:lnTo>
                  <a:pt x="47430" y="1214535"/>
                </a:lnTo>
                <a:lnTo>
                  <a:pt x="21943" y="1174448"/>
                </a:lnTo>
                <a:lnTo>
                  <a:pt x="5701" y="1129004"/>
                </a:lnTo>
                <a:lnTo>
                  <a:pt x="0" y="1079499"/>
                </a:lnTo>
                <a:lnTo>
                  <a:pt x="0" y="215899"/>
                </a:lnTo>
                <a:close/>
              </a:path>
            </a:pathLst>
          </a:custGeom>
          <a:ln w="25908">
            <a:solidFill>
              <a:srgbClr val="FF0000"/>
            </a:solidFill>
          </a:ln>
        </p:spPr>
        <p:txBody>
          <a:bodyPr wrap="square" lIns="0" tIns="0" rIns="0" bIns="0" rtlCol="0"/>
          <a:lstStyle/>
          <a:p>
            <a:endParaRPr sz="2310"/>
          </a:p>
        </p:txBody>
      </p:sp>
      <p:sp>
        <p:nvSpPr>
          <p:cNvPr id="9" name="object 9"/>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4225" y="216059"/>
            <a:ext cx="10762906" cy="1310640"/>
          </a:xfrm>
          <a:prstGeom prst="rect">
            <a:avLst/>
          </a:prstGeom>
        </p:spPr>
        <p:txBody>
          <a:bodyPr vert="horz" wrap="square" lIns="0" tIns="93344" rIns="0" bIns="0" rtlCol="0">
            <a:spAutoFit/>
          </a:bodyPr>
          <a:lstStyle/>
          <a:p>
            <a:pPr marL="12700" marR="5080">
              <a:lnSpc>
                <a:spcPts val="4750"/>
              </a:lnSpc>
              <a:spcBef>
                <a:spcPts val="700"/>
              </a:spcBef>
            </a:pPr>
            <a:r>
              <a:rPr sz="4620" spc="-10" dirty="0"/>
              <a:t>Implementing </a:t>
            </a:r>
            <a:r>
              <a:rPr sz="4620" dirty="0"/>
              <a:t>a barrier with  </a:t>
            </a:r>
            <a:r>
              <a:rPr sz="4620" spc="-10" dirty="0"/>
              <a:t>semaphores</a:t>
            </a:r>
            <a:endParaRPr sz="4620"/>
          </a:p>
        </p:txBody>
      </p:sp>
      <p:sp>
        <p:nvSpPr>
          <p:cNvPr id="3" name="object 3"/>
          <p:cNvSpPr/>
          <p:nvPr/>
        </p:nvSpPr>
        <p:spPr>
          <a:xfrm>
            <a:off x="3114973" y="1785907"/>
            <a:ext cx="5513920" cy="5339332"/>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645930" y="3921289"/>
            <a:ext cx="6384798" cy="3082385"/>
          </a:xfrm>
          <a:custGeom>
            <a:avLst/>
            <a:gdLst/>
            <a:ahLst/>
            <a:cxnLst/>
            <a:rect l="l" t="t" r="r" b="b"/>
            <a:pathLst>
              <a:path w="6080759" h="2935604">
                <a:moveTo>
                  <a:pt x="0" y="489204"/>
                </a:moveTo>
                <a:lnTo>
                  <a:pt x="2239" y="442098"/>
                </a:lnTo>
                <a:lnTo>
                  <a:pt x="8821" y="396257"/>
                </a:lnTo>
                <a:lnTo>
                  <a:pt x="19539" y="351887"/>
                </a:lnTo>
                <a:lnTo>
                  <a:pt x="34190" y="309193"/>
                </a:lnTo>
                <a:lnTo>
                  <a:pt x="52569" y="268379"/>
                </a:lnTo>
                <a:lnTo>
                  <a:pt x="74469" y="229651"/>
                </a:lnTo>
                <a:lnTo>
                  <a:pt x="99687" y="193214"/>
                </a:lnTo>
                <a:lnTo>
                  <a:pt x="128016" y="159273"/>
                </a:lnTo>
                <a:lnTo>
                  <a:pt x="159253" y="128034"/>
                </a:lnTo>
                <a:lnTo>
                  <a:pt x="193192" y="99702"/>
                </a:lnTo>
                <a:lnTo>
                  <a:pt x="229628" y="74481"/>
                </a:lnTo>
                <a:lnTo>
                  <a:pt x="268356" y="52578"/>
                </a:lnTo>
                <a:lnTo>
                  <a:pt x="309172" y="34197"/>
                </a:lnTo>
                <a:lnTo>
                  <a:pt x="351869" y="19543"/>
                </a:lnTo>
                <a:lnTo>
                  <a:pt x="396243" y="8822"/>
                </a:lnTo>
                <a:lnTo>
                  <a:pt x="442090" y="2239"/>
                </a:lnTo>
                <a:lnTo>
                  <a:pt x="489203" y="0"/>
                </a:lnTo>
                <a:lnTo>
                  <a:pt x="5591556" y="0"/>
                </a:lnTo>
                <a:lnTo>
                  <a:pt x="5638661" y="2239"/>
                </a:lnTo>
                <a:lnTo>
                  <a:pt x="5684502" y="8822"/>
                </a:lnTo>
                <a:lnTo>
                  <a:pt x="5728872" y="19543"/>
                </a:lnTo>
                <a:lnTo>
                  <a:pt x="5771566" y="34197"/>
                </a:lnTo>
                <a:lnTo>
                  <a:pt x="5812380" y="52578"/>
                </a:lnTo>
                <a:lnTo>
                  <a:pt x="5851108" y="74481"/>
                </a:lnTo>
                <a:lnTo>
                  <a:pt x="5887545" y="99702"/>
                </a:lnTo>
                <a:lnTo>
                  <a:pt x="5921486" y="128034"/>
                </a:lnTo>
                <a:lnTo>
                  <a:pt x="5952725" y="159273"/>
                </a:lnTo>
                <a:lnTo>
                  <a:pt x="5981057" y="193214"/>
                </a:lnTo>
                <a:lnTo>
                  <a:pt x="6006278" y="229651"/>
                </a:lnTo>
                <a:lnTo>
                  <a:pt x="6028181" y="268379"/>
                </a:lnTo>
                <a:lnTo>
                  <a:pt x="6046562" y="309193"/>
                </a:lnTo>
                <a:lnTo>
                  <a:pt x="6061216" y="351887"/>
                </a:lnTo>
                <a:lnTo>
                  <a:pt x="6071937" y="396257"/>
                </a:lnTo>
                <a:lnTo>
                  <a:pt x="6078520" y="442098"/>
                </a:lnTo>
                <a:lnTo>
                  <a:pt x="6080760" y="489204"/>
                </a:lnTo>
                <a:lnTo>
                  <a:pt x="6080760" y="2446007"/>
                </a:lnTo>
                <a:lnTo>
                  <a:pt x="6078520" y="2493123"/>
                </a:lnTo>
                <a:lnTo>
                  <a:pt x="6071937" y="2538971"/>
                </a:lnTo>
                <a:lnTo>
                  <a:pt x="6061216" y="2583347"/>
                </a:lnTo>
                <a:lnTo>
                  <a:pt x="6046562" y="2626046"/>
                </a:lnTo>
                <a:lnTo>
                  <a:pt x="6028181" y="2666862"/>
                </a:lnTo>
                <a:lnTo>
                  <a:pt x="6006278" y="2705591"/>
                </a:lnTo>
                <a:lnTo>
                  <a:pt x="5981057" y="2742028"/>
                </a:lnTo>
                <a:lnTo>
                  <a:pt x="5952725" y="2775968"/>
                </a:lnTo>
                <a:lnTo>
                  <a:pt x="5921486" y="2807205"/>
                </a:lnTo>
                <a:lnTo>
                  <a:pt x="5887545" y="2835536"/>
                </a:lnTo>
                <a:lnTo>
                  <a:pt x="5851108" y="2860753"/>
                </a:lnTo>
                <a:lnTo>
                  <a:pt x="5812380" y="2882654"/>
                </a:lnTo>
                <a:lnTo>
                  <a:pt x="5771566" y="2901032"/>
                </a:lnTo>
                <a:lnTo>
                  <a:pt x="5728872" y="2915684"/>
                </a:lnTo>
                <a:lnTo>
                  <a:pt x="5684502" y="2926402"/>
                </a:lnTo>
                <a:lnTo>
                  <a:pt x="5638661" y="2932984"/>
                </a:lnTo>
                <a:lnTo>
                  <a:pt x="5591556" y="2935224"/>
                </a:lnTo>
                <a:lnTo>
                  <a:pt x="489203" y="2935224"/>
                </a:lnTo>
                <a:lnTo>
                  <a:pt x="442090" y="2932984"/>
                </a:lnTo>
                <a:lnTo>
                  <a:pt x="396243" y="2926402"/>
                </a:lnTo>
                <a:lnTo>
                  <a:pt x="351869" y="2915684"/>
                </a:lnTo>
                <a:lnTo>
                  <a:pt x="309172" y="2901032"/>
                </a:lnTo>
                <a:lnTo>
                  <a:pt x="268356" y="2882654"/>
                </a:lnTo>
                <a:lnTo>
                  <a:pt x="229628" y="2860753"/>
                </a:lnTo>
                <a:lnTo>
                  <a:pt x="193192" y="2835536"/>
                </a:lnTo>
                <a:lnTo>
                  <a:pt x="159253" y="2807205"/>
                </a:lnTo>
                <a:lnTo>
                  <a:pt x="128016" y="2775968"/>
                </a:lnTo>
                <a:lnTo>
                  <a:pt x="99687" y="2742028"/>
                </a:lnTo>
                <a:lnTo>
                  <a:pt x="74469" y="2705591"/>
                </a:lnTo>
                <a:lnTo>
                  <a:pt x="52569" y="2666862"/>
                </a:lnTo>
                <a:lnTo>
                  <a:pt x="34190" y="2626046"/>
                </a:lnTo>
                <a:lnTo>
                  <a:pt x="19539" y="2583347"/>
                </a:lnTo>
                <a:lnTo>
                  <a:pt x="8821" y="2538971"/>
                </a:lnTo>
                <a:lnTo>
                  <a:pt x="2239" y="2493123"/>
                </a:lnTo>
                <a:lnTo>
                  <a:pt x="0" y="2446007"/>
                </a:lnTo>
                <a:lnTo>
                  <a:pt x="0" y="489204"/>
                </a:lnTo>
                <a:close/>
              </a:path>
            </a:pathLst>
          </a:custGeom>
          <a:ln w="25908">
            <a:solidFill>
              <a:srgbClr val="FF0000"/>
            </a:solidFill>
          </a:ln>
        </p:spPr>
        <p:txBody>
          <a:bodyPr wrap="square" lIns="0" tIns="0" rIns="0" bIns="0" rtlCol="0"/>
          <a:lstStyle/>
          <a:p>
            <a:endParaRPr sz="2310"/>
          </a:p>
        </p:txBody>
      </p:sp>
      <p:sp>
        <p:nvSpPr>
          <p:cNvPr id="5" name="object 5"/>
          <p:cNvSpPr/>
          <p:nvPr/>
        </p:nvSpPr>
        <p:spPr>
          <a:xfrm>
            <a:off x="3121189" y="2573922"/>
            <a:ext cx="2000250" cy="0"/>
          </a:xfrm>
          <a:custGeom>
            <a:avLst/>
            <a:gdLst/>
            <a:ahLst/>
            <a:cxnLst/>
            <a:rect l="l" t="t" r="r" b="b"/>
            <a:pathLst>
              <a:path w="1905000">
                <a:moveTo>
                  <a:pt x="0" y="0"/>
                </a:moveTo>
                <a:lnTo>
                  <a:pt x="1905000" y="0"/>
                </a:lnTo>
              </a:path>
            </a:pathLst>
          </a:custGeom>
          <a:ln w="32004">
            <a:solidFill>
              <a:srgbClr val="FF0000"/>
            </a:solidFill>
          </a:ln>
        </p:spPr>
        <p:txBody>
          <a:bodyPr wrap="square" lIns="0" tIns="0" rIns="0" bIns="0" rtlCol="0"/>
          <a:lstStyle/>
          <a:p>
            <a:endParaRPr sz="2310"/>
          </a:p>
        </p:txBody>
      </p:sp>
      <p:sp>
        <p:nvSpPr>
          <p:cNvPr id="6" name="object 6"/>
          <p:cNvSpPr/>
          <p:nvPr/>
        </p:nvSpPr>
        <p:spPr>
          <a:xfrm>
            <a:off x="3121189" y="2860358"/>
            <a:ext cx="2257616" cy="0"/>
          </a:xfrm>
          <a:custGeom>
            <a:avLst/>
            <a:gdLst/>
            <a:ahLst/>
            <a:cxnLst/>
            <a:rect l="l" t="t" r="r" b="b"/>
            <a:pathLst>
              <a:path w="2150110">
                <a:moveTo>
                  <a:pt x="0" y="0"/>
                </a:moveTo>
                <a:lnTo>
                  <a:pt x="2149983" y="0"/>
                </a:lnTo>
              </a:path>
            </a:pathLst>
          </a:custGeom>
          <a:ln w="32004">
            <a:solidFill>
              <a:srgbClr val="FF0000"/>
            </a:solidFill>
          </a:ln>
        </p:spPr>
        <p:txBody>
          <a:bodyPr wrap="square" lIns="0" tIns="0" rIns="0" bIns="0" rtlCol="0"/>
          <a:lstStyle/>
          <a:p>
            <a:endParaRPr sz="2310"/>
          </a:p>
        </p:txBody>
      </p:sp>
      <p:sp>
        <p:nvSpPr>
          <p:cNvPr id="7" name="object 7"/>
          <p:cNvSpPr/>
          <p:nvPr/>
        </p:nvSpPr>
        <p:spPr>
          <a:xfrm>
            <a:off x="6093561" y="2304288"/>
            <a:ext cx="2142933" cy="269367"/>
          </a:xfrm>
          <a:custGeom>
            <a:avLst/>
            <a:gdLst/>
            <a:ahLst/>
            <a:cxnLst/>
            <a:rect l="l" t="t" r="r" b="b"/>
            <a:pathLst>
              <a:path w="2040889" h="256539">
                <a:moveTo>
                  <a:pt x="1997964" y="0"/>
                </a:moveTo>
                <a:lnTo>
                  <a:pt x="42672" y="0"/>
                </a:lnTo>
                <a:lnTo>
                  <a:pt x="26038" y="3345"/>
                </a:lnTo>
                <a:lnTo>
                  <a:pt x="12477" y="12477"/>
                </a:lnTo>
                <a:lnTo>
                  <a:pt x="3345" y="26038"/>
                </a:lnTo>
                <a:lnTo>
                  <a:pt x="0" y="42672"/>
                </a:lnTo>
                <a:lnTo>
                  <a:pt x="0" y="213360"/>
                </a:lnTo>
                <a:lnTo>
                  <a:pt x="3345" y="229993"/>
                </a:lnTo>
                <a:lnTo>
                  <a:pt x="12477" y="243554"/>
                </a:lnTo>
                <a:lnTo>
                  <a:pt x="26038" y="252686"/>
                </a:lnTo>
                <a:lnTo>
                  <a:pt x="42672" y="256031"/>
                </a:lnTo>
                <a:lnTo>
                  <a:pt x="1997964" y="256031"/>
                </a:lnTo>
                <a:lnTo>
                  <a:pt x="2014597" y="252686"/>
                </a:lnTo>
                <a:lnTo>
                  <a:pt x="2028158" y="243554"/>
                </a:lnTo>
                <a:lnTo>
                  <a:pt x="2037290" y="229993"/>
                </a:lnTo>
                <a:lnTo>
                  <a:pt x="2040636" y="213360"/>
                </a:lnTo>
                <a:lnTo>
                  <a:pt x="2040636" y="42672"/>
                </a:lnTo>
                <a:lnTo>
                  <a:pt x="2037290" y="26038"/>
                </a:lnTo>
                <a:lnTo>
                  <a:pt x="2028158" y="12477"/>
                </a:lnTo>
                <a:lnTo>
                  <a:pt x="2014597" y="3345"/>
                </a:lnTo>
                <a:lnTo>
                  <a:pt x="1997964" y="0"/>
                </a:lnTo>
                <a:close/>
              </a:path>
            </a:pathLst>
          </a:custGeom>
          <a:solidFill>
            <a:srgbClr val="F4B083">
              <a:alpha val="27842"/>
            </a:srgbClr>
          </a:solidFill>
        </p:spPr>
        <p:txBody>
          <a:bodyPr wrap="square" lIns="0" tIns="0" rIns="0" bIns="0" rtlCol="0"/>
          <a:lstStyle/>
          <a:p>
            <a:endParaRPr sz="2310"/>
          </a:p>
        </p:txBody>
      </p:sp>
      <p:sp>
        <p:nvSpPr>
          <p:cNvPr id="8" name="object 8"/>
          <p:cNvSpPr/>
          <p:nvPr/>
        </p:nvSpPr>
        <p:spPr>
          <a:xfrm>
            <a:off x="6093561" y="2304288"/>
            <a:ext cx="2142933" cy="269367"/>
          </a:xfrm>
          <a:custGeom>
            <a:avLst/>
            <a:gdLst/>
            <a:ahLst/>
            <a:cxnLst/>
            <a:rect l="l" t="t" r="r" b="b"/>
            <a:pathLst>
              <a:path w="2040889" h="256539">
                <a:moveTo>
                  <a:pt x="0" y="42672"/>
                </a:moveTo>
                <a:lnTo>
                  <a:pt x="3345" y="26038"/>
                </a:lnTo>
                <a:lnTo>
                  <a:pt x="12477" y="12477"/>
                </a:lnTo>
                <a:lnTo>
                  <a:pt x="26038" y="3345"/>
                </a:lnTo>
                <a:lnTo>
                  <a:pt x="42672" y="0"/>
                </a:lnTo>
                <a:lnTo>
                  <a:pt x="1997964" y="0"/>
                </a:lnTo>
                <a:lnTo>
                  <a:pt x="2014597" y="3345"/>
                </a:lnTo>
                <a:lnTo>
                  <a:pt x="2028158" y="12477"/>
                </a:lnTo>
                <a:lnTo>
                  <a:pt x="2037290" y="26038"/>
                </a:lnTo>
                <a:lnTo>
                  <a:pt x="2040636" y="42672"/>
                </a:lnTo>
                <a:lnTo>
                  <a:pt x="2040636" y="213360"/>
                </a:lnTo>
                <a:lnTo>
                  <a:pt x="2037290" y="229993"/>
                </a:lnTo>
                <a:lnTo>
                  <a:pt x="2028158" y="243554"/>
                </a:lnTo>
                <a:lnTo>
                  <a:pt x="2014597" y="252686"/>
                </a:lnTo>
                <a:lnTo>
                  <a:pt x="1997964" y="256031"/>
                </a:lnTo>
                <a:lnTo>
                  <a:pt x="42672" y="256031"/>
                </a:lnTo>
                <a:lnTo>
                  <a:pt x="26038" y="252686"/>
                </a:lnTo>
                <a:lnTo>
                  <a:pt x="12477" y="243554"/>
                </a:lnTo>
                <a:lnTo>
                  <a:pt x="3345" y="229993"/>
                </a:lnTo>
                <a:lnTo>
                  <a:pt x="0" y="213360"/>
                </a:lnTo>
                <a:lnTo>
                  <a:pt x="0" y="42672"/>
                </a:lnTo>
                <a:close/>
              </a:path>
            </a:pathLst>
          </a:custGeom>
          <a:ln w="12192">
            <a:solidFill>
              <a:srgbClr val="41709C"/>
            </a:solidFill>
          </a:ln>
        </p:spPr>
        <p:txBody>
          <a:bodyPr wrap="square" lIns="0" tIns="0" rIns="0" bIns="0" rtlCol="0"/>
          <a:lstStyle/>
          <a:p>
            <a:endParaRPr sz="2310"/>
          </a:p>
        </p:txBody>
      </p:sp>
      <p:sp>
        <p:nvSpPr>
          <p:cNvPr id="9" name="object 9"/>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59</a:t>
            </a:fld>
            <a:endParaRPr sz="1575" dirty="0"/>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Condition</a:t>
            </a:r>
            <a:r>
              <a:rPr sz="4620" spc="-45" dirty="0"/>
              <a:t> </a:t>
            </a:r>
            <a:r>
              <a:rPr sz="4620" spc="-30" dirty="0"/>
              <a:t>Variables</a:t>
            </a:r>
            <a:endParaRPr sz="4620" dirty="0"/>
          </a:p>
        </p:txBody>
      </p:sp>
      <p:sp>
        <p:nvSpPr>
          <p:cNvPr id="3" name="object 3"/>
          <p:cNvSpPr txBox="1"/>
          <p:nvPr/>
        </p:nvSpPr>
        <p:spPr>
          <a:xfrm>
            <a:off x="1648272" y="1008162"/>
            <a:ext cx="10081120" cy="5606598"/>
          </a:xfrm>
          <a:prstGeom prst="rect">
            <a:avLst/>
          </a:prstGeom>
        </p:spPr>
        <p:txBody>
          <a:bodyPr vert="horz" wrap="square" lIns="0" tIns="57340" rIns="0" bIns="0" rtlCol="0">
            <a:spAutoFit/>
          </a:bodyPr>
          <a:lstStyle/>
          <a:p>
            <a:pPr marL="241300" marR="412115" indent="-228600">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0000FF"/>
                </a:solidFill>
                <a:latin typeface="Comic Sans MS" panose="030F0702030302020204" pitchFamily="66" charset="0"/>
                <a:cs typeface="Calibri" panose="020F0502020204030204"/>
              </a:rPr>
              <a:t>condition variable </a:t>
            </a:r>
            <a:r>
              <a:rPr sz="2940" spc="-5" dirty="0">
                <a:latin typeface="Comic Sans MS" panose="030F0702030302020204" pitchFamily="66" charset="0"/>
                <a:cs typeface="Calibri" panose="020F0502020204030204"/>
              </a:rPr>
              <a:t>is a </a:t>
            </a:r>
            <a:r>
              <a:rPr sz="2940" spc="-20" dirty="0">
                <a:latin typeface="Comic Sans MS" panose="030F0702030302020204" pitchFamily="66" charset="0"/>
                <a:cs typeface="Calibri" panose="020F0502020204030204"/>
              </a:rPr>
              <a:t>data </a:t>
            </a:r>
            <a:r>
              <a:rPr sz="2940" spc="-10" dirty="0">
                <a:latin typeface="Comic Sans MS" panose="030F0702030302020204" pitchFamily="66" charset="0"/>
                <a:cs typeface="Calibri" panose="020F0502020204030204"/>
              </a:rPr>
              <a:t>object that allows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thread </a:t>
            </a:r>
            <a:r>
              <a:rPr sz="2940" spc="-20" dirty="0">
                <a:latin typeface="Comic Sans MS" panose="030F0702030302020204" pitchFamily="66" charset="0"/>
                <a:cs typeface="Calibri" panose="020F0502020204030204"/>
              </a:rPr>
              <a:t>to </a:t>
            </a:r>
            <a:r>
              <a:rPr sz="2940" spc="-10" dirty="0">
                <a:solidFill>
                  <a:srgbClr val="FF0000"/>
                </a:solidFill>
                <a:latin typeface="Comic Sans MS" panose="030F0702030302020204" pitchFamily="66" charset="0"/>
                <a:cs typeface="Calibri" panose="020F0502020204030204"/>
              </a:rPr>
              <a:t>suspend </a:t>
            </a:r>
            <a:r>
              <a:rPr sz="2940" spc="-20" dirty="0">
                <a:solidFill>
                  <a:srgbClr val="FF0000"/>
                </a:solidFill>
                <a:latin typeface="Comic Sans MS" panose="030F0702030302020204" pitchFamily="66" charset="0"/>
                <a:cs typeface="Calibri" panose="020F0502020204030204"/>
              </a:rPr>
              <a:t>execution </a:t>
            </a:r>
            <a:r>
              <a:rPr sz="2940" spc="-15" dirty="0">
                <a:latin typeface="Comic Sans MS" panose="030F0702030302020204" pitchFamily="66" charset="0"/>
                <a:cs typeface="Calibri" panose="020F0502020204030204"/>
              </a:rPr>
              <a:t>until </a:t>
            </a: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certain </a:t>
            </a:r>
            <a:r>
              <a:rPr sz="2940" spc="-20" dirty="0">
                <a:solidFill>
                  <a:srgbClr val="FF0000"/>
                </a:solidFill>
                <a:latin typeface="Comic Sans MS" panose="030F0702030302020204" pitchFamily="66" charset="0"/>
                <a:cs typeface="Calibri" panose="020F0502020204030204"/>
              </a:rPr>
              <a:t>event </a:t>
            </a:r>
            <a:r>
              <a:rPr sz="2940" spc="-10" dirty="0">
                <a:solidFill>
                  <a:srgbClr val="FF0000"/>
                </a:solidFill>
                <a:latin typeface="Comic Sans MS" panose="030F0702030302020204" pitchFamily="66" charset="0"/>
                <a:cs typeface="Calibri" panose="020F0502020204030204"/>
              </a:rPr>
              <a:t>or  condition</a:t>
            </a:r>
            <a:r>
              <a:rPr sz="2940" spc="20"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occurs</a:t>
            </a:r>
            <a:r>
              <a:rPr sz="2940" spc="-10" dirty="0">
                <a:latin typeface="Comic Sans MS" panose="030F0702030302020204" pitchFamily="66" charset="0"/>
                <a:cs typeface="Calibri" panose="020F0502020204030204"/>
              </a:rPr>
              <a:t>.</a:t>
            </a:r>
            <a:endParaRPr lang="en-US" sz="2940" spc="-10" dirty="0">
              <a:latin typeface="Comic Sans MS" panose="030F0702030302020204" pitchFamily="66" charset="0"/>
              <a:cs typeface="Calibri" panose="020F0502020204030204"/>
            </a:endParaRPr>
          </a:p>
          <a:p>
            <a:pPr marL="241300" marR="412115" indent="-228600">
              <a:lnSpc>
                <a:spcPct val="90000"/>
              </a:lnSpc>
              <a:spcBef>
                <a:spcPts val="430"/>
              </a:spcBef>
              <a:buFont typeface="Arial" panose="020B0604020202020204"/>
              <a:buChar char="•"/>
              <a:tabLst>
                <a:tab pos="241300" algn="l"/>
              </a:tabLst>
            </a:pPr>
            <a:endParaRPr sz="2940" dirty="0">
              <a:latin typeface="Comic Sans MS" panose="030F0702030302020204" pitchFamily="66" charset="0"/>
              <a:cs typeface="Calibri" panose="020F0502020204030204"/>
            </a:endParaRPr>
          </a:p>
          <a:p>
            <a:pPr marL="241300" marR="433070" indent="-228600">
              <a:lnSpc>
                <a:spcPts val="3030"/>
              </a:lnSpc>
              <a:spcBef>
                <a:spcPts val="5"/>
              </a:spcBef>
              <a:buFont typeface="Arial" panose="020B0604020202020204"/>
              <a:buChar char="•"/>
              <a:tabLst>
                <a:tab pos="241300" algn="l"/>
              </a:tabLst>
            </a:pPr>
            <a:r>
              <a:rPr sz="2940" spc="-5" dirty="0">
                <a:latin typeface="Comic Sans MS" panose="030F0702030302020204" pitchFamily="66" charset="0"/>
                <a:cs typeface="Calibri" panose="020F0502020204030204"/>
              </a:rPr>
              <a:t>When the </a:t>
            </a:r>
            <a:r>
              <a:rPr sz="2940" spc="-15" dirty="0">
                <a:latin typeface="Comic Sans MS" panose="030F0702030302020204" pitchFamily="66" charset="0"/>
                <a:cs typeface="Calibri" panose="020F0502020204030204"/>
              </a:rPr>
              <a:t>event </a:t>
            </a:r>
            <a:r>
              <a:rPr sz="2940" spc="-5" dirty="0">
                <a:latin typeface="Comic Sans MS" panose="030F0702030302020204" pitchFamily="66" charset="0"/>
                <a:cs typeface="Calibri" panose="020F0502020204030204"/>
              </a:rPr>
              <a:t>or </a:t>
            </a:r>
            <a:r>
              <a:rPr sz="2940" spc="-10" dirty="0">
                <a:latin typeface="Comic Sans MS" panose="030F0702030302020204" pitchFamily="66" charset="0"/>
                <a:cs typeface="Calibri" panose="020F0502020204030204"/>
              </a:rPr>
              <a:t>condition </a:t>
            </a:r>
            <a:r>
              <a:rPr sz="2940" spc="-15" dirty="0">
                <a:latin typeface="Comic Sans MS" panose="030F0702030302020204" pitchFamily="66" charset="0"/>
                <a:cs typeface="Calibri" panose="020F0502020204030204"/>
              </a:rPr>
              <a:t>occurs </a:t>
            </a:r>
            <a:r>
              <a:rPr sz="2940" spc="-5" dirty="0">
                <a:latin typeface="Comic Sans MS" panose="030F0702030302020204" pitchFamily="66" charset="0"/>
                <a:cs typeface="Calibri" panose="020F0502020204030204"/>
              </a:rPr>
              <a:t>another </a:t>
            </a:r>
            <a:r>
              <a:rPr sz="2940" spc="-10" dirty="0">
                <a:latin typeface="Comic Sans MS" panose="030F0702030302020204" pitchFamily="66" charset="0"/>
                <a:cs typeface="Calibri" panose="020F0502020204030204"/>
              </a:rPr>
              <a:t>thread  can </a:t>
            </a:r>
            <a:r>
              <a:rPr sz="2940" spc="-10" dirty="0">
                <a:solidFill>
                  <a:srgbClr val="FF0000"/>
                </a:solidFill>
                <a:latin typeface="Comic Sans MS" panose="030F0702030302020204" pitchFamily="66" charset="0"/>
                <a:cs typeface="Calibri" panose="020F0502020204030204"/>
              </a:rPr>
              <a:t>signal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thread </a:t>
            </a:r>
            <a:r>
              <a:rPr sz="2940" spc="-20" dirty="0">
                <a:latin typeface="Comic Sans MS" panose="030F0702030302020204" pitchFamily="66" charset="0"/>
                <a:cs typeface="Calibri" panose="020F0502020204030204"/>
              </a:rPr>
              <a:t>to </a:t>
            </a:r>
            <a:r>
              <a:rPr sz="2940" spc="-25" dirty="0">
                <a:latin typeface="Comic Sans MS" panose="030F0702030302020204" pitchFamily="66" charset="0"/>
                <a:cs typeface="Calibri" panose="020F0502020204030204"/>
              </a:rPr>
              <a:t>“</a:t>
            </a:r>
            <a:r>
              <a:rPr sz="2940" spc="-25" dirty="0">
                <a:solidFill>
                  <a:srgbClr val="FF0000"/>
                </a:solidFill>
                <a:latin typeface="Comic Sans MS" panose="030F0702030302020204" pitchFamily="66" charset="0"/>
                <a:cs typeface="Calibri" panose="020F0502020204030204"/>
              </a:rPr>
              <a:t>wake</a:t>
            </a:r>
            <a:r>
              <a:rPr sz="2940" spc="85" dirty="0">
                <a:solidFill>
                  <a:srgbClr val="FF0000"/>
                </a:solidFill>
                <a:latin typeface="Comic Sans MS" panose="030F0702030302020204" pitchFamily="66" charset="0"/>
                <a:cs typeface="Calibri" panose="020F0502020204030204"/>
              </a:rPr>
              <a:t> </a:t>
            </a:r>
            <a:r>
              <a:rPr sz="2940" spc="-114" dirty="0">
                <a:solidFill>
                  <a:srgbClr val="FF0000"/>
                </a:solidFill>
                <a:latin typeface="Comic Sans MS" panose="030F0702030302020204" pitchFamily="66" charset="0"/>
                <a:cs typeface="Calibri" panose="020F0502020204030204"/>
              </a:rPr>
              <a:t>up</a:t>
            </a:r>
            <a:r>
              <a:rPr sz="2940" spc="-114" dirty="0">
                <a:latin typeface="Comic Sans MS" panose="030F0702030302020204" pitchFamily="66" charset="0"/>
                <a:cs typeface="Calibri" panose="020F0502020204030204"/>
              </a:rPr>
              <a:t>.”</a:t>
            </a:r>
            <a:endParaRPr lang="en-US" sz="2940" spc="-114" dirty="0">
              <a:latin typeface="Comic Sans MS" panose="030F0702030302020204" pitchFamily="66" charset="0"/>
              <a:cs typeface="Calibri" panose="020F0502020204030204"/>
            </a:endParaRPr>
          </a:p>
          <a:p>
            <a:pPr marL="241300" marR="433070" indent="-228600">
              <a:lnSpc>
                <a:spcPts val="3030"/>
              </a:lnSpc>
              <a:spcBef>
                <a:spcPts val="5"/>
              </a:spcBef>
              <a:buFont typeface="Arial" panose="020B0604020202020204"/>
              <a:buChar char="•"/>
              <a:tabLst>
                <a:tab pos="241300" algn="l"/>
              </a:tabLst>
            </a:pPr>
            <a:endParaRPr sz="2940"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condition variable </a:t>
            </a:r>
            <a:r>
              <a:rPr sz="2940" spc="-5" dirty="0">
                <a:latin typeface="Comic Sans MS" panose="030F0702030302020204" pitchFamily="66" charset="0"/>
                <a:cs typeface="Calibri" panose="020F0502020204030204"/>
              </a:rPr>
              <a:t>is </a:t>
            </a:r>
            <a:r>
              <a:rPr sz="2940" spc="-25" dirty="0">
                <a:latin typeface="Comic Sans MS" panose="030F0702030302020204" pitchFamily="66" charset="0"/>
                <a:cs typeface="Calibri" panose="020F0502020204030204"/>
              </a:rPr>
              <a:t>always </a:t>
            </a:r>
            <a:r>
              <a:rPr sz="2940" spc="-10" dirty="0">
                <a:solidFill>
                  <a:srgbClr val="FF0000"/>
                </a:solidFill>
                <a:latin typeface="Comic Sans MS" panose="030F0702030302020204" pitchFamily="66" charset="0"/>
                <a:cs typeface="Calibri" panose="020F0502020204030204"/>
              </a:rPr>
              <a:t>associated </a:t>
            </a:r>
            <a:r>
              <a:rPr sz="2940" spc="-5" dirty="0">
                <a:latin typeface="Comic Sans MS" panose="030F0702030302020204" pitchFamily="66" charset="0"/>
                <a:cs typeface="Calibri" panose="020F0502020204030204"/>
              </a:rPr>
              <a:t>with a</a:t>
            </a:r>
            <a:r>
              <a:rPr sz="2940" spc="150" dirty="0">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mutex</a:t>
            </a:r>
            <a:r>
              <a:rPr sz="2940" spc="-15" dirty="0">
                <a:latin typeface="Comic Sans MS" panose="030F0702030302020204" pitchFamily="66" charset="0"/>
                <a:cs typeface="Calibri" panose="020F0502020204030204"/>
              </a:rPr>
              <a:t>.</a:t>
            </a:r>
            <a:endParaRPr lang="en-US" sz="2940" spc="-15"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endParaRPr lang="en-US" sz="2940" spc="-15"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lang="en-US" altLang="zh-CN" sz="2940" spc="-15" dirty="0">
                <a:latin typeface="Comic Sans MS" panose="030F0702030302020204" pitchFamily="66" charset="0"/>
                <a:cs typeface="Calibri" panose="020F0502020204030204"/>
              </a:rPr>
              <a:t>Check Java Object class,</a:t>
            </a:r>
          </a:p>
          <a:p>
            <a:pPr marL="811530" lvl="1" indent="-228600">
              <a:buFont typeface="Arial" panose="020B0604020202020204"/>
              <a:buChar char="•"/>
              <a:tabLst>
                <a:tab pos="241300" algn="l"/>
              </a:tabLst>
            </a:pPr>
            <a:r>
              <a:rPr lang="en-US" altLang="zh-CN" sz="2940" spc="-15" dirty="0">
                <a:latin typeface="Comic Sans MS" panose="030F0702030302020204" pitchFamily="66" charset="0"/>
                <a:cs typeface="Calibri" panose="020F0502020204030204"/>
              </a:rPr>
              <a:t>https://docs.oracle.com/javase/7/docs/api/java/lang/Object.html</a:t>
            </a:r>
          </a:p>
          <a:p>
            <a:pPr marL="811530" lvl="1" indent="-228600">
              <a:buFont typeface="Arial" panose="020B0604020202020204"/>
              <a:buChar char="•"/>
              <a:tabLst>
                <a:tab pos="241300" algn="l"/>
              </a:tabLst>
            </a:pPr>
            <a:r>
              <a:rPr lang="en-US" sz="2940" spc="-15" dirty="0" err="1">
                <a:latin typeface="Comic Sans MS" panose="030F0702030302020204" pitchFamily="66" charset="0"/>
                <a:cs typeface="Calibri" panose="020F0502020204030204"/>
              </a:rPr>
              <a:t>Object.notify</a:t>
            </a:r>
            <a:r>
              <a:rPr lang="en-US" sz="2940" spc="-15" dirty="0">
                <a:latin typeface="Comic Sans MS" panose="030F0702030302020204" pitchFamily="66" charset="0"/>
                <a:cs typeface="Calibri" panose="020F0502020204030204"/>
              </a:rPr>
              <a:t>(), </a:t>
            </a:r>
            <a:r>
              <a:rPr lang="en-US" sz="2940" spc="-15" dirty="0" err="1">
                <a:latin typeface="Comic Sans MS" panose="030F0702030302020204" pitchFamily="66" charset="0"/>
                <a:cs typeface="Calibri" panose="020F0502020204030204"/>
              </a:rPr>
              <a:t>object.wait</a:t>
            </a:r>
            <a:r>
              <a:rPr lang="en-US"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Condition</a:t>
            </a:r>
            <a:r>
              <a:rPr sz="4620" spc="-40" dirty="0"/>
              <a:t> </a:t>
            </a:r>
            <a:r>
              <a:rPr sz="4620" spc="-30" dirty="0"/>
              <a:t>Variables</a:t>
            </a:r>
            <a:endParaRPr sz="4620"/>
          </a:p>
        </p:txBody>
      </p:sp>
      <p:sp>
        <p:nvSpPr>
          <p:cNvPr id="3" name="object 3"/>
          <p:cNvSpPr/>
          <p:nvPr/>
        </p:nvSpPr>
        <p:spPr>
          <a:xfrm>
            <a:off x="2441661" y="2144321"/>
            <a:ext cx="8164709" cy="2587804"/>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868357" y="3092385"/>
            <a:ext cx="2507647" cy="0"/>
          </a:xfrm>
          <a:custGeom>
            <a:avLst/>
            <a:gdLst/>
            <a:ahLst/>
            <a:cxnLst/>
            <a:rect l="l" t="t" r="r" b="b"/>
            <a:pathLst>
              <a:path w="2388235">
                <a:moveTo>
                  <a:pt x="0" y="0"/>
                </a:moveTo>
                <a:lnTo>
                  <a:pt x="2388235" y="0"/>
                </a:lnTo>
              </a:path>
            </a:pathLst>
          </a:custGeom>
          <a:ln w="32004">
            <a:solidFill>
              <a:srgbClr val="FF0000"/>
            </a:solidFill>
          </a:ln>
        </p:spPr>
        <p:txBody>
          <a:bodyPr wrap="square" lIns="0" tIns="0" rIns="0" bIns="0" rtlCol="0"/>
          <a:lstStyle/>
          <a:p>
            <a:endParaRPr sz="2310"/>
          </a:p>
        </p:txBody>
      </p:sp>
      <p:sp>
        <p:nvSpPr>
          <p:cNvPr id="5" name="object 5"/>
          <p:cNvSpPr/>
          <p:nvPr/>
        </p:nvSpPr>
        <p:spPr>
          <a:xfrm>
            <a:off x="3034779" y="3783672"/>
            <a:ext cx="3987832" cy="0"/>
          </a:xfrm>
          <a:custGeom>
            <a:avLst/>
            <a:gdLst/>
            <a:ahLst/>
            <a:cxnLst/>
            <a:rect l="l" t="t" r="r" b="b"/>
            <a:pathLst>
              <a:path w="3797935">
                <a:moveTo>
                  <a:pt x="0" y="0"/>
                </a:moveTo>
                <a:lnTo>
                  <a:pt x="3797681" y="0"/>
                </a:lnTo>
              </a:path>
            </a:pathLst>
          </a:custGeom>
          <a:ln w="32004">
            <a:solidFill>
              <a:srgbClr val="FF0000"/>
            </a:solidFill>
          </a:ln>
        </p:spPr>
        <p:txBody>
          <a:bodyPr wrap="square" lIns="0" tIns="0" rIns="0" bIns="0" rtlCol="0"/>
          <a:lstStyle/>
          <a:p>
            <a:endParaRPr sz="2310"/>
          </a:p>
        </p:txBody>
      </p:sp>
      <p:sp>
        <p:nvSpPr>
          <p:cNvPr id="6" name="object 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61</a:t>
            </a:fld>
            <a:endParaRPr sz="1575" dirty="0"/>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4225" y="287814"/>
            <a:ext cx="10762906" cy="1310640"/>
          </a:xfrm>
          <a:prstGeom prst="rect">
            <a:avLst/>
          </a:prstGeom>
        </p:spPr>
        <p:txBody>
          <a:bodyPr vert="horz" wrap="square" lIns="0" tIns="93344" rIns="0" bIns="0" rtlCol="0">
            <a:spAutoFit/>
          </a:bodyPr>
          <a:lstStyle/>
          <a:p>
            <a:pPr marL="12700" marR="5080">
              <a:lnSpc>
                <a:spcPts val="4750"/>
              </a:lnSpc>
              <a:spcBef>
                <a:spcPts val="700"/>
              </a:spcBef>
            </a:pPr>
            <a:r>
              <a:rPr sz="4620" spc="-10" dirty="0"/>
              <a:t>Implementing </a:t>
            </a:r>
            <a:r>
              <a:rPr sz="4620" dirty="0"/>
              <a:t>a barrier with  </a:t>
            </a:r>
            <a:r>
              <a:rPr sz="4620" spc="-10" dirty="0"/>
              <a:t>condition</a:t>
            </a:r>
            <a:r>
              <a:rPr sz="4620" spc="10" dirty="0"/>
              <a:t> </a:t>
            </a:r>
            <a:r>
              <a:rPr sz="4620" spc="-10" dirty="0"/>
              <a:t>variables</a:t>
            </a:r>
            <a:endParaRPr sz="4620" dirty="0"/>
          </a:p>
        </p:txBody>
      </p:sp>
      <p:sp>
        <p:nvSpPr>
          <p:cNvPr id="3" name="object 3"/>
          <p:cNvSpPr/>
          <p:nvPr/>
        </p:nvSpPr>
        <p:spPr>
          <a:xfrm>
            <a:off x="2457128" y="1752218"/>
            <a:ext cx="3445187" cy="1624203"/>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441904" y="3355617"/>
            <a:ext cx="7629754" cy="3750868"/>
          </a:xfrm>
          <a:prstGeom prst="rect">
            <a:avLst/>
          </a:prstGeom>
          <a:blipFill>
            <a:blip r:embed="rId3" cstate="print"/>
            <a:stretch>
              <a:fillRect/>
            </a:stretch>
          </a:blipFill>
        </p:spPr>
        <p:txBody>
          <a:bodyPr wrap="square" lIns="0" tIns="0" rIns="0" bIns="0" rtlCol="0"/>
          <a:lstStyle/>
          <a:p>
            <a:endParaRPr sz="2310" dirty="0"/>
          </a:p>
        </p:txBody>
      </p:sp>
      <p:sp>
        <p:nvSpPr>
          <p:cNvPr id="5" name="object 5"/>
          <p:cNvSpPr/>
          <p:nvPr/>
        </p:nvSpPr>
        <p:spPr>
          <a:xfrm>
            <a:off x="2442705" y="2860358"/>
            <a:ext cx="3124391" cy="0"/>
          </a:xfrm>
          <a:custGeom>
            <a:avLst/>
            <a:gdLst/>
            <a:ahLst/>
            <a:cxnLst/>
            <a:rect l="l" t="t" r="r" b="b"/>
            <a:pathLst>
              <a:path w="2975610">
                <a:moveTo>
                  <a:pt x="0" y="0"/>
                </a:moveTo>
                <a:lnTo>
                  <a:pt x="2975102" y="0"/>
                </a:lnTo>
              </a:path>
            </a:pathLst>
          </a:custGeom>
          <a:ln w="32004">
            <a:solidFill>
              <a:srgbClr val="FF0000"/>
            </a:solidFill>
          </a:ln>
        </p:spPr>
        <p:txBody>
          <a:bodyPr wrap="square" lIns="0" tIns="0" rIns="0" bIns="0" rtlCol="0"/>
          <a:lstStyle/>
          <a:p>
            <a:endParaRPr sz="2310"/>
          </a:p>
        </p:txBody>
      </p:sp>
      <p:sp>
        <p:nvSpPr>
          <p:cNvPr id="6" name="object 6"/>
          <p:cNvSpPr/>
          <p:nvPr/>
        </p:nvSpPr>
        <p:spPr>
          <a:xfrm>
            <a:off x="3404426" y="5364669"/>
            <a:ext cx="4261199" cy="0"/>
          </a:xfrm>
          <a:custGeom>
            <a:avLst/>
            <a:gdLst/>
            <a:ahLst/>
            <a:cxnLst/>
            <a:rect l="l" t="t" r="r" b="b"/>
            <a:pathLst>
              <a:path w="4058285">
                <a:moveTo>
                  <a:pt x="0" y="0"/>
                </a:moveTo>
                <a:lnTo>
                  <a:pt x="4058030" y="0"/>
                </a:lnTo>
              </a:path>
            </a:pathLst>
          </a:custGeom>
          <a:ln w="32004">
            <a:solidFill>
              <a:srgbClr val="FF0000"/>
            </a:solidFill>
          </a:ln>
        </p:spPr>
        <p:txBody>
          <a:bodyPr wrap="square" lIns="0" tIns="0" rIns="0" bIns="0" rtlCol="0"/>
          <a:lstStyle/>
          <a:p>
            <a:endParaRPr sz="2310"/>
          </a:p>
        </p:txBody>
      </p:sp>
      <p:sp>
        <p:nvSpPr>
          <p:cNvPr id="7" name="object 7"/>
          <p:cNvSpPr/>
          <p:nvPr/>
        </p:nvSpPr>
        <p:spPr>
          <a:xfrm>
            <a:off x="4313339" y="5937542"/>
            <a:ext cx="4800600" cy="18002"/>
          </a:xfrm>
          <a:custGeom>
            <a:avLst/>
            <a:gdLst/>
            <a:ahLst/>
            <a:cxnLst/>
            <a:rect l="l" t="t" r="r" b="b"/>
            <a:pathLst>
              <a:path w="4572000" h="17145">
                <a:moveTo>
                  <a:pt x="0" y="16611"/>
                </a:moveTo>
                <a:lnTo>
                  <a:pt x="4571491" y="0"/>
                </a:lnTo>
              </a:path>
            </a:pathLst>
          </a:custGeom>
          <a:ln w="32004">
            <a:solidFill>
              <a:srgbClr val="FF0000"/>
            </a:solidFill>
          </a:ln>
        </p:spPr>
        <p:txBody>
          <a:bodyPr wrap="square" lIns="0" tIns="0" rIns="0" bIns="0" rtlCol="0"/>
          <a:lstStyle/>
          <a:p>
            <a:endParaRPr sz="2310"/>
          </a:p>
        </p:txBody>
      </p:sp>
      <p:sp>
        <p:nvSpPr>
          <p:cNvPr id="8" name="object 8"/>
          <p:cNvSpPr/>
          <p:nvPr/>
        </p:nvSpPr>
        <p:spPr>
          <a:xfrm>
            <a:off x="3010775" y="4238130"/>
            <a:ext cx="2376964" cy="0"/>
          </a:xfrm>
          <a:custGeom>
            <a:avLst/>
            <a:gdLst/>
            <a:ahLst/>
            <a:cxnLst/>
            <a:rect l="l" t="t" r="r" b="b"/>
            <a:pathLst>
              <a:path w="2263775">
                <a:moveTo>
                  <a:pt x="0" y="0"/>
                </a:moveTo>
                <a:lnTo>
                  <a:pt x="2263267" y="0"/>
                </a:lnTo>
              </a:path>
            </a:pathLst>
          </a:custGeom>
          <a:ln w="32004">
            <a:solidFill>
              <a:srgbClr val="FF0000"/>
            </a:solidFill>
          </a:ln>
        </p:spPr>
        <p:txBody>
          <a:bodyPr wrap="square" lIns="0" tIns="0" rIns="0" bIns="0" rtlCol="0"/>
          <a:lstStyle/>
          <a:p>
            <a:endParaRPr sz="2310"/>
          </a:p>
        </p:txBody>
      </p:sp>
      <p:sp>
        <p:nvSpPr>
          <p:cNvPr id="9" name="object 9"/>
          <p:cNvSpPr/>
          <p:nvPr/>
        </p:nvSpPr>
        <p:spPr>
          <a:xfrm>
            <a:off x="3010775" y="6521614"/>
            <a:ext cx="2663000" cy="0"/>
          </a:xfrm>
          <a:custGeom>
            <a:avLst/>
            <a:gdLst/>
            <a:ahLst/>
            <a:cxnLst/>
            <a:rect l="l" t="t" r="r" b="b"/>
            <a:pathLst>
              <a:path w="2536190">
                <a:moveTo>
                  <a:pt x="0" y="0"/>
                </a:moveTo>
                <a:lnTo>
                  <a:pt x="2535935" y="0"/>
                </a:lnTo>
              </a:path>
            </a:pathLst>
          </a:custGeom>
          <a:ln w="32004">
            <a:solidFill>
              <a:srgbClr val="FF0000"/>
            </a:solidFill>
          </a:ln>
        </p:spPr>
        <p:txBody>
          <a:bodyPr wrap="square" lIns="0" tIns="0" rIns="0" bIns="0" rtlCol="0"/>
          <a:lstStyle/>
          <a:p>
            <a:endParaRPr sz="2310"/>
          </a:p>
        </p:txBody>
      </p:sp>
      <p:sp>
        <p:nvSpPr>
          <p:cNvPr id="10" name="object 10"/>
          <p:cNvSpPr/>
          <p:nvPr/>
        </p:nvSpPr>
        <p:spPr>
          <a:xfrm>
            <a:off x="8407854" y="4194506"/>
            <a:ext cx="246428" cy="1428995"/>
          </a:xfrm>
          <a:custGeom>
            <a:avLst/>
            <a:gdLst/>
            <a:ahLst/>
            <a:cxnLst/>
            <a:rect l="l" t="t" r="r" b="b"/>
            <a:pathLst>
              <a:path w="302259" h="1647825">
                <a:moveTo>
                  <a:pt x="258286" y="74148"/>
                </a:moveTo>
                <a:lnTo>
                  <a:pt x="0" y="1645411"/>
                </a:lnTo>
                <a:lnTo>
                  <a:pt x="12446" y="1647443"/>
                </a:lnTo>
                <a:lnTo>
                  <a:pt x="270727" y="76208"/>
                </a:lnTo>
                <a:lnTo>
                  <a:pt x="258286" y="74148"/>
                </a:lnTo>
                <a:close/>
              </a:path>
              <a:path w="302259" h="1647825">
                <a:moveTo>
                  <a:pt x="295982" y="61594"/>
                </a:moveTo>
                <a:lnTo>
                  <a:pt x="260350" y="61594"/>
                </a:lnTo>
                <a:lnTo>
                  <a:pt x="272795" y="63626"/>
                </a:lnTo>
                <a:lnTo>
                  <a:pt x="270727" y="76208"/>
                </a:lnTo>
                <a:lnTo>
                  <a:pt x="302133" y="81406"/>
                </a:lnTo>
                <a:lnTo>
                  <a:pt x="295982" y="61594"/>
                </a:lnTo>
                <a:close/>
              </a:path>
              <a:path w="302259" h="1647825">
                <a:moveTo>
                  <a:pt x="260350" y="61594"/>
                </a:moveTo>
                <a:lnTo>
                  <a:pt x="258286" y="74148"/>
                </a:lnTo>
                <a:lnTo>
                  <a:pt x="270727" y="76208"/>
                </a:lnTo>
                <a:lnTo>
                  <a:pt x="272795" y="63626"/>
                </a:lnTo>
                <a:lnTo>
                  <a:pt x="260350" y="61594"/>
                </a:lnTo>
                <a:close/>
              </a:path>
              <a:path w="302259" h="1647825">
                <a:moveTo>
                  <a:pt x="276860" y="0"/>
                </a:moveTo>
                <a:lnTo>
                  <a:pt x="226948" y="68960"/>
                </a:lnTo>
                <a:lnTo>
                  <a:pt x="258286" y="74148"/>
                </a:lnTo>
                <a:lnTo>
                  <a:pt x="260350" y="61594"/>
                </a:lnTo>
                <a:lnTo>
                  <a:pt x="295982" y="61594"/>
                </a:lnTo>
                <a:lnTo>
                  <a:pt x="276860" y="0"/>
                </a:lnTo>
                <a:close/>
              </a:path>
            </a:pathLst>
          </a:custGeom>
          <a:solidFill>
            <a:srgbClr val="5B9BD4"/>
          </a:solidFill>
          <a:ln w="28575">
            <a:solidFill>
              <a:srgbClr val="1C00FF"/>
            </a:solidFill>
          </a:ln>
        </p:spPr>
        <p:txBody>
          <a:bodyPr wrap="square" lIns="0" tIns="0" rIns="0" bIns="0" rtlCol="0"/>
          <a:lstStyle/>
          <a:p>
            <a:endParaRPr sz="2310"/>
          </a:p>
        </p:txBody>
      </p:sp>
      <p:sp>
        <p:nvSpPr>
          <p:cNvPr id="11" name="object 11"/>
          <p:cNvSpPr txBox="1"/>
          <p:nvPr/>
        </p:nvSpPr>
        <p:spPr>
          <a:xfrm>
            <a:off x="7575079" y="2925298"/>
            <a:ext cx="3972052" cy="1519005"/>
          </a:xfrm>
          <a:prstGeom prst="rect">
            <a:avLst/>
          </a:prstGeom>
        </p:spPr>
        <p:txBody>
          <a:bodyPr vert="horz" wrap="square" lIns="0" tIns="13334" rIns="0" bIns="0" rtlCol="0">
            <a:spAutoFit/>
          </a:bodyPr>
          <a:lstStyle/>
          <a:p>
            <a:pPr marL="12700" marR="5080">
              <a:lnSpc>
                <a:spcPct val="100000"/>
              </a:lnSpc>
              <a:spcBef>
                <a:spcPts val="100"/>
              </a:spcBef>
            </a:pPr>
            <a:r>
              <a:rPr lang="en-US" altLang="zh-CN" sz="1890" b="0" spc="-10" dirty="0" err="1">
                <a:solidFill>
                  <a:srgbClr val="0000FF"/>
                </a:solidFill>
                <a:latin typeface="Calibri Light" panose="020F0302020204030204"/>
                <a:cs typeface="Calibri Light" panose="020F0302020204030204"/>
              </a:rPr>
              <a:t>Pthread_cond_wait</a:t>
            </a:r>
            <a:r>
              <a:rPr lang="en-US" altLang="zh-CN" sz="1890" spc="-10" dirty="0">
                <a:solidFill>
                  <a:srgbClr val="0000FF"/>
                </a:solidFill>
                <a:latin typeface="Calibri Light" panose="020F0302020204030204"/>
                <a:cs typeface="Calibri Light" panose="020F0302020204030204"/>
              </a:rPr>
              <a:t>(…,…){</a:t>
            </a:r>
            <a:endParaRPr lang="en-US" sz="1890" b="0" spc="-10" dirty="0">
              <a:solidFill>
                <a:srgbClr val="0000FF"/>
              </a:solidFill>
              <a:latin typeface="Calibri Light" panose="020F0302020204030204"/>
              <a:cs typeface="Calibri Light" panose="020F0302020204030204"/>
            </a:endParaRPr>
          </a:p>
          <a:p>
            <a:pPr marL="12700" marR="5080">
              <a:lnSpc>
                <a:spcPct val="100000"/>
              </a:lnSpc>
              <a:spcBef>
                <a:spcPts val="100"/>
              </a:spcBef>
            </a:pPr>
            <a:r>
              <a:rPr lang="zh-CN" altLang="en-US" sz="1890" b="0" spc="-10" dirty="0">
                <a:solidFill>
                  <a:srgbClr val="0000FF"/>
                </a:solidFill>
                <a:latin typeface="Calibri Light" panose="020F0302020204030204"/>
                <a:cs typeface="Calibri Light" panose="020F0302020204030204"/>
              </a:rPr>
              <a:t> </a:t>
            </a:r>
            <a:r>
              <a:rPr lang="zh-CN" altLang="en-US" sz="1890" spc="-10" dirty="0">
                <a:solidFill>
                  <a:srgbClr val="0000FF"/>
                </a:solidFill>
                <a:latin typeface="Calibri Light" panose="020F0302020204030204"/>
                <a:cs typeface="Calibri Light" panose="020F0302020204030204"/>
              </a:rPr>
              <a:t>    </a:t>
            </a:r>
            <a:r>
              <a:rPr sz="1890" b="0" spc="-10" dirty="0" err="1">
                <a:solidFill>
                  <a:srgbClr val="0000FF"/>
                </a:solidFill>
                <a:latin typeface="Calibri Light" panose="020F0302020204030204"/>
                <a:cs typeface="Calibri Light" panose="020F0302020204030204"/>
              </a:rPr>
              <a:t>pthread_mutex_unlock</a:t>
            </a:r>
            <a:r>
              <a:rPr sz="1890" b="0" spc="-10" dirty="0">
                <a:solidFill>
                  <a:srgbClr val="0000FF"/>
                </a:solidFill>
                <a:latin typeface="Calibri Light" panose="020F0302020204030204"/>
                <a:cs typeface="Calibri Light" panose="020F0302020204030204"/>
              </a:rPr>
              <a:t>(&amp;mutex);  </a:t>
            </a:r>
            <a:r>
              <a:rPr lang="zh-CN" altLang="en-US" sz="1890" b="0" spc="-10" dirty="0">
                <a:solidFill>
                  <a:srgbClr val="0000FF"/>
                </a:solidFill>
                <a:latin typeface="Calibri Light" panose="020F0302020204030204"/>
                <a:cs typeface="Calibri Light" panose="020F0302020204030204"/>
              </a:rPr>
              <a:t>    </a:t>
            </a:r>
            <a:endParaRPr lang="en-US" altLang="zh-CN" sz="1890" b="0" spc="-10" dirty="0">
              <a:solidFill>
                <a:srgbClr val="0000FF"/>
              </a:solidFill>
              <a:latin typeface="Calibri Light" panose="020F0302020204030204"/>
              <a:cs typeface="Calibri Light" panose="020F0302020204030204"/>
            </a:endParaRPr>
          </a:p>
          <a:p>
            <a:pPr marL="12700" marR="5080">
              <a:lnSpc>
                <a:spcPct val="100000"/>
              </a:lnSpc>
              <a:spcBef>
                <a:spcPts val="100"/>
              </a:spcBef>
            </a:pPr>
            <a:r>
              <a:rPr lang="zh-CN" altLang="en-US" sz="1890" spc="-10" dirty="0">
                <a:solidFill>
                  <a:srgbClr val="0000FF"/>
                </a:solidFill>
                <a:latin typeface="Calibri Light" panose="020F0302020204030204"/>
                <a:cs typeface="Calibri Light" panose="020F0302020204030204"/>
              </a:rPr>
              <a:t>     </a:t>
            </a:r>
            <a:r>
              <a:rPr sz="1890" b="0" spc="-5" dirty="0" err="1">
                <a:solidFill>
                  <a:srgbClr val="0000FF"/>
                </a:solidFill>
                <a:latin typeface="Calibri Light" panose="020F0302020204030204"/>
                <a:cs typeface="Calibri Light" panose="020F0302020204030204"/>
              </a:rPr>
              <a:t>wait_on_signal</a:t>
            </a:r>
            <a:r>
              <a:rPr sz="1890" b="0" spc="-5" dirty="0">
                <a:solidFill>
                  <a:srgbClr val="0000FF"/>
                </a:solidFill>
                <a:latin typeface="Calibri Light" panose="020F0302020204030204"/>
                <a:cs typeface="Calibri Light" panose="020F0302020204030204"/>
              </a:rPr>
              <a:t>(&amp;cond_var);  </a:t>
            </a:r>
            <a:endParaRPr lang="en-US" sz="1890" b="0" spc="-5" dirty="0">
              <a:solidFill>
                <a:srgbClr val="0000FF"/>
              </a:solidFill>
              <a:latin typeface="Calibri Light" panose="020F0302020204030204"/>
              <a:cs typeface="Calibri Light" panose="020F0302020204030204"/>
            </a:endParaRPr>
          </a:p>
          <a:p>
            <a:pPr marL="12700" marR="5080">
              <a:lnSpc>
                <a:spcPct val="100000"/>
              </a:lnSpc>
              <a:spcBef>
                <a:spcPts val="100"/>
              </a:spcBef>
            </a:pPr>
            <a:r>
              <a:rPr lang="zh-CN" altLang="en-US" sz="1890" spc="-5" dirty="0">
                <a:solidFill>
                  <a:srgbClr val="1C00FF"/>
                </a:solidFill>
                <a:latin typeface="Calibri Light" panose="020F0302020204030204"/>
                <a:cs typeface="Calibri Light" panose="020F0302020204030204"/>
              </a:rPr>
              <a:t>     </a:t>
            </a:r>
            <a:r>
              <a:rPr sz="1890" b="0" spc="-10" dirty="0" err="1">
                <a:solidFill>
                  <a:srgbClr val="1C00FF"/>
                </a:solidFill>
                <a:latin typeface="Calibri Light" panose="020F0302020204030204"/>
                <a:cs typeface="Calibri Light" panose="020F0302020204030204"/>
              </a:rPr>
              <a:t>pthread_mutex_lock</a:t>
            </a:r>
            <a:r>
              <a:rPr sz="1890" b="0" spc="-10" dirty="0">
                <a:solidFill>
                  <a:srgbClr val="1C00FF"/>
                </a:solidFill>
                <a:latin typeface="Calibri Light" panose="020F0302020204030204"/>
                <a:cs typeface="Calibri Light" panose="020F0302020204030204"/>
              </a:rPr>
              <a:t>(&amp;mutex)</a:t>
            </a:r>
            <a:r>
              <a:rPr lang="en-US" altLang="zh-CN" sz="1890" b="0" spc="-10" dirty="0">
                <a:solidFill>
                  <a:srgbClr val="1C00FF"/>
                </a:solidFill>
                <a:latin typeface="Calibri Light" panose="020F0302020204030204"/>
                <a:cs typeface="Calibri Light" panose="020F0302020204030204"/>
              </a:rPr>
              <a:t>;</a:t>
            </a:r>
            <a:endParaRPr lang="en-US" sz="1890" spc="-10" dirty="0">
              <a:solidFill>
                <a:srgbClr val="1C00FF"/>
              </a:solidFill>
              <a:latin typeface="Calibri Light" panose="020F0302020204030204"/>
              <a:cs typeface="Calibri Light" panose="020F0302020204030204"/>
            </a:endParaRPr>
          </a:p>
          <a:p>
            <a:pPr marL="12700" marR="5080">
              <a:lnSpc>
                <a:spcPct val="100000"/>
              </a:lnSpc>
              <a:spcBef>
                <a:spcPts val="100"/>
              </a:spcBef>
            </a:pPr>
            <a:r>
              <a:rPr lang="en-US" altLang="zh-CN" sz="1890" dirty="0">
                <a:solidFill>
                  <a:srgbClr val="1C00FF"/>
                </a:solidFill>
                <a:latin typeface="Calibri Light" panose="020F0302020204030204"/>
                <a:cs typeface="Calibri Light" panose="020F0302020204030204"/>
              </a:rPr>
              <a:t>}</a:t>
            </a:r>
            <a:endParaRPr sz="1890" dirty="0">
              <a:solidFill>
                <a:srgbClr val="1C00FF"/>
              </a:solidFill>
              <a:latin typeface="Calibri Light" panose="020F0302020204030204"/>
              <a:cs typeface="Calibri Light" panose="020F0302020204030204"/>
            </a:endParaRPr>
          </a:p>
        </p:txBody>
      </p:sp>
      <p:sp>
        <p:nvSpPr>
          <p:cNvPr id="16" name="object 16"/>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17" name="文本框 16"/>
          <p:cNvSpPr txBox="1"/>
          <p:nvPr/>
        </p:nvSpPr>
        <p:spPr>
          <a:xfrm>
            <a:off x="8560779" y="4592702"/>
            <a:ext cx="1887220" cy="446405"/>
          </a:xfrm>
          <a:prstGeom prst="rect">
            <a:avLst/>
          </a:prstGeom>
          <a:noFill/>
        </p:spPr>
        <p:txBody>
          <a:bodyPr wrap="none" rtlCol="0">
            <a:spAutoFit/>
          </a:bodyPr>
          <a:lstStyle/>
          <a:p>
            <a:r>
              <a:rPr lang="en-US" altLang="zh-CN" sz="2310" dirty="0"/>
              <a:t>Function body</a:t>
            </a:r>
            <a:endParaRPr lang="en-US" sz="2310" dirty="0"/>
          </a:p>
        </p:txBody>
      </p:sp>
      <p:cxnSp>
        <p:nvCxnSpPr>
          <p:cNvPr id="13" name="连接符: 曲线 12">
            <a:extLst>
              <a:ext uri="{FF2B5EF4-FFF2-40B4-BE49-F238E27FC236}">
                <a16:creationId xmlns:a16="http://schemas.microsoft.com/office/drawing/2014/main" id="{B3DE915D-634C-4989-993C-E40EC702B0A5}"/>
              </a:ext>
            </a:extLst>
          </p:cNvPr>
          <p:cNvCxnSpPr>
            <a:cxnSpLocks/>
          </p:cNvCxnSpPr>
          <p:nvPr/>
        </p:nvCxnSpPr>
        <p:spPr>
          <a:xfrm rot="10800000" flipV="1">
            <a:off x="6832850" y="4104506"/>
            <a:ext cx="4152524" cy="2232247"/>
          </a:xfrm>
          <a:prstGeom prst="curvedConnector3">
            <a:avLst>
              <a:gd name="adj1" fmla="val -2174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连接符: 曲线 17">
            <a:extLst>
              <a:ext uri="{FF2B5EF4-FFF2-40B4-BE49-F238E27FC236}">
                <a16:creationId xmlns:a16="http://schemas.microsoft.com/office/drawing/2014/main" id="{DB410669-7D0F-40D7-B2CA-2BCE42CD906F}"/>
              </a:ext>
            </a:extLst>
          </p:cNvPr>
          <p:cNvCxnSpPr>
            <a:cxnSpLocks/>
          </p:cNvCxnSpPr>
          <p:nvPr/>
        </p:nvCxnSpPr>
        <p:spPr>
          <a:xfrm rot="10800000" flipV="1">
            <a:off x="6544816" y="3376421"/>
            <a:ext cx="1230336" cy="728086"/>
          </a:xfrm>
          <a:prstGeom prst="curvedConnector3">
            <a:avLst>
              <a:gd name="adj1" fmla="val 50000"/>
            </a:avLst>
          </a:prstGeom>
          <a:ln w="28575">
            <a:solidFill>
              <a:srgbClr val="1C00FF"/>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C688B6F-A786-A948-9315-81597AB58BB5}"/>
              </a:ext>
            </a:extLst>
          </p:cNvPr>
          <p:cNvSpPr txBox="1"/>
          <p:nvPr/>
        </p:nvSpPr>
        <p:spPr>
          <a:xfrm>
            <a:off x="6500066" y="3322189"/>
            <a:ext cx="479618" cy="416877"/>
          </a:xfrm>
          <a:prstGeom prst="rect">
            <a:avLst/>
          </a:prstGeom>
        </p:spPr>
        <p:txBody>
          <a:bodyPr vert="horz" wrap="none" lIns="0" tIns="63341" rIns="0" bIns="0" rtlCol="0">
            <a:spAutoFit/>
          </a:bodyPr>
          <a:lstStyle/>
          <a:p>
            <a:pPr marL="12065" marR="5080" algn="l">
              <a:lnSpc>
                <a:spcPts val="3030"/>
              </a:lnSpc>
              <a:spcBef>
                <a:spcPts val="475"/>
              </a:spcBef>
              <a:tabLst>
                <a:tab pos="241935" algn="l"/>
              </a:tabLst>
            </a:pPr>
            <a:r>
              <a:rPr lang="en-US" altLang="zh-CN" sz="2000" spc="-5" dirty="0">
                <a:solidFill>
                  <a:srgbClr val="1C00FF"/>
                </a:solidFill>
                <a:latin typeface="Comic Sans MS" panose="030F0702030302020204" pitchFamily="66" charset="0"/>
                <a:cs typeface="Calibri" panose="020F0502020204030204"/>
              </a:rPr>
              <a:t>pair</a:t>
            </a:r>
            <a:endParaRPr lang="en-CN" sz="2000" spc="-5" dirty="0">
              <a:solidFill>
                <a:srgbClr val="1C00FF"/>
              </a:solidFill>
              <a:latin typeface="Comic Sans MS" panose="030F0702030302020204" pitchFamily="66" charset="0"/>
              <a:cs typeface="Calibri" panose="020F0502020204030204"/>
            </a:endParaRPr>
          </a:p>
        </p:txBody>
      </p:sp>
      <p:sp>
        <p:nvSpPr>
          <p:cNvPr id="20" name="TextBox 19">
            <a:extLst>
              <a:ext uri="{FF2B5EF4-FFF2-40B4-BE49-F238E27FC236}">
                <a16:creationId xmlns:a16="http://schemas.microsoft.com/office/drawing/2014/main" id="{14556928-F1E1-FD4A-82BF-DDE895348FFA}"/>
              </a:ext>
            </a:extLst>
          </p:cNvPr>
          <p:cNvSpPr txBox="1"/>
          <p:nvPr/>
        </p:nvSpPr>
        <p:spPr>
          <a:xfrm>
            <a:off x="10745565" y="5623502"/>
            <a:ext cx="479618" cy="416877"/>
          </a:xfrm>
          <a:prstGeom prst="rect">
            <a:avLst/>
          </a:prstGeom>
        </p:spPr>
        <p:txBody>
          <a:bodyPr vert="horz" wrap="none" lIns="0" tIns="63341" rIns="0" bIns="0" rtlCol="0">
            <a:spAutoFit/>
          </a:bodyPr>
          <a:lstStyle/>
          <a:p>
            <a:pPr marL="12065" marR="5080" algn="l">
              <a:lnSpc>
                <a:spcPts val="3030"/>
              </a:lnSpc>
              <a:spcBef>
                <a:spcPts val="475"/>
              </a:spcBef>
              <a:tabLst>
                <a:tab pos="241935" algn="l"/>
              </a:tabLst>
            </a:pPr>
            <a:r>
              <a:rPr lang="en-US" altLang="zh-CN" sz="2000" spc="-5" dirty="0">
                <a:solidFill>
                  <a:srgbClr val="1C00FF"/>
                </a:solidFill>
                <a:latin typeface="Comic Sans MS" panose="030F0702030302020204" pitchFamily="66" charset="0"/>
                <a:cs typeface="Calibri" panose="020F0502020204030204"/>
              </a:rPr>
              <a:t>pair</a:t>
            </a:r>
            <a:endParaRPr lang="en-CN" sz="2000" spc="-5" dirty="0">
              <a:solidFill>
                <a:srgbClr val="1C00FF"/>
              </a:solidFill>
              <a:latin typeface="Comic Sans MS" panose="030F0702030302020204" pitchFamily="66" charset="0"/>
              <a:cs typeface="Calibri" panose="020F0502020204030204"/>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2" name="object 2"/>
          <p:cNvSpPr txBox="1"/>
          <p:nvPr/>
        </p:nvSpPr>
        <p:spPr>
          <a:xfrm>
            <a:off x="2441372" y="4400017"/>
            <a:ext cx="5025295" cy="884555"/>
          </a:xfrm>
          <a:prstGeom prst="rect">
            <a:avLst/>
          </a:prstGeom>
        </p:spPr>
        <p:txBody>
          <a:bodyPr vert="horz" wrap="square" lIns="0" tIns="13334" rIns="0" bIns="0" rtlCol="0">
            <a:spAutoFit/>
          </a:bodyPr>
          <a:lstStyle/>
          <a:p>
            <a:pPr marL="12700">
              <a:lnSpc>
                <a:spcPct val="100000"/>
              </a:lnSpc>
              <a:spcBef>
                <a:spcPts val="100"/>
              </a:spcBef>
            </a:pPr>
            <a:r>
              <a:rPr sz="5670" b="0" spc="-35" dirty="0">
                <a:latin typeface="Calibri Light" panose="020F0302020204030204"/>
                <a:cs typeface="Calibri Light" panose="020F0302020204030204"/>
              </a:rPr>
              <a:t>Read-Write</a:t>
            </a:r>
            <a:r>
              <a:rPr sz="5670" b="0" spc="-100" dirty="0">
                <a:latin typeface="Calibri Light" panose="020F0302020204030204"/>
                <a:cs typeface="Calibri Light" panose="020F0302020204030204"/>
              </a:rPr>
              <a:t> </a:t>
            </a:r>
            <a:r>
              <a:rPr sz="5670" b="0" spc="-10" dirty="0">
                <a:latin typeface="Calibri Light" panose="020F0302020204030204"/>
                <a:cs typeface="Calibri Light" panose="020F0302020204030204"/>
              </a:rPr>
              <a:t>Locks</a:t>
            </a:r>
            <a:endParaRPr sz="5670">
              <a:latin typeface="Calibri Light" panose="020F0302020204030204"/>
              <a:cs typeface="Calibri Light" panose="020F0302020204030204"/>
            </a:endParaRPr>
          </a:p>
        </p:txBody>
      </p:sp>
      <p:sp>
        <p:nvSpPr>
          <p:cNvPr id="3" name="object 3"/>
          <p:cNvSpPr/>
          <p:nvPr/>
        </p:nvSpPr>
        <p:spPr>
          <a:xfrm>
            <a:off x="2545917" y="1652548"/>
            <a:ext cx="3200005" cy="2260004"/>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63</a:t>
            </a:fld>
            <a:endParaRPr sz="1575" dirty="0"/>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1000125" y="216059"/>
            <a:ext cx="10762906" cy="1311910"/>
          </a:xfrm>
          <a:prstGeom prst="rect">
            <a:avLst/>
          </a:prstGeom>
        </p:spPr>
        <p:txBody>
          <a:bodyPr vert="horz" wrap="square" lIns="0" tIns="94011" rIns="0" bIns="0" rtlCol="0">
            <a:spAutoFit/>
          </a:bodyPr>
          <a:lstStyle/>
          <a:p>
            <a:pPr marL="12700" marR="5080">
              <a:lnSpc>
                <a:spcPts val="4750"/>
              </a:lnSpc>
              <a:spcBef>
                <a:spcPts val="705"/>
              </a:spcBef>
            </a:pPr>
            <a:r>
              <a:rPr sz="4620" spc="-15" dirty="0"/>
              <a:t>Controlling </a:t>
            </a:r>
            <a:r>
              <a:rPr sz="4620" dirty="0"/>
              <a:t>access </a:t>
            </a:r>
            <a:r>
              <a:rPr sz="4620" spc="-25" dirty="0"/>
              <a:t>to </a:t>
            </a:r>
            <a:r>
              <a:rPr sz="4620" dirty="0"/>
              <a:t>a </a:t>
            </a:r>
            <a:r>
              <a:rPr sz="4620" spc="-15" dirty="0"/>
              <a:t>large, </a:t>
            </a:r>
            <a:r>
              <a:rPr sz="4620" spc="-10" dirty="0"/>
              <a:t>shared  </a:t>
            </a:r>
            <a:r>
              <a:rPr sz="4620" spc="-25" dirty="0"/>
              <a:t>data</a:t>
            </a:r>
            <a:r>
              <a:rPr sz="4620" spc="-5" dirty="0"/>
              <a:t> </a:t>
            </a:r>
            <a:r>
              <a:rPr sz="4620" spc="-10" dirty="0"/>
              <a:t>structure</a:t>
            </a:r>
            <a:endParaRPr sz="4620"/>
          </a:p>
        </p:txBody>
      </p:sp>
      <p:sp>
        <p:nvSpPr>
          <p:cNvPr id="3" name="object 3"/>
          <p:cNvSpPr txBox="1"/>
          <p:nvPr/>
        </p:nvSpPr>
        <p:spPr>
          <a:xfrm>
            <a:off x="2401367" y="1993315"/>
            <a:ext cx="8461723" cy="2219325"/>
          </a:xfrm>
          <a:prstGeom prst="rect">
            <a:avLst/>
          </a:prstGeom>
        </p:spPr>
        <p:txBody>
          <a:bodyPr vert="horz" wrap="square" lIns="0" tIns="12668" rIns="0" bIns="0" rtlCol="0">
            <a:spAutoFit/>
          </a:bodyPr>
          <a:lstStyle/>
          <a:p>
            <a:pPr marL="241300" indent="-228600">
              <a:lnSpc>
                <a:spcPct val="100000"/>
              </a:lnSpc>
              <a:spcBef>
                <a:spcPts val="95"/>
              </a:spcBef>
              <a:buFont typeface="Arial" panose="020B0604020202020204"/>
              <a:buChar char="•"/>
              <a:tabLst>
                <a:tab pos="241300" algn="l"/>
              </a:tabLst>
            </a:pPr>
            <a:r>
              <a:rPr sz="2940" spc="-25" dirty="0">
                <a:latin typeface="Comic Sans MS" panose="030F0702030302020204" pitchFamily="66" charset="0"/>
                <a:cs typeface="Calibri" panose="020F0502020204030204"/>
              </a:rPr>
              <a:t>Let’s </a:t>
            </a:r>
            <a:r>
              <a:rPr sz="2940" spc="-5" dirty="0">
                <a:latin typeface="Comic Sans MS" panose="030F0702030302020204" pitchFamily="66" charset="0"/>
                <a:cs typeface="Calibri" panose="020F0502020204030204"/>
              </a:rPr>
              <a:t>look </a:t>
            </a:r>
            <a:r>
              <a:rPr sz="2940" spc="-15" dirty="0">
                <a:latin typeface="Comic Sans MS" panose="030F0702030302020204" pitchFamily="66" charset="0"/>
                <a:cs typeface="Calibri" panose="020F0502020204030204"/>
              </a:rPr>
              <a:t>at </a:t>
            </a:r>
            <a:r>
              <a:rPr sz="2940" spc="-5" dirty="0">
                <a:latin typeface="Comic Sans MS" panose="030F0702030302020204" pitchFamily="66" charset="0"/>
                <a:cs typeface="Calibri" panose="020F0502020204030204"/>
              </a:rPr>
              <a:t>an</a:t>
            </a:r>
            <a:r>
              <a:rPr sz="2940" spc="50"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example.</a:t>
            </a:r>
            <a:endParaRPr sz="2940" dirty="0">
              <a:latin typeface="Comic Sans MS" panose="030F0702030302020204" pitchFamily="66" charset="0"/>
              <a:cs typeface="Calibri" panose="020F0502020204030204"/>
            </a:endParaRPr>
          </a:p>
          <a:p>
            <a:pPr>
              <a:lnSpc>
                <a:spcPct val="100000"/>
              </a:lnSpc>
              <a:buFont typeface="Arial" panose="020B0604020202020204"/>
              <a:buChar char="•"/>
            </a:pPr>
            <a:endParaRPr sz="3465" dirty="0">
              <a:latin typeface="Comic Sans MS" panose="030F0702030302020204" pitchFamily="66" charset="0"/>
              <a:cs typeface="Calibri" panose="020F0502020204030204"/>
            </a:endParaRPr>
          </a:p>
          <a:p>
            <a:pPr marL="241300" marR="5080" indent="-228600">
              <a:lnSpc>
                <a:spcPct val="90000"/>
              </a:lnSpc>
              <a:spcBef>
                <a:spcPts val="5"/>
              </a:spcBef>
              <a:buFont typeface="Arial" panose="020B0604020202020204"/>
              <a:buChar char="•"/>
              <a:tabLst>
                <a:tab pos="241300" algn="l"/>
              </a:tabLst>
            </a:pPr>
            <a:r>
              <a:rPr sz="2940" spc="-10" dirty="0">
                <a:latin typeface="Comic Sans MS" panose="030F0702030302020204" pitchFamily="66" charset="0"/>
                <a:cs typeface="Calibri" panose="020F0502020204030204"/>
              </a:rPr>
              <a:t>Suppose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shared </a:t>
            </a:r>
            <a:r>
              <a:rPr sz="2940" spc="-20" dirty="0">
                <a:latin typeface="Comic Sans MS" panose="030F0702030302020204" pitchFamily="66" charset="0"/>
                <a:cs typeface="Calibri" panose="020F0502020204030204"/>
              </a:rPr>
              <a:t>data </a:t>
            </a:r>
            <a:r>
              <a:rPr sz="2940" spc="-15" dirty="0">
                <a:latin typeface="Comic Sans MS" panose="030F0702030302020204" pitchFamily="66" charset="0"/>
                <a:cs typeface="Calibri" panose="020F0502020204030204"/>
              </a:rPr>
              <a:t>structure </a:t>
            </a:r>
            <a:r>
              <a:rPr sz="2940" spc="-5" dirty="0">
                <a:latin typeface="Comic Sans MS" panose="030F0702030302020204" pitchFamily="66" charset="0"/>
                <a:cs typeface="Calibri" panose="020F0502020204030204"/>
              </a:rPr>
              <a:t>is a </a:t>
            </a:r>
            <a:r>
              <a:rPr sz="2940" spc="-10" dirty="0">
                <a:solidFill>
                  <a:srgbClr val="0000FF"/>
                </a:solidFill>
                <a:latin typeface="Comic Sans MS" panose="030F0702030302020204" pitchFamily="66" charset="0"/>
                <a:cs typeface="Calibri" panose="020F0502020204030204"/>
              </a:rPr>
              <a:t>sorted </a:t>
            </a:r>
            <a:r>
              <a:rPr sz="2940" spc="-20" dirty="0">
                <a:solidFill>
                  <a:srgbClr val="0000FF"/>
                </a:solidFill>
                <a:latin typeface="Comic Sans MS" panose="030F0702030302020204" pitchFamily="66" charset="0"/>
                <a:cs typeface="Calibri" panose="020F0502020204030204"/>
              </a:rPr>
              <a:t>linked  </a:t>
            </a:r>
            <a:r>
              <a:rPr sz="2940" spc="-15" dirty="0">
                <a:solidFill>
                  <a:srgbClr val="0000FF"/>
                </a:solidFill>
                <a:latin typeface="Comic Sans MS" panose="030F0702030302020204" pitchFamily="66" charset="0"/>
                <a:cs typeface="Calibri" panose="020F0502020204030204"/>
              </a:rPr>
              <a:t>list </a:t>
            </a:r>
            <a:r>
              <a:rPr sz="2940" spc="-5" dirty="0">
                <a:solidFill>
                  <a:srgbClr val="0000FF"/>
                </a:solidFill>
                <a:latin typeface="Comic Sans MS" panose="030F0702030302020204" pitchFamily="66" charset="0"/>
                <a:cs typeface="Calibri" panose="020F0502020204030204"/>
              </a:rPr>
              <a:t>of </a:t>
            </a:r>
            <a:r>
              <a:rPr sz="2940" spc="-10" dirty="0">
                <a:solidFill>
                  <a:srgbClr val="0000FF"/>
                </a:solidFill>
                <a:latin typeface="Comic Sans MS" panose="030F0702030302020204" pitchFamily="66" charset="0"/>
                <a:cs typeface="Calibri" panose="020F0502020204030204"/>
              </a:rPr>
              <a:t>ints</a:t>
            </a:r>
            <a:r>
              <a:rPr sz="2940" spc="-1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and the </a:t>
            </a:r>
            <a:r>
              <a:rPr sz="2940" spc="-15" dirty="0">
                <a:latin typeface="Comic Sans MS" panose="030F0702030302020204" pitchFamily="66" charset="0"/>
                <a:cs typeface="Calibri" panose="020F0502020204030204"/>
              </a:rPr>
              <a:t>operations </a:t>
            </a:r>
            <a:r>
              <a:rPr sz="2940" spc="-5" dirty="0">
                <a:latin typeface="Comic Sans MS" panose="030F0702030302020204" pitchFamily="66" charset="0"/>
                <a:cs typeface="Calibri" panose="020F0502020204030204"/>
              </a:rPr>
              <a:t>of </a:t>
            </a:r>
            <a:r>
              <a:rPr sz="2940" spc="-20" dirty="0">
                <a:latin typeface="Comic Sans MS" panose="030F0702030302020204" pitchFamily="66" charset="0"/>
                <a:cs typeface="Calibri" panose="020F0502020204030204"/>
              </a:rPr>
              <a:t>interest are </a:t>
            </a:r>
            <a:r>
              <a:rPr sz="2940" spc="-40" dirty="0">
                <a:solidFill>
                  <a:srgbClr val="0000FF"/>
                </a:solidFill>
                <a:latin typeface="Comic Sans MS" panose="030F0702030302020204" pitchFamily="66" charset="0"/>
                <a:cs typeface="Calibri" panose="020F0502020204030204"/>
              </a:rPr>
              <a:t>Member,  </a:t>
            </a:r>
            <a:r>
              <a:rPr sz="2940" spc="-5" dirty="0">
                <a:solidFill>
                  <a:srgbClr val="0000FF"/>
                </a:solidFill>
                <a:latin typeface="Comic Sans MS" panose="030F0702030302020204" pitchFamily="66" charset="0"/>
                <a:cs typeface="Calibri" panose="020F0502020204030204"/>
              </a:rPr>
              <a:t>Insert, and</a:t>
            </a:r>
            <a:r>
              <a:rPr sz="2940" spc="20" dirty="0">
                <a:solidFill>
                  <a:srgbClr val="0000FF"/>
                </a:solidFill>
                <a:latin typeface="Comic Sans MS" panose="030F0702030302020204" pitchFamily="66" charset="0"/>
                <a:cs typeface="Calibri" panose="020F0502020204030204"/>
              </a:rPr>
              <a:t> </a:t>
            </a:r>
            <a:r>
              <a:rPr sz="2940" spc="-10" dirty="0">
                <a:solidFill>
                  <a:srgbClr val="0000FF"/>
                </a:solidFill>
                <a:latin typeface="Comic Sans MS" panose="030F0702030302020204" pitchFamily="66" charset="0"/>
                <a:cs typeface="Calibri" panose="020F0502020204030204"/>
              </a:rPr>
              <a:t>Delete</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5" dirty="0"/>
              <a:t>Linked</a:t>
            </a:r>
            <a:r>
              <a:rPr sz="4620" spc="-95" dirty="0"/>
              <a:t> </a:t>
            </a:r>
            <a:r>
              <a:rPr sz="4620" spc="-10" dirty="0"/>
              <a:t>Lists</a:t>
            </a:r>
            <a:endParaRPr sz="4620"/>
          </a:p>
        </p:txBody>
      </p:sp>
      <p:sp>
        <p:nvSpPr>
          <p:cNvPr id="3" name="object 3"/>
          <p:cNvSpPr/>
          <p:nvPr/>
        </p:nvSpPr>
        <p:spPr>
          <a:xfrm>
            <a:off x="2671478" y="1867391"/>
            <a:ext cx="7498635" cy="939795"/>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3706862" y="3528441"/>
            <a:ext cx="5500688" cy="1580196"/>
          </a:xfrm>
          <a:prstGeom prst="rect">
            <a:avLst/>
          </a:prstGeom>
          <a:blipFill>
            <a:blip r:embed="rId3" cstate="print"/>
            <a:stretch>
              <a:fillRect/>
            </a:stretch>
          </a:blipFill>
        </p:spPr>
        <p:txBody>
          <a:bodyPr wrap="square" lIns="0" tIns="0" rIns="0" bIns="0" rtlCol="0"/>
          <a:lstStyle/>
          <a:p>
            <a:endParaRPr sz="2310"/>
          </a:p>
        </p:txBody>
      </p:sp>
      <p:sp>
        <p:nvSpPr>
          <p:cNvPr id="5" name="object 5"/>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65</a:t>
            </a:fld>
            <a:endParaRPr sz="1575" dirty="0"/>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5" dirty="0"/>
              <a:t>Linked </a:t>
            </a:r>
            <a:r>
              <a:rPr sz="4620" spc="-15" dirty="0"/>
              <a:t>List</a:t>
            </a:r>
            <a:r>
              <a:rPr sz="4620" spc="-60" dirty="0"/>
              <a:t> </a:t>
            </a:r>
            <a:r>
              <a:rPr sz="4620" spc="-10" dirty="0"/>
              <a:t>Membership</a:t>
            </a:r>
            <a:endParaRPr sz="4620"/>
          </a:p>
        </p:txBody>
      </p:sp>
      <p:sp>
        <p:nvSpPr>
          <p:cNvPr id="3" name="object 3"/>
          <p:cNvSpPr/>
          <p:nvPr/>
        </p:nvSpPr>
        <p:spPr>
          <a:xfrm>
            <a:off x="2433896" y="1945830"/>
            <a:ext cx="7759410" cy="3670073"/>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66</a:t>
            </a:fld>
            <a:endParaRPr sz="1575" dirty="0"/>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Inserting </a:t>
            </a:r>
            <a:r>
              <a:rPr sz="4620" dirty="0"/>
              <a:t>a </a:t>
            </a:r>
            <a:r>
              <a:rPr sz="4620" spc="-5" dirty="0"/>
              <a:t>new </a:t>
            </a:r>
            <a:r>
              <a:rPr sz="4620" dirty="0"/>
              <a:t>node </a:t>
            </a:r>
            <a:r>
              <a:rPr sz="4620" spc="-20" dirty="0"/>
              <a:t>into </a:t>
            </a:r>
            <a:r>
              <a:rPr sz="4620" dirty="0"/>
              <a:t>a</a:t>
            </a:r>
            <a:r>
              <a:rPr sz="4620" spc="-40" dirty="0"/>
              <a:t> </a:t>
            </a:r>
            <a:r>
              <a:rPr sz="4620" spc="-10" dirty="0"/>
              <a:t>list</a:t>
            </a:r>
            <a:endParaRPr sz="4620"/>
          </a:p>
        </p:txBody>
      </p:sp>
      <p:sp>
        <p:nvSpPr>
          <p:cNvPr id="3" name="object 3"/>
          <p:cNvSpPr/>
          <p:nvPr/>
        </p:nvSpPr>
        <p:spPr>
          <a:xfrm>
            <a:off x="2665504" y="1921039"/>
            <a:ext cx="7498987" cy="3610451"/>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67</a:t>
            </a:fld>
            <a:endParaRPr sz="1575" dirty="0"/>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6204"/>
            <a:ext cx="10762906" cy="722630"/>
          </a:xfrm>
          <a:prstGeom prst="rect">
            <a:avLst/>
          </a:prstGeom>
        </p:spPr>
        <p:txBody>
          <a:bodyPr vert="horz" wrap="square" lIns="0" tIns="13334" rIns="0" bIns="0" rtlCol="0">
            <a:spAutoFit/>
          </a:bodyPr>
          <a:lstStyle/>
          <a:p>
            <a:pPr marL="12700">
              <a:lnSpc>
                <a:spcPct val="100000"/>
              </a:lnSpc>
              <a:spcBef>
                <a:spcPts val="100"/>
              </a:spcBef>
            </a:pPr>
            <a:r>
              <a:rPr sz="4620" spc="-5" dirty="0"/>
              <a:t>Inserting </a:t>
            </a:r>
            <a:r>
              <a:rPr sz="4620" dirty="0"/>
              <a:t>a </a:t>
            </a:r>
            <a:r>
              <a:rPr sz="4620" spc="-10" dirty="0"/>
              <a:t>new </a:t>
            </a:r>
            <a:r>
              <a:rPr sz="4620" dirty="0"/>
              <a:t>node </a:t>
            </a:r>
            <a:r>
              <a:rPr sz="4620" spc="-25" dirty="0"/>
              <a:t>into </a:t>
            </a:r>
            <a:r>
              <a:rPr sz="4620" dirty="0"/>
              <a:t>a</a:t>
            </a:r>
            <a:r>
              <a:rPr sz="4620" spc="-5" dirty="0"/>
              <a:t> </a:t>
            </a:r>
            <a:r>
              <a:rPr sz="4620" spc="-10" dirty="0"/>
              <a:t>list</a:t>
            </a:r>
            <a:endParaRPr sz="4620"/>
          </a:p>
        </p:txBody>
      </p:sp>
      <p:sp>
        <p:nvSpPr>
          <p:cNvPr id="3" name="object 3"/>
          <p:cNvSpPr/>
          <p:nvPr/>
        </p:nvSpPr>
        <p:spPr>
          <a:xfrm>
            <a:off x="2898480" y="1385265"/>
            <a:ext cx="5905244" cy="5304624"/>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68</a:t>
            </a:fld>
            <a:endParaRPr sz="1575" dirty="0"/>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Deleting </a:t>
            </a:r>
            <a:r>
              <a:rPr sz="4620" dirty="0"/>
              <a:t>a node </a:t>
            </a:r>
            <a:r>
              <a:rPr sz="4620" spc="-20" dirty="0"/>
              <a:t>from </a:t>
            </a:r>
            <a:r>
              <a:rPr sz="4620" dirty="0"/>
              <a:t>a </a:t>
            </a:r>
            <a:r>
              <a:rPr sz="4620" spc="-30" dirty="0"/>
              <a:t>linked</a:t>
            </a:r>
            <a:r>
              <a:rPr sz="4620" spc="-15" dirty="0"/>
              <a:t> list</a:t>
            </a:r>
            <a:endParaRPr sz="4620"/>
          </a:p>
        </p:txBody>
      </p:sp>
      <p:sp>
        <p:nvSpPr>
          <p:cNvPr id="3" name="object 3"/>
          <p:cNvSpPr/>
          <p:nvPr/>
        </p:nvSpPr>
        <p:spPr>
          <a:xfrm>
            <a:off x="2729049" y="2070569"/>
            <a:ext cx="7498282" cy="2729662"/>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69</a:t>
            </a:fld>
            <a:endParaRPr sz="1575" dirty="0"/>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6204"/>
            <a:ext cx="10762906" cy="722630"/>
          </a:xfrm>
          <a:prstGeom prst="rect">
            <a:avLst/>
          </a:prstGeom>
        </p:spPr>
        <p:txBody>
          <a:bodyPr vert="horz" wrap="square" lIns="0" tIns="13334" rIns="0" bIns="0" rtlCol="0">
            <a:spAutoFit/>
          </a:bodyPr>
          <a:lstStyle/>
          <a:p>
            <a:pPr marL="12700">
              <a:lnSpc>
                <a:spcPct val="100000"/>
              </a:lnSpc>
              <a:spcBef>
                <a:spcPts val="100"/>
              </a:spcBef>
            </a:pPr>
            <a:r>
              <a:rPr sz="4620" spc="-5" dirty="0"/>
              <a:t>Deleting </a:t>
            </a:r>
            <a:r>
              <a:rPr sz="4620" dirty="0"/>
              <a:t>a node </a:t>
            </a:r>
            <a:r>
              <a:rPr sz="4620" spc="-20" dirty="0"/>
              <a:t>from </a:t>
            </a:r>
            <a:r>
              <a:rPr sz="4620" dirty="0"/>
              <a:t>a </a:t>
            </a:r>
            <a:r>
              <a:rPr sz="4620" spc="-30" dirty="0"/>
              <a:t>linked</a:t>
            </a:r>
            <a:r>
              <a:rPr sz="4620" spc="-15" dirty="0"/>
              <a:t> list</a:t>
            </a:r>
            <a:endParaRPr sz="4620"/>
          </a:p>
        </p:txBody>
      </p:sp>
      <p:sp>
        <p:nvSpPr>
          <p:cNvPr id="3" name="object 3"/>
          <p:cNvSpPr/>
          <p:nvPr/>
        </p:nvSpPr>
        <p:spPr>
          <a:xfrm>
            <a:off x="2731602" y="1296883"/>
            <a:ext cx="7290264" cy="5420237"/>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fld id="{81D60167-4931-47E6-BA6A-407CBD079E47}" type="slidenum">
              <a:rPr sz="1575" dirty="0"/>
              <a:t>70</a:t>
            </a:fld>
            <a:endParaRPr sz="1575" dirty="0"/>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A </a:t>
            </a:r>
            <a:r>
              <a:rPr sz="4620" spc="-5" dirty="0"/>
              <a:t>Multi-Threaded </a:t>
            </a:r>
            <a:r>
              <a:rPr sz="4620" spc="-25" dirty="0"/>
              <a:t>Linked</a:t>
            </a:r>
            <a:r>
              <a:rPr sz="4620" spc="-110" dirty="0"/>
              <a:t> </a:t>
            </a:r>
            <a:r>
              <a:rPr sz="4620" spc="-15" dirty="0"/>
              <a:t>List</a:t>
            </a:r>
            <a:endParaRPr sz="4620" dirty="0"/>
          </a:p>
        </p:txBody>
      </p:sp>
      <p:sp>
        <p:nvSpPr>
          <p:cNvPr id="3" name="object 3"/>
          <p:cNvSpPr txBox="1"/>
          <p:nvPr/>
        </p:nvSpPr>
        <p:spPr>
          <a:xfrm>
            <a:off x="1288232" y="1576010"/>
            <a:ext cx="9649072" cy="4557497"/>
          </a:xfrm>
          <a:prstGeom prst="rect">
            <a:avLst/>
          </a:prstGeom>
        </p:spPr>
        <p:txBody>
          <a:bodyPr vert="horz" wrap="square" lIns="0" tIns="63341" rIns="0" bIns="0" rtlCol="0">
            <a:spAutoFit/>
          </a:bodyPr>
          <a:lstStyle/>
          <a:p>
            <a:pPr marR="951230" indent="-228600">
              <a:spcBef>
                <a:spcPts val="1200"/>
              </a:spcBef>
              <a:buFont typeface="Arial" panose="020B0604020202020204"/>
              <a:buChar char="•"/>
              <a:tabLst>
                <a:tab pos="241300" algn="l"/>
              </a:tabLst>
            </a:pPr>
            <a:r>
              <a:rPr sz="2940" spc="-25" dirty="0">
                <a:latin typeface="Comic Sans MS" panose="030F0702030302020204" pitchFamily="66" charset="0"/>
                <a:cs typeface="Calibri" panose="020F0502020204030204"/>
              </a:rPr>
              <a:t>Let’s </a:t>
            </a:r>
            <a:r>
              <a:rPr sz="2940" spc="-5" dirty="0">
                <a:latin typeface="Comic Sans MS" panose="030F0702030302020204" pitchFamily="66" charset="0"/>
                <a:cs typeface="Calibri" panose="020F0502020204030204"/>
              </a:rPr>
              <a:t>try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use these functions in a </a:t>
            </a:r>
            <a:r>
              <a:rPr sz="2940" spc="-10" dirty="0">
                <a:latin typeface="Comic Sans MS" panose="030F0702030302020204" pitchFamily="66" charset="0"/>
                <a:cs typeface="Calibri" panose="020F0502020204030204"/>
              </a:rPr>
              <a:t>Pthreads  </a:t>
            </a:r>
            <a:r>
              <a:rPr sz="2940" spc="-20" dirty="0">
                <a:latin typeface="Comic Sans MS" panose="030F0702030302020204" pitchFamily="66" charset="0"/>
                <a:cs typeface="Calibri" panose="020F0502020204030204"/>
              </a:rPr>
              <a:t>program.</a:t>
            </a:r>
            <a:endParaRPr sz="2940" dirty="0">
              <a:latin typeface="Comic Sans MS" panose="030F0702030302020204" pitchFamily="66" charset="0"/>
              <a:cs typeface="Calibri" panose="020F0502020204030204"/>
            </a:endParaRPr>
          </a:p>
          <a:p>
            <a:pPr marR="306070" indent="-228600">
              <a:spcBef>
                <a:spcPts val="1200"/>
              </a:spcBef>
              <a:buFont typeface="Arial" panose="020B0604020202020204"/>
              <a:buChar char="•"/>
              <a:tabLst>
                <a:tab pos="241300" algn="l"/>
              </a:tabLst>
            </a:pPr>
            <a:r>
              <a:rPr sz="2940" spc="-5" dirty="0">
                <a:latin typeface="Comic Sans MS" panose="030F0702030302020204" pitchFamily="66" charset="0"/>
                <a:cs typeface="Calibri" panose="020F0502020204030204"/>
              </a:rPr>
              <a:t>In </a:t>
            </a:r>
            <a:r>
              <a:rPr sz="2940" spc="-15" dirty="0">
                <a:latin typeface="Comic Sans MS" panose="030F0702030302020204" pitchFamily="66" charset="0"/>
                <a:cs typeface="Calibri" panose="020F0502020204030204"/>
              </a:rPr>
              <a:t>order to share </a:t>
            </a:r>
            <a:r>
              <a:rPr sz="2940" spc="-5"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the </a:t>
            </a:r>
            <a:r>
              <a:rPr sz="2940" spc="-15" dirty="0">
                <a:latin typeface="Comic Sans MS" panose="030F0702030302020204" pitchFamily="66" charset="0"/>
                <a:cs typeface="Calibri" panose="020F0502020204030204"/>
              </a:rPr>
              <a:t>list, we can define </a:t>
            </a:r>
            <a:r>
              <a:rPr sz="2940" spc="-15" dirty="0">
                <a:solidFill>
                  <a:srgbClr val="0066FF"/>
                </a:solidFill>
                <a:latin typeface="Comic Sans MS" panose="030F0702030302020204" pitchFamily="66" charset="0"/>
                <a:cs typeface="Calibri" panose="020F0502020204030204"/>
              </a:rPr>
              <a:t> </a:t>
            </a:r>
            <a:r>
              <a:rPr sz="2940" spc="-10" dirty="0">
                <a:solidFill>
                  <a:srgbClr val="0066FF"/>
                </a:solidFill>
                <a:latin typeface="Comic Sans MS" panose="030F0702030302020204" pitchFamily="66" charset="0"/>
                <a:cs typeface="Calibri" panose="020F0502020204030204"/>
              </a:rPr>
              <a:t>head_p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be </a:t>
            </a:r>
            <a:r>
              <a:rPr sz="2940" spc="-5" dirty="0">
                <a:latin typeface="Comic Sans MS" panose="030F0702030302020204" pitchFamily="66" charset="0"/>
                <a:cs typeface="Calibri" panose="020F0502020204030204"/>
              </a:rPr>
              <a:t>a global</a:t>
            </a:r>
            <a:r>
              <a:rPr sz="2940" spc="8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variable.</a:t>
            </a:r>
            <a:endParaRPr sz="2940" dirty="0">
              <a:latin typeface="Comic Sans MS" panose="030F0702030302020204" pitchFamily="66" charset="0"/>
              <a:cs typeface="Calibri" panose="020F0502020204030204"/>
            </a:endParaRPr>
          </a:p>
          <a:p>
            <a:pPr marR="5080" indent="-228600">
              <a:spcBef>
                <a:spcPts val="1200"/>
              </a:spcBef>
              <a:buFont typeface="Arial" panose="020B0604020202020204"/>
              <a:buChar char="•"/>
              <a:tabLst>
                <a:tab pos="241300" algn="l"/>
              </a:tabLst>
            </a:pPr>
            <a:r>
              <a:rPr sz="2940" spc="-10" dirty="0">
                <a:latin typeface="Comic Sans MS" panose="030F0702030302020204" pitchFamily="66" charset="0"/>
                <a:cs typeface="Calibri" panose="020F0502020204030204"/>
              </a:rPr>
              <a:t>This </a:t>
            </a:r>
            <a:r>
              <a:rPr sz="2940" spc="-5" dirty="0">
                <a:latin typeface="Comic Sans MS" panose="030F0702030302020204" pitchFamily="66" charset="0"/>
                <a:cs typeface="Calibri" panose="020F0502020204030204"/>
              </a:rPr>
              <a:t>will </a:t>
            </a:r>
            <a:r>
              <a:rPr sz="2940" spc="-10" dirty="0">
                <a:latin typeface="Comic Sans MS" panose="030F0702030302020204" pitchFamily="66" charset="0"/>
                <a:cs typeface="Calibri" panose="020F0502020204030204"/>
              </a:rPr>
              <a:t>simplify </a:t>
            </a:r>
            <a:r>
              <a:rPr sz="2940" spc="-5" dirty="0">
                <a:latin typeface="Comic Sans MS" panose="030F0702030302020204" pitchFamily="66" charset="0"/>
                <a:cs typeface="Calibri" panose="020F0502020204030204"/>
              </a:rPr>
              <a:t>the function </a:t>
            </a:r>
            <a:r>
              <a:rPr sz="2940" spc="-15" dirty="0">
                <a:latin typeface="Comic Sans MS" panose="030F0702030302020204" pitchFamily="66" charset="0"/>
                <a:cs typeface="Calibri" panose="020F0502020204030204"/>
              </a:rPr>
              <a:t>headers </a:t>
            </a:r>
            <a:r>
              <a:rPr sz="2940" spc="-25" dirty="0">
                <a:latin typeface="Comic Sans MS" panose="030F0702030302020204" pitchFamily="66" charset="0"/>
                <a:cs typeface="Calibri" panose="020F0502020204030204"/>
              </a:rPr>
              <a:t>for </a:t>
            </a:r>
            <a:r>
              <a:rPr sz="2940" spc="-40" dirty="0">
                <a:solidFill>
                  <a:srgbClr val="0066FF"/>
                </a:solidFill>
                <a:latin typeface="Comic Sans MS" panose="030F0702030302020204" pitchFamily="66" charset="0"/>
                <a:cs typeface="Calibri" panose="020F0502020204030204"/>
              </a:rPr>
              <a:t>Member</a:t>
            </a:r>
            <a:r>
              <a:rPr sz="2940" spc="-40" dirty="0">
                <a:latin typeface="Comic Sans MS" panose="030F0702030302020204" pitchFamily="66" charset="0"/>
                <a:cs typeface="Calibri" panose="020F0502020204030204"/>
              </a:rPr>
              <a:t>, </a:t>
            </a:r>
            <a:r>
              <a:rPr sz="2940" spc="-40" dirty="0">
                <a:solidFill>
                  <a:srgbClr val="0066FF"/>
                </a:solidFill>
                <a:latin typeface="Comic Sans MS" panose="030F0702030302020204" pitchFamily="66" charset="0"/>
                <a:cs typeface="Calibri" panose="020F0502020204030204"/>
              </a:rPr>
              <a:t> </a:t>
            </a:r>
            <a:r>
              <a:rPr sz="2940" spc="-5" dirty="0">
                <a:solidFill>
                  <a:srgbClr val="0066FF"/>
                </a:solidFill>
                <a:latin typeface="Comic Sans MS" panose="030F0702030302020204" pitchFamily="66" charset="0"/>
                <a:cs typeface="Calibri" panose="020F0502020204030204"/>
              </a:rPr>
              <a:t>Insert</a:t>
            </a:r>
            <a:r>
              <a:rPr sz="2940" spc="-5" dirty="0">
                <a:latin typeface="Comic Sans MS" panose="030F0702030302020204" pitchFamily="66" charset="0"/>
                <a:cs typeface="Calibri" panose="020F0502020204030204"/>
              </a:rPr>
              <a:t>, and</a:t>
            </a:r>
            <a:r>
              <a:rPr sz="2940" spc="35" dirty="0">
                <a:latin typeface="Comic Sans MS" panose="030F0702030302020204" pitchFamily="66" charset="0"/>
                <a:cs typeface="Calibri" panose="020F0502020204030204"/>
              </a:rPr>
              <a:t> </a:t>
            </a:r>
            <a:r>
              <a:rPr sz="2940" spc="-15" dirty="0">
                <a:solidFill>
                  <a:srgbClr val="0066FF"/>
                </a:solidFill>
                <a:latin typeface="Comic Sans MS" panose="030F0702030302020204" pitchFamily="66" charset="0"/>
                <a:cs typeface="Calibri" panose="020F0502020204030204"/>
              </a:rPr>
              <a:t>Delete</a:t>
            </a:r>
            <a:endParaRPr sz="2940" dirty="0">
              <a:latin typeface="Comic Sans MS" panose="030F0702030302020204" pitchFamily="66" charset="0"/>
              <a:cs typeface="Calibri" panose="020F0502020204030204"/>
            </a:endParaRPr>
          </a:p>
          <a:p>
            <a:pPr marL="0" marR="741680" lvl="1" indent="-228600">
              <a:spcBef>
                <a:spcPts val="1200"/>
              </a:spcBef>
              <a:buFont typeface="Arial" panose="020B0604020202020204"/>
              <a:buChar char="•"/>
              <a:tabLst>
                <a:tab pos="698500" algn="l"/>
              </a:tabLst>
            </a:pPr>
            <a:r>
              <a:rPr sz="2520" spc="-5" dirty="0">
                <a:latin typeface="Comic Sans MS" panose="030F0702030302020204" pitchFamily="66" charset="0"/>
                <a:cs typeface="Calibri" panose="020F0502020204030204"/>
              </a:rPr>
              <a:t>since </a:t>
            </a:r>
            <a:r>
              <a:rPr sz="2520" spc="-15" dirty="0">
                <a:latin typeface="Comic Sans MS" panose="030F0702030302020204" pitchFamily="66" charset="0"/>
                <a:cs typeface="Calibri" panose="020F0502020204030204"/>
              </a:rPr>
              <a:t>we </a:t>
            </a:r>
            <a:r>
              <a:rPr sz="2520" spc="-10" dirty="0">
                <a:latin typeface="Comic Sans MS" panose="030F0702030302020204" pitchFamily="66" charset="0"/>
                <a:cs typeface="Calibri" panose="020F0502020204030204"/>
              </a:rPr>
              <a:t>won’t </a:t>
            </a:r>
            <a:r>
              <a:rPr sz="2520" spc="-5" dirty="0">
                <a:latin typeface="Comic Sans MS" panose="030F0702030302020204" pitchFamily="66" charset="0"/>
                <a:cs typeface="Calibri" panose="020F0502020204030204"/>
              </a:rPr>
              <a:t>need </a:t>
            </a:r>
            <a:r>
              <a:rPr sz="2520" spc="-15" dirty="0">
                <a:latin typeface="Comic Sans MS" panose="030F0702030302020204" pitchFamily="66" charset="0"/>
                <a:cs typeface="Calibri" panose="020F0502020204030204"/>
              </a:rPr>
              <a:t>to </a:t>
            </a:r>
            <a:r>
              <a:rPr sz="2520" spc="-5" dirty="0">
                <a:latin typeface="Comic Sans MS" panose="030F0702030302020204" pitchFamily="66" charset="0"/>
                <a:cs typeface="Calibri" panose="020F0502020204030204"/>
              </a:rPr>
              <a:t>pass </a:t>
            </a:r>
            <a:r>
              <a:rPr sz="2520" dirty="0">
                <a:latin typeface="Comic Sans MS" panose="030F0702030302020204" pitchFamily="66" charset="0"/>
                <a:cs typeface="Calibri" panose="020F0502020204030204"/>
              </a:rPr>
              <a:t>in either </a:t>
            </a:r>
            <a:r>
              <a:rPr sz="2520" spc="-5" dirty="0">
                <a:solidFill>
                  <a:srgbClr val="0066FF"/>
                </a:solidFill>
                <a:latin typeface="Comic Sans MS" panose="030F0702030302020204" pitchFamily="66" charset="0"/>
                <a:cs typeface="Calibri" panose="020F0502020204030204"/>
              </a:rPr>
              <a:t>head_p </a:t>
            </a:r>
            <a:r>
              <a:rPr sz="2520" spc="-5" dirty="0">
                <a:latin typeface="Comic Sans MS" panose="030F0702030302020204" pitchFamily="66" charset="0"/>
                <a:cs typeface="Calibri" panose="020F0502020204030204"/>
              </a:rPr>
              <a:t>or </a:t>
            </a:r>
            <a:r>
              <a:rPr sz="2520" dirty="0">
                <a:latin typeface="Comic Sans MS" panose="030F0702030302020204" pitchFamily="66" charset="0"/>
                <a:cs typeface="Calibri" panose="020F0502020204030204"/>
              </a:rPr>
              <a:t>a  </a:t>
            </a:r>
            <a:r>
              <a:rPr sz="2520" spc="-10" dirty="0">
                <a:latin typeface="Comic Sans MS" panose="030F0702030302020204" pitchFamily="66" charset="0"/>
                <a:cs typeface="Calibri" panose="020F0502020204030204"/>
              </a:rPr>
              <a:t>pointer </a:t>
            </a:r>
            <a:r>
              <a:rPr sz="2520" spc="-15" dirty="0">
                <a:latin typeface="Comic Sans MS" panose="030F0702030302020204" pitchFamily="66" charset="0"/>
                <a:cs typeface="Calibri" panose="020F0502020204030204"/>
              </a:rPr>
              <a:t>to</a:t>
            </a:r>
            <a:r>
              <a:rPr sz="2520" spc="-5" dirty="0">
                <a:latin typeface="Comic Sans MS" panose="030F0702030302020204" pitchFamily="66" charset="0"/>
                <a:cs typeface="Calibri" panose="020F0502020204030204"/>
              </a:rPr>
              <a:t> </a:t>
            </a:r>
            <a:r>
              <a:rPr sz="2520" spc="-5" dirty="0">
                <a:solidFill>
                  <a:srgbClr val="0066FF"/>
                </a:solidFill>
                <a:latin typeface="Comic Sans MS" panose="030F0702030302020204" pitchFamily="66" charset="0"/>
                <a:cs typeface="Calibri" panose="020F0502020204030204"/>
              </a:rPr>
              <a:t>head_p</a:t>
            </a:r>
            <a:endParaRPr sz="2520" dirty="0">
              <a:latin typeface="Comic Sans MS" panose="030F0702030302020204" pitchFamily="66" charset="0"/>
              <a:cs typeface="Calibri" panose="020F0502020204030204"/>
            </a:endParaRPr>
          </a:p>
          <a:p>
            <a:pPr marL="0" lvl="1" indent="-228600">
              <a:spcBef>
                <a:spcPts val="1200"/>
              </a:spcBef>
              <a:buFont typeface="Arial" panose="020B0604020202020204"/>
              <a:buChar char="•"/>
              <a:tabLst>
                <a:tab pos="698500" algn="l"/>
              </a:tabLst>
            </a:pPr>
            <a:r>
              <a:rPr sz="2520" spc="-5" dirty="0">
                <a:latin typeface="Comic Sans MS" panose="030F0702030302020204" pitchFamily="66" charset="0"/>
                <a:cs typeface="Calibri" panose="020F0502020204030204"/>
              </a:rPr>
              <a:t>we’ll only need </a:t>
            </a:r>
            <a:r>
              <a:rPr sz="2520" spc="-15" dirty="0">
                <a:latin typeface="Comic Sans MS" panose="030F0702030302020204" pitchFamily="66" charset="0"/>
                <a:cs typeface="Calibri" panose="020F0502020204030204"/>
              </a:rPr>
              <a:t>to </a:t>
            </a:r>
            <a:r>
              <a:rPr sz="2520" spc="-5" dirty="0">
                <a:latin typeface="Comic Sans MS" panose="030F0702030302020204" pitchFamily="66" charset="0"/>
                <a:cs typeface="Calibri" panose="020F0502020204030204"/>
              </a:rPr>
              <a:t>pass </a:t>
            </a:r>
            <a:r>
              <a:rPr sz="2520" dirty="0">
                <a:latin typeface="Comic Sans MS" panose="030F0702030302020204" pitchFamily="66" charset="0"/>
                <a:cs typeface="Calibri" panose="020F0502020204030204"/>
              </a:rPr>
              <a:t>in the </a:t>
            </a:r>
            <a:r>
              <a:rPr sz="2520" spc="-10" dirty="0">
                <a:latin typeface="Comic Sans MS" panose="030F0702030302020204" pitchFamily="66" charset="0"/>
                <a:cs typeface="Calibri" panose="020F0502020204030204"/>
              </a:rPr>
              <a:t>value </a:t>
            </a:r>
            <a:r>
              <a:rPr sz="2520" spc="-5" dirty="0">
                <a:latin typeface="Comic Sans MS" panose="030F0702030302020204" pitchFamily="66" charset="0"/>
                <a:cs typeface="Calibri" panose="020F0502020204030204"/>
              </a:rPr>
              <a:t>of</a:t>
            </a:r>
            <a:r>
              <a:rPr sz="2520" spc="-20" dirty="0">
                <a:latin typeface="Comic Sans MS" panose="030F0702030302020204" pitchFamily="66" charset="0"/>
                <a:cs typeface="Calibri" panose="020F0502020204030204"/>
              </a:rPr>
              <a:t> </a:t>
            </a:r>
            <a:r>
              <a:rPr sz="2520" spc="-15" dirty="0">
                <a:latin typeface="Comic Sans MS" panose="030F0702030302020204" pitchFamily="66" charset="0"/>
                <a:cs typeface="Calibri" panose="020F0502020204030204"/>
              </a:rPr>
              <a:t>interest.</a:t>
            </a:r>
            <a:endParaRPr sz="2520" dirty="0">
              <a:latin typeface="Comic Sans MS" panose="030F0702030302020204" pitchFamily="66" charset="0"/>
              <a:cs typeface="Calibri" panose="020F0502020204030204"/>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Simultaneous access </a:t>
            </a:r>
            <a:r>
              <a:rPr sz="4620" spc="-10" dirty="0"/>
              <a:t>by </a:t>
            </a:r>
            <a:r>
              <a:rPr sz="4620" spc="-15" dirty="0"/>
              <a:t>two</a:t>
            </a:r>
            <a:r>
              <a:rPr sz="4620" spc="-20" dirty="0"/>
              <a:t> </a:t>
            </a:r>
            <a:r>
              <a:rPr sz="4620" spc="-10" dirty="0"/>
              <a:t>threads</a:t>
            </a:r>
            <a:endParaRPr sz="4620" dirty="0"/>
          </a:p>
        </p:txBody>
      </p:sp>
      <p:sp>
        <p:nvSpPr>
          <p:cNvPr id="3" name="object 3"/>
          <p:cNvSpPr/>
          <p:nvPr/>
        </p:nvSpPr>
        <p:spPr>
          <a:xfrm>
            <a:off x="2351480" y="1546218"/>
            <a:ext cx="7500558" cy="3960843"/>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7544410" y="1875914"/>
            <a:ext cx="2295620" cy="336550"/>
          </a:xfrm>
          <a:prstGeom prst="rect">
            <a:avLst/>
          </a:prstGeom>
        </p:spPr>
        <p:txBody>
          <a:bodyPr vert="horz" wrap="square" lIns="0" tIns="14001" rIns="0" bIns="0" rtlCol="0">
            <a:spAutoFit/>
          </a:bodyPr>
          <a:lstStyle/>
          <a:p>
            <a:pPr marL="12700">
              <a:lnSpc>
                <a:spcPct val="100000"/>
              </a:lnSpc>
              <a:spcBef>
                <a:spcPts val="105"/>
              </a:spcBef>
            </a:pPr>
            <a:r>
              <a:rPr sz="2100" spc="-5" dirty="0">
                <a:solidFill>
                  <a:srgbClr val="0000FF"/>
                </a:solidFill>
                <a:latin typeface="Calibri" panose="020F0502020204030204"/>
                <a:cs typeface="Calibri" panose="020F0502020204030204"/>
              </a:rPr>
              <a:t>Thread0:</a:t>
            </a:r>
            <a:r>
              <a:rPr sz="2100" spc="-45" dirty="0">
                <a:solidFill>
                  <a:srgbClr val="0000FF"/>
                </a:solidFill>
                <a:latin typeface="Calibri" panose="020F0502020204030204"/>
                <a:cs typeface="Calibri" panose="020F0502020204030204"/>
              </a:rPr>
              <a:t> </a:t>
            </a:r>
            <a:r>
              <a:rPr sz="2100" spc="-5" dirty="0">
                <a:solidFill>
                  <a:srgbClr val="0000FF"/>
                </a:solidFill>
                <a:latin typeface="Calibri" panose="020F0502020204030204"/>
                <a:cs typeface="Calibri" panose="020F0502020204030204"/>
              </a:rPr>
              <a:t>Member(5)</a:t>
            </a:r>
            <a:endParaRPr sz="2100">
              <a:latin typeface="Calibri" panose="020F0502020204030204"/>
              <a:cs typeface="Calibri" panose="020F0502020204030204"/>
            </a:endParaRPr>
          </a:p>
        </p:txBody>
      </p:sp>
      <p:sp>
        <p:nvSpPr>
          <p:cNvPr id="7" name="object 7"/>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
        <p:nvSpPr>
          <p:cNvPr id="5" name="object 5"/>
          <p:cNvSpPr txBox="1"/>
          <p:nvPr/>
        </p:nvSpPr>
        <p:spPr>
          <a:xfrm>
            <a:off x="8080476" y="5047511"/>
            <a:ext cx="2064258" cy="336550"/>
          </a:xfrm>
          <a:prstGeom prst="rect">
            <a:avLst/>
          </a:prstGeom>
        </p:spPr>
        <p:txBody>
          <a:bodyPr vert="horz" wrap="square" lIns="0" tIns="14001" rIns="0" bIns="0" rtlCol="0">
            <a:spAutoFit/>
          </a:bodyPr>
          <a:lstStyle/>
          <a:p>
            <a:pPr marL="12700">
              <a:lnSpc>
                <a:spcPct val="100000"/>
              </a:lnSpc>
              <a:spcBef>
                <a:spcPts val="105"/>
              </a:spcBef>
            </a:pPr>
            <a:r>
              <a:rPr sz="2100" spc="-5" dirty="0">
                <a:solidFill>
                  <a:srgbClr val="0000FF"/>
                </a:solidFill>
                <a:latin typeface="Calibri" panose="020F0502020204030204"/>
                <a:cs typeface="Calibri" panose="020F0502020204030204"/>
              </a:rPr>
              <a:t>Thread1:</a:t>
            </a:r>
            <a:r>
              <a:rPr sz="2100" spc="-65" dirty="0">
                <a:solidFill>
                  <a:srgbClr val="0000FF"/>
                </a:solidFill>
                <a:latin typeface="Calibri" panose="020F0502020204030204"/>
                <a:cs typeface="Calibri" panose="020F0502020204030204"/>
              </a:rPr>
              <a:t> </a:t>
            </a:r>
            <a:r>
              <a:rPr sz="2100" spc="-5" dirty="0">
                <a:solidFill>
                  <a:srgbClr val="0000FF"/>
                </a:solidFill>
                <a:latin typeface="Calibri" panose="020F0502020204030204"/>
                <a:cs typeface="Calibri" panose="020F0502020204030204"/>
              </a:rPr>
              <a:t>Delete(5)</a:t>
            </a:r>
            <a:endParaRPr sz="2100">
              <a:latin typeface="Calibri" panose="020F0502020204030204"/>
              <a:cs typeface="Calibri" panose="020F0502020204030204"/>
            </a:endParaRPr>
          </a:p>
        </p:txBody>
      </p:sp>
      <p:sp>
        <p:nvSpPr>
          <p:cNvPr id="6" name="object 6"/>
          <p:cNvSpPr txBox="1"/>
          <p:nvPr/>
        </p:nvSpPr>
        <p:spPr>
          <a:xfrm>
            <a:off x="2812298" y="6227445"/>
            <a:ext cx="7174896" cy="336550"/>
          </a:xfrm>
          <a:prstGeom prst="rect">
            <a:avLst/>
          </a:prstGeom>
        </p:spPr>
        <p:txBody>
          <a:bodyPr vert="horz" wrap="square" lIns="0" tIns="14001" rIns="0" bIns="0" rtlCol="0">
            <a:spAutoFit/>
          </a:bodyPr>
          <a:lstStyle/>
          <a:p>
            <a:pPr marL="12700">
              <a:lnSpc>
                <a:spcPct val="100000"/>
              </a:lnSpc>
              <a:spcBef>
                <a:spcPts val="105"/>
              </a:spcBef>
            </a:pPr>
            <a:r>
              <a:rPr sz="2100" b="1" spc="-5" dirty="0">
                <a:solidFill>
                  <a:srgbClr val="FF0000"/>
                </a:solidFill>
                <a:latin typeface="Calibri" panose="020F0502020204030204"/>
                <a:cs typeface="Calibri" panose="020F0502020204030204"/>
              </a:rPr>
              <a:t>Problem</a:t>
            </a:r>
            <a:r>
              <a:rPr sz="2100" spc="-5" dirty="0">
                <a:solidFill>
                  <a:srgbClr val="FF0000"/>
                </a:solidFill>
                <a:latin typeface="Calibri" panose="020F0502020204030204"/>
                <a:cs typeface="Calibri" panose="020F0502020204030204"/>
              </a:rPr>
              <a:t>: Element </a:t>
            </a:r>
            <a:r>
              <a:rPr sz="2100" dirty="0">
                <a:solidFill>
                  <a:srgbClr val="FF0000"/>
                </a:solidFill>
                <a:latin typeface="Calibri" panose="020F0502020204030204"/>
                <a:cs typeface="Calibri" panose="020F0502020204030204"/>
              </a:rPr>
              <a:t>5 </a:t>
            </a:r>
            <a:r>
              <a:rPr sz="2100" spc="-15" dirty="0">
                <a:solidFill>
                  <a:srgbClr val="FF0000"/>
                </a:solidFill>
                <a:latin typeface="Calibri" panose="020F0502020204030204"/>
                <a:cs typeface="Calibri" panose="020F0502020204030204"/>
              </a:rPr>
              <a:t>may </a:t>
            </a:r>
            <a:r>
              <a:rPr sz="2100" dirty="0">
                <a:solidFill>
                  <a:srgbClr val="FF0000"/>
                </a:solidFill>
                <a:latin typeface="Calibri" panose="020F0502020204030204"/>
                <a:cs typeface="Calibri" panose="020F0502020204030204"/>
              </a:rPr>
              <a:t>be </a:t>
            </a:r>
            <a:r>
              <a:rPr sz="2100" spc="-10" dirty="0">
                <a:solidFill>
                  <a:srgbClr val="FF0000"/>
                </a:solidFill>
                <a:latin typeface="Calibri" panose="020F0502020204030204"/>
                <a:cs typeface="Calibri" panose="020F0502020204030204"/>
              </a:rPr>
              <a:t>deleted even </a:t>
            </a:r>
            <a:r>
              <a:rPr sz="2100" spc="-15" dirty="0">
                <a:solidFill>
                  <a:srgbClr val="FF0000"/>
                </a:solidFill>
                <a:latin typeface="Calibri" panose="020F0502020204030204"/>
                <a:cs typeface="Calibri" panose="020F0502020204030204"/>
              </a:rPr>
              <a:t>before </a:t>
            </a:r>
            <a:r>
              <a:rPr sz="2100" spc="-5" dirty="0">
                <a:solidFill>
                  <a:srgbClr val="FF0000"/>
                </a:solidFill>
                <a:latin typeface="Calibri" panose="020F0502020204030204"/>
                <a:cs typeface="Calibri" panose="020F0502020204030204"/>
              </a:rPr>
              <a:t>thread </a:t>
            </a:r>
            <a:r>
              <a:rPr sz="2100" dirty="0">
                <a:solidFill>
                  <a:srgbClr val="FF0000"/>
                </a:solidFill>
                <a:latin typeface="Calibri" panose="020F0502020204030204"/>
                <a:cs typeface="Calibri" panose="020F0502020204030204"/>
              </a:rPr>
              <a:t>0</a:t>
            </a:r>
            <a:r>
              <a:rPr sz="2100" spc="10" dirty="0">
                <a:solidFill>
                  <a:srgbClr val="FF0000"/>
                </a:solidFill>
                <a:latin typeface="Calibri" panose="020F0502020204030204"/>
                <a:cs typeface="Calibri" panose="020F0502020204030204"/>
              </a:rPr>
              <a:t> </a:t>
            </a:r>
            <a:r>
              <a:rPr sz="2100" spc="-5" dirty="0">
                <a:solidFill>
                  <a:srgbClr val="FF0000"/>
                </a:solidFill>
                <a:latin typeface="Calibri" panose="020F0502020204030204"/>
                <a:cs typeface="Calibri" panose="020F0502020204030204"/>
              </a:rPr>
              <a:t>returns.</a:t>
            </a:r>
            <a:endParaRPr sz="2100">
              <a:latin typeface="Calibri" panose="020F0502020204030204"/>
              <a:cs typeface="Calibri" panose="020F0502020204030204"/>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Simultaneous access </a:t>
            </a:r>
            <a:r>
              <a:rPr sz="4620" spc="-10" dirty="0"/>
              <a:t>by </a:t>
            </a:r>
            <a:r>
              <a:rPr sz="4620" spc="-15" dirty="0"/>
              <a:t>two</a:t>
            </a:r>
            <a:r>
              <a:rPr sz="4620" spc="-20" dirty="0"/>
              <a:t> </a:t>
            </a:r>
            <a:r>
              <a:rPr sz="4620" spc="-10" dirty="0"/>
              <a:t>threads</a:t>
            </a:r>
            <a:endParaRPr sz="4620"/>
          </a:p>
        </p:txBody>
      </p:sp>
      <p:sp>
        <p:nvSpPr>
          <p:cNvPr id="3" name="object 3"/>
          <p:cNvSpPr/>
          <p:nvPr/>
        </p:nvSpPr>
        <p:spPr>
          <a:xfrm>
            <a:off x="2351480" y="1546218"/>
            <a:ext cx="7500558" cy="3960843"/>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7544410" y="1875914"/>
            <a:ext cx="2295620" cy="336550"/>
          </a:xfrm>
          <a:prstGeom prst="rect">
            <a:avLst/>
          </a:prstGeom>
        </p:spPr>
        <p:txBody>
          <a:bodyPr vert="horz" wrap="square" lIns="0" tIns="14001" rIns="0" bIns="0" rtlCol="0">
            <a:spAutoFit/>
          </a:bodyPr>
          <a:lstStyle/>
          <a:p>
            <a:pPr marL="12700">
              <a:lnSpc>
                <a:spcPct val="100000"/>
              </a:lnSpc>
              <a:spcBef>
                <a:spcPts val="105"/>
              </a:spcBef>
            </a:pPr>
            <a:r>
              <a:rPr sz="2100" spc="-5" dirty="0">
                <a:solidFill>
                  <a:srgbClr val="0000FF"/>
                </a:solidFill>
                <a:latin typeface="Calibri" panose="020F0502020204030204"/>
                <a:cs typeface="Calibri" panose="020F0502020204030204"/>
              </a:rPr>
              <a:t>Thread0:</a:t>
            </a:r>
            <a:r>
              <a:rPr sz="2100" spc="-70" dirty="0">
                <a:solidFill>
                  <a:srgbClr val="0000FF"/>
                </a:solidFill>
                <a:latin typeface="Calibri" panose="020F0502020204030204"/>
                <a:cs typeface="Calibri" panose="020F0502020204030204"/>
              </a:rPr>
              <a:t> </a:t>
            </a:r>
            <a:r>
              <a:rPr sz="2100" dirty="0">
                <a:solidFill>
                  <a:srgbClr val="0000FF"/>
                </a:solidFill>
                <a:latin typeface="Calibri" panose="020F0502020204030204"/>
                <a:cs typeface="Calibri" panose="020F0502020204030204"/>
              </a:rPr>
              <a:t>Member(</a:t>
            </a:r>
            <a:r>
              <a:rPr sz="2100" dirty="0">
                <a:solidFill>
                  <a:srgbClr val="FF0000"/>
                </a:solidFill>
                <a:latin typeface="Calibri" panose="020F0502020204030204"/>
                <a:cs typeface="Calibri" panose="020F0502020204030204"/>
              </a:rPr>
              <a:t>8</a:t>
            </a:r>
            <a:r>
              <a:rPr sz="2100" dirty="0">
                <a:solidFill>
                  <a:srgbClr val="0000FF"/>
                </a:solidFill>
                <a:latin typeface="Calibri" panose="020F0502020204030204"/>
                <a:cs typeface="Calibri" panose="020F0502020204030204"/>
              </a:rPr>
              <a:t>)</a:t>
            </a:r>
            <a:endParaRPr sz="2100">
              <a:latin typeface="Calibri" panose="020F0502020204030204"/>
              <a:cs typeface="Calibri" panose="020F0502020204030204"/>
            </a:endParaRPr>
          </a:p>
        </p:txBody>
      </p:sp>
      <p:sp>
        <p:nvSpPr>
          <p:cNvPr id="5" name="object 5"/>
          <p:cNvSpPr txBox="1"/>
          <p:nvPr/>
        </p:nvSpPr>
        <p:spPr>
          <a:xfrm>
            <a:off x="8080476" y="5047511"/>
            <a:ext cx="2064258" cy="336550"/>
          </a:xfrm>
          <a:prstGeom prst="rect">
            <a:avLst/>
          </a:prstGeom>
        </p:spPr>
        <p:txBody>
          <a:bodyPr vert="horz" wrap="square" lIns="0" tIns="14001" rIns="0" bIns="0" rtlCol="0">
            <a:spAutoFit/>
          </a:bodyPr>
          <a:lstStyle/>
          <a:p>
            <a:pPr marL="12700">
              <a:lnSpc>
                <a:spcPct val="100000"/>
              </a:lnSpc>
              <a:spcBef>
                <a:spcPts val="105"/>
              </a:spcBef>
            </a:pPr>
            <a:r>
              <a:rPr sz="2100" spc="-5" dirty="0">
                <a:solidFill>
                  <a:srgbClr val="0000FF"/>
                </a:solidFill>
                <a:latin typeface="Calibri" panose="020F0502020204030204"/>
                <a:cs typeface="Calibri" panose="020F0502020204030204"/>
              </a:rPr>
              <a:t>Thread1:</a:t>
            </a:r>
            <a:r>
              <a:rPr sz="2100" spc="-65" dirty="0">
                <a:solidFill>
                  <a:srgbClr val="0000FF"/>
                </a:solidFill>
                <a:latin typeface="Calibri" panose="020F0502020204030204"/>
                <a:cs typeface="Calibri" panose="020F0502020204030204"/>
              </a:rPr>
              <a:t> </a:t>
            </a:r>
            <a:r>
              <a:rPr sz="2100" spc="-5" dirty="0">
                <a:solidFill>
                  <a:srgbClr val="0000FF"/>
                </a:solidFill>
                <a:latin typeface="Calibri" panose="020F0502020204030204"/>
                <a:cs typeface="Calibri" panose="020F0502020204030204"/>
              </a:rPr>
              <a:t>Delete(5)</a:t>
            </a:r>
            <a:endParaRPr sz="2100">
              <a:latin typeface="Calibri" panose="020F0502020204030204"/>
              <a:cs typeface="Calibri" panose="020F0502020204030204"/>
            </a:endParaRPr>
          </a:p>
        </p:txBody>
      </p:sp>
      <p:sp>
        <p:nvSpPr>
          <p:cNvPr id="6" name="object 6"/>
          <p:cNvSpPr txBox="1"/>
          <p:nvPr/>
        </p:nvSpPr>
        <p:spPr>
          <a:xfrm>
            <a:off x="2858456" y="5832698"/>
            <a:ext cx="8150855" cy="996458"/>
          </a:xfrm>
          <a:prstGeom prst="rect">
            <a:avLst/>
          </a:prstGeom>
        </p:spPr>
        <p:txBody>
          <a:bodyPr vert="horz" wrap="square" lIns="0" tIns="14001" rIns="0" bIns="0" rtlCol="0">
            <a:spAutoFit/>
          </a:bodyPr>
          <a:lstStyle/>
          <a:p>
            <a:pPr marL="12700">
              <a:spcBef>
                <a:spcPts val="105"/>
              </a:spcBef>
            </a:pPr>
            <a:r>
              <a:rPr sz="2100" b="1" spc="-5" dirty="0">
                <a:solidFill>
                  <a:srgbClr val="FF0000"/>
                </a:solidFill>
                <a:latin typeface="Comic Sans MS" panose="030F0702030302020204" pitchFamily="66" charset="0"/>
                <a:cs typeface="Calibri" panose="020F0502020204030204"/>
              </a:rPr>
              <a:t>Problem</a:t>
            </a:r>
            <a:r>
              <a:rPr sz="2100" spc="-5" dirty="0">
                <a:solidFill>
                  <a:srgbClr val="FF0000"/>
                </a:solidFill>
                <a:latin typeface="Comic Sans MS" panose="030F0702030302020204" pitchFamily="66" charset="0"/>
                <a:cs typeface="Calibri" panose="020F0502020204030204"/>
              </a:rPr>
              <a:t>: thread1 </a:t>
            </a:r>
            <a:r>
              <a:rPr sz="2100" spc="-15" dirty="0">
                <a:solidFill>
                  <a:srgbClr val="FF0000"/>
                </a:solidFill>
                <a:latin typeface="Comic Sans MS" panose="030F0702030302020204" pitchFamily="66" charset="0"/>
                <a:cs typeface="Calibri" panose="020F0502020204030204"/>
              </a:rPr>
              <a:t>may </a:t>
            </a:r>
            <a:r>
              <a:rPr sz="2100" spc="-10" dirty="0">
                <a:solidFill>
                  <a:srgbClr val="FF0000"/>
                </a:solidFill>
                <a:latin typeface="Comic Sans MS" panose="030F0702030302020204" pitchFamily="66" charset="0"/>
                <a:cs typeface="Calibri" panose="020F0502020204030204"/>
              </a:rPr>
              <a:t>free </a:t>
            </a:r>
            <a:r>
              <a:rPr sz="2100" dirty="0">
                <a:solidFill>
                  <a:srgbClr val="FF0000"/>
                </a:solidFill>
                <a:latin typeface="Comic Sans MS" panose="030F0702030302020204" pitchFamily="66" charset="0"/>
                <a:cs typeface="Calibri" panose="020F0502020204030204"/>
              </a:rPr>
              <a:t>the </a:t>
            </a:r>
            <a:r>
              <a:rPr sz="2100" spc="-5" dirty="0">
                <a:solidFill>
                  <a:srgbClr val="FF0000"/>
                </a:solidFill>
                <a:latin typeface="Comic Sans MS" panose="030F0702030302020204" pitchFamily="66" charset="0"/>
                <a:cs typeface="Calibri" panose="020F0502020204030204"/>
              </a:rPr>
              <a:t>memory </a:t>
            </a:r>
            <a:r>
              <a:rPr sz="2100" dirty="0">
                <a:solidFill>
                  <a:srgbClr val="FF0000"/>
                </a:solidFill>
                <a:latin typeface="Comic Sans MS" panose="030F0702030302020204" pitchFamily="66" charset="0"/>
                <a:cs typeface="Calibri" panose="020F0502020204030204"/>
              </a:rPr>
              <a:t>used </a:t>
            </a:r>
            <a:r>
              <a:rPr sz="2100" spc="-15" dirty="0">
                <a:solidFill>
                  <a:srgbClr val="FF0000"/>
                </a:solidFill>
                <a:latin typeface="Comic Sans MS" panose="030F0702030302020204" pitchFamily="66" charset="0"/>
                <a:cs typeface="Calibri" panose="020F0502020204030204"/>
              </a:rPr>
              <a:t>for </a:t>
            </a:r>
            <a:r>
              <a:rPr sz="2100" dirty="0">
                <a:solidFill>
                  <a:srgbClr val="FF0000"/>
                </a:solidFill>
                <a:latin typeface="Comic Sans MS" panose="030F0702030302020204" pitchFamily="66" charset="0"/>
                <a:cs typeface="Calibri" panose="020F0502020204030204"/>
              </a:rPr>
              <a:t>the </a:t>
            </a:r>
            <a:r>
              <a:rPr sz="2100" spc="-5" dirty="0">
                <a:solidFill>
                  <a:srgbClr val="FF0000"/>
                </a:solidFill>
                <a:latin typeface="Comic Sans MS" panose="030F0702030302020204" pitchFamily="66" charset="0"/>
                <a:cs typeface="Calibri" panose="020F0502020204030204"/>
              </a:rPr>
              <a:t>node </a:t>
            </a:r>
            <a:r>
              <a:rPr sz="2100" spc="-10" dirty="0">
                <a:solidFill>
                  <a:srgbClr val="FF0000"/>
                </a:solidFill>
                <a:latin typeface="Comic Sans MS" panose="030F0702030302020204" pitchFamily="66" charset="0"/>
                <a:cs typeface="Calibri" panose="020F0502020204030204"/>
              </a:rPr>
              <a:t>storing</a:t>
            </a:r>
            <a:r>
              <a:rPr sz="2100" spc="15" dirty="0">
                <a:solidFill>
                  <a:srgbClr val="FF0000"/>
                </a:solidFill>
                <a:latin typeface="Comic Sans MS" panose="030F0702030302020204" pitchFamily="66" charset="0"/>
                <a:cs typeface="Calibri" panose="020F0502020204030204"/>
              </a:rPr>
              <a:t> </a:t>
            </a:r>
            <a:r>
              <a:rPr sz="2100" dirty="0">
                <a:solidFill>
                  <a:srgbClr val="FF0000"/>
                </a:solidFill>
                <a:latin typeface="Comic Sans MS" panose="030F0702030302020204" pitchFamily="66" charset="0"/>
                <a:cs typeface="Calibri" panose="020F0502020204030204"/>
              </a:rPr>
              <a:t>5</a:t>
            </a:r>
            <a:r>
              <a:rPr lang="en-US" sz="2100" dirty="0">
                <a:solidFill>
                  <a:srgbClr val="FF0000"/>
                </a:solidFill>
                <a:latin typeface="Comic Sans MS" panose="030F0702030302020204" pitchFamily="66" charset="0"/>
                <a:cs typeface="Calibri" panose="020F0502020204030204"/>
              </a:rPr>
              <a:t> </a:t>
            </a:r>
            <a:r>
              <a:rPr lang="en-US" sz="2100" spc="-15" dirty="0">
                <a:solidFill>
                  <a:srgbClr val="FF0000"/>
                </a:solidFill>
                <a:latin typeface="Comic Sans MS" panose="030F0702030302020204" pitchFamily="66" charset="0"/>
                <a:cs typeface="Calibri" panose="020F0502020204030204"/>
              </a:rPr>
              <a:t>before </a:t>
            </a:r>
            <a:r>
              <a:rPr lang="en-US" sz="2100" spc="-5" dirty="0">
                <a:solidFill>
                  <a:srgbClr val="FF0000"/>
                </a:solidFill>
                <a:latin typeface="Comic Sans MS" panose="030F0702030302020204" pitchFamily="66" charset="0"/>
                <a:cs typeface="Calibri" panose="020F0502020204030204"/>
              </a:rPr>
              <a:t>thread0 can advance </a:t>
            </a:r>
            <a:r>
              <a:rPr lang="en-US" sz="2100" spc="-15" dirty="0">
                <a:solidFill>
                  <a:srgbClr val="FF0000"/>
                </a:solidFill>
                <a:latin typeface="Comic Sans MS" panose="030F0702030302020204" pitchFamily="66" charset="0"/>
                <a:cs typeface="Calibri" panose="020F0502020204030204"/>
              </a:rPr>
              <a:t>to </a:t>
            </a:r>
            <a:r>
              <a:rPr lang="en-US" sz="2100" dirty="0">
                <a:solidFill>
                  <a:srgbClr val="FF0000"/>
                </a:solidFill>
                <a:latin typeface="Comic Sans MS" panose="030F0702030302020204" pitchFamily="66" charset="0"/>
                <a:cs typeface="Calibri" panose="020F0502020204030204"/>
              </a:rPr>
              <a:t>the node </a:t>
            </a:r>
            <a:r>
              <a:rPr lang="en-US" sz="2100" spc="-10" dirty="0">
                <a:solidFill>
                  <a:srgbClr val="FF0000"/>
                </a:solidFill>
                <a:latin typeface="Comic Sans MS" panose="030F0702030302020204" pitchFamily="66" charset="0"/>
                <a:cs typeface="Calibri" panose="020F0502020204030204"/>
              </a:rPr>
              <a:t>storing</a:t>
            </a:r>
            <a:r>
              <a:rPr lang="en-US" sz="2100" spc="-30" dirty="0">
                <a:solidFill>
                  <a:srgbClr val="FF0000"/>
                </a:solidFill>
                <a:latin typeface="Comic Sans MS" panose="030F0702030302020204" pitchFamily="66" charset="0"/>
                <a:cs typeface="Calibri" panose="020F0502020204030204"/>
              </a:rPr>
              <a:t> </a:t>
            </a:r>
            <a:r>
              <a:rPr lang="en-US" sz="2100" dirty="0">
                <a:solidFill>
                  <a:srgbClr val="FF0000"/>
                </a:solidFill>
                <a:latin typeface="Comic Sans MS" panose="030F0702030302020204" pitchFamily="66" charset="0"/>
                <a:cs typeface="Calibri" panose="020F0502020204030204"/>
              </a:rPr>
              <a:t>8.</a:t>
            </a:r>
            <a:endParaRPr lang="en-US" sz="2100" dirty="0">
              <a:latin typeface="Comic Sans MS" panose="030F0702030302020204" pitchFamily="66" charset="0"/>
              <a:cs typeface="Calibri" panose="020F0502020204030204"/>
            </a:endParaRPr>
          </a:p>
          <a:p>
            <a:pPr marL="12700">
              <a:lnSpc>
                <a:spcPct val="100000"/>
              </a:lnSpc>
              <a:spcBef>
                <a:spcPts val="105"/>
              </a:spcBef>
            </a:pPr>
            <a:r>
              <a:rPr lang="en-US" altLang="zh-CN" sz="2100" dirty="0">
                <a:solidFill>
                  <a:srgbClr val="FF0000"/>
                </a:solidFill>
                <a:latin typeface="Comic Sans MS" panose="030F0702030302020204" pitchFamily="66" charset="0"/>
                <a:cs typeface="Calibri" panose="020F0502020204030204"/>
              </a:rPr>
              <a:t>Or segment fault error.</a:t>
            </a:r>
            <a:endParaRPr sz="2100" dirty="0">
              <a:solidFill>
                <a:srgbClr val="FF0000"/>
              </a:solidFill>
              <a:latin typeface="Comic Sans MS" panose="030F0702030302020204" pitchFamily="66" charset="0"/>
              <a:cs typeface="Calibri" panose="020F0502020204030204"/>
            </a:endParaRPr>
          </a:p>
        </p:txBody>
      </p:sp>
      <p:sp>
        <p:nvSpPr>
          <p:cNvPr id="10" name="object 10"/>
          <p:cNvSpPr txBox="1">
            <a:spLocks noGrp="1"/>
          </p:cNvSpPr>
          <p:nvPr>
            <p:ph type="sldNum" sz="quarter" idx="12"/>
          </p:nvPr>
        </p:nvSpPr>
        <p:spPr>
          <a:xfrm>
            <a:off x="9497144" y="6774605"/>
            <a:ext cx="2986088" cy="158750"/>
          </a:xfrm>
          <a:prstGeom prst="rect">
            <a:avLst/>
          </a:prstGeom>
        </p:spPr>
        <p:txBody>
          <a:bodyPr vert="horz" wrap="square" lIns="0" tIns="0" rIns="0" bIns="0" rtlCol="0">
            <a:spAutoFit/>
          </a:bodyPr>
          <a:lstStyle/>
          <a:p>
            <a:pPr marL="38100">
              <a:lnSpc>
                <a:spcPts val="1240"/>
              </a:lnSpc>
            </a:pPr>
            <a:r>
              <a:rPr lang="en-US" sz="1575" dirty="0"/>
              <a:t> </a:t>
            </a:r>
            <a:endParaRPr sz="1575" dirty="0"/>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Solution</a:t>
            </a:r>
            <a:r>
              <a:rPr sz="4620" spc="-65" dirty="0"/>
              <a:t> </a:t>
            </a:r>
            <a:r>
              <a:rPr sz="4620" spc="-5" dirty="0"/>
              <a:t>#1</a:t>
            </a:r>
            <a:r>
              <a:rPr lang="en-US" sz="4620" spc="-5" dirty="0"/>
              <a:t> </a:t>
            </a:r>
            <a:endParaRPr sz="4620" dirty="0"/>
          </a:p>
        </p:txBody>
      </p:sp>
      <p:sp>
        <p:nvSpPr>
          <p:cNvPr id="3" name="object 3"/>
          <p:cNvSpPr txBox="1"/>
          <p:nvPr/>
        </p:nvSpPr>
        <p:spPr>
          <a:xfrm>
            <a:off x="2343119" y="1883168"/>
            <a:ext cx="8954225" cy="2116476"/>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An </a:t>
            </a:r>
            <a:r>
              <a:rPr sz="2940" spc="-10" dirty="0">
                <a:latin typeface="Comic Sans MS" panose="030F0702030302020204" pitchFamily="66" charset="0"/>
                <a:cs typeface="Calibri" panose="020F0502020204030204"/>
              </a:rPr>
              <a:t>obvious </a:t>
            </a:r>
            <a:r>
              <a:rPr sz="2940" spc="-5" dirty="0">
                <a:latin typeface="Comic Sans MS" panose="030F0702030302020204" pitchFamily="66" charset="0"/>
                <a:cs typeface="Calibri" panose="020F0502020204030204"/>
              </a:rPr>
              <a:t>solution is </a:t>
            </a:r>
            <a:r>
              <a:rPr sz="2940" spc="-15" dirty="0">
                <a:latin typeface="Comic Sans MS" panose="030F0702030302020204" pitchFamily="66" charset="0"/>
                <a:cs typeface="Calibri" panose="020F0502020204030204"/>
              </a:rPr>
              <a:t>to </a:t>
            </a:r>
            <a:r>
              <a:rPr sz="2940" spc="-10" dirty="0">
                <a:solidFill>
                  <a:srgbClr val="FF0000"/>
                </a:solidFill>
                <a:latin typeface="Comic Sans MS" panose="030F0702030302020204" pitchFamily="66" charset="0"/>
                <a:cs typeface="Calibri" panose="020F0502020204030204"/>
              </a:rPr>
              <a:t>simply </a:t>
            </a:r>
            <a:r>
              <a:rPr sz="2940" spc="-5" dirty="0">
                <a:solidFill>
                  <a:srgbClr val="FF0000"/>
                </a:solidFill>
                <a:latin typeface="Comic Sans MS" panose="030F0702030302020204" pitchFamily="66" charset="0"/>
                <a:cs typeface="Calibri" panose="020F0502020204030204"/>
              </a:rPr>
              <a:t>lock the </a:t>
            </a:r>
            <a:r>
              <a:rPr sz="2940" spc="-15" dirty="0">
                <a:solidFill>
                  <a:srgbClr val="FF0000"/>
                </a:solidFill>
                <a:latin typeface="Comic Sans MS" panose="030F0702030302020204" pitchFamily="66" charset="0"/>
                <a:cs typeface="Calibri" panose="020F0502020204030204"/>
              </a:rPr>
              <a:t>list </a:t>
            </a:r>
            <a:r>
              <a:rPr sz="2940" spc="-20" dirty="0">
                <a:latin typeface="Comic Sans MS" panose="030F0702030302020204" pitchFamily="66" charset="0"/>
                <a:cs typeface="Calibri" panose="020F0502020204030204"/>
              </a:rPr>
              <a:t>any  </a:t>
            </a:r>
            <a:r>
              <a:rPr sz="2940" spc="-5" dirty="0">
                <a:latin typeface="Comic Sans MS" panose="030F0702030302020204" pitchFamily="66" charset="0"/>
                <a:cs typeface="Calibri" panose="020F0502020204030204"/>
              </a:rPr>
              <a:t>time </a:t>
            </a:r>
            <a:r>
              <a:rPr sz="2940" spc="-10" dirty="0">
                <a:latin typeface="Comic Sans MS" panose="030F0702030302020204" pitchFamily="66" charset="0"/>
                <a:cs typeface="Calibri" panose="020F0502020204030204"/>
              </a:rPr>
              <a:t>that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thread </a:t>
            </a:r>
            <a:r>
              <a:rPr sz="2940" spc="-20" dirty="0">
                <a:latin typeface="Comic Sans MS" panose="030F0702030302020204" pitchFamily="66" charset="0"/>
                <a:cs typeface="Calibri" panose="020F0502020204030204"/>
              </a:rPr>
              <a:t>attempts to </a:t>
            </a:r>
            <a:r>
              <a:rPr sz="2940" spc="-5" dirty="0">
                <a:latin typeface="Comic Sans MS" panose="030F0702030302020204" pitchFamily="66" charset="0"/>
                <a:cs typeface="Calibri" panose="020F0502020204030204"/>
              </a:rPr>
              <a:t>access</a:t>
            </a:r>
            <a:r>
              <a:rPr sz="2940" spc="9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it.</a:t>
            </a:r>
            <a:endParaRPr sz="2940" dirty="0">
              <a:latin typeface="Comic Sans MS" panose="030F0702030302020204" pitchFamily="66" charset="0"/>
              <a:cs typeface="Calibri" panose="020F0502020204030204"/>
            </a:endParaRPr>
          </a:p>
          <a:p>
            <a:pPr marL="241300" marR="703580" indent="-228600">
              <a:lnSpc>
                <a:spcPts val="3020"/>
              </a:lnSpc>
              <a:spcBef>
                <a:spcPts val="1015"/>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call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each of the </a:t>
            </a:r>
            <a:r>
              <a:rPr sz="2940" spc="-15" dirty="0">
                <a:latin typeface="Comic Sans MS" panose="030F0702030302020204" pitchFamily="66" charset="0"/>
                <a:cs typeface="Calibri" panose="020F0502020204030204"/>
              </a:rPr>
              <a:t>three </a:t>
            </a:r>
            <a:r>
              <a:rPr sz="2940" spc="-5" dirty="0">
                <a:latin typeface="Comic Sans MS" panose="030F0702030302020204" pitchFamily="66" charset="0"/>
                <a:cs typeface="Calibri" panose="020F0502020204030204"/>
              </a:rPr>
              <a:t>functions</a:t>
            </a:r>
            <a:r>
              <a:rPr lang="en-US" sz="2940" spc="-5" dirty="0">
                <a:latin typeface="Comic Sans MS" panose="030F0702030302020204" pitchFamily="66" charset="0"/>
                <a:cs typeface="Calibri" panose="020F0502020204030204"/>
              </a:rPr>
              <a:t> (Member, Insert and Delete)</a:t>
            </a:r>
            <a:r>
              <a:rPr sz="2940" spc="-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can be  </a:t>
            </a:r>
            <a:r>
              <a:rPr sz="2940" spc="-15" dirty="0">
                <a:latin typeface="Comic Sans MS" panose="030F0702030302020204" pitchFamily="66" charset="0"/>
                <a:cs typeface="Calibri" panose="020F0502020204030204"/>
              </a:rPr>
              <a:t>protected by </a:t>
            </a:r>
            <a:r>
              <a:rPr sz="2940" spc="-5" dirty="0">
                <a:latin typeface="Comic Sans MS" panose="030F0702030302020204" pitchFamily="66" charset="0"/>
                <a:cs typeface="Calibri" panose="020F0502020204030204"/>
              </a:rPr>
              <a:t>a</a:t>
            </a:r>
            <a:r>
              <a:rPr sz="2940" spc="30"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mutex.</a:t>
            </a:r>
            <a:endParaRPr sz="2940" dirty="0">
              <a:latin typeface="Comic Sans MS" panose="030F0702030302020204" pitchFamily="66" charset="0"/>
              <a:cs typeface="Calibri" panose="020F0502020204030204"/>
            </a:endParaRPr>
          </a:p>
        </p:txBody>
      </p:sp>
      <p:sp>
        <p:nvSpPr>
          <p:cNvPr id="4" name="object 4"/>
          <p:cNvSpPr/>
          <p:nvPr/>
        </p:nvSpPr>
        <p:spPr>
          <a:xfrm>
            <a:off x="2834738" y="4315305"/>
            <a:ext cx="6700069" cy="1119792"/>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p:nvPr/>
        </p:nvSpPr>
        <p:spPr>
          <a:xfrm>
            <a:off x="5047163" y="5884362"/>
            <a:ext cx="4438555" cy="399415"/>
          </a:xfrm>
          <a:prstGeom prst="rect">
            <a:avLst/>
          </a:prstGeom>
        </p:spPr>
        <p:txBody>
          <a:bodyPr vert="horz" wrap="square" lIns="0" tIns="13334" rIns="0" bIns="0" rtlCol="0">
            <a:spAutoFit/>
          </a:bodyPr>
          <a:lstStyle/>
          <a:p>
            <a:pPr marL="12700">
              <a:lnSpc>
                <a:spcPct val="100000"/>
              </a:lnSpc>
              <a:spcBef>
                <a:spcPts val="100"/>
              </a:spcBef>
            </a:pPr>
            <a:r>
              <a:rPr sz="2520" dirty="0">
                <a:solidFill>
                  <a:srgbClr val="FF0000"/>
                </a:solidFill>
                <a:latin typeface="Calibri" panose="020F0502020204030204"/>
                <a:cs typeface="Calibri" panose="020F0502020204030204"/>
              </a:rPr>
              <a:t>In </a:t>
            </a:r>
            <a:r>
              <a:rPr sz="2520" spc="-5" dirty="0">
                <a:solidFill>
                  <a:srgbClr val="FF0000"/>
                </a:solidFill>
                <a:latin typeface="Calibri" panose="020F0502020204030204"/>
                <a:cs typeface="Calibri" panose="020F0502020204030204"/>
              </a:rPr>
              <a:t>place of calling</a:t>
            </a:r>
            <a:r>
              <a:rPr sz="2520" spc="-85"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Member(value).</a:t>
            </a:r>
            <a:endParaRPr sz="2520">
              <a:latin typeface="Calibri" panose="020F0502020204030204"/>
              <a:cs typeface="Calibri" panose="020F0502020204030204"/>
            </a:endParaRPr>
          </a:p>
        </p:txBody>
      </p:sp>
      <p:sp>
        <p:nvSpPr>
          <p:cNvPr id="6" name="object 6"/>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74</a:t>
            </a:fld>
            <a:endParaRPr sz="1260">
              <a:latin typeface="Calibri" panose="020F0502020204030204"/>
              <a:cs typeface="Calibri" panose="020F0502020204030204"/>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75</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Issues</a:t>
            </a:r>
            <a:endParaRPr sz="4620" dirty="0"/>
          </a:p>
        </p:txBody>
      </p:sp>
      <p:sp>
        <p:nvSpPr>
          <p:cNvPr id="3" name="object 3"/>
          <p:cNvSpPr txBox="1"/>
          <p:nvPr/>
        </p:nvSpPr>
        <p:spPr>
          <a:xfrm>
            <a:off x="1360240" y="1631084"/>
            <a:ext cx="9539521" cy="4888230"/>
          </a:xfrm>
          <a:prstGeom prst="rect">
            <a:avLst/>
          </a:prstGeom>
        </p:spPr>
        <p:txBody>
          <a:bodyPr vert="horz" wrap="square" lIns="0" tIns="12668" rIns="0" bIns="0" rtlCol="0">
            <a:spAutoFit/>
          </a:bodyPr>
          <a:lstStyle/>
          <a:p>
            <a:pPr marL="241300" indent="-228600">
              <a:lnSpc>
                <a:spcPct val="100000"/>
              </a:lnSpc>
              <a:spcBef>
                <a:spcPts val="95"/>
              </a:spcBef>
              <a:buFont typeface="Arial" panose="020B0604020202020204"/>
              <a:buChar char="•"/>
              <a:tabLst>
                <a:tab pos="241300" algn="l"/>
              </a:tabLst>
            </a:pPr>
            <a:r>
              <a:rPr sz="2940" spc="-50" dirty="0">
                <a:latin typeface="Comic Sans MS" panose="030F0702030302020204" pitchFamily="66" charset="0"/>
                <a:cs typeface="Calibri" panose="020F0502020204030204"/>
              </a:rPr>
              <a:t>We’re </a:t>
            </a:r>
            <a:r>
              <a:rPr sz="2940" spc="-10" dirty="0">
                <a:solidFill>
                  <a:srgbClr val="FF0000"/>
                </a:solidFill>
                <a:latin typeface="Comic Sans MS" panose="030F0702030302020204" pitchFamily="66" charset="0"/>
                <a:cs typeface="Calibri" panose="020F0502020204030204"/>
              </a:rPr>
              <a:t>serializing </a:t>
            </a:r>
            <a:r>
              <a:rPr sz="2940" dirty="0">
                <a:solidFill>
                  <a:srgbClr val="FF0000"/>
                </a:solidFill>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the</a:t>
            </a:r>
            <a:r>
              <a:rPr sz="2940" spc="100"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list.</a:t>
            </a:r>
            <a:endParaRPr sz="2940" dirty="0">
              <a:latin typeface="Comic Sans MS" panose="030F0702030302020204" pitchFamily="66" charset="0"/>
              <a:cs typeface="Calibri" panose="020F0502020204030204"/>
            </a:endParaRPr>
          </a:p>
          <a:p>
            <a:pPr>
              <a:lnSpc>
                <a:spcPct val="100000"/>
              </a:lnSpc>
              <a:spcBef>
                <a:spcPts val="30"/>
              </a:spcBef>
              <a:buFont typeface="Arial" panose="020B0604020202020204"/>
              <a:buChar char="•"/>
            </a:pPr>
            <a:endParaRPr sz="2940" dirty="0">
              <a:latin typeface="Comic Sans MS" panose="030F0702030302020204" pitchFamily="66" charset="0"/>
              <a:cs typeface="Calibri" panose="020F0502020204030204"/>
            </a:endParaRPr>
          </a:p>
          <a:p>
            <a:pPr marL="241300" marR="907415" indent="-228600" algn="just">
              <a:lnSpc>
                <a:spcPct val="90000"/>
              </a:lnSpc>
              <a:buFont typeface="Arial" panose="020B0604020202020204"/>
              <a:buChar char="•"/>
              <a:tabLst>
                <a:tab pos="241300" algn="l"/>
              </a:tabLst>
            </a:pPr>
            <a:r>
              <a:rPr sz="2940" spc="-5" dirty="0">
                <a:latin typeface="Comic Sans MS" panose="030F0702030302020204" pitchFamily="66" charset="0"/>
                <a:cs typeface="Calibri" panose="020F0502020204030204"/>
              </a:rPr>
              <a:t>If </a:t>
            </a:r>
            <a:r>
              <a:rPr sz="2940" spc="-10"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vast </a:t>
            </a:r>
            <a:r>
              <a:rPr sz="2940" spc="-5" dirty="0">
                <a:latin typeface="Comic Sans MS" panose="030F0702030302020204" pitchFamily="66" charset="0"/>
                <a:cs typeface="Calibri" panose="020F0502020204030204"/>
              </a:rPr>
              <a:t>majority of </a:t>
            </a:r>
            <a:r>
              <a:rPr sz="2940" spc="-10" dirty="0">
                <a:latin typeface="Comic Sans MS" panose="030F0702030302020204" pitchFamily="66" charset="0"/>
                <a:cs typeface="Calibri" panose="020F0502020204030204"/>
              </a:rPr>
              <a:t>our </a:t>
            </a:r>
            <a:r>
              <a:rPr sz="2940" spc="-15" dirty="0">
                <a:latin typeface="Comic Sans MS" panose="030F0702030302020204" pitchFamily="66" charset="0"/>
                <a:cs typeface="Calibri" panose="020F0502020204030204"/>
              </a:rPr>
              <a:t>operations </a:t>
            </a:r>
            <a:r>
              <a:rPr sz="2940" spc="-20" dirty="0">
                <a:latin typeface="Comic Sans MS" panose="030F0702030302020204" pitchFamily="66" charset="0"/>
                <a:cs typeface="Calibri" panose="020F0502020204030204"/>
              </a:rPr>
              <a:t>are </a:t>
            </a:r>
            <a:r>
              <a:rPr sz="2940" spc="-10" dirty="0">
                <a:latin typeface="Comic Sans MS" panose="030F0702030302020204" pitchFamily="66" charset="0"/>
                <a:cs typeface="Calibri" panose="020F0502020204030204"/>
              </a:rPr>
              <a:t>calls </a:t>
            </a:r>
            <a:r>
              <a:rPr sz="2940" spc="-20" dirty="0">
                <a:latin typeface="Comic Sans MS" panose="030F0702030302020204" pitchFamily="66" charset="0"/>
                <a:cs typeface="Calibri" panose="020F0502020204030204"/>
              </a:rPr>
              <a:t>to </a:t>
            </a:r>
            <a:r>
              <a:rPr sz="2940" spc="-20" dirty="0">
                <a:solidFill>
                  <a:srgbClr val="0066FF"/>
                </a:solidFill>
                <a:latin typeface="Comic Sans MS" panose="030F0702030302020204" pitchFamily="66" charset="0"/>
                <a:cs typeface="Calibri" panose="020F0502020204030204"/>
              </a:rPr>
              <a:t> </a:t>
            </a:r>
            <a:r>
              <a:rPr sz="2940" spc="-40" dirty="0">
                <a:solidFill>
                  <a:srgbClr val="0066FF"/>
                </a:solidFill>
                <a:latin typeface="Comic Sans MS" panose="030F0702030302020204" pitchFamily="66" charset="0"/>
                <a:cs typeface="Calibri" panose="020F0502020204030204"/>
              </a:rPr>
              <a:t>Member</a:t>
            </a:r>
            <a:r>
              <a:rPr sz="2940" spc="-4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we’ll </a:t>
            </a:r>
            <a:r>
              <a:rPr sz="2940" spc="-20" dirty="0">
                <a:solidFill>
                  <a:srgbClr val="FF0000"/>
                </a:solidFill>
                <a:latin typeface="Comic Sans MS" panose="030F0702030302020204" pitchFamily="66" charset="0"/>
                <a:cs typeface="Calibri" panose="020F0502020204030204"/>
              </a:rPr>
              <a:t>fail </a:t>
            </a:r>
            <a:r>
              <a:rPr sz="2940" spc="-15" dirty="0">
                <a:solidFill>
                  <a:srgbClr val="FF0000"/>
                </a:solidFill>
                <a:latin typeface="Comic Sans MS" panose="030F0702030302020204" pitchFamily="66" charset="0"/>
                <a:cs typeface="Calibri" panose="020F0502020204030204"/>
              </a:rPr>
              <a:t>to exploit </a:t>
            </a:r>
            <a:r>
              <a:rPr sz="2940" spc="-5" dirty="0">
                <a:latin typeface="Comic Sans MS" panose="030F0702030302020204" pitchFamily="66" charset="0"/>
                <a:cs typeface="Calibri" panose="020F0502020204030204"/>
              </a:rPr>
              <a:t>this </a:t>
            </a:r>
            <a:r>
              <a:rPr sz="2940" spc="-10" dirty="0">
                <a:latin typeface="Comic Sans MS" panose="030F0702030302020204" pitchFamily="66" charset="0"/>
                <a:cs typeface="Calibri" panose="020F0502020204030204"/>
              </a:rPr>
              <a:t>opportunity </a:t>
            </a:r>
            <a:r>
              <a:rPr sz="2940" spc="-30" dirty="0">
                <a:latin typeface="Comic Sans MS" panose="030F0702030302020204" pitchFamily="66" charset="0"/>
                <a:cs typeface="Calibri" panose="020F0502020204030204"/>
              </a:rPr>
              <a:t>for </a:t>
            </a:r>
            <a:r>
              <a:rPr sz="2940" spc="-30"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parallelism</a:t>
            </a:r>
            <a:r>
              <a:rPr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25"/>
              </a:spcBef>
              <a:buFont typeface="Arial" panose="020B0604020202020204"/>
              <a:buChar char="•"/>
            </a:pPr>
            <a:endParaRPr sz="2940" dirty="0">
              <a:latin typeface="Comic Sans MS" panose="030F0702030302020204" pitchFamily="66" charset="0"/>
              <a:cs typeface="Calibri" panose="020F0502020204030204"/>
            </a:endParaRPr>
          </a:p>
          <a:p>
            <a:pPr marL="241300" marR="178435" indent="-228600">
              <a:lnSpc>
                <a:spcPct val="90000"/>
              </a:lnSpc>
              <a:buFont typeface="Arial" panose="020B0604020202020204"/>
              <a:buChar char="•"/>
              <a:tabLst>
                <a:tab pos="241300" algn="l"/>
              </a:tabLst>
            </a:pPr>
            <a:r>
              <a:rPr sz="2940" spc="-5" dirty="0">
                <a:latin typeface="Comic Sans MS" panose="030F0702030302020204" pitchFamily="66" charset="0"/>
                <a:cs typeface="Calibri" panose="020F0502020204030204"/>
              </a:rPr>
              <a:t>On the </a:t>
            </a:r>
            <a:r>
              <a:rPr sz="2940" spc="-10" dirty="0">
                <a:latin typeface="Comic Sans MS" panose="030F0702030302020204" pitchFamily="66" charset="0"/>
                <a:cs typeface="Calibri" panose="020F0502020204030204"/>
              </a:rPr>
              <a:t>other hand, </a:t>
            </a:r>
            <a:r>
              <a:rPr sz="2940" spc="-5" dirty="0">
                <a:latin typeface="Comic Sans MS" panose="030F0702030302020204" pitchFamily="66" charset="0"/>
                <a:cs typeface="Calibri" panose="020F0502020204030204"/>
              </a:rPr>
              <a:t>if </a:t>
            </a:r>
            <a:r>
              <a:rPr sz="2940" spc="-15" dirty="0">
                <a:latin typeface="Comic Sans MS" panose="030F0702030302020204" pitchFamily="66" charset="0"/>
                <a:cs typeface="Calibri" panose="020F0502020204030204"/>
              </a:rPr>
              <a:t>most </a:t>
            </a:r>
            <a:r>
              <a:rPr sz="2940" spc="-5" dirty="0">
                <a:latin typeface="Comic Sans MS" panose="030F0702030302020204" pitchFamily="66" charset="0"/>
                <a:cs typeface="Calibri" panose="020F0502020204030204"/>
              </a:rPr>
              <a:t>of </a:t>
            </a:r>
            <a:r>
              <a:rPr sz="2940" spc="-10" dirty="0">
                <a:latin typeface="Comic Sans MS" panose="030F0702030302020204" pitchFamily="66" charset="0"/>
                <a:cs typeface="Calibri" panose="020F0502020204030204"/>
              </a:rPr>
              <a:t>our </a:t>
            </a:r>
            <a:r>
              <a:rPr sz="2940" spc="-15" dirty="0">
                <a:latin typeface="Comic Sans MS" panose="030F0702030302020204" pitchFamily="66" charset="0"/>
                <a:cs typeface="Calibri" panose="020F0502020204030204"/>
              </a:rPr>
              <a:t>operations </a:t>
            </a:r>
            <a:r>
              <a:rPr sz="2940" spc="-20" dirty="0">
                <a:latin typeface="Comic Sans MS" panose="030F0702030302020204" pitchFamily="66" charset="0"/>
                <a:cs typeface="Calibri" panose="020F0502020204030204"/>
              </a:rPr>
              <a:t>are </a:t>
            </a:r>
            <a:r>
              <a:rPr sz="2940" spc="-10" dirty="0">
                <a:latin typeface="Comic Sans MS" panose="030F0702030302020204" pitchFamily="66" charset="0"/>
                <a:cs typeface="Calibri" panose="020F0502020204030204"/>
              </a:rPr>
              <a:t>calls  </a:t>
            </a:r>
            <a:r>
              <a:rPr sz="2940" spc="-20" dirty="0">
                <a:latin typeface="Comic Sans MS" panose="030F0702030302020204" pitchFamily="66" charset="0"/>
                <a:cs typeface="Calibri" panose="020F0502020204030204"/>
              </a:rPr>
              <a:t>to </a:t>
            </a:r>
            <a:r>
              <a:rPr sz="2940" spc="-5" dirty="0">
                <a:solidFill>
                  <a:srgbClr val="0066FF"/>
                </a:solidFill>
                <a:latin typeface="Comic Sans MS" panose="030F0702030302020204" pitchFamily="66" charset="0"/>
                <a:cs typeface="Calibri" panose="020F0502020204030204"/>
              </a:rPr>
              <a:t>Insert </a:t>
            </a:r>
            <a:r>
              <a:rPr sz="2940" spc="-5" dirty="0">
                <a:latin typeface="Comic Sans MS" panose="030F0702030302020204" pitchFamily="66" charset="0"/>
                <a:cs typeface="Calibri" panose="020F0502020204030204"/>
              </a:rPr>
              <a:t>and </a:t>
            </a:r>
            <a:r>
              <a:rPr sz="2940" spc="-10" dirty="0">
                <a:solidFill>
                  <a:srgbClr val="0066FF"/>
                </a:solidFill>
                <a:latin typeface="Comic Sans MS" panose="030F0702030302020204" pitchFamily="66" charset="0"/>
                <a:cs typeface="Calibri" panose="020F0502020204030204"/>
              </a:rPr>
              <a:t>Delete</a:t>
            </a:r>
            <a:r>
              <a:rPr sz="2940" spc="-1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then this </a:t>
            </a:r>
            <a:r>
              <a:rPr sz="2940" spc="-20" dirty="0">
                <a:latin typeface="Comic Sans MS" panose="030F0702030302020204" pitchFamily="66" charset="0"/>
                <a:cs typeface="Calibri" panose="020F0502020204030204"/>
              </a:rPr>
              <a:t>may </a:t>
            </a:r>
            <a:r>
              <a:rPr sz="2940" spc="-10" dirty="0">
                <a:latin typeface="Comic Sans MS" panose="030F0702030302020204" pitchFamily="66" charset="0"/>
                <a:cs typeface="Calibri" panose="020F0502020204030204"/>
              </a:rPr>
              <a:t>be </a:t>
            </a:r>
            <a:r>
              <a:rPr sz="2940" spc="-5" dirty="0">
                <a:latin typeface="Comic Sans MS" panose="030F0702030302020204" pitchFamily="66" charset="0"/>
                <a:cs typeface="Calibri" panose="020F0502020204030204"/>
              </a:rPr>
              <a:t>the </a:t>
            </a:r>
            <a:r>
              <a:rPr sz="2940" spc="-20" dirty="0">
                <a:latin typeface="Comic Sans MS" panose="030F0702030302020204" pitchFamily="66" charset="0"/>
                <a:cs typeface="Calibri" panose="020F0502020204030204"/>
              </a:rPr>
              <a:t>best  </a:t>
            </a:r>
            <a:r>
              <a:rPr sz="2940" spc="-5" dirty="0">
                <a:latin typeface="Comic Sans MS" panose="030F0702030302020204" pitchFamily="66" charset="0"/>
                <a:cs typeface="Calibri" panose="020F0502020204030204"/>
              </a:rPr>
              <a:t>solution</a:t>
            </a:r>
            <a:endParaRPr sz="2940" dirty="0">
              <a:latin typeface="Comic Sans MS" panose="030F0702030302020204" pitchFamily="66" charset="0"/>
              <a:cs typeface="Calibri" panose="020F0502020204030204"/>
            </a:endParaRPr>
          </a:p>
          <a:p>
            <a:pPr marL="698500" marR="5080" lvl="1" indent="-229235">
              <a:lnSpc>
                <a:spcPts val="2590"/>
              </a:lnSpc>
              <a:spcBef>
                <a:spcPts val="575"/>
              </a:spcBef>
              <a:buFont typeface="Arial" panose="020B0604020202020204"/>
              <a:buChar char="•"/>
              <a:tabLst>
                <a:tab pos="699135" algn="l"/>
              </a:tabLst>
            </a:pPr>
            <a:r>
              <a:rPr sz="2520" spc="-5" dirty="0">
                <a:latin typeface="Comic Sans MS" panose="030F0702030302020204" pitchFamily="66" charset="0"/>
                <a:cs typeface="Calibri" panose="020F0502020204030204"/>
              </a:rPr>
              <a:t>since we’ll need </a:t>
            </a:r>
            <a:r>
              <a:rPr sz="2520" spc="-15" dirty="0">
                <a:latin typeface="Comic Sans MS" panose="030F0702030302020204" pitchFamily="66" charset="0"/>
                <a:cs typeface="Calibri" panose="020F0502020204030204"/>
              </a:rPr>
              <a:t>to </a:t>
            </a:r>
            <a:r>
              <a:rPr sz="2520" spc="-10" dirty="0">
                <a:latin typeface="Comic Sans MS" panose="030F0702030302020204" pitchFamily="66" charset="0"/>
                <a:cs typeface="Calibri" panose="020F0502020204030204"/>
              </a:rPr>
              <a:t>serialize </a:t>
            </a:r>
            <a:r>
              <a:rPr sz="2520" dirty="0">
                <a:latin typeface="Comic Sans MS" panose="030F0702030302020204" pitchFamily="66" charset="0"/>
                <a:cs typeface="Calibri" panose="020F0502020204030204"/>
              </a:rPr>
              <a:t>access </a:t>
            </a:r>
            <a:r>
              <a:rPr sz="2520" spc="-15" dirty="0">
                <a:latin typeface="Comic Sans MS" panose="030F0702030302020204" pitchFamily="66" charset="0"/>
                <a:cs typeface="Calibri" panose="020F0502020204030204"/>
              </a:rPr>
              <a:t>to </a:t>
            </a:r>
            <a:r>
              <a:rPr sz="2520" dirty="0">
                <a:latin typeface="Comic Sans MS" panose="030F0702030302020204" pitchFamily="66" charset="0"/>
                <a:cs typeface="Calibri" panose="020F0502020204030204"/>
              </a:rPr>
              <a:t>the </a:t>
            </a:r>
            <a:r>
              <a:rPr sz="2520" spc="-10" dirty="0">
                <a:latin typeface="Comic Sans MS" panose="030F0702030302020204" pitchFamily="66" charset="0"/>
                <a:cs typeface="Calibri" panose="020F0502020204030204"/>
              </a:rPr>
              <a:t>list </a:t>
            </a:r>
            <a:r>
              <a:rPr sz="2520" spc="-20" dirty="0">
                <a:latin typeface="Comic Sans MS" panose="030F0702030302020204" pitchFamily="66" charset="0"/>
                <a:cs typeface="Calibri" panose="020F0502020204030204"/>
              </a:rPr>
              <a:t>for </a:t>
            </a:r>
            <a:r>
              <a:rPr sz="2520" spc="-10" dirty="0">
                <a:latin typeface="Comic Sans MS" panose="030F0702030302020204" pitchFamily="66" charset="0"/>
                <a:cs typeface="Calibri" panose="020F0502020204030204"/>
              </a:rPr>
              <a:t>most </a:t>
            </a:r>
            <a:r>
              <a:rPr sz="2520" spc="-5" dirty="0">
                <a:latin typeface="Comic Sans MS" panose="030F0702030302020204" pitchFamily="66" charset="0"/>
                <a:cs typeface="Calibri" panose="020F0502020204030204"/>
              </a:rPr>
              <a:t>of </a:t>
            </a:r>
            <a:r>
              <a:rPr sz="2520" dirty="0">
                <a:latin typeface="Comic Sans MS" panose="030F0702030302020204" pitchFamily="66" charset="0"/>
                <a:cs typeface="Calibri" panose="020F0502020204030204"/>
              </a:rPr>
              <a:t>the  </a:t>
            </a:r>
            <a:r>
              <a:rPr sz="2520" spc="-10" dirty="0">
                <a:latin typeface="Comic Sans MS" panose="030F0702030302020204" pitchFamily="66" charset="0"/>
                <a:cs typeface="Calibri" panose="020F0502020204030204"/>
              </a:rPr>
              <a:t>operations, </a:t>
            </a:r>
            <a:r>
              <a:rPr sz="2520" dirty="0">
                <a:latin typeface="Comic Sans MS" panose="030F0702030302020204" pitchFamily="66" charset="0"/>
                <a:cs typeface="Calibri" panose="020F0502020204030204"/>
              </a:rPr>
              <a:t>and this </a:t>
            </a:r>
            <a:r>
              <a:rPr sz="2520" spc="-5" dirty="0">
                <a:latin typeface="Comic Sans MS" panose="030F0702030302020204" pitchFamily="66" charset="0"/>
                <a:cs typeface="Calibri" panose="020F0502020204030204"/>
              </a:rPr>
              <a:t>solution </a:t>
            </a:r>
            <a:r>
              <a:rPr sz="2520" dirty="0">
                <a:latin typeface="Comic Sans MS" panose="030F0702030302020204" pitchFamily="66" charset="0"/>
                <a:cs typeface="Calibri" panose="020F0502020204030204"/>
              </a:rPr>
              <a:t>will </a:t>
            </a:r>
            <a:r>
              <a:rPr sz="2520" spc="-5" dirty="0">
                <a:latin typeface="Comic Sans MS" panose="030F0702030302020204" pitchFamily="66" charset="0"/>
                <a:cs typeface="Calibri" panose="020F0502020204030204"/>
              </a:rPr>
              <a:t>certainly be </a:t>
            </a:r>
            <a:r>
              <a:rPr sz="2520" spc="-15" dirty="0">
                <a:latin typeface="Comic Sans MS" panose="030F0702030302020204" pitchFamily="66" charset="0"/>
                <a:cs typeface="Calibri" panose="020F0502020204030204"/>
              </a:rPr>
              <a:t>easy to  </a:t>
            </a:r>
            <a:r>
              <a:rPr sz="2520" spc="-5" dirty="0">
                <a:latin typeface="Comic Sans MS" panose="030F0702030302020204" pitchFamily="66" charset="0"/>
                <a:cs typeface="Calibri" panose="020F0502020204030204"/>
              </a:rPr>
              <a:t>implement.</a:t>
            </a:r>
            <a:endParaRPr sz="2520" dirty="0">
              <a:latin typeface="Comic Sans MS" panose="030F0702030302020204" pitchFamily="66" charset="0"/>
              <a:cs typeface="Calibri" panose="020F0502020204030204"/>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Solution</a:t>
            </a:r>
            <a:r>
              <a:rPr sz="4620" spc="-65" dirty="0"/>
              <a:t> </a:t>
            </a:r>
            <a:r>
              <a:rPr sz="4620" spc="-5" dirty="0"/>
              <a:t>#2</a:t>
            </a:r>
            <a:endParaRPr sz="4620" dirty="0"/>
          </a:p>
        </p:txBody>
      </p:sp>
      <p:sp>
        <p:nvSpPr>
          <p:cNvPr id="3" name="object 3"/>
          <p:cNvSpPr txBox="1"/>
          <p:nvPr/>
        </p:nvSpPr>
        <p:spPr>
          <a:xfrm>
            <a:off x="2343119" y="1883168"/>
            <a:ext cx="7480935" cy="1905635"/>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15" dirty="0">
                <a:latin typeface="Comic Sans MS" panose="030F0702030302020204" pitchFamily="66" charset="0"/>
                <a:cs typeface="Calibri" panose="020F0502020204030204"/>
              </a:rPr>
              <a:t>Instead </a:t>
            </a:r>
            <a:r>
              <a:rPr sz="2940" spc="-5" dirty="0">
                <a:latin typeface="Comic Sans MS" panose="030F0702030302020204" pitchFamily="66" charset="0"/>
                <a:cs typeface="Calibri" panose="020F0502020204030204"/>
              </a:rPr>
              <a:t>of locking the </a:t>
            </a:r>
            <a:r>
              <a:rPr sz="2940" spc="-15" dirty="0">
                <a:latin typeface="Comic Sans MS" panose="030F0702030302020204" pitchFamily="66" charset="0"/>
                <a:cs typeface="Calibri" panose="020F0502020204030204"/>
              </a:rPr>
              <a:t>entire list, we could </a:t>
            </a:r>
            <a:r>
              <a:rPr sz="2940" spc="-5" dirty="0">
                <a:latin typeface="Comic Sans MS" panose="030F0702030302020204" pitchFamily="66" charset="0"/>
                <a:cs typeface="Calibri" panose="020F0502020204030204"/>
              </a:rPr>
              <a:t>try </a:t>
            </a:r>
            <a:r>
              <a:rPr sz="2940" spc="-20" dirty="0">
                <a:latin typeface="Comic Sans MS" panose="030F0702030302020204" pitchFamily="66" charset="0"/>
                <a:cs typeface="Calibri" panose="020F0502020204030204"/>
              </a:rPr>
              <a:t>to </a:t>
            </a:r>
            <a:r>
              <a:rPr sz="2940" spc="-20" dirty="0">
                <a:solidFill>
                  <a:srgbClr val="FF0000"/>
                </a:solidFill>
                <a:latin typeface="Comic Sans MS" panose="030F0702030302020204" pitchFamily="66" charset="0"/>
                <a:cs typeface="Calibri" panose="020F0502020204030204"/>
              </a:rPr>
              <a:t> </a:t>
            </a:r>
            <a:r>
              <a:rPr sz="2940" spc="-5" dirty="0">
                <a:solidFill>
                  <a:srgbClr val="FF0000"/>
                </a:solidFill>
                <a:latin typeface="Comic Sans MS" panose="030F0702030302020204" pitchFamily="66" charset="0"/>
                <a:cs typeface="Calibri" panose="020F0502020204030204"/>
              </a:rPr>
              <a:t>lock </a:t>
            </a:r>
            <a:r>
              <a:rPr sz="2940" spc="-10" dirty="0">
                <a:solidFill>
                  <a:srgbClr val="FF0000"/>
                </a:solidFill>
                <a:latin typeface="Comic Sans MS" panose="030F0702030302020204" pitchFamily="66" charset="0"/>
                <a:cs typeface="Calibri" panose="020F0502020204030204"/>
              </a:rPr>
              <a:t>individual</a:t>
            </a:r>
            <a:r>
              <a:rPr sz="2940" spc="40" dirty="0">
                <a:solidFill>
                  <a:srgbClr val="FF0000"/>
                </a:solidFill>
                <a:latin typeface="Comic Sans MS" panose="030F0702030302020204" pitchFamily="66" charset="0"/>
                <a:cs typeface="Calibri" panose="020F0502020204030204"/>
              </a:rPr>
              <a:t> </a:t>
            </a:r>
            <a:r>
              <a:rPr sz="2940" spc="-5" dirty="0">
                <a:solidFill>
                  <a:srgbClr val="FF0000"/>
                </a:solidFill>
                <a:latin typeface="Comic Sans MS" panose="030F0702030302020204" pitchFamily="66" charset="0"/>
                <a:cs typeface="Calibri" panose="020F0502020204030204"/>
              </a:rPr>
              <a:t>nodes</a:t>
            </a:r>
            <a:r>
              <a:rPr sz="2940" spc="-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15"/>
              </a:spcBef>
              <a:buFont typeface="Arial" panose="020B0604020202020204"/>
              <a:buChar char="•"/>
            </a:pPr>
            <a:endParaRPr sz="3990" dirty="0">
              <a:latin typeface="Calibri" panose="020F0502020204030204"/>
              <a:cs typeface="Calibri" panose="020F0502020204030204"/>
            </a:endParaRPr>
          </a:p>
          <a:p>
            <a:pPr marL="241300" indent="-228600">
              <a:lnSpc>
                <a:spcPct val="100000"/>
              </a:lnSpc>
              <a:buFont typeface="Arial" panose="020B0604020202020204"/>
              <a:buChar char="•"/>
              <a:tabLst>
                <a:tab pos="241300" algn="l"/>
              </a:tabLst>
            </a:pPr>
            <a:r>
              <a:rPr sz="2940" spc="-5" dirty="0">
                <a:latin typeface="Calibri" panose="020F0502020204030204"/>
                <a:cs typeface="Calibri" panose="020F0502020204030204"/>
              </a:rPr>
              <a:t>A </a:t>
            </a:r>
            <a:r>
              <a:rPr sz="2940" spc="-10" dirty="0">
                <a:latin typeface="Calibri" panose="020F0502020204030204"/>
                <a:cs typeface="Calibri" panose="020F0502020204030204"/>
              </a:rPr>
              <a:t>“</a:t>
            </a:r>
            <a:r>
              <a:rPr sz="2940" spc="-10" dirty="0">
                <a:solidFill>
                  <a:srgbClr val="0000FF"/>
                </a:solidFill>
                <a:latin typeface="Calibri" panose="020F0502020204030204"/>
                <a:cs typeface="Calibri" panose="020F0502020204030204"/>
              </a:rPr>
              <a:t>finer-grained</a:t>
            </a:r>
            <a:r>
              <a:rPr sz="2940" spc="-10" dirty="0">
                <a:latin typeface="Calibri" panose="020F0502020204030204"/>
                <a:cs typeface="Calibri" panose="020F0502020204030204"/>
              </a:rPr>
              <a:t>”</a:t>
            </a:r>
            <a:r>
              <a:rPr sz="2940" spc="40" dirty="0">
                <a:latin typeface="Calibri" panose="020F0502020204030204"/>
                <a:cs typeface="Calibri" panose="020F0502020204030204"/>
              </a:rPr>
              <a:t> </a:t>
            </a:r>
            <a:r>
              <a:rPr sz="2940" spc="-15" dirty="0">
                <a:latin typeface="Calibri" panose="020F0502020204030204"/>
                <a:cs typeface="Calibri" panose="020F0502020204030204"/>
              </a:rPr>
              <a:t>approach.</a:t>
            </a:r>
            <a:endParaRPr sz="2940" dirty="0">
              <a:latin typeface="Calibri" panose="020F0502020204030204"/>
              <a:cs typeface="Calibri" panose="020F0502020204030204"/>
            </a:endParaRPr>
          </a:p>
        </p:txBody>
      </p:sp>
      <p:sp>
        <p:nvSpPr>
          <p:cNvPr id="4" name="object 4"/>
          <p:cNvSpPr/>
          <p:nvPr/>
        </p:nvSpPr>
        <p:spPr>
          <a:xfrm>
            <a:off x="3284811" y="4147318"/>
            <a:ext cx="5500688" cy="1990249"/>
          </a:xfrm>
          <a:prstGeom prst="rect">
            <a:avLst/>
          </a:prstGeom>
          <a:blipFill>
            <a:blip r:embed="rId2" cstate="print"/>
            <a:stretch>
              <a:fillRect/>
            </a:stretch>
          </a:blipFill>
        </p:spPr>
        <p:txBody>
          <a:bodyPr wrap="square" lIns="0" tIns="0" rIns="0" bIns="0" rtlCol="0"/>
          <a:lstStyle/>
          <a:p>
            <a:endParaRPr sz="2310"/>
          </a:p>
        </p:txBody>
      </p:sp>
      <p:sp>
        <p:nvSpPr>
          <p:cNvPr id="5" name="object 5"/>
          <p:cNvSpPr/>
          <p:nvPr/>
        </p:nvSpPr>
        <p:spPr>
          <a:xfrm>
            <a:off x="3938892" y="5758320"/>
            <a:ext cx="4293203" cy="0"/>
          </a:xfrm>
          <a:custGeom>
            <a:avLst/>
            <a:gdLst/>
            <a:ahLst/>
            <a:cxnLst/>
            <a:rect l="l" t="t" r="r" b="b"/>
            <a:pathLst>
              <a:path w="4088765">
                <a:moveTo>
                  <a:pt x="0" y="0"/>
                </a:moveTo>
                <a:lnTo>
                  <a:pt x="4088384" y="0"/>
                </a:lnTo>
              </a:path>
            </a:pathLst>
          </a:custGeom>
          <a:ln w="32004">
            <a:solidFill>
              <a:srgbClr val="FF0000"/>
            </a:solidFill>
          </a:ln>
        </p:spPr>
        <p:txBody>
          <a:bodyPr wrap="square" lIns="0" tIns="0" rIns="0" bIns="0" rtlCol="0"/>
          <a:lstStyle/>
          <a:p>
            <a:endParaRPr sz="2310"/>
          </a:p>
        </p:txBody>
      </p:sp>
      <p:sp>
        <p:nvSpPr>
          <p:cNvPr id="6" name="object 6"/>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76</a:t>
            </a:fld>
            <a:endParaRPr sz="1260">
              <a:latin typeface="Calibri" panose="020F0502020204030204"/>
              <a:cs typeface="Calibri" panose="020F0502020204030204"/>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5980" y="216694"/>
            <a:ext cx="10762906" cy="1310640"/>
          </a:xfrm>
          <a:prstGeom prst="rect">
            <a:avLst/>
          </a:prstGeom>
        </p:spPr>
        <p:txBody>
          <a:bodyPr vert="horz" wrap="square" lIns="0" tIns="93344" rIns="0" bIns="0" rtlCol="0">
            <a:spAutoFit/>
          </a:bodyPr>
          <a:lstStyle/>
          <a:p>
            <a:pPr marL="12700" marR="5080">
              <a:lnSpc>
                <a:spcPts val="4750"/>
              </a:lnSpc>
              <a:spcBef>
                <a:spcPts val="700"/>
              </a:spcBef>
            </a:pPr>
            <a:r>
              <a:rPr sz="4620" spc="-15" dirty="0"/>
              <a:t>Implementation </a:t>
            </a:r>
            <a:r>
              <a:rPr sz="4620" spc="-5" dirty="0"/>
              <a:t>of </a:t>
            </a:r>
            <a:r>
              <a:rPr sz="4620" dirty="0"/>
              <a:t>Member with  </a:t>
            </a:r>
            <a:r>
              <a:rPr sz="4620" spc="-5" dirty="0"/>
              <a:t>one </a:t>
            </a:r>
            <a:r>
              <a:rPr sz="4620" spc="-25" dirty="0"/>
              <a:t>mutex </a:t>
            </a:r>
            <a:r>
              <a:rPr sz="4620" dirty="0"/>
              <a:t>per </a:t>
            </a:r>
            <a:r>
              <a:rPr sz="4620" spc="-15" dirty="0"/>
              <a:t>list </a:t>
            </a:r>
            <a:r>
              <a:rPr sz="4620" dirty="0"/>
              <a:t>node</a:t>
            </a:r>
            <a:r>
              <a:rPr sz="4620" spc="15" dirty="0"/>
              <a:t> </a:t>
            </a:r>
            <a:r>
              <a:rPr sz="4620" dirty="0"/>
              <a:t>(1)</a:t>
            </a:r>
          </a:p>
        </p:txBody>
      </p:sp>
      <p:sp>
        <p:nvSpPr>
          <p:cNvPr id="3" name="object 3"/>
          <p:cNvSpPr/>
          <p:nvPr/>
        </p:nvSpPr>
        <p:spPr>
          <a:xfrm>
            <a:off x="2496302" y="1905451"/>
            <a:ext cx="7709009" cy="3981259"/>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3831678" y="4348544"/>
            <a:ext cx="6244114" cy="0"/>
          </a:xfrm>
          <a:custGeom>
            <a:avLst/>
            <a:gdLst/>
            <a:ahLst/>
            <a:cxnLst/>
            <a:rect l="l" t="t" r="r" b="b"/>
            <a:pathLst>
              <a:path w="5946775">
                <a:moveTo>
                  <a:pt x="0" y="0"/>
                </a:moveTo>
                <a:lnTo>
                  <a:pt x="5946393" y="0"/>
                </a:lnTo>
              </a:path>
            </a:pathLst>
          </a:custGeom>
          <a:ln w="25908">
            <a:solidFill>
              <a:srgbClr val="FFC000"/>
            </a:solidFill>
          </a:ln>
        </p:spPr>
        <p:txBody>
          <a:bodyPr wrap="square" lIns="0" tIns="0" rIns="0" bIns="0" rtlCol="0"/>
          <a:lstStyle/>
          <a:p>
            <a:endParaRPr sz="2310"/>
          </a:p>
        </p:txBody>
      </p:sp>
      <p:sp>
        <p:nvSpPr>
          <p:cNvPr id="5" name="object 5"/>
          <p:cNvSpPr/>
          <p:nvPr/>
        </p:nvSpPr>
        <p:spPr>
          <a:xfrm>
            <a:off x="3926090" y="4972620"/>
            <a:ext cx="5189315" cy="0"/>
          </a:xfrm>
          <a:custGeom>
            <a:avLst/>
            <a:gdLst/>
            <a:ahLst/>
            <a:cxnLst/>
            <a:rect l="l" t="t" r="r" b="b"/>
            <a:pathLst>
              <a:path w="4942205">
                <a:moveTo>
                  <a:pt x="0" y="0"/>
                </a:moveTo>
                <a:lnTo>
                  <a:pt x="4942078" y="0"/>
                </a:lnTo>
              </a:path>
            </a:pathLst>
          </a:custGeom>
          <a:ln w="25908">
            <a:solidFill>
              <a:srgbClr val="FF0000"/>
            </a:solidFill>
          </a:ln>
        </p:spPr>
        <p:txBody>
          <a:bodyPr wrap="square" lIns="0" tIns="0" rIns="0" bIns="0" rtlCol="0"/>
          <a:lstStyle/>
          <a:p>
            <a:endParaRPr sz="2310"/>
          </a:p>
        </p:txBody>
      </p:sp>
      <p:sp>
        <p:nvSpPr>
          <p:cNvPr id="6" name="object 6"/>
          <p:cNvSpPr/>
          <p:nvPr/>
        </p:nvSpPr>
        <p:spPr>
          <a:xfrm>
            <a:off x="3007576" y="3113189"/>
            <a:ext cx="4795933" cy="0"/>
          </a:xfrm>
          <a:custGeom>
            <a:avLst/>
            <a:gdLst/>
            <a:ahLst/>
            <a:cxnLst/>
            <a:rect l="l" t="t" r="r" b="b"/>
            <a:pathLst>
              <a:path w="4567555">
                <a:moveTo>
                  <a:pt x="0" y="0"/>
                </a:moveTo>
                <a:lnTo>
                  <a:pt x="4567301" y="0"/>
                </a:lnTo>
              </a:path>
            </a:pathLst>
          </a:custGeom>
          <a:ln w="25908">
            <a:solidFill>
              <a:srgbClr val="FF0000"/>
            </a:solidFill>
          </a:ln>
        </p:spPr>
        <p:txBody>
          <a:bodyPr wrap="square" lIns="0" tIns="0" rIns="0" bIns="0" rtlCol="0"/>
          <a:lstStyle/>
          <a:p>
            <a:endParaRPr sz="2310"/>
          </a:p>
        </p:txBody>
      </p:sp>
      <p:sp>
        <p:nvSpPr>
          <p:cNvPr id="7" name="object 7"/>
          <p:cNvSpPr/>
          <p:nvPr/>
        </p:nvSpPr>
        <p:spPr>
          <a:xfrm>
            <a:off x="3508439" y="5295862"/>
            <a:ext cx="5410010" cy="0"/>
          </a:xfrm>
          <a:custGeom>
            <a:avLst/>
            <a:gdLst/>
            <a:ahLst/>
            <a:cxnLst/>
            <a:rect l="l" t="t" r="r" b="b"/>
            <a:pathLst>
              <a:path w="5152390">
                <a:moveTo>
                  <a:pt x="0" y="0"/>
                </a:moveTo>
                <a:lnTo>
                  <a:pt x="5152262" y="0"/>
                </a:lnTo>
              </a:path>
            </a:pathLst>
          </a:custGeom>
          <a:ln w="25908">
            <a:solidFill>
              <a:srgbClr val="FFC000"/>
            </a:solidFill>
          </a:ln>
        </p:spPr>
        <p:txBody>
          <a:bodyPr wrap="square" lIns="0" tIns="0" rIns="0" bIns="0" rtlCol="0"/>
          <a:lstStyle/>
          <a:p>
            <a:endParaRPr sz="2310"/>
          </a:p>
        </p:txBody>
      </p:sp>
      <p:sp>
        <p:nvSpPr>
          <p:cNvPr id="8" name="object 8"/>
          <p:cNvSpPr/>
          <p:nvPr/>
        </p:nvSpPr>
        <p:spPr>
          <a:xfrm>
            <a:off x="3758873" y="6223711"/>
            <a:ext cx="4934120" cy="618388"/>
          </a:xfrm>
          <a:prstGeom prst="rect">
            <a:avLst/>
          </a:prstGeom>
          <a:blipFill>
            <a:blip r:embed="rId3" cstate="print"/>
            <a:stretch>
              <a:fillRect/>
            </a:stretch>
          </a:blipFill>
        </p:spPr>
        <p:txBody>
          <a:bodyPr wrap="square" lIns="0" tIns="0" rIns="0" bIns="0" rtlCol="0"/>
          <a:lstStyle/>
          <a:p>
            <a:endParaRPr sz="2310"/>
          </a:p>
        </p:txBody>
      </p:sp>
      <p:sp>
        <p:nvSpPr>
          <p:cNvPr id="9" name="object 9"/>
          <p:cNvSpPr/>
          <p:nvPr/>
        </p:nvSpPr>
        <p:spPr>
          <a:xfrm>
            <a:off x="4557369" y="5929754"/>
            <a:ext cx="418719" cy="308039"/>
          </a:xfrm>
          <a:custGeom>
            <a:avLst/>
            <a:gdLst/>
            <a:ahLst/>
            <a:cxnLst/>
            <a:rect l="l" t="t" r="r" b="b"/>
            <a:pathLst>
              <a:path w="398780" h="293370">
                <a:moveTo>
                  <a:pt x="39116" y="217208"/>
                </a:moveTo>
                <a:lnTo>
                  <a:pt x="0" y="292862"/>
                </a:lnTo>
                <a:lnTo>
                  <a:pt x="84074" y="278803"/>
                </a:lnTo>
                <a:lnTo>
                  <a:pt x="70799" y="260616"/>
                </a:lnTo>
                <a:lnTo>
                  <a:pt x="55118" y="260616"/>
                </a:lnTo>
                <a:lnTo>
                  <a:pt x="47625" y="250342"/>
                </a:lnTo>
                <a:lnTo>
                  <a:pt x="57859" y="242887"/>
                </a:lnTo>
                <a:lnTo>
                  <a:pt x="39116" y="217208"/>
                </a:lnTo>
                <a:close/>
              </a:path>
              <a:path w="398780" h="293370">
                <a:moveTo>
                  <a:pt x="57859" y="242887"/>
                </a:moveTo>
                <a:lnTo>
                  <a:pt x="47625" y="250342"/>
                </a:lnTo>
                <a:lnTo>
                  <a:pt x="55118" y="260616"/>
                </a:lnTo>
                <a:lnTo>
                  <a:pt x="65356" y="253158"/>
                </a:lnTo>
                <a:lnTo>
                  <a:pt x="57859" y="242887"/>
                </a:lnTo>
                <a:close/>
              </a:path>
              <a:path w="398780" h="293370">
                <a:moveTo>
                  <a:pt x="65356" y="253158"/>
                </a:moveTo>
                <a:lnTo>
                  <a:pt x="55118" y="260616"/>
                </a:lnTo>
                <a:lnTo>
                  <a:pt x="70799" y="260616"/>
                </a:lnTo>
                <a:lnTo>
                  <a:pt x="65356" y="253158"/>
                </a:lnTo>
                <a:close/>
              </a:path>
              <a:path w="398780" h="293370">
                <a:moveTo>
                  <a:pt x="391287" y="0"/>
                </a:moveTo>
                <a:lnTo>
                  <a:pt x="57859" y="242887"/>
                </a:lnTo>
                <a:lnTo>
                  <a:pt x="65356" y="253158"/>
                </a:lnTo>
                <a:lnTo>
                  <a:pt x="398780" y="10261"/>
                </a:lnTo>
                <a:lnTo>
                  <a:pt x="391287" y="0"/>
                </a:lnTo>
                <a:close/>
              </a:path>
            </a:pathLst>
          </a:custGeom>
          <a:solidFill>
            <a:srgbClr val="5B9BD4"/>
          </a:solidFill>
        </p:spPr>
        <p:txBody>
          <a:bodyPr wrap="square" lIns="0" tIns="0" rIns="0" bIns="0" rtlCol="0"/>
          <a:lstStyle/>
          <a:p>
            <a:endParaRPr sz="2310"/>
          </a:p>
        </p:txBody>
      </p:sp>
      <p:sp>
        <p:nvSpPr>
          <p:cNvPr id="10" name="object 10"/>
          <p:cNvSpPr txBox="1"/>
          <p:nvPr/>
        </p:nvSpPr>
        <p:spPr>
          <a:xfrm>
            <a:off x="4993958" y="5651053"/>
            <a:ext cx="782098" cy="302895"/>
          </a:xfrm>
          <a:prstGeom prst="rect">
            <a:avLst/>
          </a:prstGeom>
        </p:spPr>
        <p:txBody>
          <a:bodyPr vert="horz" wrap="square" lIns="0" tIns="13334" rIns="0" bIns="0" rtlCol="0">
            <a:spAutoFit/>
          </a:bodyPr>
          <a:lstStyle/>
          <a:p>
            <a:pPr marL="12700">
              <a:lnSpc>
                <a:spcPct val="100000"/>
              </a:lnSpc>
              <a:spcBef>
                <a:spcPts val="100"/>
              </a:spcBef>
            </a:pPr>
            <a:r>
              <a:rPr sz="1890" b="0" spc="-20" dirty="0">
                <a:solidFill>
                  <a:srgbClr val="2D75B6"/>
                </a:solidFill>
                <a:latin typeface="Calibri Light" panose="020F0302020204030204"/>
                <a:cs typeface="Calibri Light" panose="020F0302020204030204"/>
              </a:rPr>
              <a:t>t</a:t>
            </a:r>
            <a:r>
              <a:rPr sz="1890" b="0" spc="-5" dirty="0">
                <a:solidFill>
                  <a:srgbClr val="2D75B6"/>
                </a:solidFill>
                <a:latin typeface="Calibri Light" panose="020F0302020204030204"/>
                <a:cs typeface="Calibri Light" panose="020F0302020204030204"/>
              </a:rPr>
              <a:t>emp</a:t>
            </a:r>
            <a:r>
              <a:rPr sz="1890" b="0" spc="5" dirty="0">
                <a:solidFill>
                  <a:srgbClr val="2D75B6"/>
                </a:solidFill>
                <a:latin typeface="Calibri Light" panose="020F0302020204030204"/>
                <a:cs typeface="Calibri Light" panose="020F0302020204030204"/>
              </a:rPr>
              <a:t>_</a:t>
            </a:r>
            <a:r>
              <a:rPr sz="1890" b="0" dirty="0">
                <a:solidFill>
                  <a:srgbClr val="2D75B6"/>
                </a:solidFill>
                <a:latin typeface="Calibri Light" panose="020F0302020204030204"/>
                <a:cs typeface="Calibri Light" panose="020F0302020204030204"/>
              </a:rPr>
              <a:t>p</a:t>
            </a:r>
            <a:endParaRPr sz="1890">
              <a:latin typeface="Calibri Light" panose="020F0302020204030204"/>
              <a:cs typeface="Calibri Light" panose="020F0302020204030204"/>
            </a:endParaRPr>
          </a:p>
        </p:txBody>
      </p:sp>
      <p:sp>
        <p:nvSpPr>
          <p:cNvPr id="11" name="object 11"/>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77</a:t>
            </a:fld>
            <a:endParaRPr sz="1260">
              <a:latin typeface="Calibri" panose="020F0502020204030204"/>
              <a:cs typeface="Calibri" panose="020F0502020204030204"/>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30731" y="2073085"/>
            <a:ext cx="7159757" cy="3971255"/>
          </a:xfrm>
          <a:prstGeom prst="rect">
            <a:avLst/>
          </a:prstGeom>
          <a:blipFill>
            <a:blip r:embed="rId2" cstate="print"/>
            <a:stretch>
              <a:fillRect/>
            </a:stretch>
          </a:blipFill>
        </p:spPr>
        <p:txBody>
          <a:bodyPr wrap="square" lIns="0" tIns="0" rIns="0" bIns="0" rtlCol="0"/>
          <a:lstStyle/>
          <a:p>
            <a:endParaRPr sz="2310"/>
          </a:p>
        </p:txBody>
      </p:sp>
      <p:sp>
        <p:nvSpPr>
          <p:cNvPr id="3" name="object 3"/>
          <p:cNvSpPr txBox="1">
            <a:spLocks noGrp="1"/>
          </p:cNvSpPr>
          <p:nvPr>
            <p:ph type="title"/>
          </p:nvPr>
        </p:nvSpPr>
        <p:spPr>
          <a:xfrm>
            <a:off x="784225" y="71914"/>
            <a:ext cx="10762906" cy="1310640"/>
          </a:xfrm>
          <a:prstGeom prst="rect">
            <a:avLst/>
          </a:prstGeom>
        </p:spPr>
        <p:txBody>
          <a:bodyPr vert="horz" wrap="square" lIns="0" tIns="93344" rIns="0" bIns="0" rtlCol="0">
            <a:spAutoFit/>
          </a:bodyPr>
          <a:lstStyle/>
          <a:p>
            <a:pPr marL="12700" marR="5080">
              <a:lnSpc>
                <a:spcPts val="4750"/>
              </a:lnSpc>
              <a:spcBef>
                <a:spcPts val="700"/>
              </a:spcBef>
            </a:pPr>
            <a:r>
              <a:rPr sz="4620" spc="-15" dirty="0"/>
              <a:t>Implementation </a:t>
            </a:r>
            <a:r>
              <a:rPr sz="4620" spc="-5" dirty="0"/>
              <a:t>of </a:t>
            </a:r>
            <a:r>
              <a:rPr sz="4620" dirty="0"/>
              <a:t>Member with  </a:t>
            </a:r>
            <a:r>
              <a:rPr sz="4620" spc="-5" dirty="0"/>
              <a:t>one </a:t>
            </a:r>
            <a:r>
              <a:rPr sz="4620" spc="-25" dirty="0"/>
              <a:t>mutex </a:t>
            </a:r>
            <a:r>
              <a:rPr sz="4620" dirty="0"/>
              <a:t>per </a:t>
            </a:r>
            <a:r>
              <a:rPr sz="4620" spc="-15" dirty="0"/>
              <a:t>list </a:t>
            </a:r>
            <a:r>
              <a:rPr sz="4620" dirty="0"/>
              <a:t>node</a:t>
            </a:r>
            <a:r>
              <a:rPr sz="4620" spc="15" dirty="0"/>
              <a:t> </a:t>
            </a:r>
            <a:r>
              <a:rPr sz="4620" dirty="0"/>
              <a:t>(2)</a:t>
            </a:r>
            <a:endParaRPr sz="4620"/>
          </a:p>
        </p:txBody>
      </p:sp>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78</a:t>
            </a:fld>
            <a:endParaRPr sz="1260">
              <a:latin typeface="Calibri" panose="020F0502020204030204"/>
              <a:cs typeface="Calibri" panose="020F0502020204030204"/>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79</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Issues</a:t>
            </a:r>
            <a:endParaRPr sz="4620" dirty="0"/>
          </a:p>
        </p:txBody>
      </p:sp>
      <p:sp>
        <p:nvSpPr>
          <p:cNvPr id="3" name="object 3"/>
          <p:cNvSpPr txBox="1"/>
          <p:nvPr/>
        </p:nvSpPr>
        <p:spPr>
          <a:xfrm>
            <a:off x="2343118" y="1883168"/>
            <a:ext cx="8882217" cy="3422015"/>
          </a:xfrm>
          <a:prstGeom prst="rect">
            <a:avLst/>
          </a:prstGeom>
        </p:spPr>
        <p:txBody>
          <a:bodyPr vert="horz" wrap="square" lIns="0" tIns="64007" rIns="0" bIns="0" rtlCol="0">
            <a:spAutoFit/>
          </a:bodyPr>
          <a:lstStyle/>
          <a:p>
            <a:pPr marL="241300" marR="1033145" indent="-228600">
              <a:lnSpc>
                <a:spcPts val="3020"/>
              </a:lnSpc>
              <a:spcBef>
                <a:spcPts val="480"/>
              </a:spcBef>
              <a:buFont typeface="Arial" panose="020B0604020202020204"/>
              <a:buChar char="•"/>
              <a:tabLst>
                <a:tab pos="241300" algn="l"/>
              </a:tabLst>
            </a:pPr>
            <a:r>
              <a:rPr sz="2940" spc="-10" dirty="0">
                <a:latin typeface="Comic Sans MS" panose="030F0702030302020204" pitchFamily="66" charset="0"/>
                <a:cs typeface="Calibri" panose="020F0502020204030204"/>
              </a:rPr>
              <a:t>This </a:t>
            </a:r>
            <a:r>
              <a:rPr sz="2940" spc="-5" dirty="0">
                <a:latin typeface="Comic Sans MS" panose="030F0702030302020204" pitchFamily="66" charset="0"/>
                <a:cs typeface="Calibri" panose="020F0502020204030204"/>
              </a:rPr>
              <a:t>is much </a:t>
            </a:r>
            <a:r>
              <a:rPr sz="2940" spc="-15" dirty="0">
                <a:solidFill>
                  <a:srgbClr val="FF0000"/>
                </a:solidFill>
                <a:latin typeface="Comic Sans MS" panose="030F0702030302020204" pitchFamily="66" charset="0"/>
                <a:cs typeface="Calibri" panose="020F0502020204030204"/>
              </a:rPr>
              <a:t>more </a:t>
            </a:r>
            <a:r>
              <a:rPr sz="2940" spc="-20" dirty="0">
                <a:solidFill>
                  <a:srgbClr val="FF0000"/>
                </a:solidFill>
                <a:latin typeface="Comic Sans MS" panose="030F0702030302020204" pitchFamily="66" charset="0"/>
                <a:cs typeface="Calibri" panose="020F0502020204030204"/>
              </a:rPr>
              <a:t>complex </a:t>
            </a:r>
            <a:r>
              <a:rPr sz="2940" spc="-5" dirty="0">
                <a:latin typeface="Comic Sans MS" panose="030F0702030302020204" pitchFamily="66" charset="0"/>
                <a:cs typeface="Calibri" panose="020F0502020204030204"/>
              </a:rPr>
              <a:t>than the </a:t>
            </a:r>
            <a:r>
              <a:rPr sz="2940" spc="-10" dirty="0">
                <a:latin typeface="Comic Sans MS" panose="030F0702030302020204" pitchFamily="66" charset="0"/>
                <a:cs typeface="Calibri" panose="020F0502020204030204"/>
              </a:rPr>
              <a:t>original  Member</a:t>
            </a:r>
            <a:r>
              <a:rPr sz="2940" spc="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function.</a:t>
            </a:r>
            <a:endParaRPr sz="2940" dirty="0">
              <a:latin typeface="Comic Sans MS" panose="030F0702030302020204" pitchFamily="66" charset="0"/>
              <a:cs typeface="Calibri" panose="020F0502020204030204"/>
            </a:endParaRPr>
          </a:p>
          <a:p>
            <a:pPr marL="241300" marR="5080" indent="-228600">
              <a:lnSpc>
                <a:spcPts val="3020"/>
              </a:lnSpc>
              <a:spcBef>
                <a:spcPts val="1015"/>
              </a:spcBef>
              <a:buFont typeface="Arial" panose="020B0604020202020204"/>
              <a:buChar char="•"/>
              <a:tabLst>
                <a:tab pos="241300" algn="l"/>
              </a:tabLst>
            </a:pPr>
            <a:r>
              <a:rPr sz="2940" spc="-5" dirty="0">
                <a:latin typeface="Comic Sans MS" panose="030F0702030302020204" pitchFamily="66" charset="0"/>
                <a:cs typeface="Calibri" panose="020F0502020204030204"/>
              </a:rPr>
              <a:t>It is also </a:t>
            </a:r>
            <a:r>
              <a:rPr sz="2940" spc="-5" dirty="0">
                <a:solidFill>
                  <a:srgbClr val="FF0000"/>
                </a:solidFill>
                <a:latin typeface="Comic Sans MS" panose="030F0702030302020204" pitchFamily="66" charset="0"/>
                <a:cs typeface="Calibri" panose="020F0502020204030204"/>
              </a:rPr>
              <a:t>much </a:t>
            </a:r>
            <a:r>
              <a:rPr sz="2940" spc="-45" dirty="0">
                <a:solidFill>
                  <a:srgbClr val="FF0000"/>
                </a:solidFill>
                <a:latin typeface="Comic Sans MS" panose="030F0702030302020204" pitchFamily="66" charset="0"/>
                <a:cs typeface="Calibri" panose="020F0502020204030204"/>
              </a:rPr>
              <a:t>slower</a:t>
            </a:r>
            <a:r>
              <a:rPr sz="2940" spc="-4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since, </a:t>
            </a:r>
            <a:r>
              <a:rPr sz="2940" spc="-5" dirty="0">
                <a:latin typeface="Comic Sans MS" panose="030F0702030302020204" pitchFamily="66" charset="0"/>
                <a:cs typeface="Calibri" panose="020F0502020204030204"/>
              </a:rPr>
              <a:t>in </a:t>
            </a:r>
            <a:r>
              <a:rPr sz="2940" spc="-15" dirty="0">
                <a:latin typeface="Comic Sans MS" panose="030F0702030302020204" pitchFamily="66" charset="0"/>
                <a:cs typeface="Calibri" panose="020F0502020204030204"/>
              </a:rPr>
              <a:t>general, </a:t>
            </a:r>
            <a:r>
              <a:rPr sz="2940" spc="-5" dirty="0">
                <a:latin typeface="Comic Sans MS" panose="030F0702030302020204" pitchFamily="66" charset="0"/>
                <a:cs typeface="Calibri" panose="020F0502020204030204"/>
              </a:rPr>
              <a:t>each time a  </a:t>
            </a:r>
            <a:r>
              <a:rPr sz="2940" spc="-10" dirty="0">
                <a:latin typeface="Comic Sans MS" panose="030F0702030302020204" pitchFamily="66" charset="0"/>
                <a:cs typeface="Calibri" panose="020F0502020204030204"/>
              </a:rPr>
              <a:t>node </a:t>
            </a:r>
            <a:r>
              <a:rPr sz="2940" spc="-5" dirty="0">
                <a:latin typeface="Comic Sans MS" panose="030F0702030302020204" pitchFamily="66" charset="0"/>
                <a:cs typeface="Calibri" panose="020F0502020204030204"/>
              </a:rPr>
              <a:t>is accessed, a </a:t>
            </a:r>
            <a:r>
              <a:rPr sz="2940" spc="-25" dirty="0">
                <a:latin typeface="Comic Sans MS" panose="030F0702030302020204" pitchFamily="66" charset="0"/>
                <a:cs typeface="Calibri" panose="020F0502020204030204"/>
              </a:rPr>
              <a:t>mutex </a:t>
            </a:r>
            <a:r>
              <a:rPr sz="2940" spc="-15" dirty="0">
                <a:latin typeface="Comic Sans MS" panose="030F0702030302020204" pitchFamily="66" charset="0"/>
                <a:cs typeface="Calibri" panose="020F0502020204030204"/>
              </a:rPr>
              <a:t>must </a:t>
            </a:r>
            <a:r>
              <a:rPr sz="2940" spc="-5" dirty="0">
                <a:latin typeface="Comic Sans MS" panose="030F0702030302020204" pitchFamily="66" charset="0"/>
                <a:cs typeface="Calibri" panose="020F0502020204030204"/>
              </a:rPr>
              <a:t>be </a:t>
            </a:r>
            <a:r>
              <a:rPr sz="2940" spc="-20" dirty="0">
                <a:latin typeface="Comic Sans MS" panose="030F0702030302020204" pitchFamily="66" charset="0"/>
                <a:cs typeface="Calibri" panose="020F0502020204030204"/>
              </a:rPr>
              <a:t>locked </a:t>
            </a:r>
            <a:r>
              <a:rPr sz="2940" spc="-5" dirty="0">
                <a:latin typeface="Comic Sans MS" panose="030F0702030302020204" pitchFamily="66" charset="0"/>
                <a:cs typeface="Calibri" panose="020F0502020204030204"/>
              </a:rPr>
              <a:t>and  </a:t>
            </a:r>
            <a:r>
              <a:rPr sz="2940" spc="-20" dirty="0">
                <a:latin typeface="Comic Sans MS" panose="030F0702030302020204" pitchFamily="66" charset="0"/>
                <a:cs typeface="Calibri" panose="020F0502020204030204"/>
              </a:rPr>
              <a:t>unlocked.</a:t>
            </a:r>
            <a:endParaRPr sz="2940" dirty="0">
              <a:latin typeface="Comic Sans MS" panose="030F0702030302020204" pitchFamily="66" charset="0"/>
              <a:cs typeface="Calibri" panose="020F0502020204030204"/>
            </a:endParaRPr>
          </a:p>
          <a:p>
            <a:pPr marL="241300" marR="718820" indent="-228600">
              <a:lnSpc>
                <a:spcPts val="3020"/>
              </a:lnSpc>
              <a:spcBef>
                <a:spcPts val="1015"/>
              </a:spcBef>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5" dirty="0">
                <a:latin typeface="Comic Sans MS" panose="030F0702030302020204" pitchFamily="66" charset="0"/>
                <a:cs typeface="Calibri" panose="020F0502020204030204"/>
              </a:rPr>
              <a:t>addition of a </a:t>
            </a:r>
            <a:r>
              <a:rPr sz="2940" spc="-25" dirty="0">
                <a:latin typeface="Comic Sans MS" panose="030F0702030302020204" pitchFamily="66" charset="0"/>
                <a:cs typeface="Calibri" panose="020F0502020204030204"/>
              </a:rPr>
              <a:t>mutex </a:t>
            </a:r>
            <a:r>
              <a:rPr sz="2940" spc="-10" dirty="0">
                <a:latin typeface="Comic Sans MS" panose="030F0702030302020204" pitchFamily="66" charset="0"/>
                <a:cs typeface="Calibri" panose="020F0502020204030204"/>
              </a:rPr>
              <a:t>field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each </a:t>
            </a:r>
            <a:r>
              <a:rPr sz="2940" spc="-10" dirty="0">
                <a:latin typeface="Comic Sans MS" panose="030F0702030302020204" pitchFamily="66" charset="0"/>
                <a:cs typeface="Calibri" panose="020F0502020204030204"/>
              </a:rPr>
              <a:t>node </a:t>
            </a:r>
            <a:r>
              <a:rPr sz="2940" spc="-5" dirty="0">
                <a:latin typeface="Comic Sans MS" panose="030F0702030302020204" pitchFamily="66" charset="0"/>
                <a:cs typeface="Calibri" panose="020F0502020204030204"/>
              </a:rPr>
              <a:t>will  </a:t>
            </a:r>
            <a:r>
              <a:rPr sz="2940" spc="-15" dirty="0">
                <a:latin typeface="Comic Sans MS" panose="030F0702030302020204" pitchFamily="66" charset="0"/>
                <a:cs typeface="Calibri" panose="020F0502020204030204"/>
              </a:rPr>
              <a:t>substantially </a:t>
            </a:r>
            <a:r>
              <a:rPr sz="2940" spc="-10" dirty="0">
                <a:solidFill>
                  <a:srgbClr val="FF0000"/>
                </a:solidFill>
                <a:latin typeface="Comic Sans MS" panose="030F0702030302020204" pitchFamily="66" charset="0"/>
                <a:cs typeface="Calibri" panose="020F0502020204030204"/>
              </a:rPr>
              <a:t>increase </a:t>
            </a:r>
            <a:r>
              <a:rPr sz="2940" spc="-5" dirty="0">
                <a:solidFill>
                  <a:srgbClr val="FF0000"/>
                </a:solidFill>
                <a:latin typeface="Comic Sans MS" panose="030F0702030302020204" pitchFamily="66" charset="0"/>
                <a:cs typeface="Calibri" panose="020F0502020204030204"/>
              </a:rPr>
              <a:t>the </a:t>
            </a:r>
            <a:r>
              <a:rPr sz="2940" spc="-10" dirty="0">
                <a:solidFill>
                  <a:srgbClr val="FF0000"/>
                </a:solidFill>
                <a:latin typeface="Comic Sans MS" panose="030F0702030302020204" pitchFamily="66" charset="0"/>
                <a:cs typeface="Calibri" panose="020F0502020204030204"/>
              </a:rPr>
              <a:t>amount </a:t>
            </a:r>
            <a:r>
              <a:rPr sz="2940" spc="-5" dirty="0">
                <a:solidFill>
                  <a:srgbClr val="FF0000"/>
                </a:solidFill>
                <a:latin typeface="Comic Sans MS" panose="030F0702030302020204" pitchFamily="66" charset="0"/>
                <a:cs typeface="Calibri" panose="020F0502020204030204"/>
              </a:rPr>
              <a:t>of </a:t>
            </a:r>
            <a:r>
              <a:rPr sz="2940" spc="-25" dirty="0">
                <a:solidFill>
                  <a:srgbClr val="FF0000"/>
                </a:solidFill>
                <a:latin typeface="Comic Sans MS" panose="030F0702030302020204" pitchFamily="66" charset="0"/>
                <a:cs typeface="Calibri" panose="020F0502020204030204"/>
              </a:rPr>
              <a:t>storage </a:t>
            </a:r>
            <a:r>
              <a:rPr sz="2940" spc="-2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needed </a:t>
            </a:r>
            <a:r>
              <a:rPr sz="2940" spc="-25" dirty="0">
                <a:latin typeface="Comic Sans MS" panose="030F0702030302020204" pitchFamily="66" charset="0"/>
                <a:cs typeface="Calibri" panose="020F0502020204030204"/>
              </a:rPr>
              <a:t>for </a:t>
            </a:r>
            <a:r>
              <a:rPr sz="2940" spc="-5" dirty="0">
                <a:latin typeface="Comic Sans MS" panose="030F0702030302020204" pitchFamily="66" charset="0"/>
                <a:cs typeface="Calibri" panose="020F0502020204030204"/>
              </a:rPr>
              <a:t>the</a:t>
            </a:r>
            <a:r>
              <a:rPr sz="2940" spc="55"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list.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80</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Pthreads </a:t>
            </a:r>
            <a:r>
              <a:rPr sz="4620" spc="-30" dirty="0"/>
              <a:t>Read-Write</a:t>
            </a:r>
            <a:r>
              <a:rPr sz="4620" spc="-45" dirty="0"/>
              <a:t> </a:t>
            </a:r>
            <a:r>
              <a:rPr sz="4620" spc="-10" dirty="0"/>
              <a:t>Locks</a:t>
            </a:r>
            <a:endParaRPr sz="4620" dirty="0"/>
          </a:p>
        </p:txBody>
      </p:sp>
      <p:sp>
        <p:nvSpPr>
          <p:cNvPr id="3" name="object 3"/>
          <p:cNvSpPr txBox="1"/>
          <p:nvPr/>
        </p:nvSpPr>
        <p:spPr>
          <a:xfrm>
            <a:off x="2160006" y="1631549"/>
            <a:ext cx="9353361" cy="4150944"/>
          </a:xfrm>
          <a:prstGeom prst="rect">
            <a:avLst/>
          </a:prstGeom>
        </p:spPr>
        <p:txBody>
          <a:bodyPr vert="horz" wrap="square" lIns="0" tIns="57340" rIns="0" bIns="0" rtlCol="0">
            <a:spAutoFit/>
          </a:bodyPr>
          <a:lstStyle/>
          <a:p>
            <a:pPr marL="240665" marR="11430" indent="-228600" algn="just">
              <a:lnSpc>
                <a:spcPct val="90000"/>
              </a:lnSpc>
              <a:spcBef>
                <a:spcPts val="430"/>
              </a:spcBef>
              <a:buFont typeface="Arial" panose="020B0604020202020204"/>
              <a:buChar char="•"/>
              <a:tabLst>
                <a:tab pos="241300" algn="l"/>
              </a:tabLst>
            </a:pPr>
            <a:r>
              <a:rPr sz="2940" spc="-5" dirty="0">
                <a:solidFill>
                  <a:srgbClr val="FF0000"/>
                </a:solidFill>
                <a:latin typeface="Comic Sans MS" panose="030F0702030302020204" pitchFamily="66" charset="0"/>
                <a:cs typeface="Calibri" panose="020F0502020204030204"/>
              </a:rPr>
              <a:t>Neither </a:t>
            </a:r>
            <a:r>
              <a:rPr sz="2940" spc="-5" dirty="0">
                <a:latin typeface="Comic Sans MS" panose="030F0702030302020204" pitchFamily="66" charset="0"/>
                <a:cs typeface="Calibri" panose="020F0502020204030204"/>
              </a:rPr>
              <a:t>of our </a:t>
            </a:r>
            <a:r>
              <a:rPr sz="2940" spc="-10" dirty="0">
                <a:latin typeface="Comic Sans MS" panose="030F0702030302020204" pitchFamily="66" charset="0"/>
                <a:cs typeface="Calibri" panose="020F0502020204030204"/>
              </a:rPr>
              <a:t>multi-threaded </a:t>
            </a:r>
            <a:r>
              <a:rPr sz="2940" spc="-25" dirty="0">
                <a:latin typeface="Comic Sans MS" panose="030F0702030302020204" pitchFamily="66" charset="0"/>
                <a:cs typeface="Calibri" panose="020F0502020204030204"/>
              </a:rPr>
              <a:t>linked </a:t>
            </a:r>
            <a:r>
              <a:rPr sz="2940" spc="-15" dirty="0">
                <a:latin typeface="Comic Sans MS" panose="030F0702030302020204" pitchFamily="66" charset="0"/>
                <a:cs typeface="Calibri" panose="020F0502020204030204"/>
              </a:rPr>
              <a:t>lists </a:t>
            </a:r>
            <a:r>
              <a:rPr sz="2940" spc="-15" dirty="0">
                <a:solidFill>
                  <a:srgbClr val="FF0000"/>
                </a:solidFill>
                <a:latin typeface="Comic Sans MS" panose="030F0702030302020204" pitchFamily="66" charset="0"/>
                <a:cs typeface="Calibri" panose="020F0502020204030204"/>
              </a:rPr>
              <a:t>exploits</a:t>
            </a:r>
            <a:r>
              <a:rPr sz="2940" spc="-1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potential </a:t>
            </a:r>
            <a:r>
              <a:rPr sz="2940" spc="-25" dirty="0">
                <a:latin typeface="Comic Sans MS" panose="030F0702030302020204" pitchFamily="66" charset="0"/>
                <a:cs typeface="Calibri" panose="020F0502020204030204"/>
              </a:rPr>
              <a:t>for </a:t>
            </a:r>
            <a:r>
              <a:rPr sz="2940" spc="-10" dirty="0">
                <a:latin typeface="Comic Sans MS" panose="030F0702030302020204" pitchFamily="66" charset="0"/>
                <a:cs typeface="Calibri" panose="020F0502020204030204"/>
              </a:rPr>
              <a:t>simultaneous </a:t>
            </a:r>
            <a:r>
              <a:rPr sz="2940"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any </a:t>
            </a:r>
            <a:r>
              <a:rPr sz="2940" spc="-10" dirty="0">
                <a:latin typeface="Comic Sans MS" panose="030F0702030302020204" pitchFamily="66" charset="0"/>
                <a:cs typeface="Calibri" panose="020F0502020204030204"/>
              </a:rPr>
              <a:t>node  </a:t>
            </a:r>
            <a:r>
              <a:rPr sz="2940" spc="-15" dirty="0">
                <a:latin typeface="Comic Sans MS" panose="030F0702030302020204" pitchFamily="66" charset="0"/>
                <a:cs typeface="Calibri" panose="020F0502020204030204"/>
              </a:rPr>
              <a:t>by </a:t>
            </a:r>
            <a:r>
              <a:rPr sz="2940" spc="-10" dirty="0">
                <a:latin typeface="Comic Sans MS" panose="030F0702030302020204" pitchFamily="66" charset="0"/>
                <a:cs typeface="Calibri" panose="020F0502020204030204"/>
              </a:rPr>
              <a:t>threads that </a:t>
            </a:r>
            <a:r>
              <a:rPr sz="2940" spc="-20" dirty="0">
                <a:latin typeface="Comic Sans MS" panose="030F0702030302020204" pitchFamily="66" charset="0"/>
                <a:cs typeface="Calibri" panose="020F0502020204030204"/>
              </a:rPr>
              <a:t>are executing</a:t>
            </a:r>
            <a:r>
              <a:rPr sz="2940" spc="100" dirty="0">
                <a:latin typeface="Comic Sans MS" panose="030F0702030302020204" pitchFamily="66" charset="0"/>
                <a:cs typeface="Calibri" panose="020F0502020204030204"/>
              </a:rPr>
              <a:t> </a:t>
            </a:r>
            <a:r>
              <a:rPr sz="2940" spc="-45" dirty="0">
                <a:latin typeface="Comic Sans MS" panose="030F0702030302020204" pitchFamily="66" charset="0"/>
                <a:cs typeface="Calibri" panose="020F0502020204030204"/>
              </a:rPr>
              <a:t>Member.</a:t>
            </a:r>
            <a:endParaRPr sz="2940" dirty="0">
              <a:latin typeface="Comic Sans MS" panose="030F0702030302020204" pitchFamily="66" charset="0"/>
              <a:cs typeface="Calibri" panose="020F0502020204030204"/>
            </a:endParaRPr>
          </a:p>
          <a:p>
            <a:pPr>
              <a:lnSpc>
                <a:spcPct val="100000"/>
              </a:lnSpc>
              <a:spcBef>
                <a:spcPts val="10"/>
              </a:spcBef>
              <a:buChar char="•"/>
            </a:pPr>
            <a:endParaRPr sz="4355" dirty="0">
              <a:latin typeface="Comic Sans MS" panose="030F0702030302020204" pitchFamily="66" charset="0"/>
              <a:cs typeface="Calibri" panose="020F0502020204030204"/>
            </a:endParaRPr>
          </a:p>
          <a:p>
            <a:pPr marL="240665" marR="5080" indent="-228600">
              <a:lnSpc>
                <a:spcPts val="3020"/>
              </a:lnSpc>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first </a:t>
            </a:r>
            <a:r>
              <a:rPr sz="2940" spc="-5" dirty="0">
                <a:latin typeface="Comic Sans MS" panose="030F0702030302020204" pitchFamily="66" charset="0"/>
                <a:cs typeface="Calibri" panose="020F0502020204030204"/>
              </a:rPr>
              <a:t>solution </a:t>
            </a:r>
            <a:r>
              <a:rPr sz="2940" spc="-10" dirty="0">
                <a:latin typeface="Comic Sans MS" panose="030F0702030302020204" pitchFamily="66" charset="0"/>
                <a:cs typeface="Calibri" panose="020F0502020204030204"/>
              </a:rPr>
              <a:t>only allows </a:t>
            </a:r>
            <a:r>
              <a:rPr sz="2940" spc="-10" dirty="0">
                <a:solidFill>
                  <a:srgbClr val="FF0000"/>
                </a:solidFill>
                <a:latin typeface="Comic Sans MS" panose="030F0702030302020204" pitchFamily="66" charset="0"/>
                <a:cs typeface="Calibri" panose="020F0502020204030204"/>
              </a:rPr>
              <a:t>one thread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access  the </a:t>
            </a:r>
            <a:r>
              <a:rPr sz="2940" spc="-15" dirty="0">
                <a:solidFill>
                  <a:srgbClr val="FF0000"/>
                </a:solidFill>
                <a:latin typeface="Comic Sans MS" panose="030F0702030302020204" pitchFamily="66" charset="0"/>
                <a:cs typeface="Calibri" panose="020F0502020204030204"/>
              </a:rPr>
              <a:t>entire list </a:t>
            </a:r>
            <a:r>
              <a:rPr sz="2940" spc="-15" dirty="0">
                <a:latin typeface="Comic Sans MS" panose="030F0702030302020204" pitchFamily="66" charset="0"/>
                <a:cs typeface="Calibri" panose="020F0502020204030204"/>
              </a:rPr>
              <a:t>at </a:t>
            </a:r>
            <a:r>
              <a:rPr sz="2940" spc="-20" dirty="0">
                <a:latin typeface="Comic Sans MS" panose="030F0702030302020204" pitchFamily="66" charset="0"/>
                <a:cs typeface="Calibri" panose="020F0502020204030204"/>
              </a:rPr>
              <a:t>any</a:t>
            </a:r>
            <a:r>
              <a:rPr sz="2940" spc="55"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instant.</a:t>
            </a:r>
            <a:endParaRPr sz="2940" dirty="0">
              <a:latin typeface="Comic Sans MS" panose="030F0702030302020204" pitchFamily="66" charset="0"/>
              <a:cs typeface="Calibri" panose="020F0502020204030204"/>
            </a:endParaRPr>
          </a:p>
          <a:p>
            <a:pPr>
              <a:lnSpc>
                <a:spcPct val="100000"/>
              </a:lnSpc>
              <a:spcBef>
                <a:spcPts val="35"/>
              </a:spcBef>
              <a:buChar char="•"/>
            </a:pPr>
            <a:endParaRPr sz="4305" dirty="0">
              <a:latin typeface="Comic Sans MS" panose="030F0702030302020204" pitchFamily="66" charset="0"/>
              <a:cs typeface="Calibri" panose="020F0502020204030204"/>
            </a:endParaRPr>
          </a:p>
          <a:p>
            <a:pPr marL="240665" marR="199390" indent="-228600">
              <a:lnSpc>
                <a:spcPts val="3020"/>
              </a:lnSpc>
              <a:buFont typeface="Arial" panose="020B0604020202020204"/>
              <a:buChar char="•"/>
              <a:tabLst>
                <a:tab pos="241300" algn="l"/>
              </a:tabLst>
            </a:pPr>
            <a:r>
              <a:rPr sz="2940" spc="-10" dirty="0">
                <a:latin typeface="Comic Sans MS" panose="030F0702030302020204" pitchFamily="66" charset="0"/>
                <a:cs typeface="Calibri" panose="020F0502020204030204"/>
              </a:rPr>
              <a:t>The second only allows </a:t>
            </a:r>
            <a:r>
              <a:rPr sz="2940" spc="-10" dirty="0">
                <a:solidFill>
                  <a:srgbClr val="FF0000"/>
                </a:solidFill>
                <a:latin typeface="Comic Sans MS" panose="030F0702030302020204" pitchFamily="66" charset="0"/>
                <a:cs typeface="Calibri" panose="020F0502020204030204"/>
              </a:rPr>
              <a:t>one thread </a:t>
            </a:r>
            <a:r>
              <a:rPr sz="2940" spc="-15"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access </a:t>
            </a:r>
            <a:r>
              <a:rPr sz="2940" spc="-20" dirty="0">
                <a:solidFill>
                  <a:srgbClr val="FF0000"/>
                </a:solidFill>
                <a:latin typeface="Comic Sans MS" panose="030F0702030302020204" pitchFamily="66" charset="0"/>
                <a:cs typeface="Calibri" panose="020F0502020204030204"/>
              </a:rPr>
              <a:t>any  </a:t>
            </a:r>
            <a:r>
              <a:rPr sz="2940" spc="-10" dirty="0">
                <a:solidFill>
                  <a:srgbClr val="FF0000"/>
                </a:solidFill>
                <a:latin typeface="Comic Sans MS" panose="030F0702030302020204" pitchFamily="66" charset="0"/>
                <a:cs typeface="Calibri" panose="020F0502020204030204"/>
              </a:rPr>
              <a:t>given node </a:t>
            </a:r>
            <a:r>
              <a:rPr sz="2940" spc="-15" dirty="0">
                <a:latin typeface="Comic Sans MS" panose="030F0702030302020204" pitchFamily="66" charset="0"/>
                <a:cs typeface="Calibri" panose="020F0502020204030204"/>
              </a:rPr>
              <a:t>at </a:t>
            </a:r>
            <a:r>
              <a:rPr sz="2940" spc="-20" dirty="0">
                <a:latin typeface="Comic Sans MS" panose="030F0702030302020204" pitchFamily="66" charset="0"/>
                <a:cs typeface="Calibri" panose="020F0502020204030204"/>
              </a:rPr>
              <a:t>any</a:t>
            </a:r>
            <a:r>
              <a:rPr sz="2940" spc="30"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instant.</a:t>
            </a:r>
            <a:endParaRPr sz="2940" dirty="0">
              <a:latin typeface="Comic Sans MS" panose="030F0702030302020204" pitchFamily="66" charset="0"/>
              <a:cs typeface="Calibri" panose="020F0502020204030204"/>
            </a:endParaRPr>
          </a:p>
        </p:txBody>
      </p:sp>
      <p:sp>
        <p:nvSpPr>
          <p:cNvPr id="5" name="文本框 4"/>
          <p:cNvSpPr txBox="1"/>
          <p:nvPr/>
        </p:nvSpPr>
        <p:spPr>
          <a:xfrm>
            <a:off x="8495608" y="2987040"/>
            <a:ext cx="2264410" cy="446405"/>
          </a:xfrm>
          <a:prstGeom prst="rect">
            <a:avLst/>
          </a:prstGeom>
          <a:noFill/>
        </p:spPr>
        <p:txBody>
          <a:bodyPr wrap="none" rtlCol="0">
            <a:spAutoFit/>
          </a:bodyPr>
          <a:lstStyle/>
          <a:p>
            <a:r>
              <a:rPr lang="en-US" sz="2310" dirty="0">
                <a:solidFill>
                  <a:srgbClr val="7030A0"/>
                </a:solidFill>
              </a:rPr>
              <a:t>Exploit vs Explore</a:t>
            </a:r>
          </a:p>
        </p:txBody>
      </p:sp>
      <p:cxnSp>
        <p:nvCxnSpPr>
          <p:cNvPr id="7" name="直接箭头连接符 6"/>
          <p:cNvCxnSpPr/>
          <p:nvPr/>
        </p:nvCxnSpPr>
        <p:spPr>
          <a:xfrm flipH="1">
            <a:off x="10485710" y="2125337"/>
            <a:ext cx="184265" cy="921327"/>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81</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Pthreads </a:t>
            </a:r>
            <a:r>
              <a:rPr sz="4620" spc="-25" dirty="0"/>
              <a:t>Read-Write</a:t>
            </a:r>
            <a:r>
              <a:rPr sz="4620" spc="-110" dirty="0"/>
              <a:t> </a:t>
            </a:r>
            <a:r>
              <a:rPr sz="4620" spc="-10" dirty="0"/>
              <a:t>Locks</a:t>
            </a:r>
            <a:endParaRPr sz="4620" dirty="0"/>
          </a:p>
        </p:txBody>
      </p:sp>
      <p:sp>
        <p:nvSpPr>
          <p:cNvPr id="3" name="object 3"/>
          <p:cNvSpPr txBox="1"/>
          <p:nvPr/>
        </p:nvSpPr>
        <p:spPr>
          <a:xfrm>
            <a:off x="1720280" y="1883168"/>
            <a:ext cx="8492489" cy="2521458"/>
          </a:xfrm>
          <a:prstGeom prst="rect">
            <a:avLst/>
          </a:prstGeom>
        </p:spPr>
        <p:txBody>
          <a:bodyPr vert="horz" wrap="square" lIns="0" tIns="64007" rIns="0" bIns="0" rtlCol="0">
            <a:spAutoFit/>
          </a:bodyPr>
          <a:lstStyle/>
          <a:p>
            <a:pPr marL="241300" marR="431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read-write </a:t>
            </a:r>
            <a:r>
              <a:rPr sz="2940" spc="-5" dirty="0">
                <a:solidFill>
                  <a:srgbClr val="FF0000"/>
                </a:solidFill>
                <a:latin typeface="Comic Sans MS" panose="030F0702030302020204" pitchFamily="66" charset="0"/>
                <a:cs typeface="Calibri" panose="020F0502020204030204"/>
              </a:rPr>
              <a:t>lock </a:t>
            </a:r>
            <a:r>
              <a:rPr sz="2940" spc="-5" dirty="0">
                <a:latin typeface="Comic Sans MS" panose="030F0702030302020204" pitchFamily="66" charset="0"/>
                <a:cs typeface="Calibri" panose="020F0502020204030204"/>
              </a:rPr>
              <a:t>is </a:t>
            </a:r>
            <a:r>
              <a:rPr sz="2940" spc="-10" dirty="0">
                <a:latin typeface="Comic Sans MS" panose="030F0702030302020204" pitchFamily="66" charset="0"/>
                <a:cs typeface="Calibri" panose="020F0502020204030204"/>
              </a:rPr>
              <a:t>somewhat </a:t>
            </a:r>
            <a:r>
              <a:rPr sz="2940" spc="-30" dirty="0">
                <a:latin typeface="Comic Sans MS" panose="030F0702030302020204" pitchFamily="66" charset="0"/>
                <a:cs typeface="Calibri" panose="020F0502020204030204"/>
              </a:rPr>
              <a:t>like </a:t>
            </a:r>
            <a:r>
              <a:rPr sz="2940" spc="-5" dirty="0">
                <a:latin typeface="Comic Sans MS" panose="030F0702030302020204" pitchFamily="66" charset="0"/>
                <a:cs typeface="Calibri" panose="020F0502020204030204"/>
              </a:rPr>
              <a:t>a </a:t>
            </a:r>
            <a:r>
              <a:rPr sz="2940" spc="-20" dirty="0">
                <a:solidFill>
                  <a:srgbClr val="FF0000"/>
                </a:solidFill>
                <a:latin typeface="Comic Sans MS" panose="030F0702030302020204" pitchFamily="66" charset="0"/>
                <a:cs typeface="Calibri" panose="020F0502020204030204"/>
              </a:rPr>
              <a:t>mutex </a:t>
            </a:r>
            <a:r>
              <a:rPr sz="2940" spc="-25" dirty="0">
                <a:latin typeface="Comic Sans MS" panose="030F0702030302020204" pitchFamily="66" charset="0"/>
                <a:cs typeface="Calibri" panose="020F0502020204030204"/>
              </a:rPr>
              <a:t>except  </a:t>
            </a:r>
            <a:r>
              <a:rPr sz="2940" spc="-10" dirty="0">
                <a:latin typeface="Comic Sans MS" panose="030F0702030302020204" pitchFamily="66" charset="0"/>
                <a:cs typeface="Calibri" panose="020F0502020204030204"/>
              </a:rPr>
              <a:t>that </a:t>
            </a:r>
            <a:r>
              <a:rPr sz="2940" spc="-5" dirty="0">
                <a:latin typeface="Comic Sans MS" panose="030F0702030302020204" pitchFamily="66" charset="0"/>
                <a:cs typeface="Calibri" panose="020F0502020204030204"/>
              </a:rPr>
              <a:t>it </a:t>
            </a:r>
            <a:r>
              <a:rPr sz="2940" spc="-15" dirty="0">
                <a:latin typeface="Comic Sans MS" panose="030F0702030302020204" pitchFamily="66" charset="0"/>
                <a:cs typeface="Calibri" panose="020F0502020204030204"/>
              </a:rPr>
              <a:t>provides </a:t>
            </a:r>
            <a:r>
              <a:rPr sz="2940" spc="-10" dirty="0">
                <a:solidFill>
                  <a:srgbClr val="FF0000"/>
                </a:solidFill>
                <a:latin typeface="Comic Sans MS" panose="030F0702030302020204" pitchFamily="66" charset="0"/>
                <a:cs typeface="Calibri" panose="020F0502020204030204"/>
              </a:rPr>
              <a:t>two </a:t>
            </a:r>
            <a:r>
              <a:rPr sz="2940" spc="-5" dirty="0">
                <a:solidFill>
                  <a:srgbClr val="FF0000"/>
                </a:solidFill>
                <a:latin typeface="Comic Sans MS" panose="030F0702030302020204" pitchFamily="66" charset="0"/>
                <a:cs typeface="Calibri" panose="020F0502020204030204"/>
              </a:rPr>
              <a:t>lock</a:t>
            </a:r>
            <a:r>
              <a:rPr sz="2940" spc="65"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functions</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10"/>
              </a:spcBef>
              <a:buFont typeface="Arial" panose="020B0604020202020204"/>
              <a:buChar char="•"/>
            </a:pPr>
            <a:endParaRPr sz="3465" dirty="0">
              <a:latin typeface="Comic Sans MS" panose="030F0702030302020204" pitchFamily="66" charset="0"/>
              <a:cs typeface="Calibri" panose="020F0502020204030204"/>
            </a:endParaRPr>
          </a:p>
          <a:p>
            <a:pPr marL="241300" marR="5080" indent="-228600">
              <a:lnSpc>
                <a:spcPts val="3020"/>
              </a:lnSpc>
              <a:spcBef>
                <a:spcPts val="5"/>
              </a:spcBef>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first </a:t>
            </a:r>
            <a:r>
              <a:rPr sz="2940" spc="-5" dirty="0">
                <a:latin typeface="Comic Sans MS" panose="030F0702030302020204" pitchFamily="66" charset="0"/>
                <a:cs typeface="Calibri" panose="020F0502020204030204"/>
              </a:rPr>
              <a:t>lock </a:t>
            </a:r>
            <a:r>
              <a:rPr sz="2940" spc="-10" dirty="0">
                <a:latin typeface="Comic Sans MS" panose="030F0702030302020204" pitchFamily="66" charset="0"/>
                <a:cs typeface="Calibri" panose="020F0502020204030204"/>
              </a:rPr>
              <a:t>function locks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read-write </a:t>
            </a:r>
            <a:r>
              <a:rPr sz="2940" spc="-5" dirty="0">
                <a:latin typeface="Comic Sans MS" panose="030F0702030302020204" pitchFamily="66" charset="0"/>
                <a:cs typeface="Calibri" panose="020F0502020204030204"/>
              </a:rPr>
              <a:t>lock </a:t>
            </a:r>
            <a:r>
              <a:rPr sz="2940" spc="-25" dirty="0">
                <a:latin typeface="Comic Sans MS" panose="030F0702030302020204" pitchFamily="66" charset="0"/>
                <a:cs typeface="Calibri" panose="020F0502020204030204"/>
              </a:rPr>
              <a:t>for </a:t>
            </a:r>
            <a:r>
              <a:rPr sz="2940" spc="-25" dirty="0">
                <a:solidFill>
                  <a:srgbClr val="FF0000"/>
                </a:solidFill>
                <a:latin typeface="Comic Sans MS" panose="030F0702030302020204" pitchFamily="66" charset="0"/>
                <a:cs typeface="Calibri" panose="020F0502020204030204"/>
              </a:rPr>
              <a:t> </a:t>
            </a:r>
            <a:r>
              <a:rPr sz="2940" spc="-5" dirty="0">
                <a:solidFill>
                  <a:srgbClr val="FF0000"/>
                </a:solidFill>
                <a:latin typeface="Comic Sans MS" panose="030F0702030302020204" pitchFamily="66" charset="0"/>
                <a:cs typeface="Calibri" panose="020F0502020204030204"/>
              </a:rPr>
              <a:t>reading</a:t>
            </a:r>
            <a:r>
              <a:rPr sz="2940" spc="-5" dirty="0">
                <a:latin typeface="Comic Sans MS" panose="030F0702030302020204" pitchFamily="66" charset="0"/>
                <a:cs typeface="Calibri" panose="020F0502020204030204"/>
              </a:rPr>
              <a:t>, while the </a:t>
            </a:r>
            <a:r>
              <a:rPr sz="2940" spc="-10" dirty="0">
                <a:latin typeface="Comic Sans MS" panose="030F0702030302020204" pitchFamily="66" charset="0"/>
                <a:cs typeface="Calibri" panose="020F0502020204030204"/>
              </a:rPr>
              <a:t>second locks </a:t>
            </a:r>
            <a:r>
              <a:rPr sz="2940" spc="-5" dirty="0">
                <a:latin typeface="Comic Sans MS" panose="030F0702030302020204" pitchFamily="66" charset="0"/>
                <a:cs typeface="Calibri" panose="020F0502020204030204"/>
              </a:rPr>
              <a:t>it </a:t>
            </a:r>
            <a:r>
              <a:rPr sz="2940" spc="-25" dirty="0">
                <a:latin typeface="Comic Sans MS" panose="030F0702030302020204" pitchFamily="66" charset="0"/>
                <a:cs typeface="Calibri" panose="020F0502020204030204"/>
              </a:rPr>
              <a:t>for</a:t>
            </a:r>
            <a:r>
              <a:rPr sz="2940" spc="75" dirty="0">
                <a:latin typeface="Comic Sans MS" panose="030F0702030302020204" pitchFamily="66" charset="0"/>
                <a:cs typeface="Calibri" panose="020F0502020204030204"/>
              </a:rPr>
              <a:t> </a:t>
            </a:r>
            <a:r>
              <a:rPr sz="2940" spc="-5" dirty="0">
                <a:solidFill>
                  <a:srgbClr val="FF0000"/>
                </a:solidFill>
                <a:latin typeface="Comic Sans MS" panose="030F0702030302020204" pitchFamily="66" charset="0"/>
                <a:cs typeface="Calibri" panose="020F0502020204030204"/>
              </a:rPr>
              <a:t>writing</a:t>
            </a:r>
            <a:r>
              <a:rPr sz="2940" spc="-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82</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Pthreads </a:t>
            </a:r>
            <a:r>
              <a:rPr sz="4620" spc="-25" dirty="0"/>
              <a:t>Read-Write</a:t>
            </a:r>
            <a:r>
              <a:rPr sz="4620" spc="-110" dirty="0"/>
              <a:t> </a:t>
            </a:r>
            <a:r>
              <a:rPr sz="4620" spc="-10" dirty="0"/>
              <a:t>Locks</a:t>
            </a:r>
            <a:endParaRPr sz="4620" dirty="0"/>
          </a:p>
        </p:txBody>
      </p:sp>
      <p:sp>
        <p:nvSpPr>
          <p:cNvPr id="3" name="object 3"/>
          <p:cNvSpPr txBox="1"/>
          <p:nvPr/>
        </p:nvSpPr>
        <p:spPr>
          <a:xfrm>
            <a:off x="2343119" y="1883168"/>
            <a:ext cx="7992999" cy="3758657"/>
          </a:xfrm>
          <a:prstGeom prst="rect">
            <a:avLst/>
          </a:prstGeom>
        </p:spPr>
        <p:txBody>
          <a:bodyPr vert="horz" wrap="square" lIns="0" tIns="57340" rIns="0" bIns="0" rtlCol="0">
            <a:spAutoFit/>
          </a:bodyPr>
          <a:lstStyle/>
          <a:p>
            <a:pPr marL="241300" marR="24765" indent="-228600">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So </a:t>
            </a:r>
            <a:r>
              <a:rPr sz="2940" spc="-10" dirty="0">
                <a:solidFill>
                  <a:srgbClr val="FF0000"/>
                </a:solidFill>
                <a:latin typeface="Comic Sans MS" panose="030F0702030302020204" pitchFamily="66" charset="0"/>
                <a:cs typeface="Calibri" panose="020F0502020204030204"/>
              </a:rPr>
              <a:t>multiple threads </a:t>
            </a:r>
            <a:r>
              <a:rPr sz="2940" spc="-10" dirty="0">
                <a:latin typeface="Comic Sans MS" panose="030F0702030302020204" pitchFamily="66" charset="0"/>
                <a:cs typeface="Calibri" panose="020F0502020204030204"/>
              </a:rPr>
              <a:t>can simultaneously </a:t>
            </a:r>
            <a:r>
              <a:rPr sz="2940" spc="-15" dirty="0">
                <a:latin typeface="Comic Sans MS" panose="030F0702030302020204" pitchFamily="66" charset="0"/>
                <a:cs typeface="Calibri" panose="020F0502020204030204"/>
              </a:rPr>
              <a:t>obtain </a:t>
            </a:r>
            <a:r>
              <a:rPr sz="2940" spc="-5" dirty="0">
                <a:latin typeface="Comic Sans MS" panose="030F0702030302020204" pitchFamily="66" charset="0"/>
                <a:cs typeface="Calibri" panose="020F0502020204030204"/>
              </a:rPr>
              <a:t>the  lock </a:t>
            </a:r>
            <a:r>
              <a:rPr sz="2940" spc="-15" dirty="0">
                <a:latin typeface="Comic Sans MS" panose="030F0702030302020204" pitchFamily="66" charset="0"/>
                <a:cs typeface="Calibri" panose="020F0502020204030204"/>
              </a:rPr>
              <a:t>by </a:t>
            </a:r>
            <a:r>
              <a:rPr sz="2940" spc="-10" dirty="0">
                <a:latin typeface="Comic Sans MS" panose="030F0702030302020204" pitchFamily="66" charset="0"/>
                <a:cs typeface="Calibri" panose="020F0502020204030204"/>
              </a:rPr>
              <a:t>calling </a:t>
            </a:r>
            <a:r>
              <a:rPr sz="2940" spc="-5" dirty="0">
                <a:latin typeface="Comic Sans MS" panose="030F0702030302020204" pitchFamily="66" charset="0"/>
                <a:cs typeface="Calibri" panose="020F0502020204030204"/>
              </a:rPr>
              <a:t>the </a:t>
            </a:r>
            <a:r>
              <a:rPr sz="2940" spc="-10" dirty="0">
                <a:solidFill>
                  <a:srgbClr val="FF0000"/>
                </a:solidFill>
                <a:latin typeface="Comic Sans MS" panose="030F0702030302020204" pitchFamily="66" charset="0"/>
                <a:cs typeface="Calibri" panose="020F0502020204030204"/>
              </a:rPr>
              <a:t>read-lock </a:t>
            </a:r>
            <a:r>
              <a:rPr sz="2940" spc="-5" dirty="0">
                <a:latin typeface="Comic Sans MS" panose="030F0702030302020204" pitchFamily="66" charset="0"/>
                <a:cs typeface="Calibri" panose="020F0502020204030204"/>
              </a:rPr>
              <a:t>function, while </a:t>
            </a:r>
            <a:r>
              <a:rPr sz="2940" spc="-10" dirty="0">
                <a:solidFill>
                  <a:srgbClr val="FF0000"/>
                </a:solidFill>
                <a:latin typeface="Comic Sans MS" panose="030F0702030302020204" pitchFamily="66" charset="0"/>
                <a:cs typeface="Calibri" panose="020F0502020204030204"/>
              </a:rPr>
              <a:t>only  one thread </a:t>
            </a:r>
            <a:r>
              <a:rPr sz="2940" spc="-10" dirty="0">
                <a:latin typeface="Comic Sans MS" panose="030F0702030302020204" pitchFamily="66" charset="0"/>
                <a:cs typeface="Calibri" panose="020F0502020204030204"/>
              </a:rPr>
              <a:t>can </a:t>
            </a:r>
            <a:r>
              <a:rPr sz="2940" spc="-15" dirty="0">
                <a:latin typeface="Comic Sans MS" panose="030F0702030302020204" pitchFamily="66" charset="0"/>
                <a:cs typeface="Calibri" panose="020F0502020204030204"/>
              </a:rPr>
              <a:t>obtain </a:t>
            </a:r>
            <a:r>
              <a:rPr sz="2940" spc="-5" dirty="0">
                <a:latin typeface="Comic Sans MS" panose="030F0702030302020204" pitchFamily="66" charset="0"/>
                <a:cs typeface="Calibri" panose="020F0502020204030204"/>
              </a:rPr>
              <a:t>the lock </a:t>
            </a:r>
            <a:r>
              <a:rPr sz="2940" spc="-10" dirty="0">
                <a:latin typeface="Comic Sans MS" panose="030F0702030302020204" pitchFamily="66" charset="0"/>
                <a:cs typeface="Calibri" panose="020F0502020204030204"/>
              </a:rPr>
              <a:t>by calling </a:t>
            </a:r>
            <a:r>
              <a:rPr sz="2940" spc="-5" dirty="0">
                <a:latin typeface="Comic Sans MS" panose="030F0702030302020204" pitchFamily="66" charset="0"/>
                <a:cs typeface="Calibri" panose="020F0502020204030204"/>
              </a:rPr>
              <a:t>the </a:t>
            </a:r>
            <a:r>
              <a:rPr sz="2940" spc="-10" dirty="0">
                <a:solidFill>
                  <a:srgbClr val="FF0000"/>
                </a:solidFill>
                <a:latin typeface="Comic Sans MS" panose="030F0702030302020204" pitchFamily="66" charset="0"/>
                <a:cs typeface="Calibri" panose="020F0502020204030204"/>
              </a:rPr>
              <a:t>write-  </a:t>
            </a:r>
            <a:r>
              <a:rPr sz="2940" spc="-5" dirty="0">
                <a:solidFill>
                  <a:srgbClr val="FF0000"/>
                </a:solidFill>
                <a:latin typeface="Comic Sans MS" panose="030F0702030302020204" pitchFamily="66" charset="0"/>
                <a:cs typeface="Calibri" panose="020F0502020204030204"/>
              </a:rPr>
              <a:t>lock </a:t>
            </a:r>
            <a:r>
              <a:rPr sz="2940" spc="-10" dirty="0">
                <a:latin typeface="Comic Sans MS" panose="030F0702030302020204" pitchFamily="66" charset="0"/>
                <a:cs typeface="Calibri" panose="020F0502020204030204"/>
              </a:rPr>
              <a:t>function.</a:t>
            </a:r>
            <a:endParaRPr sz="2940" dirty="0">
              <a:latin typeface="Comic Sans MS" panose="030F0702030302020204" pitchFamily="66" charset="0"/>
              <a:cs typeface="Calibri" panose="020F0502020204030204"/>
            </a:endParaRPr>
          </a:p>
          <a:p>
            <a:pPr>
              <a:lnSpc>
                <a:spcPct val="100000"/>
              </a:lnSpc>
              <a:spcBef>
                <a:spcPts val="45"/>
              </a:spcBef>
              <a:buFont typeface="Arial" panose="020B0604020202020204"/>
              <a:buChar char="•"/>
            </a:pPr>
            <a:endParaRPr sz="3465" dirty="0">
              <a:latin typeface="Comic Sans MS" panose="030F0702030302020204" pitchFamily="66" charset="0"/>
              <a:cs typeface="Calibri" panose="020F0502020204030204"/>
            </a:endParaRPr>
          </a:p>
          <a:p>
            <a:pPr marL="241300" marR="5080" indent="-228600">
              <a:lnSpc>
                <a:spcPts val="3030"/>
              </a:lnSpc>
              <a:buFont typeface="Arial" panose="020B0604020202020204"/>
              <a:buChar char="•"/>
              <a:tabLst>
                <a:tab pos="241300" algn="l"/>
              </a:tabLst>
            </a:pPr>
            <a:r>
              <a:rPr sz="2940" spc="-5" dirty="0">
                <a:latin typeface="Comic Sans MS" panose="030F0702030302020204" pitchFamily="66" charset="0"/>
                <a:cs typeface="Calibri" panose="020F0502020204030204"/>
              </a:rPr>
              <a:t>Thus, if </a:t>
            </a:r>
            <a:r>
              <a:rPr sz="2940" spc="-20" dirty="0">
                <a:latin typeface="Comic Sans MS" panose="030F0702030302020204" pitchFamily="66" charset="0"/>
                <a:cs typeface="Calibri" panose="020F0502020204030204"/>
              </a:rPr>
              <a:t>any </a:t>
            </a:r>
            <a:r>
              <a:rPr sz="2940" spc="-10" dirty="0">
                <a:latin typeface="Comic Sans MS" panose="030F0702030302020204" pitchFamily="66" charset="0"/>
                <a:cs typeface="Calibri" panose="020F0502020204030204"/>
              </a:rPr>
              <a:t>threads own </a:t>
            </a:r>
            <a:r>
              <a:rPr sz="2940" spc="-5" dirty="0">
                <a:latin typeface="Comic Sans MS" panose="030F0702030302020204" pitchFamily="66" charset="0"/>
                <a:cs typeface="Calibri" panose="020F0502020204030204"/>
              </a:rPr>
              <a:t>the </a:t>
            </a:r>
            <a:r>
              <a:rPr sz="2940" spc="-5" dirty="0">
                <a:solidFill>
                  <a:srgbClr val="FF0000"/>
                </a:solidFill>
                <a:latin typeface="Comic Sans MS" panose="030F0702030302020204" pitchFamily="66" charset="0"/>
                <a:cs typeface="Calibri" panose="020F0502020204030204"/>
              </a:rPr>
              <a:t>lock </a:t>
            </a:r>
            <a:r>
              <a:rPr sz="2940" spc="-25" dirty="0">
                <a:solidFill>
                  <a:srgbClr val="FF0000"/>
                </a:solidFill>
                <a:latin typeface="Comic Sans MS" panose="030F0702030302020204" pitchFamily="66" charset="0"/>
                <a:cs typeface="Calibri" panose="020F0502020204030204"/>
              </a:rPr>
              <a:t>for </a:t>
            </a:r>
            <a:r>
              <a:rPr sz="2940" spc="-5" dirty="0">
                <a:solidFill>
                  <a:srgbClr val="FF0000"/>
                </a:solidFill>
                <a:latin typeface="Comic Sans MS" panose="030F0702030302020204" pitchFamily="66" charset="0"/>
                <a:cs typeface="Calibri" panose="020F0502020204030204"/>
              </a:rPr>
              <a:t>reading</a:t>
            </a:r>
            <a:r>
              <a:rPr sz="2940" spc="-5"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any  </a:t>
            </a:r>
            <a:r>
              <a:rPr sz="2940" spc="-10" dirty="0">
                <a:latin typeface="Comic Sans MS" panose="030F0702030302020204" pitchFamily="66" charset="0"/>
                <a:cs typeface="Calibri" panose="020F0502020204030204"/>
              </a:rPr>
              <a:t>threads that </a:t>
            </a:r>
            <a:r>
              <a:rPr sz="2940" spc="-20" dirty="0">
                <a:latin typeface="Comic Sans MS" panose="030F0702030302020204" pitchFamily="66" charset="0"/>
                <a:cs typeface="Calibri" panose="020F0502020204030204"/>
              </a:rPr>
              <a:t>want </a:t>
            </a:r>
            <a:r>
              <a:rPr sz="2940" spc="-15" dirty="0">
                <a:latin typeface="Comic Sans MS" panose="030F0702030302020204" pitchFamily="66" charset="0"/>
                <a:cs typeface="Calibri" panose="020F0502020204030204"/>
              </a:rPr>
              <a:t>to </a:t>
            </a:r>
            <a:r>
              <a:rPr sz="2940" spc="-15" dirty="0">
                <a:solidFill>
                  <a:srgbClr val="FF0000"/>
                </a:solidFill>
                <a:latin typeface="Comic Sans MS" panose="030F0702030302020204" pitchFamily="66" charset="0"/>
                <a:cs typeface="Calibri" panose="020F0502020204030204"/>
              </a:rPr>
              <a:t>obtain </a:t>
            </a:r>
            <a:r>
              <a:rPr sz="2940" spc="-5" dirty="0">
                <a:solidFill>
                  <a:srgbClr val="FF0000"/>
                </a:solidFill>
                <a:latin typeface="Comic Sans MS" panose="030F0702030302020204" pitchFamily="66" charset="0"/>
                <a:cs typeface="Calibri" panose="020F0502020204030204"/>
              </a:rPr>
              <a:t>the lock </a:t>
            </a:r>
            <a:r>
              <a:rPr sz="2940" spc="-25" dirty="0">
                <a:solidFill>
                  <a:srgbClr val="FF0000"/>
                </a:solidFill>
                <a:latin typeface="Comic Sans MS" panose="030F0702030302020204" pitchFamily="66" charset="0"/>
                <a:cs typeface="Calibri" panose="020F0502020204030204"/>
              </a:rPr>
              <a:t>for </a:t>
            </a:r>
            <a:r>
              <a:rPr sz="2940" spc="-5" dirty="0">
                <a:solidFill>
                  <a:srgbClr val="FF0000"/>
                </a:solidFill>
                <a:latin typeface="Comic Sans MS" panose="030F0702030302020204" pitchFamily="66" charset="0"/>
                <a:cs typeface="Calibri" panose="020F0502020204030204"/>
              </a:rPr>
              <a:t>writing </a:t>
            </a:r>
            <a:r>
              <a:rPr sz="2940" spc="-5" dirty="0">
                <a:latin typeface="Comic Sans MS" panose="030F0702030302020204" pitchFamily="66" charset="0"/>
                <a:cs typeface="Calibri" panose="020F0502020204030204"/>
              </a:rPr>
              <a:t>will </a:t>
            </a:r>
            <a:r>
              <a:rPr sz="2940" spc="-5"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block </a:t>
            </a:r>
            <a:r>
              <a:rPr sz="2940" spc="-5" dirty="0">
                <a:latin typeface="Comic Sans MS" panose="030F0702030302020204" pitchFamily="66" charset="0"/>
                <a:cs typeface="Calibri" panose="020F0502020204030204"/>
              </a:rPr>
              <a:t>in the </a:t>
            </a:r>
            <a:r>
              <a:rPr sz="2940" spc="-10" dirty="0">
                <a:latin typeface="Comic Sans MS" panose="030F0702030302020204" pitchFamily="66" charset="0"/>
                <a:cs typeface="Calibri" panose="020F0502020204030204"/>
              </a:rPr>
              <a:t>call </a:t>
            </a:r>
            <a:r>
              <a:rPr sz="2940" spc="-15"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the write-lock</a:t>
            </a:r>
            <a:r>
              <a:rPr sz="2940" spc="7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function.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62982" y="3617594"/>
            <a:ext cx="3250005" cy="2260004"/>
          </a:xfrm>
          <a:prstGeom prst="rect">
            <a:avLst/>
          </a:prstGeom>
          <a:blipFill>
            <a:blip r:embed="rId2" cstate="print"/>
            <a:stretch>
              <a:fillRect/>
            </a:stretch>
          </a:blipFill>
        </p:spPr>
        <p:txBody>
          <a:bodyPr wrap="square" lIns="0" tIns="0" rIns="0" bIns="0" rtlCol="0"/>
          <a:lstStyle/>
          <a:p>
            <a:endParaRPr sz="2310"/>
          </a:p>
        </p:txBody>
      </p:sp>
      <p:sp>
        <p:nvSpPr>
          <p:cNvPr id="3" name="object 3"/>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Pthreads </a:t>
            </a:r>
            <a:r>
              <a:rPr sz="4620" spc="-30" dirty="0"/>
              <a:t>Read-Write</a:t>
            </a:r>
            <a:r>
              <a:rPr sz="4620" spc="-65" dirty="0"/>
              <a:t> </a:t>
            </a:r>
            <a:r>
              <a:rPr sz="4620" spc="-10" dirty="0"/>
              <a:t>Locks</a:t>
            </a:r>
            <a:endParaRPr sz="4620" dirty="0"/>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83</a:t>
            </a:fld>
            <a:endParaRPr sz="1260">
              <a:latin typeface="Calibri" panose="020F0502020204030204"/>
              <a:cs typeface="Calibri" panose="020F0502020204030204"/>
            </a:endParaRPr>
          </a:p>
        </p:txBody>
      </p:sp>
      <p:sp>
        <p:nvSpPr>
          <p:cNvPr id="4" name="object 4"/>
          <p:cNvSpPr txBox="1"/>
          <p:nvPr/>
        </p:nvSpPr>
        <p:spPr>
          <a:xfrm>
            <a:off x="2343118" y="1883168"/>
            <a:ext cx="9242257" cy="1867626"/>
          </a:xfrm>
          <a:prstGeom prst="rect">
            <a:avLst/>
          </a:prstGeom>
        </p:spPr>
        <p:txBody>
          <a:bodyPr vert="horz" wrap="square" lIns="0" tIns="57340" rIns="0" bIns="0" rtlCol="0">
            <a:spAutoFit/>
          </a:bodyPr>
          <a:lstStyle/>
          <a:p>
            <a:pPr marL="241300" marR="5080" indent="-228600">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If </a:t>
            </a:r>
            <a:r>
              <a:rPr sz="2940" spc="-20" dirty="0">
                <a:solidFill>
                  <a:srgbClr val="FF0000"/>
                </a:solidFill>
                <a:latin typeface="Comic Sans MS" panose="030F0702030302020204" pitchFamily="66" charset="0"/>
                <a:cs typeface="Calibri" panose="020F0502020204030204"/>
              </a:rPr>
              <a:t>any </a:t>
            </a:r>
            <a:r>
              <a:rPr sz="2940" spc="-10" dirty="0">
                <a:solidFill>
                  <a:srgbClr val="FF0000"/>
                </a:solidFill>
                <a:latin typeface="Comic Sans MS" panose="030F0702030302020204" pitchFamily="66" charset="0"/>
                <a:cs typeface="Calibri" panose="020F0502020204030204"/>
              </a:rPr>
              <a:t>thread </a:t>
            </a:r>
            <a:r>
              <a:rPr sz="2940" spc="-5" dirty="0">
                <a:solidFill>
                  <a:srgbClr val="FF0000"/>
                </a:solidFill>
                <a:latin typeface="Comic Sans MS" panose="030F0702030302020204" pitchFamily="66" charset="0"/>
                <a:cs typeface="Calibri" panose="020F0502020204030204"/>
              </a:rPr>
              <a:t>owns </a:t>
            </a:r>
            <a:r>
              <a:rPr sz="2940" spc="-5" dirty="0">
                <a:latin typeface="Comic Sans MS" panose="030F0702030302020204" pitchFamily="66" charset="0"/>
                <a:cs typeface="Calibri" panose="020F0502020204030204"/>
              </a:rPr>
              <a:t>the </a:t>
            </a:r>
            <a:r>
              <a:rPr sz="2940" spc="-5" dirty="0">
                <a:solidFill>
                  <a:srgbClr val="FF0000"/>
                </a:solidFill>
                <a:latin typeface="Comic Sans MS" panose="030F0702030302020204" pitchFamily="66" charset="0"/>
                <a:cs typeface="Calibri" panose="020F0502020204030204"/>
              </a:rPr>
              <a:t>lock </a:t>
            </a:r>
            <a:r>
              <a:rPr sz="2940" spc="-25" dirty="0">
                <a:solidFill>
                  <a:srgbClr val="FF0000"/>
                </a:solidFill>
                <a:latin typeface="Comic Sans MS" panose="030F0702030302020204" pitchFamily="66" charset="0"/>
                <a:cs typeface="Calibri" panose="020F0502020204030204"/>
              </a:rPr>
              <a:t>for </a:t>
            </a:r>
            <a:r>
              <a:rPr sz="2940" dirty="0">
                <a:solidFill>
                  <a:srgbClr val="FF0000"/>
                </a:solidFill>
                <a:latin typeface="Comic Sans MS" panose="030F0702030302020204" pitchFamily="66" charset="0"/>
                <a:cs typeface="Calibri" panose="020F0502020204030204"/>
              </a:rPr>
              <a:t>writing</a:t>
            </a:r>
            <a:r>
              <a:rPr sz="2940"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any </a:t>
            </a:r>
            <a:r>
              <a:rPr sz="2940" spc="-10" dirty="0">
                <a:latin typeface="Comic Sans MS" panose="030F0702030302020204" pitchFamily="66" charset="0"/>
                <a:cs typeface="Calibri" panose="020F0502020204030204"/>
              </a:rPr>
              <a:t>threads  that </a:t>
            </a:r>
            <a:r>
              <a:rPr sz="2940" spc="-20" dirty="0">
                <a:latin typeface="Comic Sans MS" panose="030F0702030302020204" pitchFamily="66" charset="0"/>
                <a:cs typeface="Calibri" panose="020F0502020204030204"/>
              </a:rPr>
              <a:t>want </a:t>
            </a:r>
            <a:r>
              <a:rPr sz="2940" spc="-15" dirty="0">
                <a:latin typeface="Comic Sans MS" panose="030F0702030302020204" pitchFamily="66" charset="0"/>
                <a:cs typeface="Calibri" panose="020F0502020204030204"/>
              </a:rPr>
              <a:t>to obtain </a:t>
            </a:r>
            <a:r>
              <a:rPr sz="2940" spc="-5" dirty="0">
                <a:latin typeface="Comic Sans MS" panose="030F0702030302020204" pitchFamily="66" charset="0"/>
                <a:cs typeface="Calibri" panose="020F0502020204030204"/>
              </a:rPr>
              <a:t>the </a:t>
            </a:r>
            <a:r>
              <a:rPr sz="2940" spc="-5" dirty="0">
                <a:solidFill>
                  <a:srgbClr val="FF0000"/>
                </a:solidFill>
                <a:latin typeface="Comic Sans MS" panose="030F0702030302020204" pitchFamily="66" charset="0"/>
                <a:cs typeface="Calibri" panose="020F0502020204030204"/>
              </a:rPr>
              <a:t>lock </a:t>
            </a:r>
            <a:r>
              <a:rPr sz="2940" spc="-25" dirty="0">
                <a:solidFill>
                  <a:srgbClr val="FF0000"/>
                </a:solidFill>
                <a:latin typeface="Comic Sans MS" panose="030F0702030302020204" pitchFamily="66" charset="0"/>
                <a:cs typeface="Calibri" panose="020F0502020204030204"/>
              </a:rPr>
              <a:t>for </a:t>
            </a:r>
            <a:r>
              <a:rPr sz="2940" spc="-10" dirty="0">
                <a:solidFill>
                  <a:srgbClr val="FF0000"/>
                </a:solidFill>
                <a:latin typeface="Comic Sans MS" panose="030F0702030302020204" pitchFamily="66" charset="0"/>
                <a:cs typeface="Calibri" panose="020F0502020204030204"/>
              </a:rPr>
              <a:t>reading </a:t>
            </a:r>
            <a:r>
              <a:rPr sz="2940" spc="-5" dirty="0">
                <a:solidFill>
                  <a:srgbClr val="FF0000"/>
                </a:solidFill>
                <a:latin typeface="Comic Sans MS" panose="030F0702030302020204" pitchFamily="66" charset="0"/>
                <a:cs typeface="Calibri" panose="020F0502020204030204"/>
              </a:rPr>
              <a:t>or writing </a:t>
            </a:r>
            <a:r>
              <a:rPr sz="2940" spc="-5" dirty="0">
                <a:latin typeface="Comic Sans MS" panose="030F0702030302020204" pitchFamily="66" charset="0"/>
                <a:cs typeface="Calibri" panose="020F0502020204030204"/>
              </a:rPr>
              <a:t> will </a:t>
            </a:r>
            <a:r>
              <a:rPr sz="2940" spc="-10" dirty="0">
                <a:solidFill>
                  <a:srgbClr val="FF0000"/>
                </a:solidFill>
                <a:latin typeface="Comic Sans MS" panose="030F0702030302020204" pitchFamily="66" charset="0"/>
                <a:cs typeface="Calibri" panose="020F0502020204030204"/>
              </a:rPr>
              <a:t>block </a:t>
            </a:r>
            <a:r>
              <a:rPr sz="2940" spc="-5" dirty="0">
                <a:latin typeface="Comic Sans MS" panose="030F0702030302020204" pitchFamily="66" charset="0"/>
                <a:cs typeface="Calibri" panose="020F0502020204030204"/>
              </a:rPr>
              <a:t>in their </a:t>
            </a:r>
            <a:r>
              <a:rPr sz="2940" spc="-10" dirty="0">
                <a:latin typeface="Comic Sans MS" panose="030F0702030302020204" pitchFamily="66" charset="0"/>
                <a:cs typeface="Calibri" panose="020F0502020204030204"/>
              </a:rPr>
              <a:t>respective </a:t>
            </a:r>
            <a:r>
              <a:rPr sz="2940" spc="-5" dirty="0">
                <a:latin typeface="Comic Sans MS" panose="030F0702030302020204" pitchFamily="66" charset="0"/>
                <a:cs typeface="Calibri" panose="020F0502020204030204"/>
              </a:rPr>
              <a:t>locking</a:t>
            </a:r>
            <a:r>
              <a:rPr sz="2940" spc="8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functions.</a:t>
            </a:r>
            <a:endParaRPr sz="2940">
              <a:latin typeface="Comic Sans MS" panose="030F0702030302020204" pitchFamily="66" charset="0"/>
              <a:cs typeface="Calibri" panose="020F0502020204030204"/>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0" dirty="0"/>
              <a:t>Protecting </a:t>
            </a:r>
            <a:r>
              <a:rPr sz="4620" spc="-5" dirty="0"/>
              <a:t>our </a:t>
            </a:r>
            <a:r>
              <a:rPr sz="4620" spc="-25" dirty="0"/>
              <a:t>linked </a:t>
            </a:r>
            <a:r>
              <a:rPr sz="4620" spc="-15" dirty="0"/>
              <a:t>list</a:t>
            </a:r>
            <a:r>
              <a:rPr sz="4620" spc="-10" dirty="0"/>
              <a:t> </a:t>
            </a:r>
            <a:r>
              <a:rPr sz="4620" dirty="0"/>
              <a:t>functions</a:t>
            </a:r>
            <a:endParaRPr sz="4620"/>
          </a:p>
        </p:txBody>
      </p:sp>
      <p:sp>
        <p:nvSpPr>
          <p:cNvPr id="3" name="object 3"/>
          <p:cNvSpPr/>
          <p:nvPr/>
        </p:nvSpPr>
        <p:spPr>
          <a:xfrm>
            <a:off x="4070131" y="1965063"/>
            <a:ext cx="4581314" cy="3320785"/>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6340793" y="2205875"/>
            <a:ext cx="845439" cy="8001"/>
          </a:xfrm>
          <a:custGeom>
            <a:avLst/>
            <a:gdLst/>
            <a:ahLst/>
            <a:cxnLst/>
            <a:rect l="l" t="t" r="r" b="b"/>
            <a:pathLst>
              <a:path w="805179" h="7619">
                <a:moveTo>
                  <a:pt x="0" y="7365"/>
                </a:moveTo>
                <a:lnTo>
                  <a:pt x="804672" y="0"/>
                </a:lnTo>
              </a:path>
            </a:pathLst>
          </a:custGeom>
          <a:ln w="22860">
            <a:solidFill>
              <a:srgbClr val="FF0000"/>
            </a:solidFill>
          </a:ln>
        </p:spPr>
        <p:txBody>
          <a:bodyPr wrap="square" lIns="0" tIns="0" rIns="0" bIns="0" rtlCol="0"/>
          <a:lstStyle/>
          <a:p>
            <a:endParaRPr sz="2310"/>
          </a:p>
        </p:txBody>
      </p:sp>
      <p:sp>
        <p:nvSpPr>
          <p:cNvPr id="5" name="object 5"/>
          <p:cNvSpPr/>
          <p:nvPr/>
        </p:nvSpPr>
        <p:spPr>
          <a:xfrm>
            <a:off x="6340793" y="3441229"/>
            <a:ext cx="845439" cy="8001"/>
          </a:xfrm>
          <a:custGeom>
            <a:avLst/>
            <a:gdLst/>
            <a:ahLst/>
            <a:cxnLst/>
            <a:rect l="l" t="t" r="r" b="b"/>
            <a:pathLst>
              <a:path w="805179" h="7620">
                <a:moveTo>
                  <a:pt x="0" y="7365"/>
                </a:moveTo>
                <a:lnTo>
                  <a:pt x="804672" y="0"/>
                </a:lnTo>
              </a:path>
            </a:pathLst>
          </a:custGeom>
          <a:ln w="22860">
            <a:solidFill>
              <a:srgbClr val="FF0000"/>
            </a:solidFill>
          </a:ln>
        </p:spPr>
        <p:txBody>
          <a:bodyPr wrap="square" lIns="0" tIns="0" rIns="0" bIns="0" rtlCol="0"/>
          <a:lstStyle/>
          <a:p>
            <a:endParaRPr sz="2310"/>
          </a:p>
        </p:txBody>
      </p:sp>
      <p:sp>
        <p:nvSpPr>
          <p:cNvPr id="6" name="object 6"/>
          <p:cNvSpPr/>
          <p:nvPr/>
        </p:nvSpPr>
        <p:spPr>
          <a:xfrm>
            <a:off x="6355193" y="4668584"/>
            <a:ext cx="845439" cy="8001"/>
          </a:xfrm>
          <a:custGeom>
            <a:avLst/>
            <a:gdLst/>
            <a:ahLst/>
            <a:cxnLst/>
            <a:rect l="l" t="t" r="r" b="b"/>
            <a:pathLst>
              <a:path w="805179" h="7620">
                <a:moveTo>
                  <a:pt x="0" y="7365"/>
                </a:moveTo>
                <a:lnTo>
                  <a:pt x="804672" y="0"/>
                </a:lnTo>
              </a:path>
            </a:pathLst>
          </a:custGeom>
          <a:ln w="22860">
            <a:solidFill>
              <a:srgbClr val="FF0000"/>
            </a:solidFill>
          </a:ln>
        </p:spPr>
        <p:txBody>
          <a:bodyPr wrap="square" lIns="0" tIns="0" rIns="0" bIns="0" rtlCol="0"/>
          <a:lstStyle/>
          <a:p>
            <a:endParaRPr sz="2310"/>
          </a:p>
        </p:txBody>
      </p:sp>
      <p:sp>
        <p:nvSpPr>
          <p:cNvPr id="7" name="object 7"/>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84</a:t>
            </a:fld>
            <a:endParaRPr sz="1260">
              <a:latin typeface="Calibri" panose="020F0502020204030204"/>
              <a:cs typeface="Calibri" panose="020F0502020204030204"/>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5" dirty="0"/>
              <a:t>Linked </a:t>
            </a:r>
            <a:r>
              <a:rPr sz="4620" spc="-15" dirty="0"/>
              <a:t>List</a:t>
            </a:r>
            <a:r>
              <a:rPr sz="4620" spc="-40" dirty="0"/>
              <a:t> </a:t>
            </a:r>
            <a:r>
              <a:rPr sz="4620" spc="-25" dirty="0"/>
              <a:t>Performance</a:t>
            </a:r>
            <a:endParaRPr sz="4620" dirty="0"/>
          </a:p>
        </p:txBody>
      </p:sp>
      <p:sp>
        <p:nvSpPr>
          <p:cNvPr id="3" name="object 3"/>
          <p:cNvSpPr/>
          <p:nvPr/>
        </p:nvSpPr>
        <p:spPr>
          <a:xfrm>
            <a:off x="2864729" y="1688584"/>
            <a:ext cx="6809708" cy="1749863"/>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2778374" y="3533641"/>
            <a:ext cx="7072884" cy="2907665"/>
          </a:xfrm>
          <a:prstGeom prst="rect">
            <a:avLst/>
          </a:prstGeom>
        </p:spPr>
        <p:txBody>
          <a:bodyPr vert="horz" wrap="square" lIns="0" tIns="90011" rIns="0" bIns="0" rtlCol="0">
            <a:spAutoFit/>
          </a:bodyPr>
          <a:lstStyle/>
          <a:p>
            <a:pPr marL="1662430">
              <a:lnSpc>
                <a:spcPct val="100000"/>
              </a:lnSpc>
              <a:spcBef>
                <a:spcPts val="675"/>
              </a:spcBef>
            </a:pPr>
            <a:r>
              <a:rPr sz="2520" spc="-5" dirty="0">
                <a:solidFill>
                  <a:srgbClr val="0000FF"/>
                </a:solidFill>
                <a:latin typeface="Calibri" panose="020F0502020204030204"/>
                <a:cs typeface="Calibri" panose="020F0502020204030204"/>
              </a:rPr>
              <a:t>100,000</a:t>
            </a:r>
            <a:r>
              <a:rPr sz="2520" spc="-15" dirty="0">
                <a:solidFill>
                  <a:srgbClr val="0000FF"/>
                </a:solidFill>
                <a:latin typeface="Calibri" panose="020F0502020204030204"/>
                <a:cs typeface="Calibri" panose="020F0502020204030204"/>
              </a:rPr>
              <a:t> </a:t>
            </a:r>
            <a:r>
              <a:rPr sz="2520" spc="-10" dirty="0">
                <a:solidFill>
                  <a:srgbClr val="0000FF"/>
                </a:solidFill>
                <a:latin typeface="Calibri" panose="020F0502020204030204"/>
                <a:cs typeface="Calibri" panose="020F0502020204030204"/>
              </a:rPr>
              <a:t>ops/thread</a:t>
            </a:r>
            <a:endParaRPr sz="2520">
              <a:latin typeface="Calibri" panose="020F0502020204030204"/>
              <a:cs typeface="Calibri" panose="020F0502020204030204"/>
            </a:endParaRPr>
          </a:p>
          <a:p>
            <a:pPr marL="1662430">
              <a:lnSpc>
                <a:spcPct val="100000"/>
              </a:lnSpc>
              <a:spcBef>
                <a:spcPts val="575"/>
              </a:spcBef>
            </a:pPr>
            <a:r>
              <a:rPr sz="2520" spc="-10" dirty="0">
                <a:solidFill>
                  <a:srgbClr val="0000FF"/>
                </a:solidFill>
                <a:latin typeface="Calibri" panose="020F0502020204030204"/>
                <a:cs typeface="Calibri" panose="020F0502020204030204"/>
              </a:rPr>
              <a:t>99.9%</a:t>
            </a:r>
            <a:r>
              <a:rPr sz="2520" spc="-5" dirty="0">
                <a:solidFill>
                  <a:srgbClr val="0000FF"/>
                </a:solidFill>
                <a:latin typeface="Calibri" panose="020F0502020204030204"/>
                <a:cs typeface="Calibri" panose="020F0502020204030204"/>
              </a:rPr>
              <a:t> </a:t>
            </a:r>
            <a:r>
              <a:rPr sz="2520" dirty="0">
                <a:solidFill>
                  <a:srgbClr val="0000FF"/>
                </a:solidFill>
                <a:latin typeface="Calibri" panose="020F0502020204030204"/>
                <a:cs typeface="Calibri" panose="020F0502020204030204"/>
              </a:rPr>
              <a:t>Member</a:t>
            </a:r>
            <a:endParaRPr sz="2520">
              <a:latin typeface="Calibri" panose="020F0502020204030204"/>
              <a:cs typeface="Calibri" panose="020F0502020204030204"/>
            </a:endParaRPr>
          </a:p>
          <a:p>
            <a:pPr marL="1662430">
              <a:lnSpc>
                <a:spcPct val="100000"/>
              </a:lnSpc>
              <a:spcBef>
                <a:spcPts val="575"/>
              </a:spcBef>
            </a:pPr>
            <a:r>
              <a:rPr sz="2520" spc="-5" dirty="0">
                <a:solidFill>
                  <a:srgbClr val="0000FF"/>
                </a:solidFill>
                <a:latin typeface="Calibri" panose="020F0502020204030204"/>
                <a:cs typeface="Calibri" panose="020F0502020204030204"/>
              </a:rPr>
              <a:t>0.05% Insert</a:t>
            </a:r>
            <a:endParaRPr sz="2520">
              <a:latin typeface="Calibri" panose="020F0502020204030204"/>
              <a:cs typeface="Calibri" panose="020F0502020204030204"/>
            </a:endParaRPr>
          </a:p>
          <a:p>
            <a:pPr marL="1662430">
              <a:lnSpc>
                <a:spcPct val="100000"/>
              </a:lnSpc>
              <a:spcBef>
                <a:spcPts val="580"/>
              </a:spcBef>
            </a:pPr>
            <a:r>
              <a:rPr sz="2520" spc="-5" dirty="0">
                <a:solidFill>
                  <a:srgbClr val="0000FF"/>
                </a:solidFill>
                <a:latin typeface="Calibri" panose="020F0502020204030204"/>
                <a:cs typeface="Calibri" panose="020F0502020204030204"/>
              </a:rPr>
              <a:t>0.05% </a:t>
            </a:r>
            <a:r>
              <a:rPr sz="2520" spc="-10" dirty="0">
                <a:solidFill>
                  <a:srgbClr val="0000FF"/>
                </a:solidFill>
                <a:latin typeface="Calibri" panose="020F0502020204030204"/>
                <a:cs typeface="Calibri" panose="020F0502020204030204"/>
              </a:rPr>
              <a:t>Delete</a:t>
            </a:r>
            <a:endParaRPr sz="2520">
              <a:latin typeface="Calibri" panose="020F0502020204030204"/>
              <a:cs typeface="Calibri" panose="020F0502020204030204"/>
            </a:endParaRPr>
          </a:p>
          <a:p>
            <a:pPr marL="12700" marR="5080">
              <a:lnSpc>
                <a:spcPct val="100000"/>
              </a:lnSpc>
              <a:spcBef>
                <a:spcPts val="2125"/>
              </a:spcBef>
            </a:pPr>
            <a:r>
              <a:rPr sz="2520" dirty="0">
                <a:solidFill>
                  <a:srgbClr val="FF0000"/>
                </a:solidFill>
                <a:latin typeface="Calibri" panose="020F0502020204030204"/>
                <a:cs typeface="Calibri" panose="020F0502020204030204"/>
              </a:rPr>
              <a:t>If </a:t>
            </a:r>
            <a:r>
              <a:rPr sz="2520" spc="-10" dirty="0">
                <a:solidFill>
                  <a:srgbClr val="FF0000"/>
                </a:solidFill>
                <a:latin typeface="Calibri" panose="020F0502020204030204"/>
                <a:cs typeface="Calibri" panose="020F0502020204030204"/>
              </a:rPr>
              <a:t>there </a:t>
            </a:r>
            <a:r>
              <a:rPr sz="2520" dirty="0">
                <a:solidFill>
                  <a:srgbClr val="FF0000"/>
                </a:solidFill>
                <a:latin typeface="Calibri" panose="020F0502020204030204"/>
                <a:cs typeface="Calibri" panose="020F0502020204030204"/>
              </a:rPr>
              <a:t>is </a:t>
            </a:r>
            <a:r>
              <a:rPr sz="2520" spc="-5" dirty="0">
                <a:solidFill>
                  <a:srgbClr val="FF0000"/>
                </a:solidFill>
                <a:latin typeface="Calibri" panose="020F0502020204030204"/>
                <a:cs typeface="Calibri" panose="020F0502020204030204"/>
              </a:rPr>
              <a:t>very </a:t>
            </a:r>
            <a:r>
              <a:rPr sz="2520" spc="-20" dirty="0">
                <a:solidFill>
                  <a:srgbClr val="FF0000"/>
                </a:solidFill>
                <a:latin typeface="Calibri" panose="020F0502020204030204"/>
                <a:cs typeface="Calibri" panose="020F0502020204030204"/>
              </a:rPr>
              <a:t>few </a:t>
            </a:r>
            <a:r>
              <a:rPr sz="2520" spc="-5" dirty="0">
                <a:solidFill>
                  <a:srgbClr val="FF0000"/>
                </a:solidFill>
                <a:latin typeface="Calibri" panose="020F0502020204030204"/>
                <a:cs typeface="Calibri" panose="020F0502020204030204"/>
              </a:rPr>
              <a:t>Inserts/Deletes, </a:t>
            </a:r>
            <a:r>
              <a:rPr sz="2520" dirty="0">
                <a:solidFill>
                  <a:srgbClr val="FF0000"/>
                </a:solidFill>
                <a:latin typeface="Calibri" panose="020F0502020204030204"/>
                <a:cs typeface="Calibri" panose="020F0502020204030204"/>
              </a:rPr>
              <a:t>the </a:t>
            </a:r>
            <a:r>
              <a:rPr sz="2520" spc="-10" dirty="0">
                <a:solidFill>
                  <a:srgbClr val="FF0000"/>
                </a:solidFill>
                <a:latin typeface="Calibri" panose="020F0502020204030204"/>
                <a:cs typeface="Calibri" panose="020F0502020204030204"/>
              </a:rPr>
              <a:t>RW locks </a:t>
            </a:r>
            <a:r>
              <a:rPr sz="2520" spc="-5" dirty="0">
                <a:solidFill>
                  <a:srgbClr val="FF0000"/>
                </a:solidFill>
                <a:latin typeface="Calibri" panose="020F0502020204030204"/>
                <a:cs typeface="Calibri" panose="020F0502020204030204"/>
              </a:rPr>
              <a:t>do </a:t>
            </a:r>
            <a:r>
              <a:rPr sz="2520" dirty="0">
                <a:solidFill>
                  <a:srgbClr val="FF0000"/>
                </a:solidFill>
                <a:latin typeface="Calibri" panose="020F0502020204030204"/>
                <a:cs typeface="Calibri" panose="020F0502020204030204"/>
              </a:rPr>
              <a:t>a  </a:t>
            </a:r>
            <a:r>
              <a:rPr sz="2520" spc="-5" dirty="0">
                <a:solidFill>
                  <a:srgbClr val="FF0000"/>
                </a:solidFill>
                <a:latin typeface="Calibri" panose="020F0502020204030204"/>
                <a:cs typeface="Calibri" panose="020F0502020204030204"/>
              </a:rPr>
              <a:t>very </a:t>
            </a:r>
            <a:r>
              <a:rPr sz="2520" spc="-10" dirty="0">
                <a:solidFill>
                  <a:srgbClr val="FF0000"/>
                </a:solidFill>
                <a:latin typeface="Calibri" panose="020F0502020204030204"/>
                <a:cs typeface="Calibri" panose="020F0502020204030204"/>
              </a:rPr>
              <a:t>good </a:t>
            </a:r>
            <a:r>
              <a:rPr sz="2520" spc="-5" dirty="0">
                <a:solidFill>
                  <a:srgbClr val="FF0000"/>
                </a:solidFill>
                <a:latin typeface="Calibri" panose="020F0502020204030204"/>
                <a:cs typeface="Calibri" panose="020F0502020204030204"/>
              </a:rPr>
              <a:t>job of allowing </a:t>
            </a:r>
            <a:r>
              <a:rPr sz="2520" spc="-10" dirty="0">
                <a:solidFill>
                  <a:srgbClr val="FF0000"/>
                </a:solidFill>
                <a:latin typeface="Calibri" panose="020F0502020204030204"/>
                <a:cs typeface="Calibri" panose="020F0502020204030204"/>
              </a:rPr>
              <a:t>concurrent </a:t>
            </a:r>
            <a:r>
              <a:rPr sz="2520" dirty="0">
                <a:solidFill>
                  <a:srgbClr val="FF0000"/>
                </a:solidFill>
                <a:latin typeface="Calibri" panose="020F0502020204030204"/>
                <a:cs typeface="Calibri" panose="020F0502020204030204"/>
              </a:rPr>
              <a:t>access </a:t>
            </a:r>
            <a:r>
              <a:rPr sz="2520" spc="-15" dirty="0">
                <a:solidFill>
                  <a:srgbClr val="FF0000"/>
                </a:solidFill>
                <a:latin typeface="Calibri" panose="020F0502020204030204"/>
                <a:cs typeface="Calibri" panose="020F0502020204030204"/>
              </a:rPr>
              <a:t>to </a:t>
            </a:r>
            <a:r>
              <a:rPr sz="2520" dirty="0">
                <a:solidFill>
                  <a:srgbClr val="FF0000"/>
                </a:solidFill>
                <a:latin typeface="Calibri" panose="020F0502020204030204"/>
                <a:cs typeface="Calibri" panose="020F0502020204030204"/>
              </a:rPr>
              <a:t>the</a:t>
            </a:r>
            <a:r>
              <a:rPr sz="2520" spc="-75"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list.</a:t>
            </a:r>
            <a:endParaRPr sz="2520">
              <a:latin typeface="Calibri" panose="020F0502020204030204"/>
              <a:cs typeface="Calibri" panose="020F0502020204030204"/>
            </a:endParaRPr>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85</a:t>
            </a:fld>
            <a:endParaRPr sz="1260">
              <a:latin typeface="Calibri" panose="020F0502020204030204"/>
              <a:cs typeface="Calibri" panose="020F0502020204030204"/>
            </a:endParaRPr>
          </a:p>
        </p:txBody>
      </p:sp>
      <p:sp>
        <p:nvSpPr>
          <p:cNvPr id="6" name="文本框 5">
            <a:extLst>
              <a:ext uri="{FF2B5EF4-FFF2-40B4-BE49-F238E27FC236}">
                <a16:creationId xmlns:a16="http://schemas.microsoft.com/office/drawing/2014/main" id="{CA3AD631-D496-4B25-921C-94DC286CFCB3}"/>
              </a:ext>
            </a:extLst>
          </p:cNvPr>
          <p:cNvSpPr txBox="1"/>
          <p:nvPr/>
        </p:nvSpPr>
        <p:spPr>
          <a:xfrm>
            <a:off x="8201000" y="4104506"/>
            <a:ext cx="3257495" cy="769441"/>
          </a:xfrm>
          <a:prstGeom prst="rect">
            <a:avLst/>
          </a:prstGeom>
          <a:noFill/>
        </p:spPr>
        <p:txBody>
          <a:bodyPr wrap="none" rtlCol="0">
            <a:spAutoFit/>
          </a:bodyPr>
          <a:lstStyle/>
          <a:p>
            <a:r>
              <a:rPr lang="en-US" altLang="zh-CN" dirty="0">
                <a:solidFill>
                  <a:srgbClr val="FF0000"/>
                </a:solidFill>
              </a:rPr>
              <a:t>Question</a:t>
            </a:r>
            <a:r>
              <a:rPr lang="zh-CN" altLang="en-US" dirty="0">
                <a:solidFill>
                  <a:srgbClr val="FF0000"/>
                </a:solidFill>
              </a:rPr>
              <a:t>：</a:t>
            </a:r>
            <a:endParaRPr lang="en-US" altLang="zh-CN" dirty="0">
              <a:solidFill>
                <a:srgbClr val="FF0000"/>
              </a:solidFill>
            </a:endParaRPr>
          </a:p>
          <a:p>
            <a:r>
              <a:rPr lang="en-US" altLang="zh-CN" dirty="0">
                <a:solidFill>
                  <a:srgbClr val="FF0000"/>
                </a:solidFill>
              </a:rPr>
              <a:t>How</a:t>
            </a:r>
            <a:r>
              <a:rPr lang="zh-CN" altLang="en-US" dirty="0">
                <a:solidFill>
                  <a:srgbClr val="FF0000"/>
                </a:solidFill>
              </a:rPr>
              <a:t> </a:t>
            </a:r>
            <a:r>
              <a:rPr lang="en-US" altLang="zh-CN" dirty="0">
                <a:solidFill>
                  <a:srgbClr val="FF0000"/>
                </a:solidFill>
              </a:rPr>
              <a:t>many</a:t>
            </a:r>
            <a:r>
              <a:rPr lang="zh-CN" altLang="en-US" dirty="0">
                <a:solidFill>
                  <a:srgbClr val="FF0000"/>
                </a:solidFill>
              </a:rPr>
              <a:t> </a:t>
            </a:r>
            <a:r>
              <a:rPr lang="en-US" altLang="zh-CN" dirty="0">
                <a:solidFill>
                  <a:srgbClr val="FF0000"/>
                </a:solidFill>
              </a:rPr>
              <a:t>cores</a:t>
            </a:r>
            <a:r>
              <a:rPr lang="zh-CN" altLang="en-US" dirty="0">
                <a:solidFill>
                  <a:srgbClr val="FF0000"/>
                </a:solidFill>
              </a:rPr>
              <a:t> </a:t>
            </a:r>
            <a:r>
              <a:rPr lang="en-US" altLang="zh-CN" dirty="0">
                <a:solidFill>
                  <a:srgbClr val="FF0000"/>
                </a:solidFill>
              </a:rPr>
              <a:t>are</a:t>
            </a:r>
            <a:r>
              <a:rPr lang="zh-CN" altLang="en-US" dirty="0">
                <a:solidFill>
                  <a:srgbClr val="FF0000"/>
                </a:solidFill>
              </a:rPr>
              <a:t> </a:t>
            </a:r>
            <a:r>
              <a:rPr lang="en-US" altLang="zh-CN" dirty="0">
                <a:solidFill>
                  <a:srgbClr val="FF0000"/>
                </a:solidFill>
              </a:rPr>
              <a:t>used?</a:t>
            </a:r>
            <a:endParaRPr lang="en-US" dirty="0">
              <a:solidFill>
                <a:srgbClr val="FF0000"/>
              </a:solidFill>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5" dirty="0"/>
              <a:t>Linked </a:t>
            </a:r>
            <a:r>
              <a:rPr sz="4620" spc="-15" dirty="0"/>
              <a:t>List</a:t>
            </a:r>
            <a:r>
              <a:rPr sz="4620" spc="-25" dirty="0"/>
              <a:t> Performance</a:t>
            </a:r>
            <a:endParaRPr sz="4620" dirty="0"/>
          </a:p>
        </p:txBody>
      </p:sp>
      <p:sp>
        <p:nvSpPr>
          <p:cNvPr id="3" name="object 3"/>
          <p:cNvSpPr/>
          <p:nvPr/>
        </p:nvSpPr>
        <p:spPr>
          <a:xfrm>
            <a:off x="2851538" y="1715430"/>
            <a:ext cx="6809294" cy="1760589"/>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2579949" y="3702059"/>
            <a:ext cx="7416927" cy="2894965"/>
          </a:xfrm>
          <a:prstGeom prst="rect">
            <a:avLst/>
          </a:prstGeom>
        </p:spPr>
        <p:txBody>
          <a:bodyPr vert="horz" wrap="square" lIns="0" tIns="89344" rIns="0" bIns="0" rtlCol="0">
            <a:spAutoFit/>
          </a:bodyPr>
          <a:lstStyle/>
          <a:p>
            <a:pPr marL="1951990">
              <a:lnSpc>
                <a:spcPct val="100000"/>
              </a:lnSpc>
              <a:spcBef>
                <a:spcPts val="670"/>
              </a:spcBef>
            </a:pPr>
            <a:r>
              <a:rPr sz="2520" spc="-5" dirty="0">
                <a:solidFill>
                  <a:srgbClr val="0000FF"/>
                </a:solidFill>
                <a:latin typeface="Calibri" panose="020F0502020204030204"/>
                <a:cs typeface="Calibri" panose="020F0502020204030204"/>
              </a:rPr>
              <a:t>100,000</a:t>
            </a:r>
            <a:r>
              <a:rPr sz="2520" spc="-15" dirty="0">
                <a:solidFill>
                  <a:srgbClr val="0000FF"/>
                </a:solidFill>
                <a:latin typeface="Calibri" panose="020F0502020204030204"/>
                <a:cs typeface="Calibri" panose="020F0502020204030204"/>
              </a:rPr>
              <a:t> </a:t>
            </a:r>
            <a:r>
              <a:rPr sz="2520" spc="-10" dirty="0">
                <a:solidFill>
                  <a:srgbClr val="0000FF"/>
                </a:solidFill>
                <a:latin typeface="Calibri" panose="020F0502020204030204"/>
                <a:cs typeface="Calibri" panose="020F0502020204030204"/>
              </a:rPr>
              <a:t>ops/thread</a:t>
            </a:r>
            <a:endParaRPr sz="2520">
              <a:latin typeface="Calibri" panose="020F0502020204030204"/>
              <a:cs typeface="Calibri" panose="020F0502020204030204"/>
            </a:endParaRPr>
          </a:p>
          <a:p>
            <a:pPr marL="1951990">
              <a:lnSpc>
                <a:spcPct val="100000"/>
              </a:lnSpc>
              <a:spcBef>
                <a:spcPts val="580"/>
              </a:spcBef>
            </a:pPr>
            <a:r>
              <a:rPr sz="2520" spc="-5" dirty="0">
                <a:solidFill>
                  <a:srgbClr val="0000FF"/>
                </a:solidFill>
                <a:latin typeface="Calibri" panose="020F0502020204030204"/>
                <a:cs typeface="Calibri" panose="020F0502020204030204"/>
              </a:rPr>
              <a:t>80% </a:t>
            </a:r>
            <a:r>
              <a:rPr sz="2520" dirty="0">
                <a:solidFill>
                  <a:srgbClr val="0000FF"/>
                </a:solidFill>
                <a:latin typeface="Calibri" panose="020F0502020204030204"/>
                <a:cs typeface="Calibri" panose="020F0502020204030204"/>
              </a:rPr>
              <a:t>Member</a:t>
            </a:r>
            <a:endParaRPr sz="2520">
              <a:latin typeface="Calibri" panose="020F0502020204030204"/>
              <a:cs typeface="Calibri" panose="020F0502020204030204"/>
            </a:endParaRPr>
          </a:p>
          <a:p>
            <a:pPr marL="1951990">
              <a:lnSpc>
                <a:spcPct val="100000"/>
              </a:lnSpc>
              <a:spcBef>
                <a:spcPts val="575"/>
              </a:spcBef>
            </a:pPr>
            <a:r>
              <a:rPr sz="2520" spc="-5" dirty="0">
                <a:solidFill>
                  <a:srgbClr val="0000FF"/>
                </a:solidFill>
                <a:latin typeface="Calibri" panose="020F0502020204030204"/>
                <a:cs typeface="Calibri" panose="020F0502020204030204"/>
              </a:rPr>
              <a:t>10% Insert</a:t>
            </a:r>
            <a:endParaRPr sz="2520">
              <a:latin typeface="Calibri" panose="020F0502020204030204"/>
              <a:cs typeface="Calibri" panose="020F0502020204030204"/>
            </a:endParaRPr>
          </a:p>
          <a:p>
            <a:pPr marL="1951990">
              <a:lnSpc>
                <a:spcPct val="100000"/>
              </a:lnSpc>
              <a:spcBef>
                <a:spcPts val="580"/>
              </a:spcBef>
            </a:pPr>
            <a:r>
              <a:rPr sz="2520" spc="-5" dirty="0">
                <a:solidFill>
                  <a:srgbClr val="0000FF"/>
                </a:solidFill>
                <a:latin typeface="Calibri" panose="020F0502020204030204"/>
                <a:cs typeface="Calibri" panose="020F0502020204030204"/>
              </a:rPr>
              <a:t>10% </a:t>
            </a:r>
            <a:r>
              <a:rPr sz="2520" spc="-10" dirty="0">
                <a:solidFill>
                  <a:srgbClr val="0000FF"/>
                </a:solidFill>
                <a:latin typeface="Calibri" panose="020F0502020204030204"/>
                <a:cs typeface="Calibri" panose="020F0502020204030204"/>
              </a:rPr>
              <a:t>Delete</a:t>
            </a:r>
            <a:endParaRPr sz="2520">
              <a:latin typeface="Calibri" panose="020F0502020204030204"/>
              <a:cs typeface="Calibri" panose="020F0502020204030204"/>
            </a:endParaRPr>
          </a:p>
          <a:p>
            <a:pPr marL="12700" marR="5080">
              <a:lnSpc>
                <a:spcPct val="100000"/>
              </a:lnSpc>
              <a:spcBef>
                <a:spcPts val="2030"/>
              </a:spcBef>
            </a:pPr>
            <a:r>
              <a:rPr sz="2520" dirty="0">
                <a:solidFill>
                  <a:srgbClr val="FF0000"/>
                </a:solidFill>
                <a:latin typeface="Calibri" panose="020F0502020204030204"/>
                <a:cs typeface="Calibri" panose="020F0502020204030204"/>
              </a:rPr>
              <a:t>If </a:t>
            </a:r>
            <a:r>
              <a:rPr sz="2520" spc="-10" dirty="0">
                <a:solidFill>
                  <a:srgbClr val="FF0000"/>
                </a:solidFill>
                <a:latin typeface="Calibri" panose="020F0502020204030204"/>
                <a:cs typeface="Calibri" panose="020F0502020204030204"/>
              </a:rPr>
              <a:t>there are </a:t>
            </a:r>
            <a:r>
              <a:rPr sz="2520" dirty="0">
                <a:solidFill>
                  <a:srgbClr val="FF0000"/>
                </a:solidFill>
                <a:latin typeface="Calibri" panose="020F0502020204030204"/>
                <a:cs typeface="Calibri" panose="020F0502020204030204"/>
              </a:rPr>
              <a:t>a </a:t>
            </a:r>
            <a:r>
              <a:rPr sz="2520" spc="-10" dirty="0">
                <a:solidFill>
                  <a:srgbClr val="FF0000"/>
                </a:solidFill>
                <a:latin typeface="Calibri" panose="020F0502020204030204"/>
                <a:cs typeface="Calibri" panose="020F0502020204030204"/>
              </a:rPr>
              <a:t>relatively </a:t>
            </a:r>
            <a:r>
              <a:rPr sz="2520" spc="-15" dirty="0">
                <a:solidFill>
                  <a:srgbClr val="FF0000"/>
                </a:solidFill>
                <a:latin typeface="Calibri" panose="020F0502020204030204"/>
                <a:cs typeface="Calibri" panose="020F0502020204030204"/>
              </a:rPr>
              <a:t>large </a:t>
            </a:r>
            <a:r>
              <a:rPr sz="2520" dirty="0">
                <a:solidFill>
                  <a:srgbClr val="FF0000"/>
                </a:solidFill>
                <a:latin typeface="Calibri" panose="020F0502020204030204"/>
                <a:cs typeface="Calibri" panose="020F0502020204030204"/>
              </a:rPr>
              <a:t># </a:t>
            </a:r>
            <a:r>
              <a:rPr sz="2520" spc="-5" dirty="0">
                <a:solidFill>
                  <a:srgbClr val="FF0000"/>
                </a:solidFill>
                <a:latin typeface="Calibri" panose="020F0502020204030204"/>
                <a:cs typeface="Calibri" panose="020F0502020204030204"/>
              </a:rPr>
              <a:t>of Inserts/Deletes, </a:t>
            </a:r>
            <a:r>
              <a:rPr sz="2520" spc="-10" dirty="0">
                <a:solidFill>
                  <a:srgbClr val="FF0000"/>
                </a:solidFill>
                <a:latin typeface="Calibri" panose="020F0502020204030204"/>
                <a:cs typeface="Calibri" panose="020F0502020204030204"/>
              </a:rPr>
              <a:t>there </a:t>
            </a:r>
            <a:r>
              <a:rPr sz="2520" dirty="0">
                <a:solidFill>
                  <a:srgbClr val="FF0000"/>
                </a:solidFill>
                <a:latin typeface="Calibri" panose="020F0502020204030204"/>
                <a:cs typeface="Calibri" panose="020F0502020204030204"/>
              </a:rPr>
              <a:t>is  </a:t>
            </a:r>
            <a:r>
              <a:rPr sz="2520" spc="-5" dirty="0">
                <a:solidFill>
                  <a:srgbClr val="FF0000"/>
                </a:solidFill>
                <a:latin typeface="Calibri" panose="020F0502020204030204"/>
                <a:cs typeface="Calibri" panose="020F0502020204030204"/>
              </a:rPr>
              <a:t>very </a:t>
            </a:r>
            <a:r>
              <a:rPr sz="2520" spc="-10" dirty="0">
                <a:solidFill>
                  <a:srgbClr val="FF0000"/>
                </a:solidFill>
                <a:latin typeface="Calibri" panose="020F0502020204030204"/>
                <a:cs typeface="Calibri" panose="020F0502020204030204"/>
              </a:rPr>
              <a:t>little </a:t>
            </a:r>
            <a:r>
              <a:rPr sz="2520" spc="-15" dirty="0">
                <a:solidFill>
                  <a:srgbClr val="FF0000"/>
                </a:solidFill>
                <a:latin typeface="Calibri" panose="020F0502020204030204"/>
                <a:cs typeface="Calibri" panose="020F0502020204030204"/>
              </a:rPr>
              <a:t>difference </a:t>
            </a:r>
            <a:r>
              <a:rPr sz="2520" spc="-10" dirty="0">
                <a:solidFill>
                  <a:srgbClr val="FF0000"/>
                </a:solidFill>
                <a:latin typeface="Calibri" panose="020F0502020204030204"/>
                <a:cs typeface="Calibri" panose="020F0502020204030204"/>
              </a:rPr>
              <a:t>between </a:t>
            </a:r>
            <a:r>
              <a:rPr sz="2520" spc="-15" dirty="0">
                <a:solidFill>
                  <a:srgbClr val="FF0000"/>
                </a:solidFill>
                <a:latin typeface="Calibri" panose="020F0502020204030204"/>
                <a:cs typeface="Calibri" panose="020F0502020204030204"/>
              </a:rPr>
              <a:t>RW </a:t>
            </a:r>
            <a:r>
              <a:rPr sz="2520" dirty="0">
                <a:solidFill>
                  <a:srgbClr val="FF0000"/>
                </a:solidFill>
                <a:latin typeface="Calibri" panose="020F0502020204030204"/>
                <a:cs typeface="Calibri" panose="020F0502020204030204"/>
              </a:rPr>
              <a:t>lock and </a:t>
            </a:r>
            <a:r>
              <a:rPr sz="2520" spc="-5" dirty="0">
                <a:solidFill>
                  <a:srgbClr val="FF0000"/>
                </a:solidFill>
                <a:latin typeface="Calibri" panose="020F0502020204030204"/>
                <a:cs typeface="Calibri" panose="020F0502020204030204"/>
              </a:rPr>
              <a:t>single</a:t>
            </a:r>
            <a:r>
              <a:rPr sz="2520" spc="15" dirty="0">
                <a:solidFill>
                  <a:srgbClr val="FF0000"/>
                </a:solidFill>
                <a:latin typeface="Calibri" panose="020F0502020204030204"/>
                <a:cs typeface="Calibri" panose="020F0502020204030204"/>
              </a:rPr>
              <a:t> </a:t>
            </a:r>
            <a:r>
              <a:rPr sz="2520" spc="-10" dirty="0">
                <a:solidFill>
                  <a:srgbClr val="FF0000"/>
                </a:solidFill>
                <a:latin typeface="Calibri" panose="020F0502020204030204"/>
                <a:cs typeface="Calibri" panose="020F0502020204030204"/>
              </a:rPr>
              <a:t>mutex.</a:t>
            </a:r>
            <a:endParaRPr sz="2520">
              <a:latin typeface="Calibri" panose="020F0502020204030204"/>
              <a:cs typeface="Calibri" panose="020F0502020204030204"/>
            </a:endParaRPr>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86</a:t>
            </a:fld>
            <a:endParaRPr sz="1260">
              <a:latin typeface="Calibri" panose="020F0502020204030204"/>
              <a:cs typeface="Calibri" panose="020F0502020204030204"/>
            </a:endParaRPr>
          </a:p>
        </p:txBody>
      </p:sp>
      <p:sp>
        <p:nvSpPr>
          <p:cNvPr id="6" name="文本框 5">
            <a:extLst>
              <a:ext uri="{FF2B5EF4-FFF2-40B4-BE49-F238E27FC236}">
                <a16:creationId xmlns:a16="http://schemas.microsoft.com/office/drawing/2014/main" id="{CF2BF991-FCF1-4F14-B513-AC40A4FBBFDD}"/>
              </a:ext>
            </a:extLst>
          </p:cNvPr>
          <p:cNvSpPr txBox="1"/>
          <p:nvPr/>
        </p:nvSpPr>
        <p:spPr>
          <a:xfrm>
            <a:off x="8201000" y="4104506"/>
            <a:ext cx="3257495" cy="769441"/>
          </a:xfrm>
          <a:prstGeom prst="rect">
            <a:avLst/>
          </a:prstGeom>
          <a:noFill/>
        </p:spPr>
        <p:txBody>
          <a:bodyPr wrap="none" rtlCol="0">
            <a:spAutoFit/>
          </a:bodyPr>
          <a:lstStyle/>
          <a:p>
            <a:r>
              <a:rPr lang="en-US" altLang="zh-CN" dirty="0">
                <a:solidFill>
                  <a:srgbClr val="FF0000"/>
                </a:solidFill>
              </a:rPr>
              <a:t>Question</a:t>
            </a:r>
            <a:r>
              <a:rPr lang="zh-CN" altLang="en-US" dirty="0">
                <a:solidFill>
                  <a:srgbClr val="FF0000"/>
                </a:solidFill>
              </a:rPr>
              <a:t>：</a:t>
            </a:r>
            <a:endParaRPr lang="en-US" altLang="zh-CN" dirty="0">
              <a:solidFill>
                <a:srgbClr val="FF0000"/>
              </a:solidFill>
            </a:endParaRPr>
          </a:p>
          <a:p>
            <a:r>
              <a:rPr lang="en-US" altLang="zh-CN" dirty="0">
                <a:solidFill>
                  <a:srgbClr val="FF0000"/>
                </a:solidFill>
              </a:rPr>
              <a:t>How</a:t>
            </a:r>
            <a:r>
              <a:rPr lang="zh-CN" altLang="en-US" dirty="0">
                <a:solidFill>
                  <a:srgbClr val="FF0000"/>
                </a:solidFill>
              </a:rPr>
              <a:t> </a:t>
            </a:r>
            <a:r>
              <a:rPr lang="en-US" altLang="zh-CN" dirty="0">
                <a:solidFill>
                  <a:srgbClr val="FF0000"/>
                </a:solidFill>
              </a:rPr>
              <a:t>many</a:t>
            </a:r>
            <a:r>
              <a:rPr lang="zh-CN" altLang="en-US" dirty="0">
                <a:solidFill>
                  <a:srgbClr val="FF0000"/>
                </a:solidFill>
              </a:rPr>
              <a:t> </a:t>
            </a:r>
            <a:r>
              <a:rPr lang="en-US" altLang="zh-CN" dirty="0">
                <a:solidFill>
                  <a:srgbClr val="FF0000"/>
                </a:solidFill>
              </a:rPr>
              <a:t>cores</a:t>
            </a:r>
            <a:r>
              <a:rPr lang="zh-CN" altLang="en-US" dirty="0">
                <a:solidFill>
                  <a:srgbClr val="FF0000"/>
                </a:solidFill>
              </a:rPr>
              <a:t> </a:t>
            </a:r>
            <a:r>
              <a:rPr lang="en-US" altLang="zh-CN" dirty="0">
                <a:solidFill>
                  <a:srgbClr val="FF0000"/>
                </a:solidFill>
              </a:rPr>
              <a:t>are</a:t>
            </a:r>
            <a:r>
              <a:rPr lang="zh-CN" altLang="en-US" dirty="0">
                <a:solidFill>
                  <a:srgbClr val="FF0000"/>
                </a:solidFill>
              </a:rPr>
              <a:t> </a:t>
            </a:r>
            <a:r>
              <a:rPr lang="en-US" altLang="zh-CN" dirty="0">
                <a:solidFill>
                  <a:srgbClr val="FF0000"/>
                </a:solidFill>
              </a:rPr>
              <a:t>used?</a:t>
            </a:r>
            <a:endParaRPr lang="en-US" dirty="0">
              <a:solidFill>
                <a:srgbClr val="FF0000"/>
              </a:solidFill>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87</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70656"/>
            <a:ext cx="10762906" cy="593725"/>
          </a:xfrm>
          <a:prstGeom prst="rect">
            <a:avLst/>
          </a:prstGeom>
        </p:spPr>
        <p:txBody>
          <a:bodyPr vert="horz" wrap="square" lIns="0" tIns="13334" rIns="0" bIns="0" rtlCol="0">
            <a:spAutoFit/>
          </a:bodyPr>
          <a:lstStyle/>
          <a:p>
            <a:pPr marL="12700">
              <a:lnSpc>
                <a:spcPct val="100000"/>
              </a:lnSpc>
              <a:spcBef>
                <a:spcPts val="100"/>
              </a:spcBef>
            </a:pPr>
            <a:r>
              <a:rPr sz="3780" spc="-5" dirty="0"/>
              <a:t>Caches, </a:t>
            </a:r>
            <a:r>
              <a:rPr sz="3780" spc="-10" dirty="0"/>
              <a:t>Cache-Coherence, </a:t>
            </a:r>
            <a:r>
              <a:rPr sz="3780" dirty="0"/>
              <a:t>and </a:t>
            </a:r>
            <a:r>
              <a:rPr sz="3780" spc="-20" dirty="0"/>
              <a:t>False</a:t>
            </a:r>
            <a:r>
              <a:rPr sz="3780" spc="-80" dirty="0"/>
              <a:t> </a:t>
            </a:r>
            <a:r>
              <a:rPr sz="3780" dirty="0"/>
              <a:t>Sharing</a:t>
            </a:r>
            <a:endParaRPr sz="3780"/>
          </a:p>
        </p:txBody>
      </p:sp>
      <p:sp>
        <p:nvSpPr>
          <p:cNvPr id="3" name="object 3"/>
          <p:cNvSpPr txBox="1"/>
          <p:nvPr/>
        </p:nvSpPr>
        <p:spPr>
          <a:xfrm>
            <a:off x="2401367" y="1601532"/>
            <a:ext cx="8295036" cy="4496435"/>
          </a:xfrm>
          <a:prstGeom prst="rect">
            <a:avLst/>
          </a:prstGeom>
        </p:spPr>
        <p:txBody>
          <a:bodyPr vert="horz" wrap="square" lIns="0" tIns="64007" rIns="0" bIns="0" rtlCol="0">
            <a:spAutoFit/>
          </a:bodyPr>
          <a:lstStyle/>
          <a:p>
            <a:pPr marL="241300" marR="581025" indent="-228600">
              <a:lnSpc>
                <a:spcPts val="3020"/>
              </a:lnSpc>
              <a:spcBef>
                <a:spcPts val="480"/>
              </a:spcBef>
              <a:buFont typeface="Arial" panose="020B0604020202020204"/>
              <a:buChar char="•"/>
              <a:tabLst>
                <a:tab pos="241300" algn="l"/>
              </a:tabLst>
            </a:pPr>
            <a:r>
              <a:rPr sz="2940" spc="-15" dirty="0">
                <a:latin typeface="Comic Sans MS" panose="030F0702030302020204" pitchFamily="66" charset="0"/>
                <a:cs typeface="Calibri" panose="020F0502020204030204"/>
              </a:rPr>
              <a:t>Recall that </a:t>
            </a:r>
            <a:r>
              <a:rPr sz="2940" spc="-5" dirty="0">
                <a:latin typeface="Comic Sans MS" panose="030F0702030302020204" pitchFamily="66" charset="0"/>
                <a:cs typeface="Calibri" panose="020F0502020204030204"/>
              </a:rPr>
              <a:t>chip </a:t>
            </a:r>
            <a:r>
              <a:rPr sz="2940" spc="-15" dirty="0">
                <a:latin typeface="Comic Sans MS" panose="030F0702030302020204" pitchFamily="66" charset="0"/>
                <a:cs typeface="Calibri" panose="020F0502020204030204"/>
              </a:rPr>
              <a:t>designers </a:t>
            </a:r>
            <a:r>
              <a:rPr sz="2940" spc="-25" dirty="0">
                <a:latin typeface="Comic Sans MS" panose="030F0702030302020204" pitchFamily="66" charset="0"/>
                <a:cs typeface="Calibri" panose="020F0502020204030204"/>
              </a:rPr>
              <a:t>have </a:t>
            </a:r>
            <a:r>
              <a:rPr sz="2940" spc="-5" dirty="0">
                <a:latin typeface="Comic Sans MS" panose="030F0702030302020204" pitchFamily="66" charset="0"/>
                <a:cs typeface="Calibri" panose="020F0502020204030204"/>
              </a:rPr>
              <a:t>added </a:t>
            </a:r>
            <a:r>
              <a:rPr sz="2940" spc="-10" dirty="0">
                <a:latin typeface="Comic Sans MS" panose="030F0702030302020204" pitchFamily="66" charset="0"/>
                <a:cs typeface="Calibri" panose="020F0502020204030204"/>
              </a:rPr>
              <a:t>blocks of  </a:t>
            </a:r>
            <a:r>
              <a:rPr sz="2940" spc="-15" dirty="0">
                <a:latin typeface="Comic Sans MS" panose="030F0702030302020204" pitchFamily="66" charset="0"/>
                <a:cs typeface="Calibri" panose="020F0502020204030204"/>
              </a:rPr>
              <a:t>relatively </a:t>
            </a:r>
            <a:r>
              <a:rPr sz="2940" spc="-30" dirty="0">
                <a:latin typeface="Comic Sans MS" panose="030F0702030302020204" pitchFamily="66" charset="0"/>
                <a:cs typeface="Calibri" panose="020F0502020204030204"/>
              </a:rPr>
              <a:t>fast </a:t>
            </a:r>
            <a:r>
              <a:rPr sz="2940" spc="-5" dirty="0">
                <a:latin typeface="Comic Sans MS" panose="030F0702030302020204" pitchFamily="66" charset="0"/>
                <a:cs typeface="Calibri" panose="020F0502020204030204"/>
              </a:rPr>
              <a:t>memory </a:t>
            </a:r>
            <a:r>
              <a:rPr sz="2940" spc="-20" dirty="0">
                <a:latin typeface="Comic Sans MS" panose="030F0702030302020204" pitchFamily="66" charset="0"/>
                <a:cs typeface="Calibri" panose="020F0502020204030204"/>
              </a:rPr>
              <a:t>to processors </a:t>
            </a:r>
            <a:r>
              <a:rPr sz="2940" spc="-10" dirty="0">
                <a:latin typeface="Comic Sans MS" panose="030F0702030302020204" pitchFamily="66" charset="0"/>
                <a:cs typeface="Calibri" panose="020F0502020204030204"/>
              </a:rPr>
              <a:t>called </a:t>
            </a:r>
            <a:r>
              <a:rPr sz="2940" spc="-10" dirty="0">
                <a:solidFill>
                  <a:srgbClr val="0000FF"/>
                </a:solidFill>
                <a:latin typeface="Comic Sans MS" panose="030F0702030302020204" pitchFamily="66" charset="0"/>
                <a:cs typeface="Calibri" panose="020F0502020204030204"/>
              </a:rPr>
              <a:t>cache  </a:t>
            </a:r>
            <a:r>
              <a:rPr sz="2940" spc="-30" dirty="0">
                <a:solidFill>
                  <a:srgbClr val="0000FF"/>
                </a:solidFill>
                <a:latin typeface="Comic Sans MS" panose="030F0702030302020204" pitchFamily="66" charset="0"/>
                <a:cs typeface="Calibri" panose="020F0502020204030204"/>
              </a:rPr>
              <a:t>memory</a:t>
            </a:r>
            <a:r>
              <a:rPr sz="2940" spc="-3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35"/>
              </a:spcBef>
              <a:buFont typeface="Arial" panose="020B0604020202020204"/>
              <a:buChar char="•"/>
            </a:pPr>
            <a:endParaRPr sz="4305" dirty="0">
              <a:latin typeface="Comic Sans MS" panose="030F0702030302020204" pitchFamily="66" charset="0"/>
              <a:cs typeface="Calibri" panose="020F0502020204030204"/>
            </a:endParaRPr>
          </a:p>
          <a:p>
            <a:pPr marL="241300" marR="15240" indent="-228600">
              <a:lnSpc>
                <a:spcPts val="3020"/>
              </a:lnSpc>
              <a:buFont typeface="Arial" panose="020B0604020202020204"/>
              <a:buChar char="•"/>
              <a:tabLst>
                <a:tab pos="241300" algn="l"/>
              </a:tabLst>
            </a:pPr>
            <a:r>
              <a:rPr sz="2940" spc="-10" dirty="0">
                <a:latin typeface="Comic Sans MS" panose="030F0702030302020204" pitchFamily="66" charset="0"/>
                <a:cs typeface="Calibri" panose="020F0502020204030204"/>
              </a:rPr>
              <a:t>The use </a:t>
            </a:r>
            <a:r>
              <a:rPr sz="2940" spc="-5" dirty="0">
                <a:latin typeface="Comic Sans MS" panose="030F0702030302020204" pitchFamily="66" charset="0"/>
                <a:cs typeface="Calibri" panose="020F0502020204030204"/>
              </a:rPr>
              <a:t>of </a:t>
            </a:r>
            <a:r>
              <a:rPr sz="2940" spc="-10" dirty="0">
                <a:latin typeface="Comic Sans MS" panose="030F0702030302020204" pitchFamily="66" charset="0"/>
                <a:cs typeface="Calibri" panose="020F0502020204030204"/>
              </a:rPr>
              <a:t>cache </a:t>
            </a:r>
            <a:r>
              <a:rPr sz="2940" spc="-5" dirty="0">
                <a:latin typeface="Comic Sans MS" panose="030F0702030302020204" pitchFamily="66" charset="0"/>
                <a:cs typeface="Calibri" panose="020F0502020204030204"/>
              </a:rPr>
              <a:t>memory </a:t>
            </a:r>
            <a:r>
              <a:rPr sz="2940" spc="-10" dirty="0">
                <a:latin typeface="Comic Sans MS" panose="030F0702030302020204" pitchFamily="66" charset="0"/>
                <a:cs typeface="Calibri" panose="020F0502020204030204"/>
              </a:rPr>
              <a:t>can </a:t>
            </a:r>
            <a:r>
              <a:rPr sz="2940" spc="-25" dirty="0">
                <a:latin typeface="Comic Sans MS" panose="030F0702030302020204" pitchFamily="66" charset="0"/>
                <a:cs typeface="Calibri" panose="020F0502020204030204"/>
              </a:rPr>
              <a:t>have </a:t>
            </a:r>
            <a:r>
              <a:rPr sz="2940" spc="-5" dirty="0">
                <a:solidFill>
                  <a:srgbClr val="FF0000"/>
                </a:solidFill>
                <a:latin typeface="Comic Sans MS" panose="030F0702030302020204" pitchFamily="66" charset="0"/>
                <a:cs typeface="Calibri" panose="020F0502020204030204"/>
              </a:rPr>
              <a:t>a </a:t>
            </a:r>
            <a:r>
              <a:rPr sz="2940" spc="-15" dirty="0">
                <a:solidFill>
                  <a:srgbClr val="FF0000"/>
                </a:solidFill>
                <a:latin typeface="Comic Sans MS" panose="030F0702030302020204" pitchFamily="66" charset="0"/>
                <a:cs typeface="Calibri" panose="020F0502020204030204"/>
              </a:rPr>
              <a:t>huge </a:t>
            </a:r>
            <a:r>
              <a:rPr sz="2940" spc="-10" dirty="0">
                <a:solidFill>
                  <a:srgbClr val="FF0000"/>
                </a:solidFill>
                <a:latin typeface="Comic Sans MS" panose="030F0702030302020204" pitchFamily="66" charset="0"/>
                <a:cs typeface="Calibri" panose="020F0502020204030204"/>
              </a:rPr>
              <a:t>impact </a:t>
            </a:r>
            <a:r>
              <a:rPr sz="2940" spc="-10" dirty="0">
                <a:latin typeface="Comic Sans MS" panose="030F0702030302020204" pitchFamily="66" charset="0"/>
                <a:cs typeface="Calibri" panose="020F0502020204030204"/>
              </a:rPr>
              <a:t>on  </a:t>
            </a:r>
            <a:r>
              <a:rPr sz="2940" spc="-20" dirty="0">
                <a:latin typeface="Comic Sans MS" panose="030F0702030302020204" pitchFamily="66" charset="0"/>
                <a:cs typeface="Calibri" panose="020F0502020204030204"/>
              </a:rPr>
              <a:t>shared-memory.</a:t>
            </a:r>
            <a:endParaRPr sz="2940" dirty="0">
              <a:latin typeface="Comic Sans MS" panose="030F0702030302020204" pitchFamily="66" charset="0"/>
              <a:cs typeface="Calibri" panose="020F0502020204030204"/>
            </a:endParaRPr>
          </a:p>
          <a:p>
            <a:pPr>
              <a:lnSpc>
                <a:spcPct val="100000"/>
              </a:lnSpc>
              <a:spcBef>
                <a:spcPts val="35"/>
              </a:spcBef>
              <a:buFont typeface="Arial" panose="020B0604020202020204"/>
              <a:buChar char="•"/>
            </a:pPr>
            <a:endParaRPr sz="4305" dirty="0">
              <a:latin typeface="Comic Sans MS" panose="030F0702030302020204" pitchFamily="66" charset="0"/>
              <a:cs typeface="Calibri" panose="020F0502020204030204"/>
            </a:endParaRPr>
          </a:p>
          <a:p>
            <a:pPr marL="241300" marR="5080" indent="-228600">
              <a:lnSpc>
                <a:spcPts val="3020"/>
              </a:lnSpc>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0000FF"/>
                </a:solidFill>
                <a:latin typeface="Comic Sans MS" panose="030F0702030302020204" pitchFamily="66" charset="0"/>
                <a:cs typeface="Calibri" panose="020F0502020204030204"/>
              </a:rPr>
              <a:t>write-miss </a:t>
            </a:r>
            <a:r>
              <a:rPr sz="2940" spc="-15" dirty="0">
                <a:latin typeface="Comic Sans MS" panose="030F0702030302020204" pitchFamily="66" charset="0"/>
                <a:cs typeface="Calibri" panose="020F0502020204030204"/>
              </a:rPr>
              <a:t>occurs </a:t>
            </a:r>
            <a:r>
              <a:rPr sz="2940" spc="-5" dirty="0">
                <a:latin typeface="Comic Sans MS" panose="030F0702030302020204" pitchFamily="66" charset="0"/>
                <a:cs typeface="Calibri" panose="020F0502020204030204"/>
              </a:rPr>
              <a:t>when a </a:t>
            </a:r>
            <a:r>
              <a:rPr sz="2940" spc="-20" dirty="0">
                <a:latin typeface="Comic Sans MS" panose="030F0702030302020204" pitchFamily="66" charset="0"/>
                <a:cs typeface="Calibri" panose="020F0502020204030204"/>
              </a:rPr>
              <a:t>core </a:t>
            </a:r>
            <a:r>
              <a:rPr sz="2940" spc="-5" dirty="0">
                <a:latin typeface="Comic Sans MS" panose="030F0702030302020204" pitchFamily="66" charset="0"/>
                <a:cs typeface="Calibri" panose="020F0502020204030204"/>
              </a:rPr>
              <a:t>tries </a:t>
            </a:r>
            <a:r>
              <a:rPr sz="2940" spc="-20" dirty="0">
                <a:latin typeface="Comic Sans MS" panose="030F0702030302020204" pitchFamily="66" charset="0"/>
                <a:cs typeface="Calibri" panose="020F0502020204030204"/>
              </a:rPr>
              <a:t>to </a:t>
            </a:r>
            <a:r>
              <a:rPr sz="2940" spc="-15" dirty="0">
                <a:latin typeface="Comic Sans MS" panose="030F0702030302020204" pitchFamily="66" charset="0"/>
                <a:cs typeface="Calibri" panose="020F0502020204030204"/>
              </a:rPr>
              <a:t>update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variable </a:t>
            </a:r>
            <a:r>
              <a:rPr sz="2940" spc="-20" dirty="0">
                <a:latin typeface="Comic Sans MS" panose="030F0702030302020204" pitchFamily="66" charset="0"/>
                <a:cs typeface="Calibri" panose="020F0502020204030204"/>
              </a:rPr>
              <a:t>that’s </a:t>
            </a:r>
            <a:r>
              <a:rPr sz="2940" spc="-10" dirty="0">
                <a:solidFill>
                  <a:srgbClr val="0000FF"/>
                </a:solidFill>
                <a:latin typeface="Comic Sans MS" panose="030F0702030302020204" pitchFamily="66" charset="0"/>
                <a:cs typeface="Calibri" panose="020F0502020204030204"/>
              </a:rPr>
              <a:t>not </a:t>
            </a:r>
            <a:r>
              <a:rPr sz="2940" spc="-5" dirty="0">
                <a:solidFill>
                  <a:srgbClr val="0000FF"/>
                </a:solidFill>
                <a:latin typeface="Comic Sans MS" panose="030F0702030302020204" pitchFamily="66" charset="0"/>
                <a:cs typeface="Calibri" panose="020F0502020204030204"/>
              </a:rPr>
              <a:t>in cache</a:t>
            </a:r>
            <a:r>
              <a:rPr sz="2940" spc="-5" dirty="0">
                <a:latin typeface="Comic Sans MS" panose="030F0702030302020204" pitchFamily="66" charset="0"/>
                <a:cs typeface="Calibri" panose="020F0502020204030204"/>
              </a:rPr>
              <a:t>, and it </a:t>
            </a:r>
            <a:r>
              <a:rPr sz="2940" spc="-10" dirty="0">
                <a:latin typeface="Comic Sans MS" panose="030F0702030302020204" pitchFamily="66" charset="0"/>
                <a:cs typeface="Calibri" panose="020F0502020204030204"/>
              </a:rPr>
              <a:t>has </a:t>
            </a:r>
            <a:r>
              <a:rPr sz="2940" spc="-15"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access main  </a:t>
            </a:r>
            <a:r>
              <a:rPr sz="2940" spc="-35" dirty="0">
                <a:latin typeface="Comic Sans MS" panose="030F0702030302020204" pitchFamily="66" charset="0"/>
                <a:cs typeface="Calibri" panose="020F0502020204030204"/>
              </a:rPr>
              <a:t>memory.</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70656"/>
            <a:ext cx="10762906" cy="593725"/>
          </a:xfrm>
          <a:prstGeom prst="rect">
            <a:avLst/>
          </a:prstGeom>
        </p:spPr>
        <p:txBody>
          <a:bodyPr vert="horz" wrap="square" lIns="0" tIns="13334" rIns="0" bIns="0" rtlCol="0">
            <a:spAutoFit/>
          </a:bodyPr>
          <a:lstStyle/>
          <a:p>
            <a:pPr marL="12700">
              <a:lnSpc>
                <a:spcPct val="100000"/>
              </a:lnSpc>
              <a:spcBef>
                <a:spcPts val="100"/>
              </a:spcBef>
            </a:pPr>
            <a:r>
              <a:rPr sz="3780" spc="-10" dirty="0"/>
              <a:t>Pthreads </a:t>
            </a:r>
            <a:r>
              <a:rPr sz="3780" spc="-15" dirty="0"/>
              <a:t>matrix-vector</a:t>
            </a:r>
            <a:r>
              <a:rPr sz="3780" spc="35" dirty="0"/>
              <a:t> </a:t>
            </a:r>
            <a:r>
              <a:rPr sz="3780" spc="-10" dirty="0"/>
              <a:t>multiplication</a:t>
            </a:r>
            <a:endParaRPr sz="3780"/>
          </a:p>
        </p:txBody>
      </p:sp>
      <p:sp>
        <p:nvSpPr>
          <p:cNvPr id="3" name="object 3"/>
          <p:cNvSpPr/>
          <p:nvPr/>
        </p:nvSpPr>
        <p:spPr>
          <a:xfrm>
            <a:off x="2645909" y="1254566"/>
            <a:ext cx="7458194" cy="4601732"/>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893161" y="3261207"/>
            <a:ext cx="7320915" cy="1877568"/>
          </a:xfrm>
          <a:custGeom>
            <a:avLst/>
            <a:gdLst/>
            <a:ahLst/>
            <a:cxnLst/>
            <a:rect l="l" t="t" r="r" b="b"/>
            <a:pathLst>
              <a:path w="6972300" h="1788160">
                <a:moveTo>
                  <a:pt x="6674358" y="0"/>
                </a:moveTo>
                <a:lnTo>
                  <a:pt x="297942" y="0"/>
                </a:lnTo>
                <a:lnTo>
                  <a:pt x="249603" y="3898"/>
                </a:lnTo>
                <a:lnTo>
                  <a:pt x="203752" y="15185"/>
                </a:lnTo>
                <a:lnTo>
                  <a:pt x="161001" y="33247"/>
                </a:lnTo>
                <a:lnTo>
                  <a:pt x="121962" y="57473"/>
                </a:lnTo>
                <a:lnTo>
                  <a:pt x="87249" y="87249"/>
                </a:lnTo>
                <a:lnTo>
                  <a:pt x="57473" y="121962"/>
                </a:lnTo>
                <a:lnTo>
                  <a:pt x="33247" y="161001"/>
                </a:lnTo>
                <a:lnTo>
                  <a:pt x="15185" y="203752"/>
                </a:lnTo>
                <a:lnTo>
                  <a:pt x="3898" y="249603"/>
                </a:lnTo>
                <a:lnTo>
                  <a:pt x="0" y="297941"/>
                </a:lnTo>
                <a:lnTo>
                  <a:pt x="0" y="1489710"/>
                </a:lnTo>
                <a:lnTo>
                  <a:pt x="3898" y="1538048"/>
                </a:lnTo>
                <a:lnTo>
                  <a:pt x="15185" y="1583899"/>
                </a:lnTo>
                <a:lnTo>
                  <a:pt x="33247" y="1626650"/>
                </a:lnTo>
                <a:lnTo>
                  <a:pt x="57473" y="1665689"/>
                </a:lnTo>
                <a:lnTo>
                  <a:pt x="87248" y="1700402"/>
                </a:lnTo>
                <a:lnTo>
                  <a:pt x="121962" y="1730178"/>
                </a:lnTo>
                <a:lnTo>
                  <a:pt x="161001" y="1754404"/>
                </a:lnTo>
                <a:lnTo>
                  <a:pt x="203752" y="1772466"/>
                </a:lnTo>
                <a:lnTo>
                  <a:pt x="249603" y="1783753"/>
                </a:lnTo>
                <a:lnTo>
                  <a:pt x="297942" y="1787652"/>
                </a:lnTo>
                <a:lnTo>
                  <a:pt x="6674358" y="1787652"/>
                </a:lnTo>
                <a:lnTo>
                  <a:pt x="6722696" y="1783753"/>
                </a:lnTo>
                <a:lnTo>
                  <a:pt x="6768547" y="1772466"/>
                </a:lnTo>
                <a:lnTo>
                  <a:pt x="6811298" y="1754404"/>
                </a:lnTo>
                <a:lnTo>
                  <a:pt x="6850337" y="1730178"/>
                </a:lnTo>
                <a:lnTo>
                  <a:pt x="6885051" y="1700403"/>
                </a:lnTo>
                <a:lnTo>
                  <a:pt x="6914826" y="1665689"/>
                </a:lnTo>
                <a:lnTo>
                  <a:pt x="6939052" y="1626650"/>
                </a:lnTo>
                <a:lnTo>
                  <a:pt x="6957114" y="1583899"/>
                </a:lnTo>
                <a:lnTo>
                  <a:pt x="6968401" y="1538048"/>
                </a:lnTo>
                <a:lnTo>
                  <a:pt x="6972300" y="1489710"/>
                </a:lnTo>
                <a:lnTo>
                  <a:pt x="6972300" y="297941"/>
                </a:lnTo>
                <a:lnTo>
                  <a:pt x="6968401" y="249603"/>
                </a:lnTo>
                <a:lnTo>
                  <a:pt x="6957114" y="203752"/>
                </a:lnTo>
                <a:lnTo>
                  <a:pt x="6939052" y="161001"/>
                </a:lnTo>
                <a:lnTo>
                  <a:pt x="6914826" y="121962"/>
                </a:lnTo>
                <a:lnTo>
                  <a:pt x="6885051" y="87248"/>
                </a:lnTo>
                <a:lnTo>
                  <a:pt x="6850337" y="57473"/>
                </a:lnTo>
                <a:lnTo>
                  <a:pt x="6811298" y="33247"/>
                </a:lnTo>
                <a:lnTo>
                  <a:pt x="6768547" y="15185"/>
                </a:lnTo>
                <a:lnTo>
                  <a:pt x="6722696" y="3898"/>
                </a:lnTo>
                <a:lnTo>
                  <a:pt x="6674358" y="0"/>
                </a:lnTo>
                <a:close/>
              </a:path>
            </a:pathLst>
          </a:custGeom>
          <a:solidFill>
            <a:srgbClr val="FF0000">
              <a:alpha val="5882"/>
            </a:srgbClr>
          </a:solidFill>
        </p:spPr>
        <p:txBody>
          <a:bodyPr wrap="square" lIns="0" tIns="0" rIns="0" bIns="0" rtlCol="0"/>
          <a:lstStyle/>
          <a:p>
            <a:endParaRPr sz="2310"/>
          </a:p>
        </p:txBody>
      </p:sp>
      <p:sp>
        <p:nvSpPr>
          <p:cNvPr id="5" name="object 5"/>
          <p:cNvSpPr/>
          <p:nvPr/>
        </p:nvSpPr>
        <p:spPr>
          <a:xfrm>
            <a:off x="2893161" y="3261207"/>
            <a:ext cx="7320915" cy="1877568"/>
          </a:xfrm>
          <a:custGeom>
            <a:avLst/>
            <a:gdLst/>
            <a:ahLst/>
            <a:cxnLst/>
            <a:rect l="l" t="t" r="r" b="b"/>
            <a:pathLst>
              <a:path w="6972300" h="1788160">
                <a:moveTo>
                  <a:pt x="0" y="297941"/>
                </a:moveTo>
                <a:lnTo>
                  <a:pt x="3898" y="249603"/>
                </a:lnTo>
                <a:lnTo>
                  <a:pt x="15185" y="203752"/>
                </a:lnTo>
                <a:lnTo>
                  <a:pt x="33247" y="161001"/>
                </a:lnTo>
                <a:lnTo>
                  <a:pt x="57473" y="121962"/>
                </a:lnTo>
                <a:lnTo>
                  <a:pt x="87249" y="87249"/>
                </a:lnTo>
                <a:lnTo>
                  <a:pt x="121962" y="57473"/>
                </a:lnTo>
                <a:lnTo>
                  <a:pt x="161001" y="33247"/>
                </a:lnTo>
                <a:lnTo>
                  <a:pt x="203752" y="15185"/>
                </a:lnTo>
                <a:lnTo>
                  <a:pt x="249603" y="3898"/>
                </a:lnTo>
                <a:lnTo>
                  <a:pt x="297942" y="0"/>
                </a:lnTo>
                <a:lnTo>
                  <a:pt x="6674358" y="0"/>
                </a:lnTo>
                <a:lnTo>
                  <a:pt x="6722696" y="3898"/>
                </a:lnTo>
                <a:lnTo>
                  <a:pt x="6768547" y="15185"/>
                </a:lnTo>
                <a:lnTo>
                  <a:pt x="6811298" y="33247"/>
                </a:lnTo>
                <a:lnTo>
                  <a:pt x="6850337" y="57473"/>
                </a:lnTo>
                <a:lnTo>
                  <a:pt x="6885051" y="87248"/>
                </a:lnTo>
                <a:lnTo>
                  <a:pt x="6914826" y="121962"/>
                </a:lnTo>
                <a:lnTo>
                  <a:pt x="6939052" y="161001"/>
                </a:lnTo>
                <a:lnTo>
                  <a:pt x="6957114" y="203752"/>
                </a:lnTo>
                <a:lnTo>
                  <a:pt x="6968401" y="249603"/>
                </a:lnTo>
                <a:lnTo>
                  <a:pt x="6972300" y="297941"/>
                </a:lnTo>
                <a:lnTo>
                  <a:pt x="6972300" y="1489710"/>
                </a:lnTo>
                <a:lnTo>
                  <a:pt x="6968401" y="1538048"/>
                </a:lnTo>
                <a:lnTo>
                  <a:pt x="6957114" y="1583899"/>
                </a:lnTo>
                <a:lnTo>
                  <a:pt x="6939052" y="1626650"/>
                </a:lnTo>
                <a:lnTo>
                  <a:pt x="6914826" y="1665689"/>
                </a:lnTo>
                <a:lnTo>
                  <a:pt x="6885051" y="1700403"/>
                </a:lnTo>
                <a:lnTo>
                  <a:pt x="6850337" y="1730178"/>
                </a:lnTo>
                <a:lnTo>
                  <a:pt x="6811298" y="1754404"/>
                </a:lnTo>
                <a:lnTo>
                  <a:pt x="6768547" y="1772466"/>
                </a:lnTo>
                <a:lnTo>
                  <a:pt x="6722696" y="1783753"/>
                </a:lnTo>
                <a:lnTo>
                  <a:pt x="6674358" y="1787652"/>
                </a:lnTo>
                <a:lnTo>
                  <a:pt x="297942" y="1787652"/>
                </a:lnTo>
                <a:lnTo>
                  <a:pt x="249603" y="1783753"/>
                </a:lnTo>
                <a:lnTo>
                  <a:pt x="203752" y="1772466"/>
                </a:lnTo>
                <a:lnTo>
                  <a:pt x="161001" y="1754404"/>
                </a:lnTo>
                <a:lnTo>
                  <a:pt x="121962" y="1730178"/>
                </a:lnTo>
                <a:lnTo>
                  <a:pt x="87248" y="1700402"/>
                </a:lnTo>
                <a:lnTo>
                  <a:pt x="57473" y="1665689"/>
                </a:lnTo>
                <a:lnTo>
                  <a:pt x="33247" y="1626650"/>
                </a:lnTo>
                <a:lnTo>
                  <a:pt x="15185" y="1583899"/>
                </a:lnTo>
                <a:lnTo>
                  <a:pt x="3898" y="1538048"/>
                </a:lnTo>
                <a:lnTo>
                  <a:pt x="0" y="1489710"/>
                </a:lnTo>
                <a:lnTo>
                  <a:pt x="0" y="297941"/>
                </a:lnTo>
                <a:close/>
              </a:path>
            </a:pathLst>
          </a:custGeom>
          <a:ln w="12192">
            <a:solidFill>
              <a:srgbClr val="41709C"/>
            </a:solidFill>
          </a:ln>
        </p:spPr>
        <p:txBody>
          <a:bodyPr wrap="square" lIns="0" tIns="0" rIns="0" bIns="0" rtlCol="0"/>
          <a:lstStyle/>
          <a:p>
            <a:endParaRPr sz="2310"/>
          </a:p>
        </p:txBody>
      </p:sp>
      <p:sp>
        <p:nvSpPr>
          <p:cNvPr id="6" name="object 6"/>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88</a:t>
            </a:fld>
            <a:endParaRPr sz="1260">
              <a:latin typeface="Calibri" panose="020F0502020204030204"/>
              <a:cs typeface="Calibri" panose="020F0502020204030204"/>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50971"/>
            <a:ext cx="10762906" cy="1236980"/>
          </a:xfrm>
          <a:prstGeom prst="rect">
            <a:avLst/>
          </a:prstGeom>
        </p:spPr>
        <p:txBody>
          <a:bodyPr vert="horz" wrap="square" lIns="0" tIns="129562" rIns="0" bIns="0" rtlCol="0">
            <a:spAutoFit/>
          </a:bodyPr>
          <a:lstStyle/>
          <a:p>
            <a:pPr marL="12700" marR="5080">
              <a:lnSpc>
                <a:spcPts val="4320"/>
              </a:lnSpc>
              <a:spcBef>
                <a:spcPts val="640"/>
              </a:spcBef>
            </a:pPr>
            <a:r>
              <a:rPr spc="-5" dirty="0"/>
              <a:t>Run-times and </a:t>
            </a:r>
            <a:r>
              <a:rPr spc="-10" dirty="0"/>
              <a:t>efficiencies </a:t>
            </a:r>
            <a:r>
              <a:rPr spc="-5" dirty="0"/>
              <a:t>of </a:t>
            </a:r>
            <a:r>
              <a:rPr spc="-10" dirty="0"/>
              <a:t>matrix-</a:t>
            </a:r>
            <a:r>
              <a:rPr spc="-20" dirty="0"/>
              <a:t>vector</a:t>
            </a:r>
            <a:r>
              <a:rPr spc="-15" dirty="0"/>
              <a:t> </a:t>
            </a:r>
            <a:r>
              <a:rPr spc="-10" dirty="0"/>
              <a:t>multiplication</a:t>
            </a:r>
          </a:p>
        </p:txBody>
      </p:sp>
      <p:sp>
        <p:nvSpPr>
          <p:cNvPr id="3" name="object 3"/>
          <p:cNvSpPr/>
          <p:nvPr/>
        </p:nvSpPr>
        <p:spPr>
          <a:xfrm>
            <a:off x="2192078" y="2326539"/>
            <a:ext cx="8287136" cy="2543970"/>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7266240" y="1512322"/>
            <a:ext cx="2865692" cy="399415"/>
          </a:xfrm>
          <a:prstGeom prst="rect">
            <a:avLst/>
          </a:prstGeom>
        </p:spPr>
        <p:txBody>
          <a:bodyPr vert="horz" wrap="square" lIns="0" tIns="13334" rIns="0" bIns="0" rtlCol="0">
            <a:spAutoFit/>
          </a:bodyPr>
          <a:lstStyle/>
          <a:p>
            <a:pPr marL="12700">
              <a:lnSpc>
                <a:spcPct val="100000"/>
              </a:lnSpc>
              <a:spcBef>
                <a:spcPts val="100"/>
              </a:spcBef>
            </a:pPr>
            <a:r>
              <a:rPr sz="2520" spc="-5" dirty="0">
                <a:latin typeface="Calibri" panose="020F0502020204030204"/>
                <a:cs typeface="Calibri" panose="020F0502020204030204"/>
              </a:rPr>
              <a:t>(times </a:t>
            </a:r>
            <a:r>
              <a:rPr sz="2520" spc="-15" dirty="0">
                <a:latin typeface="Calibri" panose="020F0502020204030204"/>
                <a:cs typeface="Calibri" panose="020F0502020204030204"/>
              </a:rPr>
              <a:t>are </a:t>
            </a:r>
            <a:r>
              <a:rPr sz="2520" dirty="0">
                <a:latin typeface="Calibri" panose="020F0502020204030204"/>
                <a:cs typeface="Calibri" panose="020F0502020204030204"/>
              </a:rPr>
              <a:t>in</a:t>
            </a:r>
            <a:r>
              <a:rPr sz="2520" spc="-50" dirty="0">
                <a:latin typeface="Calibri" panose="020F0502020204030204"/>
                <a:cs typeface="Calibri" panose="020F0502020204030204"/>
              </a:rPr>
              <a:t> </a:t>
            </a:r>
            <a:r>
              <a:rPr sz="2520" spc="-10" dirty="0">
                <a:latin typeface="Calibri" panose="020F0502020204030204"/>
                <a:cs typeface="Calibri" panose="020F0502020204030204"/>
              </a:rPr>
              <a:t>seconds)</a:t>
            </a:r>
            <a:endParaRPr sz="2520">
              <a:latin typeface="Calibri" panose="020F0502020204030204"/>
              <a:cs typeface="Calibri" panose="020F0502020204030204"/>
            </a:endParaRPr>
          </a:p>
        </p:txBody>
      </p:sp>
      <p:sp>
        <p:nvSpPr>
          <p:cNvPr id="5" name="object 5"/>
          <p:cNvSpPr txBox="1"/>
          <p:nvPr/>
        </p:nvSpPr>
        <p:spPr>
          <a:xfrm>
            <a:off x="2482336" y="5186648"/>
            <a:ext cx="7792307" cy="1305560"/>
          </a:xfrm>
          <a:prstGeom prst="rect">
            <a:avLst/>
          </a:prstGeom>
        </p:spPr>
        <p:txBody>
          <a:bodyPr vert="horz" wrap="square" lIns="0" tIns="13334" rIns="0" bIns="0" rtlCol="0">
            <a:spAutoFit/>
          </a:bodyPr>
          <a:lstStyle/>
          <a:p>
            <a:pPr marL="355600" marR="612775" indent="-342900">
              <a:lnSpc>
                <a:spcPct val="100000"/>
              </a:lnSpc>
              <a:spcBef>
                <a:spcPts val="100"/>
              </a:spcBef>
              <a:buFont typeface="Arial" panose="020B0604020202020204"/>
              <a:buChar char="•"/>
              <a:tabLst>
                <a:tab pos="354965" algn="l"/>
                <a:tab pos="355600" algn="l"/>
              </a:tabLst>
            </a:pPr>
            <a:r>
              <a:rPr sz="2100" dirty="0">
                <a:solidFill>
                  <a:srgbClr val="C00000"/>
                </a:solidFill>
                <a:latin typeface="Calibri" panose="020F0502020204030204"/>
                <a:cs typeface="Calibri" panose="020F0502020204030204"/>
              </a:rPr>
              <a:t>With 1 </a:t>
            </a:r>
            <a:r>
              <a:rPr sz="2100" spc="-5" dirty="0">
                <a:solidFill>
                  <a:srgbClr val="C00000"/>
                </a:solidFill>
                <a:latin typeface="Calibri" panose="020F0502020204030204"/>
                <a:cs typeface="Calibri" panose="020F0502020204030204"/>
              </a:rPr>
              <a:t>thread, </a:t>
            </a:r>
            <a:r>
              <a:rPr sz="2100" dirty="0">
                <a:solidFill>
                  <a:srgbClr val="C00000"/>
                </a:solidFill>
                <a:latin typeface="Calibri" panose="020F0502020204030204"/>
                <a:cs typeface="Calibri" panose="020F0502020204030204"/>
              </a:rPr>
              <a:t>8M*8 </a:t>
            </a:r>
            <a:r>
              <a:rPr sz="2100" spc="-10" dirty="0">
                <a:solidFill>
                  <a:srgbClr val="C00000"/>
                </a:solidFill>
                <a:latin typeface="Calibri" panose="020F0502020204030204"/>
                <a:cs typeface="Calibri" panose="020F0502020204030204"/>
              </a:rPr>
              <a:t>requires </a:t>
            </a:r>
            <a:r>
              <a:rPr sz="2100" dirty="0">
                <a:solidFill>
                  <a:srgbClr val="C00000"/>
                </a:solidFill>
                <a:latin typeface="Calibri" panose="020F0502020204030204"/>
                <a:cs typeface="Calibri" panose="020F0502020204030204"/>
              </a:rPr>
              <a:t>14% </a:t>
            </a:r>
            <a:r>
              <a:rPr sz="2100" spc="-10" dirty="0">
                <a:solidFill>
                  <a:srgbClr val="C00000"/>
                </a:solidFill>
                <a:latin typeface="Calibri" panose="020F0502020204030204"/>
                <a:cs typeface="Calibri" panose="020F0502020204030204"/>
              </a:rPr>
              <a:t>more </a:t>
            </a:r>
            <a:r>
              <a:rPr sz="2100" spc="-5" dirty="0">
                <a:solidFill>
                  <a:srgbClr val="C00000"/>
                </a:solidFill>
                <a:latin typeface="Calibri" panose="020F0502020204030204"/>
                <a:cs typeface="Calibri" panose="020F0502020204030204"/>
              </a:rPr>
              <a:t>time </a:t>
            </a:r>
            <a:r>
              <a:rPr sz="2100" dirty="0">
                <a:solidFill>
                  <a:srgbClr val="C00000"/>
                </a:solidFill>
                <a:latin typeface="Calibri" panose="020F0502020204030204"/>
                <a:cs typeface="Calibri" panose="020F0502020204030204"/>
              </a:rPr>
              <a:t>than 8K*8K, and  8*8M </a:t>
            </a:r>
            <a:r>
              <a:rPr sz="2100" spc="-10" dirty="0">
                <a:solidFill>
                  <a:srgbClr val="C00000"/>
                </a:solidFill>
                <a:latin typeface="Calibri" panose="020F0502020204030204"/>
                <a:cs typeface="Calibri" panose="020F0502020204030204"/>
              </a:rPr>
              <a:t>requires </a:t>
            </a:r>
            <a:r>
              <a:rPr sz="2100" dirty="0">
                <a:solidFill>
                  <a:srgbClr val="C00000"/>
                </a:solidFill>
                <a:latin typeface="Calibri" panose="020F0502020204030204"/>
                <a:cs typeface="Calibri" panose="020F0502020204030204"/>
              </a:rPr>
              <a:t>28% </a:t>
            </a:r>
            <a:r>
              <a:rPr sz="2100" spc="-10" dirty="0">
                <a:solidFill>
                  <a:srgbClr val="C00000"/>
                </a:solidFill>
                <a:latin typeface="Calibri" panose="020F0502020204030204"/>
                <a:cs typeface="Calibri" panose="020F0502020204030204"/>
              </a:rPr>
              <a:t>more </a:t>
            </a:r>
            <a:r>
              <a:rPr sz="2100" spc="-5" dirty="0">
                <a:solidFill>
                  <a:srgbClr val="C00000"/>
                </a:solidFill>
                <a:latin typeface="Calibri" panose="020F0502020204030204"/>
                <a:cs typeface="Calibri" panose="020F0502020204030204"/>
              </a:rPr>
              <a:t>time </a:t>
            </a:r>
            <a:r>
              <a:rPr sz="2100" dirty="0">
                <a:solidFill>
                  <a:srgbClr val="C00000"/>
                </a:solidFill>
                <a:latin typeface="Calibri" panose="020F0502020204030204"/>
                <a:cs typeface="Calibri" panose="020F0502020204030204"/>
              </a:rPr>
              <a:t>than 8K*8K.</a:t>
            </a:r>
            <a:endParaRPr sz="2100">
              <a:latin typeface="Calibri" panose="020F0502020204030204"/>
              <a:cs typeface="Calibri" panose="020F0502020204030204"/>
            </a:endParaRPr>
          </a:p>
          <a:p>
            <a:pPr marL="355600" indent="-342900">
              <a:lnSpc>
                <a:spcPct val="100000"/>
              </a:lnSpc>
              <a:spcBef>
                <a:spcPts val="5"/>
              </a:spcBef>
              <a:buFont typeface="Arial" panose="020B0604020202020204"/>
              <a:buChar char="•"/>
              <a:tabLst>
                <a:tab pos="354965" algn="l"/>
                <a:tab pos="355600" algn="l"/>
              </a:tabLst>
            </a:pPr>
            <a:r>
              <a:rPr sz="2100" spc="-5" dirty="0">
                <a:solidFill>
                  <a:srgbClr val="C00000"/>
                </a:solidFill>
                <a:latin typeface="Calibri" panose="020F0502020204030204"/>
                <a:cs typeface="Calibri" panose="020F0502020204030204"/>
              </a:rPr>
              <a:t>The </a:t>
            </a:r>
            <a:r>
              <a:rPr sz="2100" spc="-10" dirty="0">
                <a:solidFill>
                  <a:srgbClr val="C00000"/>
                </a:solidFill>
                <a:latin typeface="Calibri" panose="020F0502020204030204"/>
                <a:cs typeface="Calibri" panose="020F0502020204030204"/>
              </a:rPr>
              <a:t>above differences are </a:t>
            </a:r>
            <a:r>
              <a:rPr sz="2100" spc="-5" dirty="0">
                <a:solidFill>
                  <a:srgbClr val="C00000"/>
                </a:solidFill>
                <a:latin typeface="Calibri" panose="020F0502020204030204"/>
                <a:cs typeface="Calibri" panose="020F0502020204030204"/>
              </a:rPr>
              <a:t>partially </a:t>
            </a:r>
            <a:r>
              <a:rPr sz="2100" spc="-10" dirty="0">
                <a:solidFill>
                  <a:srgbClr val="C00000"/>
                </a:solidFill>
                <a:latin typeface="Calibri" panose="020F0502020204030204"/>
                <a:cs typeface="Calibri" panose="020F0502020204030204"/>
              </a:rPr>
              <a:t>attributed to </a:t>
            </a:r>
            <a:r>
              <a:rPr sz="2100" dirty="0">
                <a:solidFill>
                  <a:srgbClr val="C00000"/>
                </a:solidFill>
                <a:latin typeface="Calibri" panose="020F0502020204030204"/>
                <a:cs typeface="Calibri" panose="020F0502020204030204"/>
              </a:rPr>
              <a:t>cache</a:t>
            </a:r>
            <a:r>
              <a:rPr sz="2100" spc="80" dirty="0">
                <a:solidFill>
                  <a:srgbClr val="C00000"/>
                </a:solidFill>
                <a:latin typeface="Calibri" panose="020F0502020204030204"/>
                <a:cs typeface="Calibri" panose="020F0502020204030204"/>
              </a:rPr>
              <a:t> </a:t>
            </a:r>
            <a:r>
              <a:rPr sz="2100" spc="-5" dirty="0">
                <a:solidFill>
                  <a:srgbClr val="C00000"/>
                </a:solidFill>
                <a:latin typeface="Calibri" panose="020F0502020204030204"/>
                <a:cs typeface="Calibri" panose="020F0502020204030204"/>
              </a:rPr>
              <a:t>performance.</a:t>
            </a:r>
            <a:endParaRPr sz="2100">
              <a:latin typeface="Calibri" panose="020F0502020204030204"/>
              <a:cs typeface="Calibri" panose="020F0502020204030204"/>
            </a:endParaRPr>
          </a:p>
          <a:p>
            <a:pPr marL="355600" indent="-342900">
              <a:lnSpc>
                <a:spcPct val="100000"/>
              </a:lnSpc>
              <a:buFont typeface="Arial" panose="020B0604020202020204"/>
              <a:buChar char="•"/>
              <a:tabLst>
                <a:tab pos="354965" algn="l"/>
                <a:tab pos="355600" algn="l"/>
              </a:tabLst>
            </a:pPr>
            <a:r>
              <a:rPr sz="2100" spc="-10" dirty="0">
                <a:solidFill>
                  <a:srgbClr val="C00000"/>
                </a:solidFill>
                <a:latin typeface="Calibri" panose="020F0502020204030204"/>
                <a:cs typeface="Calibri" panose="020F0502020204030204"/>
              </a:rPr>
              <a:t>Efficiency </a:t>
            </a:r>
            <a:r>
              <a:rPr sz="2100" spc="-5" dirty="0">
                <a:solidFill>
                  <a:srgbClr val="C00000"/>
                </a:solidFill>
                <a:latin typeface="Calibri" panose="020F0502020204030204"/>
                <a:cs typeface="Calibri" panose="020F0502020204030204"/>
              </a:rPr>
              <a:t>of multi-thread </a:t>
            </a:r>
            <a:r>
              <a:rPr sz="2100" spc="-15" dirty="0">
                <a:solidFill>
                  <a:srgbClr val="C00000"/>
                </a:solidFill>
                <a:latin typeface="Calibri" panose="020F0502020204030204"/>
                <a:cs typeface="Calibri" panose="020F0502020204030204"/>
              </a:rPr>
              <a:t>version </a:t>
            </a:r>
            <a:r>
              <a:rPr sz="2100" dirty="0">
                <a:solidFill>
                  <a:srgbClr val="C00000"/>
                </a:solidFill>
                <a:latin typeface="Calibri" panose="020F0502020204030204"/>
                <a:cs typeface="Calibri" panose="020F0502020204030204"/>
              </a:rPr>
              <a:t>is </a:t>
            </a:r>
            <a:r>
              <a:rPr sz="2100" spc="-10" dirty="0">
                <a:solidFill>
                  <a:srgbClr val="C00000"/>
                </a:solidFill>
                <a:latin typeface="Calibri" panose="020F0502020204030204"/>
                <a:cs typeface="Calibri" panose="020F0502020204030204"/>
              </a:rPr>
              <a:t>even </a:t>
            </a:r>
            <a:r>
              <a:rPr sz="2100" spc="-15" dirty="0">
                <a:solidFill>
                  <a:srgbClr val="C00000"/>
                </a:solidFill>
                <a:latin typeface="Calibri" panose="020F0502020204030204"/>
                <a:cs typeface="Calibri" panose="020F0502020204030204"/>
              </a:rPr>
              <a:t>worse for </a:t>
            </a:r>
            <a:r>
              <a:rPr sz="2100" dirty="0">
                <a:solidFill>
                  <a:srgbClr val="C00000"/>
                </a:solidFill>
                <a:latin typeface="Calibri" panose="020F0502020204030204"/>
                <a:cs typeface="Calibri" panose="020F0502020204030204"/>
              </a:rPr>
              <a:t>8M*8 and</a:t>
            </a:r>
            <a:r>
              <a:rPr sz="2100" spc="70" dirty="0">
                <a:solidFill>
                  <a:srgbClr val="C00000"/>
                </a:solidFill>
                <a:latin typeface="Calibri" panose="020F0502020204030204"/>
                <a:cs typeface="Calibri" panose="020F0502020204030204"/>
              </a:rPr>
              <a:t> </a:t>
            </a:r>
            <a:r>
              <a:rPr sz="2100" dirty="0">
                <a:solidFill>
                  <a:srgbClr val="C00000"/>
                </a:solidFill>
                <a:latin typeface="Calibri" panose="020F0502020204030204"/>
                <a:cs typeface="Calibri" panose="020F0502020204030204"/>
              </a:rPr>
              <a:t>8*8M.</a:t>
            </a:r>
            <a:endParaRPr sz="2100">
              <a:latin typeface="Calibri" panose="020F0502020204030204"/>
              <a:cs typeface="Calibri" panose="020F0502020204030204"/>
            </a:endParaRPr>
          </a:p>
        </p:txBody>
      </p:sp>
      <p:sp>
        <p:nvSpPr>
          <p:cNvPr id="6" name="object 6"/>
          <p:cNvSpPr/>
          <p:nvPr/>
        </p:nvSpPr>
        <p:spPr>
          <a:xfrm>
            <a:off x="9453209" y="4452507"/>
            <a:ext cx="941450" cy="384048"/>
          </a:xfrm>
          <a:custGeom>
            <a:avLst/>
            <a:gdLst/>
            <a:ahLst/>
            <a:cxnLst/>
            <a:rect l="l" t="t" r="r" b="b"/>
            <a:pathLst>
              <a:path w="896620" h="365760">
                <a:moveTo>
                  <a:pt x="835152" y="0"/>
                </a:moveTo>
                <a:lnTo>
                  <a:pt x="60960" y="0"/>
                </a:lnTo>
                <a:lnTo>
                  <a:pt x="37236" y="4792"/>
                </a:lnTo>
                <a:lnTo>
                  <a:pt x="17859" y="17859"/>
                </a:lnTo>
                <a:lnTo>
                  <a:pt x="4792" y="37236"/>
                </a:lnTo>
                <a:lnTo>
                  <a:pt x="0" y="60959"/>
                </a:lnTo>
                <a:lnTo>
                  <a:pt x="0" y="304799"/>
                </a:lnTo>
                <a:lnTo>
                  <a:pt x="4792" y="328523"/>
                </a:lnTo>
                <a:lnTo>
                  <a:pt x="17859" y="347900"/>
                </a:lnTo>
                <a:lnTo>
                  <a:pt x="37236" y="360967"/>
                </a:lnTo>
                <a:lnTo>
                  <a:pt x="60960" y="365759"/>
                </a:lnTo>
                <a:lnTo>
                  <a:pt x="835152" y="365759"/>
                </a:lnTo>
                <a:lnTo>
                  <a:pt x="858875" y="360967"/>
                </a:lnTo>
                <a:lnTo>
                  <a:pt x="878252" y="347900"/>
                </a:lnTo>
                <a:lnTo>
                  <a:pt x="891319" y="328523"/>
                </a:lnTo>
                <a:lnTo>
                  <a:pt x="896112" y="304799"/>
                </a:lnTo>
                <a:lnTo>
                  <a:pt x="896112" y="60959"/>
                </a:lnTo>
                <a:lnTo>
                  <a:pt x="891319" y="37236"/>
                </a:lnTo>
                <a:lnTo>
                  <a:pt x="878252" y="17859"/>
                </a:lnTo>
                <a:lnTo>
                  <a:pt x="858875" y="4792"/>
                </a:lnTo>
                <a:lnTo>
                  <a:pt x="835152" y="0"/>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8" name="object 8"/>
          <p:cNvSpPr/>
          <p:nvPr/>
        </p:nvSpPr>
        <p:spPr>
          <a:xfrm>
            <a:off x="4988191" y="4441269"/>
            <a:ext cx="942785" cy="384048"/>
          </a:xfrm>
          <a:custGeom>
            <a:avLst/>
            <a:gdLst/>
            <a:ahLst/>
            <a:cxnLst/>
            <a:rect l="l" t="t" r="r" b="b"/>
            <a:pathLst>
              <a:path w="897889" h="365760">
                <a:moveTo>
                  <a:pt x="836676" y="0"/>
                </a:moveTo>
                <a:lnTo>
                  <a:pt x="60960" y="0"/>
                </a:lnTo>
                <a:lnTo>
                  <a:pt x="37236" y="4792"/>
                </a:lnTo>
                <a:lnTo>
                  <a:pt x="17859" y="17859"/>
                </a:lnTo>
                <a:lnTo>
                  <a:pt x="4792" y="37236"/>
                </a:lnTo>
                <a:lnTo>
                  <a:pt x="0" y="60960"/>
                </a:lnTo>
                <a:lnTo>
                  <a:pt x="0" y="304800"/>
                </a:lnTo>
                <a:lnTo>
                  <a:pt x="4792" y="328523"/>
                </a:lnTo>
                <a:lnTo>
                  <a:pt x="17859" y="347900"/>
                </a:lnTo>
                <a:lnTo>
                  <a:pt x="37236" y="360967"/>
                </a:lnTo>
                <a:lnTo>
                  <a:pt x="60960" y="365760"/>
                </a:lnTo>
                <a:lnTo>
                  <a:pt x="836676" y="365760"/>
                </a:lnTo>
                <a:lnTo>
                  <a:pt x="860399" y="360967"/>
                </a:lnTo>
                <a:lnTo>
                  <a:pt x="879776" y="347900"/>
                </a:lnTo>
                <a:lnTo>
                  <a:pt x="892843" y="328523"/>
                </a:lnTo>
                <a:lnTo>
                  <a:pt x="897636" y="304800"/>
                </a:lnTo>
                <a:lnTo>
                  <a:pt x="897636" y="60960"/>
                </a:lnTo>
                <a:lnTo>
                  <a:pt x="892843" y="37236"/>
                </a:lnTo>
                <a:lnTo>
                  <a:pt x="879776" y="17859"/>
                </a:lnTo>
                <a:lnTo>
                  <a:pt x="860399" y="4792"/>
                </a:lnTo>
                <a:lnTo>
                  <a:pt x="836676" y="0"/>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10" name="object 10"/>
          <p:cNvSpPr txBox="1"/>
          <p:nvPr/>
        </p:nvSpPr>
        <p:spPr>
          <a:xfrm>
            <a:off x="2174778" y="1753553"/>
            <a:ext cx="4623911" cy="302895"/>
          </a:xfrm>
          <a:prstGeom prst="rect">
            <a:avLst/>
          </a:prstGeom>
        </p:spPr>
        <p:txBody>
          <a:bodyPr vert="horz" wrap="square" lIns="0" tIns="13334" rIns="0" bIns="0" rtlCol="0">
            <a:spAutoFit/>
          </a:bodyPr>
          <a:lstStyle/>
          <a:p>
            <a:pPr marL="12700">
              <a:lnSpc>
                <a:spcPct val="100000"/>
              </a:lnSpc>
              <a:spcBef>
                <a:spcPts val="100"/>
              </a:spcBef>
            </a:pPr>
            <a:r>
              <a:rPr sz="1890" dirty="0">
                <a:solidFill>
                  <a:srgbClr val="FF0000"/>
                </a:solidFill>
                <a:latin typeface="Calibri" panose="020F0502020204030204"/>
                <a:cs typeface="Calibri" panose="020F0502020204030204"/>
              </a:rPr>
              <a:t>64M </a:t>
            </a:r>
            <a:r>
              <a:rPr sz="1890" spc="-10" dirty="0">
                <a:solidFill>
                  <a:srgbClr val="FF0000"/>
                </a:solidFill>
                <a:latin typeface="Calibri" panose="020F0502020204030204"/>
                <a:cs typeface="Calibri" panose="020F0502020204030204"/>
              </a:rPr>
              <a:t>addition/multiplication operations </a:t>
            </a:r>
            <a:r>
              <a:rPr sz="1890" dirty="0">
                <a:solidFill>
                  <a:srgbClr val="FF0000"/>
                </a:solidFill>
                <a:latin typeface="Calibri" panose="020F0502020204030204"/>
                <a:cs typeface="Calibri" panose="020F0502020204030204"/>
              </a:rPr>
              <a:t>in</a:t>
            </a:r>
            <a:r>
              <a:rPr sz="1890" spc="100" dirty="0">
                <a:solidFill>
                  <a:srgbClr val="FF0000"/>
                </a:solidFill>
                <a:latin typeface="Calibri" panose="020F0502020204030204"/>
                <a:cs typeface="Calibri" panose="020F0502020204030204"/>
              </a:rPr>
              <a:t> </a:t>
            </a:r>
            <a:r>
              <a:rPr sz="1890" spc="-10" dirty="0">
                <a:solidFill>
                  <a:srgbClr val="FF0000"/>
                </a:solidFill>
                <a:latin typeface="Calibri" panose="020F0502020204030204"/>
                <a:cs typeface="Calibri" panose="020F0502020204030204"/>
              </a:rPr>
              <a:t>total</a:t>
            </a:r>
            <a:endParaRPr sz="1890">
              <a:latin typeface="Calibri" panose="020F0502020204030204"/>
              <a:cs typeface="Calibri" panose="020F0502020204030204"/>
            </a:endParaRPr>
          </a:p>
        </p:txBody>
      </p:sp>
      <p:sp>
        <p:nvSpPr>
          <p:cNvPr id="11" name="object 11"/>
          <p:cNvSpPr/>
          <p:nvPr/>
        </p:nvSpPr>
        <p:spPr>
          <a:xfrm>
            <a:off x="3805276" y="3632453"/>
            <a:ext cx="942785" cy="384048"/>
          </a:xfrm>
          <a:custGeom>
            <a:avLst/>
            <a:gdLst/>
            <a:ahLst/>
            <a:cxnLst/>
            <a:rect l="l" t="t" r="r" b="b"/>
            <a:pathLst>
              <a:path w="897889" h="365760">
                <a:moveTo>
                  <a:pt x="836676" y="0"/>
                </a:moveTo>
                <a:lnTo>
                  <a:pt x="60959" y="0"/>
                </a:lnTo>
                <a:lnTo>
                  <a:pt x="37236" y="4792"/>
                </a:lnTo>
                <a:lnTo>
                  <a:pt x="17859" y="17859"/>
                </a:lnTo>
                <a:lnTo>
                  <a:pt x="4792" y="37236"/>
                </a:lnTo>
                <a:lnTo>
                  <a:pt x="0" y="60960"/>
                </a:lnTo>
                <a:lnTo>
                  <a:pt x="0" y="304800"/>
                </a:lnTo>
                <a:lnTo>
                  <a:pt x="4792" y="328523"/>
                </a:lnTo>
                <a:lnTo>
                  <a:pt x="17859" y="347900"/>
                </a:lnTo>
                <a:lnTo>
                  <a:pt x="37236" y="360967"/>
                </a:lnTo>
                <a:lnTo>
                  <a:pt x="60959" y="365760"/>
                </a:lnTo>
                <a:lnTo>
                  <a:pt x="836676" y="365760"/>
                </a:lnTo>
                <a:lnTo>
                  <a:pt x="860399" y="360967"/>
                </a:lnTo>
                <a:lnTo>
                  <a:pt x="879776" y="347900"/>
                </a:lnTo>
                <a:lnTo>
                  <a:pt x="892843" y="328523"/>
                </a:lnTo>
                <a:lnTo>
                  <a:pt x="897635" y="304800"/>
                </a:lnTo>
                <a:lnTo>
                  <a:pt x="897635" y="60960"/>
                </a:lnTo>
                <a:lnTo>
                  <a:pt x="892843" y="37236"/>
                </a:lnTo>
                <a:lnTo>
                  <a:pt x="879776" y="17859"/>
                </a:lnTo>
                <a:lnTo>
                  <a:pt x="860399" y="4792"/>
                </a:lnTo>
                <a:lnTo>
                  <a:pt x="836676" y="0"/>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13" name="object 13"/>
          <p:cNvSpPr/>
          <p:nvPr/>
        </p:nvSpPr>
        <p:spPr>
          <a:xfrm>
            <a:off x="8228361" y="3632453"/>
            <a:ext cx="941450" cy="384048"/>
          </a:xfrm>
          <a:custGeom>
            <a:avLst/>
            <a:gdLst/>
            <a:ahLst/>
            <a:cxnLst/>
            <a:rect l="l" t="t" r="r" b="b"/>
            <a:pathLst>
              <a:path w="896620" h="365760">
                <a:moveTo>
                  <a:pt x="835151" y="0"/>
                </a:moveTo>
                <a:lnTo>
                  <a:pt x="60960" y="0"/>
                </a:lnTo>
                <a:lnTo>
                  <a:pt x="37236" y="4792"/>
                </a:lnTo>
                <a:lnTo>
                  <a:pt x="17859" y="17859"/>
                </a:lnTo>
                <a:lnTo>
                  <a:pt x="4792" y="37236"/>
                </a:lnTo>
                <a:lnTo>
                  <a:pt x="0" y="60960"/>
                </a:lnTo>
                <a:lnTo>
                  <a:pt x="0" y="304800"/>
                </a:lnTo>
                <a:lnTo>
                  <a:pt x="4792" y="328523"/>
                </a:lnTo>
                <a:lnTo>
                  <a:pt x="17859" y="347900"/>
                </a:lnTo>
                <a:lnTo>
                  <a:pt x="37236" y="360967"/>
                </a:lnTo>
                <a:lnTo>
                  <a:pt x="60960" y="365760"/>
                </a:lnTo>
                <a:lnTo>
                  <a:pt x="835151" y="365760"/>
                </a:lnTo>
                <a:lnTo>
                  <a:pt x="858875" y="360967"/>
                </a:lnTo>
                <a:lnTo>
                  <a:pt x="878252" y="347900"/>
                </a:lnTo>
                <a:lnTo>
                  <a:pt x="891319" y="328523"/>
                </a:lnTo>
                <a:lnTo>
                  <a:pt x="896112" y="304800"/>
                </a:lnTo>
                <a:lnTo>
                  <a:pt x="896112" y="60960"/>
                </a:lnTo>
                <a:lnTo>
                  <a:pt x="891319" y="37236"/>
                </a:lnTo>
                <a:lnTo>
                  <a:pt x="878252" y="17859"/>
                </a:lnTo>
                <a:lnTo>
                  <a:pt x="858875" y="4792"/>
                </a:lnTo>
                <a:lnTo>
                  <a:pt x="835151" y="0"/>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sz="2310"/>
          </a:p>
        </p:txBody>
      </p:sp>
      <p:sp>
        <p:nvSpPr>
          <p:cNvPr id="15" name="object 1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89</a:t>
            </a:fld>
            <a:endParaRPr sz="1260">
              <a:latin typeface="Calibri" panose="020F0502020204030204"/>
              <a:cs typeface="Calibri" panose="020F0502020204030204"/>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8370" y="288054"/>
            <a:ext cx="10762906" cy="792000"/>
          </a:xfrm>
        </p:spPr>
        <p:txBody>
          <a:bodyPr/>
          <a:lstStyle/>
          <a:p>
            <a:r>
              <a:rPr lang="en-US" dirty="0"/>
              <a:t>Cache coherence in Matrix-vector multiplication</a:t>
            </a:r>
          </a:p>
        </p:txBody>
      </p:sp>
      <p:sp>
        <p:nvSpPr>
          <p:cNvPr id="5" name="矩形 4"/>
          <p:cNvSpPr/>
          <p:nvPr/>
        </p:nvSpPr>
        <p:spPr>
          <a:xfrm>
            <a:off x="2315675" y="4350239"/>
            <a:ext cx="2054102" cy="801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520" dirty="0">
                <a:solidFill>
                  <a:schemeClr val="tx1"/>
                </a:solidFill>
              </a:rPr>
              <a:t>A</a:t>
            </a:r>
            <a:endParaRPr lang="en-US" sz="2520" dirty="0">
              <a:solidFill>
                <a:schemeClr val="tx1"/>
              </a:solidFill>
            </a:endParaRPr>
          </a:p>
        </p:txBody>
      </p:sp>
      <p:sp>
        <p:nvSpPr>
          <p:cNvPr id="6" name="矩形 5"/>
          <p:cNvSpPr/>
          <p:nvPr/>
        </p:nvSpPr>
        <p:spPr>
          <a:xfrm>
            <a:off x="4716898" y="3637377"/>
            <a:ext cx="272025" cy="217224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2940" dirty="0">
                <a:solidFill>
                  <a:schemeClr val="tx1"/>
                </a:solidFill>
              </a:rPr>
              <a:t>x</a:t>
            </a:r>
            <a:endParaRPr lang="en-US" sz="2940" dirty="0">
              <a:solidFill>
                <a:schemeClr val="tx1"/>
              </a:solidFill>
            </a:endParaRPr>
          </a:p>
        </p:txBody>
      </p:sp>
      <p:sp>
        <p:nvSpPr>
          <p:cNvPr id="7" name="矩形 6"/>
          <p:cNvSpPr/>
          <p:nvPr/>
        </p:nvSpPr>
        <p:spPr>
          <a:xfrm>
            <a:off x="3761064"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CPU0</a:t>
            </a:r>
            <a:endParaRPr lang="en-US" sz="2310" dirty="0">
              <a:solidFill>
                <a:schemeClr val="tx1"/>
              </a:solidFill>
            </a:endParaRPr>
          </a:p>
        </p:txBody>
      </p:sp>
      <p:sp>
        <p:nvSpPr>
          <p:cNvPr id="8" name="矩形 7"/>
          <p:cNvSpPr/>
          <p:nvPr/>
        </p:nvSpPr>
        <p:spPr>
          <a:xfrm>
            <a:off x="4813503" y="1597510"/>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CPU1</a:t>
            </a:r>
            <a:endParaRPr lang="en-US" sz="2310" dirty="0">
              <a:solidFill>
                <a:schemeClr val="tx1"/>
              </a:solidFill>
            </a:endParaRPr>
          </a:p>
        </p:txBody>
      </p:sp>
      <p:sp>
        <p:nvSpPr>
          <p:cNvPr id="9" name="矩形 8"/>
          <p:cNvSpPr/>
          <p:nvPr/>
        </p:nvSpPr>
        <p:spPr>
          <a:xfrm>
            <a:off x="5869635"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CPU2</a:t>
            </a:r>
            <a:endParaRPr lang="en-US" sz="2310" dirty="0">
              <a:solidFill>
                <a:schemeClr val="tx1"/>
              </a:solidFill>
            </a:endParaRPr>
          </a:p>
        </p:txBody>
      </p:sp>
      <p:sp>
        <p:nvSpPr>
          <p:cNvPr id="10" name="矩形 9"/>
          <p:cNvSpPr/>
          <p:nvPr/>
        </p:nvSpPr>
        <p:spPr>
          <a:xfrm>
            <a:off x="6931306"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CPU3</a:t>
            </a:r>
            <a:endParaRPr lang="en-US" sz="2310" dirty="0">
              <a:solidFill>
                <a:schemeClr val="tx1"/>
              </a:solidFill>
            </a:endParaRPr>
          </a:p>
        </p:txBody>
      </p:sp>
      <p:sp>
        <p:nvSpPr>
          <p:cNvPr id="11" name="矩形 10"/>
          <p:cNvSpPr/>
          <p:nvPr/>
        </p:nvSpPr>
        <p:spPr>
          <a:xfrm>
            <a:off x="3761064" y="2077222"/>
            <a:ext cx="1056132" cy="1293482"/>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12" name="矩形 11"/>
          <p:cNvSpPr/>
          <p:nvPr/>
        </p:nvSpPr>
        <p:spPr>
          <a:xfrm>
            <a:off x="4816231" y="2077222"/>
            <a:ext cx="1062636" cy="1293482"/>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66" name="矩形 65"/>
          <p:cNvSpPr/>
          <p:nvPr/>
        </p:nvSpPr>
        <p:spPr>
          <a:xfrm>
            <a:off x="5882557" y="2077222"/>
            <a:ext cx="1056132" cy="1284251"/>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75" name="矩形 74"/>
          <p:cNvSpPr/>
          <p:nvPr/>
        </p:nvSpPr>
        <p:spPr>
          <a:xfrm>
            <a:off x="6938401" y="2077222"/>
            <a:ext cx="1056132" cy="1284251"/>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83" name="文本框 82"/>
          <p:cNvSpPr txBox="1"/>
          <p:nvPr/>
        </p:nvSpPr>
        <p:spPr>
          <a:xfrm>
            <a:off x="5131372" y="4416494"/>
            <a:ext cx="395605" cy="607695"/>
          </a:xfrm>
          <a:prstGeom prst="rect">
            <a:avLst/>
          </a:prstGeom>
          <a:noFill/>
        </p:spPr>
        <p:txBody>
          <a:bodyPr wrap="none" rtlCol="0">
            <a:spAutoFit/>
          </a:bodyPr>
          <a:lstStyle/>
          <a:p>
            <a:r>
              <a:rPr lang="en-US" altLang="zh-CN" sz="3360" dirty="0"/>
              <a:t>=</a:t>
            </a:r>
            <a:endParaRPr lang="en-US" sz="3360" dirty="0"/>
          </a:p>
        </p:txBody>
      </p:sp>
      <p:sp>
        <p:nvSpPr>
          <p:cNvPr id="86" name="矩形 85"/>
          <p:cNvSpPr/>
          <p:nvPr/>
        </p:nvSpPr>
        <p:spPr>
          <a:xfrm>
            <a:off x="5664095" y="4350238"/>
            <a:ext cx="233253" cy="807842"/>
          </a:xfrm>
          <a:prstGeom prst="rect">
            <a:avLst/>
          </a:prstGeom>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y</a:t>
            </a:r>
          </a:p>
        </p:txBody>
      </p:sp>
      <p:sp>
        <p:nvSpPr>
          <p:cNvPr id="87" name="文本框 86"/>
          <p:cNvSpPr txBox="1"/>
          <p:nvPr/>
        </p:nvSpPr>
        <p:spPr>
          <a:xfrm>
            <a:off x="8345016" y="2629566"/>
            <a:ext cx="2619375" cy="801370"/>
          </a:xfrm>
          <a:prstGeom prst="rect">
            <a:avLst/>
          </a:prstGeom>
          <a:noFill/>
        </p:spPr>
        <p:txBody>
          <a:bodyPr wrap="none" rtlCol="0">
            <a:spAutoFit/>
          </a:bodyPr>
          <a:lstStyle/>
          <a:p>
            <a:r>
              <a:rPr lang="en-US" altLang="zh-CN" sz="2310" dirty="0"/>
              <a:t>Cache line 64 Bytes, </a:t>
            </a:r>
          </a:p>
          <a:p>
            <a:r>
              <a:rPr lang="en-US" altLang="zh-CN" sz="2310" dirty="0"/>
              <a:t>store 8 doubles</a:t>
            </a:r>
            <a:endParaRPr lang="en-US" sz="2310" dirty="0"/>
          </a:p>
        </p:txBody>
      </p:sp>
      <p:sp>
        <p:nvSpPr>
          <p:cNvPr id="88" name="文本框 87"/>
          <p:cNvSpPr txBox="1"/>
          <p:nvPr/>
        </p:nvSpPr>
        <p:spPr>
          <a:xfrm>
            <a:off x="2315675" y="5209479"/>
            <a:ext cx="1776730" cy="446405"/>
          </a:xfrm>
          <a:prstGeom prst="rect">
            <a:avLst/>
          </a:prstGeom>
          <a:noFill/>
        </p:spPr>
        <p:txBody>
          <a:bodyPr wrap="none" rtlCol="0">
            <a:spAutoFit/>
          </a:bodyPr>
          <a:lstStyle/>
          <a:p>
            <a:r>
              <a:rPr lang="en-US" altLang="zh-CN" sz="2310" dirty="0"/>
              <a:t>8 x 8,000,000</a:t>
            </a:r>
            <a:endParaRPr lang="en-US" sz="2310" dirty="0"/>
          </a:p>
        </p:txBody>
      </p:sp>
      <p:sp>
        <p:nvSpPr>
          <p:cNvPr id="89" name="文本框 88"/>
          <p:cNvSpPr txBox="1"/>
          <p:nvPr/>
        </p:nvSpPr>
        <p:spPr>
          <a:xfrm>
            <a:off x="5505393" y="5158080"/>
            <a:ext cx="739140" cy="446405"/>
          </a:xfrm>
          <a:prstGeom prst="rect">
            <a:avLst/>
          </a:prstGeom>
          <a:noFill/>
        </p:spPr>
        <p:txBody>
          <a:bodyPr wrap="none" rtlCol="0">
            <a:spAutoFit/>
          </a:bodyPr>
          <a:lstStyle/>
          <a:p>
            <a:r>
              <a:rPr lang="en-US" altLang="zh-CN" sz="2310" dirty="0"/>
              <a:t>8 x 1</a:t>
            </a:r>
            <a:endParaRPr lang="en-US" sz="2310" dirty="0"/>
          </a:p>
        </p:txBody>
      </p:sp>
      <p:sp>
        <p:nvSpPr>
          <p:cNvPr id="90" name="文本框 89"/>
          <p:cNvSpPr txBox="1"/>
          <p:nvPr/>
        </p:nvSpPr>
        <p:spPr>
          <a:xfrm>
            <a:off x="6422145" y="3610862"/>
            <a:ext cx="3219015" cy="803297"/>
          </a:xfrm>
          <a:prstGeom prst="rect">
            <a:avLst/>
          </a:prstGeom>
          <a:noFill/>
          <a:ln>
            <a:solidFill>
              <a:srgbClr val="FF0000"/>
            </a:solidFill>
          </a:ln>
        </p:spPr>
        <p:txBody>
          <a:bodyPr wrap="square" rtlCol="0">
            <a:spAutoFit/>
          </a:bodyPr>
          <a:lstStyle/>
          <a:p>
            <a:r>
              <a:rPr lang="en-US" altLang="zh-CN" sz="2310" dirty="0">
                <a:solidFill>
                  <a:srgbClr val="FF0000"/>
                </a:solidFill>
              </a:rPr>
              <a:t>for (…. )</a:t>
            </a:r>
          </a:p>
          <a:p>
            <a:r>
              <a:rPr lang="en-US" altLang="zh-CN" sz="2310" dirty="0">
                <a:solidFill>
                  <a:srgbClr val="FF0000"/>
                </a:solidFill>
              </a:rPr>
              <a:t>     y[</a:t>
            </a:r>
            <a:r>
              <a:rPr lang="en-US" altLang="zh-CN" sz="2310" dirty="0" err="1">
                <a:solidFill>
                  <a:srgbClr val="FF0000"/>
                </a:solidFill>
              </a:rPr>
              <a:t>i</a:t>
            </a:r>
            <a:r>
              <a:rPr lang="en-US" altLang="zh-CN" sz="2310" dirty="0">
                <a:solidFill>
                  <a:srgbClr val="FF0000"/>
                </a:solidFill>
              </a:rPr>
              <a:t>] += A[</a:t>
            </a:r>
            <a:r>
              <a:rPr lang="en-US" altLang="zh-CN" sz="2310" dirty="0" err="1">
                <a:solidFill>
                  <a:srgbClr val="FF0000"/>
                </a:solidFill>
              </a:rPr>
              <a:t>i</a:t>
            </a:r>
            <a:r>
              <a:rPr lang="en-US" altLang="zh-CN" sz="2310" dirty="0">
                <a:solidFill>
                  <a:srgbClr val="FF0000"/>
                </a:solidFill>
              </a:rPr>
              <a:t>][j] * x[j]; </a:t>
            </a:r>
            <a:endParaRPr lang="en-US" sz="2310" dirty="0">
              <a:solidFill>
                <a:srgbClr val="FF0000"/>
              </a:solidFill>
            </a:endParaRPr>
          </a:p>
        </p:txBody>
      </p:sp>
      <p:sp>
        <p:nvSpPr>
          <p:cNvPr id="91" name="文本框 90"/>
          <p:cNvSpPr txBox="1"/>
          <p:nvPr/>
        </p:nvSpPr>
        <p:spPr>
          <a:xfrm>
            <a:off x="6451344" y="4721806"/>
            <a:ext cx="3549856" cy="1514261"/>
          </a:xfrm>
          <a:prstGeom prst="rect">
            <a:avLst/>
          </a:prstGeom>
          <a:noFill/>
          <a:ln>
            <a:solidFill>
              <a:schemeClr val="tx1"/>
            </a:solidFill>
          </a:ln>
        </p:spPr>
        <p:txBody>
          <a:bodyPr wrap="square" rtlCol="0">
            <a:spAutoFit/>
          </a:bodyPr>
          <a:lstStyle/>
          <a:p>
            <a:r>
              <a:rPr lang="en-US" altLang="zh-CN" sz="2310" dirty="0"/>
              <a:t>for ( ….)</a:t>
            </a:r>
          </a:p>
          <a:p>
            <a:r>
              <a:rPr lang="en-US" altLang="zh-CN" sz="2310" dirty="0"/>
              <a:t>       </a:t>
            </a:r>
            <a:r>
              <a:rPr lang="en-US" altLang="zh-CN" sz="2310" dirty="0" err="1"/>
              <a:t>tmp</a:t>
            </a:r>
            <a:r>
              <a:rPr lang="en-US" altLang="zh-CN" sz="2310" dirty="0"/>
              <a:t> += A[</a:t>
            </a:r>
            <a:r>
              <a:rPr lang="en-US" altLang="zh-CN" sz="2310" dirty="0" err="1"/>
              <a:t>i</a:t>
            </a:r>
            <a:r>
              <a:rPr lang="en-US" altLang="zh-CN" sz="2310" dirty="0"/>
              <a:t>][j] * x[j];</a:t>
            </a:r>
          </a:p>
          <a:p>
            <a:endParaRPr lang="en-US" altLang="zh-CN" sz="2310" dirty="0"/>
          </a:p>
          <a:p>
            <a:r>
              <a:rPr lang="en-US" altLang="zh-CN" sz="2310" dirty="0"/>
              <a:t>y[</a:t>
            </a:r>
            <a:r>
              <a:rPr lang="en-US" altLang="zh-CN" sz="2310" dirty="0" err="1"/>
              <a:t>i</a:t>
            </a:r>
            <a:r>
              <a:rPr lang="en-US" altLang="zh-CN" sz="2310" dirty="0"/>
              <a:t>] = </a:t>
            </a:r>
            <a:r>
              <a:rPr lang="en-US" altLang="zh-CN" sz="2310" dirty="0" err="1"/>
              <a:t>tmp</a:t>
            </a:r>
            <a:endParaRPr lang="en-US" sz="2310" dirty="0"/>
          </a:p>
        </p:txBody>
      </p:sp>
      <p:sp>
        <p:nvSpPr>
          <p:cNvPr id="92" name="下箭头 91"/>
          <p:cNvSpPr/>
          <p:nvPr/>
        </p:nvSpPr>
        <p:spPr>
          <a:xfrm>
            <a:off x="7503096" y="4350238"/>
            <a:ext cx="263123" cy="3488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a:p>
        </p:txBody>
      </p:sp>
      <p:sp>
        <p:nvSpPr>
          <p:cNvPr id="93" name="文本框 92"/>
          <p:cNvSpPr txBox="1"/>
          <p:nvPr/>
        </p:nvSpPr>
        <p:spPr>
          <a:xfrm>
            <a:off x="10001200" y="3610861"/>
            <a:ext cx="1752755" cy="803297"/>
          </a:xfrm>
          <a:prstGeom prst="rect">
            <a:avLst/>
          </a:prstGeom>
          <a:noFill/>
          <a:ln>
            <a:solidFill>
              <a:srgbClr val="FF0000"/>
            </a:solidFill>
          </a:ln>
        </p:spPr>
        <p:txBody>
          <a:bodyPr wrap="square" rtlCol="0">
            <a:spAutoFit/>
          </a:bodyPr>
          <a:lstStyle/>
          <a:p>
            <a:r>
              <a:rPr lang="en-US" altLang="zh-CN" sz="2310" dirty="0">
                <a:solidFill>
                  <a:srgbClr val="FF0000"/>
                </a:solidFill>
              </a:rPr>
              <a:t>Cache coherence</a:t>
            </a:r>
            <a:endParaRPr lang="en-US" sz="2310" dirty="0">
              <a:solidFill>
                <a:srgbClr val="FF0000"/>
              </a:solidFill>
            </a:endParaRPr>
          </a:p>
        </p:txBody>
      </p:sp>
      <p:sp>
        <p:nvSpPr>
          <p:cNvPr id="94" name="矩形 93"/>
          <p:cNvSpPr/>
          <p:nvPr/>
        </p:nvSpPr>
        <p:spPr>
          <a:xfrm>
            <a:off x="3757371"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5" name="矩形 94"/>
          <p:cNvSpPr/>
          <p:nvPr/>
        </p:nvSpPr>
        <p:spPr>
          <a:xfrm>
            <a:off x="4821770"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6" name="矩形 95"/>
          <p:cNvSpPr/>
          <p:nvPr/>
        </p:nvSpPr>
        <p:spPr>
          <a:xfrm>
            <a:off x="5893964"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7" name="矩形 96"/>
          <p:cNvSpPr/>
          <p:nvPr/>
        </p:nvSpPr>
        <p:spPr>
          <a:xfrm>
            <a:off x="6953789"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8" name="矩形 97"/>
          <p:cNvSpPr/>
          <p:nvPr/>
        </p:nvSpPr>
        <p:spPr>
          <a:xfrm>
            <a:off x="3761064"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99" name="矩形 98"/>
          <p:cNvSpPr/>
          <p:nvPr/>
        </p:nvSpPr>
        <p:spPr>
          <a:xfrm>
            <a:off x="4825463"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100" name="矩形 99"/>
          <p:cNvSpPr/>
          <p:nvPr/>
        </p:nvSpPr>
        <p:spPr>
          <a:xfrm>
            <a:off x="5897657"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101" name="矩形 100"/>
          <p:cNvSpPr/>
          <p:nvPr/>
        </p:nvSpPr>
        <p:spPr>
          <a:xfrm>
            <a:off x="6957482"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3" name="文本框 2"/>
          <p:cNvSpPr txBox="1"/>
          <p:nvPr/>
        </p:nvSpPr>
        <p:spPr>
          <a:xfrm>
            <a:off x="8201000" y="1445143"/>
            <a:ext cx="3001210" cy="115697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ltLang="zh-CN" sz="2310" dirty="0"/>
              <a:t>Small blue blocks are processed by 4 threads concurrently.</a:t>
            </a:r>
            <a:endParaRPr lang="en-US" sz="2310" dirty="0"/>
          </a:p>
        </p:txBody>
      </p:sp>
      <p:sp>
        <p:nvSpPr>
          <p:cNvPr id="13" name="矩形 12"/>
          <p:cNvSpPr/>
          <p:nvPr/>
        </p:nvSpPr>
        <p:spPr>
          <a:xfrm>
            <a:off x="5869635" y="2077222"/>
            <a:ext cx="1056132" cy="31577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solidFill>
                <a:schemeClr val="tx1"/>
              </a:solidFill>
            </a:endParaRPr>
          </a:p>
        </p:txBody>
      </p:sp>
      <p:sp>
        <p:nvSpPr>
          <p:cNvPr id="14" name="矩形 13"/>
          <p:cNvSpPr/>
          <p:nvPr/>
        </p:nvSpPr>
        <p:spPr>
          <a:xfrm>
            <a:off x="6931306" y="2077222"/>
            <a:ext cx="1056132" cy="31577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solidFill>
                <a:schemeClr val="tx1"/>
              </a:solidFill>
            </a:endParaRPr>
          </a:p>
        </p:txBody>
      </p:sp>
      <p:sp>
        <p:nvSpPr>
          <p:cNvPr id="20" name="文本框 19"/>
          <p:cNvSpPr txBox="1"/>
          <p:nvPr/>
        </p:nvSpPr>
        <p:spPr>
          <a:xfrm>
            <a:off x="2505576" y="2341469"/>
            <a:ext cx="1220975" cy="803297"/>
          </a:xfrm>
          <a:prstGeom prst="rect">
            <a:avLst/>
          </a:prstGeom>
          <a:noFill/>
        </p:spPr>
        <p:txBody>
          <a:bodyPr wrap="none" rtlCol="0">
            <a:spAutoFit/>
          </a:bodyPr>
          <a:lstStyle/>
          <a:p>
            <a:r>
              <a:rPr lang="en-US" altLang="zh-CN" sz="2310" dirty="0"/>
              <a:t>On-chip </a:t>
            </a:r>
          </a:p>
          <a:p>
            <a:r>
              <a:rPr lang="en-US" altLang="zh-CN" sz="2310" dirty="0"/>
              <a:t>L1 cache</a:t>
            </a:r>
            <a:endParaRPr lang="en-US" sz="2310" dirty="0"/>
          </a:p>
        </p:txBody>
      </p:sp>
      <p:sp>
        <p:nvSpPr>
          <p:cNvPr id="21" name="矩形 20"/>
          <p:cNvSpPr/>
          <p:nvPr/>
        </p:nvSpPr>
        <p:spPr>
          <a:xfrm>
            <a:off x="3899539"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2" name="矩形 21"/>
          <p:cNvSpPr/>
          <p:nvPr/>
        </p:nvSpPr>
        <p:spPr>
          <a:xfrm>
            <a:off x="4034945"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3" name="矩形 22"/>
          <p:cNvSpPr/>
          <p:nvPr/>
        </p:nvSpPr>
        <p:spPr>
          <a:xfrm>
            <a:off x="4161114"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4" name="矩形 23"/>
          <p:cNvSpPr/>
          <p:nvPr/>
        </p:nvSpPr>
        <p:spPr>
          <a:xfrm>
            <a:off x="4291891"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5" name="矩形 24"/>
          <p:cNvSpPr/>
          <p:nvPr/>
        </p:nvSpPr>
        <p:spPr>
          <a:xfrm>
            <a:off x="4427297"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6" name="矩形 25"/>
          <p:cNvSpPr/>
          <p:nvPr/>
        </p:nvSpPr>
        <p:spPr>
          <a:xfrm>
            <a:off x="4562703"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27" name="矩形 26"/>
          <p:cNvSpPr/>
          <p:nvPr/>
        </p:nvSpPr>
        <p:spPr>
          <a:xfrm>
            <a:off x="4688877"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37" name="矩形 36"/>
          <p:cNvSpPr/>
          <p:nvPr/>
        </p:nvSpPr>
        <p:spPr>
          <a:xfrm>
            <a:off x="4807965"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38" name="矩形 37"/>
          <p:cNvSpPr/>
          <p:nvPr/>
        </p:nvSpPr>
        <p:spPr>
          <a:xfrm>
            <a:off x="4943371"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39" name="矩形 38"/>
          <p:cNvSpPr/>
          <p:nvPr/>
        </p:nvSpPr>
        <p:spPr>
          <a:xfrm>
            <a:off x="5078777"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0" name="矩形 39"/>
          <p:cNvSpPr/>
          <p:nvPr/>
        </p:nvSpPr>
        <p:spPr>
          <a:xfrm>
            <a:off x="5204946"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1" name="矩形 40"/>
          <p:cNvSpPr/>
          <p:nvPr/>
        </p:nvSpPr>
        <p:spPr>
          <a:xfrm>
            <a:off x="5335722"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2" name="矩形 41"/>
          <p:cNvSpPr/>
          <p:nvPr/>
        </p:nvSpPr>
        <p:spPr>
          <a:xfrm>
            <a:off x="5471128"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3" name="矩形 42"/>
          <p:cNvSpPr/>
          <p:nvPr/>
        </p:nvSpPr>
        <p:spPr>
          <a:xfrm>
            <a:off x="5606534"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4" name="矩形 43"/>
          <p:cNvSpPr/>
          <p:nvPr/>
        </p:nvSpPr>
        <p:spPr>
          <a:xfrm>
            <a:off x="5732708"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65" name="矩形 64"/>
          <p:cNvSpPr/>
          <p:nvPr/>
        </p:nvSpPr>
        <p:spPr>
          <a:xfrm>
            <a:off x="5885626"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67" name="矩形 66"/>
          <p:cNvSpPr/>
          <p:nvPr/>
        </p:nvSpPr>
        <p:spPr>
          <a:xfrm>
            <a:off x="6021032"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68" name="矩形 67"/>
          <p:cNvSpPr/>
          <p:nvPr/>
        </p:nvSpPr>
        <p:spPr>
          <a:xfrm>
            <a:off x="6156438"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69" name="矩形 68"/>
          <p:cNvSpPr/>
          <p:nvPr/>
        </p:nvSpPr>
        <p:spPr>
          <a:xfrm>
            <a:off x="6282607"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0" name="矩形 69"/>
          <p:cNvSpPr/>
          <p:nvPr/>
        </p:nvSpPr>
        <p:spPr>
          <a:xfrm>
            <a:off x="6413383"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1" name="矩形 70"/>
          <p:cNvSpPr/>
          <p:nvPr/>
        </p:nvSpPr>
        <p:spPr>
          <a:xfrm>
            <a:off x="6548789"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2" name="矩形 71"/>
          <p:cNvSpPr/>
          <p:nvPr/>
        </p:nvSpPr>
        <p:spPr>
          <a:xfrm>
            <a:off x="6684195"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3" name="矩形 72"/>
          <p:cNvSpPr/>
          <p:nvPr/>
        </p:nvSpPr>
        <p:spPr>
          <a:xfrm>
            <a:off x="6810369"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4" name="矩形 73"/>
          <p:cNvSpPr/>
          <p:nvPr/>
        </p:nvSpPr>
        <p:spPr>
          <a:xfrm>
            <a:off x="6941470"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6" name="矩形 75"/>
          <p:cNvSpPr/>
          <p:nvPr/>
        </p:nvSpPr>
        <p:spPr>
          <a:xfrm>
            <a:off x="7076876"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7" name="矩形 76"/>
          <p:cNvSpPr/>
          <p:nvPr/>
        </p:nvSpPr>
        <p:spPr>
          <a:xfrm>
            <a:off x="7212282"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8" name="矩形 77"/>
          <p:cNvSpPr/>
          <p:nvPr/>
        </p:nvSpPr>
        <p:spPr>
          <a:xfrm>
            <a:off x="7338451"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79" name="矩形 78"/>
          <p:cNvSpPr/>
          <p:nvPr/>
        </p:nvSpPr>
        <p:spPr>
          <a:xfrm>
            <a:off x="7469228"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80" name="矩形 79"/>
          <p:cNvSpPr/>
          <p:nvPr/>
        </p:nvSpPr>
        <p:spPr>
          <a:xfrm>
            <a:off x="7604633" y="2091847"/>
            <a:ext cx="133858" cy="286522"/>
          </a:xfrm>
          <a:prstGeom prst="rect">
            <a:avLst/>
          </a:prstGeom>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81" name="矩形 80"/>
          <p:cNvSpPr/>
          <p:nvPr/>
        </p:nvSpPr>
        <p:spPr>
          <a:xfrm>
            <a:off x="7740039"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82" name="矩形 81"/>
          <p:cNvSpPr/>
          <p:nvPr/>
        </p:nvSpPr>
        <p:spPr>
          <a:xfrm>
            <a:off x="7866214"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
        <p:nvSpPr>
          <p:cNvPr id="4" name="矩形 3"/>
          <p:cNvSpPr/>
          <p:nvPr/>
        </p:nvSpPr>
        <p:spPr>
          <a:xfrm>
            <a:off x="3764133" y="2091847"/>
            <a:ext cx="133858" cy="286522"/>
          </a:xfrm>
          <a:prstGeom prst="rect">
            <a:avLst/>
          </a:prstGeom>
          <a:solidFill>
            <a:srgbClr val="0070C0"/>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310" dirty="0"/>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5980" y="463949"/>
            <a:ext cx="10762906" cy="792000"/>
          </a:xfrm>
        </p:spPr>
        <p:txBody>
          <a:bodyPr/>
          <a:lstStyle/>
          <a:p>
            <a:r>
              <a:rPr lang="en-US" dirty="0"/>
              <a:t>Cache coherence in Matrix-vector multiplication</a:t>
            </a:r>
          </a:p>
        </p:txBody>
      </p:sp>
      <p:sp>
        <p:nvSpPr>
          <p:cNvPr id="5" name="矩形 4"/>
          <p:cNvSpPr/>
          <p:nvPr/>
        </p:nvSpPr>
        <p:spPr>
          <a:xfrm>
            <a:off x="2315675" y="3659634"/>
            <a:ext cx="968000" cy="274174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520" dirty="0">
                <a:solidFill>
                  <a:schemeClr val="tx1"/>
                </a:solidFill>
              </a:rPr>
              <a:t>A</a:t>
            </a:r>
            <a:endParaRPr lang="en-US" sz="2520" dirty="0">
              <a:solidFill>
                <a:schemeClr val="tx1"/>
              </a:solidFill>
            </a:endParaRPr>
          </a:p>
        </p:txBody>
      </p:sp>
      <p:sp>
        <p:nvSpPr>
          <p:cNvPr id="6" name="矩形 5"/>
          <p:cNvSpPr/>
          <p:nvPr/>
        </p:nvSpPr>
        <p:spPr>
          <a:xfrm>
            <a:off x="3748488" y="4524643"/>
            <a:ext cx="272025" cy="8613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2940" dirty="0">
                <a:solidFill>
                  <a:schemeClr val="tx1"/>
                </a:solidFill>
              </a:rPr>
              <a:t>x</a:t>
            </a:r>
            <a:endParaRPr lang="en-US" sz="2940" dirty="0">
              <a:solidFill>
                <a:schemeClr val="tx1"/>
              </a:solidFill>
            </a:endParaRPr>
          </a:p>
        </p:txBody>
      </p:sp>
      <p:sp>
        <p:nvSpPr>
          <p:cNvPr id="7" name="矩形 6"/>
          <p:cNvSpPr/>
          <p:nvPr/>
        </p:nvSpPr>
        <p:spPr>
          <a:xfrm>
            <a:off x="3761064"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CPU0</a:t>
            </a:r>
            <a:endParaRPr lang="en-US" sz="2310" dirty="0">
              <a:solidFill>
                <a:schemeClr val="tx1"/>
              </a:solidFill>
            </a:endParaRPr>
          </a:p>
        </p:txBody>
      </p:sp>
      <p:sp>
        <p:nvSpPr>
          <p:cNvPr id="8" name="矩形 7"/>
          <p:cNvSpPr/>
          <p:nvPr/>
        </p:nvSpPr>
        <p:spPr>
          <a:xfrm>
            <a:off x="4813503"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CPU1</a:t>
            </a:r>
            <a:endParaRPr lang="en-US" sz="2310" dirty="0">
              <a:solidFill>
                <a:schemeClr val="tx1"/>
              </a:solidFill>
            </a:endParaRPr>
          </a:p>
        </p:txBody>
      </p:sp>
      <p:sp>
        <p:nvSpPr>
          <p:cNvPr id="9" name="矩形 8"/>
          <p:cNvSpPr/>
          <p:nvPr/>
        </p:nvSpPr>
        <p:spPr>
          <a:xfrm>
            <a:off x="5869635"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CPU2</a:t>
            </a:r>
            <a:endParaRPr lang="en-US" sz="2310" dirty="0">
              <a:solidFill>
                <a:schemeClr val="tx1"/>
              </a:solidFill>
            </a:endParaRPr>
          </a:p>
        </p:txBody>
      </p:sp>
      <p:sp>
        <p:nvSpPr>
          <p:cNvPr id="10" name="矩形 9"/>
          <p:cNvSpPr/>
          <p:nvPr/>
        </p:nvSpPr>
        <p:spPr>
          <a:xfrm>
            <a:off x="6931306" y="1588278"/>
            <a:ext cx="1056132" cy="4800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10" dirty="0">
                <a:solidFill>
                  <a:schemeClr val="tx1"/>
                </a:solidFill>
              </a:rPr>
              <a:t>CPU3</a:t>
            </a:r>
            <a:endParaRPr lang="en-US" sz="2310" dirty="0">
              <a:solidFill>
                <a:schemeClr val="tx1"/>
              </a:solidFill>
            </a:endParaRPr>
          </a:p>
        </p:txBody>
      </p:sp>
      <p:sp>
        <p:nvSpPr>
          <p:cNvPr id="11" name="矩形 10"/>
          <p:cNvSpPr/>
          <p:nvPr/>
        </p:nvSpPr>
        <p:spPr>
          <a:xfrm>
            <a:off x="3761064" y="2077222"/>
            <a:ext cx="1056132" cy="12934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12" name="矩形 11"/>
          <p:cNvSpPr/>
          <p:nvPr/>
        </p:nvSpPr>
        <p:spPr>
          <a:xfrm>
            <a:off x="4816231" y="2077222"/>
            <a:ext cx="1062636" cy="12934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20" name="文本框 19"/>
          <p:cNvSpPr txBox="1"/>
          <p:nvPr/>
        </p:nvSpPr>
        <p:spPr>
          <a:xfrm>
            <a:off x="3337930" y="2036593"/>
            <a:ext cx="454660" cy="446405"/>
          </a:xfrm>
          <a:prstGeom prst="rect">
            <a:avLst/>
          </a:prstGeom>
          <a:noFill/>
        </p:spPr>
        <p:txBody>
          <a:bodyPr wrap="none" rtlCol="0">
            <a:spAutoFit/>
          </a:bodyPr>
          <a:lstStyle/>
          <a:p>
            <a:r>
              <a:rPr lang="en-US" altLang="zh-CN" sz="2310" dirty="0"/>
              <a:t>L1</a:t>
            </a:r>
            <a:endParaRPr lang="en-US" sz="2310" dirty="0"/>
          </a:p>
        </p:txBody>
      </p:sp>
      <p:sp>
        <p:nvSpPr>
          <p:cNvPr id="66" name="矩形 65"/>
          <p:cNvSpPr/>
          <p:nvPr/>
        </p:nvSpPr>
        <p:spPr>
          <a:xfrm>
            <a:off x="5882557" y="2077222"/>
            <a:ext cx="1056132" cy="12842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75" name="矩形 74"/>
          <p:cNvSpPr/>
          <p:nvPr/>
        </p:nvSpPr>
        <p:spPr>
          <a:xfrm>
            <a:off x="6938401" y="2077222"/>
            <a:ext cx="1056132" cy="12842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10" dirty="0">
              <a:solidFill>
                <a:schemeClr val="tx1"/>
              </a:solidFill>
            </a:endParaRPr>
          </a:p>
        </p:txBody>
      </p:sp>
      <p:sp>
        <p:nvSpPr>
          <p:cNvPr id="83" name="文本框 82"/>
          <p:cNvSpPr txBox="1"/>
          <p:nvPr/>
        </p:nvSpPr>
        <p:spPr>
          <a:xfrm>
            <a:off x="4228043" y="4648293"/>
            <a:ext cx="395605" cy="607695"/>
          </a:xfrm>
          <a:prstGeom prst="rect">
            <a:avLst/>
          </a:prstGeom>
          <a:noFill/>
        </p:spPr>
        <p:txBody>
          <a:bodyPr wrap="none" rtlCol="0">
            <a:spAutoFit/>
          </a:bodyPr>
          <a:lstStyle/>
          <a:p>
            <a:r>
              <a:rPr lang="en-US" altLang="zh-CN" sz="3360" dirty="0"/>
              <a:t>=</a:t>
            </a:r>
            <a:endParaRPr lang="en-US" sz="3360" dirty="0"/>
          </a:p>
        </p:txBody>
      </p:sp>
      <p:sp>
        <p:nvSpPr>
          <p:cNvPr id="86" name="矩形 85"/>
          <p:cNvSpPr/>
          <p:nvPr/>
        </p:nvSpPr>
        <p:spPr>
          <a:xfrm>
            <a:off x="4844916" y="3673075"/>
            <a:ext cx="233253" cy="2728305"/>
          </a:xfrm>
          <a:prstGeom prst="rect">
            <a:avLst/>
          </a:prstGeom>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y</a:t>
            </a:r>
          </a:p>
        </p:txBody>
      </p:sp>
      <p:sp>
        <p:nvSpPr>
          <p:cNvPr id="87" name="文本框 86"/>
          <p:cNvSpPr txBox="1"/>
          <p:nvPr/>
        </p:nvSpPr>
        <p:spPr>
          <a:xfrm>
            <a:off x="7940103" y="2436761"/>
            <a:ext cx="2619375" cy="801370"/>
          </a:xfrm>
          <a:prstGeom prst="rect">
            <a:avLst/>
          </a:prstGeom>
          <a:noFill/>
        </p:spPr>
        <p:txBody>
          <a:bodyPr wrap="none" rtlCol="0">
            <a:spAutoFit/>
          </a:bodyPr>
          <a:lstStyle/>
          <a:p>
            <a:r>
              <a:rPr lang="en-US" altLang="zh-CN" sz="2310" dirty="0"/>
              <a:t>Cache line 64 Bytes, </a:t>
            </a:r>
          </a:p>
          <a:p>
            <a:r>
              <a:rPr lang="en-US" altLang="zh-CN" sz="2310" dirty="0"/>
              <a:t>store 8 doubles</a:t>
            </a:r>
            <a:endParaRPr lang="en-US" sz="2310" dirty="0"/>
          </a:p>
        </p:txBody>
      </p:sp>
      <p:sp>
        <p:nvSpPr>
          <p:cNvPr id="88" name="文本框 87"/>
          <p:cNvSpPr txBox="1"/>
          <p:nvPr/>
        </p:nvSpPr>
        <p:spPr>
          <a:xfrm>
            <a:off x="2197236" y="6575805"/>
            <a:ext cx="1776730" cy="446405"/>
          </a:xfrm>
          <a:prstGeom prst="rect">
            <a:avLst/>
          </a:prstGeom>
          <a:noFill/>
        </p:spPr>
        <p:txBody>
          <a:bodyPr wrap="none" rtlCol="0">
            <a:spAutoFit/>
          </a:bodyPr>
          <a:lstStyle/>
          <a:p>
            <a:r>
              <a:rPr lang="en-US" altLang="zh-CN" sz="2310" dirty="0"/>
              <a:t>8,000,000 x 8</a:t>
            </a:r>
            <a:endParaRPr lang="en-US" sz="2310" dirty="0"/>
          </a:p>
        </p:txBody>
      </p:sp>
      <p:sp>
        <p:nvSpPr>
          <p:cNvPr id="89" name="文本框 88"/>
          <p:cNvSpPr txBox="1"/>
          <p:nvPr/>
        </p:nvSpPr>
        <p:spPr>
          <a:xfrm>
            <a:off x="4346596" y="6509852"/>
            <a:ext cx="1776730" cy="446405"/>
          </a:xfrm>
          <a:prstGeom prst="rect">
            <a:avLst/>
          </a:prstGeom>
          <a:noFill/>
        </p:spPr>
        <p:txBody>
          <a:bodyPr wrap="none" rtlCol="0">
            <a:spAutoFit/>
          </a:bodyPr>
          <a:lstStyle/>
          <a:p>
            <a:r>
              <a:rPr lang="en-US" altLang="zh-CN" sz="2310" dirty="0"/>
              <a:t>8,000,000 x 1</a:t>
            </a:r>
            <a:endParaRPr lang="en-US" sz="2310" dirty="0"/>
          </a:p>
        </p:txBody>
      </p:sp>
      <p:sp>
        <p:nvSpPr>
          <p:cNvPr id="90" name="文本框 89"/>
          <p:cNvSpPr txBox="1"/>
          <p:nvPr/>
        </p:nvSpPr>
        <p:spPr>
          <a:xfrm>
            <a:off x="9521516" y="4276652"/>
            <a:ext cx="2855948" cy="803297"/>
          </a:xfrm>
          <a:prstGeom prst="rect">
            <a:avLst/>
          </a:prstGeom>
          <a:noFill/>
          <a:ln>
            <a:solidFill>
              <a:schemeClr val="tx1"/>
            </a:solidFill>
          </a:ln>
        </p:spPr>
        <p:txBody>
          <a:bodyPr wrap="square" rtlCol="0">
            <a:spAutoFit/>
          </a:bodyPr>
          <a:lstStyle/>
          <a:p>
            <a:r>
              <a:rPr lang="en-US" altLang="zh-CN" sz="2310" dirty="0"/>
              <a:t>for (…. )</a:t>
            </a:r>
          </a:p>
          <a:p>
            <a:r>
              <a:rPr lang="en-US" altLang="zh-CN" sz="2310" dirty="0"/>
              <a:t>     y[</a:t>
            </a:r>
            <a:r>
              <a:rPr lang="en-US" altLang="zh-CN" sz="2310" dirty="0" err="1"/>
              <a:t>i</a:t>
            </a:r>
            <a:r>
              <a:rPr lang="en-US" altLang="zh-CN" sz="2310" dirty="0"/>
              <a:t>] += A[</a:t>
            </a:r>
            <a:r>
              <a:rPr lang="en-US" altLang="zh-CN" sz="2310" dirty="0" err="1"/>
              <a:t>i</a:t>
            </a:r>
            <a:r>
              <a:rPr lang="en-US" altLang="zh-CN" sz="2310" dirty="0"/>
              <a:t>][j] * x[j]; </a:t>
            </a:r>
            <a:endParaRPr lang="en-US" sz="2310" dirty="0"/>
          </a:p>
        </p:txBody>
      </p:sp>
      <p:sp>
        <p:nvSpPr>
          <p:cNvPr id="93" name="文本框 92"/>
          <p:cNvSpPr txBox="1"/>
          <p:nvPr/>
        </p:nvSpPr>
        <p:spPr>
          <a:xfrm>
            <a:off x="10009998" y="5245425"/>
            <a:ext cx="1791401" cy="1158779"/>
          </a:xfrm>
          <a:prstGeom prst="rect">
            <a:avLst/>
          </a:prstGeom>
          <a:noFill/>
          <a:ln>
            <a:solidFill>
              <a:schemeClr val="tx1"/>
            </a:solidFill>
          </a:ln>
        </p:spPr>
        <p:txBody>
          <a:bodyPr wrap="square" rtlCol="0">
            <a:spAutoFit/>
          </a:bodyPr>
          <a:lstStyle/>
          <a:p>
            <a:r>
              <a:rPr lang="en-US" altLang="zh-CN" sz="2310" dirty="0"/>
              <a:t>No </a:t>
            </a:r>
            <a:r>
              <a:rPr lang="en-US" altLang="zh-CN" sz="2310"/>
              <a:t>cache coherence issue</a:t>
            </a:r>
            <a:endParaRPr lang="en-US" sz="2310" dirty="0"/>
          </a:p>
        </p:txBody>
      </p:sp>
      <p:sp>
        <p:nvSpPr>
          <p:cNvPr id="94" name="矩形 93"/>
          <p:cNvSpPr/>
          <p:nvPr/>
        </p:nvSpPr>
        <p:spPr>
          <a:xfrm>
            <a:off x="3757371"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5" name="矩形 94"/>
          <p:cNvSpPr/>
          <p:nvPr/>
        </p:nvSpPr>
        <p:spPr>
          <a:xfrm>
            <a:off x="4821770"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6" name="矩形 95"/>
          <p:cNvSpPr/>
          <p:nvPr/>
        </p:nvSpPr>
        <p:spPr>
          <a:xfrm>
            <a:off x="5893964"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7" name="矩形 96"/>
          <p:cNvSpPr/>
          <p:nvPr/>
        </p:nvSpPr>
        <p:spPr>
          <a:xfrm>
            <a:off x="6953789" y="2379941"/>
            <a:ext cx="1059825" cy="2873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520" dirty="0">
              <a:solidFill>
                <a:schemeClr val="tx1"/>
              </a:solidFill>
            </a:endParaRPr>
          </a:p>
        </p:txBody>
      </p:sp>
      <p:sp>
        <p:nvSpPr>
          <p:cNvPr id="98" name="矩形 97"/>
          <p:cNvSpPr/>
          <p:nvPr/>
        </p:nvSpPr>
        <p:spPr>
          <a:xfrm>
            <a:off x="3761064"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99" name="矩形 98"/>
          <p:cNvSpPr/>
          <p:nvPr/>
        </p:nvSpPr>
        <p:spPr>
          <a:xfrm>
            <a:off x="4825463"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100" name="矩形 99"/>
          <p:cNvSpPr/>
          <p:nvPr/>
        </p:nvSpPr>
        <p:spPr>
          <a:xfrm>
            <a:off x="5897657"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sp>
        <p:nvSpPr>
          <p:cNvPr id="101" name="矩形 100"/>
          <p:cNvSpPr/>
          <p:nvPr/>
        </p:nvSpPr>
        <p:spPr>
          <a:xfrm>
            <a:off x="6957482" y="2659683"/>
            <a:ext cx="1059825" cy="28734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2520" dirty="0">
              <a:solidFill>
                <a:schemeClr val="tx1"/>
              </a:solidFill>
            </a:endParaRPr>
          </a:p>
        </p:txBody>
      </p:sp>
      <p:cxnSp>
        <p:nvCxnSpPr>
          <p:cNvPr id="16" name="直接连接符 15"/>
          <p:cNvCxnSpPr/>
          <p:nvPr/>
        </p:nvCxnSpPr>
        <p:spPr>
          <a:xfrm>
            <a:off x="5335722" y="3673075"/>
            <a:ext cx="1346925"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直接连接符 83"/>
          <p:cNvCxnSpPr/>
          <p:nvPr/>
        </p:nvCxnSpPr>
        <p:spPr>
          <a:xfrm>
            <a:off x="5335722" y="4358469"/>
            <a:ext cx="1346925"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5" name="直接连接符 84"/>
          <p:cNvCxnSpPr/>
          <p:nvPr/>
        </p:nvCxnSpPr>
        <p:spPr>
          <a:xfrm>
            <a:off x="5346021" y="5060941"/>
            <a:ext cx="1346925"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2" name="直接连接符 101"/>
          <p:cNvCxnSpPr/>
          <p:nvPr/>
        </p:nvCxnSpPr>
        <p:spPr>
          <a:xfrm>
            <a:off x="5346021" y="6401380"/>
            <a:ext cx="1346925"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3" name="直接连接符 102"/>
          <p:cNvCxnSpPr/>
          <p:nvPr/>
        </p:nvCxnSpPr>
        <p:spPr>
          <a:xfrm>
            <a:off x="5346021" y="5651784"/>
            <a:ext cx="1346925"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4" name="文本框 103"/>
          <p:cNvSpPr txBox="1"/>
          <p:nvPr/>
        </p:nvSpPr>
        <p:spPr>
          <a:xfrm>
            <a:off x="5402651" y="3791178"/>
            <a:ext cx="3011170" cy="446405"/>
          </a:xfrm>
          <a:prstGeom prst="rect">
            <a:avLst/>
          </a:prstGeom>
          <a:noFill/>
        </p:spPr>
        <p:txBody>
          <a:bodyPr wrap="none" rtlCol="0">
            <a:spAutoFit/>
          </a:bodyPr>
          <a:lstStyle/>
          <a:p>
            <a:r>
              <a:rPr lang="en-US" sz="2310" dirty="0"/>
              <a:t>Thread 0, [0, 2 000 000)</a:t>
            </a:r>
          </a:p>
        </p:txBody>
      </p:sp>
      <p:sp>
        <p:nvSpPr>
          <p:cNvPr id="105" name="文本框 104"/>
          <p:cNvSpPr txBox="1"/>
          <p:nvPr/>
        </p:nvSpPr>
        <p:spPr>
          <a:xfrm>
            <a:off x="5354140" y="4492244"/>
            <a:ext cx="4034790" cy="446405"/>
          </a:xfrm>
          <a:prstGeom prst="rect">
            <a:avLst/>
          </a:prstGeom>
          <a:noFill/>
        </p:spPr>
        <p:txBody>
          <a:bodyPr wrap="none" rtlCol="0">
            <a:spAutoFit/>
          </a:bodyPr>
          <a:lstStyle/>
          <a:p>
            <a:r>
              <a:rPr lang="en-US" sz="2310" dirty="0"/>
              <a:t>Thread 1, [2 000 000, 4 000 000)</a:t>
            </a:r>
          </a:p>
        </p:txBody>
      </p:sp>
      <p:sp>
        <p:nvSpPr>
          <p:cNvPr id="106" name="文本框 105"/>
          <p:cNvSpPr txBox="1"/>
          <p:nvPr/>
        </p:nvSpPr>
        <p:spPr>
          <a:xfrm>
            <a:off x="5351682" y="5169414"/>
            <a:ext cx="4034790" cy="446405"/>
          </a:xfrm>
          <a:prstGeom prst="rect">
            <a:avLst/>
          </a:prstGeom>
          <a:noFill/>
        </p:spPr>
        <p:txBody>
          <a:bodyPr wrap="none" rtlCol="0">
            <a:spAutoFit/>
          </a:bodyPr>
          <a:lstStyle/>
          <a:p>
            <a:r>
              <a:rPr lang="en-US" sz="2310" dirty="0"/>
              <a:t>Thread 2, [4 000 000, 6 000 000)</a:t>
            </a:r>
          </a:p>
        </p:txBody>
      </p:sp>
      <p:sp>
        <p:nvSpPr>
          <p:cNvPr id="107" name="文本框 106"/>
          <p:cNvSpPr txBox="1"/>
          <p:nvPr/>
        </p:nvSpPr>
        <p:spPr>
          <a:xfrm>
            <a:off x="5356388" y="5785919"/>
            <a:ext cx="4034790" cy="446405"/>
          </a:xfrm>
          <a:prstGeom prst="rect">
            <a:avLst/>
          </a:prstGeom>
          <a:noFill/>
        </p:spPr>
        <p:txBody>
          <a:bodyPr wrap="none" rtlCol="0">
            <a:spAutoFit/>
          </a:bodyPr>
          <a:lstStyle/>
          <a:p>
            <a:r>
              <a:rPr lang="en-US" sz="2310" dirty="0"/>
              <a:t>Thread 3, [6 000 000, 8 000 000)</a:t>
            </a:r>
          </a:p>
        </p:txBody>
      </p:sp>
      <p:sp>
        <p:nvSpPr>
          <p:cNvPr id="108" name="矩形 107"/>
          <p:cNvSpPr/>
          <p:nvPr/>
        </p:nvSpPr>
        <p:spPr>
          <a:xfrm>
            <a:off x="3741410" y="2088053"/>
            <a:ext cx="1059825" cy="28734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100" dirty="0">
                <a:solidFill>
                  <a:schemeClr val="tx1"/>
                </a:solidFill>
              </a:rPr>
              <a:t>0-7</a:t>
            </a:r>
          </a:p>
        </p:txBody>
      </p:sp>
      <p:sp>
        <p:nvSpPr>
          <p:cNvPr id="109" name="矩形 108"/>
          <p:cNvSpPr/>
          <p:nvPr/>
        </p:nvSpPr>
        <p:spPr>
          <a:xfrm>
            <a:off x="4805809" y="2088053"/>
            <a:ext cx="1059825" cy="28734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ct val="75000"/>
              </a:lnSpc>
            </a:pPr>
            <a:r>
              <a:rPr lang="en-US" sz="1470" dirty="0">
                <a:solidFill>
                  <a:schemeClr val="tx1"/>
                </a:solidFill>
              </a:rPr>
              <a:t>200000-2000007</a:t>
            </a:r>
            <a:endParaRPr lang="en-US" sz="2520" dirty="0">
              <a:solidFill>
                <a:schemeClr val="tx1"/>
              </a:solidFill>
            </a:endParaRPr>
          </a:p>
        </p:txBody>
      </p:sp>
      <p:sp>
        <p:nvSpPr>
          <p:cNvPr id="110" name="矩形 109"/>
          <p:cNvSpPr/>
          <p:nvPr/>
        </p:nvSpPr>
        <p:spPr>
          <a:xfrm>
            <a:off x="5878003" y="2088053"/>
            <a:ext cx="1059825" cy="28734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ct val="75000"/>
              </a:lnSpc>
            </a:pPr>
            <a:r>
              <a:rPr lang="en-US" sz="1470" dirty="0">
                <a:solidFill>
                  <a:schemeClr val="tx1"/>
                </a:solidFill>
              </a:rPr>
              <a:t>400000-4000007</a:t>
            </a:r>
            <a:endParaRPr lang="en-US" sz="2520" dirty="0">
              <a:solidFill>
                <a:schemeClr val="tx1"/>
              </a:solidFill>
            </a:endParaRPr>
          </a:p>
        </p:txBody>
      </p:sp>
      <p:sp>
        <p:nvSpPr>
          <p:cNvPr id="111" name="矩形 110"/>
          <p:cNvSpPr/>
          <p:nvPr/>
        </p:nvSpPr>
        <p:spPr>
          <a:xfrm>
            <a:off x="6937828" y="2088053"/>
            <a:ext cx="1059825" cy="28734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60" dirty="0">
                <a:solidFill>
                  <a:schemeClr val="tx1"/>
                </a:solidFill>
              </a:rPr>
              <a:t>600000-6000007</a:t>
            </a: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2" name="object 2"/>
          <p:cNvSpPr txBox="1"/>
          <p:nvPr/>
        </p:nvSpPr>
        <p:spPr>
          <a:xfrm>
            <a:off x="2441372" y="4400017"/>
            <a:ext cx="4041172" cy="884555"/>
          </a:xfrm>
          <a:prstGeom prst="rect">
            <a:avLst/>
          </a:prstGeom>
        </p:spPr>
        <p:txBody>
          <a:bodyPr vert="horz" wrap="square" lIns="0" tIns="13334" rIns="0" bIns="0" rtlCol="0">
            <a:spAutoFit/>
          </a:bodyPr>
          <a:lstStyle/>
          <a:p>
            <a:pPr marL="12700">
              <a:lnSpc>
                <a:spcPct val="100000"/>
              </a:lnSpc>
              <a:spcBef>
                <a:spcPts val="100"/>
              </a:spcBef>
            </a:pPr>
            <a:r>
              <a:rPr sz="5670" b="0" spc="-25" dirty="0">
                <a:latin typeface="Calibri Light" panose="020F0302020204030204"/>
                <a:cs typeface="Calibri Light" panose="020F0302020204030204"/>
              </a:rPr>
              <a:t>Thread-Safety</a:t>
            </a:r>
            <a:endParaRPr sz="5670">
              <a:latin typeface="Calibri Light" panose="020F0302020204030204"/>
              <a:cs typeface="Calibri Light" panose="020F0302020204030204"/>
            </a:endParaRPr>
          </a:p>
        </p:txBody>
      </p:sp>
      <p:sp>
        <p:nvSpPr>
          <p:cNvPr id="3" name="object 3"/>
          <p:cNvSpPr/>
          <p:nvPr/>
        </p:nvSpPr>
        <p:spPr>
          <a:xfrm>
            <a:off x="2411619" y="1105737"/>
            <a:ext cx="2561265" cy="3250006"/>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92</a:t>
            </a:fld>
            <a:endParaRPr sz="1260">
              <a:latin typeface="Calibri" panose="020F0502020204030204"/>
              <a:cs typeface="Calibri" panose="020F0502020204030204"/>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20" dirty="0"/>
              <a:t>Thread-Safety</a:t>
            </a:r>
            <a:endParaRPr sz="4620" dirty="0"/>
          </a:p>
        </p:txBody>
      </p:sp>
      <p:sp>
        <p:nvSpPr>
          <p:cNvPr id="3" name="object 3"/>
          <p:cNvSpPr txBox="1"/>
          <p:nvPr/>
        </p:nvSpPr>
        <p:spPr>
          <a:xfrm>
            <a:off x="2343119" y="1883168"/>
            <a:ext cx="7040880" cy="1686551"/>
          </a:xfrm>
          <a:prstGeom prst="rect">
            <a:avLst/>
          </a:prstGeom>
        </p:spPr>
        <p:txBody>
          <a:bodyPr vert="horz" wrap="square" lIns="0" tIns="57340" rIns="0" bIns="0" rtlCol="0">
            <a:spAutoFit/>
          </a:bodyPr>
          <a:lstStyle/>
          <a:p>
            <a:pPr marL="241300" marR="5080" indent="-228600">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block </a:t>
            </a:r>
            <a:r>
              <a:rPr sz="2940" spc="-5" dirty="0">
                <a:latin typeface="Comic Sans MS" panose="030F0702030302020204" pitchFamily="66" charset="0"/>
                <a:cs typeface="Calibri" panose="020F0502020204030204"/>
              </a:rPr>
              <a:t>of </a:t>
            </a:r>
            <a:r>
              <a:rPr sz="2940" spc="-10" dirty="0">
                <a:latin typeface="Comic Sans MS" panose="030F0702030302020204" pitchFamily="66" charset="0"/>
                <a:cs typeface="Calibri" panose="020F0502020204030204"/>
              </a:rPr>
              <a:t>code </a:t>
            </a:r>
            <a:r>
              <a:rPr sz="2940" spc="-5" dirty="0">
                <a:latin typeface="Comic Sans MS" panose="030F0702030302020204" pitchFamily="66" charset="0"/>
                <a:cs typeface="Calibri" panose="020F0502020204030204"/>
              </a:rPr>
              <a:t>is </a:t>
            </a:r>
            <a:r>
              <a:rPr sz="2940" b="1" spc="-15" dirty="0">
                <a:solidFill>
                  <a:srgbClr val="FF0000"/>
                </a:solidFill>
                <a:latin typeface="Comic Sans MS" panose="030F0702030302020204" pitchFamily="66" charset="0"/>
                <a:cs typeface="Calibri" panose="020F0502020204030204"/>
              </a:rPr>
              <a:t>thread-safe </a:t>
            </a:r>
            <a:r>
              <a:rPr sz="2940" spc="-5" dirty="0">
                <a:latin typeface="Comic Sans MS" panose="030F0702030302020204" pitchFamily="66" charset="0"/>
                <a:cs typeface="Calibri" panose="020F0502020204030204"/>
              </a:rPr>
              <a:t>if </a:t>
            </a:r>
            <a:r>
              <a:rPr sz="2940" spc="-10" dirty="0">
                <a:latin typeface="Comic Sans MS" panose="030F0702030302020204" pitchFamily="66" charset="0"/>
                <a:cs typeface="Calibri" panose="020F0502020204030204"/>
              </a:rPr>
              <a:t>it can be  simultaneously </a:t>
            </a:r>
            <a:r>
              <a:rPr sz="2940" spc="-25" dirty="0">
                <a:latin typeface="Comic Sans MS" panose="030F0702030302020204" pitchFamily="66" charset="0"/>
                <a:cs typeface="Calibri" panose="020F0502020204030204"/>
              </a:rPr>
              <a:t>executed </a:t>
            </a:r>
            <a:r>
              <a:rPr sz="2940" spc="-15" dirty="0">
                <a:latin typeface="Comic Sans MS" panose="030F0702030302020204" pitchFamily="66" charset="0"/>
                <a:cs typeface="Calibri" panose="020F0502020204030204"/>
              </a:rPr>
              <a:t>by </a:t>
            </a:r>
            <a:r>
              <a:rPr sz="2940" spc="-10" dirty="0">
                <a:latin typeface="Comic Sans MS" panose="030F0702030302020204" pitchFamily="66" charset="0"/>
                <a:cs typeface="Calibri" panose="020F0502020204030204"/>
              </a:rPr>
              <a:t>multiple threads </a:t>
            </a:r>
            <a:r>
              <a:rPr sz="2940" spc="-10" dirty="0">
                <a:solidFill>
                  <a:srgbClr val="FF0000"/>
                </a:solidFill>
                <a:latin typeface="Comic Sans MS" panose="030F0702030302020204" pitchFamily="66" charset="0"/>
                <a:cs typeface="Calibri" panose="020F0502020204030204"/>
              </a:rPr>
              <a:t> </a:t>
            </a:r>
            <a:r>
              <a:rPr sz="2940" spc="-5" dirty="0">
                <a:solidFill>
                  <a:srgbClr val="FF0000"/>
                </a:solidFill>
                <a:latin typeface="Comic Sans MS" panose="030F0702030302020204" pitchFamily="66" charset="0"/>
                <a:cs typeface="Calibri" panose="020F0502020204030204"/>
              </a:rPr>
              <a:t>without </a:t>
            </a:r>
            <a:r>
              <a:rPr sz="2940" spc="-10" dirty="0">
                <a:solidFill>
                  <a:srgbClr val="FF0000"/>
                </a:solidFill>
                <a:latin typeface="Comic Sans MS" panose="030F0702030302020204" pitchFamily="66" charset="0"/>
                <a:cs typeface="Calibri" panose="020F0502020204030204"/>
              </a:rPr>
              <a:t>causing</a:t>
            </a:r>
            <a:r>
              <a:rPr sz="2940" spc="40"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problems</a:t>
            </a:r>
            <a:r>
              <a:rPr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
        <p:nvSpPr>
          <p:cNvPr id="4" name="object 4"/>
          <p:cNvSpPr/>
          <p:nvPr/>
        </p:nvSpPr>
        <p:spPr>
          <a:xfrm>
            <a:off x="9131049" y="2998415"/>
            <a:ext cx="2260004" cy="3250006"/>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93</a:t>
            </a:fld>
            <a:endParaRPr sz="1260">
              <a:latin typeface="Calibri" panose="020F0502020204030204"/>
              <a:cs typeface="Calibri" panose="020F0502020204030204"/>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65321" y="4956211"/>
            <a:ext cx="2293160" cy="1527087"/>
          </a:xfrm>
          <a:prstGeom prst="rect">
            <a:avLst/>
          </a:prstGeom>
          <a:blipFill>
            <a:blip r:embed="rId2" cstate="print"/>
            <a:stretch>
              <a:fillRect/>
            </a:stretch>
          </a:blipFill>
        </p:spPr>
        <p:txBody>
          <a:bodyPr wrap="square" lIns="0" tIns="0" rIns="0" bIns="0" rtlCol="0"/>
          <a:lstStyle/>
          <a:p>
            <a:endParaRPr sz="2310"/>
          </a:p>
        </p:txBody>
      </p:sp>
      <p:sp>
        <p:nvSpPr>
          <p:cNvPr id="3" name="object 3"/>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E</a:t>
            </a:r>
            <a:r>
              <a:rPr sz="4620" spc="-85" dirty="0"/>
              <a:t>x</a:t>
            </a:r>
            <a:r>
              <a:rPr sz="4620" dirty="0"/>
              <a:t>ample</a:t>
            </a:r>
            <a:r>
              <a:rPr lang="en-US" sz="4620" dirty="0"/>
              <a:t>: tokenizing texts</a:t>
            </a:r>
            <a:endParaRPr sz="4620" dirty="0"/>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94</a:t>
            </a:fld>
            <a:endParaRPr sz="1260">
              <a:latin typeface="Calibri" panose="020F0502020204030204"/>
              <a:cs typeface="Calibri" panose="020F0502020204030204"/>
            </a:endParaRPr>
          </a:p>
        </p:txBody>
      </p:sp>
      <p:sp>
        <p:nvSpPr>
          <p:cNvPr id="4" name="object 4"/>
          <p:cNvSpPr txBox="1"/>
          <p:nvPr/>
        </p:nvSpPr>
        <p:spPr>
          <a:xfrm>
            <a:off x="2343119" y="1883168"/>
            <a:ext cx="8324374" cy="3510897"/>
          </a:xfrm>
          <a:prstGeom prst="rect">
            <a:avLst/>
          </a:prstGeom>
        </p:spPr>
        <p:txBody>
          <a:bodyPr vert="horz" wrap="square" lIns="0" tIns="57340" rIns="0" bIns="0" rtlCol="0">
            <a:spAutoFit/>
          </a:bodyPr>
          <a:lstStyle/>
          <a:p>
            <a:pPr marL="241300" marR="689610" indent="-228600">
              <a:lnSpc>
                <a:spcPct val="90000"/>
              </a:lnSpc>
              <a:spcBef>
                <a:spcPts val="430"/>
              </a:spcBef>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25" dirty="0">
                <a:solidFill>
                  <a:srgbClr val="FF0000"/>
                </a:solidFill>
                <a:latin typeface="Comic Sans MS" panose="030F0702030302020204" pitchFamily="66" charset="0"/>
                <a:cs typeface="Calibri" panose="020F0502020204030204"/>
              </a:rPr>
              <a:t>tokens </a:t>
            </a:r>
            <a:r>
              <a:rPr sz="2940" spc="-20" dirty="0">
                <a:latin typeface="Comic Sans MS" panose="030F0702030302020204" pitchFamily="66" charset="0"/>
                <a:cs typeface="Calibri" panose="020F0502020204030204"/>
              </a:rPr>
              <a:t>are just </a:t>
            </a:r>
            <a:r>
              <a:rPr sz="2940" spc="-10" dirty="0">
                <a:solidFill>
                  <a:srgbClr val="0000FF"/>
                </a:solidFill>
                <a:latin typeface="Comic Sans MS" panose="030F0702030302020204" pitchFamily="66" charset="0"/>
                <a:cs typeface="Calibri" panose="020F0502020204030204"/>
              </a:rPr>
              <a:t>contiguous </a:t>
            </a:r>
            <a:r>
              <a:rPr sz="2940" spc="-5" dirty="0">
                <a:solidFill>
                  <a:srgbClr val="0000FF"/>
                </a:solidFill>
                <a:latin typeface="Comic Sans MS" panose="030F0702030302020204" pitchFamily="66" charset="0"/>
                <a:cs typeface="Calibri" panose="020F0502020204030204"/>
              </a:rPr>
              <a:t>sequences </a:t>
            </a:r>
            <a:r>
              <a:rPr sz="2940" spc="-10" dirty="0">
                <a:solidFill>
                  <a:srgbClr val="0000FF"/>
                </a:solidFill>
                <a:latin typeface="Comic Sans MS" panose="030F0702030302020204" pitchFamily="66" charset="0"/>
                <a:cs typeface="Calibri" panose="020F0502020204030204"/>
              </a:rPr>
              <a:t>of  </a:t>
            </a:r>
            <a:r>
              <a:rPr sz="2940" spc="-15" dirty="0">
                <a:solidFill>
                  <a:srgbClr val="0000FF"/>
                </a:solidFill>
                <a:latin typeface="Comic Sans MS" panose="030F0702030302020204" pitchFamily="66" charset="0"/>
                <a:cs typeface="Calibri" panose="020F0502020204030204"/>
              </a:rPr>
              <a:t>characters </a:t>
            </a:r>
            <a:r>
              <a:rPr sz="2940" spc="-20" dirty="0">
                <a:latin typeface="Comic Sans MS" panose="030F0702030302020204" pitchFamily="66" charset="0"/>
                <a:cs typeface="Calibri" panose="020F0502020204030204"/>
              </a:rPr>
              <a:t>separated from </a:t>
            </a:r>
            <a:r>
              <a:rPr sz="2940" spc="-5" dirty="0">
                <a:latin typeface="Comic Sans MS" panose="030F0702030302020204" pitchFamily="66" charset="0"/>
                <a:cs typeface="Calibri" panose="020F0502020204030204"/>
              </a:rPr>
              <a:t>the </a:t>
            </a:r>
            <a:r>
              <a:rPr sz="2940" spc="-20" dirty="0">
                <a:latin typeface="Comic Sans MS" panose="030F0702030302020204" pitchFamily="66" charset="0"/>
                <a:cs typeface="Calibri" panose="020F0502020204030204"/>
              </a:rPr>
              <a:t>rest </a:t>
            </a:r>
            <a:r>
              <a:rPr sz="2940" spc="-5" dirty="0">
                <a:latin typeface="Comic Sans MS" panose="030F0702030302020204" pitchFamily="66" charset="0"/>
                <a:cs typeface="Calibri" panose="020F0502020204030204"/>
              </a:rPr>
              <a:t>of the </a:t>
            </a:r>
            <a:r>
              <a:rPr sz="2940" spc="-20" dirty="0">
                <a:latin typeface="Comic Sans MS" panose="030F0702030302020204" pitchFamily="66" charset="0"/>
                <a:cs typeface="Calibri" panose="020F0502020204030204"/>
              </a:rPr>
              <a:t>text </a:t>
            </a:r>
            <a:r>
              <a:rPr sz="2940" spc="-15" dirty="0">
                <a:latin typeface="Comic Sans MS" panose="030F0702030302020204" pitchFamily="66" charset="0"/>
                <a:cs typeface="Calibri" panose="020F0502020204030204"/>
              </a:rPr>
              <a:t>by  </a:t>
            </a:r>
            <a:r>
              <a:rPr sz="2940" spc="-10" dirty="0">
                <a:latin typeface="Comic Sans MS" panose="030F0702030302020204" pitchFamily="66" charset="0"/>
                <a:cs typeface="Calibri" panose="020F0502020204030204"/>
              </a:rPr>
              <a:t>white-space </a:t>
            </a:r>
            <a:r>
              <a:rPr sz="2940" spc="-5" dirty="0">
                <a:latin typeface="Comic Sans MS" panose="030F0702030302020204" pitchFamily="66" charset="0"/>
                <a:cs typeface="Calibri" panose="020F0502020204030204"/>
              </a:rPr>
              <a:t>— a </a:t>
            </a:r>
            <a:r>
              <a:rPr sz="2940" spc="-10" dirty="0">
                <a:latin typeface="Comic Sans MS" panose="030F0702030302020204" pitchFamily="66" charset="0"/>
                <a:cs typeface="Calibri" panose="020F0502020204030204"/>
              </a:rPr>
              <a:t>space, </a:t>
            </a:r>
            <a:r>
              <a:rPr sz="2940" spc="-5" dirty="0">
                <a:latin typeface="Comic Sans MS" panose="030F0702030302020204" pitchFamily="66" charset="0"/>
                <a:cs typeface="Calibri" panose="020F0502020204030204"/>
              </a:rPr>
              <a:t>a </a:t>
            </a:r>
            <a:r>
              <a:rPr sz="2940" spc="-15" dirty="0">
                <a:latin typeface="Comic Sans MS" panose="030F0702030302020204" pitchFamily="66" charset="0"/>
                <a:cs typeface="Calibri" panose="020F0502020204030204"/>
              </a:rPr>
              <a:t>tab, </a:t>
            </a:r>
            <a:r>
              <a:rPr sz="2940" spc="-5" dirty="0">
                <a:latin typeface="Comic Sans MS" panose="030F0702030302020204" pitchFamily="66" charset="0"/>
                <a:cs typeface="Calibri" panose="020F0502020204030204"/>
              </a:rPr>
              <a:t>or a</a:t>
            </a:r>
            <a:r>
              <a:rPr sz="2940" spc="9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newline.</a:t>
            </a:r>
            <a:endParaRPr sz="2940" dirty="0">
              <a:latin typeface="Comic Sans MS" panose="030F0702030302020204" pitchFamily="66" charset="0"/>
              <a:cs typeface="Calibri" panose="020F0502020204030204"/>
            </a:endParaRPr>
          </a:p>
          <a:p>
            <a:pPr>
              <a:lnSpc>
                <a:spcPct val="100000"/>
              </a:lnSpc>
              <a:buFont typeface="Arial" panose="020B0604020202020204"/>
              <a:buChar char="•"/>
            </a:pPr>
            <a:endParaRPr sz="4355" dirty="0">
              <a:latin typeface="Comic Sans MS" panose="030F0702030302020204" pitchFamily="66" charset="0"/>
              <a:cs typeface="Calibri" panose="020F0502020204030204"/>
            </a:endParaRPr>
          </a:p>
          <a:p>
            <a:pPr marL="241300" marR="5080" indent="-228600">
              <a:lnSpc>
                <a:spcPts val="3030"/>
              </a:lnSpc>
              <a:spcBef>
                <a:spcPts val="5"/>
              </a:spcBef>
              <a:buFont typeface="Arial" panose="020B0604020202020204"/>
              <a:buChar char="•"/>
              <a:tabLst>
                <a:tab pos="241300" algn="l"/>
              </a:tabLst>
            </a:pPr>
            <a:r>
              <a:rPr sz="2940" spc="-10" dirty="0">
                <a:latin typeface="Comic Sans MS" panose="030F0702030302020204" pitchFamily="66" charset="0"/>
                <a:cs typeface="Calibri" panose="020F0502020204030204"/>
              </a:rPr>
              <a:t>Suppose </a:t>
            </a:r>
            <a:r>
              <a:rPr sz="2940" spc="-15" dirty="0">
                <a:latin typeface="Comic Sans MS" panose="030F0702030302020204" pitchFamily="66" charset="0"/>
                <a:cs typeface="Calibri" panose="020F0502020204030204"/>
              </a:rPr>
              <a:t>we </a:t>
            </a:r>
            <a:r>
              <a:rPr sz="2940" spc="-20" dirty="0">
                <a:latin typeface="Comic Sans MS" panose="030F0702030302020204" pitchFamily="66" charset="0"/>
                <a:cs typeface="Calibri" panose="020F0502020204030204"/>
              </a:rPr>
              <a:t>want </a:t>
            </a:r>
            <a:r>
              <a:rPr sz="2940" spc="-15"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use </a:t>
            </a:r>
            <a:r>
              <a:rPr sz="2940" spc="-5" dirty="0">
                <a:solidFill>
                  <a:srgbClr val="FF0000"/>
                </a:solidFill>
                <a:latin typeface="Comic Sans MS" panose="030F0702030302020204" pitchFamily="66" charset="0"/>
                <a:cs typeface="Calibri" panose="020F0502020204030204"/>
              </a:rPr>
              <a:t>multiple </a:t>
            </a:r>
            <a:r>
              <a:rPr sz="2940" spc="-10" dirty="0">
                <a:solidFill>
                  <a:srgbClr val="FF0000"/>
                </a:solidFill>
                <a:latin typeface="Comic Sans MS" panose="030F0702030302020204" pitchFamily="66" charset="0"/>
                <a:cs typeface="Calibri" panose="020F0502020204030204"/>
              </a:rPr>
              <a:t>threads </a:t>
            </a:r>
            <a:r>
              <a:rPr sz="2940" spc="-20" dirty="0">
                <a:latin typeface="Comic Sans MS" panose="030F0702030302020204" pitchFamily="66" charset="0"/>
                <a:cs typeface="Calibri" panose="020F0502020204030204"/>
              </a:rPr>
              <a:t>to  </a:t>
            </a:r>
            <a:r>
              <a:rPr sz="2940" spc="-25" dirty="0">
                <a:latin typeface="Comic Sans MS" panose="030F0702030302020204" pitchFamily="66" charset="0"/>
                <a:cs typeface="Calibri" panose="020F0502020204030204"/>
              </a:rPr>
              <a:t>“</a:t>
            </a:r>
            <a:r>
              <a:rPr sz="2940" spc="-25" dirty="0">
                <a:solidFill>
                  <a:srgbClr val="0000FF"/>
                </a:solidFill>
                <a:latin typeface="Comic Sans MS" panose="030F0702030302020204" pitchFamily="66" charset="0"/>
                <a:cs typeface="Calibri" panose="020F0502020204030204"/>
              </a:rPr>
              <a:t>tokenize</a:t>
            </a:r>
            <a:r>
              <a:rPr sz="2940" spc="-2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a file </a:t>
            </a:r>
            <a:r>
              <a:rPr sz="2940" spc="-10" dirty="0">
                <a:latin typeface="Comic Sans MS" panose="030F0702030302020204" pitchFamily="66" charset="0"/>
                <a:cs typeface="Calibri" panose="020F0502020204030204"/>
              </a:rPr>
              <a:t>that </a:t>
            </a:r>
            <a:r>
              <a:rPr sz="2940" spc="-15" dirty="0">
                <a:latin typeface="Comic Sans MS" panose="030F0702030302020204" pitchFamily="66" charset="0"/>
                <a:cs typeface="Calibri" panose="020F0502020204030204"/>
              </a:rPr>
              <a:t>consists </a:t>
            </a:r>
            <a:r>
              <a:rPr sz="2940" spc="-5" dirty="0">
                <a:latin typeface="Comic Sans MS" panose="030F0702030302020204" pitchFamily="66" charset="0"/>
                <a:cs typeface="Calibri" panose="020F0502020204030204"/>
              </a:rPr>
              <a:t>of </a:t>
            </a:r>
            <a:r>
              <a:rPr sz="2940" spc="-15" dirty="0">
                <a:latin typeface="Comic Sans MS" panose="030F0702030302020204" pitchFamily="66" charset="0"/>
                <a:cs typeface="Calibri" panose="020F0502020204030204"/>
              </a:rPr>
              <a:t>ordinary </a:t>
            </a:r>
            <a:r>
              <a:rPr sz="2940" spc="-10" dirty="0">
                <a:latin typeface="Comic Sans MS" panose="030F0702030302020204" pitchFamily="66" charset="0"/>
                <a:cs typeface="Calibri" panose="020F0502020204030204"/>
              </a:rPr>
              <a:t>English</a:t>
            </a:r>
            <a:r>
              <a:rPr sz="2940" spc="185" dirty="0">
                <a:latin typeface="Comic Sans MS" panose="030F0702030302020204" pitchFamily="66" charset="0"/>
                <a:cs typeface="Calibri" panose="020F0502020204030204"/>
              </a:rPr>
              <a:t> </a:t>
            </a:r>
            <a:r>
              <a:rPr sz="2940" spc="-20" dirty="0">
                <a:latin typeface="Comic Sans MS" panose="030F0702030302020204" pitchFamily="66" charset="0"/>
                <a:cs typeface="Calibri" panose="020F0502020204030204"/>
              </a:rPr>
              <a:t>text.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95</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Simple</a:t>
            </a:r>
            <a:r>
              <a:rPr sz="4620" spc="-85" dirty="0"/>
              <a:t> </a:t>
            </a:r>
            <a:r>
              <a:rPr sz="4620" spc="-10" dirty="0"/>
              <a:t>approach</a:t>
            </a:r>
            <a:endParaRPr sz="4620" dirty="0"/>
          </a:p>
        </p:txBody>
      </p:sp>
      <p:sp>
        <p:nvSpPr>
          <p:cNvPr id="3" name="object 3"/>
          <p:cNvSpPr txBox="1"/>
          <p:nvPr/>
        </p:nvSpPr>
        <p:spPr>
          <a:xfrm>
            <a:off x="2343119" y="1883168"/>
            <a:ext cx="8043005" cy="4872102"/>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10" dirty="0">
                <a:solidFill>
                  <a:srgbClr val="0000FF"/>
                </a:solidFill>
                <a:latin typeface="Comic Sans MS" panose="030F0702030302020204" pitchFamily="66" charset="0"/>
                <a:cs typeface="Calibri" panose="020F0502020204030204"/>
              </a:rPr>
              <a:t>Divide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input file </a:t>
            </a:r>
            <a:r>
              <a:rPr sz="2940" spc="-20" dirty="0">
                <a:latin typeface="Comic Sans MS" panose="030F0702030302020204" pitchFamily="66" charset="0"/>
                <a:cs typeface="Calibri" panose="020F0502020204030204"/>
              </a:rPr>
              <a:t>into </a:t>
            </a:r>
            <a:r>
              <a:rPr sz="2940" spc="-5" dirty="0">
                <a:latin typeface="Comic Sans MS" panose="030F0702030302020204" pitchFamily="66" charset="0"/>
                <a:cs typeface="Calibri" panose="020F0502020204030204"/>
              </a:rPr>
              <a:t>lines of </a:t>
            </a:r>
            <a:r>
              <a:rPr sz="2940" spc="-20" dirty="0">
                <a:latin typeface="Comic Sans MS" panose="030F0702030302020204" pitchFamily="66" charset="0"/>
                <a:cs typeface="Calibri" panose="020F0502020204030204"/>
              </a:rPr>
              <a:t>text </a:t>
            </a:r>
            <a:r>
              <a:rPr sz="2940" spc="-5" dirty="0">
                <a:latin typeface="Comic Sans MS" panose="030F0702030302020204" pitchFamily="66" charset="0"/>
                <a:cs typeface="Calibri" panose="020F0502020204030204"/>
              </a:rPr>
              <a:t>and </a:t>
            </a:r>
            <a:r>
              <a:rPr sz="2940" spc="-5" dirty="0">
                <a:solidFill>
                  <a:srgbClr val="0000FF"/>
                </a:solidFill>
                <a:latin typeface="Comic Sans MS" panose="030F0702030302020204" pitchFamily="66" charset="0"/>
                <a:cs typeface="Calibri" panose="020F0502020204030204"/>
              </a:rPr>
              <a:t>assign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lines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the </a:t>
            </a:r>
            <a:r>
              <a:rPr sz="2940" spc="-10" dirty="0">
                <a:solidFill>
                  <a:srgbClr val="0000FF"/>
                </a:solidFill>
                <a:latin typeface="Comic Sans MS" panose="030F0702030302020204" pitchFamily="66" charset="0"/>
                <a:cs typeface="Calibri" panose="020F0502020204030204"/>
              </a:rPr>
              <a:t>threads </a:t>
            </a:r>
            <a:r>
              <a:rPr sz="2940" spc="-5" dirty="0">
                <a:latin typeface="Comic Sans MS" panose="030F0702030302020204" pitchFamily="66" charset="0"/>
                <a:cs typeface="Calibri" panose="020F0502020204030204"/>
              </a:rPr>
              <a:t>in a </a:t>
            </a:r>
            <a:r>
              <a:rPr sz="2940" spc="-15" dirty="0">
                <a:solidFill>
                  <a:srgbClr val="0000FF"/>
                </a:solidFill>
                <a:latin typeface="Comic Sans MS" panose="030F0702030302020204" pitchFamily="66" charset="0"/>
                <a:cs typeface="Calibri" panose="020F0502020204030204"/>
              </a:rPr>
              <a:t>round-robin</a:t>
            </a:r>
            <a:r>
              <a:rPr sz="2940" spc="175" dirty="0">
                <a:solidFill>
                  <a:srgbClr val="0000FF"/>
                </a:solidFill>
                <a:latin typeface="Comic Sans MS" panose="030F0702030302020204" pitchFamily="66" charset="0"/>
                <a:cs typeface="Calibri" panose="020F0502020204030204"/>
              </a:rPr>
              <a:t> </a:t>
            </a:r>
            <a:r>
              <a:rPr sz="2940" spc="-15" dirty="0">
                <a:solidFill>
                  <a:srgbClr val="0000FF"/>
                </a:solidFill>
                <a:latin typeface="Comic Sans MS" panose="030F0702030302020204" pitchFamily="66" charset="0"/>
                <a:cs typeface="Calibri" panose="020F0502020204030204"/>
              </a:rPr>
              <a:t>fashion</a:t>
            </a:r>
            <a:r>
              <a:rPr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55"/>
              </a:spcBef>
              <a:buChar char="•"/>
            </a:pPr>
            <a:endParaRPr sz="3100"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first </a:t>
            </a:r>
            <a:r>
              <a:rPr sz="2940" spc="-10" dirty="0">
                <a:latin typeface="Comic Sans MS" panose="030F0702030302020204" pitchFamily="66" charset="0"/>
                <a:cs typeface="Calibri" panose="020F0502020204030204"/>
              </a:rPr>
              <a:t>line goes </a:t>
            </a:r>
            <a:r>
              <a:rPr sz="2940" spc="-15"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thread</a:t>
            </a:r>
            <a:r>
              <a:rPr sz="2940" spc="9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0,</a:t>
            </a:r>
            <a:endParaRPr sz="2940" dirty="0">
              <a:latin typeface="Comic Sans MS" panose="030F0702030302020204" pitchFamily="66" charset="0"/>
              <a:cs typeface="Calibri" panose="020F0502020204030204"/>
            </a:endParaRPr>
          </a:p>
          <a:p>
            <a:pPr marL="241300" indent="-228600">
              <a:lnSpc>
                <a:spcPct val="100000"/>
              </a:lnSpc>
              <a:spcBef>
                <a:spcPts val="660"/>
              </a:spcBef>
              <a:buFont typeface="Arial" panose="020B0604020202020204"/>
              <a:buChar char="•"/>
              <a:tabLst>
                <a:tab pos="241300" algn="l"/>
              </a:tabLst>
            </a:pP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second goes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thread</a:t>
            </a:r>
            <a:r>
              <a:rPr sz="2940" spc="5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1,</a:t>
            </a:r>
            <a:endParaRPr sz="2940" dirty="0">
              <a:latin typeface="Comic Sans MS" panose="030F0702030302020204" pitchFamily="66" charset="0"/>
              <a:cs typeface="Calibri" panose="020F0502020204030204"/>
            </a:endParaRPr>
          </a:p>
          <a:p>
            <a:pPr marL="241300" indent="-228600">
              <a:lnSpc>
                <a:spcPct val="100000"/>
              </a:lnSpc>
              <a:spcBef>
                <a:spcPts val="665"/>
              </a:spcBef>
              <a:buFont typeface="Arial" panose="020B0604020202020204"/>
              <a:buChar char="•"/>
              <a:tabLst>
                <a:tab pos="241300" algn="l"/>
              </a:tabLst>
            </a:pPr>
            <a:r>
              <a:rPr sz="2940" spc="-5" dirty="0">
                <a:latin typeface="Comic Sans MS" panose="030F0702030302020204" pitchFamily="66" charset="0"/>
                <a:cs typeface="Calibri" panose="020F0502020204030204"/>
              </a:rPr>
              <a:t>. . .</a:t>
            </a:r>
            <a:r>
              <a:rPr sz="2940" spc="1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marL="241300" indent="-228600">
              <a:lnSpc>
                <a:spcPct val="100000"/>
              </a:lnSpc>
              <a:spcBef>
                <a:spcPts val="670"/>
              </a:spcBef>
              <a:buFont typeface="Arial" panose="020B0604020202020204"/>
              <a:buChar char="•"/>
              <a:tabLst>
                <a:tab pos="241300" algn="l"/>
              </a:tabLst>
            </a:pPr>
            <a:r>
              <a:rPr sz="2940" spc="-5" dirty="0">
                <a:latin typeface="Comic Sans MS" panose="030F0702030302020204" pitchFamily="66" charset="0"/>
                <a:cs typeface="Calibri" panose="020F0502020204030204"/>
              </a:rPr>
              <a:t>the t-th </a:t>
            </a:r>
            <a:r>
              <a:rPr sz="2940" spc="-10" dirty="0">
                <a:latin typeface="Comic Sans MS" panose="030F0702030302020204" pitchFamily="66" charset="0"/>
                <a:cs typeface="Calibri" panose="020F0502020204030204"/>
              </a:rPr>
              <a:t>goes </a:t>
            </a:r>
            <a:r>
              <a:rPr sz="2940" spc="-15"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thread</a:t>
            </a:r>
            <a:r>
              <a:rPr sz="2940" spc="5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a:t>
            </a:r>
            <a:endParaRPr sz="2940" dirty="0">
              <a:latin typeface="Comic Sans MS" panose="030F0702030302020204" pitchFamily="66" charset="0"/>
              <a:cs typeface="Calibri" panose="020F0502020204030204"/>
            </a:endParaRPr>
          </a:p>
          <a:p>
            <a:pPr marL="241300" indent="-228600">
              <a:lnSpc>
                <a:spcPct val="100000"/>
              </a:lnSpc>
              <a:spcBef>
                <a:spcPts val="660"/>
              </a:spcBef>
              <a:buFont typeface="Arial" panose="020B0604020202020204"/>
              <a:buChar char="•"/>
              <a:tabLst>
                <a:tab pos="241300" algn="l"/>
              </a:tabLst>
            </a:pPr>
            <a:r>
              <a:rPr sz="2940" spc="-5" dirty="0">
                <a:latin typeface="Comic Sans MS" panose="030F0702030302020204" pitchFamily="66" charset="0"/>
                <a:cs typeface="Calibri" panose="020F0502020204030204"/>
              </a:rPr>
              <a:t>the t </a:t>
            </a:r>
            <a:r>
              <a:rPr sz="2940" spc="-15" dirty="0">
                <a:latin typeface="Comic Sans MS" panose="030F0702030302020204" pitchFamily="66" charset="0"/>
                <a:cs typeface="Calibri" panose="020F0502020204030204"/>
              </a:rPr>
              <a:t>+1st </a:t>
            </a:r>
            <a:r>
              <a:rPr sz="2940" spc="-10" dirty="0">
                <a:latin typeface="Comic Sans MS" panose="030F0702030302020204" pitchFamily="66" charset="0"/>
                <a:cs typeface="Calibri" panose="020F0502020204030204"/>
              </a:rPr>
              <a:t>goes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thread</a:t>
            </a:r>
            <a:r>
              <a:rPr sz="2940" spc="80"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0,</a:t>
            </a:r>
            <a:endParaRPr sz="2940" dirty="0">
              <a:latin typeface="Comic Sans MS" panose="030F0702030302020204" pitchFamily="66" charset="0"/>
              <a:cs typeface="Calibri" panose="020F0502020204030204"/>
            </a:endParaRPr>
          </a:p>
          <a:p>
            <a:pPr marL="241300" indent="-228600">
              <a:lnSpc>
                <a:spcPct val="100000"/>
              </a:lnSpc>
              <a:spcBef>
                <a:spcPts val="665"/>
              </a:spcBef>
              <a:buFont typeface="Arial" panose="020B0604020202020204"/>
              <a:buChar char="•"/>
              <a:tabLst>
                <a:tab pos="241300" algn="l"/>
              </a:tabLst>
            </a:pPr>
            <a:r>
              <a:rPr sz="2940" spc="-15" dirty="0">
                <a:latin typeface="Comic Sans MS" panose="030F0702030302020204" pitchFamily="66" charset="0"/>
                <a:cs typeface="Calibri" panose="020F0502020204030204"/>
              </a:rPr>
              <a:t>etc.</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96</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dirty="0"/>
              <a:t>Simple</a:t>
            </a:r>
            <a:r>
              <a:rPr sz="4620" spc="-85" dirty="0"/>
              <a:t> </a:t>
            </a:r>
            <a:r>
              <a:rPr sz="4620" spc="-10" dirty="0"/>
              <a:t>approach</a:t>
            </a:r>
            <a:endParaRPr sz="4620" dirty="0"/>
          </a:p>
        </p:txBody>
      </p:sp>
      <p:sp>
        <p:nvSpPr>
          <p:cNvPr id="3" name="object 3"/>
          <p:cNvSpPr txBox="1"/>
          <p:nvPr/>
        </p:nvSpPr>
        <p:spPr>
          <a:xfrm>
            <a:off x="2343119" y="1883168"/>
            <a:ext cx="7905655" cy="2521458"/>
          </a:xfrm>
          <a:prstGeom prst="rect">
            <a:avLst/>
          </a:prstGeom>
        </p:spPr>
        <p:txBody>
          <a:bodyPr vert="horz" wrap="square" lIns="0" tIns="64007" rIns="0" bIns="0" rtlCol="0">
            <a:spAutoFit/>
          </a:bodyPr>
          <a:lstStyle/>
          <a:p>
            <a:pPr marL="241300" marR="214630" indent="-228600">
              <a:lnSpc>
                <a:spcPts val="3020"/>
              </a:lnSpc>
              <a:spcBef>
                <a:spcPts val="480"/>
              </a:spcBef>
              <a:buFont typeface="Arial" panose="020B0604020202020204"/>
              <a:buChar char="•"/>
              <a:tabLst>
                <a:tab pos="241300" algn="l"/>
              </a:tabLst>
            </a:pPr>
            <a:r>
              <a:rPr sz="2940" spc="-65" dirty="0">
                <a:latin typeface="Comic Sans MS" panose="030F0702030302020204" pitchFamily="66" charset="0"/>
                <a:cs typeface="Calibri" panose="020F0502020204030204"/>
              </a:rPr>
              <a:t>We </a:t>
            </a:r>
            <a:r>
              <a:rPr sz="2940" spc="-10" dirty="0">
                <a:latin typeface="Comic Sans MS" panose="030F0702030302020204" pitchFamily="66" charset="0"/>
                <a:cs typeface="Calibri" panose="020F0502020204030204"/>
              </a:rPr>
              <a:t>can </a:t>
            </a:r>
            <a:r>
              <a:rPr sz="2940" spc="-15" dirty="0">
                <a:solidFill>
                  <a:srgbClr val="0000FF"/>
                </a:solidFill>
                <a:latin typeface="Comic Sans MS" panose="030F0702030302020204" pitchFamily="66" charset="0"/>
                <a:cs typeface="Calibri" panose="020F0502020204030204"/>
              </a:rPr>
              <a:t>serialize </a:t>
            </a:r>
            <a:r>
              <a:rPr sz="2940" spc="-5" dirty="0">
                <a:latin typeface="Comic Sans MS" panose="030F0702030302020204" pitchFamily="66" charset="0"/>
                <a:cs typeface="Calibri" panose="020F0502020204030204"/>
              </a:rPr>
              <a:t>access </a:t>
            </a:r>
            <a:r>
              <a:rPr sz="2940" spc="-15"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lines </a:t>
            </a:r>
            <a:r>
              <a:rPr sz="2940" spc="-5" dirty="0">
                <a:latin typeface="Comic Sans MS" panose="030F0702030302020204" pitchFamily="66" charset="0"/>
                <a:cs typeface="Calibri" panose="020F0502020204030204"/>
              </a:rPr>
              <a:t>of input </a:t>
            </a:r>
            <a:r>
              <a:rPr sz="2940" spc="-10" dirty="0">
                <a:latin typeface="Comic Sans MS" panose="030F0702030302020204" pitchFamily="66" charset="0"/>
                <a:cs typeface="Calibri" panose="020F0502020204030204"/>
              </a:rPr>
              <a:t>using </a:t>
            </a:r>
            <a:r>
              <a:rPr sz="2940" spc="-10" dirty="0">
                <a:solidFill>
                  <a:srgbClr val="0000FF"/>
                </a:solidFill>
                <a:latin typeface="Comic Sans MS" panose="030F0702030302020204" pitchFamily="66" charset="0"/>
                <a:cs typeface="Calibri" panose="020F0502020204030204"/>
              </a:rPr>
              <a:t> semaphores</a:t>
            </a:r>
            <a:r>
              <a:rPr sz="2940" spc="-10" dirty="0">
                <a:latin typeface="Comic Sans MS" panose="030F0702030302020204" pitchFamily="66" charset="0"/>
                <a:cs typeface="Calibri" panose="020F0502020204030204"/>
              </a:rPr>
              <a:t>.</a:t>
            </a:r>
            <a:endParaRPr sz="2940">
              <a:latin typeface="Comic Sans MS" panose="030F0702030302020204" pitchFamily="66" charset="0"/>
              <a:cs typeface="Calibri" panose="020F0502020204030204"/>
            </a:endParaRPr>
          </a:p>
          <a:p>
            <a:pPr>
              <a:lnSpc>
                <a:spcPct val="100000"/>
              </a:lnSpc>
              <a:spcBef>
                <a:spcPts val="10"/>
              </a:spcBef>
              <a:buFont typeface="Arial" panose="020B0604020202020204"/>
              <a:buChar char="•"/>
            </a:pPr>
            <a:endParaRPr sz="3465">
              <a:latin typeface="Comic Sans MS" panose="030F0702030302020204" pitchFamily="66" charset="0"/>
              <a:cs typeface="Calibri" panose="020F0502020204030204"/>
            </a:endParaRPr>
          </a:p>
          <a:p>
            <a:pPr marL="241300" marR="5080" indent="-228600">
              <a:lnSpc>
                <a:spcPts val="3020"/>
              </a:lnSpc>
              <a:spcBef>
                <a:spcPts val="5"/>
              </a:spcBef>
              <a:buFont typeface="Arial" panose="020B0604020202020204"/>
              <a:buChar char="•"/>
              <a:tabLst>
                <a:tab pos="241300" algn="l"/>
              </a:tabLst>
            </a:pPr>
            <a:r>
              <a:rPr sz="2940" spc="-10" dirty="0">
                <a:latin typeface="Comic Sans MS" panose="030F0702030302020204" pitchFamily="66" charset="0"/>
                <a:cs typeface="Calibri" panose="020F0502020204030204"/>
              </a:rPr>
              <a:t>After </a:t>
            </a:r>
            <a:r>
              <a:rPr sz="2940" spc="-5" dirty="0">
                <a:latin typeface="Comic Sans MS" panose="030F0702030302020204" pitchFamily="66" charset="0"/>
                <a:cs typeface="Calibri" panose="020F0502020204030204"/>
              </a:rPr>
              <a:t>a </a:t>
            </a:r>
            <a:r>
              <a:rPr sz="2940" spc="-15" dirty="0">
                <a:latin typeface="Comic Sans MS" panose="030F0702030302020204" pitchFamily="66" charset="0"/>
                <a:cs typeface="Calibri" panose="020F0502020204030204"/>
              </a:rPr>
              <a:t>thread </a:t>
            </a:r>
            <a:r>
              <a:rPr sz="2940" spc="-10" dirty="0">
                <a:latin typeface="Comic Sans MS" panose="030F0702030302020204" pitchFamily="66" charset="0"/>
                <a:cs typeface="Calibri" panose="020F0502020204030204"/>
              </a:rPr>
              <a:t>has </a:t>
            </a:r>
            <a:r>
              <a:rPr sz="2940" spc="-15" dirty="0">
                <a:latin typeface="Comic Sans MS" panose="030F0702030302020204" pitchFamily="66" charset="0"/>
                <a:cs typeface="Calibri" panose="020F0502020204030204"/>
              </a:rPr>
              <a:t>read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single line </a:t>
            </a:r>
            <a:r>
              <a:rPr sz="2940" spc="-5" dirty="0">
                <a:latin typeface="Comic Sans MS" panose="030F0702030302020204" pitchFamily="66" charset="0"/>
                <a:cs typeface="Calibri" panose="020F0502020204030204"/>
              </a:rPr>
              <a:t>of input, it </a:t>
            </a:r>
            <a:r>
              <a:rPr sz="2940" spc="-15" dirty="0">
                <a:latin typeface="Comic Sans MS" panose="030F0702030302020204" pitchFamily="66" charset="0"/>
                <a:cs typeface="Calibri" panose="020F0502020204030204"/>
              </a:rPr>
              <a:t>can  </a:t>
            </a:r>
            <a:r>
              <a:rPr sz="2940" spc="-30" dirty="0">
                <a:latin typeface="Comic Sans MS" panose="030F0702030302020204" pitchFamily="66" charset="0"/>
                <a:cs typeface="Calibri" panose="020F0502020204030204"/>
              </a:rPr>
              <a:t>tokenize </a:t>
            </a:r>
            <a:r>
              <a:rPr sz="2940" spc="-10" dirty="0">
                <a:latin typeface="Comic Sans MS" panose="030F0702030302020204" pitchFamily="66" charset="0"/>
                <a:cs typeface="Calibri" panose="020F0502020204030204"/>
              </a:rPr>
              <a:t>the line using </a:t>
            </a:r>
            <a:r>
              <a:rPr sz="2940" spc="-5" dirty="0">
                <a:latin typeface="Comic Sans MS" panose="030F0702030302020204" pitchFamily="66" charset="0"/>
                <a:cs typeface="Calibri" panose="020F0502020204030204"/>
              </a:rPr>
              <a:t>the </a:t>
            </a:r>
            <a:r>
              <a:rPr sz="2940" spc="-15" dirty="0">
                <a:solidFill>
                  <a:srgbClr val="FF0000"/>
                </a:solidFill>
                <a:latin typeface="Comic Sans MS" panose="030F0702030302020204" pitchFamily="66" charset="0"/>
                <a:cs typeface="Calibri" panose="020F0502020204030204"/>
              </a:rPr>
              <a:t>strtok</a:t>
            </a:r>
            <a:r>
              <a:rPr sz="2940" spc="155" dirty="0">
                <a:solidFill>
                  <a:srgbClr val="FF0000"/>
                </a:solidFill>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function.</a:t>
            </a:r>
            <a:endParaRPr sz="2940">
              <a:latin typeface="Comic Sans MS" panose="030F0702030302020204" pitchFamily="66" charset="0"/>
              <a:cs typeface="Calibri" panose="020F0502020204030204"/>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The </a:t>
            </a:r>
            <a:r>
              <a:rPr sz="4620" spc="-15" dirty="0"/>
              <a:t>strtok</a:t>
            </a:r>
            <a:r>
              <a:rPr sz="4620" spc="-85" dirty="0"/>
              <a:t> </a:t>
            </a:r>
            <a:r>
              <a:rPr sz="4620" dirty="0"/>
              <a:t>function</a:t>
            </a:r>
          </a:p>
        </p:txBody>
      </p:sp>
      <p:sp>
        <p:nvSpPr>
          <p:cNvPr id="3" name="object 3"/>
          <p:cNvSpPr txBox="1"/>
          <p:nvPr/>
        </p:nvSpPr>
        <p:spPr>
          <a:xfrm>
            <a:off x="2343118" y="1883168"/>
            <a:ext cx="8306153" cy="2557879"/>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first </a:t>
            </a:r>
            <a:r>
              <a:rPr sz="2940" spc="-5" dirty="0">
                <a:latin typeface="Comic Sans MS" panose="030F0702030302020204" pitchFamily="66" charset="0"/>
                <a:cs typeface="Calibri" panose="020F0502020204030204"/>
              </a:rPr>
              <a:t>time </a:t>
            </a:r>
            <a:r>
              <a:rPr sz="2940" spc="-25" dirty="0">
                <a:latin typeface="Comic Sans MS" panose="030F0702030302020204" pitchFamily="66" charset="0"/>
                <a:cs typeface="Calibri" panose="020F0502020204030204"/>
              </a:rPr>
              <a:t>it’s </a:t>
            </a:r>
            <a:r>
              <a:rPr sz="2940" spc="-10" dirty="0">
                <a:latin typeface="Comic Sans MS" panose="030F0702030302020204" pitchFamily="66" charset="0"/>
                <a:cs typeface="Calibri" panose="020F0502020204030204"/>
              </a:rPr>
              <a:t>called </a:t>
            </a:r>
            <a:r>
              <a:rPr sz="2940" spc="-5" dirty="0">
                <a:latin typeface="Comic Sans MS" panose="030F0702030302020204" pitchFamily="66" charset="0"/>
                <a:cs typeface="Calibri" panose="020F0502020204030204"/>
              </a:rPr>
              <a:t>the </a:t>
            </a:r>
            <a:r>
              <a:rPr sz="2940" spc="-15" dirty="0">
                <a:solidFill>
                  <a:srgbClr val="C00000"/>
                </a:solidFill>
                <a:latin typeface="Comic Sans MS" panose="030F0702030302020204" pitchFamily="66" charset="0"/>
                <a:cs typeface="Calibri" panose="020F0502020204030204"/>
              </a:rPr>
              <a:t>string argument </a:t>
            </a:r>
            <a:r>
              <a:rPr sz="2940" spc="-10" dirty="0">
                <a:latin typeface="Comic Sans MS" panose="030F0702030302020204" pitchFamily="66" charset="0"/>
                <a:cs typeface="Calibri" panose="020F0502020204030204"/>
              </a:rPr>
              <a:t>should  </a:t>
            </a:r>
            <a:r>
              <a:rPr sz="2940" spc="-5" dirty="0">
                <a:latin typeface="Comic Sans MS" panose="030F0702030302020204" pitchFamily="66" charset="0"/>
                <a:cs typeface="Calibri" panose="020F0502020204030204"/>
              </a:rPr>
              <a:t>be </a:t>
            </a:r>
            <a:r>
              <a:rPr sz="2940" spc="-5" dirty="0">
                <a:solidFill>
                  <a:srgbClr val="C00000"/>
                </a:solidFill>
                <a:latin typeface="Comic Sans MS" panose="030F0702030302020204" pitchFamily="66" charset="0"/>
                <a:cs typeface="Calibri" panose="020F0502020204030204"/>
              </a:rPr>
              <a:t>the </a:t>
            </a:r>
            <a:r>
              <a:rPr sz="2940" spc="-25" dirty="0">
                <a:solidFill>
                  <a:srgbClr val="C00000"/>
                </a:solidFill>
                <a:latin typeface="Comic Sans MS" panose="030F0702030302020204" pitchFamily="66" charset="0"/>
                <a:cs typeface="Calibri" panose="020F0502020204030204"/>
              </a:rPr>
              <a:t>text </a:t>
            </a:r>
            <a:r>
              <a:rPr sz="2940" spc="-15" dirty="0">
                <a:solidFill>
                  <a:srgbClr val="C00000"/>
                </a:solidFill>
                <a:latin typeface="Comic Sans MS" panose="030F0702030302020204" pitchFamily="66" charset="0"/>
                <a:cs typeface="Calibri" panose="020F0502020204030204"/>
              </a:rPr>
              <a:t>to </a:t>
            </a:r>
            <a:r>
              <a:rPr sz="2940" spc="-5" dirty="0">
                <a:solidFill>
                  <a:srgbClr val="C00000"/>
                </a:solidFill>
                <a:latin typeface="Comic Sans MS" panose="030F0702030302020204" pitchFamily="66" charset="0"/>
                <a:cs typeface="Calibri" panose="020F0502020204030204"/>
              </a:rPr>
              <a:t>be</a:t>
            </a:r>
            <a:r>
              <a:rPr sz="2940" spc="45" dirty="0">
                <a:solidFill>
                  <a:srgbClr val="C00000"/>
                </a:solidFill>
                <a:latin typeface="Comic Sans MS" panose="030F0702030302020204" pitchFamily="66" charset="0"/>
                <a:cs typeface="Calibri" panose="020F0502020204030204"/>
              </a:rPr>
              <a:t> </a:t>
            </a:r>
            <a:r>
              <a:rPr sz="2940" spc="-25" dirty="0">
                <a:solidFill>
                  <a:srgbClr val="C00000"/>
                </a:solidFill>
                <a:latin typeface="Comic Sans MS" panose="030F0702030302020204" pitchFamily="66" charset="0"/>
                <a:cs typeface="Calibri" panose="020F0502020204030204"/>
              </a:rPr>
              <a:t>tokenized</a:t>
            </a:r>
            <a:r>
              <a:rPr sz="2940" spc="-2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marL="697865" lvl="1" indent="-228600">
              <a:lnSpc>
                <a:spcPct val="100000"/>
              </a:lnSpc>
              <a:spcBef>
                <a:spcPts val="205"/>
              </a:spcBef>
              <a:buFont typeface="Arial" panose="020B0604020202020204"/>
              <a:buChar char="•"/>
              <a:tabLst>
                <a:tab pos="698500" algn="l"/>
              </a:tabLst>
            </a:pPr>
            <a:r>
              <a:rPr sz="2520" spc="-5" dirty="0">
                <a:latin typeface="Comic Sans MS" panose="030F0702030302020204" pitchFamily="66" charset="0"/>
                <a:cs typeface="Calibri" panose="020F0502020204030204"/>
              </a:rPr>
              <a:t>Our </a:t>
            </a:r>
            <a:r>
              <a:rPr sz="2520" dirty="0">
                <a:latin typeface="Comic Sans MS" panose="030F0702030302020204" pitchFamily="66" charset="0"/>
                <a:cs typeface="Calibri" panose="020F0502020204030204"/>
              </a:rPr>
              <a:t>line </a:t>
            </a:r>
            <a:r>
              <a:rPr sz="2520" spc="-5" dirty="0">
                <a:latin typeface="Comic Sans MS" panose="030F0702030302020204" pitchFamily="66" charset="0"/>
                <a:cs typeface="Calibri" panose="020F0502020204030204"/>
              </a:rPr>
              <a:t>of</a:t>
            </a:r>
            <a:r>
              <a:rPr sz="2520" spc="-20" dirty="0">
                <a:latin typeface="Comic Sans MS" panose="030F0702030302020204" pitchFamily="66" charset="0"/>
                <a:cs typeface="Calibri" panose="020F0502020204030204"/>
              </a:rPr>
              <a:t> </a:t>
            </a:r>
            <a:r>
              <a:rPr sz="2520" spc="-5" dirty="0">
                <a:latin typeface="Comic Sans MS" panose="030F0702030302020204" pitchFamily="66" charset="0"/>
                <a:cs typeface="Calibri" panose="020F0502020204030204"/>
              </a:rPr>
              <a:t>input.</a:t>
            </a:r>
            <a:endParaRPr sz="2520" dirty="0">
              <a:latin typeface="Comic Sans MS" panose="030F0702030302020204" pitchFamily="66" charset="0"/>
              <a:cs typeface="Calibri" panose="020F0502020204030204"/>
            </a:endParaRPr>
          </a:p>
          <a:p>
            <a:pPr lvl="1">
              <a:lnSpc>
                <a:spcPct val="100000"/>
              </a:lnSpc>
              <a:spcBef>
                <a:spcPts val="20"/>
              </a:spcBef>
              <a:buFont typeface="Arial" panose="020B0604020202020204"/>
              <a:buChar char="•"/>
            </a:pPr>
            <a:endParaRPr sz="3515" dirty="0">
              <a:latin typeface="Comic Sans MS" panose="030F0702030302020204" pitchFamily="66" charset="0"/>
              <a:cs typeface="Calibri" panose="020F0502020204030204"/>
            </a:endParaRPr>
          </a:p>
          <a:p>
            <a:pPr marL="241300" marR="135255" indent="-228600">
              <a:lnSpc>
                <a:spcPts val="3020"/>
              </a:lnSpc>
              <a:spcBef>
                <a:spcPts val="5"/>
              </a:spcBef>
              <a:buFont typeface="Arial" panose="020B0604020202020204"/>
              <a:buChar char="•"/>
              <a:tabLst>
                <a:tab pos="241300" algn="l"/>
              </a:tabLst>
            </a:pPr>
            <a:r>
              <a:rPr sz="2940" spc="-20" dirty="0">
                <a:latin typeface="Comic Sans MS" panose="030F0702030302020204" pitchFamily="66" charset="0"/>
                <a:cs typeface="Calibri" panose="020F0502020204030204"/>
              </a:rPr>
              <a:t>For </a:t>
            </a:r>
            <a:r>
              <a:rPr sz="2940" spc="-15" dirty="0">
                <a:latin typeface="Comic Sans MS" panose="030F0702030302020204" pitchFamily="66" charset="0"/>
                <a:cs typeface="Calibri" panose="020F0502020204030204"/>
              </a:rPr>
              <a:t>subsequent </a:t>
            </a:r>
            <a:r>
              <a:rPr sz="2940" spc="-10" dirty="0">
                <a:latin typeface="Comic Sans MS" panose="030F0702030302020204" pitchFamily="66" charset="0"/>
                <a:cs typeface="Calibri" panose="020F0502020204030204"/>
              </a:rPr>
              <a:t>calls, </a:t>
            </a:r>
            <a:r>
              <a:rPr sz="2940" spc="-5" dirty="0">
                <a:latin typeface="Comic Sans MS" panose="030F0702030302020204" pitchFamily="66" charset="0"/>
                <a:cs typeface="Calibri" panose="020F0502020204030204"/>
              </a:rPr>
              <a:t>the </a:t>
            </a:r>
            <a:r>
              <a:rPr sz="2940" spc="-25" dirty="0">
                <a:latin typeface="Comic Sans MS" panose="030F0702030302020204" pitchFamily="66" charset="0"/>
                <a:cs typeface="Calibri" panose="020F0502020204030204"/>
              </a:rPr>
              <a:t>first </a:t>
            </a:r>
            <a:r>
              <a:rPr sz="2940" spc="-15" dirty="0">
                <a:latin typeface="Comic Sans MS" panose="030F0702030302020204" pitchFamily="66" charset="0"/>
                <a:cs typeface="Calibri" panose="020F0502020204030204"/>
              </a:rPr>
              <a:t>argument </a:t>
            </a:r>
            <a:r>
              <a:rPr sz="2940" spc="-10" dirty="0">
                <a:latin typeface="Comic Sans MS" panose="030F0702030302020204" pitchFamily="66" charset="0"/>
                <a:cs typeface="Calibri" panose="020F0502020204030204"/>
              </a:rPr>
              <a:t>should be </a:t>
            </a:r>
            <a:r>
              <a:rPr sz="2940" spc="-10" dirty="0">
                <a:solidFill>
                  <a:srgbClr val="C00000"/>
                </a:solidFill>
                <a:latin typeface="Comic Sans MS" panose="030F0702030302020204" pitchFamily="66" charset="0"/>
                <a:cs typeface="Calibri" panose="020F0502020204030204"/>
              </a:rPr>
              <a:t> </a:t>
            </a:r>
            <a:r>
              <a:rPr sz="2940" spc="-5" dirty="0">
                <a:solidFill>
                  <a:srgbClr val="C00000"/>
                </a:solidFill>
                <a:latin typeface="Comic Sans MS" panose="030F0702030302020204" pitchFamily="66" charset="0"/>
                <a:cs typeface="Calibri" panose="020F0502020204030204"/>
              </a:rPr>
              <a:t>NULL</a:t>
            </a:r>
            <a:r>
              <a:rPr sz="2940" spc="-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
        <p:nvSpPr>
          <p:cNvPr id="4" name="object 4"/>
          <p:cNvSpPr/>
          <p:nvPr/>
        </p:nvSpPr>
        <p:spPr>
          <a:xfrm>
            <a:off x="2493596" y="4875653"/>
            <a:ext cx="8031953" cy="1012289"/>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97</a:t>
            </a:fld>
            <a:endParaRPr sz="1260">
              <a:latin typeface="Calibri" panose="020F0502020204030204"/>
              <a:cs typeface="Calibri" panose="020F0502020204030204"/>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98</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The </a:t>
            </a:r>
            <a:r>
              <a:rPr sz="4620" spc="-15" dirty="0"/>
              <a:t>strtok</a:t>
            </a:r>
            <a:r>
              <a:rPr sz="4620" spc="-85" dirty="0"/>
              <a:t> </a:t>
            </a:r>
            <a:r>
              <a:rPr sz="4620" dirty="0"/>
              <a:t>function</a:t>
            </a:r>
          </a:p>
        </p:txBody>
      </p:sp>
      <p:sp>
        <p:nvSpPr>
          <p:cNvPr id="3" name="object 3"/>
          <p:cNvSpPr txBox="1"/>
          <p:nvPr/>
        </p:nvSpPr>
        <p:spPr>
          <a:xfrm>
            <a:off x="2343119" y="1883168"/>
            <a:ext cx="8053673" cy="4166461"/>
          </a:xfrm>
          <a:prstGeom prst="rect">
            <a:avLst/>
          </a:prstGeom>
        </p:spPr>
        <p:txBody>
          <a:bodyPr vert="horz" wrap="square" lIns="0" tIns="57340" rIns="0" bIns="0" rtlCol="0">
            <a:spAutoFit/>
          </a:bodyPr>
          <a:lstStyle/>
          <a:p>
            <a:pPr marL="241300" marR="5080" indent="-228600">
              <a:lnSpc>
                <a:spcPct val="90000"/>
              </a:lnSpc>
              <a:spcBef>
                <a:spcPts val="430"/>
              </a:spcBef>
              <a:buFont typeface="Arial" panose="020B0604020202020204"/>
              <a:buChar char="•"/>
              <a:tabLst>
                <a:tab pos="241300" algn="l"/>
              </a:tabLst>
            </a:pPr>
            <a:r>
              <a:rPr sz="2940" spc="-10" dirty="0">
                <a:latin typeface="Comic Sans MS" panose="030F0702030302020204" pitchFamily="66" charset="0"/>
                <a:cs typeface="Calibri" panose="020F0502020204030204"/>
              </a:rPr>
              <a:t>The </a:t>
            </a:r>
            <a:r>
              <a:rPr sz="2940" spc="-5" dirty="0">
                <a:latin typeface="Comic Sans MS" panose="030F0702030302020204" pitchFamily="66" charset="0"/>
                <a:cs typeface="Calibri" panose="020F0502020204030204"/>
              </a:rPr>
              <a:t>idea is </a:t>
            </a:r>
            <a:r>
              <a:rPr sz="2940" spc="-10" dirty="0">
                <a:latin typeface="Comic Sans MS" panose="030F0702030302020204" pitchFamily="66" charset="0"/>
                <a:cs typeface="Calibri" panose="020F0502020204030204"/>
              </a:rPr>
              <a:t>that </a:t>
            </a:r>
            <a:r>
              <a:rPr sz="2940" spc="-5" dirty="0">
                <a:latin typeface="Comic Sans MS" panose="030F0702030302020204" pitchFamily="66" charset="0"/>
                <a:cs typeface="Calibri" panose="020F0502020204030204"/>
              </a:rPr>
              <a:t>in the </a:t>
            </a:r>
            <a:r>
              <a:rPr sz="2940" spc="-25" dirty="0">
                <a:latin typeface="Comic Sans MS" panose="030F0702030302020204" pitchFamily="66" charset="0"/>
                <a:cs typeface="Calibri" panose="020F0502020204030204"/>
              </a:rPr>
              <a:t>first </a:t>
            </a:r>
            <a:r>
              <a:rPr sz="2940" spc="-10" dirty="0">
                <a:latin typeface="Comic Sans MS" panose="030F0702030302020204" pitchFamily="66" charset="0"/>
                <a:cs typeface="Calibri" panose="020F0502020204030204"/>
              </a:rPr>
              <a:t>call, </a:t>
            </a:r>
            <a:r>
              <a:rPr sz="2940" spc="-15" dirty="0">
                <a:solidFill>
                  <a:srgbClr val="FF0000"/>
                </a:solidFill>
                <a:latin typeface="Comic Sans MS" panose="030F0702030302020204" pitchFamily="66" charset="0"/>
                <a:cs typeface="Calibri" panose="020F0502020204030204"/>
              </a:rPr>
              <a:t>strtok </a:t>
            </a:r>
            <a:r>
              <a:rPr sz="2940" spc="-10" dirty="0">
                <a:solidFill>
                  <a:srgbClr val="FF0000"/>
                </a:solidFill>
                <a:latin typeface="Comic Sans MS" panose="030F0702030302020204" pitchFamily="66" charset="0"/>
                <a:cs typeface="Calibri" panose="020F0502020204030204"/>
              </a:rPr>
              <a:t>caches </a:t>
            </a:r>
            <a:r>
              <a:rPr sz="2940" spc="-5" dirty="0">
                <a:latin typeface="Comic Sans MS" panose="030F0702030302020204" pitchFamily="66" charset="0"/>
                <a:cs typeface="Calibri" panose="020F0502020204030204"/>
              </a:rPr>
              <a:t>a </a:t>
            </a:r>
            <a:r>
              <a:rPr sz="2940" spc="-5"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pointer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string, and </a:t>
            </a:r>
            <a:r>
              <a:rPr sz="2940" spc="-25" dirty="0">
                <a:latin typeface="Comic Sans MS" panose="030F0702030302020204" pitchFamily="66" charset="0"/>
                <a:cs typeface="Calibri" panose="020F0502020204030204"/>
              </a:rPr>
              <a:t>for </a:t>
            </a:r>
            <a:r>
              <a:rPr sz="2940" spc="-15" dirty="0">
                <a:latin typeface="Comic Sans MS" panose="030F0702030302020204" pitchFamily="66" charset="0"/>
                <a:cs typeface="Calibri" panose="020F0502020204030204"/>
              </a:rPr>
              <a:t>subsequent </a:t>
            </a:r>
            <a:r>
              <a:rPr sz="2940" spc="-10" dirty="0">
                <a:latin typeface="Comic Sans MS" panose="030F0702030302020204" pitchFamily="66" charset="0"/>
                <a:cs typeface="Calibri" panose="020F0502020204030204"/>
              </a:rPr>
              <a:t>calls </a:t>
            </a:r>
            <a:r>
              <a:rPr sz="2940" spc="-5" dirty="0">
                <a:latin typeface="Comic Sans MS" panose="030F0702030302020204" pitchFamily="66" charset="0"/>
                <a:cs typeface="Calibri" panose="020F0502020204030204"/>
              </a:rPr>
              <a:t>it </a:t>
            </a:r>
            <a:r>
              <a:rPr sz="2940" spc="-15" dirty="0">
                <a:latin typeface="Comic Sans MS" panose="030F0702030302020204" pitchFamily="66" charset="0"/>
                <a:cs typeface="Calibri" panose="020F0502020204030204"/>
              </a:rPr>
              <a:t>returns  </a:t>
            </a:r>
            <a:r>
              <a:rPr sz="2940" spc="-10" dirty="0">
                <a:latin typeface="Comic Sans MS" panose="030F0702030302020204" pitchFamily="66" charset="0"/>
                <a:cs typeface="Calibri" panose="020F0502020204030204"/>
              </a:rPr>
              <a:t>successive </a:t>
            </a:r>
            <a:r>
              <a:rPr sz="2940" spc="-25" dirty="0">
                <a:latin typeface="Comic Sans MS" panose="030F0702030302020204" pitchFamily="66" charset="0"/>
                <a:cs typeface="Calibri" panose="020F0502020204030204"/>
              </a:rPr>
              <a:t>tokens </a:t>
            </a:r>
            <a:r>
              <a:rPr sz="2940" spc="-25" dirty="0">
                <a:solidFill>
                  <a:srgbClr val="FF0000"/>
                </a:solidFill>
                <a:latin typeface="Comic Sans MS" panose="030F0702030302020204" pitchFamily="66" charset="0"/>
                <a:cs typeface="Calibri" panose="020F0502020204030204"/>
              </a:rPr>
              <a:t>taken </a:t>
            </a:r>
            <a:r>
              <a:rPr sz="2940" spc="-15" dirty="0">
                <a:solidFill>
                  <a:srgbClr val="FF0000"/>
                </a:solidFill>
                <a:latin typeface="Comic Sans MS" panose="030F0702030302020204" pitchFamily="66" charset="0"/>
                <a:cs typeface="Calibri" panose="020F0502020204030204"/>
              </a:rPr>
              <a:t>from </a:t>
            </a:r>
            <a:r>
              <a:rPr sz="2940" spc="-5" dirty="0">
                <a:solidFill>
                  <a:srgbClr val="FF0000"/>
                </a:solidFill>
                <a:latin typeface="Comic Sans MS" panose="030F0702030302020204" pitchFamily="66" charset="0"/>
                <a:cs typeface="Calibri" panose="020F0502020204030204"/>
              </a:rPr>
              <a:t>the </a:t>
            </a:r>
            <a:r>
              <a:rPr sz="2940" spc="-10" dirty="0">
                <a:solidFill>
                  <a:srgbClr val="FF0000"/>
                </a:solidFill>
                <a:latin typeface="Comic Sans MS" panose="030F0702030302020204" pitchFamily="66" charset="0"/>
                <a:cs typeface="Calibri" panose="020F0502020204030204"/>
              </a:rPr>
              <a:t>cached</a:t>
            </a:r>
            <a:r>
              <a:rPr sz="2940" spc="150" dirty="0">
                <a:solidFill>
                  <a:srgbClr val="FF0000"/>
                </a:solidFill>
                <a:latin typeface="Comic Sans MS" panose="030F0702030302020204" pitchFamily="66" charset="0"/>
                <a:cs typeface="Calibri" panose="020F0502020204030204"/>
              </a:rPr>
              <a:t> </a:t>
            </a:r>
            <a:r>
              <a:rPr sz="2940" spc="-55" dirty="0">
                <a:solidFill>
                  <a:srgbClr val="FF0000"/>
                </a:solidFill>
                <a:latin typeface="Comic Sans MS" panose="030F0702030302020204" pitchFamily="66" charset="0"/>
                <a:cs typeface="Calibri" panose="020F0502020204030204"/>
              </a:rPr>
              <a:t>copy</a:t>
            </a:r>
            <a:r>
              <a:rPr sz="2940" spc="-5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10"/>
              </a:spcBef>
            </a:pPr>
            <a:endParaRPr sz="4355" dirty="0">
              <a:latin typeface="Calibri" panose="020F0502020204030204"/>
              <a:cs typeface="Calibri" panose="020F0502020204030204"/>
            </a:endParaRPr>
          </a:p>
          <a:p>
            <a:pPr marL="996315">
              <a:lnSpc>
                <a:spcPct val="100000"/>
              </a:lnSpc>
              <a:tabLst>
                <a:tab pos="5334635" algn="l"/>
              </a:tabLst>
            </a:pPr>
            <a:r>
              <a:rPr sz="2940" spc="-5" dirty="0">
                <a:solidFill>
                  <a:srgbClr val="0000FF"/>
                </a:solidFill>
                <a:latin typeface="Sylfaen" panose="010A0502050306030303"/>
                <a:cs typeface="Sylfaen" panose="010A0502050306030303"/>
              </a:rPr>
              <a:t>my_string</a:t>
            </a:r>
            <a:r>
              <a:rPr sz="2940" spc="25" dirty="0">
                <a:solidFill>
                  <a:srgbClr val="0000FF"/>
                </a:solidFill>
                <a:latin typeface="Sylfaen" panose="010A0502050306030303"/>
                <a:cs typeface="Sylfaen" panose="010A0502050306030303"/>
              </a:rPr>
              <a:t> </a:t>
            </a:r>
            <a:r>
              <a:rPr sz="2940" spc="-5" dirty="0">
                <a:solidFill>
                  <a:srgbClr val="0000FF"/>
                </a:solidFill>
                <a:latin typeface="Sylfaen" panose="010A0502050306030303"/>
                <a:cs typeface="Sylfaen" panose="010A0502050306030303"/>
              </a:rPr>
              <a:t>=</a:t>
            </a:r>
            <a:r>
              <a:rPr sz="2940" spc="10" dirty="0">
                <a:solidFill>
                  <a:srgbClr val="0000FF"/>
                </a:solidFill>
                <a:latin typeface="Sylfaen" panose="010A0502050306030303"/>
                <a:cs typeface="Sylfaen" panose="010A0502050306030303"/>
              </a:rPr>
              <a:t> </a:t>
            </a:r>
            <a:r>
              <a:rPr sz="2940" spc="-5" dirty="0">
                <a:solidFill>
                  <a:srgbClr val="0000FF"/>
                </a:solidFill>
                <a:latin typeface="Sylfaen" panose="010A0502050306030303"/>
                <a:cs typeface="Sylfaen" panose="010A0502050306030303"/>
              </a:rPr>
              <a:t>strtok(my_line,	“\t\n”);</a:t>
            </a:r>
            <a:endParaRPr sz="2940" dirty="0">
              <a:latin typeface="Sylfaen" panose="010A0502050306030303"/>
              <a:cs typeface="Sylfaen" panose="010A0502050306030303"/>
            </a:endParaRPr>
          </a:p>
          <a:p>
            <a:pPr marL="996315">
              <a:lnSpc>
                <a:spcPct val="100000"/>
              </a:lnSpc>
              <a:tabLst>
                <a:tab pos="5019675" algn="l"/>
              </a:tabLst>
            </a:pPr>
            <a:r>
              <a:rPr sz="2940" spc="-5" dirty="0" err="1">
                <a:solidFill>
                  <a:srgbClr val="0000FF"/>
                </a:solidFill>
                <a:latin typeface="Sylfaen" panose="010A0502050306030303"/>
                <a:cs typeface="Sylfaen" panose="010A0502050306030303"/>
              </a:rPr>
              <a:t>my_string</a:t>
            </a:r>
            <a:r>
              <a:rPr sz="2940" spc="20" dirty="0">
                <a:solidFill>
                  <a:srgbClr val="0000FF"/>
                </a:solidFill>
                <a:latin typeface="Sylfaen" panose="010A0502050306030303"/>
                <a:cs typeface="Sylfaen" panose="010A0502050306030303"/>
              </a:rPr>
              <a:t> </a:t>
            </a:r>
            <a:r>
              <a:rPr sz="2940" spc="-5" dirty="0">
                <a:solidFill>
                  <a:srgbClr val="0000FF"/>
                </a:solidFill>
                <a:latin typeface="Sylfaen" panose="010A0502050306030303"/>
                <a:cs typeface="Sylfaen" panose="010A0502050306030303"/>
              </a:rPr>
              <a:t>=</a:t>
            </a:r>
            <a:r>
              <a:rPr sz="2940" spc="15" dirty="0">
                <a:solidFill>
                  <a:srgbClr val="0000FF"/>
                </a:solidFill>
                <a:latin typeface="Sylfaen" panose="010A0502050306030303"/>
                <a:cs typeface="Sylfaen" panose="010A0502050306030303"/>
              </a:rPr>
              <a:t> </a:t>
            </a:r>
            <a:r>
              <a:rPr sz="2940" spc="-5" dirty="0">
                <a:solidFill>
                  <a:srgbClr val="0000FF"/>
                </a:solidFill>
                <a:latin typeface="Sylfaen" panose="010A0502050306030303"/>
                <a:cs typeface="Sylfaen" panose="010A0502050306030303"/>
              </a:rPr>
              <a:t>strtok(NULL,	“\t\n”);</a:t>
            </a:r>
            <a:endParaRPr lang="en-US" sz="2940" spc="-5" dirty="0">
              <a:solidFill>
                <a:srgbClr val="0000FF"/>
              </a:solidFill>
              <a:latin typeface="Sylfaen" panose="010A0502050306030303"/>
              <a:cs typeface="Sylfaen" panose="010A0502050306030303"/>
            </a:endParaRPr>
          </a:p>
          <a:p>
            <a:pPr marL="996315">
              <a:tabLst>
                <a:tab pos="5019675" algn="l"/>
              </a:tabLst>
            </a:pPr>
            <a:r>
              <a:rPr lang="en-US" sz="2940" spc="-5" dirty="0">
                <a:solidFill>
                  <a:srgbClr val="0000FF"/>
                </a:solidFill>
                <a:latin typeface="Sylfaen" panose="010A0502050306030303"/>
                <a:cs typeface="Sylfaen" panose="010A0502050306030303"/>
              </a:rPr>
              <a:t>……</a:t>
            </a:r>
            <a:endParaRPr lang="en-US" sz="2940" dirty="0">
              <a:latin typeface="Sylfaen" panose="010A0502050306030303"/>
              <a:cs typeface="Sylfaen" panose="010A0502050306030303"/>
            </a:endParaRPr>
          </a:p>
          <a:p>
            <a:pPr marL="996315">
              <a:lnSpc>
                <a:spcPct val="100000"/>
              </a:lnSpc>
              <a:tabLst>
                <a:tab pos="5019675" algn="l"/>
              </a:tabLst>
            </a:pPr>
            <a:endParaRPr sz="2940" dirty="0">
              <a:latin typeface="Sylfaen" panose="010A0502050306030303"/>
              <a:cs typeface="Sylfaen" panose="010A0502050306030303"/>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Multi-threaded </a:t>
            </a:r>
            <a:r>
              <a:rPr sz="4620" spc="-40" dirty="0"/>
              <a:t>tokenizer</a:t>
            </a:r>
            <a:r>
              <a:rPr sz="4620" spc="-70" dirty="0"/>
              <a:t> </a:t>
            </a:r>
            <a:r>
              <a:rPr sz="4620" dirty="0"/>
              <a:t>(1)</a:t>
            </a:r>
          </a:p>
        </p:txBody>
      </p:sp>
      <p:sp>
        <p:nvSpPr>
          <p:cNvPr id="3" name="object 3"/>
          <p:cNvSpPr/>
          <p:nvPr/>
        </p:nvSpPr>
        <p:spPr>
          <a:xfrm>
            <a:off x="2112480" y="1649960"/>
            <a:ext cx="8628864" cy="4205090"/>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436305" y="4241329"/>
            <a:ext cx="5271326" cy="1019461"/>
          </a:xfrm>
          <a:custGeom>
            <a:avLst/>
            <a:gdLst/>
            <a:ahLst/>
            <a:cxnLst/>
            <a:rect l="l" t="t" r="r" b="b"/>
            <a:pathLst>
              <a:path w="5020310" h="970914">
                <a:moveTo>
                  <a:pt x="0" y="161798"/>
                </a:moveTo>
                <a:lnTo>
                  <a:pt x="5779" y="118768"/>
                </a:lnTo>
                <a:lnTo>
                  <a:pt x="22090" y="80113"/>
                </a:lnTo>
                <a:lnTo>
                  <a:pt x="47390" y="47370"/>
                </a:lnTo>
                <a:lnTo>
                  <a:pt x="80136" y="22079"/>
                </a:lnTo>
                <a:lnTo>
                  <a:pt x="118786" y="5776"/>
                </a:lnTo>
                <a:lnTo>
                  <a:pt x="161797" y="0"/>
                </a:lnTo>
                <a:lnTo>
                  <a:pt x="4858258" y="0"/>
                </a:lnTo>
                <a:lnTo>
                  <a:pt x="4901287" y="5776"/>
                </a:lnTo>
                <a:lnTo>
                  <a:pt x="4939942" y="22079"/>
                </a:lnTo>
                <a:lnTo>
                  <a:pt x="4972685" y="47371"/>
                </a:lnTo>
                <a:lnTo>
                  <a:pt x="4997976" y="80113"/>
                </a:lnTo>
                <a:lnTo>
                  <a:pt x="5014279" y="118768"/>
                </a:lnTo>
                <a:lnTo>
                  <a:pt x="5020056" y="161798"/>
                </a:lnTo>
                <a:lnTo>
                  <a:pt x="5020056" y="808989"/>
                </a:lnTo>
                <a:lnTo>
                  <a:pt x="5014279" y="852019"/>
                </a:lnTo>
                <a:lnTo>
                  <a:pt x="4997976" y="890674"/>
                </a:lnTo>
                <a:lnTo>
                  <a:pt x="4972684" y="923417"/>
                </a:lnTo>
                <a:lnTo>
                  <a:pt x="4939942" y="948708"/>
                </a:lnTo>
                <a:lnTo>
                  <a:pt x="4901287" y="965011"/>
                </a:lnTo>
                <a:lnTo>
                  <a:pt x="4858258" y="970788"/>
                </a:lnTo>
                <a:lnTo>
                  <a:pt x="161797" y="970788"/>
                </a:lnTo>
                <a:lnTo>
                  <a:pt x="118786" y="965011"/>
                </a:lnTo>
                <a:lnTo>
                  <a:pt x="80136" y="948708"/>
                </a:lnTo>
                <a:lnTo>
                  <a:pt x="47390" y="923416"/>
                </a:lnTo>
                <a:lnTo>
                  <a:pt x="22090" y="890674"/>
                </a:lnTo>
                <a:lnTo>
                  <a:pt x="5779" y="852019"/>
                </a:lnTo>
                <a:lnTo>
                  <a:pt x="0" y="808989"/>
                </a:lnTo>
                <a:lnTo>
                  <a:pt x="0" y="161798"/>
                </a:lnTo>
                <a:close/>
              </a:path>
            </a:pathLst>
          </a:custGeom>
          <a:ln w="28956">
            <a:solidFill>
              <a:srgbClr val="FF0000"/>
            </a:solidFill>
          </a:ln>
        </p:spPr>
        <p:txBody>
          <a:bodyPr wrap="square" lIns="0" tIns="0" rIns="0" bIns="0" rtlCol="0"/>
          <a:lstStyle/>
          <a:p>
            <a:endParaRPr sz="2310"/>
          </a:p>
        </p:txBody>
      </p:sp>
      <p:sp>
        <p:nvSpPr>
          <p:cNvPr id="5" name="object 5"/>
          <p:cNvSpPr/>
          <p:nvPr/>
        </p:nvSpPr>
        <p:spPr>
          <a:xfrm>
            <a:off x="3217202" y="2916363"/>
            <a:ext cx="4860608" cy="0"/>
          </a:xfrm>
          <a:custGeom>
            <a:avLst/>
            <a:gdLst/>
            <a:ahLst/>
            <a:cxnLst/>
            <a:rect l="l" t="t" r="r" b="b"/>
            <a:pathLst>
              <a:path w="4629150">
                <a:moveTo>
                  <a:pt x="0" y="0"/>
                </a:moveTo>
                <a:lnTo>
                  <a:pt x="4628769" y="0"/>
                </a:lnTo>
              </a:path>
            </a:pathLst>
          </a:custGeom>
          <a:ln w="25908">
            <a:solidFill>
              <a:srgbClr val="FF0000"/>
            </a:solidFill>
          </a:ln>
        </p:spPr>
        <p:txBody>
          <a:bodyPr wrap="square" lIns="0" tIns="0" rIns="0" bIns="0" rtlCol="0"/>
          <a:lstStyle/>
          <a:p>
            <a:endParaRPr sz="2310"/>
          </a:p>
        </p:txBody>
      </p:sp>
      <p:sp>
        <p:nvSpPr>
          <p:cNvPr id="6" name="object 6"/>
          <p:cNvSpPr txBox="1"/>
          <p:nvPr/>
        </p:nvSpPr>
        <p:spPr>
          <a:xfrm>
            <a:off x="7068216" y="3244672"/>
            <a:ext cx="3869149" cy="961390"/>
          </a:xfrm>
          <a:prstGeom prst="rect">
            <a:avLst/>
          </a:prstGeom>
        </p:spPr>
        <p:txBody>
          <a:bodyPr vert="horz" wrap="square" lIns="0" tIns="13334" rIns="0" bIns="0" rtlCol="0">
            <a:spAutoFit/>
          </a:bodyPr>
          <a:lstStyle/>
          <a:p>
            <a:pPr marL="12700" marR="5080">
              <a:lnSpc>
                <a:spcPct val="100000"/>
              </a:lnSpc>
              <a:spcBef>
                <a:spcPts val="100"/>
              </a:spcBef>
            </a:pPr>
            <a:r>
              <a:rPr sz="1890" spc="-10" dirty="0">
                <a:solidFill>
                  <a:srgbClr val="FF0000"/>
                </a:solidFill>
                <a:latin typeface="Calibri" panose="020F0502020204030204"/>
                <a:cs typeface="Calibri" panose="020F0502020204030204"/>
              </a:rPr>
              <a:t>Thread </a:t>
            </a:r>
            <a:r>
              <a:rPr sz="1890" spc="-40" dirty="0">
                <a:solidFill>
                  <a:srgbClr val="FF0000"/>
                </a:solidFill>
                <a:latin typeface="Calibri" panose="020F0502020204030204"/>
                <a:cs typeface="Calibri" panose="020F0502020204030204"/>
              </a:rPr>
              <a:t>0’s </a:t>
            </a:r>
            <a:r>
              <a:rPr sz="1890" spc="-5" dirty="0">
                <a:solidFill>
                  <a:srgbClr val="FF0000"/>
                </a:solidFill>
                <a:latin typeface="Calibri" panose="020F0502020204030204"/>
                <a:cs typeface="Calibri" panose="020F0502020204030204"/>
              </a:rPr>
              <a:t>semaphore </a:t>
            </a:r>
            <a:r>
              <a:rPr sz="1890" dirty="0">
                <a:solidFill>
                  <a:srgbClr val="FF0000"/>
                </a:solidFill>
                <a:latin typeface="Calibri" panose="020F0502020204030204"/>
                <a:cs typeface="Calibri" panose="020F0502020204030204"/>
              </a:rPr>
              <a:t>is </a:t>
            </a:r>
            <a:r>
              <a:rPr sz="1890" spc="-5" dirty="0">
                <a:solidFill>
                  <a:srgbClr val="FF0000"/>
                </a:solidFill>
                <a:latin typeface="Calibri" panose="020F0502020204030204"/>
                <a:cs typeface="Calibri" panose="020F0502020204030204"/>
              </a:rPr>
              <a:t>initialized </a:t>
            </a:r>
            <a:r>
              <a:rPr sz="1890" spc="-10" dirty="0">
                <a:solidFill>
                  <a:srgbClr val="FF0000"/>
                </a:solidFill>
                <a:latin typeface="Calibri" panose="020F0502020204030204"/>
                <a:cs typeface="Calibri" panose="020F0502020204030204"/>
              </a:rPr>
              <a:t>to </a:t>
            </a:r>
            <a:r>
              <a:rPr sz="1890" dirty="0">
                <a:solidFill>
                  <a:srgbClr val="FF0000"/>
                </a:solidFill>
                <a:latin typeface="Calibri" panose="020F0502020204030204"/>
                <a:cs typeface="Calibri" panose="020F0502020204030204"/>
              </a:rPr>
              <a:t>1,  and </a:t>
            </a:r>
            <a:r>
              <a:rPr sz="1890" spc="-10" dirty="0">
                <a:solidFill>
                  <a:srgbClr val="FF0000"/>
                </a:solidFill>
                <a:latin typeface="Calibri" panose="020F0502020204030204"/>
                <a:cs typeface="Calibri" panose="020F0502020204030204"/>
              </a:rPr>
              <a:t>others are initialized to</a:t>
            </a:r>
            <a:r>
              <a:rPr sz="1890" spc="65" dirty="0">
                <a:solidFill>
                  <a:srgbClr val="FF0000"/>
                </a:solidFill>
                <a:latin typeface="Calibri" panose="020F0502020204030204"/>
                <a:cs typeface="Calibri" panose="020F0502020204030204"/>
              </a:rPr>
              <a:t> </a:t>
            </a:r>
            <a:r>
              <a:rPr sz="1890" dirty="0">
                <a:solidFill>
                  <a:srgbClr val="FF0000"/>
                </a:solidFill>
                <a:latin typeface="Calibri" panose="020F0502020204030204"/>
                <a:cs typeface="Calibri" panose="020F0502020204030204"/>
              </a:rPr>
              <a:t>0</a:t>
            </a:r>
            <a:endParaRPr lang="en-US" sz="1890" dirty="0">
              <a:solidFill>
                <a:srgbClr val="FF0000"/>
              </a:solidFill>
              <a:latin typeface="Calibri" panose="020F0502020204030204"/>
              <a:cs typeface="Calibri" panose="020F0502020204030204"/>
            </a:endParaRPr>
          </a:p>
          <a:p>
            <a:pPr marL="12700" marR="5080">
              <a:lnSpc>
                <a:spcPct val="100000"/>
              </a:lnSpc>
              <a:spcBef>
                <a:spcPts val="100"/>
              </a:spcBef>
            </a:pPr>
            <a:r>
              <a:rPr lang="en-US" altLang="zh-CN" sz="2310" b="1" dirty="0" err="1">
                <a:solidFill>
                  <a:srgbClr val="FF0000"/>
                </a:solidFill>
                <a:latin typeface="Calibri" panose="020F0502020204030204"/>
                <a:cs typeface="Calibri" panose="020F0502020204030204"/>
              </a:rPr>
              <a:t>sems</a:t>
            </a:r>
            <a:endParaRPr sz="1890" b="1" dirty="0">
              <a:latin typeface="Calibri" panose="020F0502020204030204"/>
              <a:cs typeface="Calibri" panose="020F0502020204030204"/>
            </a:endParaRPr>
          </a:p>
        </p:txBody>
      </p:sp>
      <p:sp>
        <p:nvSpPr>
          <p:cNvPr id="7" name="object 7"/>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99</a:t>
            </a:fld>
            <a:endParaRPr sz="1260">
              <a:latin typeface="Calibri" panose="020F0502020204030204"/>
              <a:cs typeface="Calibri" panose="020F0502020204030204"/>
            </a:endParaRPr>
          </a:p>
        </p:txBody>
      </p:sp>
      <p:sp>
        <p:nvSpPr>
          <p:cNvPr id="8" name="矩形 7"/>
          <p:cNvSpPr/>
          <p:nvPr/>
        </p:nvSpPr>
        <p:spPr>
          <a:xfrm>
            <a:off x="7739428" y="3886637"/>
            <a:ext cx="240030" cy="2400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1</a:t>
            </a:r>
          </a:p>
        </p:txBody>
      </p:sp>
      <p:sp>
        <p:nvSpPr>
          <p:cNvPr id="9" name="矩形 8"/>
          <p:cNvSpPr/>
          <p:nvPr/>
        </p:nvSpPr>
        <p:spPr>
          <a:xfrm>
            <a:off x="7985613" y="3886637"/>
            <a:ext cx="240030" cy="2400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0</a:t>
            </a:r>
          </a:p>
        </p:txBody>
      </p:sp>
      <p:sp>
        <p:nvSpPr>
          <p:cNvPr id="10" name="矩形 9"/>
          <p:cNvSpPr/>
          <p:nvPr/>
        </p:nvSpPr>
        <p:spPr>
          <a:xfrm>
            <a:off x="8231798" y="3886637"/>
            <a:ext cx="240030" cy="2400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0</a:t>
            </a:r>
          </a:p>
        </p:txBody>
      </p:sp>
      <p:sp>
        <p:nvSpPr>
          <p:cNvPr id="11" name="矩形 10"/>
          <p:cNvSpPr/>
          <p:nvPr/>
        </p:nvSpPr>
        <p:spPr>
          <a:xfrm>
            <a:off x="8477982" y="3886637"/>
            <a:ext cx="240030" cy="2400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10" dirty="0">
                <a:solidFill>
                  <a:schemeClr val="tx1"/>
                </a:solidFill>
              </a:rPr>
              <a:t>0</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Multi-threaded </a:t>
            </a:r>
            <a:r>
              <a:rPr sz="4620" spc="-40" dirty="0"/>
              <a:t>tokenizer</a:t>
            </a:r>
            <a:r>
              <a:rPr sz="4620" spc="-70" dirty="0"/>
              <a:t> </a:t>
            </a:r>
            <a:r>
              <a:rPr sz="4620" dirty="0"/>
              <a:t>(2)</a:t>
            </a:r>
            <a:endParaRPr sz="4620"/>
          </a:p>
        </p:txBody>
      </p:sp>
      <p:sp>
        <p:nvSpPr>
          <p:cNvPr id="3" name="object 3"/>
          <p:cNvSpPr/>
          <p:nvPr/>
        </p:nvSpPr>
        <p:spPr>
          <a:xfrm>
            <a:off x="2357594" y="1823604"/>
            <a:ext cx="8330241" cy="4513809"/>
          </a:xfrm>
          <a:prstGeom prst="rect">
            <a:avLst/>
          </a:prstGeom>
          <a:blipFill>
            <a:blip r:embed="rId2" cstate="print"/>
            <a:stretch>
              <a:fillRect/>
            </a:stretch>
          </a:blipFill>
        </p:spPr>
        <p:txBody>
          <a:bodyPr wrap="square" lIns="0" tIns="0" rIns="0" bIns="0" rtlCol="0"/>
          <a:lstStyle/>
          <a:p>
            <a:endParaRPr sz="2310"/>
          </a:p>
        </p:txBody>
      </p:sp>
      <p:sp>
        <p:nvSpPr>
          <p:cNvPr id="4" name="object 4"/>
          <p:cNvSpPr/>
          <p:nvPr/>
        </p:nvSpPr>
        <p:spPr>
          <a:xfrm>
            <a:off x="2924366" y="4252530"/>
            <a:ext cx="5272659" cy="1019461"/>
          </a:xfrm>
          <a:custGeom>
            <a:avLst/>
            <a:gdLst/>
            <a:ahLst/>
            <a:cxnLst/>
            <a:rect l="l" t="t" r="r" b="b"/>
            <a:pathLst>
              <a:path w="5021580" h="970914">
                <a:moveTo>
                  <a:pt x="0" y="161798"/>
                </a:moveTo>
                <a:lnTo>
                  <a:pt x="5776" y="118768"/>
                </a:lnTo>
                <a:lnTo>
                  <a:pt x="22079" y="80113"/>
                </a:lnTo>
                <a:lnTo>
                  <a:pt x="47371" y="47371"/>
                </a:lnTo>
                <a:lnTo>
                  <a:pt x="80113" y="22079"/>
                </a:lnTo>
                <a:lnTo>
                  <a:pt x="118768" y="5776"/>
                </a:lnTo>
                <a:lnTo>
                  <a:pt x="161798" y="0"/>
                </a:lnTo>
                <a:lnTo>
                  <a:pt x="4859782" y="0"/>
                </a:lnTo>
                <a:lnTo>
                  <a:pt x="4902811" y="5776"/>
                </a:lnTo>
                <a:lnTo>
                  <a:pt x="4941466" y="22079"/>
                </a:lnTo>
                <a:lnTo>
                  <a:pt x="4974209" y="47371"/>
                </a:lnTo>
                <a:lnTo>
                  <a:pt x="4999500" y="80113"/>
                </a:lnTo>
                <a:lnTo>
                  <a:pt x="5015803" y="118768"/>
                </a:lnTo>
                <a:lnTo>
                  <a:pt x="5021580" y="161798"/>
                </a:lnTo>
                <a:lnTo>
                  <a:pt x="5021580" y="808990"/>
                </a:lnTo>
                <a:lnTo>
                  <a:pt x="5015803" y="852019"/>
                </a:lnTo>
                <a:lnTo>
                  <a:pt x="4999500" y="890674"/>
                </a:lnTo>
                <a:lnTo>
                  <a:pt x="4974209" y="923417"/>
                </a:lnTo>
                <a:lnTo>
                  <a:pt x="4941466" y="948708"/>
                </a:lnTo>
                <a:lnTo>
                  <a:pt x="4902811" y="965011"/>
                </a:lnTo>
                <a:lnTo>
                  <a:pt x="4859782" y="970788"/>
                </a:lnTo>
                <a:lnTo>
                  <a:pt x="161798" y="970788"/>
                </a:lnTo>
                <a:lnTo>
                  <a:pt x="118768" y="965011"/>
                </a:lnTo>
                <a:lnTo>
                  <a:pt x="80113" y="948708"/>
                </a:lnTo>
                <a:lnTo>
                  <a:pt x="47371" y="923417"/>
                </a:lnTo>
                <a:lnTo>
                  <a:pt x="22079" y="890674"/>
                </a:lnTo>
                <a:lnTo>
                  <a:pt x="5776" y="852019"/>
                </a:lnTo>
                <a:lnTo>
                  <a:pt x="0" y="808990"/>
                </a:lnTo>
                <a:lnTo>
                  <a:pt x="0" y="161798"/>
                </a:lnTo>
                <a:close/>
              </a:path>
            </a:pathLst>
          </a:custGeom>
          <a:ln w="28956">
            <a:solidFill>
              <a:srgbClr val="FF0000"/>
            </a:solidFill>
          </a:ln>
        </p:spPr>
        <p:txBody>
          <a:bodyPr wrap="square" lIns="0" tIns="0" rIns="0" bIns="0" rtlCol="0"/>
          <a:lstStyle/>
          <a:p>
            <a:endParaRPr sz="2310"/>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100</a:t>
            </a:fld>
            <a:endParaRPr sz="1260">
              <a:latin typeface="Calibri" panose="020F0502020204030204"/>
              <a:cs typeface="Calibri" panose="020F0502020204030204"/>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101</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Running </a:t>
            </a:r>
            <a:r>
              <a:rPr sz="4620" dirty="0"/>
              <a:t>with </a:t>
            </a:r>
            <a:r>
              <a:rPr sz="4620" spc="-5" dirty="0"/>
              <a:t>one</a:t>
            </a:r>
            <a:r>
              <a:rPr sz="4620" spc="-65" dirty="0"/>
              <a:t> </a:t>
            </a:r>
            <a:r>
              <a:rPr sz="4620" spc="-10" dirty="0"/>
              <a:t>thread</a:t>
            </a:r>
            <a:endParaRPr sz="4620" dirty="0"/>
          </a:p>
        </p:txBody>
      </p:sp>
      <p:sp>
        <p:nvSpPr>
          <p:cNvPr id="3" name="object 3"/>
          <p:cNvSpPr txBox="1"/>
          <p:nvPr/>
        </p:nvSpPr>
        <p:spPr>
          <a:xfrm>
            <a:off x="2401367" y="1609881"/>
            <a:ext cx="6231681" cy="3673281"/>
          </a:xfrm>
          <a:prstGeom prst="rect">
            <a:avLst/>
          </a:prstGeom>
        </p:spPr>
        <p:txBody>
          <a:bodyPr vert="horz" wrap="square" lIns="0" tIns="12668" rIns="0" bIns="0" rtlCol="0">
            <a:spAutoFit/>
          </a:bodyPr>
          <a:lstStyle/>
          <a:p>
            <a:pPr marL="241300" indent="-228600">
              <a:lnSpc>
                <a:spcPct val="100000"/>
              </a:lnSpc>
              <a:spcBef>
                <a:spcPts val="95"/>
              </a:spcBef>
              <a:buFont typeface="Arial" panose="020B0604020202020204"/>
              <a:buChar char="•"/>
              <a:tabLst>
                <a:tab pos="241300" algn="l"/>
              </a:tabLst>
            </a:pPr>
            <a:r>
              <a:rPr sz="2940" spc="-5" dirty="0">
                <a:latin typeface="Comic Sans MS" panose="030F0702030302020204" pitchFamily="66" charset="0"/>
                <a:cs typeface="Calibri" panose="020F0502020204030204"/>
              </a:rPr>
              <a:t>It </a:t>
            </a:r>
            <a:r>
              <a:rPr sz="2940" spc="-10" dirty="0">
                <a:latin typeface="Comic Sans MS" panose="030F0702030302020204" pitchFamily="66" charset="0"/>
                <a:cs typeface="Calibri" panose="020F0502020204030204"/>
              </a:rPr>
              <a:t>correctly </a:t>
            </a:r>
            <a:r>
              <a:rPr sz="2940" spc="-25" dirty="0">
                <a:latin typeface="Comic Sans MS" panose="030F0702030302020204" pitchFamily="66" charset="0"/>
                <a:cs typeface="Calibri" panose="020F0502020204030204"/>
              </a:rPr>
              <a:t>tokenizes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input</a:t>
            </a:r>
            <a:r>
              <a:rPr sz="2940" spc="45"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stream.</a:t>
            </a:r>
            <a:endParaRPr sz="2940" dirty="0">
              <a:latin typeface="Comic Sans MS" panose="030F0702030302020204" pitchFamily="66" charset="0"/>
              <a:cs typeface="Calibri" panose="020F0502020204030204"/>
            </a:endParaRPr>
          </a:p>
          <a:p>
            <a:pPr marL="791210" marR="854710">
              <a:lnSpc>
                <a:spcPct val="120000"/>
              </a:lnSpc>
              <a:spcBef>
                <a:spcPts val="2510"/>
              </a:spcBef>
            </a:pPr>
            <a:r>
              <a:rPr sz="3360" spc="-15" dirty="0">
                <a:solidFill>
                  <a:srgbClr val="0066FF"/>
                </a:solidFill>
                <a:latin typeface="Comic Sans MS" panose="030F0702030302020204" pitchFamily="66" charset="0"/>
                <a:cs typeface="Calibri" panose="020F0502020204030204"/>
              </a:rPr>
              <a:t>Pease </a:t>
            </a:r>
            <a:r>
              <a:rPr sz="3360" spc="-10" dirty="0">
                <a:solidFill>
                  <a:srgbClr val="0066FF"/>
                </a:solidFill>
                <a:latin typeface="Comic Sans MS" panose="030F0702030302020204" pitchFamily="66" charset="0"/>
                <a:cs typeface="Calibri" panose="020F0502020204030204"/>
              </a:rPr>
              <a:t>porridge </a:t>
            </a:r>
            <a:r>
              <a:rPr sz="3360" dirty="0">
                <a:solidFill>
                  <a:srgbClr val="0066FF"/>
                </a:solidFill>
                <a:latin typeface="Comic Sans MS" panose="030F0702030302020204" pitchFamily="66" charset="0"/>
                <a:cs typeface="Calibri" panose="020F0502020204030204"/>
              </a:rPr>
              <a:t>hot.  </a:t>
            </a:r>
            <a:r>
              <a:rPr sz="3360" spc="-10" dirty="0">
                <a:solidFill>
                  <a:srgbClr val="0066FF"/>
                </a:solidFill>
                <a:latin typeface="Comic Sans MS" panose="030F0702030302020204" pitchFamily="66" charset="0"/>
                <a:cs typeface="Calibri" panose="020F0502020204030204"/>
              </a:rPr>
              <a:t>Pease porridge cold.  </a:t>
            </a:r>
            <a:r>
              <a:rPr sz="3360" spc="-15" dirty="0">
                <a:solidFill>
                  <a:srgbClr val="0066FF"/>
                </a:solidFill>
                <a:latin typeface="Comic Sans MS" panose="030F0702030302020204" pitchFamily="66" charset="0"/>
                <a:cs typeface="Calibri" panose="020F0502020204030204"/>
              </a:rPr>
              <a:t>Pease </a:t>
            </a:r>
            <a:r>
              <a:rPr sz="3360" spc="-10" dirty="0">
                <a:solidFill>
                  <a:srgbClr val="0066FF"/>
                </a:solidFill>
                <a:latin typeface="Comic Sans MS" panose="030F0702030302020204" pitchFamily="66" charset="0"/>
                <a:cs typeface="Calibri" panose="020F0502020204030204"/>
              </a:rPr>
              <a:t>porridge </a:t>
            </a:r>
            <a:r>
              <a:rPr sz="3360" dirty="0">
                <a:solidFill>
                  <a:srgbClr val="0066FF"/>
                </a:solidFill>
                <a:latin typeface="Comic Sans MS" panose="030F0702030302020204" pitchFamily="66" charset="0"/>
                <a:cs typeface="Calibri" panose="020F0502020204030204"/>
              </a:rPr>
              <a:t>in the </a:t>
            </a:r>
            <a:r>
              <a:rPr sz="3360" spc="-5" dirty="0">
                <a:solidFill>
                  <a:srgbClr val="0066FF"/>
                </a:solidFill>
                <a:latin typeface="Comic Sans MS" panose="030F0702030302020204" pitchFamily="66" charset="0"/>
                <a:cs typeface="Calibri" panose="020F0502020204030204"/>
              </a:rPr>
              <a:t>pot  Nine </a:t>
            </a:r>
            <a:r>
              <a:rPr sz="3360" spc="-25" dirty="0">
                <a:solidFill>
                  <a:srgbClr val="0066FF"/>
                </a:solidFill>
                <a:latin typeface="Comic Sans MS" panose="030F0702030302020204" pitchFamily="66" charset="0"/>
                <a:cs typeface="Calibri" panose="020F0502020204030204"/>
              </a:rPr>
              <a:t>days</a:t>
            </a:r>
            <a:r>
              <a:rPr sz="3360" spc="-5" dirty="0">
                <a:solidFill>
                  <a:srgbClr val="0066FF"/>
                </a:solidFill>
                <a:latin typeface="Comic Sans MS" panose="030F0702030302020204" pitchFamily="66" charset="0"/>
                <a:cs typeface="Calibri" panose="020F0502020204030204"/>
              </a:rPr>
              <a:t> </a:t>
            </a:r>
            <a:r>
              <a:rPr sz="3360" spc="-10" dirty="0">
                <a:solidFill>
                  <a:srgbClr val="0066FF"/>
                </a:solidFill>
                <a:latin typeface="Comic Sans MS" panose="030F0702030302020204" pitchFamily="66" charset="0"/>
                <a:cs typeface="Calibri" panose="020F0502020204030204"/>
              </a:rPr>
              <a:t>old.</a:t>
            </a:r>
            <a:endParaRPr sz="3360" dirty="0">
              <a:latin typeface="Comic Sans MS" panose="030F0702030302020204" pitchFamily="66" charset="0"/>
              <a:cs typeface="Calibri" panose="020F0502020204030204"/>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Running </a:t>
            </a:r>
            <a:r>
              <a:rPr sz="4620" dirty="0"/>
              <a:t>with </a:t>
            </a:r>
            <a:r>
              <a:rPr sz="4620" spc="-20" dirty="0"/>
              <a:t>two</a:t>
            </a:r>
            <a:r>
              <a:rPr sz="4620" spc="-45" dirty="0"/>
              <a:t> </a:t>
            </a:r>
            <a:r>
              <a:rPr sz="4620" spc="-10" dirty="0"/>
              <a:t>threads</a:t>
            </a:r>
            <a:endParaRPr sz="4620" dirty="0"/>
          </a:p>
        </p:txBody>
      </p:sp>
      <p:sp>
        <p:nvSpPr>
          <p:cNvPr id="3" name="object 3"/>
          <p:cNvSpPr/>
          <p:nvPr/>
        </p:nvSpPr>
        <p:spPr>
          <a:xfrm>
            <a:off x="2408701" y="1541800"/>
            <a:ext cx="6410801" cy="5191036"/>
          </a:xfrm>
          <a:prstGeom prst="rect">
            <a:avLst/>
          </a:prstGeom>
          <a:blipFill>
            <a:blip r:embed="rId2" cstate="print"/>
            <a:stretch>
              <a:fillRect/>
            </a:stretch>
          </a:blipFill>
        </p:spPr>
        <p:txBody>
          <a:bodyPr wrap="square" lIns="0" tIns="0" rIns="0" bIns="0" rtlCol="0"/>
          <a:lstStyle/>
          <a:p>
            <a:endParaRPr sz="2310"/>
          </a:p>
        </p:txBody>
      </p:sp>
      <p:sp>
        <p:nvSpPr>
          <p:cNvPr id="4" name="object 4"/>
          <p:cNvSpPr txBox="1"/>
          <p:nvPr/>
        </p:nvSpPr>
        <p:spPr>
          <a:xfrm>
            <a:off x="8980055" y="3783699"/>
            <a:ext cx="1434846" cy="1092835"/>
          </a:xfrm>
          <a:prstGeom prst="rect">
            <a:avLst/>
          </a:prstGeom>
        </p:spPr>
        <p:txBody>
          <a:bodyPr vert="horz" wrap="square" lIns="0" tIns="103346" rIns="0" bIns="0" rtlCol="0">
            <a:spAutoFit/>
          </a:bodyPr>
          <a:lstStyle/>
          <a:p>
            <a:pPr marL="12700">
              <a:lnSpc>
                <a:spcPct val="100000"/>
              </a:lnSpc>
              <a:spcBef>
                <a:spcPts val="775"/>
              </a:spcBef>
            </a:pPr>
            <a:r>
              <a:rPr sz="2940" spc="-10" dirty="0">
                <a:solidFill>
                  <a:srgbClr val="FF0000"/>
                </a:solidFill>
                <a:latin typeface="Calibri" panose="020F0502020204030204"/>
                <a:cs typeface="Calibri" panose="020F0502020204030204"/>
              </a:rPr>
              <a:t>Oops!</a:t>
            </a:r>
            <a:endParaRPr sz="2940">
              <a:latin typeface="Calibri" panose="020F0502020204030204"/>
              <a:cs typeface="Calibri" panose="020F0502020204030204"/>
            </a:endParaRPr>
          </a:p>
          <a:p>
            <a:pPr marL="12700">
              <a:lnSpc>
                <a:spcPct val="100000"/>
              </a:lnSpc>
              <a:spcBef>
                <a:spcPts val="670"/>
              </a:spcBef>
            </a:pPr>
            <a:r>
              <a:rPr sz="2940" spc="-10" dirty="0">
                <a:solidFill>
                  <a:srgbClr val="FF0000"/>
                </a:solidFill>
                <a:latin typeface="Calibri" panose="020F0502020204030204"/>
                <a:cs typeface="Calibri" panose="020F0502020204030204"/>
              </a:rPr>
              <a:t>Missing…</a:t>
            </a:r>
            <a:endParaRPr sz="2940">
              <a:latin typeface="Calibri" panose="020F0502020204030204"/>
              <a:cs typeface="Calibri" panose="020F0502020204030204"/>
            </a:endParaRPr>
          </a:p>
        </p:txBody>
      </p:sp>
      <p:sp>
        <p:nvSpPr>
          <p:cNvPr id="5" name="object 5"/>
          <p:cNvSpPr/>
          <p:nvPr/>
        </p:nvSpPr>
        <p:spPr>
          <a:xfrm>
            <a:off x="6400800" y="4157585"/>
            <a:ext cx="2421636" cy="1077468"/>
          </a:xfrm>
          <a:custGeom>
            <a:avLst/>
            <a:gdLst/>
            <a:ahLst/>
            <a:cxnLst/>
            <a:rect l="l" t="t" r="r" b="b"/>
            <a:pathLst>
              <a:path w="2306320" h="1026160">
                <a:moveTo>
                  <a:pt x="64388" y="930402"/>
                </a:moveTo>
                <a:lnTo>
                  <a:pt x="60451" y="931037"/>
                </a:lnTo>
                <a:lnTo>
                  <a:pt x="0" y="1013968"/>
                </a:lnTo>
                <a:lnTo>
                  <a:pt x="101853" y="1025779"/>
                </a:lnTo>
                <a:lnTo>
                  <a:pt x="105028" y="1023239"/>
                </a:lnTo>
                <a:lnTo>
                  <a:pt x="105410" y="1019810"/>
                </a:lnTo>
                <a:lnTo>
                  <a:pt x="105917" y="1016254"/>
                </a:lnTo>
                <a:lnTo>
                  <a:pt x="104698" y="1014730"/>
                </a:lnTo>
                <a:lnTo>
                  <a:pt x="13970" y="1014730"/>
                </a:lnTo>
                <a:lnTo>
                  <a:pt x="8889" y="1003046"/>
                </a:lnTo>
                <a:lnTo>
                  <a:pt x="30464" y="993604"/>
                </a:lnTo>
                <a:lnTo>
                  <a:pt x="68579" y="941324"/>
                </a:lnTo>
                <a:lnTo>
                  <a:pt x="70738" y="938530"/>
                </a:lnTo>
                <a:lnTo>
                  <a:pt x="70103" y="934466"/>
                </a:lnTo>
                <a:lnTo>
                  <a:pt x="67310" y="932434"/>
                </a:lnTo>
                <a:lnTo>
                  <a:pt x="64388" y="930402"/>
                </a:lnTo>
                <a:close/>
              </a:path>
              <a:path w="2306320" h="1026160">
                <a:moveTo>
                  <a:pt x="30464" y="993604"/>
                </a:moveTo>
                <a:lnTo>
                  <a:pt x="8889" y="1003046"/>
                </a:lnTo>
                <a:lnTo>
                  <a:pt x="13970" y="1014730"/>
                </a:lnTo>
                <a:lnTo>
                  <a:pt x="18903" y="1012571"/>
                </a:lnTo>
                <a:lnTo>
                  <a:pt x="16637" y="1012571"/>
                </a:lnTo>
                <a:lnTo>
                  <a:pt x="12191" y="1002538"/>
                </a:lnTo>
                <a:lnTo>
                  <a:pt x="23951" y="1002538"/>
                </a:lnTo>
                <a:lnTo>
                  <a:pt x="30464" y="993604"/>
                </a:lnTo>
                <a:close/>
              </a:path>
              <a:path w="2306320" h="1026160">
                <a:moveTo>
                  <a:pt x="35622" y="1005254"/>
                </a:moveTo>
                <a:lnTo>
                  <a:pt x="13970" y="1014730"/>
                </a:lnTo>
                <a:lnTo>
                  <a:pt x="104698" y="1014730"/>
                </a:lnTo>
                <a:lnTo>
                  <a:pt x="103377" y="1013079"/>
                </a:lnTo>
                <a:lnTo>
                  <a:pt x="35622" y="1005254"/>
                </a:lnTo>
                <a:close/>
              </a:path>
              <a:path w="2306320" h="1026160">
                <a:moveTo>
                  <a:pt x="12191" y="1002538"/>
                </a:moveTo>
                <a:lnTo>
                  <a:pt x="16637" y="1012571"/>
                </a:lnTo>
                <a:lnTo>
                  <a:pt x="23035" y="1003795"/>
                </a:lnTo>
                <a:lnTo>
                  <a:pt x="12191" y="1002538"/>
                </a:lnTo>
                <a:close/>
              </a:path>
              <a:path w="2306320" h="1026160">
                <a:moveTo>
                  <a:pt x="23035" y="1003795"/>
                </a:moveTo>
                <a:lnTo>
                  <a:pt x="16637" y="1012571"/>
                </a:lnTo>
                <a:lnTo>
                  <a:pt x="18903" y="1012571"/>
                </a:lnTo>
                <a:lnTo>
                  <a:pt x="35622" y="1005254"/>
                </a:lnTo>
                <a:lnTo>
                  <a:pt x="23035" y="1003795"/>
                </a:lnTo>
                <a:close/>
              </a:path>
              <a:path w="2306320" h="1026160">
                <a:moveTo>
                  <a:pt x="2300858" y="0"/>
                </a:moveTo>
                <a:lnTo>
                  <a:pt x="30464" y="993604"/>
                </a:lnTo>
                <a:lnTo>
                  <a:pt x="23035" y="1003795"/>
                </a:lnTo>
                <a:lnTo>
                  <a:pt x="35622" y="1005254"/>
                </a:lnTo>
                <a:lnTo>
                  <a:pt x="2306066" y="11684"/>
                </a:lnTo>
                <a:lnTo>
                  <a:pt x="2300858" y="0"/>
                </a:lnTo>
                <a:close/>
              </a:path>
              <a:path w="2306320" h="1026160">
                <a:moveTo>
                  <a:pt x="23951" y="1002538"/>
                </a:moveTo>
                <a:lnTo>
                  <a:pt x="12191" y="1002538"/>
                </a:lnTo>
                <a:lnTo>
                  <a:pt x="23035" y="1003795"/>
                </a:lnTo>
                <a:lnTo>
                  <a:pt x="23951" y="1002538"/>
                </a:lnTo>
                <a:close/>
              </a:path>
            </a:pathLst>
          </a:custGeom>
          <a:solidFill>
            <a:srgbClr val="FF0000"/>
          </a:solidFill>
        </p:spPr>
        <p:txBody>
          <a:bodyPr wrap="square" lIns="0" tIns="0" rIns="0" bIns="0" rtlCol="0"/>
          <a:lstStyle/>
          <a:p>
            <a:endParaRPr sz="2310"/>
          </a:p>
        </p:txBody>
      </p:sp>
      <p:sp>
        <p:nvSpPr>
          <p:cNvPr id="6" name="object 6"/>
          <p:cNvSpPr/>
          <p:nvPr/>
        </p:nvSpPr>
        <p:spPr>
          <a:xfrm>
            <a:off x="7760970" y="3105987"/>
            <a:ext cx="1139476" cy="837438"/>
          </a:xfrm>
          <a:custGeom>
            <a:avLst/>
            <a:gdLst/>
            <a:ahLst/>
            <a:cxnLst/>
            <a:rect l="l" t="t" r="r" b="b"/>
            <a:pathLst>
              <a:path w="1085215" h="797560">
                <a:moveTo>
                  <a:pt x="20307" y="14855"/>
                </a:moveTo>
                <a:lnTo>
                  <a:pt x="25378" y="26515"/>
                </a:lnTo>
                <a:lnTo>
                  <a:pt x="1077341" y="797305"/>
                </a:lnTo>
                <a:lnTo>
                  <a:pt x="1084833" y="787018"/>
                </a:lnTo>
                <a:lnTo>
                  <a:pt x="32798" y="16174"/>
                </a:lnTo>
                <a:lnTo>
                  <a:pt x="20307" y="14855"/>
                </a:lnTo>
                <a:close/>
              </a:path>
              <a:path w="1085215" h="797560">
                <a:moveTo>
                  <a:pt x="0" y="0"/>
                </a:moveTo>
                <a:lnTo>
                  <a:pt x="39497" y="90804"/>
                </a:lnTo>
                <a:lnTo>
                  <a:pt x="40894" y="94106"/>
                </a:lnTo>
                <a:lnTo>
                  <a:pt x="44703" y="95503"/>
                </a:lnTo>
                <a:lnTo>
                  <a:pt x="51053" y="92710"/>
                </a:lnTo>
                <a:lnTo>
                  <a:pt x="52577" y="89026"/>
                </a:lnTo>
                <a:lnTo>
                  <a:pt x="51180" y="85851"/>
                </a:lnTo>
                <a:lnTo>
                  <a:pt x="25378" y="26515"/>
                </a:lnTo>
                <a:lnTo>
                  <a:pt x="6350" y="12573"/>
                </a:lnTo>
                <a:lnTo>
                  <a:pt x="13842" y="2286"/>
                </a:lnTo>
                <a:lnTo>
                  <a:pt x="21900" y="2286"/>
                </a:lnTo>
                <a:lnTo>
                  <a:pt x="0" y="0"/>
                </a:lnTo>
                <a:close/>
              </a:path>
              <a:path w="1085215" h="797560">
                <a:moveTo>
                  <a:pt x="13842" y="2286"/>
                </a:moveTo>
                <a:lnTo>
                  <a:pt x="6350" y="12573"/>
                </a:lnTo>
                <a:lnTo>
                  <a:pt x="25378" y="26515"/>
                </a:lnTo>
                <a:lnTo>
                  <a:pt x="20307" y="14855"/>
                </a:lnTo>
                <a:lnTo>
                  <a:pt x="9525" y="13715"/>
                </a:lnTo>
                <a:lnTo>
                  <a:pt x="16001" y="4952"/>
                </a:lnTo>
                <a:lnTo>
                  <a:pt x="17482" y="4952"/>
                </a:lnTo>
                <a:lnTo>
                  <a:pt x="13842" y="2286"/>
                </a:lnTo>
                <a:close/>
              </a:path>
              <a:path w="1085215" h="797560">
                <a:moveTo>
                  <a:pt x="21900" y="2286"/>
                </a:moveTo>
                <a:lnTo>
                  <a:pt x="13842" y="2286"/>
                </a:lnTo>
                <a:lnTo>
                  <a:pt x="32798" y="16174"/>
                </a:lnTo>
                <a:lnTo>
                  <a:pt x="97282" y="22987"/>
                </a:lnTo>
                <a:lnTo>
                  <a:pt x="100711" y="23240"/>
                </a:lnTo>
                <a:lnTo>
                  <a:pt x="103886" y="20700"/>
                </a:lnTo>
                <a:lnTo>
                  <a:pt x="104139" y="17271"/>
                </a:lnTo>
                <a:lnTo>
                  <a:pt x="104408" y="14855"/>
                </a:lnTo>
                <a:lnTo>
                  <a:pt x="104419" y="13715"/>
                </a:lnTo>
                <a:lnTo>
                  <a:pt x="101980" y="10667"/>
                </a:lnTo>
                <a:lnTo>
                  <a:pt x="21900" y="2286"/>
                </a:lnTo>
                <a:close/>
              </a:path>
              <a:path w="1085215" h="797560">
                <a:moveTo>
                  <a:pt x="17482" y="4952"/>
                </a:moveTo>
                <a:lnTo>
                  <a:pt x="16001" y="4952"/>
                </a:lnTo>
                <a:lnTo>
                  <a:pt x="20307" y="14855"/>
                </a:lnTo>
                <a:lnTo>
                  <a:pt x="32798" y="16174"/>
                </a:lnTo>
                <a:lnTo>
                  <a:pt x="17482" y="4952"/>
                </a:lnTo>
                <a:close/>
              </a:path>
              <a:path w="1085215" h="797560">
                <a:moveTo>
                  <a:pt x="16001" y="4952"/>
                </a:moveTo>
                <a:lnTo>
                  <a:pt x="9525" y="13715"/>
                </a:lnTo>
                <a:lnTo>
                  <a:pt x="20307" y="14855"/>
                </a:lnTo>
                <a:lnTo>
                  <a:pt x="16001" y="4952"/>
                </a:lnTo>
                <a:close/>
              </a:path>
            </a:pathLst>
          </a:custGeom>
          <a:solidFill>
            <a:srgbClr val="FF0000"/>
          </a:solidFill>
        </p:spPr>
        <p:txBody>
          <a:bodyPr wrap="square" lIns="0" tIns="0" rIns="0" bIns="0" rtlCol="0"/>
          <a:lstStyle/>
          <a:p>
            <a:endParaRPr sz="2310"/>
          </a:p>
        </p:txBody>
      </p:sp>
      <p:sp>
        <p:nvSpPr>
          <p:cNvPr id="7" name="object 7"/>
          <p:cNvSpPr/>
          <p:nvPr/>
        </p:nvSpPr>
        <p:spPr>
          <a:xfrm>
            <a:off x="6217577" y="3106787"/>
            <a:ext cx="1828229" cy="0"/>
          </a:xfrm>
          <a:custGeom>
            <a:avLst/>
            <a:gdLst/>
            <a:ahLst/>
            <a:cxnLst/>
            <a:rect l="l" t="t" r="r" b="b"/>
            <a:pathLst>
              <a:path w="1741170">
                <a:moveTo>
                  <a:pt x="0" y="0"/>
                </a:moveTo>
                <a:lnTo>
                  <a:pt x="1741043" y="0"/>
                </a:lnTo>
              </a:path>
            </a:pathLst>
          </a:custGeom>
          <a:ln w="32004">
            <a:solidFill>
              <a:srgbClr val="FF0000"/>
            </a:solidFill>
          </a:ln>
        </p:spPr>
        <p:txBody>
          <a:bodyPr wrap="square" lIns="0" tIns="0" rIns="0" bIns="0" rtlCol="0"/>
          <a:lstStyle/>
          <a:p>
            <a:endParaRPr sz="2310"/>
          </a:p>
        </p:txBody>
      </p:sp>
      <p:sp>
        <p:nvSpPr>
          <p:cNvPr id="8" name="object 8"/>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102</a:t>
            </a:fld>
            <a:endParaRPr sz="1260">
              <a:latin typeface="Calibri" panose="020F0502020204030204"/>
              <a:cs typeface="Calibri" panose="020F0502020204030204"/>
            </a:endParaRP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103</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5" dirty="0"/>
              <a:t>What</a:t>
            </a:r>
            <a:r>
              <a:rPr sz="4620" spc="-50" dirty="0"/>
              <a:t> </a:t>
            </a:r>
            <a:r>
              <a:rPr sz="4620" dirty="0"/>
              <a:t>happened?</a:t>
            </a:r>
          </a:p>
        </p:txBody>
      </p:sp>
      <p:pic>
        <p:nvPicPr>
          <p:cNvPr id="1026" name="Picture 2" descr="https://media.geeksforgeeks.org/wp-content/uploads/memoryLayoutC.jpg">
            <a:extLst>
              <a:ext uri="{FF2B5EF4-FFF2-40B4-BE49-F238E27FC236}">
                <a16:creationId xmlns:a16="http://schemas.microsoft.com/office/drawing/2014/main" id="{AF24DD48-98A3-4521-B661-3FB8109C6C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0880" y="1584226"/>
            <a:ext cx="5772150" cy="4846291"/>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p:nvPr/>
        </p:nvSpPr>
        <p:spPr>
          <a:xfrm>
            <a:off x="641350" y="1896995"/>
            <a:ext cx="7343626" cy="4321182"/>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15" dirty="0">
                <a:solidFill>
                  <a:srgbClr val="0066FF"/>
                </a:solidFill>
                <a:latin typeface="Calibri" panose="020F0502020204030204"/>
                <a:cs typeface="Calibri" panose="020F0502020204030204"/>
              </a:rPr>
              <a:t>strtok </a:t>
            </a:r>
            <a:r>
              <a:rPr sz="2940" spc="-10" dirty="0">
                <a:latin typeface="Calibri" panose="020F0502020204030204"/>
                <a:cs typeface="Calibri" panose="020F0502020204030204"/>
              </a:rPr>
              <a:t>caches </a:t>
            </a:r>
            <a:r>
              <a:rPr sz="2940" spc="-5" dirty="0">
                <a:latin typeface="Calibri" panose="020F0502020204030204"/>
                <a:cs typeface="Calibri" panose="020F0502020204030204"/>
              </a:rPr>
              <a:t>the </a:t>
            </a:r>
            <a:r>
              <a:rPr sz="2940" spc="-10" dirty="0">
                <a:latin typeface="Calibri" panose="020F0502020204030204"/>
                <a:cs typeface="Calibri" panose="020F0502020204030204"/>
              </a:rPr>
              <a:t>input line </a:t>
            </a:r>
            <a:r>
              <a:rPr sz="2940" spc="-15" dirty="0">
                <a:latin typeface="Calibri" panose="020F0502020204030204"/>
                <a:cs typeface="Calibri" panose="020F0502020204030204"/>
              </a:rPr>
              <a:t>by </a:t>
            </a:r>
            <a:r>
              <a:rPr sz="2940" spc="-10" dirty="0">
                <a:latin typeface="Calibri" panose="020F0502020204030204"/>
                <a:cs typeface="Calibri" panose="020F0502020204030204"/>
              </a:rPr>
              <a:t>declaring </a:t>
            </a:r>
            <a:r>
              <a:rPr sz="2940" spc="-5" dirty="0">
                <a:latin typeface="Calibri" panose="020F0502020204030204"/>
                <a:cs typeface="Calibri" panose="020F0502020204030204"/>
              </a:rPr>
              <a:t>a </a:t>
            </a:r>
            <a:r>
              <a:rPr sz="2940" spc="-10" dirty="0">
                <a:latin typeface="Calibri" panose="020F0502020204030204"/>
                <a:cs typeface="Calibri" panose="020F0502020204030204"/>
              </a:rPr>
              <a:t>variable  </a:t>
            </a:r>
            <a:r>
              <a:rPr sz="2940" spc="-20" dirty="0">
                <a:latin typeface="Calibri" panose="020F0502020204030204"/>
                <a:cs typeface="Calibri" panose="020F0502020204030204"/>
              </a:rPr>
              <a:t>to </a:t>
            </a:r>
            <a:r>
              <a:rPr sz="2940" spc="-25" dirty="0">
                <a:latin typeface="Calibri" panose="020F0502020204030204"/>
                <a:cs typeface="Calibri" panose="020F0502020204030204"/>
              </a:rPr>
              <a:t>have </a:t>
            </a:r>
            <a:r>
              <a:rPr sz="2940" spc="-20" dirty="0">
                <a:solidFill>
                  <a:srgbClr val="FF0000"/>
                </a:solidFill>
                <a:latin typeface="Calibri" panose="020F0502020204030204"/>
                <a:cs typeface="Calibri" panose="020F0502020204030204"/>
              </a:rPr>
              <a:t>static </a:t>
            </a:r>
            <a:r>
              <a:rPr sz="2940" spc="-25" dirty="0">
                <a:solidFill>
                  <a:srgbClr val="FF0000"/>
                </a:solidFill>
                <a:latin typeface="Calibri" panose="020F0502020204030204"/>
                <a:cs typeface="Calibri" panose="020F0502020204030204"/>
              </a:rPr>
              <a:t>storage</a:t>
            </a:r>
            <a:r>
              <a:rPr sz="2940" spc="85" dirty="0">
                <a:solidFill>
                  <a:srgbClr val="FF0000"/>
                </a:solidFill>
                <a:latin typeface="Calibri" panose="020F0502020204030204"/>
                <a:cs typeface="Calibri" panose="020F0502020204030204"/>
              </a:rPr>
              <a:t> </a:t>
            </a:r>
            <a:r>
              <a:rPr sz="2940" spc="-5" dirty="0">
                <a:latin typeface="Calibri" panose="020F0502020204030204"/>
                <a:cs typeface="Calibri" panose="020F0502020204030204"/>
              </a:rPr>
              <a:t>class.</a:t>
            </a:r>
            <a:endParaRPr lang="en-US" sz="2940" spc="-5" dirty="0">
              <a:latin typeface="Calibri" panose="020F0502020204030204"/>
              <a:cs typeface="Calibri" panose="020F0502020204030204"/>
            </a:endParaRPr>
          </a:p>
          <a:p>
            <a:pPr marL="698500" marR="5080" lvl="1" indent="-228600">
              <a:lnSpc>
                <a:spcPts val="3020"/>
              </a:lnSpc>
              <a:spcBef>
                <a:spcPts val="480"/>
              </a:spcBef>
              <a:buFont typeface="Arial" panose="020B0604020202020204"/>
              <a:buChar char="•"/>
              <a:tabLst>
                <a:tab pos="241300" algn="l"/>
              </a:tabLst>
            </a:pPr>
            <a:r>
              <a:rPr lang="en-US" sz="2100" dirty="0">
                <a:cs typeface="Calibri" panose="020F0502020204030204"/>
                <a:hlinkClick r:id="rId3"/>
              </a:rPr>
              <a:t>https://android.googlesource.com/platform/bionic/+/ics-mr0/libc/string/strtok.c</a:t>
            </a:r>
            <a:endParaRPr lang="en-US" sz="2100" dirty="0">
              <a:cs typeface="Calibri" panose="020F0502020204030204"/>
            </a:endParaRPr>
          </a:p>
          <a:p>
            <a:pPr marL="698500" marR="5080" lvl="1" indent="-228600">
              <a:lnSpc>
                <a:spcPts val="3020"/>
              </a:lnSpc>
              <a:spcBef>
                <a:spcPts val="480"/>
              </a:spcBef>
              <a:buFont typeface="Arial" panose="020B0604020202020204"/>
              <a:buChar char="•"/>
              <a:tabLst>
                <a:tab pos="241300" algn="l"/>
              </a:tabLst>
            </a:pPr>
            <a:endParaRPr lang="en-US" sz="2940" spc="-10" dirty="0">
              <a:latin typeface="Calibri" panose="020F0502020204030204"/>
              <a:cs typeface="Calibri" panose="020F0502020204030204"/>
            </a:endParaRPr>
          </a:p>
          <a:p>
            <a:pPr marL="241300" marR="613410" indent="-228600">
              <a:lnSpc>
                <a:spcPts val="3020"/>
              </a:lnSpc>
              <a:spcBef>
                <a:spcPts val="5"/>
              </a:spcBef>
              <a:buFont typeface="Arial" panose="020B0604020202020204"/>
              <a:buChar char="•"/>
              <a:tabLst>
                <a:tab pos="241300" algn="l"/>
              </a:tabLst>
            </a:pPr>
            <a:r>
              <a:rPr sz="2940" spc="-10" dirty="0">
                <a:latin typeface="Calibri" panose="020F0502020204030204"/>
                <a:cs typeface="Calibri" panose="020F0502020204030204"/>
              </a:rPr>
              <a:t>This causes </a:t>
            </a:r>
            <a:r>
              <a:rPr sz="2940" spc="-5" dirty="0">
                <a:latin typeface="Calibri" panose="020F0502020204030204"/>
                <a:cs typeface="Calibri" panose="020F0502020204030204"/>
              </a:rPr>
              <a:t>the </a:t>
            </a:r>
            <a:r>
              <a:rPr sz="2940" spc="-10" dirty="0">
                <a:latin typeface="Calibri" panose="020F0502020204030204"/>
                <a:cs typeface="Calibri" panose="020F0502020204030204"/>
              </a:rPr>
              <a:t>value </a:t>
            </a:r>
            <a:r>
              <a:rPr sz="2940" spc="-25" dirty="0">
                <a:latin typeface="Calibri" panose="020F0502020204030204"/>
                <a:cs typeface="Calibri" panose="020F0502020204030204"/>
              </a:rPr>
              <a:t>stored </a:t>
            </a:r>
            <a:r>
              <a:rPr sz="2940" spc="-5" dirty="0">
                <a:latin typeface="Calibri" panose="020F0502020204030204"/>
                <a:cs typeface="Calibri" panose="020F0502020204030204"/>
              </a:rPr>
              <a:t>in </a:t>
            </a:r>
            <a:r>
              <a:rPr sz="2940" spc="-10" dirty="0">
                <a:latin typeface="Calibri" panose="020F0502020204030204"/>
                <a:cs typeface="Calibri" panose="020F0502020204030204"/>
              </a:rPr>
              <a:t>this variable </a:t>
            </a:r>
            <a:r>
              <a:rPr sz="2940" spc="-15" dirty="0">
                <a:latin typeface="Calibri" panose="020F0502020204030204"/>
                <a:cs typeface="Calibri" panose="020F0502020204030204"/>
              </a:rPr>
              <a:t>to </a:t>
            </a:r>
            <a:r>
              <a:rPr sz="2940" spc="-15" dirty="0">
                <a:solidFill>
                  <a:srgbClr val="FF0000"/>
                </a:solidFill>
                <a:latin typeface="Calibri" panose="020F0502020204030204"/>
                <a:cs typeface="Calibri" panose="020F0502020204030204"/>
              </a:rPr>
              <a:t> </a:t>
            </a:r>
            <a:r>
              <a:rPr sz="2940" spc="-20" dirty="0">
                <a:solidFill>
                  <a:srgbClr val="FF0000"/>
                </a:solidFill>
                <a:latin typeface="Calibri" panose="020F0502020204030204"/>
                <a:cs typeface="Calibri" panose="020F0502020204030204"/>
              </a:rPr>
              <a:t>persist </a:t>
            </a:r>
            <a:r>
              <a:rPr sz="2940" spc="-20" dirty="0">
                <a:latin typeface="Calibri" panose="020F0502020204030204"/>
                <a:cs typeface="Calibri" panose="020F0502020204030204"/>
              </a:rPr>
              <a:t>from </a:t>
            </a:r>
            <a:r>
              <a:rPr sz="2940" spc="-5" dirty="0">
                <a:latin typeface="Calibri" panose="020F0502020204030204"/>
                <a:cs typeface="Calibri" panose="020F0502020204030204"/>
              </a:rPr>
              <a:t>one </a:t>
            </a:r>
            <a:r>
              <a:rPr sz="2940" spc="-10" dirty="0">
                <a:latin typeface="Calibri" panose="020F0502020204030204"/>
                <a:cs typeface="Calibri" panose="020F0502020204030204"/>
              </a:rPr>
              <a:t>call </a:t>
            </a:r>
            <a:r>
              <a:rPr sz="2940" spc="-15" dirty="0">
                <a:latin typeface="Calibri" panose="020F0502020204030204"/>
                <a:cs typeface="Calibri" panose="020F0502020204030204"/>
              </a:rPr>
              <a:t>to </a:t>
            </a:r>
            <a:r>
              <a:rPr sz="2940" spc="-5" dirty="0">
                <a:latin typeface="Calibri" panose="020F0502020204030204"/>
                <a:cs typeface="Calibri" panose="020F0502020204030204"/>
              </a:rPr>
              <a:t>the</a:t>
            </a:r>
            <a:r>
              <a:rPr sz="2940" spc="90" dirty="0">
                <a:latin typeface="Calibri" panose="020F0502020204030204"/>
                <a:cs typeface="Calibri" panose="020F0502020204030204"/>
              </a:rPr>
              <a:t> </a:t>
            </a:r>
            <a:r>
              <a:rPr sz="2940" spc="-15" dirty="0">
                <a:latin typeface="Calibri" panose="020F0502020204030204"/>
                <a:cs typeface="Calibri" panose="020F0502020204030204"/>
              </a:rPr>
              <a:t>next.</a:t>
            </a:r>
            <a:endParaRPr sz="2940" dirty="0">
              <a:latin typeface="Calibri" panose="020F0502020204030204"/>
              <a:cs typeface="Calibri" panose="020F0502020204030204"/>
            </a:endParaRPr>
          </a:p>
          <a:p>
            <a:pPr>
              <a:lnSpc>
                <a:spcPct val="100000"/>
              </a:lnSpc>
              <a:spcBef>
                <a:spcPts val="30"/>
              </a:spcBef>
              <a:buChar char="•"/>
            </a:pPr>
            <a:endParaRPr sz="4305" dirty="0">
              <a:latin typeface="Calibri" panose="020F0502020204030204"/>
              <a:cs typeface="Calibri" panose="020F0502020204030204"/>
            </a:endParaRPr>
          </a:p>
          <a:p>
            <a:pPr marL="241300" marR="154305" indent="-228600">
              <a:lnSpc>
                <a:spcPts val="3020"/>
              </a:lnSpc>
              <a:buFont typeface="Arial" panose="020B0604020202020204"/>
              <a:buChar char="•"/>
              <a:tabLst>
                <a:tab pos="241300" algn="l"/>
              </a:tabLst>
            </a:pPr>
            <a:r>
              <a:rPr sz="2940" spc="-15" dirty="0">
                <a:latin typeface="Calibri" panose="020F0502020204030204"/>
                <a:cs typeface="Calibri" panose="020F0502020204030204"/>
              </a:rPr>
              <a:t>Unfortunately </a:t>
            </a:r>
            <a:r>
              <a:rPr sz="2940" spc="-25" dirty="0">
                <a:latin typeface="Calibri" panose="020F0502020204030204"/>
                <a:cs typeface="Calibri" panose="020F0502020204030204"/>
              </a:rPr>
              <a:t>for </a:t>
            </a:r>
            <a:r>
              <a:rPr sz="2940" spc="-5" dirty="0">
                <a:latin typeface="Calibri" panose="020F0502020204030204"/>
                <a:cs typeface="Calibri" panose="020F0502020204030204"/>
              </a:rPr>
              <a:t>us, </a:t>
            </a:r>
            <a:r>
              <a:rPr sz="2940" spc="-10" dirty="0">
                <a:latin typeface="Calibri" panose="020F0502020204030204"/>
                <a:cs typeface="Calibri" panose="020F0502020204030204"/>
              </a:rPr>
              <a:t>this cached string </a:t>
            </a:r>
            <a:r>
              <a:rPr sz="2940" spc="-5" dirty="0">
                <a:latin typeface="Calibri" panose="020F0502020204030204"/>
                <a:cs typeface="Calibri" panose="020F0502020204030204"/>
              </a:rPr>
              <a:t>is </a:t>
            </a:r>
            <a:r>
              <a:rPr sz="2940" spc="-10" dirty="0">
                <a:solidFill>
                  <a:srgbClr val="FF0000"/>
                </a:solidFill>
                <a:latin typeface="Calibri" panose="020F0502020204030204"/>
                <a:cs typeface="Calibri" panose="020F0502020204030204"/>
              </a:rPr>
              <a:t>shared,  not</a:t>
            </a:r>
            <a:r>
              <a:rPr sz="2940" dirty="0">
                <a:solidFill>
                  <a:srgbClr val="FF0000"/>
                </a:solidFill>
                <a:latin typeface="Calibri" panose="020F0502020204030204"/>
                <a:cs typeface="Calibri" panose="020F0502020204030204"/>
              </a:rPr>
              <a:t> </a:t>
            </a:r>
            <a:r>
              <a:rPr sz="2940" spc="-15" dirty="0">
                <a:solidFill>
                  <a:srgbClr val="FF0000"/>
                </a:solidFill>
                <a:latin typeface="Calibri" panose="020F0502020204030204"/>
                <a:cs typeface="Calibri" panose="020F0502020204030204"/>
              </a:rPr>
              <a:t>private</a:t>
            </a:r>
            <a:r>
              <a:rPr sz="2940" spc="-15" dirty="0">
                <a:latin typeface="Calibri" panose="020F0502020204030204"/>
                <a:cs typeface="Calibri" panose="020F0502020204030204"/>
              </a:rPr>
              <a:t>.</a:t>
            </a:r>
            <a:endParaRPr sz="2940" dirty="0">
              <a:latin typeface="Calibri" panose="020F0502020204030204"/>
              <a:cs typeface="Calibri" panose="020F0502020204030204"/>
            </a:endParaRPr>
          </a:p>
        </p:txBody>
      </p:sp>
      <p:sp>
        <p:nvSpPr>
          <p:cNvPr id="5" name="矩形 4">
            <a:extLst>
              <a:ext uri="{FF2B5EF4-FFF2-40B4-BE49-F238E27FC236}">
                <a16:creationId xmlns:a16="http://schemas.microsoft.com/office/drawing/2014/main" id="{BAF0A365-B95A-45CC-9081-4EA058AF8688}"/>
              </a:ext>
            </a:extLst>
          </p:cNvPr>
          <p:cNvSpPr/>
          <p:nvPr/>
        </p:nvSpPr>
        <p:spPr>
          <a:xfrm>
            <a:off x="7264896" y="5544666"/>
            <a:ext cx="1440160" cy="338554"/>
          </a:xfrm>
          <a:prstGeom prst="rect">
            <a:avLst/>
          </a:prstGeom>
        </p:spPr>
        <p:txBody>
          <a:bodyPr wrap="square">
            <a:spAutoFit/>
          </a:bodyPr>
          <a:lstStyle/>
          <a:p>
            <a:pPr algn="ctr"/>
            <a:r>
              <a:rPr lang="en-US" altLang="zh-CN" sz="1600" b="1" dirty="0">
                <a:solidFill>
                  <a:srgbClr val="282829"/>
                </a:solidFill>
                <a:latin typeface="-apple-system"/>
              </a:rPr>
              <a:t>Data segment</a:t>
            </a:r>
            <a:endParaRPr lang="zh-CN" altLang="en-US" sz="1600" dirty="0"/>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15" dirty="0"/>
              <a:t>What</a:t>
            </a:r>
            <a:r>
              <a:rPr sz="4620" spc="-50" dirty="0"/>
              <a:t> </a:t>
            </a:r>
            <a:r>
              <a:rPr sz="4620" dirty="0"/>
              <a:t>happened?</a:t>
            </a:r>
          </a:p>
        </p:txBody>
      </p:sp>
      <p:sp>
        <p:nvSpPr>
          <p:cNvPr id="3" name="object 3"/>
          <p:cNvSpPr txBox="1"/>
          <p:nvPr/>
        </p:nvSpPr>
        <p:spPr>
          <a:xfrm>
            <a:off x="2343119" y="1648605"/>
            <a:ext cx="9061137" cy="3236783"/>
          </a:xfrm>
          <a:prstGeom prst="rect">
            <a:avLst/>
          </a:prstGeom>
        </p:spPr>
        <p:txBody>
          <a:bodyPr vert="horz" wrap="square" lIns="0" tIns="98678" rIns="0" bIns="0" rtlCol="0">
            <a:spAutoFit/>
          </a:bodyPr>
          <a:lstStyle/>
          <a:p>
            <a:pPr marL="241300" marR="5080" indent="-228600" algn="just">
              <a:lnSpc>
                <a:spcPts val="2690"/>
              </a:lnSpc>
              <a:spcBef>
                <a:spcPts val="740"/>
              </a:spcBef>
              <a:buFont typeface="Arial" panose="020B0604020202020204"/>
              <a:buChar char="•"/>
              <a:tabLst>
                <a:tab pos="241300" algn="l"/>
              </a:tabLst>
            </a:pPr>
            <a:r>
              <a:rPr sz="2940" spc="-10" dirty="0">
                <a:latin typeface="Comic Sans MS" panose="030F0702030302020204" pitchFamily="66" charset="0"/>
                <a:cs typeface="Calibri" panose="020F0502020204030204"/>
              </a:rPr>
              <a:t>Thus, </a:t>
            </a:r>
            <a:r>
              <a:rPr sz="2940" spc="-10" dirty="0">
                <a:solidFill>
                  <a:srgbClr val="FF0000"/>
                </a:solidFill>
                <a:latin typeface="Comic Sans MS" panose="030F0702030302020204" pitchFamily="66" charset="0"/>
                <a:cs typeface="Calibri" panose="020F0502020204030204"/>
              </a:rPr>
              <a:t>thread </a:t>
            </a:r>
            <a:r>
              <a:rPr sz="2940" spc="-60" dirty="0">
                <a:solidFill>
                  <a:srgbClr val="FF0000"/>
                </a:solidFill>
                <a:latin typeface="Comic Sans MS" panose="030F0702030302020204" pitchFamily="66" charset="0"/>
                <a:cs typeface="Calibri" panose="020F0502020204030204"/>
              </a:rPr>
              <a:t>0’s </a:t>
            </a:r>
            <a:r>
              <a:rPr sz="2940" spc="-10" dirty="0">
                <a:latin typeface="Comic Sans MS" panose="030F0702030302020204" pitchFamily="66" charset="0"/>
                <a:cs typeface="Calibri" panose="020F0502020204030204"/>
              </a:rPr>
              <a:t>call </a:t>
            </a:r>
            <a:r>
              <a:rPr sz="2940" spc="-15" dirty="0">
                <a:latin typeface="Comic Sans MS" panose="030F0702030302020204" pitchFamily="66" charset="0"/>
                <a:cs typeface="Calibri" panose="020F0502020204030204"/>
              </a:rPr>
              <a:t>to </a:t>
            </a:r>
            <a:r>
              <a:rPr sz="2940" spc="-15" dirty="0">
                <a:solidFill>
                  <a:srgbClr val="0066FF"/>
                </a:solidFill>
                <a:latin typeface="Comic Sans MS" panose="030F0702030302020204" pitchFamily="66" charset="0"/>
                <a:cs typeface="Calibri" panose="020F0502020204030204"/>
              </a:rPr>
              <a:t>strtok </a:t>
            </a:r>
            <a:r>
              <a:rPr sz="2940" spc="-5" dirty="0">
                <a:latin typeface="Comic Sans MS" panose="030F0702030302020204" pitchFamily="66" charset="0"/>
                <a:cs typeface="Calibri" panose="020F0502020204030204"/>
              </a:rPr>
              <a:t>with the </a:t>
            </a:r>
            <a:r>
              <a:rPr sz="2940" spc="-15" dirty="0">
                <a:latin typeface="Comic Sans MS" panose="030F0702030302020204" pitchFamily="66" charset="0"/>
                <a:cs typeface="Calibri" panose="020F0502020204030204"/>
              </a:rPr>
              <a:t>third </a:t>
            </a:r>
            <a:r>
              <a:rPr sz="2940" spc="-10" dirty="0">
                <a:latin typeface="Comic Sans MS" panose="030F0702030302020204" pitchFamily="66" charset="0"/>
                <a:cs typeface="Calibri" panose="020F0502020204030204"/>
              </a:rPr>
              <a:t>line of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input has apparently</a:t>
            </a:r>
            <a:r>
              <a:rPr sz="2940" spc="-10" dirty="0">
                <a:solidFill>
                  <a:srgbClr val="FF0000"/>
                </a:solidFill>
                <a:latin typeface="Comic Sans MS" panose="030F0702030302020204" pitchFamily="66" charset="0"/>
                <a:cs typeface="Calibri" panose="020F0502020204030204"/>
              </a:rPr>
              <a:t> </a:t>
            </a:r>
            <a:r>
              <a:rPr sz="2940" u="heavy" spc="-15" dirty="0">
                <a:solidFill>
                  <a:srgbClr val="FF0000"/>
                </a:solidFill>
                <a:uFill>
                  <a:solidFill>
                    <a:srgbClr val="FF0000"/>
                  </a:solidFill>
                </a:uFill>
                <a:latin typeface="Comic Sans MS" panose="030F0702030302020204" pitchFamily="66" charset="0"/>
                <a:cs typeface="Calibri" panose="020F0502020204030204"/>
              </a:rPr>
              <a:t>overwritten</a:t>
            </a:r>
            <a:r>
              <a:rPr sz="2940" spc="-15" dirty="0">
                <a:solidFill>
                  <a:srgbClr val="FF0000"/>
                </a:solidFill>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the </a:t>
            </a:r>
            <a:r>
              <a:rPr sz="2940" spc="-20" dirty="0">
                <a:latin typeface="Comic Sans MS" panose="030F0702030302020204" pitchFamily="66" charset="0"/>
                <a:cs typeface="Calibri" panose="020F0502020204030204"/>
              </a:rPr>
              <a:t>contents  </a:t>
            </a:r>
            <a:r>
              <a:rPr sz="2940" spc="-5" dirty="0">
                <a:latin typeface="Comic Sans MS" panose="030F0702030302020204" pitchFamily="66" charset="0"/>
                <a:cs typeface="Calibri" panose="020F0502020204030204"/>
              </a:rPr>
              <a:t>of </a:t>
            </a:r>
            <a:r>
              <a:rPr sz="2940" spc="-10" dirty="0">
                <a:solidFill>
                  <a:srgbClr val="FF0000"/>
                </a:solidFill>
                <a:latin typeface="Comic Sans MS" panose="030F0702030302020204" pitchFamily="66" charset="0"/>
                <a:cs typeface="Calibri" panose="020F0502020204030204"/>
              </a:rPr>
              <a:t>thread </a:t>
            </a:r>
            <a:r>
              <a:rPr sz="2940" spc="-60" dirty="0">
                <a:solidFill>
                  <a:srgbClr val="FF0000"/>
                </a:solidFill>
                <a:latin typeface="Comic Sans MS" panose="030F0702030302020204" pitchFamily="66" charset="0"/>
                <a:cs typeface="Calibri" panose="020F0502020204030204"/>
              </a:rPr>
              <a:t>1’s </a:t>
            </a:r>
            <a:r>
              <a:rPr sz="2940" spc="-10" dirty="0">
                <a:latin typeface="Comic Sans MS" panose="030F0702030302020204" pitchFamily="66" charset="0"/>
                <a:cs typeface="Calibri" panose="020F0502020204030204"/>
              </a:rPr>
              <a:t>call </a:t>
            </a:r>
            <a:r>
              <a:rPr sz="2940" spc="-5" dirty="0">
                <a:latin typeface="Comic Sans MS" panose="030F0702030302020204" pitchFamily="66" charset="0"/>
                <a:cs typeface="Calibri" panose="020F0502020204030204"/>
              </a:rPr>
              <a:t>with the </a:t>
            </a:r>
            <a:r>
              <a:rPr sz="2940" spc="-10" dirty="0">
                <a:latin typeface="Comic Sans MS" panose="030F0702030302020204" pitchFamily="66" charset="0"/>
                <a:cs typeface="Calibri" panose="020F0502020204030204"/>
              </a:rPr>
              <a:t>second</a:t>
            </a:r>
            <a:r>
              <a:rPr sz="2940" spc="12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line.</a:t>
            </a:r>
            <a:endParaRPr lang="en-US" sz="2940" spc="-10" dirty="0">
              <a:latin typeface="Comic Sans MS" panose="030F0702030302020204" pitchFamily="66" charset="0"/>
              <a:cs typeface="Calibri" panose="020F0502020204030204"/>
            </a:endParaRPr>
          </a:p>
          <a:p>
            <a:pPr marL="241300" marR="5080" indent="-228600" algn="just">
              <a:lnSpc>
                <a:spcPts val="2690"/>
              </a:lnSpc>
              <a:spcBef>
                <a:spcPts val="740"/>
              </a:spcBef>
              <a:buFont typeface="Arial" panose="020B0604020202020204"/>
              <a:buChar char="•"/>
              <a:tabLst>
                <a:tab pos="241300" algn="l"/>
              </a:tabLst>
            </a:pPr>
            <a:endParaRPr lang="en-US" sz="2940" spc="-10" dirty="0">
              <a:latin typeface="Comic Sans MS" panose="030F0702030302020204" pitchFamily="66" charset="0"/>
              <a:cs typeface="Calibri" panose="020F0502020204030204"/>
            </a:endParaRPr>
          </a:p>
          <a:p>
            <a:pPr marL="241300" marR="5080" indent="-228600" algn="just">
              <a:lnSpc>
                <a:spcPts val="2690"/>
              </a:lnSpc>
              <a:spcBef>
                <a:spcPts val="740"/>
              </a:spcBef>
              <a:buFont typeface="Arial" panose="020B0604020202020204"/>
              <a:buChar char="•"/>
              <a:tabLst>
                <a:tab pos="241300" algn="l"/>
              </a:tabLst>
            </a:pPr>
            <a:r>
              <a:rPr sz="2940" spc="-5" dirty="0">
                <a:latin typeface="Comic Sans MS" panose="030F0702030302020204" pitchFamily="66" charset="0"/>
                <a:cs typeface="Calibri" panose="020F0502020204030204"/>
              </a:rPr>
              <a:t>So the </a:t>
            </a:r>
            <a:r>
              <a:rPr sz="2940" spc="-15" dirty="0">
                <a:solidFill>
                  <a:srgbClr val="0066FF"/>
                </a:solidFill>
                <a:latin typeface="Comic Sans MS" panose="030F0702030302020204" pitchFamily="66" charset="0"/>
                <a:cs typeface="Calibri" panose="020F0502020204030204"/>
              </a:rPr>
              <a:t>strtok </a:t>
            </a:r>
            <a:r>
              <a:rPr sz="2940" spc="-5" dirty="0">
                <a:latin typeface="Comic Sans MS" panose="030F0702030302020204" pitchFamily="66" charset="0"/>
                <a:cs typeface="Calibri" panose="020F0502020204030204"/>
              </a:rPr>
              <a:t>function is </a:t>
            </a:r>
            <a:r>
              <a:rPr sz="2940" spc="-10" dirty="0">
                <a:solidFill>
                  <a:srgbClr val="FF0000"/>
                </a:solidFill>
                <a:latin typeface="Comic Sans MS" panose="030F0702030302020204" pitchFamily="66" charset="0"/>
                <a:cs typeface="Calibri" panose="020F0502020204030204"/>
              </a:rPr>
              <a:t>not</a:t>
            </a:r>
            <a:r>
              <a:rPr sz="2940" spc="-5"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thread-safe</a:t>
            </a:r>
            <a:r>
              <a:rPr sz="2940" spc="-15" dirty="0">
                <a:latin typeface="Comic Sans MS" panose="030F0702030302020204" pitchFamily="66" charset="0"/>
                <a:cs typeface="Calibri" panose="020F0502020204030204"/>
              </a:rPr>
              <a:t>.</a:t>
            </a:r>
            <a:endParaRPr lang="en-US" sz="2940" spc="-15" dirty="0">
              <a:latin typeface="Comic Sans MS" panose="030F0702030302020204" pitchFamily="66" charset="0"/>
              <a:cs typeface="Calibri" panose="020F0502020204030204"/>
            </a:endParaRPr>
          </a:p>
          <a:p>
            <a:pPr marL="241300" marR="5080" indent="-228600" algn="just">
              <a:lnSpc>
                <a:spcPts val="2690"/>
              </a:lnSpc>
              <a:spcBef>
                <a:spcPts val="740"/>
              </a:spcBef>
              <a:buFont typeface="Arial" panose="020B0604020202020204"/>
              <a:buChar char="•"/>
              <a:tabLst>
                <a:tab pos="241300" algn="l"/>
              </a:tabLst>
            </a:pPr>
            <a:endParaRPr lang="en-US" sz="2940" spc="-15" dirty="0">
              <a:latin typeface="Comic Sans MS" panose="030F0702030302020204" pitchFamily="66" charset="0"/>
              <a:cs typeface="Calibri" panose="020F0502020204030204"/>
            </a:endParaRPr>
          </a:p>
          <a:p>
            <a:pPr marL="241300" marR="5080" indent="-228600" algn="just">
              <a:lnSpc>
                <a:spcPts val="2690"/>
              </a:lnSpc>
              <a:spcBef>
                <a:spcPts val="740"/>
              </a:spcBef>
              <a:buFont typeface="Arial" panose="020B0604020202020204"/>
              <a:buChar char="•"/>
              <a:tabLst>
                <a:tab pos="241300" algn="l"/>
              </a:tabLst>
            </a:pPr>
            <a:r>
              <a:rPr sz="2940" spc="-5" dirty="0">
                <a:latin typeface="Comic Sans MS" panose="030F0702030302020204" pitchFamily="66" charset="0"/>
                <a:cs typeface="Calibri" panose="020F0502020204030204"/>
              </a:rPr>
              <a:t>If </a:t>
            </a:r>
            <a:r>
              <a:rPr sz="2940" spc="-10" dirty="0">
                <a:latin typeface="Comic Sans MS" panose="030F0702030302020204" pitchFamily="66" charset="0"/>
                <a:cs typeface="Calibri" panose="020F0502020204030204"/>
              </a:rPr>
              <a:t>multiple threads call  </a:t>
            </a:r>
            <a:r>
              <a:rPr sz="2940" spc="-5" dirty="0">
                <a:latin typeface="Comic Sans MS" panose="030F0702030302020204" pitchFamily="66" charset="0"/>
                <a:cs typeface="Calibri" panose="020F0502020204030204"/>
              </a:rPr>
              <a:t>it </a:t>
            </a:r>
            <a:r>
              <a:rPr sz="2940" spc="-25" dirty="0">
                <a:latin typeface="Comic Sans MS" panose="030F0702030302020204" pitchFamily="66" charset="0"/>
                <a:cs typeface="Calibri" panose="020F0502020204030204"/>
              </a:rPr>
              <a:t>simultaneously,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output </a:t>
            </a:r>
            <a:r>
              <a:rPr sz="2940" spc="-20" dirty="0">
                <a:latin typeface="Comic Sans MS" panose="030F0702030302020204" pitchFamily="66" charset="0"/>
                <a:cs typeface="Calibri" panose="020F0502020204030204"/>
              </a:rPr>
              <a:t>may </a:t>
            </a:r>
            <a:r>
              <a:rPr sz="2940" spc="-10" dirty="0">
                <a:latin typeface="Comic Sans MS" panose="030F0702030302020204" pitchFamily="66" charset="0"/>
                <a:cs typeface="Calibri" panose="020F0502020204030204"/>
              </a:rPr>
              <a:t>not be  </a:t>
            </a:r>
            <a:r>
              <a:rPr sz="2940" spc="-15" dirty="0">
                <a:latin typeface="Comic Sans MS" panose="030F0702030302020204" pitchFamily="66" charset="0"/>
                <a:cs typeface="Calibri" panose="020F0502020204030204"/>
              </a:rPr>
              <a:t>correct.</a:t>
            </a:r>
            <a:endParaRPr sz="2940" dirty="0">
              <a:latin typeface="Comic Sans MS" panose="030F0702030302020204" pitchFamily="66" charset="0"/>
              <a:cs typeface="Calibri" panose="020F0502020204030204"/>
            </a:endParaRPr>
          </a:p>
        </p:txBody>
      </p:sp>
      <p:sp>
        <p:nvSpPr>
          <p:cNvPr id="5" name="object 5"/>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104</a:t>
            </a:fld>
            <a:endParaRPr sz="1260">
              <a:latin typeface="Calibri" panose="020F0502020204030204"/>
              <a:cs typeface="Calibri" panose="020F0502020204030204"/>
            </a:endParaRP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105</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Other </a:t>
            </a:r>
            <a:r>
              <a:rPr sz="4620" spc="-25" dirty="0"/>
              <a:t>unsafe </a:t>
            </a:r>
            <a:r>
              <a:rPr sz="4620" dirty="0"/>
              <a:t>C </a:t>
            </a:r>
            <a:r>
              <a:rPr sz="4620" spc="-10" dirty="0"/>
              <a:t>library</a:t>
            </a:r>
            <a:r>
              <a:rPr sz="4620" spc="-60" dirty="0"/>
              <a:t> </a:t>
            </a:r>
            <a:r>
              <a:rPr sz="4620" dirty="0"/>
              <a:t>functions</a:t>
            </a:r>
          </a:p>
        </p:txBody>
      </p:sp>
      <p:sp>
        <p:nvSpPr>
          <p:cNvPr id="3" name="object 3"/>
          <p:cNvSpPr txBox="1"/>
          <p:nvPr/>
        </p:nvSpPr>
        <p:spPr>
          <a:xfrm>
            <a:off x="2343119" y="1883168"/>
            <a:ext cx="7894320" cy="5251693"/>
          </a:xfrm>
          <a:prstGeom prst="rect">
            <a:avLst/>
          </a:prstGeom>
        </p:spPr>
        <p:txBody>
          <a:bodyPr vert="horz" wrap="square" lIns="0" tIns="64007" rIns="0" bIns="0" rtlCol="0">
            <a:spAutoFit/>
          </a:bodyPr>
          <a:lstStyle/>
          <a:p>
            <a:pPr marL="241300" marR="983615" indent="-228600">
              <a:lnSpc>
                <a:spcPts val="3020"/>
              </a:lnSpc>
              <a:spcBef>
                <a:spcPts val="480"/>
              </a:spcBef>
              <a:buFont typeface="Arial" panose="020B0604020202020204"/>
              <a:buChar char="•"/>
              <a:tabLst>
                <a:tab pos="241300" algn="l"/>
              </a:tabLst>
            </a:pPr>
            <a:r>
              <a:rPr sz="2940" spc="-35" dirty="0">
                <a:latin typeface="Comic Sans MS" panose="030F0702030302020204" pitchFamily="66" charset="0"/>
                <a:cs typeface="Calibri" panose="020F0502020204030204"/>
              </a:rPr>
              <a:t>Regrettably, </a:t>
            </a:r>
            <a:r>
              <a:rPr sz="2940" spc="-25" dirty="0">
                <a:latin typeface="Comic Sans MS" panose="030F0702030302020204" pitchFamily="66" charset="0"/>
                <a:cs typeface="Calibri" panose="020F0502020204030204"/>
              </a:rPr>
              <a:t>it’s </a:t>
            </a:r>
            <a:r>
              <a:rPr sz="2940" spc="-10" dirty="0">
                <a:solidFill>
                  <a:srgbClr val="FF0000"/>
                </a:solidFill>
                <a:latin typeface="Comic Sans MS" panose="030F0702030302020204" pitchFamily="66" charset="0"/>
                <a:cs typeface="Calibri" panose="020F0502020204030204"/>
              </a:rPr>
              <a:t>not uncommon </a:t>
            </a:r>
            <a:r>
              <a:rPr sz="2940" spc="-25" dirty="0">
                <a:latin typeface="Comic Sans MS" panose="030F0702030302020204" pitchFamily="66" charset="0"/>
                <a:cs typeface="Calibri" panose="020F0502020204030204"/>
              </a:rPr>
              <a:t>for </a:t>
            </a:r>
            <a:r>
              <a:rPr sz="2940" spc="-5" dirty="0">
                <a:latin typeface="Comic Sans MS" panose="030F0702030302020204" pitchFamily="66" charset="0"/>
                <a:cs typeface="Calibri" panose="020F0502020204030204"/>
              </a:rPr>
              <a:t>C </a:t>
            </a:r>
            <a:r>
              <a:rPr sz="2940" spc="-15" dirty="0">
                <a:latin typeface="Comic Sans MS" panose="030F0702030302020204" pitchFamily="66" charset="0"/>
                <a:cs typeface="Calibri" panose="020F0502020204030204"/>
              </a:rPr>
              <a:t>library  </a:t>
            </a:r>
            <a:r>
              <a:rPr sz="2940" spc="-5" dirty="0">
                <a:latin typeface="Comic Sans MS" panose="030F0702030302020204" pitchFamily="66" charset="0"/>
                <a:cs typeface="Calibri" panose="020F0502020204030204"/>
              </a:rPr>
              <a:t>functions </a:t>
            </a:r>
            <a:r>
              <a:rPr sz="2940" spc="-20" dirty="0">
                <a:latin typeface="Comic Sans MS" panose="030F0702030302020204" pitchFamily="66" charset="0"/>
                <a:cs typeface="Calibri" panose="020F0502020204030204"/>
              </a:rPr>
              <a:t>to </a:t>
            </a:r>
            <a:r>
              <a:rPr sz="2940" spc="-20" dirty="0">
                <a:solidFill>
                  <a:srgbClr val="FF0000"/>
                </a:solidFill>
                <a:latin typeface="Comic Sans MS" panose="030F0702030302020204" pitchFamily="66" charset="0"/>
                <a:cs typeface="Calibri" panose="020F0502020204030204"/>
              </a:rPr>
              <a:t>fail to </a:t>
            </a:r>
            <a:r>
              <a:rPr sz="2940" spc="-10" dirty="0">
                <a:solidFill>
                  <a:srgbClr val="FF0000"/>
                </a:solidFill>
                <a:latin typeface="Comic Sans MS" panose="030F0702030302020204" pitchFamily="66" charset="0"/>
                <a:cs typeface="Calibri" panose="020F0502020204030204"/>
              </a:rPr>
              <a:t>be</a:t>
            </a:r>
            <a:r>
              <a:rPr sz="2940" spc="95"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thread-safe</a:t>
            </a:r>
            <a:r>
              <a:rPr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15"/>
              </a:spcBef>
              <a:buFont typeface="Arial" panose="020B0604020202020204"/>
              <a:buChar char="•"/>
            </a:pPr>
            <a:endParaRPr sz="3990" dirty="0">
              <a:latin typeface="Calibri" panose="020F0502020204030204"/>
              <a:cs typeface="Calibri" panose="020F0502020204030204"/>
            </a:endParaRPr>
          </a:p>
          <a:p>
            <a:pPr marL="241300" indent="-228600">
              <a:lnSpc>
                <a:spcPct val="100000"/>
              </a:lnSpc>
              <a:buFont typeface="Arial" panose="020B0604020202020204"/>
              <a:buChar char="•"/>
              <a:tabLst>
                <a:tab pos="241300" algn="l"/>
              </a:tabLst>
            </a:pPr>
            <a:r>
              <a:rPr sz="2940" spc="-10" dirty="0">
                <a:latin typeface="Calibri" panose="020F0502020204030204"/>
                <a:cs typeface="Calibri" panose="020F0502020204030204"/>
              </a:rPr>
              <a:t>The </a:t>
            </a:r>
            <a:r>
              <a:rPr sz="2940" spc="-15" dirty="0">
                <a:latin typeface="Calibri" panose="020F0502020204030204"/>
                <a:cs typeface="Calibri" panose="020F0502020204030204"/>
              </a:rPr>
              <a:t>random </a:t>
            </a:r>
            <a:r>
              <a:rPr sz="2940" spc="-10" dirty="0">
                <a:latin typeface="Calibri" panose="020F0502020204030204"/>
                <a:cs typeface="Calibri" panose="020F0502020204030204"/>
              </a:rPr>
              <a:t>number </a:t>
            </a:r>
            <a:r>
              <a:rPr sz="2940" spc="-20" dirty="0">
                <a:latin typeface="Calibri" panose="020F0502020204030204"/>
                <a:cs typeface="Calibri" panose="020F0502020204030204"/>
              </a:rPr>
              <a:t>generator </a:t>
            </a:r>
            <a:r>
              <a:rPr sz="2940" spc="-15" dirty="0">
                <a:solidFill>
                  <a:srgbClr val="FF0000"/>
                </a:solidFill>
                <a:latin typeface="Calibri" panose="020F0502020204030204"/>
                <a:cs typeface="Calibri" panose="020F0502020204030204"/>
              </a:rPr>
              <a:t>random </a:t>
            </a:r>
            <a:r>
              <a:rPr sz="2940" spc="-5" dirty="0">
                <a:latin typeface="Calibri" panose="020F0502020204030204"/>
                <a:cs typeface="Calibri" panose="020F0502020204030204"/>
              </a:rPr>
              <a:t>in</a:t>
            </a:r>
            <a:r>
              <a:rPr sz="2940" spc="145" dirty="0">
                <a:latin typeface="Calibri" panose="020F0502020204030204"/>
                <a:cs typeface="Calibri" panose="020F0502020204030204"/>
              </a:rPr>
              <a:t> </a:t>
            </a:r>
            <a:r>
              <a:rPr sz="2940" spc="-15" dirty="0" err="1">
                <a:solidFill>
                  <a:srgbClr val="0066FF"/>
                </a:solidFill>
                <a:latin typeface="Calibri" panose="020F0502020204030204"/>
                <a:cs typeface="Calibri" panose="020F0502020204030204"/>
              </a:rPr>
              <a:t>stdlib.h</a:t>
            </a:r>
            <a:r>
              <a:rPr sz="2940" spc="-15" dirty="0">
                <a:latin typeface="Calibri" panose="020F0502020204030204"/>
                <a:cs typeface="Calibri" panose="020F0502020204030204"/>
              </a:rPr>
              <a:t>.</a:t>
            </a:r>
            <a:endParaRPr lang="en-US" sz="2940" spc="-15" dirty="0">
              <a:latin typeface="Calibri" panose="020F0502020204030204"/>
              <a:cs typeface="Calibri" panose="020F0502020204030204"/>
            </a:endParaRPr>
          </a:p>
          <a:p>
            <a:pPr marL="698500" lvl="1" indent="-228600">
              <a:buFont typeface="Arial" panose="020B0604020202020204"/>
              <a:buChar char="•"/>
              <a:tabLst>
                <a:tab pos="241300" algn="l"/>
              </a:tabLst>
            </a:pPr>
            <a:r>
              <a:rPr lang="en-US" sz="2310" spc="-15" dirty="0">
                <a:latin typeface="Calibri" panose="020F0502020204030204"/>
                <a:cs typeface="Calibri" panose="020F0502020204030204"/>
              </a:rPr>
              <a:t>rand()</a:t>
            </a:r>
          </a:p>
          <a:p>
            <a:pPr marL="698500" lvl="1" indent="-228600">
              <a:buFont typeface="Arial" panose="020B0604020202020204"/>
              <a:buChar char="•"/>
              <a:tabLst>
                <a:tab pos="241300" algn="l"/>
              </a:tabLst>
            </a:pPr>
            <a:r>
              <a:rPr lang="en-US" sz="2310" spc="-15" dirty="0" err="1">
                <a:latin typeface="Calibri" panose="020F0502020204030204"/>
                <a:cs typeface="Calibri" panose="020F0502020204030204"/>
              </a:rPr>
              <a:t>srand</a:t>
            </a:r>
            <a:r>
              <a:rPr lang="en-US" sz="2310" spc="-15" dirty="0">
                <a:latin typeface="Calibri" panose="020F0502020204030204"/>
                <a:cs typeface="Calibri" panose="020F0502020204030204"/>
              </a:rPr>
              <a:t>()</a:t>
            </a:r>
          </a:p>
          <a:p>
            <a:pPr marL="698500" lvl="1" indent="-228600">
              <a:buFont typeface="Arial" panose="020B0604020202020204"/>
              <a:buChar char="•"/>
              <a:tabLst>
                <a:tab pos="241300" algn="l"/>
              </a:tabLst>
            </a:pPr>
            <a:r>
              <a:rPr lang="en-US" sz="2310" spc="-15" dirty="0" err="1">
                <a:latin typeface="Calibri" panose="020F0502020204030204"/>
                <a:cs typeface="Calibri" panose="020F0502020204030204"/>
              </a:rPr>
              <a:t>rand_r</a:t>
            </a:r>
            <a:r>
              <a:rPr lang="en-US" sz="2310" spc="-15" dirty="0">
                <a:latin typeface="Calibri" panose="020F0502020204030204"/>
                <a:cs typeface="Calibri" panose="020F0502020204030204"/>
              </a:rPr>
              <a:t>()</a:t>
            </a:r>
            <a:endParaRPr sz="2310" dirty="0">
              <a:latin typeface="Calibri" panose="020F0502020204030204"/>
              <a:cs typeface="Calibri" panose="020F0502020204030204"/>
            </a:endParaRPr>
          </a:p>
          <a:p>
            <a:pPr lvl="1">
              <a:spcBef>
                <a:spcPts val="55"/>
              </a:spcBef>
              <a:buFont typeface="Arial" panose="020B0604020202020204"/>
              <a:buChar char="•"/>
            </a:pPr>
            <a:r>
              <a:rPr lang="en-US" sz="2310" spc="-15" dirty="0">
                <a:latin typeface="Calibri" panose="020F0502020204030204"/>
                <a:cs typeface="Calibri" panose="020F0502020204030204"/>
                <a:hlinkClick r:id="rId2"/>
              </a:rPr>
              <a:t>https://linux.die.net/man/3/rand_r</a:t>
            </a:r>
            <a:endParaRPr lang="en-US" sz="2310" spc="-15" dirty="0">
              <a:latin typeface="Calibri" panose="020F0502020204030204"/>
              <a:cs typeface="Calibri" panose="020F0502020204030204"/>
            </a:endParaRPr>
          </a:p>
          <a:p>
            <a:pPr lvl="1">
              <a:spcBef>
                <a:spcPts val="55"/>
              </a:spcBef>
              <a:buFont typeface="Arial" panose="020B0604020202020204"/>
              <a:buChar char="•"/>
            </a:pPr>
            <a:endParaRPr sz="2310" spc="-15" dirty="0">
              <a:latin typeface="Calibri" panose="020F0502020204030204"/>
              <a:cs typeface="Calibri" panose="020F0502020204030204"/>
            </a:endParaRPr>
          </a:p>
          <a:p>
            <a:pPr marL="241300" indent="-228600">
              <a:lnSpc>
                <a:spcPct val="100000"/>
              </a:lnSpc>
              <a:buFont typeface="Arial" panose="020B0604020202020204"/>
              <a:buChar char="•"/>
              <a:tabLst>
                <a:tab pos="241300" algn="l"/>
              </a:tabLst>
            </a:pPr>
            <a:r>
              <a:rPr sz="2940" spc="-10" dirty="0">
                <a:latin typeface="Calibri" panose="020F0502020204030204"/>
                <a:cs typeface="Calibri" panose="020F0502020204030204"/>
              </a:rPr>
              <a:t>The </a:t>
            </a:r>
            <a:r>
              <a:rPr sz="2940" spc="-5" dirty="0">
                <a:latin typeface="Calibri" panose="020F0502020204030204"/>
                <a:cs typeface="Calibri" panose="020F0502020204030204"/>
              </a:rPr>
              <a:t>time </a:t>
            </a:r>
            <a:r>
              <a:rPr sz="2940" spc="-20" dirty="0">
                <a:latin typeface="Calibri" panose="020F0502020204030204"/>
                <a:cs typeface="Calibri" panose="020F0502020204030204"/>
              </a:rPr>
              <a:t>conversion </a:t>
            </a:r>
            <a:r>
              <a:rPr sz="2940" spc="-5" dirty="0">
                <a:latin typeface="Calibri" panose="020F0502020204030204"/>
                <a:cs typeface="Calibri" panose="020F0502020204030204"/>
              </a:rPr>
              <a:t>function </a:t>
            </a:r>
            <a:r>
              <a:rPr sz="2940" spc="-10" dirty="0">
                <a:solidFill>
                  <a:srgbClr val="FF0000"/>
                </a:solidFill>
                <a:latin typeface="Calibri" panose="020F0502020204030204"/>
                <a:cs typeface="Calibri" panose="020F0502020204030204"/>
              </a:rPr>
              <a:t>localtime </a:t>
            </a:r>
            <a:r>
              <a:rPr sz="2940" spc="-5" dirty="0">
                <a:latin typeface="Calibri" panose="020F0502020204030204"/>
                <a:cs typeface="Calibri" panose="020F0502020204030204"/>
              </a:rPr>
              <a:t>in</a:t>
            </a:r>
            <a:r>
              <a:rPr sz="2940" spc="100" dirty="0">
                <a:latin typeface="Calibri" panose="020F0502020204030204"/>
                <a:cs typeface="Calibri" panose="020F0502020204030204"/>
              </a:rPr>
              <a:t> </a:t>
            </a:r>
            <a:r>
              <a:rPr sz="2940" spc="-5" dirty="0" err="1">
                <a:solidFill>
                  <a:srgbClr val="0066FF"/>
                </a:solidFill>
                <a:latin typeface="Calibri" panose="020F0502020204030204"/>
                <a:cs typeface="Calibri" panose="020F0502020204030204"/>
              </a:rPr>
              <a:t>time.h</a:t>
            </a:r>
            <a:r>
              <a:rPr sz="2940" spc="-5" dirty="0">
                <a:latin typeface="Calibri" panose="020F0502020204030204"/>
                <a:cs typeface="Calibri" panose="020F0502020204030204"/>
              </a:rPr>
              <a:t>.</a:t>
            </a:r>
            <a:endParaRPr lang="en-US" sz="2940" spc="-5" dirty="0">
              <a:latin typeface="Calibri" panose="020F0502020204030204"/>
              <a:cs typeface="Calibri" panose="020F0502020204030204"/>
            </a:endParaRPr>
          </a:p>
          <a:p>
            <a:pPr marL="698500" lvl="1" indent="-228600">
              <a:buFont typeface="Arial" panose="020B0604020202020204"/>
              <a:buChar char="•"/>
              <a:tabLst>
                <a:tab pos="241300" algn="l"/>
              </a:tabLst>
            </a:pPr>
            <a:r>
              <a:rPr lang="en-US" sz="2310" dirty="0">
                <a:cs typeface="Calibri" panose="020F0502020204030204"/>
                <a:hlinkClick r:id="rId3"/>
              </a:rPr>
              <a:t>https://linux.die.net/man/3/localtime</a:t>
            </a:r>
            <a:endParaRPr lang="en-US" sz="2310" dirty="0">
              <a:cs typeface="Calibri" panose="020F0502020204030204"/>
            </a:endParaRPr>
          </a:p>
          <a:p>
            <a:pPr marL="698500" lvl="1" indent="-228600">
              <a:buFont typeface="Arial" panose="020B0604020202020204"/>
              <a:buChar char="•"/>
              <a:tabLst>
                <a:tab pos="241300" algn="l"/>
              </a:tabLst>
            </a:pPr>
            <a:endParaRPr sz="2310" dirty="0">
              <a:latin typeface="Calibri" panose="020F0502020204030204"/>
              <a:cs typeface="Calibri" panose="020F0502020204030204"/>
            </a:endParaRP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5955" y="72231"/>
            <a:ext cx="10762906" cy="1434465"/>
          </a:xfrm>
          <a:prstGeom prst="rect">
            <a:avLst/>
          </a:prstGeom>
        </p:spPr>
        <p:txBody>
          <a:bodyPr vert="horz" wrap="square" lIns="0" tIns="14001" rIns="0" bIns="0" rtlCol="0">
            <a:spAutoFit/>
          </a:bodyPr>
          <a:lstStyle/>
          <a:p>
            <a:pPr marL="12700">
              <a:lnSpc>
                <a:spcPct val="100000"/>
              </a:lnSpc>
              <a:spcBef>
                <a:spcPts val="105"/>
              </a:spcBef>
            </a:pPr>
            <a:r>
              <a:rPr sz="4620" spc="-5" dirty="0"/>
              <a:t>“re-entrant” </a:t>
            </a:r>
            <a:r>
              <a:rPr sz="4620" spc="-10" dirty="0"/>
              <a:t>(thread </a:t>
            </a:r>
            <a:r>
              <a:rPr sz="4620" spc="-35" dirty="0"/>
              <a:t>safe)</a:t>
            </a:r>
            <a:r>
              <a:rPr sz="4620" spc="-75" dirty="0"/>
              <a:t> </a:t>
            </a:r>
            <a:r>
              <a:rPr sz="4620" dirty="0"/>
              <a:t>functions</a:t>
            </a:r>
            <a:endParaRPr sz="4620"/>
          </a:p>
        </p:txBody>
      </p:sp>
      <p:sp>
        <p:nvSpPr>
          <p:cNvPr id="3" name="object 3"/>
          <p:cNvSpPr txBox="1"/>
          <p:nvPr/>
        </p:nvSpPr>
        <p:spPr>
          <a:xfrm>
            <a:off x="2343119" y="1550727"/>
            <a:ext cx="8153686" cy="1735089"/>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In </a:t>
            </a:r>
            <a:r>
              <a:rPr sz="2940" spc="-10" dirty="0">
                <a:latin typeface="Comic Sans MS" panose="030F0702030302020204" pitchFamily="66" charset="0"/>
                <a:cs typeface="Calibri" panose="020F0502020204030204"/>
              </a:rPr>
              <a:t>some </a:t>
            </a:r>
            <a:r>
              <a:rPr sz="2940" spc="-5" dirty="0">
                <a:latin typeface="Comic Sans MS" panose="030F0702030302020204" pitchFamily="66" charset="0"/>
                <a:cs typeface="Calibri" panose="020F0502020204030204"/>
              </a:rPr>
              <a:t>cases, the C </a:t>
            </a:r>
            <a:r>
              <a:rPr sz="2940" spc="-20" dirty="0">
                <a:latin typeface="Comic Sans MS" panose="030F0702030302020204" pitchFamily="66" charset="0"/>
                <a:cs typeface="Calibri" panose="020F0502020204030204"/>
              </a:rPr>
              <a:t>standard </a:t>
            </a:r>
            <a:r>
              <a:rPr sz="2940" spc="-10" dirty="0">
                <a:latin typeface="Comic Sans MS" panose="030F0702030302020204" pitchFamily="66" charset="0"/>
                <a:cs typeface="Calibri" panose="020F0502020204030204"/>
              </a:rPr>
              <a:t>specifies </a:t>
            </a:r>
            <a:r>
              <a:rPr sz="2940" spc="-5" dirty="0">
                <a:latin typeface="Comic Sans MS" panose="030F0702030302020204" pitchFamily="66" charset="0"/>
                <a:cs typeface="Calibri" panose="020F0502020204030204"/>
              </a:rPr>
              <a:t>an </a:t>
            </a:r>
            <a:r>
              <a:rPr sz="2940" spc="-15" dirty="0">
                <a:latin typeface="Comic Sans MS" panose="030F0702030302020204" pitchFamily="66" charset="0"/>
                <a:cs typeface="Calibri" panose="020F0502020204030204"/>
              </a:rPr>
              <a:t>alternate,  thread-safe, </a:t>
            </a:r>
            <a:r>
              <a:rPr sz="2940" spc="-20" dirty="0">
                <a:latin typeface="Comic Sans MS" panose="030F0702030302020204" pitchFamily="66" charset="0"/>
                <a:cs typeface="Calibri" panose="020F0502020204030204"/>
              </a:rPr>
              <a:t>version </a:t>
            </a:r>
            <a:r>
              <a:rPr sz="2940" spc="-5" dirty="0">
                <a:latin typeface="Comic Sans MS" panose="030F0702030302020204" pitchFamily="66" charset="0"/>
                <a:cs typeface="Calibri" panose="020F0502020204030204"/>
              </a:rPr>
              <a:t>of a</a:t>
            </a:r>
            <a:r>
              <a:rPr sz="2940" spc="6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function.</a:t>
            </a:r>
            <a:endParaRPr lang="en-US" sz="2940" spc="-10" dirty="0">
              <a:latin typeface="Comic Sans MS" panose="030F0702030302020204" pitchFamily="66" charset="0"/>
              <a:cs typeface="Calibri" panose="020F0502020204030204"/>
            </a:endParaRPr>
          </a:p>
          <a:p>
            <a:pPr marL="698500" marR="5080" lvl="1" indent="-228600">
              <a:lnSpc>
                <a:spcPts val="3020"/>
              </a:lnSpc>
              <a:spcBef>
                <a:spcPts val="480"/>
              </a:spcBef>
              <a:buFont typeface="Arial" panose="020B0604020202020204"/>
              <a:buChar char="•"/>
              <a:tabLst>
                <a:tab pos="241300" algn="l"/>
              </a:tabLst>
            </a:pPr>
            <a:endParaRPr lang="en-US" sz="2100" dirty="0">
              <a:cs typeface="Calibri" panose="020F0502020204030204"/>
            </a:endParaRPr>
          </a:p>
          <a:p>
            <a:pPr marL="241300" marR="5080" indent="-228600">
              <a:lnSpc>
                <a:spcPts val="3020"/>
              </a:lnSpc>
              <a:spcBef>
                <a:spcPts val="480"/>
              </a:spcBef>
              <a:buFont typeface="Arial" panose="020B0604020202020204"/>
              <a:buChar char="•"/>
              <a:tabLst>
                <a:tab pos="241300" algn="l"/>
              </a:tabLst>
            </a:pPr>
            <a:endParaRPr sz="2940" dirty="0">
              <a:latin typeface="Calibri" panose="020F0502020204030204"/>
              <a:cs typeface="Calibri" panose="020F0502020204030204"/>
            </a:endParaRPr>
          </a:p>
        </p:txBody>
      </p:sp>
      <p:sp>
        <p:nvSpPr>
          <p:cNvPr id="4" name="object 4"/>
          <p:cNvSpPr/>
          <p:nvPr/>
        </p:nvSpPr>
        <p:spPr>
          <a:xfrm>
            <a:off x="4816624" y="2994915"/>
            <a:ext cx="6819694" cy="1150484"/>
          </a:xfrm>
          <a:prstGeom prst="rect">
            <a:avLst/>
          </a:prstGeom>
          <a:blipFill>
            <a:blip r:embed="rId2" cstate="print"/>
            <a:stretch>
              <a:fillRect/>
            </a:stretch>
          </a:blipFill>
        </p:spPr>
        <p:txBody>
          <a:bodyPr wrap="square" lIns="0" tIns="0" rIns="0" bIns="0" rtlCol="0"/>
          <a:lstStyle/>
          <a:p>
            <a:endParaRPr sz="2310"/>
          </a:p>
        </p:txBody>
      </p:sp>
      <p:sp>
        <p:nvSpPr>
          <p:cNvPr id="5" name="object 5"/>
          <p:cNvSpPr txBox="1"/>
          <p:nvPr/>
        </p:nvSpPr>
        <p:spPr>
          <a:xfrm>
            <a:off x="5374850" y="5809473"/>
            <a:ext cx="5213985" cy="981710"/>
          </a:xfrm>
          <a:prstGeom prst="rect">
            <a:avLst/>
          </a:prstGeom>
        </p:spPr>
        <p:txBody>
          <a:bodyPr vert="horz" wrap="square" lIns="0" tIns="13334" rIns="0" bIns="0" rtlCol="0">
            <a:spAutoFit/>
          </a:bodyPr>
          <a:lstStyle/>
          <a:p>
            <a:pPr marL="12700">
              <a:lnSpc>
                <a:spcPct val="100000"/>
              </a:lnSpc>
              <a:spcBef>
                <a:spcPts val="100"/>
              </a:spcBef>
            </a:pPr>
            <a:r>
              <a:rPr sz="2100" b="0" spc="-5" dirty="0">
                <a:solidFill>
                  <a:srgbClr val="0000FF"/>
                </a:solidFill>
                <a:latin typeface="Calibri Light" panose="020F0302020204030204"/>
                <a:cs typeface="Calibri Light" panose="020F0302020204030204"/>
              </a:rPr>
              <a:t>my_string </a:t>
            </a:r>
            <a:r>
              <a:rPr sz="2100" b="0" dirty="0">
                <a:solidFill>
                  <a:srgbClr val="0000FF"/>
                </a:solidFill>
                <a:latin typeface="Calibri Light" panose="020F0302020204030204"/>
                <a:cs typeface="Calibri Light" panose="020F0302020204030204"/>
              </a:rPr>
              <a:t>= </a:t>
            </a:r>
            <a:r>
              <a:rPr sz="2100" b="0" spc="-5" dirty="0">
                <a:solidFill>
                  <a:srgbClr val="0000FF"/>
                </a:solidFill>
                <a:latin typeface="Calibri Light" panose="020F0302020204030204"/>
                <a:cs typeface="Calibri Light" panose="020F0302020204030204"/>
              </a:rPr>
              <a:t>strtok_r(my_line, </a:t>
            </a:r>
            <a:r>
              <a:rPr sz="2100" b="0" spc="-30" dirty="0">
                <a:solidFill>
                  <a:srgbClr val="0000FF"/>
                </a:solidFill>
                <a:latin typeface="Calibri Light" panose="020F0302020204030204"/>
                <a:cs typeface="Calibri Light" panose="020F0302020204030204"/>
              </a:rPr>
              <a:t>“\t\n”,</a:t>
            </a:r>
            <a:r>
              <a:rPr sz="2100" b="0" spc="375" dirty="0">
                <a:solidFill>
                  <a:srgbClr val="0000FF"/>
                </a:solidFill>
                <a:latin typeface="Calibri Light" panose="020F0302020204030204"/>
                <a:cs typeface="Calibri Light" panose="020F0302020204030204"/>
              </a:rPr>
              <a:t> </a:t>
            </a:r>
            <a:r>
              <a:rPr sz="2100" b="0" spc="-10" dirty="0">
                <a:solidFill>
                  <a:srgbClr val="0000FF"/>
                </a:solidFill>
                <a:latin typeface="Calibri Light" panose="020F0302020204030204"/>
                <a:cs typeface="Calibri Light" panose="020F0302020204030204"/>
              </a:rPr>
              <a:t>&amp;saveptr);</a:t>
            </a:r>
            <a:endParaRPr sz="2100" dirty="0">
              <a:latin typeface="Calibri Light" panose="020F0302020204030204"/>
              <a:cs typeface="Calibri Light" panose="020F0302020204030204"/>
            </a:endParaRPr>
          </a:p>
          <a:p>
            <a:pPr marL="12700">
              <a:lnSpc>
                <a:spcPct val="100000"/>
              </a:lnSpc>
            </a:pPr>
            <a:r>
              <a:rPr sz="2100" b="0" spc="-10" dirty="0">
                <a:solidFill>
                  <a:srgbClr val="0000FF"/>
                </a:solidFill>
                <a:latin typeface="Calibri Light" panose="020F0302020204030204"/>
                <a:cs typeface="Calibri Light" panose="020F0302020204030204"/>
              </a:rPr>
              <a:t>……</a:t>
            </a:r>
            <a:endParaRPr sz="2100" dirty="0">
              <a:latin typeface="Calibri Light" panose="020F0302020204030204"/>
              <a:cs typeface="Calibri Light" panose="020F0302020204030204"/>
            </a:endParaRPr>
          </a:p>
          <a:p>
            <a:pPr marL="12700">
              <a:lnSpc>
                <a:spcPct val="100000"/>
              </a:lnSpc>
            </a:pPr>
            <a:r>
              <a:rPr sz="2100" b="0" spc="-5" dirty="0">
                <a:solidFill>
                  <a:srgbClr val="0000FF"/>
                </a:solidFill>
                <a:latin typeface="Calibri Light" panose="020F0302020204030204"/>
                <a:cs typeface="Calibri Light" panose="020F0302020204030204"/>
              </a:rPr>
              <a:t>my_string </a:t>
            </a:r>
            <a:r>
              <a:rPr sz="2100" b="0" dirty="0">
                <a:solidFill>
                  <a:srgbClr val="0000FF"/>
                </a:solidFill>
                <a:latin typeface="Calibri Light" panose="020F0302020204030204"/>
                <a:cs typeface="Calibri Light" panose="020F0302020204030204"/>
              </a:rPr>
              <a:t>= </a:t>
            </a:r>
            <a:r>
              <a:rPr sz="2100" b="0" spc="-5" dirty="0">
                <a:solidFill>
                  <a:srgbClr val="0000FF"/>
                </a:solidFill>
                <a:latin typeface="Calibri Light" panose="020F0302020204030204"/>
                <a:cs typeface="Calibri Light" panose="020F0302020204030204"/>
              </a:rPr>
              <a:t>strtok_r(NULL, </a:t>
            </a:r>
            <a:r>
              <a:rPr sz="2100" b="0" spc="-25" dirty="0">
                <a:solidFill>
                  <a:srgbClr val="0000FF"/>
                </a:solidFill>
                <a:latin typeface="Calibri Light" panose="020F0302020204030204"/>
                <a:cs typeface="Calibri Light" panose="020F0302020204030204"/>
              </a:rPr>
              <a:t>“\t\n”,</a:t>
            </a:r>
            <a:r>
              <a:rPr sz="2100" b="0" spc="365" dirty="0">
                <a:solidFill>
                  <a:srgbClr val="0000FF"/>
                </a:solidFill>
                <a:latin typeface="Calibri Light" panose="020F0302020204030204"/>
                <a:cs typeface="Calibri Light" panose="020F0302020204030204"/>
              </a:rPr>
              <a:t> </a:t>
            </a:r>
            <a:r>
              <a:rPr sz="2100" b="0" spc="-10" dirty="0">
                <a:solidFill>
                  <a:srgbClr val="0000FF"/>
                </a:solidFill>
                <a:latin typeface="Calibri Light" panose="020F0302020204030204"/>
                <a:cs typeface="Calibri Light" panose="020F0302020204030204"/>
              </a:rPr>
              <a:t>&amp;saveptr);</a:t>
            </a:r>
            <a:endParaRPr sz="2100" dirty="0">
              <a:latin typeface="Calibri Light" panose="020F0302020204030204"/>
              <a:cs typeface="Calibri Light" panose="020F0302020204030204"/>
            </a:endParaRPr>
          </a:p>
        </p:txBody>
      </p:sp>
      <p:sp>
        <p:nvSpPr>
          <p:cNvPr id="6" name="object 6"/>
          <p:cNvSpPr txBox="1"/>
          <p:nvPr/>
        </p:nvSpPr>
        <p:spPr>
          <a:xfrm>
            <a:off x="5781968" y="4296269"/>
            <a:ext cx="3865150" cy="981710"/>
          </a:xfrm>
          <a:prstGeom prst="rect">
            <a:avLst/>
          </a:prstGeom>
        </p:spPr>
        <p:txBody>
          <a:bodyPr vert="horz" wrap="square" lIns="0" tIns="13334" rIns="0" bIns="0" rtlCol="0">
            <a:spAutoFit/>
          </a:bodyPr>
          <a:lstStyle/>
          <a:p>
            <a:pPr marL="12700">
              <a:lnSpc>
                <a:spcPct val="100000"/>
              </a:lnSpc>
              <a:spcBef>
                <a:spcPts val="100"/>
              </a:spcBef>
            </a:pPr>
            <a:r>
              <a:rPr sz="2100" b="0" spc="-5" dirty="0">
                <a:solidFill>
                  <a:srgbClr val="C00000"/>
                </a:solidFill>
                <a:latin typeface="Calibri Light" panose="020F0302020204030204"/>
                <a:cs typeface="Calibri Light" panose="020F0302020204030204"/>
              </a:rPr>
              <a:t>my_string </a:t>
            </a:r>
            <a:r>
              <a:rPr sz="2100" b="0" dirty="0">
                <a:solidFill>
                  <a:srgbClr val="C00000"/>
                </a:solidFill>
                <a:latin typeface="Calibri Light" panose="020F0302020204030204"/>
                <a:cs typeface="Calibri Light" panose="020F0302020204030204"/>
              </a:rPr>
              <a:t>= </a:t>
            </a:r>
            <a:r>
              <a:rPr sz="2100" b="0" spc="-5" dirty="0">
                <a:solidFill>
                  <a:srgbClr val="C00000"/>
                </a:solidFill>
                <a:latin typeface="Calibri Light" panose="020F0302020204030204"/>
                <a:cs typeface="Calibri Light" panose="020F0302020204030204"/>
              </a:rPr>
              <a:t>strtok(my_line,</a:t>
            </a:r>
            <a:r>
              <a:rPr sz="2100" b="0" spc="350" dirty="0">
                <a:solidFill>
                  <a:srgbClr val="C00000"/>
                </a:solidFill>
                <a:latin typeface="Calibri Light" panose="020F0302020204030204"/>
                <a:cs typeface="Calibri Light" panose="020F0302020204030204"/>
              </a:rPr>
              <a:t> </a:t>
            </a:r>
            <a:r>
              <a:rPr sz="2100" b="0" dirty="0">
                <a:solidFill>
                  <a:srgbClr val="C00000"/>
                </a:solidFill>
                <a:latin typeface="Calibri Light" panose="020F0302020204030204"/>
                <a:cs typeface="Calibri Light" panose="020F0302020204030204"/>
              </a:rPr>
              <a:t>“\t\n”);</a:t>
            </a:r>
            <a:endParaRPr sz="2100">
              <a:latin typeface="Calibri Light" panose="020F0302020204030204"/>
              <a:cs typeface="Calibri Light" panose="020F0302020204030204"/>
            </a:endParaRPr>
          </a:p>
          <a:p>
            <a:pPr marL="12700">
              <a:lnSpc>
                <a:spcPct val="100000"/>
              </a:lnSpc>
            </a:pPr>
            <a:r>
              <a:rPr sz="2100" b="0" spc="-10" dirty="0">
                <a:solidFill>
                  <a:srgbClr val="C00000"/>
                </a:solidFill>
                <a:latin typeface="Calibri Light" panose="020F0302020204030204"/>
                <a:cs typeface="Calibri Light" panose="020F0302020204030204"/>
              </a:rPr>
              <a:t>……</a:t>
            </a:r>
            <a:endParaRPr sz="2100">
              <a:latin typeface="Calibri Light" panose="020F0302020204030204"/>
              <a:cs typeface="Calibri Light" panose="020F0302020204030204"/>
            </a:endParaRPr>
          </a:p>
          <a:p>
            <a:pPr marL="12700">
              <a:lnSpc>
                <a:spcPct val="100000"/>
              </a:lnSpc>
            </a:pPr>
            <a:r>
              <a:rPr sz="2100" b="0" spc="-5" dirty="0">
                <a:solidFill>
                  <a:srgbClr val="C00000"/>
                </a:solidFill>
                <a:latin typeface="Calibri Light" panose="020F0302020204030204"/>
                <a:cs typeface="Calibri Light" panose="020F0302020204030204"/>
              </a:rPr>
              <a:t>my_string </a:t>
            </a:r>
            <a:r>
              <a:rPr sz="2100" b="0" dirty="0">
                <a:solidFill>
                  <a:srgbClr val="C00000"/>
                </a:solidFill>
                <a:latin typeface="Calibri Light" panose="020F0302020204030204"/>
                <a:cs typeface="Calibri Light" panose="020F0302020204030204"/>
              </a:rPr>
              <a:t>= </a:t>
            </a:r>
            <a:r>
              <a:rPr sz="2100" b="0" spc="-5" dirty="0">
                <a:solidFill>
                  <a:srgbClr val="C00000"/>
                </a:solidFill>
                <a:latin typeface="Calibri Light" panose="020F0302020204030204"/>
                <a:cs typeface="Calibri Light" panose="020F0302020204030204"/>
              </a:rPr>
              <a:t>strtok(NULL,</a:t>
            </a:r>
            <a:r>
              <a:rPr sz="2100" b="0" spc="395" dirty="0">
                <a:solidFill>
                  <a:srgbClr val="C00000"/>
                </a:solidFill>
                <a:latin typeface="Calibri Light" panose="020F0302020204030204"/>
                <a:cs typeface="Calibri Light" panose="020F0302020204030204"/>
              </a:rPr>
              <a:t> </a:t>
            </a:r>
            <a:r>
              <a:rPr sz="2100" b="0" dirty="0">
                <a:solidFill>
                  <a:srgbClr val="C00000"/>
                </a:solidFill>
                <a:latin typeface="Calibri Light" panose="020F0302020204030204"/>
                <a:cs typeface="Calibri Light" panose="020F0302020204030204"/>
              </a:rPr>
              <a:t>“\t\n”);</a:t>
            </a:r>
            <a:endParaRPr sz="2100">
              <a:latin typeface="Calibri Light" panose="020F0302020204030204"/>
              <a:cs typeface="Calibri Light" panose="020F0302020204030204"/>
            </a:endParaRPr>
          </a:p>
        </p:txBody>
      </p:sp>
      <p:sp>
        <p:nvSpPr>
          <p:cNvPr id="7" name="object 7"/>
          <p:cNvSpPr/>
          <p:nvPr/>
        </p:nvSpPr>
        <p:spPr>
          <a:xfrm>
            <a:off x="7292423" y="5440680"/>
            <a:ext cx="691420" cy="314039"/>
          </a:xfrm>
          <a:custGeom>
            <a:avLst/>
            <a:gdLst/>
            <a:ahLst/>
            <a:cxnLst/>
            <a:rect l="l" t="t" r="r" b="b"/>
            <a:pathLst>
              <a:path w="658495" h="299085">
                <a:moveTo>
                  <a:pt x="493775" y="0"/>
                </a:moveTo>
                <a:lnTo>
                  <a:pt x="164591" y="0"/>
                </a:lnTo>
                <a:lnTo>
                  <a:pt x="164591" y="149352"/>
                </a:lnTo>
                <a:lnTo>
                  <a:pt x="0" y="149352"/>
                </a:lnTo>
                <a:lnTo>
                  <a:pt x="329183" y="298703"/>
                </a:lnTo>
                <a:lnTo>
                  <a:pt x="658367" y="149352"/>
                </a:lnTo>
                <a:lnTo>
                  <a:pt x="493775" y="149352"/>
                </a:lnTo>
                <a:lnTo>
                  <a:pt x="493775" y="0"/>
                </a:lnTo>
                <a:close/>
              </a:path>
            </a:pathLst>
          </a:custGeom>
          <a:solidFill>
            <a:srgbClr val="5B9BD4"/>
          </a:solidFill>
        </p:spPr>
        <p:txBody>
          <a:bodyPr wrap="square" lIns="0" tIns="0" rIns="0" bIns="0" rtlCol="0"/>
          <a:lstStyle/>
          <a:p>
            <a:endParaRPr sz="2310"/>
          </a:p>
        </p:txBody>
      </p:sp>
      <p:sp>
        <p:nvSpPr>
          <p:cNvPr id="8" name="object 8"/>
          <p:cNvSpPr/>
          <p:nvPr/>
        </p:nvSpPr>
        <p:spPr>
          <a:xfrm>
            <a:off x="7292423" y="5440680"/>
            <a:ext cx="691420" cy="314039"/>
          </a:xfrm>
          <a:custGeom>
            <a:avLst/>
            <a:gdLst/>
            <a:ahLst/>
            <a:cxnLst/>
            <a:rect l="l" t="t" r="r" b="b"/>
            <a:pathLst>
              <a:path w="658495" h="299085">
                <a:moveTo>
                  <a:pt x="0" y="149352"/>
                </a:moveTo>
                <a:lnTo>
                  <a:pt x="164591" y="149352"/>
                </a:lnTo>
                <a:lnTo>
                  <a:pt x="164591" y="0"/>
                </a:lnTo>
                <a:lnTo>
                  <a:pt x="493775" y="0"/>
                </a:lnTo>
                <a:lnTo>
                  <a:pt x="493775" y="149352"/>
                </a:lnTo>
                <a:lnTo>
                  <a:pt x="658367" y="149352"/>
                </a:lnTo>
                <a:lnTo>
                  <a:pt x="329183" y="298703"/>
                </a:lnTo>
                <a:lnTo>
                  <a:pt x="0" y="149352"/>
                </a:lnTo>
                <a:close/>
              </a:path>
            </a:pathLst>
          </a:custGeom>
          <a:ln w="12192">
            <a:solidFill>
              <a:srgbClr val="41709C"/>
            </a:solidFill>
          </a:ln>
        </p:spPr>
        <p:txBody>
          <a:bodyPr wrap="square" lIns="0" tIns="0" rIns="0" bIns="0" rtlCol="0"/>
          <a:lstStyle/>
          <a:p>
            <a:endParaRPr sz="2310"/>
          </a:p>
        </p:txBody>
      </p:sp>
      <p:sp>
        <p:nvSpPr>
          <p:cNvPr id="9" name="object 9"/>
          <p:cNvSpPr/>
          <p:nvPr/>
        </p:nvSpPr>
        <p:spPr>
          <a:xfrm>
            <a:off x="9065435" y="4133568"/>
            <a:ext cx="1708214" cy="702088"/>
          </a:xfrm>
          <a:custGeom>
            <a:avLst/>
            <a:gdLst/>
            <a:ahLst/>
            <a:cxnLst/>
            <a:rect l="l" t="t" r="r" b="b"/>
            <a:pathLst>
              <a:path w="1626870" h="668654">
                <a:moveTo>
                  <a:pt x="73546" y="28262"/>
                </a:moveTo>
                <a:lnTo>
                  <a:pt x="67805" y="42475"/>
                </a:lnTo>
                <a:lnTo>
                  <a:pt x="1621154" y="668654"/>
                </a:lnTo>
                <a:lnTo>
                  <a:pt x="1626870" y="654557"/>
                </a:lnTo>
                <a:lnTo>
                  <a:pt x="73546" y="28262"/>
                </a:lnTo>
                <a:close/>
              </a:path>
              <a:path w="1626870" h="668654">
                <a:moveTo>
                  <a:pt x="84962" y="0"/>
                </a:moveTo>
                <a:lnTo>
                  <a:pt x="0" y="6857"/>
                </a:lnTo>
                <a:lnTo>
                  <a:pt x="56387" y="70738"/>
                </a:lnTo>
                <a:lnTo>
                  <a:pt x="67805" y="42475"/>
                </a:lnTo>
                <a:lnTo>
                  <a:pt x="56006" y="37718"/>
                </a:lnTo>
                <a:lnTo>
                  <a:pt x="61722" y="23494"/>
                </a:lnTo>
                <a:lnTo>
                  <a:pt x="75472" y="23494"/>
                </a:lnTo>
                <a:lnTo>
                  <a:pt x="84962" y="0"/>
                </a:lnTo>
                <a:close/>
              </a:path>
              <a:path w="1626870" h="668654">
                <a:moveTo>
                  <a:pt x="61722" y="23494"/>
                </a:moveTo>
                <a:lnTo>
                  <a:pt x="56006" y="37718"/>
                </a:lnTo>
                <a:lnTo>
                  <a:pt x="67805" y="42475"/>
                </a:lnTo>
                <a:lnTo>
                  <a:pt x="73546" y="28262"/>
                </a:lnTo>
                <a:lnTo>
                  <a:pt x="61722" y="23494"/>
                </a:lnTo>
                <a:close/>
              </a:path>
              <a:path w="1626870" h="668654">
                <a:moveTo>
                  <a:pt x="75472" y="23494"/>
                </a:moveTo>
                <a:lnTo>
                  <a:pt x="61722" y="23494"/>
                </a:lnTo>
                <a:lnTo>
                  <a:pt x="73546" y="28262"/>
                </a:lnTo>
                <a:lnTo>
                  <a:pt x="75472" y="23494"/>
                </a:lnTo>
                <a:close/>
              </a:path>
            </a:pathLst>
          </a:custGeom>
          <a:solidFill>
            <a:srgbClr val="FF0000"/>
          </a:solidFill>
        </p:spPr>
        <p:txBody>
          <a:bodyPr wrap="square" lIns="0" tIns="0" rIns="0" bIns="0" rtlCol="0"/>
          <a:lstStyle/>
          <a:p>
            <a:endParaRPr sz="2310"/>
          </a:p>
        </p:txBody>
      </p:sp>
      <p:sp>
        <p:nvSpPr>
          <p:cNvPr id="10" name="object 10"/>
          <p:cNvSpPr txBox="1"/>
          <p:nvPr/>
        </p:nvSpPr>
        <p:spPr>
          <a:xfrm>
            <a:off x="10584209" y="4788217"/>
            <a:ext cx="1804226" cy="1304925"/>
          </a:xfrm>
          <a:prstGeom prst="rect">
            <a:avLst/>
          </a:prstGeom>
        </p:spPr>
        <p:txBody>
          <a:bodyPr vert="horz" wrap="square" lIns="0" tIns="13334" rIns="0" bIns="0" rtlCol="0">
            <a:spAutoFit/>
          </a:bodyPr>
          <a:lstStyle/>
          <a:p>
            <a:pPr marL="12700" marR="5080">
              <a:lnSpc>
                <a:spcPct val="100000"/>
              </a:lnSpc>
              <a:spcBef>
                <a:spcPts val="100"/>
              </a:spcBef>
            </a:pPr>
            <a:r>
              <a:rPr sz="2100" spc="-10" dirty="0">
                <a:solidFill>
                  <a:srgbClr val="FF0000"/>
                </a:solidFill>
                <a:latin typeface="Calibri" panose="020F0502020204030204"/>
                <a:cs typeface="Calibri" panose="020F0502020204030204"/>
              </a:rPr>
              <a:t>Saveptr_p</a:t>
            </a:r>
            <a:r>
              <a:rPr sz="2100" spc="-50" dirty="0">
                <a:solidFill>
                  <a:srgbClr val="FF0000"/>
                </a:solidFill>
                <a:latin typeface="Calibri" panose="020F0502020204030204"/>
                <a:cs typeface="Calibri" panose="020F0502020204030204"/>
              </a:rPr>
              <a:t> </a:t>
            </a:r>
            <a:r>
              <a:rPr sz="2100" spc="-15" dirty="0">
                <a:solidFill>
                  <a:srgbClr val="FF0000"/>
                </a:solidFill>
                <a:latin typeface="Calibri" panose="020F0502020204030204"/>
                <a:cs typeface="Calibri" panose="020F0502020204030204"/>
              </a:rPr>
              <a:t>keeps  </a:t>
            </a:r>
            <a:r>
              <a:rPr sz="2100" spc="-10" dirty="0">
                <a:solidFill>
                  <a:srgbClr val="FF0000"/>
                </a:solidFill>
                <a:latin typeface="Calibri" panose="020F0502020204030204"/>
                <a:cs typeface="Calibri" panose="020F0502020204030204"/>
              </a:rPr>
              <a:t>track </a:t>
            </a:r>
            <a:r>
              <a:rPr sz="2100" spc="-5" dirty="0">
                <a:solidFill>
                  <a:srgbClr val="FF0000"/>
                </a:solidFill>
                <a:latin typeface="Calibri" panose="020F0502020204030204"/>
                <a:cs typeface="Calibri" panose="020F0502020204030204"/>
              </a:rPr>
              <a:t>of where  </a:t>
            </a:r>
            <a:r>
              <a:rPr sz="2100" dirty="0">
                <a:solidFill>
                  <a:srgbClr val="FF0000"/>
                </a:solidFill>
                <a:latin typeface="Calibri" panose="020F0502020204030204"/>
                <a:cs typeface="Calibri" panose="020F0502020204030204"/>
              </a:rPr>
              <a:t>the func is in  the input</a:t>
            </a:r>
            <a:r>
              <a:rPr sz="2100" spc="-80" dirty="0">
                <a:solidFill>
                  <a:srgbClr val="FF0000"/>
                </a:solidFill>
                <a:latin typeface="Calibri" panose="020F0502020204030204"/>
                <a:cs typeface="Calibri" panose="020F0502020204030204"/>
              </a:rPr>
              <a:t> </a:t>
            </a:r>
            <a:r>
              <a:rPr sz="2100" spc="-5" dirty="0">
                <a:solidFill>
                  <a:srgbClr val="FF0000"/>
                </a:solidFill>
                <a:latin typeface="Calibri" panose="020F0502020204030204"/>
                <a:cs typeface="Calibri" panose="020F0502020204030204"/>
              </a:rPr>
              <a:t>string.</a:t>
            </a:r>
            <a:endParaRPr sz="2100" dirty="0">
              <a:latin typeface="Calibri" panose="020F0502020204030204"/>
              <a:cs typeface="Calibri" panose="020F0502020204030204"/>
            </a:endParaRPr>
          </a:p>
        </p:txBody>
      </p:sp>
      <p:sp>
        <p:nvSpPr>
          <p:cNvPr id="11" name="object 11"/>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106</a:t>
            </a:fld>
            <a:endParaRPr sz="1260">
              <a:latin typeface="Calibri" panose="020F0502020204030204"/>
              <a:cs typeface="Calibri" panose="020F0502020204030204"/>
            </a:endParaRPr>
          </a:p>
        </p:txBody>
      </p:sp>
      <p:sp>
        <p:nvSpPr>
          <p:cNvPr id="13" name="文本框 12">
            <a:extLst>
              <a:ext uri="{FF2B5EF4-FFF2-40B4-BE49-F238E27FC236}">
                <a16:creationId xmlns:a16="http://schemas.microsoft.com/office/drawing/2014/main" id="{4671497C-64C2-4617-B45C-E03C2B99AB98}"/>
              </a:ext>
            </a:extLst>
          </p:cNvPr>
          <p:cNvSpPr txBox="1"/>
          <p:nvPr/>
        </p:nvSpPr>
        <p:spPr>
          <a:xfrm>
            <a:off x="455082" y="2958921"/>
            <a:ext cx="4736874" cy="3988304"/>
          </a:xfrm>
          <a:prstGeom prst="rect">
            <a:avLst/>
          </a:prstGeom>
        </p:spPr>
        <p:txBody>
          <a:bodyPr vert="horz" wrap="none" lIns="0" tIns="63341" rIns="0" bIns="0" rtlCol="0">
            <a:spAutoFit/>
          </a:bodyPr>
          <a:lstStyle/>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the saved pointer in SAVE_PTR is used as</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the next starting point.  For example:</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char s[] = "-</a:t>
            </a:r>
            <a:r>
              <a:rPr lang="en-US" sz="1400" spc="-5" dirty="0" err="1">
                <a:latin typeface="Comic Sans MS" panose="030F0702030302020204" pitchFamily="66" charset="0"/>
                <a:cs typeface="Calibri" panose="020F0502020204030204"/>
              </a:rPr>
              <a:t>abc</a:t>
            </a:r>
            <a:r>
              <a:rPr lang="en-US" sz="1400" spc="-5" dirty="0">
                <a:latin typeface="Comic Sans MS" panose="030F0702030302020204" pitchFamily="66" charset="0"/>
                <a:cs typeface="Calibri" panose="020F0502020204030204"/>
              </a:rPr>
              <a:t>-=-def";</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char *</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x = </a:t>
            </a:r>
            <a:r>
              <a:rPr lang="en-US" sz="1400" spc="-5" dirty="0" err="1">
                <a:latin typeface="Comic Sans MS" panose="030F0702030302020204" pitchFamily="66" charset="0"/>
                <a:cs typeface="Calibri" panose="020F0502020204030204"/>
              </a:rPr>
              <a:t>strtok_r</a:t>
            </a:r>
            <a:r>
              <a:rPr lang="en-US" sz="1400" spc="-5" dirty="0">
                <a:latin typeface="Comic Sans MS" panose="030F0702030302020204" pitchFamily="66" charset="0"/>
                <a:cs typeface="Calibri" panose="020F0502020204030204"/>
              </a:rPr>
              <a:t>(s, "-", &amp;</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	// x = "</a:t>
            </a:r>
            <a:r>
              <a:rPr lang="en-US" sz="1400" spc="-5" dirty="0" err="1">
                <a:latin typeface="Comic Sans MS" panose="030F0702030302020204" pitchFamily="66" charset="0"/>
                <a:cs typeface="Calibri" panose="020F0502020204030204"/>
              </a:rPr>
              <a:t>abc</a:t>
            </a:r>
            <a:r>
              <a:rPr lang="en-US" sz="1400" spc="-5" dirty="0">
                <a:latin typeface="Comic Sans MS" panose="030F0702030302020204" pitchFamily="66" charset="0"/>
                <a:cs typeface="Calibri" panose="020F0502020204030204"/>
              </a:rPr>
              <a:t>", </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 = "=-def"</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x = </a:t>
            </a:r>
            <a:r>
              <a:rPr lang="en-US" sz="1400" spc="-5" dirty="0" err="1">
                <a:latin typeface="Comic Sans MS" panose="030F0702030302020204" pitchFamily="66" charset="0"/>
                <a:cs typeface="Calibri" panose="020F0502020204030204"/>
              </a:rPr>
              <a:t>strtok_r</a:t>
            </a:r>
            <a:r>
              <a:rPr lang="en-US" sz="1400" spc="-5" dirty="0">
                <a:latin typeface="Comic Sans MS" panose="030F0702030302020204" pitchFamily="66" charset="0"/>
                <a:cs typeface="Calibri" panose="020F0502020204030204"/>
              </a:rPr>
              <a:t>(NULL, "-=", &amp;</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 // x = "def", </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 = NULL</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x = </a:t>
            </a:r>
            <a:r>
              <a:rPr lang="en-US" sz="1400" spc="-5" dirty="0" err="1">
                <a:latin typeface="Comic Sans MS" panose="030F0702030302020204" pitchFamily="66" charset="0"/>
                <a:cs typeface="Calibri" panose="020F0502020204030204"/>
              </a:rPr>
              <a:t>strtok_r</a:t>
            </a:r>
            <a:r>
              <a:rPr lang="en-US" sz="1400" spc="-5" dirty="0">
                <a:latin typeface="Comic Sans MS" panose="030F0702030302020204" pitchFamily="66" charset="0"/>
                <a:cs typeface="Calibri" panose="020F0502020204030204"/>
              </a:rPr>
              <a:t>(NULL, "=", &amp;</a:t>
            </a:r>
            <a:r>
              <a:rPr lang="en-US" sz="1400" spc="-5" dirty="0" err="1">
                <a:latin typeface="Comic Sans MS" panose="030F0702030302020204" pitchFamily="66" charset="0"/>
                <a:cs typeface="Calibri" panose="020F0502020204030204"/>
              </a:rPr>
              <a:t>sp</a:t>
            </a:r>
            <a:r>
              <a:rPr lang="en-US" sz="1400" spc="-5" dirty="0">
                <a:latin typeface="Comic Sans MS" panose="030F0702030302020204" pitchFamily="66" charset="0"/>
                <a:cs typeface="Calibri" panose="020F0502020204030204"/>
              </a:rPr>
              <a:t>); // x = NULL</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		// s = "</a:t>
            </a:r>
            <a:r>
              <a:rPr lang="en-US" sz="1400" spc="-5" dirty="0" err="1">
                <a:latin typeface="Comic Sans MS" panose="030F0702030302020204" pitchFamily="66" charset="0"/>
                <a:cs typeface="Calibri" panose="020F0502020204030204"/>
              </a:rPr>
              <a:t>abc</a:t>
            </a:r>
            <a:r>
              <a:rPr lang="en-US" sz="1400" spc="-5" dirty="0">
                <a:latin typeface="Comic Sans MS" panose="030F0702030302020204" pitchFamily="66" charset="0"/>
                <a:cs typeface="Calibri" panose="020F0502020204030204"/>
              </a:rPr>
              <a:t>\0-def\0"</a:t>
            </a:r>
          </a:p>
          <a:p>
            <a:pPr marL="12065" marR="5080">
              <a:lnSpc>
                <a:spcPts val="3030"/>
              </a:lnSpc>
              <a:spcBef>
                <a:spcPts val="475"/>
              </a:spcBef>
              <a:tabLst>
                <a:tab pos="241935" algn="l"/>
              </a:tabLst>
            </a:pPr>
            <a:r>
              <a:rPr lang="en-US" sz="1400" spc="-5" dirty="0">
                <a:latin typeface="Comic Sans MS" panose="030F0702030302020204" pitchFamily="66" charset="0"/>
                <a:cs typeface="Calibri" panose="020F0502020204030204"/>
              </a:rPr>
              <a:t>*/</a:t>
            </a: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107</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(1)</a:t>
            </a:r>
          </a:p>
        </p:txBody>
      </p:sp>
      <p:sp>
        <p:nvSpPr>
          <p:cNvPr id="3" name="object 3"/>
          <p:cNvSpPr txBox="1"/>
          <p:nvPr/>
        </p:nvSpPr>
        <p:spPr>
          <a:xfrm>
            <a:off x="2343119" y="1620736"/>
            <a:ext cx="8666193" cy="5001689"/>
          </a:xfrm>
          <a:prstGeom prst="rect">
            <a:avLst/>
          </a:prstGeom>
        </p:spPr>
        <p:txBody>
          <a:bodyPr vert="horz" wrap="square" lIns="0" tIns="57340" rIns="0" bIns="0" rtlCol="0">
            <a:spAutoFit/>
          </a:bodyPr>
          <a:lstStyle/>
          <a:p>
            <a:pPr marL="241300" marR="725805" indent="-228600">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thread </a:t>
            </a:r>
            <a:r>
              <a:rPr sz="2940" spc="-5" dirty="0">
                <a:latin typeface="Comic Sans MS" panose="030F0702030302020204" pitchFamily="66" charset="0"/>
                <a:cs typeface="Calibri" panose="020F0502020204030204"/>
              </a:rPr>
              <a:t>in </a:t>
            </a:r>
            <a:r>
              <a:rPr sz="2940" spc="-10" dirty="0">
                <a:latin typeface="Comic Sans MS" panose="030F0702030302020204" pitchFamily="66" charset="0"/>
                <a:cs typeface="Calibri" panose="020F0502020204030204"/>
              </a:rPr>
              <a:t>shared-memory </a:t>
            </a:r>
            <a:r>
              <a:rPr sz="2940" spc="-20" dirty="0">
                <a:latin typeface="Comic Sans MS" panose="030F0702030302020204" pitchFamily="66" charset="0"/>
                <a:cs typeface="Calibri" panose="020F0502020204030204"/>
              </a:rPr>
              <a:t>programming </a:t>
            </a:r>
            <a:r>
              <a:rPr sz="2940" spc="-5" dirty="0">
                <a:latin typeface="Comic Sans MS" panose="030F0702030302020204" pitchFamily="66" charset="0"/>
                <a:cs typeface="Calibri" panose="020F0502020204030204"/>
              </a:rPr>
              <a:t>is  </a:t>
            </a:r>
            <a:r>
              <a:rPr sz="2940" spc="-10" dirty="0">
                <a:latin typeface="Comic Sans MS" panose="030F0702030302020204" pitchFamily="66" charset="0"/>
                <a:cs typeface="Calibri" panose="020F0502020204030204"/>
              </a:rPr>
              <a:t>analogous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 </a:t>
            </a:r>
            <a:r>
              <a:rPr sz="2940" spc="-15" dirty="0">
                <a:solidFill>
                  <a:srgbClr val="FF0000"/>
                </a:solidFill>
                <a:latin typeface="Comic Sans MS" panose="030F0702030302020204" pitchFamily="66" charset="0"/>
                <a:cs typeface="Calibri" panose="020F0502020204030204"/>
              </a:rPr>
              <a:t>process </a:t>
            </a:r>
            <a:r>
              <a:rPr sz="2940" spc="-5" dirty="0">
                <a:latin typeface="Comic Sans MS" panose="030F0702030302020204" pitchFamily="66" charset="0"/>
                <a:cs typeface="Calibri" panose="020F0502020204030204"/>
              </a:rPr>
              <a:t>in </a:t>
            </a:r>
            <a:r>
              <a:rPr sz="2940" spc="-15" dirty="0">
                <a:latin typeface="Comic Sans MS" panose="030F0702030302020204" pitchFamily="66" charset="0"/>
                <a:cs typeface="Calibri" panose="020F0502020204030204"/>
              </a:rPr>
              <a:t>distributed </a:t>
            </a:r>
            <a:r>
              <a:rPr sz="2940" spc="-5" dirty="0">
                <a:latin typeface="Comic Sans MS" panose="030F0702030302020204" pitchFamily="66" charset="0"/>
                <a:cs typeface="Calibri" panose="020F0502020204030204"/>
              </a:rPr>
              <a:t>memory  </a:t>
            </a:r>
            <a:r>
              <a:rPr sz="2940" spc="-15" dirty="0">
                <a:latin typeface="Comic Sans MS" panose="030F0702030302020204" pitchFamily="66" charset="0"/>
                <a:cs typeface="Calibri" panose="020F0502020204030204"/>
              </a:rPr>
              <a:t>programming.</a:t>
            </a:r>
            <a:endParaRPr sz="2940" dirty="0">
              <a:latin typeface="Comic Sans MS" panose="030F0702030302020204" pitchFamily="66" charset="0"/>
              <a:cs typeface="Calibri" panose="020F0502020204030204"/>
            </a:endParaRPr>
          </a:p>
          <a:p>
            <a:pPr>
              <a:lnSpc>
                <a:spcPct val="100000"/>
              </a:lnSpc>
              <a:spcBef>
                <a:spcPts val="10"/>
              </a:spcBef>
              <a:buFont typeface="Arial" panose="020B0604020202020204"/>
              <a:buChar char="•"/>
            </a:pPr>
            <a:endParaRPr sz="4355" dirty="0">
              <a:latin typeface="Comic Sans MS" panose="030F0702030302020204" pitchFamily="66" charset="0"/>
              <a:cs typeface="Calibri" panose="020F0502020204030204"/>
            </a:endParaRPr>
          </a:p>
          <a:p>
            <a:pPr marL="241300" marR="434975" indent="-228600">
              <a:lnSpc>
                <a:spcPts val="3020"/>
              </a:lnSpc>
              <a:buFont typeface="Arial" panose="020B0604020202020204"/>
              <a:buChar char="•"/>
              <a:tabLst>
                <a:tab pos="241300" algn="l"/>
              </a:tabLst>
            </a:pPr>
            <a:r>
              <a:rPr sz="2940" spc="-45" dirty="0">
                <a:latin typeface="Comic Sans MS" panose="030F0702030302020204" pitchFamily="66" charset="0"/>
                <a:cs typeface="Calibri" panose="020F0502020204030204"/>
              </a:rPr>
              <a:t>However, </a:t>
            </a: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thread </a:t>
            </a:r>
            <a:r>
              <a:rPr sz="2940" spc="-5" dirty="0">
                <a:latin typeface="Comic Sans MS" panose="030F0702030302020204" pitchFamily="66" charset="0"/>
                <a:cs typeface="Calibri" panose="020F0502020204030204"/>
              </a:rPr>
              <a:t>is </a:t>
            </a:r>
            <a:r>
              <a:rPr sz="2940" spc="-10" dirty="0">
                <a:latin typeface="Comic Sans MS" panose="030F0702030302020204" pitchFamily="66" charset="0"/>
                <a:cs typeface="Calibri" panose="020F0502020204030204"/>
              </a:rPr>
              <a:t>often </a:t>
            </a:r>
            <a:r>
              <a:rPr sz="2940" spc="-15" dirty="0">
                <a:solidFill>
                  <a:srgbClr val="FF0000"/>
                </a:solidFill>
                <a:latin typeface="Comic Sans MS" panose="030F0702030302020204" pitchFamily="66" charset="0"/>
                <a:cs typeface="Calibri" panose="020F0502020204030204"/>
              </a:rPr>
              <a:t>lighter-weight </a:t>
            </a:r>
            <a:r>
              <a:rPr sz="2940" spc="-5" dirty="0">
                <a:latin typeface="Comic Sans MS" panose="030F0702030302020204" pitchFamily="66" charset="0"/>
                <a:cs typeface="Calibri" panose="020F0502020204030204"/>
              </a:rPr>
              <a:t>than a  </a:t>
            </a:r>
            <a:r>
              <a:rPr sz="2940" spc="-10" dirty="0">
                <a:latin typeface="Comic Sans MS" panose="030F0702030302020204" pitchFamily="66" charset="0"/>
                <a:cs typeface="Calibri" panose="020F0502020204030204"/>
              </a:rPr>
              <a:t>full-fledged</a:t>
            </a:r>
            <a:r>
              <a:rPr sz="2940" spc="25"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process.</a:t>
            </a:r>
            <a:endParaRPr sz="2940" dirty="0">
              <a:latin typeface="Comic Sans MS" panose="030F0702030302020204" pitchFamily="66" charset="0"/>
              <a:cs typeface="Calibri" panose="020F0502020204030204"/>
            </a:endParaRPr>
          </a:p>
          <a:p>
            <a:pPr>
              <a:lnSpc>
                <a:spcPct val="100000"/>
              </a:lnSpc>
              <a:spcBef>
                <a:spcPts val="45"/>
              </a:spcBef>
              <a:buFont typeface="Arial" panose="020B0604020202020204"/>
              <a:buChar char="•"/>
            </a:pPr>
            <a:endParaRPr sz="4250" dirty="0">
              <a:latin typeface="Comic Sans MS" panose="030F0702030302020204" pitchFamily="66" charset="0"/>
              <a:cs typeface="Calibri" panose="020F0502020204030204"/>
            </a:endParaRPr>
          </a:p>
          <a:p>
            <a:pPr marL="241300" marR="5080" indent="-228600">
              <a:lnSpc>
                <a:spcPct val="90000"/>
              </a:lnSpc>
              <a:buFont typeface="Arial" panose="020B0604020202020204"/>
              <a:buChar char="•"/>
              <a:tabLst>
                <a:tab pos="241300" algn="l"/>
              </a:tabLst>
            </a:pPr>
            <a:r>
              <a:rPr sz="2940" spc="-5" dirty="0">
                <a:latin typeface="Comic Sans MS" panose="030F0702030302020204" pitchFamily="66" charset="0"/>
                <a:cs typeface="Calibri" panose="020F0502020204030204"/>
              </a:rPr>
              <a:t>In </a:t>
            </a:r>
            <a:r>
              <a:rPr sz="2940" spc="-10" dirty="0">
                <a:latin typeface="Comic Sans MS" panose="030F0702030302020204" pitchFamily="66" charset="0"/>
                <a:cs typeface="Calibri" panose="020F0502020204030204"/>
              </a:rPr>
              <a:t>Pthreads </a:t>
            </a:r>
            <a:r>
              <a:rPr sz="2940" spc="-20" dirty="0">
                <a:latin typeface="Comic Sans MS" panose="030F0702030302020204" pitchFamily="66" charset="0"/>
                <a:cs typeface="Calibri" panose="020F0502020204030204"/>
              </a:rPr>
              <a:t>programs, </a:t>
            </a:r>
            <a:r>
              <a:rPr sz="2940" spc="-5" dirty="0">
                <a:latin typeface="Comic Sans MS" panose="030F0702030302020204" pitchFamily="66" charset="0"/>
                <a:cs typeface="Calibri" panose="020F0502020204030204"/>
              </a:rPr>
              <a:t>all the </a:t>
            </a:r>
            <a:r>
              <a:rPr sz="2940" spc="-10" dirty="0">
                <a:latin typeface="Comic Sans MS" panose="030F0702030302020204" pitchFamily="66" charset="0"/>
                <a:cs typeface="Calibri" panose="020F0502020204030204"/>
              </a:rPr>
              <a:t>threads </a:t>
            </a:r>
            <a:r>
              <a:rPr sz="2940" spc="-25" dirty="0">
                <a:latin typeface="Comic Sans MS" panose="030F0702030302020204" pitchFamily="66" charset="0"/>
                <a:cs typeface="Calibri" panose="020F0502020204030204"/>
              </a:rPr>
              <a:t>have </a:t>
            </a:r>
            <a:r>
              <a:rPr sz="2940" spc="-5"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global </a:t>
            </a:r>
            <a:r>
              <a:rPr sz="2940" spc="-10" dirty="0">
                <a:latin typeface="Comic Sans MS" panose="030F0702030302020204" pitchFamily="66" charset="0"/>
                <a:cs typeface="Calibri" panose="020F0502020204030204"/>
              </a:rPr>
              <a:t>variables, </a:t>
            </a:r>
            <a:r>
              <a:rPr sz="2940" spc="-5" dirty="0">
                <a:latin typeface="Comic Sans MS" panose="030F0702030302020204" pitchFamily="66" charset="0"/>
                <a:cs typeface="Calibri" panose="020F0502020204030204"/>
              </a:rPr>
              <a:t>while </a:t>
            </a:r>
            <a:r>
              <a:rPr sz="2940" spc="-10" dirty="0">
                <a:solidFill>
                  <a:srgbClr val="FF0000"/>
                </a:solidFill>
                <a:latin typeface="Comic Sans MS" panose="030F0702030302020204" pitchFamily="66" charset="0"/>
                <a:cs typeface="Calibri" panose="020F0502020204030204"/>
              </a:rPr>
              <a:t>local variables </a:t>
            </a:r>
            <a:r>
              <a:rPr sz="2940" spc="-10" dirty="0">
                <a:latin typeface="Comic Sans MS" panose="030F0702030302020204" pitchFamily="66" charset="0"/>
                <a:cs typeface="Calibri" panose="020F0502020204030204"/>
              </a:rPr>
              <a:t>usually </a:t>
            </a:r>
            <a:r>
              <a:rPr sz="2940" spc="-15" dirty="0">
                <a:latin typeface="Comic Sans MS" panose="030F0702030302020204" pitchFamily="66" charset="0"/>
                <a:cs typeface="Calibri" panose="020F0502020204030204"/>
              </a:rPr>
              <a:t>are </a:t>
            </a:r>
            <a:r>
              <a:rPr sz="2940" spc="-15" dirty="0">
                <a:solidFill>
                  <a:srgbClr val="FF0000"/>
                </a:solidFill>
                <a:latin typeface="Comic Sans MS" panose="030F0702030302020204" pitchFamily="66" charset="0"/>
                <a:cs typeface="Calibri" panose="020F0502020204030204"/>
              </a:rPr>
              <a:t> </a:t>
            </a:r>
            <a:r>
              <a:rPr sz="2940" spc="-20" dirty="0">
                <a:solidFill>
                  <a:srgbClr val="FF0000"/>
                </a:solidFill>
                <a:latin typeface="Comic Sans MS" panose="030F0702030302020204" pitchFamily="66" charset="0"/>
                <a:cs typeface="Calibri" panose="020F0502020204030204"/>
              </a:rPr>
              <a:t>private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the </a:t>
            </a:r>
            <a:r>
              <a:rPr sz="2940" spc="-10" dirty="0">
                <a:latin typeface="Comic Sans MS" panose="030F0702030302020204" pitchFamily="66" charset="0"/>
                <a:cs typeface="Calibri" panose="020F0502020204030204"/>
              </a:rPr>
              <a:t>thread running </a:t>
            </a:r>
            <a:r>
              <a:rPr sz="2940" spc="-5" dirty="0">
                <a:latin typeface="Comic Sans MS" panose="030F0702030302020204" pitchFamily="66" charset="0"/>
                <a:cs typeface="Calibri" panose="020F0502020204030204"/>
              </a:rPr>
              <a:t>the</a:t>
            </a:r>
            <a:r>
              <a:rPr sz="2940" spc="114"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function.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108</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(2)</a:t>
            </a:r>
          </a:p>
        </p:txBody>
      </p:sp>
      <p:sp>
        <p:nvSpPr>
          <p:cNvPr id="3" name="object 3"/>
          <p:cNvSpPr txBox="1"/>
          <p:nvPr/>
        </p:nvSpPr>
        <p:spPr>
          <a:xfrm>
            <a:off x="2343119" y="1883168"/>
            <a:ext cx="7933658" cy="1685290"/>
          </a:xfrm>
          <a:prstGeom prst="rect">
            <a:avLst/>
          </a:prstGeom>
        </p:spPr>
        <p:txBody>
          <a:bodyPr vert="horz" wrap="square" lIns="0" tIns="57340" rIns="0" bIns="0" rtlCol="0">
            <a:spAutoFit/>
          </a:bodyPr>
          <a:lstStyle/>
          <a:p>
            <a:pPr marL="241300" marR="5080" indent="-228600">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When </a:t>
            </a:r>
            <a:r>
              <a:rPr sz="2940" spc="-10" dirty="0">
                <a:latin typeface="Comic Sans MS" panose="030F0702030302020204" pitchFamily="66" charset="0"/>
                <a:cs typeface="Calibri" panose="020F0502020204030204"/>
              </a:rPr>
              <a:t>indeterminacy results </a:t>
            </a:r>
            <a:r>
              <a:rPr sz="2940" spc="-20" dirty="0">
                <a:latin typeface="Comic Sans MS" panose="030F0702030302020204" pitchFamily="66" charset="0"/>
                <a:cs typeface="Calibri" panose="020F0502020204030204"/>
              </a:rPr>
              <a:t>from </a:t>
            </a:r>
            <a:r>
              <a:rPr sz="2940" spc="-10" dirty="0">
                <a:latin typeface="Comic Sans MS" panose="030F0702030302020204" pitchFamily="66" charset="0"/>
                <a:cs typeface="Calibri" panose="020F0502020204030204"/>
              </a:rPr>
              <a:t>multiple threads  </a:t>
            </a:r>
            <a:r>
              <a:rPr sz="2940" spc="-15" dirty="0">
                <a:latin typeface="Comic Sans MS" panose="030F0702030302020204" pitchFamily="66" charset="0"/>
                <a:cs typeface="Calibri" panose="020F0502020204030204"/>
              </a:rPr>
              <a:t>attempting </a:t>
            </a:r>
            <a:r>
              <a:rPr sz="2940" spc="-20" dirty="0">
                <a:latin typeface="Comic Sans MS" panose="030F0702030302020204" pitchFamily="66" charset="0"/>
                <a:cs typeface="Calibri" panose="020F0502020204030204"/>
              </a:rPr>
              <a:t>to </a:t>
            </a:r>
            <a:r>
              <a:rPr sz="2940" dirty="0">
                <a:latin typeface="Comic Sans MS" panose="030F0702030302020204" pitchFamily="66" charset="0"/>
                <a:cs typeface="Calibri" panose="020F0502020204030204"/>
              </a:rPr>
              <a:t>access </a:t>
            </a:r>
            <a:r>
              <a:rPr sz="2940" spc="-5" dirty="0">
                <a:latin typeface="Comic Sans MS" panose="030F0702030302020204" pitchFamily="66" charset="0"/>
                <a:cs typeface="Calibri" panose="020F0502020204030204"/>
              </a:rPr>
              <a:t>a </a:t>
            </a:r>
            <a:r>
              <a:rPr sz="2940" spc="-15" dirty="0">
                <a:solidFill>
                  <a:srgbClr val="FF0000"/>
                </a:solidFill>
                <a:latin typeface="Comic Sans MS" panose="030F0702030302020204" pitchFamily="66" charset="0"/>
                <a:cs typeface="Calibri" panose="020F0502020204030204"/>
              </a:rPr>
              <a:t>shared resource</a:t>
            </a:r>
            <a:r>
              <a:rPr sz="2940" spc="-1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the  accesses </a:t>
            </a:r>
            <a:r>
              <a:rPr sz="2940" spc="-10" dirty="0">
                <a:latin typeface="Comic Sans MS" panose="030F0702030302020204" pitchFamily="66" charset="0"/>
                <a:cs typeface="Calibri" panose="020F0502020204030204"/>
              </a:rPr>
              <a:t>can result </a:t>
            </a:r>
            <a:r>
              <a:rPr sz="2940" spc="-5" dirty="0">
                <a:latin typeface="Comic Sans MS" panose="030F0702030302020204" pitchFamily="66" charset="0"/>
                <a:cs typeface="Calibri" panose="020F0502020204030204"/>
              </a:rPr>
              <a:t>in an </a:t>
            </a:r>
            <a:r>
              <a:rPr sz="2940" spc="-55" dirty="0">
                <a:latin typeface="Comic Sans MS" panose="030F0702030302020204" pitchFamily="66" charset="0"/>
                <a:cs typeface="Calibri" panose="020F0502020204030204"/>
              </a:rPr>
              <a:t>error, </a:t>
            </a:r>
            <a:r>
              <a:rPr sz="2940" spc="-5" dirty="0">
                <a:latin typeface="Comic Sans MS" panose="030F0702030302020204" pitchFamily="66" charset="0"/>
                <a:cs typeface="Calibri" panose="020F0502020204030204"/>
              </a:rPr>
              <a:t>and </a:t>
            </a:r>
            <a:r>
              <a:rPr sz="2940" spc="-15" dirty="0">
                <a:latin typeface="Comic Sans MS" panose="030F0702030302020204" pitchFamily="66" charset="0"/>
                <a:cs typeface="Calibri" panose="020F0502020204030204"/>
              </a:rPr>
              <a:t>we </a:t>
            </a:r>
            <a:r>
              <a:rPr sz="2940" spc="-25" dirty="0">
                <a:latin typeface="Comic Sans MS" panose="030F0702030302020204" pitchFamily="66" charset="0"/>
                <a:cs typeface="Calibri" panose="020F0502020204030204"/>
              </a:rPr>
              <a:t>have </a:t>
            </a:r>
            <a:r>
              <a:rPr sz="2940" spc="-5" dirty="0">
                <a:latin typeface="Comic Sans MS" panose="030F0702030302020204" pitchFamily="66" charset="0"/>
                <a:cs typeface="Calibri" panose="020F0502020204030204"/>
              </a:rPr>
              <a:t>a </a:t>
            </a:r>
            <a:r>
              <a:rPr sz="2940" spc="-20" dirty="0">
                <a:solidFill>
                  <a:srgbClr val="FF0000"/>
                </a:solidFill>
                <a:latin typeface="Comic Sans MS" panose="030F0702030302020204" pitchFamily="66" charset="0"/>
                <a:cs typeface="Calibri" panose="020F0502020204030204"/>
              </a:rPr>
              <a:t>race  </a:t>
            </a:r>
            <a:r>
              <a:rPr sz="2940" spc="-10" dirty="0">
                <a:solidFill>
                  <a:srgbClr val="FF0000"/>
                </a:solidFill>
                <a:latin typeface="Comic Sans MS" panose="030F0702030302020204" pitchFamily="66" charset="0"/>
                <a:cs typeface="Calibri" panose="020F0502020204030204"/>
              </a:rPr>
              <a:t>condition</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109</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(3)</a:t>
            </a:r>
          </a:p>
        </p:txBody>
      </p:sp>
      <p:sp>
        <p:nvSpPr>
          <p:cNvPr id="3" name="object 3"/>
          <p:cNvSpPr txBox="1"/>
          <p:nvPr/>
        </p:nvSpPr>
        <p:spPr>
          <a:xfrm>
            <a:off x="2343119" y="1883168"/>
            <a:ext cx="8083677" cy="3103734"/>
          </a:xfrm>
          <a:prstGeom prst="rect">
            <a:avLst/>
          </a:prstGeom>
        </p:spPr>
        <p:txBody>
          <a:bodyPr vert="horz" wrap="square" lIns="0" tIns="57340" rIns="0" bIns="0" rtlCol="0">
            <a:spAutoFit/>
          </a:bodyPr>
          <a:lstStyle/>
          <a:p>
            <a:pPr marL="241300" marR="362585" indent="-228600" algn="just">
              <a:lnSpc>
                <a:spcPct val="90000"/>
              </a:lnSpc>
              <a:spcBef>
                <a:spcPts val="43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0000FF"/>
                </a:solidFill>
                <a:latin typeface="Comic Sans MS" panose="030F0702030302020204" pitchFamily="66" charset="0"/>
                <a:cs typeface="Calibri" panose="020F0502020204030204"/>
              </a:rPr>
              <a:t>critical section </a:t>
            </a:r>
            <a:r>
              <a:rPr sz="2940" spc="-5" dirty="0">
                <a:latin typeface="Comic Sans MS" panose="030F0702030302020204" pitchFamily="66" charset="0"/>
                <a:cs typeface="Calibri" panose="020F0502020204030204"/>
              </a:rPr>
              <a:t>is a </a:t>
            </a:r>
            <a:r>
              <a:rPr sz="2940" spc="-10" dirty="0">
                <a:solidFill>
                  <a:srgbClr val="FF0000"/>
                </a:solidFill>
                <a:latin typeface="Comic Sans MS" panose="030F0702030302020204" pitchFamily="66" charset="0"/>
                <a:cs typeface="Calibri" panose="020F0502020204030204"/>
              </a:rPr>
              <a:t>block </a:t>
            </a:r>
            <a:r>
              <a:rPr sz="2940" spc="-5" dirty="0">
                <a:solidFill>
                  <a:srgbClr val="FF0000"/>
                </a:solidFill>
                <a:latin typeface="Comic Sans MS" panose="030F0702030302020204" pitchFamily="66" charset="0"/>
                <a:cs typeface="Calibri" panose="020F0502020204030204"/>
              </a:rPr>
              <a:t>of </a:t>
            </a:r>
            <a:r>
              <a:rPr sz="2940" spc="-10" dirty="0">
                <a:solidFill>
                  <a:srgbClr val="FF0000"/>
                </a:solidFill>
                <a:latin typeface="Comic Sans MS" panose="030F0702030302020204" pitchFamily="66" charset="0"/>
                <a:cs typeface="Calibri" panose="020F0502020204030204"/>
              </a:rPr>
              <a:t>code </a:t>
            </a:r>
            <a:r>
              <a:rPr sz="2940" spc="-10" dirty="0">
                <a:latin typeface="Comic Sans MS" panose="030F0702030302020204" pitchFamily="66" charset="0"/>
                <a:cs typeface="Calibri" panose="020F0502020204030204"/>
              </a:rPr>
              <a:t>that </a:t>
            </a:r>
            <a:r>
              <a:rPr sz="2940" spc="-15" dirty="0">
                <a:latin typeface="Comic Sans MS" panose="030F0702030302020204" pitchFamily="66" charset="0"/>
                <a:cs typeface="Calibri" panose="020F0502020204030204"/>
              </a:rPr>
              <a:t>updates </a:t>
            </a:r>
            <a:r>
              <a:rPr sz="2940" spc="-5" dirty="0">
                <a:latin typeface="Comic Sans MS" panose="030F0702030302020204" pitchFamily="66" charset="0"/>
                <a:cs typeface="Calibri" panose="020F0502020204030204"/>
              </a:rPr>
              <a:t>a  </a:t>
            </a:r>
            <a:r>
              <a:rPr sz="2940" spc="-15" dirty="0">
                <a:latin typeface="Comic Sans MS" panose="030F0702030302020204" pitchFamily="66" charset="0"/>
                <a:cs typeface="Calibri" panose="020F0502020204030204"/>
              </a:rPr>
              <a:t>shared resource </a:t>
            </a:r>
            <a:r>
              <a:rPr sz="2940" spc="-10" dirty="0">
                <a:latin typeface="Comic Sans MS" panose="030F0702030302020204" pitchFamily="66" charset="0"/>
                <a:cs typeface="Calibri" panose="020F0502020204030204"/>
              </a:rPr>
              <a:t>that can </a:t>
            </a:r>
            <a:r>
              <a:rPr sz="2940" spc="-10" dirty="0">
                <a:solidFill>
                  <a:srgbClr val="FF0000"/>
                </a:solidFill>
                <a:latin typeface="Comic Sans MS" panose="030F0702030302020204" pitchFamily="66" charset="0"/>
                <a:cs typeface="Calibri" panose="020F0502020204030204"/>
              </a:rPr>
              <a:t>only </a:t>
            </a:r>
            <a:r>
              <a:rPr sz="2940" spc="-5" dirty="0">
                <a:latin typeface="Comic Sans MS" panose="030F0702030302020204" pitchFamily="66" charset="0"/>
                <a:cs typeface="Calibri" panose="020F0502020204030204"/>
              </a:rPr>
              <a:t>be </a:t>
            </a:r>
            <a:r>
              <a:rPr sz="2940" spc="-15" dirty="0">
                <a:solidFill>
                  <a:srgbClr val="FF0000"/>
                </a:solidFill>
                <a:latin typeface="Comic Sans MS" panose="030F0702030302020204" pitchFamily="66" charset="0"/>
                <a:cs typeface="Calibri" panose="020F0502020204030204"/>
              </a:rPr>
              <a:t>updated </a:t>
            </a:r>
            <a:r>
              <a:rPr sz="2940" spc="-15" dirty="0">
                <a:latin typeface="Comic Sans MS" panose="030F0702030302020204" pitchFamily="66" charset="0"/>
                <a:cs typeface="Calibri" panose="020F0502020204030204"/>
              </a:rPr>
              <a:t>by </a:t>
            </a:r>
            <a:r>
              <a:rPr sz="2940" spc="-5" dirty="0">
                <a:latin typeface="Comic Sans MS" panose="030F0702030302020204" pitchFamily="66" charset="0"/>
                <a:cs typeface="Calibri" panose="020F0502020204030204"/>
              </a:rPr>
              <a:t>one  </a:t>
            </a:r>
            <a:r>
              <a:rPr sz="2940" spc="-10" dirty="0">
                <a:latin typeface="Comic Sans MS" panose="030F0702030302020204" pitchFamily="66" charset="0"/>
                <a:cs typeface="Calibri" panose="020F0502020204030204"/>
              </a:rPr>
              <a:t>thread </a:t>
            </a:r>
            <a:r>
              <a:rPr sz="2940" spc="-15" dirty="0">
                <a:latin typeface="Comic Sans MS" panose="030F0702030302020204" pitchFamily="66" charset="0"/>
                <a:cs typeface="Calibri" panose="020F0502020204030204"/>
              </a:rPr>
              <a:t>at </a:t>
            </a:r>
            <a:r>
              <a:rPr sz="2940" spc="-5" dirty="0">
                <a:latin typeface="Comic Sans MS" panose="030F0702030302020204" pitchFamily="66" charset="0"/>
                <a:cs typeface="Calibri" panose="020F0502020204030204"/>
              </a:rPr>
              <a:t>a</a:t>
            </a:r>
            <a:r>
              <a:rPr sz="2940" spc="2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time.</a:t>
            </a:r>
            <a:endParaRPr sz="2940" dirty="0">
              <a:latin typeface="Comic Sans MS" panose="030F0702030302020204" pitchFamily="66" charset="0"/>
              <a:cs typeface="Calibri" panose="020F0502020204030204"/>
            </a:endParaRPr>
          </a:p>
          <a:p>
            <a:pPr>
              <a:lnSpc>
                <a:spcPct val="100000"/>
              </a:lnSpc>
              <a:buFont typeface="Arial" panose="020B0604020202020204"/>
              <a:buChar char="•"/>
            </a:pPr>
            <a:endParaRPr sz="4355" dirty="0">
              <a:latin typeface="Comic Sans MS" panose="030F0702030302020204" pitchFamily="66" charset="0"/>
              <a:cs typeface="Calibri" panose="020F0502020204030204"/>
            </a:endParaRPr>
          </a:p>
          <a:p>
            <a:pPr marL="241300" marR="5080" indent="-228600">
              <a:lnSpc>
                <a:spcPts val="3030"/>
              </a:lnSpc>
              <a:spcBef>
                <a:spcPts val="5"/>
              </a:spcBef>
              <a:buFont typeface="Arial" panose="020B0604020202020204"/>
              <a:buChar char="•"/>
              <a:tabLst>
                <a:tab pos="241300" algn="l"/>
              </a:tabLst>
            </a:pPr>
            <a:r>
              <a:rPr sz="2940" spc="-5" dirty="0">
                <a:latin typeface="Comic Sans MS" panose="030F0702030302020204" pitchFamily="66" charset="0"/>
                <a:cs typeface="Calibri" panose="020F0502020204030204"/>
              </a:rPr>
              <a:t>So the </a:t>
            </a:r>
            <a:r>
              <a:rPr sz="2940" spc="-20" dirty="0">
                <a:latin typeface="Comic Sans MS" panose="030F0702030302020204" pitchFamily="66" charset="0"/>
                <a:cs typeface="Calibri" panose="020F0502020204030204"/>
              </a:rPr>
              <a:t>execution </a:t>
            </a:r>
            <a:r>
              <a:rPr sz="2940" spc="-5" dirty="0">
                <a:latin typeface="Comic Sans MS" panose="030F0702030302020204" pitchFamily="66" charset="0"/>
                <a:cs typeface="Calibri" panose="020F0502020204030204"/>
              </a:rPr>
              <a:t>of </a:t>
            </a:r>
            <a:r>
              <a:rPr sz="2940" spc="-10" dirty="0">
                <a:latin typeface="Comic Sans MS" panose="030F0702030302020204" pitchFamily="66" charset="0"/>
                <a:cs typeface="Calibri" panose="020F0502020204030204"/>
              </a:rPr>
              <a:t>code in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critical section should,  </a:t>
            </a:r>
            <a:r>
              <a:rPr sz="2940" spc="-35" dirty="0">
                <a:latin typeface="Comic Sans MS" panose="030F0702030302020204" pitchFamily="66" charset="0"/>
                <a:cs typeface="Calibri" panose="020F0502020204030204"/>
              </a:rPr>
              <a:t>effectively, </a:t>
            </a:r>
            <a:r>
              <a:rPr sz="2940" spc="-5" dirty="0">
                <a:latin typeface="Comic Sans MS" panose="030F0702030302020204" pitchFamily="66" charset="0"/>
                <a:cs typeface="Calibri" panose="020F0502020204030204"/>
              </a:rPr>
              <a:t>be </a:t>
            </a:r>
            <a:r>
              <a:rPr sz="2940" spc="-25" dirty="0">
                <a:latin typeface="Comic Sans MS" panose="030F0702030302020204" pitchFamily="66" charset="0"/>
                <a:cs typeface="Calibri" panose="020F0502020204030204"/>
              </a:rPr>
              <a:t>executed </a:t>
            </a:r>
            <a:r>
              <a:rPr sz="2940" spc="-5" dirty="0">
                <a:latin typeface="Comic Sans MS" panose="030F0702030302020204" pitchFamily="66" charset="0"/>
                <a:cs typeface="Calibri" panose="020F0502020204030204"/>
              </a:rPr>
              <a:t>as </a:t>
            </a:r>
            <a:r>
              <a:rPr sz="2940" spc="-10" dirty="0">
                <a:solidFill>
                  <a:srgbClr val="FF0000"/>
                </a:solidFill>
                <a:latin typeface="Comic Sans MS" panose="030F0702030302020204" pitchFamily="66" charset="0"/>
                <a:cs typeface="Calibri" panose="020F0502020204030204"/>
              </a:rPr>
              <a:t>serial</a:t>
            </a:r>
            <a:r>
              <a:rPr sz="2940" spc="85"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code</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110</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(4)</a:t>
            </a:r>
          </a:p>
        </p:txBody>
      </p:sp>
      <p:sp>
        <p:nvSpPr>
          <p:cNvPr id="3" name="object 3"/>
          <p:cNvSpPr txBox="1"/>
          <p:nvPr/>
        </p:nvSpPr>
        <p:spPr>
          <a:xfrm>
            <a:off x="2343119" y="1883168"/>
            <a:ext cx="8103680" cy="4205446"/>
          </a:xfrm>
          <a:prstGeom prst="rect">
            <a:avLst/>
          </a:prstGeom>
        </p:spPr>
        <p:txBody>
          <a:bodyPr vert="horz" wrap="square" lIns="0" tIns="57340" rIns="0" bIns="0" rtlCol="0">
            <a:spAutoFit/>
          </a:bodyPr>
          <a:lstStyle/>
          <a:p>
            <a:pPr marL="241300" marR="5080" indent="-228600">
              <a:lnSpc>
                <a:spcPct val="90000"/>
              </a:lnSpc>
              <a:spcBef>
                <a:spcPts val="430"/>
              </a:spcBef>
              <a:buFont typeface="Arial" panose="020B0604020202020204"/>
              <a:buChar char="•"/>
              <a:tabLst>
                <a:tab pos="241300" algn="l"/>
              </a:tabLst>
            </a:pPr>
            <a:r>
              <a:rPr sz="2940" spc="-15" dirty="0">
                <a:solidFill>
                  <a:srgbClr val="FF0000"/>
                </a:solidFill>
                <a:latin typeface="Comic Sans MS" panose="030F0702030302020204" pitchFamily="66" charset="0"/>
                <a:cs typeface="Calibri" panose="020F0502020204030204"/>
              </a:rPr>
              <a:t>Busy-waiting </a:t>
            </a:r>
            <a:r>
              <a:rPr sz="2940" spc="-10" dirty="0">
                <a:latin typeface="Comic Sans MS" panose="030F0702030302020204" pitchFamily="66" charset="0"/>
                <a:cs typeface="Calibri" panose="020F0502020204030204"/>
              </a:rPr>
              <a:t>can </a:t>
            </a:r>
            <a:r>
              <a:rPr sz="2940" spc="-5" dirty="0">
                <a:latin typeface="Comic Sans MS" panose="030F0702030302020204" pitchFamily="66" charset="0"/>
                <a:cs typeface="Calibri" panose="020F0502020204030204"/>
              </a:rPr>
              <a:t>be </a:t>
            </a:r>
            <a:r>
              <a:rPr sz="2940" spc="-10" dirty="0">
                <a:latin typeface="Comic Sans MS" panose="030F0702030302020204" pitchFamily="66" charset="0"/>
                <a:cs typeface="Calibri" panose="020F0502020204030204"/>
              </a:rPr>
              <a:t>used </a:t>
            </a:r>
            <a:r>
              <a:rPr sz="2940" spc="-20" dirty="0">
                <a:latin typeface="Comic Sans MS" panose="030F0702030302020204" pitchFamily="66" charset="0"/>
                <a:cs typeface="Calibri" panose="020F0502020204030204"/>
              </a:rPr>
              <a:t>to avoid </a:t>
            </a:r>
            <a:r>
              <a:rPr sz="2940" spc="-10" dirty="0">
                <a:latin typeface="Comic Sans MS" panose="030F0702030302020204" pitchFamily="66" charset="0"/>
                <a:cs typeface="Calibri" panose="020F0502020204030204"/>
              </a:rPr>
              <a:t>conflicting </a:t>
            </a:r>
            <a:r>
              <a:rPr sz="2940" spc="-5"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critical sections </a:t>
            </a:r>
            <a:r>
              <a:rPr sz="2940" spc="-5" dirty="0">
                <a:latin typeface="Comic Sans MS" panose="030F0702030302020204" pitchFamily="66" charset="0"/>
                <a:cs typeface="Calibri" panose="020F0502020204030204"/>
              </a:rPr>
              <a:t>with a </a:t>
            </a:r>
            <a:r>
              <a:rPr sz="2940" spc="-5" dirty="0">
                <a:solidFill>
                  <a:srgbClr val="C00000"/>
                </a:solidFill>
                <a:latin typeface="Comic Sans MS" panose="030F0702030302020204" pitchFamily="66" charset="0"/>
                <a:cs typeface="Calibri" panose="020F0502020204030204"/>
              </a:rPr>
              <a:t>flag </a:t>
            </a:r>
            <a:r>
              <a:rPr sz="2940" spc="-10" dirty="0">
                <a:solidFill>
                  <a:srgbClr val="C00000"/>
                </a:solidFill>
                <a:latin typeface="Comic Sans MS" panose="030F0702030302020204" pitchFamily="66" charset="0"/>
                <a:cs typeface="Calibri" panose="020F0502020204030204"/>
              </a:rPr>
              <a:t>variable </a:t>
            </a:r>
            <a:r>
              <a:rPr sz="2940" spc="-5" dirty="0">
                <a:latin typeface="Comic Sans MS" panose="030F0702030302020204" pitchFamily="66" charset="0"/>
                <a:cs typeface="Calibri" panose="020F0502020204030204"/>
              </a:rPr>
              <a:t>and a </a:t>
            </a:r>
            <a:r>
              <a:rPr sz="2940" spc="-5" dirty="0">
                <a:solidFill>
                  <a:srgbClr val="C00000"/>
                </a:solidFill>
                <a:latin typeface="Comic Sans MS" panose="030F0702030302020204" pitchFamily="66" charset="0"/>
                <a:cs typeface="Calibri" panose="020F0502020204030204"/>
              </a:rPr>
              <a:t>while-  loop </a:t>
            </a:r>
            <a:r>
              <a:rPr sz="2940" spc="-5" dirty="0">
                <a:latin typeface="Comic Sans MS" panose="030F0702030302020204" pitchFamily="66" charset="0"/>
                <a:cs typeface="Calibri" panose="020F0502020204030204"/>
              </a:rPr>
              <a:t>with an empty</a:t>
            </a:r>
            <a:r>
              <a:rPr sz="2940" spc="30" dirty="0">
                <a:latin typeface="Comic Sans MS" panose="030F0702030302020204" pitchFamily="66" charset="0"/>
                <a:cs typeface="Calibri" panose="020F0502020204030204"/>
              </a:rPr>
              <a:t> </a:t>
            </a:r>
            <a:r>
              <a:rPr sz="2940" spc="-45" dirty="0">
                <a:latin typeface="Comic Sans MS" panose="030F0702030302020204" pitchFamily="66" charset="0"/>
                <a:cs typeface="Calibri" panose="020F0502020204030204"/>
              </a:rPr>
              <a:t>body.</a:t>
            </a:r>
            <a:endParaRPr sz="2940" dirty="0">
              <a:latin typeface="Comic Sans MS" panose="030F0702030302020204" pitchFamily="66" charset="0"/>
              <a:cs typeface="Calibri" panose="020F0502020204030204"/>
            </a:endParaRPr>
          </a:p>
          <a:p>
            <a:pPr>
              <a:lnSpc>
                <a:spcPct val="100000"/>
              </a:lnSpc>
              <a:spcBef>
                <a:spcPts val="55"/>
              </a:spcBef>
              <a:buChar char="•"/>
            </a:pPr>
            <a:endParaRPr sz="3990"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sz="2940" spc="-5" dirty="0">
                <a:latin typeface="Comic Sans MS" panose="030F0702030302020204" pitchFamily="66" charset="0"/>
                <a:cs typeface="Calibri" panose="020F0502020204030204"/>
              </a:rPr>
              <a:t>It </a:t>
            </a:r>
            <a:r>
              <a:rPr sz="2940" spc="-10" dirty="0">
                <a:latin typeface="Comic Sans MS" panose="030F0702030302020204" pitchFamily="66" charset="0"/>
                <a:cs typeface="Calibri" panose="020F0502020204030204"/>
              </a:rPr>
              <a:t>can </a:t>
            </a:r>
            <a:r>
              <a:rPr sz="2940" spc="-5" dirty="0">
                <a:latin typeface="Comic Sans MS" panose="030F0702030302020204" pitchFamily="66" charset="0"/>
                <a:cs typeface="Calibri" panose="020F0502020204030204"/>
              </a:rPr>
              <a:t>be </a:t>
            </a:r>
            <a:r>
              <a:rPr sz="2940" spc="-10" dirty="0">
                <a:latin typeface="Comic Sans MS" panose="030F0702030302020204" pitchFamily="66" charset="0"/>
                <a:cs typeface="Calibri" panose="020F0502020204030204"/>
              </a:rPr>
              <a:t>very </a:t>
            </a:r>
            <a:r>
              <a:rPr sz="2940" spc="-20" dirty="0">
                <a:solidFill>
                  <a:srgbClr val="FF0000"/>
                </a:solidFill>
                <a:latin typeface="Comic Sans MS" panose="030F0702030302020204" pitchFamily="66" charset="0"/>
                <a:cs typeface="Calibri" panose="020F0502020204030204"/>
              </a:rPr>
              <a:t>wasteful </a:t>
            </a:r>
            <a:r>
              <a:rPr sz="2940" spc="-5" dirty="0">
                <a:latin typeface="Comic Sans MS" panose="030F0702030302020204" pitchFamily="66" charset="0"/>
                <a:cs typeface="Calibri" panose="020F0502020204030204"/>
              </a:rPr>
              <a:t>of CPU</a:t>
            </a:r>
            <a:r>
              <a:rPr sz="2940" spc="5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cycles.</a:t>
            </a:r>
            <a:endParaRPr sz="2940" dirty="0">
              <a:latin typeface="Comic Sans MS" panose="030F0702030302020204" pitchFamily="66" charset="0"/>
              <a:cs typeface="Calibri" panose="020F0502020204030204"/>
            </a:endParaRPr>
          </a:p>
          <a:p>
            <a:pPr>
              <a:lnSpc>
                <a:spcPct val="100000"/>
              </a:lnSpc>
              <a:spcBef>
                <a:spcPts val="10"/>
              </a:spcBef>
              <a:buChar char="•"/>
            </a:pPr>
            <a:endParaRPr sz="4355" dirty="0">
              <a:latin typeface="Comic Sans MS" panose="030F0702030302020204" pitchFamily="66" charset="0"/>
              <a:cs typeface="Calibri" panose="020F0502020204030204"/>
            </a:endParaRPr>
          </a:p>
          <a:p>
            <a:pPr marL="241300" marR="226060" indent="-228600">
              <a:lnSpc>
                <a:spcPts val="3020"/>
              </a:lnSpc>
              <a:buFont typeface="Arial" panose="020B0604020202020204"/>
              <a:buChar char="•"/>
              <a:tabLst>
                <a:tab pos="241300" algn="l"/>
              </a:tabLst>
            </a:pPr>
            <a:r>
              <a:rPr sz="2940" spc="-5" dirty="0">
                <a:latin typeface="Comic Sans MS" panose="030F0702030302020204" pitchFamily="66" charset="0"/>
                <a:cs typeface="Calibri" panose="020F0502020204030204"/>
              </a:rPr>
              <a:t>It </a:t>
            </a:r>
            <a:r>
              <a:rPr sz="2940" spc="-10" dirty="0">
                <a:latin typeface="Comic Sans MS" panose="030F0702030302020204" pitchFamily="66" charset="0"/>
                <a:cs typeface="Calibri" panose="020F0502020204030204"/>
              </a:rPr>
              <a:t>can </a:t>
            </a:r>
            <a:r>
              <a:rPr sz="2940" spc="-5" dirty="0">
                <a:latin typeface="Comic Sans MS" panose="030F0702030302020204" pitchFamily="66" charset="0"/>
                <a:cs typeface="Calibri" panose="020F0502020204030204"/>
              </a:rPr>
              <a:t>also be </a:t>
            </a:r>
            <a:r>
              <a:rPr sz="2940" spc="-10" dirty="0">
                <a:solidFill>
                  <a:srgbClr val="FF0000"/>
                </a:solidFill>
                <a:latin typeface="Comic Sans MS" panose="030F0702030302020204" pitchFamily="66" charset="0"/>
                <a:cs typeface="Calibri" panose="020F0502020204030204"/>
              </a:rPr>
              <a:t>unreliable </a:t>
            </a:r>
            <a:r>
              <a:rPr sz="2940" spc="-5" dirty="0">
                <a:latin typeface="Comic Sans MS" panose="030F0702030302020204" pitchFamily="66" charset="0"/>
                <a:cs typeface="Calibri" panose="020F0502020204030204"/>
              </a:rPr>
              <a:t>if </a:t>
            </a:r>
            <a:r>
              <a:rPr sz="2940" spc="-10" dirty="0">
                <a:solidFill>
                  <a:srgbClr val="FF0000"/>
                </a:solidFill>
                <a:latin typeface="Comic Sans MS" panose="030F0702030302020204" pitchFamily="66" charset="0"/>
                <a:cs typeface="Calibri" panose="020F0502020204030204"/>
              </a:rPr>
              <a:t>compiler </a:t>
            </a:r>
            <a:r>
              <a:rPr sz="2940" spc="-15" dirty="0">
                <a:solidFill>
                  <a:srgbClr val="FF0000"/>
                </a:solidFill>
                <a:latin typeface="Comic Sans MS" panose="030F0702030302020204" pitchFamily="66" charset="0"/>
                <a:cs typeface="Calibri" panose="020F0502020204030204"/>
              </a:rPr>
              <a:t>optimization </a:t>
            </a:r>
            <a:r>
              <a:rPr sz="2940" spc="-5" dirty="0">
                <a:latin typeface="Comic Sans MS" panose="030F0702030302020204" pitchFamily="66" charset="0"/>
                <a:cs typeface="Calibri" panose="020F0502020204030204"/>
              </a:rPr>
              <a:t>is  turned</a:t>
            </a:r>
            <a:r>
              <a:rPr sz="2940" spc="2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111</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(5)</a:t>
            </a:r>
          </a:p>
        </p:txBody>
      </p:sp>
      <p:sp>
        <p:nvSpPr>
          <p:cNvPr id="3" name="object 3"/>
          <p:cNvSpPr txBox="1"/>
          <p:nvPr/>
        </p:nvSpPr>
        <p:spPr>
          <a:xfrm>
            <a:off x="2343119" y="1883168"/>
            <a:ext cx="7893653" cy="2669540"/>
          </a:xfrm>
          <a:prstGeom prst="rect">
            <a:avLst/>
          </a:prstGeom>
        </p:spPr>
        <p:txBody>
          <a:bodyPr vert="horz" wrap="square" lIns="0" tIns="64007" rIns="0" bIns="0" rtlCol="0">
            <a:spAutoFit/>
          </a:bodyPr>
          <a:lstStyle/>
          <a:p>
            <a:pPr marL="241300" marR="59055"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20" dirty="0">
                <a:solidFill>
                  <a:srgbClr val="FF0000"/>
                </a:solidFill>
                <a:latin typeface="Comic Sans MS" panose="030F0702030302020204" pitchFamily="66" charset="0"/>
                <a:cs typeface="Calibri" panose="020F0502020204030204"/>
              </a:rPr>
              <a:t>mutex </a:t>
            </a:r>
            <a:r>
              <a:rPr sz="2940" spc="-10" dirty="0">
                <a:latin typeface="Comic Sans MS" panose="030F0702030302020204" pitchFamily="66" charset="0"/>
                <a:cs typeface="Calibri" panose="020F0502020204030204"/>
              </a:rPr>
              <a:t>can </a:t>
            </a:r>
            <a:r>
              <a:rPr sz="2940" spc="-5" dirty="0">
                <a:latin typeface="Comic Sans MS" panose="030F0702030302020204" pitchFamily="66" charset="0"/>
                <a:cs typeface="Calibri" panose="020F0502020204030204"/>
              </a:rPr>
              <a:t>be </a:t>
            </a:r>
            <a:r>
              <a:rPr sz="2940" spc="-10" dirty="0">
                <a:latin typeface="Comic Sans MS" panose="030F0702030302020204" pitchFamily="66" charset="0"/>
                <a:cs typeface="Calibri" panose="020F0502020204030204"/>
              </a:rPr>
              <a:t>used </a:t>
            </a:r>
            <a:r>
              <a:rPr sz="2940" spc="-20" dirty="0">
                <a:latin typeface="Comic Sans MS" panose="030F0702030302020204" pitchFamily="66" charset="0"/>
                <a:cs typeface="Calibri" panose="020F0502020204030204"/>
              </a:rPr>
              <a:t>to avoid </a:t>
            </a:r>
            <a:r>
              <a:rPr sz="2940" spc="-10" dirty="0">
                <a:latin typeface="Comic Sans MS" panose="030F0702030302020204" pitchFamily="66" charset="0"/>
                <a:cs typeface="Calibri" panose="020F0502020204030204"/>
              </a:rPr>
              <a:t>conflicting </a:t>
            </a:r>
            <a:r>
              <a:rPr sz="2940" spc="-5"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critical sections </a:t>
            </a:r>
            <a:r>
              <a:rPr sz="2940" spc="-5" dirty="0">
                <a:latin typeface="Comic Sans MS" panose="030F0702030302020204" pitchFamily="66" charset="0"/>
                <a:cs typeface="Calibri" panose="020F0502020204030204"/>
              </a:rPr>
              <a:t>as</a:t>
            </a:r>
            <a:r>
              <a:rPr sz="2940" spc="3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well.</a:t>
            </a:r>
            <a:endParaRPr sz="2940" dirty="0">
              <a:latin typeface="Comic Sans MS" panose="030F0702030302020204" pitchFamily="66" charset="0"/>
              <a:cs typeface="Calibri" panose="020F0502020204030204"/>
            </a:endParaRPr>
          </a:p>
          <a:p>
            <a:pPr>
              <a:lnSpc>
                <a:spcPct val="100000"/>
              </a:lnSpc>
              <a:spcBef>
                <a:spcPts val="25"/>
              </a:spcBef>
              <a:buFont typeface="Arial" panose="020B0604020202020204"/>
              <a:buChar char="•"/>
            </a:pPr>
            <a:endParaRPr sz="4305" dirty="0">
              <a:latin typeface="Comic Sans MS" panose="030F0702030302020204" pitchFamily="66" charset="0"/>
              <a:cs typeface="Calibri" panose="020F0502020204030204"/>
            </a:endParaRPr>
          </a:p>
          <a:p>
            <a:pPr marL="241300" marR="5080" indent="-228600">
              <a:lnSpc>
                <a:spcPts val="3030"/>
              </a:lnSpc>
              <a:buFont typeface="Arial" panose="020B0604020202020204"/>
              <a:buChar char="•"/>
              <a:tabLst>
                <a:tab pos="241300" algn="l"/>
              </a:tabLst>
            </a:pPr>
            <a:r>
              <a:rPr sz="2940" spc="-10" dirty="0">
                <a:latin typeface="Comic Sans MS" panose="030F0702030302020204" pitchFamily="66" charset="0"/>
                <a:cs typeface="Calibri" panose="020F0502020204030204"/>
              </a:rPr>
              <a:t>Think </a:t>
            </a:r>
            <a:r>
              <a:rPr sz="2940" spc="-5" dirty="0">
                <a:latin typeface="Comic Sans MS" panose="030F0702030302020204" pitchFamily="66" charset="0"/>
                <a:cs typeface="Calibri" panose="020F0502020204030204"/>
              </a:rPr>
              <a:t>of it as a </a:t>
            </a:r>
            <a:r>
              <a:rPr sz="2940" spc="-5" dirty="0">
                <a:solidFill>
                  <a:srgbClr val="FF0000"/>
                </a:solidFill>
                <a:latin typeface="Comic Sans MS" panose="030F0702030302020204" pitchFamily="66" charset="0"/>
                <a:cs typeface="Calibri" panose="020F0502020204030204"/>
              </a:rPr>
              <a:t>lock on a </a:t>
            </a:r>
            <a:r>
              <a:rPr sz="2940" spc="-10" dirty="0">
                <a:solidFill>
                  <a:srgbClr val="FF0000"/>
                </a:solidFill>
                <a:latin typeface="Comic Sans MS" panose="030F0702030302020204" pitchFamily="66" charset="0"/>
                <a:cs typeface="Calibri" panose="020F0502020204030204"/>
              </a:rPr>
              <a:t>critical </a:t>
            </a:r>
            <a:r>
              <a:rPr sz="2940" spc="-5" dirty="0">
                <a:solidFill>
                  <a:srgbClr val="FF0000"/>
                </a:solidFill>
                <a:latin typeface="Comic Sans MS" panose="030F0702030302020204" pitchFamily="66" charset="0"/>
                <a:cs typeface="Calibri" panose="020F0502020204030204"/>
              </a:rPr>
              <a:t>section</a:t>
            </a:r>
            <a:r>
              <a:rPr sz="2940" spc="-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since  </a:t>
            </a:r>
            <a:r>
              <a:rPr sz="2940" spc="-25" dirty="0">
                <a:latin typeface="Comic Sans MS" panose="030F0702030302020204" pitchFamily="66" charset="0"/>
                <a:cs typeface="Calibri" panose="020F0502020204030204"/>
              </a:rPr>
              <a:t>mutexes </a:t>
            </a:r>
            <a:r>
              <a:rPr sz="2940" spc="-15" dirty="0">
                <a:latin typeface="Comic Sans MS" panose="030F0702030302020204" pitchFamily="66" charset="0"/>
                <a:cs typeface="Calibri" panose="020F0502020204030204"/>
              </a:rPr>
              <a:t>arrange </a:t>
            </a:r>
            <a:r>
              <a:rPr sz="2940" spc="-25" dirty="0">
                <a:latin typeface="Comic Sans MS" panose="030F0702030302020204" pitchFamily="66" charset="0"/>
                <a:cs typeface="Calibri" panose="020F0502020204030204"/>
              </a:rPr>
              <a:t>for </a:t>
            </a:r>
            <a:r>
              <a:rPr sz="2940" spc="-5" dirty="0">
                <a:latin typeface="Comic Sans MS" panose="030F0702030302020204" pitchFamily="66" charset="0"/>
                <a:cs typeface="Calibri" panose="020F0502020204030204"/>
              </a:rPr>
              <a:t>mutually </a:t>
            </a:r>
            <a:r>
              <a:rPr sz="2940" spc="-20" dirty="0">
                <a:latin typeface="Comic Sans MS" panose="030F0702030302020204" pitchFamily="66" charset="0"/>
                <a:cs typeface="Calibri" panose="020F0502020204030204"/>
              </a:rPr>
              <a:t>exclusive </a:t>
            </a:r>
            <a:r>
              <a:rPr sz="2940"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a  </a:t>
            </a:r>
            <a:r>
              <a:rPr sz="2940" spc="-10" dirty="0">
                <a:latin typeface="Comic Sans MS" panose="030F0702030302020204" pitchFamily="66" charset="0"/>
                <a:cs typeface="Calibri" panose="020F0502020204030204"/>
              </a:rPr>
              <a:t>critical section.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112</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(6)</a:t>
            </a:r>
          </a:p>
        </p:txBody>
      </p:sp>
      <p:sp>
        <p:nvSpPr>
          <p:cNvPr id="3" name="object 3"/>
          <p:cNvSpPr txBox="1"/>
          <p:nvPr/>
        </p:nvSpPr>
        <p:spPr>
          <a:xfrm>
            <a:off x="2343119" y="1883168"/>
            <a:ext cx="8061008" cy="4082655"/>
          </a:xfrm>
          <a:prstGeom prst="rect">
            <a:avLst/>
          </a:prstGeom>
        </p:spPr>
        <p:txBody>
          <a:bodyPr vert="horz" wrap="square" lIns="0" tIns="64007" rIns="0" bIns="0" rtlCol="0">
            <a:spAutoFit/>
          </a:bodyPr>
          <a:lstStyle/>
          <a:p>
            <a:pPr marL="241300" marR="40259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5" dirty="0">
                <a:solidFill>
                  <a:srgbClr val="FF0000"/>
                </a:solidFill>
                <a:latin typeface="Comic Sans MS" panose="030F0702030302020204" pitchFamily="66" charset="0"/>
                <a:cs typeface="Calibri" panose="020F0502020204030204"/>
              </a:rPr>
              <a:t>semaphore </a:t>
            </a:r>
            <a:r>
              <a:rPr sz="2940" spc="-5" dirty="0">
                <a:latin typeface="Comic Sans MS" panose="030F0702030302020204" pitchFamily="66" charset="0"/>
                <a:cs typeface="Calibri" panose="020F0502020204030204"/>
              </a:rPr>
              <a:t>is the </a:t>
            </a:r>
            <a:r>
              <a:rPr sz="2940" spc="-15" dirty="0">
                <a:latin typeface="Comic Sans MS" panose="030F0702030302020204" pitchFamily="66" charset="0"/>
                <a:cs typeface="Calibri" panose="020F0502020204030204"/>
              </a:rPr>
              <a:t>third </a:t>
            </a:r>
            <a:r>
              <a:rPr sz="2940" spc="-30" dirty="0">
                <a:latin typeface="Comic Sans MS" panose="030F0702030302020204" pitchFamily="66" charset="0"/>
                <a:cs typeface="Calibri" panose="020F0502020204030204"/>
              </a:rPr>
              <a:t>way </a:t>
            </a:r>
            <a:r>
              <a:rPr sz="2940" spc="-20" dirty="0">
                <a:latin typeface="Comic Sans MS" panose="030F0702030302020204" pitchFamily="66" charset="0"/>
                <a:cs typeface="Calibri" panose="020F0502020204030204"/>
              </a:rPr>
              <a:t>to avoid </a:t>
            </a:r>
            <a:r>
              <a:rPr sz="2940" spc="-10" dirty="0">
                <a:latin typeface="Comic Sans MS" panose="030F0702030302020204" pitchFamily="66" charset="0"/>
                <a:cs typeface="Calibri" panose="020F0502020204030204"/>
              </a:rPr>
              <a:t>conflicting  </a:t>
            </a:r>
            <a:r>
              <a:rPr sz="2940" dirty="0">
                <a:latin typeface="Comic Sans MS" panose="030F0702030302020204" pitchFamily="66" charset="0"/>
                <a:cs typeface="Calibri" panose="020F0502020204030204"/>
              </a:rPr>
              <a:t>access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critical</a:t>
            </a:r>
            <a:r>
              <a:rPr sz="2940" spc="15"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sections.</a:t>
            </a:r>
            <a:endParaRPr sz="2940" dirty="0">
              <a:latin typeface="Comic Sans MS" panose="030F0702030302020204" pitchFamily="66" charset="0"/>
              <a:cs typeface="Calibri" panose="020F0502020204030204"/>
            </a:endParaRPr>
          </a:p>
          <a:p>
            <a:pPr>
              <a:lnSpc>
                <a:spcPct val="100000"/>
              </a:lnSpc>
              <a:spcBef>
                <a:spcPts val="30"/>
              </a:spcBef>
              <a:buFont typeface="Arial" panose="020B0604020202020204"/>
              <a:buChar char="•"/>
            </a:pPr>
            <a:endParaRPr sz="4305" dirty="0">
              <a:latin typeface="Comic Sans MS" panose="030F0702030302020204" pitchFamily="66" charset="0"/>
              <a:cs typeface="Calibri" panose="020F0502020204030204"/>
            </a:endParaRPr>
          </a:p>
          <a:p>
            <a:pPr marL="241300" marR="211455" indent="-228600">
              <a:lnSpc>
                <a:spcPts val="3020"/>
              </a:lnSpc>
              <a:spcBef>
                <a:spcPts val="5"/>
              </a:spcBef>
              <a:buFont typeface="Arial" panose="020B0604020202020204"/>
              <a:buChar char="•"/>
              <a:tabLst>
                <a:tab pos="241300" algn="l"/>
              </a:tabLst>
            </a:pPr>
            <a:r>
              <a:rPr sz="2940" spc="-5" dirty="0">
                <a:latin typeface="Comic Sans MS" panose="030F0702030302020204" pitchFamily="66" charset="0"/>
                <a:cs typeface="Calibri" panose="020F0502020204030204"/>
              </a:rPr>
              <a:t>It is an unsigned </a:t>
            </a:r>
            <a:r>
              <a:rPr sz="2940" spc="-15" dirty="0">
                <a:latin typeface="Comic Sans MS" panose="030F0702030302020204" pitchFamily="66" charset="0"/>
                <a:cs typeface="Calibri" panose="020F0502020204030204"/>
              </a:rPr>
              <a:t>int together </a:t>
            </a:r>
            <a:r>
              <a:rPr sz="2940" spc="-10" dirty="0">
                <a:latin typeface="Comic Sans MS" panose="030F0702030302020204" pitchFamily="66" charset="0"/>
                <a:cs typeface="Calibri" panose="020F0502020204030204"/>
              </a:rPr>
              <a:t>with two </a:t>
            </a:r>
            <a:r>
              <a:rPr sz="2940" spc="-15" dirty="0">
                <a:latin typeface="Comic Sans MS" panose="030F0702030302020204" pitchFamily="66" charset="0"/>
                <a:cs typeface="Calibri" panose="020F0502020204030204"/>
              </a:rPr>
              <a:t>operations: </a:t>
            </a:r>
            <a:r>
              <a:rPr sz="2940" spc="-15" dirty="0">
                <a:solidFill>
                  <a:srgbClr val="C00000"/>
                </a:solidFill>
                <a:latin typeface="Comic Sans MS" panose="030F0702030302020204" pitchFamily="66" charset="0"/>
                <a:cs typeface="Calibri" panose="020F0502020204030204"/>
              </a:rPr>
              <a:t> </a:t>
            </a:r>
            <a:r>
              <a:rPr sz="2940" spc="-10" dirty="0">
                <a:solidFill>
                  <a:srgbClr val="C00000"/>
                </a:solidFill>
                <a:latin typeface="Comic Sans MS" panose="030F0702030302020204" pitchFamily="66" charset="0"/>
                <a:cs typeface="Calibri" panose="020F0502020204030204"/>
              </a:rPr>
              <a:t>sem_wait </a:t>
            </a:r>
            <a:r>
              <a:rPr sz="2940" spc="-5" dirty="0">
                <a:latin typeface="Comic Sans MS" panose="030F0702030302020204" pitchFamily="66" charset="0"/>
                <a:cs typeface="Calibri" panose="020F0502020204030204"/>
              </a:rPr>
              <a:t>and</a:t>
            </a:r>
            <a:r>
              <a:rPr sz="2940" spc="35" dirty="0">
                <a:latin typeface="Comic Sans MS" panose="030F0702030302020204" pitchFamily="66" charset="0"/>
                <a:cs typeface="Calibri" panose="020F0502020204030204"/>
              </a:rPr>
              <a:t> </a:t>
            </a:r>
            <a:r>
              <a:rPr sz="2940" spc="-10" dirty="0">
                <a:solidFill>
                  <a:srgbClr val="C00000"/>
                </a:solidFill>
                <a:latin typeface="Comic Sans MS" panose="030F0702030302020204" pitchFamily="66" charset="0"/>
                <a:cs typeface="Calibri" panose="020F0502020204030204"/>
              </a:rPr>
              <a:t>sem_post</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a:p>
            <a:pPr>
              <a:lnSpc>
                <a:spcPct val="100000"/>
              </a:lnSpc>
              <a:spcBef>
                <a:spcPts val="30"/>
              </a:spcBef>
              <a:buFont typeface="Arial" panose="020B0604020202020204"/>
              <a:buChar char="•"/>
            </a:pPr>
            <a:endParaRPr sz="4305" dirty="0">
              <a:latin typeface="Comic Sans MS" panose="030F0702030302020204" pitchFamily="66" charset="0"/>
              <a:cs typeface="Calibri" panose="020F0502020204030204"/>
            </a:endParaRPr>
          </a:p>
          <a:p>
            <a:pPr marL="241300" marR="5080" indent="-228600">
              <a:lnSpc>
                <a:spcPts val="3020"/>
              </a:lnSpc>
              <a:buFont typeface="Arial" panose="020B0604020202020204"/>
              <a:buChar char="•"/>
              <a:tabLst>
                <a:tab pos="241300" algn="l"/>
              </a:tabLst>
            </a:pPr>
            <a:r>
              <a:rPr sz="2940" spc="-10" dirty="0">
                <a:latin typeface="Comic Sans MS" panose="030F0702030302020204" pitchFamily="66" charset="0"/>
                <a:cs typeface="Calibri" panose="020F0502020204030204"/>
              </a:rPr>
              <a:t>Semaphores </a:t>
            </a:r>
            <a:r>
              <a:rPr sz="2940" spc="-20" dirty="0">
                <a:latin typeface="Comic Sans MS" panose="030F0702030302020204" pitchFamily="66" charset="0"/>
                <a:cs typeface="Calibri" panose="020F0502020204030204"/>
              </a:rPr>
              <a:t>are </a:t>
            </a:r>
            <a:r>
              <a:rPr sz="2940" spc="-15" dirty="0">
                <a:latin typeface="Comic Sans MS" panose="030F0702030302020204" pitchFamily="66" charset="0"/>
                <a:cs typeface="Calibri" panose="020F0502020204030204"/>
              </a:rPr>
              <a:t>more </a:t>
            </a:r>
            <a:r>
              <a:rPr sz="2940" spc="-10" dirty="0">
                <a:latin typeface="Comic Sans MS" panose="030F0702030302020204" pitchFamily="66" charset="0"/>
                <a:cs typeface="Calibri" panose="020F0502020204030204"/>
              </a:rPr>
              <a:t>powerful </a:t>
            </a:r>
            <a:r>
              <a:rPr sz="2940" spc="-5" dirty="0">
                <a:latin typeface="Comic Sans MS" panose="030F0702030302020204" pitchFamily="66" charset="0"/>
                <a:cs typeface="Calibri" panose="020F0502020204030204"/>
              </a:rPr>
              <a:t>than </a:t>
            </a:r>
            <a:r>
              <a:rPr sz="2940" spc="-25" dirty="0">
                <a:latin typeface="Comic Sans MS" panose="030F0702030302020204" pitchFamily="66" charset="0"/>
                <a:cs typeface="Calibri" panose="020F0502020204030204"/>
              </a:rPr>
              <a:t>mutexes </a:t>
            </a:r>
            <a:r>
              <a:rPr sz="2940" spc="-10" dirty="0">
                <a:latin typeface="Comic Sans MS" panose="030F0702030302020204" pitchFamily="66" charset="0"/>
                <a:cs typeface="Calibri" panose="020F0502020204030204"/>
              </a:rPr>
              <a:t>since  they </a:t>
            </a:r>
            <a:r>
              <a:rPr sz="2940" spc="-15" dirty="0">
                <a:latin typeface="Comic Sans MS" panose="030F0702030302020204" pitchFamily="66" charset="0"/>
                <a:cs typeface="Calibri" panose="020F0502020204030204"/>
              </a:rPr>
              <a:t>can </a:t>
            </a:r>
            <a:r>
              <a:rPr sz="2940" spc="-5" dirty="0">
                <a:latin typeface="Comic Sans MS" panose="030F0702030302020204" pitchFamily="66" charset="0"/>
                <a:cs typeface="Calibri" panose="020F0502020204030204"/>
              </a:rPr>
              <a:t>be </a:t>
            </a:r>
            <a:r>
              <a:rPr sz="2940" spc="-15" dirty="0">
                <a:solidFill>
                  <a:srgbClr val="FF0000"/>
                </a:solidFill>
                <a:latin typeface="Comic Sans MS" panose="030F0702030302020204" pitchFamily="66" charset="0"/>
                <a:cs typeface="Calibri" panose="020F0502020204030204"/>
              </a:rPr>
              <a:t>initialized </a:t>
            </a:r>
            <a:r>
              <a:rPr sz="2940" spc="-20" dirty="0">
                <a:solidFill>
                  <a:srgbClr val="FF0000"/>
                </a:solidFill>
                <a:latin typeface="Comic Sans MS" panose="030F0702030302020204" pitchFamily="66" charset="0"/>
                <a:cs typeface="Calibri" panose="020F0502020204030204"/>
              </a:rPr>
              <a:t>to any </a:t>
            </a:r>
            <a:r>
              <a:rPr sz="2940" spc="-15" dirty="0">
                <a:solidFill>
                  <a:srgbClr val="FF0000"/>
                </a:solidFill>
                <a:latin typeface="Comic Sans MS" panose="030F0702030302020204" pitchFamily="66" charset="0"/>
                <a:cs typeface="Calibri" panose="020F0502020204030204"/>
              </a:rPr>
              <a:t>nonnegative</a:t>
            </a:r>
            <a:r>
              <a:rPr sz="2940" spc="130" dirty="0">
                <a:solidFill>
                  <a:srgbClr val="FF0000"/>
                </a:solidFill>
                <a:latin typeface="Comic Sans MS" panose="030F0702030302020204" pitchFamily="66" charset="0"/>
                <a:cs typeface="Calibri" panose="020F0502020204030204"/>
              </a:rPr>
              <a:t> </a:t>
            </a:r>
            <a:r>
              <a:rPr sz="2940" spc="-10" dirty="0">
                <a:solidFill>
                  <a:srgbClr val="FF0000"/>
                </a:solidFill>
                <a:latin typeface="Comic Sans MS" panose="030F0702030302020204" pitchFamily="66" charset="0"/>
                <a:cs typeface="Calibri" panose="020F0502020204030204"/>
              </a:rPr>
              <a:t>value</a:t>
            </a:r>
            <a:r>
              <a:rPr sz="2940" spc="-10"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113</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(7)</a:t>
            </a:r>
          </a:p>
        </p:txBody>
      </p:sp>
      <p:sp>
        <p:nvSpPr>
          <p:cNvPr id="3" name="object 3"/>
          <p:cNvSpPr txBox="1"/>
          <p:nvPr/>
        </p:nvSpPr>
        <p:spPr>
          <a:xfrm>
            <a:off x="2343119" y="1883168"/>
            <a:ext cx="8245697" cy="4852096"/>
          </a:xfrm>
          <a:prstGeom prst="rect">
            <a:avLst/>
          </a:prstGeom>
        </p:spPr>
        <p:txBody>
          <a:bodyPr vert="horz" wrap="square" lIns="0" tIns="64007" rIns="0" bIns="0" rtlCol="0">
            <a:spAutoFit/>
          </a:bodyPr>
          <a:lstStyle/>
          <a:p>
            <a:pPr marL="241300" marR="5080" indent="-228600">
              <a:lnSpc>
                <a:spcPts val="3020"/>
              </a:lnSpc>
              <a:spcBef>
                <a:spcPts val="480"/>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barrier </a:t>
            </a:r>
            <a:r>
              <a:rPr sz="2940" spc="-5" dirty="0">
                <a:latin typeface="Comic Sans MS" panose="030F0702030302020204" pitchFamily="66" charset="0"/>
                <a:cs typeface="Calibri" panose="020F0502020204030204"/>
              </a:rPr>
              <a:t>is a </a:t>
            </a:r>
            <a:r>
              <a:rPr sz="2940" spc="-15" dirty="0">
                <a:latin typeface="Comic Sans MS" panose="030F0702030302020204" pitchFamily="66" charset="0"/>
                <a:cs typeface="Calibri" panose="020F0502020204030204"/>
              </a:rPr>
              <a:t>point </a:t>
            </a:r>
            <a:r>
              <a:rPr sz="2940" spc="-5" dirty="0">
                <a:latin typeface="Comic Sans MS" panose="030F0702030302020204" pitchFamily="66" charset="0"/>
                <a:cs typeface="Calibri" panose="020F0502020204030204"/>
              </a:rPr>
              <a:t>in a </a:t>
            </a:r>
            <a:r>
              <a:rPr sz="2940" spc="-25" dirty="0">
                <a:latin typeface="Comic Sans MS" panose="030F0702030302020204" pitchFamily="66" charset="0"/>
                <a:cs typeface="Calibri" panose="020F0502020204030204"/>
              </a:rPr>
              <a:t>program </a:t>
            </a:r>
            <a:r>
              <a:rPr sz="2940" spc="-15" dirty="0">
                <a:latin typeface="Comic Sans MS" panose="030F0702030302020204" pitchFamily="66" charset="0"/>
                <a:cs typeface="Calibri" panose="020F0502020204030204"/>
              </a:rPr>
              <a:t>at </a:t>
            </a:r>
            <a:r>
              <a:rPr sz="2940" spc="-5" dirty="0">
                <a:latin typeface="Comic Sans MS" panose="030F0702030302020204" pitchFamily="66" charset="0"/>
                <a:cs typeface="Calibri" panose="020F0502020204030204"/>
              </a:rPr>
              <a:t>which the  </a:t>
            </a:r>
            <a:r>
              <a:rPr sz="2940" spc="-10" dirty="0">
                <a:latin typeface="Comic Sans MS" panose="030F0702030302020204" pitchFamily="66" charset="0"/>
                <a:cs typeface="Calibri" panose="020F0502020204030204"/>
              </a:rPr>
              <a:t>threads block </a:t>
            </a:r>
            <a:r>
              <a:rPr sz="2940" spc="-15" dirty="0">
                <a:latin typeface="Comic Sans MS" panose="030F0702030302020204" pitchFamily="66" charset="0"/>
                <a:cs typeface="Calibri" panose="020F0502020204030204"/>
              </a:rPr>
              <a:t>until </a:t>
            </a:r>
            <a:r>
              <a:rPr sz="2940" spc="-5" dirty="0">
                <a:solidFill>
                  <a:srgbClr val="C00000"/>
                </a:solidFill>
                <a:latin typeface="Comic Sans MS" panose="030F0702030302020204" pitchFamily="66" charset="0"/>
                <a:cs typeface="Calibri" panose="020F0502020204030204"/>
              </a:rPr>
              <a:t>all </a:t>
            </a:r>
            <a:r>
              <a:rPr sz="2940" spc="-5" dirty="0">
                <a:latin typeface="Comic Sans MS" panose="030F0702030302020204" pitchFamily="66" charset="0"/>
                <a:cs typeface="Calibri" panose="020F0502020204030204"/>
              </a:rPr>
              <a:t>of the </a:t>
            </a:r>
            <a:r>
              <a:rPr sz="2940" spc="-10" dirty="0">
                <a:latin typeface="Comic Sans MS" panose="030F0702030302020204" pitchFamily="66" charset="0"/>
                <a:cs typeface="Calibri" panose="020F0502020204030204"/>
              </a:rPr>
              <a:t>threads </a:t>
            </a:r>
            <a:r>
              <a:rPr sz="2940" spc="-25" dirty="0">
                <a:latin typeface="Comic Sans MS" panose="030F0702030302020204" pitchFamily="66" charset="0"/>
                <a:cs typeface="Calibri" panose="020F0502020204030204"/>
              </a:rPr>
              <a:t>have </a:t>
            </a:r>
            <a:r>
              <a:rPr sz="2940" spc="-10" dirty="0">
                <a:solidFill>
                  <a:srgbClr val="C00000"/>
                </a:solidFill>
                <a:latin typeface="Comic Sans MS" panose="030F0702030302020204" pitchFamily="66" charset="0"/>
                <a:cs typeface="Calibri" panose="020F0502020204030204"/>
              </a:rPr>
              <a:t>reached</a:t>
            </a:r>
            <a:r>
              <a:rPr sz="2940" spc="180" dirty="0">
                <a:solidFill>
                  <a:srgbClr val="C00000"/>
                </a:solidFill>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it.</a:t>
            </a:r>
            <a:endParaRPr sz="2940" dirty="0">
              <a:latin typeface="Comic Sans MS" panose="030F0702030302020204" pitchFamily="66" charset="0"/>
              <a:cs typeface="Calibri" panose="020F0502020204030204"/>
            </a:endParaRPr>
          </a:p>
          <a:p>
            <a:pPr>
              <a:lnSpc>
                <a:spcPct val="100000"/>
              </a:lnSpc>
              <a:spcBef>
                <a:spcPts val="30"/>
              </a:spcBef>
              <a:buFont typeface="Arial" panose="020B0604020202020204"/>
              <a:buChar char="•"/>
            </a:pPr>
            <a:endParaRPr sz="4305" dirty="0">
              <a:latin typeface="Comic Sans MS" panose="030F0702030302020204" pitchFamily="66" charset="0"/>
              <a:cs typeface="Calibri" panose="020F0502020204030204"/>
            </a:endParaRPr>
          </a:p>
          <a:p>
            <a:pPr marL="241300" marR="249555" indent="-228600">
              <a:lnSpc>
                <a:spcPts val="3020"/>
              </a:lnSpc>
              <a:spcBef>
                <a:spcPts val="5"/>
              </a:spcBef>
              <a:buFont typeface="Arial" panose="020B0604020202020204"/>
              <a:buChar char="•"/>
              <a:tabLst>
                <a:tab pos="241300" algn="l"/>
              </a:tabLst>
            </a:pPr>
            <a:r>
              <a:rPr sz="2940" spc="-5" dirty="0">
                <a:latin typeface="Comic Sans MS" panose="030F0702030302020204" pitchFamily="66" charset="0"/>
                <a:cs typeface="Calibri" panose="020F0502020204030204"/>
              </a:rPr>
              <a:t>A </a:t>
            </a:r>
            <a:r>
              <a:rPr sz="2940" spc="-10" dirty="0">
                <a:solidFill>
                  <a:srgbClr val="FF0000"/>
                </a:solidFill>
                <a:latin typeface="Comic Sans MS" panose="030F0702030302020204" pitchFamily="66" charset="0"/>
                <a:cs typeface="Calibri" panose="020F0502020204030204"/>
              </a:rPr>
              <a:t>read-write </a:t>
            </a:r>
            <a:r>
              <a:rPr sz="2940" spc="-5" dirty="0">
                <a:solidFill>
                  <a:srgbClr val="FF0000"/>
                </a:solidFill>
                <a:latin typeface="Comic Sans MS" panose="030F0702030302020204" pitchFamily="66" charset="0"/>
                <a:cs typeface="Calibri" panose="020F0502020204030204"/>
              </a:rPr>
              <a:t>lock </a:t>
            </a:r>
            <a:r>
              <a:rPr sz="2940" spc="-5" dirty="0">
                <a:latin typeface="Comic Sans MS" panose="030F0702030302020204" pitchFamily="66" charset="0"/>
                <a:cs typeface="Calibri" panose="020F0502020204030204"/>
              </a:rPr>
              <a:t>is </a:t>
            </a:r>
            <a:r>
              <a:rPr sz="2940" spc="-10" dirty="0">
                <a:latin typeface="Comic Sans MS" panose="030F0702030302020204" pitchFamily="66" charset="0"/>
                <a:cs typeface="Calibri" panose="020F0502020204030204"/>
              </a:rPr>
              <a:t>used </a:t>
            </a:r>
            <a:r>
              <a:rPr sz="2940" spc="-5" dirty="0">
                <a:latin typeface="Comic Sans MS" panose="030F0702030302020204" pitchFamily="66" charset="0"/>
                <a:cs typeface="Calibri" panose="020F0502020204030204"/>
              </a:rPr>
              <a:t>when </a:t>
            </a:r>
            <a:r>
              <a:rPr sz="2940" spc="-25" dirty="0">
                <a:latin typeface="Comic Sans MS" panose="030F0702030302020204" pitchFamily="66" charset="0"/>
                <a:cs typeface="Calibri" panose="020F0502020204030204"/>
              </a:rPr>
              <a:t>it’s safe for </a:t>
            </a:r>
            <a:r>
              <a:rPr sz="2940" spc="-10" dirty="0">
                <a:latin typeface="Comic Sans MS" panose="030F0702030302020204" pitchFamily="66" charset="0"/>
                <a:cs typeface="Calibri" panose="020F0502020204030204"/>
              </a:rPr>
              <a:t>multiple  threads </a:t>
            </a:r>
            <a:r>
              <a:rPr sz="2940" spc="-20" dirty="0">
                <a:latin typeface="Comic Sans MS" panose="030F0702030302020204" pitchFamily="66" charset="0"/>
                <a:cs typeface="Calibri" panose="020F0502020204030204"/>
              </a:rPr>
              <a:t>to </a:t>
            </a:r>
            <a:r>
              <a:rPr sz="2940" spc="-10" dirty="0">
                <a:latin typeface="Comic Sans MS" panose="030F0702030302020204" pitchFamily="66" charset="0"/>
                <a:cs typeface="Calibri" panose="020F0502020204030204"/>
              </a:rPr>
              <a:t>simultaneously </a:t>
            </a:r>
            <a:r>
              <a:rPr sz="2940" spc="-15" dirty="0">
                <a:solidFill>
                  <a:srgbClr val="C00000"/>
                </a:solidFill>
                <a:latin typeface="Comic Sans MS" panose="030F0702030302020204" pitchFamily="66" charset="0"/>
                <a:cs typeface="Calibri" panose="020F0502020204030204"/>
              </a:rPr>
              <a:t>read </a:t>
            </a:r>
            <a:r>
              <a:rPr sz="2940" spc="-5" dirty="0">
                <a:latin typeface="Comic Sans MS" panose="030F0702030302020204" pitchFamily="66" charset="0"/>
                <a:cs typeface="Calibri" panose="020F0502020204030204"/>
              </a:rPr>
              <a:t>a </a:t>
            </a:r>
            <a:r>
              <a:rPr sz="2940" spc="-20" dirty="0">
                <a:latin typeface="Comic Sans MS" panose="030F0702030302020204" pitchFamily="66" charset="0"/>
                <a:cs typeface="Calibri" panose="020F0502020204030204"/>
              </a:rPr>
              <a:t>data</a:t>
            </a:r>
            <a:r>
              <a:rPr sz="2940" spc="120" dirty="0">
                <a:latin typeface="Comic Sans MS" panose="030F0702030302020204" pitchFamily="66" charset="0"/>
                <a:cs typeface="Calibri" panose="020F0502020204030204"/>
              </a:rPr>
              <a:t> </a:t>
            </a:r>
            <a:r>
              <a:rPr sz="2940" spc="-15" dirty="0">
                <a:latin typeface="Comic Sans MS" panose="030F0702030302020204" pitchFamily="66" charset="0"/>
                <a:cs typeface="Calibri" panose="020F0502020204030204"/>
              </a:rPr>
              <a:t>structure,</a:t>
            </a:r>
            <a:endParaRPr sz="2940" dirty="0">
              <a:latin typeface="Comic Sans MS" panose="030F0702030302020204" pitchFamily="66" charset="0"/>
              <a:cs typeface="Calibri" panose="020F0502020204030204"/>
            </a:endParaRPr>
          </a:p>
          <a:p>
            <a:pPr>
              <a:lnSpc>
                <a:spcPct val="100000"/>
              </a:lnSpc>
              <a:spcBef>
                <a:spcPts val="30"/>
              </a:spcBef>
              <a:buFont typeface="Arial" panose="020B0604020202020204"/>
              <a:buChar char="•"/>
            </a:pPr>
            <a:endParaRPr sz="4305" dirty="0">
              <a:latin typeface="Comic Sans MS" panose="030F0702030302020204" pitchFamily="66" charset="0"/>
              <a:cs typeface="Calibri" panose="020F0502020204030204"/>
            </a:endParaRPr>
          </a:p>
          <a:p>
            <a:pPr marL="241300" marR="235585" indent="-228600" algn="just">
              <a:lnSpc>
                <a:spcPts val="3020"/>
              </a:lnSpc>
              <a:buFont typeface="Arial" panose="020B0604020202020204"/>
              <a:buChar char="•"/>
              <a:tabLst>
                <a:tab pos="241300" algn="l"/>
              </a:tabLst>
            </a:pPr>
            <a:r>
              <a:rPr sz="2940" spc="-10" dirty="0">
                <a:latin typeface="Comic Sans MS" panose="030F0702030302020204" pitchFamily="66" charset="0"/>
                <a:cs typeface="Calibri" panose="020F0502020204030204"/>
              </a:rPr>
              <a:t>but </a:t>
            </a:r>
            <a:r>
              <a:rPr sz="2940" spc="-5" dirty="0">
                <a:latin typeface="Comic Sans MS" panose="030F0702030302020204" pitchFamily="66" charset="0"/>
                <a:cs typeface="Calibri" panose="020F0502020204030204"/>
              </a:rPr>
              <a:t>if a </a:t>
            </a:r>
            <a:r>
              <a:rPr sz="2940" spc="-10" dirty="0">
                <a:latin typeface="Comic Sans MS" panose="030F0702030302020204" pitchFamily="66" charset="0"/>
                <a:cs typeface="Calibri" panose="020F0502020204030204"/>
              </a:rPr>
              <a:t>thread needs </a:t>
            </a:r>
            <a:r>
              <a:rPr sz="2940" spc="-20" dirty="0">
                <a:latin typeface="Comic Sans MS" panose="030F0702030302020204" pitchFamily="66" charset="0"/>
                <a:cs typeface="Calibri" panose="020F0502020204030204"/>
              </a:rPr>
              <a:t>to </a:t>
            </a:r>
            <a:r>
              <a:rPr sz="2940" spc="-10" dirty="0">
                <a:solidFill>
                  <a:srgbClr val="C00000"/>
                </a:solidFill>
                <a:latin typeface="Comic Sans MS" panose="030F0702030302020204" pitchFamily="66" charset="0"/>
                <a:cs typeface="Calibri" panose="020F0502020204030204"/>
              </a:rPr>
              <a:t>write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the </a:t>
            </a:r>
            <a:r>
              <a:rPr sz="2940" spc="-20" dirty="0">
                <a:latin typeface="Comic Sans MS" panose="030F0702030302020204" pitchFamily="66" charset="0"/>
                <a:cs typeface="Calibri" panose="020F0502020204030204"/>
              </a:rPr>
              <a:t>data </a:t>
            </a:r>
            <a:r>
              <a:rPr sz="2940" spc="-15" dirty="0">
                <a:latin typeface="Comic Sans MS" panose="030F0702030302020204" pitchFamily="66" charset="0"/>
                <a:cs typeface="Calibri" panose="020F0502020204030204"/>
              </a:rPr>
              <a:t>structure,  </a:t>
            </a:r>
            <a:r>
              <a:rPr sz="2940" spc="-5" dirty="0">
                <a:latin typeface="Comic Sans MS" panose="030F0702030302020204" pitchFamily="66" charset="0"/>
                <a:cs typeface="Calibri" panose="020F0502020204030204"/>
              </a:rPr>
              <a:t>then </a:t>
            </a:r>
            <a:r>
              <a:rPr sz="2940" spc="-10" dirty="0">
                <a:latin typeface="Comic Sans MS" panose="030F0702030302020204" pitchFamily="66" charset="0"/>
                <a:cs typeface="Calibri" panose="020F0502020204030204"/>
              </a:rPr>
              <a:t>only that thread can </a:t>
            </a:r>
            <a:r>
              <a:rPr sz="2940" spc="-5" dirty="0">
                <a:latin typeface="Comic Sans MS" panose="030F0702030302020204" pitchFamily="66" charset="0"/>
                <a:cs typeface="Calibri" panose="020F0502020204030204"/>
              </a:rPr>
              <a:t>access the </a:t>
            </a:r>
            <a:r>
              <a:rPr sz="2940" spc="-20" dirty="0">
                <a:latin typeface="Comic Sans MS" panose="030F0702030302020204" pitchFamily="66" charset="0"/>
                <a:cs typeface="Calibri" panose="020F0502020204030204"/>
              </a:rPr>
              <a:t>data </a:t>
            </a:r>
            <a:r>
              <a:rPr sz="2940" spc="-15" dirty="0">
                <a:latin typeface="Comic Sans MS" panose="030F0702030302020204" pitchFamily="66" charset="0"/>
                <a:cs typeface="Calibri" panose="020F0502020204030204"/>
              </a:rPr>
              <a:t>structure  </a:t>
            </a:r>
            <a:r>
              <a:rPr sz="2940" spc="-10" dirty="0">
                <a:latin typeface="Comic Sans MS" panose="030F0702030302020204" pitchFamily="66" charset="0"/>
                <a:cs typeface="Calibri" panose="020F0502020204030204"/>
              </a:rPr>
              <a:t>during </a:t>
            </a:r>
            <a:r>
              <a:rPr sz="2940" spc="-5" dirty="0">
                <a:latin typeface="Comic Sans MS" panose="030F0702030302020204" pitchFamily="66" charset="0"/>
                <a:cs typeface="Calibri" panose="020F0502020204030204"/>
              </a:rPr>
              <a:t>the</a:t>
            </a:r>
            <a:r>
              <a:rPr sz="2940" spc="3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modification.</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160336" y="6788475"/>
            <a:ext cx="325374" cy="158750"/>
          </a:xfrm>
          <a:prstGeom prst="rect">
            <a:avLst/>
          </a:prstGeom>
        </p:spPr>
        <p:txBody>
          <a:bodyPr vert="horz" wrap="square" lIns="0" tIns="0" rIns="0" bIns="0" rtlCol="0">
            <a:spAutoFit/>
          </a:bodyPr>
          <a:lstStyle/>
          <a:p>
            <a:pPr marL="38100">
              <a:lnSpc>
                <a:spcPts val="1240"/>
              </a:lnSpc>
            </a:pPr>
            <a:fld id="{81D60167-4931-47E6-BA6A-407CBD079E47}" type="slidenum">
              <a:rPr sz="1260" dirty="0">
                <a:solidFill>
                  <a:srgbClr val="888888"/>
                </a:solidFill>
                <a:latin typeface="Calibri" panose="020F0502020204030204"/>
                <a:cs typeface="Calibri" panose="020F0502020204030204"/>
              </a:rPr>
              <a:t>114</a:t>
            </a:fld>
            <a:endParaRPr sz="1260">
              <a:latin typeface="Calibri" panose="020F0502020204030204"/>
              <a:cs typeface="Calibri" panose="020F0502020204030204"/>
            </a:endParaRPr>
          </a:p>
        </p:txBody>
      </p:sp>
      <p:sp>
        <p:nvSpPr>
          <p:cNvPr id="2" name="object 2"/>
          <p:cNvSpPr txBox="1">
            <a:spLocks noGrp="1"/>
          </p:cNvSpPr>
          <p:nvPr>
            <p:ph type="title"/>
          </p:nvPr>
        </p:nvSpPr>
        <p:spPr>
          <a:xfrm>
            <a:off x="641350" y="105569"/>
            <a:ext cx="10762906" cy="723900"/>
          </a:xfrm>
          <a:prstGeom prst="rect">
            <a:avLst/>
          </a:prstGeom>
        </p:spPr>
        <p:txBody>
          <a:bodyPr vert="horz" wrap="square" lIns="0" tIns="14001" rIns="0" bIns="0" rtlCol="0">
            <a:spAutoFit/>
          </a:bodyPr>
          <a:lstStyle/>
          <a:p>
            <a:pPr marL="12700">
              <a:lnSpc>
                <a:spcPct val="100000"/>
              </a:lnSpc>
              <a:spcBef>
                <a:spcPts val="105"/>
              </a:spcBef>
            </a:pPr>
            <a:r>
              <a:rPr sz="4620" spc="-5" dirty="0"/>
              <a:t>Concluding </a:t>
            </a:r>
            <a:r>
              <a:rPr sz="4620" spc="-25" dirty="0"/>
              <a:t>Remarks</a:t>
            </a:r>
            <a:r>
              <a:rPr sz="4620" spc="-65" dirty="0"/>
              <a:t> </a:t>
            </a:r>
            <a:r>
              <a:rPr sz="4620" dirty="0"/>
              <a:t>(8)</a:t>
            </a:r>
          </a:p>
        </p:txBody>
      </p:sp>
      <p:sp>
        <p:nvSpPr>
          <p:cNvPr id="3" name="object 3"/>
          <p:cNvSpPr txBox="1"/>
          <p:nvPr/>
        </p:nvSpPr>
        <p:spPr>
          <a:xfrm>
            <a:off x="2343119" y="1883168"/>
            <a:ext cx="8084344" cy="2765821"/>
          </a:xfrm>
          <a:prstGeom prst="rect">
            <a:avLst/>
          </a:prstGeom>
        </p:spPr>
        <p:txBody>
          <a:bodyPr vert="horz" wrap="square" lIns="0" tIns="57340" rIns="0" bIns="0" rtlCol="0">
            <a:spAutoFit/>
          </a:bodyPr>
          <a:lstStyle/>
          <a:p>
            <a:pPr marL="241300" marR="5080" indent="-228600">
              <a:lnSpc>
                <a:spcPct val="90000"/>
              </a:lnSpc>
              <a:spcBef>
                <a:spcPts val="430"/>
              </a:spcBef>
              <a:buFont typeface="Arial" panose="020B0604020202020204"/>
              <a:buChar char="•"/>
              <a:tabLst>
                <a:tab pos="241300" algn="l"/>
              </a:tabLst>
            </a:pPr>
            <a:r>
              <a:rPr sz="2940" spc="-10" dirty="0">
                <a:latin typeface="Comic Sans MS" panose="030F0702030302020204" pitchFamily="66" charset="0"/>
                <a:cs typeface="Calibri" panose="020F0502020204030204"/>
              </a:rPr>
              <a:t>Some </a:t>
            </a:r>
            <a:r>
              <a:rPr sz="2940" spc="-5" dirty="0">
                <a:latin typeface="Comic Sans MS" panose="030F0702030302020204" pitchFamily="66" charset="0"/>
                <a:cs typeface="Calibri" panose="020F0502020204030204"/>
              </a:rPr>
              <a:t>C </a:t>
            </a:r>
            <a:r>
              <a:rPr sz="2940" spc="-10" dirty="0">
                <a:latin typeface="Comic Sans MS" panose="030F0702030302020204" pitchFamily="66" charset="0"/>
                <a:cs typeface="Calibri" panose="020F0502020204030204"/>
              </a:rPr>
              <a:t>functions cache </a:t>
            </a:r>
            <a:r>
              <a:rPr sz="2940" spc="-20" dirty="0">
                <a:latin typeface="Comic Sans MS" panose="030F0702030302020204" pitchFamily="66" charset="0"/>
                <a:cs typeface="Calibri" panose="020F0502020204030204"/>
              </a:rPr>
              <a:t>data </a:t>
            </a:r>
            <a:r>
              <a:rPr sz="2940" spc="-10" dirty="0">
                <a:latin typeface="Comic Sans MS" panose="030F0702030302020204" pitchFamily="66" charset="0"/>
                <a:cs typeface="Calibri" panose="020F0502020204030204"/>
              </a:rPr>
              <a:t>between calls </a:t>
            </a:r>
            <a:r>
              <a:rPr sz="2940" spc="-15" dirty="0">
                <a:latin typeface="Comic Sans MS" panose="030F0702030302020204" pitchFamily="66" charset="0"/>
                <a:cs typeface="Calibri" panose="020F0502020204030204"/>
              </a:rPr>
              <a:t>by  </a:t>
            </a:r>
            <a:r>
              <a:rPr sz="2940" spc="-10" dirty="0">
                <a:latin typeface="Comic Sans MS" panose="030F0702030302020204" pitchFamily="66" charset="0"/>
                <a:cs typeface="Calibri" panose="020F0502020204030204"/>
              </a:rPr>
              <a:t>declaring variables </a:t>
            </a:r>
            <a:r>
              <a:rPr sz="2940" spc="-20" dirty="0">
                <a:latin typeface="Comic Sans MS" panose="030F0702030302020204" pitchFamily="66" charset="0"/>
                <a:cs typeface="Calibri" panose="020F0502020204030204"/>
              </a:rPr>
              <a:t>to </a:t>
            </a:r>
            <a:r>
              <a:rPr sz="2940" spc="-5" dirty="0">
                <a:latin typeface="Comic Sans MS" panose="030F0702030302020204" pitchFamily="66" charset="0"/>
                <a:cs typeface="Calibri" panose="020F0502020204030204"/>
              </a:rPr>
              <a:t>be </a:t>
            </a:r>
            <a:r>
              <a:rPr sz="2940" spc="-20" dirty="0">
                <a:solidFill>
                  <a:srgbClr val="FF0000"/>
                </a:solidFill>
                <a:latin typeface="Comic Sans MS" panose="030F0702030302020204" pitchFamily="66" charset="0"/>
                <a:cs typeface="Calibri" panose="020F0502020204030204"/>
              </a:rPr>
              <a:t>static</a:t>
            </a:r>
            <a:r>
              <a:rPr sz="2940" spc="-20" dirty="0">
                <a:latin typeface="Comic Sans MS" panose="030F0702030302020204" pitchFamily="66" charset="0"/>
                <a:cs typeface="Calibri" panose="020F0502020204030204"/>
              </a:rPr>
              <a:t>, </a:t>
            </a:r>
            <a:r>
              <a:rPr sz="2940" spc="-10" dirty="0">
                <a:latin typeface="Comic Sans MS" panose="030F0702030302020204" pitchFamily="66" charset="0"/>
                <a:cs typeface="Calibri" panose="020F0502020204030204"/>
              </a:rPr>
              <a:t>causing </a:t>
            </a:r>
            <a:r>
              <a:rPr sz="2940" spc="-20" dirty="0">
                <a:latin typeface="Comic Sans MS" panose="030F0702030302020204" pitchFamily="66" charset="0"/>
                <a:cs typeface="Calibri" panose="020F0502020204030204"/>
              </a:rPr>
              <a:t>errors </a:t>
            </a:r>
            <a:r>
              <a:rPr sz="2940" spc="-5" dirty="0">
                <a:latin typeface="Comic Sans MS" panose="030F0702030302020204" pitchFamily="66" charset="0"/>
                <a:cs typeface="Calibri" panose="020F0502020204030204"/>
              </a:rPr>
              <a:t>when  </a:t>
            </a:r>
            <a:r>
              <a:rPr sz="2940" spc="-10" dirty="0">
                <a:latin typeface="Comic Sans MS" panose="030F0702030302020204" pitchFamily="66" charset="0"/>
                <a:cs typeface="Calibri" panose="020F0502020204030204"/>
              </a:rPr>
              <a:t>multiple threads call the</a:t>
            </a:r>
            <a:r>
              <a:rPr sz="2940" spc="75" dirty="0">
                <a:latin typeface="Comic Sans MS" panose="030F0702030302020204" pitchFamily="66" charset="0"/>
                <a:cs typeface="Calibri" panose="020F0502020204030204"/>
              </a:rPr>
              <a:t> </a:t>
            </a:r>
            <a:r>
              <a:rPr sz="2940" spc="-5" dirty="0">
                <a:latin typeface="Comic Sans MS" panose="030F0702030302020204" pitchFamily="66" charset="0"/>
                <a:cs typeface="Calibri" panose="020F0502020204030204"/>
              </a:rPr>
              <a:t>function.</a:t>
            </a:r>
            <a:endParaRPr sz="2940" dirty="0">
              <a:latin typeface="Comic Sans MS" panose="030F0702030302020204" pitchFamily="66" charset="0"/>
              <a:cs typeface="Calibri" panose="020F0502020204030204"/>
            </a:endParaRPr>
          </a:p>
          <a:p>
            <a:pPr>
              <a:lnSpc>
                <a:spcPct val="100000"/>
              </a:lnSpc>
              <a:spcBef>
                <a:spcPts val="55"/>
              </a:spcBef>
              <a:buFont typeface="Arial" panose="020B0604020202020204"/>
              <a:buChar char="•"/>
            </a:pPr>
            <a:endParaRPr sz="3990" dirty="0">
              <a:latin typeface="Comic Sans MS" panose="030F0702030302020204" pitchFamily="66" charset="0"/>
              <a:cs typeface="Calibri" panose="020F0502020204030204"/>
            </a:endParaRPr>
          </a:p>
          <a:p>
            <a:pPr marL="241300" indent="-228600">
              <a:lnSpc>
                <a:spcPct val="100000"/>
              </a:lnSpc>
              <a:buFont typeface="Arial" panose="020B0604020202020204"/>
              <a:buChar char="•"/>
              <a:tabLst>
                <a:tab pos="241300" algn="l"/>
              </a:tabLst>
            </a:pPr>
            <a:r>
              <a:rPr sz="2940" spc="-5" dirty="0">
                <a:latin typeface="Comic Sans MS" panose="030F0702030302020204" pitchFamily="66" charset="0"/>
                <a:cs typeface="Calibri" panose="020F0502020204030204"/>
              </a:rPr>
              <a:t>This type of function is </a:t>
            </a:r>
            <a:r>
              <a:rPr sz="2940" spc="-5" dirty="0">
                <a:solidFill>
                  <a:srgbClr val="FF0000"/>
                </a:solidFill>
                <a:latin typeface="Comic Sans MS" panose="030F0702030302020204" pitchFamily="66" charset="0"/>
                <a:cs typeface="Calibri" panose="020F0502020204030204"/>
              </a:rPr>
              <a:t>not</a:t>
            </a:r>
            <a:r>
              <a:rPr sz="2940" spc="55" dirty="0">
                <a:solidFill>
                  <a:srgbClr val="FF0000"/>
                </a:solidFill>
                <a:latin typeface="Comic Sans MS" panose="030F0702030302020204" pitchFamily="66" charset="0"/>
                <a:cs typeface="Calibri" panose="020F0502020204030204"/>
              </a:rPr>
              <a:t> </a:t>
            </a:r>
            <a:r>
              <a:rPr sz="2940" spc="-15" dirty="0">
                <a:solidFill>
                  <a:srgbClr val="FF0000"/>
                </a:solidFill>
                <a:latin typeface="Comic Sans MS" panose="030F0702030302020204" pitchFamily="66" charset="0"/>
                <a:cs typeface="Calibri" panose="020F0502020204030204"/>
              </a:rPr>
              <a:t>thread-safe</a:t>
            </a:r>
            <a:r>
              <a:rPr sz="2940" spc="-15" dirty="0">
                <a:latin typeface="Comic Sans MS" panose="030F0702030302020204" pitchFamily="66" charset="0"/>
                <a:cs typeface="Calibri" panose="020F0502020204030204"/>
              </a:rPr>
              <a:t>.</a:t>
            </a:r>
            <a:endParaRPr sz="2940" dirty="0">
              <a:latin typeface="Comic Sans MS" panose="030F0702030302020204" pitchFamily="66" charset="0"/>
              <a:cs typeface="Calibri" panose="020F0502020204030204"/>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9c841e2c-994c-43a8-9109-ee5ec05df115}"/>
  <p:tag name="TABLE_ENDDRAG_ORIGIN_RECT" val="817*418"/>
  <p:tag name="TABLE_ENDDRAG_RECT" val="95*82*817*418"/>
</p:tagLst>
</file>

<file path=ppt/theme/theme1.xml><?xml version="1.0" encoding="utf-8"?>
<a:theme xmlns:a="http://schemas.openxmlformats.org/drawingml/2006/main" name="教育部工程研究中心项目汇报-改">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0" tIns="63341" rIns="0" bIns="0" rtlCol="0">
        <a:spAutoFit/>
      </a:bodyPr>
      <a:lstStyle>
        <a:defPPr marL="241300" marR="5080" indent="-229235" algn="l">
          <a:lnSpc>
            <a:spcPts val="3030"/>
          </a:lnSpc>
          <a:spcBef>
            <a:spcPts val="475"/>
          </a:spcBef>
          <a:buFont typeface="Arial" panose="020B0604020202020204"/>
          <a:buChar char="•"/>
          <a:tabLst>
            <a:tab pos="241935" algn="l"/>
          </a:tabLst>
          <a:defRPr sz="2800" spc="-5" dirty="0">
            <a:latin typeface="Comic Sans MS" panose="030F0702030302020204" pitchFamily="66" charset="0"/>
            <a:cs typeface="Calibri" panose="020F0502020204030204"/>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教育部工程研究中心项目汇报-改</Template>
  <TotalTime>981</TotalTime>
  <Words>5201</Words>
  <Application>Microsoft Office PowerPoint</Application>
  <PresentationFormat>自定义</PresentationFormat>
  <Paragraphs>768</Paragraphs>
  <Slides>114</Slides>
  <Notes>2</Notes>
  <HiddenSlides>2</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114</vt:i4>
      </vt:variant>
    </vt:vector>
  </HeadingPairs>
  <TitlesOfParts>
    <vt:vector size="125" baseType="lpstr">
      <vt:lpstr>-apple-system</vt:lpstr>
      <vt:lpstr>inherit</vt:lpstr>
      <vt:lpstr>宋体</vt:lpstr>
      <vt:lpstr>微软雅黑</vt:lpstr>
      <vt:lpstr>Arial</vt:lpstr>
      <vt:lpstr>Calibri</vt:lpstr>
      <vt:lpstr>Calibri Light</vt:lpstr>
      <vt:lpstr>Comic Sans MS</vt:lpstr>
      <vt:lpstr>Sylfaen</vt:lpstr>
      <vt:lpstr>Times New Roman</vt:lpstr>
      <vt:lpstr>教育部工程研究中心项目汇报-改</vt:lpstr>
      <vt:lpstr>PowerPoint 演示文稿</vt:lpstr>
      <vt:lpstr>Roadmap</vt:lpstr>
      <vt:lpstr>A Shared Memory System</vt:lpstr>
      <vt:lpstr>Processes and Threads</vt:lpstr>
      <vt:lpstr>POSIX® Threads</vt:lpstr>
      <vt:lpstr>Lightweight Pthread vs Fork()</vt:lpstr>
      <vt:lpstr>Lightweight Pthread vs Fork()</vt:lpstr>
      <vt:lpstr>Pthread vs MPI</vt:lpstr>
      <vt:lpstr>Caveat （注意）</vt:lpstr>
      <vt:lpstr>Hello World! (1)</vt:lpstr>
      <vt:lpstr>Hello World! (2)</vt:lpstr>
      <vt:lpstr>Hello World! (3)</vt:lpstr>
      <vt:lpstr>Compiling a Pthread program</vt:lpstr>
      <vt:lpstr>Running a Pthreads program</vt:lpstr>
      <vt:lpstr>Global variables</vt:lpstr>
      <vt:lpstr>Starting the Threads</vt:lpstr>
      <vt:lpstr>Starting the Threads</vt:lpstr>
      <vt:lpstr>pthread_t objects</vt:lpstr>
      <vt:lpstr>A closer look (1)</vt:lpstr>
      <vt:lpstr>A closer look (2)</vt:lpstr>
      <vt:lpstr>Function started by pthread_create</vt:lpstr>
      <vt:lpstr>Pointer to a function</vt:lpstr>
      <vt:lpstr>Running the Threads</vt:lpstr>
      <vt:lpstr>Stopping the Threads </vt:lpstr>
      <vt:lpstr>Matrix-Vector  Multiplication in pthreads</vt:lpstr>
      <vt:lpstr>Serial pseudo-code</vt:lpstr>
      <vt:lpstr>Using 3 Pthreads</vt:lpstr>
      <vt:lpstr>Pthreads matrix-vector multiplication</vt:lpstr>
      <vt:lpstr>PowerPoint 演示文稿</vt:lpstr>
      <vt:lpstr>Estimating π</vt:lpstr>
      <vt:lpstr>Using a dual core processor</vt:lpstr>
      <vt:lpstr>A thread function for computing π</vt:lpstr>
      <vt:lpstr>Possible race condition</vt:lpstr>
      <vt:lpstr>Busy-Waiting</vt:lpstr>
      <vt:lpstr>Pthreads global sum with busy-waiting</vt:lpstr>
      <vt:lpstr>Global sum function with critical  section after loop (1)</vt:lpstr>
      <vt:lpstr>Global sum function with critical  section after loop (2)</vt:lpstr>
      <vt:lpstr>Mutexes </vt:lpstr>
      <vt:lpstr>Mutexes</vt:lpstr>
      <vt:lpstr>Mutexes</vt:lpstr>
      <vt:lpstr>Mutexes </vt:lpstr>
      <vt:lpstr>Global sum function that uses a mutex (1)</vt:lpstr>
      <vt:lpstr>Global sum function that uses a mutex (2)</vt:lpstr>
      <vt:lpstr>PowerPoint 演示文稿</vt:lpstr>
      <vt:lpstr>5 threads</vt:lpstr>
      <vt:lpstr>PowerPoint 演示文稿</vt:lpstr>
      <vt:lpstr>Issues</vt:lpstr>
      <vt:lpstr>Problems with a mutex solution</vt:lpstr>
      <vt:lpstr>A first attempt at sending messages  using pthreads</vt:lpstr>
      <vt:lpstr>Syntax of the various semaphore  functions</vt:lpstr>
      <vt:lpstr>PowerPoint 演示文稿</vt:lpstr>
      <vt:lpstr>Using Semaphores to send msgs</vt:lpstr>
      <vt:lpstr>Barriers and Condition  Variables</vt:lpstr>
      <vt:lpstr>Barriers</vt:lpstr>
      <vt:lpstr>Using barriers to time the slowest  thread</vt:lpstr>
      <vt:lpstr>Using barriers for debugging</vt:lpstr>
      <vt:lpstr>Busy-waiting and a Mutex</vt:lpstr>
      <vt:lpstr>Busy-waiting and a Mutex</vt:lpstr>
      <vt:lpstr>Implementing a barrier with  semaphores</vt:lpstr>
      <vt:lpstr>Condition Variables</vt:lpstr>
      <vt:lpstr>Condition Variables</vt:lpstr>
      <vt:lpstr>Implementing a barrier with  condition variables</vt:lpstr>
      <vt:lpstr>PowerPoint 演示文稿</vt:lpstr>
      <vt:lpstr>Controlling access to a large, shared  data structure</vt:lpstr>
      <vt:lpstr>Linked Lists</vt:lpstr>
      <vt:lpstr>Linked List Membership</vt:lpstr>
      <vt:lpstr>Inserting a new node into a list</vt:lpstr>
      <vt:lpstr>Inserting a new node into a list</vt:lpstr>
      <vt:lpstr>Deleting a node from a linked list</vt:lpstr>
      <vt:lpstr>Deleting a node from a linked list</vt:lpstr>
      <vt:lpstr>A Multi-Threaded Linked List</vt:lpstr>
      <vt:lpstr>Simultaneous access by two threads</vt:lpstr>
      <vt:lpstr>Simultaneous access by two threads</vt:lpstr>
      <vt:lpstr>Solution #1 </vt:lpstr>
      <vt:lpstr>Issues</vt:lpstr>
      <vt:lpstr>Solution #2</vt:lpstr>
      <vt:lpstr>Implementation of Member with  one mutex per list node (1)</vt:lpstr>
      <vt:lpstr>Implementation of Member with  one mutex per list node (2)</vt:lpstr>
      <vt:lpstr>Issues</vt:lpstr>
      <vt:lpstr>Pthreads Read-Write Locks</vt:lpstr>
      <vt:lpstr>Pthreads Read-Write Locks</vt:lpstr>
      <vt:lpstr>Pthreads Read-Write Locks</vt:lpstr>
      <vt:lpstr>Pthreads Read-Write Locks</vt:lpstr>
      <vt:lpstr>Protecting our linked list functions</vt:lpstr>
      <vt:lpstr>Linked List Performance</vt:lpstr>
      <vt:lpstr>Linked List Performance</vt:lpstr>
      <vt:lpstr>Caches, Cache-Coherence, and False Sharing</vt:lpstr>
      <vt:lpstr>Pthreads matrix-vector multiplication</vt:lpstr>
      <vt:lpstr>Run-times and efficiencies of matrix-vector multiplication</vt:lpstr>
      <vt:lpstr>Cache coherence in Matrix-vector multiplication</vt:lpstr>
      <vt:lpstr>Cache coherence in Matrix-vector multiplication</vt:lpstr>
      <vt:lpstr>PowerPoint 演示文稿</vt:lpstr>
      <vt:lpstr>Thread-Safety</vt:lpstr>
      <vt:lpstr>Example: tokenizing texts</vt:lpstr>
      <vt:lpstr>Simple approach</vt:lpstr>
      <vt:lpstr>Simple approach</vt:lpstr>
      <vt:lpstr>The strtok function</vt:lpstr>
      <vt:lpstr>The strtok function</vt:lpstr>
      <vt:lpstr>Multi-threaded tokenizer (1)</vt:lpstr>
      <vt:lpstr>Multi-threaded tokenizer (2)</vt:lpstr>
      <vt:lpstr>Running with one thread</vt:lpstr>
      <vt:lpstr>Running with two threads</vt:lpstr>
      <vt:lpstr>What happened?</vt:lpstr>
      <vt:lpstr>What happened?</vt:lpstr>
      <vt:lpstr>Other unsafe C library functions</vt:lpstr>
      <vt:lpstr>“re-entrant” (thread safe) functions</vt:lpstr>
      <vt:lpstr>Concluding Remarks (1)</vt:lpstr>
      <vt:lpstr>Concluding Remarks (2)</vt:lpstr>
      <vt:lpstr>Concluding Remarks (3)</vt:lpstr>
      <vt:lpstr>Concluding Remarks (4)</vt:lpstr>
      <vt:lpstr>Concluding Remarks (5)</vt:lpstr>
      <vt:lpstr>Concluding Remarks (6)</vt:lpstr>
      <vt:lpstr>Concluding Remarks (7)</vt:lpstr>
      <vt:lpstr>Concluding Remarks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abc</dc:creator>
  <cp:lastModifiedBy>Lab317-Dan</cp:lastModifiedBy>
  <cp:revision>2527</cp:revision>
  <dcterms:created xsi:type="dcterms:W3CDTF">2016-05-19T09:43:00Z</dcterms:created>
  <dcterms:modified xsi:type="dcterms:W3CDTF">2025-02-23T13:20:16Z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D6658AA5E898436D8C4D560684DFEF3C</vt:lpwstr>
  </property>
</Properties>
</file>