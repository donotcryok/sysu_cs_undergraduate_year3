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8"/>
  </p:notesMasterIdLst>
  <p:sldIdLst>
    <p:sldId id="256" r:id="rId3"/>
    <p:sldId id="1578" r:id="rId4"/>
    <p:sldId id="1290" r:id="rId5"/>
    <p:sldId id="1433" r:id="rId6"/>
    <p:sldId id="1438" r:id="rId7"/>
    <p:sldId id="1439" r:id="rId8"/>
    <p:sldId id="1440" r:id="rId9"/>
    <p:sldId id="1441" r:id="rId10"/>
    <p:sldId id="1442" r:id="rId11"/>
    <p:sldId id="1443" r:id="rId12"/>
    <p:sldId id="1444" r:id="rId13"/>
    <p:sldId id="1579" r:id="rId14"/>
    <p:sldId id="1445" r:id="rId15"/>
    <p:sldId id="1446" r:id="rId16"/>
    <p:sldId id="1447" r:id="rId17"/>
    <p:sldId id="1448" r:id="rId18"/>
    <p:sldId id="1449" r:id="rId19"/>
    <p:sldId id="1450" r:id="rId20"/>
    <p:sldId id="1451" r:id="rId21"/>
    <p:sldId id="1452" r:id="rId22"/>
    <p:sldId id="1453" r:id="rId23"/>
    <p:sldId id="1454" r:id="rId24"/>
    <p:sldId id="1455" r:id="rId25"/>
    <p:sldId id="1456" r:id="rId26"/>
    <p:sldId id="1457" r:id="rId27"/>
    <p:sldId id="1458" r:id="rId28"/>
    <p:sldId id="1459" r:id="rId29"/>
    <p:sldId id="1460" r:id="rId30"/>
    <p:sldId id="1461" r:id="rId31"/>
    <p:sldId id="1462" r:id="rId32"/>
    <p:sldId id="1463" r:id="rId33"/>
    <p:sldId id="1464" r:id="rId34"/>
    <p:sldId id="1465" r:id="rId35"/>
    <p:sldId id="1466" r:id="rId36"/>
    <p:sldId id="1467" r:id="rId37"/>
    <p:sldId id="1468" r:id="rId38"/>
    <p:sldId id="1469" r:id="rId39"/>
    <p:sldId id="1470" r:id="rId40"/>
    <p:sldId id="1471" r:id="rId41"/>
    <p:sldId id="1472" r:id="rId42"/>
    <p:sldId id="1473" r:id="rId43"/>
    <p:sldId id="1474" r:id="rId44"/>
    <p:sldId id="1475" r:id="rId45"/>
    <p:sldId id="1476" r:id="rId46"/>
    <p:sldId id="1477" r:id="rId47"/>
    <p:sldId id="1478" r:id="rId48"/>
    <p:sldId id="1479" r:id="rId49"/>
    <p:sldId id="1480" r:id="rId50"/>
    <p:sldId id="1481" r:id="rId51"/>
    <p:sldId id="1482" r:id="rId52"/>
    <p:sldId id="1483" r:id="rId53"/>
    <p:sldId id="1484" r:id="rId54"/>
    <p:sldId id="1485" r:id="rId55"/>
    <p:sldId id="1486" r:id="rId56"/>
    <p:sldId id="1487" r:id="rId57"/>
    <p:sldId id="1491" r:id="rId58"/>
    <p:sldId id="1492" r:id="rId59"/>
    <p:sldId id="1493" r:id="rId60"/>
    <p:sldId id="1494" r:id="rId61"/>
    <p:sldId id="1495" r:id="rId62"/>
    <p:sldId id="1496" r:id="rId63"/>
    <p:sldId id="1497" r:id="rId64"/>
    <p:sldId id="1498" r:id="rId65"/>
    <p:sldId id="1488" r:id="rId66"/>
    <p:sldId id="1489" r:id="rId67"/>
    <p:sldId id="1490" r:id="rId68"/>
    <p:sldId id="1499" r:id="rId69"/>
    <p:sldId id="1500" r:id="rId70"/>
    <p:sldId id="1501" r:id="rId71"/>
    <p:sldId id="1502" r:id="rId72"/>
    <p:sldId id="1503" r:id="rId73"/>
    <p:sldId id="1504" r:id="rId74"/>
    <p:sldId id="1505" r:id="rId75"/>
    <p:sldId id="1506" r:id="rId76"/>
    <p:sldId id="1507" r:id="rId77"/>
    <p:sldId id="1508" r:id="rId78"/>
    <p:sldId id="1509" r:id="rId79"/>
    <p:sldId id="1510" r:id="rId80"/>
    <p:sldId id="1511" r:id="rId81"/>
    <p:sldId id="1512" r:id="rId82"/>
    <p:sldId id="1513" r:id="rId83"/>
    <p:sldId id="1514" r:id="rId84"/>
    <p:sldId id="1515" r:id="rId85"/>
    <p:sldId id="1516" r:id="rId86"/>
    <p:sldId id="1517" r:id="rId87"/>
    <p:sldId id="1518" r:id="rId88"/>
    <p:sldId id="1519" r:id="rId89"/>
    <p:sldId id="1520" r:id="rId90"/>
    <p:sldId id="1521" r:id="rId91"/>
    <p:sldId id="1522" r:id="rId92"/>
    <p:sldId id="1523" r:id="rId93"/>
    <p:sldId id="1524" r:id="rId94"/>
    <p:sldId id="1525" r:id="rId95"/>
    <p:sldId id="1526" r:id="rId96"/>
    <p:sldId id="1527" r:id="rId97"/>
    <p:sldId id="1528" r:id="rId98"/>
    <p:sldId id="1529" r:id="rId99"/>
    <p:sldId id="1530" r:id="rId100"/>
    <p:sldId id="1531" r:id="rId101"/>
    <p:sldId id="1532" r:id="rId102"/>
    <p:sldId id="1533" r:id="rId103"/>
    <p:sldId id="1534" r:id="rId104"/>
    <p:sldId id="1535" r:id="rId105"/>
    <p:sldId id="1536" r:id="rId106"/>
    <p:sldId id="1537" r:id="rId107"/>
    <p:sldId id="1538" r:id="rId108"/>
    <p:sldId id="1539" r:id="rId109"/>
    <p:sldId id="1540" r:id="rId110"/>
    <p:sldId id="1541" r:id="rId111"/>
    <p:sldId id="1542" r:id="rId112"/>
    <p:sldId id="1543" r:id="rId113"/>
    <p:sldId id="1544" r:id="rId114"/>
    <p:sldId id="1545" r:id="rId115"/>
    <p:sldId id="1546" r:id="rId116"/>
    <p:sldId id="1547" r:id="rId117"/>
    <p:sldId id="1548" r:id="rId118"/>
    <p:sldId id="1549" r:id="rId119"/>
    <p:sldId id="1550" r:id="rId120"/>
    <p:sldId id="1551" r:id="rId121"/>
    <p:sldId id="1552" r:id="rId122"/>
    <p:sldId id="1553" r:id="rId123"/>
    <p:sldId id="1554" r:id="rId124"/>
    <p:sldId id="1555" r:id="rId125"/>
    <p:sldId id="1556" r:id="rId126"/>
    <p:sldId id="1557" r:id="rId127"/>
    <p:sldId id="1558" r:id="rId128"/>
    <p:sldId id="1559" r:id="rId129"/>
    <p:sldId id="1560" r:id="rId130"/>
    <p:sldId id="1561" r:id="rId131"/>
    <p:sldId id="1562" r:id="rId132"/>
    <p:sldId id="1563" r:id="rId133"/>
    <p:sldId id="1564" r:id="rId134"/>
    <p:sldId id="1565" r:id="rId135"/>
    <p:sldId id="1566" r:id="rId136"/>
    <p:sldId id="1569" r:id="rId137"/>
    <p:sldId id="1567" r:id="rId138"/>
    <p:sldId id="1568" r:id="rId139"/>
    <p:sldId id="1570" r:id="rId140"/>
    <p:sldId id="1571" r:id="rId141"/>
    <p:sldId id="1572" r:id="rId142"/>
    <p:sldId id="1573" r:id="rId143"/>
    <p:sldId id="1574" r:id="rId144"/>
    <p:sldId id="1575" r:id="rId145"/>
    <p:sldId id="1576" r:id="rId146"/>
    <p:sldId id="1577" r:id="rId147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5CC24-4652-5244-9F7C-0C5B1D4CD371}" v="12" dt="2023-10-08T12:12:29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78" d="100"/>
          <a:sy n="78" d="100"/>
        </p:scale>
        <p:origin x="1003" y="72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commentAuthors" Target="commentAuthors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presProps" Target="presProps.xml"/><Relationship Id="rId155" Type="http://schemas.microsoft.com/office/2015/10/relationships/revisionInfo" Target="revisionInfo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microsoft.com/office/2016/11/relationships/changesInfo" Target="changesInfos/changesInfo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黄聃" userId="05fd6555-67a9-4797-980c-de46b7ca3e6c" providerId="ADAL" clId="{53B5CC24-4652-5244-9F7C-0C5B1D4CD371}"/>
    <pc:docChg chg="undo custSel modSld">
      <pc:chgData name="黄聃" userId="05fd6555-67a9-4797-980c-de46b7ca3e6c" providerId="ADAL" clId="{53B5CC24-4652-5244-9F7C-0C5B1D4CD371}" dt="2023-10-08T12:18:03.550" v="207" actId="20577"/>
      <pc:docMkLst>
        <pc:docMk/>
      </pc:docMkLst>
      <pc:sldChg chg="addSp modSp mod">
        <pc:chgData name="黄聃" userId="05fd6555-67a9-4797-980c-de46b7ca3e6c" providerId="ADAL" clId="{53B5CC24-4652-5244-9F7C-0C5B1D4CD371}" dt="2023-09-19T15:23:21.270" v="192" actId="1582"/>
        <pc:sldMkLst>
          <pc:docMk/>
          <pc:sldMk cId="0" sldId="1290"/>
        </pc:sldMkLst>
        <pc:spChg chg="add mod">
          <ac:chgData name="黄聃" userId="05fd6555-67a9-4797-980c-de46b7ca3e6c" providerId="ADAL" clId="{53B5CC24-4652-5244-9F7C-0C5B1D4CD371}" dt="2023-09-19T15:22:19.201" v="179" actId="1582"/>
          <ac:spMkLst>
            <pc:docMk/>
            <pc:sldMk cId="0" sldId="1290"/>
            <ac:spMk id="2" creationId="{02BAD578-AB50-B945-B0AF-1979D3515EDB}"/>
          </ac:spMkLst>
        </pc:spChg>
        <pc:spChg chg="add mod">
          <ac:chgData name="黄聃" userId="05fd6555-67a9-4797-980c-de46b7ca3e6c" providerId="ADAL" clId="{53B5CC24-4652-5244-9F7C-0C5B1D4CD371}" dt="2023-09-19T15:22:22.740" v="180" actId="1076"/>
          <ac:spMkLst>
            <pc:docMk/>
            <pc:sldMk cId="0" sldId="1290"/>
            <ac:spMk id="6" creationId="{1E757CC9-70FF-624D-8416-2262BACD7829}"/>
          </ac:spMkLst>
        </pc:spChg>
        <pc:spChg chg="add mod">
          <ac:chgData name="黄聃" userId="05fd6555-67a9-4797-980c-de46b7ca3e6c" providerId="ADAL" clId="{53B5CC24-4652-5244-9F7C-0C5B1D4CD371}" dt="2023-09-19T15:22:19.201" v="179" actId="1582"/>
          <ac:spMkLst>
            <pc:docMk/>
            <pc:sldMk cId="0" sldId="1290"/>
            <ac:spMk id="7" creationId="{6C5CDB28-9443-174C-B3C9-A0EA68C65097}"/>
          </ac:spMkLst>
        </pc:spChg>
        <pc:cxnChg chg="add mod">
          <ac:chgData name="黄聃" userId="05fd6555-67a9-4797-980c-de46b7ca3e6c" providerId="ADAL" clId="{53B5CC24-4652-5244-9F7C-0C5B1D4CD371}" dt="2023-09-19T15:23:21.270" v="192" actId="1582"/>
          <ac:cxnSpMkLst>
            <pc:docMk/>
            <pc:sldMk cId="0" sldId="1290"/>
            <ac:cxnSpMk id="4" creationId="{8C196019-191B-974E-BC12-2D7DADCF8E7D}"/>
          </ac:cxnSpMkLst>
        </pc:cxnChg>
        <pc:cxnChg chg="add mod">
          <ac:chgData name="黄聃" userId="05fd6555-67a9-4797-980c-de46b7ca3e6c" providerId="ADAL" clId="{53B5CC24-4652-5244-9F7C-0C5B1D4CD371}" dt="2023-09-19T15:23:21.270" v="192" actId="1582"/>
          <ac:cxnSpMkLst>
            <pc:docMk/>
            <pc:sldMk cId="0" sldId="1290"/>
            <ac:cxnSpMk id="10" creationId="{FE73AE5A-E9E3-8A4F-9829-DF4635887BC4}"/>
          </ac:cxnSpMkLst>
        </pc:cxnChg>
        <pc:cxnChg chg="add mod">
          <ac:chgData name="黄聃" userId="05fd6555-67a9-4797-980c-de46b7ca3e6c" providerId="ADAL" clId="{53B5CC24-4652-5244-9F7C-0C5B1D4CD371}" dt="2023-09-19T15:23:21.270" v="192" actId="1582"/>
          <ac:cxnSpMkLst>
            <pc:docMk/>
            <pc:sldMk cId="0" sldId="1290"/>
            <ac:cxnSpMk id="15" creationId="{86C17E32-19A7-8C4C-A0AB-1FC2F0A82C90}"/>
          </ac:cxnSpMkLst>
        </pc:cxnChg>
      </pc:sldChg>
      <pc:sldChg chg="addSp modSp mod">
        <pc:chgData name="黄聃" userId="05fd6555-67a9-4797-980c-de46b7ca3e6c" providerId="ADAL" clId="{53B5CC24-4652-5244-9F7C-0C5B1D4CD371}" dt="2023-09-17T13:29:19.307" v="10" actId="2711"/>
        <pc:sldMkLst>
          <pc:docMk/>
          <pc:sldMk cId="0" sldId="1439"/>
        </pc:sldMkLst>
        <pc:spChg chg="add mod">
          <ac:chgData name="黄聃" userId="05fd6555-67a9-4797-980c-de46b7ca3e6c" providerId="ADAL" clId="{53B5CC24-4652-5244-9F7C-0C5B1D4CD371}" dt="2023-09-17T13:29:19.307" v="10" actId="2711"/>
          <ac:spMkLst>
            <pc:docMk/>
            <pc:sldMk cId="0" sldId="1439"/>
            <ac:spMk id="2" creationId="{3B77BB0B-3863-8A46-9B7C-99AEB773A433}"/>
          </ac:spMkLst>
        </pc:spChg>
        <pc:picChg chg="mod">
          <ac:chgData name="黄聃" userId="05fd6555-67a9-4797-980c-de46b7ca3e6c" providerId="ADAL" clId="{53B5CC24-4652-5244-9F7C-0C5B1D4CD371}" dt="2023-09-17T13:27:37.359" v="2" actId="1076"/>
          <ac:picMkLst>
            <pc:docMk/>
            <pc:sldMk cId="0" sldId="1439"/>
            <ac:picMk id="1028" creationId="{00000000-0000-0000-0000-000000000000}"/>
          </ac:picMkLst>
        </pc:picChg>
        <pc:picChg chg="mod">
          <ac:chgData name="黄聃" userId="05fd6555-67a9-4797-980c-de46b7ca3e6c" providerId="ADAL" clId="{53B5CC24-4652-5244-9F7C-0C5B1D4CD371}" dt="2023-09-17T13:27:40.047" v="3" actId="1076"/>
          <ac:picMkLst>
            <pc:docMk/>
            <pc:sldMk cId="0" sldId="1439"/>
            <ac:picMk id="1032" creationId="{00000000-0000-0000-0000-000000000000}"/>
          </ac:picMkLst>
        </pc:picChg>
      </pc:sldChg>
      <pc:sldChg chg="modSp mod">
        <pc:chgData name="黄聃" userId="05fd6555-67a9-4797-980c-de46b7ca3e6c" providerId="ADAL" clId="{53B5CC24-4652-5244-9F7C-0C5B1D4CD371}" dt="2023-09-17T13:35:55.419" v="26" actId="20577"/>
        <pc:sldMkLst>
          <pc:docMk/>
          <pc:sldMk cId="0" sldId="1458"/>
        </pc:sldMkLst>
        <pc:spChg chg="mod">
          <ac:chgData name="黄聃" userId="05fd6555-67a9-4797-980c-de46b7ca3e6c" providerId="ADAL" clId="{53B5CC24-4652-5244-9F7C-0C5B1D4CD371}" dt="2023-09-17T13:35:55.419" v="26" actId="20577"/>
          <ac:spMkLst>
            <pc:docMk/>
            <pc:sldMk cId="0" sldId="1458"/>
            <ac:spMk id="2" creationId="{00000000-0000-0000-0000-000000000000}"/>
          </ac:spMkLst>
        </pc:spChg>
      </pc:sldChg>
      <pc:sldChg chg="modSp mod">
        <pc:chgData name="黄聃" userId="05fd6555-67a9-4797-980c-de46b7ca3e6c" providerId="ADAL" clId="{53B5CC24-4652-5244-9F7C-0C5B1D4CD371}" dt="2023-09-17T13:38:19.290" v="142" actId="27636"/>
        <pc:sldMkLst>
          <pc:docMk/>
          <pc:sldMk cId="0" sldId="1461"/>
        </pc:sldMkLst>
        <pc:spChg chg="mod">
          <ac:chgData name="黄聃" userId="05fd6555-67a9-4797-980c-de46b7ca3e6c" providerId="ADAL" clId="{53B5CC24-4652-5244-9F7C-0C5B1D4CD371}" dt="2023-09-17T13:38:19.290" v="142" actId="27636"/>
          <ac:spMkLst>
            <pc:docMk/>
            <pc:sldMk cId="0" sldId="1461"/>
            <ac:spMk id="3" creationId="{00000000-0000-0000-0000-000000000000}"/>
          </ac:spMkLst>
        </pc:spChg>
      </pc:sldChg>
      <pc:sldChg chg="modSp mod">
        <pc:chgData name="黄聃" userId="05fd6555-67a9-4797-980c-de46b7ca3e6c" providerId="ADAL" clId="{53B5CC24-4652-5244-9F7C-0C5B1D4CD371}" dt="2023-10-08T12:12:29.318" v="202" actId="27636"/>
        <pc:sldMkLst>
          <pc:docMk/>
          <pc:sldMk cId="0" sldId="1569"/>
        </pc:sldMkLst>
        <pc:spChg chg="mod">
          <ac:chgData name="黄聃" userId="05fd6555-67a9-4797-980c-de46b7ca3e6c" providerId="ADAL" clId="{53B5CC24-4652-5244-9F7C-0C5B1D4CD371}" dt="2023-10-08T12:12:10.764" v="196" actId="20577"/>
          <ac:spMkLst>
            <pc:docMk/>
            <pc:sldMk cId="0" sldId="1569"/>
            <ac:spMk id="7" creationId="{C9575F27-E316-47E5-9A6D-47802BA5CCEA}"/>
          </ac:spMkLst>
        </pc:spChg>
        <pc:spChg chg="mod">
          <ac:chgData name="黄聃" userId="05fd6555-67a9-4797-980c-de46b7ca3e6c" providerId="ADAL" clId="{53B5CC24-4652-5244-9F7C-0C5B1D4CD371}" dt="2023-10-08T12:12:05.653" v="194" actId="20577"/>
          <ac:spMkLst>
            <pc:docMk/>
            <pc:sldMk cId="0" sldId="1569"/>
            <ac:spMk id="8" creationId="{16FE5D5C-DC31-4942-8F00-01BFE6A73080}"/>
          </ac:spMkLst>
        </pc:spChg>
        <pc:spChg chg="mod">
          <ac:chgData name="黄聃" userId="05fd6555-67a9-4797-980c-de46b7ca3e6c" providerId="ADAL" clId="{53B5CC24-4652-5244-9F7C-0C5B1D4CD371}" dt="2023-10-08T12:12:15.203" v="198" actId="20577"/>
          <ac:spMkLst>
            <pc:docMk/>
            <pc:sldMk cId="0" sldId="1569"/>
            <ac:spMk id="16" creationId="{AFF24C80-1741-44D1-BC90-37E8CA792219}"/>
          </ac:spMkLst>
        </pc:spChg>
        <pc:spChg chg="mod">
          <ac:chgData name="黄聃" userId="05fd6555-67a9-4797-980c-de46b7ca3e6c" providerId="ADAL" clId="{53B5CC24-4652-5244-9F7C-0C5B1D4CD371}" dt="2023-10-08T12:12:20.127" v="200" actId="20577"/>
          <ac:spMkLst>
            <pc:docMk/>
            <pc:sldMk cId="0" sldId="1569"/>
            <ac:spMk id="17" creationId="{23ADE262-DA9A-400B-B451-3CD03CFC4AB7}"/>
          </ac:spMkLst>
        </pc:spChg>
        <pc:picChg chg="mod">
          <ac:chgData name="黄聃" userId="05fd6555-67a9-4797-980c-de46b7ca3e6c" providerId="ADAL" clId="{53B5CC24-4652-5244-9F7C-0C5B1D4CD371}" dt="2023-10-08T12:12:29.318" v="202" actId="27636"/>
          <ac:picMkLst>
            <pc:docMk/>
            <pc:sldMk cId="0" sldId="1569"/>
            <ac:picMk id="136195" creationId="{00000000-0000-0000-0000-000000000000}"/>
          </ac:picMkLst>
        </pc:picChg>
      </pc:sldChg>
      <pc:sldChg chg="modSp mod">
        <pc:chgData name="黄聃" userId="05fd6555-67a9-4797-980c-de46b7ca3e6c" providerId="ADAL" clId="{53B5CC24-4652-5244-9F7C-0C5B1D4CD371}" dt="2023-10-08T12:18:03.550" v="207" actId="20577"/>
        <pc:sldMkLst>
          <pc:docMk/>
          <pc:sldMk cId="0" sldId="1572"/>
        </pc:sldMkLst>
        <pc:spChg chg="mod">
          <ac:chgData name="黄聃" userId="05fd6555-67a9-4797-980c-de46b7ca3e6c" providerId="ADAL" clId="{53B5CC24-4652-5244-9F7C-0C5B1D4CD371}" dt="2023-10-08T12:18:03.550" v="207" actId="20577"/>
          <ac:spMkLst>
            <pc:docMk/>
            <pc:sldMk cId="0" sldId="157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fld id="{4DE392DD-EC04-4DB4-A7F1-5230293B05FE}" type="datetime3">
              <a:rPr lang="en-US" altLang="en-US" sz="1300">
                <a:latin typeface="Times New Roman" panose="02020603050405020304" pitchFamily="18" charset="0"/>
              </a:rPr>
              <a:t>23 February 2025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defTabSz="967105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fld id="{5D90072C-E5D5-4B3B-972F-C50EFF689030}" type="slidenum">
              <a:rPr lang="en-US" altLang="en-US" sz="1300">
                <a:latin typeface="Times New Roman" panose="02020603050405020304" pitchFamily="18" charset="0"/>
              </a:rPr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Slide 2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宋体" panose="02010600030101010101" pitchFamily="2" charset="-122"/>
              </a:rPr>
              <a:t>：本次汇报包括以下五方面内容，首先介绍的是研究背景</a:t>
            </a:r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sendbufAddress</a:t>
            </a:r>
            <a:r>
              <a:rPr lang="en-US" altLang="zh-CN" dirty="0"/>
              <a:t> of send buffer (choice, significant only at root).</a:t>
            </a:r>
            <a:r>
              <a:rPr lang="en-US" altLang="zh-CN" dirty="0" err="1"/>
              <a:t>sendcountNumber</a:t>
            </a:r>
            <a:r>
              <a:rPr lang="en-US" altLang="zh-CN" dirty="0"/>
              <a:t> of elements sent to each process (integer, significant only at root).</a:t>
            </a:r>
            <a:r>
              <a:rPr lang="en-US" altLang="zh-CN" dirty="0" err="1"/>
              <a:t>sendtypeDatatype</a:t>
            </a:r>
            <a:r>
              <a:rPr lang="en-US" altLang="zh-CN" dirty="0"/>
              <a:t> of send buffer elements (handle, significant only at root).</a:t>
            </a:r>
            <a:r>
              <a:rPr lang="en-US" altLang="zh-CN" dirty="0" err="1"/>
              <a:t>recvcountNumber</a:t>
            </a:r>
            <a:r>
              <a:rPr lang="en-US" altLang="zh-CN" dirty="0"/>
              <a:t> of elements in receive buffer (integer).</a:t>
            </a:r>
            <a:r>
              <a:rPr lang="en-US" altLang="zh-CN" dirty="0" err="1"/>
              <a:t>recvtypeDatatype</a:t>
            </a:r>
            <a:r>
              <a:rPr lang="en-US" altLang="zh-CN" dirty="0"/>
              <a:t> of receive buffer elements (handle).</a:t>
            </a:r>
            <a:r>
              <a:rPr lang="en-US" altLang="zh-CN" dirty="0" err="1"/>
              <a:t>rootRank</a:t>
            </a:r>
            <a:r>
              <a:rPr lang="en-US" altLang="zh-CN" dirty="0"/>
              <a:t> of sending process (integer).</a:t>
            </a:r>
            <a:r>
              <a:rPr lang="en-US" altLang="zh-CN" dirty="0" err="1"/>
              <a:t>commCommunicator</a:t>
            </a:r>
            <a:r>
              <a:rPr lang="en-US" altLang="zh-CN" dirty="0"/>
              <a:t> (handle).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334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sz="38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3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3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3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3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3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178481"/>
            <a:ext cx="10881360" cy="2506980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00200" y="3782140"/>
            <a:ext cx="9601200" cy="1738550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1795226"/>
            <a:ext cx="11041380" cy="299537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73443" y="4818937"/>
            <a:ext cx="11041380" cy="1575196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80110" y="1916906"/>
            <a:ext cx="5440680" cy="456890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0810" y="1916906"/>
            <a:ext cx="5440680" cy="456890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83382"/>
            <a:ext cx="11041380" cy="13918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81779" y="1765221"/>
            <a:ext cx="5415676" cy="86510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81779" y="2630329"/>
            <a:ext cx="5415676" cy="386881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80810" y="1765221"/>
            <a:ext cx="5442347" cy="86510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80810" y="2630329"/>
            <a:ext cx="5442347" cy="386881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480060"/>
            <a:ext cx="4128849" cy="168021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42347" y="1036797"/>
            <a:ext cx="6480810" cy="5117306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1777" y="2160270"/>
            <a:ext cx="4128849" cy="40021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480060"/>
            <a:ext cx="4128849" cy="168021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036797"/>
            <a:ext cx="6480810" cy="5117306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1777" y="2160270"/>
            <a:ext cx="4128849" cy="40021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83381"/>
            <a:ext cx="2760345" cy="61024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80110" y="383381"/>
            <a:ext cx="8121015" cy="610243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0" y="0"/>
            <a:ext cx="12801600" cy="803434"/>
          </a:xfrm>
          <a:prstGeom prst="rect">
            <a:avLst/>
          </a:prstGeom>
          <a:solidFill>
            <a:srgbClr val="767D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GB" altLang="en-US" sz="252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9"/>
          <p:cNvSpPr>
            <a:spLocks noChangeArrowheads="1"/>
          </p:cNvSpPr>
          <p:nvPr userDrawn="1"/>
        </p:nvSpPr>
        <p:spPr bwMode="auto">
          <a:xfrm>
            <a:off x="0" y="803434"/>
            <a:ext cx="12801600" cy="1833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pic>
        <p:nvPicPr>
          <p:cNvPr id="4" name="Picture 17" descr="MK_logo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" y="53340"/>
            <a:ext cx="1720215" cy="75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3075940" y="803434"/>
            <a:ext cx="64453" cy="6019086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sp>
        <p:nvSpPr>
          <p:cNvPr id="6" name="Rectangle 20"/>
          <p:cNvSpPr>
            <a:spLocks noChangeArrowheads="1"/>
          </p:cNvSpPr>
          <p:nvPr userDrawn="1"/>
        </p:nvSpPr>
        <p:spPr bwMode="auto">
          <a:xfrm>
            <a:off x="3582670" y="1255157"/>
            <a:ext cx="64453" cy="4007168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3278188" y="2011919"/>
            <a:ext cx="9272270" cy="48339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sp>
        <p:nvSpPr>
          <p:cNvPr id="8" name="Rectangle 38"/>
          <p:cNvSpPr>
            <a:spLocks noChangeArrowheads="1"/>
          </p:cNvSpPr>
          <p:nvPr userDrawn="1"/>
        </p:nvSpPr>
        <p:spPr bwMode="auto">
          <a:xfrm>
            <a:off x="0" y="6624161"/>
            <a:ext cx="12801600" cy="576739"/>
          </a:xfrm>
          <a:prstGeom prst="rect">
            <a:avLst/>
          </a:prstGeom>
          <a:solidFill>
            <a:srgbClr val="767D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sp>
        <p:nvSpPr>
          <p:cNvPr id="9" name="Rectangle 39"/>
          <p:cNvSpPr>
            <a:spLocks noChangeArrowheads="1"/>
          </p:cNvSpPr>
          <p:nvPr userDrawn="1"/>
        </p:nvSpPr>
        <p:spPr bwMode="auto">
          <a:xfrm>
            <a:off x="0" y="6624161"/>
            <a:ext cx="12801600" cy="1833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360"/>
          </a:p>
        </p:txBody>
      </p:sp>
      <p:pic>
        <p:nvPicPr>
          <p:cNvPr id="10" name="Picture 41" descr="MK_logo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3" y="6700838"/>
            <a:ext cx="1109027" cy="48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2"/>
          <p:cNvSpPr txBox="1">
            <a:spLocks noChangeArrowheads="1"/>
          </p:cNvSpPr>
          <p:nvPr userDrawn="1"/>
        </p:nvSpPr>
        <p:spPr bwMode="auto">
          <a:xfrm>
            <a:off x="11743690" y="6822520"/>
            <a:ext cx="806768" cy="2844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BE8C8B4B-BF4D-43A2-94B7-9960261E444F}" type="slidenum">
              <a:rPr lang="en-AU" altLang="en-US" sz="1260" b="1">
                <a:latin typeface="Arial" panose="020B0604020202020204" pitchFamily="34" charset="0"/>
              </a:rPr>
              <a:t>‹#›</a:t>
            </a:fld>
            <a:endParaRPr lang="en-GB" altLang="en-US" sz="1260">
              <a:latin typeface="Arial" panose="020B0604020202020204" pitchFamily="34" charset="0"/>
            </a:endParaRPr>
          </a:p>
        </p:txBody>
      </p:sp>
      <p:pic>
        <p:nvPicPr>
          <p:cNvPr id="12" name="Picture 20" descr="978012374260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53322" y="1210134"/>
            <a:ext cx="2594938" cy="24003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Rectangle 4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en-US" dirty="0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2025/2/23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i="0" kern="1200" baseline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158489"/>
            <a:ext cx="11041380" cy="1391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773195"/>
            <a:ext cx="11041380" cy="471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6674169"/>
            <a:ext cx="288036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3E7E7-C8CC-4506-A802-6D8844E9E697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6674169"/>
            <a:ext cx="43205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6674169"/>
            <a:ext cx="288036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C98E9-1D69-4447-B0EB-BAB8437BFC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200" b="1" kern="1200">
          <a:solidFill>
            <a:schemeClr val="tx1"/>
          </a:solidFill>
          <a:latin typeface="+mj-ea"/>
          <a:ea typeface="+mj-ea"/>
          <a:cs typeface="Times New Roman" panose="02020603050405020304" pitchFamily="18" charset="0"/>
        </a:defRPr>
      </a:lvl1pPr>
    </p:titleStyle>
    <p:bodyStyle>
      <a:lvl1pPr marL="240030" indent="-240030" algn="l" defTabSz="960120" rtl="0" eaLnBrk="1" latinLnBrk="0" hangingPunct="1">
        <a:lnSpc>
          <a:spcPct val="12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12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12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12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12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66114"/>
            <a:ext cx="8136904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0"/>
          <p:cNvSpPr>
            <a:spLocks noGrp="1" noChangeArrowheads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7410" name="Rectangle 11"/>
          <p:cNvSpPr>
            <a:spLocks noChangeArrowheads="1"/>
          </p:cNvSpPr>
          <p:nvPr/>
        </p:nvSpPr>
        <p:spPr bwMode="auto">
          <a:xfrm>
            <a:off x="4585574" y="1316831"/>
            <a:ext cx="205803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AU" altLang="en-US" sz="3360">
                <a:solidFill>
                  <a:srgbClr val="000099"/>
                </a:solidFill>
                <a:latin typeface="Arial" panose="020B0604020202020204" pitchFamily="34" charset="0"/>
              </a:rPr>
              <a:t>Chapter 3</a:t>
            </a:r>
            <a:endParaRPr lang="en-GB" altLang="en-US" sz="336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12"/>
          <p:cNvSpPr>
            <a:spLocks noChangeArrowheads="1"/>
          </p:cNvSpPr>
          <p:nvPr/>
        </p:nvSpPr>
        <p:spPr bwMode="auto">
          <a:xfrm>
            <a:off x="4585574" y="2163604"/>
            <a:ext cx="5304893" cy="174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360" dirty="0">
                <a:solidFill>
                  <a:srgbClr val="0066FF"/>
                </a:solidFill>
                <a:latin typeface="Arial" panose="020B0604020202020204" pitchFamily="34" charset="0"/>
              </a:rPr>
              <a:t>Distributed Memory Programming with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360" dirty="0">
                <a:solidFill>
                  <a:srgbClr val="0066FF"/>
                </a:solidFill>
                <a:latin typeface="Arial" panose="020B0604020202020204" pitchFamily="34" charset="0"/>
              </a:rPr>
              <a:t>MPI</a:t>
            </a:r>
            <a:endParaRPr lang="en-GB" altLang="en-US" sz="3360" dirty="0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Text Box 13"/>
          <p:cNvSpPr txBox="1">
            <a:spLocks noChangeArrowheads="1"/>
          </p:cNvSpPr>
          <p:nvPr/>
        </p:nvSpPr>
        <p:spPr bwMode="auto">
          <a:xfrm>
            <a:off x="3925491" y="-75010"/>
            <a:ext cx="712589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940">
                <a:solidFill>
                  <a:schemeClr val="bg1"/>
                </a:solidFill>
                <a:latin typeface="Times New Roman" panose="02020603050405020304" pitchFamily="18" charset="0"/>
              </a:rPr>
              <a:t>An Introduction to Parallel Programming</a:t>
            </a:r>
          </a:p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100">
                <a:solidFill>
                  <a:schemeClr val="bg1"/>
                </a:solidFill>
                <a:latin typeface="Arial" panose="020B0604020202020204" pitchFamily="34" charset="0"/>
              </a:rPr>
              <a:t>Peter Pacheco</a:t>
            </a:r>
            <a:endParaRPr lang="en-GB" altLang="en-US" sz="21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ym typeface="+mn-ea"/>
              </a:rPr>
              <a:t>Roadmap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6184" y="1008162"/>
            <a:ext cx="11518900" cy="4779010"/>
          </a:xfrm>
        </p:spPr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Writing your first MPI program.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Using the common MPI functions.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The Trapezoidal Rule in MPI.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Collective communication.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MPI derived datatypes.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Performance evaluation of MPI programs.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Parallel sorting.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altLang="en-US" sz="3200" b="0" dirty="0"/>
              <a:t>Safety in MPI programs.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en-US" sz="3200" b="0" dirty="0"/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altLang="en-US" sz="32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AD578-AB50-B945-B0AF-1979D3515EDB}"/>
              </a:ext>
            </a:extLst>
          </p:cNvPr>
          <p:cNvSpPr txBox="1"/>
          <p:nvPr/>
        </p:nvSpPr>
        <p:spPr>
          <a:xfrm>
            <a:off x="10513134" y="2088863"/>
            <a:ext cx="91884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USE</a:t>
            </a:r>
            <a:endParaRPr lang="en-C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57CC9-70FF-624D-8416-2262BACD7829}"/>
              </a:ext>
            </a:extLst>
          </p:cNvPr>
          <p:cNvSpPr txBox="1"/>
          <p:nvPr/>
        </p:nvSpPr>
        <p:spPr>
          <a:xfrm>
            <a:off x="10250241" y="3938017"/>
            <a:ext cx="1444626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Design</a:t>
            </a:r>
            <a:endParaRPr lang="en-C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CDB28-9443-174C-B3C9-A0EA68C65097}"/>
              </a:ext>
            </a:extLst>
          </p:cNvPr>
          <p:cNvSpPr txBox="1"/>
          <p:nvPr/>
        </p:nvSpPr>
        <p:spPr>
          <a:xfrm>
            <a:off x="7624936" y="2830616"/>
            <a:ext cx="224632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Motivation</a:t>
            </a:r>
            <a:endParaRPr lang="en-CN" sz="3600" dirty="0"/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8C196019-191B-974E-BC12-2D7DADCF8E7D}"/>
              </a:ext>
            </a:extLst>
          </p:cNvPr>
          <p:cNvCxnSpPr>
            <a:stCxn id="7" idx="2"/>
            <a:endCxn id="6" idx="1"/>
          </p:cNvCxnSpPr>
          <p:nvPr/>
        </p:nvCxnSpPr>
        <p:spPr>
          <a:xfrm rot="16200000" flipH="1">
            <a:off x="9107051" y="3117993"/>
            <a:ext cx="784236" cy="1502144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E73AE5A-E9E3-8A4F-9829-DF4635887BC4}"/>
              </a:ext>
            </a:extLst>
          </p:cNvPr>
          <p:cNvCxnSpPr>
            <a:cxnSpLocks/>
            <a:stCxn id="6" idx="3"/>
            <a:endCxn id="2" idx="3"/>
          </p:cNvCxnSpPr>
          <p:nvPr/>
        </p:nvCxnSpPr>
        <p:spPr>
          <a:xfrm flipH="1" flipV="1">
            <a:off x="11431975" y="2412029"/>
            <a:ext cx="262892" cy="1849154"/>
          </a:xfrm>
          <a:prstGeom prst="curvedConnector3">
            <a:avLst>
              <a:gd name="adj1" fmla="val -8695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6C17E32-19A7-8C4C-A0AB-1FC2F0A82C90}"/>
              </a:ext>
            </a:extLst>
          </p:cNvPr>
          <p:cNvCxnSpPr>
            <a:cxnSpLocks/>
            <a:stCxn id="2" idx="1"/>
            <a:endCxn id="7" idx="0"/>
          </p:cNvCxnSpPr>
          <p:nvPr/>
        </p:nvCxnSpPr>
        <p:spPr>
          <a:xfrm rot="10800000" flipV="1">
            <a:off x="8748098" y="2412028"/>
            <a:ext cx="1765037" cy="418587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sym typeface="+mn-ea"/>
              </a:rPr>
              <a:t>A distributed memory system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1507" name="Picture 2" descr="f03-01-978012374260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030" y="1628775"/>
            <a:ext cx="8964930" cy="3605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shared memory system</a:t>
            </a:r>
          </a:p>
        </p:txBody>
      </p:sp>
      <p:sp>
        <p:nvSpPr>
          <p:cNvPr id="22530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2531" name="Picture 2" descr="f03-02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718" y="1861900"/>
            <a:ext cx="6275785" cy="2743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li-Perseus: Unified and Distributed Communication Framework for Deep  Learning | by Alibaba Cloud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52" y="792138"/>
            <a:ext cx="5162459" cy="362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roduction to Kubeflow MPI Operator and Industry Adoption - Yuan&amp;#39;s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744" y="3600450"/>
            <a:ext cx="6730538" cy="287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77BB0B-3863-8A46-9B7C-99AEB773A433}"/>
              </a:ext>
            </a:extLst>
          </p:cNvPr>
          <p:cNvSpPr txBox="1"/>
          <p:nvPr/>
        </p:nvSpPr>
        <p:spPr>
          <a:xfrm>
            <a:off x="1000200" y="4623658"/>
            <a:ext cx="42484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Ali-Perseus: Unified and Distributed Communication Framework for Deep Learning - Alibaba Cloud </a:t>
            </a:r>
          </a:p>
          <a:p>
            <a:endParaRPr lang="en-CN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Hello World! </a:t>
            </a:r>
          </a:p>
        </p:txBody>
      </p:sp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05" y="1296035"/>
            <a:ext cx="6118860" cy="322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5417344" y="5490686"/>
            <a:ext cx="258953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360"/>
              <a:t>(a classic)</a:t>
            </a:r>
          </a:p>
        </p:txBody>
      </p:sp>
      <p:pic>
        <p:nvPicPr>
          <p:cNvPr id="23557" name="Picture 4" descr="business,concepts,earth,education,giving,global communications,globes,growths,handful,holding,ideas,iStockphoto,maps,palms,peace symbol,Photographs,planets,topography,world in hand,world ma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994" y="3222070"/>
            <a:ext cx="3250406" cy="325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902030302020204" pitchFamily="66" charset="0"/>
                <a:ea typeface="MS PGothic" panose="020B0600070205080204" pitchFamily="34" charset="-128"/>
                <a:cs typeface="MS PGothic" panose="020B0600070205080204" pitchFamily="34" charset="-128"/>
              </a:rPr>
              <a:t>Finding Out About the Environment</a:t>
            </a:r>
            <a:endParaRPr lang="en-US" dirty="0">
              <a:latin typeface="Comic Sans MS" panose="030F09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1350" y="1080170"/>
            <a:ext cx="11112500" cy="5072980"/>
          </a:xfrm>
        </p:spPr>
        <p:txBody>
          <a:bodyPr>
            <a:normAutofit fontScale="97500"/>
          </a:bodyPr>
          <a:lstStyle/>
          <a:p>
            <a:r>
              <a:rPr lang="en-US" b="0" dirty="0">
                <a:cs typeface="Calibri" panose="020F0502020204030204" pitchFamily="34" charset="0"/>
              </a:rPr>
              <a:t>Two important questions that arise early in a parallel program are:</a:t>
            </a:r>
          </a:p>
          <a:p>
            <a:pPr lvl="1"/>
            <a:r>
              <a:rPr lang="en-US" b="0" dirty="0">
                <a:cs typeface="Calibri" panose="020F0502020204030204" pitchFamily="34" charset="0"/>
              </a:rPr>
              <a:t>How many processes are participating in this computation?</a:t>
            </a:r>
          </a:p>
          <a:p>
            <a:pPr lvl="1"/>
            <a:r>
              <a:rPr lang="en-US" b="0" dirty="0">
                <a:cs typeface="Calibri" panose="020F0502020204030204" pitchFamily="34" charset="0"/>
              </a:rPr>
              <a:t>Which one am I?</a:t>
            </a:r>
          </a:p>
          <a:p>
            <a:r>
              <a:rPr lang="en-US" b="0" dirty="0">
                <a:cs typeface="Calibri" panose="020F0502020204030204" pitchFamily="34" charset="0"/>
              </a:rPr>
              <a:t>MPI provides functions to answer these questions:</a:t>
            </a:r>
          </a:p>
          <a:p>
            <a:pPr lvl="1"/>
            <a:r>
              <a:rPr lang="en-US" b="0" dirty="0" err="1">
                <a:cs typeface="Calibri" panose="020F0502020204030204" pitchFamily="34" charset="0"/>
              </a:rPr>
              <a:t>MPI_Comm_size</a:t>
            </a:r>
            <a:r>
              <a:rPr lang="en-US" b="0" dirty="0">
                <a:cs typeface="Calibri" panose="020F0502020204030204" pitchFamily="34" charset="0"/>
              </a:rPr>
              <a:t> reports the number of processes.</a:t>
            </a:r>
          </a:p>
          <a:p>
            <a:pPr lvl="1"/>
            <a:r>
              <a:rPr lang="en-US" b="0" dirty="0" err="1">
                <a:cs typeface="Calibri" panose="020F0502020204030204" pitchFamily="34" charset="0"/>
              </a:rPr>
              <a:t>MPI_Comm_rank</a:t>
            </a:r>
            <a:r>
              <a:rPr lang="en-US" b="0" dirty="0">
                <a:cs typeface="Calibri" panose="020F0502020204030204" pitchFamily="34" charset="0"/>
              </a:rPr>
              <a:t> reports the rank, a number between 0 and size-1, identifying the calling process</a:t>
            </a:r>
          </a:p>
          <a:p>
            <a:endParaRPr lang="en-US" b="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Identifying MPI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40715" y="1656080"/>
            <a:ext cx="11041380" cy="4712970"/>
          </a:xfrm>
        </p:spPr>
        <p:txBody>
          <a:bodyPr/>
          <a:lstStyle/>
          <a:p>
            <a:pPr>
              <a:defRPr/>
            </a:pPr>
            <a:r>
              <a:rPr lang="en-US" b="0" dirty="0">
                <a:ea typeface="+mn-ea"/>
                <a:cs typeface="+mn-cs"/>
              </a:rPr>
              <a:t>Common practice to identify processes by nonnegative integer ranks.</a:t>
            </a:r>
            <a:br>
              <a:rPr lang="en-US" b="0" dirty="0">
                <a:ea typeface="+mn-ea"/>
                <a:cs typeface="+mn-cs"/>
              </a:rPr>
            </a:br>
            <a:endParaRPr lang="en-US" b="0" dirty="0">
              <a:ea typeface="+mn-ea"/>
              <a:cs typeface="+mn-cs"/>
            </a:endParaRPr>
          </a:p>
          <a:p>
            <a:pPr>
              <a:defRPr/>
            </a:pPr>
            <a:r>
              <a:rPr lang="en-US" b="0" i="1" dirty="0">
                <a:solidFill>
                  <a:schemeClr val="accent6"/>
                </a:solidFill>
                <a:ea typeface="+mn-ea"/>
                <a:cs typeface="+mn-cs"/>
              </a:rPr>
              <a:t>p</a:t>
            </a:r>
            <a:r>
              <a:rPr lang="en-US" b="0" dirty="0">
                <a:ea typeface="+mn-ea"/>
                <a:cs typeface="+mn-cs"/>
              </a:rPr>
              <a:t> processes are numbered </a:t>
            </a:r>
            <a:r>
              <a:rPr lang="en-US" b="0" i="1" dirty="0">
                <a:solidFill>
                  <a:schemeClr val="accent6"/>
                </a:solidFill>
                <a:ea typeface="+mn-ea"/>
                <a:cs typeface="+mn-cs"/>
              </a:rPr>
              <a:t>0, 1, 2, .. p-1</a:t>
            </a:r>
          </a:p>
          <a:p>
            <a:pPr>
              <a:defRPr/>
            </a:pPr>
            <a:endParaRPr lang="en-US" b="0" dirty="0">
              <a:ea typeface="+mn-ea"/>
              <a:cs typeface="+mn-cs"/>
            </a:endParaRPr>
          </a:p>
        </p:txBody>
      </p:sp>
      <p:sp>
        <p:nvSpPr>
          <p:cNvPr id="2457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4" descr="clipped images,cropped images,cropped pictures,Earth,global,globes,icons,international,planets,PNG,transparent background,worlds,worldw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531" y="142875"/>
            <a:ext cx="3250406" cy="325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Our first MPI program</a:t>
            </a:r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269" y="1328481"/>
            <a:ext cx="6004084" cy="5469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2D49713-D060-4D88-A1A7-90BB97C9A3EF}"/>
              </a:ext>
            </a:extLst>
          </p:cNvPr>
          <p:cNvSpPr txBox="1"/>
          <p:nvPr/>
        </p:nvSpPr>
        <p:spPr>
          <a:xfrm>
            <a:off x="7962901" y="2910639"/>
            <a:ext cx="41594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Question: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Identify the logic gaps in the code?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 err="1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OpenMPI</a:t>
            </a:r>
            <a:r>
              <a:rPr lang="en-US" altLang="en-US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 Path-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default path</a:t>
            </a:r>
            <a:endParaRPr lang="zh-CN" altLang="en-US" dirty="0"/>
          </a:p>
        </p:txBody>
      </p:sp>
      <p:sp>
        <p:nvSpPr>
          <p:cNvPr id="26625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6627" name="Content Placeholder 2"/>
          <p:cNvSpPr txBox="1"/>
          <p:nvPr/>
        </p:nvSpPr>
        <p:spPr bwMode="auto">
          <a:xfrm>
            <a:off x="2584376" y="1464905"/>
            <a:ext cx="8161020" cy="432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Then add the following at</a:t>
            </a:r>
            <a:r>
              <a:rPr lang="zh-CN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sudo</a:t>
            </a:r>
            <a:r>
              <a:rPr lang="zh-CN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90" dirty="0">
                <a:solidFill>
                  <a:srgbClr val="003399"/>
                </a:solidFill>
                <a:latin typeface="Arial" panose="020B0604020202020204" pitchFamily="34" charset="0"/>
              </a:rPr>
              <a:t>apt-get</a:t>
            </a:r>
            <a:r>
              <a:rPr lang="zh-CN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90" dirty="0">
                <a:solidFill>
                  <a:srgbClr val="003399"/>
                </a:solidFill>
                <a:latin typeface="Arial" panose="020B0604020202020204" pitchFamily="34" charset="0"/>
              </a:rPr>
              <a:t>install</a:t>
            </a:r>
            <a:r>
              <a:rPr lang="zh-CN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endParaRPr lang="en-US" altLang="en-US" sz="1890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the end of your ~/.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bashrc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file and source it with the command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source ~/.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bashrc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(or log in again).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#----------------------------------------------------------------------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 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setup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PATH=/</a:t>
            </a:r>
            <a:r>
              <a:rPr lang="en-US" altLang="zh-CN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usr</a:t>
            </a:r>
            <a:r>
              <a:rPr lang="en-US" altLang="zh-CN" sz="1890" dirty="0">
                <a:solidFill>
                  <a:srgbClr val="003399"/>
                </a:solidFill>
                <a:latin typeface="Arial" panose="020B0604020202020204" pitchFamily="34" charset="0"/>
              </a:rPr>
              <a:t>/bin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/bin:$PATH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MANPATH= =/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usr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/lib/ 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/man :$MANPATH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LD_LIBRARY_PATH=/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usr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/lib/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/lib:$LD_LIBRARY_PATH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#----------------------------------------------------------------------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90" dirty="0">
              <a:solidFill>
                <a:srgbClr val="003399"/>
              </a:solidFill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 txBox="1"/>
          <p:nvPr/>
        </p:nvSpPr>
        <p:spPr bwMode="auto">
          <a:xfrm>
            <a:off x="9201150" y="6960870"/>
            <a:ext cx="200025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70" b="1">
                <a:latin typeface="Arial" panose="020B0604020202020204" pitchFamily="34" charset="0"/>
              </a:rPr>
              <a:t>2.</a:t>
            </a:r>
            <a:fld id="{FEBD581B-32C4-4A17-AC34-453BF3E56AC1}" type="slidenum">
              <a:rPr lang="en-US" altLang="en-US" sz="1470" b="1">
                <a:latin typeface="Arial" panose="020B0604020202020204" pitchFamily="34" charset="0"/>
              </a:rPr>
              <a:t>11</a:t>
            </a:fld>
            <a:endParaRPr lang="en-US" altLang="en-US" sz="147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 err="1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OpenMPI</a:t>
            </a:r>
            <a:r>
              <a:rPr lang="en-US" altLang="en-US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 Path-U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  <a:sym typeface="+mn-ea"/>
              </a:rPr>
              <a:t>ser Defined Path</a:t>
            </a:r>
            <a:endParaRPr lang="zh-CN" altLang="en-US" dirty="0"/>
          </a:p>
        </p:txBody>
      </p:sp>
      <p:sp>
        <p:nvSpPr>
          <p:cNvPr id="26625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6627" name="Content Placeholder 2"/>
          <p:cNvSpPr txBox="1"/>
          <p:nvPr/>
        </p:nvSpPr>
        <p:spPr bwMode="auto">
          <a:xfrm>
            <a:off x="1864296" y="1464905"/>
            <a:ext cx="10009112" cy="432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Then add the following at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the end of your ~/.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bashrc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file and source it with the command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source ~/.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bashrc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(or log in again).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#----------------------------------------------------------------------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 </a:t>
            </a:r>
            <a:r>
              <a:rPr lang="en-US" altLang="en-US" sz="1890" dirty="0" err="1">
                <a:solidFill>
                  <a:srgbClr val="003399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 setup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PATH=/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your-</a:t>
            </a:r>
            <a:r>
              <a:rPr lang="en-US" altLang="en-US" sz="1890" dirty="0" err="1">
                <a:solidFill>
                  <a:srgbClr val="FF0000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-installed-path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/bin:$PATH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MANPATH= =/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your-</a:t>
            </a:r>
            <a:r>
              <a:rPr lang="en-US" altLang="en-US" sz="1890" dirty="0" err="1">
                <a:solidFill>
                  <a:srgbClr val="FF0000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-installed-path 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/man :$MANPATH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export LD_LIBRARY_PATH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 your-</a:t>
            </a:r>
            <a:r>
              <a:rPr lang="en-US" altLang="en-US" sz="1890" dirty="0" err="1">
                <a:solidFill>
                  <a:srgbClr val="FF0000"/>
                </a:solidFill>
                <a:latin typeface="Arial" panose="020B0604020202020204" pitchFamily="34" charset="0"/>
              </a:rPr>
              <a:t>OpenMPI</a:t>
            </a:r>
            <a:r>
              <a:rPr lang="en-US" altLang="en-US" sz="1890" dirty="0">
                <a:solidFill>
                  <a:srgbClr val="FF0000"/>
                </a:solidFill>
                <a:latin typeface="Arial" panose="020B0604020202020204" pitchFamily="34" charset="0"/>
              </a:rPr>
              <a:t>-installed-path </a:t>
            </a: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/lib:$LD_LIBRARY_PATH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90" dirty="0">
                <a:solidFill>
                  <a:srgbClr val="003399"/>
                </a:solidFill>
                <a:latin typeface="Arial" panose="020B0604020202020204" pitchFamily="34" charset="0"/>
              </a:rPr>
              <a:t>#----------------------------------------------------------------------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890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680" dirty="0">
                <a:solidFill>
                  <a:srgbClr val="FF0000"/>
                </a:solidFill>
                <a:latin typeface="Arial" panose="020B0604020202020204" pitchFamily="34" charset="0"/>
              </a:rPr>
              <a:t>How to compile a C project and install it at a user-defined directory.</a:t>
            </a:r>
          </a:p>
        </p:txBody>
      </p:sp>
      <p:sp>
        <p:nvSpPr>
          <p:cNvPr id="26628" name="Slide Number Placeholder 3"/>
          <p:cNvSpPr txBox="1"/>
          <p:nvPr/>
        </p:nvSpPr>
        <p:spPr bwMode="auto">
          <a:xfrm>
            <a:off x="9201150" y="6960870"/>
            <a:ext cx="200025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70" b="1">
                <a:latin typeface="Arial" panose="020B0604020202020204" pitchFamily="34" charset="0"/>
              </a:rPr>
              <a:t>2.</a:t>
            </a:r>
            <a:fld id="{FEBD581B-32C4-4A17-AC34-453BF3E56AC1}" type="slidenum">
              <a:rPr lang="en-US" altLang="en-US" sz="1470" b="1">
                <a:latin typeface="Arial" panose="020B0604020202020204" pitchFamily="34" charset="0"/>
              </a:rPr>
              <a:t>12</a:t>
            </a:fld>
            <a:endParaRPr lang="en-US" altLang="en-US" sz="1470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96594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Compilation</a:t>
            </a:r>
          </a:p>
        </p:txBody>
      </p:sp>
      <p:sp>
        <p:nvSpPr>
          <p:cNvPr id="2765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4336" y="2583627"/>
            <a:ext cx="8617744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3200" kern="0" dirty="0" err="1">
                <a:latin typeface="Arial" panose="020B0604020202020204"/>
                <a:ea typeface="+mn-ea"/>
              </a:rPr>
              <a:t>mpicc</a:t>
            </a:r>
            <a:r>
              <a:rPr lang="en-US" sz="3200" kern="0" dirty="0">
                <a:latin typeface="Arial" panose="020B0604020202020204"/>
                <a:ea typeface="+mn-ea"/>
              </a:rPr>
              <a:t>  -g  -Wall  -o  </a:t>
            </a:r>
            <a:r>
              <a:rPr lang="en-US" sz="3200" kern="0" dirty="0" err="1">
                <a:latin typeface="Arial" panose="020B0604020202020204"/>
                <a:ea typeface="+mn-ea"/>
              </a:rPr>
              <a:t>mpi_hello</a:t>
            </a:r>
            <a:r>
              <a:rPr lang="en-US" sz="3200" kern="0" dirty="0">
                <a:latin typeface="Arial" panose="020B0604020202020204"/>
                <a:ea typeface="+mn-ea"/>
              </a:rPr>
              <a:t>  </a:t>
            </a:r>
            <a:r>
              <a:rPr lang="en-US" sz="3200" kern="0" dirty="0" err="1">
                <a:latin typeface="Arial" panose="020B0604020202020204"/>
                <a:ea typeface="+mn-ea"/>
              </a:rPr>
              <a:t>mpi_hello.c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7023" y="1952670"/>
            <a:ext cx="348615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wrapper script to compile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601" y="3828651"/>
            <a:ext cx="1716404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turns on all warnings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6112" y="1944266"/>
            <a:ext cx="150050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source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669" y="3652560"/>
            <a:ext cx="4279900" cy="942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create this executable file name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(as opposed to default </a:t>
            </a:r>
            <a:r>
              <a:rPr lang="en-US" sz="2520" i="1" dirty="0" err="1">
                <a:solidFill>
                  <a:srgbClr val="0066FF"/>
                </a:solidFill>
                <a:latin typeface="+mj-lt"/>
                <a:ea typeface="+mn-ea"/>
              </a:rPr>
              <a:t>a.out</a:t>
            </a: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086" y="3775393"/>
            <a:ext cx="1716405" cy="13296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produce</a:t>
            </a:r>
            <a:b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</a:b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debugging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information</a:t>
            </a:r>
          </a:p>
        </p:txBody>
      </p:sp>
      <p:sp>
        <p:nvSpPr>
          <p:cNvPr id="27657" name="Freeform 10"/>
          <p:cNvSpPr>
            <a:spLocks noChangeArrowheads="1"/>
          </p:cNvSpPr>
          <p:nvPr/>
        </p:nvSpPr>
        <p:spPr bwMode="auto">
          <a:xfrm>
            <a:off x="2220278" y="2282711"/>
            <a:ext cx="605076" cy="381635"/>
          </a:xfrm>
          <a:custGeom>
            <a:avLst/>
            <a:gdLst>
              <a:gd name="T0" fmla="*/ 577910 w 575441"/>
              <a:gd name="T1" fmla="*/ 0 h 977462"/>
              <a:gd name="T2" fmla="*/ 39582 w 575441"/>
              <a:gd name="T3" fmla="*/ 188520 h 977462"/>
              <a:gd name="T4" fmla="*/ 340414 w 575441"/>
              <a:gd name="T5" fmla="*/ 974016 h 977462"/>
              <a:gd name="T6" fmla="*/ 0 60000 65536"/>
              <a:gd name="T7" fmla="*/ 0 60000 65536"/>
              <a:gd name="T8" fmla="*/ 0 60000 65536"/>
              <a:gd name="T9" fmla="*/ 0 w 575441"/>
              <a:gd name="T10" fmla="*/ 0 h 977462"/>
              <a:gd name="T11" fmla="*/ 575441 w 575441"/>
              <a:gd name="T12" fmla="*/ 977462 h 977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441" h="977462">
                <a:moveTo>
                  <a:pt x="575441" y="0"/>
                </a:moveTo>
                <a:cubicBezTo>
                  <a:pt x="327134" y="13138"/>
                  <a:pt x="78828" y="26277"/>
                  <a:pt x="39414" y="189187"/>
                </a:cubicBezTo>
                <a:cubicBezTo>
                  <a:pt x="0" y="352097"/>
                  <a:pt x="169479" y="664779"/>
                  <a:pt x="338959" y="977462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7658" name="Freeform 11"/>
          <p:cNvSpPr>
            <a:spLocks noChangeArrowheads="1"/>
          </p:cNvSpPr>
          <p:nvPr/>
        </p:nvSpPr>
        <p:spPr bwMode="auto">
          <a:xfrm>
            <a:off x="8367713" y="2134289"/>
            <a:ext cx="466725" cy="381635"/>
          </a:xfrm>
          <a:custGeom>
            <a:avLst/>
            <a:gdLst>
              <a:gd name="T0" fmla="*/ 445377 w 444062"/>
              <a:gd name="T1" fmla="*/ 89623 h 719958"/>
              <a:gd name="T2" fmla="*/ 18447 w 444062"/>
              <a:gd name="T3" fmla="*/ 105439 h 719958"/>
              <a:gd name="T4" fmla="*/ 334691 w 444062"/>
              <a:gd name="T5" fmla="*/ 722262 h 719958"/>
              <a:gd name="T6" fmla="*/ 0 60000 65536"/>
              <a:gd name="T7" fmla="*/ 0 60000 65536"/>
              <a:gd name="T8" fmla="*/ 0 60000 65536"/>
              <a:gd name="T9" fmla="*/ 0 w 444062"/>
              <a:gd name="T10" fmla="*/ 0 h 719958"/>
              <a:gd name="T11" fmla="*/ 444062 w 444062"/>
              <a:gd name="T12" fmla="*/ 719958 h 7199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4062" h="719958">
                <a:moveTo>
                  <a:pt x="444062" y="89338"/>
                </a:moveTo>
                <a:cubicBezTo>
                  <a:pt x="240424" y="44669"/>
                  <a:pt x="36786" y="0"/>
                  <a:pt x="18393" y="105103"/>
                </a:cubicBezTo>
                <a:cubicBezTo>
                  <a:pt x="0" y="210206"/>
                  <a:pt x="166851" y="465082"/>
                  <a:pt x="333703" y="719958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7659" name="Freeform 12"/>
          <p:cNvSpPr>
            <a:spLocks noChangeArrowheads="1"/>
          </p:cNvSpPr>
          <p:nvPr/>
        </p:nvSpPr>
        <p:spPr bwMode="auto">
          <a:xfrm>
            <a:off x="3304457" y="3387049"/>
            <a:ext cx="659532" cy="763884"/>
          </a:xfrm>
          <a:custGeom>
            <a:avLst/>
            <a:gdLst>
              <a:gd name="T0" fmla="*/ 0 w 578070"/>
              <a:gd name="T1" fmla="*/ 725631 h 861848"/>
              <a:gd name="T2" fmla="*/ 519669 w 578070"/>
              <a:gd name="T3" fmla="*/ 741405 h 861848"/>
              <a:gd name="T4" fmla="*/ 346446 w 578070"/>
              <a:gd name="T5" fmla="*/ 0 h 861848"/>
              <a:gd name="T6" fmla="*/ 0 60000 65536"/>
              <a:gd name="T7" fmla="*/ 0 60000 65536"/>
              <a:gd name="T8" fmla="*/ 0 60000 65536"/>
              <a:gd name="T9" fmla="*/ 0 w 578070"/>
              <a:gd name="T10" fmla="*/ 0 h 861848"/>
              <a:gd name="T11" fmla="*/ 578070 w 578070"/>
              <a:gd name="T12" fmla="*/ 861848 h 8618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8070" h="861848">
                <a:moveTo>
                  <a:pt x="0" y="725214"/>
                </a:moveTo>
                <a:cubicBezTo>
                  <a:pt x="231228" y="793531"/>
                  <a:pt x="462456" y="861848"/>
                  <a:pt x="520263" y="740979"/>
                </a:cubicBezTo>
                <a:cubicBezTo>
                  <a:pt x="578070" y="620110"/>
                  <a:pt x="462456" y="310055"/>
                  <a:pt x="346842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 sz="1890"/>
          </a:p>
        </p:txBody>
      </p:sp>
      <p:sp>
        <p:nvSpPr>
          <p:cNvPr id="27660" name="Freeform 13"/>
          <p:cNvSpPr>
            <a:spLocks noChangeArrowheads="1"/>
          </p:cNvSpPr>
          <p:nvPr/>
        </p:nvSpPr>
        <p:spPr bwMode="auto">
          <a:xfrm>
            <a:off x="4430554" y="3327083"/>
            <a:ext cx="758429" cy="381635"/>
          </a:xfrm>
          <a:custGeom>
            <a:avLst/>
            <a:gdLst>
              <a:gd name="T0" fmla="*/ 0 w 722587"/>
              <a:gd name="T1" fmla="*/ 2065448 h 2065283"/>
              <a:gd name="T2" fmla="*/ 708642 w 722587"/>
              <a:gd name="T3" fmla="*/ 1419011 h 2065283"/>
              <a:gd name="T4" fmla="*/ 78738 w 722587"/>
              <a:gd name="T5" fmla="*/ 772573 h 2065283"/>
              <a:gd name="T6" fmla="*/ 283456 w 722587"/>
              <a:gd name="T7" fmla="*/ 0 h 2065283"/>
              <a:gd name="T8" fmla="*/ 0 60000 65536"/>
              <a:gd name="T9" fmla="*/ 0 60000 65536"/>
              <a:gd name="T10" fmla="*/ 0 60000 65536"/>
              <a:gd name="T11" fmla="*/ 0 60000 65536"/>
              <a:gd name="T12" fmla="*/ 0 w 722587"/>
              <a:gd name="T13" fmla="*/ 0 h 2065283"/>
              <a:gd name="T14" fmla="*/ 722587 w 722587"/>
              <a:gd name="T15" fmla="*/ 2065283 h 2065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2587" h="2065283">
                <a:moveTo>
                  <a:pt x="0" y="2065283"/>
                </a:moveTo>
                <a:cubicBezTo>
                  <a:pt x="348155" y="1849821"/>
                  <a:pt x="696311" y="1634359"/>
                  <a:pt x="709449" y="1418897"/>
                </a:cubicBezTo>
                <a:cubicBezTo>
                  <a:pt x="722587" y="1203435"/>
                  <a:pt x="149773" y="1008993"/>
                  <a:pt x="78828" y="772510"/>
                </a:cubicBezTo>
                <a:cubicBezTo>
                  <a:pt x="7883" y="536027"/>
                  <a:pt x="145831" y="268013"/>
                  <a:pt x="283780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7661" name="Freeform 15"/>
          <p:cNvSpPr>
            <a:spLocks noChangeArrowheads="1"/>
          </p:cNvSpPr>
          <p:nvPr/>
        </p:nvSpPr>
        <p:spPr bwMode="auto">
          <a:xfrm>
            <a:off x="7012544" y="3327083"/>
            <a:ext cx="368379" cy="381635"/>
          </a:xfrm>
          <a:custGeom>
            <a:avLst/>
            <a:gdLst>
              <a:gd name="T0" fmla="*/ 0 w 349469"/>
              <a:gd name="T1" fmla="*/ 521577 h 520262"/>
              <a:gd name="T2" fmla="*/ 334979 w 349469"/>
              <a:gd name="T3" fmla="*/ 205471 h 520262"/>
              <a:gd name="T4" fmla="*/ 111660 w 349469"/>
              <a:gd name="T5" fmla="*/ 0 h 520262"/>
              <a:gd name="T6" fmla="*/ 0 60000 65536"/>
              <a:gd name="T7" fmla="*/ 0 60000 65536"/>
              <a:gd name="T8" fmla="*/ 0 60000 65536"/>
              <a:gd name="T9" fmla="*/ 0 w 349469"/>
              <a:gd name="T10" fmla="*/ 0 h 520262"/>
              <a:gd name="T11" fmla="*/ 349469 w 349469"/>
              <a:gd name="T12" fmla="*/ 520262 h 5202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9469" h="520262">
                <a:moveTo>
                  <a:pt x="0" y="520262"/>
                </a:moveTo>
                <a:cubicBezTo>
                  <a:pt x="156341" y="405962"/>
                  <a:pt x="312683" y="291662"/>
                  <a:pt x="331076" y="204952"/>
                </a:cubicBezTo>
                <a:cubicBezTo>
                  <a:pt x="349469" y="118242"/>
                  <a:pt x="229914" y="59121"/>
                  <a:pt x="110359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7662" name="Freeform 16"/>
          <p:cNvSpPr>
            <a:spLocks noChangeArrowheads="1"/>
          </p:cNvSpPr>
          <p:nvPr/>
        </p:nvSpPr>
        <p:spPr bwMode="auto">
          <a:xfrm>
            <a:off x="5570696" y="3260408"/>
            <a:ext cx="523399" cy="381635"/>
          </a:xfrm>
          <a:custGeom>
            <a:avLst/>
            <a:gdLst>
              <a:gd name="T0" fmla="*/ 190932 w 499241"/>
              <a:gd name="T1" fmla="*/ 886982 h 882869"/>
              <a:gd name="T2" fmla="*/ 49695 w 499241"/>
              <a:gd name="T3" fmla="*/ 728593 h 882869"/>
              <a:gd name="T4" fmla="*/ 489099 w 499241"/>
              <a:gd name="T5" fmla="*/ 570203 h 882869"/>
              <a:gd name="T6" fmla="*/ 96773 w 499241"/>
              <a:gd name="T7" fmla="*/ 0 h 882869"/>
              <a:gd name="T8" fmla="*/ 0 60000 65536"/>
              <a:gd name="T9" fmla="*/ 0 60000 65536"/>
              <a:gd name="T10" fmla="*/ 0 60000 65536"/>
              <a:gd name="T11" fmla="*/ 0 60000 65536"/>
              <a:gd name="T12" fmla="*/ 0 w 499241"/>
              <a:gd name="T13" fmla="*/ 0 h 882869"/>
              <a:gd name="T14" fmla="*/ 499241 w 499241"/>
              <a:gd name="T15" fmla="*/ 882869 h 88286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9241" h="882869">
                <a:moveTo>
                  <a:pt x="191813" y="882869"/>
                </a:moveTo>
                <a:cubicBezTo>
                  <a:pt x="95906" y="830317"/>
                  <a:pt x="0" y="777766"/>
                  <a:pt x="49924" y="725214"/>
                </a:cubicBezTo>
                <a:cubicBezTo>
                  <a:pt x="99848" y="672662"/>
                  <a:pt x="483475" y="688428"/>
                  <a:pt x="491358" y="567559"/>
                </a:cubicBezTo>
                <a:cubicBezTo>
                  <a:pt x="499241" y="446690"/>
                  <a:pt x="298230" y="223345"/>
                  <a:pt x="97220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Setup Multiple Computer Environment</a:t>
            </a:r>
          </a:p>
        </p:txBody>
      </p:sp>
      <p:sp>
        <p:nvSpPr>
          <p:cNvPr id="2867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8675" name="Rectangle 3"/>
          <p:cNvSpPr txBox="1">
            <a:spLocks noChangeArrowheads="1"/>
          </p:cNvSpPr>
          <p:nvPr/>
        </p:nvSpPr>
        <p:spPr bwMode="auto">
          <a:xfrm>
            <a:off x="2241947" y="1105139"/>
            <a:ext cx="8161020" cy="504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endParaRPr lang="en-US" altLang="en-US" sz="3360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3360" b="1" dirty="0">
                <a:solidFill>
                  <a:srgbClr val="003399"/>
                </a:solidFill>
                <a:latin typeface="Arial" panose="020B0604020202020204" pitchFamily="34" charset="0"/>
              </a:rPr>
              <a:t>Create a file </a:t>
            </a:r>
            <a:r>
              <a:rPr lang="en-US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  <a:t>called say </a:t>
            </a:r>
            <a:r>
              <a:rPr lang="ja-JP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3360" dirty="0">
                <a:solidFill>
                  <a:srgbClr val="003399"/>
                </a:solidFill>
                <a:latin typeface="Arial" panose="020B0604020202020204" pitchFamily="34" charset="0"/>
              </a:rPr>
              <a:t>machines</a:t>
            </a:r>
            <a:r>
              <a:rPr lang="ja-JP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  <a:t>”</a:t>
            </a:r>
            <a:r>
              <a:rPr lang="en-US" altLang="ja-JP" sz="3360" dirty="0">
                <a:solidFill>
                  <a:srgbClr val="003399"/>
                </a:solidFill>
                <a:latin typeface="Arial" panose="020B0604020202020204" pitchFamily="34" charset="0"/>
              </a:rPr>
              <a:t> containing the list of machines: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  <a:t>athena.cs.siu.edu</a:t>
            </a:r>
            <a:b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</a:br>
            <a: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  <a:t>	oscarnode1.cs.siu.edu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  <a:t>		……….</a:t>
            </a:r>
            <a:b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</a:br>
            <a: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  <a:t>	 oscarnode8.cs.siu.edu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2940" strike="dblStrike" dirty="0">
                <a:solidFill>
                  <a:srgbClr val="003399"/>
                </a:solidFill>
                <a:latin typeface="Arial" panose="020B0604020202020204" pitchFamily="34" charset="0"/>
              </a:rPr>
              <a:t>Establish network </a:t>
            </a:r>
            <a:r>
              <a:rPr lang="en-US" altLang="en-US" sz="2940" b="1" strike="dblStrike" dirty="0">
                <a:solidFill>
                  <a:srgbClr val="003399"/>
                </a:solidFill>
                <a:latin typeface="Arial" panose="020B0604020202020204" pitchFamily="34" charset="0"/>
              </a:rPr>
              <a:t>environments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2940" strike="dblStrike" dirty="0" err="1">
                <a:solidFill>
                  <a:srgbClr val="003399"/>
                </a:solidFill>
                <a:latin typeface="Arial" panose="020B0604020202020204" pitchFamily="34" charset="0"/>
              </a:rPr>
              <a:t>mpdboot</a:t>
            </a:r>
            <a:r>
              <a:rPr lang="en-US" altLang="en-US" sz="2940" strike="dblStrike" dirty="0">
                <a:solidFill>
                  <a:srgbClr val="003399"/>
                </a:solidFill>
                <a:latin typeface="Arial" panose="020B0604020202020204" pitchFamily="34" charset="0"/>
              </a:rPr>
              <a:t> –n 9 –f machines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2940" strike="dblStrike" dirty="0" err="1">
                <a:solidFill>
                  <a:srgbClr val="003399"/>
                </a:solidFill>
                <a:latin typeface="Arial" panose="020B0604020202020204" pitchFamily="34" charset="0"/>
              </a:rPr>
              <a:t>mpdtrace</a:t>
            </a:r>
            <a:endParaRPr lang="en-US" altLang="en-US" sz="2940" strike="dblStrike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2940" strike="dblStrike" dirty="0" err="1">
                <a:solidFill>
                  <a:srgbClr val="003399"/>
                </a:solidFill>
                <a:latin typeface="Arial" panose="020B0604020202020204" pitchFamily="34" charset="0"/>
              </a:rPr>
              <a:t>mpdallexit</a:t>
            </a:r>
            <a:endParaRPr lang="en-US" altLang="en-US" sz="2940" strike="dblStrike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br>
              <a:rPr lang="en-US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</a:br>
            <a:endParaRPr lang="en-US" altLang="en-US" sz="3360" dirty="0">
              <a:solidFill>
                <a:srgbClr val="003399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  <a:t>	</a:t>
            </a:r>
            <a:br>
              <a:rPr lang="en-US" altLang="en-US" sz="3360" dirty="0">
                <a:solidFill>
                  <a:srgbClr val="003399"/>
                </a:solidFill>
                <a:latin typeface="Arial" panose="020B0604020202020204" pitchFamily="34" charset="0"/>
              </a:rPr>
            </a:br>
            <a:br>
              <a:rPr lang="en-US" altLang="en-US" sz="2940" dirty="0">
                <a:solidFill>
                  <a:srgbClr val="003399"/>
                </a:solidFill>
                <a:latin typeface="Arial" panose="020B0604020202020204" pitchFamily="34" charset="0"/>
              </a:rPr>
            </a:br>
            <a:endParaRPr lang="en-US" altLang="en-US" sz="2940" dirty="0">
              <a:solidFill>
                <a:srgbClr val="00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Execution</a:t>
            </a: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0243" y="1785224"/>
            <a:ext cx="8997791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 err="1">
                <a:latin typeface="Arial" panose="020B0604020202020204"/>
                <a:ea typeface="+mn-ea"/>
              </a:rPr>
              <a:t>mpiexec</a:t>
            </a:r>
            <a:r>
              <a:rPr lang="en-US" sz="2940" kern="0" dirty="0">
                <a:latin typeface="Arial" panose="020B0604020202020204"/>
                <a:ea typeface="+mn-ea"/>
              </a:rPr>
              <a:t>  -n  &lt;number of processes&gt;   &lt;executable&gt;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982165" y="3070384"/>
            <a:ext cx="5140643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 err="1">
                <a:latin typeface="Arial" panose="020B0604020202020204"/>
                <a:ea typeface="+mn-ea"/>
              </a:rPr>
              <a:t>mpiexec</a:t>
            </a:r>
            <a:r>
              <a:rPr lang="en-US" sz="2940" kern="0" dirty="0">
                <a:latin typeface="Arial" panose="020B0604020202020204"/>
                <a:ea typeface="+mn-ea"/>
              </a:rPr>
              <a:t>  -n  1  ./</a:t>
            </a:r>
            <a:r>
              <a:rPr lang="en-US" sz="2940" kern="0" dirty="0" err="1">
                <a:latin typeface="Arial" panose="020B0604020202020204"/>
                <a:ea typeface="+mn-ea"/>
              </a:rPr>
              <a:t>mpi_hello</a:t>
            </a:r>
            <a:endParaRPr lang="en-US" sz="2940" kern="0" dirty="0">
              <a:latin typeface="Arial" panose="020B0604020202020204"/>
              <a:ea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8624" y="4583906"/>
            <a:ext cx="5140643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 err="1">
                <a:latin typeface="Arial" panose="020B0604020202020204"/>
                <a:ea typeface="+mn-ea"/>
              </a:rPr>
              <a:t>mpiexec</a:t>
            </a:r>
            <a:r>
              <a:rPr lang="en-US" sz="2940" kern="0" dirty="0">
                <a:latin typeface="Arial" panose="020B0604020202020204"/>
                <a:ea typeface="+mn-ea"/>
              </a:rPr>
              <a:t>  -n  4  ./</a:t>
            </a:r>
            <a:r>
              <a:rPr lang="en-US" sz="2940" kern="0" dirty="0" err="1">
                <a:latin typeface="Arial" panose="020B0604020202020204"/>
                <a:ea typeface="+mn-ea"/>
              </a:rPr>
              <a:t>mpi_hello</a:t>
            </a:r>
            <a:endParaRPr lang="en-US" sz="2940" kern="0" dirty="0">
              <a:latin typeface="Arial" panose="020B0604020202020204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0866" y="3978831"/>
            <a:ext cx="254635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run with 1 process</a:t>
            </a:r>
          </a:p>
        </p:txBody>
      </p:sp>
      <p:cxnSp>
        <p:nvCxnSpPr>
          <p:cNvPr id="29703" name="Straight Connector 8"/>
          <p:cNvCxnSpPr>
            <a:cxnSpLocks noChangeShapeType="1"/>
          </p:cNvCxnSpPr>
          <p:nvPr/>
        </p:nvCxnSpPr>
        <p:spPr bwMode="auto">
          <a:xfrm>
            <a:off x="2166938" y="2768680"/>
            <a:ext cx="808934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5417344" y="5565696"/>
            <a:ext cx="282384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run with 4 processes</a:t>
            </a:r>
          </a:p>
        </p:txBody>
      </p:sp>
      <p:sp>
        <p:nvSpPr>
          <p:cNvPr id="29705" name="Freeform 10"/>
          <p:cNvSpPr>
            <a:spLocks noChangeArrowheads="1"/>
          </p:cNvSpPr>
          <p:nvPr/>
        </p:nvSpPr>
        <p:spPr bwMode="auto">
          <a:xfrm>
            <a:off x="6097429" y="3592116"/>
            <a:ext cx="800100" cy="381635"/>
          </a:xfrm>
          <a:custGeom>
            <a:avLst/>
            <a:gdLst>
              <a:gd name="T0" fmla="*/ 762000 w 762000"/>
              <a:gd name="T1" fmla="*/ 646245 h 754117"/>
              <a:gd name="T2" fmla="*/ 99848 w 762000"/>
              <a:gd name="T3" fmla="*/ 646245 h 754117"/>
              <a:gd name="T4" fmla="*/ 162910 w 762000"/>
              <a:gd name="T5" fmla="*/ 0 h 754117"/>
              <a:gd name="T6" fmla="*/ 0 60000 65536"/>
              <a:gd name="T7" fmla="*/ 0 60000 65536"/>
              <a:gd name="T8" fmla="*/ 0 60000 65536"/>
              <a:gd name="T9" fmla="*/ 0 w 762000"/>
              <a:gd name="T10" fmla="*/ 0 h 754117"/>
              <a:gd name="T11" fmla="*/ 762000 w 762000"/>
              <a:gd name="T12" fmla="*/ 754117 h 7541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2000" h="754117">
                <a:moveTo>
                  <a:pt x="762000" y="646386"/>
                </a:moveTo>
                <a:cubicBezTo>
                  <a:pt x="480848" y="700251"/>
                  <a:pt x="199696" y="754117"/>
                  <a:pt x="99848" y="646386"/>
                </a:cubicBezTo>
                <a:cubicBezTo>
                  <a:pt x="0" y="538655"/>
                  <a:pt x="81455" y="269327"/>
                  <a:pt x="162910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9706" name="Freeform 11"/>
          <p:cNvSpPr>
            <a:spLocks noChangeArrowheads="1"/>
          </p:cNvSpPr>
          <p:nvPr/>
        </p:nvSpPr>
        <p:spPr bwMode="auto">
          <a:xfrm>
            <a:off x="4435555" y="5112306"/>
            <a:ext cx="800100" cy="381635"/>
          </a:xfrm>
          <a:custGeom>
            <a:avLst/>
            <a:gdLst>
              <a:gd name="T0" fmla="*/ 762000 w 762000"/>
              <a:gd name="T1" fmla="*/ 646245 h 754117"/>
              <a:gd name="T2" fmla="*/ 99848 w 762000"/>
              <a:gd name="T3" fmla="*/ 646245 h 754117"/>
              <a:gd name="T4" fmla="*/ 162910 w 762000"/>
              <a:gd name="T5" fmla="*/ 0 h 754117"/>
              <a:gd name="T6" fmla="*/ 0 60000 65536"/>
              <a:gd name="T7" fmla="*/ 0 60000 65536"/>
              <a:gd name="T8" fmla="*/ 0 60000 65536"/>
              <a:gd name="T9" fmla="*/ 0 w 762000"/>
              <a:gd name="T10" fmla="*/ 0 h 754117"/>
              <a:gd name="T11" fmla="*/ 762000 w 762000"/>
              <a:gd name="T12" fmla="*/ 754117 h 7541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2000" h="754117">
                <a:moveTo>
                  <a:pt x="762000" y="646386"/>
                </a:moveTo>
                <a:cubicBezTo>
                  <a:pt x="480848" y="700251"/>
                  <a:pt x="199696" y="754117"/>
                  <a:pt x="99848" y="646386"/>
                </a:cubicBezTo>
                <a:cubicBezTo>
                  <a:pt x="0" y="538655"/>
                  <a:pt x="81455" y="269327"/>
                  <a:pt x="162910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Execution</a:t>
            </a:r>
          </a:p>
        </p:txBody>
      </p:sp>
      <p:sp>
        <p:nvSpPr>
          <p:cNvPr id="3072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998709" y="1181815"/>
            <a:ext cx="5140643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 err="1">
                <a:latin typeface="Arial" panose="020B0604020202020204"/>
                <a:ea typeface="+mn-ea"/>
              </a:rPr>
              <a:t>mpiexec</a:t>
            </a:r>
            <a:r>
              <a:rPr lang="en-US" sz="2940" kern="0" dirty="0">
                <a:latin typeface="Arial" panose="020B0604020202020204"/>
                <a:ea typeface="+mn-ea"/>
              </a:rPr>
              <a:t>  -n  1  ./</a:t>
            </a:r>
            <a:r>
              <a:rPr lang="en-US" sz="2940" kern="0" dirty="0" err="1">
                <a:latin typeface="Arial" panose="020B0604020202020204"/>
                <a:ea typeface="+mn-ea"/>
              </a:rPr>
              <a:t>mpi_hello</a:t>
            </a:r>
            <a:endParaRPr lang="en-US" sz="2940" kern="0" dirty="0">
              <a:latin typeface="Arial" panose="020B0604020202020204"/>
              <a:ea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98709" y="3147060"/>
            <a:ext cx="5140643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 err="1">
                <a:latin typeface="Arial" panose="020B0604020202020204"/>
                <a:ea typeface="+mn-ea"/>
              </a:rPr>
              <a:t>mpiexec</a:t>
            </a:r>
            <a:r>
              <a:rPr lang="en-US" sz="2940" kern="0" dirty="0">
                <a:latin typeface="Arial" panose="020B0604020202020204"/>
                <a:ea typeface="+mn-ea"/>
              </a:rPr>
              <a:t>  -n  4  ./</a:t>
            </a:r>
            <a:r>
              <a:rPr lang="en-US" sz="2940" kern="0" dirty="0" err="1">
                <a:latin typeface="Arial" panose="020B0604020202020204"/>
                <a:ea typeface="+mn-ea"/>
              </a:rPr>
              <a:t>mpi_hello</a:t>
            </a:r>
            <a:endParaRPr lang="en-US" sz="2940" kern="0" dirty="0">
              <a:latin typeface="Arial" panose="020B0604020202020204"/>
              <a:ea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03784" y="1936909"/>
            <a:ext cx="6199109" cy="542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>
                <a:latin typeface="Arial" panose="020B0604020202020204"/>
                <a:ea typeface="+mn-ea"/>
              </a:rPr>
              <a:t>Greetings from process 0 of 1 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3784" y="3978831"/>
            <a:ext cx="6199109" cy="21704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>
                <a:latin typeface="Arial" panose="020B0604020202020204"/>
                <a:ea typeface="+mn-ea"/>
              </a:rPr>
              <a:t>Greetings from process 0 of 4 !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>
                <a:latin typeface="Arial" panose="020B0604020202020204"/>
                <a:ea typeface="+mn-ea"/>
              </a:rPr>
              <a:t>Greetings from process 1 of 4 !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>
                <a:latin typeface="Arial" panose="020B0604020202020204"/>
                <a:ea typeface="+mn-ea"/>
              </a:rPr>
              <a:t>Greetings from process 2 of 4 !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940" kern="0" dirty="0">
                <a:latin typeface="Arial" panose="020B0604020202020204"/>
                <a:ea typeface="+mn-ea"/>
              </a:rPr>
              <a:t>Greetings from process 3 of 4 !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2922032" y="1181815"/>
            <a:ext cx="6200775" cy="60769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 sz="3360"/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2922032" y="3222070"/>
            <a:ext cx="6200775" cy="60769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 sz="336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 Programs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4294967295"/>
          </p:nvPr>
        </p:nvSpPr>
        <p:spPr>
          <a:xfrm>
            <a:off x="1432560" y="1223645"/>
            <a:ext cx="9888220" cy="5504815"/>
          </a:xfrm>
        </p:spPr>
        <p:txBody>
          <a:bodyPr/>
          <a:lstStyle/>
          <a:p>
            <a:r>
              <a:rPr lang="en-US" altLang="en-US" sz="3200" b="0"/>
              <a:t>Written in C.</a:t>
            </a:r>
          </a:p>
          <a:p>
            <a:pPr lvl="1"/>
            <a:r>
              <a:rPr lang="en-US" altLang="en-US" sz="2800" b="0"/>
              <a:t>Has main.</a:t>
            </a:r>
          </a:p>
          <a:p>
            <a:pPr lvl="1"/>
            <a:r>
              <a:rPr lang="en-US" altLang="en-US" sz="2800" b="0"/>
              <a:t>Uses stdio.h, string.h, etc.</a:t>
            </a:r>
          </a:p>
          <a:p>
            <a:r>
              <a:rPr lang="en-US" altLang="en-US" sz="3200" b="0"/>
              <a:t>Need to add </a:t>
            </a:r>
            <a:r>
              <a:rPr lang="en-US" altLang="en-US" sz="3200" b="0">
                <a:solidFill>
                  <a:srgbClr val="FF0000"/>
                </a:solidFill>
              </a:rPr>
              <a:t>mpi.h</a:t>
            </a:r>
            <a:r>
              <a:rPr lang="en-US" altLang="en-US" sz="3200" b="0"/>
              <a:t> header file.</a:t>
            </a:r>
          </a:p>
          <a:p>
            <a:r>
              <a:rPr lang="en-US" altLang="en-US" sz="3200" b="0"/>
              <a:t>Identifiers defined by MPI start with </a:t>
            </a:r>
            <a:r>
              <a:rPr lang="ja-JP" altLang="en-US" sz="3200" b="0"/>
              <a:t>“</a:t>
            </a:r>
            <a:r>
              <a:rPr lang="en-US" altLang="ja-JP" sz="3200" b="0"/>
              <a:t>MPI_</a:t>
            </a:r>
            <a:r>
              <a:rPr lang="ja-JP" altLang="en-US" sz="3200" b="0"/>
              <a:t>”</a:t>
            </a:r>
            <a:r>
              <a:rPr lang="en-US" altLang="ja-JP" sz="3200" b="0"/>
              <a:t>.</a:t>
            </a:r>
          </a:p>
          <a:p>
            <a:r>
              <a:rPr lang="en-US" altLang="en-US" sz="3200" b="0"/>
              <a:t>First letter following underscore is uppercase.</a:t>
            </a:r>
          </a:p>
          <a:p>
            <a:pPr lvl="1"/>
            <a:r>
              <a:rPr lang="en-US" altLang="en-US" sz="2800" b="0"/>
              <a:t>For function names and MPI-defined types.</a:t>
            </a:r>
          </a:p>
          <a:p>
            <a:pPr lvl="1"/>
            <a:r>
              <a:rPr lang="en-US" altLang="en-US" sz="2800" b="0"/>
              <a:t>Helps to avoid confusion.</a:t>
            </a:r>
          </a:p>
        </p:txBody>
      </p:sp>
      <p:sp>
        <p:nvSpPr>
          <p:cNvPr id="3174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 Components</a:t>
            </a:r>
          </a:p>
        </p:txBody>
      </p:sp>
      <p:sp>
        <p:nvSpPr>
          <p:cNvPr id="32770" name="Content Placeholder 3"/>
          <p:cNvSpPr>
            <a:spLocks noGrp="1"/>
          </p:cNvSpPr>
          <p:nvPr>
            <p:ph idx="4294967295"/>
          </p:nvPr>
        </p:nvSpPr>
        <p:spPr>
          <a:xfrm>
            <a:off x="928370" y="1511935"/>
            <a:ext cx="11041380" cy="4712970"/>
          </a:xfrm>
        </p:spPr>
        <p:txBody>
          <a:bodyPr/>
          <a:lstStyle/>
          <a:p>
            <a:r>
              <a:rPr lang="en-US" altLang="en-US" sz="3200"/>
              <a:t>MPI_Init</a:t>
            </a:r>
          </a:p>
          <a:p>
            <a:pPr lvl="1"/>
            <a:r>
              <a:rPr lang="en-US" altLang="en-US" sz="2800"/>
              <a:t>Tells MPI to do all the necessary setup.</a:t>
            </a:r>
            <a:br>
              <a:rPr lang="en-US" altLang="en-US" sz="2800"/>
            </a:br>
            <a:br>
              <a:rPr lang="en-US" altLang="en-US" sz="2800"/>
            </a:br>
            <a:br>
              <a:rPr lang="en-US" altLang="en-US" sz="2800"/>
            </a:br>
            <a:endParaRPr lang="en-US" altLang="en-US" sz="2800"/>
          </a:p>
          <a:p>
            <a:r>
              <a:rPr lang="en-US" altLang="en-US" sz="3200"/>
              <a:t>MPI_Finalize</a:t>
            </a:r>
          </a:p>
          <a:p>
            <a:pPr lvl="1"/>
            <a:r>
              <a:rPr lang="en-US" altLang="en-US" sz="2800"/>
              <a:t>Tells MPI we</a:t>
            </a:r>
            <a:r>
              <a:rPr lang="ja-JP" altLang="en-US" sz="2800"/>
              <a:t>’</a:t>
            </a:r>
            <a:r>
              <a:rPr lang="en-US" altLang="ja-JP" sz="2800"/>
              <a:t>re done, so clean up anything allocated for this program.</a:t>
            </a:r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505" y="2794972"/>
            <a:ext cx="6457474" cy="13601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540" y="5731510"/>
            <a:ext cx="5544185" cy="68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774" name="Straight Connector 7"/>
          <p:cNvCxnSpPr>
            <a:cxnSpLocks noChangeShapeType="1"/>
          </p:cNvCxnSpPr>
          <p:nvPr/>
        </p:nvCxnSpPr>
        <p:spPr bwMode="auto">
          <a:xfrm>
            <a:off x="6854190" y="5717381"/>
            <a:ext cx="960120" cy="96012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cxn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Outline</a:t>
            </a:r>
          </a:p>
        </p:txBody>
      </p:sp>
      <p:sp>
        <p:nvSpPr>
          <p:cNvPr id="33794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1104900"/>
            <a:ext cx="7176770" cy="494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Communicator</a:t>
            </a:r>
            <a:r>
              <a:rPr lang="zh-CN" altLang="en-US" dirty="0"/>
              <a:t>（通信域</a:t>
            </a:r>
            <a:r>
              <a:rPr lang="en-US" altLang="zh-CN" dirty="0"/>
              <a:t>/</a:t>
            </a:r>
            <a:r>
              <a:rPr lang="zh-CN" altLang="en-US" dirty="0"/>
              <a:t>通信子）</a:t>
            </a:r>
            <a:r>
              <a:rPr lang="en-US" altLang="en-US" dirty="0"/>
              <a:t> 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4294967295"/>
          </p:nvPr>
        </p:nvSpPr>
        <p:spPr>
          <a:xfrm>
            <a:off x="1432560" y="1402080"/>
            <a:ext cx="10245725" cy="4733290"/>
          </a:xfrm>
        </p:spPr>
        <p:txBody>
          <a:bodyPr/>
          <a:lstStyle/>
          <a:p>
            <a:r>
              <a:rPr lang="en-US" altLang="en-US" b="0" dirty="0"/>
              <a:t>A collection of processes that can send messages to each other.</a:t>
            </a:r>
          </a:p>
          <a:p>
            <a:r>
              <a:rPr lang="en-US" altLang="en-US" b="0" dirty="0" err="1"/>
              <a:t>MPI_Init</a:t>
            </a:r>
            <a:r>
              <a:rPr lang="en-US" altLang="en-US" b="0" dirty="0"/>
              <a:t> defines a communicator that consists of all the processes created when the program is started.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Called </a:t>
            </a:r>
            <a:r>
              <a:rPr lang="en-US" altLang="en-US" b="0" dirty="0">
                <a:solidFill>
                  <a:srgbClr val="FF0000"/>
                </a:solidFill>
              </a:rPr>
              <a:t>MPI_COMM_WORLD</a:t>
            </a:r>
            <a:r>
              <a:rPr lang="en-US" altLang="en-US" b="0" dirty="0"/>
              <a:t>.</a:t>
            </a:r>
          </a:p>
        </p:txBody>
      </p:sp>
      <p:sp>
        <p:nvSpPr>
          <p:cNvPr id="3481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Communicators</a:t>
            </a:r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823" y="1368505"/>
            <a:ext cx="6689170" cy="128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319" y="3752136"/>
            <a:ext cx="6619160" cy="136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 descr="buildings,business,businessmen,cities,cityscapes,hierarchies,males,metaphors,metropolitan areas,pecking orders,people,persons,ranks,skylines,skyscrap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436" y="-255032"/>
            <a:ext cx="2193608" cy="2191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015854" y="2748995"/>
            <a:ext cx="567753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number  of processes in the communicator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2184" y="5112306"/>
            <a:ext cx="3941445" cy="8655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my rank </a:t>
            </a:r>
            <a:b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</a:br>
            <a:r>
              <a:rPr lang="en-US" sz="2520" i="1" dirty="0">
                <a:solidFill>
                  <a:srgbClr val="0066FF"/>
                </a:solidFill>
                <a:latin typeface="+mj-lt"/>
                <a:ea typeface="+mn-ea"/>
              </a:rPr>
              <a:t>(the process making this call)</a:t>
            </a:r>
          </a:p>
        </p:txBody>
      </p:sp>
      <p:sp>
        <p:nvSpPr>
          <p:cNvPr id="35848" name="Freeform 10"/>
          <p:cNvSpPr>
            <a:spLocks noChangeArrowheads="1"/>
          </p:cNvSpPr>
          <p:nvPr/>
        </p:nvSpPr>
        <p:spPr bwMode="auto">
          <a:xfrm>
            <a:off x="5465684" y="2483644"/>
            <a:ext cx="538400" cy="381635"/>
          </a:xfrm>
          <a:custGeom>
            <a:avLst/>
            <a:gdLst>
              <a:gd name="T0" fmla="*/ 150108 w 512378"/>
              <a:gd name="T1" fmla="*/ 345155 h 370489"/>
              <a:gd name="T2" fmla="*/ 497730 w 512378"/>
              <a:gd name="T3" fmla="*/ 345155 h 370489"/>
              <a:gd name="T4" fmla="*/ 55302 w 512378"/>
              <a:gd name="T5" fmla="*/ 203956 h 370489"/>
              <a:gd name="T6" fmla="*/ 165909 w 512378"/>
              <a:gd name="T7" fmla="*/ 0 h 370489"/>
              <a:gd name="T8" fmla="*/ 0 60000 65536"/>
              <a:gd name="T9" fmla="*/ 0 60000 65536"/>
              <a:gd name="T10" fmla="*/ 0 60000 65536"/>
              <a:gd name="T11" fmla="*/ 0 60000 65536"/>
              <a:gd name="T12" fmla="*/ 0 w 512378"/>
              <a:gd name="T13" fmla="*/ 0 h 370489"/>
              <a:gd name="T14" fmla="*/ 512378 w 512378"/>
              <a:gd name="T15" fmla="*/ 370489 h 3704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2378" h="370489">
                <a:moveTo>
                  <a:pt x="149772" y="346841"/>
                </a:moveTo>
                <a:cubicBezTo>
                  <a:pt x="331075" y="358665"/>
                  <a:pt x="512378" y="370489"/>
                  <a:pt x="496613" y="346841"/>
                </a:cubicBezTo>
                <a:cubicBezTo>
                  <a:pt x="480848" y="323193"/>
                  <a:pt x="110358" y="262758"/>
                  <a:pt x="55179" y="204951"/>
                </a:cubicBezTo>
                <a:cubicBezTo>
                  <a:pt x="0" y="147144"/>
                  <a:pt x="165537" y="0"/>
                  <a:pt x="165537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35849" name="Freeform 11"/>
          <p:cNvSpPr>
            <a:spLocks noChangeArrowheads="1"/>
          </p:cNvSpPr>
          <p:nvPr/>
        </p:nvSpPr>
        <p:spPr bwMode="auto">
          <a:xfrm>
            <a:off x="5417344" y="4960620"/>
            <a:ext cx="538401" cy="381635"/>
          </a:xfrm>
          <a:custGeom>
            <a:avLst/>
            <a:gdLst>
              <a:gd name="T0" fmla="*/ 150111 w 512378"/>
              <a:gd name="T1" fmla="*/ 349618 h 370489"/>
              <a:gd name="T2" fmla="*/ 497733 w 512378"/>
              <a:gd name="T3" fmla="*/ 349618 h 370489"/>
              <a:gd name="T4" fmla="*/ 55303 w 512378"/>
              <a:gd name="T5" fmla="*/ 206591 h 370489"/>
              <a:gd name="T6" fmla="*/ 165910 w 512378"/>
              <a:gd name="T7" fmla="*/ 0 h 370489"/>
              <a:gd name="T8" fmla="*/ 0 60000 65536"/>
              <a:gd name="T9" fmla="*/ 0 60000 65536"/>
              <a:gd name="T10" fmla="*/ 0 60000 65536"/>
              <a:gd name="T11" fmla="*/ 0 60000 65536"/>
              <a:gd name="T12" fmla="*/ 0 w 512378"/>
              <a:gd name="T13" fmla="*/ 0 h 370489"/>
              <a:gd name="T14" fmla="*/ 512378 w 512378"/>
              <a:gd name="T15" fmla="*/ 370489 h 3704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2378" h="370489">
                <a:moveTo>
                  <a:pt x="149772" y="346841"/>
                </a:moveTo>
                <a:cubicBezTo>
                  <a:pt x="331075" y="358665"/>
                  <a:pt x="512378" y="370489"/>
                  <a:pt x="496613" y="346841"/>
                </a:cubicBezTo>
                <a:cubicBezTo>
                  <a:pt x="480848" y="323193"/>
                  <a:pt x="110358" y="262758"/>
                  <a:pt x="55179" y="204951"/>
                </a:cubicBezTo>
                <a:cubicBezTo>
                  <a:pt x="0" y="147144"/>
                  <a:pt x="165537" y="0"/>
                  <a:pt x="165537" y="0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6865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6867" name="Rectangle 2"/>
          <p:cNvSpPr txBox="1">
            <a:spLocks noChangeArrowheads="1"/>
          </p:cNvSpPr>
          <p:nvPr/>
        </p:nvSpPr>
        <p:spPr bwMode="auto">
          <a:xfrm>
            <a:off x="7600950" y="1026160"/>
            <a:ext cx="336042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100" b="1">
                <a:solidFill>
                  <a:srgbClr val="0066FF"/>
                </a:solidFill>
                <a:latin typeface="Arial" panose="020B0604020202020204" pitchFamily="34" charset="0"/>
              </a:rPr>
              <a:t>Sample MPI program</a:t>
            </a:r>
            <a:endParaRPr lang="en-US" altLang="en-US" sz="4200" b="1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Rectangle 3"/>
          <p:cNvSpPr txBox="1">
            <a:spLocks noChangeArrowheads="1"/>
          </p:cNvSpPr>
          <p:nvPr/>
        </p:nvSpPr>
        <p:spPr bwMode="auto">
          <a:xfrm>
            <a:off x="496145" y="706101"/>
            <a:ext cx="5904656" cy="596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#include “</a:t>
            </a:r>
            <a:r>
              <a:rPr lang="en-US" altLang="ja-JP" sz="1400" dirty="0" err="1">
                <a:latin typeface="+mn-lt"/>
              </a:rPr>
              <a:t>mpi.h</a:t>
            </a:r>
            <a:r>
              <a:rPr lang="en-US" altLang="en-US" sz="1400" dirty="0">
                <a:latin typeface="+mn-lt"/>
              </a:rPr>
              <a:t>”</a:t>
            </a:r>
            <a:endParaRPr lang="en-US" altLang="ja-JP" sz="1400" dirty="0">
              <a:latin typeface="+mn-lt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#include &lt;</a:t>
            </a:r>
            <a:r>
              <a:rPr lang="en-US" altLang="en-US" sz="1400" dirty="0" err="1">
                <a:latin typeface="+mn-lt"/>
              </a:rPr>
              <a:t>stdio.h</a:t>
            </a:r>
            <a:r>
              <a:rPr lang="en-US" altLang="en-US" sz="1400" dirty="0">
                <a:latin typeface="+mn-lt"/>
              </a:rPr>
              <a:t>&gt;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#include &lt;</a:t>
            </a:r>
            <a:r>
              <a:rPr lang="en-US" altLang="en-US" sz="1400" dirty="0" err="1">
                <a:latin typeface="+mn-lt"/>
              </a:rPr>
              <a:t>math.h</a:t>
            </a:r>
            <a:r>
              <a:rPr lang="en-US" altLang="en-US" sz="1400" dirty="0">
                <a:latin typeface="+mn-lt"/>
              </a:rPr>
              <a:t>&gt;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#define MAXSIZE 1000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void main(</a:t>
            </a:r>
            <a:r>
              <a:rPr lang="en-US" altLang="en-US" sz="1400" dirty="0" err="1">
                <a:latin typeface="+mn-lt"/>
              </a:rPr>
              <a:t>int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argc</a:t>
            </a:r>
            <a:r>
              <a:rPr lang="en-US" altLang="en-US" sz="1400" dirty="0">
                <a:latin typeface="+mn-lt"/>
              </a:rPr>
              <a:t>, char *</a:t>
            </a:r>
            <a:r>
              <a:rPr lang="en-US" altLang="en-US" sz="1400" dirty="0" err="1">
                <a:latin typeface="+mn-lt"/>
              </a:rPr>
              <a:t>argv</a:t>
            </a:r>
            <a:r>
              <a:rPr lang="en-US" altLang="en-US" sz="1400" dirty="0">
                <a:latin typeface="+mn-lt"/>
              </a:rPr>
              <a:t>)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{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int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, </a:t>
            </a:r>
            <a:r>
              <a:rPr lang="en-US" altLang="en-US" sz="1400" dirty="0" err="1">
                <a:latin typeface="+mn-lt"/>
              </a:rPr>
              <a:t>numprocs</a:t>
            </a:r>
            <a:r>
              <a:rPr lang="en-US" altLang="en-US" sz="1400" dirty="0">
                <a:latin typeface="+mn-lt"/>
              </a:rPr>
              <a:t>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int</a:t>
            </a:r>
            <a:r>
              <a:rPr lang="en-US" altLang="en-US" sz="1400" dirty="0">
                <a:latin typeface="+mn-lt"/>
              </a:rPr>
              <a:t> data[MAXSIZE], 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, x, low, high, </a:t>
            </a:r>
            <a:r>
              <a:rPr lang="en-US" altLang="en-US" sz="1400" dirty="0" err="1">
                <a:latin typeface="+mn-lt"/>
              </a:rPr>
              <a:t>myresult</a:t>
            </a:r>
            <a:r>
              <a:rPr lang="en-US" altLang="en-US" sz="1400" dirty="0">
                <a:latin typeface="+mn-lt"/>
              </a:rPr>
              <a:t>, result;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char </a:t>
            </a:r>
            <a:r>
              <a:rPr lang="en-US" altLang="en-US" sz="1400" dirty="0" err="1">
                <a:latin typeface="+mn-lt"/>
              </a:rPr>
              <a:t>fn</a:t>
            </a:r>
            <a:r>
              <a:rPr lang="en-US" altLang="en-US" sz="1400" dirty="0">
                <a:latin typeface="+mn-lt"/>
              </a:rPr>
              <a:t>[255];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char *</a:t>
            </a:r>
            <a:r>
              <a:rPr lang="en-US" altLang="en-US" sz="1400" dirty="0" err="1">
                <a:latin typeface="+mn-lt"/>
              </a:rPr>
              <a:t>fp</a:t>
            </a:r>
            <a:r>
              <a:rPr lang="en-US" altLang="en-US" sz="1400" dirty="0">
                <a:latin typeface="+mn-lt"/>
              </a:rPr>
              <a:t>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MPI_Init</a:t>
            </a:r>
            <a:r>
              <a:rPr lang="en-US" altLang="en-US" sz="1400" dirty="0">
                <a:latin typeface="+mn-lt"/>
              </a:rPr>
              <a:t>(&amp;</a:t>
            </a:r>
            <a:r>
              <a:rPr lang="en-US" altLang="en-US" sz="1400" dirty="0" err="1">
                <a:latin typeface="+mn-lt"/>
              </a:rPr>
              <a:t>argc</a:t>
            </a:r>
            <a:r>
              <a:rPr lang="en-US" altLang="en-US" sz="1400" dirty="0">
                <a:latin typeface="+mn-lt"/>
              </a:rPr>
              <a:t>, &amp;</a:t>
            </a:r>
            <a:r>
              <a:rPr lang="en-US" altLang="en-US" sz="1400" dirty="0" err="1">
                <a:latin typeface="+mn-lt"/>
              </a:rPr>
              <a:t>argv</a:t>
            </a:r>
            <a:r>
              <a:rPr lang="en-US" altLang="en-US" sz="1400" dirty="0">
                <a:latin typeface="+mn-lt"/>
              </a:rPr>
              <a:t>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MPI_Comm_size</a:t>
            </a:r>
            <a:r>
              <a:rPr lang="en-US" altLang="en-US" sz="1400" dirty="0">
                <a:latin typeface="+mn-lt"/>
              </a:rPr>
              <a:t>(MPI_COMM_WORLD,&amp;</a:t>
            </a:r>
            <a:r>
              <a:rPr lang="en-US" altLang="en-US" sz="1400" dirty="0" err="1">
                <a:latin typeface="+mn-lt"/>
              </a:rPr>
              <a:t>numprocs</a:t>
            </a:r>
            <a:r>
              <a:rPr lang="en-US" altLang="en-US" sz="1400" dirty="0">
                <a:latin typeface="+mn-lt"/>
              </a:rPr>
              <a:t>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MPI_Comm_rank</a:t>
            </a:r>
            <a:r>
              <a:rPr lang="en-US" altLang="en-US" sz="1400" dirty="0">
                <a:latin typeface="+mn-lt"/>
              </a:rPr>
              <a:t>(MPI_COMM_WORLD,&amp;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if (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 == 0) {  /* Open input file and initialize data */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</a:t>
            </a:r>
            <a:r>
              <a:rPr lang="en-US" altLang="en-US" sz="1400" dirty="0" err="1">
                <a:latin typeface="+mn-lt"/>
              </a:rPr>
              <a:t>strcpy</a:t>
            </a:r>
            <a:r>
              <a:rPr lang="en-US" altLang="en-US" sz="1400" dirty="0">
                <a:latin typeface="+mn-lt"/>
              </a:rPr>
              <a:t>(</a:t>
            </a:r>
            <a:r>
              <a:rPr lang="en-US" altLang="en-US" sz="1400" dirty="0" err="1">
                <a:latin typeface="+mn-lt"/>
              </a:rPr>
              <a:t>fn,getenv</a:t>
            </a:r>
            <a:r>
              <a:rPr lang="en-US" altLang="en-US" sz="1400" dirty="0">
                <a:latin typeface="+mn-lt"/>
              </a:rPr>
              <a:t>(“HOME”));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</a:t>
            </a:r>
            <a:r>
              <a:rPr lang="en-US" altLang="en-US" sz="1400" dirty="0" err="1">
                <a:latin typeface="+mn-lt"/>
              </a:rPr>
              <a:t>strcat</a:t>
            </a:r>
            <a:r>
              <a:rPr lang="en-US" altLang="en-US" sz="1400" dirty="0">
                <a:latin typeface="+mn-lt"/>
              </a:rPr>
              <a:t>(</a:t>
            </a:r>
            <a:r>
              <a:rPr lang="en-US" altLang="en-US" sz="1400" dirty="0" err="1">
                <a:latin typeface="+mn-lt"/>
              </a:rPr>
              <a:t>fn</a:t>
            </a:r>
            <a:r>
              <a:rPr lang="en-US" altLang="en-US" sz="1400" dirty="0">
                <a:latin typeface="+mn-lt"/>
              </a:rPr>
              <a:t>,”/MPI/rand_data.txt”);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if ((</a:t>
            </a:r>
            <a:r>
              <a:rPr lang="en-US" altLang="en-US" sz="1400" dirty="0" err="1">
                <a:latin typeface="+mn-lt"/>
              </a:rPr>
              <a:t>fp</a:t>
            </a:r>
            <a:r>
              <a:rPr lang="en-US" altLang="en-US" sz="1400" dirty="0">
                <a:latin typeface="+mn-lt"/>
              </a:rPr>
              <a:t> = </a:t>
            </a:r>
            <a:r>
              <a:rPr lang="en-US" altLang="en-US" sz="1400" dirty="0" err="1">
                <a:latin typeface="+mn-lt"/>
              </a:rPr>
              <a:t>fopen</a:t>
            </a:r>
            <a:r>
              <a:rPr lang="en-US" altLang="en-US" sz="1400" dirty="0">
                <a:latin typeface="+mn-lt"/>
              </a:rPr>
              <a:t>(</a:t>
            </a:r>
            <a:r>
              <a:rPr lang="en-US" altLang="en-US" sz="1400" dirty="0" err="1">
                <a:latin typeface="+mn-lt"/>
              </a:rPr>
              <a:t>fn</a:t>
            </a:r>
            <a:r>
              <a:rPr lang="en-US" altLang="en-US" sz="1400" dirty="0">
                <a:latin typeface="+mn-lt"/>
              </a:rPr>
              <a:t>,”r”)) == NULL) {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	</a:t>
            </a:r>
            <a:r>
              <a:rPr lang="en-US" altLang="en-US" sz="1400" dirty="0" err="1">
                <a:latin typeface="+mn-lt"/>
              </a:rPr>
              <a:t>printf</a:t>
            </a:r>
            <a:r>
              <a:rPr lang="en-US" altLang="en-US" sz="1400" dirty="0">
                <a:latin typeface="+mn-lt"/>
              </a:rPr>
              <a:t>(“Can’t open the input file: %s\n\n”, </a:t>
            </a:r>
            <a:r>
              <a:rPr lang="en-US" altLang="en-US" sz="1400" dirty="0" err="1">
                <a:latin typeface="+mn-lt"/>
              </a:rPr>
              <a:t>fn</a:t>
            </a:r>
            <a:r>
              <a:rPr lang="en-US" altLang="en-US" sz="1400" dirty="0">
                <a:latin typeface="+mn-lt"/>
              </a:rPr>
              <a:t>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	exit(1);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}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for(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 = 0; 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 &lt; MAXSIZE; 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++) </a:t>
            </a:r>
            <a:r>
              <a:rPr lang="en-US" altLang="en-US" sz="1400" dirty="0" err="1">
                <a:latin typeface="+mn-lt"/>
              </a:rPr>
              <a:t>fscanf</a:t>
            </a:r>
            <a:r>
              <a:rPr lang="en-US" altLang="en-US" sz="1400" dirty="0">
                <a:latin typeface="+mn-lt"/>
              </a:rPr>
              <a:t>(</a:t>
            </a:r>
            <a:r>
              <a:rPr lang="en-US" altLang="en-US" sz="1400" dirty="0" err="1">
                <a:latin typeface="+mn-lt"/>
              </a:rPr>
              <a:t>fp</a:t>
            </a:r>
            <a:r>
              <a:rPr lang="en-US" altLang="en-US" sz="1400" dirty="0">
                <a:latin typeface="+mn-lt"/>
              </a:rPr>
              <a:t>,”%d”, &amp;data[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]);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}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EA137B-5DBB-4761-B9DE-2A30EB35D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832" y="3100931"/>
            <a:ext cx="5867552" cy="2914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MPI_Bcast</a:t>
            </a:r>
            <a:r>
              <a:rPr lang="en-US" altLang="en-US" sz="1400" dirty="0">
                <a:latin typeface="+mn-lt"/>
              </a:rPr>
              <a:t>(data, MAXSIZE, MPI_INT, 0, MPI_COMM_WORLD); /* broadcast data */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x = n/</a:t>
            </a:r>
            <a:r>
              <a:rPr lang="en-US" altLang="en-US" sz="1400" dirty="0" err="1">
                <a:latin typeface="+mn-lt"/>
              </a:rPr>
              <a:t>nproc</a:t>
            </a:r>
            <a:r>
              <a:rPr lang="en-US" altLang="en-US" sz="1400" dirty="0">
                <a:latin typeface="+mn-lt"/>
              </a:rPr>
              <a:t>; /* Add my portion Of data */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low = 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 * x;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high = low + x;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for(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 = low; 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 &lt; high; 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++)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	</a:t>
            </a:r>
            <a:r>
              <a:rPr lang="en-US" altLang="en-US" sz="1400" dirty="0" err="1">
                <a:latin typeface="+mn-lt"/>
              </a:rPr>
              <a:t>myresult</a:t>
            </a:r>
            <a:r>
              <a:rPr lang="en-US" altLang="en-US" sz="1400" dirty="0">
                <a:latin typeface="+mn-lt"/>
              </a:rPr>
              <a:t> += data[</a:t>
            </a:r>
            <a:r>
              <a:rPr lang="en-US" altLang="en-US" sz="1400" dirty="0" err="1">
                <a:latin typeface="+mn-lt"/>
              </a:rPr>
              <a:t>i</a:t>
            </a:r>
            <a:r>
              <a:rPr lang="en-US" altLang="en-US" sz="1400" dirty="0">
                <a:latin typeface="+mn-lt"/>
              </a:rPr>
              <a:t>];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printf</a:t>
            </a:r>
            <a:r>
              <a:rPr lang="en-US" altLang="en-US" sz="1400" dirty="0">
                <a:latin typeface="+mn-lt"/>
              </a:rPr>
              <a:t>(“I got %d from %d\n”, </a:t>
            </a:r>
            <a:r>
              <a:rPr lang="en-US" altLang="en-US" sz="1400" dirty="0" err="1">
                <a:latin typeface="+mn-lt"/>
              </a:rPr>
              <a:t>myresult</a:t>
            </a:r>
            <a:r>
              <a:rPr lang="en-US" altLang="en-US" sz="1400" dirty="0">
                <a:latin typeface="+mn-lt"/>
              </a:rPr>
              <a:t>, 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); /* Compute global sum */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MPI_Reduce</a:t>
            </a:r>
            <a:r>
              <a:rPr lang="en-US" altLang="en-US" sz="1400" dirty="0">
                <a:latin typeface="+mn-lt"/>
              </a:rPr>
              <a:t>(&amp;</a:t>
            </a:r>
            <a:r>
              <a:rPr lang="en-US" altLang="en-US" sz="1400" dirty="0" err="1">
                <a:latin typeface="+mn-lt"/>
              </a:rPr>
              <a:t>myresult</a:t>
            </a:r>
            <a:r>
              <a:rPr lang="en-US" altLang="en-US" sz="1400" dirty="0">
                <a:latin typeface="+mn-lt"/>
              </a:rPr>
              <a:t>, &amp;result, 1, MPI_INT, MPI_SUM, 0, MPI_COMM_WORLD);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if (</a:t>
            </a:r>
            <a:r>
              <a:rPr lang="en-US" altLang="en-US" sz="1400" dirty="0" err="1">
                <a:latin typeface="+mn-lt"/>
              </a:rPr>
              <a:t>myid</a:t>
            </a:r>
            <a:r>
              <a:rPr lang="en-US" altLang="en-US" sz="1400" dirty="0">
                <a:latin typeface="+mn-lt"/>
              </a:rPr>
              <a:t> == 0) </a:t>
            </a:r>
            <a:r>
              <a:rPr lang="en-US" altLang="en-US" sz="1400" dirty="0" err="1">
                <a:latin typeface="+mn-lt"/>
              </a:rPr>
              <a:t>printf</a:t>
            </a:r>
            <a:r>
              <a:rPr lang="en-US" altLang="en-US" sz="1400" dirty="0">
                <a:latin typeface="+mn-lt"/>
              </a:rPr>
              <a:t>(“The sum is %d.\n”, result);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	</a:t>
            </a:r>
            <a:r>
              <a:rPr lang="en-US" altLang="en-US" sz="1400" dirty="0" err="1">
                <a:latin typeface="+mn-lt"/>
              </a:rPr>
              <a:t>MPI_Finalize</a:t>
            </a:r>
            <a:r>
              <a:rPr lang="en-US" altLang="en-US" sz="1400" dirty="0">
                <a:latin typeface="+mn-lt"/>
              </a:rPr>
              <a:t>();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</a:pPr>
            <a:r>
              <a:rPr lang="en-US" altLang="en-US" sz="1400" dirty="0">
                <a:latin typeface="+mn-lt"/>
              </a:rPr>
              <a:t>}</a:t>
            </a:r>
          </a:p>
        </p:txBody>
      </p:sp>
      <p:cxnSp>
        <p:nvCxnSpPr>
          <p:cNvPr id="4" name="连接符: 曲线 3">
            <a:extLst>
              <a:ext uri="{FF2B5EF4-FFF2-40B4-BE49-F238E27FC236}">
                <a16:creationId xmlns:a16="http://schemas.microsoft.com/office/drawing/2014/main" id="{7BC3AA2C-D929-465D-BED4-4BC2C5D652A8}"/>
              </a:ext>
            </a:extLst>
          </p:cNvPr>
          <p:cNvCxnSpPr>
            <a:cxnSpLocks/>
            <a:stCxn id="36868" idx="2"/>
            <a:endCxn id="6" idx="0"/>
          </p:cNvCxnSpPr>
          <p:nvPr/>
        </p:nvCxnSpPr>
        <p:spPr>
          <a:xfrm rot="5400000" flipH="1" flipV="1">
            <a:off x="4749080" y="1800323"/>
            <a:ext cx="3572919" cy="6174135"/>
          </a:xfrm>
          <a:prstGeom prst="curvedConnector5">
            <a:avLst>
              <a:gd name="adj1" fmla="val -3125"/>
              <a:gd name="adj2" fmla="val 45673"/>
              <a:gd name="adj3" fmla="val 1248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SPMD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4294967295"/>
          </p:nvPr>
        </p:nvSpPr>
        <p:spPr>
          <a:xfrm>
            <a:off x="1072515" y="1440180"/>
            <a:ext cx="11041380" cy="4712970"/>
          </a:xfrm>
        </p:spPr>
        <p:txBody>
          <a:bodyPr/>
          <a:lstStyle/>
          <a:p>
            <a:r>
              <a:rPr lang="en-US" altLang="en-US" dirty="0"/>
              <a:t>Single-Program Multiple-Data</a:t>
            </a:r>
          </a:p>
          <a:p>
            <a:r>
              <a:rPr lang="en-US" altLang="en-US" dirty="0"/>
              <a:t>We compile </a:t>
            </a:r>
            <a:r>
              <a:rPr lang="en-US" altLang="en-US" u="sng" dirty="0"/>
              <a:t>one</a:t>
            </a:r>
            <a:r>
              <a:rPr lang="en-US" altLang="en-US" dirty="0"/>
              <a:t> program.</a:t>
            </a:r>
          </a:p>
          <a:p>
            <a:r>
              <a:rPr lang="en-US" altLang="en-US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run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processes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MPI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endParaRPr lang="en-US" altLang="en-US" dirty="0"/>
          </a:p>
          <a:p>
            <a:r>
              <a:rPr lang="en-US" altLang="en-US" dirty="0"/>
              <a:t>Process 0 does something different.</a:t>
            </a:r>
          </a:p>
          <a:p>
            <a:pPr lvl="1"/>
            <a:r>
              <a:rPr lang="en-US" altLang="en-US" dirty="0"/>
              <a:t>Receives messages and prints them while the other processes do the work.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</a:rPr>
              <a:t>if-else</a:t>
            </a:r>
            <a:r>
              <a:rPr lang="en-US" altLang="en-US" dirty="0"/>
              <a:t> construct makes our program SPMD.</a:t>
            </a:r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Basic Send/Receive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00760" y="1511935"/>
            <a:ext cx="11041380" cy="4712970"/>
          </a:xfrm>
        </p:spPr>
        <p:txBody>
          <a:bodyPr>
            <a:normAutofit fontScale="87500" lnSpcReduction="20000"/>
          </a:bodyPr>
          <a:lstStyle/>
          <a:p>
            <a:r>
              <a:rPr lang="en-US" dirty="0"/>
              <a:t>We need to fill in the details in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Things that need specifying:</a:t>
            </a:r>
          </a:p>
          <a:p>
            <a:pPr lvl="1"/>
            <a:r>
              <a:rPr lang="en-US" dirty="0"/>
              <a:t>How will “data” be described?</a:t>
            </a:r>
          </a:p>
          <a:p>
            <a:pPr lvl="1"/>
            <a:r>
              <a:rPr lang="en-US" dirty="0"/>
              <a:t>How will processes be identified?</a:t>
            </a:r>
          </a:p>
          <a:p>
            <a:pPr lvl="1"/>
            <a:r>
              <a:rPr lang="en-US" dirty="0"/>
              <a:t>How will the receiver recognize/screen messages?</a:t>
            </a:r>
          </a:p>
          <a:p>
            <a:pPr lvl="1"/>
            <a:r>
              <a:rPr lang="en-US" dirty="0"/>
              <a:t>What will it mean for these operations to complete?</a:t>
            </a:r>
          </a:p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 bwMode="auto">
          <a:xfrm>
            <a:off x="3161332" y="2375885"/>
            <a:ext cx="5240656" cy="1360172"/>
            <a:chOff x="1392" y="3312"/>
            <a:chExt cx="3144" cy="81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392" y="3312"/>
              <a:ext cx="658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r>
                <a:rPr lang="en-US" sz="189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248" y="3328"/>
              <a:ext cx="664" cy="22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r>
                <a:rPr lang="en-US" sz="189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2640" y="3360"/>
              <a:ext cx="0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endParaRPr lang="en-US" sz="231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92" y="3612"/>
              <a:ext cx="974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r>
                <a:rPr lang="en-US" sz="1890">
                  <a:solidFill>
                    <a:schemeClr val="tx1"/>
                  </a:solidFill>
                  <a:latin typeface="Courier New" panose="02070309020205020404" charset="0"/>
                  <a:cs typeface="Courier New" panose="02070309020205020404" charset="0"/>
                </a:rPr>
                <a:t>Send(data)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302" y="3829"/>
              <a:ext cx="1234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r>
                <a:rPr lang="en-US" sz="1890">
                  <a:solidFill>
                    <a:schemeClr val="tx1"/>
                  </a:solidFill>
                  <a:latin typeface="Courier New" panose="02070309020205020404" charset="0"/>
                  <a:cs typeface="Courier New" panose="02070309020205020404" charset="0"/>
                </a:rPr>
                <a:t>Receive(data)</a:t>
              </a:r>
              <a:endParaRPr lang="en-US" sz="1890" b="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352" y="3696"/>
              <a:ext cx="76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9pPr>
            </a:lstStyle>
            <a:p>
              <a:endParaRPr lang="en-US" sz="2310"/>
            </a:p>
          </p:txBody>
        </p:sp>
      </p:grp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Communication</a:t>
            </a:r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38915" name="Group 8"/>
          <p:cNvGrpSpPr/>
          <p:nvPr/>
        </p:nvGrpSpPr>
        <p:grpSpPr bwMode="auto">
          <a:xfrm>
            <a:off x="2545319" y="1256824"/>
            <a:ext cx="7030879" cy="3402092"/>
            <a:chOff x="1475656" y="1772816"/>
            <a:chExt cx="4111749" cy="1726307"/>
          </a:xfrm>
        </p:grpSpPr>
        <p:pic>
          <p:nvPicPr>
            <p:cNvPr id="3891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6" y="1772816"/>
              <a:ext cx="13811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1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2060848"/>
              <a:ext cx="3895725" cy="143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036" y="4733925"/>
            <a:ext cx="2418636" cy="158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Datatypes</a:t>
            </a:r>
            <a:r>
              <a:rPr lang="zh-CN" altLang="en-US" dirty="0"/>
              <a:t> </a:t>
            </a:r>
            <a:r>
              <a:rPr lang="en-US" altLang="zh-CN" dirty="0"/>
              <a:t>(semantics)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1350" y="1080170"/>
            <a:ext cx="11182985" cy="6769379"/>
          </a:xfrm>
        </p:spPr>
        <p:txBody>
          <a:bodyPr>
            <a:normAutofit fontScale="95000"/>
          </a:bodyPr>
          <a:lstStyle/>
          <a:p>
            <a:pPr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The data in a message to send or receive is described by a triple (address, count, datatype), where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altLang="zh-CN" sz="2400" b="0" dirty="0"/>
              <a:t>“count”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is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the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number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of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object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altLang="zh-CN" sz="2400" b="0" dirty="0"/>
              <a:t>“datatype”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is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the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type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of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object</a:t>
            </a:r>
            <a:endParaRPr lang="en-US" sz="2400" b="0" dirty="0"/>
          </a:p>
          <a:p>
            <a:pPr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An MPI datatype is recursively defined as: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predefined, corresponding to a data type from the language (e.g., MPI_INT, MPI_DOUBLE)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a contiguous array of MPI datatypes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a </a:t>
            </a:r>
            <a:r>
              <a:rPr lang="en-US" sz="2400" b="0" dirty="0" err="1"/>
              <a:t>strided</a:t>
            </a:r>
            <a:r>
              <a:rPr lang="en-US" sz="2400" b="0" dirty="0"/>
              <a:t> block of datatypes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an indexed array of blocks of datatypes</a:t>
            </a:r>
          </a:p>
          <a:p>
            <a:pPr lvl="1"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an arbitrary structure of datatypes</a:t>
            </a:r>
          </a:p>
          <a:p>
            <a:pPr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There are MPI functions to construct custom datatypes, in particular ones for subarrays</a:t>
            </a:r>
          </a:p>
          <a:p>
            <a:pPr indent="0" latinLnBrk="0">
              <a:lnSpc>
                <a:spcPct val="110000"/>
              </a:lnSpc>
              <a:spcBef>
                <a:spcPts val="0"/>
              </a:spcBef>
            </a:pPr>
            <a:r>
              <a:rPr lang="en-US" sz="2400" b="0" dirty="0"/>
              <a:t>May hurt performance if datatypes are complex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CE744F5-35DC-404B-B709-53C2BF97A0C8}"/>
              </a:ext>
            </a:extLst>
          </p:cNvPr>
          <p:cNvSpPr/>
          <p:nvPr/>
        </p:nvSpPr>
        <p:spPr>
          <a:xfrm>
            <a:off x="7480920" y="4320530"/>
            <a:ext cx="288032" cy="864096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D5F6E-756A-6E4B-9620-3556C9134864}"/>
              </a:ext>
            </a:extLst>
          </p:cNvPr>
          <p:cNvSpPr txBox="1"/>
          <p:nvPr/>
        </p:nvSpPr>
        <p:spPr>
          <a:xfrm>
            <a:off x="7768952" y="4537134"/>
            <a:ext cx="2608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mic Sans MS" panose="030F0902030302020204" pitchFamily="66" charset="0"/>
              </a:rPr>
              <a:t>Derived</a:t>
            </a:r>
            <a:r>
              <a:rPr lang="zh-CN" altLang="en-US" dirty="0">
                <a:latin typeface="Comic Sans MS" panose="030F0902030302020204" pitchFamily="66" charset="0"/>
              </a:rPr>
              <a:t> </a:t>
            </a:r>
            <a:r>
              <a:rPr lang="en-US" altLang="zh-CN" dirty="0">
                <a:latin typeface="Comic Sans MS" panose="030F0902030302020204" pitchFamily="66" charset="0"/>
              </a:rPr>
              <a:t>datatypes</a:t>
            </a:r>
            <a:endParaRPr lang="en-CN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types</a:t>
            </a:r>
          </a:p>
        </p:txBody>
      </p:sp>
      <p:sp>
        <p:nvSpPr>
          <p:cNvPr id="3993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758" y="1041512"/>
            <a:ext cx="6124099" cy="563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Communication</a:t>
            </a:r>
          </a:p>
        </p:txBody>
      </p:sp>
      <p:sp>
        <p:nvSpPr>
          <p:cNvPr id="4096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40963" name="Group 5"/>
          <p:cNvGrpSpPr/>
          <p:nvPr/>
        </p:nvGrpSpPr>
        <p:grpSpPr bwMode="auto">
          <a:xfrm>
            <a:off x="2620328" y="1331834"/>
            <a:ext cx="7334250" cy="3252073"/>
            <a:chOff x="1187624" y="1268760"/>
            <a:chExt cx="4552950" cy="1795636"/>
          </a:xfrm>
        </p:grpSpPr>
        <p:pic>
          <p:nvPicPr>
            <p:cNvPr id="4096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1268760"/>
              <a:ext cx="4552950" cy="143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6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2492896"/>
              <a:ext cx="400050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4733925"/>
            <a:ext cx="2418636" cy="158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 Tags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12470" y="1440180"/>
            <a:ext cx="11450320" cy="5131435"/>
          </a:xfrm>
        </p:spPr>
        <p:txBody>
          <a:bodyPr>
            <a:normAutofit fontScale="77500" lnSpcReduction="20000"/>
          </a:bodyPr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b="0" dirty="0"/>
              <a:t>Messages are sent with an accompanying </a:t>
            </a:r>
            <a:r>
              <a:rPr lang="en-US" b="0" dirty="0">
                <a:solidFill>
                  <a:srgbClr val="FF0000"/>
                </a:solidFill>
              </a:rPr>
              <a:t>user-defined integer tag</a:t>
            </a:r>
            <a:r>
              <a:rPr lang="en-US" b="0" dirty="0"/>
              <a:t>, to assist the receiving process in identifying the message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/>
              <a:t>E.g.</a:t>
            </a:r>
            <a:r>
              <a:rPr lang="zh-CN" altLang="en-US" b="0" dirty="0"/>
              <a:t> </a:t>
            </a:r>
            <a:r>
              <a:rPr lang="en-US" altLang="zh-CN" b="0" dirty="0"/>
              <a:t>tag=1</a:t>
            </a:r>
            <a:r>
              <a:rPr lang="zh-CN" altLang="en-US" b="0" dirty="0"/>
              <a:t> </a:t>
            </a:r>
            <a:r>
              <a:rPr lang="en-US" altLang="zh-CN" b="0" dirty="0"/>
              <a:t>can</a:t>
            </a:r>
            <a:r>
              <a:rPr lang="zh-CN" altLang="en-US" b="0" dirty="0"/>
              <a:t> </a:t>
            </a:r>
            <a:r>
              <a:rPr lang="en-US" altLang="zh-CN" b="0" dirty="0"/>
              <a:t>be</a:t>
            </a:r>
            <a:r>
              <a:rPr lang="zh-CN" altLang="en-US" b="0" dirty="0"/>
              <a:t> </a:t>
            </a:r>
            <a:r>
              <a:rPr lang="en-US" altLang="zh-CN" b="0" dirty="0"/>
              <a:t>defined</a:t>
            </a:r>
            <a:r>
              <a:rPr lang="zh-CN" altLang="en-US" b="0" dirty="0"/>
              <a:t> </a:t>
            </a:r>
            <a:r>
              <a:rPr lang="en-US" altLang="zh-CN" b="0" dirty="0"/>
              <a:t>as</a:t>
            </a:r>
            <a:r>
              <a:rPr lang="zh-CN" altLang="en-US" b="0" dirty="0"/>
              <a:t> </a:t>
            </a:r>
            <a:r>
              <a:rPr lang="en-US" altLang="zh-CN" b="0" dirty="0"/>
              <a:t>log</a:t>
            </a:r>
            <a:r>
              <a:rPr lang="zh-CN" altLang="en-US" b="0" dirty="0"/>
              <a:t> </a:t>
            </a:r>
            <a:r>
              <a:rPr lang="en-US" altLang="zh-CN" b="0" dirty="0"/>
              <a:t>message,</a:t>
            </a:r>
            <a:r>
              <a:rPr lang="zh-CN" altLang="en-US" b="0" dirty="0"/>
              <a:t> </a:t>
            </a:r>
            <a:r>
              <a:rPr lang="en-US" altLang="zh-CN" b="0" dirty="0"/>
              <a:t>tag</a:t>
            </a:r>
            <a:r>
              <a:rPr lang="zh-CN" altLang="en-US" b="0" dirty="0"/>
              <a:t> </a:t>
            </a:r>
            <a:r>
              <a:rPr lang="en-US" altLang="zh-CN" b="0" dirty="0"/>
              <a:t>=</a:t>
            </a:r>
            <a:r>
              <a:rPr lang="zh-CN" altLang="en-US" b="0" dirty="0"/>
              <a:t> </a:t>
            </a:r>
            <a:r>
              <a:rPr lang="en-US" altLang="zh-CN" b="0" dirty="0"/>
              <a:t>2</a:t>
            </a:r>
            <a:r>
              <a:rPr lang="zh-CN" altLang="en-US" b="0" dirty="0"/>
              <a:t> </a:t>
            </a:r>
            <a:r>
              <a:rPr lang="en-US" altLang="zh-CN" b="0" dirty="0"/>
              <a:t>as</a:t>
            </a:r>
            <a:r>
              <a:rPr lang="zh-CN" altLang="en-US" b="0" dirty="0"/>
              <a:t> </a:t>
            </a:r>
            <a:r>
              <a:rPr lang="en-US" altLang="zh-CN" b="0" dirty="0"/>
              <a:t>warning</a:t>
            </a:r>
            <a:r>
              <a:rPr lang="zh-CN" altLang="en-US" b="0" dirty="0"/>
              <a:t> </a:t>
            </a:r>
            <a:r>
              <a:rPr lang="en-US" altLang="zh-CN" b="0"/>
              <a:t>message…</a:t>
            </a:r>
            <a:endParaRPr lang="en-US" b="0" dirty="0"/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b="0" dirty="0"/>
              <a:t>Messages can be screened at the receiving end by specifying a specific tag, or not screened by specifying MPI_ANY_TAG as the tag in a receive</a:t>
            </a: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b="0" dirty="0"/>
              <a:t>Some non-MPI message-passing systems have called tags “message types”.  MPI calls them tags to avoid confusion with datatypes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b="0" dirty="0"/>
              <a:t>Open source</a:t>
            </a:r>
            <a:r>
              <a:rPr lang="zh-CN" altLang="en-US" b="0" dirty="0"/>
              <a:t>：</a:t>
            </a:r>
            <a:r>
              <a:rPr lang="en-US" altLang="zh-CN" b="0" dirty="0"/>
              <a:t>RabbitMQ</a:t>
            </a:r>
            <a:r>
              <a:rPr lang="zh-CN" altLang="en-US" b="0" dirty="0"/>
              <a:t>、</a:t>
            </a:r>
            <a:r>
              <a:rPr lang="en-US" altLang="zh-CN" b="0" dirty="0" err="1"/>
              <a:t>ZeroMQ</a:t>
            </a:r>
            <a:r>
              <a:rPr lang="zh-CN" altLang="en-US" b="0" dirty="0"/>
              <a:t>、</a:t>
            </a:r>
            <a:r>
              <a:rPr lang="en-US" altLang="zh-CN" b="0" dirty="0"/>
              <a:t>Apache </a:t>
            </a:r>
            <a:r>
              <a:rPr lang="en-US" altLang="zh-CN" b="0" dirty="0" err="1"/>
              <a:t>ActiveMP</a:t>
            </a:r>
            <a:endParaRPr lang="en-US" b="0" dirty="0"/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endParaRPr lang="en-US" b="0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Message matching</a:t>
            </a:r>
          </a:p>
        </p:txBody>
      </p:sp>
      <p:sp>
        <p:nvSpPr>
          <p:cNvPr id="41986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578" y="1367790"/>
            <a:ext cx="8045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603" y="4679315"/>
            <a:ext cx="77755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233103" y="1655128"/>
            <a:ext cx="1368425" cy="288925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3233103" y="5039678"/>
            <a:ext cx="1368425" cy="288925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cxnSp>
        <p:nvCxnSpPr>
          <p:cNvPr id="6" name="Straight Arrow Connector 9"/>
          <p:cNvCxnSpPr>
            <a:cxnSpLocks noChangeShapeType="1"/>
          </p:cNvCxnSpPr>
          <p:nvPr/>
        </p:nvCxnSpPr>
        <p:spPr bwMode="auto">
          <a:xfrm rot="16200000" flipH="1">
            <a:off x="2476659" y="3419634"/>
            <a:ext cx="2881313" cy="73025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8562340" y="1439228"/>
            <a:ext cx="1366838" cy="288925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8562340" y="4823778"/>
            <a:ext cx="1366838" cy="288925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sp>
        <p:nvSpPr>
          <p:cNvPr id="9" name="Oval 13"/>
          <p:cNvSpPr>
            <a:spLocks noChangeArrowheads="1"/>
          </p:cNvSpPr>
          <p:nvPr/>
        </p:nvSpPr>
        <p:spPr bwMode="auto">
          <a:xfrm>
            <a:off x="7913053" y="1439228"/>
            <a:ext cx="504825" cy="215900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sp>
        <p:nvSpPr>
          <p:cNvPr id="10" name="Oval 14"/>
          <p:cNvSpPr>
            <a:spLocks noChangeArrowheads="1"/>
          </p:cNvSpPr>
          <p:nvPr/>
        </p:nvSpPr>
        <p:spPr bwMode="auto">
          <a:xfrm>
            <a:off x="7986078" y="4823778"/>
            <a:ext cx="503237" cy="215900"/>
          </a:xfrm>
          <a:prstGeom prst="ellipse">
            <a:avLst/>
          </a:prstGeom>
          <a:noFill/>
          <a:ln w="9525">
            <a:solidFill>
              <a:srgbClr val="0066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endParaRPr lang="en-GB" altLang="en-US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528" y="2520315"/>
            <a:ext cx="2735262" cy="169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8"/>
          <p:cNvCxnSpPr>
            <a:cxnSpLocks noChangeShapeType="1"/>
          </p:cNvCxnSpPr>
          <p:nvPr/>
        </p:nvCxnSpPr>
        <p:spPr bwMode="auto">
          <a:xfrm rot="16200000" flipH="1">
            <a:off x="7805896" y="3203734"/>
            <a:ext cx="2879725" cy="71438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9"/>
          <p:cNvSpPr txBox="1"/>
          <p:nvPr/>
        </p:nvSpPr>
        <p:spPr>
          <a:xfrm>
            <a:off x="4169728" y="2304415"/>
            <a:ext cx="1381125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i="1" dirty="0">
                <a:solidFill>
                  <a:srgbClr val="FF0000"/>
                </a:solidFill>
                <a:latin typeface="+mj-lt"/>
                <a:ea typeface="+mn-ea"/>
              </a:rPr>
              <a:t>MPI_Send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i="1" dirty="0" err="1">
                <a:solidFill>
                  <a:srgbClr val="FF0000"/>
                </a:solidFill>
                <a:latin typeface="+mj-lt"/>
                <a:ea typeface="+mn-ea"/>
              </a:rPr>
              <a:t>src</a:t>
            </a:r>
            <a:r>
              <a:rPr lang="en-US" sz="2000" i="1" dirty="0">
                <a:solidFill>
                  <a:srgbClr val="FF0000"/>
                </a:solidFill>
                <a:latin typeface="+mj-lt"/>
                <a:ea typeface="+mn-ea"/>
              </a:rPr>
              <a:t> = q</a:t>
            </a:r>
          </a:p>
        </p:txBody>
      </p:sp>
      <p:sp>
        <p:nvSpPr>
          <p:cNvPr id="14" name="TextBox 20"/>
          <p:cNvSpPr txBox="1"/>
          <p:nvPr/>
        </p:nvSpPr>
        <p:spPr>
          <a:xfrm>
            <a:off x="7049453" y="3455353"/>
            <a:ext cx="1368425" cy="76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i="1" dirty="0">
                <a:solidFill>
                  <a:srgbClr val="FF0000"/>
                </a:solidFill>
                <a:latin typeface="+mj-lt"/>
                <a:ea typeface="+mn-ea"/>
              </a:rPr>
              <a:t>MPI_Recv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000" i="1" dirty="0">
                <a:solidFill>
                  <a:srgbClr val="FF0000"/>
                </a:solidFill>
                <a:latin typeface="+mj-lt"/>
                <a:ea typeface="+mn-ea"/>
              </a:rPr>
              <a:t>dest  = r</a:t>
            </a:r>
          </a:p>
        </p:txBody>
      </p:sp>
      <p:cxnSp>
        <p:nvCxnSpPr>
          <p:cNvPr id="15" name="Straight Arrow Connector 22"/>
          <p:cNvCxnSpPr>
            <a:cxnSpLocks noChangeShapeType="1"/>
          </p:cNvCxnSpPr>
          <p:nvPr/>
        </p:nvCxnSpPr>
        <p:spPr bwMode="auto">
          <a:xfrm rot="5400000">
            <a:off x="7877334" y="1763872"/>
            <a:ext cx="287337" cy="215900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7625715" y="1944053"/>
            <a:ext cx="28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endParaRPr lang="en-US" altLang="en-US"/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8562340" y="532860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endParaRPr lang="en-US" altLang="en-US"/>
          </a:p>
        </p:txBody>
      </p:sp>
      <p:cxnSp>
        <p:nvCxnSpPr>
          <p:cNvPr id="18" name="Straight Arrow Connector 25"/>
          <p:cNvCxnSpPr>
            <a:cxnSpLocks noChangeShapeType="1"/>
          </p:cNvCxnSpPr>
          <p:nvPr/>
        </p:nvCxnSpPr>
        <p:spPr bwMode="auto">
          <a:xfrm rot="16200000" flipH="1">
            <a:off x="8238490" y="5147628"/>
            <a:ext cx="358775" cy="288925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0"/>
          <p:cNvSpPr txBox="1"/>
          <p:nvPr/>
        </p:nvSpPr>
        <p:spPr>
          <a:xfrm>
            <a:off x="5871162" y="1885194"/>
            <a:ext cx="1608504" cy="684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66FF"/>
                </a:solidFill>
                <a:latin typeface="+mj-lt"/>
                <a:ea typeface="+mn-ea"/>
              </a:rPr>
              <a:t>Count of data</a:t>
            </a:r>
            <a:endParaRPr lang="en-US" sz="2000" b="1" dirty="0">
              <a:solidFill>
                <a:srgbClr val="0066FF"/>
              </a:solidFill>
              <a:latin typeface="+mj-lt"/>
              <a:ea typeface="+mn-ea"/>
            </a:endParaRPr>
          </a:p>
        </p:txBody>
      </p:sp>
      <p:cxnSp>
        <p:nvCxnSpPr>
          <p:cNvPr id="24" name="曲线连接符 23"/>
          <p:cNvCxnSpPr>
            <a:cxnSpLocks/>
            <a:stCxn id="19" idx="1"/>
          </p:cNvCxnSpPr>
          <p:nvPr/>
        </p:nvCxnSpPr>
        <p:spPr>
          <a:xfrm rot="10800000">
            <a:off x="5681028" y="1655132"/>
            <a:ext cx="190134" cy="57206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Receiving messages</a:t>
            </a:r>
          </a:p>
        </p:txBody>
      </p:sp>
      <p:sp>
        <p:nvSpPr>
          <p:cNvPr id="43010" name="Content Placeholder 4"/>
          <p:cNvSpPr>
            <a:spLocks noGrp="1"/>
          </p:cNvSpPr>
          <p:nvPr>
            <p:ph idx="4294967295"/>
          </p:nvPr>
        </p:nvSpPr>
        <p:spPr>
          <a:xfrm>
            <a:off x="1072515" y="1367790"/>
            <a:ext cx="11041380" cy="4712970"/>
          </a:xfrm>
        </p:spPr>
        <p:txBody>
          <a:bodyPr/>
          <a:lstStyle/>
          <a:p>
            <a:r>
              <a:rPr lang="en-US" altLang="en-US" b="0" dirty="0"/>
              <a:t>A receiver can get a message without knowing </a:t>
            </a:r>
            <a:r>
              <a:rPr lang="en-US" altLang="zh-CN" b="0" dirty="0"/>
              <a:t>in advance</a:t>
            </a:r>
            <a:r>
              <a:rPr lang="en-US" altLang="en-US" b="0" dirty="0"/>
              <a:t>:</a:t>
            </a:r>
          </a:p>
          <a:p>
            <a:pPr lvl="1"/>
            <a:r>
              <a:rPr lang="en-US" altLang="en-US" b="0" dirty="0"/>
              <a:t>the amount of data in the message,</a:t>
            </a:r>
          </a:p>
          <a:p>
            <a:pPr lvl="1"/>
            <a:r>
              <a:rPr lang="en-US" altLang="en-US" b="0" dirty="0"/>
              <a:t>the sender of the message, </a:t>
            </a:r>
            <a:r>
              <a:rPr lang="en-US" altLang="en-US" sz="2310" b="0" dirty="0"/>
              <a:t>( MPI_ANY_SOURCE)</a:t>
            </a:r>
          </a:p>
          <a:p>
            <a:pPr lvl="1"/>
            <a:r>
              <a:rPr lang="en-US" altLang="en-US" b="0" dirty="0"/>
              <a:t>or the tag of the message. </a:t>
            </a:r>
            <a:r>
              <a:rPr lang="en-US" altLang="en-US" sz="2310" b="0" dirty="0"/>
              <a:t>( MPI_ANY_TAG)</a:t>
            </a:r>
          </a:p>
          <a:p>
            <a:pPr lvl="1"/>
            <a:endParaRPr lang="en-US" altLang="en-US" b="0" dirty="0"/>
          </a:p>
        </p:txBody>
      </p:sp>
      <p:sp>
        <p:nvSpPr>
          <p:cNvPr id="43011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555" y="4205526"/>
            <a:ext cx="3250406" cy="2048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status_p  argument</a:t>
            </a:r>
          </a:p>
        </p:txBody>
      </p:sp>
      <p:sp>
        <p:nvSpPr>
          <p:cNvPr id="4403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478" y="1682195"/>
            <a:ext cx="8166021" cy="68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Freeform 6"/>
          <p:cNvSpPr>
            <a:spLocks noChangeArrowheads="1"/>
          </p:cNvSpPr>
          <p:nvPr/>
        </p:nvSpPr>
        <p:spPr bwMode="auto">
          <a:xfrm>
            <a:off x="5216843" y="2392284"/>
            <a:ext cx="1023461" cy="381635"/>
          </a:xfrm>
          <a:custGeom>
            <a:avLst/>
            <a:gdLst>
              <a:gd name="T0" fmla="*/ 782757 w 974835"/>
              <a:gd name="T1" fmla="*/ 788927 h 793532"/>
              <a:gd name="T2" fmla="*/ 136590 w 974835"/>
              <a:gd name="T3" fmla="*/ 741592 h 793532"/>
              <a:gd name="T4" fmla="*/ 971877 w 974835"/>
              <a:gd name="T5" fmla="*/ 473356 h 793532"/>
              <a:gd name="T6" fmla="*/ 120827 w 974835"/>
              <a:gd name="T7" fmla="*/ 394462 h 793532"/>
              <a:gd name="T8" fmla="*/ 246909 w 974835"/>
              <a:gd name="T9" fmla="*/ 0 h 7935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74835"/>
              <a:gd name="T16" fmla="*/ 0 h 793532"/>
              <a:gd name="T17" fmla="*/ 974835 w 974835"/>
              <a:gd name="T18" fmla="*/ 793532 h 7935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74835" h="793532">
                <a:moveTo>
                  <a:pt x="783021" y="788276"/>
                </a:moveTo>
                <a:cubicBezTo>
                  <a:pt x="444062" y="790904"/>
                  <a:pt x="105104" y="793532"/>
                  <a:pt x="136635" y="740980"/>
                </a:cubicBezTo>
                <a:cubicBezTo>
                  <a:pt x="168166" y="688428"/>
                  <a:pt x="974835" y="530773"/>
                  <a:pt x="972207" y="472966"/>
                </a:cubicBezTo>
                <a:cubicBezTo>
                  <a:pt x="969579" y="415159"/>
                  <a:pt x="241738" y="472966"/>
                  <a:pt x="120869" y="394138"/>
                </a:cubicBezTo>
                <a:cubicBezTo>
                  <a:pt x="0" y="315310"/>
                  <a:pt x="123496" y="157655"/>
                  <a:pt x="246993" y="0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8" name="TextBox 7"/>
          <p:cNvSpPr txBox="1"/>
          <p:nvPr/>
        </p:nvSpPr>
        <p:spPr>
          <a:xfrm>
            <a:off x="7892177" y="4252516"/>
            <a:ext cx="162623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MPI_SOURCE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MPI_TAG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MPI_ERROR</a:t>
            </a:r>
          </a:p>
        </p:txBody>
      </p:sp>
      <p:sp>
        <p:nvSpPr>
          <p:cNvPr id="44038" name="Freeform 8"/>
          <p:cNvSpPr>
            <a:spLocks noChangeArrowheads="1"/>
          </p:cNvSpPr>
          <p:nvPr/>
        </p:nvSpPr>
        <p:spPr bwMode="auto">
          <a:xfrm>
            <a:off x="8262620" y="3362325"/>
            <a:ext cx="1075055" cy="381635"/>
          </a:xfrm>
          <a:custGeom>
            <a:avLst/>
            <a:gdLst>
              <a:gd name="T0" fmla="*/ 0 w 872358"/>
              <a:gd name="T1" fmla="*/ 105436 h 987972"/>
              <a:gd name="T2" fmla="*/ 770334 w 872358"/>
              <a:gd name="T3" fmla="*/ 73805 h 987972"/>
              <a:gd name="T4" fmla="*/ 94326 w 872358"/>
              <a:gd name="T5" fmla="*/ 548265 h 987972"/>
              <a:gd name="T6" fmla="*/ 817496 w 872358"/>
              <a:gd name="T7" fmla="*/ 500820 h 987972"/>
              <a:gd name="T8" fmla="*/ 408748 w 872358"/>
              <a:gd name="T9" fmla="*/ 991095 h 9879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2358"/>
              <a:gd name="T16" fmla="*/ 0 h 987972"/>
              <a:gd name="T17" fmla="*/ 872358 w 872358"/>
              <a:gd name="T18" fmla="*/ 987972 h 9879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2358" h="987972">
                <a:moveTo>
                  <a:pt x="0" y="105103"/>
                </a:moveTo>
                <a:cubicBezTo>
                  <a:pt x="378372" y="52551"/>
                  <a:pt x="756745" y="0"/>
                  <a:pt x="772510" y="73572"/>
                </a:cubicBezTo>
                <a:cubicBezTo>
                  <a:pt x="788275" y="147144"/>
                  <a:pt x="86710" y="475592"/>
                  <a:pt x="94593" y="546537"/>
                </a:cubicBezTo>
                <a:cubicBezTo>
                  <a:pt x="102476" y="617482"/>
                  <a:pt x="767254" y="425668"/>
                  <a:pt x="819806" y="499241"/>
                </a:cubicBezTo>
                <a:cubicBezTo>
                  <a:pt x="872358" y="572814"/>
                  <a:pt x="641130" y="780393"/>
                  <a:pt x="409903" y="987972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 sz="1890"/>
          </a:p>
        </p:txBody>
      </p:sp>
      <p:sp>
        <p:nvSpPr>
          <p:cNvPr id="10" name="TextBox 9"/>
          <p:cNvSpPr txBox="1"/>
          <p:nvPr/>
        </p:nvSpPr>
        <p:spPr>
          <a:xfrm>
            <a:off x="6151960" y="3042365"/>
            <a:ext cx="186118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b="1" dirty="0">
                <a:solidFill>
                  <a:srgbClr val="FF0000"/>
                </a:solidFill>
                <a:latin typeface="+mj-lt"/>
                <a:ea typeface="+mn-ea"/>
              </a:rPr>
              <a:t>MPI_Status*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2920" y="3966210"/>
            <a:ext cx="3335655" cy="187628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b="1" dirty="0">
                <a:solidFill>
                  <a:srgbClr val="0066FF"/>
                </a:solidFill>
                <a:latin typeface="+mj-lt"/>
                <a:ea typeface="+mn-ea"/>
              </a:rPr>
              <a:t>MPI_Status*  status</a:t>
            </a:r>
            <a:r>
              <a:rPr lang="en-US" altLang="zh-CN" sz="2520" b="1" dirty="0">
                <a:solidFill>
                  <a:srgbClr val="0066FF"/>
                </a:solidFill>
                <a:latin typeface="+mj-lt"/>
              </a:rPr>
              <a:t>:</a:t>
            </a:r>
            <a:r>
              <a:rPr lang="zh-CN" altLang="en-US" sz="2520" b="1" dirty="0">
                <a:solidFill>
                  <a:srgbClr val="0066FF"/>
                </a:solidFill>
                <a:latin typeface="+mj-lt"/>
              </a:rPr>
              <a:t> </a:t>
            </a:r>
            <a:endParaRPr lang="en-US" sz="2520" b="1" dirty="0">
              <a:solidFill>
                <a:srgbClr val="0066FF"/>
              </a:solidFill>
              <a:latin typeface="+mj-lt"/>
              <a:ea typeface="+mn-ea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520" b="1" dirty="0">
                <a:solidFill>
                  <a:srgbClr val="0066FF"/>
                </a:solidFill>
                <a:latin typeface="+mj-lt"/>
                <a:ea typeface="+mn-ea"/>
              </a:rPr>
              <a:t>status. MPI_ERROR</a:t>
            </a:r>
            <a:endParaRPr lang="en-US" sz="2520" b="1" dirty="0">
              <a:solidFill>
                <a:srgbClr val="0066FF"/>
              </a:solidFill>
              <a:latin typeface="+mj-lt"/>
              <a:ea typeface="+mn-ea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b="1" dirty="0">
                <a:solidFill>
                  <a:srgbClr val="0066FF"/>
                </a:solidFill>
                <a:latin typeface="+mj-lt"/>
                <a:ea typeface="+mn-ea"/>
              </a:rPr>
              <a:t>status.MPI_SOURCE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520" b="1" dirty="0">
                <a:solidFill>
                  <a:srgbClr val="0066FF"/>
                </a:solidFill>
                <a:latin typeface="+mj-lt"/>
                <a:ea typeface="+mn-ea"/>
              </a:rPr>
              <a:t>status.MPI_TAG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96478" y="1152129"/>
            <a:ext cx="10092699" cy="383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How receiver finds out the sender, tag</a:t>
            </a:r>
            <a:r>
              <a:rPr lang="zh-CN" alt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altLang="zh-CN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(MPI_TAG)</a:t>
            </a:r>
            <a:r>
              <a:rPr lang="zh-CN" alt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altLang="zh-CN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received</a:t>
            </a:r>
            <a:r>
              <a:rPr lang="zh-CN" alt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altLang="zh-CN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from</a:t>
            </a:r>
            <a:r>
              <a:rPr lang="zh-CN" alt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altLang="zh-CN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the</a:t>
            </a:r>
            <a:r>
              <a:rPr lang="zh-CN" altLang="en-US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altLang="zh-CN" sz="18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sender</a:t>
            </a:r>
            <a:endParaRPr lang="en-US" sz="1890" dirty="0">
              <a:solidFill>
                <a:schemeClr val="tx2">
                  <a:lumMod val="60000"/>
                  <a:lumOff val="40000"/>
                </a:schemeClr>
              </a:solidFill>
              <a:latin typeface="Arial Black" panose="020B0A040201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182921" y="2297209"/>
            <a:ext cx="2674053" cy="7372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100" b="1" dirty="0">
                <a:solidFill>
                  <a:srgbClr val="0066FF"/>
                </a:solidFill>
                <a:latin typeface="+mj-lt"/>
                <a:ea typeface="+mn-ea"/>
              </a:rPr>
              <a:t>Count of received data</a:t>
            </a:r>
            <a:endParaRPr lang="en-US" sz="2100" b="1" dirty="0">
              <a:solidFill>
                <a:srgbClr val="0066FF"/>
              </a:solidFill>
              <a:latin typeface="+mj-lt"/>
              <a:ea typeface="+mn-ea"/>
            </a:endParaRPr>
          </a:p>
        </p:txBody>
      </p:sp>
      <p:cxnSp>
        <p:nvCxnSpPr>
          <p:cNvPr id="4" name="曲线连接符 3"/>
          <p:cNvCxnSpPr>
            <a:stCxn id="12" idx="1"/>
          </p:cNvCxnSpPr>
          <p:nvPr/>
        </p:nvCxnSpPr>
        <p:spPr>
          <a:xfrm rot="10800000">
            <a:off x="6525402" y="2232756"/>
            <a:ext cx="657711" cy="43335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much data am I receiving?</a:t>
            </a:r>
          </a:p>
        </p:txBody>
      </p:sp>
      <p:sp>
        <p:nvSpPr>
          <p:cNvPr id="4505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319" y="1635205"/>
            <a:ext cx="7464266" cy="158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6" descr="View Detai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3978831"/>
            <a:ext cx="1920240" cy="19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47986" y="3724451"/>
            <a:ext cx="513715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90" dirty="0"/>
              <a:t>Count</a:t>
            </a:r>
            <a:r>
              <a:rPr lang="zh-CN" altLang="en-US" sz="1890" dirty="0"/>
              <a:t> </a:t>
            </a:r>
            <a:r>
              <a:rPr lang="en-US" altLang="zh-CN" sz="1890" dirty="0"/>
              <a:t>=</a:t>
            </a:r>
            <a:r>
              <a:rPr lang="zh-CN" altLang="en-US" sz="1890" dirty="0"/>
              <a:t> </a:t>
            </a:r>
            <a:r>
              <a:rPr lang="en-US" altLang="zh-CN" sz="1890" dirty="0"/>
              <a:t>num</a:t>
            </a:r>
            <a:r>
              <a:rPr lang="zh-CN" altLang="en-US" sz="1890" dirty="0"/>
              <a:t> </a:t>
            </a:r>
            <a:r>
              <a:rPr lang="en-US" altLang="zh-CN" sz="1890" dirty="0"/>
              <a:t>of</a:t>
            </a:r>
            <a:r>
              <a:rPr lang="zh-CN" altLang="en-US" sz="1890" dirty="0"/>
              <a:t> </a:t>
            </a:r>
            <a:r>
              <a:rPr lang="en-US" altLang="zh-CN" sz="1890" dirty="0"/>
              <a:t>received</a:t>
            </a:r>
            <a:r>
              <a:rPr lang="zh-CN" altLang="en-US" sz="1890" dirty="0"/>
              <a:t> </a:t>
            </a:r>
            <a:r>
              <a:rPr lang="en-US" altLang="zh-CN" sz="1890" dirty="0"/>
              <a:t>bytes</a:t>
            </a:r>
            <a:r>
              <a:rPr lang="zh-CN" altLang="en-US" sz="1890" dirty="0"/>
              <a:t> </a:t>
            </a:r>
            <a:r>
              <a:rPr lang="en-US" altLang="zh-CN" sz="1890" dirty="0"/>
              <a:t>/</a:t>
            </a:r>
            <a:r>
              <a:rPr lang="zh-CN" altLang="en-US" sz="1890" dirty="0"/>
              <a:t> </a:t>
            </a:r>
            <a:r>
              <a:rPr lang="en-US" altLang="zh-CN" sz="1890" dirty="0"/>
              <a:t>num</a:t>
            </a:r>
            <a:r>
              <a:rPr lang="zh-CN" altLang="en-US" sz="1890" dirty="0"/>
              <a:t> </a:t>
            </a:r>
            <a:r>
              <a:rPr lang="en-US" altLang="zh-CN" sz="1890" dirty="0"/>
              <a:t>of</a:t>
            </a:r>
            <a:r>
              <a:rPr lang="zh-CN" altLang="en-US" sz="1890" dirty="0"/>
              <a:t> </a:t>
            </a:r>
            <a:r>
              <a:rPr lang="en-US" altLang="zh-CN" sz="1890" dirty="0" err="1"/>
              <a:t>obj’s</a:t>
            </a:r>
            <a:r>
              <a:rPr lang="zh-CN" altLang="en-US" sz="1890" dirty="0"/>
              <a:t> </a:t>
            </a:r>
            <a:r>
              <a:rPr lang="en-US" altLang="zh-CN" sz="1890" dirty="0"/>
              <a:t>bytes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 with send and receive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4294967295"/>
          </p:nvPr>
        </p:nvSpPr>
        <p:spPr>
          <a:xfrm>
            <a:off x="1000760" y="1440180"/>
            <a:ext cx="11041380" cy="4712970"/>
          </a:xfrm>
        </p:spPr>
        <p:txBody>
          <a:bodyPr>
            <a:normAutofit fontScale="95000"/>
          </a:bodyPr>
          <a:lstStyle/>
          <a:p>
            <a:r>
              <a:rPr lang="en-US" altLang="en-US" b="0" dirty="0"/>
              <a:t>Exact behavior is determined by the MPI implementation.</a:t>
            </a:r>
          </a:p>
          <a:p>
            <a:r>
              <a:rPr lang="en-US" altLang="en-US" b="0" dirty="0" err="1"/>
              <a:t>MPI_Send</a:t>
            </a:r>
            <a:r>
              <a:rPr lang="en-US" altLang="en-US" b="0" dirty="0"/>
              <a:t> (</a:t>
            </a:r>
            <a:r>
              <a:rPr lang="en-US" altLang="en-US" sz="2520" b="0" dirty="0"/>
              <a:t>locally blocking with buffer copied to internal storage </a:t>
            </a:r>
            <a:r>
              <a:rPr lang="en-US" altLang="en-US" b="0" dirty="0"/>
              <a:t>or </a:t>
            </a:r>
            <a:r>
              <a:rPr lang="en-US" altLang="en-US" sz="2310" b="0" dirty="0"/>
              <a:t>block starts transmission</a:t>
            </a:r>
            <a:r>
              <a:rPr lang="en-US" altLang="en-US" b="0" dirty="0"/>
              <a:t>) may behave differently with regard to buffer size, cutoffs</a:t>
            </a:r>
            <a:r>
              <a:rPr lang="zh-CN" altLang="en-US" b="0" dirty="0"/>
              <a:t> </a:t>
            </a:r>
            <a:r>
              <a:rPr lang="en-US" altLang="zh-CN" b="0" dirty="0"/>
              <a:t>(</a:t>
            </a:r>
            <a:r>
              <a:rPr lang="zh-CN" altLang="en-US" b="0" dirty="0"/>
              <a:t>消息截止长度</a:t>
            </a:r>
            <a:r>
              <a:rPr lang="en-US" altLang="zh-CN" b="0" dirty="0"/>
              <a:t>)</a:t>
            </a:r>
            <a:r>
              <a:rPr lang="en-US" altLang="en-US" b="0" dirty="0"/>
              <a:t> and blocking.</a:t>
            </a:r>
          </a:p>
          <a:p>
            <a:r>
              <a:rPr lang="en-US" altLang="en-US" b="0" dirty="0" err="1"/>
              <a:t>MPI_Recv</a:t>
            </a:r>
            <a:r>
              <a:rPr lang="en-US" altLang="en-US" b="0" dirty="0"/>
              <a:t> always blocks until a matching message is received.</a:t>
            </a:r>
          </a:p>
          <a:p>
            <a:r>
              <a:rPr lang="en-US" altLang="en-US" b="0" dirty="0"/>
              <a:t>Non-blocking </a:t>
            </a:r>
            <a:r>
              <a:rPr lang="en-US" altLang="en-US" b="0" dirty="0" err="1"/>
              <a:t>MPI_Isend</a:t>
            </a:r>
            <a:r>
              <a:rPr lang="en-US" altLang="en-US" b="0" dirty="0"/>
              <a:t> and </a:t>
            </a:r>
            <a:r>
              <a:rPr lang="en-US" altLang="en-US" b="0" dirty="0" err="1"/>
              <a:t>MPI_Irecv</a:t>
            </a:r>
            <a:r>
              <a:rPr lang="en-US" altLang="en-US" b="0" dirty="0"/>
              <a:t>, immediate return. </a:t>
            </a:r>
          </a:p>
          <a:p>
            <a:r>
              <a:rPr lang="en-US" altLang="en-US" b="0" dirty="0"/>
              <a:t>Know your implementation; don’</a:t>
            </a:r>
            <a:r>
              <a:rPr lang="en-US" altLang="ja-JP" b="0" dirty="0"/>
              <a:t>t make assumptions!</a:t>
            </a:r>
            <a:endParaRPr lang="en-US" altLang="en-US" b="0" dirty="0"/>
          </a:p>
        </p:txBody>
      </p:sp>
      <p:sp>
        <p:nvSpPr>
          <p:cNvPr id="46083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2" descr="academic,cartoons,children,classes,courses,education,females,geometric shapes,geometry,girls,kids,mathematics,people,persons,schools,students,trapezoi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22" y="1080374"/>
            <a:ext cx="3250406" cy="325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270" y="4392059"/>
            <a:ext cx="10762906" cy="792000"/>
          </a:xfrm>
        </p:spPr>
        <p:txBody>
          <a:bodyPr/>
          <a:lstStyle/>
          <a:p>
            <a:pPr>
              <a:defRPr/>
            </a:pPr>
            <a:r>
              <a:rPr lang="en-US" sz="4400" dirty="0">
                <a:ea typeface="+mj-ea"/>
                <a:cs typeface="+mj-cs"/>
              </a:rPr>
              <a:t>Trapezoidal rule in </a:t>
            </a:r>
            <a:r>
              <a:rPr lang="en-US" sz="4400" dirty="0" err="1">
                <a:ea typeface="+mj-ea"/>
                <a:cs typeface="+mj-cs"/>
              </a:rPr>
              <a:t>mpi</a:t>
            </a:r>
            <a:br>
              <a:rPr lang="en-US" sz="4400" dirty="0">
                <a:ea typeface="+mj-ea"/>
                <a:cs typeface="+mj-cs"/>
              </a:rPr>
            </a:br>
            <a:r>
              <a:rPr lang="zh-CN" altLang="en-US" sz="4400" dirty="0">
                <a:cs typeface="+mj-cs"/>
              </a:rPr>
              <a:t>基于</a:t>
            </a:r>
            <a:r>
              <a:rPr lang="en-US" altLang="zh-CN" sz="4400" dirty="0">
                <a:cs typeface="+mj-cs"/>
              </a:rPr>
              <a:t>MPI</a:t>
            </a:r>
            <a:r>
              <a:rPr lang="zh-CN" altLang="en-US" sz="4400" dirty="0">
                <a:cs typeface="+mj-cs"/>
              </a:rPr>
              <a:t>的梯形积分法</a:t>
            </a:r>
            <a:endParaRPr lang="zh-CN" altLang="en-US" sz="4400" dirty="0">
              <a:ea typeface="+mj-ea"/>
              <a:cs typeface="+mj-cs"/>
            </a:endParaRPr>
          </a:p>
        </p:txBody>
      </p:sp>
      <p:sp>
        <p:nvSpPr>
          <p:cNvPr id="4710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Trapezoidal Rule</a:t>
            </a:r>
          </a:p>
        </p:txBody>
      </p:sp>
      <p:sp>
        <p:nvSpPr>
          <p:cNvPr id="48130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1408510"/>
            <a:ext cx="8734425" cy="3790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876011" y="2308167"/>
            <a:ext cx="628015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>
                <a:solidFill>
                  <a:srgbClr val="FF0000"/>
                </a:solidFill>
              </a:rPr>
              <a:t>f(x0)</a:t>
            </a:r>
            <a:endParaRPr lang="en-US" sz="189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41931" y="1900124"/>
            <a:ext cx="628015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>
                <a:solidFill>
                  <a:srgbClr val="FF0000"/>
                </a:solidFill>
              </a:rPr>
              <a:t>f(x1)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80824" y="2161974"/>
            <a:ext cx="628015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>
                <a:solidFill>
                  <a:srgbClr val="FF0000"/>
                </a:solidFill>
              </a:rPr>
              <a:t>f(x2)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024125" y="2681036"/>
            <a:ext cx="628015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>
                <a:solidFill>
                  <a:srgbClr val="FF0000"/>
                </a:solidFill>
              </a:rPr>
              <a:t>f(x3)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667427" y="2606452"/>
            <a:ext cx="628015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>
                <a:solidFill>
                  <a:srgbClr val="FF0000"/>
                </a:solidFill>
              </a:rPr>
              <a:t>f(x4)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Trapezoidal Rule</a:t>
            </a:r>
            <a:r>
              <a:rPr lang="zh-CN" altLang="en-US" dirty="0"/>
              <a:t>（梯形积分法）</a:t>
            </a:r>
            <a:endParaRPr lang="en-US" altLang="en-US" dirty="0"/>
          </a:p>
        </p:txBody>
      </p:sp>
      <p:sp>
        <p:nvSpPr>
          <p:cNvPr id="4915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91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779" y="1483519"/>
            <a:ext cx="4740593" cy="74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335" y="2541985"/>
            <a:ext cx="1181814" cy="69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014" y="3675460"/>
            <a:ext cx="7094220" cy="603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585" y="4904074"/>
            <a:ext cx="8621078" cy="680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One trapezoid</a:t>
            </a:r>
          </a:p>
        </p:txBody>
      </p:sp>
      <p:sp>
        <p:nvSpPr>
          <p:cNvPr id="50178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0179" name="Picture 2" descr="f03-04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454" y="1256824"/>
            <a:ext cx="5270659" cy="4790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Pseudo-code for a serial program</a:t>
            </a:r>
          </a:p>
        </p:txBody>
      </p:sp>
      <p:sp>
        <p:nvSpPr>
          <p:cNvPr id="5120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730" y="2786712"/>
            <a:ext cx="6804184" cy="400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261" y="1837956"/>
            <a:ext cx="8621078" cy="680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946072" y="4276896"/>
            <a:ext cx="368530" cy="4781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520" dirty="0"/>
              <a:t>1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784225" y="503954"/>
            <a:ext cx="10762906" cy="792000"/>
          </a:xfrm>
        </p:spPr>
        <p:txBody>
          <a:bodyPr/>
          <a:lstStyle/>
          <a:p>
            <a:r>
              <a:rPr lang="en-US" altLang="en-US" dirty="0"/>
              <a:t>Parallelizing the Trapezoidal Rule (Foster Method)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4294967295"/>
          </p:nvPr>
        </p:nvSpPr>
        <p:spPr>
          <a:xfrm>
            <a:off x="1000760" y="1871980"/>
            <a:ext cx="11041380" cy="4712970"/>
          </a:xfrm>
        </p:spPr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Partition problem solution into tasks.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Identify communication channels between tasks.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Aggregate tasks into composite tasks.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Map composite tasks to cores.</a:t>
            </a:r>
          </a:p>
        </p:txBody>
      </p:sp>
      <p:sp>
        <p:nvSpPr>
          <p:cNvPr id="5222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Parallel pseudo-code</a:t>
            </a:r>
          </a:p>
        </p:txBody>
      </p:sp>
      <p:sp>
        <p:nvSpPr>
          <p:cNvPr id="5325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53251" name="Group 5"/>
          <p:cNvGrpSpPr/>
          <p:nvPr/>
        </p:nvGrpSpPr>
        <p:grpSpPr bwMode="auto">
          <a:xfrm>
            <a:off x="2393633" y="1105139"/>
            <a:ext cx="8166021" cy="5142309"/>
            <a:chOff x="1043608" y="1340768"/>
            <a:chExt cx="7361237" cy="4544938"/>
          </a:xfrm>
        </p:grpSpPr>
        <p:pic>
          <p:nvPicPr>
            <p:cNvPr id="53252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2132856"/>
              <a:ext cx="7361237" cy="3752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25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340768"/>
              <a:ext cx="3419475" cy="981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3169627" y="3009607"/>
            <a:ext cx="5465298" cy="8862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3"/>
          <p:cNvSpPr>
            <a:spLocks noGrp="1"/>
          </p:cNvSpPr>
          <p:nvPr>
            <p:ph type="title"/>
          </p:nvPr>
        </p:nvSpPr>
        <p:spPr>
          <a:xfrm>
            <a:off x="856615" y="288054"/>
            <a:ext cx="10762906" cy="792000"/>
          </a:xfrm>
        </p:spPr>
        <p:txBody>
          <a:bodyPr/>
          <a:lstStyle/>
          <a:p>
            <a:r>
              <a:rPr lang="en-US" altLang="en-US"/>
              <a:t>Tasks and communications for Trapezoidal Rule</a:t>
            </a:r>
          </a:p>
        </p:txBody>
      </p:sp>
      <p:sp>
        <p:nvSpPr>
          <p:cNvPr id="54274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4275" name="Picture 2" descr="f03-05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24" y="2088595"/>
            <a:ext cx="8264366" cy="294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version (1) </a:t>
            </a:r>
            <a:r>
              <a:rPr lang="zh-CN" altLang="en-US" dirty="0"/>
              <a:t>程序</a:t>
            </a:r>
            <a:r>
              <a:rPr lang="en-US" altLang="zh-CN" dirty="0"/>
              <a:t>3-2</a:t>
            </a:r>
            <a:endParaRPr lang="en-US" altLang="en-US" dirty="0"/>
          </a:p>
        </p:txBody>
      </p:sp>
      <p:sp>
        <p:nvSpPr>
          <p:cNvPr id="5529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230" y="1315832"/>
            <a:ext cx="9111139" cy="517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486465" y="1821407"/>
            <a:ext cx="5705328" cy="10312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矩形 5"/>
          <p:cNvSpPr/>
          <p:nvPr/>
        </p:nvSpPr>
        <p:spPr>
          <a:xfrm>
            <a:off x="2591092" y="3905103"/>
            <a:ext cx="7437852" cy="6923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" name="矩形 6"/>
          <p:cNvSpPr/>
          <p:nvPr/>
        </p:nvSpPr>
        <p:spPr>
          <a:xfrm>
            <a:off x="2591092" y="4723131"/>
            <a:ext cx="7437854" cy="8714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First version (2)</a:t>
            </a:r>
          </a:p>
        </p:txBody>
      </p:sp>
      <p:sp>
        <p:nvSpPr>
          <p:cNvPr id="5632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63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566" y="1331834"/>
            <a:ext cx="9182815" cy="4498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First version (3)</a:t>
            </a:r>
          </a:p>
        </p:txBody>
      </p:sp>
      <p:sp>
        <p:nvSpPr>
          <p:cNvPr id="5734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222" y="1181815"/>
            <a:ext cx="9426178" cy="4857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Dealing with I/O</a:t>
            </a:r>
          </a:p>
        </p:txBody>
      </p:sp>
      <p:sp>
        <p:nvSpPr>
          <p:cNvPr id="5837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297" y="1330166"/>
            <a:ext cx="8049339" cy="4540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27495" y="1861900"/>
            <a:ext cx="207200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Each process just</a:t>
            </a:r>
            <a:b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</a:b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prints a message.</a:t>
            </a: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with 6 processes</a:t>
            </a:r>
          </a:p>
        </p:txBody>
      </p:sp>
      <p:sp>
        <p:nvSpPr>
          <p:cNvPr id="5939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108" y="4357211"/>
            <a:ext cx="258826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Arial" panose="020B0604020202020204"/>
                <a:ea typeface="+mn-ea"/>
              </a:rPr>
              <a:t>unpredictable </a:t>
            </a: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output</a:t>
            </a:r>
          </a:p>
        </p:txBody>
      </p:sp>
      <p:pic>
        <p:nvPicPr>
          <p:cNvPr id="593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33" y="1483519"/>
            <a:ext cx="7422595" cy="211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</a:t>
            </a:r>
          </a:p>
        </p:txBody>
      </p:sp>
      <p:sp>
        <p:nvSpPr>
          <p:cNvPr id="60418" name="Content Placeholder 2"/>
          <p:cNvSpPr>
            <a:spLocks noGrp="1"/>
          </p:cNvSpPr>
          <p:nvPr>
            <p:ph idx="4294967295"/>
          </p:nvPr>
        </p:nvSpPr>
        <p:spPr>
          <a:xfrm>
            <a:off x="1216660" y="1151890"/>
            <a:ext cx="10507980" cy="3244215"/>
          </a:xfrm>
        </p:spPr>
        <p:txBody>
          <a:bodyPr/>
          <a:lstStyle/>
          <a:p>
            <a:r>
              <a:rPr lang="en-US" altLang="en-US" b="0"/>
              <a:t>Most MPI implementations only allow process 0 in MPI_COMM_WORLD access to </a:t>
            </a:r>
            <a:r>
              <a:rPr lang="en-US" altLang="en-US" b="0">
                <a:solidFill>
                  <a:srgbClr val="0066FF"/>
                </a:solidFill>
              </a:rPr>
              <a:t>stdin</a:t>
            </a:r>
            <a:r>
              <a:rPr lang="en-US" altLang="en-US" b="0"/>
              <a:t>.</a:t>
            </a:r>
          </a:p>
          <a:p>
            <a:r>
              <a:rPr lang="en-US" altLang="en-US" b="0"/>
              <a:t>Process 0 must read the data (scanf) and send to the other processes.</a:t>
            </a:r>
          </a:p>
        </p:txBody>
      </p:sp>
      <p:sp>
        <p:nvSpPr>
          <p:cNvPr id="6041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04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099" y="4130516"/>
            <a:ext cx="5540693" cy="228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 for reading user input</a:t>
            </a:r>
          </a:p>
        </p:txBody>
      </p:sp>
      <p:sp>
        <p:nvSpPr>
          <p:cNvPr id="6144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74" y="1345237"/>
            <a:ext cx="6805851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74243" y="2991144"/>
            <a:ext cx="4712897" cy="793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 </a:t>
            </a: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55320" y="3096024"/>
            <a:ext cx="10762906" cy="79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Collective communication</a:t>
            </a:r>
          </a:p>
        </p:txBody>
      </p:sp>
      <p:sp>
        <p:nvSpPr>
          <p:cNvPr id="62466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2467" name="Picture 2" descr="View Detai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156" y="1872060"/>
            <a:ext cx="3507105" cy="350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Tree-structured communication</a:t>
            </a:r>
          </a:p>
        </p:txBody>
      </p:sp>
      <p:sp>
        <p:nvSpPr>
          <p:cNvPr id="63490" name="Content Placeholder 2"/>
          <p:cNvSpPr>
            <a:spLocks noGrp="1"/>
          </p:cNvSpPr>
          <p:nvPr>
            <p:ph idx="4294967295"/>
          </p:nvPr>
        </p:nvSpPr>
        <p:spPr>
          <a:xfrm>
            <a:off x="1216660" y="1306195"/>
            <a:ext cx="10593705" cy="5389880"/>
          </a:xfrm>
        </p:spPr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sz="2800" b="0" dirty="0"/>
              <a:t>In the first phase: </a:t>
            </a:r>
            <a:br>
              <a:rPr lang="en-US" altLang="en-US" sz="2800" b="0" dirty="0"/>
            </a:br>
            <a:r>
              <a:rPr lang="en-US" altLang="en-US" sz="2800" b="0" dirty="0"/>
              <a:t>(a) Process 1 sends to 0, 3 sends to 2, 5 sends to 4, and 7 sends to 6. </a:t>
            </a:r>
            <a:br>
              <a:rPr lang="en-US" altLang="en-US" sz="2800" b="0" dirty="0"/>
            </a:br>
            <a:r>
              <a:rPr lang="en-US" altLang="en-US" sz="2800" b="0" dirty="0"/>
              <a:t>(b) Processes 0, 2, 4, and 6 add in the received values. </a:t>
            </a:r>
            <a:br>
              <a:rPr lang="en-US" altLang="en-US" sz="2800" b="0" dirty="0"/>
            </a:br>
            <a:r>
              <a:rPr lang="en-US" altLang="en-US" sz="2800" b="0" dirty="0"/>
              <a:t>(c) Processes 2 and 6 send their new values to processes 0 and 4, respectively.</a:t>
            </a:r>
            <a:br>
              <a:rPr lang="en-US" altLang="en-US" sz="2800" b="0" dirty="0"/>
            </a:br>
            <a:r>
              <a:rPr lang="en-US" altLang="en-US" sz="2800" b="0" dirty="0"/>
              <a:t>(d) Processes 0 and 4 add the received values into their new values.</a:t>
            </a:r>
            <a:br>
              <a:rPr lang="en-US" altLang="en-US" sz="2800" b="0" dirty="0"/>
            </a:br>
            <a:endParaRPr lang="en-US" altLang="en-US" sz="2800" b="0" dirty="0"/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sz="2800" b="0" dirty="0"/>
              <a:t>(a) Process 4 sends its newest value to process 0.</a:t>
            </a:r>
            <a:br>
              <a:rPr lang="en-US" altLang="en-US" sz="2800" b="0" dirty="0"/>
            </a:br>
            <a:r>
              <a:rPr lang="en-US" altLang="en-US" sz="2800" b="0" dirty="0"/>
              <a:t>(b) Process 0 adds the received value to its newest value.</a:t>
            </a:r>
          </a:p>
        </p:txBody>
      </p:sp>
      <p:sp>
        <p:nvSpPr>
          <p:cNvPr id="6349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tree-structured global sum</a:t>
            </a:r>
          </a:p>
        </p:txBody>
      </p:sp>
      <p:sp>
        <p:nvSpPr>
          <p:cNvPr id="64514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4515" name="Picture 2" descr="f03-06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240" y="1471236"/>
            <a:ext cx="6699171" cy="4595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形 4" descr="笔记本电脑">
            <a:extLst>
              <a:ext uri="{FF2B5EF4-FFF2-40B4-BE49-F238E27FC236}">
                <a16:creationId xmlns:a16="http://schemas.microsoft.com/office/drawing/2014/main" id="{63BC80DE-D2E3-46F1-B18B-18C6CB70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0960" y="4824586"/>
            <a:ext cx="772811" cy="772811"/>
          </a:xfrm>
          <a:prstGeom prst="rect">
            <a:avLst/>
          </a:prstGeom>
        </p:spPr>
      </p:pic>
      <p:sp>
        <p:nvSpPr>
          <p:cNvPr id="6" name="十字形 5">
            <a:extLst>
              <a:ext uri="{FF2B5EF4-FFF2-40B4-BE49-F238E27FC236}">
                <a16:creationId xmlns:a16="http://schemas.microsoft.com/office/drawing/2014/main" id="{5B923372-E336-439D-8964-6BB65E434973}"/>
              </a:ext>
            </a:extLst>
          </p:cNvPr>
          <p:cNvSpPr/>
          <p:nvPr/>
        </p:nvSpPr>
        <p:spPr>
          <a:xfrm>
            <a:off x="9353128" y="3384426"/>
            <a:ext cx="720080" cy="648072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形 6" descr="笔记本电脑">
            <a:extLst>
              <a:ext uri="{FF2B5EF4-FFF2-40B4-BE49-F238E27FC236}">
                <a16:creationId xmlns:a16="http://schemas.microsoft.com/office/drawing/2014/main" id="{BA4FB49A-1932-44C8-B17E-E90C728F8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844" y="4824585"/>
            <a:ext cx="772811" cy="772811"/>
          </a:xfrm>
          <a:prstGeom prst="rect">
            <a:avLst/>
          </a:prstGeom>
        </p:spPr>
      </p:pic>
      <p:pic>
        <p:nvPicPr>
          <p:cNvPr id="8" name="图形 7" descr="笔记本电脑">
            <a:extLst>
              <a:ext uri="{FF2B5EF4-FFF2-40B4-BE49-F238E27FC236}">
                <a16:creationId xmlns:a16="http://schemas.microsoft.com/office/drawing/2014/main" id="{AD8D4A43-1928-41AC-8F14-6C16D499E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4728" y="4824584"/>
            <a:ext cx="772811" cy="772811"/>
          </a:xfrm>
          <a:prstGeom prst="rect">
            <a:avLst/>
          </a:prstGeom>
        </p:spPr>
      </p:pic>
      <p:pic>
        <p:nvPicPr>
          <p:cNvPr id="9" name="图形 8" descr="笔记本电脑">
            <a:extLst>
              <a:ext uri="{FF2B5EF4-FFF2-40B4-BE49-F238E27FC236}">
                <a16:creationId xmlns:a16="http://schemas.microsoft.com/office/drawing/2014/main" id="{8CF3F52D-DF56-4816-BE80-69342A3A7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1611" y="4824584"/>
            <a:ext cx="772811" cy="772811"/>
          </a:xfrm>
          <a:prstGeom prst="rect">
            <a:avLst/>
          </a:prstGeom>
        </p:spPr>
      </p:pic>
      <p:pic>
        <p:nvPicPr>
          <p:cNvPr id="10" name="图形 9" descr="笔记本电脑">
            <a:extLst>
              <a:ext uri="{FF2B5EF4-FFF2-40B4-BE49-F238E27FC236}">
                <a16:creationId xmlns:a16="http://schemas.microsoft.com/office/drawing/2014/main" id="{9F3B58D2-5F04-467F-8BD2-65D8C0847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1154" y="5652385"/>
            <a:ext cx="772811" cy="772811"/>
          </a:xfrm>
          <a:prstGeom prst="rect">
            <a:avLst/>
          </a:prstGeom>
        </p:spPr>
      </p:pic>
      <p:pic>
        <p:nvPicPr>
          <p:cNvPr id="11" name="图形 10" descr="笔记本电脑">
            <a:extLst>
              <a:ext uri="{FF2B5EF4-FFF2-40B4-BE49-F238E27FC236}">
                <a16:creationId xmlns:a16="http://schemas.microsoft.com/office/drawing/2014/main" id="{0F5297F7-1D24-420D-B9DF-26B0913DE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8038" y="5652384"/>
            <a:ext cx="772811" cy="772811"/>
          </a:xfrm>
          <a:prstGeom prst="rect">
            <a:avLst/>
          </a:prstGeom>
        </p:spPr>
      </p:pic>
      <p:pic>
        <p:nvPicPr>
          <p:cNvPr id="12" name="图形 11" descr="笔记本电脑">
            <a:extLst>
              <a:ext uri="{FF2B5EF4-FFF2-40B4-BE49-F238E27FC236}">
                <a16:creationId xmlns:a16="http://schemas.microsoft.com/office/drawing/2014/main" id="{EB2D7B26-34BB-46AB-832E-DA56E8802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4922" y="5652383"/>
            <a:ext cx="772811" cy="772811"/>
          </a:xfrm>
          <a:prstGeom prst="rect">
            <a:avLst/>
          </a:prstGeom>
        </p:spPr>
      </p:pic>
      <p:pic>
        <p:nvPicPr>
          <p:cNvPr id="13" name="图形 12" descr="笔记本电脑">
            <a:extLst>
              <a:ext uri="{FF2B5EF4-FFF2-40B4-BE49-F238E27FC236}">
                <a16:creationId xmlns:a16="http://schemas.microsoft.com/office/drawing/2014/main" id="{9137C5D7-5A45-4D2A-A4C6-4677A9377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1805" y="5652383"/>
            <a:ext cx="772811" cy="772811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42125E1-FA18-4EEE-8964-CCE0FDAE9E35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144602" y="4032498"/>
            <a:ext cx="1568566" cy="99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71DF266-9720-40A5-BF0C-63CD3A6EB45B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9414249" y="4032498"/>
            <a:ext cx="298919" cy="99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3A6EF7-17E7-42BF-94BD-EF8D64745F01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9713168" y="4032498"/>
            <a:ext cx="887965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BC7414D-055F-452C-93DB-81F5ACC91AA4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9713168" y="4032498"/>
            <a:ext cx="2016224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6A2E000-6A11-47F3-9EFE-166E62FBCF3A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7666868" y="4032498"/>
            <a:ext cx="2046300" cy="176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D678C5A-B6C5-44EE-84C7-795807B2999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733762" y="4032498"/>
            <a:ext cx="979406" cy="176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EF5889F-A8E7-424D-835A-7C7C89C437A1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9713168" y="4032498"/>
            <a:ext cx="288159" cy="176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CBC613C-1437-4B96-BB89-09DF7C956E61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9713168" y="4032498"/>
            <a:ext cx="1487772" cy="176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A6FB216-D407-4BB3-AE46-282041F23A9E}"/>
              </a:ext>
            </a:extLst>
          </p:cNvPr>
          <p:cNvSpPr txBox="1"/>
          <p:nvPr/>
        </p:nvSpPr>
        <p:spPr>
          <a:xfrm>
            <a:off x="7993990" y="49153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B7BA3F-7BDF-4862-8DAD-6D01AA570E81}"/>
              </a:ext>
            </a:extLst>
          </p:cNvPr>
          <p:cNvSpPr txBox="1"/>
          <p:nvPr/>
        </p:nvSpPr>
        <p:spPr>
          <a:xfrm>
            <a:off x="9241818" y="4948497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2A089F2-6CA7-4956-9782-1AA96F44135C}"/>
              </a:ext>
            </a:extLst>
          </p:cNvPr>
          <p:cNvSpPr txBox="1"/>
          <p:nvPr/>
        </p:nvSpPr>
        <p:spPr>
          <a:xfrm>
            <a:off x="10350607" y="4939126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C9F4DF9-6C97-4B1C-9DFF-F57AEB34072F}"/>
              </a:ext>
            </a:extLst>
          </p:cNvPr>
          <p:cNvSpPr txBox="1"/>
          <p:nvPr/>
        </p:nvSpPr>
        <p:spPr>
          <a:xfrm>
            <a:off x="11588896" y="49153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CE487B1-7A2F-4EBB-B33B-4637BE4EBDD4}"/>
              </a:ext>
            </a:extLst>
          </p:cNvPr>
          <p:cNvSpPr txBox="1"/>
          <p:nvPr/>
        </p:nvSpPr>
        <p:spPr>
          <a:xfrm>
            <a:off x="7441618" y="576185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7AF8815-B17E-4F79-BBB6-22F2C0157862}"/>
              </a:ext>
            </a:extLst>
          </p:cNvPr>
          <p:cNvSpPr txBox="1"/>
          <p:nvPr/>
        </p:nvSpPr>
        <p:spPr>
          <a:xfrm>
            <a:off x="8633048" y="576185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2A49DE7-9152-4067-AC9C-DA65E4B902B4}"/>
              </a:ext>
            </a:extLst>
          </p:cNvPr>
          <p:cNvSpPr txBox="1"/>
          <p:nvPr/>
        </p:nvSpPr>
        <p:spPr>
          <a:xfrm>
            <a:off x="9785176" y="576185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DDF2FC7-D0B5-46CB-BB8E-9896B96A6606}"/>
              </a:ext>
            </a:extLst>
          </p:cNvPr>
          <p:cNvSpPr txBox="1"/>
          <p:nvPr/>
        </p:nvSpPr>
        <p:spPr>
          <a:xfrm>
            <a:off x="10970010" y="576069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3EA73BE-4573-49D4-A993-82B5B19B4EC0}"/>
              </a:ext>
            </a:extLst>
          </p:cNvPr>
          <p:cNvSpPr txBox="1"/>
          <p:nvPr/>
        </p:nvSpPr>
        <p:spPr>
          <a:xfrm>
            <a:off x="10214728" y="3457595"/>
            <a:ext cx="9354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Switch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3"/>
          <p:cNvSpPr>
            <a:spLocks noGrp="1"/>
          </p:cNvSpPr>
          <p:nvPr>
            <p:ph type="title"/>
          </p:nvPr>
        </p:nvSpPr>
        <p:spPr>
          <a:xfrm>
            <a:off x="1360805" y="503954"/>
            <a:ext cx="10762906" cy="792000"/>
          </a:xfrm>
        </p:spPr>
        <p:txBody>
          <a:bodyPr/>
          <a:lstStyle/>
          <a:p>
            <a:r>
              <a:rPr lang="en-US" altLang="en-US"/>
              <a:t>An alternative tree-structured global sum</a:t>
            </a:r>
          </a:p>
        </p:txBody>
      </p:sp>
      <p:sp>
        <p:nvSpPr>
          <p:cNvPr id="65538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5539" name="Picture 2" descr="f03-07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718" y="1635205"/>
            <a:ext cx="6729175" cy="4615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MPI_Reduce</a:t>
            </a:r>
          </a:p>
        </p:txBody>
      </p:sp>
      <p:sp>
        <p:nvSpPr>
          <p:cNvPr id="6656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65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1256824"/>
            <a:ext cx="6839188" cy="2645331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566" y="4053840"/>
            <a:ext cx="9124474" cy="831771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5037296"/>
            <a:ext cx="6610826" cy="1230154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Predefined reduction operators in MPI</a:t>
            </a:r>
          </a:p>
        </p:txBody>
      </p:sp>
      <p:sp>
        <p:nvSpPr>
          <p:cNvPr id="6758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75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032" y="1331834"/>
            <a:ext cx="7130891" cy="5055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856615" y="575709"/>
            <a:ext cx="10762906" cy="792000"/>
          </a:xfrm>
        </p:spPr>
        <p:txBody>
          <a:bodyPr/>
          <a:lstStyle/>
          <a:p>
            <a:r>
              <a:rPr lang="en-US" altLang="en-US"/>
              <a:t>Collective vs. Point-to-Point Communications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4294967295"/>
          </p:nvPr>
        </p:nvSpPr>
        <p:spPr>
          <a:xfrm>
            <a:off x="1144270" y="2160270"/>
            <a:ext cx="11181715" cy="5208905"/>
          </a:xfrm>
        </p:spPr>
        <p:txBody>
          <a:bodyPr/>
          <a:lstStyle/>
          <a:p>
            <a:r>
              <a:rPr lang="en-US" altLang="en-US" b="0" u="sng" dirty="0"/>
              <a:t>All</a:t>
            </a:r>
            <a:r>
              <a:rPr lang="en-US" altLang="en-US" b="0" dirty="0"/>
              <a:t> the processes in the communicator must call the same collective function. </a:t>
            </a:r>
          </a:p>
          <a:p>
            <a:pPr lvl="1"/>
            <a:r>
              <a:rPr lang="en-US" altLang="en-US" b="0" dirty="0"/>
              <a:t>For example, a program that attempts to match a call to </a:t>
            </a:r>
            <a:r>
              <a:rPr lang="en-US" altLang="en-US" b="0" dirty="0" err="1">
                <a:solidFill>
                  <a:srgbClr val="0066FF"/>
                </a:solidFill>
              </a:rPr>
              <a:t>MPI_Reduce</a:t>
            </a:r>
            <a:r>
              <a:rPr lang="en-US" altLang="en-US" b="0" dirty="0"/>
              <a:t> on one process with a call to </a:t>
            </a:r>
            <a:r>
              <a:rPr lang="en-US" altLang="en-US" b="0" dirty="0" err="1">
                <a:solidFill>
                  <a:srgbClr val="0066FF"/>
                </a:solidFill>
              </a:rPr>
              <a:t>MPI_Recv</a:t>
            </a:r>
            <a:r>
              <a:rPr lang="en-US" altLang="en-US" b="0" dirty="0"/>
              <a:t> on another process is erroneous, the program will hang or crash.</a:t>
            </a:r>
          </a:p>
        </p:txBody>
      </p:sp>
      <p:sp>
        <p:nvSpPr>
          <p:cNvPr id="6861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>
          <a:xfrm>
            <a:off x="712470" y="503954"/>
            <a:ext cx="10762906" cy="792000"/>
          </a:xfrm>
        </p:spPr>
        <p:txBody>
          <a:bodyPr/>
          <a:lstStyle/>
          <a:p>
            <a:r>
              <a:rPr lang="en-US" altLang="en-US"/>
              <a:t>Collective vs. Point-to-Point Communications</a:t>
            </a:r>
          </a:p>
        </p:txBody>
      </p:sp>
      <p:sp>
        <p:nvSpPr>
          <p:cNvPr id="69634" name="Content Placeholder 2"/>
          <p:cNvSpPr>
            <a:spLocks noGrp="1"/>
          </p:cNvSpPr>
          <p:nvPr>
            <p:ph idx="4294967295"/>
          </p:nvPr>
        </p:nvSpPr>
        <p:spPr>
          <a:xfrm>
            <a:off x="1288415" y="1727835"/>
            <a:ext cx="10920095" cy="5234940"/>
          </a:xfrm>
        </p:spPr>
        <p:txBody>
          <a:bodyPr/>
          <a:lstStyle/>
          <a:p>
            <a:r>
              <a:rPr lang="en-US" altLang="en-US" b="0" dirty="0"/>
              <a:t>The arguments passed by each process to an MPI collective communication must be </a:t>
            </a:r>
            <a:r>
              <a:rPr lang="ja-JP" altLang="en-US" b="0" dirty="0"/>
              <a:t>“</a:t>
            </a:r>
            <a:r>
              <a:rPr lang="en-US" altLang="ja-JP" b="0" dirty="0"/>
              <a:t>compatible.</a:t>
            </a:r>
            <a:r>
              <a:rPr lang="ja-JP" altLang="en-US" b="0" dirty="0"/>
              <a:t>”</a:t>
            </a:r>
            <a:endParaRPr lang="en-US" altLang="ja-JP" b="0" dirty="0"/>
          </a:p>
          <a:p>
            <a:pPr lvl="1"/>
            <a:r>
              <a:rPr lang="en-US" altLang="en-US" b="0" dirty="0"/>
              <a:t>For example, if one process passes in 0 as the </a:t>
            </a:r>
            <a:r>
              <a:rPr lang="en-US" altLang="en-US" b="0" dirty="0" err="1">
                <a:solidFill>
                  <a:srgbClr val="0066FF"/>
                </a:solidFill>
              </a:rPr>
              <a:t>dest_process</a:t>
            </a:r>
            <a:r>
              <a:rPr lang="en-US" altLang="en-US" b="0" dirty="0"/>
              <a:t> and another passes in 1, then the outcome of a call to </a:t>
            </a:r>
            <a:r>
              <a:rPr lang="en-US" altLang="en-US" b="0" dirty="0" err="1">
                <a:solidFill>
                  <a:srgbClr val="0066FF"/>
                </a:solidFill>
              </a:rPr>
              <a:t>MPI_Reduce</a:t>
            </a:r>
            <a:r>
              <a:rPr lang="en-US" altLang="en-US" b="0" dirty="0"/>
              <a:t> is erroneous, and, once again, the program is likely to hang or crash. </a:t>
            </a:r>
            <a:r>
              <a:rPr lang="zh-CN" altLang="en-US" b="0" dirty="0"/>
              <a:t> </a:t>
            </a:r>
            <a:r>
              <a:rPr lang="en-US" altLang="zh-CN" b="0" dirty="0">
                <a:solidFill>
                  <a:srgbClr val="FF0000"/>
                </a:solidFill>
              </a:rPr>
              <a:t>(try</a:t>
            </a:r>
            <a:r>
              <a:rPr lang="zh-CN" altLang="en-US" b="0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</a:rPr>
              <a:t>this</a:t>
            </a:r>
            <a:r>
              <a:rPr lang="zh-CN" altLang="en-US" b="0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</a:rPr>
              <a:t>in</a:t>
            </a:r>
            <a:r>
              <a:rPr lang="zh-CN" altLang="en-US" b="0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</a:rPr>
              <a:t>your experiments)</a:t>
            </a:r>
            <a:endParaRPr lang="en-US" altLang="en-US" b="0" dirty="0">
              <a:solidFill>
                <a:srgbClr val="FF0000"/>
              </a:solidFill>
            </a:endParaRPr>
          </a:p>
        </p:txBody>
      </p:sp>
      <p:sp>
        <p:nvSpPr>
          <p:cNvPr id="6963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>
          <a:xfrm>
            <a:off x="712470" y="432199"/>
            <a:ext cx="10762906" cy="792000"/>
          </a:xfrm>
        </p:spPr>
        <p:txBody>
          <a:bodyPr/>
          <a:lstStyle/>
          <a:p>
            <a:r>
              <a:rPr lang="en-US" altLang="en-US"/>
              <a:t>Collective vs. Point-to-Point Communications</a:t>
            </a:r>
          </a:p>
        </p:txBody>
      </p:sp>
      <p:sp>
        <p:nvSpPr>
          <p:cNvPr id="70658" name="Content Placeholder 2"/>
          <p:cNvSpPr>
            <a:spLocks noGrp="1"/>
          </p:cNvSpPr>
          <p:nvPr>
            <p:ph idx="4294967295"/>
          </p:nvPr>
        </p:nvSpPr>
        <p:spPr>
          <a:xfrm>
            <a:off x="1288415" y="1491615"/>
            <a:ext cx="10035540" cy="4934585"/>
          </a:xfrm>
        </p:spPr>
        <p:txBody>
          <a:bodyPr/>
          <a:lstStyle/>
          <a:p>
            <a:r>
              <a:rPr lang="en-US" altLang="en-US" b="0" dirty="0"/>
              <a:t>The </a:t>
            </a:r>
            <a:r>
              <a:rPr lang="en-US" altLang="en-US" b="0" dirty="0" err="1">
                <a:solidFill>
                  <a:srgbClr val="0066FF"/>
                </a:solidFill>
              </a:rPr>
              <a:t>output_data_p</a:t>
            </a:r>
            <a:r>
              <a:rPr lang="en-US" altLang="en-US" b="0" dirty="0">
                <a:solidFill>
                  <a:srgbClr val="0066FF"/>
                </a:solidFill>
              </a:rPr>
              <a:t> </a:t>
            </a:r>
            <a:r>
              <a:rPr lang="en-US" altLang="en-US" b="0" dirty="0"/>
              <a:t>argument is only used on </a:t>
            </a:r>
            <a:r>
              <a:rPr lang="en-US" altLang="en-US" b="0" dirty="0" err="1">
                <a:solidFill>
                  <a:srgbClr val="0066FF"/>
                </a:solidFill>
              </a:rPr>
              <a:t>dest_process</a:t>
            </a:r>
            <a:r>
              <a:rPr lang="en-US" altLang="en-US" b="0" dirty="0"/>
              <a:t>. 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However, all of the processes still need to pass in an actual argument corresponding to </a:t>
            </a:r>
            <a:r>
              <a:rPr lang="en-US" altLang="en-US" b="0" dirty="0" err="1">
                <a:solidFill>
                  <a:srgbClr val="0066FF"/>
                </a:solidFill>
              </a:rPr>
              <a:t>output_data_p</a:t>
            </a:r>
            <a:r>
              <a:rPr lang="en-US" altLang="en-US" b="0" dirty="0"/>
              <a:t>, even if it’</a:t>
            </a:r>
            <a:r>
              <a:rPr lang="en-US" altLang="ja-JP" b="0" dirty="0"/>
              <a:t>s just </a:t>
            </a:r>
            <a:r>
              <a:rPr lang="en-US" altLang="ja-JP" b="0" dirty="0">
                <a:solidFill>
                  <a:srgbClr val="0066FF"/>
                </a:solidFill>
              </a:rPr>
              <a:t>NULL</a:t>
            </a:r>
            <a:r>
              <a:rPr lang="en-US" altLang="ja-JP" b="0" dirty="0"/>
              <a:t>.</a:t>
            </a:r>
            <a:endParaRPr lang="en-US" altLang="en-US" b="0" dirty="0"/>
          </a:p>
        </p:txBody>
      </p:sp>
      <p:sp>
        <p:nvSpPr>
          <p:cNvPr id="7065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>
          <a:xfrm>
            <a:off x="712470" y="503954"/>
            <a:ext cx="10762906" cy="792000"/>
          </a:xfrm>
        </p:spPr>
        <p:txBody>
          <a:bodyPr/>
          <a:lstStyle/>
          <a:p>
            <a:r>
              <a:rPr lang="en-US" altLang="en-US"/>
              <a:t>Collective vs. Point-to-Point Communications</a:t>
            </a:r>
          </a:p>
        </p:txBody>
      </p:sp>
      <p:sp>
        <p:nvSpPr>
          <p:cNvPr id="71682" name="Content Placeholder 2"/>
          <p:cNvSpPr>
            <a:spLocks noGrp="1"/>
          </p:cNvSpPr>
          <p:nvPr>
            <p:ph idx="4294967295"/>
          </p:nvPr>
        </p:nvSpPr>
        <p:spPr>
          <a:xfrm>
            <a:off x="1000760" y="1656080"/>
            <a:ext cx="10849610" cy="5079365"/>
          </a:xfrm>
        </p:spPr>
        <p:txBody>
          <a:bodyPr/>
          <a:lstStyle/>
          <a:p>
            <a:r>
              <a:rPr lang="en-US" altLang="en-US" b="0" dirty="0"/>
              <a:t>Point-to-point communications are matched on the basis of tags and communicators. 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Collective communications don’</a:t>
            </a:r>
            <a:r>
              <a:rPr lang="en-US" altLang="ja-JP" b="0" dirty="0"/>
              <a:t>t use tags. </a:t>
            </a:r>
          </a:p>
          <a:p>
            <a:r>
              <a:rPr lang="en-US" altLang="en-US" b="0" dirty="0"/>
              <a:t>They’</a:t>
            </a:r>
            <a:r>
              <a:rPr lang="en-US" altLang="ja-JP" b="0" dirty="0"/>
              <a:t>re matched solely on the basis of the communicator and the order in which they’re called (</a:t>
            </a:r>
            <a:r>
              <a:rPr lang="zh-CN" altLang="en-US" b="0" dirty="0"/>
              <a:t>调用顺序）</a:t>
            </a:r>
            <a:r>
              <a:rPr lang="en-US" altLang="ja-JP" b="0" dirty="0"/>
              <a:t>.</a:t>
            </a:r>
            <a:endParaRPr lang="en-US" altLang="en-US" b="0" dirty="0"/>
          </a:p>
        </p:txBody>
      </p:sp>
      <p:sp>
        <p:nvSpPr>
          <p:cNvPr id="71683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(1)</a:t>
            </a:r>
          </a:p>
        </p:txBody>
      </p:sp>
      <p:sp>
        <p:nvSpPr>
          <p:cNvPr id="7270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27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904" y="1857667"/>
            <a:ext cx="8997791" cy="130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2477618" y="4187856"/>
            <a:ext cx="8169867" cy="2261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360" dirty="0">
                <a:latin typeface="Comic Sans MS" panose="030F0702030302020204" pitchFamily="66" charset="0"/>
              </a:rPr>
              <a:t>Multiple calls to </a:t>
            </a:r>
            <a:r>
              <a:rPr lang="en-US" altLang="en-US" sz="3360" dirty="0" err="1">
                <a:latin typeface="Comic Sans MS" panose="030F0702030302020204" pitchFamily="66" charset="0"/>
              </a:rPr>
              <a:t>MPI_Reduce</a:t>
            </a:r>
            <a:r>
              <a:rPr lang="en-US" altLang="en-US" sz="3360" dirty="0">
                <a:latin typeface="Comic Sans MS" panose="030F0702030302020204" pitchFamily="66" charset="0"/>
              </a:rPr>
              <a:t>,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360" dirty="0">
                <a:latin typeface="Comic Sans MS" panose="030F0702030302020204" pitchFamily="66" charset="0"/>
              </a:rPr>
              <a:t>Suppose that each process calls </a:t>
            </a:r>
            <a:r>
              <a:rPr lang="en-US" altLang="en-US" sz="3360" dirty="0" err="1">
                <a:latin typeface="Comic Sans MS" panose="030F0702030302020204" pitchFamily="66" charset="0"/>
              </a:rPr>
              <a:t>MPI_Reduce</a:t>
            </a:r>
            <a:r>
              <a:rPr lang="en-US" altLang="en-US" sz="3360" dirty="0">
                <a:latin typeface="Comic Sans MS" panose="030F0702030302020204" pitchFamily="66" charset="0"/>
              </a:rPr>
              <a:t> with operator MPI_SUM, and destination process 0.</a:t>
            </a:r>
          </a:p>
        </p:txBody>
      </p:sp>
      <p:sp>
        <p:nvSpPr>
          <p:cNvPr id="2" name="矩形 1"/>
          <p:cNvSpPr/>
          <p:nvPr/>
        </p:nvSpPr>
        <p:spPr>
          <a:xfrm>
            <a:off x="4420553" y="2511082"/>
            <a:ext cx="493907" cy="6534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" name="文本框 2"/>
          <p:cNvSpPr txBox="1"/>
          <p:nvPr/>
        </p:nvSpPr>
        <p:spPr>
          <a:xfrm>
            <a:off x="3991267" y="3638475"/>
            <a:ext cx="2677257" cy="542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940" dirty="0"/>
              <a:t>b = 4</a:t>
            </a:r>
            <a:r>
              <a:rPr lang="zh-CN" altLang="en-US" sz="2940" dirty="0"/>
              <a:t>，</a:t>
            </a:r>
            <a:r>
              <a:rPr lang="en-US" altLang="zh-CN" sz="2940" dirty="0"/>
              <a:t>d = 5</a:t>
            </a:r>
            <a:endParaRPr lang="en-US" sz="2940" dirty="0"/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MPI_Allreduce</a:t>
            </a:r>
          </a:p>
        </p:txBody>
      </p:sp>
      <p:sp>
        <p:nvSpPr>
          <p:cNvPr id="75778" name="Content Placeholder 3"/>
          <p:cNvSpPr>
            <a:spLocks noGrp="1"/>
          </p:cNvSpPr>
          <p:nvPr>
            <p:ph idx="4294967295"/>
          </p:nvPr>
        </p:nvSpPr>
        <p:spPr>
          <a:xfrm>
            <a:off x="1072515" y="1080135"/>
            <a:ext cx="10894060" cy="2570480"/>
          </a:xfrm>
        </p:spPr>
        <p:txBody>
          <a:bodyPr/>
          <a:lstStyle/>
          <a:p>
            <a:r>
              <a:rPr lang="en-US" altLang="en-US" b="0" dirty="0"/>
              <a:t>Useful in a situation in which all of the processes need the result of a global result in order to complete some larger computation.</a:t>
            </a:r>
          </a:p>
          <a:p>
            <a:r>
              <a:rPr lang="en-US" altLang="zh-CN" b="0" dirty="0"/>
              <a:t>E.g.</a:t>
            </a:r>
            <a:r>
              <a:rPr lang="zh-CN" altLang="en-US" b="0" dirty="0"/>
              <a:t> </a:t>
            </a:r>
            <a:r>
              <a:rPr lang="en-US" altLang="zh-CN" b="0" dirty="0"/>
              <a:t>used</a:t>
            </a:r>
            <a:r>
              <a:rPr lang="zh-CN" altLang="en-US" b="0" dirty="0"/>
              <a:t> </a:t>
            </a:r>
            <a:r>
              <a:rPr lang="en-US" altLang="zh-CN" b="0" dirty="0"/>
              <a:t>in</a:t>
            </a:r>
            <a:r>
              <a:rPr lang="zh-CN" altLang="en-US" b="0" dirty="0"/>
              <a:t> </a:t>
            </a:r>
            <a:r>
              <a:rPr lang="en-US" altLang="zh-CN" b="0" dirty="0"/>
              <a:t>distributed</a:t>
            </a:r>
            <a:r>
              <a:rPr lang="zh-CN" altLang="en-US" b="0" dirty="0"/>
              <a:t> </a:t>
            </a:r>
            <a:r>
              <a:rPr lang="en-US" altLang="zh-CN" b="0" dirty="0"/>
              <a:t>AI</a:t>
            </a:r>
            <a:r>
              <a:rPr lang="zh-CN" altLang="en-US" b="0" dirty="0"/>
              <a:t> </a:t>
            </a:r>
            <a:r>
              <a:rPr lang="en-US" altLang="zh-CN" b="0" dirty="0"/>
              <a:t>model</a:t>
            </a:r>
            <a:r>
              <a:rPr lang="zh-CN" altLang="en-US" b="0" dirty="0"/>
              <a:t> </a:t>
            </a:r>
            <a:r>
              <a:rPr lang="en-US" altLang="zh-CN" b="0" dirty="0"/>
              <a:t>training</a:t>
            </a:r>
            <a:endParaRPr lang="en-US" altLang="en-US" b="0" dirty="0"/>
          </a:p>
        </p:txBody>
      </p:sp>
      <p:sp>
        <p:nvSpPr>
          <p:cNvPr id="75779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57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267" y="3312081"/>
            <a:ext cx="8392715" cy="263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6801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6802" name="Picture 2" descr="f03-08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099" y="953453"/>
            <a:ext cx="4187190" cy="5449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459266" y="2920365"/>
            <a:ext cx="2567305" cy="1060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A global sum followed</a:t>
            </a:r>
            <a:b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</a:b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by distribution of the</a:t>
            </a:r>
            <a:b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</a:b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result.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EED084-A756-304A-8DA6-E30E53C4D758}"/>
              </a:ext>
            </a:extLst>
          </p:cNvPr>
          <p:cNvCxnSpPr/>
          <p:nvPr/>
        </p:nvCxnSpPr>
        <p:spPr>
          <a:xfrm>
            <a:off x="2584376" y="1503578"/>
            <a:ext cx="0" cy="374441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9F72DB-5453-804E-B08B-03B0C79CBF72}"/>
              </a:ext>
            </a:extLst>
          </p:cNvPr>
          <p:cNvSpPr txBox="1"/>
          <p:nvPr/>
        </p:nvSpPr>
        <p:spPr>
          <a:xfrm>
            <a:off x="2224336" y="927514"/>
            <a:ext cx="7537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Time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7825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7826" name="Picture 2" descr="f03-09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023" y="953453"/>
            <a:ext cx="6502480" cy="44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57174" y="5792391"/>
            <a:ext cx="383032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A butterfly-structured global sum.</a:t>
            </a:r>
          </a:p>
        </p:txBody>
      </p:sp>
      <p:pic>
        <p:nvPicPr>
          <p:cNvPr id="77828" name="Picture 2" descr="animals,bugs,butterflies,cropped images,cropped pictures,insects,nature,PNG,transparent background,yel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872" y="0"/>
            <a:ext cx="1558528" cy="155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F63D0E-2FCD-4042-B5C9-F1C00F570737}"/>
              </a:ext>
            </a:extLst>
          </p:cNvPr>
          <p:cNvCxnSpPr/>
          <p:nvPr/>
        </p:nvCxnSpPr>
        <p:spPr>
          <a:xfrm>
            <a:off x="1864296" y="1800250"/>
            <a:ext cx="0" cy="374441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9D39744-5EEC-CF40-9066-3947879AF47F}"/>
              </a:ext>
            </a:extLst>
          </p:cNvPr>
          <p:cNvSpPr txBox="1"/>
          <p:nvPr/>
        </p:nvSpPr>
        <p:spPr>
          <a:xfrm>
            <a:off x="1504256" y="1224186"/>
            <a:ext cx="7537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Time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Data Movement</a:t>
            </a:r>
          </a:p>
        </p:txBody>
      </p:sp>
      <p:grpSp>
        <p:nvGrpSpPr>
          <p:cNvPr id="5" name="Group 4"/>
          <p:cNvGrpSpPr/>
          <p:nvPr/>
        </p:nvGrpSpPr>
        <p:grpSpPr bwMode="auto">
          <a:xfrm>
            <a:off x="3281180" y="1924601"/>
            <a:ext cx="436721" cy="1548527"/>
            <a:chOff x="566" y="1320"/>
            <a:chExt cx="262" cy="929"/>
          </a:xfrm>
        </p:grpSpPr>
        <p:sp>
          <p:nvSpPr>
            <p:cNvPr id="40" name="Text Box 5"/>
            <p:cNvSpPr txBox="1">
              <a:spLocks noChangeArrowheads="1"/>
            </p:cNvSpPr>
            <p:nvPr/>
          </p:nvSpPr>
          <p:spPr bwMode="blackWhite">
            <a:xfrm>
              <a:off x="566" y="132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41" name="Text Box 6"/>
            <p:cNvSpPr txBox="1">
              <a:spLocks noChangeArrowheads="1"/>
            </p:cNvSpPr>
            <p:nvPr/>
          </p:nvSpPr>
          <p:spPr bwMode="blackWhite">
            <a:xfrm>
              <a:off x="566" y="154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  <p:sp>
          <p:nvSpPr>
            <p:cNvPr id="42" name="Text Box 7"/>
            <p:cNvSpPr txBox="1">
              <a:spLocks noChangeArrowheads="1"/>
            </p:cNvSpPr>
            <p:nvPr/>
          </p:nvSpPr>
          <p:spPr bwMode="blackWhite">
            <a:xfrm>
              <a:off x="566" y="178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  <p:sp>
          <p:nvSpPr>
            <p:cNvPr id="43" name="Text Box 8"/>
            <p:cNvSpPr txBox="1">
              <a:spLocks noChangeArrowheads="1"/>
            </p:cNvSpPr>
            <p:nvPr/>
          </p:nvSpPr>
          <p:spPr bwMode="blackWhite">
            <a:xfrm>
              <a:off x="566" y="202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</p:grpSp>
      <p:grpSp>
        <p:nvGrpSpPr>
          <p:cNvPr id="6" name="Group 9"/>
          <p:cNvGrpSpPr/>
          <p:nvPr/>
        </p:nvGrpSpPr>
        <p:grpSpPr bwMode="auto">
          <a:xfrm>
            <a:off x="3281180" y="4484922"/>
            <a:ext cx="436721" cy="1548527"/>
            <a:chOff x="566" y="1320"/>
            <a:chExt cx="262" cy="929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blackWhite">
            <a:xfrm>
              <a:off x="566" y="132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blackWhite">
            <a:xfrm>
              <a:off x="566" y="154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blackWhite">
            <a:xfrm>
              <a:off x="566" y="178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  <p:sp>
          <p:nvSpPr>
            <p:cNvPr id="39" name="Text Box 13"/>
            <p:cNvSpPr txBox="1">
              <a:spLocks noChangeArrowheads="1"/>
            </p:cNvSpPr>
            <p:nvPr/>
          </p:nvSpPr>
          <p:spPr bwMode="blackWhite">
            <a:xfrm>
              <a:off x="566" y="2020"/>
              <a:ext cx="262" cy="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9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</p:grpSp>
      <p:grpSp>
        <p:nvGrpSpPr>
          <p:cNvPr id="7" name="Group 14"/>
          <p:cNvGrpSpPr/>
          <p:nvPr/>
        </p:nvGrpSpPr>
        <p:grpSpPr bwMode="auto">
          <a:xfrm>
            <a:off x="3921260" y="4564932"/>
            <a:ext cx="320040" cy="1520191"/>
            <a:chOff x="1104" y="2928"/>
            <a:chExt cx="192" cy="912"/>
          </a:xfrm>
        </p:grpSpPr>
        <p:sp>
          <p:nvSpPr>
            <p:cNvPr id="32" name="Rectangle 15"/>
            <p:cNvSpPr>
              <a:spLocks noChangeArrowheads="1"/>
            </p:cNvSpPr>
            <p:nvPr/>
          </p:nvSpPr>
          <p:spPr bwMode="blackWhite">
            <a:xfrm>
              <a:off x="1104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u="sng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blackWhite">
            <a:xfrm>
              <a:off x="1104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4" name="Rectangle 17"/>
            <p:cNvSpPr>
              <a:spLocks noChangeArrowheads="1"/>
            </p:cNvSpPr>
            <p:nvPr/>
          </p:nvSpPr>
          <p:spPr bwMode="blackWhite">
            <a:xfrm>
              <a:off x="1104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blackWhite">
            <a:xfrm>
              <a:off x="110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8" name="Rectangle 19"/>
          <p:cNvSpPr>
            <a:spLocks noChangeArrowheads="1"/>
          </p:cNvSpPr>
          <p:nvPr/>
        </p:nvSpPr>
        <p:spPr bwMode="blackWhite">
          <a:xfrm>
            <a:off x="3921260" y="1924601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blackWhite">
          <a:xfrm>
            <a:off x="3921260" y="2324651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" name="Rectangle 21"/>
          <p:cNvSpPr>
            <a:spLocks noChangeArrowheads="1"/>
          </p:cNvSpPr>
          <p:nvPr/>
        </p:nvSpPr>
        <p:spPr bwMode="blackWhite">
          <a:xfrm>
            <a:off x="3921260" y="3124752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blackWhite">
          <a:xfrm>
            <a:off x="3921260" y="2724701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 dirty="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grpSp>
        <p:nvGrpSpPr>
          <p:cNvPr id="12" name="Group 23"/>
          <p:cNvGrpSpPr/>
          <p:nvPr/>
        </p:nvGrpSpPr>
        <p:grpSpPr bwMode="auto">
          <a:xfrm>
            <a:off x="8121785" y="1924601"/>
            <a:ext cx="1398636" cy="1520191"/>
            <a:chOff x="3600" y="1344"/>
            <a:chExt cx="672" cy="912"/>
          </a:xfrm>
        </p:grpSpPr>
        <p:sp>
          <p:nvSpPr>
            <p:cNvPr id="28" name="Rectangle 24"/>
            <p:cNvSpPr>
              <a:spLocks noChangeArrowheads="1"/>
            </p:cNvSpPr>
            <p:nvPr/>
          </p:nvSpPr>
          <p:spPr bwMode="blackWhite">
            <a:xfrm>
              <a:off x="3600" y="1344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dirty="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ABCD</a:t>
              </a: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blackWhite">
            <a:xfrm>
              <a:off x="3600" y="1584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blackWhite">
            <a:xfrm>
              <a:off x="3600" y="2064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blackWhite">
            <a:xfrm>
              <a:off x="3600" y="1824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28"/>
          <p:cNvSpPr>
            <a:spLocks noChangeArrowheads="1"/>
          </p:cNvSpPr>
          <p:nvPr/>
        </p:nvSpPr>
        <p:spPr bwMode="blackWhite">
          <a:xfrm>
            <a:off x="8121785" y="4564932"/>
            <a:ext cx="1398636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4" name="Rectangle 29"/>
          <p:cNvSpPr>
            <a:spLocks noChangeArrowheads="1"/>
          </p:cNvSpPr>
          <p:nvPr/>
        </p:nvSpPr>
        <p:spPr bwMode="blackWhite">
          <a:xfrm>
            <a:off x="8121785" y="4964982"/>
            <a:ext cx="1398636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20">
              <a:solidFill>
                <a:prstClr val="white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5" name="Text Box 30"/>
          <p:cNvSpPr txBox="1">
            <a:spLocks noChangeArrowheads="1"/>
          </p:cNvSpPr>
          <p:nvPr/>
        </p:nvSpPr>
        <p:spPr bwMode="blackWhite">
          <a:xfrm>
            <a:off x="8585175" y="4928310"/>
            <a:ext cx="241432" cy="4781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520" b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blackWhite">
          <a:xfrm>
            <a:off x="8123445" y="4848300"/>
            <a:ext cx="797139" cy="4781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 b="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grpSp>
        <p:nvGrpSpPr>
          <p:cNvPr id="17" name="Group 32"/>
          <p:cNvGrpSpPr/>
          <p:nvPr/>
        </p:nvGrpSpPr>
        <p:grpSpPr bwMode="auto">
          <a:xfrm>
            <a:off x="8121785" y="5285029"/>
            <a:ext cx="1398636" cy="478394"/>
            <a:chOff x="3658" y="3355"/>
            <a:chExt cx="672" cy="287"/>
          </a:xfrm>
        </p:grpSpPr>
        <p:sp>
          <p:nvSpPr>
            <p:cNvPr id="26" name="Rectangle 33"/>
            <p:cNvSpPr>
              <a:spLocks noChangeArrowheads="1"/>
            </p:cNvSpPr>
            <p:nvPr/>
          </p:nvSpPr>
          <p:spPr bwMode="blackWhite">
            <a:xfrm>
              <a:off x="3658" y="3402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34"/>
            <p:cNvSpPr txBox="1">
              <a:spLocks noChangeArrowheads="1"/>
            </p:cNvSpPr>
            <p:nvPr/>
          </p:nvSpPr>
          <p:spPr bwMode="blackWhite">
            <a:xfrm>
              <a:off x="3660" y="3355"/>
              <a:ext cx="404" cy="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</a:t>
              </a:r>
            </a:p>
          </p:txBody>
        </p:sp>
      </p:grpSp>
      <p:grpSp>
        <p:nvGrpSpPr>
          <p:cNvPr id="18" name="Group 35"/>
          <p:cNvGrpSpPr/>
          <p:nvPr/>
        </p:nvGrpSpPr>
        <p:grpSpPr bwMode="auto">
          <a:xfrm>
            <a:off x="8121785" y="5685079"/>
            <a:ext cx="1398636" cy="478394"/>
            <a:chOff x="3680" y="3578"/>
            <a:chExt cx="672" cy="287"/>
          </a:xfrm>
        </p:grpSpPr>
        <p:sp>
          <p:nvSpPr>
            <p:cNvPr id="24" name="Rectangle 36"/>
            <p:cNvSpPr>
              <a:spLocks noChangeArrowheads="1"/>
            </p:cNvSpPr>
            <p:nvPr/>
          </p:nvSpPr>
          <p:spPr bwMode="blackWhite">
            <a:xfrm>
              <a:off x="3680" y="3626"/>
              <a:ext cx="67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37"/>
            <p:cNvSpPr txBox="1">
              <a:spLocks noChangeArrowheads="1"/>
            </p:cNvSpPr>
            <p:nvPr/>
          </p:nvSpPr>
          <p:spPr bwMode="blackWhite">
            <a:xfrm>
              <a:off x="3691" y="3578"/>
              <a:ext cx="515" cy="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ABCD</a:t>
              </a:r>
            </a:p>
          </p:txBody>
        </p:sp>
      </p:grpSp>
      <p:grpSp>
        <p:nvGrpSpPr>
          <p:cNvPr id="19" name="Group 38"/>
          <p:cNvGrpSpPr/>
          <p:nvPr/>
        </p:nvGrpSpPr>
        <p:grpSpPr bwMode="auto">
          <a:xfrm>
            <a:off x="5281430" y="2179633"/>
            <a:ext cx="2160270" cy="465059"/>
            <a:chOff x="1872" y="1497"/>
            <a:chExt cx="1296" cy="279"/>
          </a:xfrm>
        </p:grpSpPr>
        <p:sp>
          <p:nvSpPr>
            <p:cNvPr id="22" name="Line 39"/>
            <p:cNvSpPr>
              <a:spLocks noChangeShapeType="1"/>
            </p:cNvSpPr>
            <p:nvPr/>
          </p:nvSpPr>
          <p:spPr bwMode="blackWhite">
            <a:xfrm>
              <a:off x="1872" y="1776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3" name="Text Box 40"/>
            <p:cNvSpPr txBox="1">
              <a:spLocks noChangeArrowheads="1"/>
            </p:cNvSpPr>
            <p:nvPr/>
          </p:nvSpPr>
          <p:spPr bwMode="blackWhite">
            <a:xfrm>
              <a:off x="2222" y="1497"/>
              <a:ext cx="589" cy="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10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</a:t>
              </a: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Line 41"/>
          <p:cNvSpPr>
            <a:spLocks noChangeShapeType="1"/>
          </p:cNvSpPr>
          <p:nvPr/>
        </p:nvSpPr>
        <p:spPr bwMode="blackWhite">
          <a:xfrm>
            <a:off x="5281430" y="5510050"/>
            <a:ext cx="216027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blackWhite">
          <a:xfrm>
            <a:off x="6004853" y="5044992"/>
            <a:ext cx="701040" cy="414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endParaRPr lang="en-US" sz="2520" b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55518" y="1845430"/>
            <a:ext cx="46355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0000"/>
                </a:solidFill>
              </a:rPr>
              <a:t>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9420" y="4878273"/>
            <a:ext cx="46355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0000"/>
                </a:solidFill>
              </a:rPr>
              <a:t>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5518" y="5276124"/>
            <a:ext cx="46355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0000"/>
                </a:solidFill>
              </a:rPr>
              <a:t>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3322" y="5683413"/>
            <a:ext cx="46355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0000"/>
                </a:solidFill>
              </a:rPr>
              <a:t>op</a:t>
            </a:r>
          </a:p>
        </p:txBody>
      </p:sp>
    </p:spTree>
    <p:extLst>
      <p:ext uri="{BB962C8B-B14F-4D97-AF65-F5344CB8AC3E}">
        <p14:creationId xmlns:p14="http://schemas.microsoft.com/office/powerpoint/2010/main" val="923736296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Data Movement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blackWhite">
          <a:xfrm>
            <a:off x="4440555" y="16002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blackWhite">
          <a:xfrm>
            <a:off x="4760595" y="16002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blackWhite">
          <a:xfrm>
            <a:off x="5080635" y="16002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grpSp>
        <p:nvGrpSpPr>
          <p:cNvPr id="8" name="Group 6"/>
          <p:cNvGrpSpPr/>
          <p:nvPr/>
        </p:nvGrpSpPr>
        <p:grpSpPr bwMode="auto">
          <a:xfrm>
            <a:off x="4120515" y="2000250"/>
            <a:ext cx="1280160" cy="320040"/>
            <a:chOff x="1008" y="1344"/>
            <a:chExt cx="768" cy="192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blackWhite">
            <a:xfrm>
              <a:off x="1008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blackWhite">
            <a:xfrm>
              <a:off x="1200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blackWhite">
            <a:xfrm>
              <a:off x="1392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blackWhite">
            <a:xfrm>
              <a:off x="158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13" name="Group 11"/>
          <p:cNvGrpSpPr/>
          <p:nvPr/>
        </p:nvGrpSpPr>
        <p:grpSpPr bwMode="auto">
          <a:xfrm>
            <a:off x="4120515" y="2800350"/>
            <a:ext cx="1280160" cy="320040"/>
            <a:chOff x="1008" y="1344"/>
            <a:chExt cx="768" cy="192"/>
          </a:xfrm>
        </p:grpSpPr>
        <p:sp>
          <p:nvSpPr>
            <p:cNvPr id="14" name="Rectangle 12"/>
            <p:cNvSpPr>
              <a:spLocks noChangeArrowheads="1"/>
            </p:cNvSpPr>
            <p:nvPr/>
          </p:nvSpPr>
          <p:spPr bwMode="blackWhite">
            <a:xfrm>
              <a:off x="1008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blackWhite">
            <a:xfrm>
              <a:off x="1200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blackWhite">
            <a:xfrm>
              <a:off x="1392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blackWhite">
            <a:xfrm>
              <a:off x="158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18" name="Group 16"/>
          <p:cNvGrpSpPr/>
          <p:nvPr/>
        </p:nvGrpSpPr>
        <p:grpSpPr bwMode="auto">
          <a:xfrm>
            <a:off x="4120515" y="2400300"/>
            <a:ext cx="1280160" cy="320040"/>
            <a:chOff x="1008" y="1344"/>
            <a:chExt cx="768" cy="192"/>
          </a:xfrm>
        </p:grpSpPr>
        <p:sp>
          <p:nvSpPr>
            <p:cNvPr id="19" name="Rectangle 17"/>
            <p:cNvSpPr>
              <a:spLocks noChangeArrowheads="1"/>
            </p:cNvSpPr>
            <p:nvPr/>
          </p:nvSpPr>
          <p:spPr bwMode="blackWhite">
            <a:xfrm>
              <a:off x="1008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blackWhite">
            <a:xfrm>
              <a:off x="1200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blackWhite">
            <a:xfrm>
              <a:off x="1392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blackWhite">
            <a:xfrm>
              <a:off x="158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23" name="Group 21"/>
          <p:cNvGrpSpPr/>
          <p:nvPr/>
        </p:nvGrpSpPr>
        <p:grpSpPr bwMode="auto">
          <a:xfrm>
            <a:off x="8121015" y="4240530"/>
            <a:ext cx="1280160" cy="1520190"/>
            <a:chOff x="3456" y="2928"/>
            <a:chExt cx="768" cy="912"/>
          </a:xfrm>
        </p:grpSpPr>
        <p:sp>
          <p:nvSpPr>
            <p:cNvPr id="24" name="Rectangle 22"/>
            <p:cNvSpPr>
              <a:spLocks noChangeArrowheads="1"/>
            </p:cNvSpPr>
            <p:nvPr/>
          </p:nvSpPr>
          <p:spPr bwMode="blackWhite">
            <a:xfrm>
              <a:off x="3456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blackWhite">
            <a:xfrm>
              <a:off x="3648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blackWhite">
            <a:xfrm>
              <a:off x="3840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blackWhite">
            <a:xfrm>
              <a:off x="4032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blackWhite">
            <a:xfrm>
              <a:off x="3456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blackWhite">
            <a:xfrm>
              <a:off x="3648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blackWhite">
            <a:xfrm>
              <a:off x="3840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blackWhite">
            <a:xfrm>
              <a:off x="4032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blackWhite">
            <a:xfrm>
              <a:off x="3456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blackWhite">
            <a:xfrm>
              <a:off x="3648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blackWhite">
            <a:xfrm>
              <a:off x="3840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blackWhite">
            <a:xfrm>
              <a:off x="4032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blackWhite">
            <a:xfrm>
              <a:off x="345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blackWhite">
            <a:xfrm>
              <a:off x="36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blackWhite">
            <a:xfrm>
              <a:off x="38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blackWhite">
            <a:xfrm>
              <a:off x="40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sp>
        <p:nvSpPr>
          <p:cNvPr id="40" name="Rectangle 38"/>
          <p:cNvSpPr>
            <a:spLocks noChangeArrowheads="1"/>
          </p:cNvSpPr>
          <p:nvPr/>
        </p:nvSpPr>
        <p:spPr bwMode="blackWhite">
          <a:xfrm>
            <a:off x="4440555" y="42405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1" name="Rectangle 39"/>
          <p:cNvSpPr>
            <a:spLocks noChangeArrowheads="1"/>
          </p:cNvSpPr>
          <p:nvPr/>
        </p:nvSpPr>
        <p:spPr bwMode="blackWhite">
          <a:xfrm>
            <a:off x="4760595" y="42405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2" name="Rectangle 40"/>
          <p:cNvSpPr>
            <a:spLocks noChangeArrowheads="1"/>
          </p:cNvSpPr>
          <p:nvPr/>
        </p:nvSpPr>
        <p:spPr bwMode="blackWhite">
          <a:xfrm>
            <a:off x="5080635" y="42405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3" name="Rectangle 41"/>
          <p:cNvSpPr>
            <a:spLocks noChangeArrowheads="1"/>
          </p:cNvSpPr>
          <p:nvPr/>
        </p:nvSpPr>
        <p:spPr bwMode="blackWhite">
          <a:xfrm>
            <a:off x="4440555" y="46405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blackWhite">
          <a:xfrm>
            <a:off x="4760595" y="46405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blackWhite">
          <a:xfrm>
            <a:off x="5080635" y="46405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blackWhite">
          <a:xfrm>
            <a:off x="4440555" y="54406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blackWhite">
          <a:xfrm>
            <a:off x="4760595" y="54406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blackWhite">
          <a:xfrm>
            <a:off x="5080635" y="544068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9" name="Rectangle 47"/>
          <p:cNvSpPr>
            <a:spLocks noChangeArrowheads="1"/>
          </p:cNvSpPr>
          <p:nvPr/>
        </p:nvSpPr>
        <p:spPr bwMode="blackWhite">
          <a:xfrm>
            <a:off x="4440555" y="50406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0" name="Rectangle 48"/>
          <p:cNvSpPr>
            <a:spLocks noChangeArrowheads="1"/>
          </p:cNvSpPr>
          <p:nvPr/>
        </p:nvSpPr>
        <p:spPr bwMode="blackWhite">
          <a:xfrm>
            <a:off x="4760595" y="50406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51" name="Rectangle 49"/>
          <p:cNvSpPr>
            <a:spLocks noChangeArrowheads="1"/>
          </p:cNvSpPr>
          <p:nvPr/>
        </p:nvSpPr>
        <p:spPr bwMode="blackWhite">
          <a:xfrm>
            <a:off x="5080635" y="504063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grpSp>
        <p:nvGrpSpPr>
          <p:cNvPr id="52" name="Group 50"/>
          <p:cNvGrpSpPr/>
          <p:nvPr/>
        </p:nvGrpSpPr>
        <p:grpSpPr bwMode="auto">
          <a:xfrm>
            <a:off x="8121015" y="1600200"/>
            <a:ext cx="1280160" cy="1520190"/>
            <a:chOff x="3504" y="1344"/>
            <a:chExt cx="768" cy="912"/>
          </a:xfrm>
        </p:grpSpPr>
        <p:sp>
          <p:nvSpPr>
            <p:cNvPr id="53" name="Rectangle 51"/>
            <p:cNvSpPr>
              <a:spLocks noChangeArrowheads="1"/>
            </p:cNvSpPr>
            <p:nvPr/>
          </p:nvSpPr>
          <p:spPr bwMode="blackWhite">
            <a:xfrm>
              <a:off x="350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blackWhite">
            <a:xfrm>
              <a:off x="3696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blackWhite">
            <a:xfrm>
              <a:off x="3888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blackWhite">
            <a:xfrm>
              <a:off x="4080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blackWhite">
            <a:xfrm>
              <a:off x="3504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blackWhite">
            <a:xfrm>
              <a:off x="3696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blackWhite">
            <a:xfrm>
              <a:off x="3888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blackWhite">
            <a:xfrm>
              <a:off x="4080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blackWhite">
            <a:xfrm>
              <a:off x="3504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blackWhite">
            <a:xfrm>
              <a:off x="3696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blackWhite">
            <a:xfrm>
              <a:off x="3888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blackWhite">
            <a:xfrm>
              <a:off x="4080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blackWhite">
            <a:xfrm>
              <a:off x="3504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blackWhite">
            <a:xfrm>
              <a:off x="3696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blackWhite">
            <a:xfrm>
              <a:off x="3888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blackWhite">
            <a:xfrm>
              <a:off x="4080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sp>
        <p:nvSpPr>
          <p:cNvPr id="69" name="Line 67"/>
          <p:cNvSpPr>
            <a:spLocks noChangeShapeType="1"/>
          </p:cNvSpPr>
          <p:nvPr/>
        </p:nvSpPr>
        <p:spPr bwMode="blackWhite">
          <a:xfrm>
            <a:off x="5960745" y="2240280"/>
            <a:ext cx="176022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0" name="Text Box 68"/>
          <p:cNvSpPr txBox="1">
            <a:spLocks noChangeArrowheads="1"/>
          </p:cNvSpPr>
          <p:nvPr/>
        </p:nvSpPr>
        <p:spPr bwMode="blackWhite">
          <a:xfrm>
            <a:off x="6264116" y="1855232"/>
            <a:ext cx="1248410" cy="414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endParaRPr lang="en-US" sz="2520" b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blackWhite">
          <a:xfrm>
            <a:off x="6040755" y="4560570"/>
            <a:ext cx="168021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blackWhite">
          <a:xfrm>
            <a:off x="6040755" y="5520690"/>
            <a:ext cx="168021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blackWhite">
          <a:xfrm>
            <a:off x="6344126" y="4175522"/>
            <a:ext cx="923290" cy="414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endParaRPr lang="en-US" sz="2520" b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Box 72"/>
          <p:cNvSpPr txBox="1">
            <a:spLocks noChangeArrowheads="1"/>
          </p:cNvSpPr>
          <p:nvPr/>
        </p:nvSpPr>
        <p:spPr bwMode="blackWhite">
          <a:xfrm>
            <a:off x="6360795" y="5120640"/>
            <a:ext cx="908050" cy="414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</a:t>
            </a:r>
            <a:endParaRPr lang="en-US" sz="2520" b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" name="Group 73"/>
          <p:cNvGrpSpPr/>
          <p:nvPr/>
        </p:nvGrpSpPr>
        <p:grpSpPr bwMode="auto">
          <a:xfrm>
            <a:off x="3440430" y="1600200"/>
            <a:ext cx="1000125" cy="4160520"/>
            <a:chOff x="696" y="1344"/>
            <a:chExt cx="600" cy="2496"/>
          </a:xfrm>
        </p:grpSpPr>
        <p:sp>
          <p:nvSpPr>
            <p:cNvPr id="76" name="Rectangle 74"/>
            <p:cNvSpPr>
              <a:spLocks noChangeArrowheads="1"/>
            </p:cNvSpPr>
            <p:nvPr/>
          </p:nvSpPr>
          <p:spPr bwMode="blackWhite">
            <a:xfrm>
              <a:off x="110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blackWhite">
            <a:xfrm>
              <a:off x="1104" y="292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blackWhite">
            <a:xfrm>
              <a:off x="1104" y="316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blackWhite">
            <a:xfrm>
              <a:off x="1104" y="364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blackWhite">
            <a:xfrm>
              <a:off x="110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grpSp>
          <p:nvGrpSpPr>
            <p:cNvPr id="81" name="Group 79"/>
            <p:cNvGrpSpPr/>
            <p:nvPr/>
          </p:nvGrpSpPr>
          <p:grpSpPr bwMode="auto">
            <a:xfrm>
              <a:off x="696" y="1344"/>
              <a:ext cx="262" cy="929"/>
              <a:chOff x="566" y="1320"/>
              <a:chExt cx="262" cy="929"/>
            </a:xfrm>
          </p:grpSpPr>
          <p:sp>
            <p:nvSpPr>
              <p:cNvPr id="87" name="Text Box 80"/>
              <p:cNvSpPr txBox="1">
                <a:spLocks noChangeArrowheads="1"/>
              </p:cNvSpPr>
              <p:nvPr/>
            </p:nvSpPr>
            <p:spPr bwMode="blackWhite">
              <a:xfrm>
                <a:off x="566" y="13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88" name="Text Box 81"/>
              <p:cNvSpPr txBox="1">
                <a:spLocks noChangeArrowheads="1"/>
              </p:cNvSpPr>
              <p:nvPr/>
            </p:nvSpPr>
            <p:spPr bwMode="blackWhite">
              <a:xfrm>
                <a:off x="566" y="154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89" name="Text Box 82"/>
              <p:cNvSpPr txBox="1">
                <a:spLocks noChangeArrowheads="1"/>
              </p:cNvSpPr>
              <p:nvPr/>
            </p:nvSpPr>
            <p:spPr bwMode="blackWhite">
              <a:xfrm>
                <a:off x="566" y="178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90" name="Text Box 83"/>
              <p:cNvSpPr txBox="1">
                <a:spLocks noChangeArrowheads="1"/>
              </p:cNvSpPr>
              <p:nvPr/>
            </p:nvSpPr>
            <p:spPr bwMode="blackWhite">
              <a:xfrm>
                <a:off x="566" y="20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P3</a:t>
                </a:r>
              </a:p>
            </p:txBody>
          </p:sp>
        </p:grpSp>
        <p:grpSp>
          <p:nvGrpSpPr>
            <p:cNvPr id="82" name="Group 84"/>
            <p:cNvGrpSpPr/>
            <p:nvPr/>
          </p:nvGrpSpPr>
          <p:grpSpPr bwMode="auto">
            <a:xfrm>
              <a:off x="696" y="2880"/>
              <a:ext cx="262" cy="929"/>
              <a:chOff x="566" y="1320"/>
              <a:chExt cx="262" cy="929"/>
            </a:xfrm>
          </p:grpSpPr>
          <p:sp>
            <p:nvSpPr>
              <p:cNvPr id="83" name="Text Box 85"/>
              <p:cNvSpPr txBox="1">
                <a:spLocks noChangeArrowheads="1"/>
              </p:cNvSpPr>
              <p:nvPr/>
            </p:nvSpPr>
            <p:spPr bwMode="blackWhite">
              <a:xfrm>
                <a:off x="566" y="13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84" name="Text Box 86"/>
              <p:cNvSpPr txBox="1">
                <a:spLocks noChangeArrowheads="1"/>
              </p:cNvSpPr>
              <p:nvPr/>
            </p:nvSpPr>
            <p:spPr bwMode="blackWhite">
              <a:xfrm>
                <a:off x="566" y="154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85" name="Text Box 87"/>
              <p:cNvSpPr txBox="1">
                <a:spLocks noChangeArrowheads="1"/>
              </p:cNvSpPr>
              <p:nvPr/>
            </p:nvSpPr>
            <p:spPr bwMode="blackWhite">
              <a:xfrm>
                <a:off x="566" y="178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86" name="Text Box 88"/>
              <p:cNvSpPr txBox="1">
                <a:spLocks noChangeArrowheads="1"/>
              </p:cNvSpPr>
              <p:nvPr/>
            </p:nvSpPr>
            <p:spPr bwMode="blackWhite">
              <a:xfrm>
                <a:off x="566" y="20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1190787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Data Movement</a:t>
            </a:r>
          </a:p>
        </p:txBody>
      </p:sp>
      <p:grpSp>
        <p:nvGrpSpPr>
          <p:cNvPr id="4" name="Group 3"/>
          <p:cNvGrpSpPr/>
          <p:nvPr/>
        </p:nvGrpSpPr>
        <p:grpSpPr bwMode="auto">
          <a:xfrm>
            <a:off x="3737134" y="1949602"/>
            <a:ext cx="1280160" cy="320040"/>
            <a:chOff x="1104" y="1344"/>
            <a:chExt cx="768" cy="19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blackWhite">
            <a:xfrm>
              <a:off x="1104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blackWhite">
            <a:xfrm>
              <a:off x="1296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blackWhite">
            <a:xfrm>
              <a:off x="1488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blackWhite">
            <a:xfrm>
              <a:off x="1680" y="134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9" name="Group 8"/>
          <p:cNvGrpSpPr/>
          <p:nvPr/>
        </p:nvGrpSpPr>
        <p:grpSpPr bwMode="auto">
          <a:xfrm>
            <a:off x="3737134" y="2316315"/>
            <a:ext cx="1280160" cy="320040"/>
            <a:chOff x="1104" y="1584"/>
            <a:chExt cx="768" cy="192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blackWhite">
            <a:xfrm>
              <a:off x="1104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blackWhite">
            <a:xfrm>
              <a:off x="1296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blackWhite">
            <a:xfrm>
              <a:off x="1488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blackWhite">
            <a:xfrm>
              <a:off x="1680" y="158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14" name="Group 13"/>
          <p:cNvGrpSpPr/>
          <p:nvPr/>
        </p:nvGrpSpPr>
        <p:grpSpPr bwMode="auto">
          <a:xfrm>
            <a:off x="3737134" y="3116415"/>
            <a:ext cx="1280160" cy="320040"/>
            <a:chOff x="1104" y="2064"/>
            <a:chExt cx="768" cy="192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blackWhite">
            <a:xfrm>
              <a:off x="1104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blackWhite">
            <a:xfrm>
              <a:off x="1296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blackWhite">
            <a:xfrm>
              <a:off x="1488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blackWhite">
            <a:xfrm>
              <a:off x="1680" y="206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19" name="Group 18"/>
          <p:cNvGrpSpPr/>
          <p:nvPr/>
        </p:nvGrpSpPr>
        <p:grpSpPr bwMode="auto">
          <a:xfrm>
            <a:off x="3737134" y="2716365"/>
            <a:ext cx="1280160" cy="320040"/>
            <a:chOff x="1104" y="1824"/>
            <a:chExt cx="768" cy="192"/>
          </a:xfrm>
        </p:grpSpPr>
        <p:sp>
          <p:nvSpPr>
            <p:cNvPr id="20" name="Rectangle 19"/>
            <p:cNvSpPr>
              <a:spLocks noChangeArrowheads="1"/>
            </p:cNvSpPr>
            <p:nvPr/>
          </p:nvSpPr>
          <p:spPr bwMode="blackWhite">
            <a:xfrm>
              <a:off x="1104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white"/>
                  </a:solidFill>
                  <a:latin typeface="Times New Roman" panose="02020603050405020304" pitchFamily="18" charset="0"/>
                  <a:ea typeface="MS PGothic" panose="020B0600070205080204" pitchFamily="34" charset="-128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blackWhite">
            <a:xfrm>
              <a:off x="1296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blackWhite">
            <a:xfrm>
              <a:off x="1488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blackWhite">
            <a:xfrm>
              <a:off x="1680" y="182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sp>
        <p:nvSpPr>
          <p:cNvPr id="24" name="Rectangle 23"/>
          <p:cNvSpPr>
            <a:spLocks noChangeArrowheads="1"/>
          </p:cNvSpPr>
          <p:nvPr/>
        </p:nvSpPr>
        <p:spPr bwMode="blackWhite">
          <a:xfrm>
            <a:off x="773763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A0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blackWhite">
          <a:xfrm>
            <a:off x="805767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B0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blackWhite">
          <a:xfrm>
            <a:off x="837771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C0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blackWhite">
          <a:xfrm>
            <a:off x="869775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D0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blackWhite">
          <a:xfrm>
            <a:off x="773763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blackWhite">
          <a:xfrm>
            <a:off x="805767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blackWhite">
          <a:xfrm>
            <a:off x="837771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blackWhite">
          <a:xfrm>
            <a:off x="869775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D1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blackWhite">
          <a:xfrm>
            <a:off x="773763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blackWhite">
          <a:xfrm>
            <a:off x="805767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blackWhite">
          <a:xfrm>
            <a:off x="837771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C3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blackWhite">
          <a:xfrm>
            <a:off x="869775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D3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blackWhite">
          <a:xfrm>
            <a:off x="773763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blackWhite">
          <a:xfrm>
            <a:off x="805767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blackWhite">
          <a:xfrm>
            <a:off x="837771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C2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blackWhite">
          <a:xfrm>
            <a:off x="869775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blackWhite">
          <a:xfrm>
            <a:off x="373713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A0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blackWhite">
          <a:xfrm>
            <a:off x="405717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blackWhite">
          <a:xfrm>
            <a:off x="437721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blackWhite">
          <a:xfrm>
            <a:off x="4697254" y="45966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blackWhite">
          <a:xfrm>
            <a:off x="373713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B0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blackWhite">
          <a:xfrm>
            <a:off x="405717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blackWhite">
          <a:xfrm>
            <a:off x="437721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blackWhite">
          <a:xfrm>
            <a:off x="4697254" y="49966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blackWhite">
          <a:xfrm>
            <a:off x="373713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D0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blackWhite">
          <a:xfrm>
            <a:off x="405717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D1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blackWhite">
          <a:xfrm>
            <a:off x="437721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blackWhite">
          <a:xfrm>
            <a:off x="4697254" y="579675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D3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blackWhite">
          <a:xfrm>
            <a:off x="373713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C0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blackWhite">
          <a:xfrm>
            <a:off x="405717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blackWhite">
          <a:xfrm>
            <a:off x="437721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C2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blackWhite">
          <a:xfrm>
            <a:off x="4697254" y="539670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9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C3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blackWhite">
          <a:xfrm>
            <a:off x="7737634" y="19562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blackWhite">
          <a:xfrm>
            <a:off x="8057674" y="19562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blackWhite">
          <a:xfrm>
            <a:off x="8377714" y="19562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blackWhite">
          <a:xfrm>
            <a:off x="8697754" y="19562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blackWhite">
          <a:xfrm>
            <a:off x="7737634" y="23563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blackWhite">
          <a:xfrm>
            <a:off x="8057674" y="23563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blackWhite">
          <a:xfrm>
            <a:off x="8377714" y="23563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blackWhite">
          <a:xfrm>
            <a:off x="8697754" y="23563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blackWhite">
          <a:xfrm>
            <a:off x="7737634" y="31564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blackWhite">
          <a:xfrm>
            <a:off x="8057674" y="31564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blackWhite">
          <a:xfrm>
            <a:off x="8377714" y="31564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blackWhite">
          <a:xfrm>
            <a:off x="8697754" y="315642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blackWhite">
          <a:xfrm>
            <a:off x="7737634" y="27563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blackWhite">
          <a:xfrm>
            <a:off x="8057674" y="27563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blackWhite">
          <a:xfrm>
            <a:off x="8377714" y="27563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blackWhite">
          <a:xfrm>
            <a:off x="8697754" y="275637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20">
                <a:solidFill>
                  <a:prstClr val="white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2" name="Line 71"/>
          <p:cNvSpPr>
            <a:spLocks noChangeShapeType="1"/>
          </p:cNvSpPr>
          <p:nvPr/>
        </p:nvSpPr>
        <p:spPr bwMode="blackWhite">
          <a:xfrm>
            <a:off x="5577364" y="2596350"/>
            <a:ext cx="176022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90">
              <a:solidFill>
                <a:prstClr val="black"/>
              </a:solidFill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73" name="Text Box 72"/>
          <p:cNvSpPr txBox="1">
            <a:spLocks noChangeArrowheads="1"/>
          </p:cNvSpPr>
          <p:nvPr/>
        </p:nvSpPr>
        <p:spPr bwMode="blackWhite">
          <a:xfrm>
            <a:off x="5880735" y="2211301"/>
            <a:ext cx="1189990" cy="414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Allgather</a:t>
            </a:r>
            <a:endParaRPr lang="en-US" sz="252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" name="Group 73"/>
          <p:cNvGrpSpPr/>
          <p:nvPr/>
        </p:nvGrpSpPr>
        <p:grpSpPr bwMode="auto">
          <a:xfrm>
            <a:off x="5417344" y="5175336"/>
            <a:ext cx="1680210" cy="414020"/>
            <a:chOff x="2256" y="2889"/>
            <a:chExt cx="1008" cy="394305"/>
          </a:xfrm>
        </p:grpSpPr>
        <p:sp>
          <p:nvSpPr>
            <p:cNvPr id="75" name="Line 74"/>
            <p:cNvSpPr>
              <a:spLocks noChangeShapeType="1"/>
            </p:cNvSpPr>
            <p:nvPr/>
          </p:nvSpPr>
          <p:spPr bwMode="blackWhite">
            <a:xfrm>
              <a:off x="2256" y="312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  <p:sp>
          <p:nvSpPr>
            <p:cNvPr id="76" name="Text Box 75"/>
            <p:cNvSpPr txBox="1">
              <a:spLocks noChangeArrowheads="1"/>
            </p:cNvSpPr>
            <p:nvPr/>
          </p:nvSpPr>
          <p:spPr bwMode="blackWhite">
            <a:xfrm>
              <a:off x="2438" y="2889"/>
              <a:ext cx="599" cy="394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10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Alltoall</a:t>
              </a: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 bwMode="auto">
          <a:xfrm>
            <a:off x="3057049" y="1956270"/>
            <a:ext cx="436721" cy="4108845"/>
            <a:chOff x="696" y="1344"/>
            <a:chExt cx="262" cy="2465"/>
          </a:xfrm>
        </p:grpSpPr>
        <p:grpSp>
          <p:nvGrpSpPr>
            <p:cNvPr id="78" name="Group 77"/>
            <p:cNvGrpSpPr/>
            <p:nvPr/>
          </p:nvGrpSpPr>
          <p:grpSpPr bwMode="auto">
            <a:xfrm>
              <a:off x="696" y="1344"/>
              <a:ext cx="262" cy="929"/>
              <a:chOff x="566" y="1320"/>
              <a:chExt cx="262" cy="929"/>
            </a:xfrm>
          </p:grpSpPr>
          <p:sp>
            <p:nvSpPr>
              <p:cNvPr id="84" name="Text Box 78"/>
              <p:cNvSpPr txBox="1">
                <a:spLocks noChangeArrowheads="1"/>
              </p:cNvSpPr>
              <p:nvPr/>
            </p:nvSpPr>
            <p:spPr bwMode="auto">
              <a:xfrm>
                <a:off x="566" y="13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85" name="Text Box 79"/>
              <p:cNvSpPr txBox="1">
                <a:spLocks noChangeArrowheads="1"/>
              </p:cNvSpPr>
              <p:nvPr/>
            </p:nvSpPr>
            <p:spPr bwMode="auto">
              <a:xfrm>
                <a:off x="566" y="154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86" name="Text Box 80"/>
              <p:cNvSpPr txBox="1">
                <a:spLocks noChangeArrowheads="1"/>
              </p:cNvSpPr>
              <p:nvPr/>
            </p:nvSpPr>
            <p:spPr bwMode="auto">
              <a:xfrm>
                <a:off x="566" y="178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87" name="Text Box 81"/>
              <p:cNvSpPr txBox="1">
                <a:spLocks noChangeArrowheads="1"/>
              </p:cNvSpPr>
              <p:nvPr/>
            </p:nvSpPr>
            <p:spPr bwMode="auto">
              <a:xfrm>
                <a:off x="566" y="20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P3</a:t>
                </a:r>
              </a:p>
            </p:txBody>
          </p:sp>
        </p:grpSp>
        <p:grpSp>
          <p:nvGrpSpPr>
            <p:cNvPr id="79" name="Group 82"/>
            <p:cNvGrpSpPr/>
            <p:nvPr/>
          </p:nvGrpSpPr>
          <p:grpSpPr bwMode="auto">
            <a:xfrm>
              <a:off x="696" y="2880"/>
              <a:ext cx="262" cy="929"/>
              <a:chOff x="566" y="1320"/>
              <a:chExt cx="262" cy="929"/>
            </a:xfrm>
          </p:grpSpPr>
          <p:sp>
            <p:nvSpPr>
              <p:cNvPr id="80" name="Text Box 83"/>
              <p:cNvSpPr txBox="1">
                <a:spLocks noChangeArrowheads="1"/>
              </p:cNvSpPr>
              <p:nvPr/>
            </p:nvSpPr>
            <p:spPr bwMode="auto">
              <a:xfrm>
                <a:off x="566" y="13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81" name="Text Box 84"/>
              <p:cNvSpPr txBox="1">
                <a:spLocks noChangeArrowheads="1"/>
              </p:cNvSpPr>
              <p:nvPr/>
            </p:nvSpPr>
            <p:spPr bwMode="auto">
              <a:xfrm>
                <a:off x="566" y="154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82" name="Text Box 85"/>
              <p:cNvSpPr txBox="1">
                <a:spLocks noChangeArrowheads="1"/>
              </p:cNvSpPr>
              <p:nvPr/>
            </p:nvSpPr>
            <p:spPr bwMode="auto">
              <a:xfrm>
                <a:off x="566" y="178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83" name="Text Box 86"/>
              <p:cNvSpPr txBox="1">
                <a:spLocks noChangeArrowheads="1"/>
              </p:cNvSpPr>
              <p:nvPr/>
            </p:nvSpPr>
            <p:spPr bwMode="auto">
              <a:xfrm>
                <a:off x="566" y="2020"/>
                <a:ext cx="262" cy="2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90" b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8368065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Broadcast</a:t>
            </a:r>
          </a:p>
        </p:txBody>
      </p:sp>
      <p:sp>
        <p:nvSpPr>
          <p:cNvPr id="78850" name="Content Placeholder 3"/>
          <p:cNvSpPr>
            <a:spLocks noGrp="1"/>
          </p:cNvSpPr>
          <p:nvPr>
            <p:ph idx="4294967295"/>
          </p:nvPr>
        </p:nvSpPr>
        <p:spPr>
          <a:xfrm>
            <a:off x="1216660" y="1098550"/>
            <a:ext cx="10435590" cy="1985645"/>
          </a:xfrm>
        </p:spPr>
        <p:txBody>
          <a:bodyPr/>
          <a:lstStyle/>
          <a:p>
            <a:r>
              <a:rPr lang="en-US" altLang="en-US" b="0"/>
              <a:t>Data belonging to a single process is sent to all of the processes in the communicator.</a:t>
            </a:r>
          </a:p>
        </p:txBody>
      </p:sp>
      <p:sp>
        <p:nvSpPr>
          <p:cNvPr id="78851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88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3298746"/>
            <a:ext cx="8226029" cy="211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3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9874" name="Picture 2" descr="f03-10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42" y="1181815"/>
            <a:ext cx="7560945" cy="5187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42335" y="1331834"/>
            <a:ext cx="323215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A tree-structured broadcast.</a:t>
            </a:r>
          </a:p>
        </p:txBody>
      </p:sp>
      <p:pic>
        <p:nvPicPr>
          <p:cNvPr id="79876" name="Picture 2" descr="conservation,cropped images,cropped pictures,growing,nature,plants,PNG,transparent background,trees,woo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816" y="273368"/>
            <a:ext cx="1786890" cy="1786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ACBA-629C-E34C-A112-074FE9CB8E66}"/>
              </a:ext>
            </a:extLst>
          </p:cNvPr>
          <p:cNvSpPr txBox="1"/>
          <p:nvPr/>
        </p:nvSpPr>
        <p:spPr>
          <a:xfrm>
            <a:off x="1216224" y="5112618"/>
            <a:ext cx="1053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</a:t>
            </a:r>
            <a:r>
              <a:rPr lang="en-CN" sz="2400" dirty="0"/>
              <a:t>ata</a:t>
            </a:r>
            <a:r>
              <a:rPr lang="en-US" altLang="zh-CN" sz="2400" dirty="0"/>
              <a:t>_p</a:t>
            </a:r>
            <a:endParaRPr lang="en-CN" sz="2400" dirty="0"/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>
          <a:xfrm>
            <a:off x="1144270" y="359809"/>
            <a:ext cx="10762906" cy="792000"/>
          </a:xfrm>
        </p:spPr>
        <p:txBody>
          <a:bodyPr/>
          <a:lstStyle/>
          <a:p>
            <a:r>
              <a:rPr lang="en-US" altLang="en-US"/>
              <a:t>A version of Get_input that uses MPI_Bcast</a:t>
            </a:r>
          </a:p>
        </p:txBody>
      </p:sp>
      <p:sp>
        <p:nvSpPr>
          <p:cNvPr id="8089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08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023" y="1635205"/>
            <a:ext cx="7520940" cy="4468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</p:nvPr>
        </p:nvSpPr>
        <p:spPr>
          <a:xfrm>
            <a:off x="666803" y="259319"/>
            <a:ext cx="10762906" cy="792000"/>
          </a:xfrm>
        </p:spPr>
        <p:txBody>
          <a:bodyPr/>
          <a:lstStyle/>
          <a:p>
            <a:r>
              <a:rPr lang="en-US" altLang="en-US" dirty="0"/>
              <a:t>Data distributions (Data level parallelism)</a:t>
            </a:r>
          </a:p>
        </p:txBody>
      </p:sp>
      <p:sp>
        <p:nvSpPr>
          <p:cNvPr id="8192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19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28" y="1785224"/>
            <a:ext cx="6855857" cy="219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02505" y="4733925"/>
            <a:ext cx="2667000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Compute a vector sum.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Serial implementation of vector addition</a:t>
            </a:r>
          </a:p>
        </p:txBody>
      </p:sp>
      <p:sp>
        <p:nvSpPr>
          <p:cNvPr id="8294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29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2088595"/>
            <a:ext cx="8571071" cy="1890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>
          <a:xfrm>
            <a:off x="712470" y="503954"/>
            <a:ext cx="10762906" cy="792000"/>
          </a:xfrm>
        </p:spPr>
        <p:txBody>
          <a:bodyPr/>
          <a:lstStyle/>
          <a:p>
            <a:r>
              <a:rPr lang="en-US" altLang="en-US"/>
              <a:t>Different partitions of a 12-component vector among 3 processes</a:t>
            </a:r>
          </a:p>
        </p:txBody>
      </p:sp>
      <p:sp>
        <p:nvSpPr>
          <p:cNvPr id="8397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39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05" y="2274259"/>
            <a:ext cx="8794433" cy="27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Partitioning options</a:t>
            </a:r>
          </a:p>
        </p:txBody>
      </p:sp>
      <p:sp>
        <p:nvSpPr>
          <p:cNvPr id="84994" name="Content Placeholder 2"/>
          <p:cNvSpPr>
            <a:spLocks noGrp="1"/>
          </p:cNvSpPr>
          <p:nvPr>
            <p:ph idx="4294967295"/>
          </p:nvPr>
        </p:nvSpPr>
        <p:spPr>
          <a:xfrm>
            <a:off x="784225" y="1440180"/>
            <a:ext cx="11041380" cy="4712970"/>
          </a:xfrm>
        </p:spPr>
        <p:txBody>
          <a:bodyPr/>
          <a:lstStyle/>
          <a:p>
            <a:r>
              <a:rPr lang="en-US" altLang="en-US" b="0" dirty="0"/>
              <a:t>Block partitioning</a:t>
            </a:r>
          </a:p>
          <a:p>
            <a:pPr lvl="1"/>
            <a:r>
              <a:rPr lang="en-US" altLang="en-US" b="0" dirty="0"/>
              <a:t>Assign blocks of consecutive components to each process.</a:t>
            </a:r>
          </a:p>
          <a:p>
            <a:r>
              <a:rPr lang="en-US" altLang="en-US" b="0" dirty="0"/>
              <a:t>Cyclic partitioning</a:t>
            </a:r>
          </a:p>
          <a:p>
            <a:pPr lvl="1"/>
            <a:r>
              <a:rPr lang="en-US" altLang="en-US" b="0" dirty="0"/>
              <a:t>Assign components in a round robin fashion </a:t>
            </a:r>
          </a:p>
          <a:p>
            <a:r>
              <a:rPr lang="en-US" altLang="en-US" b="0" dirty="0"/>
              <a:t>Block-cyclic partitioning</a:t>
            </a:r>
          </a:p>
          <a:p>
            <a:pPr lvl="1"/>
            <a:r>
              <a:rPr lang="en-US" altLang="en-US" b="0" dirty="0"/>
              <a:t>Use a cyclic distribution of blocks of components.</a:t>
            </a:r>
          </a:p>
        </p:txBody>
      </p:sp>
      <p:sp>
        <p:nvSpPr>
          <p:cNvPr id="8499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/>
          <p:cNvSpPr>
            <a:spLocks noGrp="1"/>
          </p:cNvSpPr>
          <p:nvPr>
            <p:ph type="title"/>
          </p:nvPr>
        </p:nvSpPr>
        <p:spPr>
          <a:xfrm>
            <a:off x="640715" y="432199"/>
            <a:ext cx="10762906" cy="792000"/>
          </a:xfrm>
        </p:spPr>
        <p:txBody>
          <a:bodyPr/>
          <a:lstStyle/>
          <a:p>
            <a:r>
              <a:rPr lang="en-US" altLang="en-US"/>
              <a:t>Parallel implementation of </a:t>
            </a:r>
            <a:br>
              <a:rPr lang="en-US" altLang="en-US"/>
            </a:br>
            <a:r>
              <a:rPr lang="en-US" altLang="en-US"/>
              <a:t>vector addition</a:t>
            </a:r>
          </a:p>
        </p:txBody>
      </p:sp>
      <p:sp>
        <p:nvSpPr>
          <p:cNvPr id="8601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60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947" y="1861900"/>
            <a:ext cx="8387715" cy="28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970227" y="2557244"/>
            <a:ext cx="1303020" cy="542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940" dirty="0"/>
              <a:t>伪代码</a:t>
            </a:r>
            <a:endParaRPr lang="en-US" sz="2940" dirty="0"/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Scatter</a:t>
            </a:r>
          </a:p>
        </p:txBody>
      </p:sp>
      <p:sp>
        <p:nvSpPr>
          <p:cNvPr id="87042" name="Content Placeholder 3"/>
          <p:cNvSpPr>
            <a:spLocks noGrp="1"/>
          </p:cNvSpPr>
          <p:nvPr>
            <p:ph idx="4294967295"/>
          </p:nvPr>
        </p:nvSpPr>
        <p:spPr>
          <a:xfrm>
            <a:off x="1216660" y="1007745"/>
            <a:ext cx="9980930" cy="2225040"/>
          </a:xfrm>
        </p:spPr>
        <p:txBody>
          <a:bodyPr/>
          <a:lstStyle/>
          <a:p>
            <a:r>
              <a:rPr lang="en-US" altLang="en-US" b="0"/>
              <a:t>MPI_Scatter can be used in a function that reads in an entire vector on process 0 but only sends the needed components to each of the other processes.</a:t>
            </a:r>
          </a:p>
        </p:txBody>
      </p:sp>
      <p:sp>
        <p:nvSpPr>
          <p:cNvPr id="87043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70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930" y="3525520"/>
            <a:ext cx="586168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Reading and distributing a vector</a:t>
            </a:r>
          </a:p>
        </p:txBody>
      </p:sp>
      <p:sp>
        <p:nvSpPr>
          <p:cNvPr id="8806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80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357" y="1415177"/>
            <a:ext cx="7787640" cy="5450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420553" y="4994470"/>
            <a:ext cx="1269389" cy="304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矩形 5"/>
          <p:cNvSpPr/>
          <p:nvPr/>
        </p:nvSpPr>
        <p:spPr>
          <a:xfrm>
            <a:off x="4420553" y="5875510"/>
            <a:ext cx="1269389" cy="304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Gather</a:t>
            </a:r>
          </a:p>
        </p:txBody>
      </p:sp>
      <p:sp>
        <p:nvSpPr>
          <p:cNvPr id="89090" name="Content Placeholder 3"/>
          <p:cNvSpPr>
            <a:spLocks noGrp="1"/>
          </p:cNvSpPr>
          <p:nvPr>
            <p:ph idx="4294967295"/>
          </p:nvPr>
        </p:nvSpPr>
        <p:spPr>
          <a:xfrm>
            <a:off x="1720850" y="1007745"/>
            <a:ext cx="9960610" cy="2194560"/>
          </a:xfrm>
        </p:spPr>
        <p:txBody>
          <a:bodyPr/>
          <a:lstStyle/>
          <a:p>
            <a:r>
              <a:rPr lang="en-US" altLang="en-US" b="0"/>
              <a:t>Collect all of the components of the vector onto process 0, and then process 0 can process all of the components.</a:t>
            </a:r>
          </a:p>
        </p:txBody>
      </p:sp>
      <p:sp>
        <p:nvSpPr>
          <p:cNvPr id="89091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90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718" y="2995375"/>
            <a:ext cx="6627495" cy="298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Print a distributed vector (1)</a:t>
            </a:r>
          </a:p>
        </p:txBody>
      </p:sp>
      <p:sp>
        <p:nvSpPr>
          <p:cNvPr id="9011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795" y="1403985"/>
            <a:ext cx="8436610" cy="439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Print a distributed vector (2)</a:t>
            </a:r>
          </a:p>
        </p:txBody>
      </p:sp>
      <p:sp>
        <p:nvSpPr>
          <p:cNvPr id="9113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11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248" y="1760220"/>
            <a:ext cx="8839439" cy="368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7799438" y="4363365"/>
            <a:ext cx="1481722" cy="304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D1BE32-BBC0-4AAB-9DA3-0103F328C179}"/>
              </a:ext>
            </a:extLst>
          </p:cNvPr>
          <p:cNvSpPr/>
          <p:nvPr/>
        </p:nvSpPr>
        <p:spPr>
          <a:xfrm>
            <a:off x="2728392" y="2016274"/>
            <a:ext cx="3816424" cy="304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Allgather</a:t>
            </a:r>
          </a:p>
        </p:txBody>
      </p:sp>
      <p:sp>
        <p:nvSpPr>
          <p:cNvPr id="92162" name="Content Placeholder 3"/>
          <p:cNvSpPr>
            <a:spLocks noGrp="1"/>
          </p:cNvSpPr>
          <p:nvPr>
            <p:ph idx="4294967295"/>
          </p:nvPr>
        </p:nvSpPr>
        <p:spPr>
          <a:xfrm>
            <a:off x="1792605" y="1151890"/>
            <a:ext cx="9676130" cy="2236470"/>
          </a:xfrm>
        </p:spPr>
        <p:txBody>
          <a:bodyPr>
            <a:normAutofit fontScale="87500" lnSpcReduction="10000"/>
          </a:bodyPr>
          <a:lstStyle/>
          <a:p>
            <a:r>
              <a:rPr lang="en-US" altLang="en-US" dirty="0"/>
              <a:t>Concatenates the contents of each process’</a:t>
            </a:r>
            <a:r>
              <a:rPr lang="en-US" altLang="ja-JP" dirty="0"/>
              <a:t> </a:t>
            </a:r>
            <a:r>
              <a:rPr lang="en-US" altLang="ja-JP" dirty="0" err="1">
                <a:solidFill>
                  <a:srgbClr val="0066FF"/>
                </a:solidFill>
              </a:rPr>
              <a:t>send_buf_p</a:t>
            </a:r>
            <a:r>
              <a:rPr lang="en-US" altLang="ja-JP" dirty="0"/>
              <a:t> and stores this in each process’</a:t>
            </a:r>
            <a:r>
              <a:rPr lang="ja-JP" altLang="en-US" dirty="0"/>
              <a:t> </a:t>
            </a:r>
            <a:r>
              <a:rPr lang="en-US" altLang="ja-JP" dirty="0" err="1">
                <a:solidFill>
                  <a:srgbClr val="0066FF"/>
                </a:solidFill>
              </a:rPr>
              <a:t>recv_buf_p</a:t>
            </a:r>
            <a:r>
              <a:rPr lang="en-US" altLang="ja-JP" dirty="0"/>
              <a:t>. </a:t>
            </a:r>
          </a:p>
          <a:p>
            <a:r>
              <a:rPr lang="en-US" altLang="en-US" dirty="0"/>
              <a:t>As usual, </a:t>
            </a:r>
            <a:r>
              <a:rPr lang="en-US" altLang="en-US" dirty="0" err="1">
                <a:solidFill>
                  <a:srgbClr val="0066FF"/>
                </a:solidFill>
              </a:rPr>
              <a:t>recv_count</a:t>
            </a:r>
            <a:r>
              <a:rPr lang="en-US" altLang="en-US" dirty="0"/>
              <a:t> is the amount of data being received from each process.</a:t>
            </a:r>
          </a:p>
        </p:txBody>
      </p:sp>
      <p:sp>
        <p:nvSpPr>
          <p:cNvPr id="92163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21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404" y="3978831"/>
            <a:ext cx="5857399" cy="235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AllGather</a:t>
            </a:r>
            <a:endParaRPr lang="en-US" dirty="0"/>
          </a:p>
        </p:txBody>
      </p:sp>
      <p:grpSp>
        <p:nvGrpSpPr>
          <p:cNvPr id="4" name="Group 26"/>
          <p:cNvGrpSpPr/>
          <p:nvPr/>
        </p:nvGrpSpPr>
        <p:grpSpPr bwMode="auto">
          <a:xfrm>
            <a:off x="1673687" y="1640956"/>
            <a:ext cx="3680460" cy="560070"/>
            <a:chOff x="1056" y="2688"/>
            <a:chExt cx="2208" cy="336"/>
          </a:xfrm>
        </p:grpSpPr>
        <p:sp>
          <p:nvSpPr>
            <p:cNvPr id="5" name="AutoShape 27"/>
            <p:cNvSpPr>
              <a:spLocks noChangeArrowheads="1"/>
            </p:cNvSpPr>
            <p:nvPr/>
          </p:nvSpPr>
          <p:spPr bwMode="auto">
            <a:xfrm>
              <a:off x="1056" y="2736"/>
              <a:ext cx="2208" cy="2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6" name="Line 28"/>
            <p:cNvSpPr>
              <a:spLocks noChangeShapeType="1"/>
            </p:cNvSpPr>
            <p:nvPr/>
          </p:nvSpPr>
          <p:spPr bwMode="auto">
            <a:xfrm>
              <a:off x="1104" y="2736"/>
              <a:ext cx="20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7" name="Oval 29"/>
            <p:cNvSpPr>
              <a:spLocks noChangeArrowheads="1"/>
            </p:cNvSpPr>
            <p:nvPr/>
          </p:nvSpPr>
          <p:spPr bwMode="auto">
            <a:xfrm>
              <a:off x="1056" y="268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8" name="Oval 30"/>
            <p:cNvSpPr>
              <a:spLocks noChangeArrowheads="1"/>
            </p:cNvSpPr>
            <p:nvPr/>
          </p:nvSpPr>
          <p:spPr bwMode="auto">
            <a:xfrm>
              <a:off x="1392" y="292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10" name="Oval 32"/>
            <p:cNvSpPr>
              <a:spLocks noChangeArrowheads="1"/>
            </p:cNvSpPr>
            <p:nvPr/>
          </p:nvSpPr>
          <p:spPr bwMode="auto">
            <a:xfrm>
              <a:off x="1968" y="292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11" name="Oval 33"/>
            <p:cNvSpPr>
              <a:spLocks noChangeArrowheads="1"/>
            </p:cNvSpPr>
            <p:nvPr/>
          </p:nvSpPr>
          <p:spPr bwMode="auto">
            <a:xfrm>
              <a:off x="2256" y="268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12" name="Oval 34"/>
            <p:cNvSpPr>
              <a:spLocks noChangeArrowheads="1"/>
            </p:cNvSpPr>
            <p:nvPr/>
          </p:nvSpPr>
          <p:spPr bwMode="auto">
            <a:xfrm>
              <a:off x="2544" y="292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13" name="Oval 35"/>
            <p:cNvSpPr>
              <a:spLocks noChangeArrowheads="1"/>
            </p:cNvSpPr>
            <p:nvPr/>
          </p:nvSpPr>
          <p:spPr bwMode="auto">
            <a:xfrm>
              <a:off x="2832" y="268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  <p:sp>
          <p:nvSpPr>
            <p:cNvPr id="14" name="Oval 36"/>
            <p:cNvSpPr>
              <a:spLocks noChangeArrowheads="1"/>
            </p:cNvSpPr>
            <p:nvPr/>
          </p:nvSpPr>
          <p:spPr bwMode="auto">
            <a:xfrm>
              <a:off x="3120" y="292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90"/>
            </a:p>
          </p:txBody>
        </p:sp>
      </p:grpSp>
      <p:sp>
        <p:nvSpPr>
          <p:cNvPr id="15" name="TextBox 5"/>
          <p:cNvSpPr txBox="1"/>
          <p:nvPr/>
        </p:nvSpPr>
        <p:spPr>
          <a:xfrm>
            <a:off x="6107795" y="1199789"/>
            <a:ext cx="4884882" cy="1963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At time t</a:t>
            </a:r>
            <a:r>
              <a:rPr lang="en-US" sz="2100" dirty="0"/>
              <a:t>: </a:t>
            </a:r>
            <a:r>
              <a:rPr lang="en-US" sz="2100" b="1" dirty="0"/>
              <a:t>send</a:t>
            </a:r>
            <a:r>
              <a:rPr lang="en-US" sz="2100" dirty="0"/>
              <a:t> the data you received at time t-1 </a:t>
            </a:r>
            <a:r>
              <a:rPr lang="en-US" sz="2100" b="1" dirty="0"/>
              <a:t>to</a:t>
            </a:r>
            <a:r>
              <a:rPr lang="en-US" sz="2100" dirty="0"/>
              <a:t> your </a:t>
            </a:r>
            <a:r>
              <a:rPr lang="en-US" sz="2100" b="1" dirty="0"/>
              <a:t>right</a:t>
            </a:r>
            <a:r>
              <a:rPr lang="en-US" sz="2100" dirty="0"/>
              <a:t>, and </a:t>
            </a:r>
            <a:r>
              <a:rPr lang="en-US" sz="2100" b="1" dirty="0"/>
              <a:t>receive</a:t>
            </a:r>
            <a:r>
              <a:rPr lang="en-US" sz="2100" dirty="0"/>
              <a:t> </a:t>
            </a:r>
            <a:r>
              <a:rPr lang="en-US" sz="2100" dirty="0">
                <a:solidFill>
                  <a:srgbClr val="FF0000"/>
                </a:solidFill>
              </a:rPr>
              <a:t>new data </a:t>
            </a:r>
            <a:r>
              <a:rPr lang="en-US" sz="2100" b="1" dirty="0"/>
              <a:t>from</a:t>
            </a:r>
            <a:r>
              <a:rPr lang="en-US" sz="2100" dirty="0"/>
              <a:t> your </a:t>
            </a:r>
            <a:r>
              <a:rPr lang="en-US" sz="2100" b="1" dirty="0"/>
              <a:t>left</a:t>
            </a:r>
            <a:r>
              <a:rPr lang="en-US" sz="21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At time 0</a:t>
            </a:r>
            <a:r>
              <a:rPr lang="en-US" sz="2100" dirty="0"/>
              <a:t>, send your original data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Optimal bandwidth, high latency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1890953" y="1207027"/>
            <a:ext cx="3419485" cy="381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b="1" dirty="0">
                <a:solidFill>
                  <a:srgbClr val="C00000"/>
                </a:solidFill>
              </a:rPr>
              <a:t>Ring Algorithm</a:t>
            </a:r>
          </a:p>
        </p:txBody>
      </p:sp>
      <p:sp>
        <p:nvSpPr>
          <p:cNvPr id="17" name="TextBox 18"/>
          <p:cNvSpPr txBox="1"/>
          <p:nvPr/>
        </p:nvSpPr>
        <p:spPr>
          <a:xfrm>
            <a:off x="2161367" y="2305367"/>
            <a:ext cx="6734756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T</a:t>
            </a:r>
            <a:r>
              <a:rPr lang="en-US" sz="2100" b="1" baseline="-25000" dirty="0"/>
              <a:t>ring</a:t>
            </a:r>
            <a:r>
              <a:rPr lang="en-US" sz="2100" b="1" dirty="0"/>
              <a:t> = α (p-1) + β n (p-1)/p</a:t>
            </a:r>
          </a:p>
          <a:p>
            <a:r>
              <a:rPr lang="en-US" sz="2100" b="1" dirty="0"/>
              <a:t>α ：latency </a:t>
            </a:r>
          </a:p>
          <a:p>
            <a:r>
              <a:rPr lang="en-US" sz="2100" b="1" dirty="0"/>
              <a:t>β：time to transmit a byte</a:t>
            </a:r>
          </a:p>
          <a:p>
            <a:r>
              <a:rPr lang="en-US" sz="2100" b="1" dirty="0"/>
              <a:t>n: number of bytes of all processes</a:t>
            </a:r>
          </a:p>
          <a:p>
            <a:r>
              <a:rPr lang="en-US" sz="2100" b="1" dirty="0"/>
              <a:t>p: number of processes</a:t>
            </a:r>
          </a:p>
          <a:p>
            <a:endParaRPr lang="en-US" sz="2100" b="1" dirty="0"/>
          </a:p>
        </p:txBody>
      </p:sp>
      <p:pic>
        <p:nvPicPr>
          <p:cNvPr id="18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115" y="4147295"/>
            <a:ext cx="4284441" cy="1963950"/>
          </a:xfrm>
          <a:prstGeom prst="rect">
            <a:avLst/>
          </a:prstGeom>
        </p:spPr>
      </p:pic>
      <p:sp>
        <p:nvSpPr>
          <p:cNvPr id="19" name="TextBox 21"/>
          <p:cNvSpPr txBox="1"/>
          <p:nvPr/>
        </p:nvSpPr>
        <p:spPr>
          <a:xfrm>
            <a:off x="1745699" y="3946178"/>
            <a:ext cx="3709992" cy="381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b="1" dirty="0">
                <a:solidFill>
                  <a:srgbClr val="C00000"/>
                </a:solidFill>
              </a:rPr>
              <a:t>Recursive Doubling Algorithm</a:t>
            </a:r>
          </a:p>
        </p:txBody>
      </p:sp>
      <p:sp>
        <p:nvSpPr>
          <p:cNvPr id="20" name="TextBox 22"/>
          <p:cNvSpPr txBox="1"/>
          <p:nvPr/>
        </p:nvSpPr>
        <p:spPr>
          <a:xfrm>
            <a:off x="6342184" y="3955871"/>
            <a:ext cx="4650494" cy="280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At time t</a:t>
            </a:r>
            <a:r>
              <a:rPr lang="en-US" sz="2100" dirty="0"/>
              <a:t>: process </a:t>
            </a:r>
            <a:r>
              <a:rPr lang="en-US" sz="2100" dirty="0" err="1"/>
              <a:t>i</a:t>
            </a:r>
            <a:r>
              <a:rPr lang="en-US" sz="2100" dirty="0"/>
              <a:t> exchanges (send/</a:t>
            </a:r>
            <a:r>
              <a:rPr lang="en-US" sz="2100" dirty="0" err="1"/>
              <a:t>recv</a:t>
            </a:r>
            <a:r>
              <a:rPr lang="en-US" sz="2100" dirty="0"/>
              <a:t>) all your current data (its original data plus anything received so far) with process (n+i±2</a:t>
            </a:r>
            <a:r>
              <a:rPr lang="en-US" sz="2100" baseline="30000" dirty="0"/>
              <a:t>t</a:t>
            </a:r>
            <a:r>
              <a:rPr lang="en-US" altLang="zh-CN" sz="2100" baseline="30000" dirty="0"/>
              <a:t>-1 </a:t>
            </a:r>
            <a:r>
              <a:rPr lang="en-US" altLang="zh-CN" sz="2100" dirty="0"/>
              <a:t>)%n</a:t>
            </a:r>
            <a:endParaRPr lang="en-US" sz="2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Data exchanged at each step: n/p, 2n/p, 4n/p,…, 2</a:t>
            </a:r>
            <a:r>
              <a:rPr lang="en-US" sz="2100" baseline="30000" dirty="0"/>
              <a:t>lg(p)-1 </a:t>
            </a:r>
            <a:r>
              <a:rPr lang="en-US" sz="2100" dirty="0"/>
              <a:t>n/p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Tricky for non-power-of-two</a:t>
            </a:r>
          </a:p>
        </p:txBody>
      </p:sp>
      <p:sp>
        <p:nvSpPr>
          <p:cNvPr id="21" name="TextBox 23"/>
          <p:cNvSpPr txBox="1"/>
          <p:nvPr/>
        </p:nvSpPr>
        <p:spPr>
          <a:xfrm>
            <a:off x="2298623" y="6294973"/>
            <a:ext cx="673475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err="1"/>
              <a:t>T</a:t>
            </a:r>
            <a:r>
              <a:rPr lang="en-US" sz="2100" b="1" baseline="-25000" dirty="0" err="1"/>
              <a:t>rec-dbl</a:t>
            </a:r>
            <a:r>
              <a:rPr lang="en-US" sz="2100" b="1" dirty="0"/>
              <a:t> = α </a:t>
            </a:r>
            <a:r>
              <a:rPr lang="en-US" sz="2100" b="1" dirty="0" err="1"/>
              <a:t>lg</a:t>
            </a:r>
            <a:r>
              <a:rPr lang="en-US" sz="2100" b="1" dirty="0"/>
              <a:t>(p) + β n (p-1)/p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33626" y="3946178"/>
            <a:ext cx="4400888" cy="281266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2" name="Rounded Rectangle 21"/>
          <p:cNvSpPr/>
          <p:nvPr/>
        </p:nvSpPr>
        <p:spPr>
          <a:xfrm>
            <a:off x="1360637" y="1143639"/>
            <a:ext cx="4400888" cy="281266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AllGather</a:t>
            </a:r>
            <a:r>
              <a:rPr lang="en-US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Performance</a:t>
            </a:r>
            <a:endParaRPr lang="en-US" dirty="0"/>
          </a:p>
        </p:txBody>
      </p:sp>
      <p:sp>
        <p:nvSpPr>
          <p:cNvPr id="4" name="TextBox 1"/>
          <p:cNvSpPr txBox="1"/>
          <p:nvPr/>
        </p:nvSpPr>
        <p:spPr>
          <a:xfrm>
            <a:off x="2123900" y="989214"/>
            <a:ext cx="8742911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Comic Sans MS" panose="030F0702030302020204" pitchFamily="66" charset="0"/>
              </a:rPr>
              <a:t>Similar ideas are used in other collectives (e.g. </a:t>
            </a:r>
            <a:r>
              <a:rPr lang="en-US" sz="2100" b="1" dirty="0">
                <a:latin typeface="Comic Sans MS" panose="030F0702030302020204" pitchFamily="66" charset="0"/>
              </a:rPr>
              <a:t>recursive halving </a:t>
            </a:r>
            <a:r>
              <a:rPr lang="en-US" sz="2100" dirty="0">
                <a:latin typeface="Comic Sans MS" panose="030F0702030302020204" pitchFamily="66" charset="0"/>
              </a:rPr>
              <a:t>instead of recursive doubling for </a:t>
            </a:r>
            <a:r>
              <a:rPr lang="en-US" sz="2100" b="1" dirty="0">
                <a:latin typeface="Comic Sans MS" panose="030F0702030302020204" pitchFamily="66" charset="0"/>
              </a:rPr>
              <a:t>reduce-scatter</a:t>
            </a:r>
            <a:r>
              <a:rPr lang="en-US" sz="2100" dirty="0">
                <a:latin typeface="Comic Sans MS" panose="030F0702030302020204" pitchFamily="66" charset="0"/>
              </a:rPr>
              <a:t>) with different local computations (e.g. for </a:t>
            </a:r>
            <a:r>
              <a:rPr lang="en-US" sz="2100" b="1" dirty="0" err="1">
                <a:latin typeface="Comic Sans MS" panose="030F0702030302020204" pitchFamily="66" charset="0"/>
              </a:rPr>
              <a:t>allreduce</a:t>
            </a:r>
            <a:r>
              <a:rPr lang="en-US" sz="2100" dirty="0">
                <a:latin typeface="Comic Sans MS" panose="030F0702030302020204" pitchFamily="66" charset="0"/>
              </a:rPr>
              <a:t>, perform a </a:t>
            </a:r>
            <a:r>
              <a:rPr lang="en-US" sz="2100" b="1" dirty="0">
                <a:latin typeface="Comic Sans MS" panose="030F0702030302020204" pitchFamily="66" charset="0"/>
              </a:rPr>
              <a:t>local reduction </a:t>
            </a:r>
            <a:r>
              <a:rPr lang="en-US" sz="2100" dirty="0">
                <a:latin typeface="Comic Sans MS" panose="030F0702030302020204" pitchFamily="66" charset="0"/>
              </a:rPr>
              <a:t>at each step</a:t>
            </a:r>
            <a:r>
              <a:rPr lang="en-US" sz="2100" b="1" dirty="0">
                <a:latin typeface="Comic Sans MS" panose="030F0702030302020204" pitchFamily="66" charset="0"/>
              </a:rPr>
              <a:t> </a:t>
            </a:r>
            <a:r>
              <a:rPr lang="en-US" sz="2100" dirty="0">
                <a:latin typeface="Comic Sans MS" panose="030F0702030302020204" pitchFamily="66" charset="0"/>
              </a:rPr>
              <a:t>instead of </a:t>
            </a:r>
            <a:r>
              <a:rPr lang="en-US" sz="2100" b="1" dirty="0">
                <a:latin typeface="Comic Sans MS" panose="030F0702030302020204" pitchFamily="66" charset="0"/>
              </a:rPr>
              <a:t>concatenating</a:t>
            </a:r>
            <a:r>
              <a:rPr lang="en-US" sz="2100" dirty="0">
                <a:latin typeface="Comic Sans MS" panose="030F0702030302020204" pitchFamily="66" charset="0"/>
              </a:rPr>
              <a:t> data as in </a:t>
            </a:r>
            <a:r>
              <a:rPr lang="en-US" sz="2100" dirty="0" err="1">
                <a:latin typeface="Comic Sans MS" panose="030F0702030302020204" pitchFamily="66" charset="0"/>
              </a:rPr>
              <a:t>allgather</a:t>
            </a:r>
            <a:r>
              <a:rPr lang="en-US" sz="2100" dirty="0">
                <a:latin typeface="Comic Sans MS" panose="030F0702030302020204" pitchFamily="66" charset="0"/>
              </a:rPr>
              <a:t>)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071" y="2372879"/>
            <a:ext cx="4636947" cy="3987775"/>
          </a:xfrm>
          <a:prstGeom prst="rect">
            <a:avLst/>
          </a:prstGeom>
        </p:spPr>
      </p:pic>
      <p:sp>
        <p:nvSpPr>
          <p:cNvPr id="7" name="Rectangle 29"/>
          <p:cNvSpPr/>
          <p:nvPr/>
        </p:nvSpPr>
        <p:spPr>
          <a:xfrm>
            <a:off x="2123900" y="6264062"/>
            <a:ext cx="8204663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7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Thakur, Rajeev, Rolf </a:t>
            </a:r>
            <a:r>
              <a:rPr lang="en-US" sz="147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Rabenseifner</a:t>
            </a:r>
            <a:r>
              <a:rPr lang="en-US" sz="147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, and William </a:t>
            </a:r>
            <a:r>
              <a:rPr lang="en-US" sz="147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Gropp</a:t>
            </a:r>
            <a:r>
              <a:rPr lang="en-US" sz="147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. "Optimization of collective communication operations in MPICH." </a:t>
            </a:r>
            <a:r>
              <a:rPr lang="en-US" sz="147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The International Journal of High Performance Computing Applications</a:t>
            </a:r>
            <a:r>
              <a:rPr lang="en-US" sz="147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 19.1 (2005): 49-66</a:t>
            </a:r>
            <a:endParaRPr lang="en-US" sz="147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96944" y="2541028"/>
            <a:ext cx="4636946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dirty="0">
                <a:solidFill>
                  <a:srgbClr val="FF0000"/>
                </a:solidFill>
                <a:latin typeface="Comic Sans MS" panose="030F0702030302020204" pitchFamily="66" charset="0"/>
              </a:rPr>
              <a:t>And more, please search “Optimization of MPI collective communication” via google scholar…….</a:t>
            </a:r>
          </a:p>
          <a:p>
            <a:endParaRPr lang="en-US" sz="189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1890" dirty="0">
                <a:solidFill>
                  <a:srgbClr val="FF0000"/>
                </a:solidFill>
                <a:latin typeface="Comic Sans MS" panose="030F0702030302020204" pitchFamily="66" charset="0"/>
              </a:rPr>
              <a:t>For long messages, the ring algorithm performs better than recursive doubling (see Figure 5). We believe this is because it uses a nearest-neighbor communication pattern, whereas in recursive doubling, processes that are much farther apart communicate</a:t>
            </a: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25" y="4032014"/>
            <a:ext cx="10762906" cy="79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ea typeface="+mj-ea"/>
                <a:cs typeface="+mj-cs"/>
              </a:rPr>
              <a:t>MPI Derived Datatype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93186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3187" name="Picture 2" descr="View Detai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776" y="1800225"/>
            <a:ext cx="1920240" cy="19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Derived datatypes</a:t>
            </a:r>
          </a:p>
        </p:txBody>
      </p:sp>
      <p:sp>
        <p:nvSpPr>
          <p:cNvPr id="94210" name="Content Placeholder 2"/>
          <p:cNvSpPr>
            <a:spLocks noGrp="1"/>
          </p:cNvSpPr>
          <p:nvPr>
            <p:ph idx="4294967295"/>
          </p:nvPr>
        </p:nvSpPr>
        <p:spPr>
          <a:xfrm>
            <a:off x="712470" y="1296035"/>
            <a:ext cx="11041380" cy="471297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Used to represent </a:t>
            </a:r>
            <a:r>
              <a:rPr lang="en-US" altLang="en-US" dirty="0">
                <a:solidFill>
                  <a:srgbClr val="FF0000"/>
                </a:solidFill>
              </a:rPr>
              <a:t>any collection of data items in memory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stack</a:t>
            </a:r>
            <a:r>
              <a:rPr lang="en-US" altLang="en-US" dirty="0"/>
              <a:t> by organizing both the types of the items and their relative locations in memory</a:t>
            </a:r>
            <a:r>
              <a:rPr lang="zh-CN" altLang="en-US" dirty="0"/>
              <a:t> </a:t>
            </a:r>
            <a:r>
              <a:rPr lang="en-US" altLang="zh-CN" dirty="0"/>
              <a:t>stack</a:t>
            </a:r>
            <a:r>
              <a:rPr lang="zh-CN" altLang="en-US" dirty="0"/>
              <a:t> </a:t>
            </a:r>
            <a:r>
              <a:rPr lang="en-US" altLang="zh-CN" dirty="0"/>
              <a:t>(not</a:t>
            </a:r>
            <a:r>
              <a:rPr lang="zh-CN" altLang="en-US" dirty="0"/>
              <a:t> </a:t>
            </a:r>
            <a:r>
              <a:rPr lang="en-US" altLang="zh-CN" dirty="0"/>
              <a:t>heap)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</a:rPr>
              <a:t>idea</a:t>
            </a:r>
            <a:r>
              <a:rPr lang="en-US" altLang="en-US" dirty="0"/>
              <a:t> is that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</a:t>
            </a:r>
            <a:r>
              <a:rPr lang="en-US" altLang="en-US" dirty="0"/>
              <a:t>f a function that sends data knows this information about a collection of data items, it can collect the items from memory before they are sent.</a:t>
            </a:r>
          </a:p>
          <a:p>
            <a:pPr lvl="1"/>
            <a:r>
              <a:rPr lang="en-US" altLang="en-US" dirty="0"/>
              <a:t>Similarly, a function that receives data can distribute the items into their correct destinations in memory when they’</a:t>
            </a:r>
            <a:r>
              <a:rPr lang="en-US" altLang="ja-JP" dirty="0"/>
              <a:t>re received.</a:t>
            </a:r>
          </a:p>
          <a:p>
            <a:pPr lvl="1"/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sender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receiver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semantics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items.</a:t>
            </a:r>
            <a:endParaRPr lang="en-US" altLang="en-US" dirty="0"/>
          </a:p>
        </p:txBody>
      </p:sp>
      <p:sp>
        <p:nvSpPr>
          <p:cNvPr id="9421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Derived datatypes</a:t>
            </a:r>
          </a:p>
        </p:txBody>
      </p:sp>
      <p:sp>
        <p:nvSpPr>
          <p:cNvPr id="95234" name="Content Placeholder 2"/>
          <p:cNvSpPr>
            <a:spLocks noGrp="1"/>
          </p:cNvSpPr>
          <p:nvPr>
            <p:ph idx="4294967295"/>
          </p:nvPr>
        </p:nvSpPr>
        <p:spPr>
          <a:xfrm>
            <a:off x="1792605" y="1223645"/>
            <a:ext cx="8684895" cy="2266950"/>
          </a:xfrm>
        </p:spPr>
        <p:txBody>
          <a:bodyPr>
            <a:normAutofit fontScale="95000"/>
          </a:bodyPr>
          <a:lstStyle/>
          <a:p>
            <a:r>
              <a:rPr lang="en-US" altLang="en-US" dirty="0"/>
              <a:t>Formally, consists of a sequence of basic MPI </a:t>
            </a:r>
            <a:r>
              <a:rPr lang="en-US" altLang="en-US" dirty="0">
                <a:solidFill>
                  <a:srgbClr val="FF0000"/>
                </a:solidFill>
              </a:rPr>
              <a:t>data types</a:t>
            </a:r>
            <a:r>
              <a:rPr lang="en-US" altLang="en-US" dirty="0"/>
              <a:t> together with a </a:t>
            </a:r>
            <a:r>
              <a:rPr lang="en-US" altLang="en-US" dirty="0">
                <a:solidFill>
                  <a:srgbClr val="FF0000"/>
                </a:solidFill>
              </a:rPr>
              <a:t>displacement</a:t>
            </a:r>
            <a:r>
              <a:rPr lang="en-US" altLang="en-US" dirty="0"/>
              <a:t> for each of the data types.</a:t>
            </a:r>
          </a:p>
          <a:p>
            <a:r>
              <a:rPr lang="en-US" altLang="en-US" dirty="0"/>
              <a:t>Trapezoidal Rule example:</a:t>
            </a:r>
          </a:p>
        </p:txBody>
      </p:sp>
      <p:sp>
        <p:nvSpPr>
          <p:cNvPr id="9523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52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24" y="3827145"/>
            <a:ext cx="2722006" cy="168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630" y="4635580"/>
            <a:ext cx="5764054" cy="53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MPI_Type create_struct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4294967295"/>
          </p:nvPr>
        </p:nvSpPr>
        <p:spPr>
          <a:xfrm>
            <a:off x="1545590" y="1151890"/>
            <a:ext cx="9770110" cy="1955800"/>
          </a:xfrm>
        </p:spPr>
        <p:txBody>
          <a:bodyPr/>
          <a:lstStyle/>
          <a:p>
            <a:r>
              <a:rPr lang="en-US" altLang="en-US" b="0" dirty="0"/>
              <a:t>Builds a derived datatype that consists of individual elements that have different basic types.</a:t>
            </a:r>
          </a:p>
        </p:txBody>
      </p:sp>
      <p:sp>
        <p:nvSpPr>
          <p:cNvPr id="9625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62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3298746"/>
            <a:ext cx="8831104" cy="1931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MPI_Get_address</a:t>
            </a:r>
          </a:p>
        </p:txBody>
      </p:sp>
      <p:sp>
        <p:nvSpPr>
          <p:cNvPr id="97282" name="Content Placeholder 2"/>
          <p:cNvSpPr>
            <a:spLocks noGrp="1"/>
          </p:cNvSpPr>
          <p:nvPr>
            <p:ph idx="4294967295"/>
          </p:nvPr>
        </p:nvSpPr>
        <p:spPr>
          <a:xfrm>
            <a:off x="1072515" y="1151890"/>
            <a:ext cx="10561955" cy="2275205"/>
          </a:xfrm>
        </p:spPr>
        <p:txBody>
          <a:bodyPr>
            <a:normAutofit fontScale="97500"/>
          </a:bodyPr>
          <a:lstStyle/>
          <a:p>
            <a:r>
              <a:rPr lang="en-US" altLang="en-US" dirty="0"/>
              <a:t>Returns the address of the memory location referenced by </a:t>
            </a:r>
            <a:r>
              <a:rPr lang="en-US" altLang="en-US" dirty="0" err="1">
                <a:solidFill>
                  <a:srgbClr val="0066FF"/>
                </a:solidFill>
              </a:rPr>
              <a:t>location_p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The special type </a:t>
            </a:r>
            <a:r>
              <a:rPr lang="en-US" altLang="en-US" dirty="0" err="1">
                <a:solidFill>
                  <a:srgbClr val="0066FF"/>
                </a:solidFill>
              </a:rPr>
              <a:t>MPI_Aint</a:t>
            </a:r>
            <a:r>
              <a:rPr lang="en-US" altLang="en-US" dirty="0"/>
              <a:t> is an integer type that is big enough to store an address on the system.</a:t>
            </a:r>
          </a:p>
        </p:txBody>
      </p:sp>
      <p:sp>
        <p:nvSpPr>
          <p:cNvPr id="97283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72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339" y="3888482"/>
            <a:ext cx="7774305" cy="128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774768" y="6286370"/>
            <a:ext cx="8945077" cy="7217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90" dirty="0"/>
              <a:t>参考</a:t>
            </a:r>
            <a:r>
              <a:rPr lang="en-US" b="1" dirty="0" err="1"/>
              <a:t>src</a:t>
            </a:r>
            <a:r>
              <a:rPr lang="en-US" b="1" dirty="0"/>
              <a:t>/</a:t>
            </a:r>
            <a:r>
              <a:rPr lang="en-US" b="1" dirty="0" err="1"/>
              <a:t>mpi</a:t>
            </a:r>
            <a:r>
              <a:rPr lang="en-US" b="1" dirty="0"/>
              <a:t>/datatype/</a:t>
            </a:r>
            <a:r>
              <a:rPr lang="en-US" b="1" dirty="0" err="1"/>
              <a:t>get_address.c</a:t>
            </a:r>
            <a:endParaRPr lang="en-US" sz="1890" dirty="0"/>
          </a:p>
          <a:p>
            <a:r>
              <a:rPr lang="en-US" sz="1890" dirty="0"/>
              <a:t>http://formalverification.cs.utah.edu/sawaya/html/d8/d2e/get__address_8c-source.html</a:t>
            </a:r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MPI_Type_commit</a:t>
            </a:r>
          </a:p>
        </p:txBody>
      </p:sp>
      <p:sp>
        <p:nvSpPr>
          <p:cNvPr id="98306" name="Content Placeholder 2"/>
          <p:cNvSpPr>
            <a:spLocks noGrp="1"/>
          </p:cNvSpPr>
          <p:nvPr>
            <p:ph idx="4294967295"/>
          </p:nvPr>
        </p:nvSpPr>
        <p:spPr>
          <a:xfrm>
            <a:off x="1144270" y="1367790"/>
            <a:ext cx="10655300" cy="1965325"/>
          </a:xfrm>
        </p:spPr>
        <p:txBody>
          <a:bodyPr/>
          <a:lstStyle/>
          <a:p>
            <a:r>
              <a:rPr lang="en-US" altLang="en-US" b="0"/>
              <a:t>Allows the MPI implementation to optimize its internal representation of the datatype for use in communication functions.</a:t>
            </a:r>
          </a:p>
        </p:txBody>
      </p:sp>
      <p:sp>
        <p:nvSpPr>
          <p:cNvPr id="9830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83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" y="4320540"/>
            <a:ext cx="1050988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MPI_Type_free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4294967295"/>
          </p:nvPr>
        </p:nvSpPr>
        <p:spPr>
          <a:xfrm>
            <a:off x="784225" y="1656080"/>
            <a:ext cx="11333480" cy="2439670"/>
          </a:xfrm>
        </p:spPr>
        <p:txBody>
          <a:bodyPr/>
          <a:lstStyle/>
          <a:p>
            <a:r>
              <a:rPr lang="en-US" altLang="en-US" b="0" dirty="0"/>
              <a:t>When we’</a:t>
            </a:r>
            <a:r>
              <a:rPr lang="en-US" altLang="ja-JP" b="0" dirty="0"/>
              <a:t>re finished with our new type, this frees any additional storage used.</a:t>
            </a:r>
            <a:endParaRPr lang="en-US" altLang="en-US" b="0" dirty="0"/>
          </a:p>
        </p:txBody>
      </p:sp>
      <p:sp>
        <p:nvSpPr>
          <p:cNvPr id="9933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93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" y="3960495"/>
            <a:ext cx="10973435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/>
          </p:nvPr>
        </p:nvSpPr>
        <p:spPr>
          <a:xfrm>
            <a:off x="712470" y="432199"/>
            <a:ext cx="10762906" cy="792000"/>
          </a:xfrm>
        </p:spPr>
        <p:txBody>
          <a:bodyPr/>
          <a:lstStyle/>
          <a:p>
            <a:r>
              <a:rPr lang="en-US" altLang="en-US"/>
              <a:t>Get input function with a derived datatype (1)</a:t>
            </a:r>
          </a:p>
        </p:txBody>
      </p:sp>
      <p:sp>
        <p:nvSpPr>
          <p:cNvPr id="10035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03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" y="2016125"/>
            <a:ext cx="1088644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/>
          </p:cNvSpPr>
          <p:nvPr>
            <p:ph type="title"/>
          </p:nvPr>
        </p:nvSpPr>
        <p:spPr>
          <a:xfrm>
            <a:off x="784225" y="432199"/>
            <a:ext cx="10762906" cy="792000"/>
          </a:xfrm>
        </p:spPr>
        <p:txBody>
          <a:bodyPr/>
          <a:lstStyle/>
          <a:p>
            <a:r>
              <a:rPr lang="en-US" altLang="en-US"/>
              <a:t>Get input function with a derived datatype (2)</a:t>
            </a:r>
          </a:p>
        </p:txBody>
      </p:sp>
      <p:sp>
        <p:nvSpPr>
          <p:cNvPr id="10137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13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2011919"/>
            <a:ext cx="9022794" cy="370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/>
          </p:nvPr>
        </p:nvSpPr>
        <p:spPr>
          <a:xfrm>
            <a:off x="1216224" y="69833"/>
            <a:ext cx="10762906" cy="792000"/>
          </a:xfrm>
        </p:spPr>
        <p:txBody>
          <a:bodyPr/>
          <a:lstStyle/>
          <a:p>
            <a:r>
              <a:rPr lang="en-US" altLang="en-US" sz="3600" dirty="0"/>
              <a:t>Get input function with a derived datatype (3)</a:t>
            </a:r>
          </a:p>
        </p:txBody>
      </p:sp>
      <p:sp>
        <p:nvSpPr>
          <p:cNvPr id="10240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24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15" y="2985491"/>
            <a:ext cx="8894445" cy="393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450" y="2520330"/>
            <a:ext cx="2722006" cy="168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0526768" y="4774586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7" name="矩形 6"/>
          <p:cNvSpPr/>
          <p:nvPr/>
        </p:nvSpPr>
        <p:spPr>
          <a:xfrm>
            <a:off x="10526768" y="5089104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8" name="矩形 7"/>
          <p:cNvSpPr/>
          <p:nvPr/>
        </p:nvSpPr>
        <p:spPr>
          <a:xfrm>
            <a:off x="10526768" y="5404254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sp>
        <p:nvSpPr>
          <p:cNvPr id="2" name="矩形 1"/>
          <p:cNvSpPr/>
          <p:nvPr/>
        </p:nvSpPr>
        <p:spPr>
          <a:xfrm>
            <a:off x="9972856" y="6143347"/>
            <a:ext cx="2058720" cy="3785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>
                <a:solidFill>
                  <a:schemeClr val="tx1"/>
                </a:solidFill>
              </a:rPr>
              <a:t>Network interface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17134" y="4845909"/>
            <a:ext cx="775970" cy="671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OS </a:t>
            </a:r>
          </a:p>
          <a:p>
            <a:r>
              <a:rPr lang="en-US" sz="1890" dirty="0"/>
              <a:t>buffer</a:t>
            </a:r>
          </a:p>
        </p:txBody>
      </p: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>
            <a:off x="10944454" y="4200540"/>
            <a:ext cx="2367" cy="57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0944453" y="5585444"/>
            <a:ext cx="2367" cy="57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979611" y="4271545"/>
            <a:ext cx="120777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MPI_Bcast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BFF841-0885-4A29-B459-CC8BB65853EB}"/>
              </a:ext>
            </a:extLst>
          </p:cNvPr>
          <p:cNvSpPr txBox="1"/>
          <p:nvPr/>
        </p:nvSpPr>
        <p:spPr>
          <a:xfrm>
            <a:off x="675514" y="861833"/>
            <a:ext cx="539865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 main(void){</a:t>
            </a:r>
          </a:p>
          <a:p>
            <a:r>
              <a:rPr lang="en-US" altLang="zh-CN" dirty="0"/>
              <a:t>    …….</a:t>
            </a:r>
          </a:p>
          <a:p>
            <a:r>
              <a:rPr lang="en-US" altLang="zh-CN" dirty="0"/>
              <a:t>    int a; int c, b, n;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get_input</a:t>
            </a:r>
            <a:r>
              <a:rPr lang="en-US" altLang="zh-CN" dirty="0"/>
              <a:t>( </a:t>
            </a:r>
            <a:r>
              <a:rPr lang="en-US" altLang="zh-CN" dirty="0" err="1"/>
              <a:t>my_rank</a:t>
            </a:r>
            <a:r>
              <a:rPr lang="en-US" altLang="zh-CN" dirty="0"/>
              <a:t>, </a:t>
            </a:r>
            <a:r>
              <a:rPr lang="en-US" altLang="zh-CN" dirty="0" err="1"/>
              <a:t>comm_sz</a:t>
            </a:r>
            <a:r>
              <a:rPr lang="en-US" altLang="zh-CN" dirty="0"/>
              <a:t>, &amp;a, &amp;b, &amp;n)</a:t>
            </a:r>
          </a:p>
          <a:p>
            <a:r>
              <a:rPr lang="en-US" altLang="zh-CN" dirty="0"/>
              <a:t>    ……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Difference with C </a:t>
            </a:r>
            <a:r>
              <a:rPr lang="en-US" altLang="zh-CN" dirty="0" err="1"/>
              <a:t>Struct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92860" y="1367790"/>
            <a:ext cx="3371850" cy="1446530"/>
          </a:xfrm>
        </p:spPr>
        <p:txBody>
          <a:bodyPr>
            <a:noAutofit/>
          </a:bodyPr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90" dirty="0" err="1"/>
              <a:t>struct</a:t>
            </a:r>
            <a:r>
              <a:rPr lang="en-US" sz="1890" dirty="0"/>
              <a:t> </a:t>
            </a:r>
            <a:r>
              <a:rPr lang="en-US" sz="1890" dirty="0" err="1"/>
              <a:t>range_integral_t</a:t>
            </a:r>
            <a:r>
              <a:rPr lang="en-US" sz="1890" dirty="0"/>
              <a:t> {</a:t>
            </a: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90" dirty="0"/>
              <a:t>   double a;</a:t>
            </a: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90" dirty="0"/>
              <a:t>   double b;</a:t>
            </a: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90" dirty="0"/>
              <a:t>   </a:t>
            </a:r>
            <a:r>
              <a:rPr lang="en-US" sz="1890" dirty="0" err="1"/>
              <a:t>int</a:t>
            </a:r>
            <a:r>
              <a:rPr lang="en-US" sz="1890" dirty="0"/>
              <a:t> n;</a:t>
            </a: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90" dirty="0"/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6326943" y="1622347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5" name="矩形 4"/>
          <p:cNvSpPr/>
          <p:nvPr/>
        </p:nvSpPr>
        <p:spPr>
          <a:xfrm>
            <a:off x="6326943" y="1936865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6" name="矩形 5"/>
          <p:cNvSpPr/>
          <p:nvPr/>
        </p:nvSpPr>
        <p:spPr>
          <a:xfrm>
            <a:off x="6326943" y="2252015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4960620" y="2040255"/>
            <a:ext cx="1070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571973" y="2142382"/>
            <a:ext cx="156210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new or </a:t>
            </a:r>
            <a:r>
              <a:rPr lang="en-US" sz="1890" dirty="0" err="1"/>
              <a:t>malloc</a:t>
            </a:r>
          </a:p>
        </p:txBody>
      </p:sp>
      <p:sp>
        <p:nvSpPr>
          <p:cNvPr id="16" name="右大括号 15"/>
          <p:cNvSpPr/>
          <p:nvPr/>
        </p:nvSpPr>
        <p:spPr>
          <a:xfrm>
            <a:off x="7305528" y="1622347"/>
            <a:ext cx="286190" cy="907834"/>
          </a:xfrm>
          <a:prstGeom prst="rightBrace">
            <a:avLst>
              <a:gd name="adj1" fmla="val 8333"/>
              <a:gd name="adj2" fmla="val 4553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7" name="文本框 16"/>
          <p:cNvSpPr txBox="1"/>
          <p:nvPr/>
        </p:nvSpPr>
        <p:spPr>
          <a:xfrm>
            <a:off x="7698047" y="1807000"/>
            <a:ext cx="3376930" cy="381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struct</a:t>
            </a:r>
            <a:r>
              <a:rPr lang="en-US" sz="1890" dirty="0"/>
              <a:t> </a:t>
            </a:r>
            <a:r>
              <a:rPr lang="en-US" sz="1890" dirty="0" err="1"/>
              <a:t>range_integral_t</a:t>
            </a:r>
            <a:r>
              <a:rPr lang="en-US" sz="1890" dirty="0"/>
              <a:t>* </a:t>
            </a:r>
            <a:r>
              <a:rPr lang="en-US" sz="1890" dirty="0" err="1"/>
              <a:t>range_p</a:t>
            </a:r>
          </a:p>
        </p:txBody>
      </p:sp>
      <p:sp>
        <p:nvSpPr>
          <p:cNvPr id="18" name="内容占位符 2"/>
          <p:cNvSpPr txBox="1"/>
          <p:nvPr/>
        </p:nvSpPr>
        <p:spPr>
          <a:xfrm>
            <a:off x="1789453" y="4425909"/>
            <a:ext cx="2866513" cy="1753399"/>
          </a:xfrm>
          <a:prstGeom prst="rect">
            <a:avLst/>
          </a:prstGeom>
        </p:spPr>
        <p:txBody>
          <a:bodyPr vert="horz" lIns="96011" tIns="48005" rIns="96011" bIns="48005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 err="1"/>
              <a:t>int</a:t>
            </a:r>
            <a:r>
              <a:rPr lang="en-US" sz="1890" dirty="0"/>
              <a:t> main ()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double a;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……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double b;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</a:t>
            </a:r>
            <a:r>
              <a:rPr lang="en-US" sz="1890" dirty="0" err="1"/>
              <a:t>int</a:t>
            </a:r>
            <a:r>
              <a:rPr lang="en-US" sz="1890" dirty="0"/>
              <a:t> n;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};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4096512" y="5128258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658983" y="6175874"/>
            <a:ext cx="2564765" cy="671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MPI_Type_create_struct</a:t>
            </a:r>
            <a:endParaRPr lang="en-US" sz="1890" dirty="0"/>
          </a:p>
          <a:p>
            <a:r>
              <a:rPr lang="en-US" sz="1890" b="1" dirty="0"/>
              <a:t>              Send by </a:t>
            </a:r>
            <a:r>
              <a:rPr lang="en-US" sz="1890" b="1" dirty="0" err="1"/>
              <a:t>Proc</a:t>
            </a:r>
            <a:r>
              <a:rPr lang="en-US" sz="1890" b="1" dirty="0"/>
              <a:t> 0</a:t>
            </a:r>
          </a:p>
        </p:txBody>
      </p:sp>
      <p:sp>
        <p:nvSpPr>
          <p:cNvPr id="22" name="矩形 21"/>
          <p:cNvSpPr/>
          <p:nvPr/>
        </p:nvSpPr>
        <p:spPr>
          <a:xfrm>
            <a:off x="3154238" y="4582941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23" name="矩形 22"/>
          <p:cNvSpPr/>
          <p:nvPr/>
        </p:nvSpPr>
        <p:spPr>
          <a:xfrm>
            <a:off x="3154238" y="5045172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24" name="矩形 23"/>
          <p:cNvSpPr/>
          <p:nvPr/>
        </p:nvSpPr>
        <p:spPr>
          <a:xfrm>
            <a:off x="3154238" y="5461870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sp>
        <p:nvSpPr>
          <p:cNvPr id="26" name="矩形 25"/>
          <p:cNvSpPr/>
          <p:nvPr/>
        </p:nvSpPr>
        <p:spPr>
          <a:xfrm>
            <a:off x="4786436" y="4651010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27" name="矩形 26"/>
          <p:cNvSpPr/>
          <p:nvPr/>
        </p:nvSpPr>
        <p:spPr>
          <a:xfrm>
            <a:off x="4786436" y="4965528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28" name="矩形 27"/>
          <p:cNvSpPr/>
          <p:nvPr/>
        </p:nvSpPr>
        <p:spPr>
          <a:xfrm>
            <a:off x="4786436" y="5280678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sp>
        <p:nvSpPr>
          <p:cNvPr id="29" name="矩形 28"/>
          <p:cNvSpPr/>
          <p:nvPr/>
        </p:nvSpPr>
        <p:spPr>
          <a:xfrm>
            <a:off x="6705449" y="4628496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30" name="矩形 29"/>
          <p:cNvSpPr/>
          <p:nvPr/>
        </p:nvSpPr>
        <p:spPr>
          <a:xfrm>
            <a:off x="6705449" y="4943014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31" name="矩形 30"/>
          <p:cNvSpPr/>
          <p:nvPr/>
        </p:nvSpPr>
        <p:spPr>
          <a:xfrm>
            <a:off x="6705449" y="5258164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sp>
        <p:nvSpPr>
          <p:cNvPr id="32" name="矩形 31"/>
          <p:cNvSpPr/>
          <p:nvPr/>
        </p:nvSpPr>
        <p:spPr>
          <a:xfrm>
            <a:off x="8207177" y="4471237"/>
            <a:ext cx="840105" cy="314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a</a:t>
            </a:r>
          </a:p>
        </p:txBody>
      </p:sp>
      <p:sp>
        <p:nvSpPr>
          <p:cNvPr id="33" name="矩形 32"/>
          <p:cNvSpPr/>
          <p:nvPr/>
        </p:nvSpPr>
        <p:spPr>
          <a:xfrm>
            <a:off x="8207177" y="4933468"/>
            <a:ext cx="840105" cy="314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b</a:t>
            </a:r>
          </a:p>
        </p:txBody>
      </p:sp>
      <p:sp>
        <p:nvSpPr>
          <p:cNvPr id="34" name="矩形 33"/>
          <p:cNvSpPr/>
          <p:nvPr/>
        </p:nvSpPr>
        <p:spPr>
          <a:xfrm>
            <a:off x="8207177" y="5350166"/>
            <a:ext cx="840105" cy="2406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90" dirty="0"/>
              <a:t>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336419" y="6240988"/>
            <a:ext cx="2564765" cy="671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MPI_Type_create_struct</a:t>
            </a:r>
            <a:endParaRPr lang="en-US" sz="1890" dirty="0"/>
          </a:p>
          <a:p>
            <a:r>
              <a:rPr lang="en-US" sz="1890" dirty="0"/>
              <a:t>                </a:t>
            </a:r>
            <a:r>
              <a:rPr lang="en-US" sz="1890" b="1" dirty="0" err="1"/>
              <a:t>Recv</a:t>
            </a:r>
            <a:r>
              <a:rPr lang="en-US" sz="1890" b="1" dirty="0"/>
              <a:t> by </a:t>
            </a:r>
            <a:r>
              <a:rPr lang="en-US" sz="1890" b="1" dirty="0" err="1"/>
              <a:t>Proc</a:t>
            </a:r>
            <a:r>
              <a:rPr lang="en-US" sz="1890" b="1" dirty="0"/>
              <a:t> 1</a:t>
            </a:r>
          </a:p>
        </p:txBody>
      </p:sp>
      <p:sp>
        <p:nvSpPr>
          <p:cNvPr id="36" name="内容占位符 2"/>
          <p:cNvSpPr txBox="1"/>
          <p:nvPr/>
        </p:nvSpPr>
        <p:spPr>
          <a:xfrm>
            <a:off x="9486705" y="4464781"/>
            <a:ext cx="1604196" cy="1753399"/>
          </a:xfrm>
          <a:prstGeom prst="rect">
            <a:avLst/>
          </a:prstGeom>
        </p:spPr>
        <p:txBody>
          <a:bodyPr vert="horz" lIns="96011" tIns="48005" rIns="96011" bIns="48005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 err="1"/>
              <a:t>int</a:t>
            </a:r>
            <a:r>
              <a:rPr lang="en-US" sz="1890" dirty="0"/>
              <a:t> main () {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double a;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……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double b;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   </a:t>
            </a:r>
            <a:r>
              <a:rPr lang="en-US" sz="1890" dirty="0" err="1"/>
              <a:t>int</a:t>
            </a:r>
            <a:r>
              <a:rPr lang="en-US" sz="1890" dirty="0"/>
              <a:t> n;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1890" dirty="0"/>
              <a:t>};</a:t>
            </a:r>
          </a:p>
        </p:txBody>
      </p:sp>
      <p:cxnSp>
        <p:nvCxnSpPr>
          <p:cNvPr id="37" name="直接箭头连接符 36"/>
          <p:cNvCxnSpPr/>
          <p:nvPr/>
        </p:nvCxnSpPr>
        <p:spPr>
          <a:xfrm flipV="1">
            <a:off x="7591718" y="5075945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5824728" y="5112267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112764" y="3992732"/>
            <a:ext cx="0" cy="268833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747403" y="5551686"/>
            <a:ext cx="104830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Message</a:t>
            </a:r>
          </a:p>
          <a:p>
            <a:r>
              <a:rPr lang="en-US" sz="1890" dirty="0"/>
              <a:t>buffer</a:t>
            </a:r>
            <a:endParaRPr lang="en-US" sz="189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4786436" y="5551686"/>
            <a:ext cx="104830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Message</a:t>
            </a:r>
          </a:p>
          <a:p>
            <a:r>
              <a:rPr lang="en-US" sz="1890" dirty="0"/>
              <a:t>buffer</a:t>
            </a:r>
            <a:endParaRPr lang="en-US" sz="1890" b="1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C4FA6AF-DC80-4871-B716-A6EB935D680B}"/>
              </a:ext>
            </a:extLst>
          </p:cNvPr>
          <p:cNvCxnSpPr/>
          <p:nvPr/>
        </p:nvCxnSpPr>
        <p:spPr>
          <a:xfrm>
            <a:off x="280120" y="3816474"/>
            <a:ext cx="1216935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06AE9C4-450F-4DB3-9FF7-9860B7CA4212}"/>
              </a:ext>
            </a:extLst>
          </p:cNvPr>
          <p:cNvSpPr/>
          <p:nvPr/>
        </p:nvSpPr>
        <p:spPr>
          <a:xfrm>
            <a:off x="210512" y="3397548"/>
            <a:ext cx="10967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C Struct</a:t>
            </a:r>
            <a:endParaRPr lang="zh-CN" altLang="en-US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162058E-CE23-45F3-ADE3-F8F293CC6D2D}"/>
              </a:ext>
            </a:extLst>
          </p:cNvPr>
          <p:cNvSpPr/>
          <p:nvPr/>
        </p:nvSpPr>
        <p:spPr>
          <a:xfrm>
            <a:off x="210511" y="3885169"/>
            <a:ext cx="30456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MPI_Type_create_struct</a:t>
            </a:r>
            <a:endParaRPr lang="en-US" altLang="zh-CN" b="1" dirty="0"/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Other derived datatype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28370" y="1367790"/>
            <a:ext cx="10339705" cy="3507105"/>
          </a:xfrm>
        </p:spPr>
        <p:txBody>
          <a:bodyPr>
            <a:normAutofit/>
          </a:bodyPr>
          <a:lstStyle/>
          <a:p>
            <a:r>
              <a:rPr lang="en-US" sz="2520" b="0" dirty="0" err="1"/>
              <a:t>MPI_Type_contiguous</a:t>
            </a:r>
            <a:r>
              <a:rPr lang="en-US" sz="2520" b="0" dirty="0"/>
              <a:t> ( </a:t>
            </a:r>
            <a:r>
              <a:rPr lang="en-US" sz="2520" b="0" dirty="0" err="1"/>
              <a:t>int</a:t>
            </a:r>
            <a:r>
              <a:rPr lang="en-US" sz="2520" b="0" dirty="0"/>
              <a:t> count, </a:t>
            </a:r>
            <a:r>
              <a:rPr lang="en-US" sz="2520" b="0" dirty="0" err="1"/>
              <a:t>MPI_Datatype</a:t>
            </a:r>
            <a:r>
              <a:rPr lang="en-US" sz="2520" b="0" dirty="0"/>
              <a:t> datatype, </a:t>
            </a:r>
            <a:r>
              <a:rPr lang="en-US" sz="2520" b="0" dirty="0" err="1"/>
              <a:t>MPI_Datatype</a:t>
            </a:r>
            <a:r>
              <a:rPr lang="en-US" sz="2520" b="0" dirty="0"/>
              <a:t> *</a:t>
            </a:r>
            <a:r>
              <a:rPr lang="en-US" sz="2520" b="0" dirty="0" err="1"/>
              <a:t>newtype</a:t>
            </a:r>
            <a:r>
              <a:rPr lang="en-US" sz="2520" b="0" dirty="0"/>
              <a:t> );</a:t>
            </a:r>
          </a:p>
          <a:p>
            <a:pPr lvl="1"/>
            <a:r>
              <a:rPr lang="en-US" sz="2100" dirty="0"/>
              <a:t>count</a:t>
            </a:r>
            <a:r>
              <a:rPr lang="en-US" sz="2100" b="0" dirty="0"/>
              <a:t> elements of the same datatype forming a contiguous chunk in the memory</a:t>
            </a:r>
          </a:p>
          <a:p>
            <a:r>
              <a:rPr lang="en-US" sz="2520" b="0" dirty="0"/>
              <a:t>Input datatype can be a derived datatype</a:t>
            </a:r>
          </a:p>
          <a:p>
            <a:pPr lvl="1"/>
            <a:r>
              <a:rPr lang="en-US" sz="2100" b="0" dirty="0"/>
              <a:t>End of one element of the derived datatype has to be exactly at the beginning of the next element of the derived datatype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96795" y="4464050"/>
            <a:ext cx="6489700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dirty="0" err="1"/>
              <a:t>int</a:t>
            </a:r>
            <a:r>
              <a:rPr lang="en-US" sz="1890" dirty="0"/>
              <a:t> </a:t>
            </a:r>
            <a:r>
              <a:rPr lang="en-US" sz="1890" dirty="0" err="1"/>
              <a:t>myvec</a:t>
            </a:r>
            <a:r>
              <a:rPr lang="en-US" sz="1890" dirty="0"/>
              <a:t>[4];</a:t>
            </a:r>
          </a:p>
          <a:p>
            <a:r>
              <a:rPr lang="en-US" sz="1890" dirty="0" err="1"/>
              <a:t>MPI_Type_contiguous</a:t>
            </a:r>
            <a:r>
              <a:rPr lang="en-US" sz="1890" dirty="0"/>
              <a:t> ( 4, MPI_INT, &amp;</a:t>
            </a:r>
            <a:r>
              <a:rPr lang="en-US" sz="1890" dirty="0" err="1"/>
              <a:t>mybrandnewdatatype</a:t>
            </a:r>
            <a:r>
              <a:rPr lang="en-US" sz="1890" dirty="0"/>
              <a:t>);</a:t>
            </a:r>
          </a:p>
          <a:p>
            <a:r>
              <a:rPr lang="en-US" sz="1890" dirty="0" err="1"/>
              <a:t>MPI_Type_commit</a:t>
            </a:r>
            <a:r>
              <a:rPr lang="en-US" sz="1890" dirty="0"/>
              <a:t> ( &amp;</a:t>
            </a:r>
            <a:r>
              <a:rPr lang="en-US" sz="1890" dirty="0" err="1"/>
              <a:t>mybrandnewdatatype</a:t>
            </a:r>
            <a:r>
              <a:rPr lang="en-US" sz="1890" dirty="0"/>
              <a:t> );</a:t>
            </a:r>
          </a:p>
          <a:p>
            <a:r>
              <a:rPr lang="en-US" sz="1890" dirty="0" err="1"/>
              <a:t>MPI_Send</a:t>
            </a:r>
            <a:r>
              <a:rPr lang="en-US" sz="1890" dirty="0"/>
              <a:t> ( </a:t>
            </a:r>
            <a:r>
              <a:rPr lang="en-US" sz="1890" dirty="0" err="1"/>
              <a:t>myvec</a:t>
            </a:r>
            <a:r>
              <a:rPr lang="en-US" sz="1890" dirty="0"/>
              <a:t>, 1, </a:t>
            </a:r>
            <a:r>
              <a:rPr lang="en-US" sz="1890" dirty="0" err="1"/>
              <a:t>mybrandnewdatatype</a:t>
            </a:r>
            <a:r>
              <a:rPr lang="en-US" sz="1890" dirty="0"/>
              <a:t>, … );</a:t>
            </a:r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derived datatype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360805" y="1080135"/>
            <a:ext cx="10190480" cy="4785360"/>
          </a:xfrm>
        </p:spPr>
        <p:txBody>
          <a:bodyPr>
            <a:normAutofit/>
          </a:bodyPr>
          <a:lstStyle/>
          <a:p>
            <a:r>
              <a:rPr lang="en-US" sz="2520" dirty="0" err="1"/>
              <a:t>MPI_Type_vector</a:t>
            </a:r>
            <a:r>
              <a:rPr lang="en-US" sz="2520" dirty="0"/>
              <a:t>( </a:t>
            </a:r>
            <a:r>
              <a:rPr lang="en-US" sz="2520" dirty="0" err="1"/>
              <a:t>int</a:t>
            </a:r>
            <a:r>
              <a:rPr lang="en-US" sz="2520" dirty="0"/>
              <a:t> count, </a:t>
            </a:r>
            <a:r>
              <a:rPr lang="en-US" sz="2520" dirty="0" err="1"/>
              <a:t>int</a:t>
            </a:r>
            <a:r>
              <a:rPr lang="en-US" sz="2520" dirty="0"/>
              <a:t> </a:t>
            </a:r>
            <a:r>
              <a:rPr lang="en-US" sz="2520" dirty="0" err="1"/>
              <a:t>blocklength</a:t>
            </a:r>
            <a:r>
              <a:rPr lang="en-US" sz="2520" dirty="0"/>
              <a:t>, </a:t>
            </a:r>
            <a:r>
              <a:rPr lang="en-US" sz="2520" dirty="0" err="1"/>
              <a:t>int</a:t>
            </a:r>
            <a:r>
              <a:rPr lang="en-US" sz="2520" dirty="0"/>
              <a:t> stride, </a:t>
            </a:r>
            <a:r>
              <a:rPr lang="en-US" sz="2520" dirty="0" err="1"/>
              <a:t>MPI_Datatype</a:t>
            </a:r>
            <a:r>
              <a:rPr lang="en-US" sz="2520" dirty="0"/>
              <a:t> datatype, </a:t>
            </a:r>
            <a:r>
              <a:rPr lang="en-US" sz="2520" dirty="0" err="1"/>
              <a:t>MPI_Datatype</a:t>
            </a:r>
            <a:r>
              <a:rPr lang="en-US" sz="2520" dirty="0"/>
              <a:t> *</a:t>
            </a:r>
            <a:r>
              <a:rPr lang="en-US" sz="2520" dirty="0" err="1"/>
              <a:t>newtype</a:t>
            </a:r>
            <a:r>
              <a:rPr lang="en-US" sz="2520" dirty="0"/>
              <a:t> );</a:t>
            </a:r>
          </a:p>
          <a:p>
            <a:pPr lvl="1"/>
            <a:r>
              <a:rPr lang="en-US" sz="2100" dirty="0"/>
              <a:t>count blocks of </a:t>
            </a:r>
            <a:r>
              <a:rPr lang="en-US" sz="2100" dirty="0" err="1"/>
              <a:t>blocklength</a:t>
            </a:r>
            <a:r>
              <a:rPr lang="en-US" sz="2100" dirty="0"/>
              <a:t> elements of the same datatype</a:t>
            </a:r>
          </a:p>
          <a:p>
            <a:pPr lvl="1"/>
            <a:r>
              <a:rPr lang="en-US" sz="2100" dirty="0"/>
              <a:t>Between the start of each block there are stride elements of the same datatype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38" y="5112489"/>
            <a:ext cx="6658678" cy="177116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68571" y="3240550"/>
            <a:ext cx="5875020" cy="212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double </a:t>
            </a:r>
            <a:r>
              <a:rPr lang="en-US" sz="1890" dirty="0" err="1"/>
              <a:t>myvec</a:t>
            </a:r>
            <a:r>
              <a:rPr lang="en-US" sz="1890" dirty="0"/>
              <a:t>[8];</a:t>
            </a:r>
          </a:p>
          <a:p>
            <a:r>
              <a:rPr lang="en-US" sz="1890" dirty="0" err="1"/>
              <a:t>dtype</a:t>
            </a:r>
            <a:r>
              <a:rPr lang="en-US" sz="1890" dirty="0"/>
              <a:t> = MPI_DOUBLE;  stride = 3;</a:t>
            </a:r>
          </a:p>
          <a:p>
            <a:r>
              <a:rPr lang="en-US" sz="1890" dirty="0" err="1"/>
              <a:t>blength</a:t>
            </a:r>
            <a:r>
              <a:rPr lang="en-US" sz="1890" dirty="0"/>
              <a:t> = 2;  count = 3;</a:t>
            </a:r>
          </a:p>
          <a:p>
            <a:r>
              <a:rPr lang="en-US" sz="1890" dirty="0" err="1"/>
              <a:t>MPI_Type_vector</a:t>
            </a:r>
            <a:r>
              <a:rPr lang="en-US" sz="1890" dirty="0"/>
              <a:t> (count,blength,stride,</a:t>
            </a:r>
            <a:r>
              <a:rPr lang="en-US" sz="1890" dirty="0" err="1"/>
              <a:t>dtype</a:t>
            </a:r>
            <a:r>
              <a:rPr lang="en-US" sz="1890" dirty="0"/>
              <a:t>,&amp;</a:t>
            </a:r>
            <a:r>
              <a:rPr lang="en-US" sz="1890" dirty="0" err="1"/>
              <a:t>newtype</a:t>
            </a:r>
            <a:r>
              <a:rPr lang="en-US" sz="1890" dirty="0"/>
              <a:t>); </a:t>
            </a:r>
          </a:p>
          <a:p>
            <a:r>
              <a:rPr lang="en-US" sz="1890" dirty="0" err="1"/>
              <a:t>MPI_Type_commit</a:t>
            </a:r>
            <a:r>
              <a:rPr lang="en-US" sz="1890" dirty="0"/>
              <a:t> (&amp;</a:t>
            </a:r>
            <a:r>
              <a:rPr lang="en-US" sz="1890" dirty="0" err="1"/>
              <a:t>newtype</a:t>
            </a:r>
            <a:r>
              <a:rPr lang="en-US" sz="1890" dirty="0"/>
              <a:t>); </a:t>
            </a:r>
          </a:p>
          <a:p>
            <a:r>
              <a:rPr lang="en-US" sz="1890" dirty="0" err="1"/>
              <a:t>MPI_Send</a:t>
            </a:r>
            <a:r>
              <a:rPr lang="en-US" sz="1890" dirty="0"/>
              <a:t> ( </a:t>
            </a:r>
            <a:r>
              <a:rPr lang="en-US" sz="1890" dirty="0" err="1"/>
              <a:t>myvec</a:t>
            </a:r>
            <a:r>
              <a:rPr lang="en-US" sz="1890" dirty="0"/>
              <a:t>, 1, </a:t>
            </a:r>
            <a:r>
              <a:rPr lang="en-US" sz="1890" dirty="0" err="1"/>
              <a:t>newtype</a:t>
            </a:r>
            <a:r>
              <a:rPr lang="en-US" sz="1890" dirty="0"/>
              <a:t>, … );</a:t>
            </a:r>
          </a:p>
          <a:p>
            <a:endParaRPr lang="en-US" sz="1890" dirty="0"/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derived datatype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88415" y="1223645"/>
            <a:ext cx="10219055" cy="2947035"/>
          </a:xfrm>
        </p:spPr>
        <p:txBody>
          <a:bodyPr>
            <a:normAutofit fontScale="92500"/>
          </a:bodyPr>
          <a:lstStyle/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520" dirty="0" err="1"/>
              <a:t>MPI_Type_indexed</a:t>
            </a:r>
            <a:r>
              <a:rPr lang="en-US" sz="2520" dirty="0"/>
              <a:t>( </a:t>
            </a:r>
            <a:r>
              <a:rPr lang="en-US" sz="2520" dirty="0" err="1"/>
              <a:t>int</a:t>
            </a:r>
            <a:r>
              <a:rPr lang="en-US" sz="2520" dirty="0"/>
              <a:t> count, </a:t>
            </a:r>
            <a:r>
              <a:rPr lang="en-US" sz="2520" dirty="0" err="1"/>
              <a:t>int</a:t>
            </a:r>
            <a:r>
              <a:rPr lang="en-US" sz="2520" dirty="0"/>
              <a:t> </a:t>
            </a:r>
            <a:r>
              <a:rPr lang="en-US" sz="2520" dirty="0" err="1"/>
              <a:t>blocklengths</a:t>
            </a:r>
            <a:r>
              <a:rPr lang="en-US" sz="2520" dirty="0"/>
              <a:t>[], </a:t>
            </a:r>
            <a:r>
              <a:rPr lang="en-US" sz="2520" dirty="0" err="1"/>
              <a:t>int</a:t>
            </a:r>
            <a:r>
              <a:rPr lang="en-US" sz="2520" dirty="0"/>
              <a:t> displacements[], </a:t>
            </a:r>
            <a:r>
              <a:rPr lang="en-US" sz="2520" dirty="0" err="1"/>
              <a:t>MPI_Datatype</a:t>
            </a:r>
            <a:r>
              <a:rPr lang="en-US" sz="2520" dirty="0"/>
              <a:t> datatype, </a:t>
            </a:r>
            <a:r>
              <a:rPr lang="en-US" sz="2520" dirty="0" err="1"/>
              <a:t>MPI_Datatype</a:t>
            </a:r>
            <a:r>
              <a:rPr lang="en-US" sz="2520" dirty="0"/>
              <a:t> *</a:t>
            </a:r>
            <a:r>
              <a:rPr lang="en-US" sz="2520" dirty="0" err="1"/>
              <a:t>newtype</a:t>
            </a:r>
            <a:r>
              <a:rPr lang="en-US" sz="2520" dirty="0"/>
              <a:t> );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100" dirty="0"/>
              <a:t>The number of elements per block do not have to be identical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100" i="1" dirty="0"/>
              <a:t>displacements</a:t>
            </a:r>
            <a:r>
              <a:rPr lang="en-US" sz="2100" dirty="0"/>
              <a:t> gives the distance from the ‘base’ to the beginning of the block in multiples of the used datatype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879659" y="5887788"/>
            <a:ext cx="9042283" cy="57016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95697" y="4375932"/>
            <a:ext cx="4160520" cy="1252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/>
              <a:t>count = 3 </a:t>
            </a:r>
          </a:p>
          <a:p>
            <a:r>
              <a:rPr lang="en-US" sz="1890" dirty="0" err="1"/>
              <a:t>blocklengths</a:t>
            </a:r>
            <a:r>
              <a:rPr lang="en-US" sz="1890" dirty="0"/>
              <a:t>[0] = 2 displacements[0] = 0 </a:t>
            </a:r>
          </a:p>
          <a:p>
            <a:r>
              <a:rPr lang="en-US" sz="1890" dirty="0" err="1"/>
              <a:t>blocklengths</a:t>
            </a:r>
            <a:r>
              <a:rPr lang="en-US" sz="1890" dirty="0"/>
              <a:t>[1] = 1 displacements[1] = 3 </a:t>
            </a:r>
          </a:p>
          <a:p>
            <a:r>
              <a:rPr lang="en-US" sz="1890" dirty="0" err="1"/>
              <a:t>blocklengths</a:t>
            </a:r>
            <a:r>
              <a:rPr lang="en-US" sz="1890" dirty="0"/>
              <a:t>[2] = 4 displacements[2] = 5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derived datatype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0715" y="1440180"/>
            <a:ext cx="11041380" cy="4712970"/>
          </a:xfrm>
        </p:spPr>
        <p:txBody>
          <a:bodyPr/>
          <a:lstStyle/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400" b="0" dirty="0" err="1"/>
              <a:t>MPI_Type_create_subarray</a:t>
            </a:r>
            <a:r>
              <a:rPr lang="en-US" sz="2400" b="0" dirty="0"/>
              <a:t> (</a:t>
            </a:r>
            <a:r>
              <a:rPr lang="en-US" sz="2400" b="0" dirty="0" err="1"/>
              <a:t>int</a:t>
            </a:r>
            <a:r>
              <a:rPr lang="en-US" sz="2400" b="0" dirty="0"/>
              <a:t> </a:t>
            </a:r>
            <a:r>
              <a:rPr lang="en-US" sz="2400" b="0" dirty="0" err="1"/>
              <a:t>ndims</a:t>
            </a:r>
            <a:r>
              <a:rPr lang="en-US" sz="2400" b="0" dirty="0"/>
              <a:t>, </a:t>
            </a:r>
            <a:r>
              <a:rPr lang="en-US" sz="2400" b="0" dirty="0" err="1"/>
              <a:t>int</a:t>
            </a:r>
            <a:r>
              <a:rPr lang="en-US" sz="2400" b="0" dirty="0"/>
              <a:t> sizes[], </a:t>
            </a:r>
            <a:r>
              <a:rPr lang="en-US" sz="2400" b="0" dirty="0" err="1"/>
              <a:t>int</a:t>
            </a:r>
            <a:r>
              <a:rPr lang="en-US" sz="2400" b="0" dirty="0"/>
              <a:t> </a:t>
            </a:r>
            <a:r>
              <a:rPr lang="en-US" sz="2400" b="0" dirty="0" err="1"/>
              <a:t>subsizes</a:t>
            </a:r>
            <a:r>
              <a:rPr lang="en-US" sz="2400" b="0" dirty="0"/>
              <a:t>[], </a:t>
            </a:r>
            <a:r>
              <a:rPr lang="en-US" sz="2400" b="0" dirty="0" err="1"/>
              <a:t>int</a:t>
            </a:r>
            <a:r>
              <a:rPr lang="en-US" sz="2400" b="0" dirty="0"/>
              <a:t> starts[], </a:t>
            </a:r>
            <a:r>
              <a:rPr lang="en-US" sz="2400" b="0" dirty="0" err="1"/>
              <a:t>int</a:t>
            </a:r>
            <a:r>
              <a:rPr lang="en-US" sz="2400" b="0" dirty="0"/>
              <a:t> order, </a:t>
            </a:r>
            <a:r>
              <a:rPr lang="en-US" sz="2400" b="0" dirty="0" err="1"/>
              <a:t>MPI_Datatype</a:t>
            </a:r>
            <a:r>
              <a:rPr lang="en-US" sz="2400" b="0" dirty="0"/>
              <a:t> </a:t>
            </a:r>
            <a:r>
              <a:rPr lang="en-US" sz="2400" b="0" dirty="0" err="1"/>
              <a:t>datatype,MPI_Datatype</a:t>
            </a:r>
            <a:r>
              <a:rPr lang="en-US" sz="2400" b="0" dirty="0"/>
              <a:t> *</a:t>
            </a:r>
            <a:r>
              <a:rPr lang="en-US" sz="2400" b="0" dirty="0" err="1"/>
              <a:t>newtype</a:t>
            </a:r>
            <a:r>
              <a:rPr lang="en-US" sz="2400" b="0" dirty="0"/>
              <a:t>);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000" b="0" dirty="0"/>
              <a:t>Define sub-matrices of n-dimensional data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000" b="0" dirty="0"/>
              <a:t>sizes[]: dimension of the entire matrix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000" b="0" dirty="0" err="1"/>
              <a:t>subsizes</a:t>
            </a:r>
            <a:r>
              <a:rPr lang="en-US" sz="2000" b="0" dirty="0"/>
              <a:t>[]: dimensions of the submatrix described by the derived data type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000" b="0" dirty="0"/>
              <a:t>starts[]: array describing the beginning of the submatrices</a:t>
            </a: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sz="2000" b="0" dirty="0"/>
              <a:t>Order: MPI_ORDER_C for row-major order or MPI_ORDER_FORTRAN for column-major data</a:t>
            </a:r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derived datatype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155" y="1264773"/>
            <a:ext cx="6988796" cy="362199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69155" y="5022166"/>
            <a:ext cx="7416165" cy="1833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ndims</a:t>
            </a:r>
            <a:r>
              <a:rPr lang="en-US" sz="1890" dirty="0"/>
              <a:t> = 2; </a:t>
            </a:r>
          </a:p>
          <a:p>
            <a:r>
              <a:rPr lang="en-US" sz="1890" dirty="0"/>
              <a:t>sizes[0] = 8; sizes[1] = 8; </a:t>
            </a:r>
          </a:p>
          <a:p>
            <a:r>
              <a:rPr lang="en-US" sz="1890" dirty="0" err="1"/>
              <a:t>subsizes</a:t>
            </a:r>
            <a:r>
              <a:rPr lang="en-US" sz="1890" dirty="0"/>
              <a:t>[0]= 4; </a:t>
            </a:r>
            <a:r>
              <a:rPr lang="en-US" sz="1890" dirty="0" err="1"/>
              <a:t>subsizes</a:t>
            </a:r>
            <a:r>
              <a:rPr lang="en-US" sz="1890" dirty="0"/>
              <a:t>[1] = 2 </a:t>
            </a:r>
          </a:p>
          <a:p>
            <a:r>
              <a:rPr lang="en-US" sz="1890" dirty="0"/>
              <a:t>starts[0] = 2; starts[1] = 4; </a:t>
            </a:r>
          </a:p>
          <a:p>
            <a:r>
              <a:rPr lang="en-US" sz="1890" dirty="0" err="1"/>
              <a:t>MPI_Type_create_subarray</a:t>
            </a:r>
            <a:r>
              <a:rPr lang="en-US" sz="1890" dirty="0"/>
              <a:t> ( </a:t>
            </a:r>
            <a:r>
              <a:rPr lang="en-US" sz="1890" dirty="0" err="1"/>
              <a:t>ndims</a:t>
            </a:r>
            <a:r>
              <a:rPr lang="en-US" sz="1890" dirty="0"/>
              <a:t>, sizes, </a:t>
            </a:r>
            <a:r>
              <a:rPr lang="en-US" sz="1890" dirty="0" err="1"/>
              <a:t>subsizes</a:t>
            </a:r>
            <a:r>
              <a:rPr lang="en-US" sz="1890" dirty="0"/>
              <a:t>, starts, MPI_ORDER_C, </a:t>
            </a:r>
          </a:p>
          <a:p>
            <a:r>
              <a:rPr lang="en-US" sz="1890" dirty="0"/>
              <a:t>                                                    MPI_DOUBLE, &amp;</a:t>
            </a:r>
            <a:r>
              <a:rPr lang="en-US" sz="1890" dirty="0" err="1"/>
              <a:t>newtype</a:t>
            </a:r>
            <a:r>
              <a:rPr lang="en-US" sz="1890" dirty="0"/>
              <a:t>);</a:t>
            </a: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derived datatype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299016" y="5256634"/>
            <a:ext cx="8281035" cy="1297305"/>
          </a:xfrm>
        </p:spPr>
        <p:txBody>
          <a:bodyPr/>
          <a:lstStyle/>
          <a:p>
            <a:r>
              <a:rPr lang="en-US" b="0" dirty="0"/>
              <a:t>If we just want to send elements </a:t>
            </a:r>
            <a:r>
              <a:rPr lang="en-US" b="0" dirty="0">
                <a:solidFill>
                  <a:srgbClr val="FF0000"/>
                </a:solidFill>
              </a:rPr>
              <a:t>b</a:t>
            </a:r>
            <a:r>
              <a:rPr lang="en-US" b="0" dirty="0"/>
              <a:t> and </a:t>
            </a:r>
            <a:r>
              <a:rPr lang="en-US" b="0" dirty="0">
                <a:solidFill>
                  <a:srgbClr val="FF0000"/>
                </a:solidFill>
              </a:rPr>
              <a:t>c</a:t>
            </a:r>
            <a:r>
              <a:rPr lang="en-US" b="0" dirty="0"/>
              <a:t> of the structure?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61815" y="1223763"/>
            <a:ext cx="2707640" cy="2676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typedef</a:t>
            </a:r>
            <a:r>
              <a:rPr lang="en-US" sz="2400" dirty="0"/>
              <a:t> </a:t>
            </a:r>
            <a:r>
              <a:rPr lang="en-US" sz="2400" dirty="0" err="1"/>
              <a:t>struct</a:t>
            </a:r>
            <a:r>
              <a:rPr lang="en-US" sz="2400" dirty="0"/>
              <a:t> {</a:t>
            </a:r>
          </a:p>
          <a:p>
            <a:r>
              <a:rPr lang="en-US" sz="2400" dirty="0"/>
              <a:t>    char a;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int</a:t>
            </a:r>
            <a:r>
              <a:rPr lang="en-US" sz="2400" dirty="0"/>
              <a:t> b;</a:t>
            </a:r>
          </a:p>
          <a:p>
            <a:r>
              <a:rPr lang="en-US" sz="2400" dirty="0"/>
              <a:t>    double c;</a:t>
            </a:r>
          </a:p>
          <a:p>
            <a:r>
              <a:rPr lang="en-US" sz="2400" dirty="0"/>
              <a:t>    float d;</a:t>
            </a:r>
          </a:p>
          <a:p>
            <a:r>
              <a:rPr lang="en-US" sz="2400" dirty="0"/>
              <a:t>} </a:t>
            </a:r>
            <a:r>
              <a:rPr lang="en-US" sz="2400" dirty="0" err="1"/>
              <a:t>mystruct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mystruct</a:t>
            </a:r>
            <a:r>
              <a:rPr lang="en-US" sz="2400" dirty="0"/>
              <a:t> </a:t>
            </a:r>
            <a:r>
              <a:rPr lang="en-US" sz="2400" b="1" dirty="0" err="1"/>
              <a:t>mydata</a:t>
            </a:r>
            <a:r>
              <a:rPr lang="en-US" sz="2400" dirty="0"/>
              <a:t>[5];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89090" y="4032250"/>
            <a:ext cx="316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...... </a:t>
            </a:r>
            <a:r>
              <a:rPr lang="en-US" sz="2400" dirty="0" err="1"/>
              <a:t>mydata</a:t>
            </a:r>
            <a:r>
              <a:rPr lang="en-US" sz="2400" dirty="0"/>
              <a:t>[4]</a:t>
            </a:r>
          </a:p>
        </p:txBody>
      </p:sp>
      <p:sp>
        <p:nvSpPr>
          <p:cNvPr id="8" name="矩形 7"/>
          <p:cNvSpPr/>
          <p:nvPr/>
        </p:nvSpPr>
        <p:spPr>
          <a:xfrm>
            <a:off x="1982178" y="4015887"/>
            <a:ext cx="4427853" cy="7200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890" dirty="0" err="1">
                <a:solidFill>
                  <a:schemeClr val="tx1"/>
                </a:solidFill>
              </a:rPr>
              <a:t>mydata</a:t>
            </a:r>
            <a:r>
              <a:rPr lang="en-US" sz="189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5" name="矩形 4"/>
          <p:cNvSpPr/>
          <p:nvPr/>
        </p:nvSpPr>
        <p:spPr>
          <a:xfrm>
            <a:off x="2260283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" name="矩形 8"/>
          <p:cNvSpPr/>
          <p:nvPr/>
        </p:nvSpPr>
        <p:spPr>
          <a:xfrm>
            <a:off x="2427612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" name="矩形 9"/>
          <p:cNvSpPr/>
          <p:nvPr/>
        </p:nvSpPr>
        <p:spPr>
          <a:xfrm>
            <a:off x="2594941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" name="矩形 10"/>
          <p:cNvSpPr/>
          <p:nvPr/>
        </p:nvSpPr>
        <p:spPr>
          <a:xfrm>
            <a:off x="2762270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" name="矩形 11"/>
          <p:cNvSpPr/>
          <p:nvPr/>
        </p:nvSpPr>
        <p:spPr>
          <a:xfrm>
            <a:off x="2929599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" name="矩形 12"/>
          <p:cNvSpPr/>
          <p:nvPr/>
        </p:nvSpPr>
        <p:spPr>
          <a:xfrm>
            <a:off x="3096928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4" name="矩形 13"/>
          <p:cNvSpPr/>
          <p:nvPr/>
        </p:nvSpPr>
        <p:spPr>
          <a:xfrm>
            <a:off x="3264257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5" name="矩形 14"/>
          <p:cNvSpPr/>
          <p:nvPr/>
        </p:nvSpPr>
        <p:spPr>
          <a:xfrm>
            <a:off x="3431586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6" name="矩形 15"/>
          <p:cNvSpPr/>
          <p:nvPr/>
        </p:nvSpPr>
        <p:spPr>
          <a:xfrm>
            <a:off x="3598915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7" name="矩形 16"/>
          <p:cNvSpPr/>
          <p:nvPr/>
        </p:nvSpPr>
        <p:spPr>
          <a:xfrm>
            <a:off x="3766244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8" name="矩形 17"/>
          <p:cNvSpPr/>
          <p:nvPr/>
        </p:nvSpPr>
        <p:spPr>
          <a:xfrm>
            <a:off x="3933573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9" name="矩形 18"/>
          <p:cNvSpPr/>
          <p:nvPr/>
        </p:nvSpPr>
        <p:spPr>
          <a:xfrm>
            <a:off x="4100902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0" name="矩形 19"/>
          <p:cNvSpPr/>
          <p:nvPr/>
        </p:nvSpPr>
        <p:spPr>
          <a:xfrm>
            <a:off x="4268231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1" name="矩形 20"/>
          <p:cNvSpPr/>
          <p:nvPr/>
        </p:nvSpPr>
        <p:spPr>
          <a:xfrm>
            <a:off x="4435560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2" name="矩形 21"/>
          <p:cNvSpPr/>
          <p:nvPr/>
        </p:nvSpPr>
        <p:spPr>
          <a:xfrm>
            <a:off x="4602889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3" name="矩形 22"/>
          <p:cNvSpPr/>
          <p:nvPr/>
        </p:nvSpPr>
        <p:spPr>
          <a:xfrm>
            <a:off x="4770218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4" name="矩形 23"/>
          <p:cNvSpPr/>
          <p:nvPr/>
        </p:nvSpPr>
        <p:spPr>
          <a:xfrm>
            <a:off x="4937547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5" name="矩形 24"/>
          <p:cNvSpPr/>
          <p:nvPr/>
        </p:nvSpPr>
        <p:spPr>
          <a:xfrm>
            <a:off x="5104876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6" name="矩形 25"/>
          <p:cNvSpPr/>
          <p:nvPr/>
        </p:nvSpPr>
        <p:spPr>
          <a:xfrm>
            <a:off x="5272205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7" name="矩形 26"/>
          <p:cNvSpPr/>
          <p:nvPr/>
        </p:nvSpPr>
        <p:spPr>
          <a:xfrm>
            <a:off x="5439534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8" name="矩形 27"/>
          <p:cNvSpPr/>
          <p:nvPr/>
        </p:nvSpPr>
        <p:spPr>
          <a:xfrm>
            <a:off x="5606864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9" name="矩形 28"/>
          <p:cNvSpPr/>
          <p:nvPr/>
        </p:nvSpPr>
        <p:spPr>
          <a:xfrm>
            <a:off x="5774193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0" name="矩形 29"/>
          <p:cNvSpPr/>
          <p:nvPr/>
        </p:nvSpPr>
        <p:spPr>
          <a:xfrm>
            <a:off x="5941522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1" name="矩形 30"/>
          <p:cNvSpPr/>
          <p:nvPr/>
        </p:nvSpPr>
        <p:spPr>
          <a:xfrm>
            <a:off x="6108851" y="412699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0C4715-D62A-4FB2-B283-9FFB08D2F7C3}"/>
              </a:ext>
            </a:extLst>
          </p:cNvPr>
          <p:cNvSpPr txBox="1"/>
          <p:nvPr/>
        </p:nvSpPr>
        <p:spPr>
          <a:xfrm>
            <a:off x="5805925" y="1128220"/>
            <a:ext cx="61945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rule for alignment (on x86 and x86_64) is generally to align a variable on it's size.</a:t>
            </a:r>
          </a:p>
          <a:p>
            <a:r>
              <a:rPr lang="en-US" dirty="0"/>
              <a:t>In other words, 32-bit variables are aligned on 4 bytes, 64-bit variables on 8 bytes, etc.</a:t>
            </a:r>
          </a:p>
          <a:p>
            <a:r>
              <a:rPr lang="en-US" altLang="zh-CN" dirty="0"/>
              <a:t>I</a:t>
            </a:r>
            <a:r>
              <a:rPr lang="en-US" dirty="0"/>
              <a:t>n many case, all structure members are padded according the biggest variable (in byte). </a:t>
            </a:r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derived datatype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124075" y="4697095"/>
            <a:ext cx="8281035" cy="1639570"/>
          </a:xfrm>
        </p:spPr>
        <p:txBody>
          <a:bodyPr>
            <a:normAutofit/>
          </a:bodyPr>
          <a:lstStyle/>
          <a:p>
            <a:r>
              <a:rPr lang="en-US" sz="2100" dirty="0"/>
              <a:t>Memory layout</a:t>
            </a:r>
          </a:p>
          <a:p>
            <a:r>
              <a:rPr lang="en-US" sz="2100" dirty="0"/>
              <a:t>What we send is</a:t>
            </a:r>
          </a:p>
          <a:p>
            <a:r>
              <a:rPr lang="en-US" sz="2100" dirty="0"/>
              <a:t>What </a:t>
            </a:r>
            <a:r>
              <a:rPr lang="en-US" sz="2100"/>
              <a:t>we sent </a:t>
            </a:r>
            <a:r>
              <a:rPr lang="en-US" sz="2100" dirty="0"/>
              <a:t>is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08389" y="1223940"/>
            <a:ext cx="8908415" cy="3286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[0], &amp;</a:t>
            </a:r>
            <a:r>
              <a:rPr lang="en-US" sz="1890" dirty="0" err="1"/>
              <a:t>baseaddr</a:t>
            </a:r>
            <a:r>
              <a:rPr lang="en-US" sz="1890" dirty="0"/>
              <a:t>);</a:t>
            </a:r>
          </a:p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[0].b, &amp;addr1);</a:t>
            </a:r>
          </a:p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[0].c, &amp;addr2);</a:t>
            </a:r>
          </a:p>
          <a:p>
            <a:r>
              <a:rPr lang="en-US" sz="1890" b="1" dirty="0" err="1"/>
              <a:t>displ</a:t>
            </a:r>
            <a:r>
              <a:rPr lang="en-US" sz="1890" dirty="0"/>
              <a:t>[0] = addr1 - </a:t>
            </a:r>
            <a:r>
              <a:rPr lang="en-US" sz="1890" dirty="0" err="1"/>
              <a:t>baseaddr</a:t>
            </a:r>
            <a:r>
              <a:rPr lang="en-US" sz="1890" dirty="0"/>
              <a:t>;</a:t>
            </a:r>
          </a:p>
          <a:p>
            <a:r>
              <a:rPr lang="en-US" sz="1890" b="1" dirty="0" err="1"/>
              <a:t>displ</a:t>
            </a:r>
            <a:r>
              <a:rPr lang="en-US" sz="1890" dirty="0"/>
              <a:t>[1] = addr2 – </a:t>
            </a:r>
            <a:r>
              <a:rPr lang="en-US" sz="1890" dirty="0" err="1"/>
              <a:t>baseaddr</a:t>
            </a:r>
            <a:r>
              <a:rPr lang="en-US" sz="1890" dirty="0"/>
              <a:t>;</a:t>
            </a:r>
          </a:p>
          <a:p>
            <a:r>
              <a:rPr lang="en-US" sz="1890" dirty="0" err="1"/>
              <a:t>dtype</a:t>
            </a:r>
            <a:r>
              <a:rPr lang="en-US" sz="1890" dirty="0"/>
              <a:t>[0] = MPI_INT;  </a:t>
            </a:r>
            <a:r>
              <a:rPr lang="zh-CN" altLang="en-US" sz="1890" dirty="0"/>
              <a:t>   </a:t>
            </a:r>
            <a:r>
              <a:rPr lang="en-US" sz="1890" dirty="0" err="1"/>
              <a:t>blength</a:t>
            </a:r>
            <a:r>
              <a:rPr lang="en-US" sz="1890" dirty="0"/>
              <a:t>[0] = 1;</a:t>
            </a:r>
          </a:p>
          <a:p>
            <a:r>
              <a:rPr lang="en-US" sz="1890" dirty="0" err="1"/>
              <a:t>dtype</a:t>
            </a:r>
            <a:r>
              <a:rPr lang="en-US" sz="1890" dirty="0"/>
              <a:t>[1] = MPI_DOUBLE;  </a:t>
            </a:r>
            <a:r>
              <a:rPr lang="zh-CN" altLang="en-US" sz="1890" dirty="0"/>
              <a:t>   </a:t>
            </a:r>
            <a:r>
              <a:rPr lang="en-US" sz="1890" dirty="0" err="1"/>
              <a:t>blength</a:t>
            </a:r>
            <a:r>
              <a:rPr lang="en-US" sz="1890" dirty="0"/>
              <a:t>[1] = 1;</a:t>
            </a:r>
          </a:p>
          <a:p>
            <a:r>
              <a:rPr lang="en-US" sz="1890" b="1" dirty="0" err="1"/>
              <a:t>MPI_Type_create_struct</a:t>
            </a:r>
            <a:r>
              <a:rPr lang="en-US" sz="1890" dirty="0"/>
              <a:t> (2,blength,displ,dtype,&amp;newtype);</a:t>
            </a:r>
          </a:p>
          <a:p>
            <a:r>
              <a:rPr lang="en-US" sz="1890" dirty="0" err="1"/>
              <a:t>MPI_Type_commit</a:t>
            </a:r>
            <a:r>
              <a:rPr lang="en-US" sz="1890" dirty="0"/>
              <a:t> ( &amp;</a:t>
            </a:r>
            <a:r>
              <a:rPr lang="en-US" sz="1890" dirty="0" err="1"/>
              <a:t>newtype</a:t>
            </a:r>
            <a:r>
              <a:rPr lang="en-US" sz="1890" dirty="0"/>
              <a:t>);</a:t>
            </a:r>
          </a:p>
          <a:p>
            <a:r>
              <a:rPr lang="en-US" sz="1890" dirty="0" err="1"/>
              <a:t>MPI_Send</a:t>
            </a:r>
            <a:r>
              <a:rPr lang="en-US" sz="1890" dirty="0"/>
              <a:t> ( </a:t>
            </a:r>
            <a:r>
              <a:rPr lang="en-US" sz="1890" dirty="0" err="1"/>
              <a:t>mydata</a:t>
            </a:r>
            <a:r>
              <a:rPr lang="en-US" sz="1890" dirty="0"/>
              <a:t>, 1, </a:t>
            </a:r>
            <a:r>
              <a:rPr lang="en-US" sz="1890" dirty="0" err="1"/>
              <a:t>newtype</a:t>
            </a:r>
            <a:r>
              <a:rPr lang="en-US" sz="1890" dirty="0"/>
              <a:t>,…);  //it is ok if we send one </a:t>
            </a:r>
            <a:r>
              <a:rPr lang="en-US" sz="1890" dirty="0" err="1"/>
              <a:t>struct</a:t>
            </a:r>
            <a:r>
              <a:rPr lang="en-US" sz="1890" dirty="0"/>
              <a:t> instance.</a:t>
            </a:r>
          </a:p>
          <a:p>
            <a:r>
              <a:rPr lang="en-US" sz="1890" dirty="0" err="1"/>
              <a:t>MPI_Send</a:t>
            </a:r>
            <a:r>
              <a:rPr lang="en-US" sz="1890" dirty="0"/>
              <a:t> ( </a:t>
            </a:r>
            <a:r>
              <a:rPr lang="en-US" sz="1890" dirty="0" err="1"/>
              <a:t>mydata</a:t>
            </a:r>
            <a:r>
              <a:rPr lang="en-US" sz="1890" dirty="0"/>
              <a:t>, </a:t>
            </a:r>
            <a:r>
              <a:rPr lang="en-US" altLang="zh-CN" sz="1890" dirty="0"/>
              <a:t>2</a:t>
            </a:r>
            <a:r>
              <a:rPr lang="en-US" sz="1890" dirty="0"/>
              <a:t>, </a:t>
            </a:r>
            <a:r>
              <a:rPr lang="en-US" sz="1890" dirty="0" err="1"/>
              <a:t>newtype</a:t>
            </a:r>
            <a:r>
              <a:rPr lang="en-US" sz="1890" dirty="0"/>
              <a:t>, …); //If send more instances, received data will be wrong</a:t>
            </a:r>
          </a:p>
        </p:txBody>
      </p:sp>
      <p:sp>
        <p:nvSpPr>
          <p:cNvPr id="8" name="矩形 7"/>
          <p:cNvSpPr/>
          <p:nvPr/>
        </p:nvSpPr>
        <p:spPr>
          <a:xfrm>
            <a:off x="212433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" name="矩形 8"/>
          <p:cNvSpPr/>
          <p:nvPr/>
        </p:nvSpPr>
        <p:spPr>
          <a:xfrm>
            <a:off x="229166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" name="矩形 9"/>
          <p:cNvSpPr/>
          <p:nvPr/>
        </p:nvSpPr>
        <p:spPr>
          <a:xfrm>
            <a:off x="2458989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" name="矩形 10"/>
          <p:cNvSpPr/>
          <p:nvPr/>
        </p:nvSpPr>
        <p:spPr>
          <a:xfrm>
            <a:off x="2626318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" name="矩形 11"/>
          <p:cNvSpPr/>
          <p:nvPr/>
        </p:nvSpPr>
        <p:spPr>
          <a:xfrm>
            <a:off x="2793648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" name="矩形 12"/>
          <p:cNvSpPr/>
          <p:nvPr/>
        </p:nvSpPr>
        <p:spPr>
          <a:xfrm>
            <a:off x="2960977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4" name="矩形 13"/>
          <p:cNvSpPr/>
          <p:nvPr/>
        </p:nvSpPr>
        <p:spPr>
          <a:xfrm>
            <a:off x="3128306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5" name="矩形 14"/>
          <p:cNvSpPr/>
          <p:nvPr/>
        </p:nvSpPr>
        <p:spPr>
          <a:xfrm>
            <a:off x="3295635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6" name="矩形 15"/>
          <p:cNvSpPr/>
          <p:nvPr/>
        </p:nvSpPr>
        <p:spPr>
          <a:xfrm>
            <a:off x="3462964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7" name="矩形 16"/>
          <p:cNvSpPr/>
          <p:nvPr/>
        </p:nvSpPr>
        <p:spPr>
          <a:xfrm>
            <a:off x="3630293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8" name="矩形 17"/>
          <p:cNvSpPr/>
          <p:nvPr/>
        </p:nvSpPr>
        <p:spPr>
          <a:xfrm>
            <a:off x="3797622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9" name="矩形 18"/>
          <p:cNvSpPr/>
          <p:nvPr/>
        </p:nvSpPr>
        <p:spPr>
          <a:xfrm>
            <a:off x="396495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0" name="矩形 19"/>
          <p:cNvSpPr/>
          <p:nvPr/>
        </p:nvSpPr>
        <p:spPr>
          <a:xfrm>
            <a:off x="413228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1" name="矩形 20"/>
          <p:cNvSpPr/>
          <p:nvPr/>
        </p:nvSpPr>
        <p:spPr>
          <a:xfrm>
            <a:off x="4299609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2" name="矩形 21"/>
          <p:cNvSpPr/>
          <p:nvPr/>
        </p:nvSpPr>
        <p:spPr>
          <a:xfrm>
            <a:off x="4466938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3" name="矩形 22"/>
          <p:cNvSpPr/>
          <p:nvPr/>
        </p:nvSpPr>
        <p:spPr>
          <a:xfrm>
            <a:off x="4634267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4" name="矩形 23"/>
          <p:cNvSpPr/>
          <p:nvPr/>
        </p:nvSpPr>
        <p:spPr>
          <a:xfrm>
            <a:off x="4801596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5" name="矩形 24"/>
          <p:cNvSpPr/>
          <p:nvPr/>
        </p:nvSpPr>
        <p:spPr>
          <a:xfrm>
            <a:off x="4968925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6" name="矩形 25"/>
          <p:cNvSpPr/>
          <p:nvPr/>
        </p:nvSpPr>
        <p:spPr>
          <a:xfrm>
            <a:off x="5136254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7" name="矩形 26"/>
          <p:cNvSpPr/>
          <p:nvPr/>
        </p:nvSpPr>
        <p:spPr>
          <a:xfrm>
            <a:off x="5303583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8" name="矩形 27"/>
          <p:cNvSpPr/>
          <p:nvPr/>
        </p:nvSpPr>
        <p:spPr>
          <a:xfrm>
            <a:off x="5470912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9" name="矩形 28"/>
          <p:cNvSpPr/>
          <p:nvPr/>
        </p:nvSpPr>
        <p:spPr>
          <a:xfrm>
            <a:off x="563824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0" name="矩形 29"/>
          <p:cNvSpPr/>
          <p:nvPr/>
        </p:nvSpPr>
        <p:spPr>
          <a:xfrm>
            <a:off x="580557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1" name="矩形 30"/>
          <p:cNvSpPr/>
          <p:nvPr/>
        </p:nvSpPr>
        <p:spPr>
          <a:xfrm>
            <a:off x="5972899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2" name="矩形 31"/>
          <p:cNvSpPr/>
          <p:nvPr/>
        </p:nvSpPr>
        <p:spPr>
          <a:xfrm>
            <a:off x="6142513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3" name="矩形 32"/>
          <p:cNvSpPr/>
          <p:nvPr/>
        </p:nvSpPr>
        <p:spPr>
          <a:xfrm>
            <a:off x="6309842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4" name="矩形 33"/>
          <p:cNvSpPr/>
          <p:nvPr/>
        </p:nvSpPr>
        <p:spPr>
          <a:xfrm>
            <a:off x="647717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5" name="矩形 34"/>
          <p:cNvSpPr/>
          <p:nvPr/>
        </p:nvSpPr>
        <p:spPr>
          <a:xfrm>
            <a:off x="664450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6" name="矩形 35"/>
          <p:cNvSpPr/>
          <p:nvPr/>
        </p:nvSpPr>
        <p:spPr>
          <a:xfrm>
            <a:off x="681183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7" name="矩形 36"/>
          <p:cNvSpPr/>
          <p:nvPr/>
        </p:nvSpPr>
        <p:spPr>
          <a:xfrm>
            <a:off x="6979159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8" name="矩形 37"/>
          <p:cNvSpPr/>
          <p:nvPr/>
        </p:nvSpPr>
        <p:spPr>
          <a:xfrm>
            <a:off x="7146488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39" name="矩形 38"/>
          <p:cNvSpPr/>
          <p:nvPr/>
        </p:nvSpPr>
        <p:spPr>
          <a:xfrm>
            <a:off x="7313817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0" name="矩形 39"/>
          <p:cNvSpPr/>
          <p:nvPr/>
        </p:nvSpPr>
        <p:spPr>
          <a:xfrm>
            <a:off x="7481146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1" name="矩形 40"/>
          <p:cNvSpPr/>
          <p:nvPr/>
        </p:nvSpPr>
        <p:spPr>
          <a:xfrm>
            <a:off x="7648475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2" name="矩形 41"/>
          <p:cNvSpPr/>
          <p:nvPr/>
        </p:nvSpPr>
        <p:spPr>
          <a:xfrm>
            <a:off x="7815804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3" name="矩形 42"/>
          <p:cNvSpPr/>
          <p:nvPr/>
        </p:nvSpPr>
        <p:spPr>
          <a:xfrm>
            <a:off x="7983133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4" name="矩形 43"/>
          <p:cNvSpPr/>
          <p:nvPr/>
        </p:nvSpPr>
        <p:spPr>
          <a:xfrm>
            <a:off x="8150462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5" name="矩形 44"/>
          <p:cNvSpPr/>
          <p:nvPr/>
        </p:nvSpPr>
        <p:spPr>
          <a:xfrm>
            <a:off x="831779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6" name="矩形 45"/>
          <p:cNvSpPr/>
          <p:nvPr/>
        </p:nvSpPr>
        <p:spPr>
          <a:xfrm>
            <a:off x="8485120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7" name="矩形 46"/>
          <p:cNvSpPr/>
          <p:nvPr/>
        </p:nvSpPr>
        <p:spPr>
          <a:xfrm>
            <a:off x="8652449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8" name="矩形 47"/>
          <p:cNvSpPr/>
          <p:nvPr/>
        </p:nvSpPr>
        <p:spPr>
          <a:xfrm>
            <a:off x="8819778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49" name="矩形 48"/>
          <p:cNvSpPr/>
          <p:nvPr/>
        </p:nvSpPr>
        <p:spPr>
          <a:xfrm>
            <a:off x="8987107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0" name="矩形 49"/>
          <p:cNvSpPr/>
          <p:nvPr/>
        </p:nvSpPr>
        <p:spPr>
          <a:xfrm>
            <a:off x="9154436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1" name="矩形 50"/>
          <p:cNvSpPr/>
          <p:nvPr/>
        </p:nvSpPr>
        <p:spPr>
          <a:xfrm>
            <a:off x="9321765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2" name="矩形 51"/>
          <p:cNvSpPr/>
          <p:nvPr/>
        </p:nvSpPr>
        <p:spPr>
          <a:xfrm>
            <a:off x="9489094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3" name="矩形 52"/>
          <p:cNvSpPr/>
          <p:nvPr/>
        </p:nvSpPr>
        <p:spPr>
          <a:xfrm>
            <a:off x="9656423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4" name="矩形 53"/>
          <p:cNvSpPr/>
          <p:nvPr/>
        </p:nvSpPr>
        <p:spPr>
          <a:xfrm>
            <a:off x="9823752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5" name="矩形 54"/>
          <p:cNvSpPr/>
          <p:nvPr/>
        </p:nvSpPr>
        <p:spPr>
          <a:xfrm>
            <a:off x="9991081" y="521945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6" name="矩形 55"/>
          <p:cNvSpPr/>
          <p:nvPr/>
        </p:nvSpPr>
        <p:spPr>
          <a:xfrm>
            <a:off x="2101471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7" name="矩形 56"/>
          <p:cNvSpPr/>
          <p:nvPr/>
        </p:nvSpPr>
        <p:spPr>
          <a:xfrm>
            <a:off x="2268800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8" name="矩形 57"/>
          <p:cNvSpPr/>
          <p:nvPr/>
        </p:nvSpPr>
        <p:spPr>
          <a:xfrm>
            <a:off x="2436129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59" name="矩形 58"/>
          <p:cNvSpPr/>
          <p:nvPr/>
        </p:nvSpPr>
        <p:spPr>
          <a:xfrm>
            <a:off x="2603458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0" name="矩形 59"/>
          <p:cNvSpPr/>
          <p:nvPr/>
        </p:nvSpPr>
        <p:spPr>
          <a:xfrm>
            <a:off x="2770788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1" name="矩形 60"/>
          <p:cNvSpPr/>
          <p:nvPr/>
        </p:nvSpPr>
        <p:spPr>
          <a:xfrm>
            <a:off x="2938117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2" name="矩形 61"/>
          <p:cNvSpPr/>
          <p:nvPr/>
        </p:nvSpPr>
        <p:spPr>
          <a:xfrm>
            <a:off x="3105446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3" name="矩形 62"/>
          <p:cNvSpPr/>
          <p:nvPr/>
        </p:nvSpPr>
        <p:spPr>
          <a:xfrm>
            <a:off x="3272775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4" name="矩形 63"/>
          <p:cNvSpPr/>
          <p:nvPr/>
        </p:nvSpPr>
        <p:spPr>
          <a:xfrm>
            <a:off x="3440104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5" name="矩形 64"/>
          <p:cNvSpPr/>
          <p:nvPr/>
        </p:nvSpPr>
        <p:spPr>
          <a:xfrm>
            <a:off x="3607433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6" name="矩形 65"/>
          <p:cNvSpPr/>
          <p:nvPr/>
        </p:nvSpPr>
        <p:spPr>
          <a:xfrm>
            <a:off x="3774762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7" name="矩形 66"/>
          <p:cNvSpPr/>
          <p:nvPr/>
        </p:nvSpPr>
        <p:spPr>
          <a:xfrm>
            <a:off x="3942091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8" name="矩形 67"/>
          <p:cNvSpPr/>
          <p:nvPr/>
        </p:nvSpPr>
        <p:spPr>
          <a:xfrm>
            <a:off x="4109420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9" name="矩形 68"/>
          <p:cNvSpPr/>
          <p:nvPr/>
        </p:nvSpPr>
        <p:spPr>
          <a:xfrm>
            <a:off x="4276749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0" name="矩形 69"/>
          <p:cNvSpPr/>
          <p:nvPr/>
        </p:nvSpPr>
        <p:spPr>
          <a:xfrm>
            <a:off x="4444078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1" name="矩形 70"/>
          <p:cNvSpPr/>
          <p:nvPr/>
        </p:nvSpPr>
        <p:spPr>
          <a:xfrm>
            <a:off x="4611407" y="587782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2" name="矩形 71"/>
          <p:cNvSpPr/>
          <p:nvPr/>
        </p:nvSpPr>
        <p:spPr>
          <a:xfrm>
            <a:off x="4787407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3" name="矩形 72"/>
          <p:cNvSpPr/>
          <p:nvPr/>
        </p:nvSpPr>
        <p:spPr>
          <a:xfrm>
            <a:off x="4954736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4" name="矩形 73"/>
          <p:cNvSpPr/>
          <p:nvPr/>
        </p:nvSpPr>
        <p:spPr>
          <a:xfrm>
            <a:off x="5122065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5" name="矩形 74"/>
          <p:cNvSpPr/>
          <p:nvPr/>
        </p:nvSpPr>
        <p:spPr>
          <a:xfrm>
            <a:off x="5289394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6" name="矩形 75"/>
          <p:cNvSpPr/>
          <p:nvPr/>
        </p:nvSpPr>
        <p:spPr>
          <a:xfrm>
            <a:off x="5456723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7" name="矩形 76"/>
          <p:cNvSpPr/>
          <p:nvPr/>
        </p:nvSpPr>
        <p:spPr>
          <a:xfrm>
            <a:off x="5624052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8" name="矩形 77"/>
          <p:cNvSpPr/>
          <p:nvPr/>
        </p:nvSpPr>
        <p:spPr>
          <a:xfrm>
            <a:off x="5791381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79" name="矩形 78"/>
          <p:cNvSpPr/>
          <p:nvPr/>
        </p:nvSpPr>
        <p:spPr>
          <a:xfrm>
            <a:off x="5958710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0" name="矩形 79"/>
          <p:cNvSpPr/>
          <p:nvPr/>
        </p:nvSpPr>
        <p:spPr>
          <a:xfrm>
            <a:off x="6126039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1" name="矩形 80"/>
          <p:cNvSpPr/>
          <p:nvPr/>
        </p:nvSpPr>
        <p:spPr>
          <a:xfrm>
            <a:off x="6293368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2" name="矩形 81"/>
          <p:cNvSpPr/>
          <p:nvPr/>
        </p:nvSpPr>
        <p:spPr>
          <a:xfrm>
            <a:off x="6460698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3" name="矩形 82"/>
          <p:cNvSpPr/>
          <p:nvPr/>
        </p:nvSpPr>
        <p:spPr>
          <a:xfrm>
            <a:off x="6628027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4" name="矩形 83"/>
          <p:cNvSpPr/>
          <p:nvPr/>
        </p:nvSpPr>
        <p:spPr>
          <a:xfrm>
            <a:off x="6795356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5" name="矩形 84"/>
          <p:cNvSpPr/>
          <p:nvPr/>
        </p:nvSpPr>
        <p:spPr>
          <a:xfrm>
            <a:off x="6962685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6" name="矩形 85"/>
          <p:cNvSpPr/>
          <p:nvPr/>
        </p:nvSpPr>
        <p:spPr>
          <a:xfrm>
            <a:off x="7130014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7" name="矩形 86"/>
          <p:cNvSpPr/>
          <p:nvPr/>
        </p:nvSpPr>
        <p:spPr>
          <a:xfrm>
            <a:off x="7297343" y="5875568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8" name="矩形 87"/>
          <p:cNvSpPr/>
          <p:nvPr/>
        </p:nvSpPr>
        <p:spPr>
          <a:xfrm>
            <a:off x="213300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89" name="矩形 88"/>
          <p:cNvSpPr/>
          <p:nvPr/>
        </p:nvSpPr>
        <p:spPr>
          <a:xfrm>
            <a:off x="2300331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0" name="矩形 89"/>
          <p:cNvSpPr/>
          <p:nvPr/>
        </p:nvSpPr>
        <p:spPr>
          <a:xfrm>
            <a:off x="2467660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1" name="矩形 90"/>
          <p:cNvSpPr/>
          <p:nvPr/>
        </p:nvSpPr>
        <p:spPr>
          <a:xfrm>
            <a:off x="2634989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2" name="矩形 91"/>
          <p:cNvSpPr/>
          <p:nvPr/>
        </p:nvSpPr>
        <p:spPr>
          <a:xfrm>
            <a:off x="2802318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3" name="矩形 92"/>
          <p:cNvSpPr/>
          <p:nvPr/>
        </p:nvSpPr>
        <p:spPr>
          <a:xfrm>
            <a:off x="2969647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4" name="矩形 93"/>
          <p:cNvSpPr/>
          <p:nvPr/>
        </p:nvSpPr>
        <p:spPr>
          <a:xfrm>
            <a:off x="3136976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5" name="矩形 94"/>
          <p:cNvSpPr/>
          <p:nvPr/>
        </p:nvSpPr>
        <p:spPr>
          <a:xfrm>
            <a:off x="3304306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6" name="矩形 95"/>
          <p:cNvSpPr/>
          <p:nvPr/>
        </p:nvSpPr>
        <p:spPr>
          <a:xfrm>
            <a:off x="3471635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7" name="矩形 96"/>
          <p:cNvSpPr/>
          <p:nvPr/>
        </p:nvSpPr>
        <p:spPr>
          <a:xfrm>
            <a:off x="3638964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8" name="矩形 97"/>
          <p:cNvSpPr/>
          <p:nvPr/>
        </p:nvSpPr>
        <p:spPr>
          <a:xfrm>
            <a:off x="3806293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99" name="矩形 98"/>
          <p:cNvSpPr/>
          <p:nvPr/>
        </p:nvSpPr>
        <p:spPr>
          <a:xfrm>
            <a:off x="397362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0" name="矩形 99"/>
          <p:cNvSpPr/>
          <p:nvPr/>
        </p:nvSpPr>
        <p:spPr>
          <a:xfrm>
            <a:off x="4140951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1" name="矩形 100"/>
          <p:cNvSpPr/>
          <p:nvPr/>
        </p:nvSpPr>
        <p:spPr>
          <a:xfrm>
            <a:off x="4308280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2" name="矩形 101"/>
          <p:cNvSpPr/>
          <p:nvPr/>
        </p:nvSpPr>
        <p:spPr>
          <a:xfrm>
            <a:off x="4475609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3" name="矩形 102"/>
          <p:cNvSpPr/>
          <p:nvPr/>
        </p:nvSpPr>
        <p:spPr>
          <a:xfrm>
            <a:off x="4642938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4" name="矩形 103"/>
          <p:cNvSpPr/>
          <p:nvPr/>
        </p:nvSpPr>
        <p:spPr>
          <a:xfrm>
            <a:off x="4810267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5" name="矩形 104"/>
          <p:cNvSpPr/>
          <p:nvPr/>
        </p:nvSpPr>
        <p:spPr>
          <a:xfrm>
            <a:off x="4977596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6" name="矩形 105"/>
          <p:cNvSpPr/>
          <p:nvPr/>
        </p:nvSpPr>
        <p:spPr>
          <a:xfrm>
            <a:off x="5144925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7" name="矩形 106"/>
          <p:cNvSpPr/>
          <p:nvPr/>
        </p:nvSpPr>
        <p:spPr>
          <a:xfrm>
            <a:off x="5312254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8" name="矩形 107"/>
          <p:cNvSpPr/>
          <p:nvPr/>
        </p:nvSpPr>
        <p:spPr>
          <a:xfrm>
            <a:off x="5479583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09" name="矩形 108"/>
          <p:cNvSpPr/>
          <p:nvPr/>
        </p:nvSpPr>
        <p:spPr>
          <a:xfrm>
            <a:off x="564691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0" name="矩形 109"/>
          <p:cNvSpPr/>
          <p:nvPr/>
        </p:nvSpPr>
        <p:spPr>
          <a:xfrm>
            <a:off x="5814241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1" name="矩形 110"/>
          <p:cNvSpPr/>
          <p:nvPr/>
        </p:nvSpPr>
        <p:spPr>
          <a:xfrm>
            <a:off x="5981570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2" name="矩形 111"/>
          <p:cNvSpPr/>
          <p:nvPr/>
        </p:nvSpPr>
        <p:spPr>
          <a:xfrm>
            <a:off x="6151184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3" name="矩形 112"/>
          <p:cNvSpPr/>
          <p:nvPr/>
        </p:nvSpPr>
        <p:spPr>
          <a:xfrm>
            <a:off x="6318513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4" name="矩形 113"/>
          <p:cNvSpPr/>
          <p:nvPr/>
        </p:nvSpPr>
        <p:spPr>
          <a:xfrm>
            <a:off x="648584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5" name="矩形 114"/>
          <p:cNvSpPr/>
          <p:nvPr/>
        </p:nvSpPr>
        <p:spPr>
          <a:xfrm>
            <a:off x="6653171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6" name="矩形 115"/>
          <p:cNvSpPr/>
          <p:nvPr/>
        </p:nvSpPr>
        <p:spPr>
          <a:xfrm>
            <a:off x="6820500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7" name="矩形 116"/>
          <p:cNvSpPr/>
          <p:nvPr/>
        </p:nvSpPr>
        <p:spPr>
          <a:xfrm>
            <a:off x="6987829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8" name="矩形 117"/>
          <p:cNvSpPr/>
          <p:nvPr/>
        </p:nvSpPr>
        <p:spPr>
          <a:xfrm>
            <a:off x="7155159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9" name="矩形 118"/>
          <p:cNvSpPr/>
          <p:nvPr/>
        </p:nvSpPr>
        <p:spPr>
          <a:xfrm>
            <a:off x="7322488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0" name="矩形 119"/>
          <p:cNvSpPr/>
          <p:nvPr/>
        </p:nvSpPr>
        <p:spPr>
          <a:xfrm>
            <a:off x="7489817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1" name="矩形 120"/>
          <p:cNvSpPr/>
          <p:nvPr/>
        </p:nvSpPr>
        <p:spPr>
          <a:xfrm>
            <a:off x="7657146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2" name="矩形 121"/>
          <p:cNvSpPr/>
          <p:nvPr/>
        </p:nvSpPr>
        <p:spPr>
          <a:xfrm>
            <a:off x="7824475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3" name="矩形 122"/>
          <p:cNvSpPr/>
          <p:nvPr/>
        </p:nvSpPr>
        <p:spPr>
          <a:xfrm>
            <a:off x="7991804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4" name="矩形 123"/>
          <p:cNvSpPr/>
          <p:nvPr/>
        </p:nvSpPr>
        <p:spPr>
          <a:xfrm>
            <a:off x="8159133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5" name="矩形 124"/>
          <p:cNvSpPr/>
          <p:nvPr/>
        </p:nvSpPr>
        <p:spPr>
          <a:xfrm>
            <a:off x="832646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6" name="矩形 125"/>
          <p:cNvSpPr/>
          <p:nvPr/>
        </p:nvSpPr>
        <p:spPr>
          <a:xfrm>
            <a:off x="8493791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7" name="矩形 126"/>
          <p:cNvSpPr/>
          <p:nvPr/>
        </p:nvSpPr>
        <p:spPr>
          <a:xfrm>
            <a:off x="8661120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8" name="矩形 127"/>
          <p:cNvSpPr/>
          <p:nvPr/>
        </p:nvSpPr>
        <p:spPr>
          <a:xfrm>
            <a:off x="8828449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29" name="矩形 128"/>
          <p:cNvSpPr/>
          <p:nvPr/>
        </p:nvSpPr>
        <p:spPr>
          <a:xfrm>
            <a:off x="8995778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0" name="矩形 129"/>
          <p:cNvSpPr/>
          <p:nvPr/>
        </p:nvSpPr>
        <p:spPr>
          <a:xfrm>
            <a:off x="9163107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1" name="矩形 130"/>
          <p:cNvSpPr/>
          <p:nvPr/>
        </p:nvSpPr>
        <p:spPr>
          <a:xfrm>
            <a:off x="9330436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2" name="矩形 131"/>
          <p:cNvSpPr/>
          <p:nvPr/>
        </p:nvSpPr>
        <p:spPr>
          <a:xfrm>
            <a:off x="9497765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3" name="矩形 132"/>
          <p:cNvSpPr/>
          <p:nvPr/>
        </p:nvSpPr>
        <p:spPr>
          <a:xfrm>
            <a:off x="9665094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4" name="矩形 133"/>
          <p:cNvSpPr/>
          <p:nvPr/>
        </p:nvSpPr>
        <p:spPr>
          <a:xfrm>
            <a:off x="9832423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5" name="矩形 134"/>
          <p:cNvSpPr/>
          <p:nvPr/>
        </p:nvSpPr>
        <p:spPr>
          <a:xfrm>
            <a:off x="9999752" y="6336459"/>
            <a:ext cx="167329" cy="18463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6" name="文本框 135"/>
          <p:cNvSpPr txBox="1"/>
          <p:nvPr/>
        </p:nvSpPr>
        <p:spPr>
          <a:xfrm>
            <a:off x="7645620" y="5667087"/>
            <a:ext cx="1717137" cy="381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dirty="0"/>
              <a:t>...... </a:t>
            </a:r>
            <a:r>
              <a:rPr lang="en-US" sz="1890" dirty="0" err="1"/>
              <a:t>mydata</a:t>
            </a:r>
            <a:r>
              <a:rPr lang="en-US" sz="1890" dirty="0"/>
              <a:t>[4]</a:t>
            </a:r>
          </a:p>
        </p:txBody>
      </p:sp>
      <p:sp>
        <p:nvSpPr>
          <p:cNvPr id="137" name="矩形 136"/>
          <p:cNvSpPr/>
          <p:nvPr/>
        </p:nvSpPr>
        <p:spPr>
          <a:xfrm>
            <a:off x="1750500" y="4176036"/>
            <a:ext cx="3839885" cy="3398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890" dirty="0">
              <a:solidFill>
                <a:schemeClr val="tx1"/>
              </a:solidFill>
            </a:endParaRPr>
          </a:p>
        </p:txBody>
      </p:sp>
      <p:pic>
        <p:nvPicPr>
          <p:cNvPr id="6" name="图形 5" descr="关闭">
            <a:extLst>
              <a:ext uri="{FF2B5EF4-FFF2-40B4-BE49-F238E27FC236}">
                <a16:creationId xmlns:a16="http://schemas.microsoft.com/office/drawing/2014/main" id="{0920FDFA-5CD6-4FB1-8A4F-64B7F8450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1561" y="5695648"/>
            <a:ext cx="460292" cy="460292"/>
          </a:xfrm>
          <a:prstGeom prst="rect">
            <a:avLst/>
          </a:prstGeom>
        </p:spPr>
      </p:pic>
      <p:pic>
        <p:nvPicPr>
          <p:cNvPr id="138" name="图形 137" descr="复选标记">
            <a:extLst>
              <a:ext uri="{FF2B5EF4-FFF2-40B4-BE49-F238E27FC236}">
                <a16:creationId xmlns:a16="http://schemas.microsoft.com/office/drawing/2014/main" id="{98F581C8-C1EE-4384-AC16-74DFF4A59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0586" y="6249976"/>
            <a:ext cx="542242" cy="54224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derived datatype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504315" y="1080135"/>
            <a:ext cx="9801860" cy="5045075"/>
          </a:xfrm>
        </p:spPr>
        <p:txBody>
          <a:bodyPr>
            <a:normAutofit/>
          </a:bodyPr>
          <a:lstStyle/>
          <a:p>
            <a:r>
              <a:rPr lang="en-US" sz="2100" dirty="0"/>
              <a:t>Solution to the problem</a:t>
            </a:r>
          </a:p>
          <a:p>
            <a:r>
              <a:rPr lang="en-US" sz="2100" dirty="0" err="1"/>
              <a:t>MPI_Type_create_resized</a:t>
            </a:r>
            <a:r>
              <a:rPr lang="en-US" sz="2100" dirty="0"/>
              <a:t> ( </a:t>
            </a:r>
            <a:r>
              <a:rPr lang="en-US" sz="2100" dirty="0" err="1"/>
              <a:t>MPI_Datatype</a:t>
            </a:r>
            <a:r>
              <a:rPr lang="en-US" sz="2100" dirty="0"/>
              <a:t> datatype, </a:t>
            </a:r>
            <a:r>
              <a:rPr lang="en-US" sz="2100" dirty="0" err="1"/>
              <a:t>MPI_Aint</a:t>
            </a:r>
            <a:r>
              <a:rPr lang="en-US" sz="2100" dirty="0"/>
              <a:t> </a:t>
            </a:r>
            <a:r>
              <a:rPr lang="en-US" sz="2100" dirty="0" err="1"/>
              <a:t>lb</a:t>
            </a:r>
            <a:r>
              <a:rPr lang="en-US" sz="2100" dirty="0"/>
              <a:t>, </a:t>
            </a:r>
            <a:r>
              <a:rPr lang="en-US" sz="2100" dirty="0" err="1"/>
              <a:t>MPI_Aint</a:t>
            </a:r>
            <a:r>
              <a:rPr lang="en-US" sz="2100" dirty="0"/>
              <a:t> extent, </a:t>
            </a:r>
            <a:r>
              <a:rPr lang="en-US" sz="2100" dirty="0" err="1"/>
              <a:t>MPI_Datatype</a:t>
            </a:r>
            <a:r>
              <a:rPr lang="en-US" sz="2100" dirty="0"/>
              <a:t> *</a:t>
            </a:r>
            <a:r>
              <a:rPr lang="en-US" sz="2100" dirty="0" err="1"/>
              <a:t>newtype</a:t>
            </a:r>
            <a:r>
              <a:rPr lang="en-US" sz="2100" dirty="0"/>
              <a:t> );</a:t>
            </a:r>
          </a:p>
          <a:p>
            <a:pPr lvl="1"/>
            <a:r>
              <a:rPr lang="en-US" sz="1890" dirty="0"/>
              <a:t>Reset the low-bound and up-bound marker of a derived datatype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08391" y="2952019"/>
            <a:ext cx="7862635" cy="357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[0]), &amp;</a:t>
            </a:r>
            <a:r>
              <a:rPr lang="en-US" sz="1890" dirty="0" err="1"/>
              <a:t>baseaddr</a:t>
            </a:r>
            <a:r>
              <a:rPr lang="en-US" sz="1890" dirty="0"/>
              <a:t>);</a:t>
            </a:r>
          </a:p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[0].b), &amp;addr1);</a:t>
            </a:r>
          </a:p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[0].c), &amp;addr2);</a:t>
            </a:r>
          </a:p>
          <a:p>
            <a:r>
              <a:rPr lang="en-US" sz="1890" dirty="0" err="1"/>
              <a:t>MPI_Get_address</a:t>
            </a:r>
            <a:r>
              <a:rPr lang="en-US" sz="1890" dirty="0"/>
              <a:t> ( &amp;(</a:t>
            </a:r>
            <a:r>
              <a:rPr lang="en-US" sz="1890" dirty="0" err="1"/>
              <a:t>mydata</a:t>
            </a:r>
            <a:r>
              <a:rPr lang="en-US" sz="1890" dirty="0"/>
              <a:t>[1]), &amp;addr3);</a:t>
            </a:r>
          </a:p>
          <a:p>
            <a:r>
              <a:rPr lang="en-US" sz="1890" dirty="0" err="1"/>
              <a:t>displ</a:t>
            </a:r>
            <a:r>
              <a:rPr lang="en-US" sz="1890" dirty="0"/>
              <a:t>[0] = addr1 - </a:t>
            </a:r>
            <a:r>
              <a:rPr lang="en-US" sz="1890" dirty="0" err="1"/>
              <a:t>baseaddr</a:t>
            </a:r>
            <a:r>
              <a:rPr lang="en-US" sz="1890" dirty="0"/>
              <a:t>;</a:t>
            </a:r>
          </a:p>
          <a:p>
            <a:r>
              <a:rPr lang="en-US" sz="1890" dirty="0" err="1"/>
              <a:t>displ</a:t>
            </a:r>
            <a:r>
              <a:rPr lang="en-US" sz="1890" dirty="0"/>
              <a:t>[1] = addr2 – </a:t>
            </a:r>
            <a:r>
              <a:rPr lang="en-US" sz="1890" dirty="0" err="1"/>
              <a:t>baseaddr</a:t>
            </a:r>
            <a:r>
              <a:rPr lang="en-US" sz="1890" dirty="0"/>
              <a:t>;</a:t>
            </a:r>
          </a:p>
          <a:p>
            <a:r>
              <a:rPr lang="en-US" sz="1890" dirty="0"/>
              <a:t>extent = addr3 – </a:t>
            </a:r>
            <a:r>
              <a:rPr lang="en-US" sz="1890" dirty="0" err="1"/>
              <a:t>baseaddr</a:t>
            </a:r>
            <a:r>
              <a:rPr lang="en-US" sz="1890" dirty="0"/>
              <a:t>;</a:t>
            </a:r>
          </a:p>
          <a:p>
            <a:r>
              <a:rPr lang="en-US" sz="1890" dirty="0" err="1"/>
              <a:t>dtype</a:t>
            </a:r>
            <a:r>
              <a:rPr lang="en-US" sz="1890" dirty="0"/>
              <a:t>[0] = MPI_INT;              </a:t>
            </a:r>
            <a:r>
              <a:rPr lang="en-US" sz="1890" dirty="0" err="1"/>
              <a:t>blength</a:t>
            </a:r>
            <a:r>
              <a:rPr lang="en-US" sz="1890" dirty="0"/>
              <a:t>[0] = 1;</a:t>
            </a:r>
          </a:p>
          <a:p>
            <a:r>
              <a:rPr lang="en-US" sz="1890" dirty="0" err="1"/>
              <a:t>dtype</a:t>
            </a:r>
            <a:r>
              <a:rPr lang="en-US" sz="1890" dirty="0"/>
              <a:t>[1] = MPI_DOUBLE;      </a:t>
            </a:r>
            <a:r>
              <a:rPr lang="en-US" sz="1890" dirty="0" err="1"/>
              <a:t>blength</a:t>
            </a:r>
            <a:r>
              <a:rPr lang="en-US" sz="1890" dirty="0"/>
              <a:t>[1] = 1;</a:t>
            </a:r>
          </a:p>
          <a:p>
            <a:r>
              <a:rPr lang="en-US" sz="1890" dirty="0" err="1"/>
              <a:t>MPI_Type_create_struct</a:t>
            </a:r>
            <a:r>
              <a:rPr lang="en-US" sz="1890" dirty="0"/>
              <a:t> (4,blength,displ,dtype,&amp;newtype);</a:t>
            </a:r>
          </a:p>
          <a:p>
            <a:r>
              <a:rPr lang="en-US" sz="1890" dirty="0" err="1"/>
              <a:t>MPI_Type_create_resized</a:t>
            </a:r>
            <a:r>
              <a:rPr lang="en-US" sz="1890" dirty="0"/>
              <a:t> ( </a:t>
            </a:r>
            <a:r>
              <a:rPr lang="en-US" sz="1890" dirty="0" err="1"/>
              <a:t>newtype</a:t>
            </a:r>
            <a:r>
              <a:rPr lang="en-US" sz="1890" dirty="0"/>
              <a:t>, </a:t>
            </a:r>
            <a:r>
              <a:rPr lang="en-US" sz="1890" dirty="0" err="1"/>
              <a:t>baseaddr</a:t>
            </a:r>
            <a:r>
              <a:rPr lang="en-US" sz="1890" dirty="0"/>
              <a:t>, extent, &amp;newtype2);</a:t>
            </a:r>
          </a:p>
          <a:p>
            <a:r>
              <a:rPr lang="en-US" sz="1890" dirty="0" err="1"/>
              <a:t>MPI_Type_commit</a:t>
            </a:r>
            <a:r>
              <a:rPr lang="en-US" sz="1890" dirty="0"/>
              <a:t> ( &amp;newtype2);</a:t>
            </a:r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3427" name="Picture 4" descr="egg timers,hourglasses,households,Photographs,tim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991" y="1152129"/>
            <a:ext cx="3250406" cy="325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/>
        </p:nvSpPr>
        <p:spPr>
          <a:xfrm>
            <a:off x="-223520" y="3960259"/>
            <a:ext cx="10762906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>
            <a:noAutofit/>
          </a:bodyPr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sz="4400" dirty="0">
                <a:ea typeface="+mj-ea"/>
                <a:cs typeface="+mj-cs"/>
              </a:rPr>
              <a:t>Performance evaluation</a:t>
            </a:r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Elapsed parallel time</a:t>
            </a:r>
          </a:p>
        </p:txBody>
      </p:sp>
      <p:sp>
        <p:nvSpPr>
          <p:cNvPr id="104450" name="Content Placeholder 2"/>
          <p:cNvSpPr>
            <a:spLocks noGrp="1"/>
          </p:cNvSpPr>
          <p:nvPr>
            <p:ph idx="4294967295"/>
          </p:nvPr>
        </p:nvSpPr>
        <p:spPr>
          <a:xfrm>
            <a:off x="1000760" y="935990"/>
            <a:ext cx="10593705" cy="1661795"/>
          </a:xfrm>
        </p:spPr>
        <p:txBody>
          <a:bodyPr/>
          <a:lstStyle/>
          <a:p>
            <a:r>
              <a:rPr lang="en-US" altLang="en-US"/>
              <a:t>Returns the number of seconds that have elapsed since some time in the past.</a:t>
            </a:r>
          </a:p>
        </p:txBody>
      </p:sp>
      <p:sp>
        <p:nvSpPr>
          <p:cNvPr id="10445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44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2541985"/>
            <a:ext cx="3645455" cy="49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672" y="3040380"/>
            <a:ext cx="6955869" cy="251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4" name="Freeform 7"/>
          <p:cNvSpPr>
            <a:spLocks noChangeArrowheads="1"/>
          </p:cNvSpPr>
          <p:nvPr/>
        </p:nvSpPr>
        <p:spPr bwMode="auto">
          <a:xfrm>
            <a:off x="5694045" y="2498646"/>
            <a:ext cx="3533775" cy="381635"/>
          </a:xfrm>
          <a:custGeom>
            <a:avLst/>
            <a:gdLst>
              <a:gd name="T0" fmla="*/ 0 w 3366167"/>
              <a:gd name="T1" fmla="*/ 267608 h 1679074"/>
              <a:gd name="T2" fmla="*/ 3014123 w 3366167"/>
              <a:gd name="T3" fmla="*/ 235494 h 1679074"/>
              <a:gd name="T4" fmla="*/ 2100267 w 3366167"/>
              <a:gd name="T5" fmla="*/ 1680577 h 1679074"/>
              <a:gd name="T6" fmla="*/ 0 60000 65536"/>
              <a:gd name="T7" fmla="*/ 0 60000 65536"/>
              <a:gd name="T8" fmla="*/ 0 60000 65536"/>
              <a:gd name="T9" fmla="*/ 0 w 3366167"/>
              <a:gd name="T10" fmla="*/ 0 h 1679074"/>
              <a:gd name="T11" fmla="*/ 3366167 w 3366167"/>
              <a:gd name="T12" fmla="*/ 1679074 h 16790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6167" h="1679074">
                <a:moveTo>
                  <a:pt x="0" y="267368"/>
                </a:moveTo>
                <a:cubicBezTo>
                  <a:pt x="1332831" y="133684"/>
                  <a:pt x="2665663" y="0"/>
                  <a:pt x="3015915" y="235284"/>
                </a:cubicBezTo>
                <a:cubicBezTo>
                  <a:pt x="3366167" y="470568"/>
                  <a:pt x="2733841" y="1074821"/>
                  <a:pt x="2101515" y="1679074"/>
                </a:cubicBezTo>
              </a:path>
            </a:pathLst>
          </a:custGeom>
          <a:noFill/>
          <a:ln w="9525">
            <a:solidFill>
              <a:srgbClr val="0066FF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633C2B-CA31-429D-847E-1BAAF8B3DC8C}"/>
              </a:ext>
            </a:extLst>
          </p:cNvPr>
          <p:cNvSpPr txBox="1"/>
          <p:nvPr/>
        </p:nvSpPr>
        <p:spPr>
          <a:xfrm>
            <a:off x="1504256" y="6120730"/>
            <a:ext cx="7377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函数说明：</a:t>
            </a:r>
            <a:endParaRPr lang="en-US"/>
          </a:p>
          <a:p>
            <a:r>
              <a:rPr lang="en-US" dirty="0"/>
              <a:t>https://www.open-mpi.org/doc/v3.0/man3/MPI_Wtime.3.php</a:t>
            </a: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5474" name="Title 1"/>
          <p:cNvSpPr txBox="1"/>
          <p:nvPr/>
        </p:nvSpPr>
        <p:spPr bwMode="auto">
          <a:xfrm>
            <a:off x="2241947" y="213440"/>
            <a:ext cx="8161020" cy="99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940" b="1" dirty="0">
                <a:solidFill>
                  <a:srgbClr val="0066FF"/>
                </a:solidFill>
                <a:latin typeface="Arial" panose="020B0604020202020204" pitchFamily="34" charset="0"/>
              </a:rPr>
              <a:t>Average/least/most execution time spent by individual process</a:t>
            </a:r>
          </a:p>
        </p:txBody>
      </p:sp>
      <p:sp>
        <p:nvSpPr>
          <p:cNvPr id="105475" name="Content Placeholder 2"/>
          <p:cNvSpPr txBox="1"/>
          <p:nvPr/>
        </p:nvSpPr>
        <p:spPr bwMode="auto">
          <a:xfrm>
            <a:off x="1863566" y="1256824"/>
            <a:ext cx="9281160" cy="4838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int</a:t>
            </a:r>
            <a:r>
              <a:rPr lang="en-US" altLang="en-US" sz="1680" dirty="0">
                <a:latin typeface="Arial" panose="020B0604020202020204" pitchFamily="34" charset="0"/>
              </a:rPr>
              <a:t> </a:t>
            </a:r>
            <a:r>
              <a:rPr lang="en-US" altLang="en-US" sz="1680" dirty="0" err="1">
                <a:latin typeface="Arial" panose="020B0604020202020204" pitchFamily="34" charset="0"/>
              </a:rPr>
              <a:t>myrank</a:t>
            </a:r>
            <a:r>
              <a:rPr lang="en-US" altLang="en-US" sz="1680" dirty="0">
                <a:latin typeface="Arial" panose="020B0604020202020204" pitchFamily="34" charset="0"/>
              </a:rPr>
              <a:t>, </a:t>
            </a:r>
            <a:r>
              <a:rPr lang="en-US" altLang="en-US" sz="1680" dirty="0" err="1">
                <a:latin typeface="Arial" panose="020B0604020202020204" pitchFamily="34" charset="0"/>
              </a:rPr>
              <a:t>numprocs</a:t>
            </a:r>
            <a:r>
              <a:rPr lang="en-US" altLang="en-US" sz="1680" dirty="0">
                <a:latin typeface="Arial" panose="020B0604020202020204" pitchFamily="34" charset="0"/>
              </a:rPr>
              <a:t>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double </a:t>
            </a: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, </a:t>
            </a:r>
            <a:r>
              <a:rPr lang="en-US" altLang="en-US" sz="1680" dirty="0" err="1">
                <a:latin typeface="Arial" panose="020B0604020202020204" pitchFamily="34" charset="0"/>
              </a:rPr>
              <a:t>maxtime</a:t>
            </a:r>
            <a:r>
              <a:rPr lang="en-US" altLang="en-US" sz="1680" dirty="0">
                <a:latin typeface="Arial" panose="020B0604020202020204" pitchFamily="34" charset="0"/>
              </a:rPr>
              <a:t>, </a:t>
            </a:r>
            <a:r>
              <a:rPr lang="en-US" altLang="en-US" sz="1680" dirty="0" err="1">
                <a:latin typeface="Arial" panose="020B0604020202020204" pitchFamily="34" charset="0"/>
              </a:rPr>
              <a:t>mintime</a:t>
            </a:r>
            <a:r>
              <a:rPr lang="en-US" altLang="en-US" sz="1680" dirty="0">
                <a:latin typeface="Arial" panose="020B0604020202020204" pitchFamily="34" charset="0"/>
              </a:rPr>
              <a:t>, </a:t>
            </a:r>
            <a:r>
              <a:rPr lang="en-US" altLang="en-US" sz="1680" dirty="0" err="1">
                <a:latin typeface="Arial" panose="020B0604020202020204" pitchFamily="34" charset="0"/>
              </a:rPr>
              <a:t>avgtime</a:t>
            </a:r>
            <a:r>
              <a:rPr lang="en-US" altLang="en-US" sz="1680" dirty="0">
                <a:latin typeface="Arial" panose="020B0604020202020204" pitchFamily="34" charset="0"/>
              </a:rPr>
              <a:t>; /*variables used for gathering timing statistics*/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endParaRPr lang="en-US" altLang="en-US" sz="1680" dirty="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MPI_Comm_rank</a:t>
            </a:r>
            <a:r>
              <a:rPr lang="en-US" altLang="en-US" sz="1680" dirty="0">
                <a:latin typeface="Arial" panose="020B0604020202020204" pitchFamily="34" charset="0"/>
              </a:rPr>
              <a:t>(MPI_COMM_WORLD, &amp;</a:t>
            </a:r>
            <a:r>
              <a:rPr lang="en-US" altLang="en-US" sz="1680" dirty="0" err="1">
                <a:latin typeface="Arial" panose="020B0604020202020204" pitchFamily="34" charset="0"/>
              </a:rPr>
              <a:t>myrank</a:t>
            </a:r>
            <a:r>
              <a:rPr lang="en-US" altLang="en-US" sz="1680" dirty="0">
                <a:latin typeface="Arial" panose="020B0604020202020204" pitchFamily="34" charset="0"/>
              </a:rPr>
              <a:t>); </a:t>
            </a:r>
            <a:r>
              <a:rPr lang="en-US" altLang="en-US" sz="1680" dirty="0" err="1">
                <a:latin typeface="Arial" panose="020B0604020202020204" pitchFamily="34" charset="0"/>
              </a:rPr>
              <a:t>MPI_Comm_size</a:t>
            </a:r>
            <a:r>
              <a:rPr lang="en-US" altLang="en-US" sz="1680" dirty="0">
                <a:latin typeface="Arial" panose="020B0604020202020204" pitchFamily="34" charset="0"/>
              </a:rPr>
              <a:t>(MPI_COMM_WORLD, &amp;</a:t>
            </a:r>
            <a:r>
              <a:rPr lang="en-US" altLang="en-US" sz="1680" dirty="0" err="1">
                <a:latin typeface="Arial" panose="020B0604020202020204" pitchFamily="34" charset="0"/>
              </a:rPr>
              <a:t>numprocs</a:t>
            </a:r>
            <a:r>
              <a:rPr lang="en-US" altLang="en-US" sz="1680" dirty="0">
                <a:latin typeface="Arial" panose="020B0604020202020204" pitchFamily="34" charset="0"/>
              </a:rPr>
              <a:t>);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MPI_Barrier</a:t>
            </a:r>
            <a:r>
              <a:rPr lang="en-US" altLang="en-US" sz="1680" dirty="0">
                <a:latin typeface="Arial" panose="020B0604020202020204" pitchFamily="34" charset="0"/>
              </a:rPr>
              <a:t>(MPI_COMM_WORLD); /*synchronize all processes*/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endParaRPr lang="en-US" altLang="en-US" sz="1680" dirty="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 = </a:t>
            </a:r>
            <a:r>
              <a:rPr lang="en-US" altLang="en-US" sz="1680" dirty="0" err="1">
                <a:latin typeface="Arial" panose="020B0604020202020204" pitchFamily="34" charset="0"/>
              </a:rPr>
              <a:t>MPI_Wtime</a:t>
            </a:r>
            <a:r>
              <a:rPr lang="en-US" altLang="en-US" sz="1680" dirty="0">
                <a:latin typeface="Arial" panose="020B0604020202020204" pitchFamily="34" charset="0"/>
              </a:rPr>
              <a:t>(); /*get time just before work section */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work();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 = </a:t>
            </a:r>
            <a:r>
              <a:rPr lang="en-US" altLang="en-US" sz="1680" dirty="0" err="1">
                <a:latin typeface="Arial" panose="020B0604020202020204" pitchFamily="34" charset="0"/>
              </a:rPr>
              <a:t>MPI_Wtime</a:t>
            </a:r>
            <a:r>
              <a:rPr lang="en-US" altLang="en-US" sz="1680" dirty="0">
                <a:latin typeface="Arial" panose="020B0604020202020204" pitchFamily="34" charset="0"/>
              </a:rPr>
              <a:t>() - </a:t>
            </a: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; /*get time just after work section*/ /*compute max, min, and average timing statistics*/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endParaRPr lang="en-US" altLang="en-US" sz="1680" dirty="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MPI_Reduce</a:t>
            </a:r>
            <a:r>
              <a:rPr lang="en-US" altLang="en-US" sz="1680" dirty="0">
                <a:latin typeface="Arial" panose="020B0604020202020204" pitchFamily="34" charset="0"/>
              </a:rPr>
              <a:t>(&amp;</a:t>
            </a: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, &amp;</a:t>
            </a:r>
            <a:r>
              <a:rPr lang="en-US" altLang="en-US" sz="1680" dirty="0" err="1">
                <a:latin typeface="Arial" panose="020B0604020202020204" pitchFamily="34" charset="0"/>
              </a:rPr>
              <a:t>maxtime</a:t>
            </a:r>
            <a:r>
              <a:rPr lang="en-US" altLang="en-US" sz="1680" dirty="0">
                <a:latin typeface="Arial" panose="020B0604020202020204" pitchFamily="34" charset="0"/>
              </a:rPr>
              <a:t>, 1, MPI_DOUBLE,MPI_MAX, 0, MPI_COMM_WORLD);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MPI_Reduce</a:t>
            </a:r>
            <a:r>
              <a:rPr lang="en-US" altLang="en-US" sz="1680" dirty="0">
                <a:latin typeface="Arial" panose="020B0604020202020204" pitchFamily="34" charset="0"/>
              </a:rPr>
              <a:t>(&amp;</a:t>
            </a: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, &amp;</a:t>
            </a:r>
            <a:r>
              <a:rPr lang="en-US" altLang="en-US" sz="1680" dirty="0" err="1">
                <a:latin typeface="Arial" panose="020B0604020202020204" pitchFamily="34" charset="0"/>
              </a:rPr>
              <a:t>mintime</a:t>
            </a:r>
            <a:r>
              <a:rPr lang="en-US" altLang="en-US" sz="1680" dirty="0">
                <a:latin typeface="Arial" panose="020B0604020202020204" pitchFamily="34" charset="0"/>
              </a:rPr>
              <a:t>, 1, MPI_DOUBLE, MPI_MIN, 0,MPI_COMM_WORLD);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 err="1">
                <a:latin typeface="Arial" panose="020B0604020202020204" pitchFamily="34" charset="0"/>
              </a:rPr>
              <a:t>MPI_Reduce</a:t>
            </a:r>
            <a:r>
              <a:rPr lang="en-US" altLang="en-US" sz="1680" dirty="0">
                <a:latin typeface="Arial" panose="020B0604020202020204" pitchFamily="34" charset="0"/>
              </a:rPr>
              <a:t>(&amp;</a:t>
            </a:r>
            <a:r>
              <a:rPr lang="en-US" altLang="en-US" sz="1680" dirty="0" err="1">
                <a:latin typeface="Arial" panose="020B0604020202020204" pitchFamily="34" charset="0"/>
              </a:rPr>
              <a:t>mytime</a:t>
            </a:r>
            <a:r>
              <a:rPr lang="en-US" altLang="en-US" sz="1680" dirty="0">
                <a:latin typeface="Arial" panose="020B0604020202020204" pitchFamily="34" charset="0"/>
              </a:rPr>
              <a:t>, &amp;</a:t>
            </a:r>
            <a:r>
              <a:rPr lang="en-US" altLang="en-US" sz="1680" dirty="0" err="1">
                <a:latin typeface="Arial" panose="020B0604020202020204" pitchFamily="34" charset="0"/>
              </a:rPr>
              <a:t>avgtime</a:t>
            </a:r>
            <a:r>
              <a:rPr lang="en-US" altLang="en-US" sz="1680" dirty="0">
                <a:latin typeface="Arial" panose="020B0604020202020204" pitchFamily="34" charset="0"/>
              </a:rPr>
              <a:t>, 1, MPI_DOUBLE, MPI_SUM, 0,MPI_COMM_WORLD);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if (</a:t>
            </a:r>
            <a:r>
              <a:rPr lang="en-US" altLang="en-US" sz="1680" dirty="0" err="1">
                <a:latin typeface="Arial" panose="020B0604020202020204" pitchFamily="34" charset="0"/>
              </a:rPr>
              <a:t>myrank</a:t>
            </a:r>
            <a:r>
              <a:rPr lang="en-US" altLang="en-US" sz="1680" dirty="0">
                <a:latin typeface="Arial" panose="020B0604020202020204" pitchFamily="34" charset="0"/>
              </a:rPr>
              <a:t> == 0)  {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	</a:t>
            </a:r>
            <a:r>
              <a:rPr lang="en-US" altLang="en-US" sz="1680" dirty="0" err="1">
                <a:latin typeface="Arial" panose="020B0604020202020204" pitchFamily="34" charset="0"/>
              </a:rPr>
              <a:t>avgtime</a:t>
            </a:r>
            <a:r>
              <a:rPr lang="en-US" altLang="en-US" sz="1680" dirty="0">
                <a:latin typeface="Arial" panose="020B0604020202020204" pitchFamily="34" charset="0"/>
              </a:rPr>
              <a:t> /= </a:t>
            </a:r>
            <a:r>
              <a:rPr lang="en-US" altLang="en-US" sz="1680" dirty="0" err="1">
                <a:latin typeface="Arial" panose="020B0604020202020204" pitchFamily="34" charset="0"/>
              </a:rPr>
              <a:t>numprocs</a:t>
            </a:r>
            <a:r>
              <a:rPr lang="en-US" altLang="en-US" sz="1680" dirty="0">
                <a:latin typeface="Arial" panose="020B0604020202020204" pitchFamily="34" charset="0"/>
              </a:rPr>
              <a:t>; 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	</a:t>
            </a:r>
            <a:r>
              <a:rPr lang="en-US" altLang="en-US" sz="1680" dirty="0" err="1">
                <a:latin typeface="Arial" panose="020B0604020202020204" pitchFamily="34" charset="0"/>
              </a:rPr>
              <a:t>printf</a:t>
            </a:r>
            <a:r>
              <a:rPr lang="en-US" altLang="en-US" sz="1680" dirty="0">
                <a:latin typeface="Arial" panose="020B0604020202020204" pitchFamily="34" charset="0"/>
              </a:rPr>
              <a:t>("Min: %lf Max: %lf </a:t>
            </a:r>
            <a:r>
              <a:rPr lang="en-US" altLang="en-US" sz="1680" dirty="0" err="1">
                <a:latin typeface="Arial" panose="020B0604020202020204" pitchFamily="34" charset="0"/>
              </a:rPr>
              <a:t>Avg</a:t>
            </a:r>
            <a:r>
              <a:rPr lang="en-US" altLang="en-US" sz="1680" dirty="0">
                <a:latin typeface="Arial" panose="020B0604020202020204" pitchFamily="34" charset="0"/>
              </a:rPr>
              <a:t>: %lf\n", </a:t>
            </a:r>
            <a:r>
              <a:rPr lang="en-US" altLang="en-US" sz="1680" dirty="0" err="1">
                <a:latin typeface="Arial" panose="020B0604020202020204" pitchFamily="34" charset="0"/>
              </a:rPr>
              <a:t>mintime</a:t>
            </a:r>
            <a:r>
              <a:rPr lang="en-US" altLang="en-US" sz="1680" dirty="0">
                <a:latin typeface="Arial" panose="020B0604020202020204" pitchFamily="34" charset="0"/>
              </a:rPr>
              <a:t>, </a:t>
            </a:r>
            <a:r>
              <a:rPr lang="en-US" altLang="en-US" sz="1680" dirty="0" err="1">
                <a:latin typeface="Arial" panose="020B0604020202020204" pitchFamily="34" charset="0"/>
              </a:rPr>
              <a:t>maxtime,avgtime</a:t>
            </a:r>
            <a:r>
              <a:rPr lang="en-US" altLang="en-US" sz="1680" dirty="0"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20000"/>
              </a:spcBef>
              <a:buClr>
                <a:srgbClr val="00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80" dirty="0">
                <a:latin typeface="Arial" panose="020B0604020202020204" pitchFamily="34" charset="0"/>
              </a:rPr>
              <a:t> } </a:t>
            </a:r>
          </a:p>
        </p:txBody>
      </p:sp>
      <p:sp>
        <p:nvSpPr>
          <p:cNvPr id="105476" name="Slide Number Placeholder 3"/>
          <p:cNvSpPr txBox="1"/>
          <p:nvPr/>
        </p:nvSpPr>
        <p:spPr bwMode="auto">
          <a:xfrm>
            <a:off x="9174480" y="6972539"/>
            <a:ext cx="200025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70" b="1">
                <a:latin typeface="Arial" panose="020B0604020202020204" pitchFamily="34" charset="0"/>
              </a:rPr>
              <a:t>2.</a:t>
            </a:r>
            <a:fld id="{00417E09-BDFA-498D-A126-33E705BE44D4}" type="slidenum">
              <a:rPr lang="en-US" altLang="en-US" sz="1470" b="1">
                <a:latin typeface="Arial" panose="020B0604020202020204" pitchFamily="34" charset="0"/>
              </a:rPr>
              <a:t>104</a:t>
            </a:fld>
            <a:endParaRPr lang="en-US" altLang="en-US" sz="147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Elapsed serial time</a:t>
            </a:r>
          </a:p>
        </p:txBody>
      </p:sp>
      <p:sp>
        <p:nvSpPr>
          <p:cNvPr id="106498" name="Content Placeholder 2"/>
          <p:cNvSpPr>
            <a:spLocks noGrp="1"/>
          </p:cNvSpPr>
          <p:nvPr>
            <p:ph idx="4294967295"/>
          </p:nvPr>
        </p:nvSpPr>
        <p:spPr>
          <a:xfrm>
            <a:off x="1144270" y="1151890"/>
            <a:ext cx="11040745" cy="2150745"/>
          </a:xfrm>
        </p:spPr>
        <p:txBody>
          <a:bodyPr/>
          <a:lstStyle/>
          <a:p>
            <a:r>
              <a:rPr lang="en-US" altLang="en-US" b="0"/>
              <a:t>In this case, you don</a:t>
            </a:r>
            <a:r>
              <a:rPr lang="ja-JP" altLang="en-US" b="0"/>
              <a:t>’</a:t>
            </a:r>
            <a:r>
              <a:rPr lang="en-US" altLang="ja-JP" b="0"/>
              <a:t>t need to link in the MPI libraries.</a:t>
            </a:r>
          </a:p>
          <a:p>
            <a:r>
              <a:rPr lang="en-US" altLang="en-US" b="0"/>
              <a:t>Returns time in microseconds elapsed from some point in the past.</a:t>
            </a:r>
          </a:p>
        </p:txBody>
      </p:sp>
      <p:sp>
        <p:nvSpPr>
          <p:cNvPr id="10649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65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3" y="3816430"/>
            <a:ext cx="3668792" cy="198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1" name="Picture 4" descr="View Detai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351" y="4130516"/>
            <a:ext cx="1186815" cy="1186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Elapsed serial time</a:t>
            </a:r>
          </a:p>
        </p:txBody>
      </p:sp>
      <p:sp>
        <p:nvSpPr>
          <p:cNvPr id="10752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75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690" y="1558290"/>
            <a:ext cx="9749155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MPI_Barrier</a:t>
            </a:r>
          </a:p>
        </p:txBody>
      </p:sp>
      <p:sp>
        <p:nvSpPr>
          <p:cNvPr id="108546" name="Content Placeholder 2"/>
          <p:cNvSpPr>
            <a:spLocks noGrp="1"/>
          </p:cNvSpPr>
          <p:nvPr>
            <p:ph idx="4294967295"/>
          </p:nvPr>
        </p:nvSpPr>
        <p:spPr>
          <a:xfrm>
            <a:off x="1360805" y="1296035"/>
            <a:ext cx="9975215" cy="2743835"/>
          </a:xfrm>
        </p:spPr>
        <p:txBody>
          <a:bodyPr>
            <a:normAutofit/>
          </a:bodyPr>
          <a:lstStyle/>
          <a:p>
            <a:r>
              <a:rPr lang="en-US" altLang="en-US" b="0" dirty="0"/>
              <a:t>Ensures that no process will return from calling it until every process in the communicator has started calling it.</a:t>
            </a:r>
          </a:p>
          <a:p>
            <a:pPr marL="228600" lvl="1">
              <a:spcBef>
                <a:spcPts val="1000"/>
              </a:spcBef>
            </a:pPr>
            <a:r>
              <a:rPr lang="en-US" sz="2940" b="0" dirty="0"/>
              <a:t>Blocks until all processes in the group of the communicator </a:t>
            </a:r>
            <a:r>
              <a:rPr lang="en-US" sz="2940" b="0" dirty="0" err="1"/>
              <a:t>comm</a:t>
            </a:r>
            <a:r>
              <a:rPr lang="en-US" sz="2940" b="0" dirty="0"/>
              <a:t> call it.</a:t>
            </a:r>
          </a:p>
          <a:p>
            <a:endParaRPr lang="en-US" altLang="en-US" b="0" dirty="0"/>
          </a:p>
        </p:txBody>
      </p:sp>
      <p:sp>
        <p:nvSpPr>
          <p:cNvPr id="10854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854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930" y="4263867"/>
            <a:ext cx="8349376" cy="52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5" descr="barriers,caution barriers,construction,hardware,industries,industry,objects,Photographs,road construction,tools,traffic controls,transportation,warning ligh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223" y="5017295"/>
            <a:ext cx="2040255" cy="204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MPI_Barrier</a:t>
            </a:r>
          </a:p>
        </p:txBody>
      </p:sp>
      <p:sp>
        <p:nvSpPr>
          <p:cNvPr id="10957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1408510"/>
            <a:ext cx="8892778" cy="204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252" y="3448765"/>
            <a:ext cx="7409259" cy="221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/>
          <p:cNvSpPr>
            <a:spLocks noGrp="1"/>
          </p:cNvSpPr>
          <p:nvPr>
            <p:ph type="title"/>
          </p:nvPr>
        </p:nvSpPr>
        <p:spPr>
          <a:xfrm>
            <a:off x="856615" y="288054"/>
            <a:ext cx="10762906" cy="792000"/>
          </a:xfrm>
        </p:spPr>
        <p:txBody>
          <a:bodyPr/>
          <a:lstStyle/>
          <a:p>
            <a:r>
              <a:rPr lang="en-US" altLang="en-US"/>
              <a:t>Run-times of serial and parallel matrix-vector multiplication</a:t>
            </a:r>
          </a:p>
        </p:txBody>
      </p:sp>
      <p:sp>
        <p:nvSpPr>
          <p:cNvPr id="11059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05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400" y="1602764"/>
            <a:ext cx="7394258" cy="3327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291036" y="5339001"/>
            <a:ext cx="1216025" cy="414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(Seconds)</a:t>
            </a:r>
          </a:p>
        </p:txBody>
      </p:sp>
      <p:sp>
        <p:nvSpPr>
          <p:cNvPr id="2" name="矩形 1"/>
          <p:cNvSpPr/>
          <p:nvPr/>
        </p:nvSpPr>
        <p:spPr>
          <a:xfrm>
            <a:off x="4665197" y="2603403"/>
            <a:ext cx="692394" cy="232644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Speedup</a:t>
            </a:r>
          </a:p>
        </p:txBody>
      </p:sp>
      <p:sp>
        <p:nvSpPr>
          <p:cNvPr id="11161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16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09" y="1861900"/>
            <a:ext cx="5487353" cy="181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</a:t>
            </a:r>
            <a:r>
              <a:rPr lang="zh-CN" altLang="en-US" dirty="0"/>
              <a:t> </a:t>
            </a:r>
            <a:r>
              <a:rPr lang="en-US" altLang="zh-CN" dirty="0"/>
              <a:t>Efficiency</a:t>
            </a:r>
            <a:endParaRPr lang="en-US" altLang="en-US" dirty="0"/>
          </a:p>
        </p:txBody>
      </p:sp>
      <p:sp>
        <p:nvSpPr>
          <p:cNvPr id="11264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26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28" y="2466975"/>
            <a:ext cx="7115890" cy="168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>
          <a:xfrm>
            <a:off x="784225" y="359809"/>
            <a:ext cx="10762906" cy="792000"/>
          </a:xfrm>
        </p:spPr>
        <p:txBody>
          <a:bodyPr/>
          <a:lstStyle/>
          <a:p>
            <a:r>
              <a:rPr lang="en-US" altLang="en-US"/>
              <a:t>Speedups of Parallel Matrix-Vector Multiplication</a:t>
            </a:r>
          </a:p>
        </p:txBody>
      </p:sp>
      <p:sp>
        <p:nvSpPr>
          <p:cNvPr id="11366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36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319" y="1785224"/>
            <a:ext cx="8022669" cy="3532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785212" y="2868949"/>
            <a:ext cx="692394" cy="232644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矩形 5"/>
          <p:cNvSpPr/>
          <p:nvPr/>
        </p:nvSpPr>
        <p:spPr>
          <a:xfrm>
            <a:off x="9521189" y="2868949"/>
            <a:ext cx="692394" cy="232644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>
          <a:xfrm>
            <a:off x="712470" y="359809"/>
            <a:ext cx="10762906" cy="792000"/>
          </a:xfrm>
        </p:spPr>
        <p:txBody>
          <a:bodyPr/>
          <a:lstStyle/>
          <a:p>
            <a:r>
              <a:rPr lang="en-US" altLang="en-US"/>
              <a:t>Efficiencies of Parallel Matrix-Vector Multiplication</a:t>
            </a:r>
          </a:p>
        </p:txBody>
      </p:sp>
      <p:sp>
        <p:nvSpPr>
          <p:cNvPr id="11469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46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33" y="1785224"/>
            <a:ext cx="7720965" cy="3478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346697" y="2868949"/>
            <a:ext cx="812408" cy="232644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6" name="矩形 5"/>
          <p:cNvSpPr/>
          <p:nvPr/>
        </p:nvSpPr>
        <p:spPr>
          <a:xfrm>
            <a:off x="9078057" y="2868948"/>
            <a:ext cx="830872" cy="232644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</p:spTree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Scalability</a:t>
            </a:r>
          </a:p>
        </p:txBody>
      </p:sp>
      <p:sp>
        <p:nvSpPr>
          <p:cNvPr id="115714" name="Content Placeholder 2"/>
          <p:cNvSpPr>
            <a:spLocks noGrp="1"/>
          </p:cNvSpPr>
          <p:nvPr>
            <p:ph idx="4294967295"/>
          </p:nvPr>
        </p:nvSpPr>
        <p:spPr>
          <a:xfrm>
            <a:off x="352425" y="1296035"/>
            <a:ext cx="12228195" cy="4712970"/>
          </a:xfrm>
        </p:spPr>
        <p:txBody>
          <a:bodyPr/>
          <a:lstStyle/>
          <a:p>
            <a:r>
              <a:rPr lang="en-US" altLang="en-US" b="0" dirty="0"/>
              <a:t>A program is </a:t>
            </a:r>
            <a:r>
              <a:rPr lang="en-US" altLang="en-US" b="0" dirty="0">
                <a:solidFill>
                  <a:srgbClr val="FF0000"/>
                </a:solidFill>
              </a:rPr>
              <a:t>scalable</a:t>
            </a:r>
            <a:r>
              <a:rPr lang="en-US" altLang="en-US" b="0" dirty="0"/>
              <a:t> if the problem size can be increased at a rate so that the efficiency doesn’</a:t>
            </a:r>
            <a:r>
              <a:rPr lang="en-US" altLang="ja-JP" b="0" dirty="0"/>
              <a:t>t decrease as the number of processes increase.</a:t>
            </a:r>
            <a:br>
              <a:rPr lang="en-US" altLang="ja-JP" b="0" dirty="0"/>
            </a:br>
            <a:endParaRPr lang="en-US" altLang="ja-JP" b="0" dirty="0"/>
          </a:p>
          <a:p>
            <a:endParaRPr lang="en-US" altLang="en-US" b="0" dirty="0"/>
          </a:p>
        </p:txBody>
      </p:sp>
      <p:sp>
        <p:nvSpPr>
          <p:cNvPr id="11571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5716" name="Picture 2" descr="balances,government,law,objects,Photographs,scales,scales of justice,symbo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973" y="3600450"/>
            <a:ext cx="3250406" cy="325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Scalability</a:t>
            </a:r>
          </a:p>
        </p:txBody>
      </p:sp>
      <p:sp>
        <p:nvSpPr>
          <p:cNvPr id="116738" name="Content Placeholder 2"/>
          <p:cNvSpPr>
            <a:spLocks noGrp="1"/>
          </p:cNvSpPr>
          <p:nvPr>
            <p:ph idx="4294967295"/>
          </p:nvPr>
        </p:nvSpPr>
        <p:spPr>
          <a:xfrm>
            <a:off x="641350" y="1440180"/>
            <a:ext cx="11041380" cy="4712970"/>
          </a:xfrm>
        </p:spPr>
        <p:txBody>
          <a:bodyPr/>
          <a:lstStyle/>
          <a:p>
            <a:r>
              <a:rPr lang="en-US" altLang="en-US" b="0" dirty="0"/>
              <a:t>Programs that can maintain a </a:t>
            </a:r>
            <a:r>
              <a:rPr lang="en-US" altLang="en-US" b="0" dirty="0">
                <a:solidFill>
                  <a:srgbClr val="FF0000"/>
                </a:solidFill>
              </a:rPr>
              <a:t>constant efficiency </a:t>
            </a:r>
            <a:r>
              <a:rPr lang="en-US" altLang="en-US" b="0" dirty="0"/>
              <a:t>without increasing the problem size are sometimes said to be </a:t>
            </a:r>
            <a:r>
              <a:rPr lang="en-US" altLang="en-US" b="0" dirty="0">
                <a:solidFill>
                  <a:srgbClr val="FF0000"/>
                </a:solidFill>
              </a:rPr>
              <a:t>strongly scalable</a:t>
            </a:r>
            <a:r>
              <a:rPr lang="en-US" altLang="en-US" b="0" dirty="0"/>
              <a:t>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Programs that can maintain a </a:t>
            </a:r>
            <a:r>
              <a:rPr lang="en-US" altLang="en-US" b="0" dirty="0">
                <a:solidFill>
                  <a:srgbClr val="FF0000"/>
                </a:solidFill>
              </a:rPr>
              <a:t>constant efficiency </a:t>
            </a:r>
            <a:r>
              <a:rPr lang="en-US" altLang="en-US" b="0" dirty="0"/>
              <a:t>if the problem size increases at the same rate as the number of processes are sometimes said to be </a:t>
            </a:r>
            <a:r>
              <a:rPr lang="en-US" altLang="en-US" b="0" dirty="0">
                <a:solidFill>
                  <a:srgbClr val="FF0000"/>
                </a:solidFill>
              </a:rPr>
              <a:t>weakly scalable</a:t>
            </a:r>
            <a:r>
              <a:rPr lang="en-US" altLang="en-US" b="0" dirty="0"/>
              <a:t>.</a:t>
            </a:r>
          </a:p>
        </p:txBody>
      </p:sp>
      <p:sp>
        <p:nvSpPr>
          <p:cNvPr id="11673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325" y="2807734"/>
            <a:ext cx="10762906" cy="792000"/>
          </a:xfrm>
        </p:spPr>
        <p:txBody>
          <a:bodyPr/>
          <a:lstStyle/>
          <a:p>
            <a:pPr>
              <a:defRPr/>
            </a:pPr>
            <a:r>
              <a:rPr lang="en-US" sz="4800" dirty="0">
                <a:ea typeface="+mj-ea"/>
                <a:cs typeface="+mj-cs"/>
              </a:rPr>
              <a:t>A parallel sorting algorithm</a:t>
            </a:r>
          </a:p>
        </p:txBody>
      </p:sp>
      <p:sp>
        <p:nvSpPr>
          <p:cNvPr id="117762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Sorting</a:t>
            </a:r>
          </a:p>
        </p:txBody>
      </p:sp>
      <p:sp>
        <p:nvSpPr>
          <p:cNvPr id="118786" name="Content Placeholder 2"/>
          <p:cNvSpPr>
            <a:spLocks noGrp="1"/>
          </p:cNvSpPr>
          <p:nvPr>
            <p:ph idx="4294967295"/>
          </p:nvPr>
        </p:nvSpPr>
        <p:spPr>
          <a:xfrm>
            <a:off x="568325" y="1296035"/>
            <a:ext cx="11041380" cy="4712970"/>
          </a:xfrm>
        </p:spPr>
        <p:txBody>
          <a:bodyPr>
            <a:normAutofit fontScale="90000" lnSpcReduction="10000"/>
          </a:bodyPr>
          <a:lstStyle/>
          <a:p>
            <a:r>
              <a:rPr lang="en-US" altLang="en-US" b="0" dirty="0">
                <a:solidFill>
                  <a:srgbClr val="FF0000"/>
                </a:solidFill>
              </a:rPr>
              <a:t>n</a:t>
            </a:r>
            <a:r>
              <a:rPr lang="en-US" altLang="en-US" b="0" dirty="0"/>
              <a:t> keys and </a:t>
            </a:r>
            <a:r>
              <a:rPr lang="en-US" altLang="en-US" b="0" dirty="0">
                <a:solidFill>
                  <a:srgbClr val="FF0000"/>
                </a:solidFill>
              </a:rPr>
              <a:t>p = number of processes</a:t>
            </a:r>
            <a:r>
              <a:rPr lang="en-US" altLang="en-US" b="0" dirty="0"/>
              <a:t>.</a:t>
            </a:r>
          </a:p>
          <a:p>
            <a:r>
              <a:rPr lang="en-US" altLang="en-US" b="0" dirty="0">
                <a:solidFill>
                  <a:srgbClr val="FF0000"/>
                </a:solidFill>
              </a:rPr>
              <a:t>n/p</a:t>
            </a:r>
            <a:r>
              <a:rPr lang="en-US" altLang="en-US" b="0" dirty="0"/>
              <a:t> keys assigned to each process.</a:t>
            </a:r>
          </a:p>
          <a:p>
            <a:r>
              <a:rPr lang="en-US" altLang="en-US" b="0" dirty="0"/>
              <a:t>No restrictions on which keys are assigned to which processes.</a:t>
            </a:r>
          </a:p>
          <a:p>
            <a:r>
              <a:rPr lang="en-US" altLang="en-US" b="0" dirty="0"/>
              <a:t>When the algorithm terminates:</a:t>
            </a:r>
          </a:p>
          <a:p>
            <a:pPr lvl="1"/>
            <a:r>
              <a:rPr lang="en-US" altLang="en-US" b="0" dirty="0"/>
              <a:t>The keys assigned to each process should be sorted in (say) increasing order.</a:t>
            </a:r>
          </a:p>
          <a:p>
            <a:pPr lvl="1"/>
            <a:r>
              <a:rPr lang="en-US" altLang="en-US" b="0" dirty="0"/>
              <a:t>If </a:t>
            </a:r>
            <a:r>
              <a:rPr lang="en-US" altLang="en-US" b="0" dirty="0">
                <a:solidFill>
                  <a:srgbClr val="FF0000"/>
                </a:solidFill>
              </a:rPr>
              <a:t>0 ≤ q &lt; r &lt; p</a:t>
            </a:r>
            <a:r>
              <a:rPr lang="en-US" altLang="en-US" b="0" dirty="0"/>
              <a:t>, then each key assigned to process </a:t>
            </a:r>
            <a:r>
              <a:rPr lang="en-US" altLang="en-US" b="0" dirty="0">
                <a:solidFill>
                  <a:srgbClr val="FF0000"/>
                </a:solidFill>
              </a:rPr>
              <a:t>q</a:t>
            </a:r>
            <a:r>
              <a:rPr lang="en-US" altLang="en-US" b="0" dirty="0"/>
              <a:t> should be less than or equal to every key assigned to process </a:t>
            </a:r>
            <a:r>
              <a:rPr lang="en-US" altLang="en-US" b="0" dirty="0">
                <a:solidFill>
                  <a:srgbClr val="FF0000"/>
                </a:solidFill>
              </a:rPr>
              <a:t>r</a:t>
            </a:r>
            <a:r>
              <a:rPr lang="en-US" altLang="en-US" b="0" dirty="0"/>
              <a:t>.</a:t>
            </a:r>
          </a:p>
        </p:txBody>
      </p:sp>
      <p:sp>
        <p:nvSpPr>
          <p:cNvPr id="11878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Serial bubble sort</a:t>
            </a:r>
          </a:p>
        </p:txBody>
      </p:sp>
      <p:sp>
        <p:nvSpPr>
          <p:cNvPr id="11981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98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29" y="1256824"/>
            <a:ext cx="8739426" cy="446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4" descr="backgrounds,bubbles,clear,colorful,fizz,floating,Fotolia,transparent,wallpapers,wa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036" y="3752136"/>
            <a:ext cx="2570321" cy="2568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95EAC9-6184-4A0C-A2B4-D1A4C143738F}"/>
              </a:ext>
            </a:extLst>
          </p:cNvPr>
          <p:cNvSpPr txBox="1"/>
          <p:nvPr/>
        </p:nvSpPr>
        <p:spPr>
          <a:xfrm>
            <a:off x="7305383" y="1268074"/>
            <a:ext cx="50720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该算法适不适合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SPMD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的并行计算？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每次迭代得到全局最优解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每次迭代得到局部最优解，多次迭代收敛至全局最优解</a:t>
            </a:r>
            <a:endParaRPr 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Odd-even transposition sort</a:t>
            </a:r>
          </a:p>
        </p:txBody>
      </p:sp>
      <p:sp>
        <p:nvSpPr>
          <p:cNvPr id="120834" name="Content Placeholder 3"/>
          <p:cNvSpPr>
            <a:spLocks noGrp="1"/>
          </p:cNvSpPr>
          <p:nvPr>
            <p:ph idx="4294967295"/>
          </p:nvPr>
        </p:nvSpPr>
        <p:spPr>
          <a:xfrm>
            <a:off x="1504315" y="1151890"/>
            <a:ext cx="8684895" cy="3023870"/>
          </a:xfrm>
        </p:spPr>
        <p:txBody>
          <a:bodyPr>
            <a:normAutofit/>
          </a:bodyPr>
          <a:lstStyle/>
          <a:p>
            <a:r>
              <a:rPr lang="en-US" altLang="en-US" b="0"/>
              <a:t>A sequence of phases.</a:t>
            </a:r>
          </a:p>
          <a:p>
            <a:r>
              <a:rPr lang="en-US" altLang="en-US" b="0"/>
              <a:t>Even phases, compare swaps:</a:t>
            </a:r>
            <a:br>
              <a:rPr lang="en-US" altLang="en-US" b="0"/>
            </a:br>
            <a:br>
              <a:rPr lang="en-US" altLang="en-US" b="0"/>
            </a:br>
            <a:endParaRPr lang="en-US" altLang="en-US" b="0"/>
          </a:p>
          <a:p>
            <a:r>
              <a:rPr lang="en-US" altLang="en-US" b="0"/>
              <a:t>Odd phases, compare swaps:</a:t>
            </a:r>
          </a:p>
        </p:txBody>
      </p:sp>
      <p:sp>
        <p:nvSpPr>
          <p:cNvPr id="120835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4280535"/>
            <a:ext cx="5400675" cy="680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8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089" y="2616994"/>
            <a:ext cx="5177314" cy="60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121858" name="Content Placeholder 4"/>
          <p:cNvSpPr>
            <a:spLocks noGrp="1"/>
          </p:cNvSpPr>
          <p:nvPr>
            <p:ph idx="4294967295"/>
          </p:nvPr>
        </p:nvSpPr>
        <p:spPr>
          <a:xfrm>
            <a:off x="1288415" y="1151890"/>
            <a:ext cx="10714355" cy="5378450"/>
          </a:xfrm>
        </p:spPr>
        <p:txBody>
          <a:bodyPr>
            <a:normAutofit fontScale="97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b="0"/>
              <a:t>Start:  5, 9, 4, 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0"/>
              <a:t>Even phase:  compare-swap (5,9) and (4,3)</a:t>
            </a:r>
            <a:br>
              <a:rPr lang="en-US" altLang="en-US" b="0"/>
            </a:br>
            <a:r>
              <a:rPr lang="en-US" altLang="en-US" b="0"/>
              <a:t> getting the list  5, 9, 3, 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0"/>
              <a:t>Odd phase:  compare-swap (9,3)</a:t>
            </a:r>
            <a:br>
              <a:rPr lang="en-US" altLang="en-US" b="0"/>
            </a:br>
            <a:r>
              <a:rPr lang="en-US" altLang="en-US" b="0"/>
              <a:t>getting the list  5, 3, 9, 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0"/>
              <a:t>Even phase:  compare-swap (5,3) and (9,4)</a:t>
            </a:r>
            <a:br>
              <a:rPr lang="en-US" altLang="en-US" b="0"/>
            </a:br>
            <a:r>
              <a:rPr lang="en-US" altLang="en-US" b="0"/>
              <a:t> getting the list  3, 5, 4, 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0"/>
              <a:t>Odd phase:  compare-swap (5,4)</a:t>
            </a:r>
            <a:br>
              <a:rPr lang="en-US" altLang="en-US" b="0"/>
            </a:br>
            <a:r>
              <a:rPr lang="en-US" altLang="en-US" b="0"/>
              <a:t>getting the list  3, 4, 5, 9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b="0"/>
          </a:p>
        </p:txBody>
      </p:sp>
      <p:sp>
        <p:nvSpPr>
          <p:cNvPr id="121859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Serial odd-even transposition sort</a:t>
            </a:r>
          </a:p>
        </p:txBody>
      </p:sp>
      <p:sp>
        <p:nvSpPr>
          <p:cNvPr id="12288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28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174" y="953453"/>
            <a:ext cx="5444014" cy="558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3"/>
          <p:cNvSpPr>
            <a:spLocks noGrp="1"/>
          </p:cNvSpPr>
          <p:nvPr>
            <p:ph type="title"/>
          </p:nvPr>
        </p:nvSpPr>
        <p:spPr>
          <a:xfrm>
            <a:off x="784225" y="288054"/>
            <a:ext cx="10762906" cy="792000"/>
          </a:xfrm>
        </p:spPr>
        <p:txBody>
          <a:bodyPr/>
          <a:lstStyle/>
          <a:p>
            <a:r>
              <a:rPr lang="en-US" altLang="en-US"/>
              <a:t>Communications among tasks in odd-even sort</a:t>
            </a:r>
          </a:p>
        </p:txBody>
      </p:sp>
      <p:sp>
        <p:nvSpPr>
          <p:cNvPr id="123906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3907" name="Picture 2" descr="f03-12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243" y="1558529"/>
            <a:ext cx="8761095" cy="393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27108" y="5642372"/>
            <a:ext cx="6200775" cy="414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Tasks determining a[</a:t>
            </a:r>
            <a:r>
              <a:rPr lang="en-US" sz="2100" i="1" dirty="0" err="1">
                <a:solidFill>
                  <a:srgbClr val="FF0000"/>
                </a:solidFill>
                <a:latin typeface="+mj-lt"/>
                <a:ea typeface="+mn-ea"/>
              </a:rPr>
              <a:t>i</a:t>
            </a: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] are labeled with a[</a:t>
            </a:r>
            <a:r>
              <a:rPr lang="en-US" sz="2100" i="1" dirty="0" err="1">
                <a:solidFill>
                  <a:srgbClr val="FF0000"/>
                </a:solidFill>
                <a:latin typeface="+mj-lt"/>
                <a:ea typeface="+mn-ea"/>
              </a:rPr>
              <a:t>i</a:t>
            </a: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].</a:t>
            </a:r>
          </a:p>
        </p:txBody>
      </p:sp>
    </p:spTree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Parallel odd-even transposition sort</a:t>
            </a:r>
          </a:p>
        </p:txBody>
      </p:sp>
      <p:sp>
        <p:nvSpPr>
          <p:cNvPr id="124930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49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9" y="2088595"/>
            <a:ext cx="8661083" cy="272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Pseudo-code</a:t>
            </a:r>
          </a:p>
        </p:txBody>
      </p:sp>
      <p:sp>
        <p:nvSpPr>
          <p:cNvPr id="125954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59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24" y="1408510"/>
            <a:ext cx="7864316" cy="423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Compute_partner</a:t>
            </a:r>
          </a:p>
        </p:txBody>
      </p:sp>
      <p:sp>
        <p:nvSpPr>
          <p:cNvPr id="12697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269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1180148"/>
            <a:ext cx="8316040" cy="464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 in MPI programs</a:t>
            </a:r>
          </a:p>
        </p:txBody>
      </p:sp>
      <p:sp>
        <p:nvSpPr>
          <p:cNvPr id="128002" name="Content Placeholder 2"/>
          <p:cNvSpPr>
            <a:spLocks noGrp="1"/>
          </p:cNvSpPr>
          <p:nvPr>
            <p:ph idx="4294967295"/>
          </p:nvPr>
        </p:nvSpPr>
        <p:spPr>
          <a:xfrm>
            <a:off x="1000760" y="1296035"/>
            <a:ext cx="10789285" cy="4629150"/>
          </a:xfrm>
        </p:spPr>
        <p:txBody>
          <a:bodyPr>
            <a:normAutofit/>
          </a:bodyPr>
          <a:lstStyle/>
          <a:p>
            <a:r>
              <a:rPr lang="en-US" altLang="en-US" b="0" dirty="0"/>
              <a:t>The MPI standard allows </a:t>
            </a:r>
            <a:r>
              <a:rPr lang="en-US" altLang="en-US" b="0" dirty="0" err="1"/>
              <a:t>MPI_Send</a:t>
            </a:r>
            <a:r>
              <a:rPr lang="en-US" altLang="en-US" b="0" dirty="0"/>
              <a:t> to behave in two different ways: </a:t>
            </a:r>
          </a:p>
          <a:p>
            <a:pPr lvl="1"/>
            <a:r>
              <a:rPr lang="en-US" altLang="en-US" b="0" dirty="0"/>
              <a:t>it can simply copy the message into an MPI managed buffer and return, </a:t>
            </a:r>
            <a:r>
              <a:rPr lang="en-US" altLang="zh-CN" b="0" dirty="0"/>
              <a:t>(eager</a:t>
            </a:r>
            <a:r>
              <a:rPr lang="zh-CN" altLang="en-US" b="0" dirty="0"/>
              <a:t> </a:t>
            </a:r>
            <a:r>
              <a:rPr lang="en-US" altLang="zh-CN" b="0" dirty="0"/>
              <a:t>mode,</a:t>
            </a:r>
            <a:r>
              <a:rPr lang="zh-CN" altLang="en-US" b="0" dirty="0"/>
              <a:t> </a:t>
            </a:r>
            <a:r>
              <a:rPr lang="en-US" altLang="zh-CN" b="0" dirty="0"/>
              <a:t>e.g.,</a:t>
            </a:r>
            <a:r>
              <a:rPr lang="zh-CN" altLang="en-US" b="0" dirty="0"/>
              <a:t> </a:t>
            </a:r>
            <a:r>
              <a:rPr lang="en-US" altLang="zh-CN" b="0" dirty="0"/>
              <a:t>&lt;=</a:t>
            </a:r>
            <a:r>
              <a:rPr lang="zh-CN" altLang="en-US" b="0" dirty="0"/>
              <a:t> </a:t>
            </a:r>
            <a:r>
              <a:rPr lang="en-US" altLang="zh-CN" b="0" dirty="0"/>
              <a:t>16KB)</a:t>
            </a:r>
            <a:endParaRPr lang="en-US" altLang="en-US" b="0" dirty="0"/>
          </a:p>
          <a:p>
            <a:pPr lvl="1"/>
            <a:r>
              <a:rPr lang="en-US" altLang="en-US" b="0" dirty="0"/>
              <a:t>or it can </a:t>
            </a:r>
            <a:r>
              <a:rPr lang="en-US" altLang="en-US" b="0" dirty="0">
                <a:solidFill>
                  <a:srgbClr val="FF0000"/>
                </a:solidFill>
              </a:rPr>
              <a:t>block</a:t>
            </a:r>
            <a:r>
              <a:rPr lang="en-US" altLang="en-US" b="0" dirty="0"/>
              <a:t> until the matching call to </a:t>
            </a:r>
            <a:r>
              <a:rPr lang="en-US" altLang="en-US" b="0" dirty="0" err="1"/>
              <a:t>MPI_Recv</a:t>
            </a:r>
            <a:r>
              <a:rPr lang="en-US" altLang="en-US" b="0" dirty="0"/>
              <a:t> starts.</a:t>
            </a:r>
            <a:r>
              <a:rPr lang="en-US" altLang="zh-CN" b="0" dirty="0"/>
              <a:t> (rendezvous</a:t>
            </a:r>
            <a:r>
              <a:rPr lang="zh-CN" altLang="en-US" b="0" dirty="0"/>
              <a:t> </a:t>
            </a:r>
            <a:r>
              <a:rPr lang="en-US" altLang="zh-CN" b="0" dirty="0"/>
              <a:t>mode ,</a:t>
            </a:r>
            <a:r>
              <a:rPr lang="zh-CN" altLang="en-US" b="0" dirty="0"/>
              <a:t> </a:t>
            </a:r>
            <a:r>
              <a:rPr lang="en-US" altLang="zh-CN" b="0" dirty="0"/>
              <a:t>e.g.,</a:t>
            </a:r>
            <a:r>
              <a:rPr lang="zh-CN" altLang="en-US" b="0" dirty="0"/>
              <a:t> </a:t>
            </a:r>
            <a:r>
              <a:rPr lang="en-US" altLang="zh-CN" b="0"/>
              <a:t>&gt;</a:t>
            </a:r>
            <a:r>
              <a:rPr lang="zh-CN" altLang="en-US" b="0"/>
              <a:t> </a:t>
            </a:r>
            <a:r>
              <a:rPr lang="en-US" altLang="zh-CN" b="0" dirty="0"/>
              <a:t>16KB)</a:t>
            </a:r>
            <a:endParaRPr lang="en-US" altLang="en-US" b="0" dirty="0"/>
          </a:p>
        </p:txBody>
      </p:sp>
      <p:sp>
        <p:nvSpPr>
          <p:cNvPr id="128003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 in MPI programs</a:t>
            </a:r>
          </a:p>
        </p:txBody>
      </p:sp>
      <p:sp>
        <p:nvSpPr>
          <p:cNvPr id="129026" name="Content Placeholder 2"/>
          <p:cNvSpPr>
            <a:spLocks noGrp="1"/>
          </p:cNvSpPr>
          <p:nvPr>
            <p:ph idx="4294967295"/>
          </p:nvPr>
        </p:nvSpPr>
        <p:spPr>
          <a:xfrm>
            <a:off x="712470" y="1511935"/>
            <a:ext cx="11041380" cy="4712970"/>
          </a:xfrm>
        </p:spPr>
        <p:txBody>
          <a:bodyPr/>
          <a:lstStyle/>
          <a:p>
            <a:r>
              <a:rPr lang="en-US" altLang="en-US" b="0" dirty="0"/>
              <a:t>Many implementations of MPI set a threshold at which the system switches from buffering to blocking. </a:t>
            </a:r>
          </a:p>
          <a:p>
            <a:r>
              <a:rPr lang="en-US" altLang="en-US" b="0" dirty="0"/>
              <a:t>Relatively small messages will be buffered by </a:t>
            </a:r>
            <a:r>
              <a:rPr lang="en-US" altLang="en-US" b="0" dirty="0" err="1"/>
              <a:t>MPI_Send</a:t>
            </a:r>
            <a:r>
              <a:rPr lang="en-US" altLang="en-US" b="0" dirty="0"/>
              <a:t>.</a:t>
            </a:r>
          </a:p>
          <a:p>
            <a:r>
              <a:rPr lang="en-US" altLang="en-US" b="0" dirty="0"/>
              <a:t>Larger messages, will cause it to </a:t>
            </a:r>
            <a:r>
              <a:rPr lang="en-US" altLang="en-US" b="0" dirty="0">
                <a:solidFill>
                  <a:srgbClr val="FF0000"/>
                </a:solidFill>
              </a:rPr>
              <a:t>block</a:t>
            </a:r>
            <a:r>
              <a:rPr lang="en-US" altLang="en-US" b="0" dirty="0"/>
              <a:t>.</a:t>
            </a:r>
          </a:p>
        </p:txBody>
      </p:sp>
      <p:sp>
        <p:nvSpPr>
          <p:cNvPr id="12902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 in MPI programs</a:t>
            </a:r>
          </a:p>
        </p:txBody>
      </p:sp>
      <p:sp>
        <p:nvSpPr>
          <p:cNvPr id="130050" name="Content Placeholder 2"/>
          <p:cNvSpPr>
            <a:spLocks noGrp="1"/>
          </p:cNvSpPr>
          <p:nvPr>
            <p:ph idx="4294967295"/>
          </p:nvPr>
        </p:nvSpPr>
        <p:spPr>
          <a:xfrm>
            <a:off x="1216660" y="1151890"/>
            <a:ext cx="10528300" cy="4983480"/>
          </a:xfrm>
        </p:spPr>
        <p:txBody>
          <a:bodyPr/>
          <a:lstStyle/>
          <a:p>
            <a:r>
              <a:rPr lang="en-US" altLang="en-US" b="0" dirty="0"/>
              <a:t>If the </a:t>
            </a:r>
            <a:r>
              <a:rPr lang="en-US" altLang="en-US" b="0" dirty="0" err="1"/>
              <a:t>MPI_Send</a:t>
            </a:r>
            <a:r>
              <a:rPr lang="en-US" altLang="en-US" b="0" dirty="0"/>
              <a:t> executed by each process </a:t>
            </a:r>
            <a:r>
              <a:rPr lang="en-US" altLang="en-US" b="0" dirty="0">
                <a:solidFill>
                  <a:srgbClr val="FF0000"/>
                </a:solidFill>
              </a:rPr>
              <a:t>blocks</a:t>
            </a:r>
            <a:r>
              <a:rPr lang="en-US" altLang="en-US" b="0" dirty="0"/>
              <a:t>, no process will be able to start executing a call to </a:t>
            </a:r>
            <a:r>
              <a:rPr lang="en-US" altLang="en-US" b="0" dirty="0" err="1"/>
              <a:t>MPI_Recv</a:t>
            </a:r>
            <a:r>
              <a:rPr lang="en-US" altLang="en-US" b="0" dirty="0"/>
              <a:t>, and the program will hang or </a:t>
            </a:r>
            <a:r>
              <a:rPr lang="en-US" altLang="en-US" b="0" dirty="0">
                <a:solidFill>
                  <a:srgbClr val="FF0000"/>
                </a:solidFill>
              </a:rPr>
              <a:t>deadlock</a:t>
            </a:r>
            <a:r>
              <a:rPr lang="en-US" altLang="en-US" b="0" dirty="0"/>
              <a:t>.</a:t>
            </a:r>
            <a:br>
              <a:rPr lang="en-US" altLang="en-US" b="0" dirty="0"/>
            </a:br>
            <a:endParaRPr lang="en-US" altLang="en-US" b="0" dirty="0"/>
          </a:p>
          <a:p>
            <a:r>
              <a:rPr lang="en-US" altLang="en-US" b="0" dirty="0"/>
              <a:t>Each process is blocked waiting for an event that will never happen.</a:t>
            </a:r>
          </a:p>
        </p:txBody>
      </p:sp>
      <p:sp>
        <p:nvSpPr>
          <p:cNvPr id="13005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 in MPI programs</a:t>
            </a:r>
          </a:p>
        </p:txBody>
      </p:sp>
      <p:sp>
        <p:nvSpPr>
          <p:cNvPr id="131074" name="Content Placeholder 2"/>
          <p:cNvSpPr>
            <a:spLocks noGrp="1"/>
          </p:cNvSpPr>
          <p:nvPr>
            <p:ph idx="4294967295"/>
          </p:nvPr>
        </p:nvSpPr>
        <p:spPr>
          <a:xfrm>
            <a:off x="1000760" y="1440180"/>
            <a:ext cx="11041380" cy="4712970"/>
          </a:xfrm>
        </p:spPr>
        <p:txBody>
          <a:bodyPr/>
          <a:lstStyle/>
          <a:p>
            <a:r>
              <a:rPr lang="en-US" altLang="en-US" b="0" dirty="0"/>
              <a:t>A program that relies on MPI provided buffering is said to be </a:t>
            </a:r>
            <a:r>
              <a:rPr lang="en-US" altLang="en-US" b="0" dirty="0">
                <a:solidFill>
                  <a:srgbClr val="FF0000"/>
                </a:solidFill>
              </a:rPr>
              <a:t>unsafe</a:t>
            </a:r>
            <a:r>
              <a:rPr lang="en-US" altLang="en-US" b="0" dirty="0"/>
              <a:t>. </a:t>
            </a:r>
          </a:p>
          <a:p>
            <a:endParaRPr lang="en-US" altLang="en-US" b="0" dirty="0"/>
          </a:p>
          <a:p>
            <a:r>
              <a:rPr lang="en-US" altLang="en-US" b="0" dirty="0"/>
              <a:t>Such a program may run without problems for various sets of input, but it may hang or crash with other sets.</a:t>
            </a:r>
          </a:p>
        </p:txBody>
      </p:sp>
      <p:sp>
        <p:nvSpPr>
          <p:cNvPr id="13107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Deadlocks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60283" y="1550330"/>
            <a:ext cx="8241030" cy="34987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  <a:t>Send a large message from process 0 to process 1</a:t>
            </a:r>
          </a:p>
          <a:p>
            <a:pPr lvl="1">
              <a:lnSpc>
                <a:spcPct val="90000"/>
              </a:lnSpc>
            </a:pPr>
            <a:r>
              <a:rPr lang="en-US" sz="2520" dirty="0">
                <a:ea typeface="MS PGothic" panose="020B0600070205080204" pitchFamily="34" charset="-128"/>
              </a:rPr>
              <a:t>If there is insufficient storage at the destination, the send must wait for the user to provide the memory space (through a receive)</a:t>
            </a:r>
          </a:p>
          <a:p>
            <a:pPr>
              <a:lnSpc>
                <a:spcPct val="90000"/>
              </a:lnSpc>
            </a:pPr>
            <a: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  <a:t>What happens with this code?</a:t>
            </a:r>
            <a:b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</a:br>
            <a:b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</a:br>
            <a:b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</a:br>
            <a:br>
              <a:rPr lang="en-US" sz="2940" dirty="0">
                <a:ea typeface="MS PGothic" panose="020B0600070205080204" pitchFamily="34" charset="-128"/>
                <a:cs typeface="MS PGothic" panose="020B0600070205080204" pitchFamily="34" charset="-128"/>
              </a:rPr>
            </a:br>
            <a:endParaRPr lang="en-US" sz="2940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sz="2940" dirty="0"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2900364" y="3890623"/>
            <a:ext cx="6240782" cy="1640205"/>
            <a:chOff x="864" y="3098"/>
            <a:chExt cx="3744" cy="984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382" y="3098"/>
              <a:ext cx="915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dirty="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Send(1)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dirty="0" err="1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</a:t>
              </a:r>
              <a:r>
                <a:rPr lang="en-US" sz="2520" dirty="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(1)</a:t>
              </a:r>
              <a:endParaRPr lang="en-US" sz="252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2928" y="3098"/>
              <a:ext cx="915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Send(0)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Recv(0)</a:t>
              </a: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864" y="3456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300290" y="5565050"/>
            <a:ext cx="8081010" cy="86344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7330" indent="-22733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2100" b="0" dirty="0">
                <a:solidFill>
                  <a:srgbClr val="800000"/>
                </a:solidFill>
                <a:latin typeface="+mn-lt"/>
                <a:cs typeface="Times New Roman" panose="02020603050405020304" pitchFamily="18" charset="0"/>
              </a:rPr>
              <a:t>This is called </a:t>
            </a:r>
            <a:r>
              <a:rPr lang="ja-JP" altLang="en-US" sz="2100" b="0" dirty="0">
                <a:solidFill>
                  <a:srgbClr val="800000"/>
                </a:solidFill>
                <a:latin typeface="+mn-lt"/>
                <a:cs typeface="Times New Roman" panose="02020603050405020304" pitchFamily="18" charset="0"/>
              </a:rPr>
              <a:t>“</a:t>
            </a:r>
            <a:r>
              <a:rPr lang="en-US" altLang="ja-JP" sz="2100" b="0" dirty="0">
                <a:solidFill>
                  <a:srgbClr val="800000"/>
                </a:solidFill>
                <a:latin typeface="+mn-lt"/>
                <a:cs typeface="Times New Roman" panose="02020603050405020304" pitchFamily="18" charset="0"/>
              </a:rPr>
              <a:t>unsafe</a:t>
            </a:r>
            <a:r>
              <a:rPr lang="ja-JP" altLang="en-US" sz="2100" b="0" dirty="0">
                <a:solidFill>
                  <a:srgbClr val="800000"/>
                </a:solidFill>
                <a:latin typeface="+mn-lt"/>
                <a:cs typeface="Times New Roman" panose="02020603050405020304" pitchFamily="18" charset="0"/>
              </a:rPr>
              <a:t>”</a:t>
            </a:r>
            <a:r>
              <a:rPr lang="en-US" altLang="ja-JP" sz="2100" b="0" dirty="0">
                <a:solidFill>
                  <a:srgbClr val="800000"/>
                </a:solidFill>
                <a:latin typeface="+mn-lt"/>
                <a:cs typeface="Times New Roman" panose="02020603050405020304" pitchFamily="18" charset="0"/>
              </a:rPr>
              <a:t> because it depends on the availability of system buffers in which to store the data sent until it can be received </a:t>
            </a:r>
            <a:endParaRPr lang="en-US" sz="2100" b="0" dirty="0">
              <a:solidFill>
                <a:srgbClr val="800000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2470" y="359809"/>
            <a:ext cx="10762906" cy="792000"/>
          </a:xfrm>
        </p:spPr>
        <p:txBody>
          <a:bodyPr/>
          <a:lstStyle/>
          <a:p>
            <a:r>
              <a:rPr lang="en-US" dirty="0"/>
              <a:t>Some Solutions to the “unsafe” Problem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40280" y="1561862"/>
            <a:ext cx="8161020" cy="4417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40" dirty="0">
                <a:solidFill>
                  <a:srgbClr val="000090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Order the operations more carefully: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240280" y="4160520"/>
            <a:ext cx="8961120" cy="56007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38455" indent="-33845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20" dirty="0">
                <a:solidFill>
                  <a:srgbClr val="000090"/>
                </a:solidFill>
                <a:ea typeface="MS PGothic" panose="020B0600070205080204" pitchFamily="34" charset="-128"/>
                <a:cs typeface="Times New Roman" panose="02020603050405020304" pitchFamily="18" charset="0"/>
              </a:rPr>
              <a:t>Supply receive buffer at same time as send:</a:t>
            </a:r>
          </a:p>
        </p:txBody>
      </p:sp>
      <p:grpSp>
        <p:nvGrpSpPr>
          <p:cNvPr id="5" name="Group 5"/>
          <p:cNvGrpSpPr/>
          <p:nvPr/>
        </p:nvGrpSpPr>
        <p:grpSpPr bwMode="auto">
          <a:xfrm>
            <a:off x="2880361" y="2320290"/>
            <a:ext cx="6240782" cy="1640205"/>
            <a:chOff x="864" y="3098"/>
            <a:chExt cx="3744" cy="984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82" y="3098"/>
              <a:ext cx="915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Send(1)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Recv(1)</a:t>
              </a: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928" y="3098"/>
              <a:ext cx="915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Recv(0)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Send(0)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864" y="3456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2720340" y="4960620"/>
            <a:ext cx="6240782" cy="1253490"/>
            <a:chOff x="864" y="3098"/>
            <a:chExt cx="3744" cy="752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82" y="3098"/>
              <a:ext cx="1375" cy="7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Sendrecv(1)</a:t>
              </a: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2928" y="3098"/>
              <a:ext cx="1375" cy="7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Sendrecv(0)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864" y="3456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</p:spTree>
  </p:cSld>
  <p:clrMapOvr>
    <a:masterClrMapping/>
  </p:clrMapOvr>
  <p:transition spd="slow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2470" y="288054"/>
            <a:ext cx="10762906" cy="792000"/>
          </a:xfrm>
        </p:spPr>
        <p:txBody>
          <a:bodyPr/>
          <a:lstStyle/>
          <a:p>
            <a:r>
              <a:rPr lang="en-US" dirty="0"/>
              <a:t>More Solutions to the “unsafe” Problem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664948" y="1550330"/>
            <a:ext cx="8401050" cy="420053"/>
          </a:xfrm>
          <a:prstGeom prst="rect">
            <a:avLst/>
          </a:prstGeom>
          <a:noFill/>
        </p:spPr>
        <p:txBody>
          <a:bodyPr lIns="96011" tIns="48005" rIns="96011" bIns="48005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805" indent="-344805">
              <a:lnSpc>
                <a:spcPct val="80000"/>
              </a:lnSpc>
            </a:pPr>
            <a:r>
              <a:rPr lang="en-US" sz="2940" dirty="0">
                <a:solidFill>
                  <a:srgbClr val="000090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Supply own space as buffer for send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664948" y="3980634"/>
            <a:ext cx="8241030" cy="56007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38455" indent="-33845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20" dirty="0">
                <a:solidFill>
                  <a:srgbClr val="000090"/>
                </a:solidFill>
                <a:ea typeface="MS PGothic" panose="020B0600070205080204" pitchFamily="34" charset="-128"/>
                <a:cs typeface="Times New Roman" panose="02020603050405020304" pitchFamily="18" charset="0"/>
              </a:rPr>
              <a:t>Use non-blocking operations:</a:t>
            </a:r>
          </a:p>
        </p:txBody>
      </p:sp>
      <p:grpSp>
        <p:nvGrpSpPr>
          <p:cNvPr id="5" name="Group 5"/>
          <p:cNvGrpSpPr/>
          <p:nvPr/>
        </p:nvGrpSpPr>
        <p:grpSpPr bwMode="auto">
          <a:xfrm>
            <a:off x="3305028" y="2220414"/>
            <a:ext cx="6240780" cy="1640205"/>
            <a:chOff x="864" y="3098"/>
            <a:chExt cx="3744" cy="984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82" y="3098"/>
              <a:ext cx="1030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dirty="0" err="1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Bsend</a:t>
              </a:r>
              <a:r>
                <a:rPr lang="en-US" sz="2520" dirty="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(1)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dirty="0" err="1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</a:t>
              </a:r>
              <a:r>
                <a:rPr lang="en-US" sz="2520" dirty="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(1)</a:t>
              </a:r>
              <a:endParaRPr lang="en-US" sz="252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928" y="3098"/>
              <a:ext cx="1030" cy="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Bsend(0)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Recv(0)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864" y="3456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3305028" y="4780734"/>
            <a:ext cx="6240780" cy="2026920"/>
            <a:chOff x="864" y="3098"/>
            <a:chExt cx="3744" cy="1216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82" y="3098"/>
              <a:ext cx="1030" cy="1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0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Isend(1)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Irecv(1)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Waitall</a:t>
              </a: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2928" y="3098"/>
              <a:ext cx="1030" cy="1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 b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 1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520" b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Isend(0)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Irecv(0)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520">
                  <a:solidFill>
                    <a:prstClr val="black"/>
                  </a:solidFill>
                  <a:latin typeface="Courier New" panose="02070309020205020404" charset="0"/>
                  <a:cs typeface="Times New Roman" panose="02020603050405020304" pitchFamily="18" charset="0"/>
                </a:rPr>
                <a:t>Waitall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864" y="3456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90">
                <a:solidFill>
                  <a:prstClr val="black"/>
                </a:solidFill>
                <a:ea typeface="MS PGothic" panose="020B0600070205080204" pitchFamily="34" charset="-128"/>
                <a:cs typeface="MS PGothic" panose="020B0600070205080204" pitchFamily="34" charset="-128"/>
              </a:endParaRPr>
            </a:p>
          </p:txBody>
        </p:sp>
      </p:grpSp>
    </p:spTree>
  </p:cSld>
  <p:clrMapOvr>
    <a:masterClrMapping/>
  </p:clrMapOvr>
  <p:transition spd="slow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MPI_Ssend</a:t>
            </a:r>
            <a:endParaRPr lang="en-US" altLang="en-US" dirty="0"/>
          </a:p>
        </p:txBody>
      </p:sp>
      <p:sp>
        <p:nvSpPr>
          <p:cNvPr id="132098" name="Content Placeholder 2"/>
          <p:cNvSpPr>
            <a:spLocks noGrp="1"/>
          </p:cNvSpPr>
          <p:nvPr>
            <p:ph idx="4294967295"/>
          </p:nvPr>
        </p:nvSpPr>
        <p:spPr>
          <a:xfrm>
            <a:off x="1360805" y="1223645"/>
            <a:ext cx="10551160" cy="2948940"/>
          </a:xfrm>
        </p:spPr>
        <p:txBody>
          <a:bodyPr/>
          <a:lstStyle/>
          <a:p>
            <a:r>
              <a:rPr lang="en-US" altLang="en-US" b="0"/>
              <a:t>An alternative to MPI_Send defined by the MPI standard.</a:t>
            </a:r>
          </a:p>
          <a:p>
            <a:r>
              <a:rPr lang="en-US" altLang="en-US" b="0"/>
              <a:t>The extra </a:t>
            </a:r>
            <a:r>
              <a:rPr lang="ja-JP" altLang="en-US" b="0"/>
              <a:t>“</a:t>
            </a:r>
            <a:r>
              <a:rPr lang="en-US" altLang="ja-JP" b="0"/>
              <a:t>s</a:t>
            </a:r>
            <a:r>
              <a:rPr lang="ja-JP" altLang="en-US" b="0"/>
              <a:t>”</a:t>
            </a:r>
            <a:r>
              <a:rPr lang="en-US" altLang="ja-JP" b="0"/>
              <a:t> stands for synchronous and MPI_Ssend is guaranteed to block until the matching receive starts.</a:t>
            </a:r>
            <a:endParaRPr lang="en-US" altLang="en-US" b="0"/>
          </a:p>
        </p:txBody>
      </p:sp>
      <p:sp>
        <p:nvSpPr>
          <p:cNvPr id="13209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32100" name="Group 6"/>
          <p:cNvGrpSpPr/>
          <p:nvPr/>
        </p:nvGrpSpPr>
        <p:grpSpPr bwMode="auto">
          <a:xfrm>
            <a:off x="3340418" y="4130516"/>
            <a:ext cx="5939076" cy="2343626"/>
            <a:chOff x="1547664" y="3861048"/>
            <a:chExt cx="5296272" cy="1811263"/>
          </a:xfrm>
        </p:grpSpPr>
        <p:pic>
          <p:nvPicPr>
            <p:cNvPr id="13210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4" y="3861048"/>
              <a:ext cx="5181600" cy="80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102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4653136"/>
              <a:ext cx="4648200" cy="101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Title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1520090" cy="792000"/>
          </a:xfrm>
        </p:spPr>
        <p:txBody>
          <a:bodyPr/>
          <a:lstStyle/>
          <a:p>
            <a:r>
              <a:rPr lang="en-US" altLang="en-US" dirty="0"/>
              <a:t>Restructuring communication for safety</a:t>
            </a:r>
          </a:p>
        </p:txBody>
      </p:sp>
      <p:sp>
        <p:nvSpPr>
          <p:cNvPr id="13312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331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135" y="2141671"/>
            <a:ext cx="7979330" cy="83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9" y="3525441"/>
            <a:ext cx="8589406" cy="243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5" name="Freeform 5"/>
          <p:cNvSpPr>
            <a:spLocks noChangeArrowheads="1"/>
          </p:cNvSpPr>
          <p:nvPr/>
        </p:nvSpPr>
        <p:spPr bwMode="auto">
          <a:xfrm>
            <a:off x="5319831" y="3078455"/>
            <a:ext cx="615077" cy="381635"/>
          </a:xfrm>
          <a:custGeom>
            <a:avLst/>
            <a:gdLst>
              <a:gd name="T0" fmla="*/ 58896 w 585536"/>
              <a:gd name="T1" fmla="*/ 37432 h 1016001"/>
              <a:gd name="T2" fmla="*/ 492594 w 585536"/>
              <a:gd name="T3" fmla="*/ 37432 h 1016001"/>
              <a:gd name="T4" fmla="*/ 74959 w 585536"/>
              <a:gd name="T5" fmla="*/ 262022 h 1016001"/>
              <a:gd name="T6" fmla="*/ 492594 w 585536"/>
              <a:gd name="T7" fmla="*/ 310148 h 1016001"/>
              <a:gd name="T8" fmla="*/ 10710 w 585536"/>
              <a:gd name="T9" fmla="*/ 534735 h 1016001"/>
              <a:gd name="T10" fmla="*/ 556844 w 585536"/>
              <a:gd name="T11" fmla="*/ 566819 h 1016001"/>
              <a:gd name="T12" fmla="*/ 187401 w 585536"/>
              <a:gd name="T13" fmla="*/ 711198 h 1016001"/>
              <a:gd name="T14" fmla="*/ 139212 w 585536"/>
              <a:gd name="T15" fmla="*/ 1015998 h 10160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85536"/>
              <a:gd name="T25" fmla="*/ 0 h 1016001"/>
              <a:gd name="T26" fmla="*/ 585536 w 585536"/>
              <a:gd name="T27" fmla="*/ 1016001 h 101600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85536" h="1016001">
                <a:moveTo>
                  <a:pt x="58821" y="37432"/>
                </a:moveTo>
                <a:cubicBezTo>
                  <a:pt x="274052" y="18716"/>
                  <a:pt x="489284" y="0"/>
                  <a:pt x="491958" y="37432"/>
                </a:cubicBezTo>
                <a:cubicBezTo>
                  <a:pt x="494632" y="74864"/>
                  <a:pt x="74863" y="216569"/>
                  <a:pt x="74863" y="262022"/>
                </a:cubicBezTo>
                <a:cubicBezTo>
                  <a:pt x="74863" y="307475"/>
                  <a:pt x="502653" y="264695"/>
                  <a:pt x="491958" y="310148"/>
                </a:cubicBezTo>
                <a:cubicBezTo>
                  <a:pt x="481263" y="355601"/>
                  <a:pt x="0" y="491959"/>
                  <a:pt x="10695" y="534738"/>
                </a:cubicBezTo>
                <a:cubicBezTo>
                  <a:pt x="21390" y="577517"/>
                  <a:pt x="526716" y="537412"/>
                  <a:pt x="556126" y="566822"/>
                </a:cubicBezTo>
                <a:cubicBezTo>
                  <a:pt x="585536" y="596232"/>
                  <a:pt x="256674" y="636338"/>
                  <a:pt x="187158" y="711201"/>
                </a:cubicBezTo>
                <a:cubicBezTo>
                  <a:pt x="117642" y="786064"/>
                  <a:pt x="128337" y="901032"/>
                  <a:pt x="139032" y="101600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 sz="189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08703A-93F7-48CB-B4FD-5786832958BD}"/>
              </a:ext>
            </a:extLst>
          </p:cNvPr>
          <p:cNvSpPr txBox="1"/>
          <p:nvPr/>
        </p:nvSpPr>
        <p:spPr>
          <a:xfrm>
            <a:off x="2091929" y="1131412"/>
            <a:ext cx="9087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typical example is a “</a:t>
            </a:r>
            <a:r>
              <a:rPr lang="en-US" sz="2400" b="1" dirty="0"/>
              <a:t>ring pass</a:t>
            </a:r>
            <a:r>
              <a:rPr lang="en-US" sz="2400" dirty="0"/>
              <a:t>” in which each process </a:t>
            </a:r>
            <a:r>
              <a:rPr lang="en-US" sz="2400" i="1" dirty="0"/>
              <a:t>q </a:t>
            </a:r>
            <a:r>
              <a:rPr lang="en-US" sz="2400" dirty="0"/>
              <a:t>sends to the</a:t>
            </a:r>
            <a:br>
              <a:rPr lang="en-US" sz="2400" dirty="0"/>
            </a:br>
            <a:r>
              <a:rPr lang="en-US" sz="2400" dirty="0"/>
              <a:t>process with rank </a:t>
            </a:r>
            <a:r>
              <a:rPr lang="en-US" sz="2400" i="1" dirty="0"/>
              <a:t>q +</a:t>
            </a:r>
            <a:r>
              <a:rPr lang="en-US" sz="2400" dirty="0"/>
              <a:t> 1, except that process </a:t>
            </a:r>
            <a:r>
              <a:rPr lang="en-US" sz="2400" dirty="0" err="1"/>
              <a:t>comm_sz</a:t>
            </a:r>
            <a:r>
              <a:rPr lang="en-US" sz="2400" dirty="0"/>
              <a:t> - 1 sends to 0: </a:t>
            </a:r>
          </a:p>
        </p:txBody>
      </p:sp>
    </p:spTree>
  </p:cSld>
  <p:clrMapOvr>
    <a:masterClrMapping/>
  </p:clrMapOvr>
  <p:transition spd="slow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 communication with five processes</a:t>
            </a:r>
          </a:p>
        </p:txBody>
      </p:sp>
      <p:sp>
        <p:nvSpPr>
          <p:cNvPr id="136194" name="Footer Placeholder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36195" name="Picture 2" descr="f03-13-9780123742605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712" y="1506001"/>
            <a:ext cx="5335667" cy="442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BB02B4BB-D0BB-4B7B-9963-C5C7D77BBBB3}"/>
              </a:ext>
            </a:extLst>
          </p:cNvPr>
          <p:cNvSpPr/>
          <p:nvPr/>
        </p:nvSpPr>
        <p:spPr>
          <a:xfrm>
            <a:off x="1056622" y="1376272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2F46FEC-F251-4746-81C7-4143F687E95B}"/>
              </a:ext>
            </a:extLst>
          </p:cNvPr>
          <p:cNvSpPr/>
          <p:nvPr/>
        </p:nvSpPr>
        <p:spPr>
          <a:xfrm>
            <a:off x="2224336" y="1376272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9575F27-E316-47E5-9A6D-47802BA5CCEA}"/>
              </a:ext>
            </a:extLst>
          </p:cNvPr>
          <p:cNvSpPr/>
          <p:nvPr/>
        </p:nvSpPr>
        <p:spPr>
          <a:xfrm>
            <a:off x="1056622" y="2321073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6FE5D5C-DC31-4942-8F00-01BFE6A73080}"/>
              </a:ext>
            </a:extLst>
          </p:cNvPr>
          <p:cNvSpPr/>
          <p:nvPr/>
        </p:nvSpPr>
        <p:spPr>
          <a:xfrm>
            <a:off x="2224336" y="2321073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1620F39-9E75-41D2-B0C8-C48389D2EA27}"/>
              </a:ext>
            </a:extLst>
          </p:cNvPr>
          <p:cNvCxnSpPr>
            <a:stCxn id="2" idx="6"/>
            <a:endCxn id="6" idx="2"/>
          </p:cNvCxnSpPr>
          <p:nvPr/>
        </p:nvCxnSpPr>
        <p:spPr>
          <a:xfrm>
            <a:off x="1488670" y="1592296"/>
            <a:ext cx="73566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BFA13E2-FD69-4065-9564-9B7C423EED1E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flipH="1">
            <a:off x="1488670" y="2537097"/>
            <a:ext cx="73566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60FE3686-EFC5-40E2-AF4E-49F34A4BF38D}"/>
              </a:ext>
            </a:extLst>
          </p:cNvPr>
          <p:cNvSpPr/>
          <p:nvPr/>
        </p:nvSpPr>
        <p:spPr>
          <a:xfrm>
            <a:off x="1056622" y="4015732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2C9E3B5-5BB0-4949-B3D3-F0F87173343C}"/>
              </a:ext>
            </a:extLst>
          </p:cNvPr>
          <p:cNvSpPr/>
          <p:nvPr/>
        </p:nvSpPr>
        <p:spPr>
          <a:xfrm>
            <a:off x="2224336" y="4015732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FF24C80-1741-44D1-BC90-37E8CA792219}"/>
              </a:ext>
            </a:extLst>
          </p:cNvPr>
          <p:cNvSpPr/>
          <p:nvPr/>
        </p:nvSpPr>
        <p:spPr>
          <a:xfrm>
            <a:off x="1056622" y="4960533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3ADE262-DA9A-400B-B451-3CD03CFC4AB7}"/>
              </a:ext>
            </a:extLst>
          </p:cNvPr>
          <p:cNvSpPr/>
          <p:nvPr/>
        </p:nvSpPr>
        <p:spPr>
          <a:xfrm>
            <a:off x="2224336" y="4960533"/>
            <a:ext cx="432048" cy="4320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3B7E9DF-71D7-4F0A-85DB-3494B21ACE62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>
            <a:off x="2440360" y="4447780"/>
            <a:ext cx="0" cy="5127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72125B-3900-424E-A7AD-1142F585AB2B}"/>
              </a:ext>
            </a:extLst>
          </p:cNvPr>
          <p:cNvCxnSpPr>
            <a:cxnSpLocks/>
            <a:stCxn id="16" idx="0"/>
            <a:endCxn id="14" idx="4"/>
          </p:cNvCxnSpPr>
          <p:nvPr/>
        </p:nvCxnSpPr>
        <p:spPr>
          <a:xfrm flipV="1">
            <a:off x="1272646" y="4447780"/>
            <a:ext cx="0" cy="5127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9E5622A-EE30-4434-AE5D-93A8EC3690A7}"/>
              </a:ext>
            </a:extLst>
          </p:cNvPr>
          <p:cNvSpPr txBox="1"/>
          <p:nvPr/>
        </p:nvSpPr>
        <p:spPr>
          <a:xfrm>
            <a:off x="1376243" y="2969724"/>
            <a:ext cx="960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CF40EE-49BE-4ABB-9906-CBDFF00AD325}"/>
              </a:ext>
            </a:extLst>
          </p:cNvPr>
          <p:cNvSpPr txBox="1"/>
          <p:nvPr/>
        </p:nvSpPr>
        <p:spPr>
          <a:xfrm>
            <a:off x="1432248" y="5761851"/>
            <a:ext cx="960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1</a:t>
            </a:r>
          </a:p>
        </p:txBody>
      </p:sp>
    </p:spTree>
  </p:cSld>
  <p:clrMapOvr>
    <a:masterClrMapping/>
  </p:clrMapOvr>
  <p:transition spd="slow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MPI_Sendrecv</a:t>
            </a:r>
          </a:p>
        </p:txBody>
      </p:sp>
      <p:sp>
        <p:nvSpPr>
          <p:cNvPr id="134146" name="Content Placeholder 2"/>
          <p:cNvSpPr>
            <a:spLocks noGrp="1"/>
          </p:cNvSpPr>
          <p:nvPr>
            <p:ph idx="4294967295"/>
          </p:nvPr>
        </p:nvSpPr>
        <p:spPr>
          <a:xfrm>
            <a:off x="640715" y="1412240"/>
            <a:ext cx="11041380" cy="4712970"/>
          </a:xfrm>
        </p:spPr>
        <p:txBody>
          <a:bodyPr>
            <a:normAutofit/>
          </a:bodyPr>
          <a:lstStyle/>
          <a:p>
            <a:r>
              <a:rPr lang="en-US" altLang="en-US" b="0" dirty="0"/>
              <a:t>An alternative to scheduling the communications ourselves. </a:t>
            </a:r>
          </a:p>
          <a:p>
            <a:r>
              <a:rPr lang="en-US" altLang="en-US" b="0" dirty="0"/>
              <a:t>Carries out a blocking send and a receive in a single call. </a:t>
            </a:r>
          </a:p>
          <a:p>
            <a:r>
              <a:rPr lang="en-US" altLang="en-US" b="0" dirty="0"/>
              <a:t>The </a:t>
            </a:r>
            <a:r>
              <a:rPr lang="en-US" altLang="en-US" b="0" dirty="0" err="1"/>
              <a:t>dest</a:t>
            </a:r>
            <a:r>
              <a:rPr lang="en-US" altLang="en-US" b="0" dirty="0"/>
              <a:t> and the source can be the same or different. </a:t>
            </a:r>
          </a:p>
          <a:p>
            <a:r>
              <a:rPr lang="en-US" altLang="en-US" b="0" dirty="0"/>
              <a:t>Especially useful because MPI schedules the communications so that the program won’</a:t>
            </a:r>
            <a:r>
              <a:rPr lang="en-US" altLang="ja-JP" b="0" dirty="0"/>
              <a:t>t hang or crash.</a:t>
            </a:r>
            <a:endParaRPr lang="en-US" altLang="en-US" b="0" dirty="0"/>
          </a:p>
        </p:txBody>
      </p:sp>
      <p:sp>
        <p:nvSpPr>
          <p:cNvPr id="13414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MPI_Sendrecv</a:t>
            </a:r>
          </a:p>
        </p:txBody>
      </p:sp>
      <p:sp>
        <p:nvSpPr>
          <p:cNvPr id="13517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35171" name="Group 7"/>
          <p:cNvGrpSpPr/>
          <p:nvPr/>
        </p:nvGrpSpPr>
        <p:grpSpPr bwMode="auto">
          <a:xfrm>
            <a:off x="2166938" y="1030129"/>
            <a:ext cx="8014335" cy="5140643"/>
            <a:chOff x="1043608" y="1268760"/>
            <a:chExt cx="5619750" cy="3293343"/>
          </a:xfrm>
        </p:grpSpPr>
        <p:pic>
          <p:nvPicPr>
            <p:cNvPr id="13517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268760"/>
              <a:ext cx="5619750" cy="163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517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2780928"/>
              <a:ext cx="4848225" cy="178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60"/>
              <a:t>Parallel odd-even transposition sort</a:t>
            </a:r>
          </a:p>
        </p:txBody>
      </p:sp>
      <p:sp>
        <p:nvSpPr>
          <p:cNvPr id="13721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372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29" y="833438"/>
            <a:ext cx="5820728" cy="5620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131542" y="1932874"/>
            <a:ext cx="2450833" cy="2351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40" dirty="0"/>
              <a:t>Enhancement</a:t>
            </a:r>
            <a:r>
              <a:rPr lang="en-US" altLang="zh-CN" sz="2940" dirty="0"/>
              <a:t>:</a:t>
            </a:r>
            <a:endParaRPr lang="en-US" sz="2940" dirty="0"/>
          </a:p>
          <a:p>
            <a:r>
              <a:rPr lang="en-US" altLang="zh-CN" sz="2940" i="1" dirty="0"/>
              <a:t>Merging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two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sorted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arrays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rather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than</a:t>
            </a:r>
            <a:r>
              <a:rPr lang="zh-CN" altLang="en-US" sz="2940" i="1" dirty="0"/>
              <a:t> </a:t>
            </a:r>
            <a:r>
              <a:rPr lang="en-US" altLang="zh-CN" sz="2940" i="1" dirty="0"/>
              <a:t>sorting</a:t>
            </a:r>
            <a:endParaRPr lang="en-US" sz="2940" i="1" dirty="0"/>
          </a:p>
        </p:txBody>
      </p:sp>
    </p:spTree>
  </p:cSld>
  <p:clrMapOvr>
    <a:masterClrMapping/>
  </p:clrMapOvr>
  <p:transition spd="slow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Run-times of parallel odd-even sort</a:t>
            </a:r>
          </a:p>
        </p:txBody>
      </p:sp>
      <p:sp>
        <p:nvSpPr>
          <p:cNvPr id="138242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382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28" y="1558529"/>
            <a:ext cx="7409260" cy="360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22420" y="5339001"/>
            <a:ext cx="3478768" cy="414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sz="2100" i="1" dirty="0">
                <a:solidFill>
                  <a:srgbClr val="FF0000"/>
                </a:solidFill>
                <a:latin typeface="+mj-lt"/>
                <a:ea typeface="+mn-ea"/>
              </a:rPr>
              <a:t>(times are in milliseconds)</a:t>
            </a:r>
          </a:p>
        </p:txBody>
      </p:sp>
    </p:spTree>
  </p:cSld>
  <p:clrMapOvr>
    <a:masterClrMapping/>
  </p:clrMapOvr>
  <p:transition spd="slow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cs typeface="Calibri" panose="020F0502020204030204" pitchFamily="34" charset="0"/>
              </a:rPr>
              <a:t>MPI</a:t>
            </a:r>
            <a:r>
              <a:rPr lang="en-US" altLang="zh-CN" sz="4400" dirty="0">
                <a:cs typeface="Calibri" panose="020F0502020204030204" pitchFamily="34" charset="0"/>
              </a:rPr>
              <a:t>’</a:t>
            </a:r>
            <a:r>
              <a:rPr lang="en-US" sz="4400" dirty="0">
                <a:cs typeface="Calibri" panose="020F0502020204030204" pitchFamily="34" charset="0"/>
              </a:rPr>
              <a:t>s Non-blocking Operations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400300" y="1393388"/>
            <a:ext cx="8001000" cy="49304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Non-blocking operations return (immediately) </a:t>
            </a:r>
            <a:r>
              <a:rPr lang="ja-JP" alt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“</a:t>
            </a:r>
            <a:r>
              <a:rPr lang="en-US" altLang="ja-JP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request handles</a:t>
            </a:r>
            <a:r>
              <a:rPr lang="ja-JP" alt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”</a:t>
            </a:r>
            <a:r>
              <a:rPr lang="en-US" altLang="ja-JP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that can be tested and waited on:</a:t>
            </a:r>
          </a:p>
          <a:p>
            <a:pPr>
              <a:lnSpc>
                <a:spcPct val="90000"/>
              </a:lnSpc>
              <a:spcBef>
                <a:spcPts val="960"/>
              </a:spcBef>
              <a:buFontTx/>
              <a:buNone/>
            </a:pP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;</a:t>
            </a:r>
          </a:p>
          <a:p>
            <a:pPr>
              <a:lnSpc>
                <a:spcPct val="90000"/>
              </a:lnSpc>
              <a:spcBef>
                <a:spcPts val="960"/>
              </a:spcBef>
              <a:buFontTx/>
              <a:buNone/>
            </a:pPr>
            <a:r>
              <a:rPr lang="en-US" sz="1890" dirty="0">
                <a:latin typeface="Courier New" panose="02070309020205020404" charset="0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MPI_Status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1890" b="1" dirty="0">
                <a:solidFill>
                  <a:schemeClr val="tx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status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;</a:t>
            </a:r>
            <a:endParaRPr lang="en-US" sz="1680" b="1" dirty="0">
              <a:solidFill>
                <a:schemeClr val="accent2"/>
              </a:solidFill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ts val="960"/>
              </a:spcBef>
              <a:buFontTx/>
              <a:buNone/>
            </a:pP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MPI_Isend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(start, count, datatype,</a:t>
            </a:r>
            <a:b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dest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 tag,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comm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&amp;request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);</a:t>
            </a:r>
          </a:p>
          <a:p>
            <a:pPr>
              <a:lnSpc>
                <a:spcPct val="90000"/>
              </a:lnSpc>
              <a:spcBef>
                <a:spcPts val="960"/>
              </a:spcBef>
              <a:buFontTx/>
              <a:buNone/>
            </a:pP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MPI_Irecv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(start, count, datatype,</a:t>
            </a:r>
            <a:b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  </a:t>
            </a:r>
            <a:r>
              <a:rPr lang="en-US" altLang="zh-CN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src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 tag, comm, &amp;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);</a:t>
            </a:r>
          </a:p>
          <a:p>
            <a:pPr>
              <a:lnSpc>
                <a:spcPct val="90000"/>
              </a:lnSpc>
              <a:spcBef>
                <a:spcPts val="960"/>
              </a:spcBef>
              <a:buFontTx/>
              <a:buNone/>
            </a:pP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MPI_Wait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(&amp;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 &amp;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status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9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   (each request must be Waited on)</a:t>
            </a:r>
          </a:p>
          <a:p>
            <a:pPr>
              <a:lnSpc>
                <a:spcPct val="90000"/>
              </a:lnSpc>
            </a:pP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One can</a:t>
            </a:r>
            <a:r>
              <a:rPr lang="en-US" sz="2520" b="1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also test without waiting:</a:t>
            </a:r>
            <a:endParaRPr lang="en-US" sz="1890" dirty="0"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 </a:t>
            </a:r>
            <a:r>
              <a:rPr lang="en-US" sz="189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MPI_Test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(&amp;</a:t>
            </a:r>
            <a:r>
              <a:rPr lang="en-US" sz="1890" b="1" dirty="0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request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 &amp;</a:t>
            </a:r>
            <a:r>
              <a:rPr lang="en-US" sz="1890" b="1" dirty="0">
                <a:solidFill>
                  <a:srgbClr val="0000FF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flag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 &amp;</a:t>
            </a:r>
            <a:r>
              <a:rPr lang="en-US" sz="1890" b="1" dirty="0">
                <a:solidFill>
                  <a:srgbClr val="0000FF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status</a:t>
            </a:r>
            <a:r>
              <a:rPr lang="en-US" sz="189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Accessing the data buffer without waiting is undefined</a:t>
            </a:r>
            <a:endParaRPr lang="en-US" sz="2520" b="1" dirty="0">
              <a:latin typeface="Courier New" panose="0207030902020502040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MPI’s Non-blocking Operations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920240" y="1901776"/>
            <a:ext cx="8961120" cy="4708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It is sometimes desirable to wait on multiple requests: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MPI_Waitall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(count, </a:t>
            </a:r>
            <a:r>
              <a:rPr lang="en-US" sz="2520" b="1" dirty="0" err="1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array_of_requests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</a:t>
            </a:r>
            <a:b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b="1" dirty="0" err="1">
                <a:solidFill>
                  <a:schemeClr val="tx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array_of_statuses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MPI_Waitany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(count, </a:t>
            </a:r>
            <a:r>
              <a:rPr lang="en-US" sz="2520" b="1" dirty="0" err="1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array_of_requests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</a:t>
            </a:r>
            <a:b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&amp;index, &amp;</a:t>
            </a:r>
            <a:r>
              <a:rPr lang="en-US" sz="2520" b="1" dirty="0">
                <a:solidFill>
                  <a:schemeClr val="tx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status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MPI_Waitsome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(count, </a:t>
            </a:r>
            <a:r>
              <a:rPr lang="en-US" sz="2520" b="1" dirty="0" err="1">
                <a:solidFill>
                  <a:schemeClr val="accent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array_of_requests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,</a:t>
            </a:r>
            <a:b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</a:b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b="1" dirty="0" err="1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indices, </a:t>
            </a:r>
            <a:r>
              <a:rPr lang="en-US" sz="2520" b="1" dirty="0" err="1">
                <a:solidFill>
                  <a:schemeClr val="tx2"/>
                </a:solidFill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array_of_statuses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)</a:t>
            </a:r>
          </a:p>
          <a:p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There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are corresponding versions of </a:t>
            </a:r>
            <a:r>
              <a:rPr lang="en-US" sz="2520" b="1" dirty="0">
                <a:latin typeface="Courier New" panose="02070309020205020404" charset="0"/>
                <a:ea typeface="MS PGothic" panose="020B0600070205080204" pitchFamily="34" charset="-128"/>
                <a:cs typeface="MS PGothic" panose="020B0600070205080204" pitchFamily="34" charset="-128"/>
              </a:rPr>
              <a:t>test</a:t>
            </a:r>
            <a:r>
              <a:rPr lang="en-US" sz="2520" dirty="0"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 for each of these.</a:t>
            </a:r>
            <a:endParaRPr lang="en-US" sz="2520" b="1" dirty="0">
              <a:latin typeface="Courier New" panose="0207030902020502040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(1)</a:t>
            </a:r>
          </a:p>
        </p:txBody>
      </p:sp>
      <p:sp>
        <p:nvSpPr>
          <p:cNvPr id="139266" name="Content Placeholder 2"/>
          <p:cNvSpPr>
            <a:spLocks noGrp="1"/>
          </p:cNvSpPr>
          <p:nvPr>
            <p:ph idx="4294967295"/>
          </p:nvPr>
        </p:nvSpPr>
        <p:spPr>
          <a:xfrm>
            <a:off x="784225" y="1367790"/>
            <a:ext cx="11041380" cy="4712970"/>
          </a:xfrm>
        </p:spPr>
        <p:txBody>
          <a:bodyPr/>
          <a:lstStyle/>
          <a:p>
            <a:r>
              <a:rPr lang="en-US" altLang="en-US" b="0"/>
              <a:t>MPI or the Message-Passing Interface is a library of functions that can be called from C, C++, or Fortran programs.</a:t>
            </a:r>
          </a:p>
          <a:p>
            <a:r>
              <a:rPr lang="en-US" altLang="en-US" b="0"/>
              <a:t>A communicator is a collection of processes that can send messages to each other.</a:t>
            </a:r>
          </a:p>
          <a:p>
            <a:r>
              <a:rPr lang="en-US" altLang="en-US" b="0"/>
              <a:t>Many parallel programs use the single-program multiple data or SPMD approach.</a:t>
            </a:r>
          </a:p>
        </p:txBody>
      </p:sp>
      <p:sp>
        <p:nvSpPr>
          <p:cNvPr id="139267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(2)</a:t>
            </a:r>
          </a:p>
        </p:txBody>
      </p:sp>
      <p:sp>
        <p:nvSpPr>
          <p:cNvPr id="140290" name="Content Placeholder 2"/>
          <p:cNvSpPr>
            <a:spLocks noGrp="1"/>
          </p:cNvSpPr>
          <p:nvPr>
            <p:ph idx="4294967295"/>
          </p:nvPr>
        </p:nvSpPr>
        <p:spPr>
          <a:xfrm>
            <a:off x="928370" y="1440180"/>
            <a:ext cx="11041380" cy="4712970"/>
          </a:xfrm>
        </p:spPr>
        <p:txBody>
          <a:bodyPr/>
          <a:lstStyle/>
          <a:p>
            <a:r>
              <a:rPr lang="en-US" altLang="en-US" b="0"/>
              <a:t>Most serial programs are deterministic: if we run the same program with the same input we</a:t>
            </a:r>
            <a:r>
              <a:rPr lang="ja-JP" altLang="en-US" b="0"/>
              <a:t>’</a:t>
            </a:r>
            <a:r>
              <a:rPr lang="en-US" altLang="ja-JP" b="0"/>
              <a:t>ll get the same output. </a:t>
            </a:r>
          </a:p>
          <a:p>
            <a:r>
              <a:rPr lang="en-US" altLang="en-US" b="0"/>
              <a:t>Parallel programs often don</a:t>
            </a:r>
            <a:r>
              <a:rPr lang="ja-JP" altLang="en-US" b="0"/>
              <a:t>’</a:t>
            </a:r>
            <a:r>
              <a:rPr lang="en-US" altLang="ja-JP" b="0"/>
              <a:t>t possess this property.</a:t>
            </a:r>
          </a:p>
          <a:p>
            <a:r>
              <a:rPr lang="en-US" altLang="en-US" b="0"/>
              <a:t>Collective communications involve all the processes in a communicator.</a:t>
            </a:r>
          </a:p>
        </p:txBody>
      </p:sp>
      <p:sp>
        <p:nvSpPr>
          <p:cNvPr id="140291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(3)</a:t>
            </a:r>
          </a:p>
        </p:txBody>
      </p:sp>
      <p:sp>
        <p:nvSpPr>
          <p:cNvPr id="141314" name="Content Placeholder 2"/>
          <p:cNvSpPr>
            <a:spLocks noGrp="1"/>
          </p:cNvSpPr>
          <p:nvPr>
            <p:ph idx="4294967295"/>
          </p:nvPr>
        </p:nvSpPr>
        <p:spPr>
          <a:xfrm>
            <a:off x="712470" y="1511935"/>
            <a:ext cx="11041380" cy="4712970"/>
          </a:xfrm>
        </p:spPr>
        <p:txBody>
          <a:bodyPr/>
          <a:lstStyle/>
          <a:p>
            <a:r>
              <a:rPr lang="en-US" altLang="en-US" b="0"/>
              <a:t>When we time parallel programs, we</a:t>
            </a:r>
            <a:r>
              <a:rPr lang="ja-JP" altLang="en-US" b="0"/>
              <a:t>’</a:t>
            </a:r>
            <a:r>
              <a:rPr lang="en-US" altLang="ja-JP" b="0"/>
              <a:t>re usually interested in elapsed time or </a:t>
            </a:r>
            <a:r>
              <a:rPr lang="ja-JP" altLang="en-US" b="0"/>
              <a:t>“</a:t>
            </a:r>
            <a:r>
              <a:rPr lang="en-US" altLang="ja-JP" b="0"/>
              <a:t>wall clock time</a:t>
            </a:r>
            <a:r>
              <a:rPr lang="ja-JP" altLang="en-US" b="0"/>
              <a:t>”</a:t>
            </a:r>
            <a:r>
              <a:rPr lang="en-US" altLang="ja-JP" b="0"/>
              <a:t>.</a:t>
            </a:r>
          </a:p>
          <a:p>
            <a:r>
              <a:rPr lang="en-US" altLang="en-US" b="0"/>
              <a:t>Speedup is the ratio of the serial run-time to the parallel run-time.</a:t>
            </a:r>
          </a:p>
          <a:p>
            <a:r>
              <a:rPr lang="en-US" altLang="en-US" b="0"/>
              <a:t>Efficiency is the speedup divided by the number of parallel processes.</a:t>
            </a:r>
          </a:p>
        </p:txBody>
      </p:sp>
      <p:sp>
        <p:nvSpPr>
          <p:cNvPr id="141315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(4)</a:t>
            </a:r>
          </a:p>
        </p:txBody>
      </p:sp>
      <p:sp>
        <p:nvSpPr>
          <p:cNvPr id="142338" name="Content Placeholder 2"/>
          <p:cNvSpPr>
            <a:spLocks noGrp="1"/>
          </p:cNvSpPr>
          <p:nvPr>
            <p:ph idx="4294967295"/>
          </p:nvPr>
        </p:nvSpPr>
        <p:spPr>
          <a:xfrm>
            <a:off x="641350" y="1412240"/>
            <a:ext cx="11041380" cy="4712970"/>
          </a:xfrm>
        </p:spPr>
        <p:txBody>
          <a:bodyPr/>
          <a:lstStyle/>
          <a:p>
            <a:r>
              <a:rPr lang="en-US" altLang="en-US" b="0"/>
              <a:t>If it</a:t>
            </a:r>
            <a:r>
              <a:rPr lang="ja-JP" altLang="en-US" b="0"/>
              <a:t>’</a:t>
            </a:r>
            <a:r>
              <a:rPr lang="en-US" altLang="ja-JP" b="0"/>
              <a:t>s possible to increase the problem size (n) so that the efficiency doesn</a:t>
            </a:r>
            <a:r>
              <a:rPr lang="ja-JP" altLang="en-US" b="0"/>
              <a:t>’</a:t>
            </a:r>
            <a:r>
              <a:rPr lang="en-US" altLang="ja-JP" b="0"/>
              <a:t>t decrease as p is increased, a parallel program is said to be scalable.</a:t>
            </a:r>
          </a:p>
          <a:p>
            <a:r>
              <a:rPr lang="en-US" altLang="en-US" b="0"/>
              <a:t>An MPI program is unsafe if its correct behavior depends on the fact that MPI_Send is buffering its input.</a:t>
            </a:r>
          </a:p>
        </p:txBody>
      </p:sp>
      <p:sp>
        <p:nvSpPr>
          <p:cNvPr id="142339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anose="020B0A040201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26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1342</TotalTime>
  <Words>6380</Words>
  <Application>Microsoft Office PowerPoint</Application>
  <PresentationFormat>自定义</PresentationFormat>
  <Paragraphs>960</Paragraphs>
  <Slides>145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145</vt:i4>
      </vt:variant>
    </vt:vector>
  </HeadingPairs>
  <TitlesOfParts>
    <vt:vector size="159" baseType="lpstr">
      <vt:lpstr>MS PGothic</vt:lpstr>
      <vt:lpstr>宋体</vt:lpstr>
      <vt:lpstr>微软雅黑</vt:lpstr>
      <vt:lpstr>等线</vt:lpstr>
      <vt:lpstr>等线 Light</vt:lpstr>
      <vt:lpstr>Arial</vt:lpstr>
      <vt:lpstr>Arial Black</vt:lpstr>
      <vt:lpstr>Calibri</vt:lpstr>
      <vt:lpstr>Comic Sans MS</vt:lpstr>
      <vt:lpstr>Courier New</vt:lpstr>
      <vt:lpstr>Times New Roman</vt:lpstr>
      <vt:lpstr>Wingdings</vt:lpstr>
      <vt:lpstr>教育部工程研究中心项目汇报-改</vt:lpstr>
      <vt:lpstr>Office 主题​​</vt:lpstr>
      <vt:lpstr>PowerPoint 演示文稿</vt:lpstr>
      <vt:lpstr>PowerPoint 演示文稿</vt:lpstr>
      <vt:lpstr>Roadmap</vt:lpstr>
      <vt:lpstr>A distributed memory system</vt:lpstr>
      <vt:lpstr>A shared memory system</vt:lpstr>
      <vt:lpstr>PowerPoint 演示文稿</vt:lpstr>
      <vt:lpstr>Hello World! </vt:lpstr>
      <vt:lpstr>Finding Out About the Environment</vt:lpstr>
      <vt:lpstr>Identifying MPI processes</vt:lpstr>
      <vt:lpstr>Our first MPI program</vt:lpstr>
      <vt:lpstr>Set OpenMPI Path-default path</vt:lpstr>
      <vt:lpstr>Set OpenMPI Path-User Defined Path</vt:lpstr>
      <vt:lpstr>Compilation</vt:lpstr>
      <vt:lpstr>Setup Multiple Computer Environment</vt:lpstr>
      <vt:lpstr>Execution</vt:lpstr>
      <vt:lpstr>Execution</vt:lpstr>
      <vt:lpstr>MPI Programs</vt:lpstr>
      <vt:lpstr>MPI Components</vt:lpstr>
      <vt:lpstr>Basic Outline</vt:lpstr>
      <vt:lpstr>Communicator（通信域/通信子） </vt:lpstr>
      <vt:lpstr>Communicators</vt:lpstr>
      <vt:lpstr>PowerPoint 演示文稿</vt:lpstr>
      <vt:lpstr>SPMD</vt:lpstr>
      <vt:lpstr>MPI Basic Send/Receive</vt:lpstr>
      <vt:lpstr>Communication</vt:lpstr>
      <vt:lpstr>MPI Datatypes (semantics)</vt:lpstr>
      <vt:lpstr>Data types</vt:lpstr>
      <vt:lpstr>Communication</vt:lpstr>
      <vt:lpstr>MPI Tags</vt:lpstr>
      <vt:lpstr>Message matching</vt:lpstr>
      <vt:lpstr>Receiving messages</vt:lpstr>
      <vt:lpstr>status_p  argument</vt:lpstr>
      <vt:lpstr>How much data am I receiving?</vt:lpstr>
      <vt:lpstr>Issues with send and receive</vt:lpstr>
      <vt:lpstr>Trapezoidal rule in mpi 基于MPI的梯形积分法</vt:lpstr>
      <vt:lpstr>The Trapezoidal Rule</vt:lpstr>
      <vt:lpstr>The Trapezoidal Rule（梯形积分法）</vt:lpstr>
      <vt:lpstr>One trapezoid</vt:lpstr>
      <vt:lpstr>Pseudo-code for a serial program</vt:lpstr>
      <vt:lpstr>Parallelizing the Trapezoidal Rule (Foster Method)</vt:lpstr>
      <vt:lpstr>Parallel pseudo-code</vt:lpstr>
      <vt:lpstr>Tasks and communications for Trapezoidal Rule</vt:lpstr>
      <vt:lpstr>First version (1) 程序3-2</vt:lpstr>
      <vt:lpstr>First version (2)</vt:lpstr>
      <vt:lpstr>First version (3)</vt:lpstr>
      <vt:lpstr>Dealing with I/O</vt:lpstr>
      <vt:lpstr>Running with 6 processes</vt:lpstr>
      <vt:lpstr>Input </vt:lpstr>
      <vt:lpstr>Function for reading user input</vt:lpstr>
      <vt:lpstr>Collective communication</vt:lpstr>
      <vt:lpstr>Tree-structured communication</vt:lpstr>
      <vt:lpstr>A tree-structured global sum</vt:lpstr>
      <vt:lpstr>An alternative tree-structured global sum</vt:lpstr>
      <vt:lpstr>MPI_Reduce</vt:lpstr>
      <vt:lpstr>Predefined reduction operators in MPI</vt:lpstr>
      <vt:lpstr>Collective vs. Point-to-Point Communications</vt:lpstr>
      <vt:lpstr>Collective vs. Point-to-Point Communications</vt:lpstr>
      <vt:lpstr>Collective vs. Point-to-Point Communications</vt:lpstr>
      <vt:lpstr>Collective vs. Point-to-Point Communications</vt:lpstr>
      <vt:lpstr>Example (1)</vt:lpstr>
      <vt:lpstr>MPI_Allreduce</vt:lpstr>
      <vt:lpstr>PowerPoint 演示文稿</vt:lpstr>
      <vt:lpstr>PowerPoint 演示文稿</vt:lpstr>
      <vt:lpstr>Collective Data Movement</vt:lpstr>
      <vt:lpstr>Collective Data Movement</vt:lpstr>
      <vt:lpstr>Collective Data Movement</vt:lpstr>
      <vt:lpstr>Broadcast</vt:lpstr>
      <vt:lpstr>PowerPoint 演示文稿</vt:lpstr>
      <vt:lpstr>A version of Get_input that uses MPI_Bcast</vt:lpstr>
      <vt:lpstr>Data distributions (Data level parallelism)</vt:lpstr>
      <vt:lpstr>Serial implementation of vector addition</vt:lpstr>
      <vt:lpstr>Different partitions of a 12-component vector among 3 processes</vt:lpstr>
      <vt:lpstr>Partitioning options</vt:lpstr>
      <vt:lpstr>Parallel implementation of  vector addition</vt:lpstr>
      <vt:lpstr>Scatter</vt:lpstr>
      <vt:lpstr>Reading and distributing a vector</vt:lpstr>
      <vt:lpstr>Gather</vt:lpstr>
      <vt:lpstr>Print a distributed vector (1)</vt:lpstr>
      <vt:lpstr>Print a distributed vector (2)</vt:lpstr>
      <vt:lpstr>Allgather</vt:lpstr>
      <vt:lpstr>AllGather</vt:lpstr>
      <vt:lpstr>AllGather Performance</vt:lpstr>
      <vt:lpstr>MPI Derived Datatype</vt:lpstr>
      <vt:lpstr>Derived datatypes</vt:lpstr>
      <vt:lpstr>Derived datatypes</vt:lpstr>
      <vt:lpstr>MPI_Type create_struct</vt:lpstr>
      <vt:lpstr>MPI_Get_address</vt:lpstr>
      <vt:lpstr>MPI_Type_commit</vt:lpstr>
      <vt:lpstr>MPI_Type_free</vt:lpstr>
      <vt:lpstr>Get input function with a derived datatype (1)</vt:lpstr>
      <vt:lpstr>Get input function with a derived datatype (2)</vt:lpstr>
      <vt:lpstr>Get input function with a derived datatype (3)</vt:lpstr>
      <vt:lpstr>Difference with C Struct</vt:lpstr>
      <vt:lpstr>Other derived datatype</vt:lpstr>
      <vt:lpstr>Other derived datatype</vt:lpstr>
      <vt:lpstr>Other derived datatype</vt:lpstr>
      <vt:lpstr>Other derived datatype</vt:lpstr>
      <vt:lpstr>Other derived datatype</vt:lpstr>
      <vt:lpstr>Problem of derived datatype</vt:lpstr>
      <vt:lpstr>Problem of derived datatype</vt:lpstr>
      <vt:lpstr>Problem of derived datatype</vt:lpstr>
      <vt:lpstr>PowerPoint 演示文稿</vt:lpstr>
      <vt:lpstr>Elapsed parallel time</vt:lpstr>
      <vt:lpstr>PowerPoint 演示文稿</vt:lpstr>
      <vt:lpstr>Elapsed serial time</vt:lpstr>
      <vt:lpstr>Elapsed serial time</vt:lpstr>
      <vt:lpstr>MPI_Barrier</vt:lpstr>
      <vt:lpstr>MPI_Barrier</vt:lpstr>
      <vt:lpstr>Run-times of serial and parallel matrix-vector multiplication</vt:lpstr>
      <vt:lpstr>Speedup</vt:lpstr>
      <vt:lpstr>Parallel Efficiency</vt:lpstr>
      <vt:lpstr>Speedups of Parallel Matrix-Vector Multiplication</vt:lpstr>
      <vt:lpstr>Efficiencies of Parallel Matrix-Vector Multiplication</vt:lpstr>
      <vt:lpstr>Scalability</vt:lpstr>
      <vt:lpstr>Scalability</vt:lpstr>
      <vt:lpstr>A parallel sorting algorithm</vt:lpstr>
      <vt:lpstr>Sorting</vt:lpstr>
      <vt:lpstr>Serial bubble sort</vt:lpstr>
      <vt:lpstr>Odd-even transposition sort</vt:lpstr>
      <vt:lpstr>Example</vt:lpstr>
      <vt:lpstr>Serial odd-even transposition sort</vt:lpstr>
      <vt:lpstr>Communications among tasks in odd-even sort</vt:lpstr>
      <vt:lpstr>Parallel odd-even transposition sort</vt:lpstr>
      <vt:lpstr>Pseudo-code</vt:lpstr>
      <vt:lpstr>Compute_partner</vt:lpstr>
      <vt:lpstr>Safety in MPI programs</vt:lpstr>
      <vt:lpstr>Safety in MPI programs</vt:lpstr>
      <vt:lpstr>Safety in MPI programs</vt:lpstr>
      <vt:lpstr>Safety in MPI programs</vt:lpstr>
      <vt:lpstr>Sources of Deadlocks</vt:lpstr>
      <vt:lpstr>Some Solutions to the “unsafe” Problem</vt:lpstr>
      <vt:lpstr>More Solutions to the “unsafe” Problem</vt:lpstr>
      <vt:lpstr>MPI_Ssend</vt:lpstr>
      <vt:lpstr>Restructuring communication for safety</vt:lpstr>
      <vt:lpstr>Safe communication with five processes</vt:lpstr>
      <vt:lpstr>MPI_Sendrecv</vt:lpstr>
      <vt:lpstr>MPI_Sendrecv</vt:lpstr>
      <vt:lpstr>Parallel odd-even transposition sort</vt:lpstr>
      <vt:lpstr>Run-times of parallel odd-even sort</vt:lpstr>
      <vt:lpstr>MPI’s Non-blocking Operations</vt:lpstr>
      <vt:lpstr>MPI’s Non-blocking Operations</vt:lpstr>
      <vt:lpstr>Concluding Remarks (1)</vt:lpstr>
      <vt:lpstr>Concluding Remarks (2)</vt:lpstr>
      <vt:lpstr>Concluding Remarks (3)</vt:lpstr>
      <vt:lpstr>Concluding Remarks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2658</cp:revision>
  <dcterms:created xsi:type="dcterms:W3CDTF">2016-05-19T09:43:00Z</dcterms:created>
  <dcterms:modified xsi:type="dcterms:W3CDTF">2025-02-23T13:20:05Z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