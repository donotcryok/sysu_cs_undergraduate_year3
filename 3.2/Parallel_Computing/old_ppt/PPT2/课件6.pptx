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7"/>
  </p:notesMasterIdLst>
  <p:sldIdLst>
    <p:sldId id="256" r:id="rId2"/>
    <p:sldId id="1232" r:id="rId3"/>
    <p:sldId id="1233" r:id="rId4"/>
    <p:sldId id="1234" r:id="rId5"/>
    <p:sldId id="1235" r:id="rId6"/>
    <p:sldId id="1335" r:id="rId7"/>
    <p:sldId id="1236" r:id="rId8"/>
    <p:sldId id="1237" r:id="rId9"/>
    <p:sldId id="1238" r:id="rId10"/>
    <p:sldId id="1239" r:id="rId11"/>
    <p:sldId id="1240" r:id="rId12"/>
    <p:sldId id="1241" r:id="rId13"/>
    <p:sldId id="1242" r:id="rId14"/>
    <p:sldId id="1243" r:id="rId15"/>
    <p:sldId id="1244" r:id="rId16"/>
    <p:sldId id="1245" r:id="rId17"/>
    <p:sldId id="1246" r:id="rId18"/>
    <p:sldId id="1247" r:id="rId19"/>
    <p:sldId id="1248" r:id="rId20"/>
    <p:sldId id="1249" r:id="rId21"/>
    <p:sldId id="1250" r:id="rId22"/>
    <p:sldId id="1251" r:id="rId23"/>
    <p:sldId id="1252" r:id="rId24"/>
    <p:sldId id="1253" r:id="rId25"/>
    <p:sldId id="1254" r:id="rId26"/>
    <p:sldId id="1255" r:id="rId27"/>
    <p:sldId id="1256" r:id="rId28"/>
    <p:sldId id="1257" r:id="rId29"/>
    <p:sldId id="1258" r:id="rId30"/>
    <p:sldId id="1259" r:id="rId31"/>
    <p:sldId id="1260" r:id="rId32"/>
    <p:sldId id="1261" r:id="rId33"/>
    <p:sldId id="1262" r:id="rId34"/>
    <p:sldId id="1263" r:id="rId35"/>
    <p:sldId id="1264" r:id="rId36"/>
    <p:sldId id="1265" r:id="rId37"/>
    <p:sldId id="1266" r:id="rId38"/>
    <p:sldId id="1267" r:id="rId39"/>
    <p:sldId id="1268" r:id="rId40"/>
    <p:sldId id="1269" r:id="rId41"/>
    <p:sldId id="1270" r:id="rId42"/>
    <p:sldId id="1271" r:id="rId43"/>
    <p:sldId id="1272" r:id="rId44"/>
    <p:sldId id="1273" r:id="rId45"/>
    <p:sldId id="1274" r:id="rId46"/>
    <p:sldId id="1275" r:id="rId47"/>
    <p:sldId id="1276" r:id="rId48"/>
    <p:sldId id="1277" r:id="rId49"/>
    <p:sldId id="1278" r:id="rId50"/>
    <p:sldId id="1279" r:id="rId51"/>
    <p:sldId id="1280" r:id="rId52"/>
    <p:sldId id="1281" r:id="rId53"/>
    <p:sldId id="1282" r:id="rId54"/>
    <p:sldId id="1283" r:id="rId55"/>
    <p:sldId id="1284" r:id="rId56"/>
    <p:sldId id="1285" r:id="rId57"/>
    <p:sldId id="1286" r:id="rId58"/>
    <p:sldId id="1287" r:id="rId59"/>
    <p:sldId id="1288" r:id="rId60"/>
    <p:sldId id="1289" r:id="rId61"/>
    <p:sldId id="1290" r:id="rId62"/>
    <p:sldId id="1291" r:id="rId63"/>
    <p:sldId id="1292" r:id="rId64"/>
    <p:sldId id="1293" r:id="rId65"/>
    <p:sldId id="1294" r:id="rId66"/>
    <p:sldId id="1295" r:id="rId67"/>
    <p:sldId id="1296" r:id="rId68"/>
    <p:sldId id="1297" r:id="rId69"/>
    <p:sldId id="1298" r:id="rId70"/>
    <p:sldId id="1299" r:id="rId71"/>
    <p:sldId id="1300" r:id="rId72"/>
    <p:sldId id="1301" r:id="rId73"/>
    <p:sldId id="1302" r:id="rId74"/>
    <p:sldId id="1303" r:id="rId75"/>
    <p:sldId id="1304" r:id="rId76"/>
    <p:sldId id="1305" r:id="rId77"/>
    <p:sldId id="1306" r:id="rId78"/>
    <p:sldId id="1307" r:id="rId79"/>
    <p:sldId id="1308" r:id="rId80"/>
    <p:sldId id="1309" r:id="rId81"/>
    <p:sldId id="1310" r:id="rId82"/>
    <p:sldId id="1311" r:id="rId83"/>
    <p:sldId id="1312" r:id="rId84"/>
    <p:sldId id="1313" r:id="rId85"/>
    <p:sldId id="1314" r:id="rId86"/>
    <p:sldId id="1315" r:id="rId87"/>
    <p:sldId id="1316" r:id="rId88"/>
    <p:sldId id="1317" r:id="rId89"/>
    <p:sldId id="1318" r:id="rId90"/>
    <p:sldId id="1319" r:id="rId91"/>
    <p:sldId id="1320" r:id="rId92"/>
    <p:sldId id="1321" r:id="rId93"/>
    <p:sldId id="1322" r:id="rId94"/>
    <p:sldId id="1323" r:id="rId95"/>
    <p:sldId id="1324" r:id="rId96"/>
    <p:sldId id="1325" r:id="rId97"/>
    <p:sldId id="1326" r:id="rId98"/>
    <p:sldId id="1327" r:id="rId99"/>
    <p:sldId id="1328" r:id="rId100"/>
    <p:sldId id="1329" r:id="rId101"/>
    <p:sldId id="1330" r:id="rId102"/>
    <p:sldId id="1331" r:id="rId103"/>
    <p:sldId id="1332" r:id="rId104"/>
    <p:sldId id="1333" r:id="rId105"/>
    <p:sldId id="1334" r:id="rId106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7">
          <p15:clr>
            <a:srgbClr val="A4A3A4"/>
          </p15:clr>
        </p15:guide>
        <p15:guide id="2" pos="405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163F20-4858-F642-B82E-3507A14BCCC4}" v="6" dt="2023-10-23T02:43:39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78" d="100"/>
          <a:sy n="78" d="100"/>
        </p:scale>
        <p:origin x="1003" y="72"/>
      </p:cViewPr>
      <p:guideLst>
        <p:guide orient="horz" pos="2267"/>
        <p:guide pos="40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commentAuthors" Target="commentAuthor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黄聃" userId="05fd6555-67a9-4797-980c-de46b7ca3e6c" providerId="ADAL" clId="{3E163F20-4858-F642-B82E-3507A14BCCC4}"/>
    <pc:docChg chg="undo custSel modSld">
      <pc:chgData name="黄聃" userId="05fd6555-67a9-4797-980c-de46b7ca3e6c" providerId="ADAL" clId="{3E163F20-4858-F642-B82E-3507A14BCCC4}" dt="2023-10-23T02:51:10.755" v="326" actId="20577"/>
      <pc:docMkLst>
        <pc:docMk/>
      </pc:docMkLst>
      <pc:sldChg chg="modSp mod">
        <pc:chgData name="黄聃" userId="05fd6555-67a9-4797-980c-de46b7ca3e6c" providerId="ADAL" clId="{3E163F20-4858-F642-B82E-3507A14BCCC4}" dt="2023-10-10T08:00:56.025" v="9" actId="20577"/>
        <pc:sldMkLst>
          <pc:docMk/>
          <pc:sldMk cId="0" sldId="256"/>
        </pc:sldMkLst>
        <pc:spChg chg="mod">
          <ac:chgData name="黄聃" userId="05fd6555-67a9-4797-980c-de46b7ca3e6c" providerId="ADAL" clId="{3E163F20-4858-F642-B82E-3507A14BCCC4}" dt="2023-10-10T08:00:56.025" v="9" actId="20577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mod">
        <pc:chgData name="黄聃" userId="05fd6555-67a9-4797-980c-de46b7ca3e6c" providerId="ADAL" clId="{3E163F20-4858-F642-B82E-3507A14BCCC4}" dt="2023-10-22T13:20:57.801" v="109" actId="20577"/>
        <pc:sldMkLst>
          <pc:docMk/>
          <pc:sldMk cId="0" sldId="1264"/>
        </pc:sldMkLst>
        <pc:spChg chg="mod">
          <ac:chgData name="黄聃" userId="05fd6555-67a9-4797-980c-de46b7ca3e6c" providerId="ADAL" clId="{3E163F20-4858-F642-B82E-3507A14BCCC4}" dt="2023-10-22T13:18:27.781" v="33" actId="1035"/>
          <ac:spMkLst>
            <pc:docMk/>
            <pc:sldMk cId="0" sldId="1264"/>
            <ac:spMk id="3" creationId="{00000000-0000-0000-0000-000000000000}"/>
          </ac:spMkLst>
        </pc:spChg>
        <pc:spChg chg="mod">
          <ac:chgData name="黄聃" userId="05fd6555-67a9-4797-980c-de46b7ca3e6c" providerId="ADAL" clId="{3E163F20-4858-F642-B82E-3507A14BCCC4}" dt="2023-10-22T13:18:16.486" v="20" actId="1076"/>
          <ac:spMkLst>
            <pc:docMk/>
            <pc:sldMk cId="0" sldId="1264"/>
            <ac:spMk id="5" creationId="{00000000-0000-0000-0000-000000000000}"/>
          </ac:spMkLst>
        </pc:spChg>
        <pc:spChg chg="mod">
          <ac:chgData name="黄聃" userId="05fd6555-67a9-4797-980c-de46b7ca3e6c" providerId="ADAL" clId="{3E163F20-4858-F642-B82E-3507A14BCCC4}" dt="2023-10-22T13:18:19.487" v="21" actId="14100"/>
          <ac:spMkLst>
            <pc:docMk/>
            <pc:sldMk cId="0" sldId="1264"/>
            <ac:spMk id="6" creationId="{00000000-0000-0000-0000-000000000000}"/>
          </ac:spMkLst>
        </pc:spChg>
        <pc:spChg chg="mod">
          <ac:chgData name="黄聃" userId="05fd6555-67a9-4797-980c-de46b7ca3e6c" providerId="ADAL" clId="{3E163F20-4858-F642-B82E-3507A14BCCC4}" dt="2023-10-22T13:18:27.781" v="33" actId="1035"/>
          <ac:spMkLst>
            <pc:docMk/>
            <pc:sldMk cId="0" sldId="1264"/>
            <ac:spMk id="7" creationId="{00000000-0000-0000-0000-000000000000}"/>
          </ac:spMkLst>
        </pc:spChg>
        <pc:spChg chg="mod">
          <ac:chgData name="黄聃" userId="05fd6555-67a9-4797-980c-de46b7ca3e6c" providerId="ADAL" clId="{3E163F20-4858-F642-B82E-3507A14BCCC4}" dt="2023-10-22T13:18:27.781" v="33" actId="1035"/>
          <ac:spMkLst>
            <pc:docMk/>
            <pc:sldMk cId="0" sldId="1264"/>
            <ac:spMk id="8" creationId="{00000000-0000-0000-0000-000000000000}"/>
          </ac:spMkLst>
        </pc:spChg>
        <pc:spChg chg="add mod">
          <ac:chgData name="黄聃" userId="05fd6555-67a9-4797-980c-de46b7ca3e6c" providerId="ADAL" clId="{3E163F20-4858-F642-B82E-3507A14BCCC4}" dt="2023-10-22T13:20:23.931" v="80" actId="1076"/>
          <ac:spMkLst>
            <pc:docMk/>
            <pc:sldMk cId="0" sldId="1264"/>
            <ac:spMk id="12" creationId="{7716A767-F325-4E4B-B73A-688DB8FB43DF}"/>
          </ac:spMkLst>
        </pc:spChg>
        <pc:spChg chg="add del mod">
          <ac:chgData name="黄聃" userId="05fd6555-67a9-4797-980c-de46b7ca3e6c" providerId="ADAL" clId="{3E163F20-4858-F642-B82E-3507A14BCCC4}" dt="2023-10-22T13:18:24.202" v="24"/>
          <ac:spMkLst>
            <pc:docMk/>
            <pc:sldMk cId="0" sldId="1264"/>
            <ac:spMk id="13" creationId="{4D2D205B-DD7B-5244-8A1C-6591FAE40F4F}"/>
          </ac:spMkLst>
        </pc:spChg>
        <pc:spChg chg="add mod">
          <ac:chgData name="黄聃" userId="05fd6555-67a9-4797-980c-de46b7ca3e6c" providerId="ADAL" clId="{3E163F20-4858-F642-B82E-3507A14BCCC4}" dt="2023-10-22T13:20:57.801" v="109" actId="20577"/>
          <ac:spMkLst>
            <pc:docMk/>
            <pc:sldMk cId="0" sldId="1264"/>
            <ac:spMk id="15" creationId="{D1DBCC76-89AF-1A45-9380-C39DA2E8B637}"/>
          </ac:spMkLst>
        </pc:spChg>
      </pc:sldChg>
      <pc:sldChg chg="delSp modSp mod">
        <pc:chgData name="黄聃" userId="05fd6555-67a9-4797-980c-de46b7ca3e6c" providerId="ADAL" clId="{3E163F20-4858-F642-B82E-3507A14BCCC4}" dt="2023-10-22T13:26:11.309" v="117"/>
        <pc:sldMkLst>
          <pc:docMk/>
          <pc:sldMk cId="0" sldId="1274"/>
        </pc:sldMkLst>
        <pc:spChg chg="del mod">
          <ac:chgData name="黄聃" userId="05fd6555-67a9-4797-980c-de46b7ca3e6c" providerId="ADAL" clId="{3E163F20-4858-F642-B82E-3507A14BCCC4}" dt="2023-10-22T13:26:11.309" v="117"/>
          <ac:spMkLst>
            <pc:docMk/>
            <pc:sldMk cId="0" sldId="1274"/>
            <ac:spMk id="2" creationId="{00000000-0000-0000-0000-000000000000}"/>
          </ac:spMkLst>
        </pc:spChg>
        <pc:spChg chg="mod">
          <ac:chgData name="黄聃" userId="05fd6555-67a9-4797-980c-de46b7ca3e6c" providerId="ADAL" clId="{3E163F20-4858-F642-B82E-3507A14BCCC4}" dt="2023-10-22T13:25:34.057" v="115" actId="20577"/>
          <ac:spMkLst>
            <pc:docMk/>
            <pc:sldMk cId="0" sldId="1274"/>
            <ac:spMk id="7" creationId="{00000000-0000-0000-0000-000000000000}"/>
          </ac:spMkLst>
        </pc:spChg>
      </pc:sldChg>
      <pc:sldChg chg="addSp delSp modSp mod">
        <pc:chgData name="黄聃" userId="05fd6555-67a9-4797-980c-de46b7ca3e6c" providerId="ADAL" clId="{3E163F20-4858-F642-B82E-3507A14BCCC4}" dt="2023-10-23T02:48:23.869" v="294" actId="1076"/>
        <pc:sldMkLst>
          <pc:docMk/>
          <pc:sldMk cId="0" sldId="1276"/>
        </pc:sldMkLst>
        <pc:spChg chg="mod">
          <ac:chgData name="黄聃" userId="05fd6555-67a9-4797-980c-de46b7ca3e6c" providerId="ADAL" clId="{3E163F20-4858-F642-B82E-3507A14BCCC4}" dt="2023-10-23T02:44:54.198" v="155" actId="14100"/>
          <ac:spMkLst>
            <pc:docMk/>
            <pc:sldMk cId="0" sldId="1276"/>
            <ac:spMk id="3" creationId="{00000000-0000-0000-0000-000000000000}"/>
          </ac:spMkLst>
        </pc:spChg>
        <pc:spChg chg="add del mod">
          <ac:chgData name="黄聃" userId="05fd6555-67a9-4797-980c-de46b7ca3e6c" providerId="ADAL" clId="{3E163F20-4858-F642-B82E-3507A14BCCC4}" dt="2023-10-23T02:43:35.389" v="128" actId="478"/>
          <ac:spMkLst>
            <pc:docMk/>
            <pc:sldMk cId="0" sldId="1276"/>
            <ac:spMk id="5" creationId="{99A96A50-DC55-FF4C-A494-F83CDADA09DC}"/>
          </ac:spMkLst>
        </pc:spChg>
        <pc:spChg chg="add mod">
          <ac:chgData name="黄聃" userId="05fd6555-67a9-4797-980c-de46b7ca3e6c" providerId="ADAL" clId="{3E163F20-4858-F642-B82E-3507A14BCCC4}" dt="2023-10-23T02:48:23.869" v="294" actId="1076"/>
          <ac:spMkLst>
            <pc:docMk/>
            <pc:sldMk cId="0" sldId="1276"/>
            <ac:spMk id="6" creationId="{4748C5CC-4E7A-5D4C-9DFC-0E842E2E8279}"/>
          </ac:spMkLst>
        </pc:spChg>
      </pc:sldChg>
      <pc:sldChg chg="modSp mod">
        <pc:chgData name="黄聃" userId="05fd6555-67a9-4797-980c-de46b7ca3e6c" providerId="ADAL" clId="{3E163F20-4858-F642-B82E-3507A14BCCC4}" dt="2023-10-23T02:51:10.755" v="326" actId="20577"/>
        <pc:sldMkLst>
          <pc:docMk/>
          <pc:sldMk cId="0" sldId="1280"/>
        </pc:sldMkLst>
        <pc:spChg chg="mod">
          <ac:chgData name="黄聃" userId="05fd6555-67a9-4797-980c-de46b7ca3e6c" providerId="ADAL" clId="{3E163F20-4858-F642-B82E-3507A14BCCC4}" dt="2023-10-23T02:50:59.189" v="324" actId="20577"/>
          <ac:spMkLst>
            <pc:docMk/>
            <pc:sldMk cId="0" sldId="1280"/>
            <ac:spMk id="2" creationId="{00000000-0000-0000-0000-000000000000}"/>
          </ac:spMkLst>
        </pc:spChg>
        <pc:spChg chg="mod">
          <ac:chgData name="黄聃" userId="05fd6555-67a9-4797-980c-de46b7ca3e6c" providerId="ADAL" clId="{3E163F20-4858-F642-B82E-3507A14BCCC4}" dt="2023-10-23T02:51:10.755" v="326" actId="20577"/>
          <ac:spMkLst>
            <pc:docMk/>
            <pc:sldMk cId="0" sldId="1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DE0D72EB-56EB-4991-A892-A5CE144BC12E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7B66D08-2390-484F-8BCE-1AC42F82CB2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28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4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2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>
                <a:latin typeface="Comic Sans MS" panose="030F0702030302020204" pitchFamily="66" charset="0"/>
              </a:defRPr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2025/2/23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Comic Sans MS" panose="030F0702030302020204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 baseline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600" b="1" kern="1200" baseline="0" dirty="0">
          <a:solidFill>
            <a:srgbClr val="0070C0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66114"/>
            <a:ext cx="8136904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705735" y="2600960"/>
            <a:ext cx="8752840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b="1" spc="26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sz="4400" b="1" spc="265" dirty="0">
                <a:latin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sz="4400" b="1" spc="260" dirty="0">
                <a:latin typeface="微软雅黑" panose="020B0503020204020204" pitchFamily="34" charset="-122"/>
                <a:cs typeface="微软雅黑" panose="020B0503020204020204" pitchFamily="34" charset="-122"/>
              </a:rPr>
              <a:t>pen</a:t>
            </a:r>
            <a:r>
              <a:rPr sz="4400" b="1" spc="245" dirty="0">
                <a:latin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sz="4400" b="1" spc="285" dirty="0">
                <a:latin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sz="4400" b="1" spc="26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进行共享内存编</a:t>
            </a:r>
            <a:r>
              <a:rPr sz="4400" b="1" spc="-4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程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R</a:t>
            </a:r>
            <a:r>
              <a:rPr spc="-5" dirty="0"/>
              <a:t>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4405" y="1728470"/>
            <a:ext cx="8550910" cy="3900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114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ams</a:t>
            </a:r>
            <a:r>
              <a:rPr sz="320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200" spc="-38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Usi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320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seria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 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loo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with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smal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chan</a:t>
            </a:r>
            <a:r>
              <a:rPr sz="320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sou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320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ode.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29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ask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sm.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Exp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ic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on.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168783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anda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20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oblems</a:t>
            </a:r>
            <a:r>
              <a:rPr sz="320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memory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ammi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g.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54315" cy="4015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API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memo</a:t>
            </a:r>
            <a:r>
              <a:rPr sz="2940" spc="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allel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amming.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multip</a:t>
            </a:r>
            <a:r>
              <a:rPr sz="2940" b="1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ocessing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Desi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gned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which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or 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cess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ai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able me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marR="45085" indent="-228600">
              <a:lnSpc>
                <a:spcPts val="302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b="1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b="1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b="1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vi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lection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CPU</a:t>
            </a:r>
            <a:r>
              <a:rPr sz="2940" spc="-18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 all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which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cess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memor</a:t>
            </a:r>
            <a:r>
              <a:rPr sz="2940" spc="-20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dirty="0"/>
              <a:t>sha</a:t>
            </a:r>
            <a:r>
              <a:rPr spc="-5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me</a:t>
            </a:r>
            <a:r>
              <a:rPr spc="-20" dirty="0"/>
              <a:t>m</a:t>
            </a:r>
            <a:r>
              <a:rPr spc="-5" dirty="0"/>
              <a:t>o</a:t>
            </a:r>
            <a:r>
              <a:rPr spc="15" dirty="0"/>
              <a:t>r</a:t>
            </a:r>
            <a:r>
              <a:rPr dirty="0"/>
              <a:t>y</a:t>
            </a:r>
            <a:r>
              <a:rPr spc="-25" dirty="0"/>
              <a:t> </a:t>
            </a:r>
            <a:r>
              <a:rPr spc="-85" dirty="0"/>
              <a:t>s</a:t>
            </a:r>
            <a:r>
              <a:rPr spc="-50" dirty="0"/>
              <a:t>ys</a:t>
            </a:r>
            <a:r>
              <a:rPr spc="-45" dirty="0"/>
              <a:t>t</a:t>
            </a:r>
            <a:r>
              <a:rPr spc="-5" dirty="0"/>
              <a:t>em</a:t>
            </a:r>
          </a:p>
        </p:txBody>
      </p:sp>
      <p:sp>
        <p:nvSpPr>
          <p:cNvPr id="3" name="object 3"/>
          <p:cNvSpPr/>
          <p:nvPr/>
        </p:nvSpPr>
        <p:spPr>
          <a:xfrm>
            <a:off x="784176" y="1800250"/>
            <a:ext cx="6106338" cy="4133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</a:t>
            </a:fld>
            <a:endParaRPr sz="1575" spc="-10" dirty="0"/>
          </a:p>
        </p:txBody>
      </p:sp>
      <p:pic>
        <p:nvPicPr>
          <p:cNvPr id="1028" name="Picture 4" descr="Intel High Performance Computing | Advanced HPC">
            <a:extLst>
              <a:ext uri="{FF2B5EF4-FFF2-40B4-BE49-F238E27FC236}">
                <a16:creationId xmlns:a16="http://schemas.microsoft.com/office/drawing/2014/main" id="{C6B56A91-049D-49F3-ABEC-0A827EB32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864" y="2333370"/>
            <a:ext cx="57150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C6828-6991-4E3C-AB17-803258EE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 Architecture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01C516-232D-41E9-B7C8-1FAE987DD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28" y="1080170"/>
            <a:ext cx="8183931" cy="5458370"/>
          </a:xfrm>
          <a:prstGeom prst="rect">
            <a:avLst/>
          </a:prstGeom>
        </p:spPr>
      </p:pic>
      <p:pic>
        <p:nvPicPr>
          <p:cNvPr id="1026" name="Picture 2" descr="Block of ice with underwater view with clipping path. Block of ice with underwater view with clipping path stock image">
            <a:extLst>
              <a:ext uri="{FF2B5EF4-FFF2-40B4-BE49-F238E27FC236}">
                <a16:creationId xmlns:a16="http://schemas.microsoft.com/office/drawing/2014/main" id="{1D7AD54D-445F-4ABD-9DD6-903CD7E44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4" r="18566" b="15767"/>
          <a:stretch/>
        </p:blipFill>
        <p:spPr bwMode="auto">
          <a:xfrm>
            <a:off x="8345016" y="1710137"/>
            <a:ext cx="4235852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36379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5" dirty="0"/>
              <a:t>P</a:t>
            </a:r>
            <a:r>
              <a:rPr spc="-80" dirty="0"/>
              <a:t>r</a:t>
            </a:r>
            <a:r>
              <a:rPr dirty="0"/>
              <a:t>agmas</a:t>
            </a:r>
            <a:r>
              <a:rPr lang="zh-CN" altLang="en-US" dirty="0"/>
              <a:t>（编译程序指令）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314266" cy="3719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Specia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ep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ocesso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truct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ions</a:t>
            </a:r>
            <a:r>
              <a:rPr lang="zh-CN" altLang="en-US" sz="2940" spc="-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（预处理指令，例如宏定义、条件编译等）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ded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beh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io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b="1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en’t</a:t>
            </a:r>
            <a:r>
              <a:rPr sz="2940" b="1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part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basi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specifi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Compi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don’t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port</a:t>
            </a:r>
            <a:r>
              <a:rPr sz="2940"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agm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igno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00" dirty="0">
              <a:latin typeface="Times New Roman" panose="02020603050405020304"/>
              <a:cs typeface="Times New Roman" panose="02020603050405020304"/>
            </a:endParaRPr>
          </a:p>
          <a:p>
            <a:pPr marL="93345" algn="ctr">
              <a:lnSpc>
                <a:spcPct val="100000"/>
              </a:lnSpc>
            </a:pPr>
            <a:r>
              <a:rPr sz="336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</a:t>
            </a:r>
            <a:r>
              <a:rPr sz="3360" b="1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agma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61095" y="792138"/>
            <a:ext cx="8079410" cy="5951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1095" y="3334010"/>
            <a:ext cx="6514814" cy="658082"/>
          </a:xfrm>
          <a:custGeom>
            <a:avLst/>
            <a:gdLst/>
            <a:ahLst/>
            <a:cxnLst/>
            <a:rect l="l" t="t" r="r" b="b"/>
            <a:pathLst>
              <a:path w="6204584" h="626745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099810" y="0"/>
                </a:lnTo>
                <a:lnTo>
                  <a:pt x="6114424" y="1014"/>
                </a:lnTo>
                <a:lnTo>
                  <a:pt x="6153990" y="15141"/>
                </a:lnTo>
                <a:lnTo>
                  <a:pt x="6184267" y="43019"/>
                </a:lnTo>
                <a:lnTo>
                  <a:pt x="6201562" y="80954"/>
                </a:lnTo>
                <a:lnTo>
                  <a:pt x="6204204" y="521969"/>
                </a:lnTo>
                <a:lnTo>
                  <a:pt x="6203189" y="536584"/>
                </a:lnTo>
                <a:lnTo>
                  <a:pt x="6189062" y="576150"/>
                </a:lnTo>
                <a:lnTo>
                  <a:pt x="6161184" y="606427"/>
                </a:lnTo>
                <a:lnTo>
                  <a:pt x="6123249" y="623722"/>
                </a:lnTo>
                <a:lnTo>
                  <a:pt x="104393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69909" y="1676203"/>
            <a:ext cx="2063591" cy="0"/>
          </a:xfrm>
          <a:custGeom>
            <a:avLst/>
            <a:gdLst/>
            <a:ahLst/>
            <a:cxnLst/>
            <a:rect l="l" t="t" r="r" b="b"/>
            <a:pathLst>
              <a:path w="1965325">
                <a:moveTo>
                  <a:pt x="0" y="0"/>
                </a:moveTo>
                <a:lnTo>
                  <a:pt x="196507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90174" y="5436671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8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5053" y="5711907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1192848"/>
            <a:ext cx="7934991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5955" algn="l"/>
                <a:tab pos="1171575" algn="l"/>
                <a:tab pos="2099945" algn="l"/>
                <a:tab pos="3633470" algn="l"/>
                <a:tab pos="4150360" algn="l"/>
                <a:tab pos="5728335" algn="l"/>
              </a:tabLst>
            </a:pP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gcc	−g	−</a:t>
            </a:r>
            <a:r>
              <a:rPr sz="2520" spc="-8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520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	</a:t>
            </a:r>
            <a:r>
              <a:rPr sz="2520" spc="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−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fopenmp	−o	omp_hello	omp_he</a:t>
            </a:r>
            <a:r>
              <a:rPr sz="2520" spc="-1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lo</a:t>
            </a:r>
            <a:r>
              <a:rPr sz="2520" spc="3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. c</a:t>
            </a:r>
            <a:endParaRPr sz="252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4876" y="1956243"/>
            <a:ext cx="7340918" cy="1294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9575" algn="l"/>
                <a:tab pos="1875155" algn="l"/>
              </a:tabLst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 err="1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omp_h</a:t>
            </a:r>
            <a:r>
              <a:rPr sz="2520" spc="5" dirty="0" err="1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dirty="0" err="1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llo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	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520"/>
              </a:spcBef>
            </a:pPr>
            <a:r>
              <a:rPr sz="2520" spc="-3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ompiling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957070">
              <a:lnSpc>
                <a:spcPct val="100000"/>
              </a:lnSpc>
              <a:spcBef>
                <a:spcPts val="520"/>
              </a:spcBef>
            </a:pPr>
            <a:r>
              <a:rPr sz="25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running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520" spc="-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4</a:t>
            </a:r>
            <a:r>
              <a:rPr sz="252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8725" y="2313222"/>
            <a:ext cx="499396" cy="782098"/>
          </a:xfrm>
          <a:custGeom>
            <a:avLst/>
            <a:gdLst/>
            <a:ahLst/>
            <a:cxnLst/>
            <a:rect l="l" t="t" r="r" b="b"/>
            <a:pathLst>
              <a:path w="475614" h="744855">
                <a:moveTo>
                  <a:pt x="49060" y="25175"/>
                </a:moveTo>
                <a:lnTo>
                  <a:pt x="43168" y="36340"/>
                </a:lnTo>
                <a:lnTo>
                  <a:pt x="45846" y="98678"/>
                </a:lnTo>
                <a:lnTo>
                  <a:pt x="48132" y="147319"/>
                </a:lnTo>
                <a:lnTo>
                  <a:pt x="50800" y="195325"/>
                </a:lnTo>
                <a:lnTo>
                  <a:pt x="53720" y="242569"/>
                </a:lnTo>
                <a:lnTo>
                  <a:pt x="57150" y="288797"/>
                </a:lnTo>
                <a:lnTo>
                  <a:pt x="61087" y="333755"/>
                </a:lnTo>
                <a:lnTo>
                  <a:pt x="65531" y="377316"/>
                </a:lnTo>
                <a:lnTo>
                  <a:pt x="70865" y="419226"/>
                </a:lnTo>
                <a:lnTo>
                  <a:pt x="76962" y="459104"/>
                </a:lnTo>
                <a:lnTo>
                  <a:pt x="83819" y="497077"/>
                </a:lnTo>
                <a:lnTo>
                  <a:pt x="96138" y="549782"/>
                </a:lnTo>
                <a:lnTo>
                  <a:pt x="111125" y="596645"/>
                </a:lnTo>
                <a:lnTo>
                  <a:pt x="128905" y="637285"/>
                </a:lnTo>
                <a:lnTo>
                  <a:pt x="149987" y="670686"/>
                </a:lnTo>
                <a:lnTo>
                  <a:pt x="183133" y="704341"/>
                </a:lnTo>
                <a:lnTo>
                  <a:pt x="220980" y="726820"/>
                </a:lnTo>
                <a:lnTo>
                  <a:pt x="262763" y="739647"/>
                </a:lnTo>
                <a:lnTo>
                  <a:pt x="307213" y="744727"/>
                </a:lnTo>
                <a:lnTo>
                  <a:pt x="330200" y="744727"/>
                </a:lnTo>
                <a:lnTo>
                  <a:pt x="377698" y="741552"/>
                </a:lnTo>
                <a:lnTo>
                  <a:pt x="426338" y="734948"/>
                </a:lnTo>
                <a:lnTo>
                  <a:pt x="442931" y="732154"/>
                </a:lnTo>
                <a:lnTo>
                  <a:pt x="329564" y="732154"/>
                </a:lnTo>
                <a:lnTo>
                  <a:pt x="307213" y="732027"/>
                </a:lnTo>
                <a:lnTo>
                  <a:pt x="264668" y="727075"/>
                </a:lnTo>
                <a:lnTo>
                  <a:pt x="225678" y="715009"/>
                </a:lnTo>
                <a:lnTo>
                  <a:pt x="190500" y="694054"/>
                </a:lnTo>
                <a:lnTo>
                  <a:pt x="159893" y="662558"/>
                </a:lnTo>
                <a:lnTo>
                  <a:pt x="133984" y="618870"/>
                </a:lnTo>
                <a:lnTo>
                  <a:pt x="117728" y="577468"/>
                </a:lnTo>
                <a:lnTo>
                  <a:pt x="104139" y="529589"/>
                </a:lnTo>
                <a:lnTo>
                  <a:pt x="92709" y="475995"/>
                </a:lnTo>
                <a:lnTo>
                  <a:pt x="83312" y="417194"/>
                </a:lnTo>
                <a:lnTo>
                  <a:pt x="78105" y="375665"/>
                </a:lnTo>
                <a:lnTo>
                  <a:pt x="73659" y="332358"/>
                </a:lnTo>
                <a:lnTo>
                  <a:pt x="69850" y="287654"/>
                </a:lnTo>
                <a:lnTo>
                  <a:pt x="66420" y="241680"/>
                </a:lnTo>
                <a:lnTo>
                  <a:pt x="63373" y="194563"/>
                </a:lnTo>
                <a:lnTo>
                  <a:pt x="60832" y="146557"/>
                </a:lnTo>
                <a:lnTo>
                  <a:pt x="58451" y="98678"/>
                </a:lnTo>
                <a:lnTo>
                  <a:pt x="55835" y="35744"/>
                </a:lnTo>
                <a:lnTo>
                  <a:pt x="49060" y="25175"/>
                </a:lnTo>
                <a:close/>
              </a:path>
              <a:path w="475614" h="744855">
                <a:moveTo>
                  <a:pt x="473201" y="714120"/>
                </a:moveTo>
                <a:lnTo>
                  <a:pt x="424180" y="722502"/>
                </a:lnTo>
                <a:lnTo>
                  <a:pt x="376046" y="728979"/>
                </a:lnTo>
                <a:lnTo>
                  <a:pt x="329564" y="732154"/>
                </a:lnTo>
                <a:lnTo>
                  <a:pt x="442931" y="732154"/>
                </a:lnTo>
                <a:lnTo>
                  <a:pt x="475361" y="726693"/>
                </a:lnTo>
                <a:lnTo>
                  <a:pt x="473201" y="714120"/>
                </a:lnTo>
                <a:close/>
              </a:path>
              <a:path w="475614" h="744855">
                <a:moveTo>
                  <a:pt x="47878" y="0"/>
                </a:moveTo>
                <a:lnTo>
                  <a:pt x="1650" y="87629"/>
                </a:lnTo>
                <a:lnTo>
                  <a:pt x="0" y="90804"/>
                </a:lnTo>
                <a:lnTo>
                  <a:pt x="1269" y="94614"/>
                </a:lnTo>
                <a:lnTo>
                  <a:pt x="4318" y="96265"/>
                </a:lnTo>
                <a:lnTo>
                  <a:pt x="7493" y="97916"/>
                </a:lnTo>
                <a:lnTo>
                  <a:pt x="11302" y="96773"/>
                </a:lnTo>
                <a:lnTo>
                  <a:pt x="12953" y="93598"/>
                </a:lnTo>
                <a:lnTo>
                  <a:pt x="43168" y="36340"/>
                </a:lnTo>
                <a:lnTo>
                  <a:pt x="42163" y="12953"/>
                </a:lnTo>
                <a:lnTo>
                  <a:pt x="54863" y="12318"/>
                </a:lnTo>
                <a:lnTo>
                  <a:pt x="55791" y="12318"/>
                </a:lnTo>
                <a:lnTo>
                  <a:pt x="47878" y="0"/>
                </a:lnTo>
                <a:close/>
              </a:path>
              <a:path w="475614" h="744855">
                <a:moveTo>
                  <a:pt x="55791" y="12318"/>
                </a:moveTo>
                <a:lnTo>
                  <a:pt x="54863" y="12318"/>
                </a:lnTo>
                <a:lnTo>
                  <a:pt x="55835" y="35744"/>
                </a:lnTo>
                <a:lnTo>
                  <a:pt x="90805" y="90296"/>
                </a:lnTo>
                <a:lnTo>
                  <a:pt x="92709" y="93217"/>
                </a:lnTo>
                <a:lnTo>
                  <a:pt x="96646" y="94106"/>
                </a:lnTo>
                <a:lnTo>
                  <a:pt x="102488" y="90296"/>
                </a:lnTo>
                <a:lnTo>
                  <a:pt x="103377" y="86359"/>
                </a:lnTo>
                <a:lnTo>
                  <a:pt x="101473" y="83438"/>
                </a:lnTo>
                <a:lnTo>
                  <a:pt x="55791" y="12318"/>
                </a:lnTo>
                <a:close/>
              </a:path>
              <a:path w="475614" h="744855">
                <a:moveTo>
                  <a:pt x="54863" y="12318"/>
                </a:moveTo>
                <a:lnTo>
                  <a:pt x="42163" y="12953"/>
                </a:lnTo>
                <a:lnTo>
                  <a:pt x="43168" y="36340"/>
                </a:lnTo>
                <a:lnTo>
                  <a:pt x="49060" y="25175"/>
                </a:lnTo>
                <a:lnTo>
                  <a:pt x="43180" y="16001"/>
                </a:lnTo>
                <a:lnTo>
                  <a:pt x="54101" y="15620"/>
                </a:lnTo>
                <a:lnTo>
                  <a:pt x="55000" y="15620"/>
                </a:lnTo>
                <a:lnTo>
                  <a:pt x="54863" y="12318"/>
                </a:lnTo>
                <a:close/>
              </a:path>
              <a:path w="475614" h="744855">
                <a:moveTo>
                  <a:pt x="55000" y="15620"/>
                </a:moveTo>
                <a:lnTo>
                  <a:pt x="54101" y="15620"/>
                </a:lnTo>
                <a:lnTo>
                  <a:pt x="49060" y="25175"/>
                </a:lnTo>
                <a:lnTo>
                  <a:pt x="55835" y="35744"/>
                </a:lnTo>
                <a:lnTo>
                  <a:pt x="55000" y="15620"/>
                </a:lnTo>
                <a:close/>
              </a:path>
              <a:path w="475614" h="744855">
                <a:moveTo>
                  <a:pt x="54101" y="15620"/>
                </a:moveTo>
                <a:lnTo>
                  <a:pt x="43180" y="16001"/>
                </a:lnTo>
                <a:lnTo>
                  <a:pt x="49060" y="25175"/>
                </a:lnTo>
                <a:lnTo>
                  <a:pt x="54101" y="1562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3079" y="3981324"/>
            <a:ext cx="2872333" cy="1317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th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0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4</a:t>
            </a:r>
          </a:p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7496" y="3960490"/>
            <a:ext cx="1183343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pos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10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ib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10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10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100" spc="-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10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om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10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88611" y="4267866"/>
            <a:ext cx="607409" cy="257366"/>
          </a:xfrm>
          <a:custGeom>
            <a:avLst/>
            <a:gdLst/>
            <a:ahLst/>
            <a:cxnLst/>
            <a:rect l="l" t="t" r="r" b="b"/>
            <a:pathLst>
              <a:path w="578485" h="245110">
                <a:moveTo>
                  <a:pt x="68072" y="147700"/>
                </a:moveTo>
                <a:lnTo>
                  <a:pt x="64007" y="148081"/>
                </a:lnTo>
                <a:lnTo>
                  <a:pt x="61849" y="150875"/>
                </a:lnTo>
                <a:lnTo>
                  <a:pt x="0" y="228219"/>
                </a:lnTo>
                <a:lnTo>
                  <a:pt x="97790" y="243966"/>
                </a:lnTo>
                <a:lnTo>
                  <a:pt x="101218" y="244601"/>
                </a:lnTo>
                <a:lnTo>
                  <a:pt x="104521" y="242188"/>
                </a:lnTo>
                <a:lnTo>
                  <a:pt x="105029" y="238759"/>
                </a:lnTo>
                <a:lnTo>
                  <a:pt x="105663" y="235331"/>
                </a:lnTo>
                <a:lnTo>
                  <a:pt x="103250" y="232028"/>
                </a:lnTo>
                <a:lnTo>
                  <a:pt x="99822" y="231520"/>
                </a:lnTo>
                <a:lnTo>
                  <a:pt x="88048" y="229615"/>
                </a:lnTo>
                <a:lnTo>
                  <a:pt x="13969" y="229615"/>
                </a:lnTo>
                <a:lnTo>
                  <a:pt x="9398" y="217804"/>
                </a:lnTo>
                <a:lnTo>
                  <a:pt x="31310" y="209352"/>
                </a:lnTo>
                <a:lnTo>
                  <a:pt x="71755" y="158750"/>
                </a:lnTo>
                <a:lnTo>
                  <a:pt x="74041" y="156082"/>
                </a:lnTo>
                <a:lnTo>
                  <a:pt x="73532" y="152019"/>
                </a:lnTo>
                <a:lnTo>
                  <a:pt x="70738" y="149859"/>
                </a:lnTo>
                <a:lnTo>
                  <a:pt x="68072" y="147700"/>
                </a:lnTo>
                <a:close/>
              </a:path>
              <a:path w="578485" h="245110">
                <a:moveTo>
                  <a:pt x="31310" y="209352"/>
                </a:moveTo>
                <a:lnTo>
                  <a:pt x="9398" y="217804"/>
                </a:lnTo>
                <a:lnTo>
                  <a:pt x="13969" y="229615"/>
                </a:lnTo>
                <a:lnTo>
                  <a:pt x="18910" y="227710"/>
                </a:lnTo>
                <a:lnTo>
                  <a:pt x="16637" y="227710"/>
                </a:lnTo>
                <a:lnTo>
                  <a:pt x="12700" y="217423"/>
                </a:lnTo>
                <a:lnTo>
                  <a:pt x="24859" y="217423"/>
                </a:lnTo>
                <a:lnTo>
                  <a:pt x="31310" y="209352"/>
                </a:lnTo>
                <a:close/>
              </a:path>
              <a:path w="578485" h="245110">
                <a:moveTo>
                  <a:pt x="35866" y="221172"/>
                </a:moveTo>
                <a:lnTo>
                  <a:pt x="13969" y="229615"/>
                </a:lnTo>
                <a:lnTo>
                  <a:pt x="88048" y="229615"/>
                </a:lnTo>
                <a:lnTo>
                  <a:pt x="35866" y="221172"/>
                </a:lnTo>
                <a:close/>
              </a:path>
              <a:path w="578485" h="245110">
                <a:moveTo>
                  <a:pt x="12700" y="217423"/>
                </a:moveTo>
                <a:lnTo>
                  <a:pt x="16637" y="227710"/>
                </a:lnTo>
                <a:lnTo>
                  <a:pt x="23466" y="219166"/>
                </a:lnTo>
                <a:lnTo>
                  <a:pt x="12700" y="217423"/>
                </a:lnTo>
                <a:close/>
              </a:path>
              <a:path w="578485" h="245110">
                <a:moveTo>
                  <a:pt x="23466" y="219166"/>
                </a:moveTo>
                <a:lnTo>
                  <a:pt x="16637" y="227710"/>
                </a:lnTo>
                <a:lnTo>
                  <a:pt x="18910" y="227710"/>
                </a:lnTo>
                <a:lnTo>
                  <a:pt x="35866" y="221172"/>
                </a:lnTo>
                <a:lnTo>
                  <a:pt x="23466" y="219166"/>
                </a:lnTo>
                <a:close/>
              </a:path>
              <a:path w="578485" h="245110">
                <a:moveTo>
                  <a:pt x="574040" y="0"/>
                </a:moveTo>
                <a:lnTo>
                  <a:pt x="31310" y="209352"/>
                </a:lnTo>
                <a:lnTo>
                  <a:pt x="23466" y="219166"/>
                </a:lnTo>
                <a:lnTo>
                  <a:pt x="35866" y="221172"/>
                </a:lnTo>
                <a:lnTo>
                  <a:pt x="578484" y="11937"/>
                </a:lnTo>
                <a:lnTo>
                  <a:pt x="574040" y="0"/>
                </a:lnTo>
                <a:close/>
              </a:path>
              <a:path w="578485" h="245110">
                <a:moveTo>
                  <a:pt x="24859" y="217423"/>
                </a:moveTo>
                <a:lnTo>
                  <a:pt x="12700" y="217423"/>
                </a:lnTo>
                <a:lnTo>
                  <a:pt x="23466" y="219166"/>
                </a:lnTo>
                <a:lnTo>
                  <a:pt x="24859" y="217423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1389" y="4133076"/>
            <a:ext cx="2857132" cy="1317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th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3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4</a:t>
            </a: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51255" y="4199058"/>
            <a:ext cx="608076" cy="257366"/>
          </a:xfrm>
          <a:custGeom>
            <a:avLst/>
            <a:gdLst/>
            <a:ahLst/>
            <a:cxnLst/>
            <a:rect l="l" t="t" r="r" b="b"/>
            <a:pathLst>
              <a:path w="579120" h="245110">
                <a:moveTo>
                  <a:pt x="542618" y="221172"/>
                </a:moveTo>
                <a:lnTo>
                  <a:pt x="478663" y="231521"/>
                </a:lnTo>
                <a:lnTo>
                  <a:pt x="475234" y="232029"/>
                </a:lnTo>
                <a:lnTo>
                  <a:pt x="472948" y="235331"/>
                </a:lnTo>
                <a:lnTo>
                  <a:pt x="473964" y="242189"/>
                </a:lnTo>
                <a:lnTo>
                  <a:pt x="477266" y="244602"/>
                </a:lnTo>
                <a:lnTo>
                  <a:pt x="480695" y="243967"/>
                </a:lnTo>
                <a:lnTo>
                  <a:pt x="569925" y="229616"/>
                </a:lnTo>
                <a:lnTo>
                  <a:pt x="564515" y="229616"/>
                </a:lnTo>
                <a:lnTo>
                  <a:pt x="542618" y="221172"/>
                </a:lnTo>
                <a:close/>
              </a:path>
              <a:path w="579120" h="245110">
                <a:moveTo>
                  <a:pt x="555018" y="219166"/>
                </a:moveTo>
                <a:lnTo>
                  <a:pt x="542618" y="221172"/>
                </a:lnTo>
                <a:lnTo>
                  <a:pt x="564515" y="229616"/>
                </a:lnTo>
                <a:lnTo>
                  <a:pt x="565252" y="227711"/>
                </a:lnTo>
                <a:lnTo>
                  <a:pt x="561848" y="227711"/>
                </a:lnTo>
                <a:lnTo>
                  <a:pt x="555018" y="219166"/>
                </a:lnTo>
                <a:close/>
              </a:path>
              <a:path w="579120" h="245110">
                <a:moveTo>
                  <a:pt x="510540" y="147701"/>
                </a:moveTo>
                <a:lnTo>
                  <a:pt x="504952" y="152019"/>
                </a:lnTo>
                <a:lnTo>
                  <a:pt x="504571" y="156083"/>
                </a:lnTo>
                <a:lnTo>
                  <a:pt x="506730" y="158750"/>
                </a:lnTo>
                <a:lnTo>
                  <a:pt x="547172" y="209349"/>
                </a:lnTo>
                <a:lnTo>
                  <a:pt x="569087" y="217805"/>
                </a:lnTo>
                <a:lnTo>
                  <a:pt x="564515" y="229616"/>
                </a:lnTo>
                <a:lnTo>
                  <a:pt x="569925" y="229616"/>
                </a:lnTo>
                <a:lnTo>
                  <a:pt x="578612" y="228219"/>
                </a:lnTo>
                <a:lnTo>
                  <a:pt x="516636" y="150876"/>
                </a:lnTo>
                <a:lnTo>
                  <a:pt x="514477" y="148082"/>
                </a:lnTo>
                <a:lnTo>
                  <a:pt x="510540" y="147701"/>
                </a:lnTo>
                <a:close/>
              </a:path>
              <a:path w="579120" h="245110">
                <a:moveTo>
                  <a:pt x="565785" y="217424"/>
                </a:moveTo>
                <a:lnTo>
                  <a:pt x="555018" y="219166"/>
                </a:lnTo>
                <a:lnTo>
                  <a:pt x="561848" y="227711"/>
                </a:lnTo>
                <a:lnTo>
                  <a:pt x="565785" y="217424"/>
                </a:lnTo>
                <a:close/>
              </a:path>
              <a:path w="579120" h="245110">
                <a:moveTo>
                  <a:pt x="568099" y="217424"/>
                </a:moveTo>
                <a:lnTo>
                  <a:pt x="565785" y="217424"/>
                </a:lnTo>
                <a:lnTo>
                  <a:pt x="561848" y="227711"/>
                </a:lnTo>
                <a:lnTo>
                  <a:pt x="565252" y="227711"/>
                </a:lnTo>
                <a:lnTo>
                  <a:pt x="569087" y="217805"/>
                </a:lnTo>
                <a:lnTo>
                  <a:pt x="568099" y="217424"/>
                </a:lnTo>
                <a:close/>
              </a:path>
              <a:path w="579120" h="245110">
                <a:moveTo>
                  <a:pt x="4572" y="0"/>
                </a:moveTo>
                <a:lnTo>
                  <a:pt x="0" y="11938"/>
                </a:lnTo>
                <a:lnTo>
                  <a:pt x="542618" y="221172"/>
                </a:lnTo>
                <a:lnTo>
                  <a:pt x="555018" y="219166"/>
                </a:lnTo>
                <a:lnTo>
                  <a:pt x="547172" y="209349"/>
                </a:lnTo>
                <a:lnTo>
                  <a:pt x="4572" y="0"/>
                </a:lnTo>
                <a:close/>
              </a:path>
              <a:path w="579120" h="245110">
                <a:moveTo>
                  <a:pt x="547172" y="209349"/>
                </a:moveTo>
                <a:lnTo>
                  <a:pt x="555018" y="219166"/>
                </a:lnTo>
                <a:lnTo>
                  <a:pt x="565785" y="217424"/>
                </a:lnTo>
                <a:lnTo>
                  <a:pt x="568099" y="217424"/>
                </a:lnTo>
                <a:lnTo>
                  <a:pt x="547172" y="209349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95412" y="5117040"/>
            <a:ext cx="2857132" cy="1317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th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0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4</a:t>
            </a:r>
          </a:p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9298" y="4645380"/>
            <a:ext cx="108680" cy="392049"/>
          </a:xfrm>
          <a:custGeom>
            <a:avLst/>
            <a:gdLst/>
            <a:ahLst/>
            <a:cxnLst/>
            <a:rect l="l" t="t" r="r" b="b"/>
            <a:pathLst>
              <a:path w="103504" h="373379">
                <a:moveTo>
                  <a:pt x="7112" y="276986"/>
                </a:moveTo>
                <a:lnTo>
                  <a:pt x="1016" y="280542"/>
                </a:lnTo>
                <a:lnTo>
                  <a:pt x="0" y="284479"/>
                </a:lnTo>
                <a:lnTo>
                  <a:pt x="51688" y="373125"/>
                </a:lnTo>
                <a:lnTo>
                  <a:pt x="59094" y="360425"/>
                </a:lnTo>
                <a:lnTo>
                  <a:pt x="45338" y="360425"/>
                </a:lnTo>
                <a:lnTo>
                  <a:pt x="45338" y="337003"/>
                </a:lnTo>
                <a:lnTo>
                  <a:pt x="10922" y="278002"/>
                </a:lnTo>
                <a:lnTo>
                  <a:pt x="7112" y="276986"/>
                </a:lnTo>
                <a:close/>
              </a:path>
              <a:path w="103504" h="373379">
                <a:moveTo>
                  <a:pt x="45338" y="337003"/>
                </a:moveTo>
                <a:lnTo>
                  <a:pt x="45338" y="360425"/>
                </a:lnTo>
                <a:lnTo>
                  <a:pt x="58038" y="360425"/>
                </a:lnTo>
                <a:lnTo>
                  <a:pt x="58038" y="357250"/>
                </a:lnTo>
                <a:lnTo>
                  <a:pt x="46227" y="357250"/>
                </a:lnTo>
                <a:lnTo>
                  <a:pt x="51688" y="347889"/>
                </a:lnTo>
                <a:lnTo>
                  <a:pt x="45338" y="337003"/>
                </a:lnTo>
                <a:close/>
              </a:path>
              <a:path w="103504" h="373379">
                <a:moveTo>
                  <a:pt x="96266" y="276986"/>
                </a:moveTo>
                <a:lnTo>
                  <a:pt x="92456" y="278002"/>
                </a:lnTo>
                <a:lnTo>
                  <a:pt x="58038" y="337003"/>
                </a:lnTo>
                <a:lnTo>
                  <a:pt x="58038" y="360425"/>
                </a:lnTo>
                <a:lnTo>
                  <a:pt x="59094" y="360425"/>
                </a:lnTo>
                <a:lnTo>
                  <a:pt x="103377" y="284479"/>
                </a:lnTo>
                <a:lnTo>
                  <a:pt x="102362" y="280542"/>
                </a:lnTo>
                <a:lnTo>
                  <a:pt x="96266" y="276986"/>
                </a:lnTo>
                <a:close/>
              </a:path>
              <a:path w="103504" h="373379">
                <a:moveTo>
                  <a:pt x="51688" y="347889"/>
                </a:moveTo>
                <a:lnTo>
                  <a:pt x="46227" y="357250"/>
                </a:lnTo>
                <a:lnTo>
                  <a:pt x="57150" y="357250"/>
                </a:lnTo>
                <a:lnTo>
                  <a:pt x="51688" y="347889"/>
                </a:lnTo>
                <a:close/>
              </a:path>
              <a:path w="103504" h="373379">
                <a:moveTo>
                  <a:pt x="58038" y="337003"/>
                </a:moveTo>
                <a:lnTo>
                  <a:pt x="51688" y="347889"/>
                </a:lnTo>
                <a:lnTo>
                  <a:pt x="57150" y="357250"/>
                </a:lnTo>
                <a:lnTo>
                  <a:pt x="58038" y="357250"/>
                </a:lnTo>
                <a:lnTo>
                  <a:pt x="58038" y="337003"/>
                </a:lnTo>
                <a:close/>
              </a:path>
              <a:path w="103504" h="373379">
                <a:moveTo>
                  <a:pt x="58038" y="0"/>
                </a:moveTo>
                <a:lnTo>
                  <a:pt x="45338" y="0"/>
                </a:lnTo>
                <a:lnTo>
                  <a:pt x="45338" y="337003"/>
                </a:lnTo>
                <a:lnTo>
                  <a:pt x="51688" y="347889"/>
                </a:lnTo>
                <a:lnTo>
                  <a:pt x="58038" y="337003"/>
                </a:lnTo>
                <a:lnTo>
                  <a:pt x="58038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89239" y="1786490"/>
            <a:ext cx="499396" cy="782098"/>
          </a:xfrm>
          <a:custGeom>
            <a:avLst/>
            <a:gdLst/>
            <a:ahLst/>
            <a:cxnLst/>
            <a:rect l="l" t="t" r="r" b="b"/>
            <a:pathLst>
              <a:path w="475614" h="744855">
                <a:moveTo>
                  <a:pt x="49028" y="25125"/>
                </a:moveTo>
                <a:lnTo>
                  <a:pt x="43168" y="36247"/>
                </a:lnTo>
                <a:lnTo>
                  <a:pt x="45847" y="98678"/>
                </a:lnTo>
                <a:lnTo>
                  <a:pt x="48133" y="147192"/>
                </a:lnTo>
                <a:lnTo>
                  <a:pt x="50800" y="195325"/>
                </a:lnTo>
                <a:lnTo>
                  <a:pt x="53721" y="242569"/>
                </a:lnTo>
                <a:lnTo>
                  <a:pt x="57150" y="288797"/>
                </a:lnTo>
                <a:lnTo>
                  <a:pt x="61087" y="333755"/>
                </a:lnTo>
                <a:lnTo>
                  <a:pt x="65531" y="377189"/>
                </a:lnTo>
                <a:lnTo>
                  <a:pt x="70865" y="419100"/>
                </a:lnTo>
                <a:lnTo>
                  <a:pt x="76962" y="459104"/>
                </a:lnTo>
                <a:lnTo>
                  <a:pt x="83820" y="497077"/>
                </a:lnTo>
                <a:lnTo>
                  <a:pt x="96138" y="549782"/>
                </a:lnTo>
                <a:lnTo>
                  <a:pt x="111125" y="596645"/>
                </a:lnTo>
                <a:lnTo>
                  <a:pt x="128904" y="637158"/>
                </a:lnTo>
                <a:lnTo>
                  <a:pt x="149987" y="670686"/>
                </a:lnTo>
                <a:lnTo>
                  <a:pt x="183134" y="704341"/>
                </a:lnTo>
                <a:lnTo>
                  <a:pt x="220979" y="726820"/>
                </a:lnTo>
                <a:lnTo>
                  <a:pt x="262763" y="739647"/>
                </a:lnTo>
                <a:lnTo>
                  <a:pt x="307213" y="744601"/>
                </a:lnTo>
                <a:lnTo>
                  <a:pt x="330200" y="744854"/>
                </a:lnTo>
                <a:lnTo>
                  <a:pt x="353695" y="743711"/>
                </a:lnTo>
                <a:lnTo>
                  <a:pt x="377571" y="741552"/>
                </a:lnTo>
                <a:lnTo>
                  <a:pt x="401827" y="738631"/>
                </a:lnTo>
                <a:lnTo>
                  <a:pt x="426212" y="734948"/>
                </a:lnTo>
                <a:lnTo>
                  <a:pt x="443106" y="732154"/>
                </a:lnTo>
                <a:lnTo>
                  <a:pt x="329564" y="732154"/>
                </a:lnTo>
                <a:lnTo>
                  <a:pt x="307213" y="731901"/>
                </a:lnTo>
                <a:lnTo>
                  <a:pt x="264667" y="727075"/>
                </a:lnTo>
                <a:lnTo>
                  <a:pt x="225678" y="715009"/>
                </a:lnTo>
                <a:lnTo>
                  <a:pt x="190500" y="694181"/>
                </a:lnTo>
                <a:lnTo>
                  <a:pt x="159892" y="662685"/>
                </a:lnTo>
                <a:lnTo>
                  <a:pt x="133985" y="618870"/>
                </a:lnTo>
                <a:lnTo>
                  <a:pt x="117728" y="577468"/>
                </a:lnTo>
                <a:lnTo>
                  <a:pt x="104139" y="529716"/>
                </a:lnTo>
                <a:lnTo>
                  <a:pt x="92710" y="475995"/>
                </a:lnTo>
                <a:lnTo>
                  <a:pt x="83312" y="417194"/>
                </a:lnTo>
                <a:lnTo>
                  <a:pt x="78104" y="375665"/>
                </a:lnTo>
                <a:lnTo>
                  <a:pt x="73660" y="332485"/>
                </a:lnTo>
                <a:lnTo>
                  <a:pt x="69850" y="287654"/>
                </a:lnTo>
                <a:lnTo>
                  <a:pt x="66421" y="241553"/>
                </a:lnTo>
                <a:lnTo>
                  <a:pt x="63373" y="194563"/>
                </a:lnTo>
                <a:lnTo>
                  <a:pt x="60833" y="146557"/>
                </a:lnTo>
                <a:lnTo>
                  <a:pt x="58451" y="98678"/>
                </a:lnTo>
                <a:lnTo>
                  <a:pt x="55835" y="35744"/>
                </a:lnTo>
                <a:lnTo>
                  <a:pt x="49028" y="25125"/>
                </a:lnTo>
                <a:close/>
              </a:path>
              <a:path w="475614" h="744855">
                <a:moveTo>
                  <a:pt x="473201" y="714247"/>
                </a:moveTo>
                <a:lnTo>
                  <a:pt x="424179" y="722376"/>
                </a:lnTo>
                <a:lnTo>
                  <a:pt x="376047" y="728979"/>
                </a:lnTo>
                <a:lnTo>
                  <a:pt x="329564" y="732154"/>
                </a:lnTo>
                <a:lnTo>
                  <a:pt x="443106" y="732154"/>
                </a:lnTo>
                <a:lnTo>
                  <a:pt x="475361" y="726820"/>
                </a:lnTo>
                <a:lnTo>
                  <a:pt x="473201" y="714247"/>
                </a:lnTo>
                <a:close/>
              </a:path>
              <a:path w="475614" h="744855">
                <a:moveTo>
                  <a:pt x="47878" y="0"/>
                </a:moveTo>
                <a:lnTo>
                  <a:pt x="1650" y="87629"/>
                </a:lnTo>
                <a:lnTo>
                  <a:pt x="0" y="90804"/>
                </a:lnTo>
                <a:lnTo>
                  <a:pt x="1270" y="94614"/>
                </a:lnTo>
                <a:lnTo>
                  <a:pt x="4317" y="96265"/>
                </a:lnTo>
                <a:lnTo>
                  <a:pt x="7492" y="97916"/>
                </a:lnTo>
                <a:lnTo>
                  <a:pt x="11302" y="96646"/>
                </a:lnTo>
                <a:lnTo>
                  <a:pt x="12953" y="93598"/>
                </a:lnTo>
                <a:lnTo>
                  <a:pt x="43168" y="36247"/>
                </a:lnTo>
                <a:lnTo>
                  <a:pt x="42163" y="12826"/>
                </a:lnTo>
                <a:lnTo>
                  <a:pt x="54863" y="12318"/>
                </a:lnTo>
                <a:lnTo>
                  <a:pt x="55791" y="12318"/>
                </a:lnTo>
                <a:lnTo>
                  <a:pt x="47878" y="0"/>
                </a:lnTo>
                <a:close/>
              </a:path>
              <a:path w="475614" h="744855">
                <a:moveTo>
                  <a:pt x="55791" y="12318"/>
                </a:moveTo>
                <a:lnTo>
                  <a:pt x="54863" y="12318"/>
                </a:lnTo>
                <a:lnTo>
                  <a:pt x="55835" y="35744"/>
                </a:lnTo>
                <a:lnTo>
                  <a:pt x="90804" y="90296"/>
                </a:lnTo>
                <a:lnTo>
                  <a:pt x="92710" y="93217"/>
                </a:lnTo>
                <a:lnTo>
                  <a:pt x="96647" y="94106"/>
                </a:lnTo>
                <a:lnTo>
                  <a:pt x="102488" y="90296"/>
                </a:lnTo>
                <a:lnTo>
                  <a:pt x="103377" y="86359"/>
                </a:lnTo>
                <a:lnTo>
                  <a:pt x="101473" y="83438"/>
                </a:lnTo>
                <a:lnTo>
                  <a:pt x="55791" y="12318"/>
                </a:lnTo>
                <a:close/>
              </a:path>
              <a:path w="475614" h="744855">
                <a:moveTo>
                  <a:pt x="54863" y="12318"/>
                </a:moveTo>
                <a:lnTo>
                  <a:pt x="42163" y="12826"/>
                </a:lnTo>
                <a:lnTo>
                  <a:pt x="43168" y="36247"/>
                </a:lnTo>
                <a:lnTo>
                  <a:pt x="49028" y="25125"/>
                </a:lnTo>
                <a:lnTo>
                  <a:pt x="43179" y="16001"/>
                </a:lnTo>
                <a:lnTo>
                  <a:pt x="54101" y="15493"/>
                </a:lnTo>
                <a:lnTo>
                  <a:pt x="54995" y="15493"/>
                </a:lnTo>
                <a:lnTo>
                  <a:pt x="54863" y="12318"/>
                </a:lnTo>
                <a:close/>
              </a:path>
              <a:path w="475614" h="744855">
                <a:moveTo>
                  <a:pt x="54995" y="15493"/>
                </a:moveTo>
                <a:lnTo>
                  <a:pt x="54101" y="15493"/>
                </a:lnTo>
                <a:lnTo>
                  <a:pt x="49028" y="25125"/>
                </a:lnTo>
                <a:lnTo>
                  <a:pt x="55835" y="35744"/>
                </a:lnTo>
                <a:lnTo>
                  <a:pt x="54995" y="15493"/>
                </a:lnTo>
                <a:close/>
              </a:path>
              <a:path w="475614" h="744855">
                <a:moveTo>
                  <a:pt x="54101" y="15493"/>
                </a:moveTo>
                <a:lnTo>
                  <a:pt x="43179" y="16001"/>
                </a:lnTo>
                <a:lnTo>
                  <a:pt x="49028" y="25125"/>
                </a:lnTo>
                <a:lnTo>
                  <a:pt x="54101" y="15493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OpenM</a:t>
            </a:r>
            <a:r>
              <a:rPr dirty="0"/>
              <a:t>p</a:t>
            </a:r>
            <a:r>
              <a:rPr spc="-15" dirty="0"/>
              <a:t> </a:t>
            </a:r>
            <a:r>
              <a:rPr dirty="0"/>
              <a:t>p</a:t>
            </a:r>
            <a:r>
              <a:rPr spc="-80" dirty="0"/>
              <a:t>r</a:t>
            </a:r>
            <a:r>
              <a:rPr dirty="0"/>
              <a:t>agmas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946"/>
            <a:ext cx="7893653" cy="33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agma</a:t>
            </a:r>
            <a:r>
              <a:rPr sz="336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36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allel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basi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3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（指令）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3045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spcBef>
                <a:spcPts val="171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num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lowi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tructu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erm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- ti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76444" y="864158"/>
            <a:ext cx="783364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z="4620" b="0" dirty="0">
                <a:latin typeface="Calibri Light" panose="020F0302020204030204"/>
                <a:cs typeface="Calibri Light" panose="020F0302020204030204"/>
              </a:rPr>
              <a:t>A</a:t>
            </a:r>
            <a:r>
              <a:rPr sz="4620" b="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620" b="0" dirty="0">
                <a:latin typeface="Calibri Light" panose="020F0302020204030204"/>
                <a:cs typeface="Calibri Light" panose="020F0302020204030204"/>
              </a:rPr>
              <a:t>p</a:t>
            </a:r>
            <a:r>
              <a:rPr sz="4620" b="0" spc="-7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4620" b="0" spc="-5" dirty="0">
                <a:latin typeface="Calibri Light" panose="020F0302020204030204"/>
                <a:cs typeface="Calibri Light" panose="020F0302020204030204"/>
              </a:rPr>
              <a:t>oces</a:t>
            </a:r>
            <a:r>
              <a:rPr sz="4620" b="0" dirty="0">
                <a:latin typeface="Calibri Light" panose="020F0302020204030204"/>
                <a:cs typeface="Calibri Light" panose="020F0302020204030204"/>
              </a:rPr>
              <a:t>s</a:t>
            </a:r>
            <a:r>
              <a:rPr sz="4620" b="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620" b="0" spc="-105" dirty="0">
                <a:latin typeface="Calibri Light" panose="020F0302020204030204"/>
                <a:cs typeface="Calibri Light" panose="020F0302020204030204"/>
              </a:rPr>
              <a:t>f</a:t>
            </a:r>
            <a:r>
              <a:rPr sz="4620" b="0" spc="-5" dirty="0">
                <a:latin typeface="Calibri Light" panose="020F0302020204030204"/>
                <a:cs typeface="Calibri Light" panose="020F0302020204030204"/>
              </a:rPr>
              <a:t>orkin</a:t>
            </a:r>
            <a:r>
              <a:rPr sz="4620" b="0" dirty="0">
                <a:latin typeface="Calibri Light" panose="020F0302020204030204"/>
                <a:cs typeface="Calibri Light" panose="020F0302020204030204"/>
              </a:rPr>
              <a:t>g</a:t>
            </a:r>
            <a:r>
              <a:rPr sz="4620" b="0" spc="2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620" b="0" dirty="0">
                <a:latin typeface="Calibri Light" panose="020F0302020204030204"/>
                <a:cs typeface="Calibri Light" panose="020F0302020204030204"/>
              </a:rPr>
              <a:t>and</a:t>
            </a:r>
            <a:r>
              <a:rPr sz="4620" b="0" spc="-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620" b="0" dirty="0">
                <a:latin typeface="Calibri Light" panose="020F0302020204030204"/>
                <a:cs typeface="Calibri Light" panose="020F0302020204030204"/>
              </a:rPr>
              <a:t>joining</a:t>
            </a:r>
            <a:r>
              <a:rPr sz="4620" b="0" spc="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620" b="0" dirty="0">
                <a:latin typeface="Calibri Light" panose="020F0302020204030204"/>
                <a:cs typeface="Calibri Light" panose="020F0302020204030204"/>
              </a:rPr>
              <a:t>t</a:t>
            </a:r>
            <a:r>
              <a:rPr sz="4620" b="0" spc="-45" dirty="0">
                <a:latin typeface="Calibri Light" panose="020F0302020204030204"/>
                <a:cs typeface="Calibri Light" panose="020F0302020204030204"/>
              </a:rPr>
              <a:t>w</a:t>
            </a:r>
            <a:r>
              <a:rPr sz="4620" b="0" dirty="0">
                <a:latin typeface="Calibri Light" panose="020F0302020204030204"/>
                <a:cs typeface="Calibri Light" panose="020F0302020204030204"/>
              </a:rPr>
              <a:t>o</a:t>
            </a:r>
            <a:endParaRPr sz="4620">
              <a:latin typeface="Calibri Light" panose="020F0302020204030204"/>
              <a:cs typeface="Calibri Light" panose="020F0302020204030204"/>
            </a:endParaRPr>
          </a:p>
          <a:p>
            <a:pPr marL="12700">
              <a:lnSpc>
                <a:spcPts val="5015"/>
              </a:lnSpc>
            </a:pPr>
            <a:r>
              <a:rPr sz="4620" b="0" dirty="0">
                <a:latin typeface="Calibri Light" panose="020F0302020204030204"/>
                <a:cs typeface="Calibri Light" panose="020F0302020204030204"/>
              </a:rPr>
              <a:t>th</a:t>
            </a:r>
            <a:r>
              <a:rPr sz="4620" b="0" spc="-55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4620" b="0" spc="-5" dirty="0">
                <a:latin typeface="Calibri Light" panose="020F0302020204030204"/>
                <a:cs typeface="Calibri Light" panose="020F0302020204030204"/>
              </a:rPr>
              <a:t>eads</a:t>
            </a:r>
            <a:endParaRPr sz="462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89936" y="2409901"/>
            <a:ext cx="7420127" cy="23810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10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99"/>
            <a:ext cx="10762906" cy="904240"/>
          </a:xfrm>
          <a:prstGeom prst="rect">
            <a:avLst/>
          </a:prstGeom>
        </p:spPr>
        <p:txBody>
          <a:bodyPr vert="horz" wrap="square" lIns="0" tIns="28941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Clause</a:t>
            </a:r>
            <a:r>
              <a:rPr b="0" spc="-5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（子句）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890329" cy="3663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6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modif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num_t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clause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dde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allel</a:t>
            </a: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ammer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specif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mber</a:t>
            </a:r>
            <a:r>
              <a:rPr sz="2940" spc="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sho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lowi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block.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8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agma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nu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_th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)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>
                <a:latin typeface="Comic Sans MS" panose="030F0702030302020204" pitchFamily="66" charset="0"/>
                <a:cs typeface="Calibri Light" panose="020F0302020204030204"/>
              </a:rPr>
              <a:t>parallel </a:t>
            </a:r>
            <a:r>
              <a:rPr lang="en-US" dirty="0" err="1">
                <a:latin typeface="Comic Sans MS" panose="030F0702030302020204" pitchFamily="66" charset="0"/>
                <a:cs typeface="Calibri Light" panose="020F0302020204030204"/>
              </a:rPr>
              <a:t>num_threads</a:t>
            </a:r>
            <a:r>
              <a:rPr lang="en-US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endParaRPr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6264" y="1967226"/>
            <a:ext cx="9890329" cy="3526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em-d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art.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10541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OpenM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anda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doesn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gua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ee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 wi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tual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cur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hun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eds</a:t>
            </a:r>
            <a:r>
              <a:rPr sz="2940" spc="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thousan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6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Unless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ing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st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eads,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ll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almo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desi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nu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So</a:t>
            </a:r>
            <a:r>
              <a:rPr spc="-20" dirty="0"/>
              <a:t>m</a:t>
            </a:r>
            <a:r>
              <a:rPr dirty="0"/>
              <a:t>e </a:t>
            </a:r>
            <a:r>
              <a:rPr spc="-50" dirty="0"/>
              <a:t>t</a:t>
            </a:r>
            <a:r>
              <a:rPr spc="-5" dirty="0"/>
              <a:t>erminol</a:t>
            </a:r>
            <a:r>
              <a:rPr spc="-15" dirty="0"/>
              <a:t>o</a:t>
            </a:r>
            <a:r>
              <a:rPr dirty="0"/>
              <a:t>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018121" cy="21159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ollection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lang="en-US" altLang="zh-CN"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eam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origina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called the master</a:t>
            </a:r>
            <a:r>
              <a:rPr lang="en-US" sz="2940" spc="-40" dirty="0">
                <a:latin typeface="Comic Sans MS" panose="030F0702030302020204" pitchFamily="66" charset="0"/>
                <a:cs typeface="Calibri" panose="020F0502020204030204"/>
              </a:rPr>
              <a:t>/server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, and the additional threads are called slaves</a:t>
            </a:r>
            <a:r>
              <a:rPr lang="en-US" sz="2940" spc="-40" dirty="0">
                <a:latin typeface="Comic Sans MS" panose="030F0702030302020204" pitchFamily="66" charset="0"/>
                <a:cs typeface="Calibri" panose="020F0502020204030204"/>
              </a:rPr>
              <a:t>/clients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9281120" y="4245866"/>
            <a:ext cx="2569921" cy="2569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80" y="35988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b="0" dirty="0"/>
              <a:t>In case the compiler doesn’t</a:t>
            </a:r>
          </a:p>
          <a:p>
            <a:pPr marL="12700">
              <a:lnSpc>
                <a:spcPts val="5015"/>
              </a:lnSpc>
            </a:pPr>
            <a:r>
              <a:rPr b="0" dirty="0"/>
              <a:t>support</a:t>
            </a:r>
            <a:r>
              <a:rPr b="0" spc="-30" dirty="0"/>
              <a:t> </a:t>
            </a:r>
            <a:r>
              <a:rPr b="0" spc="-5" dirty="0"/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717" y="2129598"/>
            <a:ext cx="5119283" cy="3031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clu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&lt;omp.h&gt;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830" dirty="0">
              <a:latin typeface="Times New Roman" panose="02020603050405020304"/>
              <a:cs typeface="Times New Roman" panose="02020603050405020304"/>
            </a:endParaRPr>
          </a:p>
          <a:p>
            <a:pPr marL="1957705">
              <a:lnSpc>
                <a:spcPct val="100000"/>
              </a:lnSpc>
            </a:pP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#i</a:t>
            </a:r>
            <a:r>
              <a:rPr sz="2940" spc="-9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_OPENMP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957705">
              <a:lnSpc>
                <a:spcPct val="100000"/>
              </a:lnSpc>
              <a:spcBef>
                <a:spcPts val="670"/>
              </a:spcBef>
            </a:pP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clu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&lt;omp.h&gt;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83515" algn="ctr">
              <a:lnSpc>
                <a:spcPct val="100000"/>
              </a:lnSpc>
              <a:spcBef>
                <a:spcPts val="670"/>
              </a:spcBef>
            </a:pP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#en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81142" y="2604326"/>
            <a:ext cx="1066800" cy="694754"/>
          </a:xfrm>
          <a:custGeom>
            <a:avLst/>
            <a:gdLst/>
            <a:ahLst/>
            <a:cxnLst/>
            <a:rect l="l" t="t" r="r" b="b"/>
            <a:pathLst>
              <a:path w="1016000" h="661669">
                <a:moveTo>
                  <a:pt x="884046" y="626744"/>
                </a:moveTo>
                <a:lnTo>
                  <a:pt x="877316" y="632840"/>
                </a:lnTo>
                <a:lnTo>
                  <a:pt x="876554" y="648842"/>
                </a:lnTo>
                <a:lnTo>
                  <a:pt x="882777" y="655574"/>
                </a:lnTo>
                <a:lnTo>
                  <a:pt x="1016000" y="661542"/>
                </a:lnTo>
                <a:lnTo>
                  <a:pt x="1014254" y="658113"/>
                </a:lnTo>
                <a:lnTo>
                  <a:pt x="983995" y="658113"/>
                </a:lnTo>
                <a:lnTo>
                  <a:pt x="938902" y="629072"/>
                </a:lnTo>
                <a:lnTo>
                  <a:pt x="892047" y="626999"/>
                </a:lnTo>
                <a:lnTo>
                  <a:pt x="884046" y="626744"/>
                </a:lnTo>
                <a:close/>
              </a:path>
              <a:path w="1016000" h="661669">
                <a:moveTo>
                  <a:pt x="938902" y="629072"/>
                </a:moveTo>
                <a:lnTo>
                  <a:pt x="983995" y="658113"/>
                </a:lnTo>
                <a:lnTo>
                  <a:pt x="987575" y="652526"/>
                </a:lnTo>
                <a:lnTo>
                  <a:pt x="978916" y="652526"/>
                </a:lnTo>
                <a:lnTo>
                  <a:pt x="967636" y="630343"/>
                </a:lnTo>
                <a:lnTo>
                  <a:pt x="938902" y="629072"/>
                </a:lnTo>
                <a:close/>
              </a:path>
              <a:path w="1016000" h="661669">
                <a:moveTo>
                  <a:pt x="946784" y="539750"/>
                </a:moveTo>
                <a:lnTo>
                  <a:pt x="939672" y="543432"/>
                </a:lnTo>
                <a:lnTo>
                  <a:pt x="932561" y="546988"/>
                </a:lnTo>
                <a:lnTo>
                  <a:pt x="929767" y="555751"/>
                </a:lnTo>
                <a:lnTo>
                  <a:pt x="933322" y="562863"/>
                </a:lnTo>
                <a:lnTo>
                  <a:pt x="954620" y="604746"/>
                </a:lnTo>
                <a:lnTo>
                  <a:pt x="999617" y="633729"/>
                </a:lnTo>
                <a:lnTo>
                  <a:pt x="983995" y="658113"/>
                </a:lnTo>
                <a:lnTo>
                  <a:pt x="1014254" y="658113"/>
                </a:lnTo>
                <a:lnTo>
                  <a:pt x="959104" y="549782"/>
                </a:lnTo>
                <a:lnTo>
                  <a:pt x="955547" y="542670"/>
                </a:lnTo>
                <a:lnTo>
                  <a:pt x="946784" y="539750"/>
                </a:lnTo>
                <a:close/>
              </a:path>
              <a:path w="1016000" h="661669">
                <a:moveTo>
                  <a:pt x="967636" y="630343"/>
                </a:moveTo>
                <a:lnTo>
                  <a:pt x="978916" y="652526"/>
                </a:lnTo>
                <a:lnTo>
                  <a:pt x="992505" y="631443"/>
                </a:lnTo>
                <a:lnTo>
                  <a:pt x="967636" y="630343"/>
                </a:lnTo>
                <a:close/>
              </a:path>
              <a:path w="1016000" h="661669">
                <a:moveTo>
                  <a:pt x="954620" y="604746"/>
                </a:moveTo>
                <a:lnTo>
                  <a:pt x="967636" y="630343"/>
                </a:lnTo>
                <a:lnTo>
                  <a:pt x="992505" y="631443"/>
                </a:lnTo>
                <a:lnTo>
                  <a:pt x="978916" y="652526"/>
                </a:lnTo>
                <a:lnTo>
                  <a:pt x="987575" y="652526"/>
                </a:lnTo>
                <a:lnTo>
                  <a:pt x="999617" y="633729"/>
                </a:lnTo>
                <a:lnTo>
                  <a:pt x="954620" y="604746"/>
                </a:lnTo>
                <a:close/>
              </a:path>
              <a:path w="1016000" h="661669">
                <a:moveTo>
                  <a:pt x="15748" y="0"/>
                </a:moveTo>
                <a:lnTo>
                  <a:pt x="0" y="24384"/>
                </a:lnTo>
                <a:lnTo>
                  <a:pt x="938902" y="629072"/>
                </a:lnTo>
                <a:lnTo>
                  <a:pt x="967636" y="630343"/>
                </a:lnTo>
                <a:lnTo>
                  <a:pt x="954620" y="604746"/>
                </a:lnTo>
                <a:lnTo>
                  <a:pt x="15748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15</a:t>
            </a:fld>
            <a:endParaRPr sz="1575" spc="-1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BDDCE3-0420-45E2-8FB2-44E3337F64A6}"/>
              </a:ext>
            </a:extLst>
          </p:cNvPr>
          <p:cNvSpPr txBox="1"/>
          <p:nvPr/>
        </p:nvSpPr>
        <p:spPr>
          <a:xfrm>
            <a:off x="8417024" y="2520330"/>
            <a:ext cx="396044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-D name=definition (shell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command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#define </a:t>
            </a:r>
            <a:r>
              <a:rPr lang="en-US" dirty="0" err="1">
                <a:solidFill>
                  <a:srgbClr val="FF0000"/>
                </a:solidFill>
                <a:latin typeface="Comic Sans MS" panose="030F0702030302020204" pitchFamily="66" charset="0"/>
              </a:rPr>
              <a:t>definition_name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(C code)</a:t>
            </a:r>
          </a:p>
          <a:p>
            <a:endParaRPr 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contents of definition are tokenized and processed as if they appeared during </a:t>
            </a:r>
            <a:r>
              <a:rPr lang="en-US" b="1" dirty="0">
                <a:latin typeface="Comic Sans MS" panose="030F0702030302020204" pitchFamily="66" charset="0"/>
              </a:rPr>
              <a:t>translation phase three </a:t>
            </a:r>
            <a:r>
              <a:rPr lang="en-US" dirty="0">
                <a:latin typeface="Comic Sans MS" panose="030F0702030302020204" pitchFamily="66" charset="0"/>
              </a:rPr>
              <a:t>in a ‘#define’ directive. In particular, the definition is truncated by embedded newline characters.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215741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spc="-20" dirty="0">
                <a:latin typeface="Calibri Light" panose="020F0302020204030204"/>
                <a:cs typeface="Calibri Light" panose="020F0302020204030204"/>
              </a:rPr>
              <a:t>In</a:t>
            </a:r>
            <a:r>
              <a:rPr sz="420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200" spc="-60" dirty="0">
                <a:latin typeface="Calibri Light" panose="020F0302020204030204"/>
                <a:cs typeface="Calibri Light" panose="020F0302020204030204"/>
              </a:rPr>
              <a:t>c</a:t>
            </a:r>
            <a:r>
              <a:rPr sz="4200" spc="-20" dirty="0">
                <a:latin typeface="Calibri Light" panose="020F0302020204030204"/>
                <a:cs typeface="Calibri Light" panose="020F0302020204030204"/>
              </a:rPr>
              <a:t>ase</a:t>
            </a:r>
            <a:r>
              <a:rPr sz="420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200" spc="-20" dirty="0">
                <a:latin typeface="Calibri Light" panose="020F0302020204030204"/>
                <a:cs typeface="Calibri Light" panose="020F0302020204030204"/>
              </a:rPr>
              <a:t>the compiler doesn’t support</a:t>
            </a:r>
          </a:p>
          <a:p>
            <a:pPr marL="12700">
              <a:lnSpc>
                <a:spcPts val="4560"/>
              </a:lnSpc>
            </a:pPr>
            <a:r>
              <a:rPr sz="4200" spc="-20" dirty="0">
                <a:latin typeface="Calibri Light" panose="020F0302020204030204"/>
                <a:cs typeface="Calibri Light" panose="020F0302020204030204"/>
              </a:rPr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1367" y="2054789"/>
            <a:ext cx="8607945" cy="3705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9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_OPENMP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ank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omp_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t_th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d_nu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);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omp_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t_n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m_th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7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);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ank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end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5400675" y="1974647"/>
            <a:ext cx="3250006" cy="32516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9640" y="4576465"/>
            <a:ext cx="5313998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Th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2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330" dirty="0">
                <a:latin typeface="Calibri Light" panose="020F0302020204030204"/>
                <a:cs typeface="Calibri Light" panose="020F0302020204030204"/>
              </a:rPr>
              <a:t>T</a:t>
            </a:r>
            <a:r>
              <a:rPr sz="5040" b="0" spc="-114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ap</a:t>
            </a:r>
            <a:r>
              <a:rPr sz="5040" b="0" spc="-55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-150" dirty="0">
                <a:latin typeface="Calibri Light" panose="020F0302020204030204"/>
                <a:cs typeface="Calibri Light" panose="020F0302020204030204"/>
              </a:rPr>
              <a:t>z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oida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spc="3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Rule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t</a:t>
            </a:r>
            <a:r>
              <a:rPr spc="-90" dirty="0"/>
              <a:t>r</a:t>
            </a:r>
            <a:r>
              <a:rPr dirty="0"/>
              <a:t>ap</a:t>
            </a:r>
            <a:r>
              <a:rPr spc="-55" dirty="0"/>
              <a:t>e</a:t>
            </a:r>
            <a:r>
              <a:rPr spc="-114" dirty="0"/>
              <a:t>z</a:t>
            </a:r>
            <a:r>
              <a:rPr spc="-5" dirty="0"/>
              <a:t>oida</a:t>
            </a:r>
            <a:r>
              <a:rPr dirty="0"/>
              <a:t>l</a:t>
            </a:r>
            <a:r>
              <a:rPr spc="20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/>
          <p:nvPr/>
        </p:nvSpPr>
        <p:spPr>
          <a:xfrm>
            <a:off x="2176272" y="1936241"/>
            <a:ext cx="8610676" cy="2939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Serial</a:t>
            </a:r>
            <a:r>
              <a:rPr spc="-10" dirty="0"/>
              <a:t> </a:t>
            </a:r>
            <a:r>
              <a:rPr dirty="0"/>
              <a:t>al</a:t>
            </a:r>
            <a:r>
              <a:rPr spc="-35" dirty="0"/>
              <a:t>g</a:t>
            </a:r>
            <a:r>
              <a:rPr spc="-5" dirty="0"/>
              <a:t>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3280410" y="2501112"/>
            <a:ext cx="6181572" cy="3520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94662" y="1653006"/>
            <a:ext cx="8820302" cy="680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9861" y="1648205"/>
            <a:ext cx="8830437" cy="690086"/>
          </a:xfrm>
          <a:custGeom>
            <a:avLst/>
            <a:gdLst/>
            <a:ahLst/>
            <a:cxnLst/>
            <a:rect l="l" t="t" r="r" b="b"/>
            <a:pathLst>
              <a:path w="8409940" h="657225">
                <a:moveTo>
                  <a:pt x="0" y="656843"/>
                </a:moveTo>
                <a:lnTo>
                  <a:pt x="8409432" y="656843"/>
                </a:lnTo>
                <a:lnTo>
                  <a:pt x="8409432" y="0"/>
                </a:lnTo>
                <a:lnTo>
                  <a:pt x="0" y="0"/>
                </a:lnTo>
                <a:lnTo>
                  <a:pt x="0" y="656843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</a:t>
            </a:r>
            <a:r>
              <a:rPr spc="-235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851724"/>
            <a:ext cx="9674305" cy="3457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Calibri" panose="020F0502020204030204"/>
              <a:buAutoNum type="arabicParenR"/>
              <a:tabLst>
                <a:tab pos="434975" algn="l"/>
              </a:tabLst>
            </a:pPr>
            <a:r>
              <a:rPr sz="3360" spc="-114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ty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s: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28040" lvl="1" indent="-358140">
              <a:lnSpc>
                <a:spcPct val="100000"/>
              </a:lnSpc>
              <a:spcBef>
                <a:spcPts val="185"/>
              </a:spcBef>
              <a:buFont typeface="Calibri" panose="020F0502020204030204"/>
              <a:buAutoNum type="alphaLcParenR"/>
              <a:tabLst>
                <a:tab pos="828675" algn="l"/>
              </a:tabLst>
            </a:pP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ompu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eas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45820" lvl="1" indent="-375920">
              <a:lnSpc>
                <a:spcPct val="100000"/>
              </a:lnSpc>
              <a:spcBef>
                <a:spcPts val="165"/>
              </a:spcBef>
              <a:buFont typeface="Calibri" panose="020F0502020204030204"/>
              <a:buAutoNum type="alphaLcParenR"/>
              <a:tabLst>
                <a:tab pos="846455" algn="l"/>
              </a:tabLst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eas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Calibri" panose="020F0502020204030204"/>
              <a:buAutoNum type="alphaLcParenR"/>
            </a:pPr>
            <a:endParaRPr sz="4145" dirty="0">
              <a:latin typeface="Times New Roman" panose="02020603050405020304"/>
              <a:cs typeface="Times New Roman" panose="02020603050405020304"/>
            </a:endParaRPr>
          </a:p>
          <a:p>
            <a:pPr marL="12700" marR="195580">
              <a:lnSpc>
                <a:spcPts val="3460"/>
              </a:lnSpc>
              <a:buFont typeface="Calibri" panose="020F0502020204030204"/>
              <a:buAutoNum type="arabicParenR"/>
              <a:tabLst>
                <a:tab pos="43434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ommun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among</a:t>
            </a:r>
            <a:r>
              <a:rPr sz="336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 in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fi</a:t>
            </a:r>
            <a:r>
              <a:rPr sz="336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ollec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bu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ask in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ollec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lang="en-US" sz="3360" dirty="0">
                <a:latin typeface="Comic Sans MS" panose="030F0702030302020204" pitchFamily="66" charset="0"/>
                <a:cs typeface="Calibri" panose="020F0502020204030204"/>
              </a:rPr>
              <a:t> (task</a:t>
            </a:r>
            <a:r>
              <a:rPr lang="zh-CN" altLang="en-US" sz="336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altLang="zh-CN" sz="3360" dirty="0">
                <a:latin typeface="Comic Sans MS" panose="030F0702030302020204" pitchFamily="66" charset="0"/>
                <a:cs typeface="Calibri" panose="020F0502020204030204"/>
              </a:rPr>
              <a:t>1a)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ommun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with 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ask 1b.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</a:t>
            </a:r>
            <a:r>
              <a:rPr spc="-235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4296" y="1980380"/>
            <a:ext cx="9746313" cy="296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3)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14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as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ume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 the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336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365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oid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than 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40" dirty="0">
              <a:latin typeface="Times New Roman" panose="02020603050405020304"/>
              <a:cs typeface="Times New Roman" panose="02020603050405020304"/>
            </a:endParaRPr>
          </a:p>
          <a:p>
            <a:pPr marL="12700" marR="358775">
              <a:lnSpc>
                <a:spcPct val="9000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2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y as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igni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guous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bloc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f t</a:t>
            </a:r>
            <a:r>
              <a:rPr sz="336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oid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(an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singl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e).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25" dirty="0"/>
              <a:t>Assignme</a:t>
            </a:r>
            <a:r>
              <a:rPr sz="4200" spc="-40" dirty="0"/>
              <a:t>n</a:t>
            </a:r>
            <a:r>
              <a:rPr sz="4200" spc="-15" dirty="0"/>
              <a:t>t</a:t>
            </a:r>
            <a:r>
              <a:rPr sz="4200" dirty="0"/>
              <a:t> </a:t>
            </a:r>
            <a:r>
              <a:rPr sz="4200" spc="-30" dirty="0"/>
              <a:t>o</a:t>
            </a:r>
            <a:r>
              <a:rPr sz="4200" spc="-15" dirty="0"/>
              <a:t>f</a:t>
            </a:r>
            <a:r>
              <a:rPr sz="4200" dirty="0"/>
              <a:t> </a:t>
            </a:r>
            <a:r>
              <a:rPr sz="4200" spc="-30" dirty="0"/>
              <a:t>t</a:t>
            </a:r>
            <a:r>
              <a:rPr sz="4200" spc="-90" dirty="0"/>
              <a:t>r</a:t>
            </a:r>
            <a:r>
              <a:rPr sz="4200" spc="-20" dirty="0"/>
              <a:t>ap</a:t>
            </a:r>
            <a:r>
              <a:rPr sz="4200" spc="-55" dirty="0"/>
              <a:t>e</a:t>
            </a:r>
            <a:r>
              <a:rPr sz="4200" spc="-120" dirty="0"/>
              <a:t>z</a:t>
            </a:r>
            <a:r>
              <a:rPr sz="4200" spc="-25" dirty="0"/>
              <a:t>oid</a:t>
            </a:r>
            <a:r>
              <a:rPr sz="4200" spc="-20" dirty="0"/>
              <a:t>s</a:t>
            </a:r>
            <a:r>
              <a:rPr sz="4200" spc="10" dirty="0"/>
              <a:t> </a:t>
            </a:r>
            <a:r>
              <a:rPr sz="4200" spc="-70" dirty="0"/>
              <a:t>t</a:t>
            </a:r>
            <a:r>
              <a:rPr sz="4200" dirty="0"/>
              <a:t>o</a:t>
            </a:r>
            <a:r>
              <a:rPr sz="4200" spc="-5" dirty="0"/>
              <a:t> </a:t>
            </a:r>
            <a:r>
              <a:rPr sz="4200" spc="-20" dirty="0"/>
              <a:t>th</a:t>
            </a:r>
            <a:r>
              <a:rPr sz="4200" spc="-85" dirty="0"/>
              <a:t>r</a:t>
            </a:r>
            <a:r>
              <a:rPr sz="4200" spc="-25" dirty="0"/>
              <a:t>eads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694737" y="1568195"/>
            <a:ext cx="6866457" cy="5211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20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Race condition</a:t>
            </a:r>
            <a:endParaRPr lang="zh-CN" altLang="en-US" dirty="0"/>
          </a:p>
        </p:txBody>
      </p:sp>
      <p:sp>
        <p:nvSpPr>
          <p:cNvPr id="2" name="object 2"/>
          <p:cNvSpPr txBox="1"/>
          <p:nvPr/>
        </p:nvSpPr>
        <p:spPr>
          <a:xfrm>
            <a:off x="2970105" y="3403491"/>
            <a:ext cx="6621494" cy="1357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Unp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able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when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(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e) th</a:t>
            </a:r>
            <a:r>
              <a:rPr sz="294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ul</a:t>
            </a:r>
            <a:r>
              <a:rPr sz="294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aneous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0224" y="4768328"/>
            <a:ext cx="6359008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global_</a:t>
            </a:r>
            <a:r>
              <a:rPr sz="378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esult</a:t>
            </a:r>
            <a:r>
              <a:rPr sz="378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78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+</a:t>
            </a: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= </a:t>
            </a:r>
            <a:r>
              <a:rPr sz="3780" spc="-10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78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378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esult</a:t>
            </a:r>
            <a:r>
              <a:rPr sz="378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78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;</a:t>
            </a:r>
            <a:endParaRPr sz="378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6670" y="953718"/>
            <a:ext cx="8815502" cy="2139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52635" y="5381672"/>
            <a:ext cx="2721940" cy="11521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Mutual</a:t>
            </a:r>
            <a:r>
              <a:rPr spc="-5" dirty="0"/>
              <a:t> </a:t>
            </a:r>
            <a:r>
              <a:rPr spc="-80" dirty="0"/>
              <a:t>e</a:t>
            </a:r>
            <a:r>
              <a:rPr spc="-95" dirty="0"/>
              <a:t>x</a:t>
            </a:r>
            <a:r>
              <a:rPr spc="-5" dirty="0"/>
              <a:t>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0100" y="1838230"/>
            <a:ext cx="6423028" cy="1194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290" marR="5080" indent="-276225">
              <a:lnSpc>
                <a:spcPct val="120000"/>
              </a:lnSpc>
            </a:pP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 </a:t>
            </a:r>
            <a:r>
              <a:rPr sz="336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agma </a:t>
            </a:r>
            <a:r>
              <a:rPr sz="336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mp 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cri</a:t>
            </a:r>
            <a:r>
              <a:rPr sz="336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global_</a:t>
            </a:r>
            <a:r>
              <a:rPr sz="336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336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+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= </a:t>
            </a:r>
            <a:r>
              <a:rPr sz="336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3360" spc="-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336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336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;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5171" y="4419086"/>
            <a:ext cx="6854856" cy="1653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 t</a:t>
            </a:r>
            <a:r>
              <a:rPr sz="336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oll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wing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tr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ct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bloc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ti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209567" y="1905570"/>
            <a:ext cx="2973038" cy="2253615"/>
          </a:xfrm>
          <a:custGeom>
            <a:avLst/>
            <a:gdLst/>
            <a:ahLst/>
            <a:cxnLst/>
            <a:rect l="l" t="t" r="r" b="b"/>
            <a:pathLst>
              <a:path w="2831465" h="2146300">
                <a:moveTo>
                  <a:pt x="2830829" y="1295400"/>
                </a:moveTo>
                <a:lnTo>
                  <a:pt x="2802001" y="1295400"/>
                </a:lnTo>
                <a:lnTo>
                  <a:pt x="2800604" y="1308100"/>
                </a:lnTo>
                <a:lnTo>
                  <a:pt x="2798572" y="1308100"/>
                </a:lnTo>
                <a:lnTo>
                  <a:pt x="2795778" y="1320800"/>
                </a:lnTo>
                <a:lnTo>
                  <a:pt x="2792222" y="1333500"/>
                </a:lnTo>
                <a:lnTo>
                  <a:pt x="2788030" y="1333500"/>
                </a:lnTo>
                <a:lnTo>
                  <a:pt x="2783331" y="1346200"/>
                </a:lnTo>
                <a:lnTo>
                  <a:pt x="2777871" y="1358900"/>
                </a:lnTo>
                <a:lnTo>
                  <a:pt x="2771648" y="1371600"/>
                </a:lnTo>
                <a:lnTo>
                  <a:pt x="2765044" y="1371600"/>
                </a:lnTo>
                <a:lnTo>
                  <a:pt x="2757678" y="1384300"/>
                </a:lnTo>
                <a:lnTo>
                  <a:pt x="2749677" y="1397000"/>
                </a:lnTo>
                <a:lnTo>
                  <a:pt x="2741041" y="1409700"/>
                </a:lnTo>
                <a:lnTo>
                  <a:pt x="2731897" y="1422400"/>
                </a:lnTo>
                <a:lnTo>
                  <a:pt x="2722118" y="1422400"/>
                </a:lnTo>
                <a:lnTo>
                  <a:pt x="2700781" y="1447800"/>
                </a:lnTo>
                <a:lnTo>
                  <a:pt x="2651887" y="1498600"/>
                </a:lnTo>
                <a:lnTo>
                  <a:pt x="2595118" y="1549400"/>
                </a:lnTo>
                <a:lnTo>
                  <a:pt x="2563876" y="1574800"/>
                </a:lnTo>
                <a:lnTo>
                  <a:pt x="2530983" y="1600200"/>
                </a:lnTo>
                <a:lnTo>
                  <a:pt x="2496439" y="1625600"/>
                </a:lnTo>
                <a:lnTo>
                  <a:pt x="2460371" y="1651000"/>
                </a:lnTo>
                <a:lnTo>
                  <a:pt x="2422905" y="1676400"/>
                </a:lnTo>
                <a:lnTo>
                  <a:pt x="2384044" y="1701800"/>
                </a:lnTo>
                <a:lnTo>
                  <a:pt x="2343912" y="1739900"/>
                </a:lnTo>
                <a:lnTo>
                  <a:pt x="2302764" y="1765300"/>
                </a:lnTo>
                <a:lnTo>
                  <a:pt x="2260346" y="1790700"/>
                </a:lnTo>
                <a:lnTo>
                  <a:pt x="2216912" y="1828800"/>
                </a:lnTo>
                <a:lnTo>
                  <a:pt x="2127758" y="1879600"/>
                </a:lnTo>
                <a:lnTo>
                  <a:pt x="2081911" y="1917700"/>
                </a:lnTo>
                <a:lnTo>
                  <a:pt x="2035555" y="1943100"/>
                </a:lnTo>
                <a:lnTo>
                  <a:pt x="1941195" y="2006600"/>
                </a:lnTo>
                <a:lnTo>
                  <a:pt x="1748790" y="2133600"/>
                </a:lnTo>
                <a:lnTo>
                  <a:pt x="1764411" y="2146300"/>
                </a:lnTo>
                <a:lnTo>
                  <a:pt x="1861058" y="2095500"/>
                </a:lnTo>
                <a:lnTo>
                  <a:pt x="1956943" y="2032000"/>
                </a:lnTo>
                <a:lnTo>
                  <a:pt x="2051303" y="1968500"/>
                </a:lnTo>
                <a:lnTo>
                  <a:pt x="2097913" y="1943100"/>
                </a:lnTo>
                <a:lnTo>
                  <a:pt x="2143760" y="1905000"/>
                </a:lnTo>
                <a:lnTo>
                  <a:pt x="2188845" y="1879600"/>
                </a:lnTo>
                <a:lnTo>
                  <a:pt x="2233168" y="1841500"/>
                </a:lnTo>
                <a:lnTo>
                  <a:pt x="2276729" y="1816100"/>
                </a:lnTo>
                <a:lnTo>
                  <a:pt x="2319274" y="1790700"/>
                </a:lnTo>
                <a:lnTo>
                  <a:pt x="2360676" y="1765300"/>
                </a:lnTo>
                <a:lnTo>
                  <a:pt x="2400935" y="1727200"/>
                </a:lnTo>
                <a:lnTo>
                  <a:pt x="2440051" y="1701800"/>
                </a:lnTo>
                <a:lnTo>
                  <a:pt x="2477770" y="1676400"/>
                </a:lnTo>
                <a:lnTo>
                  <a:pt x="2514092" y="1651000"/>
                </a:lnTo>
                <a:lnTo>
                  <a:pt x="2549017" y="1625600"/>
                </a:lnTo>
                <a:lnTo>
                  <a:pt x="2582164" y="1600200"/>
                </a:lnTo>
                <a:lnTo>
                  <a:pt x="2613787" y="1574800"/>
                </a:lnTo>
                <a:lnTo>
                  <a:pt x="2643759" y="1549400"/>
                </a:lnTo>
                <a:lnTo>
                  <a:pt x="2697734" y="1498600"/>
                </a:lnTo>
                <a:lnTo>
                  <a:pt x="2743580" y="1447800"/>
                </a:lnTo>
                <a:lnTo>
                  <a:pt x="2772410" y="1409700"/>
                </a:lnTo>
                <a:lnTo>
                  <a:pt x="2781046" y="1397000"/>
                </a:lnTo>
                <a:lnTo>
                  <a:pt x="2788920" y="1397000"/>
                </a:lnTo>
                <a:lnTo>
                  <a:pt x="2796159" y="1384300"/>
                </a:lnTo>
                <a:lnTo>
                  <a:pt x="2802763" y="1371600"/>
                </a:lnTo>
                <a:lnTo>
                  <a:pt x="2808859" y="1358900"/>
                </a:lnTo>
                <a:lnTo>
                  <a:pt x="2814193" y="1346200"/>
                </a:lnTo>
                <a:lnTo>
                  <a:pt x="2819019" y="1346200"/>
                </a:lnTo>
                <a:lnTo>
                  <a:pt x="2823083" y="1333500"/>
                </a:lnTo>
                <a:lnTo>
                  <a:pt x="2826512" y="1320800"/>
                </a:lnTo>
                <a:lnTo>
                  <a:pt x="2829305" y="1308100"/>
                </a:lnTo>
                <a:lnTo>
                  <a:pt x="2830829" y="1295400"/>
                </a:lnTo>
                <a:close/>
              </a:path>
              <a:path w="2831465" h="2146300">
                <a:moveTo>
                  <a:pt x="2830956" y="1282700"/>
                </a:moveTo>
                <a:lnTo>
                  <a:pt x="2802001" y="1282700"/>
                </a:lnTo>
                <a:lnTo>
                  <a:pt x="2802636" y="1295400"/>
                </a:lnTo>
                <a:lnTo>
                  <a:pt x="2831465" y="1295400"/>
                </a:lnTo>
                <a:lnTo>
                  <a:pt x="2830956" y="1282700"/>
                </a:lnTo>
                <a:close/>
              </a:path>
              <a:path w="2831465" h="2146300">
                <a:moveTo>
                  <a:pt x="2828798" y="1270000"/>
                </a:moveTo>
                <a:lnTo>
                  <a:pt x="2798318" y="1270000"/>
                </a:lnTo>
                <a:lnTo>
                  <a:pt x="2801493" y="1282700"/>
                </a:lnTo>
                <a:lnTo>
                  <a:pt x="2830576" y="1282700"/>
                </a:lnTo>
                <a:lnTo>
                  <a:pt x="2828798" y="1270000"/>
                </a:lnTo>
                <a:close/>
              </a:path>
              <a:path w="2831465" h="2146300">
                <a:moveTo>
                  <a:pt x="2824734" y="1257300"/>
                </a:moveTo>
                <a:lnTo>
                  <a:pt x="2786888" y="1257300"/>
                </a:lnTo>
                <a:lnTo>
                  <a:pt x="2792095" y="1270000"/>
                </a:lnTo>
                <a:lnTo>
                  <a:pt x="2827909" y="1270000"/>
                </a:lnTo>
                <a:lnTo>
                  <a:pt x="2824734" y="1257300"/>
                </a:lnTo>
                <a:close/>
              </a:path>
              <a:path w="2831465" h="2146300">
                <a:moveTo>
                  <a:pt x="2803779" y="1231900"/>
                </a:moveTo>
                <a:lnTo>
                  <a:pt x="2731516" y="1231900"/>
                </a:lnTo>
                <a:lnTo>
                  <a:pt x="2743200" y="1244600"/>
                </a:lnTo>
                <a:lnTo>
                  <a:pt x="2764028" y="1244600"/>
                </a:lnTo>
                <a:lnTo>
                  <a:pt x="2772664" y="1257300"/>
                </a:lnTo>
                <a:lnTo>
                  <a:pt x="2818129" y="1257300"/>
                </a:lnTo>
                <a:lnTo>
                  <a:pt x="2811526" y="1244600"/>
                </a:lnTo>
                <a:lnTo>
                  <a:pt x="2803779" y="1231900"/>
                </a:lnTo>
                <a:close/>
              </a:path>
              <a:path w="2831465" h="2146300">
                <a:moveTo>
                  <a:pt x="2775204" y="1219200"/>
                </a:moveTo>
                <a:lnTo>
                  <a:pt x="2676144" y="1219200"/>
                </a:lnTo>
                <a:lnTo>
                  <a:pt x="2691003" y="1231900"/>
                </a:lnTo>
                <a:lnTo>
                  <a:pt x="2785618" y="1231900"/>
                </a:lnTo>
                <a:lnTo>
                  <a:pt x="2775204" y="1219200"/>
                </a:lnTo>
                <a:close/>
              </a:path>
              <a:path w="2831465" h="2146300">
                <a:moveTo>
                  <a:pt x="2752090" y="1206500"/>
                </a:moveTo>
                <a:lnTo>
                  <a:pt x="2591689" y="1206500"/>
                </a:lnTo>
                <a:lnTo>
                  <a:pt x="2627249" y="1219200"/>
                </a:lnTo>
                <a:lnTo>
                  <a:pt x="2764028" y="1219200"/>
                </a:lnTo>
                <a:lnTo>
                  <a:pt x="2752090" y="1206500"/>
                </a:lnTo>
                <a:close/>
              </a:path>
              <a:path w="2831465" h="2146300">
                <a:moveTo>
                  <a:pt x="2696591" y="1193800"/>
                </a:moveTo>
                <a:lnTo>
                  <a:pt x="2434336" y="1193800"/>
                </a:lnTo>
                <a:lnTo>
                  <a:pt x="2475356" y="1206500"/>
                </a:lnTo>
                <a:lnTo>
                  <a:pt x="2711450" y="1206500"/>
                </a:lnTo>
                <a:lnTo>
                  <a:pt x="2696591" y="1193800"/>
                </a:lnTo>
                <a:close/>
              </a:path>
              <a:path w="2831465" h="2146300">
                <a:moveTo>
                  <a:pt x="2630551" y="1181100"/>
                </a:moveTo>
                <a:lnTo>
                  <a:pt x="2268347" y="1181100"/>
                </a:lnTo>
                <a:lnTo>
                  <a:pt x="2309622" y="1193800"/>
                </a:lnTo>
                <a:lnTo>
                  <a:pt x="2648077" y="1193800"/>
                </a:lnTo>
                <a:lnTo>
                  <a:pt x="2630551" y="1181100"/>
                </a:lnTo>
                <a:close/>
              </a:path>
              <a:path w="2831465" h="2146300">
                <a:moveTo>
                  <a:pt x="2477135" y="1168400"/>
                </a:moveTo>
                <a:lnTo>
                  <a:pt x="2114677" y="1168400"/>
                </a:lnTo>
                <a:lnTo>
                  <a:pt x="2150745" y="1181100"/>
                </a:lnTo>
                <a:lnTo>
                  <a:pt x="2517521" y="1181100"/>
                </a:lnTo>
                <a:lnTo>
                  <a:pt x="2477135" y="1168400"/>
                </a:lnTo>
                <a:close/>
              </a:path>
              <a:path w="2831465" h="2146300">
                <a:moveTo>
                  <a:pt x="2311780" y="1155700"/>
                </a:moveTo>
                <a:lnTo>
                  <a:pt x="2064258" y="1155700"/>
                </a:lnTo>
                <a:lnTo>
                  <a:pt x="2080514" y="1168400"/>
                </a:lnTo>
                <a:lnTo>
                  <a:pt x="2394712" y="1168400"/>
                </a:lnTo>
                <a:lnTo>
                  <a:pt x="2311780" y="1155700"/>
                </a:lnTo>
                <a:close/>
              </a:path>
              <a:path w="2831465" h="2146300">
                <a:moveTo>
                  <a:pt x="2155190" y="1143000"/>
                </a:moveTo>
                <a:lnTo>
                  <a:pt x="2019427" y="1143000"/>
                </a:lnTo>
                <a:lnTo>
                  <a:pt x="2033651" y="1155700"/>
                </a:lnTo>
                <a:lnTo>
                  <a:pt x="2192274" y="1155700"/>
                </a:lnTo>
                <a:lnTo>
                  <a:pt x="2155190" y="1143000"/>
                </a:lnTo>
                <a:close/>
              </a:path>
              <a:path w="2831465" h="2146300">
                <a:moveTo>
                  <a:pt x="2086991" y="1130300"/>
                </a:moveTo>
                <a:lnTo>
                  <a:pt x="1992884" y="1130300"/>
                </a:lnTo>
                <a:lnTo>
                  <a:pt x="2005711" y="1143000"/>
                </a:lnTo>
                <a:lnTo>
                  <a:pt x="2102993" y="1143000"/>
                </a:lnTo>
                <a:lnTo>
                  <a:pt x="2086991" y="1130300"/>
                </a:lnTo>
                <a:close/>
              </a:path>
              <a:path w="2831465" h="2146300">
                <a:moveTo>
                  <a:pt x="2005202" y="1104900"/>
                </a:moveTo>
                <a:lnTo>
                  <a:pt x="1949450" y="1104900"/>
                </a:lnTo>
                <a:lnTo>
                  <a:pt x="1958975" y="1117600"/>
                </a:lnTo>
                <a:lnTo>
                  <a:pt x="1969389" y="1130300"/>
                </a:lnTo>
                <a:lnTo>
                  <a:pt x="2056511" y="1130300"/>
                </a:lnTo>
                <a:lnTo>
                  <a:pt x="2042414" y="1117600"/>
                </a:lnTo>
                <a:lnTo>
                  <a:pt x="2016760" y="1117600"/>
                </a:lnTo>
                <a:lnTo>
                  <a:pt x="2005202" y="1104900"/>
                </a:lnTo>
                <a:close/>
              </a:path>
              <a:path w="2831465" h="2146300">
                <a:moveTo>
                  <a:pt x="1962658" y="1079500"/>
                </a:moveTo>
                <a:lnTo>
                  <a:pt x="1927098" y="1079500"/>
                </a:lnTo>
                <a:lnTo>
                  <a:pt x="1933448" y="1092200"/>
                </a:lnTo>
                <a:lnTo>
                  <a:pt x="1940814" y="1104900"/>
                </a:lnTo>
                <a:lnTo>
                  <a:pt x="1985010" y="1104900"/>
                </a:lnTo>
                <a:lnTo>
                  <a:pt x="1976374" y="1092200"/>
                </a:lnTo>
                <a:lnTo>
                  <a:pt x="1969008" y="1092200"/>
                </a:lnTo>
                <a:lnTo>
                  <a:pt x="1962658" y="1079500"/>
                </a:lnTo>
                <a:close/>
              </a:path>
              <a:path w="2831465" h="2146300">
                <a:moveTo>
                  <a:pt x="1952878" y="1066800"/>
                </a:moveTo>
                <a:lnTo>
                  <a:pt x="1919097" y="1066800"/>
                </a:lnTo>
                <a:lnTo>
                  <a:pt x="1922145" y="1079500"/>
                </a:lnTo>
                <a:lnTo>
                  <a:pt x="1957197" y="1079500"/>
                </a:lnTo>
                <a:lnTo>
                  <a:pt x="1952878" y="1066800"/>
                </a:lnTo>
                <a:close/>
              </a:path>
              <a:path w="2831465" h="2146300">
                <a:moveTo>
                  <a:pt x="1946402" y="1054100"/>
                </a:moveTo>
                <a:lnTo>
                  <a:pt x="1916684" y="1054100"/>
                </a:lnTo>
                <a:lnTo>
                  <a:pt x="1918589" y="1066800"/>
                </a:lnTo>
                <a:lnTo>
                  <a:pt x="1949450" y="1066800"/>
                </a:lnTo>
                <a:lnTo>
                  <a:pt x="1946402" y="1054100"/>
                </a:lnTo>
                <a:close/>
              </a:path>
              <a:path w="2831465" h="2146300">
                <a:moveTo>
                  <a:pt x="1945004" y="1041400"/>
                </a:moveTo>
                <a:lnTo>
                  <a:pt x="1916049" y="1041400"/>
                </a:lnTo>
                <a:lnTo>
                  <a:pt x="1916429" y="1054100"/>
                </a:lnTo>
                <a:lnTo>
                  <a:pt x="1945386" y="1054100"/>
                </a:lnTo>
                <a:lnTo>
                  <a:pt x="1945004" y="1041400"/>
                </a:lnTo>
                <a:close/>
              </a:path>
              <a:path w="2831465" h="2146300">
                <a:moveTo>
                  <a:pt x="2743835" y="165100"/>
                </a:moveTo>
                <a:lnTo>
                  <a:pt x="2712974" y="165100"/>
                </a:lnTo>
                <a:lnTo>
                  <a:pt x="2715768" y="177800"/>
                </a:lnTo>
                <a:lnTo>
                  <a:pt x="2715387" y="177800"/>
                </a:lnTo>
                <a:lnTo>
                  <a:pt x="2716656" y="190500"/>
                </a:lnTo>
                <a:lnTo>
                  <a:pt x="2716276" y="203200"/>
                </a:lnTo>
                <a:lnTo>
                  <a:pt x="2714498" y="203200"/>
                </a:lnTo>
                <a:lnTo>
                  <a:pt x="2711450" y="215900"/>
                </a:lnTo>
                <a:lnTo>
                  <a:pt x="2707004" y="228600"/>
                </a:lnTo>
                <a:lnTo>
                  <a:pt x="2701163" y="241300"/>
                </a:lnTo>
                <a:lnTo>
                  <a:pt x="2694051" y="254000"/>
                </a:lnTo>
                <a:lnTo>
                  <a:pt x="2685669" y="266700"/>
                </a:lnTo>
                <a:lnTo>
                  <a:pt x="2676144" y="292100"/>
                </a:lnTo>
                <a:lnTo>
                  <a:pt x="2665349" y="304800"/>
                </a:lnTo>
                <a:lnTo>
                  <a:pt x="2653411" y="317500"/>
                </a:lnTo>
                <a:lnTo>
                  <a:pt x="2640456" y="330200"/>
                </a:lnTo>
                <a:lnTo>
                  <a:pt x="2626614" y="342900"/>
                </a:lnTo>
                <a:lnTo>
                  <a:pt x="2611754" y="368300"/>
                </a:lnTo>
                <a:lnTo>
                  <a:pt x="2596006" y="381000"/>
                </a:lnTo>
                <a:lnTo>
                  <a:pt x="2579497" y="393700"/>
                </a:lnTo>
                <a:lnTo>
                  <a:pt x="2562098" y="419100"/>
                </a:lnTo>
                <a:lnTo>
                  <a:pt x="2544064" y="431800"/>
                </a:lnTo>
                <a:lnTo>
                  <a:pt x="2525522" y="444500"/>
                </a:lnTo>
                <a:lnTo>
                  <a:pt x="2486533" y="482600"/>
                </a:lnTo>
                <a:lnTo>
                  <a:pt x="2445639" y="520700"/>
                </a:lnTo>
                <a:lnTo>
                  <a:pt x="2403475" y="558800"/>
                </a:lnTo>
                <a:lnTo>
                  <a:pt x="2360422" y="584200"/>
                </a:lnTo>
                <a:lnTo>
                  <a:pt x="2273300" y="660400"/>
                </a:lnTo>
                <a:lnTo>
                  <a:pt x="2230247" y="698500"/>
                </a:lnTo>
                <a:lnTo>
                  <a:pt x="2188210" y="736600"/>
                </a:lnTo>
                <a:lnTo>
                  <a:pt x="2147443" y="762000"/>
                </a:lnTo>
                <a:lnTo>
                  <a:pt x="2127758" y="787400"/>
                </a:lnTo>
                <a:lnTo>
                  <a:pt x="2108580" y="800100"/>
                </a:lnTo>
                <a:lnTo>
                  <a:pt x="2090039" y="812800"/>
                </a:lnTo>
                <a:lnTo>
                  <a:pt x="2072004" y="838200"/>
                </a:lnTo>
                <a:lnTo>
                  <a:pt x="2054733" y="850900"/>
                </a:lnTo>
                <a:lnTo>
                  <a:pt x="2038223" y="863600"/>
                </a:lnTo>
                <a:lnTo>
                  <a:pt x="2022475" y="876300"/>
                </a:lnTo>
                <a:lnTo>
                  <a:pt x="2007616" y="889000"/>
                </a:lnTo>
                <a:lnTo>
                  <a:pt x="1993519" y="914400"/>
                </a:lnTo>
                <a:lnTo>
                  <a:pt x="1980565" y="927100"/>
                </a:lnTo>
                <a:lnTo>
                  <a:pt x="1947926" y="965200"/>
                </a:lnTo>
                <a:lnTo>
                  <a:pt x="1925701" y="1003300"/>
                </a:lnTo>
                <a:lnTo>
                  <a:pt x="1916176" y="1041400"/>
                </a:lnTo>
                <a:lnTo>
                  <a:pt x="1945767" y="1041400"/>
                </a:lnTo>
                <a:lnTo>
                  <a:pt x="1948052" y="1028700"/>
                </a:lnTo>
                <a:lnTo>
                  <a:pt x="1951863" y="1016000"/>
                </a:lnTo>
                <a:lnTo>
                  <a:pt x="1971294" y="977900"/>
                </a:lnTo>
                <a:lnTo>
                  <a:pt x="2002154" y="939800"/>
                </a:lnTo>
                <a:lnTo>
                  <a:pt x="2042668" y="901700"/>
                </a:lnTo>
                <a:lnTo>
                  <a:pt x="2058162" y="889000"/>
                </a:lnTo>
                <a:lnTo>
                  <a:pt x="2074418" y="863600"/>
                </a:lnTo>
                <a:lnTo>
                  <a:pt x="2091436" y="850900"/>
                </a:lnTo>
                <a:lnTo>
                  <a:pt x="2109216" y="838200"/>
                </a:lnTo>
                <a:lnTo>
                  <a:pt x="2127630" y="825500"/>
                </a:lnTo>
                <a:lnTo>
                  <a:pt x="2146554" y="800100"/>
                </a:lnTo>
                <a:lnTo>
                  <a:pt x="2166112" y="787400"/>
                </a:lnTo>
                <a:lnTo>
                  <a:pt x="2206752" y="749300"/>
                </a:lnTo>
                <a:lnTo>
                  <a:pt x="2248662" y="723900"/>
                </a:lnTo>
                <a:lnTo>
                  <a:pt x="2291715" y="685800"/>
                </a:lnTo>
                <a:lnTo>
                  <a:pt x="2422144" y="571500"/>
                </a:lnTo>
                <a:lnTo>
                  <a:pt x="2464689" y="546100"/>
                </a:lnTo>
                <a:lnTo>
                  <a:pt x="2505837" y="508000"/>
                </a:lnTo>
                <a:lnTo>
                  <a:pt x="2545079" y="469900"/>
                </a:lnTo>
                <a:lnTo>
                  <a:pt x="2564003" y="457200"/>
                </a:lnTo>
                <a:lnTo>
                  <a:pt x="2582418" y="431800"/>
                </a:lnTo>
                <a:lnTo>
                  <a:pt x="2599944" y="419100"/>
                </a:lnTo>
                <a:lnTo>
                  <a:pt x="2616835" y="393700"/>
                </a:lnTo>
                <a:lnTo>
                  <a:pt x="2632964" y="381000"/>
                </a:lnTo>
                <a:lnTo>
                  <a:pt x="2648458" y="368300"/>
                </a:lnTo>
                <a:lnTo>
                  <a:pt x="2662681" y="355600"/>
                </a:lnTo>
                <a:lnTo>
                  <a:pt x="2676271" y="330200"/>
                </a:lnTo>
                <a:lnTo>
                  <a:pt x="2688717" y="317500"/>
                </a:lnTo>
                <a:lnTo>
                  <a:pt x="2700274" y="304800"/>
                </a:lnTo>
                <a:lnTo>
                  <a:pt x="2710434" y="292100"/>
                </a:lnTo>
                <a:lnTo>
                  <a:pt x="2719578" y="266700"/>
                </a:lnTo>
                <a:lnTo>
                  <a:pt x="2727579" y="254000"/>
                </a:lnTo>
                <a:lnTo>
                  <a:pt x="2743073" y="215900"/>
                </a:lnTo>
                <a:lnTo>
                  <a:pt x="2745486" y="190500"/>
                </a:lnTo>
                <a:lnTo>
                  <a:pt x="2744216" y="177800"/>
                </a:lnTo>
                <a:lnTo>
                  <a:pt x="2743835" y="165100"/>
                </a:lnTo>
                <a:close/>
              </a:path>
              <a:path w="2831465" h="2146300">
                <a:moveTo>
                  <a:pt x="28054" y="93722"/>
                </a:moveTo>
                <a:lnTo>
                  <a:pt x="0" y="114300"/>
                </a:lnTo>
                <a:lnTo>
                  <a:pt x="112268" y="165100"/>
                </a:lnTo>
                <a:lnTo>
                  <a:pt x="128143" y="165100"/>
                </a:lnTo>
                <a:lnTo>
                  <a:pt x="131699" y="152400"/>
                </a:lnTo>
                <a:lnTo>
                  <a:pt x="135255" y="152400"/>
                </a:lnTo>
                <a:lnTo>
                  <a:pt x="132334" y="139700"/>
                </a:lnTo>
                <a:lnTo>
                  <a:pt x="108045" y="127000"/>
                </a:lnTo>
                <a:lnTo>
                  <a:pt x="29718" y="127000"/>
                </a:lnTo>
                <a:lnTo>
                  <a:pt x="28054" y="93722"/>
                </a:lnTo>
                <a:close/>
              </a:path>
              <a:path w="2831465" h="2146300">
                <a:moveTo>
                  <a:pt x="2709037" y="152400"/>
                </a:moveTo>
                <a:lnTo>
                  <a:pt x="2703703" y="152400"/>
                </a:lnTo>
                <a:lnTo>
                  <a:pt x="2710179" y="165100"/>
                </a:lnTo>
                <a:lnTo>
                  <a:pt x="2709037" y="152400"/>
                </a:lnTo>
                <a:close/>
              </a:path>
              <a:path w="2831465" h="2146300">
                <a:moveTo>
                  <a:pt x="2740533" y="152400"/>
                </a:moveTo>
                <a:lnTo>
                  <a:pt x="2709037" y="152400"/>
                </a:lnTo>
                <a:lnTo>
                  <a:pt x="2713609" y="165100"/>
                </a:lnTo>
                <a:lnTo>
                  <a:pt x="2740787" y="165100"/>
                </a:lnTo>
                <a:lnTo>
                  <a:pt x="2740533" y="152400"/>
                </a:lnTo>
                <a:close/>
              </a:path>
              <a:path w="2831465" h="2146300">
                <a:moveTo>
                  <a:pt x="2735072" y="139700"/>
                </a:moveTo>
                <a:lnTo>
                  <a:pt x="2698115" y="139700"/>
                </a:lnTo>
                <a:lnTo>
                  <a:pt x="2705100" y="152400"/>
                </a:lnTo>
                <a:lnTo>
                  <a:pt x="2735326" y="152400"/>
                </a:lnTo>
                <a:lnTo>
                  <a:pt x="2735072" y="139700"/>
                </a:lnTo>
                <a:close/>
              </a:path>
              <a:path w="2831465" h="2146300">
                <a:moveTo>
                  <a:pt x="2726817" y="127000"/>
                </a:moveTo>
                <a:lnTo>
                  <a:pt x="2678684" y="127000"/>
                </a:lnTo>
                <a:lnTo>
                  <a:pt x="2689352" y="139700"/>
                </a:lnTo>
                <a:lnTo>
                  <a:pt x="2727325" y="139700"/>
                </a:lnTo>
                <a:lnTo>
                  <a:pt x="2726817" y="127000"/>
                </a:lnTo>
                <a:close/>
              </a:path>
              <a:path w="2831465" h="2146300">
                <a:moveTo>
                  <a:pt x="88971" y="84841"/>
                </a:moveTo>
                <a:lnTo>
                  <a:pt x="35306" y="88402"/>
                </a:lnTo>
                <a:lnTo>
                  <a:pt x="28054" y="93722"/>
                </a:lnTo>
                <a:lnTo>
                  <a:pt x="29718" y="127000"/>
                </a:lnTo>
                <a:lnTo>
                  <a:pt x="99224" y="122387"/>
                </a:lnTo>
                <a:lnTo>
                  <a:pt x="83756" y="114300"/>
                </a:lnTo>
                <a:lnTo>
                  <a:pt x="36830" y="114300"/>
                </a:lnTo>
                <a:lnTo>
                  <a:pt x="35179" y="88900"/>
                </a:lnTo>
                <a:lnTo>
                  <a:pt x="81787" y="88900"/>
                </a:lnTo>
                <a:lnTo>
                  <a:pt x="88971" y="84841"/>
                </a:lnTo>
                <a:close/>
              </a:path>
              <a:path w="2831465" h="2146300">
                <a:moveTo>
                  <a:pt x="99224" y="122387"/>
                </a:moveTo>
                <a:lnTo>
                  <a:pt x="29718" y="127000"/>
                </a:lnTo>
                <a:lnTo>
                  <a:pt x="108045" y="127000"/>
                </a:lnTo>
                <a:lnTo>
                  <a:pt x="99224" y="122387"/>
                </a:lnTo>
                <a:close/>
              </a:path>
              <a:path w="2831465" h="2146300">
                <a:moveTo>
                  <a:pt x="2562352" y="50800"/>
                </a:moveTo>
                <a:lnTo>
                  <a:pt x="2345563" y="50800"/>
                </a:lnTo>
                <a:lnTo>
                  <a:pt x="2404491" y="63500"/>
                </a:lnTo>
                <a:lnTo>
                  <a:pt x="2459354" y="63500"/>
                </a:lnTo>
                <a:lnTo>
                  <a:pt x="2510028" y="76200"/>
                </a:lnTo>
                <a:lnTo>
                  <a:pt x="2556129" y="88900"/>
                </a:lnTo>
                <a:lnTo>
                  <a:pt x="2597658" y="101600"/>
                </a:lnTo>
                <a:lnTo>
                  <a:pt x="2634234" y="101600"/>
                </a:lnTo>
                <a:lnTo>
                  <a:pt x="2665729" y="127000"/>
                </a:lnTo>
                <a:lnTo>
                  <a:pt x="2717292" y="127000"/>
                </a:lnTo>
                <a:lnTo>
                  <a:pt x="2677287" y="88900"/>
                </a:lnTo>
                <a:lnTo>
                  <a:pt x="2605151" y="63500"/>
                </a:lnTo>
                <a:lnTo>
                  <a:pt x="2562352" y="50800"/>
                </a:lnTo>
                <a:close/>
              </a:path>
              <a:path w="2831465" h="2146300">
                <a:moveTo>
                  <a:pt x="1375283" y="38100"/>
                </a:moveTo>
                <a:lnTo>
                  <a:pt x="867029" y="38100"/>
                </a:lnTo>
                <a:lnTo>
                  <a:pt x="88971" y="84841"/>
                </a:lnTo>
                <a:lnTo>
                  <a:pt x="59385" y="101556"/>
                </a:lnTo>
                <a:lnTo>
                  <a:pt x="99224" y="122387"/>
                </a:lnTo>
                <a:lnTo>
                  <a:pt x="221107" y="114300"/>
                </a:lnTo>
                <a:lnTo>
                  <a:pt x="439928" y="88900"/>
                </a:lnTo>
                <a:lnTo>
                  <a:pt x="868680" y="63500"/>
                </a:lnTo>
                <a:lnTo>
                  <a:pt x="973201" y="63500"/>
                </a:lnTo>
                <a:lnTo>
                  <a:pt x="1076198" y="50800"/>
                </a:lnTo>
                <a:lnTo>
                  <a:pt x="1277366" y="50800"/>
                </a:lnTo>
                <a:lnTo>
                  <a:pt x="1375283" y="38100"/>
                </a:lnTo>
                <a:close/>
              </a:path>
              <a:path w="2831465" h="2146300">
                <a:moveTo>
                  <a:pt x="35179" y="88900"/>
                </a:moveTo>
                <a:lnTo>
                  <a:pt x="36830" y="114300"/>
                </a:lnTo>
                <a:lnTo>
                  <a:pt x="59385" y="101556"/>
                </a:lnTo>
                <a:lnTo>
                  <a:pt x="35179" y="88900"/>
                </a:lnTo>
                <a:close/>
              </a:path>
              <a:path w="2831465" h="2146300">
                <a:moveTo>
                  <a:pt x="59385" y="101556"/>
                </a:moveTo>
                <a:lnTo>
                  <a:pt x="36830" y="114300"/>
                </a:lnTo>
                <a:lnTo>
                  <a:pt x="83756" y="114300"/>
                </a:lnTo>
                <a:lnTo>
                  <a:pt x="59385" y="101556"/>
                </a:lnTo>
                <a:close/>
              </a:path>
              <a:path w="2831465" h="2146300">
                <a:moveTo>
                  <a:pt x="81787" y="88900"/>
                </a:moveTo>
                <a:lnTo>
                  <a:pt x="35179" y="88900"/>
                </a:lnTo>
                <a:lnTo>
                  <a:pt x="59385" y="101556"/>
                </a:lnTo>
                <a:lnTo>
                  <a:pt x="81787" y="88900"/>
                </a:lnTo>
                <a:close/>
              </a:path>
              <a:path w="2831465" h="2146300">
                <a:moveTo>
                  <a:pt x="35306" y="88402"/>
                </a:moveTo>
                <a:lnTo>
                  <a:pt x="27812" y="88900"/>
                </a:lnTo>
                <a:lnTo>
                  <a:pt x="28054" y="93722"/>
                </a:lnTo>
                <a:lnTo>
                  <a:pt x="35306" y="88402"/>
                </a:lnTo>
                <a:close/>
              </a:path>
              <a:path w="2831465" h="2146300">
                <a:moveTo>
                  <a:pt x="124079" y="38100"/>
                </a:moveTo>
                <a:lnTo>
                  <a:pt x="103886" y="38100"/>
                </a:lnTo>
                <a:lnTo>
                  <a:pt x="35306" y="88402"/>
                </a:lnTo>
                <a:lnTo>
                  <a:pt x="88971" y="84841"/>
                </a:lnTo>
                <a:lnTo>
                  <a:pt x="126746" y="63500"/>
                </a:lnTo>
                <a:lnTo>
                  <a:pt x="128524" y="50800"/>
                </a:lnTo>
                <a:lnTo>
                  <a:pt x="124079" y="38100"/>
                </a:lnTo>
                <a:close/>
              </a:path>
              <a:path w="2831465" h="2146300">
                <a:moveTo>
                  <a:pt x="2407793" y="25400"/>
                </a:moveTo>
                <a:lnTo>
                  <a:pt x="1074801" y="25400"/>
                </a:lnTo>
                <a:lnTo>
                  <a:pt x="971550" y="38100"/>
                </a:lnTo>
                <a:lnTo>
                  <a:pt x="2215769" y="38100"/>
                </a:lnTo>
                <a:lnTo>
                  <a:pt x="2282571" y="50800"/>
                </a:lnTo>
                <a:lnTo>
                  <a:pt x="2514980" y="50800"/>
                </a:lnTo>
                <a:lnTo>
                  <a:pt x="2463419" y="38100"/>
                </a:lnTo>
                <a:lnTo>
                  <a:pt x="2407793" y="25400"/>
                </a:lnTo>
                <a:close/>
              </a:path>
              <a:path w="2831465" h="2146300">
                <a:moveTo>
                  <a:pt x="2284476" y="12700"/>
                </a:moveTo>
                <a:lnTo>
                  <a:pt x="1276096" y="12700"/>
                </a:lnTo>
                <a:lnTo>
                  <a:pt x="1176274" y="25400"/>
                </a:lnTo>
                <a:lnTo>
                  <a:pt x="2348103" y="25400"/>
                </a:lnTo>
                <a:lnTo>
                  <a:pt x="2284476" y="12700"/>
                </a:lnTo>
                <a:close/>
              </a:path>
              <a:path w="2831465" h="2146300">
                <a:moveTo>
                  <a:pt x="2072259" y="0"/>
                </a:moveTo>
                <a:lnTo>
                  <a:pt x="1655318" y="0"/>
                </a:lnTo>
                <a:lnTo>
                  <a:pt x="1563877" y="12700"/>
                </a:lnTo>
                <a:lnTo>
                  <a:pt x="2146427" y="12700"/>
                </a:lnTo>
                <a:lnTo>
                  <a:pt x="20722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091461" y="273634"/>
            <a:ext cx="8765896" cy="6135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45043" y="4234928"/>
            <a:ext cx="6514814" cy="658082"/>
          </a:xfrm>
          <a:custGeom>
            <a:avLst/>
            <a:gdLst/>
            <a:ahLst/>
            <a:cxnLst/>
            <a:rect l="l" t="t" r="r" b="b"/>
            <a:pathLst>
              <a:path w="6204584" h="626745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099810" y="0"/>
                </a:lnTo>
                <a:lnTo>
                  <a:pt x="6114424" y="1014"/>
                </a:lnTo>
                <a:lnTo>
                  <a:pt x="6153990" y="15141"/>
                </a:lnTo>
                <a:lnTo>
                  <a:pt x="6184267" y="43019"/>
                </a:lnTo>
                <a:lnTo>
                  <a:pt x="6201562" y="80954"/>
                </a:lnTo>
                <a:lnTo>
                  <a:pt x="6204204" y="521969"/>
                </a:lnTo>
                <a:lnTo>
                  <a:pt x="6203189" y="536584"/>
                </a:lnTo>
                <a:lnTo>
                  <a:pt x="6189062" y="576150"/>
                </a:lnTo>
                <a:lnTo>
                  <a:pt x="6161184" y="606427"/>
                </a:lnTo>
                <a:lnTo>
                  <a:pt x="6123249" y="623722"/>
                </a:lnTo>
                <a:lnTo>
                  <a:pt x="104393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96950" y="1703412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166670" y="350444"/>
            <a:ext cx="9034729" cy="5819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21114" y="1509789"/>
            <a:ext cx="6514814" cy="658082"/>
          </a:xfrm>
          <a:custGeom>
            <a:avLst/>
            <a:gdLst/>
            <a:ahLst/>
            <a:cxnLst/>
            <a:rect l="l" t="t" r="r" b="b"/>
            <a:pathLst>
              <a:path w="6204584" h="626744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099810" y="0"/>
                </a:lnTo>
                <a:lnTo>
                  <a:pt x="6114424" y="1014"/>
                </a:lnTo>
                <a:lnTo>
                  <a:pt x="6153990" y="15141"/>
                </a:lnTo>
                <a:lnTo>
                  <a:pt x="6184267" y="43019"/>
                </a:lnTo>
                <a:lnTo>
                  <a:pt x="6201562" y="80954"/>
                </a:lnTo>
                <a:lnTo>
                  <a:pt x="6204204" y="521969"/>
                </a:lnTo>
                <a:lnTo>
                  <a:pt x="6203189" y="536584"/>
                </a:lnTo>
                <a:lnTo>
                  <a:pt x="6189062" y="576150"/>
                </a:lnTo>
                <a:lnTo>
                  <a:pt x="6161184" y="606427"/>
                </a:lnTo>
                <a:lnTo>
                  <a:pt x="6123249" y="623722"/>
                </a:lnTo>
                <a:lnTo>
                  <a:pt x="104393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90624" y="727291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3447" y="5364669"/>
            <a:ext cx="6516148" cy="658082"/>
          </a:xfrm>
          <a:custGeom>
            <a:avLst/>
            <a:gdLst/>
            <a:ahLst/>
            <a:cxnLst/>
            <a:rect l="l" t="t" r="r" b="b"/>
            <a:pathLst>
              <a:path w="6205855" h="626745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101334" y="0"/>
                </a:lnTo>
                <a:lnTo>
                  <a:pt x="6115948" y="1014"/>
                </a:lnTo>
                <a:lnTo>
                  <a:pt x="6155514" y="15141"/>
                </a:lnTo>
                <a:lnTo>
                  <a:pt x="6185791" y="43019"/>
                </a:lnTo>
                <a:lnTo>
                  <a:pt x="6203086" y="80954"/>
                </a:lnTo>
                <a:lnTo>
                  <a:pt x="6205728" y="521969"/>
                </a:lnTo>
                <a:lnTo>
                  <a:pt x="6204713" y="536584"/>
                </a:lnTo>
                <a:lnTo>
                  <a:pt x="6190586" y="576150"/>
                </a:lnTo>
                <a:lnTo>
                  <a:pt x="6162708" y="606427"/>
                </a:lnTo>
                <a:lnTo>
                  <a:pt x="6124773" y="623722"/>
                </a:lnTo>
                <a:lnTo>
                  <a:pt x="104394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563306" y="4932615"/>
            <a:ext cx="4700588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S</a:t>
            </a:r>
            <a:r>
              <a:rPr sz="5040" b="0" spc="-80" dirty="0">
                <a:latin typeface="Calibri Light" panose="020F0302020204030204"/>
                <a:cs typeface="Calibri Light" panose="020F0302020204030204"/>
              </a:rPr>
              <a:t>c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op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5" dirty="0">
                <a:latin typeface="Calibri Light" panose="020F0302020204030204"/>
                <a:cs typeface="Calibri Light" panose="020F0302020204030204"/>
              </a:rPr>
              <a:t> o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f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65" dirty="0">
                <a:latin typeface="Calibri Light" panose="020F0302020204030204"/>
                <a:cs typeface="Calibri Light" panose="020F0302020204030204"/>
              </a:rPr>
              <a:t>V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ariab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es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66670" y="1105737"/>
            <a:ext cx="32500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28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55" dirty="0"/>
              <a:t>c</a:t>
            </a:r>
            <a:r>
              <a:rPr spc="-5" dirty="0"/>
              <a:t>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17669" cy="3075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371475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seri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those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part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used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spcBef>
                <a:spcPts val="18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3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ab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cess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block.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85176" y="3816474"/>
            <a:ext cx="2797150" cy="279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55" dirty="0"/>
              <a:t>c</a:t>
            </a:r>
            <a:r>
              <a:rPr spc="-5" dirty="0"/>
              <a:t>op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in </a:t>
            </a:r>
            <a:r>
              <a:rPr spc="-5" dirty="0"/>
              <a:t>OpenMP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29</a:t>
            </a:fld>
            <a:endParaRPr sz="1575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343118" y="1967226"/>
            <a:ext cx="9818321" cy="414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cessed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all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sc</a:t>
            </a:r>
            <a:r>
              <a:rPr sz="2940" b="1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cessed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gle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pri</a:t>
            </a:r>
            <a:r>
              <a:rPr sz="2940" b="1" spc="-6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b="1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sc</a:t>
            </a:r>
            <a:r>
              <a:rPr sz="2940" b="1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2932430" indent="-228600" algn="just">
              <a:lnSpc>
                <a:spcPts val="3020"/>
              </a:lnSpc>
              <a:spcBef>
                <a:spcPts val="18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lang="en-US"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ault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ariables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decla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ock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467614" y="4994384"/>
            <a:ext cx="5559362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Th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2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10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eductio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n</a:t>
            </a:r>
            <a:r>
              <a:rPr sz="5040" b="0" spc="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Cla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u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se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14651" y="1182548"/>
            <a:ext cx="32516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633396" y="788792"/>
            <a:ext cx="9384028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nee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ompl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each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-1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alcul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i="1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global_resul</a:t>
            </a:r>
            <a:r>
              <a:rPr sz="2940" i="1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1461" y="1985847"/>
            <a:ext cx="8762695" cy="4096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19527" y="4094911"/>
            <a:ext cx="7480935" cy="6384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1362" y="3499237"/>
            <a:ext cx="6703734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Alt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ough</a:t>
            </a:r>
            <a:r>
              <a:rPr sz="294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06112" y="5248656"/>
            <a:ext cx="5533492" cy="5504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79142" y="4720989"/>
            <a:ext cx="690753" cy="543401"/>
          </a:xfrm>
          <a:custGeom>
            <a:avLst/>
            <a:gdLst/>
            <a:ahLst/>
            <a:cxnLst/>
            <a:rect l="l" t="t" r="r" b="b"/>
            <a:pathLst>
              <a:path w="657860" h="517525">
                <a:moveTo>
                  <a:pt x="515747" y="466090"/>
                </a:moveTo>
                <a:lnTo>
                  <a:pt x="507619" y="472186"/>
                </a:lnTo>
                <a:lnTo>
                  <a:pt x="505333" y="489712"/>
                </a:lnTo>
                <a:lnTo>
                  <a:pt x="511429" y="497713"/>
                </a:lnTo>
                <a:lnTo>
                  <a:pt x="520192" y="498983"/>
                </a:lnTo>
                <a:lnTo>
                  <a:pt x="657479" y="517398"/>
                </a:lnTo>
                <a:lnTo>
                  <a:pt x="654737" y="510540"/>
                </a:lnTo>
                <a:lnTo>
                  <a:pt x="622681" y="510540"/>
                </a:lnTo>
                <a:lnTo>
                  <a:pt x="576047" y="474187"/>
                </a:lnTo>
                <a:lnTo>
                  <a:pt x="515747" y="466090"/>
                </a:lnTo>
                <a:close/>
              </a:path>
              <a:path w="657860" h="517525">
                <a:moveTo>
                  <a:pt x="576047" y="474187"/>
                </a:moveTo>
                <a:lnTo>
                  <a:pt x="622681" y="510540"/>
                </a:lnTo>
                <a:lnTo>
                  <a:pt x="627923" y="503809"/>
                </a:lnTo>
                <a:lnTo>
                  <a:pt x="617601" y="503809"/>
                </a:lnTo>
                <a:lnTo>
                  <a:pt x="607440" y="478424"/>
                </a:lnTo>
                <a:lnTo>
                  <a:pt x="576047" y="474187"/>
                </a:lnTo>
                <a:close/>
              </a:path>
              <a:path w="657860" h="517525">
                <a:moveTo>
                  <a:pt x="596938" y="379851"/>
                </a:moveTo>
                <a:lnTo>
                  <a:pt x="584696" y="380078"/>
                </a:lnTo>
                <a:lnTo>
                  <a:pt x="576382" y="388657"/>
                </a:lnTo>
                <a:lnTo>
                  <a:pt x="576326" y="400685"/>
                </a:lnTo>
                <a:lnTo>
                  <a:pt x="595593" y="448823"/>
                </a:lnTo>
                <a:lnTo>
                  <a:pt x="642366" y="485267"/>
                </a:lnTo>
                <a:lnTo>
                  <a:pt x="622681" y="510540"/>
                </a:lnTo>
                <a:lnTo>
                  <a:pt x="654737" y="510540"/>
                </a:lnTo>
                <a:lnTo>
                  <a:pt x="606004" y="388657"/>
                </a:lnTo>
                <a:lnTo>
                  <a:pt x="605599" y="387749"/>
                </a:lnTo>
                <a:lnTo>
                  <a:pt x="596938" y="379851"/>
                </a:lnTo>
                <a:close/>
              </a:path>
              <a:path w="657860" h="517525">
                <a:moveTo>
                  <a:pt x="607440" y="478424"/>
                </a:moveTo>
                <a:lnTo>
                  <a:pt x="617601" y="503809"/>
                </a:lnTo>
                <a:lnTo>
                  <a:pt x="634619" y="482092"/>
                </a:lnTo>
                <a:lnTo>
                  <a:pt x="607440" y="478424"/>
                </a:lnTo>
                <a:close/>
              </a:path>
              <a:path w="657860" h="517525">
                <a:moveTo>
                  <a:pt x="595593" y="448823"/>
                </a:moveTo>
                <a:lnTo>
                  <a:pt x="607440" y="478424"/>
                </a:lnTo>
                <a:lnTo>
                  <a:pt x="634619" y="482092"/>
                </a:lnTo>
                <a:lnTo>
                  <a:pt x="617601" y="503809"/>
                </a:lnTo>
                <a:lnTo>
                  <a:pt x="627923" y="503809"/>
                </a:lnTo>
                <a:lnTo>
                  <a:pt x="642366" y="485267"/>
                </a:lnTo>
                <a:lnTo>
                  <a:pt x="595593" y="448823"/>
                </a:lnTo>
                <a:close/>
              </a:path>
              <a:path w="657860" h="517525">
                <a:moveTo>
                  <a:pt x="19558" y="0"/>
                </a:moveTo>
                <a:lnTo>
                  <a:pt x="0" y="25146"/>
                </a:lnTo>
                <a:lnTo>
                  <a:pt x="576047" y="474187"/>
                </a:lnTo>
                <a:lnTo>
                  <a:pt x="607440" y="478424"/>
                </a:lnTo>
                <a:lnTo>
                  <a:pt x="595593" y="448823"/>
                </a:lnTo>
                <a:lnTo>
                  <a:pt x="1955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621127" y="2011450"/>
            <a:ext cx="7348118" cy="456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1464" y="1296562"/>
            <a:ext cx="9826000" cy="517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If 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use th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s,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9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no cri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 sect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on!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1465" y="3035312"/>
            <a:ext cx="3429094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If 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1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…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1127" y="3600450"/>
            <a:ext cx="7548143" cy="1720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1465" y="5646652"/>
            <a:ext cx="9825999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…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seque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b="1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tial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ly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69909" y="3564444"/>
            <a:ext cx="7932325" cy="1794224"/>
          </a:xfrm>
          <a:custGeom>
            <a:avLst/>
            <a:gdLst/>
            <a:ahLst/>
            <a:cxnLst/>
            <a:rect l="l" t="t" r="r" b="b"/>
            <a:pathLst>
              <a:path w="7554595" h="1708785">
                <a:moveTo>
                  <a:pt x="0" y="284733"/>
                </a:moveTo>
                <a:lnTo>
                  <a:pt x="3726" y="238555"/>
                </a:lnTo>
                <a:lnTo>
                  <a:pt x="14516" y="194746"/>
                </a:lnTo>
                <a:lnTo>
                  <a:pt x="31782" y="153894"/>
                </a:lnTo>
                <a:lnTo>
                  <a:pt x="54937" y="116585"/>
                </a:lnTo>
                <a:lnTo>
                  <a:pt x="83397" y="83407"/>
                </a:lnTo>
                <a:lnTo>
                  <a:pt x="116575" y="54945"/>
                </a:lnTo>
                <a:lnTo>
                  <a:pt x="153883" y="31786"/>
                </a:lnTo>
                <a:lnTo>
                  <a:pt x="194737" y="14518"/>
                </a:lnTo>
                <a:lnTo>
                  <a:pt x="238549" y="3727"/>
                </a:lnTo>
                <a:lnTo>
                  <a:pt x="284734" y="0"/>
                </a:lnTo>
                <a:lnTo>
                  <a:pt x="7269733" y="0"/>
                </a:lnTo>
                <a:lnTo>
                  <a:pt x="7315912" y="3727"/>
                </a:lnTo>
                <a:lnTo>
                  <a:pt x="7359721" y="14518"/>
                </a:lnTo>
                <a:lnTo>
                  <a:pt x="7400573" y="31786"/>
                </a:lnTo>
                <a:lnTo>
                  <a:pt x="7437882" y="54945"/>
                </a:lnTo>
                <a:lnTo>
                  <a:pt x="7471060" y="83407"/>
                </a:lnTo>
                <a:lnTo>
                  <a:pt x="7499522" y="116586"/>
                </a:lnTo>
                <a:lnTo>
                  <a:pt x="7522681" y="153894"/>
                </a:lnTo>
                <a:lnTo>
                  <a:pt x="7539949" y="194746"/>
                </a:lnTo>
                <a:lnTo>
                  <a:pt x="7550740" y="238555"/>
                </a:lnTo>
                <a:lnTo>
                  <a:pt x="7554467" y="284733"/>
                </a:lnTo>
                <a:lnTo>
                  <a:pt x="7554467" y="1423670"/>
                </a:lnTo>
                <a:lnTo>
                  <a:pt x="7550740" y="1469848"/>
                </a:lnTo>
                <a:lnTo>
                  <a:pt x="7539949" y="1513657"/>
                </a:lnTo>
                <a:lnTo>
                  <a:pt x="7522681" y="1554509"/>
                </a:lnTo>
                <a:lnTo>
                  <a:pt x="7499522" y="1591817"/>
                </a:lnTo>
                <a:lnTo>
                  <a:pt x="7471060" y="1624996"/>
                </a:lnTo>
                <a:lnTo>
                  <a:pt x="7437881" y="1653458"/>
                </a:lnTo>
                <a:lnTo>
                  <a:pt x="7400573" y="1676617"/>
                </a:lnTo>
                <a:lnTo>
                  <a:pt x="7359721" y="1693885"/>
                </a:lnTo>
                <a:lnTo>
                  <a:pt x="7315912" y="1704676"/>
                </a:lnTo>
                <a:lnTo>
                  <a:pt x="7269733" y="1708403"/>
                </a:lnTo>
                <a:lnTo>
                  <a:pt x="284734" y="1708403"/>
                </a:lnTo>
                <a:lnTo>
                  <a:pt x="238549" y="1704676"/>
                </a:lnTo>
                <a:lnTo>
                  <a:pt x="194737" y="1693885"/>
                </a:lnTo>
                <a:lnTo>
                  <a:pt x="153883" y="1676617"/>
                </a:lnTo>
                <a:lnTo>
                  <a:pt x="116575" y="1653458"/>
                </a:lnTo>
                <a:lnTo>
                  <a:pt x="83397" y="1624996"/>
                </a:lnTo>
                <a:lnTo>
                  <a:pt x="54937" y="1591817"/>
                </a:lnTo>
                <a:lnTo>
                  <a:pt x="31782" y="1554509"/>
                </a:lnTo>
                <a:lnTo>
                  <a:pt x="14516" y="1513657"/>
                </a:lnTo>
                <a:lnTo>
                  <a:pt x="3726" y="1469848"/>
                </a:lnTo>
                <a:lnTo>
                  <a:pt x="0" y="1423670"/>
                </a:lnTo>
                <a:lnTo>
                  <a:pt x="0" y="28473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30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603952" y="880243"/>
            <a:ext cx="7380923" cy="1809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940" spc="-1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oblem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declarin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pr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crit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sectio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af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ction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21127" y="2843555"/>
            <a:ext cx="6706438" cy="1400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1127" y="4155719"/>
            <a:ext cx="7861782" cy="14865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3498" y="4615777"/>
            <a:ext cx="6516148" cy="656082"/>
          </a:xfrm>
          <a:custGeom>
            <a:avLst/>
            <a:gdLst/>
            <a:ahLst/>
            <a:cxnLst/>
            <a:rect l="l" t="t" r="r" b="b"/>
            <a:pathLst>
              <a:path w="6205855" h="624839">
                <a:moveTo>
                  <a:pt x="0" y="104140"/>
                </a:moveTo>
                <a:lnTo>
                  <a:pt x="8741" y="62301"/>
                </a:lnTo>
                <a:lnTo>
                  <a:pt x="32493" y="28555"/>
                </a:lnTo>
                <a:lnTo>
                  <a:pt x="67543" y="6609"/>
                </a:lnTo>
                <a:lnTo>
                  <a:pt x="6101587" y="0"/>
                </a:lnTo>
                <a:lnTo>
                  <a:pt x="6116204" y="1016"/>
                </a:lnTo>
                <a:lnTo>
                  <a:pt x="6155757" y="15171"/>
                </a:lnTo>
                <a:lnTo>
                  <a:pt x="6185982" y="43099"/>
                </a:lnTo>
                <a:lnTo>
                  <a:pt x="6203170" y="81092"/>
                </a:lnTo>
                <a:lnTo>
                  <a:pt x="6205728" y="520700"/>
                </a:lnTo>
                <a:lnTo>
                  <a:pt x="6204711" y="535316"/>
                </a:lnTo>
                <a:lnTo>
                  <a:pt x="6190556" y="574869"/>
                </a:lnTo>
                <a:lnTo>
                  <a:pt x="6162628" y="605094"/>
                </a:lnTo>
                <a:lnTo>
                  <a:pt x="6124635" y="622282"/>
                </a:lnTo>
                <a:lnTo>
                  <a:pt x="104139" y="624840"/>
                </a:lnTo>
                <a:lnTo>
                  <a:pt x="89526" y="623823"/>
                </a:lnTo>
                <a:lnTo>
                  <a:pt x="49976" y="609668"/>
                </a:lnTo>
                <a:lnTo>
                  <a:pt x="19749" y="581740"/>
                </a:lnTo>
                <a:lnTo>
                  <a:pt x="2557" y="543747"/>
                </a:lnTo>
                <a:lnTo>
                  <a:pt x="0" y="104140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eductio</a:t>
            </a:r>
            <a:r>
              <a:rPr dirty="0"/>
              <a:t>n</a:t>
            </a:r>
            <a:r>
              <a:rPr spc="15" dirty="0"/>
              <a:t> </a:t>
            </a:r>
            <a:r>
              <a:rPr spc="-5" dirty="0"/>
              <a:t>op</a:t>
            </a:r>
            <a:r>
              <a:rPr spc="-10" dirty="0"/>
              <a:t>e</a:t>
            </a:r>
            <a:r>
              <a:rPr spc="-80" dirty="0"/>
              <a:t>r</a:t>
            </a:r>
            <a:r>
              <a:rPr spc="-50" dirty="0"/>
              <a:t>a</a:t>
            </a:r>
            <a:r>
              <a:rPr spc="-45" dirty="0"/>
              <a:t>t</a:t>
            </a:r>
            <a:r>
              <a:rPr spc="-5" dirty="0"/>
              <a:t>o</a:t>
            </a:r>
            <a:r>
              <a:rPr spc="-85" dirty="0"/>
              <a:t>r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9386273" cy="3398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bina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(suc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on).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ompu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epe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app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ies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sam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seq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ence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of ope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ands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gle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36195" indent="-228600">
              <a:lnSpc>
                <a:spcPts val="302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erme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shou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sam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374163" y="1378571"/>
            <a:ext cx="9643261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eduction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clause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dde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04256" y="3096394"/>
            <a:ext cx="8959520" cy="151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9103" y="2189074"/>
            <a:ext cx="7792974" cy="6544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43632" y="2833847"/>
            <a:ext cx="4240071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+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*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&amp;,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|,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ˆ,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&amp;&amp;,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||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81181" y="2787683"/>
            <a:ext cx="1298764" cy="404716"/>
          </a:xfrm>
          <a:custGeom>
            <a:avLst/>
            <a:gdLst/>
            <a:ahLst/>
            <a:cxnLst/>
            <a:rect l="l" t="t" r="r" b="b"/>
            <a:pathLst>
              <a:path w="930275" h="808354">
                <a:moveTo>
                  <a:pt x="81279" y="0"/>
                </a:moveTo>
                <a:lnTo>
                  <a:pt x="68071" y="56387"/>
                </a:lnTo>
                <a:lnTo>
                  <a:pt x="55244" y="112522"/>
                </a:lnTo>
                <a:lnTo>
                  <a:pt x="43052" y="168275"/>
                </a:lnTo>
                <a:lnTo>
                  <a:pt x="31876" y="223138"/>
                </a:lnTo>
                <a:lnTo>
                  <a:pt x="21716" y="277113"/>
                </a:lnTo>
                <a:lnTo>
                  <a:pt x="13207" y="329818"/>
                </a:lnTo>
                <a:lnTo>
                  <a:pt x="6603" y="380873"/>
                </a:lnTo>
                <a:lnTo>
                  <a:pt x="2031" y="430402"/>
                </a:lnTo>
                <a:lnTo>
                  <a:pt x="0" y="477774"/>
                </a:lnTo>
                <a:lnTo>
                  <a:pt x="126" y="500634"/>
                </a:lnTo>
                <a:lnTo>
                  <a:pt x="2286" y="544449"/>
                </a:lnTo>
                <a:lnTo>
                  <a:pt x="7874" y="585724"/>
                </a:lnTo>
                <a:lnTo>
                  <a:pt x="17144" y="624077"/>
                </a:lnTo>
                <a:lnTo>
                  <a:pt x="38480" y="675639"/>
                </a:lnTo>
                <a:lnTo>
                  <a:pt x="69976" y="719074"/>
                </a:lnTo>
                <a:lnTo>
                  <a:pt x="112649" y="753363"/>
                </a:lnTo>
                <a:lnTo>
                  <a:pt x="146812" y="771016"/>
                </a:lnTo>
                <a:lnTo>
                  <a:pt x="185292" y="784732"/>
                </a:lnTo>
                <a:lnTo>
                  <a:pt x="227583" y="795147"/>
                </a:lnTo>
                <a:lnTo>
                  <a:pt x="273430" y="802259"/>
                </a:lnTo>
                <a:lnTo>
                  <a:pt x="322706" y="806450"/>
                </a:lnTo>
                <a:lnTo>
                  <a:pt x="374903" y="807974"/>
                </a:lnTo>
                <a:lnTo>
                  <a:pt x="402081" y="807847"/>
                </a:lnTo>
                <a:lnTo>
                  <a:pt x="458215" y="806068"/>
                </a:lnTo>
                <a:lnTo>
                  <a:pt x="546607" y="799591"/>
                </a:lnTo>
                <a:lnTo>
                  <a:pt x="587833" y="795401"/>
                </a:lnTo>
                <a:lnTo>
                  <a:pt x="375030" y="795401"/>
                </a:lnTo>
                <a:lnTo>
                  <a:pt x="348995" y="794892"/>
                </a:lnTo>
                <a:lnTo>
                  <a:pt x="298957" y="791972"/>
                </a:lnTo>
                <a:lnTo>
                  <a:pt x="252221" y="786638"/>
                </a:lnTo>
                <a:lnTo>
                  <a:pt x="209295" y="778128"/>
                </a:lnTo>
                <a:lnTo>
                  <a:pt x="170179" y="766572"/>
                </a:lnTo>
                <a:lnTo>
                  <a:pt x="119761" y="742823"/>
                </a:lnTo>
                <a:lnTo>
                  <a:pt x="79628" y="710691"/>
                </a:lnTo>
                <a:lnTo>
                  <a:pt x="49783" y="669925"/>
                </a:lnTo>
                <a:lnTo>
                  <a:pt x="29463" y="620776"/>
                </a:lnTo>
                <a:lnTo>
                  <a:pt x="20446" y="583691"/>
                </a:lnTo>
                <a:lnTo>
                  <a:pt x="14986" y="543560"/>
                </a:lnTo>
                <a:lnTo>
                  <a:pt x="12826" y="500634"/>
                </a:lnTo>
                <a:lnTo>
                  <a:pt x="12712" y="477774"/>
                </a:lnTo>
                <a:lnTo>
                  <a:pt x="13462" y="455040"/>
                </a:lnTo>
                <a:lnTo>
                  <a:pt x="16637" y="407288"/>
                </a:lnTo>
                <a:lnTo>
                  <a:pt x="25780" y="331724"/>
                </a:lnTo>
                <a:lnTo>
                  <a:pt x="34162" y="279400"/>
                </a:lnTo>
                <a:lnTo>
                  <a:pt x="44322" y="225805"/>
                </a:lnTo>
                <a:lnTo>
                  <a:pt x="55499" y="170941"/>
                </a:lnTo>
                <a:lnTo>
                  <a:pt x="67690" y="115442"/>
                </a:lnTo>
                <a:lnTo>
                  <a:pt x="80390" y="59181"/>
                </a:lnTo>
                <a:lnTo>
                  <a:pt x="93599" y="2793"/>
                </a:lnTo>
                <a:lnTo>
                  <a:pt x="81279" y="0"/>
                </a:lnTo>
                <a:close/>
              </a:path>
              <a:path w="930275" h="808354">
                <a:moveTo>
                  <a:pt x="918932" y="737107"/>
                </a:moveTo>
                <a:lnTo>
                  <a:pt x="916558" y="737107"/>
                </a:lnTo>
                <a:lnTo>
                  <a:pt x="918463" y="749680"/>
                </a:lnTo>
                <a:lnTo>
                  <a:pt x="895360" y="753193"/>
                </a:lnTo>
                <a:lnTo>
                  <a:pt x="844930" y="794003"/>
                </a:lnTo>
                <a:lnTo>
                  <a:pt x="842137" y="796163"/>
                </a:lnTo>
                <a:lnTo>
                  <a:pt x="841755" y="800100"/>
                </a:lnTo>
                <a:lnTo>
                  <a:pt x="843914" y="802893"/>
                </a:lnTo>
                <a:lnTo>
                  <a:pt x="846201" y="805561"/>
                </a:lnTo>
                <a:lnTo>
                  <a:pt x="850138" y="806068"/>
                </a:lnTo>
                <a:lnTo>
                  <a:pt x="929893" y="741426"/>
                </a:lnTo>
                <a:lnTo>
                  <a:pt x="918932" y="737107"/>
                </a:lnTo>
                <a:close/>
              </a:path>
              <a:path w="930275" h="808354">
                <a:moveTo>
                  <a:pt x="893352" y="740690"/>
                </a:moveTo>
                <a:lnTo>
                  <a:pt x="732916" y="764666"/>
                </a:lnTo>
                <a:lnTo>
                  <a:pt x="669163" y="773176"/>
                </a:lnTo>
                <a:lnTo>
                  <a:pt x="606551" y="780668"/>
                </a:lnTo>
                <a:lnTo>
                  <a:pt x="545591" y="787018"/>
                </a:lnTo>
                <a:lnTo>
                  <a:pt x="486409" y="791590"/>
                </a:lnTo>
                <a:lnTo>
                  <a:pt x="429513" y="794512"/>
                </a:lnTo>
                <a:lnTo>
                  <a:pt x="375030" y="795401"/>
                </a:lnTo>
                <a:lnTo>
                  <a:pt x="587833" y="795401"/>
                </a:lnTo>
                <a:lnTo>
                  <a:pt x="670687" y="785749"/>
                </a:lnTo>
                <a:lnTo>
                  <a:pt x="734567" y="777239"/>
                </a:lnTo>
                <a:lnTo>
                  <a:pt x="895360" y="753193"/>
                </a:lnTo>
                <a:lnTo>
                  <a:pt x="905086" y="745322"/>
                </a:lnTo>
                <a:lnTo>
                  <a:pt x="893352" y="740690"/>
                </a:lnTo>
                <a:close/>
              </a:path>
              <a:path w="930275" h="808354">
                <a:moveTo>
                  <a:pt x="905086" y="745322"/>
                </a:moveTo>
                <a:lnTo>
                  <a:pt x="895360" y="753193"/>
                </a:lnTo>
                <a:lnTo>
                  <a:pt x="918463" y="749680"/>
                </a:lnTo>
                <a:lnTo>
                  <a:pt x="918406" y="749300"/>
                </a:lnTo>
                <a:lnTo>
                  <a:pt x="915162" y="749300"/>
                </a:lnTo>
                <a:lnTo>
                  <a:pt x="905086" y="745322"/>
                </a:lnTo>
                <a:close/>
              </a:path>
              <a:path w="930275" h="808354">
                <a:moveTo>
                  <a:pt x="913511" y="738504"/>
                </a:moveTo>
                <a:lnTo>
                  <a:pt x="905086" y="745322"/>
                </a:lnTo>
                <a:lnTo>
                  <a:pt x="915162" y="749300"/>
                </a:lnTo>
                <a:lnTo>
                  <a:pt x="913511" y="738504"/>
                </a:lnTo>
                <a:close/>
              </a:path>
              <a:path w="930275" h="808354">
                <a:moveTo>
                  <a:pt x="916770" y="738504"/>
                </a:moveTo>
                <a:lnTo>
                  <a:pt x="913511" y="738504"/>
                </a:lnTo>
                <a:lnTo>
                  <a:pt x="915162" y="749300"/>
                </a:lnTo>
                <a:lnTo>
                  <a:pt x="918406" y="749300"/>
                </a:lnTo>
                <a:lnTo>
                  <a:pt x="916770" y="738504"/>
                </a:lnTo>
                <a:close/>
              </a:path>
              <a:path w="930275" h="808354">
                <a:moveTo>
                  <a:pt x="916558" y="737107"/>
                </a:moveTo>
                <a:lnTo>
                  <a:pt x="893352" y="740690"/>
                </a:lnTo>
                <a:lnTo>
                  <a:pt x="905086" y="745322"/>
                </a:lnTo>
                <a:lnTo>
                  <a:pt x="913511" y="738504"/>
                </a:lnTo>
                <a:lnTo>
                  <a:pt x="916770" y="738504"/>
                </a:lnTo>
                <a:lnTo>
                  <a:pt x="916558" y="737107"/>
                </a:lnTo>
                <a:close/>
              </a:path>
              <a:path w="930275" h="808354">
                <a:moveTo>
                  <a:pt x="834516" y="703834"/>
                </a:moveTo>
                <a:lnTo>
                  <a:pt x="830833" y="705357"/>
                </a:lnTo>
                <a:lnTo>
                  <a:pt x="829437" y="708660"/>
                </a:lnTo>
                <a:lnTo>
                  <a:pt x="828166" y="711962"/>
                </a:lnTo>
                <a:lnTo>
                  <a:pt x="829817" y="715644"/>
                </a:lnTo>
                <a:lnTo>
                  <a:pt x="833119" y="716914"/>
                </a:lnTo>
                <a:lnTo>
                  <a:pt x="893352" y="740690"/>
                </a:lnTo>
                <a:lnTo>
                  <a:pt x="916558" y="737107"/>
                </a:lnTo>
                <a:lnTo>
                  <a:pt x="918932" y="737107"/>
                </a:lnTo>
                <a:lnTo>
                  <a:pt x="834516" y="70383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90781" y="4130922"/>
            <a:ext cx="398916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9078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09119" y="4479766"/>
            <a:ext cx="7990332" cy="0"/>
          </a:xfrm>
          <a:custGeom>
            <a:avLst/>
            <a:gdLst/>
            <a:ahLst/>
            <a:cxnLst/>
            <a:rect l="l" t="t" r="r" b="b"/>
            <a:pathLst>
              <a:path w="7609840">
                <a:moveTo>
                  <a:pt x="0" y="0"/>
                </a:moveTo>
                <a:lnTo>
                  <a:pt x="760983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35</a:t>
            </a:fld>
            <a:endParaRPr sz="1575" spc="-1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6A767-F325-4E4B-B73A-688DB8FB43DF}"/>
              </a:ext>
            </a:extLst>
          </p:cNvPr>
          <p:cNvSpPr txBox="1"/>
          <p:nvPr/>
        </p:nvSpPr>
        <p:spPr>
          <a:xfrm>
            <a:off x="1403381" y="4669651"/>
            <a:ext cx="101531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Reduction </a:t>
            </a:r>
            <a:r>
              <a:rPr lang="en-US" dirty="0">
                <a:solidFill>
                  <a:srgbClr val="FF0000"/>
                </a:solidFill>
              </a:rPr>
              <a:t>secretly creates </a:t>
            </a:r>
            <a:r>
              <a:rPr lang="en-US" dirty="0"/>
              <a:t>a temporary private variable (e.g. </a:t>
            </a:r>
            <a:r>
              <a:rPr lang="en-US" dirty="0" err="1"/>
              <a:t>tmp_global_result</a:t>
            </a:r>
            <a:r>
              <a:rPr lang="en-US" dirty="0"/>
              <a:t>) for each thread’s</a:t>
            </a:r>
            <a:r>
              <a:rPr lang="zh-CN" altLang="en-US" dirty="0"/>
              <a:t> </a:t>
            </a:r>
            <a:r>
              <a:rPr lang="en-US" altLang="zh-CN" dirty="0"/>
              <a:t>private</a:t>
            </a:r>
            <a:r>
              <a:rPr lang="en-US" dirty="0"/>
              <a:t> </a:t>
            </a:r>
            <a:r>
              <a:rPr lang="en-US" altLang="zh-CN" dirty="0" err="1"/>
              <a:t>global_result</a:t>
            </a:r>
            <a:r>
              <a:rPr lang="en-US" dirty="0"/>
              <a:t>. Each thread adding into its own </a:t>
            </a:r>
            <a:r>
              <a:rPr lang="en-US" altLang="zh-CN" dirty="0" err="1"/>
              <a:t>tmp_global_result</a:t>
            </a:r>
            <a:r>
              <a:rPr lang="zh-CN" altLang="en-US" dirty="0"/>
              <a:t> </a:t>
            </a:r>
            <a:r>
              <a:rPr lang="en-US" dirty="0"/>
              <a:t>doesn’t interfere with any other thread adding into its own </a:t>
            </a:r>
            <a:r>
              <a:rPr lang="en-US" altLang="zh-CN" dirty="0" err="1"/>
              <a:t>tmp_global_result</a:t>
            </a:r>
            <a:r>
              <a:rPr lang="en-US" dirty="0"/>
              <a:t>, and so threads don’t need to slow down to get out of the way of each other.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BCC76-89AF-1A45-9380-C39DA2E8B637}"/>
              </a:ext>
            </a:extLst>
          </p:cNvPr>
          <p:cNvSpPr txBox="1"/>
          <p:nvPr/>
        </p:nvSpPr>
        <p:spPr>
          <a:xfrm>
            <a:off x="1403380" y="6092904"/>
            <a:ext cx="96779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Reduction automatically creates a binary tree structure</a:t>
            </a:r>
            <a:r>
              <a:rPr lang="zh-CN" altLang="en-US" dirty="0"/>
              <a:t> </a:t>
            </a:r>
            <a:r>
              <a:rPr lang="en-US" dirty="0"/>
              <a:t>to add the N </a:t>
            </a:r>
            <a:r>
              <a:rPr lang="en-US" altLang="zh-CN" dirty="0"/>
              <a:t>private</a:t>
            </a:r>
            <a:r>
              <a:rPr lang="zh-CN" altLang="en-US" dirty="0"/>
              <a:t> </a:t>
            </a:r>
            <a:r>
              <a:rPr lang="en-US" altLang="zh-CN" dirty="0" err="1"/>
              <a:t>tmp_global_result</a:t>
            </a:r>
            <a:r>
              <a:rPr lang="en-US" altLang="zh-CN" dirty="0"/>
              <a:t> to the </a:t>
            </a:r>
            <a:r>
              <a:rPr lang="en-US" altLang="zh-CN" dirty="0" err="1"/>
              <a:t>global_result</a:t>
            </a:r>
            <a:r>
              <a:rPr lang="en-US" altLang="zh-CN" dirty="0"/>
              <a:t> variable, </a:t>
            </a:r>
            <a:r>
              <a:rPr lang="en-US" dirty="0"/>
              <a:t>in log2N time instead N time.</a:t>
            </a:r>
            <a:endParaRPr lang="en-CN" dirty="0"/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518821" y="4781557"/>
            <a:ext cx="6950202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dirty="0">
                <a:latin typeface="Calibri Light" panose="020F0302020204030204"/>
                <a:cs typeface="Calibri Light" panose="020F0302020204030204"/>
              </a:rPr>
              <a:t>The</a:t>
            </a:r>
            <a:r>
              <a:rPr sz="5040" b="0" spc="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“</a:t>
            </a:r>
            <a:r>
              <a:rPr sz="5040" b="0" spc="-110" dirty="0">
                <a:latin typeface="Calibri Light" panose="020F0302020204030204"/>
                <a:cs typeface="Calibri Light" panose="020F0302020204030204"/>
              </a:rPr>
              <a:t>P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a</a:t>
            </a:r>
            <a:r>
              <a:rPr sz="5040" b="0" spc="-105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al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el</a:t>
            </a:r>
            <a:r>
              <a:rPr sz="5040" b="0" spc="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75" dirty="0">
                <a:latin typeface="Calibri Light" panose="020F0302020204030204"/>
                <a:cs typeface="Calibri Light" panose="020F0302020204030204"/>
              </a:rPr>
              <a:t>F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o</a:t>
            </a:r>
            <a:r>
              <a:rPr sz="5040" b="0" spc="24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” D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i</a:t>
            </a:r>
            <a:r>
              <a:rPr sz="5040" b="0" spc="-75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ecti</a:t>
            </a:r>
            <a:r>
              <a:rPr sz="5040" b="0" spc="-60" dirty="0">
                <a:latin typeface="Calibri Light" panose="020F0302020204030204"/>
                <a:cs typeface="Calibri Light" panose="020F0302020204030204"/>
              </a:rPr>
              <a:t>v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94737" y="1030528"/>
            <a:ext cx="32516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</a:t>
            </a:r>
            <a:r>
              <a:rPr spc="-5" dirty="0"/>
              <a:t> </a:t>
            </a:r>
            <a:r>
              <a:rPr spc="-114" dirty="0"/>
              <a:t>f</a:t>
            </a:r>
            <a:r>
              <a:rPr spc="-5" dirty="0"/>
              <a:t>or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1088390" y="1224280"/>
            <a:ext cx="11505098" cy="553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0" latinLnBrk="0">
              <a:lnSpc>
                <a:spcPct val="15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Creates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3200" b="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eam</a:t>
            </a:r>
            <a:r>
              <a:rPr sz="3200" b="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</a:t>
            </a:r>
            <a:r>
              <a:rPr sz="3200" b="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eads</a:t>
            </a:r>
            <a:r>
              <a:rPr sz="3200" b="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9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x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ecu</a:t>
            </a:r>
            <a:r>
              <a:rPr sz="3200" b="0" spc="-4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oll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wing</a:t>
            </a:r>
            <a:r>
              <a:rPr lang="en-US"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tr</a:t>
            </a:r>
            <a:r>
              <a:rPr sz="3200" b="0" spc="-3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ctu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ed</a:t>
            </a:r>
            <a:r>
              <a:rPr sz="3200" b="0" spc="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ock.</a:t>
            </a:r>
          </a:p>
          <a:p>
            <a:pPr marL="241300" marR="5080" indent="0" latinLnBrk="0">
              <a:lnSpc>
                <a:spcPct val="150000"/>
              </a:lnSpc>
              <a:spcBef>
                <a:spcPts val="1055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</a:t>
            </a:r>
            <a:r>
              <a:rPr sz="3200" b="0" spc="-3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4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4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254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tructu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ed</a:t>
            </a:r>
            <a:r>
              <a:rPr sz="3200" b="0" spc="4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3200" b="0" spc="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oll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wing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el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ecti</a:t>
            </a:r>
            <a:r>
              <a:rPr sz="3200" b="0" spc="-5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mu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3200" b="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loo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</a:p>
          <a:p>
            <a:pPr marL="241300" marR="661035" indent="0" latinLnBrk="0">
              <a:lnSpc>
                <a:spcPct val="150000"/>
              </a:lnSpc>
              <a:spcBef>
                <a:spcPts val="990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Fur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e,</a:t>
            </a:r>
            <a:r>
              <a:rPr sz="3200" b="0" spc="3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le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ecti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4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el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3200" b="0" spc="-8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z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es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loop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idin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3200" b="0" spc="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i</a:t>
            </a:r>
            <a:r>
              <a:rPr sz="3200" b="0" spc="-4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tio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loop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among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eads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23490" y="502463"/>
            <a:ext cx="4630979" cy="1923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07563" y="3827678"/>
            <a:ext cx="7756169" cy="2493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24310" y="2420303"/>
            <a:ext cx="588074" cy="1332833"/>
          </a:xfrm>
          <a:custGeom>
            <a:avLst/>
            <a:gdLst/>
            <a:ahLst/>
            <a:cxnLst/>
            <a:rect l="l" t="t" r="r" b="b"/>
            <a:pathLst>
              <a:path w="560070" h="1269364">
                <a:moveTo>
                  <a:pt x="436027" y="1157168"/>
                </a:moveTo>
                <a:lnTo>
                  <a:pt x="425797" y="1163832"/>
                </a:lnTo>
                <a:lnTo>
                  <a:pt x="423308" y="1175403"/>
                </a:lnTo>
                <a:lnTo>
                  <a:pt x="429386" y="1185545"/>
                </a:lnTo>
                <a:lnTo>
                  <a:pt x="539877" y="1269238"/>
                </a:lnTo>
                <a:lnTo>
                  <a:pt x="542998" y="1246124"/>
                </a:lnTo>
                <a:lnTo>
                  <a:pt x="512953" y="1246124"/>
                </a:lnTo>
                <a:lnTo>
                  <a:pt x="490261" y="1191539"/>
                </a:lnTo>
                <a:lnTo>
                  <a:pt x="447371" y="1159048"/>
                </a:lnTo>
                <a:lnTo>
                  <a:pt x="436027" y="1157168"/>
                </a:lnTo>
                <a:close/>
              </a:path>
              <a:path w="560070" h="1269364">
                <a:moveTo>
                  <a:pt x="490261" y="1191539"/>
                </a:moveTo>
                <a:lnTo>
                  <a:pt x="512953" y="1246124"/>
                </a:lnTo>
                <a:lnTo>
                  <a:pt x="533000" y="1237741"/>
                </a:lnTo>
                <a:lnTo>
                  <a:pt x="511809" y="1237741"/>
                </a:lnTo>
                <a:lnTo>
                  <a:pt x="515468" y="1210634"/>
                </a:lnTo>
                <a:lnTo>
                  <a:pt x="490261" y="1191539"/>
                </a:lnTo>
                <a:close/>
              </a:path>
              <a:path w="560070" h="1269364">
                <a:moveTo>
                  <a:pt x="535940" y="1112774"/>
                </a:moveTo>
                <a:lnTo>
                  <a:pt x="527811" y="1118870"/>
                </a:lnTo>
                <a:lnTo>
                  <a:pt x="526669" y="1127633"/>
                </a:lnTo>
                <a:lnTo>
                  <a:pt x="519711" y="1179191"/>
                </a:lnTo>
                <a:lnTo>
                  <a:pt x="542417" y="1233804"/>
                </a:lnTo>
                <a:lnTo>
                  <a:pt x="512953" y="1246124"/>
                </a:lnTo>
                <a:lnTo>
                  <a:pt x="542998" y="1246124"/>
                </a:lnTo>
                <a:lnTo>
                  <a:pt x="558419" y="1131951"/>
                </a:lnTo>
                <a:lnTo>
                  <a:pt x="559561" y="1123188"/>
                </a:lnTo>
                <a:lnTo>
                  <a:pt x="553466" y="1115060"/>
                </a:lnTo>
                <a:lnTo>
                  <a:pt x="535940" y="1112774"/>
                </a:lnTo>
                <a:close/>
              </a:path>
              <a:path w="560070" h="1269364">
                <a:moveTo>
                  <a:pt x="515468" y="1210634"/>
                </a:moveTo>
                <a:lnTo>
                  <a:pt x="511809" y="1237741"/>
                </a:lnTo>
                <a:lnTo>
                  <a:pt x="537336" y="1227201"/>
                </a:lnTo>
                <a:lnTo>
                  <a:pt x="515468" y="1210634"/>
                </a:lnTo>
                <a:close/>
              </a:path>
              <a:path w="560070" h="1269364">
                <a:moveTo>
                  <a:pt x="519711" y="1179191"/>
                </a:moveTo>
                <a:lnTo>
                  <a:pt x="515468" y="1210634"/>
                </a:lnTo>
                <a:lnTo>
                  <a:pt x="537336" y="1227201"/>
                </a:lnTo>
                <a:lnTo>
                  <a:pt x="511809" y="1237741"/>
                </a:lnTo>
                <a:lnTo>
                  <a:pt x="533000" y="1237741"/>
                </a:lnTo>
                <a:lnTo>
                  <a:pt x="542417" y="1233804"/>
                </a:lnTo>
                <a:lnTo>
                  <a:pt x="519711" y="1179191"/>
                </a:lnTo>
                <a:close/>
              </a:path>
              <a:path w="560070" h="1269364">
                <a:moveTo>
                  <a:pt x="29463" y="0"/>
                </a:moveTo>
                <a:lnTo>
                  <a:pt x="0" y="12191"/>
                </a:lnTo>
                <a:lnTo>
                  <a:pt x="490261" y="1191539"/>
                </a:lnTo>
                <a:lnTo>
                  <a:pt x="515468" y="1210634"/>
                </a:lnTo>
                <a:lnTo>
                  <a:pt x="519711" y="1179191"/>
                </a:lnTo>
                <a:lnTo>
                  <a:pt x="294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94586" y="2020253"/>
            <a:ext cx="2125599" cy="1283494"/>
          </a:xfrm>
          <a:custGeom>
            <a:avLst/>
            <a:gdLst/>
            <a:ahLst/>
            <a:cxnLst/>
            <a:rect l="l" t="t" r="r" b="b"/>
            <a:pathLst>
              <a:path w="2024379" h="1222375">
                <a:moveTo>
                  <a:pt x="1489837" y="0"/>
                </a:moveTo>
                <a:lnTo>
                  <a:pt x="534035" y="0"/>
                </a:lnTo>
                <a:lnTo>
                  <a:pt x="0" y="1222248"/>
                </a:lnTo>
                <a:lnTo>
                  <a:pt x="2023872" y="1222248"/>
                </a:lnTo>
                <a:lnTo>
                  <a:pt x="148983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94586" y="2020253"/>
            <a:ext cx="2125599" cy="1283494"/>
          </a:xfrm>
          <a:custGeom>
            <a:avLst/>
            <a:gdLst/>
            <a:ahLst/>
            <a:cxnLst/>
            <a:rect l="l" t="t" r="r" b="b"/>
            <a:pathLst>
              <a:path w="2024379" h="1222375">
                <a:moveTo>
                  <a:pt x="0" y="1222248"/>
                </a:moveTo>
                <a:lnTo>
                  <a:pt x="534035" y="0"/>
                </a:lnTo>
                <a:lnTo>
                  <a:pt x="1489837" y="0"/>
                </a:lnTo>
                <a:lnTo>
                  <a:pt x="2023872" y="1222248"/>
                </a:lnTo>
                <a:lnTo>
                  <a:pt x="0" y="1222248"/>
                </a:lnTo>
                <a:close/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05288" y="5207851"/>
            <a:ext cx="2639663" cy="0"/>
          </a:xfrm>
          <a:custGeom>
            <a:avLst/>
            <a:gdLst/>
            <a:ahLst/>
            <a:cxnLst/>
            <a:rect l="l" t="t" r="r" b="b"/>
            <a:pathLst>
              <a:path w="2513965">
                <a:moveTo>
                  <a:pt x="0" y="0"/>
                </a:moveTo>
                <a:lnTo>
                  <a:pt x="2513711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object 2"/>
          <p:cNvSpPr txBox="1"/>
          <p:nvPr/>
        </p:nvSpPr>
        <p:spPr>
          <a:xfrm>
            <a:off x="1864296" y="1127227"/>
            <a:ext cx="9981117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Le</a:t>
            </a:r>
            <a:r>
              <a:rPr sz="4620" b="0" spc="-9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g</a:t>
            </a: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al </a:t>
            </a:r>
            <a:r>
              <a:rPr sz="4620" b="0" spc="-10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62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orm</a:t>
            </a: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462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spc="-10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r pa</a:t>
            </a:r>
            <a:r>
              <a:rPr sz="4620" b="0" spc="-7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alleli</a:t>
            </a:r>
            <a:r>
              <a:rPr sz="4620" b="0" spc="-100" dirty="0">
                <a:latin typeface="Comic Sans MS" panose="030F0702030302020204" pitchFamily="66" charset="0"/>
                <a:cs typeface="Calibri Light" panose="020F0302020204030204"/>
              </a:rPr>
              <a:t>z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able</a:t>
            </a:r>
            <a:r>
              <a:rPr sz="462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spc="-114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62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endParaRPr sz="462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5015"/>
              </a:lnSpc>
            </a:pPr>
            <a:r>
              <a:rPr sz="4620" b="0" spc="-5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4620" b="0" spc="-6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620" b="0" spc="-5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620" b="0" spc="-4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em</a:t>
            </a:r>
            <a:r>
              <a:rPr sz="4620" b="0" spc="-1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4620" b="0" spc="-50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ts</a:t>
            </a:r>
            <a:endParaRPr sz="462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21814" y="2413102"/>
            <a:ext cx="8922715" cy="3121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</a:t>
            </a:r>
            <a:r>
              <a:rPr spc="-75" dirty="0"/>
              <a:t>a</a:t>
            </a:r>
            <a:r>
              <a:rPr spc="-55" dirty="0"/>
              <a:t>v</a:t>
            </a:r>
            <a:r>
              <a:rPr spc="-5" dirty="0"/>
              <a:t>e</a:t>
            </a:r>
            <a:r>
              <a:rPr spc="-55" dirty="0"/>
              <a:t>a</a:t>
            </a:r>
            <a:r>
              <a:rPr dirty="0"/>
              <a:t>ts</a:t>
            </a:r>
            <a:r>
              <a:rPr lang="en-US" dirty="0"/>
              <a:t> (</a:t>
            </a:r>
            <a:r>
              <a:rPr lang="zh-CN" altLang="en-US" dirty="0"/>
              <a:t>注意事项）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792288" y="1967226"/>
            <a:ext cx="9962337" cy="2597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20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32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poi</a:t>
            </a:r>
            <a:r>
              <a:rPr sz="320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(e</a:t>
            </a:r>
            <a:r>
              <a:rPr sz="3200" spc="15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g.,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an’t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be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t).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4000" dirty="0">
              <a:latin typeface="Comic Sans MS" panose="030F0702030302020204" pitchFamily="66" charset="0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art,</a:t>
            </a:r>
            <a:r>
              <a:rPr sz="320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end,</a:t>
            </a:r>
            <a:r>
              <a:rPr sz="32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32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20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</a:t>
            </a:r>
            <a:r>
              <a:rPr sz="320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320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32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ty</a:t>
            </a:r>
            <a:r>
              <a:rPr sz="320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ampl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if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nd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254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 then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incr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i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nt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pe.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40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</a:t>
            </a:r>
            <a:r>
              <a:rPr spc="-75" dirty="0"/>
              <a:t>a</a:t>
            </a:r>
            <a:r>
              <a:rPr spc="-55" dirty="0"/>
              <a:t>v</a:t>
            </a:r>
            <a:r>
              <a:rPr spc="-5" dirty="0"/>
              <a:t>e</a:t>
            </a:r>
            <a:r>
              <a:rPr spc="-55" dirty="0"/>
              <a:t>a</a:t>
            </a:r>
            <a:r>
              <a:rPr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378161" cy="2548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art,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end,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chan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lang="en-US"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loo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25" dirty="0">
              <a:latin typeface="Comic Sans MS" panose="030F0702030302020204" pitchFamily="66" charset="0"/>
              <a:cs typeface="Times New Roman" panose="02020603050405020304"/>
            </a:endParaRPr>
          </a:p>
          <a:p>
            <a:pPr marL="241300" marR="16764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Dur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ecution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loop,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fied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b="1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t.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</a:t>
            </a:r>
            <a:r>
              <a:rPr spc="-45" dirty="0"/>
              <a:t>a</a:t>
            </a:r>
            <a:r>
              <a:rPr spc="-60" dirty="0"/>
              <a:t>t</a:t>
            </a:r>
            <a:r>
              <a:rPr dirty="0"/>
              <a:t>a dependenci</a:t>
            </a:r>
            <a:r>
              <a:rPr spc="-3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5554824" y="2801149"/>
            <a:ext cx="180023" cy="757428"/>
          </a:xfrm>
          <a:custGeom>
            <a:avLst/>
            <a:gdLst/>
            <a:ahLst/>
            <a:cxnLst/>
            <a:rect l="l" t="t" r="r" b="b"/>
            <a:pathLst>
              <a:path w="171450" h="721360">
                <a:moveTo>
                  <a:pt x="17926" y="550700"/>
                </a:moveTo>
                <a:lnTo>
                  <a:pt x="4800" y="555858"/>
                </a:lnTo>
                <a:lnTo>
                  <a:pt x="0" y="566585"/>
                </a:lnTo>
                <a:lnTo>
                  <a:pt x="2415" y="578358"/>
                </a:lnTo>
                <a:lnTo>
                  <a:pt x="85600" y="720851"/>
                </a:lnTo>
                <a:lnTo>
                  <a:pt x="107694" y="683005"/>
                </a:lnTo>
                <a:lnTo>
                  <a:pt x="66550" y="683005"/>
                </a:lnTo>
                <a:lnTo>
                  <a:pt x="66550" y="614862"/>
                </a:lnTo>
                <a:lnTo>
                  <a:pt x="28631" y="552489"/>
                </a:lnTo>
                <a:lnTo>
                  <a:pt x="17926" y="550700"/>
                </a:lnTo>
                <a:close/>
              </a:path>
              <a:path w="171450" h="721360">
                <a:moveTo>
                  <a:pt x="66550" y="614862"/>
                </a:moveTo>
                <a:lnTo>
                  <a:pt x="66550" y="683005"/>
                </a:lnTo>
                <a:lnTo>
                  <a:pt x="104650" y="683005"/>
                </a:lnTo>
                <a:lnTo>
                  <a:pt x="104650" y="673353"/>
                </a:lnTo>
                <a:lnTo>
                  <a:pt x="69090" y="673353"/>
                </a:lnTo>
                <a:lnTo>
                  <a:pt x="85259" y="645636"/>
                </a:lnTo>
                <a:lnTo>
                  <a:pt x="66550" y="614862"/>
                </a:lnTo>
                <a:close/>
              </a:path>
              <a:path w="171450" h="721360">
                <a:moveTo>
                  <a:pt x="156508" y="550107"/>
                </a:moveTo>
                <a:lnTo>
                  <a:pt x="144783" y="551186"/>
                </a:lnTo>
                <a:lnTo>
                  <a:pt x="135765" y="559053"/>
                </a:lnTo>
                <a:lnTo>
                  <a:pt x="104650" y="612393"/>
                </a:lnTo>
                <a:lnTo>
                  <a:pt x="104650" y="683005"/>
                </a:lnTo>
                <a:lnTo>
                  <a:pt x="107694" y="683005"/>
                </a:lnTo>
                <a:lnTo>
                  <a:pt x="168785" y="578358"/>
                </a:lnTo>
                <a:lnTo>
                  <a:pt x="171158" y="569655"/>
                </a:lnTo>
                <a:lnTo>
                  <a:pt x="167625" y="559189"/>
                </a:lnTo>
                <a:lnTo>
                  <a:pt x="156508" y="550107"/>
                </a:lnTo>
                <a:close/>
              </a:path>
              <a:path w="171450" h="721360">
                <a:moveTo>
                  <a:pt x="85259" y="645636"/>
                </a:moveTo>
                <a:lnTo>
                  <a:pt x="69090" y="673353"/>
                </a:lnTo>
                <a:lnTo>
                  <a:pt x="102110" y="673353"/>
                </a:lnTo>
                <a:lnTo>
                  <a:pt x="85259" y="645636"/>
                </a:lnTo>
                <a:close/>
              </a:path>
              <a:path w="171450" h="721360">
                <a:moveTo>
                  <a:pt x="104650" y="612393"/>
                </a:moveTo>
                <a:lnTo>
                  <a:pt x="85259" y="645636"/>
                </a:lnTo>
                <a:lnTo>
                  <a:pt x="102110" y="673353"/>
                </a:lnTo>
                <a:lnTo>
                  <a:pt x="104650" y="673353"/>
                </a:lnTo>
                <a:lnTo>
                  <a:pt x="104650" y="612393"/>
                </a:lnTo>
                <a:close/>
              </a:path>
              <a:path w="171450" h="721360">
                <a:moveTo>
                  <a:pt x="104650" y="0"/>
                </a:moveTo>
                <a:lnTo>
                  <a:pt x="66550" y="0"/>
                </a:lnTo>
                <a:lnTo>
                  <a:pt x="66550" y="614862"/>
                </a:lnTo>
                <a:lnTo>
                  <a:pt x="85259" y="645636"/>
                </a:lnTo>
                <a:lnTo>
                  <a:pt x="104650" y="612393"/>
                </a:lnTo>
                <a:lnTo>
                  <a:pt x="1046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46673" y="5145442"/>
            <a:ext cx="180023" cy="757428"/>
          </a:xfrm>
          <a:custGeom>
            <a:avLst/>
            <a:gdLst/>
            <a:ahLst/>
            <a:cxnLst/>
            <a:rect l="l" t="t" r="r" b="b"/>
            <a:pathLst>
              <a:path w="171450" h="721360">
                <a:moveTo>
                  <a:pt x="17926" y="550700"/>
                </a:moveTo>
                <a:lnTo>
                  <a:pt x="4800" y="555858"/>
                </a:lnTo>
                <a:lnTo>
                  <a:pt x="0" y="566585"/>
                </a:lnTo>
                <a:lnTo>
                  <a:pt x="2415" y="578357"/>
                </a:lnTo>
                <a:lnTo>
                  <a:pt x="85600" y="720813"/>
                </a:lnTo>
                <a:lnTo>
                  <a:pt x="107678" y="683005"/>
                </a:lnTo>
                <a:lnTo>
                  <a:pt x="66550" y="683005"/>
                </a:lnTo>
                <a:lnTo>
                  <a:pt x="66550" y="614862"/>
                </a:lnTo>
                <a:lnTo>
                  <a:pt x="28631" y="552489"/>
                </a:lnTo>
                <a:lnTo>
                  <a:pt x="17926" y="550700"/>
                </a:lnTo>
                <a:close/>
              </a:path>
              <a:path w="171450" h="721360">
                <a:moveTo>
                  <a:pt x="66550" y="614862"/>
                </a:moveTo>
                <a:lnTo>
                  <a:pt x="66550" y="683005"/>
                </a:lnTo>
                <a:lnTo>
                  <a:pt x="104650" y="683005"/>
                </a:lnTo>
                <a:lnTo>
                  <a:pt x="104650" y="673353"/>
                </a:lnTo>
                <a:lnTo>
                  <a:pt x="69090" y="673353"/>
                </a:lnTo>
                <a:lnTo>
                  <a:pt x="85259" y="645636"/>
                </a:lnTo>
                <a:lnTo>
                  <a:pt x="66550" y="614862"/>
                </a:lnTo>
                <a:close/>
              </a:path>
              <a:path w="171450" h="721360">
                <a:moveTo>
                  <a:pt x="156508" y="550107"/>
                </a:moveTo>
                <a:lnTo>
                  <a:pt x="144783" y="551186"/>
                </a:lnTo>
                <a:lnTo>
                  <a:pt x="135765" y="559053"/>
                </a:lnTo>
                <a:lnTo>
                  <a:pt x="104650" y="612394"/>
                </a:lnTo>
                <a:lnTo>
                  <a:pt x="104650" y="683005"/>
                </a:lnTo>
                <a:lnTo>
                  <a:pt x="107678" y="683005"/>
                </a:lnTo>
                <a:lnTo>
                  <a:pt x="168785" y="578357"/>
                </a:lnTo>
                <a:lnTo>
                  <a:pt x="171158" y="569655"/>
                </a:lnTo>
                <a:lnTo>
                  <a:pt x="167625" y="559189"/>
                </a:lnTo>
                <a:lnTo>
                  <a:pt x="156508" y="550107"/>
                </a:lnTo>
                <a:close/>
              </a:path>
              <a:path w="171450" h="721360">
                <a:moveTo>
                  <a:pt x="85259" y="645636"/>
                </a:moveTo>
                <a:lnTo>
                  <a:pt x="69090" y="673353"/>
                </a:lnTo>
                <a:lnTo>
                  <a:pt x="102110" y="673353"/>
                </a:lnTo>
                <a:lnTo>
                  <a:pt x="85259" y="645636"/>
                </a:lnTo>
                <a:close/>
              </a:path>
              <a:path w="171450" h="721360">
                <a:moveTo>
                  <a:pt x="104650" y="612394"/>
                </a:moveTo>
                <a:lnTo>
                  <a:pt x="85259" y="645636"/>
                </a:lnTo>
                <a:lnTo>
                  <a:pt x="102110" y="673353"/>
                </a:lnTo>
                <a:lnTo>
                  <a:pt x="104650" y="673353"/>
                </a:lnTo>
                <a:lnTo>
                  <a:pt x="104650" y="612394"/>
                </a:lnTo>
                <a:close/>
              </a:path>
              <a:path w="171450" h="721360">
                <a:moveTo>
                  <a:pt x="104650" y="0"/>
                </a:moveTo>
                <a:lnTo>
                  <a:pt x="66550" y="0"/>
                </a:lnTo>
                <a:lnTo>
                  <a:pt x="66550" y="614862"/>
                </a:lnTo>
                <a:lnTo>
                  <a:pt x="85259" y="645636"/>
                </a:lnTo>
                <a:lnTo>
                  <a:pt x="104650" y="612394"/>
                </a:lnTo>
                <a:lnTo>
                  <a:pt x="1046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21473" y="5145442"/>
            <a:ext cx="180023" cy="1285494"/>
          </a:xfrm>
          <a:custGeom>
            <a:avLst/>
            <a:gdLst/>
            <a:ahLst/>
            <a:cxnLst/>
            <a:rect l="l" t="t" r="r" b="b"/>
            <a:pathLst>
              <a:path w="171450" h="1224279">
                <a:moveTo>
                  <a:pt x="17926" y="1053915"/>
                </a:moveTo>
                <a:lnTo>
                  <a:pt x="4841" y="1059083"/>
                </a:lnTo>
                <a:lnTo>
                  <a:pt x="0" y="1069791"/>
                </a:lnTo>
                <a:lnTo>
                  <a:pt x="2412" y="1081544"/>
                </a:lnTo>
                <a:lnTo>
                  <a:pt x="85597" y="1224051"/>
                </a:lnTo>
                <a:lnTo>
                  <a:pt x="107666" y="1186243"/>
                </a:lnTo>
                <a:lnTo>
                  <a:pt x="66547" y="1186243"/>
                </a:lnTo>
                <a:lnTo>
                  <a:pt x="66547" y="1118131"/>
                </a:lnTo>
                <a:lnTo>
                  <a:pt x="28614" y="1055716"/>
                </a:lnTo>
                <a:lnTo>
                  <a:pt x="17926" y="1053915"/>
                </a:lnTo>
                <a:close/>
              </a:path>
              <a:path w="171450" h="1224279">
                <a:moveTo>
                  <a:pt x="66547" y="1118131"/>
                </a:moveTo>
                <a:lnTo>
                  <a:pt x="66547" y="1186243"/>
                </a:lnTo>
                <a:lnTo>
                  <a:pt x="104647" y="1186243"/>
                </a:lnTo>
                <a:lnTo>
                  <a:pt x="104647" y="1176642"/>
                </a:lnTo>
                <a:lnTo>
                  <a:pt x="69087" y="1176642"/>
                </a:lnTo>
                <a:lnTo>
                  <a:pt x="85258" y="1148919"/>
                </a:lnTo>
                <a:lnTo>
                  <a:pt x="66547" y="1118131"/>
                </a:lnTo>
                <a:close/>
              </a:path>
              <a:path w="171450" h="1224279">
                <a:moveTo>
                  <a:pt x="156430" y="1053339"/>
                </a:moveTo>
                <a:lnTo>
                  <a:pt x="144745" y="1054430"/>
                </a:lnTo>
                <a:lnTo>
                  <a:pt x="135762" y="1062342"/>
                </a:lnTo>
                <a:lnTo>
                  <a:pt x="104647" y="1115682"/>
                </a:lnTo>
                <a:lnTo>
                  <a:pt x="104647" y="1186243"/>
                </a:lnTo>
                <a:lnTo>
                  <a:pt x="107666" y="1186243"/>
                </a:lnTo>
                <a:lnTo>
                  <a:pt x="168782" y="1081544"/>
                </a:lnTo>
                <a:lnTo>
                  <a:pt x="171153" y="1072873"/>
                </a:lnTo>
                <a:lnTo>
                  <a:pt x="167599" y="1062431"/>
                </a:lnTo>
                <a:lnTo>
                  <a:pt x="156430" y="1053339"/>
                </a:lnTo>
                <a:close/>
              </a:path>
              <a:path w="171450" h="1224279">
                <a:moveTo>
                  <a:pt x="85258" y="1148919"/>
                </a:moveTo>
                <a:lnTo>
                  <a:pt x="69087" y="1176642"/>
                </a:lnTo>
                <a:lnTo>
                  <a:pt x="102107" y="1176642"/>
                </a:lnTo>
                <a:lnTo>
                  <a:pt x="85258" y="1148919"/>
                </a:lnTo>
                <a:close/>
              </a:path>
              <a:path w="171450" h="1224279">
                <a:moveTo>
                  <a:pt x="104647" y="1115682"/>
                </a:moveTo>
                <a:lnTo>
                  <a:pt x="85258" y="1148919"/>
                </a:lnTo>
                <a:lnTo>
                  <a:pt x="102107" y="1176642"/>
                </a:lnTo>
                <a:lnTo>
                  <a:pt x="104647" y="1176642"/>
                </a:lnTo>
                <a:lnTo>
                  <a:pt x="104647" y="1115682"/>
                </a:lnTo>
                <a:close/>
              </a:path>
              <a:path w="171450" h="1224279">
                <a:moveTo>
                  <a:pt x="104647" y="0"/>
                </a:moveTo>
                <a:lnTo>
                  <a:pt x="66547" y="0"/>
                </a:lnTo>
                <a:lnTo>
                  <a:pt x="66547" y="1118131"/>
                </a:lnTo>
                <a:lnTo>
                  <a:pt x="85258" y="1148919"/>
                </a:lnTo>
                <a:lnTo>
                  <a:pt x="104647" y="1115682"/>
                </a:lnTo>
                <a:lnTo>
                  <a:pt x="104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1367" y="5993896"/>
            <a:ext cx="4007834" cy="981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5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8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13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34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5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5</a:t>
            </a:r>
          </a:p>
          <a:p>
            <a:pPr marR="43815" algn="ctr">
              <a:lnSpc>
                <a:spcPct val="100000"/>
              </a:lnSpc>
              <a:spcBef>
                <a:spcPts val="590"/>
              </a:spcBef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ect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9200" y="6524442"/>
            <a:ext cx="3375975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5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8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96332" y="5475751"/>
            <a:ext cx="3805068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bu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som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0184" y="1682105"/>
            <a:ext cx="2990374" cy="74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13460" algn="l"/>
                <a:tab pos="1322070" algn="l"/>
                <a:tab pos="2324100" algn="l"/>
                <a:tab pos="263144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0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[ 1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1;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455930" algn="l"/>
                <a:tab pos="744855" algn="l"/>
                <a:tab pos="1052830" algn="l"/>
                <a:tab pos="1384935" algn="l"/>
                <a:tab pos="1588770" algn="l"/>
                <a:tab pos="1897380" algn="l"/>
                <a:tab pos="2244090" algn="l"/>
              </a:tabLst>
            </a:pPr>
            <a:r>
              <a:rPr sz="2205" b="1" spc="-20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o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r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(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i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;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&lt;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n;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i++)</a:t>
            </a:r>
            <a:endParaRPr sz="2205">
              <a:latin typeface="Bodoni MT" panose="02070603080606020203"/>
              <a:cs typeface="Bodoni MT" panose="020706030806060202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52627" y="2475538"/>
            <a:ext cx="427853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55675" algn="l"/>
                <a:tab pos="126365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i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–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1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 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+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 –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];</a:t>
            </a:r>
            <a:endParaRPr sz="2205">
              <a:latin typeface="Bodoni MT" panose="02070603080606020203"/>
              <a:cs typeface="Bodoni MT" panose="020706030806060202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3471" y="3559029"/>
            <a:ext cx="5445347" cy="155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455">
              <a:lnSpc>
                <a:spcPct val="100000"/>
              </a:lnSpc>
              <a:tabLst>
                <a:tab pos="1339850" algn="l"/>
                <a:tab pos="1646555" algn="l"/>
                <a:tab pos="2648585" algn="l"/>
                <a:tab pos="295656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0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=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1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=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1;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385445" algn="l"/>
                <a:tab pos="1359535" algn="l"/>
                <a:tab pos="1981200" algn="l"/>
                <a:tab pos="2949575" algn="l"/>
                <a:tab pos="3394075" algn="l"/>
              </a:tabLst>
            </a:pPr>
            <a:r>
              <a:rPr sz="2205" spc="-15" dirty="0">
                <a:latin typeface="Bodoni MT" panose="02070603080606020203"/>
                <a:cs typeface="Bodoni MT" panose="02070603080606020203"/>
              </a:rPr>
              <a:t>#	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p</a:t>
            </a:r>
            <a:r>
              <a:rPr sz="2205" b="1" spc="25" dirty="0">
                <a:latin typeface="Bodoni MT" panose="02070603080606020203"/>
                <a:cs typeface="Bodoni MT" panose="02070603080606020203"/>
              </a:rPr>
              <a:t>r</a:t>
            </a:r>
            <a:r>
              <a:rPr sz="2205" b="1" spc="20" dirty="0">
                <a:latin typeface="Bodoni MT" panose="02070603080606020203"/>
                <a:cs typeface="Bodoni MT" panose="02070603080606020203"/>
              </a:rPr>
              <a:t>a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gm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a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om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p	par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a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l</a:t>
            </a:r>
            <a:r>
              <a:rPr sz="2205" spc="-25" dirty="0">
                <a:latin typeface="Bodoni MT" panose="02070603080606020203"/>
                <a:cs typeface="Bodoni MT" panose="02070603080606020203"/>
              </a:rPr>
              <a:t>l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el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b="1" spc="-20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o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r	</a:t>
            </a:r>
            <a:r>
              <a:rPr sz="2205" spc="-35" dirty="0">
                <a:latin typeface="Bodoni MT" panose="02070603080606020203"/>
                <a:cs typeface="Bodoni MT" panose="02070603080606020203"/>
              </a:rPr>
              <a:t>n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um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_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t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h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r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ea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d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s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(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)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338455">
              <a:lnSpc>
                <a:spcPct val="100000"/>
              </a:lnSpc>
              <a:spcBef>
                <a:spcPts val="505"/>
              </a:spcBef>
              <a:tabLst>
                <a:tab pos="781685" algn="l"/>
                <a:tab pos="1069975" algn="l"/>
                <a:tab pos="1378585" algn="l"/>
                <a:tab pos="1711325" algn="l"/>
                <a:tab pos="1913255" algn="l"/>
                <a:tab pos="2222500" algn="l"/>
                <a:tab pos="2570480" algn="l"/>
              </a:tabLst>
            </a:pPr>
            <a:r>
              <a:rPr sz="2205" b="1" spc="-20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o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r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(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i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;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&lt;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n;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i++)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662940">
              <a:lnSpc>
                <a:spcPct val="100000"/>
              </a:lnSpc>
              <a:spcBef>
                <a:spcPts val="505"/>
              </a:spcBef>
              <a:tabLst>
                <a:tab pos="1607820" algn="l"/>
                <a:tab pos="191516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i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fibo[</a:t>
            </a:r>
            <a:r>
              <a:rPr sz="2205" spc="-2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spc="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–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1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 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+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ibo[</a:t>
            </a:r>
            <a:r>
              <a:rPr sz="2205" spc="-2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spc="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–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];</a:t>
            </a:r>
            <a:endParaRPr sz="2205">
              <a:latin typeface="Bodoni MT" panose="02070603080606020203"/>
              <a:cs typeface="Bodoni MT" panose="02070603080606020203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93874" y="3163861"/>
            <a:ext cx="620078" cy="695420"/>
          </a:xfrm>
          <a:custGeom>
            <a:avLst/>
            <a:gdLst/>
            <a:ahLst/>
            <a:cxnLst/>
            <a:rect l="l" t="t" r="r" b="b"/>
            <a:pathLst>
              <a:path w="590550" h="662304">
                <a:moveTo>
                  <a:pt x="50526" y="484993"/>
                </a:moveTo>
                <a:lnTo>
                  <a:pt x="38855" y="489356"/>
                </a:lnTo>
                <a:lnTo>
                  <a:pt x="32384" y="500252"/>
                </a:lnTo>
                <a:lnTo>
                  <a:pt x="0" y="662051"/>
                </a:lnTo>
                <a:lnTo>
                  <a:pt x="47595" y="646430"/>
                </a:lnTo>
                <a:lnTo>
                  <a:pt x="39242" y="646430"/>
                </a:lnTo>
                <a:lnTo>
                  <a:pt x="10794" y="621157"/>
                </a:lnTo>
                <a:lnTo>
                  <a:pt x="56742" y="569376"/>
                </a:lnTo>
                <a:lnTo>
                  <a:pt x="69819" y="501090"/>
                </a:lnTo>
                <a:lnTo>
                  <a:pt x="63948" y="490878"/>
                </a:lnTo>
                <a:lnTo>
                  <a:pt x="50526" y="484993"/>
                </a:lnTo>
                <a:close/>
              </a:path>
              <a:path w="590550" h="662304">
                <a:moveTo>
                  <a:pt x="56742" y="569376"/>
                </a:moveTo>
                <a:lnTo>
                  <a:pt x="10794" y="621157"/>
                </a:lnTo>
                <a:lnTo>
                  <a:pt x="39242" y="646430"/>
                </a:lnTo>
                <a:lnTo>
                  <a:pt x="47134" y="637540"/>
                </a:lnTo>
                <a:lnTo>
                  <a:pt x="43687" y="637540"/>
                </a:lnTo>
                <a:lnTo>
                  <a:pt x="19050" y="615696"/>
                </a:lnTo>
                <a:lnTo>
                  <a:pt x="49805" y="605599"/>
                </a:lnTo>
                <a:lnTo>
                  <a:pt x="56742" y="569376"/>
                </a:lnTo>
                <a:close/>
              </a:path>
              <a:path w="590550" h="662304">
                <a:moveTo>
                  <a:pt x="144779" y="574421"/>
                </a:moveTo>
                <a:lnTo>
                  <a:pt x="86052" y="593700"/>
                </a:lnTo>
                <a:lnTo>
                  <a:pt x="39242" y="646430"/>
                </a:lnTo>
                <a:lnTo>
                  <a:pt x="47595" y="646430"/>
                </a:lnTo>
                <a:lnTo>
                  <a:pt x="156717" y="610616"/>
                </a:lnTo>
                <a:lnTo>
                  <a:pt x="164065" y="606039"/>
                </a:lnTo>
                <a:lnTo>
                  <a:pt x="168680" y="595980"/>
                </a:lnTo>
                <a:lnTo>
                  <a:pt x="166624" y="581923"/>
                </a:lnTo>
                <a:lnTo>
                  <a:pt x="157080" y="574540"/>
                </a:lnTo>
                <a:lnTo>
                  <a:pt x="144779" y="574421"/>
                </a:lnTo>
                <a:close/>
              </a:path>
              <a:path w="590550" h="662304">
                <a:moveTo>
                  <a:pt x="49805" y="605599"/>
                </a:moveTo>
                <a:lnTo>
                  <a:pt x="19050" y="615696"/>
                </a:lnTo>
                <a:lnTo>
                  <a:pt x="43687" y="637540"/>
                </a:lnTo>
                <a:lnTo>
                  <a:pt x="49805" y="605599"/>
                </a:lnTo>
                <a:close/>
              </a:path>
              <a:path w="590550" h="662304">
                <a:moveTo>
                  <a:pt x="86052" y="593700"/>
                </a:moveTo>
                <a:lnTo>
                  <a:pt x="49805" y="605599"/>
                </a:lnTo>
                <a:lnTo>
                  <a:pt x="43687" y="637540"/>
                </a:lnTo>
                <a:lnTo>
                  <a:pt x="47134" y="637540"/>
                </a:lnTo>
                <a:lnTo>
                  <a:pt x="86052" y="593700"/>
                </a:lnTo>
                <a:close/>
              </a:path>
              <a:path w="590550" h="662304">
                <a:moveTo>
                  <a:pt x="561975" y="0"/>
                </a:moveTo>
                <a:lnTo>
                  <a:pt x="56742" y="569376"/>
                </a:lnTo>
                <a:lnTo>
                  <a:pt x="49805" y="605599"/>
                </a:lnTo>
                <a:lnTo>
                  <a:pt x="86052" y="593700"/>
                </a:lnTo>
                <a:lnTo>
                  <a:pt x="590550" y="25400"/>
                </a:lnTo>
                <a:lnTo>
                  <a:pt x="561975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6683" y="2686869"/>
            <a:ext cx="3052709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no</a:t>
            </a:r>
            <a:r>
              <a:rPr sz="2940" spc="-3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940" spc="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50708" y="6449585"/>
            <a:ext cx="1530411" cy="530066"/>
          </a:xfrm>
          <a:custGeom>
            <a:avLst/>
            <a:gdLst/>
            <a:ahLst/>
            <a:cxnLst/>
            <a:rect l="l" t="t" r="r" b="b"/>
            <a:pathLst>
              <a:path w="981709" h="504825">
                <a:moveTo>
                  <a:pt x="897382" y="0"/>
                </a:moveTo>
                <a:lnTo>
                  <a:pt x="78722" y="167"/>
                </a:lnTo>
                <a:lnTo>
                  <a:pt x="38765" y="13227"/>
                </a:lnTo>
                <a:lnTo>
                  <a:pt x="10635" y="43095"/>
                </a:lnTo>
                <a:lnTo>
                  <a:pt x="0" y="84073"/>
                </a:lnTo>
                <a:lnTo>
                  <a:pt x="167" y="425716"/>
                </a:lnTo>
                <a:lnTo>
                  <a:pt x="13214" y="465656"/>
                </a:lnTo>
                <a:lnTo>
                  <a:pt x="43072" y="493797"/>
                </a:lnTo>
                <a:lnTo>
                  <a:pt x="84074" y="504443"/>
                </a:lnTo>
                <a:lnTo>
                  <a:pt x="902733" y="504276"/>
                </a:lnTo>
                <a:lnTo>
                  <a:pt x="942690" y="491216"/>
                </a:lnTo>
                <a:lnTo>
                  <a:pt x="970820" y="461348"/>
                </a:lnTo>
                <a:lnTo>
                  <a:pt x="981456" y="420369"/>
                </a:lnTo>
                <a:lnTo>
                  <a:pt x="981288" y="78727"/>
                </a:lnTo>
                <a:lnTo>
                  <a:pt x="968241" y="38787"/>
                </a:lnTo>
                <a:lnTo>
                  <a:pt x="938383" y="10646"/>
                </a:lnTo>
                <a:lnTo>
                  <a:pt x="897382" y="0"/>
                </a:lnTo>
                <a:close/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Wh</a:t>
            </a:r>
            <a:r>
              <a:rPr spc="-55" dirty="0"/>
              <a:t>a</a:t>
            </a:r>
            <a:r>
              <a:rPr dirty="0"/>
              <a:t>t happened?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1587" y="1825216"/>
            <a:ext cx="8973749" cy="345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448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85115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’t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check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ences among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loop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7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85" dirty="0"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be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ng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35" dirty="0">
              <a:latin typeface="Comic Sans MS" panose="030F0702030302020204" pitchFamily="66" charset="0"/>
              <a:cs typeface="Times New Roman" panose="02020603050405020304"/>
            </a:endParaRPr>
          </a:p>
          <a:p>
            <a:pPr marL="241300" marR="2187575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loop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one 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lang="en-US"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depen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other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annot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ectly</a:t>
            </a:r>
            <a:r>
              <a:rPr lang="en-US"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OpenM</a:t>
            </a:r>
            <a:r>
              <a:rPr sz="2940" spc="-39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E</a:t>
            </a:r>
            <a:r>
              <a:rPr spc="-60" dirty="0"/>
              <a:t>s</a:t>
            </a:r>
            <a:r>
              <a:rPr dirty="0"/>
              <a:t>tim</a:t>
            </a:r>
            <a:r>
              <a:rPr spc="-55" dirty="0"/>
              <a:t>a</a:t>
            </a:r>
            <a:r>
              <a:rPr dirty="0"/>
              <a:t>ting</a:t>
            </a:r>
            <a:r>
              <a:rPr spc="-15" dirty="0"/>
              <a:t> </a:t>
            </a:r>
            <a:r>
              <a:rPr dirty="0">
                <a:latin typeface="Calibri Light" panose="020F0302020204030204"/>
                <a:cs typeface="Calibri Light" panose="020F0302020204030204"/>
              </a:rPr>
              <a:t>π</a:t>
            </a:r>
          </a:p>
        </p:txBody>
      </p:sp>
      <p:sp>
        <p:nvSpPr>
          <p:cNvPr id="3" name="object 3"/>
          <p:cNvSpPr/>
          <p:nvPr/>
        </p:nvSpPr>
        <p:spPr>
          <a:xfrm>
            <a:off x="3150793" y="1585797"/>
            <a:ext cx="6420002" cy="1369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4069" y="3022777"/>
            <a:ext cx="5379872" cy="32196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OpenMP solution #1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1995448" y="2552318"/>
            <a:ext cx="8809101" cy="3021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07650" y="1627404"/>
            <a:ext cx="4098180" cy="3423626"/>
          </a:xfrm>
          <a:custGeom>
            <a:avLst/>
            <a:gdLst/>
            <a:ahLst/>
            <a:cxnLst/>
            <a:rect l="l" t="t" r="r" b="b"/>
            <a:pathLst>
              <a:path w="3733165" h="2768600">
                <a:moveTo>
                  <a:pt x="755421" y="2755900"/>
                </a:moveTo>
                <a:lnTo>
                  <a:pt x="490448" y="2755900"/>
                </a:lnTo>
                <a:lnTo>
                  <a:pt x="506615" y="2768600"/>
                </a:lnTo>
                <a:lnTo>
                  <a:pt x="717257" y="2768600"/>
                </a:lnTo>
                <a:lnTo>
                  <a:pt x="755421" y="2755900"/>
                </a:lnTo>
                <a:close/>
              </a:path>
              <a:path w="3733165" h="2768600">
                <a:moveTo>
                  <a:pt x="1378394" y="2514600"/>
                </a:moveTo>
                <a:lnTo>
                  <a:pt x="1202626" y="2590800"/>
                </a:lnTo>
                <a:lnTo>
                  <a:pt x="1116012" y="2616200"/>
                </a:lnTo>
                <a:lnTo>
                  <a:pt x="1073086" y="2641600"/>
                </a:lnTo>
                <a:lnTo>
                  <a:pt x="906335" y="2692400"/>
                </a:lnTo>
                <a:lnTo>
                  <a:pt x="787793" y="2730500"/>
                </a:lnTo>
                <a:lnTo>
                  <a:pt x="749719" y="2730500"/>
                </a:lnTo>
                <a:lnTo>
                  <a:pt x="712635" y="2743200"/>
                </a:lnTo>
                <a:lnTo>
                  <a:pt x="444284" y="2743200"/>
                </a:lnTo>
                <a:lnTo>
                  <a:pt x="459409" y="2755900"/>
                </a:lnTo>
                <a:lnTo>
                  <a:pt x="794308" y="2755900"/>
                </a:lnTo>
                <a:lnTo>
                  <a:pt x="956373" y="2705100"/>
                </a:lnTo>
                <a:lnTo>
                  <a:pt x="1083373" y="2667000"/>
                </a:lnTo>
                <a:lnTo>
                  <a:pt x="1126553" y="2641600"/>
                </a:lnTo>
                <a:lnTo>
                  <a:pt x="1213675" y="2616200"/>
                </a:lnTo>
                <a:lnTo>
                  <a:pt x="1389570" y="2540000"/>
                </a:lnTo>
                <a:lnTo>
                  <a:pt x="1378394" y="2514600"/>
                </a:lnTo>
                <a:close/>
              </a:path>
              <a:path w="3733165" h="2768600">
                <a:moveTo>
                  <a:pt x="511416" y="2730500"/>
                </a:moveTo>
                <a:lnTo>
                  <a:pt x="415137" y="2730500"/>
                </a:lnTo>
                <a:lnTo>
                  <a:pt x="429539" y="2743200"/>
                </a:lnTo>
                <a:lnTo>
                  <a:pt x="542112" y="2743200"/>
                </a:lnTo>
                <a:lnTo>
                  <a:pt x="511416" y="2730500"/>
                </a:lnTo>
                <a:close/>
              </a:path>
              <a:path w="3733165" h="2768600">
                <a:moveTo>
                  <a:pt x="427443" y="2705100"/>
                </a:moveTo>
                <a:lnTo>
                  <a:pt x="373938" y="2705100"/>
                </a:lnTo>
                <a:lnTo>
                  <a:pt x="387248" y="2717800"/>
                </a:lnTo>
                <a:lnTo>
                  <a:pt x="401066" y="2730500"/>
                </a:lnTo>
                <a:lnTo>
                  <a:pt x="468134" y="2730500"/>
                </a:lnTo>
                <a:lnTo>
                  <a:pt x="454304" y="2717800"/>
                </a:lnTo>
                <a:lnTo>
                  <a:pt x="440664" y="2717800"/>
                </a:lnTo>
                <a:lnTo>
                  <a:pt x="427443" y="2705100"/>
                </a:lnTo>
                <a:close/>
              </a:path>
              <a:path w="3733165" h="2768600">
                <a:moveTo>
                  <a:pt x="2748216" y="12700"/>
                </a:moveTo>
                <a:lnTo>
                  <a:pt x="1739709" y="12700"/>
                </a:lnTo>
                <a:lnTo>
                  <a:pt x="1117917" y="76200"/>
                </a:lnTo>
                <a:lnTo>
                  <a:pt x="1003490" y="101600"/>
                </a:lnTo>
                <a:lnTo>
                  <a:pt x="893889" y="114300"/>
                </a:lnTo>
                <a:lnTo>
                  <a:pt x="740079" y="152400"/>
                </a:lnTo>
                <a:lnTo>
                  <a:pt x="645401" y="177800"/>
                </a:lnTo>
                <a:lnTo>
                  <a:pt x="600570" y="190500"/>
                </a:lnTo>
                <a:lnTo>
                  <a:pt x="557771" y="203200"/>
                </a:lnTo>
                <a:lnTo>
                  <a:pt x="516674" y="228600"/>
                </a:lnTo>
                <a:lnTo>
                  <a:pt x="477773" y="241300"/>
                </a:lnTo>
                <a:lnTo>
                  <a:pt x="440817" y="254000"/>
                </a:lnTo>
                <a:lnTo>
                  <a:pt x="406082" y="266700"/>
                </a:lnTo>
                <a:lnTo>
                  <a:pt x="373608" y="292100"/>
                </a:lnTo>
                <a:lnTo>
                  <a:pt x="343446" y="304800"/>
                </a:lnTo>
                <a:lnTo>
                  <a:pt x="315582" y="330200"/>
                </a:lnTo>
                <a:lnTo>
                  <a:pt x="289636" y="342900"/>
                </a:lnTo>
                <a:lnTo>
                  <a:pt x="264693" y="368300"/>
                </a:lnTo>
                <a:lnTo>
                  <a:pt x="219329" y="419100"/>
                </a:lnTo>
                <a:lnTo>
                  <a:pt x="178968" y="469900"/>
                </a:lnTo>
                <a:lnTo>
                  <a:pt x="143281" y="520700"/>
                </a:lnTo>
                <a:lnTo>
                  <a:pt x="112128" y="584200"/>
                </a:lnTo>
                <a:lnTo>
                  <a:pt x="85293" y="647700"/>
                </a:lnTo>
                <a:lnTo>
                  <a:pt x="62471" y="723900"/>
                </a:lnTo>
                <a:lnTo>
                  <a:pt x="43522" y="800100"/>
                </a:lnTo>
                <a:lnTo>
                  <a:pt x="28257" y="876300"/>
                </a:lnTo>
                <a:lnTo>
                  <a:pt x="16459" y="952500"/>
                </a:lnTo>
                <a:lnTo>
                  <a:pt x="7937" y="1028700"/>
                </a:lnTo>
                <a:lnTo>
                  <a:pt x="2578" y="1117600"/>
                </a:lnTo>
                <a:lnTo>
                  <a:pt x="0" y="1193800"/>
                </a:lnTo>
                <a:lnTo>
                  <a:pt x="203" y="1282700"/>
                </a:lnTo>
                <a:lnTo>
                  <a:pt x="2781" y="1371600"/>
                </a:lnTo>
                <a:lnTo>
                  <a:pt x="7861" y="1460500"/>
                </a:lnTo>
                <a:lnTo>
                  <a:pt x="14935" y="1549400"/>
                </a:lnTo>
                <a:lnTo>
                  <a:pt x="24028" y="1625600"/>
                </a:lnTo>
                <a:lnTo>
                  <a:pt x="34925" y="1714500"/>
                </a:lnTo>
                <a:lnTo>
                  <a:pt x="47345" y="1803400"/>
                </a:lnTo>
                <a:lnTo>
                  <a:pt x="61201" y="1879600"/>
                </a:lnTo>
                <a:lnTo>
                  <a:pt x="76212" y="1955800"/>
                </a:lnTo>
                <a:lnTo>
                  <a:pt x="92367" y="2044700"/>
                </a:lnTo>
                <a:lnTo>
                  <a:pt x="109283" y="2108200"/>
                </a:lnTo>
                <a:lnTo>
                  <a:pt x="126873" y="2184400"/>
                </a:lnTo>
                <a:lnTo>
                  <a:pt x="144868" y="2247900"/>
                </a:lnTo>
                <a:lnTo>
                  <a:pt x="163245" y="2311400"/>
                </a:lnTo>
                <a:lnTo>
                  <a:pt x="181737" y="2374900"/>
                </a:lnTo>
                <a:lnTo>
                  <a:pt x="200151" y="2425700"/>
                </a:lnTo>
                <a:lnTo>
                  <a:pt x="218414" y="2476500"/>
                </a:lnTo>
                <a:lnTo>
                  <a:pt x="236118" y="2527300"/>
                </a:lnTo>
                <a:lnTo>
                  <a:pt x="244830" y="2540000"/>
                </a:lnTo>
                <a:lnTo>
                  <a:pt x="253415" y="2565400"/>
                </a:lnTo>
                <a:lnTo>
                  <a:pt x="262178" y="2578100"/>
                </a:lnTo>
                <a:lnTo>
                  <a:pt x="271424" y="2590800"/>
                </a:lnTo>
                <a:lnTo>
                  <a:pt x="281114" y="2616200"/>
                </a:lnTo>
                <a:lnTo>
                  <a:pt x="312775" y="2654300"/>
                </a:lnTo>
                <a:lnTo>
                  <a:pt x="348259" y="2692400"/>
                </a:lnTo>
                <a:lnTo>
                  <a:pt x="360921" y="2705100"/>
                </a:lnTo>
                <a:lnTo>
                  <a:pt x="414655" y="2705100"/>
                </a:lnTo>
                <a:lnTo>
                  <a:pt x="402183" y="2692400"/>
                </a:lnTo>
                <a:lnTo>
                  <a:pt x="389966" y="2679700"/>
                </a:lnTo>
                <a:lnTo>
                  <a:pt x="378028" y="2679700"/>
                </a:lnTo>
                <a:lnTo>
                  <a:pt x="366687" y="2667000"/>
                </a:lnTo>
                <a:lnTo>
                  <a:pt x="334162" y="2628900"/>
                </a:lnTo>
                <a:lnTo>
                  <a:pt x="305054" y="2590800"/>
                </a:lnTo>
                <a:lnTo>
                  <a:pt x="279222" y="2552700"/>
                </a:lnTo>
                <a:lnTo>
                  <a:pt x="271043" y="2527300"/>
                </a:lnTo>
                <a:lnTo>
                  <a:pt x="262610" y="2514600"/>
                </a:lnTo>
                <a:lnTo>
                  <a:pt x="245262" y="2463800"/>
                </a:lnTo>
                <a:lnTo>
                  <a:pt x="227329" y="2425700"/>
                </a:lnTo>
                <a:lnTo>
                  <a:pt x="209169" y="2362200"/>
                </a:lnTo>
                <a:lnTo>
                  <a:pt x="190893" y="2311400"/>
                </a:lnTo>
                <a:lnTo>
                  <a:pt x="172694" y="2247900"/>
                </a:lnTo>
                <a:lnTo>
                  <a:pt x="154876" y="2171700"/>
                </a:lnTo>
                <a:lnTo>
                  <a:pt x="137401" y="2108200"/>
                </a:lnTo>
                <a:lnTo>
                  <a:pt x="120352" y="2030767"/>
                </a:lnTo>
                <a:lnTo>
                  <a:pt x="104571" y="1955800"/>
                </a:lnTo>
                <a:lnTo>
                  <a:pt x="89674" y="1879600"/>
                </a:lnTo>
                <a:lnTo>
                  <a:pt x="75907" y="1790700"/>
                </a:lnTo>
                <a:lnTo>
                  <a:pt x="63563" y="1714500"/>
                </a:lnTo>
                <a:lnTo>
                  <a:pt x="52743" y="1625600"/>
                </a:lnTo>
                <a:lnTo>
                  <a:pt x="43738" y="1536700"/>
                </a:lnTo>
                <a:lnTo>
                  <a:pt x="36715" y="1460500"/>
                </a:lnTo>
                <a:lnTo>
                  <a:pt x="31699" y="1371600"/>
                </a:lnTo>
                <a:lnTo>
                  <a:pt x="29133" y="1282700"/>
                </a:lnTo>
                <a:lnTo>
                  <a:pt x="28956" y="1193800"/>
                </a:lnTo>
                <a:lnTo>
                  <a:pt x="31521" y="1117600"/>
                </a:lnTo>
                <a:lnTo>
                  <a:pt x="36829" y="1028700"/>
                </a:lnTo>
                <a:lnTo>
                  <a:pt x="45262" y="952500"/>
                </a:lnTo>
                <a:lnTo>
                  <a:pt x="56895" y="876300"/>
                </a:lnTo>
                <a:lnTo>
                  <a:pt x="71920" y="800100"/>
                </a:lnTo>
                <a:lnTo>
                  <a:pt x="90500" y="723900"/>
                </a:lnTo>
                <a:lnTo>
                  <a:pt x="112826" y="660400"/>
                </a:lnTo>
                <a:lnTo>
                  <a:pt x="138950" y="596900"/>
                </a:lnTo>
                <a:lnTo>
                  <a:pt x="169138" y="533400"/>
                </a:lnTo>
                <a:lnTo>
                  <a:pt x="203555" y="482600"/>
                </a:lnTo>
                <a:lnTo>
                  <a:pt x="242252" y="431800"/>
                </a:lnTo>
                <a:lnTo>
                  <a:pt x="285470" y="381000"/>
                </a:lnTo>
                <a:lnTo>
                  <a:pt x="308533" y="368300"/>
                </a:lnTo>
                <a:lnTo>
                  <a:pt x="333070" y="342900"/>
                </a:lnTo>
                <a:lnTo>
                  <a:pt x="359498" y="330200"/>
                </a:lnTo>
                <a:lnTo>
                  <a:pt x="388391" y="317500"/>
                </a:lnTo>
                <a:lnTo>
                  <a:pt x="419734" y="292100"/>
                </a:lnTo>
                <a:lnTo>
                  <a:pt x="453389" y="279400"/>
                </a:lnTo>
                <a:lnTo>
                  <a:pt x="489394" y="266700"/>
                </a:lnTo>
                <a:lnTo>
                  <a:pt x="527456" y="254000"/>
                </a:lnTo>
                <a:lnTo>
                  <a:pt x="567702" y="228600"/>
                </a:lnTo>
                <a:lnTo>
                  <a:pt x="609866" y="215900"/>
                </a:lnTo>
                <a:lnTo>
                  <a:pt x="653999" y="203200"/>
                </a:lnTo>
                <a:lnTo>
                  <a:pt x="747534" y="177800"/>
                </a:lnTo>
                <a:lnTo>
                  <a:pt x="847725" y="152400"/>
                </a:lnTo>
                <a:lnTo>
                  <a:pt x="899985" y="139700"/>
                </a:lnTo>
                <a:lnTo>
                  <a:pt x="1008951" y="127000"/>
                </a:lnTo>
                <a:lnTo>
                  <a:pt x="1122616" y="101600"/>
                </a:lnTo>
                <a:lnTo>
                  <a:pt x="1741614" y="38100"/>
                </a:lnTo>
                <a:lnTo>
                  <a:pt x="1871027" y="38100"/>
                </a:lnTo>
                <a:lnTo>
                  <a:pt x="2000440" y="25400"/>
                </a:lnTo>
                <a:lnTo>
                  <a:pt x="2861754" y="25400"/>
                </a:lnTo>
                <a:lnTo>
                  <a:pt x="2748216" y="12700"/>
                </a:lnTo>
                <a:close/>
              </a:path>
              <a:path w="3733165" h="2768600">
                <a:moveTo>
                  <a:pt x="2879026" y="1917700"/>
                </a:moveTo>
                <a:lnTo>
                  <a:pt x="2849308" y="1917700"/>
                </a:lnTo>
                <a:lnTo>
                  <a:pt x="2835465" y="2044700"/>
                </a:lnTo>
                <a:lnTo>
                  <a:pt x="2864294" y="2032000"/>
                </a:lnTo>
                <a:lnTo>
                  <a:pt x="2864167" y="2032000"/>
                </a:lnTo>
                <a:lnTo>
                  <a:pt x="2840926" y="2019300"/>
                </a:lnTo>
                <a:lnTo>
                  <a:pt x="2848551" y="2008695"/>
                </a:lnTo>
                <a:lnTo>
                  <a:pt x="2846895" y="2006600"/>
                </a:lnTo>
                <a:lnTo>
                  <a:pt x="2851389" y="2004748"/>
                </a:lnTo>
                <a:lnTo>
                  <a:pt x="2873012" y="1974674"/>
                </a:lnTo>
                <a:lnTo>
                  <a:pt x="2879026" y="1917700"/>
                </a:lnTo>
                <a:close/>
              </a:path>
              <a:path w="3733165" h="2768600">
                <a:moveTo>
                  <a:pt x="2848551" y="2008695"/>
                </a:moveTo>
                <a:lnTo>
                  <a:pt x="2840926" y="2019300"/>
                </a:lnTo>
                <a:lnTo>
                  <a:pt x="2864167" y="2032000"/>
                </a:lnTo>
                <a:lnTo>
                  <a:pt x="2865499" y="2030149"/>
                </a:lnTo>
                <a:lnTo>
                  <a:pt x="2848551" y="2008695"/>
                </a:lnTo>
                <a:close/>
              </a:path>
              <a:path w="3733165" h="2768600">
                <a:moveTo>
                  <a:pt x="2865499" y="2030149"/>
                </a:moveTo>
                <a:lnTo>
                  <a:pt x="2864167" y="2032000"/>
                </a:lnTo>
                <a:lnTo>
                  <a:pt x="2864294" y="2032000"/>
                </a:lnTo>
                <a:lnTo>
                  <a:pt x="2866272" y="2031128"/>
                </a:lnTo>
                <a:lnTo>
                  <a:pt x="2865499" y="2030149"/>
                </a:lnTo>
                <a:close/>
              </a:path>
              <a:path w="3733165" h="2768600">
                <a:moveTo>
                  <a:pt x="2867091" y="2030767"/>
                </a:moveTo>
                <a:lnTo>
                  <a:pt x="2866272" y="2031128"/>
                </a:lnTo>
                <a:lnTo>
                  <a:pt x="2866961" y="2032000"/>
                </a:lnTo>
                <a:lnTo>
                  <a:pt x="2867091" y="2030767"/>
                </a:lnTo>
                <a:close/>
              </a:path>
              <a:path w="3733165" h="2768600">
                <a:moveTo>
                  <a:pt x="2867441" y="2027452"/>
                </a:moveTo>
                <a:lnTo>
                  <a:pt x="2865499" y="2030149"/>
                </a:lnTo>
                <a:lnTo>
                  <a:pt x="2866272" y="2031128"/>
                </a:lnTo>
                <a:lnTo>
                  <a:pt x="2867091" y="2030767"/>
                </a:lnTo>
                <a:lnTo>
                  <a:pt x="2867441" y="2027452"/>
                </a:lnTo>
                <a:close/>
              </a:path>
              <a:path w="3733165" h="2768600">
                <a:moveTo>
                  <a:pt x="2955226" y="1968500"/>
                </a:moveTo>
                <a:lnTo>
                  <a:pt x="2939351" y="1968500"/>
                </a:lnTo>
                <a:lnTo>
                  <a:pt x="2897457" y="1985764"/>
                </a:lnTo>
                <a:lnTo>
                  <a:pt x="2867441" y="2027452"/>
                </a:lnTo>
                <a:lnTo>
                  <a:pt x="2867091" y="2030767"/>
                </a:lnTo>
                <a:lnTo>
                  <a:pt x="2950781" y="1993900"/>
                </a:lnTo>
                <a:lnTo>
                  <a:pt x="2958147" y="1993900"/>
                </a:lnTo>
                <a:lnTo>
                  <a:pt x="2961576" y="1981200"/>
                </a:lnTo>
                <a:lnTo>
                  <a:pt x="2955226" y="1968500"/>
                </a:lnTo>
                <a:close/>
              </a:path>
              <a:path w="3733165" h="2768600">
                <a:moveTo>
                  <a:pt x="2870677" y="1996799"/>
                </a:moveTo>
                <a:lnTo>
                  <a:pt x="2851389" y="2004748"/>
                </a:lnTo>
                <a:lnTo>
                  <a:pt x="2848551" y="2008695"/>
                </a:lnTo>
                <a:lnTo>
                  <a:pt x="2865499" y="2030149"/>
                </a:lnTo>
                <a:lnTo>
                  <a:pt x="2867441" y="2027452"/>
                </a:lnTo>
                <a:lnTo>
                  <a:pt x="2870677" y="1996799"/>
                </a:lnTo>
                <a:close/>
              </a:path>
              <a:path w="3733165" h="2768600">
                <a:moveTo>
                  <a:pt x="2897457" y="1985764"/>
                </a:moveTo>
                <a:lnTo>
                  <a:pt x="2870677" y="1996799"/>
                </a:lnTo>
                <a:lnTo>
                  <a:pt x="2867441" y="2027452"/>
                </a:lnTo>
                <a:lnTo>
                  <a:pt x="2897457" y="1985764"/>
                </a:lnTo>
                <a:close/>
              </a:path>
              <a:path w="3733165" h="2768600">
                <a:moveTo>
                  <a:pt x="2851389" y="2004748"/>
                </a:moveTo>
                <a:lnTo>
                  <a:pt x="2846895" y="2006600"/>
                </a:lnTo>
                <a:lnTo>
                  <a:pt x="2848551" y="2008695"/>
                </a:lnTo>
                <a:lnTo>
                  <a:pt x="2851389" y="2004748"/>
                </a:lnTo>
                <a:close/>
              </a:path>
              <a:path w="3733165" h="2768600">
                <a:moveTo>
                  <a:pt x="2873012" y="1974674"/>
                </a:moveTo>
                <a:lnTo>
                  <a:pt x="2851389" y="2004748"/>
                </a:lnTo>
                <a:lnTo>
                  <a:pt x="2870677" y="1996799"/>
                </a:lnTo>
                <a:lnTo>
                  <a:pt x="2873012" y="1974674"/>
                </a:lnTo>
                <a:close/>
              </a:path>
              <a:path w="3733165" h="2768600">
                <a:moveTo>
                  <a:pt x="3415982" y="114300"/>
                </a:moveTo>
                <a:lnTo>
                  <a:pt x="3295586" y="114300"/>
                </a:lnTo>
                <a:lnTo>
                  <a:pt x="3335210" y="127000"/>
                </a:lnTo>
                <a:lnTo>
                  <a:pt x="3372675" y="139700"/>
                </a:lnTo>
                <a:lnTo>
                  <a:pt x="3407854" y="152400"/>
                </a:lnTo>
                <a:lnTo>
                  <a:pt x="3440747" y="152400"/>
                </a:lnTo>
                <a:lnTo>
                  <a:pt x="3471354" y="165100"/>
                </a:lnTo>
                <a:lnTo>
                  <a:pt x="3525075" y="190500"/>
                </a:lnTo>
                <a:lnTo>
                  <a:pt x="3568128" y="215900"/>
                </a:lnTo>
                <a:lnTo>
                  <a:pt x="3603180" y="241300"/>
                </a:lnTo>
                <a:lnTo>
                  <a:pt x="3632517" y="279400"/>
                </a:lnTo>
                <a:lnTo>
                  <a:pt x="3656393" y="304800"/>
                </a:lnTo>
                <a:lnTo>
                  <a:pt x="3675189" y="342900"/>
                </a:lnTo>
                <a:lnTo>
                  <a:pt x="3689159" y="381000"/>
                </a:lnTo>
                <a:lnTo>
                  <a:pt x="3698430" y="419100"/>
                </a:lnTo>
                <a:lnTo>
                  <a:pt x="3703256" y="457200"/>
                </a:lnTo>
                <a:lnTo>
                  <a:pt x="3703637" y="508000"/>
                </a:lnTo>
                <a:lnTo>
                  <a:pt x="3699827" y="546100"/>
                </a:lnTo>
                <a:lnTo>
                  <a:pt x="3691826" y="596900"/>
                </a:lnTo>
                <a:lnTo>
                  <a:pt x="3680015" y="647700"/>
                </a:lnTo>
                <a:lnTo>
                  <a:pt x="3664267" y="698500"/>
                </a:lnTo>
                <a:lnTo>
                  <a:pt x="3644963" y="762000"/>
                </a:lnTo>
                <a:lnTo>
                  <a:pt x="3622103" y="812800"/>
                </a:lnTo>
                <a:lnTo>
                  <a:pt x="3596068" y="876300"/>
                </a:lnTo>
                <a:lnTo>
                  <a:pt x="3566858" y="939800"/>
                </a:lnTo>
                <a:lnTo>
                  <a:pt x="3534600" y="1003300"/>
                </a:lnTo>
                <a:lnTo>
                  <a:pt x="3499675" y="1066800"/>
                </a:lnTo>
                <a:lnTo>
                  <a:pt x="3462210" y="1130300"/>
                </a:lnTo>
                <a:lnTo>
                  <a:pt x="3422332" y="1193800"/>
                </a:lnTo>
                <a:lnTo>
                  <a:pt x="3380168" y="1257300"/>
                </a:lnTo>
                <a:lnTo>
                  <a:pt x="3336099" y="1320800"/>
                </a:lnTo>
                <a:lnTo>
                  <a:pt x="3290125" y="1397000"/>
                </a:lnTo>
                <a:lnTo>
                  <a:pt x="3242500" y="1460500"/>
                </a:lnTo>
                <a:lnTo>
                  <a:pt x="3143059" y="1600200"/>
                </a:lnTo>
                <a:lnTo>
                  <a:pt x="3039173" y="1752600"/>
                </a:lnTo>
                <a:lnTo>
                  <a:pt x="2932239" y="1892300"/>
                </a:lnTo>
                <a:lnTo>
                  <a:pt x="2873012" y="1974674"/>
                </a:lnTo>
                <a:lnTo>
                  <a:pt x="2870677" y="1996799"/>
                </a:lnTo>
                <a:lnTo>
                  <a:pt x="2897457" y="1985764"/>
                </a:lnTo>
                <a:lnTo>
                  <a:pt x="2955607" y="1905000"/>
                </a:lnTo>
                <a:lnTo>
                  <a:pt x="3062541" y="1765300"/>
                </a:lnTo>
                <a:lnTo>
                  <a:pt x="3166681" y="1625600"/>
                </a:lnTo>
                <a:lnTo>
                  <a:pt x="3266376" y="1485900"/>
                </a:lnTo>
                <a:lnTo>
                  <a:pt x="3314128" y="1409700"/>
                </a:lnTo>
                <a:lnTo>
                  <a:pt x="3360356" y="1346200"/>
                </a:lnTo>
                <a:lnTo>
                  <a:pt x="3404679" y="1270000"/>
                </a:lnTo>
                <a:lnTo>
                  <a:pt x="3447097" y="1206500"/>
                </a:lnTo>
                <a:lnTo>
                  <a:pt x="3487229" y="1143000"/>
                </a:lnTo>
                <a:lnTo>
                  <a:pt x="3524948" y="1079500"/>
                </a:lnTo>
                <a:lnTo>
                  <a:pt x="3560381" y="1016000"/>
                </a:lnTo>
                <a:lnTo>
                  <a:pt x="3592893" y="952500"/>
                </a:lnTo>
                <a:lnTo>
                  <a:pt x="3622484" y="889000"/>
                </a:lnTo>
                <a:lnTo>
                  <a:pt x="3649027" y="825500"/>
                </a:lnTo>
                <a:lnTo>
                  <a:pt x="3672268" y="774700"/>
                </a:lnTo>
                <a:lnTo>
                  <a:pt x="3692080" y="711200"/>
                </a:lnTo>
                <a:lnTo>
                  <a:pt x="3708209" y="660400"/>
                </a:lnTo>
                <a:lnTo>
                  <a:pt x="3720528" y="609600"/>
                </a:lnTo>
                <a:lnTo>
                  <a:pt x="3728656" y="558800"/>
                </a:lnTo>
                <a:lnTo>
                  <a:pt x="3732593" y="508000"/>
                </a:lnTo>
                <a:lnTo>
                  <a:pt x="3731958" y="457200"/>
                </a:lnTo>
                <a:lnTo>
                  <a:pt x="3726497" y="406400"/>
                </a:lnTo>
                <a:lnTo>
                  <a:pt x="3716210" y="368300"/>
                </a:lnTo>
                <a:lnTo>
                  <a:pt x="3700589" y="330200"/>
                </a:lnTo>
                <a:lnTo>
                  <a:pt x="3679634" y="292100"/>
                </a:lnTo>
                <a:lnTo>
                  <a:pt x="3652964" y="254000"/>
                </a:lnTo>
                <a:lnTo>
                  <a:pt x="3620960" y="228600"/>
                </a:lnTo>
                <a:lnTo>
                  <a:pt x="3583495" y="190500"/>
                </a:lnTo>
                <a:lnTo>
                  <a:pt x="3537394" y="165100"/>
                </a:lnTo>
                <a:lnTo>
                  <a:pt x="3481260" y="139700"/>
                </a:lnTo>
                <a:lnTo>
                  <a:pt x="3449764" y="127000"/>
                </a:lnTo>
                <a:lnTo>
                  <a:pt x="3415982" y="114300"/>
                </a:lnTo>
                <a:close/>
              </a:path>
              <a:path w="3733165" h="2768600">
                <a:moveTo>
                  <a:pt x="2857436" y="1905000"/>
                </a:moveTo>
                <a:lnTo>
                  <a:pt x="2850197" y="1917700"/>
                </a:lnTo>
                <a:lnTo>
                  <a:pt x="2873311" y="1917700"/>
                </a:lnTo>
                <a:lnTo>
                  <a:pt x="2857436" y="1905000"/>
                </a:lnTo>
                <a:close/>
              </a:path>
              <a:path w="3733165" h="2768600">
                <a:moveTo>
                  <a:pt x="3259645" y="76200"/>
                </a:moveTo>
                <a:lnTo>
                  <a:pt x="3069399" y="76200"/>
                </a:lnTo>
                <a:lnTo>
                  <a:pt x="3118167" y="88900"/>
                </a:lnTo>
                <a:lnTo>
                  <a:pt x="3165284" y="88900"/>
                </a:lnTo>
                <a:lnTo>
                  <a:pt x="3210623" y="101600"/>
                </a:lnTo>
                <a:lnTo>
                  <a:pt x="3254057" y="114300"/>
                </a:lnTo>
                <a:lnTo>
                  <a:pt x="3380041" y="114300"/>
                </a:lnTo>
                <a:lnTo>
                  <a:pt x="3341814" y="101600"/>
                </a:lnTo>
                <a:lnTo>
                  <a:pt x="3301809" y="88900"/>
                </a:lnTo>
                <a:lnTo>
                  <a:pt x="3259645" y="76200"/>
                </a:lnTo>
                <a:close/>
              </a:path>
              <a:path w="3733165" h="2768600">
                <a:moveTo>
                  <a:pt x="3122358" y="50800"/>
                </a:moveTo>
                <a:lnTo>
                  <a:pt x="2859341" y="50800"/>
                </a:lnTo>
                <a:lnTo>
                  <a:pt x="2967291" y="63500"/>
                </a:lnTo>
                <a:lnTo>
                  <a:pt x="3019107" y="76200"/>
                </a:lnTo>
                <a:lnTo>
                  <a:pt x="3215703" y="76200"/>
                </a:lnTo>
                <a:lnTo>
                  <a:pt x="3122358" y="50800"/>
                </a:lnTo>
                <a:close/>
              </a:path>
              <a:path w="3733165" h="2768600">
                <a:moveTo>
                  <a:pt x="3022409" y="38100"/>
                </a:moveTo>
                <a:lnTo>
                  <a:pt x="2629090" y="38100"/>
                </a:lnTo>
                <a:lnTo>
                  <a:pt x="2746438" y="50800"/>
                </a:lnTo>
                <a:lnTo>
                  <a:pt x="3073209" y="50800"/>
                </a:lnTo>
                <a:lnTo>
                  <a:pt x="3022409" y="38100"/>
                </a:lnTo>
                <a:close/>
              </a:path>
              <a:path w="3733165" h="2768600">
                <a:moveTo>
                  <a:pt x="2861754" y="25400"/>
                </a:moveTo>
                <a:lnTo>
                  <a:pt x="2384107" y="25400"/>
                </a:lnTo>
                <a:lnTo>
                  <a:pt x="2508186" y="38100"/>
                </a:lnTo>
                <a:lnTo>
                  <a:pt x="2970212" y="38100"/>
                </a:lnTo>
                <a:lnTo>
                  <a:pt x="2861754" y="25400"/>
                </a:lnTo>
                <a:close/>
              </a:path>
              <a:path w="3733165" h="2768600">
                <a:moveTo>
                  <a:pt x="2508821" y="0"/>
                </a:moveTo>
                <a:lnTo>
                  <a:pt x="1999424" y="0"/>
                </a:lnTo>
                <a:lnTo>
                  <a:pt x="1869503" y="12700"/>
                </a:lnTo>
                <a:lnTo>
                  <a:pt x="2630360" y="12700"/>
                </a:lnTo>
                <a:lnTo>
                  <a:pt x="25088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5830" y="2145600"/>
            <a:ext cx="4615450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loop</a:t>
            </a:r>
            <a:r>
              <a:rPr sz="378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78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dependency</a:t>
            </a:r>
            <a:endParaRPr sz="378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4651" y="1953844"/>
            <a:ext cx="8909914" cy="3221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</a:t>
            </a:r>
            <a:r>
              <a:rPr dirty="0"/>
              <a:t>s</a:t>
            </a:r>
            <a:r>
              <a:rPr spc="-20" dirty="0"/>
              <a:t>o</a:t>
            </a:r>
            <a:r>
              <a:rPr dirty="0"/>
              <a:t>lution</a:t>
            </a:r>
            <a:r>
              <a:rPr spc="-10" dirty="0"/>
              <a:t> </a:t>
            </a:r>
            <a:r>
              <a:rPr spc="-5" dirty="0"/>
              <a:t>#2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21389" y="3797407"/>
            <a:ext cx="2695670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altLang="zh-CN"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set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altLang="zh-CN"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as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pr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ope.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38338" y="2887427"/>
            <a:ext cx="1537526" cy="725424"/>
          </a:xfrm>
          <a:custGeom>
            <a:avLst/>
            <a:gdLst/>
            <a:ahLst/>
            <a:cxnLst/>
            <a:rect l="l" t="t" r="r" b="b"/>
            <a:pathLst>
              <a:path w="1464310" h="690879">
                <a:moveTo>
                  <a:pt x="1411207" y="256286"/>
                </a:moveTo>
                <a:lnTo>
                  <a:pt x="1287890" y="256286"/>
                </a:lnTo>
                <a:lnTo>
                  <a:pt x="1299828" y="256413"/>
                </a:lnTo>
                <a:lnTo>
                  <a:pt x="1311004" y="256921"/>
                </a:lnTo>
                <a:lnTo>
                  <a:pt x="1362312" y="267208"/>
                </a:lnTo>
                <a:lnTo>
                  <a:pt x="1396983" y="285242"/>
                </a:lnTo>
                <a:lnTo>
                  <a:pt x="1423018" y="316357"/>
                </a:lnTo>
                <a:lnTo>
                  <a:pt x="1432289" y="356616"/>
                </a:lnTo>
                <a:lnTo>
                  <a:pt x="1432200" y="369697"/>
                </a:lnTo>
                <a:lnTo>
                  <a:pt x="1426995" y="407924"/>
                </a:lnTo>
                <a:lnTo>
                  <a:pt x="1414763" y="451612"/>
                </a:lnTo>
                <a:lnTo>
                  <a:pt x="1396348" y="499745"/>
                </a:lnTo>
                <a:lnTo>
                  <a:pt x="1364598" y="567944"/>
                </a:lnTo>
                <a:lnTo>
                  <a:pt x="1346437" y="603377"/>
                </a:lnTo>
                <a:lnTo>
                  <a:pt x="1308210" y="675386"/>
                </a:lnTo>
                <a:lnTo>
                  <a:pt x="1336404" y="690372"/>
                </a:lnTo>
                <a:lnTo>
                  <a:pt x="1355835" y="654050"/>
                </a:lnTo>
                <a:lnTo>
                  <a:pt x="1375012" y="617855"/>
                </a:lnTo>
                <a:lnTo>
                  <a:pt x="1393300" y="581787"/>
                </a:lnTo>
                <a:lnTo>
                  <a:pt x="1410445" y="546481"/>
                </a:lnTo>
                <a:lnTo>
                  <a:pt x="1432924" y="494792"/>
                </a:lnTo>
                <a:lnTo>
                  <a:pt x="1450450" y="445135"/>
                </a:lnTo>
                <a:lnTo>
                  <a:pt x="1461499" y="398018"/>
                </a:lnTo>
                <a:lnTo>
                  <a:pt x="1464209" y="369697"/>
                </a:lnTo>
                <a:lnTo>
                  <a:pt x="1464166" y="353822"/>
                </a:lnTo>
                <a:lnTo>
                  <a:pt x="1456165" y="312928"/>
                </a:lnTo>
                <a:lnTo>
                  <a:pt x="1435591" y="277622"/>
                </a:lnTo>
                <a:lnTo>
                  <a:pt x="1414382" y="258318"/>
                </a:lnTo>
                <a:lnTo>
                  <a:pt x="1411207" y="256286"/>
                </a:lnTo>
                <a:close/>
              </a:path>
              <a:path w="1464310" h="690879">
                <a:moveTo>
                  <a:pt x="80145" y="62902"/>
                </a:moveTo>
                <a:lnTo>
                  <a:pt x="61528" y="86455"/>
                </a:lnTo>
                <a:lnTo>
                  <a:pt x="60435" y="96139"/>
                </a:lnTo>
                <a:lnTo>
                  <a:pt x="57641" y="128270"/>
                </a:lnTo>
                <a:lnTo>
                  <a:pt x="56371" y="160020"/>
                </a:lnTo>
                <a:lnTo>
                  <a:pt x="56879" y="190754"/>
                </a:lnTo>
                <a:lnTo>
                  <a:pt x="61832" y="235585"/>
                </a:lnTo>
                <a:lnTo>
                  <a:pt x="72934" y="277622"/>
                </a:lnTo>
                <a:lnTo>
                  <a:pt x="91804" y="315849"/>
                </a:lnTo>
                <a:lnTo>
                  <a:pt x="119998" y="349631"/>
                </a:lnTo>
                <a:lnTo>
                  <a:pt x="157971" y="377317"/>
                </a:lnTo>
                <a:lnTo>
                  <a:pt x="206485" y="398272"/>
                </a:lnTo>
                <a:lnTo>
                  <a:pt x="245093" y="407924"/>
                </a:lnTo>
                <a:lnTo>
                  <a:pt x="292972" y="412877"/>
                </a:lnTo>
                <a:lnTo>
                  <a:pt x="306307" y="413258"/>
                </a:lnTo>
                <a:lnTo>
                  <a:pt x="320404" y="413131"/>
                </a:lnTo>
                <a:lnTo>
                  <a:pt x="381364" y="409575"/>
                </a:lnTo>
                <a:lnTo>
                  <a:pt x="450071" y="401447"/>
                </a:lnTo>
                <a:lnTo>
                  <a:pt x="525001" y="389890"/>
                </a:lnTo>
                <a:lnTo>
                  <a:pt x="573242" y="381254"/>
                </a:lnTo>
                <a:lnTo>
                  <a:pt x="306942" y="381254"/>
                </a:lnTo>
                <a:lnTo>
                  <a:pt x="294369" y="381000"/>
                </a:lnTo>
                <a:lnTo>
                  <a:pt x="252078" y="376809"/>
                </a:lnTo>
                <a:lnTo>
                  <a:pt x="201659" y="362585"/>
                </a:lnTo>
                <a:lnTo>
                  <a:pt x="162924" y="342900"/>
                </a:lnTo>
                <a:lnTo>
                  <a:pt x="126348" y="309245"/>
                </a:lnTo>
                <a:lnTo>
                  <a:pt x="103361" y="267462"/>
                </a:lnTo>
                <a:lnTo>
                  <a:pt x="93455" y="230632"/>
                </a:lnTo>
                <a:lnTo>
                  <a:pt x="88883" y="190246"/>
                </a:lnTo>
                <a:lnTo>
                  <a:pt x="88375" y="161290"/>
                </a:lnTo>
                <a:lnTo>
                  <a:pt x="89645" y="131064"/>
                </a:lnTo>
                <a:lnTo>
                  <a:pt x="92185" y="99822"/>
                </a:lnTo>
                <a:lnTo>
                  <a:pt x="92846" y="94078"/>
                </a:lnTo>
                <a:lnTo>
                  <a:pt x="80145" y="62902"/>
                </a:lnTo>
                <a:close/>
              </a:path>
              <a:path w="1464310" h="690879">
                <a:moveTo>
                  <a:pt x="1300336" y="224409"/>
                </a:moveTo>
                <a:lnTo>
                  <a:pt x="1274174" y="224409"/>
                </a:lnTo>
                <a:lnTo>
                  <a:pt x="1260204" y="224917"/>
                </a:lnTo>
                <a:lnTo>
                  <a:pt x="1199117" y="229997"/>
                </a:lnTo>
                <a:lnTo>
                  <a:pt x="1130537" y="239268"/>
                </a:lnTo>
                <a:lnTo>
                  <a:pt x="1055734" y="251841"/>
                </a:lnTo>
                <a:lnTo>
                  <a:pt x="976105" y="266827"/>
                </a:lnTo>
                <a:lnTo>
                  <a:pt x="598788" y="343916"/>
                </a:lnTo>
                <a:lnTo>
                  <a:pt x="519921" y="358267"/>
                </a:lnTo>
                <a:lnTo>
                  <a:pt x="482202" y="364363"/>
                </a:lnTo>
                <a:lnTo>
                  <a:pt x="411463" y="374142"/>
                </a:lnTo>
                <a:lnTo>
                  <a:pt x="348344" y="379984"/>
                </a:lnTo>
                <a:lnTo>
                  <a:pt x="306942" y="381254"/>
                </a:lnTo>
                <a:lnTo>
                  <a:pt x="573242" y="381254"/>
                </a:lnTo>
                <a:lnTo>
                  <a:pt x="687688" y="359029"/>
                </a:lnTo>
                <a:lnTo>
                  <a:pt x="982455" y="298196"/>
                </a:lnTo>
                <a:lnTo>
                  <a:pt x="1061576" y="283337"/>
                </a:lnTo>
                <a:lnTo>
                  <a:pt x="1099295" y="276733"/>
                </a:lnTo>
                <a:lnTo>
                  <a:pt x="1170288" y="265811"/>
                </a:lnTo>
                <a:lnTo>
                  <a:pt x="1233788" y="258699"/>
                </a:lnTo>
                <a:lnTo>
                  <a:pt x="1275317" y="256413"/>
                </a:lnTo>
                <a:lnTo>
                  <a:pt x="1287890" y="256286"/>
                </a:lnTo>
                <a:lnTo>
                  <a:pt x="1411207" y="256286"/>
                </a:lnTo>
                <a:lnTo>
                  <a:pt x="1401682" y="250190"/>
                </a:lnTo>
                <a:lnTo>
                  <a:pt x="1354946" y="231267"/>
                </a:lnTo>
                <a:lnTo>
                  <a:pt x="1312401" y="224917"/>
                </a:lnTo>
                <a:lnTo>
                  <a:pt x="1300336" y="224409"/>
                </a:lnTo>
                <a:close/>
              </a:path>
              <a:path w="1464310" h="690879">
                <a:moveTo>
                  <a:pt x="101012" y="29210"/>
                </a:moveTo>
                <a:lnTo>
                  <a:pt x="68817" y="29210"/>
                </a:lnTo>
                <a:lnTo>
                  <a:pt x="100440" y="33782"/>
                </a:lnTo>
                <a:lnTo>
                  <a:pt x="100186" y="35179"/>
                </a:lnTo>
                <a:lnTo>
                  <a:pt x="95868" y="67818"/>
                </a:lnTo>
                <a:lnTo>
                  <a:pt x="92846" y="94078"/>
                </a:lnTo>
                <a:lnTo>
                  <a:pt x="111743" y="140462"/>
                </a:lnTo>
                <a:lnTo>
                  <a:pt x="112191" y="141463"/>
                </a:lnTo>
                <a:lnTo>
                  <a:pt x="120911" y="149286"/>
                </a:lnTo>
                <a:lnTo>
                  <a:pt x="133168" y="148972"/>
                </a:lnTo>
                <a:lnTo>
                  <a:pt x="141334" y="140462"/>
                </a:lnTo>
                <a:lnTo>
                  <a:pt x="141283" y="128270"/>
                </a:lnTo>
                <a:lnTo>
                  <a:pt x="101012" y="29210"/>
                </a:lnTo>
                <a:close/>
              </a:path>
              <a:path w="1464310" h="690879">
                <a:moveTo>
                  <a:pt x="89137" y="0"/>
                </a:moveTo>
                <a:lnTo>
                  <a:pt x="3158" y="108712"/>
                </a:lnTo>
                <a:lnTo>
                  <a:pt x="2281" y="109947"/>
                </a:lnTo>
                <a:lnTo>
                  <a:pt x="0" y="121294"/>
                </a:lnTo>
                <a:lnTo>
                  <a:pt x="6348" y="131673"/>
                </a:lnTo>
                <a:lnTo>
                  <a:pt x="17882" y="134494"/>
                </a:lnTo>
                <a:lnTo>
                  <a:pt x="28177" y="128651"/>
                </a:lnTo>
                <a:lnTo>
                  <a:pt x="61528" y="86455"/>
                </a:lnTo>
                <a:lnTo>
                  <a:pt x="64118" y="63500"/>
                </a:lnTo>
                <a:lnTo>
                  <a:pt x="68563" y="30734"/>
                </a:lnTo>
                <a:lnTo>
                  <a:pt x="68817" y="29210"/>
                </a:lnTo>
                <a:lnTo>
                  <a:pt x="101012" y="29210"/>
                </a:lnTo>
                <a:lnTo>
                  <a:pt x="89137" y="0"/>
                </a:lnTo>
                <a:close/>
              </a:path>
              <a:path w="1464310" h="690879">
                <a:moveTo>
                  <a:pt x="99867" y="37592"/>
                </a:moveTo>
                <a:lnTo>
                  <a:pt x="69833" y="37592"/>
                </a:lnTo>
                <a:lnTo>
                  <a:pt x="97138" y="41402"/>
                </a:lnTo>
                <a:lnTo>
                  <a:pt x="80145" y="62902"/>
                </a:lnTo>
                <a:lnTo>
                  <a:pt x="92846" y="94078"/>
                </a:lnTo>
                <a:lnTo>
                  <a:pt x="95868" y="67818"/>
                </a:lnTo>
                <a:lnTo>
                  <a:pt x="99867" y="37592"/>
                </a:lnTo>
                <a:close/>
              </a:path>
              <a:path w="1464310" h="690879">
                <a:moveTo>
                  <a:pt x="68817" y="29210"/>
                </a:moveTo>
                <a:lnTo>
                  <a:pt x="68563" y="30734"/>
                </a:lnTo>
                <a:lnTo>
                  <a:pt x="64118" y="63500"/>
                </a:lnTo>
                <a:lnTo>
                  <a:pt x="61528" y="86455"/>
                </a:lnTo>
                <a:lnTo>
                  <a:pt x="80145" y="62902"/>
                </a:lnTo>
                <a:lnTo>
                  <a:pt x="69833" y="37592"/>
                </a:lnTo>
                <a:lnTo>
                  <a:pt x="99867" y="37592"/>
                </a:lnTo>
                <a:lnTo>
                  <a:pt x="100186" y="35179"/>
                </a:lnTo>
                <a:lnTo>
                  <a:pt x="100440" y="33782"/>
                </a:lnTo>
                <a:lnTo>
                  <a:pt x="68817" y="29210"/>
                </a:lnTo>
                <a:close/>
              </a:path>
              <a:path w="1464310" h="690879">
                <a:moveTo>
                  <a:pt x="69833" y="37592"/>
                </a:moveTo>
                <a:lnTo>
                  <a:pt x="80145" y="62902"/>
                </a:lnTo>
                <a:lnTo>
                  <a:pt x="97138" y="41402"/>
                </a:lnTo>
                <a:lnTo>
                  <a:pt x="69833" y="3759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54343" y="2617927"/>
            <a:ext cx="2427637" cy="336042"/>
          </a:xfrm>
          <a:custGeom>
            <a:avLst/>
            <a:gdLst/>
            <a:ahLst/>
            <a:cxnLst/>
            <a:rect l="l" t="t" r="r" b="b"/>
            <a:pathLst>
              <a:path w="2312035" h="320039">
                <a:moveTo>
                  <a:pt x="0" y="53339"/>
                </a:moveTo>
                <a:lnTo>
                  <a:pt x="15916" y="15328"/>
                </a:lnTo>
                <a:lnTo>
                  <a:pt x="2258568" y="0"/>
                </a:lnTo>
                <a:lnTo>
                  <a:pt x="2272887" y="1943"/>
                </a:lnTo>
                <a:lnTo>
                  <a:pt x="2304906" y="26898"/>
                </a:lnTo>
                <a:lnTo>
                  <a:pt x="2311908" y="266700"/>
                </a:lnTo>
                <a:lnTo>
                  <a:pt x="2309964" y="281019"/>
                </a:lnTo>
                <a:lnTo>
                  <a:pt x="2285009" y="313038"/>
                </a:lnTo>
                <a:lnTo>
                  <a:pt x="53340" y="320039"/>
                </a:lnTo>
                <a:lnTo>
                  <a:pt x="39020" y="318096"/>
                </a:lnTo>
                <a:lnTo>
                  <a:pt x="7001" y="293141"/>
                </a:lnTo>
                <a:lnTo>
                  <a:pt x="0" y="53339"/>
                </a:lnTo>
                <a:close/>
              </a:path>
            </a:pathLst>
          </a:cu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sharing attributes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495935" y="1440180"/>
            <a:ext cx="8425145" cy="4586605"/>
          </a:xfrm>
        </p:spPr>
        <p:txBody>
          <a:bodyPr/>
          <a:lstStyle/>
          <a:p>
            <a:r>
              <a:rPr lang="en-US" sz="2800" b="0" dirty="0"/>
              <a:t>One can selectively change storage attributes Constructs using the following clauses*</a:t>
            </a:r>
          </a:p>
          <a:p>
            <a:pPr lvl="1"/>
            <a:r>
              <a:rPr lang="en-US" sz="2400" b="0" dirty="0"/>
              <a:t>• SHARED</a:t>
            </a:r>
          </a:p>
          <a:p>
            <a:pPr lvl="1"/>
            <a:r>
              <a:rPr lang="en-US" sz="2400" b="0" dirty="0"/>
              <a:t>• PRIVATE</a:t>
            </a:r>
          </a:p>
          <a:p>
            <a:pPr lvl="1"/>
            <a:r>
              <a:rPr lang="en-US" sz="2400" b="0" dirty="0"/>
              <a:t>• FIRSTPRIVATE</a:t>
            </a:r>
          </a:p>
          <a:p>
            <a:pPr lvl="1"/>
            <a:r>
              <a:rPr lang="en-US" sz="2400" b="0" dirty="0"/>
              <a:t>• THREADPRIVATE</a:t>
            </a:r>
          </a:p>
          <a:p>
            <a:r>
              <a:rPr lang="en-US" sz="2800" b="0" dirty="0"/>
              <a:t>The value of a private inside a parallel loop can be transmitted to a global value outside the loop with:</a:t>
            </a:r>
          </a:p>
          <a:p>
            <a:pPr lvl="1"/>
            <a:r>
              <a:rPr lang="en-US" sz="2400" b="0" dirty="0"/>
              <a:t>• LASTPRIVATE</a:t>
            </a:r>
          </a:p>
          <a:p>
            <a:r>
              <a:rPr lang="en-US" sz="2800" b="0" dirty="0"/>
              <a:t>• The default status can be modified with:</a:t>
            </a:r>
          </a:p>
          <a:p>
            <a:pPr lvl="1"/>
            <a:r>
              <a:rPr lang="en-US" sz="2400" b="0" dirty="0"/>
              <a:t>• DEFAULT (PRIVATE | SHARED | NONE)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8C5CC-4E7A-5D4C-9DFC-0E842E2E8279}"/>
              </a:ext>
            </a:extLst>
          </p:cNvPr>
          <p:cNvSpPr txBox="1"/>
          <p:nvPr/>
        </p:nvSpPr>
        <p:spPr>
          <a:xfrm>
            <a:off x="9137104" y="1080170"/>
            <a:ext cx="3456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default(private), </a:t>
            </a:r>
            <a:r>
              <a:rPr lang="en-US" sz="2400" dirty="0"/>
              <a:t>for example, </a:t>
            </a:r>
            <a:r>
              <a:rPr lang="en-US" altLang="zh-CN" sz="2400" dirty="0"/>
              <a:t>all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variables</a:t>
            </a:r>
            <a:r>
              <a:rPr lang="zh-CN" altLang="en-US" sz="2400" dirty="0"/>
              <a:t> </a:t>
            </a:r>
            <a:r>
              <a:rPr lang="en-US" altLang="zh-CN" sz="2400" dirty="0"/>
              <a:t>are</a:t>
            </a:r>
            <a:r>
              <a:rPr lang="zh-CN" altLang="en-US" sz="2400" dirty="0"/>
              <a:t> </a:t>
            </a:r>
            <a:r>
              <a:rPr lang="en-US" altLang="zh-CN" sz="2400" dirty="0"/>
              <a:t>set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private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default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sz="2400" dirty="0"/>
              <a:t>can be used to avoid large list of variables to be privatized </a:t>
            </a:r>
          </a:p>
          <a:p>
            <a:endParaRPr lang="en-US" sz="2400" dirty="0"/>
          </a:p>
          <a:p>
            <a:r>
              <a:rPr lang="en-US" sz="2400" b="1" dirty="0"/>
              <a:t>default(none) </a:t>
            </a:r>
            <a:r>
              <a:rPr lang="en-US" sz="2400" dirty="0"/>
              <a:t>: many programmers like to use this clause so they are forced to express each variable’s sharing attribute: shared/private/</a:t>
            </a:r>
            <a:r>
              <a:rPr lang="en-US" sz="2400" dirty="0" err="1"/>
              <a:t>lastprivate</a:t>
            </a:r>
            <a:r>
              <a:rPr lang="en-US" sz="2400" dirty="0"/>
              <a:t>/</a:t>
            </a:r>
            <a:r>
              <a:rPr lang="en-US" sz="2400" dirty="0" err="1"/>
              <a:t>firstprivate</a:t>
            </a:r>
            <a:r>
              <a:rPr lang="en-US" sz="2400" dirty="0"/>
              <a:t> explicitly</a:t>
            </a:r>
            <a:endParaRPr lang="en-US" sz="3600" b="0" dirty="0"/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clause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136525" y="1152525"/>
            <a:ext cx="12770485" cy="5074920"/>
          </a:xfrm>
        </p:spPr>
        <p:txBody>
          <a:bodyPr/>
          <a:lstStyle/>
          <a:p>
            <a:r>
              <a:rPr lang="en-US" sz="2800" b="0" dirty="0"/>
              <a:t>• </a:t>
            </a:r>
            <a:r>
              <a:rPr lang="en-US" sz="2800" b="0" dirty="0">
                <a:solidFill>
                  <a:srgbClr val="FF0000"/>
                </a:solidFill>
              </a:rPr>
              <a:t>private (</a:t>
            </a:r>
            <a:r>
              <a:rPr lang="en-US" sz="2800" b="0" dirty="0" err="1">
                <a:solidFill>
                  <a:srgbClr val="FF0000"/>
                </a:solidFill>
              </a:rPr>
              <a:t>var</a:t>
            </a:r>
            <a:r>
              <a:rPr lang="en-US" sz="2800" b="0" dirty="0">
                <a:solidFill>
                  <a:srgbClr val="FF0000"/>
                </a:solidFill>
              </a:rPr>
              <a:t>) </a:t>
            </a:r>
            <a:r>
              <a:rPr lang="en-US" sz="2800" b="0" dirty="0"/>
              <a:t>creates a local copy of </a:t>
            </a:r>
            <a:r>
              <a:rPr lang="en-US" sz="2800" b="0" dirty="0" err="1"/>
              <a:t>var</a:t>
            </a:r>
            <a:r>
              <a:rPr lang="en-US" sz="2800" b="0" dirty="0"/>
              <a:t> for each thread</a:t>
            </a:r>
          </a:p>
          <a:p>
            <a:pPr lvl="1"/>
            <a:r>
              <a:rPr lang="en-US" sz="2400" b="0" dirty="0"/>
              <a:t>– The value is uninitialized</a:t>
            </a:r>
          </a:p>
          <a:p>
            <a:pPr lvl="1"/>
            <a:r>
              <a:rPr lang="en-US" sz="2400" b="0" dirty="0"/>
              <a:t>– Private copy is not storage-associated with the original</a:t>
            </a:r>
          </a:p>
          <a:p>
            <a:pPr lvl="1"/>
            <a:r>
              <a:rPr lang="en-US" sz="2400" b="0" dirty="0"/>
              <a:t>– The original is undefined at the end</a:t>
            </a:r>
          </a:p>
          <a:p>
            <a:r>
              <a:rPr lang="en-US" sz="2800" b="0" dirty="0"/>
              <a:t>• Each thread gets its own </a:t>
            </a:r>
            <a:r>
              <a:rPr lang="en-US" sz="2800" b="0" dirty="0" err="1"/>
              <a:t>var</a:t>
            </a:r>
            <a:r>
              <a:rPr lang="en-US" sz="2800" b="0" dirty="0"/>
              <a:t> which are however not initialized </a:t>
            </a:r>
          </a:p>
          <a:p>
            <a:r>
              <a:rPr lang="en-US" sz="2800" b="0" dirty="0"/>
              <a:t>• Regardless of initialization, </a:t>
            </a:r>
            <a:r>
              <a:rPr lang="en-US" sz="2800" b="0" dirty="0" err="1"/>
              <a:t>var</a:t>
            </a:r>
            <a:r>
              <a:rPr lang="en-US" sz="2800" b="0" dirty="0"/>
              <a:t> is undefined at the end of the parallel region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42054" y="4464685"/>
            <a:ext cx="6259146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310" dirty="0">
                <a:latin typeface="Comic Sans MS" panose="030F0702030302020204" pitchFamily="66" charset="0"/>
              </a:rPr>
              <a:t>int var; 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#pragma omp parallel for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private</a:t>
            </a:r>
            <a:r>
              <a:rPr lang="nb-NO" sz="2310" dirty="0">
                <a:latin typeface="Comic Sans MS" panose="030F0702030302020204" pitchFamily="66" charset="0"/>
              </a:rPr>
              <a:t> (var) 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for ( j=0; j&lt;1000; </a:t>
            </a:r>
            <a:r>
              <a:rPr lang="en-US" sz="2310" dirty="0" err="1">
                <a:latin typeface="Comic Sans MS" panose="030F0702030302020204" pitchFamily="66" charset="0"/>
              </a:rPr>
              <a:t>j++</a:t>
            </a:r>
            <a:r>
              <a:rPr lang="en-US" sz="2310" dirty="0">
                <a:latin typeface="Comic Sans MS" panose="030F0702030302020204" pitchFamily="66" charset="0"/>
              </a:rPr>
              <a:t> ) 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      </a:t>
            </a:r>
            <a:r>
              <a:rPr lang="en-US" sz="2310" dirty="0" err="1">
                <a:latin typeface="Comic Sans MS" panose="030F0702030302020204" pitchFamily="66" charset="0"/>
              </a:rPr>
              <a:t>var</a:t>
            </a:r>
            <a:r>
              <a:rPr lang="en-US" sz="2310" dirty="0">
                <a:latin typeface="Comic Sans MS" panose="030F0702030302020204" pitchFamily="66" charset="0"/>
              </a:rPr>
              <a:t> = </a:t>
            </a:r>
            <a:r>
              <a:rPr lang="en-US" sz="2310" dirty="0" err="1">
                <a:latin typeface="Comic Sans MS" panose="030F0702030302020204" pitchFamily="66" charset="0"/>
              </a:rPr>
              <a:t>var</a:t>
            </a:r>
            <a:r>
              <a:rPr lang="en-US" sz="2310" dirty="0">
                <a:latin typeface="Comic Sans MS" panose="030F0702030302020204" pitchFamily="66" charset="0"/>
              </a:rPr>
              <a:t> + j;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  <a:p>
            <a:r>
              <a:rPr lang="en-US" sz="2310" dirty="0" err="1">
                <a:latin typeface="Comic Sans MS" panose="030F0702030302020204" pitchFamily="66" charset="0"/>
              </a:rPr>
              <a:t>printf</a:t>
            </a:r>
            <a:r>
              <a:rPr lang="en-US" sz="2310" dirty="0">
                <a:latin typeface="Comic Sans MS" panose="030F0702030302020204" pitchFamily="66" charset="0"/>
              </a:rPr>
              <a:t> (“%d\n”, </a:t>
            </a:r>
            <a:r>
              <a:rPr lang="en-US" sz="2310" dirty="0" err="1">
                <a:latin typeface="Comic Sans MS" panose="030F0702030302020204" pitchFamily="66" charset="0"/>
              </a:rPr>
              <a:t>var</a:t>
            </a:r>
            <a:r>
              <a:rPr lang="en-US" sz="2310" dirty="0">
                <a:latin typeface="Comic Sans MS" panose="030F0702030302020204" pitchFamily="66" charset="0"/>
              </a:rPr>
              <a:t> );</a:t>
            </a: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Firstprivate</a:t>
            </a:r>
            <a:r>
              <a:rPr lang="en-US" dirty="0"/>
              <a:t> clause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495935" y="1080135"/>
            <a:ext cx="11939270" cy="2496185"/>
          </a:xfrm>
        </p:spPr>
        <p:txBody>
          <a:bodyPr/>
          <a:lstStyle/>
          <a:p>
            <a:r>
              <a:rPr lang="en-US" sz="2800" b="0" dirty="0" err="1"/>
              <a:t>Firstprivate</a:t>
            </a:r>
            <a:r>
              <a:rPr lang="en-US" sz="2800" b="0" dirty="0"/>
              <a:t> is a special case of private.</a:t>
            </a:r>
          </a:p>
          <a:p>
            <a:pPr lvl="1"/>
            <a:r>
              <a:rPr lang="en-US" sz="2400" b="0" dirty="0"/>
              <a:t>– Initializes each private copy with the corresponding value from the master thread.</a:t>
            </a:r>
          </a:p>
          <a:p>
            <a:r>
              <a:rPr lang="en-US" sz="2800" b="0" dirty="0"/>
              <a:t>• Each thread gets its own var with an initial value of 13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04366" y="3096394"/>
            <a:ext cx="6916913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310" dirty="0">
                <a:latin typeface="Comic Sans MS" panose="030F0702030302020204" pitchFamily="66" charset="0"/>
              </a:rPr>
              <a:t>int var = 13;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#pragma omp parallel for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firstprivate</a:t>
            </a:r>
            <a:r>
              <a:rPr lang="nb-NO" sz="2310" dirty="0">
                <a:latin typeface="Comic Sans MS" panose="030F0702030302020204" pitchFamily="66" charset="0"/>
              </a:rPr>
              <a:t> (var)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for ( j=0; j&lt;1000; j++ ) {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 var = var + j;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}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printf (“%d\n”, var );</a:t>
            </a:r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1350" y="5976714"/>
            <a:ext cx="11870557" cy="8032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10" dirty="0">
                <a:latin typeface="Comic Sans MS" panose="030F0702030302020204" pitchFamily="66" charset="0"/>
              </a:rPr>
              <a:t>Note</a:t>
            </a:r>
            <a:r>
              <a:rPr lang="zh-CN" altLang="en-US" sz="2310" dirty="0">
                <a:latin typeface="Comic Sans MS" panose="030F0702030302020204" pitchFamily="66" charset="0"/>
              </a:rPr>
              <a:t>：</a:t>
            </a:r>
            <a:r>
              <a:rPr lang="en-US" altLang="zh-CN" sz="2310" dirty="0">
                <a:latin typeface="Comic Sans MS" panose="030F0702030302020204" pitchFamily="66" charset="0"/>
              </a:rPr>
              <a:t>In C/C++: a variable with the same name in an inner scope will prevent </a:t>
            </a:r>
          </a:p>
          <a:p>
            <a:r>
              <a:rPr lang="en-US" altLang="zh-CN" sz="2310" dirty="0">
                <a:latin typeface="Comic Sans MS" panose="030F0702030302020204" pitchFamily="66" charset="0"/>
              </a:rPr>
              <a:t>a variable with that name in an outer scope to be accessed - this is called: shadowing</a:t>
            </a:r>
            <a:endParaRPr lang="en-US" sz="231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Lastprivate</a:t>
            </a:r>
            <a:r>
              <a:rPr lang="en-US" dirty="0"/>
              <a:t> clause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1000125" y="1224280"/>
            <a:ext cx="10762907" cy="2724150"/>
          </a:xfrm>
        </p:spPr>
        <p:txBody>
          <a:bodyPr/>
          <a:lstStyle/>
          <a:p>
            <a:r>
              <a:rPr lang="en-US" sz="2800" b="0" dirty="0"/>
              <a:t>• </a:t>
            </a:r>
            <a:r>
              <a:rPr lang="en-US" sz="2800" b="0" dirty="0" err="1"/>
              <a:t>Lastprivate</a:t>
            </a:r>
            <a:r>
              <a:rPr lang="en-US" sz="2800" b="0" dirty="0"/>
              <a:t> passes the value of a private from the last iteration to a global variable</a:t>
            </a:r>
          </a:p>
          <a:p>
            <a:r>
              <a:rPr lang="en-US" sz="2800" b="0" dirty="0"/>
              <a:t>• Each thread gets its own </a:t>
            </a:r>
            <a:r>
              <a:rPr lang="en-US" sz="2800" b="0" dirty="0" err="1"/>
              <a:t>var</a:t>
            </a:r>
            <a:r>
              <a:rPr lang="en-US" sz="2800" b="0" dirty="0"/>
              <a:t> with an initial value of 13</a:t>
            </a:r>
          </a:p>
          <a:p>
            <a:r>
              <a:rPr lang="en-US" sz="2800" b="0" dirty="0"/>
              <a:t>• var is defined as its value at the “last sequential” iteration (i.e. for j=999)</a:t>
            </a:r>
          </a:p>
          <a:p>
            <a:endParaRPr lang="en-US" sz="2800" b="0" dirty="0"/>
          </a:p>
        </p:txBody>
      </p:sp>
      <p:sp>
        <p:nvSpPr>
          <p:cNvPr id="4" name="文本框 3"/>
          <p:cNvSpPr txBox="1"/>
          <p:nvPr/>
        </p:nvSpPr>
        <p:spPr>
          <a:xfrm>
            <a:off x="2656204" y="4104640"/>
            <a:ext cx="8641139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310" dirty="0">
                <a:latin typeface="Comic Sans MS" panose="030F0702030302020204" pitchFamily="66" charset="0"/>
              </a:rPr>
              <a:t>int var = 13;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#pragma omp parallel for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firstprivate</a:t>
            </a:r>
            <a:r>
              <a:rPr lang="nb-NO" sz="2310" dirty="0">
                <a:latin typeface="Comic Sans MS" panose="030F0702030302020204" pitchFamily="66" charset="0"/>
              </a:rPr>
              <a:t> (var)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lastprivate </a:t>
            </a:r>
            <a:r>
              <a:rPr lang="nb-NO" sz="2310" dirty="0">
                <a:latin typeface="Comic Sans MS" panose="030F0702030302020204" pitchFamily="66" charset="0"/>
              </a:rPr>
              <a:t>(var)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for ( j=0; j&lt;1000; j++ ) {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 var = var + j;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}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printf (“%d\n”, var );</a:t>
            </a:r>
            <a:endParaRPr lang="en-US" sz="231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pc="-5" dirty="0"/>
              <a:t>d</a:t>
            </a:r>
            <a:r>
              <a:rPr spc="-65" dirty="0"/>
              <a:t>e</a:t>
            </a:r>
            <a:r>
              <a:rPr spc="-95" dirty="0"/>
              <a:t>f</a:t>
            </a:r>
            <a:r>
              <a:rPr dirty="0"/>
              <a:t>ault</a:t>
            </a:r>
            <a:r>
              <a:rPr lang="en-US" altLang="zh-CN" dirty="0"/>
              <a:t>(none)</a:t>
            </a:r>
            <a:r>
              <a:rPr dirty="0"/>
              <a:t>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928370" y="1296035"/>
            <a:ext cx="11025505" cy="2649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altLang="zh-CN" sz="3200" b="0" spc="-20" dirty="0"/>
              <a:t>default(none)</a:t>
            </a:r>
            <a:r>
              <a:rPr lang="zh-CN" altLang="en-US" sz="3200" b="0" spc="-20" dirty="0"/>
              <a:t> </a:t>
            </a:r>
            <a:r>
              <a:rPr lang="en-US" altLang="zh-CN" sz="3200" b="0" spc="-20" dirty="0"/>
              <a:t>l</a:t>
            </a:r>
            <a:r>
              <a:rPr sz="3200" b="0" spc="-25"/>
              <a:t>e</a:t>
            </a:r>
            <a:r>
              <a:rPr sz="3200" b="0" spc="-15"/>
              <a:t>ts</a:t>
            </a:r>
            <a:r>
              <a:rPr sz="3200" b="0" spc="-5"/>
              <a:t> </a:t>
            </a:r>
            <a:r>
              <a:rPr sz="3200" b="0" spc="-15" dirty="0"/>
              <a:t>the</a:t>
            </a:r>
            <a:r>
              <a:rPr sz="3200" b="0" spc="15" dirty="0"/>
              <a:t> </a:t>
            </a:r>
            <a:r>
              <a:rPr sz="3200" b="0" spc="-20" dirty="0">
                <a:solidFill>
                  <a:srgbClr val="FF0000"/>
                </a:solidFill>
              </a:rPr>
              <a:t>p</a:t>
            </a:r>
            <a:r>
              <a:rPr sz="3200" b="0" spc="-65" dirty="0">
                <a:solidFill>
                  <a:srgbClr val="FF0000"/>
                </a:solidFill>
              </a:rPr>
              <a:t>r</a:t>
            </a:r>
            <a:r>
              <a:rPr sz="3200" b="0" spc="-20" dirty="0">
                <a:solidFill>
                  <a:srgbClr val="FF0000"/>
                </a:solidFill>
              </a:rPr>
              <a:t>og</a:t>
            </a:r>
            <a:r>
              <a:rPr sz="3200" b="0" spc="-70" dirty="0">
                <a:solidFill>
                  <a:srgbClr val="FF0000"/>
                </a:solidFill>
              </a:rPr>
              <a:t>r</a:t>
            </a:r>
            <a:r>
              <a:rPr sz="3200" b="0" spc="-20" dirty="0">
                <a:solidFill>
                  <a:srgbClr val="FF0000"/>
                </a:solidFill>
              </a:rPr>
              <a:t>ammer</a:t>
            </a:r>
            <a:r>
              <a:rPr sz="3200" b="0" spc="25" dirty="0">
                <a:solidFill>
                  <a:srgbClr val="FF0000"/>
                </a:solidFill>
              </a:rPr>
              <a:t> </a:t>
            </a:r>
            <a:r>
              <a:rPr sz="3200" b="0" spc="-20" dirty="0">
                <a:solidFill>
                  <a:srgbClr val="FF0000"/>
                </a:solidFill>
              </a:rPr>
              <a:t>specif</a:t>
            </a:r>
            <a:r>
              <a:rPr sz="3200" b="0" spc="-15" dirty="0">
                <a:solidFill>
                  <a:srgbClr val="FF0000"/>
                </a:solidFill>
              </a:rPr>
              <a:t>y</a:t>
            </a:r>
            <a:r>
              <a:rPr sz="3200" b="0" spc="15" dirty="0">
                <a:solidFill>
                  <a:srgbClr val="FF0000"/>
                </a:solidFill>
              </a:rPr>
              <a:t> </a:t>
            </a:r>
            <a:r>
              <a:rPr sz="3200" b="0" spc="-15" dirty="0"/>
              <a:t>the</a:t>
            </a:r>
            <a:r>
              <a:rPr sz="3200" b="0" spc="10" dirty="0"/>
              <a:t> </a:t>
            </a:r>
            <a:r>
              <a:rPr sz="3200" b="0" spc="-20" dirty="0">
                <a:solidFill>
                  <a:srgbClr val="FF0000"/>
                </a:solidFill>
              </a:rPr>
              <a:t>s</a:t>
            </a:r>
            <a:r>
              <a:rPr sz="3200" b="0" spc="-35" dirty="0">
                <a:solidFill>
                  <a:srgbClr val="FF0000"/>
                </a:solidFill>
              </a:rPr>
              <a:t>c</a:t>
            </a:r>
            <a:r>
              <a:rPr sz="3200" b="0" spc="-20" dirty="0">
                <a:solidFill>
                  <a:srgbClr val="FF0000"/>
                </a:solidFill>
              </a:rPr>
              <a:t>op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10" dirty="0">
                <a:solidFill>
                  <a:srgbClr val="FF0000"/>
                </a:solidFill>
              </a:rPr>
              <a:t> </a:t>
            </a:r>
            <a:r>
              <a:rPr sz="3200" b="0" spc="-20" dirty="0"/>
              <a:t>o</a:t>
            </a:r>
            <a:r>
              <a:rPr sz="3200" b="0" spc="-10" dirty="0"/>
              <a:t>f</a:t>
            </a:r>
            <a:r>
              <a:rPr sz="3200" b="0" spc="-5" dirty="0"/>
              <a:t> </a:t>
            </a:r>
            <a:r>
              <a:rPr sz="3200" b="0" spc="-15" dirty="0"/>
              <a:t>e</a:t>
            </a:r>
            <a:r>
              <a:rPr sz="3200" b="0" spc="-10" dirty="0"/>
              <a:t>a</a:t>
            </a:r>
            <a:r>
              <a:rPr sz="3200" b="0" spc="-15" dirty="0"/>
              <a:t>ch</a:t>
            </a:r>
            <a:r>
              <a:rPr lang="en-US" sz="3200" b="0" spc="-15" dirty="0"/>
              <a:t> </a:t>
            </a:r>
            <a:r>
              <a:rPr sz="3200" b="0" spc="-60" dirty="0"/>
              <a:t>v</a:t>
            </a:r>
            <a:r>
              <a:rPr sz="3200" b="0" spc="-15" dirty="0"/>
              <a:t>ar</a:t>
            </a:r>
            <a:r>
              <a:rPr sz="3200" b="0" spc="-20" dirty="0"/>
              <a:t>i</a:t>
            </a:r>
            <a:r>
              <a:rPr sz="3200" b="0" dirty="0"/>
              <a:t>ab</a:t>
            </a:r>
            <a:r>
              <a:rPr sz="3200" b="0" spc="-10" dirty="0"/>
              <a:t>l</a:t>
            </a:r>
            <a:r>
              <a:rPr sz="3200" b="0" spc="-15" dirty="0"/>
              <a:t>e</a:t>
            </a:r>
            <a:r>
              <a:rPr sz="3200" b="0" dirty="0"/>
              <a:t> in </a:t>
            </a:r>
            <a:r>
              <a:rPr sz="3200" b="0" spc="-15" dirty="0"/>
              <a:t>a</a:t>
            </a:r>
            <a:r>
              <a:rPr sz="3200" b="0" spc="-5" dirty="0"/>
              <a:t> </a:t>
            </a:r>
            <a:r>
              <a:rPr sz="3200" b="0" spc="-20" dirty="0"/>
              <a:t>block.</a:t>
            </a:r>
          </a:p>
          <a:p>
            <a:pPr>
              <a:lnSpc>
                <a:spcPct val="100000"/>
              </a:lnSpc>
            </a:pPr>
            <a:endParaRPr sz="1000" b="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40" b="0" dirty="0">
              <a:latin typeface="Times New Roman" panose="02020603050405020304"/>
              <a:cs typeface="Times New Roman" panose="02020603050405020304"/>
            </a:endParaRPr>
          </a:p>
          <a:p>
            <a:pPr marL="2382520">
              <a:lnSpc>
                <a:spcPts val="1000"/>
              </a:lnSpc>
            </a:pPr>
            <a:endParaRPr sz="740" b="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spcBef>
                <a:spcPts val="170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b="0" spc="-25" dirty="0"/>
              <a:t>Wi</a:t>
            </a:r>
            <a:r>
              <a:rPr sz="3200" b="0" spc="-15" dirty="0"/>
              <a:t>th</a:t>
            </a:r>
            <a:r>
              <a:rPr sz="3200" b="0" spc="15" dirty="0"/>
              <a:t> </a:t>
            </a:r>
            <a:r>
              <a:rPr sz="3200" b="0" dirty="0"/>
              <a:t>th</a:t>
            </a:r>
            <a:r>
              <a:rPr sz="3200" b="0" spc="-15" dirty="0"/>
              <a:t>is</a:t>
            </a:r>
            <a:r>
              <a:rPr sz="3200" b="0" spc="20" dirty="0"/>
              <a:t> </a:t>
            </a:r>
            <a:r>
              <a:rPr sz="3200" b="0" spc="-15" dirty="0"/>
              <a:t>clause</a:t>
            </a:r>
            <a:r>
              <a:rPr sz="3200" b="0" spc="-10" dirty="0"/>
              <a:t> </a:t>
            </a:r>
            <a:r>
              <a:rPr sz="3200" b="0" spc="-15" dirty="0"/>
              <a:t>the</a:t>
            </a:r>
            <a:r>
              <a:rPr sz="3200" b="0" spc="5" dirty="0"/>
              <a:t> </a:t>
            </a:r>
            <a:r>
              <a:rPr sz="3200" b="0" spc="-35" dirty="0">
                <a:solidFill>
                  <a:srgbClr val="FF0000"/>
                </a:solidFill>
              </a:rPr>
              <a:t>c</a:t>
            </a:r>
            <a:r>
              <a:rPr sz="3200" b="0" spc="-25" dirty="0">
                <a:solidFill>
                  <a:srgbClr val="FF0000"/>
                </a:solidFill>
              </a:rPr>
              <a:t>ompi</a:t>
            </a:r>
            <a:r>
              <a:rPr sz="3200" b="0" spc="-10" dirty="0">
                <a:solidFill>
                  <a:srgbClr val="FF0000"/>
                </a:solidFill>
              </a:rPr>
              <a:t>l</a:t>
            </a:r>
            <a:r>
              <a:rPr sz="3200" b="0" spc="-25" dirty="0">
                <a:solidFill>
                  <a:srgbClr val="FF0000"/>
                </a:solidFill>
              </a:rPr>
              <a:t>e</a:t>
            </a:r>
            <a:r>
              <a:rPr sz="3200" b="0" spc="-10" dirty="0">
                <a:solidFill>
                  <a:srgbClr val="FF0000"/>
                </a:solidFill>
              </a:rPr>
              <a:t>r</a:t>
            </a:r>
            <a:r>
              <a:rPr sz="3200" b="0" spc="20" dirty="0"/>
              <a:t> </a:t>
            </a:r>
            <a:r>
              <a:rPr sz="3200" b="0" dirty="0"/>
              <a:t>wi</a:t>
            </a:r>
            <a:r>
              <a:rPr sz="3200" b="0" spc="-10" dirty="0"/>
              <a:t>l</a:t>
            </a:r>
            <a:r>
              <a:rPr sz="3200" b="0" dirty="0"/>
              <a:t>l</a:t>
            </a:r>
            <a:r>
              <a:rPr sz="3200" b="0" spc="15" dirty="0"/>
              <a:t> </a:t>
            </a:r>
            <a:r>
              <a:rPr sz="3200" b="0" spc="-55" dirty="0">
                <a:solidFill>
                  <a:srgbClr val="FF0000"/>
                </a:solidFill>
              </a:rPr>
              <a:t>r</a:t>
            </a:r>
            <a:r>
              <a:rPr sz="3200" b="0" spc="-15" dirty="0">
                <a:solidFill>
                  <a:srgbClr val="FF0000"/>
                </a:solidFill>
              </a:rPr>
              <a:t>eq</a:t>
            </a:r>
            <a:r>
              <a:rPr sz="3200" b="0" spc="-30" dirty="0">
                <a:solidFill>
                  <a:srgbClr val="FF0000"/>
                </a:solidFill>
              </a:rPr>
              <a:t>u</a:t>
            </a:r>
            <a:r>
              <a:rPr sz="3200" b="0" spc="-10" dirty="0">
                <a:solidFill>
                  <a:srgbClr val="FF0000"/>
                </a:solidFill>
              </a:rPr>
              <a:t>i</a:t>
            </a:r>
            <a:r>
              <a:rPr sz="3200" b="0" spc="-60" dirty="0">
                <a:solidFill>
                  <a:srgbClr val="FF0000"/>
                </a:solidFill>
              </a:rPr>
              <a:t>r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25" dirty="0">
                <a:solidFill>
                  <a:srgbClr val="FF0000"/>
                </a:solidFill>
              </a:rPr>
              <a:t> </a:t>
            </a:r>
            <a:r>
              <a:rPr sz="3200" b="0" spc="-15" dirty="0"/>
              <a:t>th</a:t>
            </a:r>
            <a:r>
              <a:rPr sz="3200" b="0" spc="-45" dirty="0"/>
              <a:t>a</a:t>
            </a:r>
            <a:r>
              <a:rPr sz="3200" b="0" spc="-10" dirty="0"/>
              <a:t>t</a:t>
            </a:r>
            <a:r>
              <a:rPr sz="3200" b="0" spc="-5" dirty="0"/>
              <a:t> </a:t>
            </a:r>
            <a:r>
              <a:rPr sz="3200" b="0" spc="-40" dirty="0"/>
              <a:t>w</a:t>
            </a:r>
            <a:r>
              <a:rPr sz="3200" b="0" spc="-15" dirty="0"/>
              <a:t>e</a:t>
            </a:r>
            <a:r>
              <a:rPr sz="3200" b="0" spc="-10" dirty="0"/>
              <a:t> </a:t>
            </a:r>
            <a:r>
              <a:rPr sz="3200" b="0" spc="-20" dirty="0"/>
              <a:t>specif</a:t>
            </a:r>
            <a:r>
              <a:rPr sz="3200" b="0" spc="-15" dirty="0"/>
              <a:t>y</a:t>
            </a:r>
            <a:r>
              <a:rPr sz="3200" b="0" spc="25" dirty="0"/>
              <a:t> </a:t>
            </a:r>
            <a:r>
              <a:rPr sz="3200" b="0" spc="-15" dirty="0"/>
              <a:t>the</a:t>
            </a:r>
            <a:r>
              <a:rPr sz="3200" b="0" dirty="0"/>
              <a:t> </a:t>
            </a:r>
            <a:r>
              <a:rPr sz="3200" b="0" spc="-20" dirty="0">
                <a:solidFill>
                  <a:srgbClr val="FF0000"/>
                </a:solidFill>
              </a:rPr>
              <a:t>s</a:t>
            </a:r>
            <a:r>
              <a:rPr sz="3200" b="0" spc="-35" dirty="0">
                <a:solidFill>
                  <a:srgbClr val="FF0000"/>
                </a:solidFill>
              </a:rPr>
              <a:t>c</a:t>
            </a:r>
            <a:r>
              <a:rPr sz="3200" b="0" spc="-20" dirty="0">
                <a:solidFill>
                  <a:srgbClr val="FF0000"/>
                </a:solidFill>
              </a:rPr>
              <a:t>op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20" dirty="0">
                <a:solidFill>
                  <a:srgbClr val="FF0000"/>
                </a:solidFill>
              </a:rPr>
              <a:t> </a:t>
            </a:r>
            <a:r>
              <a:rPr sz="3200" b="0" spc="-20" dirty="0">
                <a:solidFill>
                  <a:srgbClr val="FF0000"/>
                </a:solidFill>
              </a:rPr>
              <a:t>o</a:t>
            </a:r>
            <a:r>
              <a:rPr sz="3200" b="0" spc="-10" dirty="0">
                <a:solidFill>
                  <a:srgbClr val="FF0000"/>
                </a:solidFill>
              </a:rPr>
              <a:t>f</a:t>
            </a:r>
            <a:r>
              <a:rPr sz="3200" b="0" spc="-5" dirty="0">
                <a:solidFill>
                  <a:srgbClr val="FF0000"/>
                </a:solidFill>
              </a:rPr>
              <a:t> 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-10" dirty="0">
                <a:solidFill>
                  <a:srgbClr val="FF0000"/>
                </a:solidFill>
              </a:rPr>
              <a:t>a</a:t>
            </a:r>
            <a:r>
              <a:rPr sz="3200" b="0" spc="-15" dirty="0">
                <a:solidFill>
                  <a:srgbClr val="FF0000"/>
                </a:solidFill>
              </a:rPr>
              <a:t>ch</a:t>
            </a:r>
            <a:r>
              <a:rPr sz="3200" b="0" spc="-5" dirty="0">
                <a:solidFill>
                  <a:srgbClr val="FF0000"/>
                </a:solidFill>
              </a:rPr>
              <a:t> </a:t>
            </a:r>
            <a:r>
              <a:rPr sz="3200" b="0" spc="-50" dirty="0">
                <a:solidFill>
                  <a:srgbClr val="FF0000"/>
                </a:solidFill>
              </a:rPr>
              <a:t>v</a:t>
            </a:r>
            <a:r>
              <a:rPr sz="3200" b="0" spc="-15" dirty="0">
                <a:solidFill>
                  <a:srgbClr val="FF0000"/>
                </a:solidFill>
              </a:rPr>
              <a:t>ariab</a:t>
            </a:r>
            <a:r>
              <a:rPr sz="3200" b="0" spc="-20" dirty="0">
                <a:solidFill>
                  <a:srgbClr val="FF0000"/>
                </a:solidFill>
              </a:rPr>
              <a:t>l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10" dirty="0">
                <a:solidFill>
                  <a:srgbClr val="FF0000"/>
                </a:solidFill>
              </a:rPr>
              <a:t> </a:t>
            </a:r>
            <a:r>
              <a:rPr sz="3200" b="0" spc="-40" dirty="0"/>
              <a:t>w</a:t>
            </a:r>
            <a:r>
              <a:rPr sz="3200" b="0" spc="-15" dirty="0"/>
              <a:t>e</a:t>
            </a:r>
            <a:r>
              <a:rPr sz="3200" b="0" dirty="0"/>
              <a:t> </a:t>
            </a:r>
            <a:r>
              <a:rPr sz="3200" b="0" spc="-30" dirty="0"/>
              <a:t>u</a:t>
            </a:r>
            <a:r>
              <a:rPr sz="3200" b="0" spc="-20" dirty="0"/>
              <a:t>s</a:t>
            </a:r>
            <a:r>
              <a:rPr sz="3200" b="0" spc="-15" dirty="0"/>
              <a:t>e</a:t>
            </a:r>
            <a:r>
              <a:rPr sz="3200" b="0" spc="10" dirty="0"/>
              <a:t> </a:t>
            </a:r>
            <a:r>
              <a:rPr sz="3200" b="0" spc="-15" dirty="0"/>
              <a:t>in</a:t>
            </a:r>
            <a:r>
              <a:rPr sz="3200" b="0" dirty="0"/>
              <a:t> </a:t>
            </a:r>
            <a:r>
              <a:rPr sz="3200" b="0" spc="-15" dirty="0"/>
              <a:t>the</a:t>
            </a:r>
            <a:r>
              <a:rPr sz="3200" b="0" spc="-10" dirty="0"/>
              <a:t> </a:t>
            </a:r>
            <a:r>
              <a:rPr sz="3200" b="0" spc="-20" dirty="0"/>
              <a:t>bloc</a:t>
            </a:r>
            <a:r>
              <a:rPr sz="3200" b="0" spc="-15" dirty="0"/>
              <a:t>k</a:t>
            </a:r>
            <a:r>
              <a:rPr sz="3200" b="0" spc="20" dirty="0"/>
              <a:t> </a:t>
            </a:r>
            <a:r>
              <a:rPr sz="3200" b="0" spc="-15" dirty="0"/>
              <a:t>and</a:t>
            </a:r>
            <a:r>
              <a:rPr sz="3200" b="0" spc="15" dirty="0"/>
              <a:t> </a:t>
            </a:r>
            <a:r>
              <a:rPr sz="3200" b="0" spc="-15" dirty="0"/>
              <a:t>th</a:t>
            </a:r>
            <a:r>
              <a:rPr sz="3200" b="0" spc="-45" dirty="0"/>
              <a:t>a</a:t>
            </a:r>
            <a:r>
              <a:rPr sz="3200" b="0" spc="-10" dirty="0"/>
              <a:t>t</a:t>
            </a:r>
            <a:r>
              <a:rPr sz="3200" b="0" spc="-5" dirty="0"/>
              <a:t> </a:t>
            </a:r>
            <a:r>
              <a:rPr sz="3200" b="0" spc="-20" dirty="0"/>
              <a:t>ha</a:t>
            </a:r>
            <a:r>
              <a:rPr sz="3200" b="0" spc="-15" dirty="0"/>
              <a:t>s</a:t>
            </a:r>
            <a:r>
              <a:rPr sz="3200" b="0" spc="15" dirty="0"/>
              <a:t> </a:t>
            </a:r>
            <a:r>
              <a:rPr sz="3200" b="0" spc="-20" dirty="0"/>
              <a:t>bee</a:t>
            </a:r>
            <a:r>
              <a:rPr sz="3200" b="0" spc="-15" dirty="0"/>
              <a:t>n</a:t>
            </a:r>
            <a:r>
              <a:rPr sz="3200" b="0" spc="15" dirty="0"/>
              <a:t> </a:t>
            </a:r>
            <a:r>
              <a:rPr sz="3200" b="0" spc="-20" dirty="0"/>
              <a:t>decla</a:t>
            </a:r>
            <a:r>
              <a:rPr sz="3200" b="0" spc="-45" dirty="0"/>
              <a:t>r</a:t>
            </a:r>
            <a:r>
              <a:rPr sz="3200" b="0" spc="-15" dirty="0"/>
              <a:t>ed</a:t>
            </a:r>
            <a:r>
              <a:rPr sz="3200" b="0" spc="5" dirty="0"/>
              <a:t> </a:t>
            </a:r>
            <a:r>
              <a:rPr sz="3200" b="0" spc="-20" dirty="0"/>
              <a:t>outsid</a:t>
            </a:r>
            <a:r>
              <a:rPr sz="3200" b="0" spc="-15" dirty="0"/>
              <a:t>e</a:t>
            </a:r>
            <a:r>
              <a:rPr sz="3200" b="0" spc="20" dirty="0"/>
              <a:t> </a:t>
            </a:r>
            <a:r>
              <a:rPr sz="3200" b="0" spc="-15" dirty="0"/>
              <a:t>the</a:t>
            </a:r>
            <a:r>
              <a:rPr sz="3200" b="0" spc="5" dirty="0"/>
              <a:t> </a:t>
            </a:r>
            <a:r>
              <a:rPr sz="3200" b="0" spc="-20" dirty="0"/>
              <a:t>block.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5" dirty="0"/>
              <a:t>D</a:t>
            </a:r>
            <a:r>
              <a:rPr spc="-65" dirty="0"/>
              <a:t>e</a:t>
            </a:r>
            <a:r>
              <a:rPr spc="-95" dirty="0"/>
              <a:t>f</a:t>
            </a:r>
            <a:r>
              <a:rPr dirty="0"/>
              <a:t>ault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/>
          <p:nvPr/>
        </p:nvSpPr>
        <p:spPr>
          <a:xfrm>
            <a:off x="1861032" y="1808225"/>
            <a:ext cx="9079535" cy="3584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2180" y="2502712"/>
            <a:ext cx="3031046" cy="469392"/>
          </a:xfrm>
          <a:custGeom>
            <a:avLst/>
            <a:gdLst/>
            <a:ahLst/>
            <a:cxnLst/>
            <a:rect l="l" t="t" r="r" b="b"/>
            <a:pathLst>
              <a:path w="2886709" h="447039">
                <a:moveTo>
                  <a:pt x="0" y="74422"/>
                </a:moveTo>
                <a:lnTo>
                  <a:pt x="11876" y="34035"/>
                </a:lnTo>
                <a:lnTo>
                  <a:pt x="42684" y="7070"/>
                </a:lnTo>
                <a:lnTo>
                  <a:pt x="2812034" y="0"/>
                </a:lnTo>
                <a:lnTo>
                  <a:pt x="2826541" y="1408"/>
                </a:lnTo>
                <a:lnTo>
                  <a:pt x="2863257" y="20399"/>
                </a:lnTo>
                <a:lnTo>
                  <a:pt x="2884142" y="55912"/>
                </a:lnTo>
                <a:lnTo>
                  <a:pt x="2886456" y="372110"/>
                </a:lnTo>
                <a:lnTo>
                  <a:pt x="2885047" y="386617"/>
                </a:lnTo>
                <a:lnTo>
                  <a:pt x="2866056" y="423333"/>
                </a:lnTo>
                <a:lnTo>
                  <a:pt x="2830543" y="444218"/>
                </a:lnTo>
                <a:lnTo>
                  <a:pt x="74422" y="446531"/>
                </a:lnTo>
                <a:lnTo>
                  <a:pt x="59914" y="445123"/>
                </a:lnTo>
                <a:lnTo>
                  <a:pt x="23198" y="426132"/>
                </a:lnTo>
                <a:lnTo>
                  <a:pt x="2313" y="390619"/>
                </a:lnTo>
                <a:lnTo>
                  <a:pt x="0" y="7442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69209" y="2840355"/>
            <a:ext cx="1485519" cy="366713"/>
          </a:xfrm>
          <a:custGeom>
            <a:avLst/>
            <a:gdLst/>
            <a:ahLst/>
            <a:cxnLst/>
            <a:rect l="l" t="t" r="r" b="b"/>
            <a:pathLst>
              <a:path w="1414780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356106" y="0"/>
                </a:lnTo>
                <a:lnTo>
                  <a:pt x="1370478" y="1788"/>
                </a:lnTo>
                <a:lnTo>
                  <a:pt x="1403963" y="25091"/>
                </a:lnTo>
                <a:lnTo>
                  <a:pt x="1414272" y="290829"/>
                </a:lnTo>
                <a:lnTo>
                  <a:pt x="1412483" y="305202"/>
                </a:lnTo>
                <a:lnTo>
                  <a:pt x="1389180" y="338687"/>
                </a:lnTo>
                <a:lnTo>
                  <a:pt x="58166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571948" y="4773530"/>
            <a:ext cx="8006334" cy="140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470"/>
              </a:lnSpc>
            </a:pP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Mo</a:t>
            </a:r>
            <a:r>
              <a:rPr sz="5040" b="0" spc="-85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Abou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t</a:t>
            </a:r>
            <a:r>
              <a:rPr sz="5040" b="0" spc="2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spc="10" dirty="0">
                <a:latin typeface="Calibri Light" panose="020F0302020204030204"/>
                <a:cs typeface="Calibri Light" panose="020F0302020204030204"/>
              </a:rPr>
              <a:t>o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op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in</a:t>
            </a:r>
            <a:r>
              <a:rPr sz="5040" b="0" spc="1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Op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nMP:</a:t>
            </a:r>
            <a:endParaRPr sz="5040">
              <a:latin typeface="Calibri Light" panose="020F0302020204030204"/>
              <a:cs typeface="Calibri Light" panose="020F0302020204030204"/>
            </a:endParaRPr>
          </a:p>
          <a:p>
            <a:pPr marL="12700">
              <a:lnSpc>
                <a:spcPts val="5470"/>
              </a:lnSpc>
            </a:pP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Sorting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41042" y="1105737"/>
            <a:ext cx="3250005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Bubbl</a:t>
            </a:r>
            <a:r>
              <a:rPr dirty="0"/>
              <a:t>e</a:t>
            </a:r>
            <a:r>
              <a:rPr spc="10" dirty="0"/>
              <a:t> </a:t>
            </a:r>
            <a:r>
              <a:rPr spc="-15" dirty="0"/>
              <a:t>S</a:t>
            </a:r>
            <a:r>
              <a:rPr spc="-5" dirty="0"/>
              <a:t>ort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848231"/>
            <a:ext cx="8229829" cy="22994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57695" y="3358820"/>
            <a:ext cx="3250006" cy="32516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15" dirty="0"/>
              <a:t>Serial</a:t>
            </a:r>
            <a:r>
              <a:rPr sz="4200" spc="-10" dirty="0"/>
              <a:t> </a:t>
            </a:r>
            <a:r>
              <a:rPr sz="4200" spc="-30" dirty="0"/>
              <a:t>Od</a:t>
            </a:r>
            <a:r>
              <a:rPr sz="4200" spc="-20" dirty="0"/>
              <a:t>d</a:t>
            </a:r>
            <a:r>
              <a:rPr sz="4200" spc="-5" dirty="0"/>
              <a:t>-</a:t>
            </a:r>
            <a:r>
              <a:rPr sz="4200" spc="-105" dirty="0"/>
              <a:t>E</a:t>
            </a:r>
            <a:r>
              <a:rPr sz="4200" spc="-55" dirty="0"/>
              <a:t>v</a:t>
            </a:r>
            <a:r>
              <a:rPr sz="4200" spc="-25" dirty="0"/>
              <a:t>en</a:t>
            </a:r>
            <a:r>
              <a:rPr sz="4200" spc="-30" dirty="0"/>
              <a:t> </a:t>
            </a:r>
            <a:r>
              <a:rPr sz="4200" spc="-280" dirty="0"/>
              <a:t>T</a:t>
            </a:r>
            <a:r>
              <a:rPr sz="4200" spc="-90" dirty="0"/>
              <a:t>r</a:t>
            </a:r>
            <a:r>
              <a:rPr sz="4200" spc="-20" dirty="0"/>
              <a:t>ansposition</a:t>
            </a:r>
            <a:r>
              <a:rPr sz="4200" spc="-15" dirty="0"/>
              <a:t> S</a:t>
            </a:r>
            <a:r>
              <a:rPr sz="4200" spc="-25" dirty="0"/>
              <a:t>ort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241879" y="2155468"/>
            <a:ext cx="8541867" cy="2569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50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15" dirty="0"/>
              <a:t>Serial</a:t>
            </a:r>
            <a:r>
              <a:rPr sz="4200" spc="-10" dirty="0"/>
              <a:t> </a:t>
            </a:r>
            <a:r>
              <a:rPr sz="4200" spc="-30" dirty="0"/>
              <a:t>Od</a:t>
            </a:r>
            <a:r>
              <a:rPr sz="4200" spc="-20" dirty="0"/>
              <a:t>d</a:t>
            </a:r>
            <a:r>
              <a:rPr sz="4200" spc="-5" dirty="0"/>
              <a:t>-</a:t>
            </a:r>
            <a:r>
              <a:rPr sz="4200" spc="-105" dirty="0"/>
              <a:t>E</a:t>
            </a:r>
            <a:r>
              <a:rPr sz="4200" spc="-55" dirty="0"/>
              <a:t>v</a:t>
            </a:r>
            <a:r>
              <a:rPr sz="4200" spc="-25" dirty="0"/>
              <a:t>en</a:t>
            </a:r>
            <a:r>
              <a:rPr sz="4200" spc="-30" dirty="0"/>
              <a:t> </a:t>
            </a:r>
            <a:r>
              <a:rPr sz="4200" spc="-280" dirty="0"/>
              <a:t>T</a:t>
            </a:r>
            <a:r>
              <a:rPr sz="4200" spc="-90" dirty="0"/>
              <a:t>r</a:t>
            </a:r>
            <a:r>
              <a:rPr sz="4200" spc="-20" dirty="0"/>
              <a:t>ansposition</a:t>
            </a:r>
            <a:r>
              <a:rPr sz="4200" spc="-15" dirty="0"/>
              <a:t> S</a:t>
            </a:r>
            <a:r>
              <a:rPr sz="4200" spc="-25" dirty="0"/>
              <a:t>ort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3193998" y="1774622"/>
            <a:ext cx="6027420" cy="46805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4189" y="2851555"/>
            <a:ext cx="1686878" cy="366713"/>
          </a:xfrm>
          <a:custGeom>
            <a:avLst/>
            <a:gdLst/>
            <a:ahLst/>
            <a:cxnLst/>
            <a:rect l="l" t="t" r="r" b="b"/>
            <a:pathLst>
              <a:path w="1606550" h="349250">
                <a:moveTo>
                  <a:pt x="0" y="58166"/>
                </a:moveTo>
                <a:lnTo>
                  <a:pt x="14774" y="19424"/>
                </a:lnTo>
                <a:lnTo>
                  <a:pt x="51172" y="415"/>
                </a:lnTo>
                <a:lnTo>
                  <a:pt x="1548130" y="0"/>
                </a:lnTo>
                <a:lnTo>
                  <a:pt x="1562502" y="1788"/>
                </a:lnTo>
                <a:lnTo>
                  <a:pt x="1595987" y="25091"/>
                </a:lnTo>
                <a:lnTo>
                  <a:pt x="1606295" y="290830"/>
                </a:lnTo>
                <a:lnTo>
                  <a:pt x="1604507" y="305202"/>
                </a:lnTo>
                <a:lnTo>
                  <a:pt x="1581204" y="338687"/>
                </a:lnTo>
                <a:lnTo>
                  <a:pt x="58165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87311" y="2851555"/>
            <a:ext cx="1685544" cy="366713"/>
          </a:xfrm>
          <a:custGeom>
            <a:avLst/>
            <a:gdLst/>
            <a:ahLst/>
            <a:cxnLst/>
            <a:rect l="l" t="t" r="r" b="b"/>
            <a:pathLst>
              <a:path w="1605279" h="349250">
                <a:moveTo>
                  <a:pt x="0" y="58166"/>
                </a:moveTo>
                <a:lnTo>
                  <a:pt x="14774" y="19424"/>
                </a:lnTo>
                <a:lnTo>
                  <a:pt x="51172" y="415"/>
                </a:lnTo>
                <a:lnTo>
                  <a:pt x="1546605" y="0"/>
                </a:lnTo>
                <a:lnTo>
                  <a:pt x="1560978" y="1788"/>
                </a:lnTo>
                <a:lnTo>
                  <a:pt x="1594463" y="25091"/>
                </a:lnTo>
                <a:lnTo>
                  <a:pt x="1604772" y="290830"/>
                </a:lnTo>
                <a:lnTo>
                  <a:pt x="1602983" y="305202"/>
                </a:lnTo>
                <a:lnTo>
                  <a:pt x="1579680" y="338687"/>
                </a:lnTo>
                <a:lnTo>
                  <a:pt x="58165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7146" y="3742867"/>
            <a:ext cx="1685544" cy="366713"/>
          </a:xfrm>
          <a:custGeom>
            <a:avLst/>
            <a:gdLst/>
            <a:ahLst/>
            <a:cxnLst/>
            <a:rect l="l" t="t" r="r" b="b"/>
            <a:pathLst>
              <a:path w="1605279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546605" y="0"/>
                </a:lnTo>
                <a:lnTo>
                  <a:pt x="1560978" y="1788"/>
                </a:lnTo>
                <a:lnTo>
                  <a:pt x="1594463" y="25091"/>
                </a:lnTo>
                <a:lnTo>
                  <a:pt x="1604771" y="290830"/>
                </a:lnTo>
                <a:lnTo>
                  <a:pt x="1602983" y="305202"/>
                </a:lnTo>
                <a:lnTo>
                  <a:pt x="1579680" y="338687"/>
                </a:lnTo>
                <a:lnTo>
                  <a:pt x="58165" y="348995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4189" y="4610176"/>
            <a:ext cx="1686878" cy="366713"/>
          </a:xfrm>
          <a:custGeom>
            <a:avLst/>
            <a:gdLst/>
            <a:ahLst/>
            <a:cxnLst/>
            <a:rect l="l" t="t" r="r" b="b"/>
            <a:pathLst>
              <a:path w="1606550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548130" y="0"/>
                </a:lnTo>
                <a:lnTo>
                  <a:pt x="1562502" y="1788"/>
                </a:lnTo>
                <a:lnTo>
                  <a:pt x="1595987" y="25091"/>
                </a:lnTo>
                <a:lnTo>
                  <a:pt x="1606295" y="290829"/>
                </a:lnTo>
                <a:lnTo>
                  <a:pt x="1604507" y="305202"/>
                </a:lnTo>
                <a:lnTo>
                  <a:pt x="1581204" y="338687"/>
                </a:lnTo>
                <a:lnTo>
                  <a:pt x="58165" y="348995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74508" y="4627778"/>
            <a:ext cx="1686878" cy="365379"/>
          </a:xfrm>
          <a:custGeom>
            <a:avLst/>
            <a:gdLst/>
            <a:ahLst/>
            <a:cxnLst/>
            <a:rect l="l" t="t" r="r" b="b"/>
            <a:pathLst>
              <a:path w="1606550" h="347979">
                <a:moveTo>
                  <a:pt x="0" y="57912"/>
                </a:moveTo>
                <a:lnTo>
                  <a:pt x="14825" y="19199"/>
                </a:lnTo>
                <a:lnTo>
                  <a:pt x="51325" y="369"/>
                </a:lnTo>
                <a:lnTo>
                  <a:pt x="1548384" y="0"/>
                </a:lnTo>
                <a:lnTo>
                  <a:pt x="1562758" y="1795"/>
                </a:lnTo>
                <a:lnTo>
                  <a:pt x="1596173" y="25175"/>
                </a:lnTo>
                <a:lnTo>
                  <a:pt x="1606296" y="289560"/>
                </a:lnTo>
                <a:lnTo>
                  <a:pt x="1604500" y="303934"/>
                </a:lnTo>
                <a:lnTo>
                  <a:pt x="1581120" y="337349"/>
                </a:lnTo>
                <a:lnTo>
                  <a:pt x="57912" y="347472"/>
                </a:lnTo>
                <a:lnTo>
                  <a:pt x="43537" y="345676"/>
                </a:lnTo>
                <a:lnTo>
                  <a:pt x="10122" y="322296"/>
                </a:lnTo>
                <a:lnTo>
                  <a:pt x="0" y="5791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67146" y="5519090"/>
            <a:ext cx="1685544" cy="366713"/>
          </a:xfrm>
          <a:custGeom>
            <a:avLst/>
            <a:gdLst/>
            <a:ahLst/>
            <a:cxnLst/>
            <a:rect l="l" t="t" r="r" b="b"/>
            <a:pathLst>
              <a:path w="1605279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546605" y="0"/>
                </a:lnTo>
                <a:lnTo>
                  <a:pt x="1560978" y="1788"/>
                </a:lnTo>
                <a:lnTo>
                  <a:pt x="1594463" y="25091"/>
                </a:lnTo>
                <a:lnTo>
                  <a:pt x="1604771" y="290830"/>
                </a:lnTo>
                <a:lnTo>
                  <a:pt x="1602983" y="305202"/>
                </a:lnTo>
                <a:lnTo>
                  <a:pt x="1579680" y="338687"/>
                </a:lnTo>
                <a:lnTo>
                  <a:pt x="58165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51912"/>
            <a:ext cx="10762906" cy="831215"/>
          </a:xfrm>
          <a:prstGeom prst="rect">
            <a:avLst/>
          </a:prstGeom>
        </p:spPr>
        <p:txBody>
          <a:bodyPr vert="horz" wrap="square" lIns="0" tIns="216186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Od</a:t>
            </a:r>
            <a:r>
              <a:rPr spc="5" dirty="0"/>
              <a:t>d</a:t>
            </a:r>
            <a:r>
              <a:rPr spc="-5" dirty="0"/>
              <a:t>-</a:t>
            </a:r>
            <a:r>
              <a:rPr spc="-105" dirty="0"/>
              <a:t>E</a:t>
            </a:r>
            <a:r>
              <a:rPr spc="-55" dirty="0"/>
              <a:t>v</a:t>
            </a:r>
            <a:r>
              <a:rPr spc="-5" dirty="0"/>
              <a:t>e</a:t>
            </a:r>
            <a:r>
              <a:rPr dirty="0"/>
              <a:t>n Sort</a:t>
            </a:r>
          </a:p>
        </p:txBody>
      </p:sp>
      <p:sp>
        <p:nvSpPr>
          <p:cNvPr id="3" name="object 3"/>
          <p:cNvSpPr/>
          <p:nvPr/>
        </p:nvSpPr>
        <p:spPr>
          <a:xfrm>
            <a:off x="2241879" y="1376171"/>
            <a:ext cx="7365721" cy="56711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0265" y="2000250"/>
            <a:ext cx="7818977" cy="549402"/>
          </a:xfrm>
          <a:custGeom>
            <a:avLst/>
            <a:gdLst/>
            <a:ahLst/>
            <a:cxnLst/>
            <a:rect l="l" t="t" r="r" b="b"/>
            <a:pathLst>
              <a:path w="7446645" h="523239">
                <a:moveTo>
                  <a:pt x="0" y="87122"/>
                </a:moveTo>
                <a:lnTo>
                  <a:pt x="10304" y="45975"/>
                </a:lnTo>
                <a:lnTo>
                  <a:pt x="37684" y="15369"/>
                </a:lnTo>
                <a:lnTo>
                  <a:pt x="76837" y="600"/>
                </a:lnTo>
                <a:lnTo>
                  <a:pt x="7359142" y="0"/>
                </a:lnTo>
                <a:lnTo>
                  <a:pt x="7373702" y="1210"/>
                </a:lnTo>
                <a:lnTo>
                  <a:pt x="7411923" y="17792"/>
                </a:lnTo>
                <a:lnTo>
                  <a:pt x="7437838" y="49683"/>
                </a:lnTo>
                <a:lnTo>
                  <a:pt x="7446264" y="435610"/>
                </a:lnTo>
                <a:lnTo>
                  <a:pt x="7445053" y="450170"/>
                </a:lnTo>
                <a:lnTo>
                  <a:pt x="7428471" y="488391"/>
                </a:lnTo>
                <a:lnTo>
                  <a:pt x="7396580" y="514306"/>
                </a:lnTo>
                <a:lnTo>
                  <a:pt x="87122" y="522732"/>
                </a:lnTo>
                <a:lnTo>
                  <a:pt x="72565" y="521521"/>
                </a:lnTo>
                <a:lnTo>
                  <a:pt x="34345" y="504939"/>
                </a:lnTo>
                <a:lnTo>
                  <a:pt x="8427" y="473048"/>
                </a:lnTo>
                <a:lnTo>
                  <a:pt x="0" y="8712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69058" y="4474158"/>
            <a:ext cx="7818977" cy="549402"/>
          </a:xfrm>
          <a:custGeom>
            <a:avLst/>
            <a:gdLst/>
            <a:ahLst/>
            <a:cxnLst/>
            <a:rect l="l" t="t" r="r" b="b"/>
            <a:pathLst>
              <a:path w="7446645" h="523239">
                <a:moveTo>
                  <a:pt x="0" y="87122"/>
                </a:moveTo>
                <a:lnTo>
                  <a:pt x="10304" y="45975"/>
                </a:lnTo>
                <a:lnTo>
                  <a:pt x="37684" y="15369"/>
                </a:lnTo>
                <a:lnTo>
                  <a:pt x="76837" y="600"/>
                </a:lnTo>
                <a:lnTo>
                  <a:pt x="7359142" y="0"/>
                </a:lnTo>
                <a:lnTo>
                  <a:pt x="7373702" y="1210"/>
                </a:lnTo>
                <a:lnTo>
                  <a:pt x="7411923" y="17792"/>
                </a:lnTo>
                <a:lnTo>
                  <a:pt x="7437838" y="49683"/>
                </a:lnTo>
                <a:lnTo>
                  <a:pt x="7446264" y="435610"/>
                </a:lnTo>
                <a:lnTo>
                  <a:pt x="7445053" y="450170"/>
                </a:lnTo>
                <a:lnTo>
                  <a:pt x="7428471" y="488391"/>
                </a:lnTo>
                <a:lnTo>
                  <a:pt x="7396580" y="514306"/>
                </a:lnTo>
                <a:lnTo>
                  <a:pt x="87122" y="522732"/>
                </a:lnTo>
                <a:lnTo>
                  <a:pt x="72565" y="521521"/>
                </a:lnTo>
                <a:lnTo>
                  <a:pt x="34345" y="504939"/>
                </a:lnTo>
                <a:lnTo>
                  <a:pt x="8427" y="473048"/>
                </a:lnTo>
                <a:lnTo>
                  <a:pt x="0" y="8712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79534"/>
            <a:ext cx="10762906" cy="775970"/>
          </a:xfrm>
          <a:prstGeom prst="rect">
            <a:avLst/>
          </a:prstGeom>
        </p:spPr>
        <p:txBody>
          <a:bodyPr vert="horz" wrap="square" lIns="0" tIns="16082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0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20" dirty="0"/>
              <a:t> </a:t>
            </a:r>
            <a:r>
              <a:rPr spc="-5" dirty="0"/>
              <a:t>OpenM</a:t>
            </a:r>
            <a:r>
              <a:rPr dirty="0"/>
              <a:t>P </a:t>
            </a:r>
            <a:r>
              <a:rPr spc="-5" dirty="0"/>
              <a:t>Od</a:t>
            </a:r>
            <a:r>
              <a:rPr spc="15" dirty="0"/>
              <a:t>d</a:t>
            </a:r>
            <a:r>
              <a:rPr spc="-5" dirty="0"/>
              <a:t>-</a:t>
            </a:r>
            <a:r>
              <a:rPr spc="-105" dirty="0"/>
              <a:t>E</a:t>
            </a:r>
            <a:r>
              <a:rPr spc="-55" dirty="0"/>
              <a:t>v</a:t>
            </a:r>
            <a:r>
              <a:rPr spc="-5" dirty="0"/>
              <a:t>e</a:t>
            </a:r>
            <a:r>
              <a:rPr dirty="0"/>
              <a:t>n Sort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428977"/>
            <a:ext cx="6749644" cy="5701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1083" y="1428979"/>
            <a:ext cx="6748177" cy="582740"/>
          </a:xfrm>
          <a:custGeom>
            <a:avLst/>
            <a:gdLst/>
            <a:ahLst/>
            <a:cxnLst/>
            <a:rect l="l" t="t" r="r" b="b"/>
            <a:pathLst>
              <a:path w="6426834" h="554989">
                <a:moveTo>
                  <a:pt x="0" y="92455"/>
                </a:moveTo>
                <a:lnTo>
                  <a:pt x="9758" y="51070"/>
                </a:lnTo>
                <a:lnTo>
                  <a:pt x="35894" y="19314"/>
                </a:lnTo>
                <a:lnTo>
                  <a:pt x="73701" y="1903"/>
                </a:lnTo>
                <a:lnTo>
                  <a:pt x="6334252" y="0"/>
                </a:lnTo>
                <a:lnTo>
                  <a:pt x="6348826" y="1142"/>
                </a:lnTo>
                <a:lnTo>
                  <a:pt x="6387525" y="16886"/>
                </a:lnTo>
                <a:lnTo>
                  <a:pt x="6415023" y="47438"/>
                </a:lnTo>
                <a:lnTo>
                  <a:pt x="6426606" y="88084"/>
                </a:lnTo>
                <a:lnTo>
                  <a:pt x="6426708" y="462279"/>
                </a:lnTo>
                <a:lnTo>
                  <a:pt x="6425565" y="476854"/>
                </a:lnTo>
                <a:lnTo>
                  <a:pt x="6409821" y="515553"/>
                </a:lnTo>
                <a:lnTo>
                  <a:pt x="6379269" y="543051"/>
                </a:lnTo>
                <a:lnTo>
                  <a:pt x="6338623" y="554634"/>
                </a:lnTo>
                <a:lnTo>
                  <a:pt x="92456" y="554735"/>
                </a:lnTo>
                <a:lnTo>
                  <a:pt x="77878" y="553593"/>
                </a:lnTo>
                <a:lnTo>
                  <a:pt x="39176" y="537849"/>
                </a:lnTo>
                <a:lnTo>
                  <a:pt x="11681" y="507297"/>
                </a:lnTo>
                <a:lnTo>
                  <a:pt x="101" y="466651"/>
                </a:lnTo>
                <a:lnTo>
                  <a:pt x="0" y="9245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61083" y="2483510"/>
            <a:ext cx="3013710" cy="294704"/>
          </a:xfrm>
          <a:custGeom>
            <a:avLst/>
            <a:gdLst/>
            <a:ahLst/>
            <a:cxnLst/>
            <a:rect l="l" t="t" r="r" b="b"/>
            <a:pathLst>
              <a:path w="2870200" h="280669">
                <a:moveTo>
                  <a:pt x="0" y="46736"/>
                </a:moveTo>
                <a:lnTo>
                  <a:pt x="17789" y="10052"/>
                </a:lnTo>
                <a:lnTo>
                  <a:pt x="2822955" y="0"/>
                </a:lnTo>
                <a:lnTo>
                  <a:pt x="2837168" y="2206"/>
                </a:lnTo>
                <a:lnTo>
                  <a:pt x="2866525" y="29813"/>
                </a:lnTo>
                <a:lnTo>
                  <a:pt x="2869691" y="233679"/>
                </a:lnTo>
                <a:lnTo>
                  <a:pt x="2867485" y="247892"/>
                </a:lnTo>
                <a:lnTo>
                  <a:pt x="2839878" y="277249"/>
                </a:lnTo>
                <a:lnTo>
                  <a:pt x="46736" y="280415"/>
                </a:lnTo>
                <a:lnTo>
                  <a:pt x="32514" y="278209"/>
                </a:lnTo>
                <a:lnTo>
                  <a:pt x="3163" y="250602"/>
                </a:lnTo>
                <a:lnTo>
                  <a:pt x="0" y="4673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59481" y="4757395"/>
            <a:ext cx="3015044" cy="294704"/>
          </a:xfrm>
          <a:custGeom>
            <a:avLst/>
            <a:gdLst/>
            <a:ahLst/>
            <a:cxnLst/>
            <a:rect l="l" t="t" r="r" b="b"/>
            <a:pathLst>
              <a:path w="2871470" h="280670">
                <a:moveTo>
                  <a:pt x="0" y="46736"/>
                </a:moveTo>
                <a:lnTo>
                  <a:pt x="17789" y="10052"/>
                </a:lnTo>
                <a:lnTo>
                  <a:pt x="2824479" y="0"/>
                </a:lnTo>
                <a:lnTo>
                  <a:pt x="2838692" y="2206"/>
                </a:lnTo>
                <a:lnTo>
                  <a:pt x="2868049" y="29813"/>
                </a:lnTo>
                <a:lnTo>
                  <a:pt x="2871216" y="233680"/>
                </a:lnTo>
                <a:lnTo>
                  <a:pt x="2869009" y="247892"/>
                </a:lnTo>
                <a:lnTo>
                  <a:pt x="2841402" y="277249"/>
                </a:lnTo>
                <a:lnTo>
                  <a:pt x="46736" y="280416"/>
                </a:lnTo>
                <a:lnTo>
                  <a:pt x="32514" y="278209"/>
                </a:lnTo>
                <a:lnTo>
                  <a:pt x="3163" y="250602"/>
                </a:lnTo>
                <a:lnTo>
                  <a:pt x="0" y="4673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90274" y="2625128"/>
            <a:ext cx="2793016" cy="1472184"/>
          </a:xfrm>
          <a:custGeom>
            <a:avLst/>
            <a:gdLst/>
            <a:ahLst/>
            <a:cxnLst/>
            <a:rect l="l" t="t" r="r" b="b"/>
            <a:pathLst>
              <a:path w="2660015" h="1402079">
                <a:moveTo>
                  <a:pt x="83699" y="27419"/>
                </a:moveTo>
                <a:lnTo>
                  <a:pt x="70237" y="53073"/>
                </a:lnTo>
                <a:lnTo>
                  <a:pt x="2646553" y="1401826"/>
                </a:lnTo>
                <a:lnTo>
                  <a:pt x="2660015" y="1376171"/>
                </a:lnTo>
                <a:lnTo>
                  <a:pt x="83699" y="27419"/>
                </a:lnTo>
                <a:close/>
              </a:path>
              <a:path w="2660015" h="1402079">
                <a:moveTo>
                  <a:pt x="0" y="0"/>
                </a:moveTo>
                <a:lnTo>
                  <a:pt x="56768" y="78739"/>
                </a:lnTo>
                <a:lnTo>
                  <a:pt x="70237" y="53073"/>
                </a:lnTo>
                <a:lnTo>
                  <a:pt x="57403" y="46354"/>
                </a:lnTo>
                <a:lnTo>
                  <a:pt x="70865" y="20700"/>
                </a:lnTo>
                <a:lnTo>
                  <a:pt x="87225" y="20700"/>
                </a:lnTo>
                <a:lnTo>
                  <a:pt x="97154" y="1777"/>
                </a:lnTo>
                <a:lnTo>
                  <a:pt x="0" y="0"/>
                </a:lnTo>
                <a:close/>
              </a:path>
              <a:path w="2660015" h="1402079">
                <a:moveTo>
                  <a:pt x="70865" y="20700"/>
                </a:moveTo>
                <a:lnTo>
                  <a:pt x="57403" y="46354"/>
                </a:lnTo>
                <a:lnTo>
                  <a:pt x="70237" y="53073"/>
                </a:lnTo>
                <a:lnTo>
                  <a:pt x="83699" y="27419"/>
                </a:lnTo>
                <a:lnTo>
                  <a:pt x="70865" y="20700"/>
                </a:lnTo>
                <a:close/>
              </a:path>
              <a:path w="2660015" h="1402079">
                <a:moveTo>
                  <a:pt x="87225" y="20700"/>
                </a:moveTo>
                <a:lnTo>
                  <a:pt x="70865" y="20700"/>
                </a:lnTo>
                <a:lnTo>
                  <a:pt x="83699" y="27419"/>
                </a:lnTo>
                <a:lnTo>
                  <a:pt x="87225" y="20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9032" y="3356686"/>
            <a:ext cx="3398352" cy="1551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spc="-2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ells</a:t>
            </a:r>
            <a:r>
              <a:rPr sz="252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OpenM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52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252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li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wi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 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xi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ting</a:t>
            </a:r>
            <a:r>
              <a:rPr sz="252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eam 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of 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738692" y="4158920"/>
            <a:ext cx="1675408" cy="22882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0051" y="881042"/>
            <a:ext cx="8680418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Odd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360" b="1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allel</a:t>
            </a:r>
            <a:r>
              <a:rPr sz="336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b="1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00600" y="1368202"/>
            <a:ext cx="4949239" cy="1059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81915" algn="ctr">
              <a:lnSpc>
                <a:spcPct val="100000"/>
              </a:lnSpc>
            </a:pP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b="1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es.</a:t>
            </a: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onds.)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9018" y="2579522"/>
            <a:ext cx="9245956" cy="1657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469109" y="1028929"/>
            <a:ext cx="4006901" cy="40069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5404" y="5234414"/>
            <a:ext cx="4481894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Schedul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i</a:t>
            </a: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ng</a:t>
            </a:r>
            <a:r>
              <a:rPr sz="5040" b="0" spc="2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Loo</a:t>
            </a:r>
            <a:r>
              <a:rPr sz="5040" b="0" spc="-50" dirty="0">
                <a:latin typeface="Calibri Light" panose="020F0302020204030204"/>
                <a:cs typeface="Calibri Light" panose="020F0302020204030204"/>
              </a:rPr>
              <a:t>p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object 2"/>
          <p:cNvSpPr/>
          <p:nvPr/>
        </p:nvSpPr>
        <p:spPr>
          <a:xfrm>
            <a:off x="2323140" y="1684964"/>
            <a:ext cx="7399325" cy="2920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3139" y="1064739"/>
            <a:ext cx="6809685" cy="517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ni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ion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unct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i="1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13952" y="1994933"/>
            <a:ext cx="427386" cy="381381"/>
          </a:xfrm>
          <a:custGeom>
            <a:avLst/>
            <a:gdLst/>
            <a:ahLst/>
            <a:cxnLst/>
            <a:rect l="l" t="t" r="r" b="b"/>
            <a:pathLst>
              <a:path w="407034" h="363219">
                <a:moveTo>
                  <a:pt x="0" y="60452"/>
                </a:moveTo>
                <a:lnTo>
                  <a:pt x="14285" y="21411"/>
                </a:lnTo>
                <a:lnTo>
                  <a:pt x="49812" y="932"/>
                </a:lnTo>
                <a:lnTo>
                  <a:pt x="346455" y="0"/>
                </a:lnTo>
                <a:lnTo>
                  <a:pt x="360853" y="1722"/>
                </a:lnTo>
                <a:lnTo>
                  <a:pt x="394927" y="24310"/>
                </a:lnTo>
                <a:lnTo>
                  <a:pt x="406907" y="302260"/>
                </a:lnTo>
                <a:lnTo>
                  <a:pt x="405185" y="316657"/>
                </a:lnTo>
                <a:lnTo>
                  <a:pt x="382597" y="350731"/>
                </a:lnTo>
                <a:lnTo>
                  <a:pt x="60451" y="362712"/>
                </a:lnTo>
                <a:lnTo>
                  <a:pt x="46054" y="360989"/>
                </a:lnTo>
                <a:lnTo>
                  <a:pt x="11980" y="338401"/>
                </a:lnTo>
                <a:lnTo>
                  <a:pt x="0" y="6045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0672" y="4537660"/>
            <a:ext cx="5648039" cy="1132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Th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time re</a:t>
            </a:r>
            <a:r>
              <a:rPr sz="3360" b="0" i="1" spc="-1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q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ui</a:t>
            </a:r>
            <a:r>
              <a:rPr sz="3360" b="0" i="1" spc="-1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r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d</a:t>
            </a:r>
            <a:r>
              <a:rPr sz="3360" b="0" i="1" spc="2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2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b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y t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h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c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ll </a:t>
            </a:r>
            <a:r>
              <a:rPr sz="3360" b="0" i="1" spc="-3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 f </a:t>
            </a:r>
            <a:endParaRPr sz="3360">
              <a:latin typeface="Calibri Light" panose="020F0302020204030204"/>
              <a:cs typeface="Calibri Light" panose="020F0302020204030204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is prop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rtion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l</a:t>
            </a:r>
            <a:r>
              <a:rPr sz="3360" b="0" i="1" spc="5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3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 th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si</a:t>
            </a:r>
            <a:r>
              <a:rPr sz="3360" b="0" i="1" spc="-7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z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of</a:t>
            </a:r>
            <a:r>
              <a:rPr sz="3360" b="0" i="1" spc="2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1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endParaRPr sz="336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6173571" y="1182548"/>
            <a:ext cx="3910889" cy="11793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1047" y="966653"/>
            <a:ext cx="3724654" cy="1044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940" spc="-1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th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loop.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0264" y="5271058"/>
            <a:ext cx="5194992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gnme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ork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cl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oni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27366" y="1840230"/>
            <a:ext cx="755428" cy="381381"/>
          </a:xfrm>
          <a:custGeom>
            <a:avLst/>
            <a:gdLst/>
            <a:ahLst/>
            <a:cxnLst/>
            <a:rect l="l" t="t" r="r" b="b"/>
            <a:pathLst>
              <a:path w="719454" h="363219">
                <a:moveTo>
                  <a:pt x="0" y="60451"/>
                </a:moveTo>
                <a:lnTo>
                  <a:pt x="14285" y="21411"/>
                </a:lnTo>
                <a:lnTo>
                  <a:pt x="49812" y="932"/>
                </a:lnTo>
                <a:lnTo>
                  <a:pt x="658876" y="0"/>
                </a:lnTo>
                <a:lnTo>
                  <a:pt x="673273" y="1722"/>
                </a:lnTo>
                <a:lnTo>
                  <a:pt x="707347" y="24310"/>
                </a:lnTo>
                <a:lnTo>
                  <a:pt x="719327" y="302260"/>
                </a:lnTo>
                <a:lnTo>
                  <a:pt x="717605" y="316657"/>
                </a:lnTo>
                <a:lnTo>
                  <a:pt x="695017" y="350731"/>
                </a:lnTo>
                <a:lnTo>
                  <a:pt x="60451" y="362712"/>
                </a:lnTo>
                <a:lnTo>
                  <a:pt x="46054" y="360989"/>
                </a:lnTo>
                <a:lnTo>
                  <a:pt x="11980" y="338401"/>
                </a:lnTo>
                <a:lnTo>
                  <a:pt x="0" y="6045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62</a:t>
            </a:fld>
            <a:endParaRPr sz="1575" spc="-1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720340" y="2400300"/>
          <a:ext cx="6400800" cy="2400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Thread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Iterations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0, t, 2t, 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1, t + 1, 2t + 1, 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…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 – 1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 – 1, t + t – 1, 2t + t – 1, ……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643622" cy="3745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i="1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b="1" i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b="1" i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b="1" i="1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)</a:t>
            </a:r>
            <a:r>
              <a:rPr sz="2940" b="1" i="1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sin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ction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marR="5080" indent="-228600">
              <a:lnSpc>
                <a:spcPct val="90000"/>
              </a:lnSpc>
              <a:spcBef>
                <a:spcPts val="100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f(2i</a:t>
            </a:r>
            <a:r>
              <a:rPr sz="2940" i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)</a:t>
            </a:r>
            <a:r>
              <a:rPr sz="2940" i="1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eq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 app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xim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ely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twice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much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i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i="1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(i).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Font typeface="Arial" panose="020B0604020202020204"/>
              <a:buChar char="•"/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0" dirty="0">
                <a:latin typeface="Arial" panose="020B0604020202020204"/>
                <a:cs typeface="Arial" panose="020B0604020202020204"/>
              </a:rPr>
              <a:t>•</a:t>
            </a:r>
            <a:r>
              <a:rPr sz="294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10,0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3.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67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ond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621983"/>
            <a:ext cx="6649969" cy="4742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0" dirty="0">
                <a:latin typeface="Arial" panose="020B0604020202020204"/>
                <a:cs typeface="Arial" panose="020B0604020202020204"/>
              </a:rPr>
              <a:t>•</a:t>
            </a:r>
            <a:r>
              <a:rPr sz="294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10,0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ault assignme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2.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76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onds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spee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1.33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0" dirty="0">
                <a:latin typeface="Arial" panose="020B0604020202020204"/>
                <a:cs typeface="Arial" panose="020B0604020202020204"/>
              </a:rPr>
              <a:t>•</a:t>
            </a:r>
            <a:r>
              <a:rPr sz="294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10,0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clic</a:t>
            </a:r>
            <a:r>
              <a:rPr sz="252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assignme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n-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 1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84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spee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1.99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64</a:t>
            </a:fld>
            <a:endParaRPr sz="1575" spc="-1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0B1994-9429-4C63-A111-E42896B98E0D}"/>
              </a:ext>
            </a:extLst>
          </p:cNvPr>
          <p:cNvSpPr/>
          <p:nvPr/>
        </p:nvSpPr>
        <p:spPr>
          <a:xfrm>
            <a:off x="7048872" y="1615651"/>
            <a:ext cx="46085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T</a:t>
            </a:r>
            <a:r>
              <a:rPr lang="en-US" dirty="0">
                <a:latin typeface="Comic Sans MS" panose="030F0702030302020204" pitchFamily="66" charset="0"/>
              </a:rPr>
              <a:t>he default scheduling when no schedule clause is present is static with chunk size equal to #iterations / #threads</a:t>
            </a: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Scheduling Decision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body" idx="4294967295"/>
          </p:nvPr>
        </p:nvSpPr>
        <p:spPr>
          <a:xfrm>
            <a:off x="388750" y="1224186"/>
            <a:ext cx="7310755" cy="9752330"/>
          </a:xfrm>
        </p:spPr>
        <p:txBody>
          <a:bodyPr/>
          <a:lstStyle/>
          <a:p>
            <a:r>
              <a:rPr lang="en-US" altLang="en-US" sz="2400" b="0" dirty="0">
                <a:latin typeface="Comic Sans MS" panose="030F0702030302020204" pitchFamily="66" charset="0"/>
                <a:ea typeface="MS PGothic" panose="020B0600070205080204" pitchFamily="34" charset="-128"/>
              </a:rPr>
              <a:t>Load balance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Same work in each iteration?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Processors working at same speed?</a:t>
            </a:r>
          </a:p>
          <a:p>
            <a:r>
              <a:rPr lang="en-US" altLang="en-US" sz="2400" b="0" dirty="0">
                <a:latin typeface="Comic Sans MS" panose="030F0702030302020204" pitchFamily="66" charset="0"/>
                <a:ea typeface="MS PGothic" panose="020B0600070205080204" pitchFamily="34" charset="-128"/>
              </a:rPr>
              <a:t>Scheduling overhead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Static decisions are cheap because they require no</a:t>
            </a:r>
            <a:r>
              <a:rPr lang="en-US" altLang="en-US" sz="2000" b="0" dirty="0">
                <a:solidFill>
                  <a:srgbClr val="FF0000"/>
                </a:solidFill>
                <a:ea typeface="MS PGothic" panose="020B0600070205080204" pitchFamily="34" charset="-128"/>
              </a:rPr>
              <a:t> run-time coordination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Dynamic decisions have overhead that is impacted by complexity and frequency of decisions</a:t>
            </a:r>
          </a:p>
          <a:p>
            <a:r>
              <a:rPr lang="en-US" altLang="en-US" sz="2400" b="0" dirty="0">
                <a:latin typeface="Comic Sans MS" panose="030F0702030302020204" pitchFamily="66" charset="0"/>
                <a:ea typeface="MS PGothic" panose="020B0600070205080204" pitchFamily="34" charset="-128"/>
              </a:rPr>
              <a:t>Data locality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Particularly within cache lines for small chunk sizes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Also impacts data reuse on the same processor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Data layout at NUMA and multi-core CPU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" r="8450" b="2547"/>
          <a:stretch>
            <a:fillRect/>
          </a:stretch>
        </p:blipFill>
        <p:spPr bwMode="auto">
          <a:xfrm>
            <a:off x="7568203" y="1840230"/>
            <a:ext cx="4880610" cy="352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6D6FE70-4731-4873-B181-33479E407429}"/>
              </a:ext>
            </a:extLst>
          </p:cNvPr>
          <p:cNvSpPr txBox="1"/>
          <p:nvPr/>
        </p:nvSpPr>
        <p:spPr>
          <a:xfrm>
            <a:off x="1060281" y="5950032"/>
            <a:ext cx="10373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Question: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What is the motivation of designing a scheduler in a system?</a:t>
            </a:r>
            <a:endParaRPr lang="en-US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Sch</a:t>
            </a:r>
            <a:r>
              <a:rPr spc="-25" dirty="0"/>
              <a:t>e</a:t>
            </a:r>
            <a:r>
              <a:rPr dirty="0"/>
              <a:t>dule</a:t>
            </a:r>
            <a:r>
              <a:rPr spc="-10" dirty="0"/>
              <a:t>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1461" y="1936241"/>
            <a:ext cx="8750427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0695" indent="-228600">
              <a:lnSpc>
                <a:spcPct val="100000"/>
              </a:lnSpc>
              <a:buFont typeface="Arial" panose="020B0604020202020204"/>
              <a:buChar char="•"/>
              <a:tabLst>
                <a:tab pos="48133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ault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schedu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3119" y="4104701"/>
            <a:ext cx="2645664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cl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1461" y="1936241"/>
            <a:ext cx="8749894" cy="1651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14651" y="4584572"/>
            <a:ext cx="8730691" cy="16994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66333" y="5247056"/>
            <a:ext cx="3015044" cy="315373"/>
          </a:xfrm>
          <a:custGeom>
            <a:avLst/>
            <a:gdLst/>
            <a:ahLst/>
            <a:cxnLst/>
            <a:rect l="l" t="t" r="r" b="b"/>
            <a:pathLst>
              <a:path w="2871470" h="300354">
                <a:moveTo>
                  <a:pt x="0" y="50037"/>
                </a:moveTo>
                <a:lnTo>
                  <a:pt x="16782" y="12613"/>
                </a:lnTo>
                <a:lnTo>
                  <a:pt x="2821177" y="0"/>
                </a:lnTo>
                <a:lnTo>
                  <a:pt x="2835470" y="2061"/>
                </a:lnTo>
                <a:lnTo>
                  <a:pt x="2866260" y="28261"/>
                </a:lnTo>
                <a:lnTo>
                  <a:pt x="2871216" y="250189"/>
                </a:lnTo>
                <a:lnTo>
                  <a:pt x="2869154" y="264482"/>
                </a:lnTo>
                <a:lnTo>
                  <a:pt x="2842954" y="295272"/>
                </a:lnTo>
                <a:lnTo>
                  <a:pt x="50037" y="300227"/>
                </a:lnTo>
                <a:lnTo>
                  <a:pt x="35745" y="298166"/>
                </a:lnTo>
                <a:lnTo>
                  <a:pt x="4955" y="271966"/>
                </a:lnTo>
                <a:lnTo>
                  <a:pt x="0" y="5003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60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schedule</a:t>
            </a:r>
            <a:r>
              <a:rPr spc="-10" dirty="0"/>
              <a:t> </a:t>
            </a:r>
            <a:r>
              <a:rPr dirty="0"/>
              <a:t>( type</a:t>
            </a:r>
            <a:r>
              <a:rPr spc="-30" dirty="0"/>
              <a:t> </a:t>
            </a:r>
            <a:r>
              <a:rPr spc="-15" dirty="0"/>
              <a:t>,</a:t>
            </a:r>
            <a:r>
              <a:rPr dirty="0"/>
              <a:t> </a:t>
            </a:r>
            <a:r>
              <a:rPr spc="-5" dirty="0"/>
              <a:t>chun</a:t>
            </a:r>
            <a:r>
              <a:rPr spc="-35" dirty="0"/>
              <a:t>k</a:t>
            </a:r>
            <a:r>
              <a:rPr dirty="0"/>
              <a:t>si</a:t>
            </a:r>
            <a:r>
              <a:rPr spc="-120" dirty="0"/>
              <a:t>z</a:t>
            </a:r>
            <a:r>
              <a:rPr dirty="0"/>
              <a:t>e 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849724"/>
            <a:ext cx="9314266" cy="4280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1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ype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c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endParaRPr sz="315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92455" indent="-228600">
              <a:lnSpc>
                <a:spcPts val="3240"/>
              </a:lnSpc>
              <a:spcBef>
                <a:spcPts val="104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150" b="1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b="1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tic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8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tions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ssigne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th</a:t>
            </a:r>
            <a:r>
              <a:rPr sz="315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15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6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15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loop is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15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42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b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150" b="1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3150" b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guide</a:t>
            </a:r>
            <a:r>
              <a:rPr sz="3150" b="1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the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9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tions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assign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d</a:t>
            </a:r>
          </a:p>
          <a:p>
            <a:pPr marL="241300">
              <a:lnSpc>
                <a:spcPts val="3420"/>
              </a:lnSpc>
            </a:pP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th</a:t>
            </a:r>
            <a:r>
              <a:rPr sz="315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whi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loop is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ecut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ng.</a:t>
            </a:r>
            <a:endParaRPr sz="315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240"/>
              </a:lnSpc>
              <a:spcBef>
                <a:spcPts val="104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b="1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150" b="1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b="1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15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15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ompil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150" spc="-50" dirty="0">
                <a:latin typeface="Comic Sans MS" panose="030F0702030302020204" pitchFamily="66" charset="0"/>
                <a:cs typeface="Calibri" panose="020F0502020204030204"/>
              </a:rPr>
              <a:t>/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315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15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315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mine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sch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du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e.</a:t>
            </a:r>
          </a:p>
          <a:p>
            <a:pPr marL="241300" marR="449580" indent="-228600">
              <a:lnSpc>
                <a:spcPts val="3240"/>
              </a:lnSpc>
              <a:spcBef>
                <a:spcPts val="99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3150" b="1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tim</a:t>
            </a:r>
            <a:r>
              <a:rPr sz="3150" b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sch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du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le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min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- time</a:t>
            </a:r>
            <a:r>
              <a:rPr lang="en-US"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altLang="zh-CN" sz="315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environment variables</a:t>
            </a:r>
            <a:r>
              <a:rPr sz="315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315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6005" y="1707039"/>
            <a:ext cx="10762906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l">
              <a:lnSpc>
                <a:spcPct val="100000"/>
              </a:lnSpc>
            </a:pPr>
            <a:r>
              <a:rPr sz="3600" b="0" dirty="0"/>
              <a:t>t</a:t>
            </a:r>
            <a:r>
              <a:rPr sz="3600" b="0" spc="-30" dirty="0"/>
              <a:t>w</a:t>
            </a:r>
            <a:r>
              <a:rPr sz="3600" b="0" dirty="0"/>
              <a:t>el</a:t>
            </a:r>
            <a:r>
              <a:rPr sz="3600" b="0" spc="-35" dirty="0"/>
              <a:t>v</a:t>
            </a:r>
            <a:r>
              <a:rPr sz="3600" b="0" dirty="0"/>
              <a:t>e i</a:t>
            </a:r>
            <a:r>
              <a:rPr sz="3600" b="0" spc="-55" dirty="0"/>
              <a:t>t</a:t>
            </a:r>
            <a:r>
              <a:rPr sz="3600" b="0" dirty="0"/>
              <a:t>e</a:t>
            </a:r>
            <a:r>
              <a:rPr sz="3600" b="0" spc="-60" dirty="0"/>
              <a:t>r</a:t>
            </a:r>
            <a:r>
              <a:rPr sz="3600" b="0" spc="-25" dirty="0"/>
              <a:t>a</a:t>
            </a:r>
            <a:r>
              <a:rPr sz="3600" b="0" dirty="0"/>
              <a:t>t</a:t>
            </a:r>
            <a:r>
              <a:rPr sz="3600" b="0" spc="-10" dirty="0"/>
              <a:t>i</a:t>
            </a:r>
            <a:r>
              <a:rPr sz="3600" b="0" spc="-5" dirty="0"/>
              <a:t>ons</a:t>
            </a:r>
            <a:r>
              <a:rPr sz="3600" b="0" dirty="0"/>
              <a:t>,</a:t>
            </a:r>
            <a:r>
              <a:rPr sz="3600" b="0" spc="5" dirty="0"/>
              <a:t> </a:t>
            </a:r>
            <a:r>
              <a:rPr sz="3600" b="0" dirty="0"/>
              <a:t>0, 1, .</a:t>
            </a:r>
            <a:r>
              <a:rPr sz="3600" b="0" spc="5" dirty="0"/>
              <a:t> </a:t>
            </a:r>
            <a:r>
              <a:rPr sz="3600" b="0" dirty="0"/>
              <a:t>.</a:t>
            </a:r>
            <a:r>
              <a:rPr sz="3600" b="0" spc="-5" dirty="0"/>
              <a:t> </a:t>
            </a:r>
            <a:r>
              <a:rPr sz="3600" b="0" dirty="0"/>
              <a:t>.</a:t>
            </a:r>
            <a:r>
              <a:rPr sz="3600" b="0" spc="-5" dirty="0"/>
              <a:t> </a:t>
            </a:r>
            <a:r>
              <a:rPr sz="3600" b="0" spc="-10" dirty="0"/>
              <a:t>,</a:t>
            </a:r>
            <a:r>
              <a:rPr sz="3600" b="0" spc="10" dirty="0"/>
              <a:t> </a:t>
            </a:r>
            <a:r>
              <a:rPr sz="3600" b="0" dirty="0"/>
              <a:t>1</a:t>
            </a:r>
            <a:r>
              <a:rPr sz="3600" b="0" spc="-15" dirty="0"/>
              <a:t>1</a:t>
            </a:r>
            <a:r>
              <a:rPr sz="3600" b="0" spc="-10" dirty="0"/>
              <a:t>,</a:t>
            </a:r>
            <a:r>
              <a:rPr sz="3600" b="0" spc="5" dirty="0"/>
              <a:t> </a:t>
            </a:r>
            <a:r>
              <a:rPr sz="3600" b="0" dirty="0"/>
              <a:t>and</a:t>
            </a:r>
            <a:r>
              <a:rPr sz="3600" b="0" spc="10" dirty="0"/>
              <a:t> </a:t>
            </a:r>
            <a:r>
              <a:rPr sz="3600" b="0" dirty="0"/>
              <a:t>th</a:t>
            </a:r>
            <a:r>
              <a:rPr sz="3600" b="0" spc="-45" dirty="0"/>
              <a:t>r</a:t>
            </a:r>
            <a:r>
              <a:rPr sz="3600" b="0" dirty="0"/>
              <a:t>ee th</a:t>
            </a:r>
            <a:r>
              <a:rPr sz="3600" b="0" spc="-45" dirty="0"/>
              <a:t>r</a:t>
            </a:r>
            <a:r>
              <a:rPr sz="3600" b="0" dirty="0"/>
              <a:t>eads</a:t>
            </a:r>
          </a:p>
        </p:txBody>
      </p:sp>
      <p:sp>
        <p:nvSpPr>
          <p:cNvPr id="4" name="object 4"/>
          <p:cNvSpPr/>
          <p:nvPr/>
        </p:nvSpPr>
        <p:spPr>
          <a:xfrm>
            <a:off x="2451506" y="3214802"/>
            <a:ext cx="4123715" cy="568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7389" y="4096512"/>
            <a:ext cx="3440430" cy="17090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75221" y="4205325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5221" y="4765395"/>
            <a:ext cx="328041" cy="371380"/>
          </a:xfrm>
          <a:custGeom>
            <a:avLst/>
            <a:gdLst/>
            <a:ahLst/>
            <a:cxnLst/>
            <a:rect l="l" t="t" r="r" b="b"/>
            <a:pathLst>
              <a:path w="312420" h="353695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1497"/>
                </a:lnTo>
                <a:lnTo>
                  <a:pt x="310427" y="315779"/>
                </a:lnTo>
                <a:lnTo>
                  <a:pt x="284977" y="347362"/>
                </a:lnTo>
                <a:lnTo>
                  <a:pt x="52070" y="353567"/>
                </a:lnTo>
                <a:lnTo>
                  <a:pt x="37788" y="351575"/>
                </a:lnTo>
                <a:lnTo>
                  <a:pt x="6205" y="326125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75221" y="5285460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72758" y="3250006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68</a:t>
            </a:fld>
            <a:endParaRPr sz="1575" spc="-10" dirty="0"/>
          </a:p>
        </p:txBody>
      </p:sp>
      <p:sp>
        <p:nvSpPr>
          <p:cNvPr id="6" name="object 2"/>
          <p:cNvSpPr txBox="1">
            <a:spLocks noGrp="1"/>
          </p:cNvSpPr>
          <p:nvPr/>
        </p:nvSpPr>
        <p:spPr>
          <a:xfrm>
            <a:off x="641350" y="1747"/>
            <a:ext cx="10762906" cy="9315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316599" rIns="0" bIns="0" rtlCol="0" anchor="ctr">
            <a:spAutoFit/>
          </a:bodyPr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S</a:t>
            </a:r>
            <a:r>
              <a:rPr spc="-8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ta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ic</a:t>
            </a:r>
            <a:r>
              <a:rPr spc="-6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4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S</a:t>
            </a:r>
            <a:r>
              <a:rPr spc="-8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ta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ic</a:t>
            </a:r>
            <a:r>
              <a:rPr spc="-6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4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2248" y="1922774"/>
            <a:ext cx="10297144" cy="517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i</a:t>
            </a:r>
            <a:r>
              <a:rPr sz="336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0, 1, .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ee</a:t>
            </a:r>
            <a:r>
              <a:rPr lang="en-US"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91510" y="3283610"/>
            <a:ext cx="3971695" cy="523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98187" y="3987698"/>
            <a:ext cx="3480435" cy="17602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49619" y="4088511"/>
            <a:ext cx="634079" cy="373380"/>
          </a:xfrm>
          <a:custGeom>
            <a:avLst/>
            <a:gdLst/>
            <a:ahLst/>
            <a:cxnLst/>
            <a:rect l="l" t="t" r="r" b="b"/>
            <a:pathLst>
              <a:path w="603885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544321" y="0"/>
                </a:lnTo>
                <a:lnTo>
                  <a:pt x="558687" y="1762"/>
                </a:lnTo>
                <a:lnTo>
                  <a:pt x="592444" y="24763"/>
                </a:lnTo>
                <a:lnTo>
                  <a:pt x="603503" y="295909"/>
                </a:lnTo>
                <a:lnTo>
                  <a:pt x="601741" y="310275"/>
                </a:lnTo>
                <a:lnTo>
                  <a:pt x="578740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9619" y="4613376"/>
            <a:ext cx="634079" cy="373380"/>
          </a:xfrm>
          <a:custGeom>
            <a:avLst/>
            <a:gdLst/>
            <a:ahLst/>
            <a:cxnLst/>
            <a:rect l="l" t="t" r="r" b="b"/>
            <a:pathLst>
              <a:path w="603885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544321" y="0"/>
                </a:lnTo>
                <a:lnTo>
                  <a:pt x="558687" y="1762"/>
                </a:lnTo>
                <a:lnTo>
                  <a:pt x="592444" y="24763"/>
                </a:lnTo>
                <a:lnTo>
                  <a:pt x="603503" y="295909"/>
                </a:lnTo>
                <a:lnTo>
                  <a:pt x="601741" y="310275"/>
                </a:lnTo>
                <a:lnTo>
                  <a:pt x="578740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49619" y="5183047"/>
            <a:ext cx="634079" cy="373380"/>
          </a:xfrm>
          <a:custGeom>
            <a:avLst/>
            <a:gdLst/>
            <a:ahLst/>
            <a:cxnLst/>
            <a:rect l="l" t="t" r="r" b="b"/>
            <a:pathLst>
              <a:path w="603885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544321" y="0"/>
                </a:lnTo>
                <a:lnTo>
                  <a:pt x="558687" y="1762"/>
                </a:lnTo>
                <a:lnTo>
                  <a:pt x="592444" y="24763"/>
                </a:lnTo>
                <a:lnTo>
                  <a:pt x="603503" y="295909"/>
                </a:lnTo>
                <a:lnTo>
                  <a:pt x="601741" y="310275"/>
                </a:lnTo>
                <a:lnTo>
                  <a:pt x="578740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14338" y="3323615"/>
            <a:ext cx="326708" cy="37338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51815"/>
                </a:moveTo>
                <a:lnTo>
                  <a:pt x="16331" y="14087"/>
                </a:lnTo>
                <a:lnTo>
                  <a:pt x="259080" y="0"/>
                </a:lnTo>
                <a:lnTo>
                  <a:pt x="273363" y="2001"/>
                </a:lnTo>
                <a:lnTo>
                  <a:pt x="304851" y="27541"/>
                </a:lnTo>
                <a:lnTo>
                  <a:pt x="310896" y="303275"/>
                </a:lnTo>
                <a:lnTo>
                  <a:pt x="308894" y="317559"/>
                </a:lnTo>
                <a:lnTo>
                  <a:pt x="283354" y="349047"/>
                </a:lnTo>
                <a:lnTo>
                  <a:pt x="51816" y="355091"/>
                </a:lnTo>
                <a:lnTo>
                  <a:pt x="37532" y="353090"/>
                </a:lnTo>
                <a:lnTo>
                  <a:pt x="6044" y="327550"/>
                </a:lnTo>
                <a:lnTo>
                  <a:pt x="0" y="5181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S</a:t>
            </a:r>
            <a:r>
              <a:rPr spc="-8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ta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ic</a:t>
            </a:r>
            <a:r>
              <a:rPr spc="-6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4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6576" y="1896104"/>
            <a:ext cx="7112889" cy="103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i</a:t>
            </a:r>
            <a:r>
              <a:rPr sz="336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0, 1, .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ee 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93899" y="3280410"/>
            <a:ext cx="4160520" cy="452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62982" y="4128516"/>
            <a:ext cx="3677260" cy="1678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72758" y="3248406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7231" y="4179722"/>
            <a:ext cx="1262825" cy="373380"/>
          </a:xfrm>
          <a:custGeom>
            <a:avLst/>
            <a:gdLst/>
            <a:ahLst/>
            <a:cxnLst/>
            <a:rect l="l" t="t" r="r" b="b"/>
            <a:pathLst>
              <a:path w="1202689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1143253" y="0"/>
                </a:lnTo>
                <a:lnTo>
                  <a:pt x="1157619" y="1762"/>
                </a:lnTo>
                <a:lnTo>
                  <a:pt x="1191376" y="24763"/>
                </a:lnTo>
                <a:lnTo>
                  <a:pt x="1202436" y="295910"/>
                </a:lnTo>
                <a:lnTo>
                  <a:pt x="1200673" y="310275"/>
                </a:lnTo>
                <a:lnTo>
                  <a:pt x="1177672" y="344032"/>
                </a:lnTo>
                <a:lnTo>
                  <a:pt x="59181" y="355092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7231" y="4760595"/>
            <a:ext cx="1262825" cy="373380"/>
          </a:xfrm>
          <a:custGeom>
            <a:avLst/>
            <a:gdLst/>
            <a:ahLst/>
            <a:cxnLst/>
            <a:rect l="l" t="t" r="r" b="b"/>
            <a:pathLst>
              <a:path w="1202689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1143253" y="0"/>
                </a:lnTo>
                <a:lnTo>
                  <a:pt x="1157619" y="1762"/>
                </a:lnTo>
                <a:lnTo>
                  <a:pt x="1191376" y="24763"/>
                </a:lnTo>
                <a:lnTo>
                  <a:pt x="1202436" y="295910"/>
                </a:lnTo>
                <a:lnTo>
                  <a:pt x="1200673" y="310275"/>
                </a:lnTo>
                <a:lnTo>
                  <a:pt x="1177672" y="344032"/>
                </a:lnTo>
                <a:lnTo>
                  <a:pt x="59181" y="355092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47231" y="5283859"/>
            <a:ext cx="1693545" cy="373380"/>
          </a:xfrm>
          <a:custGeom>
            <a:avLst/>
            <a:gdLst/>
            <a:ahLst/>
            <a:cxnLst/>
            <a:rect l="l" t="t" r="r" b="b"/>
            <a:pathLst>
              <a:path w="1612900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1553209" y="0"/>
                </a:lnTo>
                <a:lnTo>
                  <a:pt x="1567575" y="1762"/>
                </a:lnTo>
                <a:lnTo>
                  <a:pt x="1601332" y="24763"/>
                </a:lnTo>
                <a:lnTo>
                  <a:pt x="1612391" y="295909"/>
                </a:lnTo>
                <a:lnTo>
                  <a:pt x="1610629" y="310275"/>
                </a:lnTo>
                <a:lnTo>
                  <a:pt x="1587628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3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D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y</a:t>
            </a:r>
            <a:r>
              <a:rPr spc="-4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na</a:t>
            </a:r>
            <a:r>
              <a:rPr spc="-6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m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c</a:t>
            </a:r>
            <a:r>
              <a:rPr spc="-5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55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825935"/>
            <a:ext cx="9170249" cy="4784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65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11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65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onsecut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i</a:t>
            </a: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ons.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80" dirty="0">
              <a:latin typeface="Times New Roman" panose="02020603050405020304"/>
              <a:cs typeface="Times New Roman" panose="02020603050405020304"/>
            </a:endParaRPr>
          </a:p>
          <a:p>
            <a:pPr marL="241300" marR="240665" indent="-228600">
              <a:lnSpc>
                <a:spcPts val="346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ach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when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th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fin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she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 a 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hun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336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another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m the ru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-t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6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st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lang="en-US" sz="3360" dirty="0">
                <a:latin typeface="Comic Sans MS" panose="030F0702030302020204" pitchFamily="66" charset="0"/>
                <a:cs typeface="Calibri" panose="020F0502020204030204"/>
              </a:rPr>
              <a:t> (the task scheduler in OpenMP runtime)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331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65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nue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</a:p>
          <a:p>
            <a:pPr marL="241300">
              <a:lnSpc>
                <a:spcPts val="3650"/>
              </a:lnSpc>
            </a:pP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ompl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4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G</a:t>
            </a:r>
            <a:r>
              <a:rPr spc="-3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u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r>
              <a:rPr spc="-4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de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d</a:t>
            </a:r>
            <a:r>
              <a:rPr spc="-9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15" dirty="0"/>
              <a:t> </a:t>
            </a:r>
            <a:r>
              <a:rPr spc="-254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825935"/>
            <a:ext cx="8099679" cy="349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ach 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also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chun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when a th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ni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he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chun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it 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336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another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one.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985" dirty="0">
              <a:latin typeface="Times New Roman" panose="02020603050405020304"/>
              <a:cs typeface="Times New Roman" panose="02020603050405020304"/>
            </a:endParaRPr>
          </a:p>
          <a:p>
            <a:pPr marL="241300" marR="30480" indent="-228600">
              <a:lnSpc>
                <a:spcPts val="346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2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guided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sched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le,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 chun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ompl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ed,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3360" spc="-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ne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dec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ease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008312" y="5897484"/>
            <a:ext cx="9022709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Assignme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t</a:t>
            </a:r>
            <a:r>
              <a:rPr sz="252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252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oida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rule i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tions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–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9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9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99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usin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guided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s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chedule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52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69184" y="750493"/>
            <a:ext cx="6663233" cy="4899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24752" y="1246556"/>
            <a:ext cx="970121" cy="4555903"/>
          </a:xfrm>
          <a:custGeom>
            <a:avLst/>
            <a:gdLst/>
            <a:ahLst/>
            <a:cxnLst/>
            <a:rect l="l" t="t" r="r" b="b"/>
            <a:pathLst>
              <a:path w="923925" h="4338955">
                <a:moveTo>
                  <a:pt x="0" y="0"/>
                </a:moveTo>
                <a:lnTo>
                  <a:pt x="923543" y="0"/>
                </a:lnTo>
                <a:lnTo>
                  <a:pt x="461772" y="433882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19627" y="1532991"/>
            <a:ext cx="336042" cy="893445"/>
          </a:xfrm>
          <a:custGeom>
            <a:avLst/>
            <a:gdLst/>
            <a:ahLst/>
            <a:cxnLst/>
            <a:rect l="l" t="t" r="r" b="b"/>
            <a:pathLst>
              <a:path w="320039" h="850900">
                <a:moveTo>
                  <a:pt x="0" y="53340"/>
                </a:moveTo>
                <a:lnTo>
                  <a:pt x="15916" y="15328"/>
                </a:lnTo>
                <a:lnTo>
                  <a:pt x="266700" y="0"/>
                </a:lnTo>
                <a:lnTo>
                  <a:pt x="281019" y="1943"/>
                </a:lnTo>
                <a:lnTo>
                  <a:pt x="313038" y="26898"/>
                </a:lnTo>
                <a:lnTo>
                  <a:pt x="320039" y="797052"/>
                </a:lnTo>
                <a:lnTo>
                  <a:pt x="318096" y="811371"/>
                </a:lnTo>
                <a:lnTo>
                  <a:pt x="293141" y="843390"/>
                </a:lnTo>
                <a:lnTo>
                  <a:pt x="53339" y="850392"/>
                </a:lnTo>
                <a:lnTo>
                  <a:pt x="39020" y="848448"/>
                </a:lnTo>
                <a:lnTo>
                  <a:pt x="7001" y="823493"/>
                </a:lnTo>
                <a:lnTo>
                  <a:pt x="0" y="5334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6027" y="2739542"/>
            <a:ext cx="330041" cy="371380"/>
          </a:xfrm>
          <a:custGeom>
            <a:avLst/>
            <a:gdLst/>
            <a:ahLst/>
            <a:cxnLst/>
            <a:rect l="l" t="t" r="r" b="b"/>
            <a:pathLst>
              <a:path w="314325" h="353694">
                <a:moveTo>
                  <a:pt x="0" y="52324"/>
                </a:moveTo>
                <a:lnTo>
                  <a:pt x="16157" y="14468"/>
                </a:lnTo>
                <a:lnTo>
                  <a:pt x="261620" y="0"/>
                </a:lnTo>
                <a:lnTo>
                  <a:pt x="275945" y="1975"/>
                </a:lnTo>
                <a:lnTo>
                  <a:pt x="307602" y="27287"/>
                </a:lnTo>
                <a:lnTo>
                  <a:pt x="313944" y="301244"/>
                </a:lnTo>
                <a:lnTo>
                  <a:pt x="311968" y="315569"/>
                </a:lnTo>
                <a:lnTo>
                  <a:pt x="286656" y="347226"/>
                </a:lnTo>
                <a:lnTo>
                  <a:pt x="52324" y="353567"/>
                </a:lnTo>
                <a:lnTo>
                  <a:pt x="37998" y="351592"/>
                </a:lnTo>
                <a:lnTo>
                  <a:pt x="6341" y="326280"/>
                </a:lnTo>
                <a:lnTo>
                  <a:pt x="0" y="5232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19627" y="3373222"/>
            <a:ext cx="336042" cy="1259491"/>
          </a:xfrm>
          <a:custGeom>
            <a:avLst/>
            <a:gdLst/>
            <a:ahLst/>
            <a:cxnLst/>
            <a:rect l="l" t="t" r="r" b="b"/>
            <a:pathLst>
              <a:path w="320039" h="1199514">
                <a:moveTo>
                  <a:pt x="0" y="53340"/>
                </a:moveTo>
                <a:lnTo>
                  <a:pt x="15916" y="15328"/>
                </a:lnTo>
                <a:lnTo>
                  <a:pt x="266700" y="0"/>
                </a:lnTo>
                <a:lnTo>
                  <a:pt x="281019" y="1943"/>
                </a:lnTo>
                <a:lnTo>
                  <a:pt x="313038" y="26898"/>
                </a:lnTo>
                <a:lnTo>
                  <a:pt x="320039" y="1146048"/>
                </a:lnTo>
                <a:lnTo>
                  <a:pt x="318096" y="1160367"/>
                </a:lnTo>
                <a:lnTo>
                  <a:pt x="293141" y="1192386"/>
                </a:lnTo>
                <a:lnTo>
                  <a:pt x="53339" y="1199388"/>
                </a:lnTo>
                <a:lnTo>
                  <a:pt x="39020" y="1197444"/>
                </a:lnTo>
                <a:lnTo>
                  <a:pt x="7001" y="1172489"/>
                </a:lnTo>
                <a:lnTo>
                  <a:pt x="0" y="5334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6027" y="4919015"/>
            <a:ext cx="330041" cy="373380"/>
          </a:xfrm>
          <a:custGeom>
            <a:avLst/>
            <a:gdLst/>
            <a:ahLst/>
            <a:cxnLst/>
            <a:rect l="l" t="t" r="r" b="b"/>
            <a:pathLst>
              <a:path w="314325" h="355600">
                <a:moveTo>
                  <a:pt x="0" y="52324"/>
                </a:moveTo>
                <a:lnTo>
                  <a:pt x="16157" y="14468"/>
                </a:lnTo>
                <a:lnTo>
                  <a:pt x="261620" y="0"/>
                </a:lnTo>
                <a:lnTo>
                  <a:pt x="275945" y="1975"/>
                </a:lnTo>
                <a:lnTo>
                  <a:pt x="307602" y="27287"/>
                </a:lnTo>
                <a:lnTo>
                  <a:pt x="313944" y="302768"/>
                </a:lnTo>
                <a:lnTo>
                  <a:pt x="311968" y="317093"/>
                </a:lnTo>
                <a:lnTo>
                  <a:pt x="286656" y="348750"/>
                </a:lnTo>
                <a:lnTo>
                  <a:pt x="52324" y="355092"/>
                </a:lnTo>
                <a:lnTo>
                  <a:pt x="37998" y="353116"/>
                </a:lnTo>
                <a:lnTo>
                  <a:pt x="6341" y="327804"/>
                </a:lnTo>
                <a:lnTo>
                  <a:pt x="0" y="5232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3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Ru</a:t>
            </a:r>
            <a:r>
              <a:rPr spc="-9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n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r>
              <a:rPr spc="-6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m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pc="-9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2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26312" cy="3446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onme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P_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CHE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ULE</a:t>
            </a:r>
            <a:r>
              <a:rPr sz="2940" spc="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erm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schedu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loo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398780" indent="-228600" algn="just">
              <a:lnSpc>
                <a:spcPts val="3030"/>
              </a:lnSpc>
              <a:spcBef>
                <a:spcPts val="18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OMP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_SC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EDUL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onme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ab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9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alues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tic,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nami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gui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schedu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OpenMP</a:t>
            </a:r>
            <a:r>
              <a:rPr lang="en-US" dirty="0"/>
              <a:t> parallel and for directives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03352" y="1433513"/>
            <a:ext cx="9598047" cy="544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890" b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Syntax:</a:t>
            </a:r>
          </a:p>
          <a:p>
            <a:pPr>
              <a:lnSpc>
                <a:spcPct val="80000"/>
              </a:lnSpc>
            </a:pPr>
            <a:r>
              <a:rPr lang="en-US" altLang="en-US" sz="1890" b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  </a:t>
            </a:r>
            <a:r>
              <a:rPr lang="en-US" altLang="en-US" sz="210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#pragma </a:t>
            </a:r>
            <a:r>
              <a:rPr lang="en-US" altLang="en-US" sz="2100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210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for</a:t>
            </a: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[ clause [ clause ] ... ] new-line</a:t>
            </a:r>
          </a:p>
          <a:p>
            <a:pPr>
              <a:lnSpc>
                <a:spcPct val="80000"/>
              </a:lnSpc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for-loop</a:t>
            </a:r>
            <a:endParaRPr lang="en-US" altLang="en-US" sz="1890" kern="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1890" b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clause can be one of the following: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shared (list)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private( list) 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reduction( operator: list)</a:t>
            </a:r>
            <a:endParaRPr lang="en-US" altLang="en-US" sz="1890" b="1" kern="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schedule( type [ , chunk ] )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</a:t>
            </a:r>
            <a:r>
              <a:rPr lang="en-US" altLang="en-US" sz="1890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nowait</a:t>
            </a: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(C/C++: on #pragma </a:t>
            </a:r>
            <a:r>
              <a:rPr lang="en-US" altLang="en-US" sz="1890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for)</a:t>
            </a:r>
          </a:p>
          <a:p>
            <a:pPr>
              <a:spcBef>
                <a:spcPts val="600"/>
              </a:spcBef>
            </a:pPr>
            <a:endParaRPr lang="en-US" altLang="en-US" sz="1890" kern="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#pragma </a:t>
            </a:r>
            <a:r>
              <a:rPr lang="en-US" altLang="en-US" sz="1890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parallel private(f) {</a:t>
            </a:r>
          </a:p>
          <a:p>
            <a:pPr>
              <a:spcBef>
                <a:spcPts val="600"/>
              </a:spcBef>
            </a:pP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	f=7;</a:t>
            </a:r>
          </a:p>
          <a:p>
            <a:pPr>
              <a:spcBef>
                <a:spcPts val="600"/>
              </a:spcBef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#pragma </a:t>
            </a:r>
            <a:r>
              <a:rPr lang="en-US" altLang="en-US" sz="1890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for</a:t>
            </a:r>
          </a:p>
          <a:p>
            <a:pPr>
              <a:spcBef>
                <a:spcPts val="600"/>
              </a:spcBef>
            </a:pP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		for (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=0; 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&lt;20; 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++)</a:t>
            </a:r>
          </a:p>
          <a:p>
            <a:pPr>
              <a:spcBef>
                <a:spcPts val="600"/>
              </a:spcBef>
            </a:pP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		a[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] = b[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] + f * (i+1);</a:t>
            </a:r>
          </a:p>
          <a:p>
            <a:pPr>
              <a:spcBef>
                <a:spcPts val="600"/>
              </a:spcBef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} /* </a:t>
            </a:r>
            <a:r>
              <a:rPr lang="en-US" altLang="en-US" sz="1890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end parallel */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930" y="2120265"/>
            <a:ext cx="3140393" cy="456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ea typeface="MS PGothic" panose="020B0600070205080204" pitchFamily="34" charset="-128"/>
              </a:rPr>
              <a:t>OpenMP</a:t>
            </a:r>
            <a:r>
              <a:rPr lang="en-US" altLang="en-US" dirty="0">
                <a:ea typeface="MS PGothic" panose="020B0600070205080204" pitchFamily="34" charset="-128"/>
              </a:rPr>
              <a:t> environment variables</a:t>
            </a:r>
          </a:p>
        </p:txBody>
      </p:sp>
      <p:sp>
        <p:nvSpPr>
          <p:cNvPr id="47107" name="AutoShape 3"/>
          <p:cNvSpPr>
            <a:spLocks noGrp="1" noChangeAspect="1" noChangeArrowheads="1"/>
          </p:cNvSpPr>
          <p:nvPr>
            <p:ph type="body" idx="4294967295"/>
          </p:nvPr>
        </p:nvSpPr>
        <p:spPr>
          <a:xfrm>
            <a:off x="1576070" y="970280"/>
            <a:ext cx="8401050" cy="570357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b="1" dirty="0">
                <a:solidFill>
                  <a:srgbClr val="CC3300"/>
                </a:solidFill>
                <a:latin typeface="Comic Sans MS" panose="030F0702030302020204" pitchFamily="66" charset="0"/>
                <a:ea typeface="MS PGothic" panose="020B0600070205080204" pitchFamily="34" charset="-128"/>
              </a:rPr>
              <a:t>OMP_NUM_THREADS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sets the number of threads to use during execution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when dynamic adjustment of the number of threads is enabled, the value of this environment variable is the maximum number of threads to use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For example,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	</a:t>
            </a:r>
            <a:r>
              <a:rPr lang="en-US" altLang="en-US" sz="210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setenv</a:t>
            </a: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OMP_NUM_THREADS 16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tcsh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]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	export OMP_NUM_THREADS=16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ksh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bash]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b="1" dirty="0">
                <a:solidFill>
                  <a:srgbClr val="CC3300"/>
                </a:solidFill>
                <a:latin typeface="Comic Sans MS" panose="030F0702030302020204" pitchFamily="66" charset="0"/>
                <a:ea typeface="MS PGothic" panose="020B0600070205080204" pitchFamily="34" charset="-128"/>
              </a:rPr>
              <a:t>OMP_SCHEDULE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applies only to do/for and parallel do/for directives that have the schedule type RUNTIME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sets schedule type and chunk size for all such loops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For example,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	</a:t>
            </a:r>
            <a:r>
              <a:rPr lang="en-US" altLang="en-US" sz="210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setenv</a:t>
            </a: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OMP_SCHEDULE GUIDED,4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tcsh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]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1680" dirty="0">
                <a:latin typeface="Comic Sans MS" panose="030F0702030302020204" pitchFamily="66" charset="0"/>
                <a:ea typeface="MS PGothic" panose="020B0600070205080204" pitchFamily="34" charset="-128"/>
              </a:rPr>
              <a:t> 	</a:t>
            </a: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export OMP_SCHEDULE= GUIDED,4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ksh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bash]</a:t>
            </a:r>
            <a:endParaRPr lang="en-US" altLang="en-US" sz="210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10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</p:txBody>
      </p:sp>
      <p:sp>
        <p:nvSpPr>
          <p:cNvPr id="47108" name="Date Placeholder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70" dirty="0">
                <a:solidFill>
                  <a:srgbClr val="CC3300"/>
                </a:solidFill>
                <a:latin typeface="Helvetica" panose="020B0604020202020204" pitchFamily="34" charset="0"/>
              </a:rPr>
              <a:t>    </a:t>
            </a:r>
          </a:p>
        </p:txBody>
      </p:sp>
      <p:sp>
        <p:nvSpPr>
          <p:cNvPr id="47109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70" dirty="0">
                <a:solidFill>
                  <a:srgbClr val="CC3300"/>
                </a:solidFill>
                <a:latin typeface="Helvetica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628275" y="4773530"/>
            <a:ext cx="3710464" cy="140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470"/>
              </a:lnSpc>
            </a:pPr>
            <a:r>
              <a:rPr sz="5040" b="0" spc="-75" dirty="0">
                <a:latin typeface="Calibri Light" panose="020F0302020204030204"/>
                <a:cs typeface="Calibri Light" panose="020F0302020204030204"/>
              </a:rPr>
              <a:t>P</a:t>
            </a:r>
            <a:r>
              <a:rPr sz="5040" b="0" spc="-114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oduce</a:t>
            </a:r>
            <a:r>
              <a:rPr sz="5040" b="0" spc="-9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and</a:t>
            </a:r>
            <a:endParaRPr sz="5040">
              <a:latin typeface="Calibri Light" panose="020F0302020204030204"/>
              <a:cs typeface="Calibri Light" panose="020F0302020204030204"/>
            </a:endParaRPr>
          </a:p>
          <a:p>
            <a:pPr marL="12700">
              <a:lnSpc>
                <a:spcPts val="5470"/>
              </a:lnSpc>
            </a:pP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Consume</a:t>
            </a:r>
            <a:r>
              <a:rPr sz="5040" b="0" spc="-9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45917" y="1331365"/>
            <a:ext cx="3250005" cy="32516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70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Queu</a:t>
            </a:r>
            <a:r>
              <a:rPr spc="-1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767201"/>
            <a:ext cx="9314265" cy="40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91694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cu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ome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ait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ocerie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per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10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t.</a:t>
            </a: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tu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tructu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eaded app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pose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 h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od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10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3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onsu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940" spc="5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oducer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eads mig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“p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oduce”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a.</a:t>
            </a:r>
          </a:p>
          <a:p>
            <a:pPr marL="697865" lvl="1" indent="-227965">
              <a:lnSpc>
                <a:spcPts val="2735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Consumer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eads mig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5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ume”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equ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y finding</a:t>
            </a:r>
          </a:p>
          <a:p>
            <a:pPr marL="697865">
              <a:lnSpc>
                <a:spcPts val="2735"/>
              </a:lnSpc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52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ting</a:t>
            </a:r>
            <a:r>
              <a:rPr sz="252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252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d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a.</a:t>
            </a:r>
          </a:p>
        </p:txBody>
      </p:sp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79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Messa</a:t>
            </a:r>
            <a:r>
              <a:rPr spc="-50" dirty="0"/>
              <a:t>g</a:t>
            </a:r>
            <a:r>
              <a:rPr spc="-5" dirty="0"/>
              <a:t>e-</a:t>
            </a:r>
            <a:r>
              <a:rPr spc="-105" dirty="0"/>
              <a:t>P</a:t>
            </a:r>
            <a:r>
              <a:rPr dirty="0"/>
              <a:t>assing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9242257" cy="340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b="1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b="1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 panose="020B0604020202020204"/>
              <a:buChar char="•"/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241300" marR="371475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one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another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enqueu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 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-1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331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ecei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deq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eu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 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hea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its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Messa</a:t>
            </a:r>
            <a:r>
              <a:rPr spc="-50" dirty="0"/>
              <a:t>g</a:t>
            </a:r>
            <a:r>
              <a:rPr spc="-5" dirty="0"/>
              <a:t>e-</a:t>
            </a:r>
            <a:r>
              <a:rPr spc="-105" dirty="0"/>
              <a:t>P</a:t>
            </a:r>
            <a:r>
              <a:rPr dirty="0"/>
              <a:t>assing</a:t>
            </a:r>
          </a:p>
        </p:txBody>
      </p:sp>
      <p:sp>
        <p:nvSpPr>
          <p:cNvPr id="3" name="object 3"/>
          <p:cNvSpPr/>
          <p:nvPr/>
        </p:nvSpPr>
        <p:spPr>
          <a:xfrm>
            <a:off x="2155468" y="2069059"/>
            <a:ext cx="8639480" cy="29539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46731" y="2553919"/>
            <a:ext cx="2160270" cy="806768"/>
          </a:xfrm>
          <a:custGeom>
            <a:avLst/>
            <a:gdLst/>
            <a:ahLst/>
            <a:cxnLst/>
            <a:rect l="l" t="t" r="r" b="b"/>
            <a:pathLst>
              <a:path w="2057400" h="768350">
                <a:moveTo>
                  <a:pt x="0" y="128016"/>
                </a:moveTo>
                <a:lnTo>
                  <a:pt x="7205" y="85552"/>
                </a:lnTo>
                <a:lnTo>
                  <a:pt x="27185" y="49116"/>
                </a:lnTo>
                <a:lnTo>
                  <a:pt x="57481" y="21157"/>
                </a:lnTo>
                <a:lnTo>
                  <a:pt x="95639" y="4127"/>
                </a:lnTo>
                <a:lnTo>
                  <a:pt x="1929384" y="0"/>
                </a:lnTo>
                <a:lnTo>
                  <a:pt x="1944057" y="830"/>
                </a:lnTo>
                <a:lnTo>
                  <a:pt x="1984783" y="12561"/>
                </a:lnTo>
                <a:lnTo>
                  <a:pt x="2018666" y="36245"/>
                </a:lnTo>
                <a:lnTo>
                  <a:pt x="2043254" y="69432"/>
                </a:lnTo>
                <a:lnTo>
                  <a:pt x="2056097" y="109671"/>
                </a:lnTo>
                <a:lnTo>
                  <a:pt x="2057400" y="640080"/>
                </a:lnTo>
                <a:lnTo>
                  <a:pt x="2056569" y="654753"/>
                </a:lnTo>
                <a:lnTo>
                  <a:pt x="2044838" y="695479"/>
                </a:lnTo>
                <a:lnTo>
                  <a:pt x="2021154" y="729362"/>
                </a:lnTo>
                <a:lnTo>
                  <a:pt x="1987967" y="753950"/>
                </a:lnTo>
                <a:lnTo>
                  <a:pt x="1947728" y="766793"/>
                </a:lnTo>
                <a:lnTo>
                  <a:pt x="128015" y="768096"/>
                </a:lnTo>
                <a:lnTo>
                  <a:pt x="113349" y="767265"/>
                </a:lnTo>
                <a:lnTo>
                  <a:pt x="72632" y="755534"/>
                </a:lnTo>
                <a:lnTo>
                  <a:pt x="38748" y="731850"/>
                </a:lnTo>
                <a:lnTo>
                  <a:pt x="14152" y="698663"/>
                </a:lnTo>
                <a:lnTo>
                  <a:pt x="1303" y="658424"/>
                </a:lnTo>
                <a:lnTo>
                  <a:pt x="0" y="12801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59481" y="3914088"/>
            <a:ext cx="2707672" cy="904113"/>
          </a:xfrm>
          <a:custGeom>
            <a:avLst/>
            <a:gdLst/>
            <a:ahLst/>
            <a:cxnLst/>
            <a:rect l="l" t="t" r="r" b="b"/>
            <a:pathLst>
              <a:path w="2578735" h="861060">
                <a:moveTo>
                  <a:pt x="0" y="143510"/>
                </a:moveTo>
                <a:lnTo>
                  <a:pt x="6466" y="100789"/>
                </a:lnTo>
                <a:lnTo>
                  <a:pt x="24564" y="63193"/>
                </a:lnTo>
                <a:lnTo>
                  <a:pt x="52339" y="32678"/>
                </a:lnTo>
                <a:lnTo>
                  <a:pt x="87835" y="11200"/>
                </a:lnTo>
                <a:lnTo>
                  <a:pt x="129100" y="714"/>
                </a:lnTo>
                <a:lnTo>
                  <a:pt x="2435098" y="0"/>
                </a:lnTo>
                <a:lnTo>
                  <a:pt x="2449786" y="742"/>
                </a:lnTo>
                <a:lnTo>
                  <a:pt x="2491016" y="11305"/>
                </a:lnTo>
                <a:lnTo>
                  <a:pt x="2526469" y="32848"/>
                </a:lnTo>
                <a:lnTo>
                  <a:pt x="2554189" y="63415"/>
                </a:lnTo>
                <a:lnTo>
                  <a:pt x="2572221" y="101051"/>
                </a:lnTo>
                <a:lnTo>
                  <a:pt x="2578608" y="717550"/>
                </a:lnTo>
                <a:lnTo>
                  <a:pt x="2577865" y="732238"/>
                </a:lnTo>
                <a:lnTo>
                  <a:pt x="2567302" y="773468"/>
                </a:lnTo>
                <a:lnTo>
                  <a:pt x="2545759" y="808921"/>
                </a:lnTo>
                <a:lnTo>
                  <a:pt x="2515192" y="836641"/>
                </a:lnTo>
                <a:lnTo>
                  <a:pt x="2477556" y="854673"/>
                </a:lnTo>
                <a:lnTo>
                  <a:pt x="143510" y="861060"/>
                </a:lnTo>
                <a:lnTo>
                  <a:pt x="128818" y="860317"/>
                </a:lnTo>
                <a:lnTo>
                  <a:pt x="87585" y="849754"/>
                </a:lnTo>
                <a:lnTo>
                  <a:pt x="52133" y="828211"/>
                </a:lnTo>
                <a:lnTo>
                  <a:pt x="24414" y="797644"/>
                </a:lnTo>
                <a:lnTo>
                  <a:pt x="6385" y="760008"/>
                </a:lnTo>
                <a:lnTo>
                  <a:pt x="0" y="1435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80</a:t>
            </a:fld>
            <a:endParaRPr sz="1575" spc="-1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E8EC66-4A16-4E16-AE5F-0558EF5210A9}"/>
              </a:ext>
            </a:extLst>
          </p:cNvPr>
          <p:cNvSpPr txBox="1"/>
          <p:nvPr/>
        </p:nvSpPr>
        <p:spPr>
          <a:xfrm>
            <a:off x="1936304" y="1584226"/>
            <a:ext cx="45368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// sending messages by a thread.</a:t>
            </a:r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Sending</a:t>
            </a:r>
            <a:r>
              <a:rPr spc="-35" dirty="0"/>
              <a:t> </a:t>
            </a:r>
            <a:r>
              <a:rPr dirty="0"/>
              <a:t>Messa</a:t>
            </a:r>
            <a:r>
              <a:rPr spc="-50" dirty="0"/>
              <a:t>g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995448"/>
            <a:ext cx="8209026" cy="1909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46705" y="2873959"/>
            <a:ext cx="8209026" cy="1030796"/>
          </a:xfrm>
          <a:custGeom>
            <a:avLst/>
            <a:gdLst/>
            <a:ahLst/>
            <a:cxnLst/>
            <a:rect l="l" t="t" r="r" b="b"/>
            <a:pathLst>
              <a:path w="7818120" h="981710">
                <a:moveTo>
                  <a:pt x="0" y="163575"/>
                </a:moveTo>
                <a:lnTo>
                  <a:pt x="5709" y="120596"/>
                </a:lnTo>
                <a:lnTo>
                  <a:pt x="21833" y="81895"/>
                </a:lnTo>
                <a:lnTo>
                  <a:pt x="46868" y="48980"/>
                </a:lnTo>
                <a:lnTo>
                  <a:pt x="79308" y="23358"/>
                </a:lnTo>
                <a:lnTo>
                  <a:pt x="117648" y="6539"/>
                </a:lnTo>
                <a:lnTo>
                  <a:pt x="160383" y="30"/>
                </a:lnTo>
                <a:lnTo>
                  <a:pt x="7654544" y="0"/>
                </a:lnTo>
                <a:lnTo>
                  <a:pt x="7669252" y="653"/>
                </a:lnTo>
                <a:lnTo>
                  <a:pt x="7710973" y="10005"/>
                </a:lnTo>
                <a:lnTo>
                  <a:pt x="7747913" y="29273"/>
                </a:lnTo>
                <a:lnTo>
                  <a:pt x="7778565" y="56948"/>
                </a:lnTo>
                <a:lnTo>
                  <a:pt x="7801420" y="91523"/>
                </a:lnTo>
                <a:lnTo>
                  <a:pt x="7814970" y="131490"/>
                </a:lnTo>
                <a:lnTo>
                  <a:pt x="7818120" y="817880"/>
                </a:lnTo>
                <a:lnTo>
                  <a:pt x="7817466" y="832588"/>
                </a:lnTo>
                <a:lnTo>
                  <a:pt x="7808114" y="874309"/>
                </a:lnTo>
                <a:lnTo>
                  <a:pt x="7788846" y="911249"/>
                </a:lnTo>
                <a:lnTo>
                  <a:pt x="7761171" y="941901"/>
                </a:lnTo>
                <a:lnTo>
                  <a:pt x="7726596" y="964756"/>
                </a:lnTo>
                <a:lnTo>
                  <a:pt x="7686629" y="978306"/>
                </a:lnTo>
                <a:lnTo>
                  <a:pt x="163576" y="981456"/>
                </a:lnTo>
                <a:lnTo>
                  <a:pt x="148861" y="980802"/>
                </a:lnTo>
                <a:lnTo>
                  <a:pt x="107131" y="971450"/>
                </a:lnTo>
                <a:lnTo>
                  <a:pt x="70189" y="952182"/>
                </a:lnTo>
                <a:lnTo>
                  <a:pt x="39541" y="924507"/>
                </a:lnTo>
                <a:lnTo>
                  <a:pt x="16693" y="889932"/>
                </a:lnTo>
                <a:lnTo>
                  <a:pt x="3148" y="849965"/>
                </a:lnTo>
                <a:lnTo>
                  <a:pt x="0" y="16357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ecei</a:t>
            </a:r>
            <a:r>
              <a:rPr spc="-20" dirty="0"/>
              <a:t>v</a:t>
            </a:r>
            <a:r>
              <a:rPr dirty="0"/>
              <a:t>ing Messa</a:t>
            </a:r>
            <a:r>
              <a:rPr spc="-45" dirty="0"/>
              <a:t>g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/>
          <p:nvPr/>
        </p:nvSpPr>
        <p:spPr>
          <a:xfrm>
            <a:off x="2621127" y="1803425"/>
            <a:ext cx="7168896" cy="32916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19527" y="2793949"/>
            <a:ext cx="7170896" cy="880110"/>
          </a:xfrm>
          <a:custGeom>
            <a:avLst/>
            <a:gdLst/>
            <a:ahLst/>
            <a:cxnLst/>
            <a:rect l="l" t="t" r="r" b="b"/>
            <a:pathLst>
              <a:path w="6829425" h="838200">
                <a:moveTo>
                  <a:pt x="0" y="139700"/>
                </a:moveTo>
                <a:lnTo>
                  <a:pt x="6634" y="97061"/>
                </a:lnTo>
                <a:lnTo>
                  <a:pt x="25163" y="59724"/>
                </a:lnTo>
                <a:lnTo>
                  <a:pt x="53522" y="29760"/>
                </a:lnTo>
                <a:lnTo>
                  <a:pt x="89649" y="9241"/>
                </a:lnTo>
                <a:lnTo>
                  <a:pt x="131480" y="238"/>
                </a:lnTo>
                <a:lnTo>
                  <a:pt x="6689344" y="0"/>
                </a:lnTo>
                <a:lnTo>
                  <a:pt x="6704018" y="763"/>
                </a:lnTo>
                <a:lnTo>
                  <a:pt x="6745119" y="11600"/>
                </a:lnTo>
                <a:lnTo>
                  <a:pt x="6780228" y="33646"/>
                </a:lnTo>
                <a:lnTo>
                  <a:pt x="6807274" y="64831"/>
                </a:lnTo>
                <a:lnTo>
                  <a:pt x="6824185" y="103082"/>
                </a:lnTo>
                <a:lnTo>
                  <a:pt x="6829044" y="698500"/>
                </a:lnTo>
                <a:lnTo>
                  <a:pt x="6828280" y="713174"/>
                </a:lnTo>
                <a:lnTo>
                  <a:pt x="6817443" y="754275"/>
                </a:lnTo>
                <a:lnTo>
                  <a:pt x="6795397" y="789384"/>
                </a:lnTo>
                <a:lnTo>
                  <a:pt x="6764212" y="816430"/>
                </a:lnTo>
                <a:lnTo>
                  <a:pt x="6725961" y="833341"/>
                </a:lnTo>
                <a:lnTo>
                  <a:pt x="139700" y="838200"/>
                </a:lnTo>
                <a:lnTo>
                  <a:pt x="125015" y="837436"/>
                </a:lnTo>
                <a:lnTo>
                  <a:pt x="83897" y="826599"/>
                </a:lnTo>
                <a:lnTo>
                  <a:pt x="48789" y="804553"/>
                </a:lnTo>
                <a:lnTo>
                  <a:pt x="21753" y="773368"/>
                </a:lnTo>
                <a:lnTo>
                  <a:pt x="4854" y="735117"/>
                </a:lnTo>
                <a:lnTo>
                  <a:pt x="0" y="1397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82</a:t>
            </a:fld>
            <a:endParaRPr sz="1575" spc="-1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C731F4-B9A1-4771-9FFB-A5B18F25842A}"/>
              </a:ext>
            </a:extLst>
          </p:cNvPr>
          <p:cNvSpPr/>
          <p:nvPr/>
        </p:nvSpPr>
        <p:spPr>
          <a:xfrm>
            <a:off x="9281120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8E0C9A-4869-497E-B1E1-09C59A508612}"/>
              </a:ext>
            </a:extLst>
          </p:cNvPr>
          <p:cNvSpPr/>
          <p:nvPr/>
        </p:nvSpPr>
        <p:spPr>
          <a:xfrm>
            <a:off x="9713168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915C57-3B94-4288-913C-4B69AA23388A}"/>
              </a:ext>
            </a:extLst>
          </p:cNvPr>
          <p:cNvSpPr/>
          <p:nvPr/>
        </p:nvSpPr>
        <p:spPr>
          <a:xfrm>
            <a:off x="10145216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8F6205-081A-4430-9736-33B7348F4962}"/>
              </a:ext>
            </a:extLst>
          </p:cNvPr>
          <p:cNvSpPr/>
          <p:nvPr/>
        </p:nvSpPr>
        <p:spPr>
          <a:xfrm>
            <a:off x="10577264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ADF7CE8-EC0A-416A-9E0E-D02196821768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9137104" y="5616998"/>
            <a:ext cx="360040" cy="377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2354FA8-DFDE-428F-9183-493065DB0B1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0531192" y="5616998"/>
            <a:ext cx="262096" cy="441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07D238D-C5C7-4052-A8F4-259C2ABE401D}"/>
              </a:ext>
            </a:extLst>
          </p:cNvPr>
          <p:cNvSpPr txBox="1"/>
          <p:nvPr/>
        </p:nvSpPr>
        <p:spPr>
          <a:xfrm>
            <a:off x="8128992" y="6025788"/>
            <a:ext cx="16912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tail: enqueue</a:t>
            </a:r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7DB1AE7-B6ED-4F6E-9828-B20BFD82B320}"/>
              </a:ext>
            </a:extLst>
          </p:cNvPr>
          <p:cNvSpPr txBox="1"/>
          <p:nvPr/>
        </p:nvSpPr>
        <p:spPr>
          <a:xfrm>
            <a:off x="10073208" y="6012890"/>
            <a:ext cx="19078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head: dequeue</a:t>
            </a:r>
            <a:endParaRPr 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24B32C-5AB9-49F5-8DEE-258DC5D902E7}"/>
              </a:ext>
            </a:extLst>
          </p:cNvPr>
          <p:cNvSpPr txBox="1"/>
          <p:nvPr/>
        </p:nvSpPr>
        <p:spPr>
          <a:xfrm>
            <a:off x="10073208" y="2571153"/>
            <a:ext cx="22660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 and tail operate on the same message.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C3AB78-F0DA-4FF3-9FF9-8FD7516F1240}"/>
              </a:ext>
            </a:extLst>
          </p:cNvPr>
          <p:cNvSpPr txBox="1"/>
          <p:nvPr/>
        </p:nvSpPr>
        <p:spPr>
          <a:xfrm>
            <a:off x="9777118" y="3872942"/>
            <a:ext cx="25620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 and tail operate on the different messages.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18CA10-8A3E-4BAD-9503-BFB9F5F03089}"/>
              </a:ext>
            </a:extLst>
          </p:cNvPr>
          <p:cNvSpPr txBox="1"/>
          <p:nvPr/>
        </p:nvSpPr>
        <p:spPr>
          <a:xfrm>
            <a:off x="7751113" y="5215747"/>
            <a:ext cx="14574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Msg queue</a:t>
            </a:r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05" dirty="0"/>
              <a:t>T</a:t>
            </a:r>
            <a:r>
              <a:rPr spc="-5" dirty="0"/>
              <a:t>ermin</a:t>
            </a:r>
            <a:r>
              <a:rPr spc="-45" dirty="0"/>
              <a:t>a</a:t>
            </a:r>
            <a:r>
              <a:rPr dirty="0"/>
              <a:t>tion</a:t>
            </a:r>
            <a:r>
              <a:rPr spc="-10" dirty="0"/>
              <a:t> </a:t>
            </a:r>
            <a:r>
              <a:rPr dirty="0"/>
              <a:t>D</a:t>
            </a:r>
            <a:r>
              <a:rPr spc="-35" dirty="0"/>
              <a:t>e</a:t>
            </a:r>
            <a:r>
              <a:rPr spc="-45" dirty="0"/>
              <a:t>t</a:t>
            </a:r>
            <a:r>
              <a:rPr spc="-5" dirty="0"/>
              <a:t>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2363495" y="1838630"/>
            <a:ext cx="8074609" cy="1997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0534" y="4207219"/>
            <a:ext cx="5370746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nc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af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er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omple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its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loop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4478" y="2709671"/>
            <a:ext cx="1102138" cy="1333500"/>
          </a:xfrm>
          <a:custGeom>
            <a:avLst/>
            <a:gdLst/>
            <a:ahLst/>
            <a:cxnLst/>
            <a:rect l="l" t="t" r="r" b="b"/>
            <a:pathLst>
              <a:path w="1049654" h="1270000">
                <a:moveTo>
                  <a:pt x="1047623" y="558800"/>
                </a:moveTo>
                <a:lnTo>
                  <a:pt x="1035050" y="558800"/>
                </a:lnTo>
                <a:lnTo>
                  <a:pt x="1036574" y="571500"/>
                </a:lnTo>
                <a:lnTo>
                  <a:pt x="1036320" y="584200"/>
                </a:lnTo>
                <a:lnTo>
                  <a:pt x="1034288" y="596900"/>
                </a:lnTo>
                <a:lnTo>
                  <a:pt x="1030605" y="622300"/>
                </a:lnTo>
                <a:lnTo>
                  <a:pt x="1025271" y="635000"/>
                </a:lnTo>
                <a:lnTo>
                  <a:pt x="1018286" y="660400"/>
                </a:lnTo>
                <a:lnTo>
                  <a:pt x="1009904" y="673100"/>
                </a:lnTo>
                <a:lnTo>
                  <a:pt x="999871" y="698500"/>
                </a:lnTo>
                <a:lnTo>
                  <a:pt x="988568" y="723900"/>
                </a:lnTo>
                <a:lnTo>
                  <a:pt x="975868" y="736600"/>
                </a:lnTo>
                <a:lnTo>
                  <a:pt x="962025" y="762000"/>
                </a:lnTo>
                <a:lnTo>
                  <a:pt x="930529" y="812800"/>
                </a:lnTo>
                <a:lnTo>
                  <a:pt x="894842" y="863600"/>
                </a:lnTo>
                <a:lnTo>
                  <a:pt x="855345" y="914400"/>
                </a:lnTo>
                <a:lnTo>
                  <a:pt x="834390" y="939800"/>
                </a:lnTo>
                <a:lnTo>
                  <a:pt x="812800" y="977900"/>
                </a:lnTo>
                <a:lnTo>
                  <a:pt x="790448" y="1003300"/>
                </a:lnTo>
                <a:lnTo>
                  <a:pt x="767334" y="1028700"/>
                </a:lnTo>
                <a:lnTo>
                  <a:pt x="719963" y="1092200"/>
                </a:lnTo>
                <a:lnTo>
                  <a:pt x="670941" y="1143000"/>
                </a:lnTo>
                <a:lnTo>
                  <a:pt x="569976" y="1270000"/>
                </a:lnTo>
                <a:lnTo>
                  <a:pt x="579755" y="1270000"/>
                </a:lnTo>
                <a:lnTo>
                  <a:pt x="630428" y="1219200"/>
                </a:lnTo>
                <a:lnTo>
                  <a:pt x="680593" y="1155700"/>
                </a:lnTo>
                <a:lnTo>
                  <a:pt x="729869" y="1092200"/>
                </a:lnTo>
                <a:lnTo>
                  <a:pt x="777367" y="1041400"/>
                </a:lnTo>
                <a:lnTo>
                  <a:pt x="800354" y="1016000"/>
                </a:lnTo>
                <a:lnTo>
                  <a:pt x="822833" y="977900"/>
                </a:lnTo>
                <a:lnTo>
                  <a:pt x="844550" y="952500"/>
                </a:lnTo>
                <a:lnTo>
                  <a:pt x="885825" y="901700"/>
                </a:lnTo>
                <a:lnTo>
                  <a:pt x="923671" y="850900"/>
                </a:lnTo>
                <a:lnTo>
                  <a:pt x="957580" y="800100"/>
                </a:lnTo>
                <a:lnTo>
                  <a:pt x="986917" y="749300"/>
                </a:lnTo>
                <a:lnTo>
                  <a:pt x="1011301" y="698500"/>
                </a:lnTo>
                <a:lnTo>
                  <a:pt x="1021588" y="685800"/>
                </a:lnTo>
                <a:lnTo>
                  <a:pt x="1030224" y="660400"/>
                </a:lnTo>
                <a:lnTo>
                  <a:pt x="1037463" y="635000"/>
                </a:lnTo>
                <a:lnTo>
                  <a:pt x="1042924" y="622300"/>
                </a:lnTo>
                <a:lnTo>
                  <a:pt x="1046861" y="596900"/>
                </a:lnTo>
                <a:lnTo>
                  <a:pt x="1049020" y="584200"/>
                </a:lnTo>
                <a:lnTo>
                  <a:pt x="1049147" y="571500"/>
                </a:lnTo>
                <a:lnTo>
                  <a:pt x="1047623" y="558800"/>
                </a:lnTo>
                <a:close/>
              </a:path>
              <a:path w="1049654" h="1270000">
                <a:moveTo>
                  <a:pt x="240792" y="609600"/>
                </a:moveTo>
                <a:lnTo>
                  <a:pt x="25146" y="609600"/>
                </a:lnTo>
                <a:lnTo>
                  <a:pt x="30861" y="622300"/>
                </a:lnTo>
                <a:lnTo>
                  <a:pt x="205613" y="622300"/>
                </a:lnTo>
                <a:lnTo>
                  <a:pt x="240792" y="609600"/>
                </a:lnTo>
                <a:close/>
              </a:path>
              <a:path w="1049654" h="1270000">
                <a:moveTo>
                  <a:pt x="27432" y="596900"/>
                </a:moveTo>
                <a:lnTo>
                  <a:pt x="11303" y="596900"/>
                </a:lnTo>
                <a:lnTo>
                  <a:pt x="18669" y="609600"/>
                </a:lnTo>
                <a:lnTo>
                  <a:pt x="32258" y="609600"/>
                </a:lnTo>
                <a:lnTo>
                  <a:pt x="27432" y="596900"/>
                </a:lnTo>
                <a:close/>
              </a:path>
              <a:path w="1049654" h="1270000">
                <a:moveTo>
                  <a:pt x="316611" y="596900"/>
                </a:moveTo>
                <a:lnTo>
                  <a:pt x="239014" y="596900"/>
                </a:lnTo>
                <a:lnTo>
                  <a:pt x="203835" y="609600"/>
                </a:lnTo>
                <a:lnTo>
                  <a:pt x="277876" y="609600"/>
                </a:lnTo>
                <a:lnTo>
                  <a:pt x="316611" y="596900"/>
                </a:lnTo>
                <a:close/>
              </a:path>
              <a:path w="1049654" h="1270000">
                <a:moveTo>
                  <a:pt x="16510" y="584200"/>
                </a:moveTo>
                <a:lnTo>
                  <a:pt x="5334" y="584200"/>
                </a:lnTo>
                <a:lnTo>
                  <a:pt x="10541" y="596900"/>
                </a:lnTo>
                <a:lnTo>
                  <a:pt x="21717" y="596900"/>
                </a:lnTo>
                <a:lnTo>
                  <a:pt x="16510" y="584200"/>
                </a:lnTo>
                <a:close/>
              </a:path>
              <a:path w="1049654" h="1270000">
                <a:moveTo>
                  <a:pt x="770763" y="508000"/>
                </a:moveTo>
                <a:lnTo>
                  <a:pt x="689991" y="508000"/>
                </a:lnTo>
                <a:lnTo>
                  <a:pt x="606933" y="533400"/>
                </a:lnTo>
                <a:lnTo>
                  <a:pt x="437007" y="558800"/>
                </a:lnTo>
                <a:lnTo>
                  <a:pt x="354203" y="584200"/>
                </a:lnTo>
                <a:lnTo>
                  <a:pt x="314325" y="584200"/>
                </a:lnTo>
                <a:lnTo>
                  <a:pt x="275844" y="596900"/>
                </a:lnTo>
                <a:lnTo>
                  <a:pt x="356489" y="596900"/>
                </a:lnTo>
                <a:lnTo>
                  <a:pt x="439420" y="571500"/>
                </a:lnTo>
                <a:lnTo>
                  <a:pt x="609473" y="546100"/>
                </a:lnTo>
                <a:lnTo>
                  <a:pt x="692277" y="520700"/>
                </a:lnTo>
                <a:lnTo>
                  <a:pt x="732155" y="520700"/>
                </a:lnTo>
                <a:lnTo>
                  <a:pt x="770763" y="508000"/>
                </a:lnTo>
                <a:close/>
              </a:path>
              <a:path w="1049654" h="1270000">
                <a:moveTo>
                  <a:pt x="13716" y="571500"/>
                </a:moveTo>
                <a:lnTo>
                  <a:pt x="1397" y="571500"/>
                </a:lnTo>
                <a:lnTo>
                  <a:pt x="1524" y="584200"/>
                </a:lnTo>
                <a:lnTo>
                  <a:pt x="17018" y="584200"/>
                </a:lnTo>
                <a:lnTo>
                  <a:pt x="13716" y="571500"/>
                </a:lnTo>
                <a:close/>
              </a:path>
              <a:path w="1049654" h="1270000">
                <a:moveTo>
                  <a:pt x="468356" y="14447"/>
                </a:moveTo>
                <a:lnTo>
                  <a:pt x="431673" y="38100"/>
                </a:lnTo>
                <a:lnTo>
                  <a:pt x="380365" y="88900"/>
                </a:lnTo>
                <a:lnTo>
                  <a:pt x="330073" y="139700"/>
                </a:lnTo>
                <a:lnTo>
                  <a:pt x="281432" y="190500"/>
                </a:lnTo>
                <a:lnTo>
                  <a:pt x="257937" y="203200"/>
                </a:lnTo>
                <a:lnTo>
                  <a:pt x="234950" y="228600"/>
                </a:lnTo>
                <a:lnTo>
                  <a:pt x="212598" y="254000"/>
                </a:lnTo>
                <a:lnTo>
                  <a:pt x="191008" y="279400"/>
                </a:lnTo>
                <a:lnTo>
                  <a:pt x="170307" y="304800"/>
                </a:lnTo>
                <a:lnTo>
                  <a:pt x="150368" y="317500"/>
                </a:lnTo>
                <a:lnTo>
                  <a:pt x="131445" y="342900"/>
                </a:lnTo>
                <a:lnTo>
                  <a:pt x="113411" y="368300"/>
                </a:lnTo>
                <a:lnTo>
                  <a:pt x="96520" y="381000"/>
                </a:lnTo>
                <a:lnTo>
                  <a:pt x="80772" y="406400"/>
                </a:lnTo>
                <a:lnTo>
                  <a:pt x="66294" y="419100"/>
                </a:lnTo>
                <a:lnTo>
                  <a:pt x="52959" y="444500"/>
                </a:lnTo>
                <a:lnTo>
                  <a:pt x="40894" y="457200"/>
                </a:lnTo>
                <a:lnTo>
                  <a:pt x="30353" y="469900"/>
                </a:lnTo>
                <a:lnTo>
                  <a:pt x="21209" y="495300"/>
                </a:lnTo>
                <a:lnTo>
                  <a:pt x="13589" y="508000"/>
                </a:lnTo>
                <a:lnTo>
                  <a:pt x="7620" y="520700"/>
                </a:lnTo>
                <a:lnTo>
                  <a:pt x="3302" y="533400"/>
                </a:lnTo>
                <a:lnTo>
                  <a:pt x="635" y="546100"/>
                </a:lnTo>
                <a:lnTo>
                  <a:pt x="0" y="558800"/>
                </a:lnTo>
                <a:lnTo>
                  <a:pt x="0" y="571500"/>
                </a:lnTo>
                <a:lnTo>
                  <a:pt x="12700" y="571500"/>
                </a:lnTo>
                <a:lnTo>
                  <a:pt x="12700" y="558800"/>
                </a:lnTo>
                <a:lnTo>
                  <a:pt x="13208" y="558800"/>
                </a:lnTo>
                <a:lnTo>
                  <a:pt x="15494" y="546100"/>
                </a:lnTo>
                <a:lnTo>
                  <a:pt x="19431" y="533400"/>
                </a:lnTo>
                <a:lnTo>
                  <a:pt x="25019" y="508000"/>
                </a:lnTo>
                <a:lnTo>
                  <a:pt x="32258" y="495300"/>
                </a:lnTo>
                <a:lnTo>
                  <a:pt x="41275" y="482600"/>
                </a:lnTo>
                <a:lnTo>
                  <a:pt x="51435" y="469900"/>
                </a:lnTo>
                <a:lnTo>
                  <a:pt x="63246" y="444500"/>
                </a:lnTo>
                <a:lnTo>
                  <a:pt x="76327" y="431800"/>
                </a:lnTo>
                <a:lnTo>
                  <a:pt x="90805" y="406400"/>
                </a:lnTo>
                <a:lnTo>
                  <a:pt x="106299" y="393700"/>
                </a:lnTo>
                <a:lnTo>
                  <a:pt x="123063" y="368300"/>
                </a:lnTo>
                <a:lnTo>
                  <a:pt x="140843" y="355600"/>
                </a:lnTo>
                <a:lnTo>
                  <a:pt x="159639" y="330200"/>
                </a:lnTo>
                <a:lnTo>
                  <a:pt x="179578" y="304800"/>
                </a:lnTo>
                <a:lnTo>
                  <a:pt x="200152" y="279400"/>
                </a:lnTo>
                <a:lnTo>
                  <a:pt x="221615" y="266700"/>
                </a:lnTo>
                <a:lnTo>
                  <a:pt x="243967" y="241300"/>
                </a:lnTo>
                <a:lnTo>
                  <a:pt x="266827" y="215900"/>
                </a:lnTo>
                <a:lnTo>
                  <a:pt x="290322" y="190500"/>
                </a:lnTo>
                <a:lnTo>
                  <a:pt x="338836" y="152400"/>
                </a:lnTo>
                <a:lnTo>
                  <a:pt x="389001" y="101600"/>
                </a:lnTo>
                <a:lnTo>
                  <a:pt x="440436" y="50800"/>
                </a:lnTo>
                <a:lnTo>
                  <a:pt x="463856" y="29888"/>
                </a:lnTo>
                <a:lnTo>
                  <a:pt x="468356" y="14447"/>
                </a:lnTo>
                <a:close/>
              </a:path>
              <a:path w="1049654" h="1270000">
                <a:moveTo>
                  <a:pt x="12700" y="558800"/>
                </a:moveTo>
                <a:lnTo>
                  <a:pt x="12700" y="571500"/>
                </a:lnTo>
                <a:lnTo>
                  <a:pt x="13062" y="562428"/>
                </a:lnTo>
                <a:lnTo>
                  <a:pt x="12700" y="558800"/>
                </a:lnTo>
                <a:close/>
              </a:path>
              <a:path w="1049654" h="1270000">
                <a:moveTo>
                  <a:pt x="13062" y="562428"/>
                </a:moveTo>
                <a:lnTo>
                  <a:pt x="12700" y="571500"/>
                </a:lnTo>
                <a:lnTo>
                  <a:pt x="13970" y="571500"/>
                </a:lnTo>
                <a:lnTo>
                  <a:pt x="13062" y="562428"/>
                </a:lnTo>
                <a:close/>
              </a:path>
              <a:path w="1049654" h="1270000">
                <a:moveTo>
                  <a:pt x="13208" y="558800"/>
                </a:moveTo>
                <a:lnTo>
                  <a:pt x="12700" y="558800"/>
                </a:lnTo>
                <a:lnTo>
                  <a:pt x="13062" y="562428"/>
                </a:lnTo>
                <a:lnTo>
                  <a:pt x="13208" y="558800"/>
                </a:lnTo>
                <a:close/>
              </a:path>
              <a:path w="1049654" h="1270000">
                <a:moveTo>
                  <a:pt x="1038098" y="520700"/>
                </a:moveTo>
                <a:lnTo>
                  <a:pt x="1019429" y="520700"/>
                </a:lnTo>
                <a:lnTo>
                  <a:pt x="1027049" y="533400"/>
                </a:lnTo>
                <a:lnTo>
                  <a:pt x="1026541" y="533400"/>
                </a:lnTo>
                <a:lnTo>
                  <a:pt x="1032002" y="546100"/>
                </a:lnTo>
                <a:lnTo>
                  <a:pt x="1031621" y="546100"/>
                </a:lnTo>
                <a:lnTo>
                  <a:pt x="1035177" y="558800"/>
                </a:lnTo>
                <a:lnTo>
                  <a:pt x="1047496" y="558800"/>
                </a:lnTo>
                <a:lnTo>
                  <a:pt x="1043940" y="546100"/>
                </a:lnTo>
                <a:lnTo>
                  <a:pt x="1043686" y="533400"/>
                </a:lnTo>
                <a:lnTo>
                  <a:pt x="1038098" y="520700"/>
                </a:lnTo>
                <a:close/>
              </a:path>
              <a:path w="1049654" h="1270000">
                <a:moveTo>
                  <a:pt x="1024382" y="508000"/>
                </a:moveTo>
                <a:lnTo>
                  <a:pt x="1004697" y="508000"/>
                </a:lnTo>
                <a:lnTo>
                  <a:pt x="1011047" y="520700"/>
                </a:lnTo>
                <a:lnTo>
                  <a:pt x="1029843" y="520700"/>
                </a:lnTo>
                <a:lnTo>
                  <a:pt x="1024382" y="508000"/>
                </a:lnTo>
                <a:close/>
              </a:path>
              <a:path w="1049654" h="1270000">
                <a:moveTo>
                  <a:pt x="875792" y="495300"/>
                </a:moveTo>
                <a:lnTo>
                  <a:pt x="768731" y="495300"/>
                </a:lnTo>
                <a:lnTo>
                  <a:pt x="729996" y="508000"/>
                </a:lnTo>
                <a:lnTo>
                  <a:pt x="859536" y="508000"/>
                </a:lnTo>
                <a:lnTo>
                  <a:pt x="875792" y="495300"/>
                </a:lnTo>
                <a:close/>
              </a:path>
              <a:path w="1049654" h="1270000">
                <a:moveTo>
                  <a:pt x="1009650" y="495300"/>
                </a:moveTo>
                <a:lnTo>
                  <a:pt x="969645" y="495300"/>
                </a:lnTo>
                <a:lnTo>
                  <a:pt x="979932" y="508000"/>
                </a:lnTo>
                <a:lnTo>
                  <a:pt x="1017143" y="508000"/>
                </a:lnTo>
                <a:lnTo>
                  <a:pt x="1009650" y="495300"/>
                </a:lnTo>
                <a:close/>
              </a:path>
              <a:path w="1049654" h="1270000">
                <a:moveTo>
                  <a:pt x="971169" y="482600"/>
                </a:moveTo>
                <a:lnTo>
                  <a:pt x="874649" y="482600"/>
                </a:lnTo>
                <a:lnTo>
                  <a:pt x="858266" y="495300"/>
                </a:lnTo>
                <a:lnTo>
                  <a:pt x="981964" y="495300"/>
                </a:lnTo>
                <a:lnTo>
                  <a:pt x="971169" y="482600"/>
                </a:lnTo>
                <a:close/>
              </a:path>
              <a:path w="1049654" h="1270000">
                <a:moveTo>
                  <a:pt x="487807" y="0"/>
                </a:moveTo>
                <a:lnTo>
                  <a:pt x="475465" y="1623"/>
                </a:lnTo>
                <a:lnTo>
                  <a:pt x="483108" y="12700"/>
                </a:lnTo>
                <a:lnTo>
                  <a:pt x="463856" y="29888"/>
                </a:lnTo>
                <a:lnTo>
                  <a:pt x="446659" y="88900"/>
                </a:lnTo>
                <a:lnTo>
                  <a:pt x="448564" y="88900"/>
                </a:lnTo>
                <a:lnTo>
                  <a:pt x="451993" y="101600"/>
                </a:lnTo>
                <a:lnTo>
                  <a:pt x="455295" y="101600"/>
                </a:lnTo>
                <a:lnTo>
                  <a:pt x="458851" y="88900"/>
                </a:lnTo>
                <a:lnTo>
                  <a:pt x="487807" y="0"/>
                </a:lnTo>
                <a:close/>
              </a:path>
              <a:path w="1049654" h="1270000">
                <a:moveTo>
                  <a:pt x="471959" y="2085"/>
                </a:moveTo>
                <a:lnTo>
                  <a:pt x="391287" y="12700"/>
                </a:lnTo>
                <a:lnTo>
                  <a:pt x="387858" y="25400"/>
                </a:lnTo>
                <a:lnTo>
                  <a:pt x="387350" y="25400"/>
                </a:lnTo>
                <a:lnTo>
                  <a:pt x="390779" y="38100"/>
                </a:lnTo>
                <a:lnTo>
                  <a:pt x="394208" y="25400"/>
                </a:lnTo>
                <a:lnTo>
                  <a:pt x="456143" y="16251"/>
                </a:lnTo>
                <a:lnTo>
                  <a:pt x="471941" y="2145"/>
                </a:lnTo>
                <a:close/>
              </a:path>
              <a:path w="1049654" h="1270000">
                <a:moveTo>
                  <a:pt x="475465" y="1623"/>
                </a:moveTo>
                <a:lnTo>
                  <a:pt x="473682" y="1858"/>
                </a:lnTo>
                <a:lnTo>
                  <a:pt x="480187" y="12700"/>
                </a:lnTo>
                <a:lnTo>
                  <a:pt x="468356" y="14447"/>
                </a:lnTo>
                <a:lnTo>
                  <a:pt x="463856" y="29888"/>
                </a:lnTo>
                <a:lnTo>
                  <a:pt x="483108" y="12700"/>
                </a:lnTo>
                <a:lnTo>
                  <a:pt x="475465" y="1623"/>
                </a:lnTo>
                <a:close/>
              </a:path>
              <a:path w="1049654" h="1270000">
                <a:moveTo>
                  <a:pt x="471941" y="2145"/>
                </a:moveTo>
                <a:lnTo>
                  <a:pt x="456143" y="16251"/>
                </a:lnTo>
                <a:lnTo>
                  <a:pt x="468356" y="14447"/>
                </a:lnTo>
                <a:lnTo>
                  <a:pt x="471941" y="2145"/>
                </a:lnTo>
                <a:close/>
              </a:path>
              <a:path w="1049654" h="1270000">
                <a:moveTo>
                  <a:pt x="473682" y="1858"/>
                </a:moveTo>
                <a:lnTo>
                  <a:pt x="472018" y="2077"/>
                </a:lnTo>
                <a:lnTo>
                  <a:pt x="468356" y="14447"/>
                </a:lnTo>
                <a:lnTo>
                  <a:pt x="480187" y="12700"/>
                </a:lnTo>
                <a:lnTo>
                  <a:pt x="473682" y="1858"/>
                </a:lnTo>
                <a:close/>
              </a:path>
              <a:path w="1049654" h="1270000">
                <a:moveTo>
                  <a:pt x="472567" y="0"/>
                </a:moveTo>
                <a:lnTo>
                  <a:pt x="471959" y="2085"/>
                </a:lnTo>
                <a:lnTo>
                  <a:pt x="473187" y="1033"/>
                </a:lnTo>
                <a:lnTo>
                  <a:pt x="472567" y="0"/>
                </a:lnTo>
                <a:close/>
              </a:path>
              <a:path w="1049654" h="1270000">
                <a:moveTo>
                  <a:pt x="473187" y="1033"/>
                </a:moveTo>
                <a:lnTo>
                  <a:pt x="472018" y="2077"/>
                </a:lnTo>
                <a:lnTo>
                  <a:pt x="473682" y="1858"/>
                </a:lnTo>
                <a:lnTo>
                  <a:pt x="473187" y="1033"/>
                </a:lnTo>
                <a:close/>
              </a:path>
              <a:path w="1049654" h="1270000">
                <a:moveTo>
                  <a:pt x="474345" y="0"/>
                </a:moveTo>
                <a:lnTo>
                  <a:pt x="473187" y="1033"/>
                </a:lnTo>
                <a:lnTo>
                  <a:pt x="473682" y="1858"/>
                </a:lnTo>
                <a:lnTo>
                  <a:pt x="475465" y="1623"/>
                </a:lnTo>
                <a:lnTo>
                  <a:pt x="47434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49544" y="2232278"/>
            <a:ext cx="4285868" cy="346043"/>
          </a:xfrm>
          <a:custGeom>
            <a:avLst/>
            <a:gdLst/>
            <a:ahLst/>
            <a:cxnLst/>
            <a:rect l="l" t="t" r="r" b="b"/>
            <a:pathLst>
              <a:path w="4081779" h="329564">
                <a:moveTo>
                  <a:pt x="0" y="54864"/>
                </a:moveTo>
                <a:lnTo>
                  <a:pt x="15520" y="16586"/>
                </a:lnTo>
                <a:lnTo>
                  <a:pt x="53239" y="23"/>
                </a:lnTo>
                <a:lnTo>
                  <a:pt x="4026408" y="0"/>
                </a:lnTo>
                <a:lnTo>
                  <a:pt x="4040761" y="1888"/>
                </a:lnTo>
                <a:lnTo>
                  <a:pt x="4073274" y="26281"/>
                </a:lnTo>
                <a:lnTo>
                  <a:pt x="4081271" y="274320"/>
                </a:lnTo>
                <a:lnTo>
                  <a:pt x="4079383" y="288673"/>
                </a:lnTo>
                <a:lnTo>
                  <a:pt x="4054990" y="321186"/>
                </a:lnTo>
                <a:lnTo>
                  <a:pt x="54863" y="329184"/>
                </a:lnTo>
                <a:lnTo>
                  <a:pt x="40510" y="327295"/>
                </a:lnTo>
                <a:lnTo>
                  <a:pt x="7997" y="302902"/>
                </a:lnTo>
                <a:lnTo>
                  <a:pt x="0" y="5486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46830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4" h="425450">
                <a:moveTo>
                  <a:pt x="233934" y="0"/>
                </a:moveTo>
                <a:lnTo>
                  <a:pt x="177729" y="6178"/>
                </a:lnTo>
                <a:lnTo>
                  <a:pt x="126445" y="23730"/>
                </a:lnTo>
                <a:lnTo>
                  <a:pt x="81708" y="51177"/>
                </a:lnTo>
                <a:lnTo>
                  <a:pt x="45146" y="87041"/>
                </a:lnTo>
                <a:lnTo>
                  <a:pt x="18389" y="129846"/>
                </a:lnTo>
                <a:lnTo>
                  <a:pt x="3062" y="178114"/>
                </a:lnTo>
                <a:lnTo>
                  <a:pt x="0" y="212597"/>
                </a:lnTo>
                <a:lnTo>
                  <a:pt x="775" y="230033"/>
                </a:lnTo>
                <a:lnTo>
                  <a:pt x="11929" y="279794"/>
                </a:lnTo>
                <a:lnTo>
                  <a:pt x="35058" y="324584"/>
                </a:lnTo>
                <a:lnTo>
                  <a:pt x="68532" y="362926"/>
                </a:lnTo>
                <a:lnTo>
                  <a:pt x="110724" y="393343"/>
                </a:lnTo>
                <a:lnTo>
                  <a:pt x="160007" y="414357"/>
                </a:lnTo>
                <a:lnTo>
                  <a:pt x="214753" y="424491"/>
                </a:lnTo>
                <a:lnTo>
                  <a:pt x="233934" y="425195"/>
                </a:lnTo>
                <a:lnTo>
                  <a:pt x="253114" y="424491"/>
                </a:lnTo>
                <a:lnTo>
                  <a:pt x="307860" y="414357"/>
                </a:lnTo>
                <a:lnTo>
                  <a:pt x="357143" y="393343"/>
                </a:lnTo>
                <a:lnTo>
                  <a:pt x="399335" y="362926"/>
                </a:lnTo>
                <a:lnTo>
                  <a:pt x="432809" y="324584"/>
                </a:lnTo>
                <a:lnTo>
                  <a:pt x="455938" y="279794"/>
                </a:lnTo>
                <a:lnTo>
                  <a:pt x="467092" y="230033"/>
                </a:lnTo>
                <a:lnTo>
                  <a:pt x="467868" y="212597"/>
                </a:lnTo>
                <a:lnTo>
                  <a:pt x="467092" y="195162"/>
                </a:lnTo>
                <a:lnTo>
                  <a:pt x="455938" y="145401"/>
                </a:lnTo>
                <a:lnTo>
                  <a:pt x="432809" y="100611"/>
                </a:lnTo>
                <a:lnTo>
                  <a:pt x="399335" y="62269"/>
                </a:lnTo>
                <a:lnTo>
                  <a:pt x="357143" y="31852"/>
                </a:lnTo>
                <a:lnTo>
                  <a:pt x="307860" y="10838"/>
                </a:lnTo>
                <a:lnTo>
                  <a:pt x="253114" y="704"/>
                </a:lnTo>
                <a:lnTo>
                  <a:pt x="23393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6830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4" h="425450">
                <a:moveTo>
                  <a:pt x="0" y="212597"/>
                </a:moveTo>
                <a:lnTo>
                  <a:pt x="6800" y="161509"/>
                </a:lnTo>
                <a:lnTo>
                  <a:pt x="26118" y="114898"/>
                </a:lnTo>
                <a:lnTo>
                  <a:pt x="56325" y="74242"/>
                </a:lnTo>
                <a:lnTo>
                  <a:pt x="95792" y="41019"/>
                </a:lnTo>
                <a:lnTo>
                  <a:pt x="142892" y="16707"/>
                </a:lnTo>
                <a:lnTo>
                  <a:pt x="195998" y="2782"/>
                </a:lnTo>
                <a:lnTo>
                  <a:pt x="233934" y="0"/>
                </a:lnTo>
                <a:lnTo>
                  <a:pt x="253114" y="704"/>
                </a:lnTo>
                <a:lnTo>
                  <a:pt x="307860" y="10838"/>
                </a:lnTo>
                <a:lnTo>
                  <a:pt x="357143" y="31852"/>
                </a:lnTo>
                <a:lnTo>
                  <a:pt x="399335" y="62269"/>
                </a:lnTo>
                <a:lnTo>
                  <a:pt x="432809" y="100611"/>
                </a:lnTo>
                <a:lnTo>
                  <a:pt x="455938" y="145401"/>
                </a:lnTo>
                <a:lnTo>
                  <a:pt x="467092" y="195162"/>
                </a:lnTo>
                <a:lnTo>
                  <a:pt x="467868" y="212597"/>
                </a:lnTo>
                <a:lnTo>
                  <a:pt x="467092" y="230033"/>
                </a:lnTo>
                <a:lnTo>
                  <a:pt x="455938" y="279794"/>
                </a:lnTo>
                <a:lnTo>
                  <a:pt x="432809" y="324584"/>
                </a:lnTo>
                <a:lnTo>
                  <a:pt x="399335" y="362926"/>
                </a:lnTo>
                <a:lnTo>
                  <a:pt x="357143" y="393343"/>
                </a:lnTo>
                <a:lnTo>
                  <a:pt x="307860" y="414357"/>
                </a:lnTo>
                <a:lnTo>
                  <a:pt x="253114" y="424491"/>
                </a:lnTo>
                <a:lnTo>
                  <a:pt x="233934" y="425195"/>
                </a:lnTo>
                <a:lnTo>
                  <a:pt x="214753" y="424491"/>
                </a:lnTo>
                <a:lnTo>
                  <a:pt x="160007" y="414357"/>
                </a:lnTo>
                <a:lnTo>
                  <a:pt x="110724" y="393343"/>
                </a:lnTo>
                <a:lnTo>
                  <a:pt x="68532" y="362926"/>
                </a:lnTo>
                <a:lnTo>
                  <a:pt x="35058" y="324584"/>
                </a:lnTo>
                <a:lnTo>
                  <a:pt x="11929" y="279794"/>
                </a:lnTo>
                <a:lnTo>
                  <a:pt x="775" y="230033"/>
                </a:lnTo>
                <a:lnTo>
                  <a:pt x="0" y="21259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76897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5" h="425450">
                <a:moveTo>
                  <a:pt x="233934" y="0"/>
                </a:moveTo>
                <a:lnTo>
                  <a:pt x="177729" y="6178"/>
                </a:lnTo>
                <a:lnTo>
                  <a:pt x="126445" y="23730"/>
                </a:lnTo>
                <a:lnTo>
                  <a:pt x="81708" y="51177"/>
                </a:lnTo>
                <a:lnTo>
                  <a:pt x="45146" y="87041"/>
                </a:lnTo>
                <a:lnTo>
                  <a:pt x="18389" y="129846"/>
                </a:lnTo>
                <a:lnTo>
                  <a:pt x="3062" y="178114"/>
                </a:lnTo>
                <a:lnTo>
                  <a:pt x="0" y="212597"/>
                </a:lnTo>
                <a:lnTo>
                  <a:pt x="775" y="230033"/>
                </a:lnTo>
                <a:lnTo>
                  <a:pt x="11929" y="279794"/>
                </a:lnTo>
                <a:lnTo>
                  <a:pt x="35058" y="324584"/>
                </a:lnTo>
                <a:lnTo>
                  <a:pt x="68532" y="362926"/>
                </a:lnTo>
                <a:lnTo>
                  <a:pt x="110724" y="393343"/>
                </a:lnTo>
                <a:lnTo>
                  <a:pt x="160007" y="414357"/>
                </a:lnTo>
                <a:lnTo>
                  <a:pt x="214753" y="424491"/>
                </a:lnTo>
                <a:lnTo>
                  <a:pt x="233934" y="425195"/>
                </a:lnTo>
                <a:lnTo>
                  <a:pt x="253114" y="424491"/>
                </a:lnTo>
                <a:lnTo>
                  <a:pt x="307860" y="414357"/>
                </a:lnTo>
                <a:lnTo>
                  <a:pt x="357143" y="393343"/>
                </a:lnTo>
                <a:lnTo>
                  <a:pt x="399335" y="362926"/>
                </a:lnTo>
                <a:lnTo>
                  <a:pt x="432809" y="324584"/>
                </a:lnTo>
                <a:lnTo>
                  <a:pt x="455938" y="279794"/>
                </a:lnTo>
                <a:lnTo>
                  <a:pt x="467092" y="230033"/>
                </a:lnTo>
                <a:lnTo>
                  <a:pt x="467868" y="212597"/>
                </a:lnTo>
                <a:lnTo>
                  <a:pt x="467092" y="195162"/>
                </a:lnTo>
                <a:lnTo>
                  <a:pt x="455938" y="145401"/>
                </a:lnTo>
                <a:lnTo>
                  <a:pt x="432809" y="100611"/>
                </a:lnTo>
                <a:lnTo>
                  <a:pt x="399335" y="62269"/>
                </a:lnTo>
                <a:lnTo>
                  <a:pt x="357143" y="31852"/>
                </a:lnTo>
                <a:lnTo>
                  <a:pt x="307860" y="10838"/>
                </a:lnTo>
                <a:lnTo>
                  <a:pt x="253114" y="704"/>
                </a:lnTo>
                <a:lnTo>
                  <a:pt x="23393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6897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5" h="425450">
                <a:moveTo>
                  <a:pt x="0" y="212597"/>
                </a:moveTo>
                <a:lnTo>
                  <a:pt x="6800" y="161509"/>
                </a:lnTo>
                <a:lnTo>
                  <a:pt x="26118" y="114898"/>
                </a:lnTo>
                <a:lnTo>
                  <a:pt x="56325" y="74242"/>
                </a:lnTo>
                <a:lnTo>
                  <a:pt x="95792" y="41019"/>
                </a:lnTo>
                <a:lnTo>
                  <a:pt x="142892" y="16707"/>
                </a:lnTo>
                <a:lnTo>
                  <a:pt x="195998" y="2782"/>
                </a:lnTo>
                <a:lnTo>
                  <a:pt x="233934" y="0"/>
                </a:lnTo>
                <a:lnTo>
                  <a:pt x="253114" y="704"/>
                </a:lnTo>
                <a:lnTo>
                  <a:pt x="307860" y="10838"/>
                </a:lnTo>
                <a:lnTo>
                  <a:pt x="357143" y="31852"/>
                </a:lnTo>
                <a:lnTo>
                  <a:pt x="399335" y="62269"/>
                </a:lnTo>
                <a:lnTo>
                  <a:pt x="432809" y="100611"/>
                </a:lnTo>
                <a:lnTo>
                  <a:pt x="455938" y="145401"/>
                </a:lnTo>
                <a:lnTo>
                  <a:pt x="467092" y="195162"/>
                </a:lnTo>
                <a:lnTo>
                  <a:pt x="467868" y="212597"/>
                </a:lnTo>
                <a:lnTo>
                  <a:pt x="467092" y="230033"/>
                </a:lnTo>
                <a:lnTo>
                  <a:pt x="455938" y="279794"/>
                </a:lnTo>
                <a:lnTo>
                  <a:pt x="432809" y="324584"/>
                </a:lnTo>
                <a:lnTo>
                  <a:pt x="399335" y="362926"/>
                </a:lnTo>
                <a:lnTo>
                  <a:pt x="357143" y="393343"/>
                </a:lnTo>
                <a:lnTo>
                  <a:pt x="307860" y="414357"/>
                </a:lnTo>
                <a:lnTo>
                  <a:pt x="253114" y="424491"/>
                </a:lnTo>
                <a:lnTo>
                  <a:pt x="233934" y="425195"/>
                </a:lnTo>
                <a:lnTo>
                  <a:pt x="214753" y="424491"/>
                </a:lnTo>
                <a:lnTo>
                  <a:pt x="160007" y="414357"/>
                </a:lnTo>
                <a:lnTo>
                  <a:pt x="110724" y="393343"/>
                </a:lnTo>
                <a:lnTo>
                  <a:pt x="68532" y="362926"/>
                </a:lnTo>
                <a:lnTo>
                  <a:pt x="35058" y="324584"/>
                </a:lnTo>
                <a:lnTo>
                  <a:pt x="11929" y="279794"/>
                </a:lnTo>
                <a:lnTo>
                  <a:pt x="775" y="230033"/>
                </a:lnTo>
                <a:lnTo>
                  <a:pt x="0" y="21259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57495" y="5555894"/>
            <a:ext cx="462458" cy="3648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38092" y="5991148"/>
            <a:ext cx="3238405" cy="0"/>
          </a:xfrm>
          <a:custGeom>
            <a:avLst/>
            <a:gdLst/>
            <a:ahLst/>
            <a:cxnLst/>
            <a:rect l="l" t="t" r="r" b="b"/>
            <a:pathLst>
              <a:path w="3084195">
                <a:moveTo>
                  <a:pt x="0" y="0"/>
                </a:moveTo>
                <a:lnTo>
                  <a:pt x="308419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60" dirty="0"/>
              <a:t>t</a:t>
            </a:r>
            <a:r>
              <a:rPr dirty="0"/>
              <a:t>artup</a:t>
            </a:r>
            <a:r>
              <a:rPr spc="-3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10360" cy="3867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begi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ecution,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single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 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wi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omman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gume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q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ueue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: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lang="en-US" sz="2940" spc="-15" dirty="0">
                <a:latin typeface="Comic Sans MS" panose="030F0702030302020204" pitchFamily="66" charset="0"/>
                <a:cs typeface="Calibri" panose="020F0502020204030204"/>
              </a:rPr>
              <a:t> queue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215900" indent="-228600">
              <a:lnSpc>
                <a:spcPts val="3020"/>
              </a:lnSpc>
              <a:spcBef>
                <a:spcPts val="18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nee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among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othe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henc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enque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the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60" dirty="0"/>
              <a:t>t</a:t>
            </a:r>
            <a:r>
              <a:rPr dirty="0"/>
              <a:t>artup</a:t>
            </a:r>
            <a:r>
              <a:rPr spc="-3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424180" y="1296035"/>
            <a:ext cx="12096750" cy="4005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0" latinLnBrk="0">
              <a:lnSpc>
                <a:spcPct val="15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800" b="0" spc="-25" dirty="0"/>
              <a:t>Queue initialization with barrier:</a:t>
            </a:r>
          </a:p>
          <a:p>
            <a:pPr marL="741680" lvl="1" indent="0">
              <a:lnSpc>
                <a:spcPct val="15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0" spc="-25" dirty="0"/>
              <a:t>On</a:t>
            </a:r>
            <a:r>
              <a:rPr sz="2400" b="0" spc="-15" dirty="0"/>
              <a:t>e</a:t>
            </a:r>
            <a:r>
              <a:rPr sz="2400" b="0" spc="5" dirty="0"/>
              <a:t> </a:t>
            </a:r>
            <a:r>
              <a:rPr sz="2400" b="0" spc="-20" dirty="0"/>
              <a:t>o</a:t>
            </a:r>
            <a:r>
              <a:rPr sz="2400" b="0" spc="-10" dirty="0"/>
              <a:t>r</a:t>
            </a:r>
            <a:r>
              <a:rPr sz="2400" b="0" dirty="0"/>
              <a:t> </a:t>
            </a:r>
            <a:r>
              <a:rPr sz="2400" b="0" spc="-20" dirty="0"/>
              <a:t>mo</a:t>
            </a:r>
            <a:r>
              <a:rPr sz="2400" b="0" spc="-50" dirty="0"/>
              <a:t>r</a:t>
            </a:r>
            <a:r>
              <a:rPr sz="2400" b="0" spc="-15" dirty="0"/>
              <a:t>e</a:t>
            </a:r>
            <a:r>
              <a:rPr sz="2400" b="0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15" dirty="0"/>
              <a:t> </a:t>
            </a:r>
            <a:r>
              <a:rPr sz="2400" b="0" spc="-25" dirty="0"/>
              <a:t>m</a:t>
            </a:r>
            <a:r>
              <a:rPr sz="2400" b="0" spc="-60" dirty="0"/>
              <a:t>a</a:t>
            </a:r>
            <a:r>
              <a:rPr sz="2400" b="0" spc="-15" dirty="0"/>
              <a:t>y</a:t>
            </a:r>
            <a:r>
              <a:rPr sz="2400" b="0" spc="5" dirty="0"/>
              <a:t> </a:t>
            </a:r>
            <a:r>
              <a:rPr sz="2400" b="0" spc="-15" dirty="0">
                <a:solidFill>
                  <a:srgbClr val="C00000"/>
                </a:solidFill>
              </a:rPr>
              <a:t>fi</a:t>
            </a:r>
            <a:r>
              <a:rPr sz="2400" b="0" spc="-30" dirty="0">
                <a:solidFill>
                  <a:srgbClr val="C00000"/>
                </a:solidFill>
              </a:rPr>
              <a:t>n</a:t>
            </a:r>
            <a:r>
              <a:rPr sz="2400" b="0" spc="-15" dirty="0">
                <a:solidFill>
                  <a:srgbClr val="C00000"/>
                </a:solidFill>
              </a:rPr>
              <a:t>ish</a:t>
            </a:r>
            <a:r>
              <a:rPr sz="2400" b="0" spc="25" dirty="0">
                <a:solidFill>
                  <a:srgbClr val="C00000"/>
                </a:solidFill>
              </a:rPr>
              <a:t> </a:t>
            </a:r>
            <a:r>
              <a:rPr sz="2400" b="0" spc="-10" dirty="0"/>
              <a:t>al</a:t>
            </a:r>
            <a:r>
              <a:rPr sz="2400" b="0" spc="-20" dirty="0"/>
              <a:t>lo</a:t>
            </a:r>
            <a:r>
              <a:rPr sz="2400" b="0" spc="-35" dirty="0"/>
              <a:t>ca</a:t>
            </a:r>
            <a:r>
              <a:rPr sz="2400" b="0" spc="-10" dirty="0"/>
              <a:t>ti</a:t>
            </a:r>
            <a:r>
              <a:rPr sz="2400" b="0" spc="-30" dirty="0"/>
              <a:t>n</a:t>
            </a:r>
            <a:r>
              <a:rPr sz="2400" b="0" spc="-15" dirty="0"/>
              <a:t>g</a:t>
            </a:r>
            <a:r>
              <a:rPr sz="2400" b="0" dirty="0"/>
              <a:t> </a:t>
            </a:r>
            <a:r>
              <a:rPr sz="2400" b="0" spc="-15" dirty="0"/>
              <a:t>their</a:t>
            </a:r>
            <a:r>
              <a:rPr lang="en-US" sz="2400" b="0" spc="-15" dirty="0"/>
              <a:t> </a:t>
            </a:r>
            <a:r>
              <a:rPr sz="2400" b="0" spc="-5" dirty="0"/>
              <a:t>q</a:t>
            </a:r>
            <a:r>
              <a:rPr sz="2400" b="0" spc="-15" dirty="0"/>
              <a:t>ueues</a:t>
            </a:r>
            <a:r>
              <a:rPr sz="2400" b="0" spc="25" dirty="0"/>
              <a:t> </a:t>
            </a:r>
            <a:r>
              <a:rPr sz="2400" b="0" spc="-20" dirty="0">
                <a:solidFill>
                  <a:srgbClr val="C00000"/>
                </a:solidFill>
              </a:rPr>
              <a:t>b</a:t>
            </a:r>
            <a:r>
              <a:rPr sz="2400" b="0" spc="-45" dirty="0">
                <a:solidFill>
                  <a:srgbClr val="C00000"/>
                </a:solidFill>
              </a:rPr>
              <a:t>e</a:t>
            </a:r>
            <a:r>
              <a:rPr sz="2400" b="0" spc="-65" dirty="0">
                <a:solidFill>
                  <a:srgbClr val="C00000"/>
                </a:solidFill>
              </a:rPr>
              <a:t>f</a:t>
            </a:r>
            <a:r>
              <a:rPr sz="2400" b="0" spc="-20" dirty="0">
                <a:solidFill>
                  <a:srgbClr val="C00000"/>
                </a:solidFill>
              </a:rPr>
              <a:t>o</a:t>
            </a:r>
            <a:r>
              <a:rPr sz="2400" b="0" spc="-50" dirty="0">
                <a:solidFill>
                  <a:srgbClr val="C00000"/>
                </a:solidFill>
              </a:rPr>
              <a:t>r</a:t>
            </a:r>
            <a:r>
              <a:rPr sz="2400" b="0" spc="-15" dirty="0">
                <a:solidFill>
                  <a:srgbClr val="C00000"/>
                </a:solidFill>
              </a:rPr>
              <a:t>e</a:t>
            </a:r>
            <a:r>
              <a:rPr sz="2400" b="0" dirty="0">
                <a:solidFill>
                  <a:srgbClr val="C00000"/>
                </a:solidFill>
              </a:rPr>
              <a:t> </a:t>
            </a:r>
            <a:r>
              <a:rPr sz="2400" b="0" spc="-25" dirty="0"/>
              <a:t>som</a:t>
            </a:r>
            <a:r>
              <a:rPr sz="2400" b="0" spc="-15" dirty="0"/>
              <a:t>e</a:t>
            </a:r>
            <a:r>
              <a:rPr sz="2400" b="0" spc="5" dirty="0"/>
              <a:t> </a:t>
            </a:r>
            <a:r>
              <a:rPr sz="2400" b="0" spc="-20" dirty="0"/>
              <a:t>othe</a:t>
            </a:r>
            <a:r>
              <a:rPr sz="2400" b="0" spc="-10" dirty="0"/>
              <a:t>r</a:t>
            </a:r>
            <a:r>
              <a:rPr sz="2400" b="0" spc="5" dirty="0"/>
              <a:t> </a:t>
            </a:r>
            <a:r>
              <a:rPr sz="2400" b="0" spc="-15" dirty="0"/>
              <a:t>th</a:t>
            </a:r>
            <a:r>
              <a:rPr sz="2400" b="0" spc="-60" dirty="0"/>
              <a:t>r</a:t>
            </a:r>
            <a:r>
              <a:rPr sz="2400" b="0" spc="-15" dirty="0"/>
              <a:t>eads.</a:t>
            </a:r>
          </a:p>
          <a:p>
            <a:pPr marL="741680" marR="5080" lvl="1" indent="0">
              <a:lnSpc>
                <a:spcPct val="15000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0" spc="-140" dirty="0"/>
              <a:t>W</a:t>
            </a:r>
            <a:r>
              <a:rPr sz="2400" b="0" spc="-15" dirty="0"/>
              <a:t>e</a:t>
            </a:r>
            <a:r>
              <a:rPr sz="2400" b="0" dirty="0"/>
              <a:t> </a:t>
            </a:r>
            <a:r>
              <a:rPr sz="2400" b="0" spc="-20" dirty="0"/>
              <a:t>nee</a:t>
            </a:r>
            <a:r>
              <a:rPr sz="2400" b="0" spc="-15" dirty="0"/>
              <a:t>d</a:t>
            </a:r>
            <a:r>
              <a:rPr sz="2400" b="0" spc="25" dirty="0"/>
              <a:t> </a:t>
            </a:r>
            <a:r>
              <a:rPr sz="2400" b="0" spc="-15" dirty="0"/>
              <a:t>an</a:t>
            </a:r>
            <a:r>
              <a:rPr sz="2400" b="0" spc="5" dirty="0"/>
              <a:t> </a:t>
            </a:r>
            <a:r>
              <a:rPr sz="2400" b="0" spc="-65" dirty="0">
                <a:solidFill>
                  <a:srgbClr val="C00000"/>
                </a:solidFill>
              </a:rPr>
              <a:t>e</a:t>
            </a:r>
            <a:r>
              <a:rPr sz="2400" b="0" spc="-20" dirty="0">
                <a:solidFill>
                  <a:srgbClr val="C00000"/>
                </a:solidFill>
              </a:rPr>
              <a:t>xpl</a:t>
            </a:r>
            <a:r>
              <a:rPr sz="2400" b="0" spc="-10" dirty="0">
                <a:solidFill>
                  <a:srgbClr val="C00000"/>
                </a:solidFill>
              </a:rPr>
              <a:t>ic</a:t>
            </a:r>
            <a:r>
              <a:rPr sz="2400" b="0" spc="-20" dirty="0">
                <a:solidFill>
                  <a:srgbClr val="C00000"/>
                </a:solidFill>
              </a:rPr>
              <a:t>i</a:t>
            </a:r>
            <a:r>
              <a:rPr sz="2400" b="0" spc="-10" dirty="0">
                <a:solidFill>
                  <a:srgbClr val="C00000"/>
                </a:solidFill>
              </a:rPr>
              <a:t>t</a:t>
            </a:r>
            <a:r>
              <a:rPr sz="2400" b="0" spc="20" dirty="0">
                <a:solidFill>
                  <a:srgbClr val="C00000"/>
                </a:solidFill>
              </a:rPr>
              <a:t> </a:t>
            </a:r>
            <a:r>
              <a:rPr sz="2400" b="0" spc="-20" dirty="0">
                <a:solidFill>
                  <a:srgbClr val="C00000"/>
                </a:solidFill>
              </a:rPr>
              <a:t>barri</a:t>
            </a:r>
            <a:r>
              <a:rPr sz="2400" b="0" spc="-15" dirty="0">
                <a:solidFill>
                  <a:srgbClr val="C00000"/>
                </a:solidFill>
              </a:rPr>
              <a:t>er</a:t>
            </a:r>
            <a:r>
              <a:rPr sz="2400" b="0" spc="10" dirty="0">
                <a:solidFill>
                  <a:srgbClr val="C00000"/>
                </a:solidFill>
              </a:rPr>
              <a:t> </a:t>
            </a:r>
            <a:r>
              <a:rPr sz="2400" b="0" spc="-20" dirty="0"/>
              <a:t>s</a:t>
            </a:r>
            <a:r>
              <a:rPr sz="2400" b="0" spc="-15" dirty="0"/>
              <a:t>o</a:t>
            </a:r>
            <a:r>
              <a:rPr sz="2400" b="0" spc="10" dirty="0"/>
              <a:t> </a:t>
            </a:r>
            <a:r>
              <a:rPr sz="2400" b="0" spc="-15" dirty="0"/>
              <a:t>th</a:t>
            </a:r>
            <a:r>
              <a:rPr sz="2400" b="0" spc="-45" dirty="0"/>
              <a:t>a</a:t>
            </a:r>
            <a:r>
              <a:rPr sz="2400" b="0" spc="-10" dirty="0"/>
              <a:t>t</a:t>
            </a:r>
            <a:r>
              <a:rPr sz="2400" b="0" spc="-5" dirty="0"/>
              <a:t> </a:t>
            </a:r>
            <a:r>
              <a:rPr sz="2400" b="0" spc="-20" dirty="0"/>
              <a:t>when</a:t>
            </a:r>
            <a:r>
              <a:rPr sz="2400" b="0" spc="10" dirty="0"/>
              <a:t> </a:t>
            </a:r>
            <a:r>
              <a:rPr sz="2400" b="0" spc="-15" dirty="0"/>
              <a:t>a</a:t>
            </a:r>
            <a:r>
              <a:rPr sz="2400" b="0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 en</a:t>
            </a:r>
            <a:r>
              <a:rPr sz="2400" b="0" spc="-40" dirty="0"/>
              <a:t>c</a:t>
            </a:r>
            <a:r>
              <a:rPr sz="2400" b="0" spc="-20" dirty="0"/>
              <a:t>ou</a:t>
            </a:r>
            <a:r>
              <a:rPr sz="2400" b="0" spc="-45" dirty="0"/>
              <a:t>n</a:t>
            </a:r>
            <a:r>
              <a:rPr sz="2400" b="0" spc="-35" dirty="0"/>
              <a:t>t</a:t>
            </a:r>
            <a:r>
              <a:rPr sz="2400" b="0" spc="-15" dirty="0"/>
              <a:t>e</a:t>
            </a:r>
            <a:r>
              <a:rPr sz="2400" b="0" spc="-65" dirty="0"/>
              <a:t>r</a:t>
            </a:r>
            <a:r>
              <a:rPr sz="2400" b="0" spc="-15" dirty="0"/>
              <a:t>s</a:t>
            </a:r>
            <a:r>
              <a:rPr sz="2400" b="0" spc="20" dirty="0"/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20" dirty="0"/>
              <a:t>barri</a:t>
            </a:r>
            <a:r>
              <a:rPr sz="2400" b="0" spc="-15" dirty="0"/>
              <a:t>e</a:t>
            </a:r>
            <a:r>
              <a:rPr sz="2400" b="0" spc="-254" dirty="0"/>
              <a:t>r</a:t>
            </a:r>
            <a:r>
              <a:rPr sz="2400" b="0" spc="-10" dirty="0"/>
              <a:t>,</a:t>
            </a:r>
            <a:r>
              <a:rPr sz="2400" b="0" spc="20" dirty="0"/>
              <a:t> </a:t>
            </a:r>
            <a:r>
              <a:rPr sz="2400" b="0" spc="-10" dirty="0"/>
              <a:t>it</a:t>
            </a:r>
            <a:r>
              <a:rPr sz="2400" b="0" spc="-5" dirty="0"/>
              <a:t> </a:t>
            </a:r>
            <a:r>
              <a:rPr sz="2400" b="0" spc="-20" dirty="0"/>
              <a:t>b</a:t>
            </a:r>
            <a:r>
              <a:rPr sz="2400" b="0" spc="-25" dirty="0"/>
              <a:t>l</a:t>
            </a:r>
            <a:r>
              <a:rPr sz="2400" b="0" spc="-20" dirty="0"/>
              <a:t>oc</a:t>
            </a:r>
            <a:r>
              <a:rPr sz="2400" b="0" spc="-30" dirty="0"/>
              <a:t>k</a:t>
            </a:r>
            <a:r>
              <a:rPr sz="2400" b="0" spc="-15" dirty="0"/>
              <a:t>s</a:t>
            </a:r>
            <a:r>
              <a:rPr sz="2400" b="0" spc="20" dirty="0"/>
              <a:t> </a:t>
            </a:r>
            <a:r>
              <a:rPr sz="2400" b="0" spc="-20" dirty="0"/>
              <a:t>u</a:t>
            </a:r>
            <a:r>
              <a:rPr sz="2400" b="0" spc="-50" dirty="0"/>
              <a:t>n</a:t>
            </a:r>
            <a:r>
              <a:rPr sz="2400" b="0" spc="-10" dirty="0"/>
              <a:t>til</a:t>
            </a:r>
            <a:r>
              <a:rPr sz="2400" b="0" spc="10" dirty="0"/>
              <a:t> </a:t>
            </a:r>
            <a:r>
              <a:rPr sz="2400" b="0" spc="-10" dirty="0"/>
              <a:t>all </a:t>
            </a:r>
            <a:r>
              <a:rPr sz="2400" b="0" spc="-15" dirty="0"/>
              <a:t>the</a:t>
            </a:r>
            <a:r>
              <a:rPr sz="2400" b="0" spc="10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-10" dirty="0"/>
              <a:t> in</a:t>
            </a:r>
            <a:r>
              <a:rPr sz="2400" b="0" dirty="0"/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35" dirty="0"/>
              <a:t>t</a:t>
            </a:r>
            <a:r>
              <a:rPr sz="2400" b="0" spc="-20" dirty="0"/>
              <a:t>eam</a:t>
            </a:r>
            <a:r>
              <a:rPr sz="2400" b="0" spc="-5" dirty="0"/>
              <a:t> </a:t>
            </a:r>
            <a:r>
              <a:rPr sz="2400" b="0" spc="-25" dirty="0"/>
              <a:t>h</a:t>
            </a:r>
            <a:r>
              <a:rPr sz="2400" b="0" spc="-60" dirty="0"/>
              <a:t>a</a:t>
            </a:r>
            <a:r>
              <a:rPr sz="2400" b="0" spc="-45" dirty="0"/>
              <a:t>v</a:t>
            </a:r>
            <a:r>
              <a:rPr sz="2400" b="0" spc="-15" dirty="0"/>
              <a:t>e</a:t>
            </a:r>
            <a:r>
              <a:rPr sz="2400" b="0" dirty="0"/>
              <a:t> </a:t>
            </a:r>
            <a:r>
              <a:rPr sz="2400" b="0" spc="-50" dirty="0"/>
              <a:t>r</a:t>
            </a:r>
            <a:r>
              <a:rPr sz="2400" b="0" spc="-15" dirty="0"/>
              <a:t>eac</a:t>
            </a:r>
            <a:r>
              <a:rPr sz="2400" b="0" spc="-20" dirty="0"/>
              <a:t>he</a:t>
            </a:r>
            <a:r>
              <a:rPr sz="2400" b="0" spc="-15" dirty="0"/>
              <a:t>d</a:t>
            </a:r>
            <a:r>
              <a:rPr sz="2400" b="0" dirty="0"/>
              <a:t> </a:t>
            </a:r>
            <a:r>
              <a:rPr sz="2400" b="0" spc="-15" dirty="0"/>
              <a:t>the</a:t>
            </a:r>
            <a:r>
              <a:rPr sz="2400" b="0" spc="15" dirty="0"/>
              <a:t> </a:t>
            </a:r>
            <a:r>
              <a:rPr sz="2400" b="0" spc="-20" dirty="0"/>
              <a:t>barri</a:t>
            </a:r>
            <a:r>
              <a:rPr sz="2400" b="0" spc="-15" dirty="0"/>
              <a:t>e</a:t>
            </a:r>
            <a:r>
              <a:rPr sz="2400" b="0" spc="-290" dirty="0"/>
              <a:t>r</a:t>
            </a:r>
            <a:r>
              <a:rPr sz="2400" b="0" dirty="0"/>
              <a:t>.</a:t>
            </a:r>
          </a:p>
          <a:p>
            <a:pPr marL="741680" marR="462915" lvl="1" indent="0">
              <a:lnSpc>
                <a:spcPct val="15000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0" spc="-15" dirty="0"/>
              <a:t>Af</a:t>
            </a:r>
            <a:r>
              <a:rPr sz="2400" b="0" spc="-40" dirty="0"/>
              <a:t>t</a:t>
            </a:r>
            <a:r>
              <a:rPr sz="2400" b="0" spc="-15" dirty="0"/>
              <a:t>er</a:t>
            </a:r>
            <a:r>
              <a:rPr sz="2400" b="0" spc="-5" dirty="0"/>
              <a:t> </a:t>
            </a:r>
            <a:r>
              <a:rPr sz="2400" b="0" spc="-10" dirty="0">
                <a:solidFill>
                  <a:srgbClr val="C00000"/>
                </a:solidFill>
              </a:rPr>
              <a:t>all</a:t>
            </a:r>
            <a:r>
              <a:rPr sz="2400" b="0" spc="-5" dirty="0">
                <a:solidFill>
                  <a:srgbClr val="C00000"/>
                </a:solidFill>
              </a:rPr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15" dirty="0"/>
              <a:t> </a:t>
            </a:r>
            <a:r>
              <a:rPr sz="2400" b="0" spc="-20" dirty="0"/>
              <a:t>h</a:t>
            </a:r>
            <a:r>
              <a:rPr sz="2400" b="0" spc="-65" dirty="0"/>
              <a:t>a</a:t>
            </a:r>
            <a:r>
              <a:rPr sz="2400" b="0" spc="-45" dirty="0"/>
              <a:t>v</a:t>
            </a:r>
            <a:r>
              <a:rPr sz="2400" b="0" spc="-15" dirty="0"/>
              <a:t>e</a:t>
            </a:r>
            <a:r>
              <a:rPr sz="2400" b="0" spc="10" dirty="0"/>
              <a:t> </a:t>
            </a:r>
            <a:r>
              <a:rPr sz="2400" b="0" spc="-50" dirty="0">
                <a:solidFill>
                  <a:srgbClr val="C00000"/>
                </a:solidFill>
              </a:rPr>
              <a:t>r</a:t>
            </a:r>
            <a:r>
              <a:rPr sz="2400" b="0" spc="-15" dirty="0">
                <a:solidFill>
                  <a:srgbClr val="C00000"/>
                </a:solidFill>
              </a:rPr>
              <a:t>eac</a:t>
            </a:r>
            <a:r>
              <a:rPr sz="2400" b="0" spc="-20" dirty="0">
                <a:solidFill>
                  <a:srgbClr val="C00000"/>
                </a:solidFill>
              </a:rPr>
              <a:t>he</a:t>
            </a:r>
            <a:r>
              <a:rPr sz="2400" b="0" spc="-15" dirty="0">
                <a:solidFill>
                  <a:srgbClr val="C00000"/>
                </a:solidFill>
              </a:rPr>
              <a:t>d</a:t>
            </a:r>
            <a:r>
              <a:rPr sz="2400" b="0" dirty="0">
                <a:solidFill>
                  <a:srgbClr val="C00000"/>
                </a:solidFill>
              </a:rPr>
              <a:t> </a:t>
            </a:r>
            <a:r>
              <a:rPr sz="2400" b="0" spc="-10" dirty="0">
                <a:solidFill>
                  <a:srgbClr val="C00000"/>
                </a:solidFill>
              </a:rPr>
              <a:t>t</a:t>
            </a:r>
            <a:r>
              <a:rPr sz="2400" b="0" spc="-25" dirty="0">
                <a:solidFill>
                  <a:srgbClr val="C00000"/>
                </a:solidFill>
              </a:rPr>
              <a:t>h</a:t>
            </a:r>
            <a:r>
              <a:rPr sz="2400" b="0" spc="-15" dirty="0">
                <a:solidFill>
                  <a:srgbClr val="C00000"/>
                </a:solidFill>
              </a:rPr>
              <a:t>e</a:t>
            </a:r>
            <a:r>
              <a:rPr sz="2400" b="0" spc="10" dirty="0">
                <a:solidFill>
                  <a:srgbClr val="C00000"/>
                </a:solidFill>
              </a:rPr>
              <a:t> </a:t>
            </a:r>
            <a:r>
              <a:rPr sz="2400" b="0" spc="-20" dirty="0">
                <a:solidFill>
                  <a:srgbClr val="C00000"/>
                </a:solidFill>
              </a:rPr>
              <a:t>barri</a:t>
            </a:r>
            <a:r>
              <a:rPr sz="2400" b="0" spc="-15" dirty="0">
                <a:solidFill>
                  <a:srgbClr val="C00000"/>
                </a:solidFill>
              </a:rPr>
              <a:t>e</a:t>
            </a:r>
            <a:r>
              <a:rPr sz="2400" b="0" spc="-245" dirty="0">
                <a:solidFill>
                  <a:srgbClr val="C00000"/>
                </a:solidFill>
              </a:rPr>
              <a:t>r</a:t>
            </a:r>
            <a:r>
              <a:rPr sz="2400" b="0" spc="-10" dirty="0"/>
              <a:t>,</a:t>
            </a:r>
            <a:r>
              <a:rPr sz="2400" b="0" spc="20" dirty="0"/>
              <a:t> </a:t>
            </a:r>
            <a:r>
              <a:rPr sz="2400" b="0" spc="-10" dirty="0"/>
              <a:t>all</a:t>
            </a:r>
            <a:r>
              <a:rPr sz="2400" b="0" spc="-15" dirty="0"/>
              <a:t> the</a:t>
            </a:r>
            <a:r>
              <a:rPr sz="2400" b="0" spc="5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15" dirty="0"/>
              <a:t> </a:t>
            </a:r>
            <a:r>
              <a:rPr sz="2400" b="0" spc="-15" dirty="0"/>
              <a:t>in</a:t>
            </a:r>
            <a:r>
              <a:rPr sz="2400" b="0" dirty="0"/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35" dirty="0"/>
              <a:t>t</a:t>
            </a:r>
            <a:r>
              <a:rPr sz="2400" b="0" spc="-20" dirty="0"/>
              <a:t>eam</a:t>
            </a:r>
            <a:r>
              <a:rPr sz="2400" b="0" spc="-5" dirty="0"/>
              <a:t> </a:t>
            </a:r>
            <a:r>
              <a:rPr sz="2400" b="0" spc="-40" dirty="0"/>
              <a:t>c</a:t>
            </a:r>
            <a:r>
              <a:rPr sz="2400" b="0" spc="-15" dirty="0"/>
              <a:t>an</a:t>
            </a:r>
            <a:r>
              <a:rPr sz="2400" b="0" spc="30" dirty="0"/>
              <a:t> </a:t>
            </a:r>
            <a:r>
              <a:rPr sz="2400" b="0" spc="-20" dirty="0">
                <a:solidFill>
                  <a:srgbClr val="C00000"/>
                </a:solidFill>
              </a:rPr>
              <a:t>p</a:t>
            </a:r>
            <a:r>
              <a:rPr sz="2400" b="0" spc="-65" dirty="0">
                <a:solidFill>
                  <a:srgbClr val="C00000"/>
                </a:solidFill>
              </a:rPr>
              <a:t>r</a:t>
            </a:r>
            <a:r>
              <a:rPr sz="2400" b="0" spc="-20" dirty="0">
                <a:solidFill>
                  <a:srgbClr val="C00000"/>
                </a:solidFill>
              </a:rPr>
              <a:t>ocee</a:t>
            </a:r>
            <a:r>
              <a:rPr sz="2400" b="0" spc="-5" dirty="0">
                <a:solidFill>
                  <a:srgbClr val="C00000"/>
                </a:solidFill>
              </a:rPr>
              <a:t>d</a:t>
            </a:r>
            <a:r>
              <a:rPr sz="2400" b="0" dirty="0"/>
              <a:t>.</a:t>
            </a:r>
            <a:endParaRPr lang="en-US" sz="2400" b="0" dirty="0"/>
          </a:p>
          <a:p>
            <a:pPr marL="241300" marR="462915" indent="0" latinLnBrk="0">
              <a:lnSpc>
                <a:spcPct val="15000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endParaRPr sz="2800" b="0" dirty="0"/>
          </a:p>
        </p:txBody>
      </p:sp>
      <p:sp>
        <p:nvSpPr>
          <p:cNvPr id="4" name="object 4"/>
          <p:cNvSpPr/>
          <p:nvPr/>
        </p:nvSpPr>
        <p:spPr>
          <a:xfrm>
            <a:off x="5643904" y="5642304"/>
            <a:ext cx="4250131" cy="710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39105" y="5637505"/>
            <a:ext cx="4259866" cy="720090"/>
          </a:xfrm>
          <a:custGeom>
            <a:avLst/>
            <a:gdLst/>
            <a:ahLst/>
            <a:cxnLst/>
            <a:rect l="l" t="t" r="r" b="b"/>
            <a:pathLst>
              <a:path w="4057015" h="685800">
                <a:moveTo>
                  <a:pt x="0" y="685800"/>
                </a:moveTo>
                <a:lnTo>
                  <a:pt x="4056887" y="685800"/>
                </a:lnTo>
                <a:lnTo>
                  <a:pt x="4056887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spc="-105" dirty="0"/>
              <a:t>A</a:t>
            </a:r>
            <a:r>
              <a:rPr spc="-45" dirty="0"/>
              <a:t>t</a:t>
            </a:r>
            <a:r>
              <a:rPr spc="-5" dirty="0"/>
              <a:t>omi</a:t>
            </a:r>
            <a:r>
              <a:rPr dirty="0"/>
              <a:t>c</a:t>
            </a:r>
            <a:r>
              <a:rPr spc="10" dirty="0"/>
              <a:t> </a:t>
            </a:r>
            <a:r>
              <a:rPr dirty="0"/>
              <a:t>Di</a:t>
            </a:r>
            <a:r>
              <a:rPr spc="-55" dirty="0"/>
              <a:t>r</a:t>
            </a:r>
            <a:r>
              <a:rPr spc="-5" dirty="0"/>
              <a:t>ecti</a:t>
            </a:r>
            <a:r>
              <a:rPr spc="-60" dirty="0"/>
              <a:t>v</a:t>
            </a:r>
            <a:r>
              <a:rPr dirty="0"/>
              <a:t>e 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663996"/>
            <a:ext cx="7215569" cy="2652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Unl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1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onsi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singl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 assignme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105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</a:pPr>
            <a:endParaRPr sz="945" dirty="0">
              <a:latin typeface="Times New Roman" panose="02020603050405020304"/>
              <a:cs typeface="Times New Roman" panose="02020603050405020304"/>
            </a:endParaRPr>
          </a:p>
          <a:p>
            <a:pPr marL="1416685">
              <a:lnSpc>
                <a:spcPts val="1000"/>
              </a:lnSpc>
              <a:buFont typeface="Arial" panose="020B0604020202020204"/>
              <a:buChar char="•"/>
            </a:pPr>
            <a:endParaRPr sz="945" dirty="0">
              <a:latin typeface="Times New Roman" panose="02020603050405020304"/>
              <a:cs typeface="Times New Roman" panose="02020603050405020304"/>
            </a:endParaRPr>
          </a:p>
          <a:p>
            <a:pPr marL="241300" marR="222885" indent="-228600">
              <a:lnSpc>
                <a:spcPts val="3020"/>
              </a:lnSpc>
              <a:spcBef>
                <a:spcPts val="17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Furt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54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wing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orms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9692" y="4847006"/>
            <a:ext cx="3931690" cy="19698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spc="-105" dirty="0"/>
              <a:t>A</a:t>
            </a:r>
            <a:r>
              <a:rPr spc="-45" dirty="0"/>
              <a:t>t</a:t>
            </a:r>
            <a:r>
              <a:rPr spc="-5" dirty="0"/>
              <a:t>omi</a:t>
            </a:r>
            <a:r>
              <a:rPr dirty="0"/>
              <a:t>c</a:t>
            </a:r>
            <a:r>
              <a:rPr spc="10" dirty="0"/>
              <a:t> </a:t>
            </a:r>
            <a:r>
              <a:rPr dirty="0"/>
              <a:t>Di</a:t>
            </a:r>
            <a:r>
              <a:rPr spc="-55" dirty="0"/>
              <a:t>r</a:t>
            </a:r>
            <a:r>
              <a:rPr spc="-5" dirty="0"/>
              <a:t>ecti</a:t>
            </a:r>
            <a:r>
              <a:rPr spc="-60" dirty="0"/>
              <a:t>v</a:t>
            </a:r>
            <a:r>
              <a:rPr dirty="0"/>
              <a:t>e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32022"/>
            <a:ext cx="8738201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He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&lt;op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&gt;</a:t>
            </a:r>
            <a:r>
              <a:rPr sz="294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bina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3119" y="3620100"/>
            <a:ext cx="9061137" cy="2470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2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ocesso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cial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loa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y-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025"/>
              </a:lnSpc>
            </a:pP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tr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ctio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26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doe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y-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much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ficie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tly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using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cial in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tr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3027578" y="2526715"/>
            <a:ext cx="6231178" cy="5296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Criti</a:t>
            </a:r>
            <a:r>
              <a:rPr spc="-50" dirty="0"/>
              <a:t>c</a:t>
            </a:r>
            <a:r>
              <a:rPr dirty="0"/>
              <a:t>al Secti</a:t>
            </a:r>
            <a:r>
              <a:rPr spc="-25" dirty="0"/>
              <a:t>o</a:t>
            </a:r>
            <a:r>
              <a:rPr dirty="0"/>
              <a:t>ns</a:t>
            </a:r>
            <a:r>
              <a:rPr lang="en-US" dirty="0"/>
              <a:t> with names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9530289" cy="356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ide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nam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6350" indent="-228600">
              <a:lnSpc>
                <a:spcPts val="3030"/>
              </a:lnSpc>
              <a:spcBef>
                <a:spcPts val="188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name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ul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aneous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marR="506095" indent="-228600" algn="just">
              <a:lnSpc>
                <a:spcPct val="90000"/>
              </a:lnSpc>
              <a:spcBef>
                <a:spcPts val="95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54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name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dur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and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-185" dirty="0"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80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Locks</a:t>
            </a:r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170249" cy="1221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lock</a:t>
            </a:r>
            <a:r>
              <a:rPr sz="294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onsi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tructu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ctions 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ammer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 mut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section.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200" y="3222802"/>
            <a:ext cx="32500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Loc</a:t>
            </a:r>
            <a:r>
              <a:rPr spc="-55" dirty="0"/>
              <a:t>k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2261083" y="1710613"/>
            <a:ext cx="8629879" cy="3995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1083" y="3298012"/>
            <a:ext cx="8630412" cy="1176147"/>
          </a:xfrm>
          <a:custGeom>
            <a:avLst/>
            <a:gdLst/>
            <a:ahLst/>
            <a:cxnLst/>
            <a:rect l="l" t="t" r="r" b="b"/>
            <a:pathLst>
              <a:path w="8219440" h="1120139">
                <a:moveTo>
                  <a:pt x="0" y="186689"/>
                </a:moveTo>
                <a:lnTo>
                  <a:pt x="5426" y="141820"/>
                </a:lnTo>
                <a:lnTo>
                  <a:pt x="20839" y="100887"/>
                </a:lnTo>
                <a:lnTo>
                  <a:pt x="44943" y="65186"/>
                </a:lnTo>
                <a:lnTo>
                  <a:pt x="76439" y="36015"/>
                </a:lnTo>
                <a:lnTo>
                  <a:pt x="114030" y="14668"/>
                </a:lnTo>
                <a:lnTo>
                  <a:pt x="156418" y="2442"/>
                </a:lnTo>
                <a:lnTo>
                  <a:pt x="186702" y="0"/>
                </a:lnTo>
                <a:lnTo>
                  <a:pt x="8032242" y="0"/>
                </a:lnTo>
                <a:lnTo>
                  <a:pt x="8077111" y="5424"/>
                </a:lnTo>
                <a:lnTo>
                  <a:pt x="8118044" y="20834"/>
                </a:lnTo>
                <a:lnTo>
                  <a:pt x="8153745" y="44933"/>
                </a:lnTo>
                <a:lnTo>
                  <a:pt x="8182916" y="76425"/>
                </a:lnTo>
                <a:lnTo>
                  <a:pt x="8204263" y="114014"/>
                </a:lnTo>
                <a:lnTo>
                  <a:pt x="8216489" y="156403"/>
                </a:lnTo>
                <a:lnTo>
                  <a:pt x="8218932" y="186689"/>
                </a:lnTo>
                <a:lnTo>
                  <a:pt x="8218932" y="933450"/>
                </a:lnTo>
                <a:lnTo>
                  <a:pt x="8213507" y="978319"/>
                </a:lnTo>
                <a:lnTo>
                  <a:pt x="8198097" y="1019252"/>
                </a:lnTo>
                <a:lnTo>
                  <a:pt x="8173998" y="1054953"/>
                </a:lnTo>
                <a:lnTo>
                  <a:pt x="8142506" y="1084124"/>
                </a:lnTo>
                <a:lnTo>
                  <a:pt x="8104917" y="1105471"/>
                </a:lnTo>
                <a:lnTo>
                  <a:pt x="8062528" y="1117697"/>
                </a:lnTo>
                <a:lnTo>
                  <a:pt x="8032242" y="1120140"/>
                </a:lnTo>
                <a:lnTo>
                  <a:pt x="186702" y="1120140"/>
                </a:lnTo>
                <a:lnTo>
                  <a:pt x="141836" y="1114715"/>
                </a:lnTo>
                <a:lnTo>
                  <a:pt x="100902" y="1099305"/>
                </a:lnTo>
                <a:lnTo>
                  <a:pt x="65199" y="1075206"/>
                </a:lnTo>
                <a:lnTo>
                  <a:pt x="36023" y="1043714"/>
                </a:lnTo>
                <a:lnTo>
                  <a:pt x="14672" y="1006125"/>
                </a:lnTo>
                <a:lnTo>
                  <a:pt x="2443" y="963736"/>
                </a:lnTo>
                <a:lnTo>
                  <a:pt x="0" y="933450"/>
                </a:lnTo>
                <a:lnTo>
                  <a:pt x="0" y="18668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4096" y="225635"/>
            <a:ext cx="12960250" cy="792000"/>
          </a:xfrm>
        </p:spPr>
        <p:txBody>
          <a:bodyPr/>
          <a:lstStyle/>
          <a:p>
            <a:r>
              <a:rPr lang="en-US" altLang="zh-CN" dirty="0"/>
              <a:t>Using Locks in the Message-</a:t>
            </a:r>
            <a:br>
              <a:rPr lang="en-US" altLang="zh-CN" dirty="0"/>
            </a:br>
            <a:r>
              <a:rPr lang="en-US" altLang="zh-CN" dirty="0"/>
              <a:t>Passing Program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66670" y="1785822"/>
            <a:ext cx="6530416" cy="15601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31715" y="4691745"/>
            <a:ext cx="5991149" cy="18610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1056131" y="295655"/>
                </a:moveTo>
                <a:lnTo>
                  <a:pt x="0" y="295655"/>
                </a:lnTo>
                <a:lnTo>
                  <a:pt x="528065" y="591311"/>
                </a:lnTo>
                <a:lnTo>
                  <a:pt x="1056131" y="295655"/>
                </a:lnTo>
                <a:close/>
              </a:path>
              <a:path w="1056639" h="591820">
                <a:moveTo>
                  <a:pt x="792099" y="0"/>
                </a:moveTo>
                <a:lnTo>
                  <a:pt x="264033" y="0"/>
                </a:lnTo>
                <a:lnTo>
                  <a:pt x="264033" y="295655"/>
                </a:lnTo>
                <a:lnTo>
                  <a:pt x="792099" y="295655"/>
                </a:lnTo>
                <a:lnTo>
                  <a:pt x="792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0" y="295655"/>
                </a:moveTo>
                <a:lnTo>
                  <a:pt x="264033" y="295655"/>
                </a:lnTo>
                <a:lnTo>
                  <a:pt x="264033" y="0"/>
                </a:lnTo>
                <a:lnTo>
                  <a:pt x="792099" y="0"/>
                </a:lnTo>
                <a:lnTo>
                  <a:pt x="792099" y="295655"/>
                </a:lnTo>
                <a:lnTo>
                  <a:pt x="1056131" y="295655"/>
                </a:lnTo>
                <a:lnTo>
                  <a:pt x="528065" y="591311"/>
                </a:lnTo>
                <a:lnTo>
                  <a:pt x="0" y="29565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54094" y="3966896"/>
            <a:ext cx="6430137" cy="2873914"/>
          </a:xfrm>
          <a:custGeom>
            <a:avLst/>
            <a:gdLst/>
            <a:ahLst/>
            <a:cxnLst/>
            <a:rect l="l" t="t" r="r" b="b"/>
            <a:pathLst>
              <a:path w="6123940" h="2083435">
                <a:moveTo>
                  <a:pt x="0" y="347217"/>
                </a:moveTo>
                <a:lnTo>
                  <a:pt x="4544" y="290895"/>
                </a:lnTo>
                <a:lnTo>
                  <a:pt x="17700" y="237467"/>
                </a:lnTo>
                <a:lnTo>
                  <a:pt x="38754" y="187648"/>
                </a:lnTo>
                <a:lnTo>
                  <a:pt x="66990" y="142152"/>
                </a:lnTo>
                <a:lnTo>
                  <a:pt x="101695" y="101695"/>
                </a:lnTo>
                <a:lnTo>
                  <a:pt x="142152" y="66990"/>
                </a:lnTo>
                <a:lnTo>
                  <a:pt x="187648" y="38754"/>
                </a:lnTo>
                <a:lnTo>
                  <a:pt x="237467" y="17700"/>
                </a:lnTo>
                <a:lnTo>
                  <a:pt x="290895" y="4544"/>
                </a:lnTo>
                <a:lnTo>
                  <a:pt x="347218" y="0"/>
                </a:lnTo>
                <a:lnTo>
                  <a:pt x="5776214" y="0"/>
                </a:lnTo>
                <a:lnTo>
                  <a:pt x="5832536" y="4544"/>
                </a:lnTo>
                <a:lnTo>
                  <a:pt x="5885964" y="17700"/>
                </a:lnTo>
                <a:lnTo>
                  <a:pt x="5935783" y="38754"/>
                </a:lnTo>
                <a:lnTo>
                  <a:pt x="5981279" y="66990"/>
                </a:lnTo>
                <a:lnTo>
                  <a:pt x="6021736" y="101695"/>
                </a:lnTo>
                <a:lnTo>
                  <a:pt x="6056441" y="142152"/>
                </a:lnTo>
                <a:lnTo>
                  <a:pt x="6084677" y="187648"/>
                </a:lnTo>
                <a:lnTo>
                  <a:pt x="6105731" y="237467"/>
                </a:lnTo>
                <a:lnTo>
                  <a:pt x="6118887" y="290895"/>
                </a:lnTo>
                <a:lnTo>
                  <a:pt x="6123432" y="347217"/>
                </a:lnTo>
                <a:lnTo>
                  <a:pt x="6123432" y="1736089"/>
                </a:lnTo>
                <a:lnTo>
                  <a:pt x="6118887" y="1792409"/>
                </a:lnTo>
                <a:lnTo>
                  <a:pt x="6105731" y="1845835"/>
                </a:lnTo>
                <a:lnTo>
                  <a:pt x="6084677" y="1895654"/>
                </a:lnTo>
                <a:lnTo>
                  <a:pt x="6056441" y="1941149"/>
                </a:lnTo>
                <a:lnTo>
                  <a:pt x="6021736" y="1981607"/>
                </a:lnTo>
                <a:lnTo>
                  <a:pt x="5981279" y="2016313"/>
                </a:lnTo>
                <a:lnTo>
                  <a:pt x="5935783" y="2044551"/>
                </a:lnTo>
                <a:lnTo>
                  <a:pt x="5885964" y="2065606"/>
                </a:lnTo>
                <a:lnTo>
                  <a:pt x="5832536" y="2078763"/>
                </a:lnTo>
                <a:lnTo>
                  <a:pt x="5776214" y="2083307"/>
                </a:lnTo>
                <a:lnTo>
                  <a:pt x="347218" y="2083307"/>
                </a:lnTo>
                <a:lnTo>
                  <a:pt x="290895" y="2078763"/>
                </a:lnTo>
                <a:lnTo>
                  <a:pt x="237467" y="2065606"/>
                </a:lnTo>
                <a:lnTo>
                  <a:pt x="187648" y="2044551"/>
                </a:lnTo>
                <a:lnTo>
                  <a:pt x="142152" y="2016313"/>
                </a:lnTo>
                <a:lnTo>
                  <a:pt x="101695" y="1981607"/>
                </a:lnTo>
                <a:lnTo>
                  <a:pt x="66990" y="1941149"/>
                </a:lnTo>
                <a:lnTo>
                  <a:pt x="38754" y="1895654"/>
                </a:lnTo>
                <a:lnTo>
                  <a:pt x="17700" y="1845835"/>
                </a:lnTo>
                <a:lnTo>
                  <a:pt x="4544" y="1792409"/>
                </a:lnTo>
                <a:lnTo>
                  <a:pt x="0" y="1736089"/>
                </a:lnTo>
                <a:lnTo>
                  <a:pt x="0" y="34721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61157" y="2702737"/>
            <a:ext cx="1510856" cy="616077"/>
          </a:xfrm>
          <a:custGeom>
            <a:avLst/>
            <a:gdLst/>
            <a:ahLst/>
            <a:cxnLst/>
            <a:rect l="l" t="t" r="r" b="b"/>
            <a:pathLst>
              <a:path w="1438910" h="586739">
                <a:moveTo>
                  <a:pt x="0" y="97789"/>
                </a:moveTo>
                <a:lnTo>
                  <a:pt x="9266" y="56197"/>
                </a:lnTo>
                <a:lnTo>
                  <a:pt x="34260" y="23453"/>
                </a:lnTo>
                <a:lnTo>
                  <a:pt x="70774" y="3781"/>
                </a:lnTo>
                <a:lnTo>
                  <a:pt x="1340865" y="0"/>
                </a:lnTo>
                <a:lnTo>
                  <a:pt x="1355452" y="1082"/>
                </a:lnTo>
                <a:lnTo>
                  <a:pt x="1394564" y="16067"/>
                </a:lnTo>
                <a:lnTo>
                  <a:pt x="1423420" y="45376"/>
                </a:lnTo>
                <a:lnTo>
                  <a:pt x="1437797" y="84785"/>
                </a:lnTo>
                <a:lnTo>
                  <a:pt x="1438656" y="488950"/>
                </a:lnTo>
                <a:lnTo>
                  <a:pt x="1437573" y="503536"/>
                </a:lnTo>
                <a:lnTo>
                  <a:pt x="1422588" y="542648"/>
                </a:lnTo>
                <a:lnTo>
                  <a:pt x="1393279" y="571504"/>
                </a:lnTo>
                <a:lnTo>
                  <a:pt x="1353870" y="585881"/>
                </a:lnTo>
                <a:lnTo>
                  <a:pt x="97790" y="586739"/>
                </a:lnTo>
                <a:lnTo>
                  <a:pt x="83194" y="585657"/>
                </a:lnTo>
                <a:lnTo>
                  <a:pt x="44074" y="570672"/>
                </a:lnTo>
                <a:lnTo>
                  <a:pt x="15226" y="541363"/>
                </a:lnTo>
                <a:lnTo>
                  <a:pt x="857" y="501954"/>
                </a:lnTo>
                <a:lnTo>
                  <a:pt x="0" y="9778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91</a:t>
            </a:fld>
            <a:endParaRPr sz="1575" spc="-1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9680E2-B0D6-4361-9D03-A8AB415AECA9}"/>
              </a:ext>
            </a:extLst>
          </p:cNvPr>
          <p:cNvSpPr/>
          <p:nvPr/>
        </p:nvSpPr>
        <p:spPr>
          <a:xfrm>
            <a:off x="928192" y="4275010"/>
            <a:ext cx="271741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omp_lock_t</a:t>
            </a:r>
            <a:r>
              <a:rPr lang="en-US" altLang="zh-CN"/>
              <a:t>   lock;</a:t>
            </a:r>
            <a:endParaRPr lang="en-US" altLang="zh-CN" dirty="0"/>
          </a:p>
          <a:p>
            <a:r>
              <a:rPr lang="en-US" altLang="zh-CN" dirty="0" err="1"/>
              <a:t>omp_init_lock</a:t>
            </a:r>
            <a:r>
              <a:rPr lang="en-US" altLang="zh-CN" dirty="0"/>
              <a:t>(&amp;lock);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Using Locks in the Message-</a:t>
            </a:r>
            <a:br>
              <a:rPr lang="en-US" altLang="zh-CN" dirty="0"/>
            </a:br>
            <a:r>
              <a:rPr lang="en-US" altLang="zh-CN" dirty="0"/>
              <a:t>Passing Program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241879" y="1862632"/>
            <a:ext cx="7088886" cy="1468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08526" y="3752468"/>
            <a:ext cx="6551219" cy="1880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69159" y="2710738"/>
            <a:ext cx="1498187" cy="509397"/>
          </a:xfrm>
          <a:custGeom>
            <a:avLst/>
            <a:gdLst/>
            <a:ahLst/>
            <a:cxnLst/>
            <a:rect l="l" t="t" r="r" b="b"/>
            <a:pathLst>
              <a:path w="1426845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1345692" y="0"/>
                </a:lnTo>
                <a:lnTo>
                  <a:pt x="1360211" y="1304"/>
                </a:lnTo>
                <a:lnTo>
                  <a:pt x="1397745" y="19029"/>
                </a:lnTo>
                <a:lnTo>
                  <a:pt x="1421428" y="52658"/>
                </a:lnTo>
                <a:lnTo>
                  <a:pt x="1426464" y="403860"/>
                </a:lnTo>
                <a:lnTo>
                  <a:pt x="1425159" y="418379"/>
                </a:lnTo>
                <a:lnTo>
                  <a:pt x="1407434" y="455913"/>
                </a:lnTo>
                <a:lnTo>
                  <a:pt x="1373805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08526" y="4290136"/>
            <a:ext cx="5639372" cy="1408176"/>
          </a:xfrm>
          <a:custGeom>
            <a:avLst/>
            <a:gdLst/>
            <a:ahLst/>
            <a:cxnLst/>
            <a:rect l="l" t="t" r="r" b="b"/>
            <a:pathLst>
              <a:path w="5370830" h="1341120">
                <a:moveTo>
                  <a:pt x="0" y="223519"/>
                </a:moveTo>
                <a:lnTo>
                  <a:pt x="6496" y="169806"/>
                </a:lnTo>
                <a:lnTo>
                  <a:pt x="24949" y="120800"/>
                </a:lnTo>
                <a:lnTo>
                  <a:pt x="53806" y="78056"/>
                </a:lnTo>
                <a:lnTo>
                  <a:pt x="91513" y="43127"/>
                </a:lnTo>
                <a:lnTo>
                  <a:pt x="136517" y="17565"/>
                </a:lnTo>
                <a:lnTo>
                  <a:pt x="187264" y="2925"/>
                </a:lnTo>
                <a:lnTo>
                  <a:pt x="223519" y="0"/>
                </a:lnTo>
                <a:lnTo>
                  <a:pt x="5147056" y="0"/>
                </a:lnTo>
                <a:lnTo>
                  <a:pt x="5200769" y="6496"/>
                </a:lnTo>
                <a:lnTo>
                  <a:pt x="5249775" y="24949"/>
                </a:lnTo>
                <a:lnTo>
                  <a:pt x="5292519" y="53806"/>
                </a:lnTo>
                <a:lnTo>
                  <a:pt x="5327448" y="91513"/>
                </a:lnTo>
                <a:lnTo>
                  <a:pt x="5353010" y="136517"/>
                </a:lnTo>
                <a:lnTo>
                  <a:pt x="5367650" y="187264"/>
                </a:lnTo>
                <a:lnTo>
                  <a:pt x="5370576" y="223519"/>
                </a:lnTo>
                <a:lnTo>
                  <a:pt x="5370576" y="1117599"/>
                </a:lnTo>
                <a:lnTo>
                  <a:pt x="5364079" y="1171313"/>
                </a:lnTo>
                <a:lnTo>
                  <a:pt x="5345626" y="1220319"/>
                </a:lnTo>
                <a:lnTo>
                  <a:pt x="5316769" y="1263063"/>
                </a:lnTo>
                <a:lnTo>
                  <a:pt x="5279062" y="1297992"/>
                </a:lnTo>
                <a:lnTo>
                  <a:pt x="5234058" y="1323554"/>
                </a:lnTo>
                <a:lnTo>
                  <a:pt x="5183311" y="1338194"/>
                </a:lnTo>
                <a:lnTo>
                  <a:pt x="5147056" y="1341119"/>
                </a:lnTo>
                <a:lnTo>
                  <a:pt x="223519" y="1341119"/>
                </a:lnTo>
                <a:lnTo>
                  <a:pt x="169806" y="1334623"/>
                </a:lnTo>
                <a:lnTo>
                  <a:pt x="120800" y="1316170"/>
                </a:lnTo>
                <a:lnTo>
                  <a:pt x="78056" y="1287313"/>
                </a:lnTo>
                <a:lnTo>
                  <a:pt x="43127" y="1249606"/>
                </a:lnTo>
                <a:lnTo>
                  <a:pt x="17565" y="1204602"/>
                </a:lnTo>
                <a:lnTo>
                  <a:pt x="2925" y="1153855"/>
                </a:lnTo>
                <a:lnTo>
                  <a:pt x="0" y="1117599"/>
                </a:lnTo>
                <a:lnTo>
                  <a:pt x="0" y="2235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1056131" y="295655"/>
                </a:moveTo>
                <a:lnTo>
                  <a:pt x="0" y="295655"/>
                </a:lnTo>
                <a:lnTo>
                  <a:pt x="528065" y="591311"/>
                </a:lnTo>
                <a:lnTo>
                  <a:pt x="1056131" y="295655"/>
                </a:lnTo>
                <a:close/>
              </a:path>
              <a:path w="1056639" h="591820">
                <a:moveTo>
                  <a:pt x="792099" y="0"/>
                </a:moveTo>
                <a:lnTo>
                  <a:pt x="264033" y="0"/>
                </a:lnTo>
                <a:lnTo>
                  <a:pt x="264033" y="295655"/>
                </a:lnTo>
                <a:lnTo>
                  <a:pt x="792099" y="295655"/>
                </a:lnTo>
                <a:lnTo>
                  <a:pt x="792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0" y="295655"/>
                </a:moveTo>
                <a:lnTo>
                  <a:pt x="264033" y="295655"/>
                </a:lnTo>
                <a:lnTo>
                  <a:pt x="264033" y="0"/>
                </a:lnTo>
                <a:lnTo>
                  <a:pt x="792099" y="0"/>
                </a:lnTo>
                <a:lnTo>
                  <a:pt x="792099" y="295655"/>
                </a:lnTo>
                <a:lnTo>
                  <a:pt x="1056131" y="295655"/>
                </a:lnTo>
                <a:lnTo>
                  <a:pt x="528065" y="591311"/>
                </a:lnTo>
                <a:lnTo>
                  <a:pt x="0" y="29565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So</a:t>
            </a:r>
            <a:r>
              <a:rPr spc="-20" dirty="0"/>
              <a:t>m</a:t>
            </a:r>
            <a:r>
              <a:rPr dirty="0"/>
              <a:t>e </a:t>
            </a:r>
            <a:r>
              <a:rPr spc="-5" dirty="0"/>
              <a:t>C</a:t>
            </a:r>
            <a:r>
              <a:rPr spc="-80" dirty="0"/>
              <a:t>a</a:t>
            </a:r>
            <a:r>
              <a:rPr spc="-55" dirty="0"/>
              <a:t>v</a:t>
            </a:r>
            <a:r>
              <a:rPr spc="-5" dirty="0"/>
              <a:t>e</a:t>
            </a:r>
            <a:r>
              <a:rPr spc="-55" dirty="0"/>
              <a:t>a</a:t>
            </a:r>
            <a:r>
              <a:rPr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8152" y="910829"/>
            <a:ext cx="7133562" cy="3864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24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spc="-229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4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shouldn’t</a:t>
            </a:r>
            <a:r>
              <a:rPr sz="240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mix</a:t>
            </a:r>
            <a:r>
              <a:rPr sz="240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typ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utual</a:t>
            </a:r>
            <a:endParaRPr sz="24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40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8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240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gle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40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sectio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697865" lvl="1" indent="-227965">
              <a:lnSpc>
                <a:spcPts val="3070"/>
              </a:lnSpc>
              <a:buFont typeface="Arial" panose="020B0604020202020204"/>
              <a:buChar char="•"/>
              <a:tabLst>
                <a:tab pos="6985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20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g.,</a:t>
            </a:r>
            <a:r>
              <a:rPr sz="24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i="1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iti</a:t>
            </a:r>
            <a:r>
              <a:rPr sz="2400" i="1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i="1" spc="-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400" i="1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400" spc="-5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y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no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40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6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clude</a:t>
            </a:r>
            <a:r>
              <a:rPr sz="2400" spc="-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i="1" spc="-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i="1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i="1" spc="-5" dirty="0">
                <a:latin typeface="Comic Sans MS" panose="030F0702030302020204" pitchFamily="66" charset="0"/>
                <a:cs typeface="Calibri" panose="020F0502020204030204"/>
              </a:rPr>
              <a:t>omi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24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40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ua</a:t>
            </a:r>
            <a:r>
              <a:rPr sz="240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ee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40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air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240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utual</a:t>
            </a:r>
            <a:endParaRPr sz="24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85"/>
              </a:lnSpc>
            </a:pPr>
            <a:r>
              <a:rPr sz="240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8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400" spc="-4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tructs.</a:t>
            </a:r>
          </a:p>
          <a:p>
            <a:pPr marL="697865" marR="655320" lvl="1" indent="-227965">
              <a:lnSpc>
                <a:spcPts val="25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20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g.,</a:t>
            </a:r>
            <a:r>
              <a:rPr sz="24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p</a:t>
            </a:r>
            <a:r>
              <a:rPr sz="2400" spc="-1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ssibl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 a th</a:t>
            </a:r>
            <a:r>
              <a:rPr sz="240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40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b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400" spc="-8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ed </a:t>
            </a:r>
            <a:r>
              <a:rPr sz="240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3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lang="en-US" sz="2400" dirty="0">
                <a:latin typeface="Comic Sans MS" panose="030F0702030302020204" pitchFamily="66" charset="0"/>
                <a:cs typeface="Calibri" panose="020F0502020204030204"/>
              </a:rPr>
              <a:t> due to always failure of competing for a lock.</a:t>
            </a:r>
            <a:endParaRPr sz="24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24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dan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5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spc="1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40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mutual </a:t>
            </a:r>
            <a:r>
              <a:rPr sz="240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7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on</a:t>
            </a:r>
          </a:p>
          <a:p>
            <a:pPr marL="241300">
              <a:lnSpc>
                <a:spcPts val="3240"/>
              </a:lnSpc>
            </a:pPr>
            <a:r>
              <a:rPr sz="2400" spc="-4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400" spc="-3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tructs.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20862" y="576114"/>
            <a:ext cx="3313728" cy="222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10" dirty="0">
                <a:latin typeface="Comic Sans MS" panose="030F0702030302020204" pitchFamily="66" charset="0"/>
              </a:rPr>
              <a:t>if (…)</a:t>
            </a:r>
          </a:p>
          <a:p>
            <a:r>
              <a:rPr lang="en-US" altLang="zh-CN" sz="2310" dirty="0">
                <a:latin typeface="Comic Sans MS" panose="030F0702030302020204" pitchFamily="66" charset="0"/>
              </a:rPr>
              <a:t># pragma </a:t>
            </a:r>
            <a:r>
              <a:rPr lang="en-US" altLang="zh-CN" sz="2310" dirty="0" err="1">
                <a:latin typeface="Comic Sans MS" panose="030F0702030302020204" pitchFamily="66" charset="0"/>
              </a:rPr>
              <a:t>omp</a:t>
            </a:r>
            <a:r>
              <a:rPr lang="en-US" altLang="zh-CN" sz="2310" dirty="0">
                <a:latin typeface="Comic Sans MS" panose="030F0702030302020204" pitchFamily="66" charset="0"/>
              </a:rPr>
              <a:t> atomic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 x +=f(y);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else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x = g(x);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520862" y="2796309"/>
            <a:ext cx="3313728" cy="151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latin typeface="Comic Sans MS" panose="030F0702030302020204" pitchFamily="66" charset="0"/>
              </a:rPr>
              <a:t>While(1){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   x = g(</a:t>
            </a:r>
            <a:r>
              <a:rPr lang="en-US" sz="2310" dirty="0" err="1">
                <a:latin typeface="Comic Sans MS" panose="030F0702030302020204" pitchFamily="66" charset="0"/>
              </a:rPr>
              <a:t>m</a:t>
            </a:r>
            <a:r>
              <a:rPr lang="en-US" altLang="zh-CN" sz="2310" dirty="0" err="1">
                <a:latin typeface="Comic Sans MS" panose="030F0702030302020204" pitchFamily="66" charset="0"/>
              </a:rPr>
              <a:t>y_rank</a:t>
            </a:r>
            <a:r>
              <a:rPr lang="en-US" altLang="zh-CN" sz="2310" dirty="0">
                <a:latin typeface="Comic Sans MS" panose="030F0702030302020204" pitchFamily="66" charset="0"/>
              </a:rPr>
              <a:t>);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48685" y="4622613"/>
            <a:ext cx="3387466" cy="2580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latin typeface="Comic Sans MS" panose="030F0702030302020204" pitchFamily="66" charset="0"/>
              </a:rPr>
              <a:t>#pragma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y = f(x)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…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Double f (double x){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z = g(x); // z is shared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58333" y="4471670"/>
            <a:ext cx="41248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>
                <a:latin typeface="Comic Sans MS" panose="030F0702030302020204" pitchFamily="66" charset="0"/>
              </a:rPr>
              <a:t>#pragma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(one)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y = f(x)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…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Double f (double x){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(two)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z = g(x); // z is shared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9" name="右箭头 8"/>
          <p:cNvSpPr/>
          <p:nvPr/>
        </p:nvSpPr>
        <p:spPr>
          <a:xfrm>
            <a:off x="6797185" y="5760720"/>
            <a:ext cx="611727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3C9608-4CCE-4454-9C8D-2C97067533FD}"/>
              </a:ext>
            </a:extLst>
          </p:cNvPr>
          <p:cNvSpPr txBox="1"/>
          <p:nvPr/>
        </p:nvSpPr>
        <p:spPr>
          <a:xfrm>
            <a:off x="456233" y="5149019"/>
            <a:ext cx="2761614" cy="14465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//outer critical can be assigned, the critical in f() is blocked </a:t>
            </a:r>
            <a:r>
              <a:rPr lang="zh-CN" altLang="en-US" dirty="0">
                <a:latin typeface="Comic Sans MS" panose="030F0702030302020204" pitchFamily="66" charset="0"/>
              </a:rPr>
              <a:t> 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0A5C7F6-271B-49F2-A5AC-CC5721C262A5}"/>
              </a:ext>
            </a:extLst>
          </p:cNvPr>
          <p:cNvCxnSpPr/>
          <p:nvPr/>
        </p:nvCxnSpPr>
        <p:spPr>
          <a:xfrm>
            <a:off x="3664496" y="4471670"/>
            <a:ext cx="8818736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</a:t>
            </a:r>
            <a:r>
              <a:rPr spc="-55" dirty="0"/>
              <a:t>a</a:t>
            </a:r>
            <a:r>
              <a:rPr dirty="0"/>
              <a:t>tri</a:t>
            </a:r>
            <a:r>
              <a:rPr spc="10" dirty="0"/>
              <a:t>x</a:t>
            </a:r>
            <a:r>
              <a:rPr spc="-5" dirty="0"/>
              <a:t>-</a:t>
            </a:r>
            <a:r>
              <a:rPr spc="-55" dirty="0"/>
              <a:t>v</a:t>
            </a:r>
            <a:r>
              <a:rPr spc="-5" dirty="0"/>
              <a:t>ec</a:t>
            </a:r>
            <a:r>
              <a:rPr spc="-55" dirty="0"/>
              <a:t>t</a:t>
            </a:r>
            <a:r>
              <a:rPr spc="-5" dirty="0"/>
              <a:t>o</a:t>
            </a:r>
            <a:r>
              <a:rPr dirty="0"/>
              <a:t>r multipli</a:t>
            </a:r>
            <a:r>
              <a:rPr spc="-50" dirty="0"/>
              <a:t>ca</a:t>
            </a:r>
            <a:r>
              <a:rPr dirty="0"/>
              <a:t>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41042" y="2030653"/>
            <a:ext cx="8938717" cy="2489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8945" y="1576196"/>
            <a:ext cx="3990898" cy="411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54069" y="4904612"/>
            <a:ext cx="4179722" cy="17794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</a:t>
            </a:r>
            <a:r>
              <a:rPr spc="-55" dirty="0"/>
              <a:t>a</a:t>
            </a:r>
            <a:r>
              <a:rPr dirty="0"/>
              <a:t>tri</a:t>
            </a:r>
            <a:r>
              <a:rPr spc="10" dirty="0"/>
              <a:t>x</a:t>
            </a:r>
            <a:r>
              <a:rPr spc="-5" dirty="0"/>
              <a:t>-</a:t>
            </a:r>
            <a:r>
              <a:rPr spc="-55" dirty="0"/>
              <a:t>v</a:t>
            </a:r>
            <a:r>
              <a:rPr spc="-5" dirty="0"/>
              <a:t>ec</a:t>
            </a:r>
            <a:r>
              <a:rPr spc="-55" dirty="0"/>
              <a:t>t</a:t>
            </a:r>
            <a:r>
              <a:rPr spc="-5" dirty="0"/>
              <a:t>o</a:t>
            </a:r>
            <a:r>
              <a:rPr dirty="0"/>
              <a:t>r multipli</a:t>
            </a:r>
            <a:r>
              <a:rPr spc="-50" dirty="0"/>
              <a:t>ca</a:t>
            </a:r>
            <a:r>
              <a:rPr dirty="0"/>
              <a:t>tion</a:t>
            </a:r>
          </a:p>
        </p:txBody>
      </p:sp>
      <p:sp>
        <p:nvSpPr>
          <p:cNvPr id="3" name="object 3"/>
          <p:cNvSpPr/>
          <p:nvPr/>
        </p:nvSpPr>
        <p:spPr>
          <a:xfrm>
            <a:off x="1288232" y="1106030"/>
            <a:ext cx="8489061" cy="2339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03500" y="3966896"/>
            <a:ext cx="7994599" cy="26387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0630" y="3704187"/>
            <a:ext cx="4000500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times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fici</a:t>
            </a:r>
            <a:r>
              <a:rPr sz="252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nci</a:t>
            </a:r>
            <a:r>
              <a:rPr sz="252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95</a:t>
            </a:fld>
            <a:endParaRPr sz="1575" spc="-10" dirty="0"/>
          </a:p>
        </p:txBody>
      </p:sp>
      <p:sp>
        <p:nvSpPr>
          <p:cNvPr id="7" name="圆角矩形 6"/>
          <p:cNvSpPr/>
          <p:nvPr/>
        </p:nvSpPr>
        <p:spPr>
          <a:xfrm>
            <a:off x="8161020" y="5286261"/>
            <a:ext cx="2094261" cy="128016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20490" y="5212959"/>
            <a:ext cx="1054131" cy="46775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76854" y="1823824"/>
            <a:ext cx="548864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Valgrind</a:t>
            </a:r>
            <a:r>
              <a:rPr lang="en-US" sz="2310" dirty="0">
                <a:latin typeface="Comic Sans MS" panose="030F0702030302020204" pitchFamily="66" charset="0"/>
              </a:rPr>
              <a:t> is an instrumentation framework for building dynamic analysis tools, that can automatically detect many memory management and threading bugs.</a:t>
            </a:r>
          </a:p>
        </p:txBody>
      </p:sp>
    </p:spTree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18690" y="273634"/>
            <a:ext cx="8333842" cy="63095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96744" y="1096297"/>
            <a:ext cx="2370963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0" spc="-1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h</a:t>
            </a:r>
            <a:r>
              <a:rPr sz="3360" b="0" spc="-6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r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spc="-3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d-S</a:t>
            </a:r>
            <a:r>
              <a:rPr sz="3360" b="0" spc="-6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spc="-11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f</a:t>
            </a:r>
            <a:r>
              <a:rPr sz="3360" b="0" spc="-5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y</a:t>
            </a:r>
            <a:endParaRPr sz="336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5463" y="1955443"/>
            <a:ext cx="6663500" cy="509397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9068" y="2891560"/>
            <a:ext cx="6663500" cy="509397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96</a:t>
            </a:fld>
            <a:endParaRPr sz="1575" spc="-10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3166013-1BB5-4933-9A1D-BE0C673333B2}"/>
              </a:ext>
            </a:extLst>
          </p:cNvPr>
          <p:cNvSpPr/>
          <p:nvPr/>
        </p:nvSpPr>
        <p:spPr>
          <a:xfrm>
            <a:off x="2691053" y="4104507"/>
            <a:ext cx="5005891" cy="288032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8D1EE3-DDD8-434D-B73D-9C875AC73BEF}"/>
              </a:ext>
            </a:extLst>
          </p:cNvPr>
          <p:cNvSpPr txBox="1"/>
          <p:nvPr/>
        </p:nvSpPr>
        <p:spPr>
          <a:xfrm>
            <a:off x="7866566" y="3961652"/>
            <a:ext cx="12623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strtok_r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B0F60C17-27F2-42B2-9C18-D8CBD5D7784E}"/>
              </a:ext>
            </a:extLst>
          </p:cNvPr>
          <p:cNvSpPr/>
          <p:nvPr/>
        </p:nvSpPr>
        <p:spPr>
          <a:xfrm>
            <a:off x="4960641" y="4808057"/>
            <a:ext cx="2736304" cy="288032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5D2963-6783-44A3-B48B-B8187F288C55}"/>
              </a:ext>
            </a:extLst>
          </p:cNvPr>
          <p:cNvSpPr txBox="1"/>
          <p:nvPr/>
        </p:nvSpPr>
        <p:spPr>
          <a:xfrm>
            <a:off x="7866566" y="4776646"/>
            <a:ext cx="12623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strtok_r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OpenMP Execution 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2936" y="1314564"/>
            <a:ext cx="8558344" cy="2310760"/>
          </a:xfrm>
          <a:prstGeom prst="rect">
            <a:avLst/>
          </a:prstGeom>
        </p:spPr>
        <p:txBody>
          <a:bodyPr vert="horz" wrap="square" lIns="0" tIns="933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940" b="1" spc="-5" dirty="0">
                <a:latin typeface="Comic Sans MS" panose="030F0702030302020204" pitchFamily="66" charset="0"/>
                <a:cs typeface="Calibri" panose="020F0502020204030204"/>
              </a:rPr>
              <a:t>Fork and </a:t>
            </a:r>
            <a:r>
              <a:rPr sz="2940" b="1" dirty="0">
                <a:latin typeface="Comic Sans MS" panose="030F0702030302020204" pitchFamily="66" charset="0"/>
                <a:cs typeface="Calibri" panose="020F0502020204030204"/>
              </a:rPr>
              <a:t>Join</a:t>
            </a:r>
            <a:r>
              <a:rPr sz="2940" b="1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5" dirty="0">
                <a:latin typeface="Comic Sans MS" panose="030F0702030302020204" pitchFamily="66" charset="0"/>
                <a:cs typeface="Calibri" panose="020F0502020204030204"/>
              </a:rPr>
              <a:t>Model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5080" lvl="1" indent="-279400">
              <a:lnSpc>
                <a:spcPct val="101000"/>
              </a:lnSpc>
              <a:spcBef>
                <a:spcPts val="47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Master thread forks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new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threads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at the beginning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of  parallel regions.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49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Multiple threads share work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52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parallel.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Threads join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at the end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of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parallel</a:t>
            </a:r>
            <a:r>
              <a:rPr sz="252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regions.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3469" y="3909909"/>
            <a:ext cx="6931088" cy="2389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2671" y="6784608"/>
            <a:ext cx="257366" cy="539281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 </a:t>
            </a:r>
            <a:fld id="{81D60167-4931-47E6-BA6A-407CBD079E47}" type="slidenum"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97</a:t>
            </a:fld>
            <a:r>
              <a:rPr sz="1155" spc="-8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endParaRPr sz="1155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Hopper/Edison Compute Nodes</a:t>
            </a:r>
          </a:p>
        </p:txBody>
      </p:sp>
      <p:sp>
        <p:nvSpPr>
          <p:cNvPr id="3" name="object 3"/>
          <p:cNvSpPr/>
          <p:nvPr/>
        </p:nvSpPr>
        <p:spPr>
          <a:xfrm>
            <a:off x="2791602" y="1602721"/>
            <a:ext cx="2764503" cy="20460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20180" y="1215506"/>
            <a:ext cx="4182402" cy="2645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1403" y="3987165"/>
            <a:ext cx="8317040" cy="2560700"/>
          </a:xfrm>
          <a:prstGeom prst="rect">
            <a:avLst/>
          </a:prstGeom>
          <a:solidFill>
            <a:srgbClr val="F6D6D2"/>
          </a:solidFill>
        </p:spPr>
        <p:txBody>
          <a:bodyPr vert="horz" wrap="square" lIns="0" tIns="48005" rIns="0" bIns="0" rtlCol="0">
            <a:spAutoFit/>
          </a:bodyPr>
          <a:lstStyle/>
          <a:p>
            <a:pPr marL="434340" indent="-342900">
              <a:lnSpc>
                <a:spcPct val="100000"/>
              </a:lnSpc>
              <a:spcBef>
                <a:spcPts val="360"/>
              </a:spcBef>
              <a:buFont typeface="Calibri" panose="020F0502020204030204"/>
              <a:buChar char="•"/>
              <a:tabLst>
                <a:tab pos="433705" algn="l"/>
                <a:tab pos="4343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Hopper: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NERSC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Cray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XE6, 6,384 nodes, 153,126</a:t>
            </a:r>
            <a:r>
              <a:rPr sz="2100" b="1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cores.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91540" lvl="1" indent="-343535">
              <a:lnSpc>
                <a:spcPct val="100000"/>
              </a:lnSpc>
              <a:spcBef>
                <a:spcPts val="480"/>
              </a:spcBef>
              <a:buFont typeface="Calibri" panose="020F0502020204030204"/>
              <a:buChar char="•"/>
              <a:tabLst>
                <a:tab pos="890905" algn="l"/>
                <a:tab pos="8915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4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domains per node, 6 cores per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</a:t>
            </a:r>
            <a:r>
              <a:rPr sz="2100" b="1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34340" indent="-342900">
              <a:lnSpc>
                <a:spcPct val="100000"/>
              </a:lnSpc>
              <a:spcBef>
                <a:spcPts val="400"/>
              </a:spcBef>
              <a:buFont typeface="Calibri" panose="020F0502020204030204"/>
              <a:buChar char="•"/>
              <a:tabLst>
                <a:tab pos="433705" algn="l"/>
                <a:tab pos="434340" algn="l"/>
              </a:tabLst>
            </a:pP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Edison: NERSC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Cray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XC30, 5,576 nodes, 133,824</a:t>
            </a:r>
            <a:r>
              <a:rPr sz="2100" b="1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cores.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90905" marR="1050290" lvl="1" indent="-342900">
              <a:lnSpc>
                <a:spcPct val="101000"/>
              </a:lnSpc>
              <a:spcBef>
                <a:spcPts val="480"/>
              </a:spcBef>
              <a:buFont typeface="Calibri" panose="020F0502020204030204"/>
              <a:buChar char="•"/>
              <a:tabLst>
                <a:tab pos="890905" algn="l"/>
                <a:tab pos="8915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2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domains per node,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12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cores per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</a:t>
            </a:r>
            <a:r>
              <a:rPr sz="2100" b="1" spc="-6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domain.  2 hardware threads per</a:t>
            </a:r>
            <a:r>
              <a:rPr sz="2100" b="1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core.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34340" indent="-342900">
              <a:lnSpc>
                <a:spcPct val="100000"/>
              </a:lnSpc>
              <a:spcBef>
                <a:spcPts val="480"/>
              </a:spcBef>
              <a:buFont typeface="Calibri" panose="020F0502020204030204"/>
              <a:buChar char="•"/>
              <a:tabLst>
                <a:tab pos="433705" algn="l"/>
                <a:tab pos="4343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Memory bandwidth is non-homogeneous among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</a:t>
            </a:r>
            <a:r>
              <a:rPr sz="2100" b="1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domains.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2671" y="6784608"/>
            <a:ext cx="257366" cy="539281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 </a:t>
            </a:r>
            <a:fld id="{81D60167-4931-47E6-BA6A-407CBD079E47}" type="slidenum"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98</a:t>
            </a:fld>
            <a:r>
              <a:rPr sz="1155" spc="-8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endParaRPr sz="1155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Thread Affinity Control in OpenMP 4.0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29837"/>
            <a:ext cx="2986088" cy="248285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75" dirty="0"/>
              <a:t>- </a:t>
            </a:r>
            <a:fld id="{81D60167-4931-47E6-BA6A-407CBD079E47}" type="slidenum">
              <a:rPr sz="1575" dirty="0"/>
              <a:t>99</a:t>
            </a:fld>
            <a:r>
              <a:rPr sz="1575" spc="-85" dirty="0"/>
              <a:t> </a:t>
            </a:r>
            <a:r>
              <a:rPr sz="1575"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5564" y="1342961"/>
            <a:ext cx="9710472" cy="4921988"/>
          </a:xfrm>
          <a:prstGeom prst="rect">
            <a:avLst/>
          </a:prstGeom>
        </p:spPr>
        <p:txBody>
          <a:bodyPr vert="horz" wrap="square" lIns="0" tIns="3600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7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310" b="1" spc="-5" dirty="0">
                <a:latin typeface="Comic Sans MS" panose="030F0702030302020204" pitchFamily="66" charset="0"/>
                <a:cs typeface="Calibri" panose="020F0502020204030204"/>
              </a:rPr>
              <a:t>OMP_PLACES: </a:t>
            </a:r>
            <a:r>
              <a:rPr sz="2310" b="1" dirty="0"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2310" b="1" spc="-5" dirty="0">
                <a:latin typeface="Comic Sans MS" panose="030F0702030302020204" pitchFamily="66" charset="0"/>
                <a:cs typeface="Calibri" panose="020F0502020204030204"/>
              </a:rPr>
              <a:t>list </a:t>
            </a:r>
            <a:r>
              <a:rPr sz="2310" b="1" dirty="0">
                <a:latin typeface="Comic Sans MS" panose="030F0702030302020204" pitchFamily="66" charset="0"/>
                <a:cs typeface="Calibri" panose="020F0502020204030204"/>
              </a:rPr>
              <a:t>of places that threads can be pinned</a:t>
            </a:r>
            <a:r>
              <a:rPr sz="2310" b="1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310" b="1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5080" lvl="1" indent="-279400">
              <a:lnSpc>
                <a:spcPts val="2040"/>
              </a:lnSpc>
              <a:spcBef>
                <a:spcPts val="41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 </a:t>
            </a: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threads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Each place corresponds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a single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hardware thread</a:t>
            </a:r>
            <a:r>
              <a:rPr lang="en-US" sz="1995" spc="-5" dirty="0">
                <a:latin typeface="Comic Sans MS" panose="030F0702030302020204" pitchFamily="66" charset="0"/>
                <a:cs typeface="Calibri" panose="020F0502020204030204"/>
              </a:rPr>
              <a:t> (e.g. </a:t>
            </a:r>
            <a:r>
              <a:rPr lang="en-US" sz="1995" spc="-5" dirty="0" err="1">
                <a:latin typeface="Comic Sans MS" panose="030F0702030302020204" pitchFamily="66" charset="0"/>
                <a:cs typeface="Calibri" panose="020F0502020204030204"/>
              </a:rPr>
              <a:t>vcpu</a:t>
            </a:r>
            <a:r>
              <a:rPr lang="en-US" sz="1995" spc="-5" dirty="0">
                <a:latin typeface="Comic Sans MS" panose="030F0702030302020204" pitchFamily="66" charset="0"/>
                <a:cs typeface="Calibri" panose="020F0502020204030204"/>
              </a:rPr>
              <a:t> in Intel hyperthreading)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 on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target  machine.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738505" lvl="1" indent="-279400">
              <a:lnSpc>
                <a:spcPts val="2040"/>
              </a:lnSpc>
              <a:spcBef>
                <a:spcPts val="52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 </a:t>
            </a: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cores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Each place corresponds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a single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core (having one or more  hardware threads) on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target</a:t>
            </a:r>
            <a:r>
              <a:rPr sz="1995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machine.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332105" lvl="1" indent="-279400">
              <a:lnSpc>
                <a:spcPts val="2140"/>
              </a:lnSpc>
              <a:spcBef>
                <a:spcPts val="34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 </a:t>
            </a: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sockets</a:t>
            </a:r>
            <a:r>
              <a:rPr lang="zh-CN" alt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（</a:t>
            </a:r>
            <a:r>
              <a:rPr lang="en-US" altLang="zh-CN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</a:t>
            </a:r>
            <a:r>
              <a:rPr lang="zh-CN" altLang="en-US" sz="1995" spc="-5" dirty="0">
                <a:solidFill>
                  <a:srgbClr val="04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插槽</a:t>
            </a:r>
            <a:r>
              <a:rPr lang="zh-CN" alt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）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Each place corresponds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a single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socket (consisting of one or  more cores) on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target</a:t>
            </a:r>
            <a:r>
              <a:rPr sz="1995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machine.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135"/>
              </a:spcBef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 list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with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explicit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place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values: such as:</a:t>
            </a:r>
          </a:p>
          <a:p>
            <a:pPr marL="1155700" lvl="2" indent="-228600">
              <a:lnSpc>
                <a:spcPct val="100000"/>
              </a:lnSpc>
              <a:spcBef>
                <a:spcPts val="165"/>
              </a:spcBef>
              <a:buFont typeface="Arial" panose="020B0604020202020204"/>
              <a:buChar char="•"/>
              <a:tabLst>
                <a:tab pos="1155065" algn="l"/>
                <a:tab pos="1155700" algn="l"/>
              </a:tabLst>
            </a:pPr>
            <a:r>
              <a:rPr sz="1575" dirty="0">
                <a:latin typeface="Comic Sans MS" panose="030F0702030302020204" pitchFamily="66" charset="0"/>
                <a:cs typeface="Calibri" panose="020F0502020204030204"/>
              </a:rPr>
              <a:t>"{0,1,2,3},{4,5,6,7},{8,9,10,11},{12,13,14,15}”</a:t>
            </a:r>
          </a:p>
          <a:p>
            <a:pPr marL="1155700" lvl="2" indent="-228600">
              <a:lnSpc>
                <a:spcPct val="100000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1155065" algn="l"/>
                <a:tab pos="1155700" algn="l"/>
              </a:tabLst>
            </a:pPr>
            <a:r>
              <a:rPr sz="1575" spc="-5" dirty="0">
                <a:latin typeface="Comic Sans MS" panose="030F0702030302020204" pitchFamily="66" charset="0"/>
                <a:cs typeface="Calibri" panose="020F0502020204030204"/>
              </a:rPr>
              <a:t>“{0:4},{4:4},{8:4},{12:4}”</a:t>
            </a:r>
            <a:endParaRPr sz="157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310" b="1" spc="-5" dirty="0">
                <a:latin typeface="Comic Sans MS" panose="030F0702030302020204" pitchFamily="66" charset="0"/>
                <a:cs typeface="Calibri" panose="020F0502020204030204"/>
              </a:rPr>
              <a:t>OMP_PROC_BIND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22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spread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Bind threads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as evenly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distributed (spread)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1995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possible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437515" lvl="1" indent="-279400">
              <a:lnSpc>
                <a:spcPct val="89000"/>
              </a:lnSpc>
              <a:spcBef>
                <a:spcPts val="475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close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Bind threads close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master thread while still distributing  threads for load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balancing,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wrap around once each place receives one  thread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275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master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Bind threads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same place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as 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master</a:t>
            </a:r>
            <a:r>
              <a:rPr sz="1995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thread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44304"/>
            <a:ext cx="10762906" cy="1243330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Nested OpenMP Thread Affinity Illustration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2528" y="1574369"/>
            <a:ext cx="5727860" cy="1017969"/>
          </a:xfrm>
          <a:prstGeom prst="rect">
            <a:avLst/>
          </a:prstGeom>
          <a:solidFill>
            <a:srgbClr val="CDDFEC"/>
          </a:solidFill>
        </p:spPr>
        <p:txBody>
          <a:bodyPr vert="horz" wrap="square" lIns="0" tIns="48004" rIns="0" bIns="0" rtlCol="0">
            <a:spAutoFit/>
          </a:bodyPr>
          <a:lstStyle/>
          <a:p>
            <a:pPr marL="90805" marR="1016635">
              <a:lnSpc>
                <a:spcPct val="100000"/>
              </a:lnSpc>
              <a:spcBef>
                <a:spcPts val="360"/>
              </a:spcBef>
            </a:pP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setenv OMP_PLACES threads  setenv OMP_NUM_THREADS</a:t>
            </a:r>
            <a:r>
              <a:rPr sz="21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4,4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90805">
              <a:lnSpc>
                <a:spcPct val="100000"/>
              </a:lnSpc>
            </a:pP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setenv OMP_PROC_BIND</a:t>
            </a:r>
            <a:r>
              <a:rPr sz="21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spread,close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2380" y="4168443"/>
            <a:ext cx="856774" cy="1811136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310" b="1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sp</a:t>
            </a:r>
            <a:r>
              <a:rPr sz="2310" b="1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read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835" dirty="0">
              <a:latin typeface="Comic Sans MS" panose="030F0702030302020204" pitchFamily="66" charset="0"/>
              <a:cs typeface="Calibri" panose="020F0502020204030204"/>
            </a:endParaRPr>
          </a:p>
          <a:p>
            <a:pPr marR="33655" algn="r">
              <a:lnSpc>
                <a:spcPct val="100000"/>
              </a:lnSpc>
              <a:spcBef>
                <a:spcPts val="2345"/>
              </a:spcBef>
            </a:pPr>
            <a:r>
              <a:rPr sz="2310" b="1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310" b="1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los</a:t>
            </a:r>
            <a:r>
              <a:rPr sz="2310" b="1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949" y="2817150"/>
            <a:ext cx="6677058" cy="3197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29837"/>
            <a:ext cx="2986088" cy="248285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75" dirty="0"/>
              <a:t>- </a:t>
            </a:r>
            <a:fld id="{81D60167-4931-47E6-BA6A-407CBD079E47}" type="slidenum">
              <a:rPr sz="1575" dirty="0"/>
              <a:t>100</a:t>
            </a:fld>
            <a:r>
              <a:rPr sz="1575" spc="-85" dirty="0"/>
              <a:t> </a:t>
            </a:r>
            <a:r>
              <a:rPr sz="1575" dirty="0"/>
              <a:t>-</a:t>
            </a:r>
          </a:p>
        </p:txBody>
      </p:sp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 Nested OpenMP Code</a:t>
            </a:r>
          </a:p>
        </p:txBody>
      </p:sp>
      <p:sp>
        <p:nvSpPr>
          <p:cNvPr id="3" name="object 3"/>
          <p:cNvSpPr/>
          <p:nvPr/>
        </p:nvSpPr>
        <p:spPr>
          <a:xfrm>
            <a:off x="928192" y="1352128"/>
            <a:ext cx="5485943" cy="5200650"/>
          </a:xfrm>
          <a:custGeom>
            <a:avLst/>
            <a:gdLst/>
            <a:ahLst/>
            <a:cxnLst/>
            <a:rect l="l" t="t" r="r" b="b"/>
            <a:pathLst>
              <a:path w="4127500" h="4953000">
                <a:moveTo>
                  <a:pt x="4127498" y="0"/>
                </a:moveTo>
                <a:lnTo>
                  <a:pt x="0" y="0"/>
                </a:lnTo>
                <a:lnTo>
                  <a:pt x="0" y="4952998"/>
                </a:lnTo>
                <a:lnTo>
                  <a:pt x="4127498" y="4952998"/>
                </a:lnTo>
                <a:lnTo>
                  <a:pt x="4127498" y="0"/>
                </a:lnTo>
                <a:close/>
              </a:path>
            </a:pathLst>
          </a:custGeom>
          <a:solidFill>
            <a:srgbClr val="E7EFF5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0240" y="1352128"/>
            <a:ext cx="4491823" cy="5048688"/>
          </a:xfrm>
          <a:prstGeom prst="rect">
            <a:avLst/>
          </a:prstGeom>
        </p:spPr>
        <p:txBody>
          <a:bodyPr vert="horz" wrap="square" lIns="0" tIns="29335" rIns="0" bIns="0" rtlCol="0">
            <a:spAutoFit/>
          </a:bodyPr>
          <a:lstStyle/>
          <a:p>
            <a:pPr marL="12700" marR="2138680">
              <a:lnSpc>
                <a:spcPts val="1600"/>
              </a:lnSpc>
              <a:spcBef>
                <a:spcPts val="220"/>
              </a:spcBef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#include &lt;omp.h&gt;  #include</a:t>
            </a:r>
            <a:r>
              <a:rPr sz="1470" b="1" spc="-6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&lt;stdio.h&gt;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660"/>
              </a:lnSpc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void report_num_threads(int</a:t>
            </a:r>
            <a:r>
              <a:rPr sz="1470" b="1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level)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ct val="100000"/>
              </a:lnSpc>
              <a:spcBef>
                <a:spcPts val="20"/>
              </a:spcBef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single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 marR="5080" indent="361315">
              <a:lnSpc>
                <a:spcPts val="1600"/>
              </a:lnSpc>
              <a:spcBef>
                <a:spcPts val="140"/>
              </a:spcBef>
            </a:pPr>
            <a:r>
              <a:rPr sz="1470" b="1" spc="40" dirty="0">
                <a:latin typeface="Comic Sans MS" panose="030F0702030302020204" pitchFamily="66" charset="0"/>
                <a:cs typeface="Calibri" panose="020F0502020204030204"/>
              </a:rPr>
              <a:t>prinl("Level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%d: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number of threads in</a:t>
            </a:r>
            <a:r>
              <a:rPr sz="1470" b="1" spc="-7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the  team: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%d\n", level,</a:t>
            </a:r>
            <a:r>
              <a:rPr sz="1470" b="1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omp_get_num_threads());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34010">
              <a:lnSpc>
                <a:spcPts val="1660"/>
              </a:lnSpc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int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 main()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64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ts val="1640"/>
              </a:lnSpc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omp_set_dynamic(0);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34010" marR="379095" indent="-161290">
              <a:lnSpc>
                <a:spcPct val="101000"/>
              </a:lnSpc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parallel num_threads(2)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 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report_num_threads(1);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94665" marR="217805" indent="-161290">
              <a:lnSpc>
                <a:spcPct val="101000"/>
              </a:lnSpc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parallel num_threads(2)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 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report_num_threads(2);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94665">
              <a:lnSpc>
                <a:spcPts val="1600"/>
              </a:lnSpc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parallel num_threads(2)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55320">
              <a:lnSpc>
                <a:spcPct val="100000"/>
              </a:lnSpc>
              <a:spcBef>
                <a:spcPts val="20"/>
              </a:spcBef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report_num_threads(3);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94665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34010">
              <a:lnSpc>
                <a:spcPts val="164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ts val="1640"/>
              </a:lnSpc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ct val="100000"/>
              </a:lnSpc>
              <a:spcBef>
                <a:spcPts val="20"/>
              </a:spcBef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return(0);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16824" y="1728242"/>
            <a:ext cx="5256584" cy="2267029"/>
          </a:xfrm>
          <a:prstGeom prst="rect">
            <a:avLst/>
          </a:prstGeom>
          <a:solidFill>
            <a:srgbClr val="F6D6D2"/>
          </a:solidFill>
        </p:spPr>
        <p:txBody>
          <a:bodyPr vert="horz" wrap="square" lIns="0" tIns="48004" rIns="0" bIns="0" rtlCol="0">
            <a:spAutoFit/>
          </a:bodyPr>
          <a:lstStyle/>
          <a:p>
            <a:pPr marL="90805" algn="just">
              <a:lnSpc>
                <a:spcPts val="1910"/>
              </a:lnSpc>
              <a:spcBef>
                <a:spcPts val="360"/>
              </a:spcBef>
            </a:pPr>
            <a:r>
              <a:rPr sz="1680" b="1" dirty="0">
                <a:latin typeface="Comic Sans MS" panose="030F0702030302020204" pitchFamily="66" charset="0"/>
                <a:cs typeface="Calibri" panose="020F0502020204030204"/>
              </a:rPr>
              <a:t>% </a:t>
            </a:r>
            <a:r>
              <a:rPr sz="168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setenv </a:t>
            </a:r>
            <a:r>
              <a:rPr sz="168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OMP_NESTED</a:t>
            </a:r>
            <a:r>
              <a:rPr sz="1680" b="1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TRUE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90805" algn="just">
              <a:lnSpc>
                <a:spcPts val="1900"/>
              </a:lnSpc>
            </a:pP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%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 a.out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90805" marR="480695" algn="just">
              <a:lnSpc>
                <a:spcPts val="1900"/>
              </a:lnSpc>
              <a:spcBef>
                <a:spcPts val="7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1: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2: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2: </a:t>
            </a:r>
            <a:r>
              <a:rPr lang="en-US" sz="1680" spc="-5" dirty="0">
                <a:latin typeface="Comic Sans MS" panose="030F0702030302020204" pitchFamily="66" charset="0"/>
                <a:cs typeface="Calibri" panose="020F0502020204030204"/>
              </a:rPr>
              <a:t>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</a:t>
            </a:r>
            <a:r>
              <a:rPr sz="168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</a:t>
            </a:r>
          </a:p>
          <a:p>
            <a:pPr marL="90805" marR="480695" algn="just">
              <a:lnSpc>
                <a:spcPts val="1900"/>
              </a:lnSpc>
              <a:spcBef>
                <a:spcPts val="10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</a:t>
            </a:r>
            <a:r>
              <a:rPr lang="en-US" sz="1680" spc="-5" dirty="0">
                <a:latin typeface="Comic Sans MS" panose="030F0702030302020204" pitchFamily="66" charset="0"/>
                <a:cs typeface="Calibri" panose="020F0502020204030204"/>
              </a:rPr>
              <a:t>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</a:t>
            </a:r>
            <a:r>
              <a:rPr sz="168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</a:t>
            </a:r>
          </a:p>
        </p:txBody>
      </p:sp>
      <p:sp>
        <p:nvSpPr>
          <p:cNvPr id="7" name="object 7"/>
          <p:cNvSpPr/>
          <p:nvPr/>
        </p:nvSpPr>
        <p:spPr>
          <a:xfrm>
            <a:off x="6616824" y="4680570"/>
            <a:ext cx="4200525" cy="1131475"/>
          </a:xfrm>
          <a:custGeom>
            <a:avLst/>
            <a:gdLst/>
            <a:ahLst/>
            <a:cxnLst/>
            <a:rect l="l" t="t" r="r" b="b"/>
            <a:pathLst>
              <a:path w="4000500" h="1077595">
                <a:moveTo>
                  <a:pt x="4000500" y="0"/>
                </a:moveTo>
                <a:lnTo>
                  <a:pt x="0" y="0"/>
                </a:lnTo>
                <a:lnTo>
                  <a:pt x="0" y="1077218"/>
                </a:lnTo>
                <a:lnTo>
                  <a:pt x="4000500" y="1077218"/>
                </a:lnTo>
                <a:lnTo>
                  <a:pt x="4000500" y="0"/>
                </a:lnTo>
                <a:close/>
              </a:path>
            </a:pathLst>
          </a:custGeom>
          <a:solidFill>
            <a:srgbClr val="F6D6D2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9503" y="4715241"/>
            <a:ext cx="3445713" cy="1011686"/>
          </a:xfrm>
          <a:prstGeom prst="rect">
            <a:avLst/>
          </a:prstGeom>
        </p:spPr>
        <p:txBody>
          <a:bodyPr vert="horz" wrap="square" lIns="0" tIns="24002" rIns="0" bIns="0" rtlCol="0">
            <a:spAutoFit/>
          </a:bodyPr>
          <a:lstStyle/>
          <a:p>
            <a:pPr marL="12700" marR="1691005">
              <a:lnSpc>
                <a:spcPts val="1900"/>
              </a:lnSpc>
              <a:spcBef>
                <a:spcPts val="18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0: P0  </a:t>
            </a:r>
            <a:endParaRPr lang="en-US" sz="1680" spc="-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 marR="1691005">
              <a:lnSpc>
                <a:spcPts val="1900"/>
              </a:lnSpc>
              <a:spcBef>
                <a:spcPts val="18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1: P0</a:t>
            </a:r>
            <a:r>
              <a:rPr sz="1680" spc="-7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P1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830"/>
              </a:lnSpc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2: P0 P2; P1</a:t>
            </a:r>
            <a:r>
              <a:rPr sz="168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P3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910"/>
              </a:lnSpc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P0 P4; P2 P5; P1 P6; P3</a:t>
            </a:r>
            <a:r>
              <a:rPr sz="168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P7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29837"/>
            <a:ext cx="2986088" cy="248285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75" dirty="0"/>
              <a:t>- </a:t>
            </a:r>
            <a:fld id="{81D60167-4931-47E6-BA6A-407CBD079E47}" type="slidenum">
              <a:rPr sz="1575" dirty="0"/>
              <a:t>101</a:t>
            </a:fld>
            <a:r>
              <a:rPr sz="1575" spc="-85" dirty="0"/>
              <a:t> </a:t>
            </a:r>
            <a:r>
              <a:rPr sz="1575" dirty="0"/>
              <a:t>-</a:t>
            </a:r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810209" cy="3526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anda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ems.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102235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bot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specia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ctions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ep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ocesso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b="1" spc="-7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agmas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5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ple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ther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than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ocesses.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433070" indent="-228600">
              <a:lnSpc>
                <a:spcPts val="3020"/>
              </a:lnSpc>
              <a:spcBef>
                <a:spcPts val="10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fied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 clause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90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882217" cy="4350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1562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major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oblem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elo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 me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poss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ity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ace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ondi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ide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mechanisms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ng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sections.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iti</a:t>
            </a: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52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0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Name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52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omi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52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Simpl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 loc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458281" cy="33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ault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blo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k-parti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loo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8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ari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ty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hedul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3045" dirty="0">
              <a:latin typeface="Times New Roman" panose="02020603050405020304"/>
              <a:cs typeface="Times New Roman" panose="02020603050405020304"/>
            </a:endParaRPr>
          </a:p>
          <a:p>
            <a:pPr marL="241300" marR="33020" indent="-228600">
              <a:lnSpc>
                <a:spcPts val="3020"/>
              </a:lnSpc>
              <a:spcBef>
                <a:spcPts val="17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ection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cessi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pc="-5" dirty="0">
                <a:sym typeface="+mn-ea"/>
              </a:rPr>
              <a:t>Concluding Remarks (4)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105</a:t>
            </a:fld>
            <a:endParaRPr sz="1575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83665" cy="1628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ompu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epe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app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ction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q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ue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ands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singl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1454</TotalTime>
  <Words>4492</Words>
  <Application>Microsoft Office PowerPoint</Application>
  <PresentationFormat>自定义</PresentationFormat>
  <Paragraphs>645</Paragraphs>
  <Slides>105</Slides>
  <Notes>92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105</vt:i4>
      </vt:variant>
    </vt:vector>
  </HeadingPairs>
  <TitlesOfParts>
    <vt:vector size="117" baseType="lpstr">
      <vt:lpstr>MS PGothic</vt:lpstr>
      <vt:lpstr>宋体</vt:lpstr>
      <vt:lpstr>微软雅黑</vt:lpstr>
      <vt:lpstr>Arial</vt:lpstr>
      <vt:lpstr>Bodoni MT</vt:lpstr>
      <vt:lpstr>Calibri</vt:lpstr>
      <vt:lpstr>Calibri Light</vt:lpstr>
      <vt:lpstr>Comic Sans MS</vt:lpstr>
      <vt:lpstr>Helvetica</vt:lpstr>
      <vt:lpstr>Times New Roman</vt:lpstr>
      <vt:lpstr>Wingdings</vt:lpstr>
      <vt:lpstr>教育部工程研究中心项目汇报-改</vt:lpstr>
      <vt:lpstr>PowerPoint 演示文稿</vt:lpstr>
      <vt:lpstr>PowerPoint 演示文稿</vt:lpstr>
      <vt:lpstr>Roadmap</vt:lpstr>
      <vt:lpstr>OpenMP</vt:lpstr>
      <vt:lpstr>A shared memory system</vt:lpstr>
      <vt:lpstr>Design Architecture</vt:lpstr>
      <vt:lpstr>Pragmas（编译程序指令）</vt:lpstr>
      <vt:lpstr>PowerPoint 演示文稿</vt:lpstr>
      <vt:lpstr>PowerPoint 演示文稿</vt:lpstr>
      <vt:lpstr>OpenMp pragmas</vt:lpstr>
      <vt:lpstr>PowerPoint 演示文稿</vt:lpstr>
      <vt:lpstr>Clause（子句）</vt:lpstr>
      <vt:lpstr>parallel num_threads </vt:lpstr>
      <vt:lpstr>Some terminology</vt:lpstr>
      <vt:lpstr>In case the compiler doesn’t support OpenMP</vt:lpstr>
      <vt:lpstr>In case the compiler doesn’t support OpenMP</vt:lpstr>
      <vt:lpstr>PowerPoint 演示文稿</vt:lpstr>
      <vt:lpstr>The trapezoidal rule</vt:lpstr>
      <vt:lpstr>Serial algorithm</vt:lpstr>
      <vt:lpstr>A First OpenMP Version</vt:lpstr>
      <vt:lpstr>A First OpenMP Version</vt:lpstr>
      <vt:lpstr>Assignment of trapezoids to threads</vt:lpstr>
      <vt:lpstr>Race condition</vt:lpstr>
      <vt:lpstr>Mutual exclusion</vt:lpstr>
      <vt:lpstr>PowerPoint 演示文稿</vt:lpstr>
      <vt:lpstr>PowerPoint 演示文稿</vt:lpstr>
      <vt:lpstr>PowerPoint 演示文稿</vt:lpstr>
      <vt:lpstr>Scope</vt:lpstr>
      <vt:lpstr>Scope in OpenMP</vt:lpstr>
      <vt:lpstr>PowerPoint 演示文稿</vt:lpstr>
      <vt:lpstr>PowerPoint 演示文稿</vt:lpstr>
      <vt:lpstr>PowerPoint 演示文稿</vt:lpstr>
      <vt:lpstr>PowerPoint 演示文稿</vt:lpstr>
      <vt:lpstr>Reduction operators</vt:lpstr>
      <vt:lpstr>PowerPoint 演示文稿</vt:lpstr>
      <vt:lpstr>PowerPoint 演示文稿</vt:lpstr>
      <vt:lpstr>Parallel for</vt:lpstr>
      <vt:lpstr>PowerPoint 演示文稿</vt:lpstr>
      <vt:lpstr>PowerPoint 演示文稿</vt:lpstr>
      <vt:lpstr>Caveats (注意事项）</vt:lpstr>
      <vt:lpstr>Caveats</vt:lpstr>
      <vt:lpstr>Data dependencies</vt:lpstr>
      <vt:lpstr>What happened?</vt:lpstr>
      <vt:lpstr>Estimating π</vt:lpstr>
      <vt:lpstr>OpenMP solution #1</vt:lpstr>
      <vt:lpstr>OpenMP solution #2</vt:lpstr>
      <vt:lpstr>Data sharing attributes</vt:lpstr>
      <vt:lpstr>Private clause</vt:lpstr>
      <vt:lpstr>Firstprivate clause</vt:lpstr>
      <vt:lpstr>Lastprivate clause</vt:lpstr>
      <vt:lpstr>default(none) clause</vt:lpstr>
      <vt:lpstr>Default clause</vt:lpstr>
      <vt:lpstr>PowerPoint 演示文稿</vt:lpstr>
      <vt:lpstr>Bubble Sort</vt:lpstr>
      <vt:lpstr>Serial Odd-Even Transposition Sort</vt:lpstr>
      <vt:lpstr>Serial Odd-Even Transposition Sort</vt:lpstr>
      <vt:lpstr>First OpenMP Odd-Even Sort</vt:lpstr>
      <vt:lpstr>Second OpenMP Odd-Even Sort</vt:lpstr>
      <vt:lpstr>PowerPoint 演示文稿</vt:lpstr>
      <vt:lpstr>PowerPoint 演示文稿</vt:lpstr>
      <vt:lpstr>PowerPoint 演示文稿</vt:lpstr>
      <vt:lpstr>PowerPoint 演示文稿</vt:lpstr>
      <vt:lpstr>Results</vt:lpstr>
      <vt:lpstr>Results</vt:lpstr>
      <vt:lpstr>Impact of Scheduling Decision</vt:lpstr>
      <vt:lpstr>The Schedule Clause</vt:lpstr>
      <vt:lpstr>schedule ( type , chunksize )</vt:lpstr>
      <vt:lpstr>twelve iterations, 0, 1, . . . , 11, and three threads</vt:lpstr>
      <vt:lpstr>The Static Schedule Type</vt:lpstr>
      <vt:lpstr>The Static Schedule Type</vt:lpstr>
      <vt:lpstr>The Dynamic Schedule Type</vt:lpstr>
      <vt:lpstr>The Guided Schedule Type</vt:lpstr>
      <vt:lpstr>PowerPoint 演示文稿</vt:lpstr>
      <vt:lpstr>The Runtime Schedule Type</vt:lpstr>
      <vt:lpstr>OpenMP parallel and for directives</vt:lpstr>
      <vt:lpstr>OpenMP environment variables</vt:lpstr>
      <vt:lpstr>PowerPoint 演示文稿</vt:lpstr>
      <vt:lpstr>Queues</vt:lpstr>
      <vt:lpstr>Message-Passing</vt:lpstr>
      <vt:lpstr>Message-Passing</vt:lpstr>
      <vt:lpstr>Sending Messages</vt:lpstr>
      <vt:lpstr>Receiving Messages</vt:lpstr>
      <vt:lpstr>Termination Detection</vt:lpstr>
      <vt:lpstr>Startup (1)</vt:lpstr>
      <vt:lpstr>Startup (2)</vt:lpstr>
      <vt:lpstr>The Atomic Directive (1)</vt:lpstr>
      <vt:lpstr>The Atomic Directive (2)</vt:lpstr>
      <vt:lpstr>Critical Sections with names</vt:lpstr>
      <vt:lpstr>Locks</vt:lpstr>
      <vt:lpstr>Locks</vt:lpstr>
      <vt:lpstr>Using Locks in the Message- Passing Program</vt:lpstr>
      <vt:lpstr>Using Locks in the Message- Passing Program</vt:lpstr>
      <vt:lpstr>Some Caveats</vt:lpstr>
      <vt:lpstr>Matrix-vector multiplication</vt:lpstr>
      <vt:lpstr>Matrix-vector multiplication</vt:lpstr>
      <vt:lpstr>PowerPoint 演示文稿</vt:lpstr>
      <vt:lpstr>OpenMP Execution Model</vt:lpstr>
      <vt:lpstr>Hopper/Edison Compute Nodes</vt:lpstr>
      <vt:lpstr>Thread Affinity Control in OpenMP 4.0</vt:lpstr>
      <vt:lpstr>Nested OpenMP Thread Affinity Illustration</vt:lpstr>
      <vt:lpstr>Sample Nested OpenMP Code</vt:lpstr>
      <vt:lpstr>Concluding Remarks (1)</vt:lpstr>
      <vt:lpstr>Concluding Remarks (2)</vt:lpstr>
      <vt:lpstr>Concluding Remarks (3)</vt:lpstr>
      <vt:lpstr>Concluding Remarks (4)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Lab317-Dan</cp:lastModifiedBy>
  <cp:revision>2561</cp:revision>
  <dcterms:created xsi:type="dcterms:W3CDTF">2016-05-19T09:43:00Z</dcterms:created>
  <dcterms:modified xsi:type="dcterms:W3CDTF">2025-02-23T13:20:32Z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A48B013DF63A4ED5808890432EA838A1</vt:lpwstr>
  </property>
</Properties>
</file>