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321" r:id="rId2"/>
    <p:sldId id="322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0" r:id="rId12"/>
    <p:sldId id="266" r:id="rId13"/>
    <p:sldId id="269" r:id="rId14"/>
  </p:sldIdLst>
  <p:sldSz cx="10972800" cy="6172200"/>
  <p:notesSz cx="10972800" cy="6172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908">
          <p15:clr>
            <a:srgbClr val="A4A3A4"/>
          </p15:clr>
        </p15:guide>
        <p15:guide id="2" pos="2199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Xiuyuan DENG" initials="XD" lastIdx="1" clrIdx="0"/>
  <p:cmAuthor id="2" name="Betty Mo" initials="BM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9"/>
    <p:restoredTop sz="94676"/>
  </p:normalViewPr>
  <p:slideViewPr>
    <p:cSldViewPr>
      <p:cViewPr varScale="1">
        <p:scale>
          <a:sx n="104" d="100"/>
          <a:sy n="104" d="100"/>
        </p:scale>
        <p:origin x="254" y="86"/>
      </p:cViewPr>
      <p:guideLst>
        <p:guide orient="horz" pos="2908"/>
        <p:guide pos="219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822960" y="1917387"/>
            <a:ext cx="9326880" cy="1323022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645920" y="3497580"/>
            <a:ext cx="7680960" cy="157734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11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22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344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6459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4688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8803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2918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548640" y="5720720"/>
            <a:ext cx="2560320" cy="3286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2016-04-18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749040" y="5720720"/>
            <a:ext cx="3474720" cy="3286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7863840" y="5720720"/>
            <a:ext cx="2560320" cy="3286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F68671A-1028-4918-B52D-F225EDA688D1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48641" y="122868"/>
            <a:ext cx="9628567" cy="493522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48640" y="925860"/>
            <a:ext cx="9875520" cy="4073367"/>
          </a:xfrm>
          <a:prstGeom prst="rect">
            <a:avLst/>
          </a:prstGeom>
        </p:spPr>
        <p:txBody>
          <a:bodyPr/>
          <a:lstStyle>
            <a:lvl2pPr marL="882015" indent="-391795">
              <a:buFont typeface="Arial" panose="020B0604020202020204" pitchFamily="34" charset="0"/>
              <a:buChar char="»"/>
              <a:defRPr/>
            </a:lvl2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548640" y="5720720"/>
            <a:ext cx="2560320" cy="3286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2016-04-18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749040" y="5720720"/>
            <a:ext cx="3474720" cy="3286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7863840" y="5720720"/>
            <a:ext cx="2560320" cy="3286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A40A734-EF3B-425E-9970-80954DDB0807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66777" y="3966215"/>
            <a:ext cx="9326880" cy="1225868"/>
          </a:xfrm>
          <a:prstGeom prst="rect">
            <a:avLst/>
          </a:prstGeom>
        </p:spPr>
        <p:txBody>
          <a:bodyPr anchor="t"/>
          <a:lstStyle>
            <a:lvl1pPr algn="l">
              <a:defRPr sz="36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66777" y="2616042"/>
            <a:ext cx="9326880" cy="135016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11480" indent="0">
              <a:buNone/>
              <a:defRPr sz="1620">
                <a:solidFill>
                  <a:schemeClr val="tx1">
                    <a:tint val="75000"/>
                  </a:schemeClr>
                </a:solidFill>
              </a:defRPr>
            </a:lvl2pPr>
            <a:lvl3pPr marL="822960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3pPr>
            <a:lvl4pPr marL="123444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4pPr>
            <a:lvl5pPr marL="164592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5pPr>
            <a:lvl6pPr marL="205740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6pPr>
            <a:lvl7pPr marL="246888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7pPr>
            <a:lvl8pPr marL="288036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8pPr>
            <a:lvl9pPr marL="329184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548640" y="5720720"/>
            <a:ext cx="2560320" cy="3286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2016-04-18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749040" y="5720720"/>
            <a:ext cx="3474720" cy="3286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7863840" y="5720720"/>
            <a:ext cx="2560320" cy="3286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F44B76-BDB5-48DA-9429-18FB768FED70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48640" y="247174"/>
            <a:ext cx="9875520" cy="10287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48640" y="1440185"/>
            <a:ext cx="4846320" cy="4073367"/>
          </a:xfrm>
          <a:prstGeom prst="rect">
            <a:avLst/>
          </a:prstGeom>
        </p:spPr>
        <p:txBody>
          <a:bodyPr/>
          <a:lstStyle>
            <a:lvl1pPr>
              <a:defRPr sz="2520"/>
            </a:lvl1pPr>
            <a:lvl2pPr>
              <a:defRPr sz="2160"/>
            </a:lvl2pPr>
            <a:lvl3pPr>
              <a:defRPr sz="1800"/>
            </a:lvl3pPr>
            <a:lvl4pPr>
              <a:defRPr sz="1620"/>
            </a:lvl4pPr>
            <a:lvl5pPr>
              <a:defRPr sz="1620"/>
            </a:lvl5pPr>
            <a:lvl6pPr>
              <a:defRPr sz="1620"/>
            </a:lvl6pPr>
            <a:lvl7pPr>
              <a:defRPr sz="1620"/>
            </a:lvl7pPr>
            <a:lvl8pPr>
              <a:defRPr sz="1620"/>
            </a:lvl8pPr>
            <a:lvl9pPr>
              <a:defRPr sz="162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577841" y="1440185"/>
            <a:ext cx="4846320" cy="4073367"/>
          </a:xfrm>
          <a:prstGeom prst="rect">
            <a:avLst/>
          </a:prstGeom>
        </p:spPr>
        <p:txBody>
          <a:bodyPr/>
          <a:lstStyle>
            <a:lvl1pPr>
              <a:defRPr sz="2520"/>
            </a:lvl1pPr>
            <a:lvl2pPr>
              <a:defRPr sz="2160"/>
            </a:lvl2pPr>
            <a:lvl3pPr>
              <a:defRPr sz="1800"/>
            </a:lvl3pPr>
            <a:lvl4pPr>
              <a:defRPr sz="1620"/>
            </a:lvl4pPr>
            <a:lvl5pPr>
              <a:defRPr sz="1620"/>
            </a:lvl5pPr>
            <a:lvl6pPr>
              <a:defRPr sz="1620"/>
            </a:lvl6pPr>
            <a:lvl7pPr>
              <a:defRPr sz="1620"/>
            </a:lvl7pPr>
            <a:lvl8pPr>
              <a:defRPr sz="1620"/>
            </a:lvl8pPr>
            <a:lvl9pPr>
              <a:defRPr sz="162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>
          <a:xfrm>
            <a:off x="548640" y="5720720"/>
            <a:ext cx="2560320" cy="3286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2016-04-18</a:t>
            </a:r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749040" y="5720720"/>
            <a:ext cx="3474720" cy="3286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7863840" y="5720720"/>
            <a:ext cx="2560320" cy="3286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9D35798-1DC4-447E-97F5-D240AF3B9805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48640" y="247174"/>
            <a:ext cx="9875520" cy="10287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48640" y="1381602"/>
            <a:ext cx="4848225" cy="575786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160" b="1"/>
            </a:lvl1pPr>
            <a:lvl2pPr marL="411480" indent="0">
              <a:buNone/>
              <a:defRPr sz="1800" b="1"/>
            </a:lvl2pPr>
            <a:lvl3pPr marL="822960" indent="0">
              <a:buNone/>
              <a:defRPr sz="1620" b="1"/>
            </a:lvl3pPr>
            <a:lvl4pPr marL="1234440" indent="0">
              <a:buNone/>
              <a:defRPr sz="1440" b="1"/>
            </a:lvl4pPr>
            <a:lvl5pPr marL="1645920" indent="0">
              <a:buNone/>
              <a:defRPr sz="1440" b="1"/>
            </a:lvl5pPr>
            <a:lvl6pPr marL="2057400" indent="0">
              <a:buNone/>
              <a:defRPr sz="1440" b="1"/>
            </a:lvl6pPr>
            <a:lvl7pPr marL="2468880" indent="0">
              <a:buNone/>
              <a:defRPr sz="1440" b="1"/>
            </a:lvl7pPr>
            <a:lvl8pPr marL="2880360" indent="0">
              <a:buNone/>
              <a:defRPr sz="1440" b="1"/>
            </a:lvl8pPr>
            <a:lvl9pPr marL="3291840" indent="0">
              <a:buNone/>
              <a:defRPr sz="144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48640" y="1957388"/>
            <a:ext cx="4848225" cy="3556159"/>
          </a:xfrm>
          <a:prstGeom prst="rect">
            <a:avLst/>
          </a:prstGeom>
        </p:spPr>
        <p:txBody>
          <a:bodyPr/>
          <a:lstStyle>
            <a:lvl1pPr>
              <a:defRPr sz="2160"/>
            </a:lvl1pPr>
            <a:lvl2pPr>
              <a:defRPr sz="1800"/>
            </a:lvl2pPr>
            <a:lvl3pPr>
              <a:defRPr sz="1620"/>
            </a:lvl3pPr>
            <a:lvl4pPr>
              <a:defRPr sz="1440"/>
            </a:lvl4pPr>
            <a:lvl5pPr>
              <a:defRPr sz="1440"/>
            </a:lvl5pPr>
            <a:lvl6pPr>
              <a:defRPr sz="1440"/>
            </a:lvl6pPr>
            <a:lvl7pPr>
              <a:defRPr sz="1440"/>
            </a:lvl7pPr>
            <a:lvl8pPr>
              <a:defRPr sz="1440"/>
            </a:lvl8pPr>
            <a:lvl9pPr>
              <a:defRPr sz="144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574034" y="1381602"/>
            <a:ext cx="4850130" cy="575786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160" b="1"/>
            </a:lvl1pPr>
            <a:lvl2pPr marL="411480" indent="0">
              <a:buNone/>
              <a:defRPr sz="1800" b="1"/>
            </a:lvl2pPr>
            <a:lvl3pPr marL="822960" indent="0">
              <a:buNone/>
              <a:defRPr sz="1620" b="1"/>
            </a:lvl3pPr>
            <a:lvl4pPr marL="1234440" indent="0">
              <a:buNone/>
              <a:defRPr sz="1440" b="1"/>
            </a:lvl4pPr>
            <a:lvl5pPr marL="1645920" indent="0">
              <a:buNone/>
              <a:defRPr sz="1440" b="1"/>
            </a:lvl5pPr>
            <a:lvl6pPr marL="2057400" indent="0">
              <a:buNone/>
              <a:defRPr sz="1440" b="1"/>
            </a:lvl6pPr>
            <a:lvl7pPr marL="2468880" indent="0">
              <a:buNone/>
              <a:defRPr sz="1440" b="1"/>
            </a:lvl7pPr>
            <a:lvl8pPr marL="2880360" indent="0">
              <a:buNone/>
              <a:defRPr sz="1440" b="1"/>
            </a:lvl8pPr>
            <a:lvl9pPr marL="3291840" indent="0">
              <a:buNone/>
              <a:defRPr sz="144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574034" y="1957388"/>
            <a:ext cx="4850130" cy="3556159"/>
          </a:xfrm>
          <a:prstGeom prst="rect">
            <a:avLst/>
          </a:prstGeom>
        </p:spPr>
        <p:txBody>
          <a:bodyPr/>
          <a:lstStyle>
            <a:lvl1pPr>
              <a:defRPr sz="2160"/>
            </a:lvl1pPr>
            <a:lvl2pPr>
              <a:defRPr sz="1800"/>
            </a:lvl2pPr>
            <a:lvl3pPr>
              <a:defRPr sz="1620"/>
            </a:lvl3pPr>
            <a:lvl4pPr>
              <a:defRPr sz="1440"/>
            </a:lvl4pPr>
            <a:lvl5pPr>
              <a:defRPr sz="1440"/>
            </a:lvl5pPr>
            <a:lvl6pPr>
              <a:defRPr sz="1440"/>
            </a:lvl6pPr>
            <a:lvl7pPr>
              <a:defRPr sz="1440"/>
            </a:lvl7pPr>
            <a:lvl8pPr>
              <a:defRPr sz="1440"/>
            </a:lvl8pPr>
            <a:lvl9pPr>
              <a:defRPr sz="144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>
          <a:xfrm>
            <a:off x="548640" y="5720720"/>
            <a:ext cx="2560320" cy="3286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2016-04-18</a:t>
            </a:r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749040" y="5720720"/>
            <a:ext cx="3474720" cy="3286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7863840" y="5720720"/>
            <a:ext cx="2560320" cy="3286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FFB9FFA-BBF7-4E6B-ACD4-E99548C5776B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48640" y="247174"/>
            <a:ext cx="9875520" cy="10287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>
          <a:xfrm>
            <a:off x="548640" y="5720720"/>
            <a:ext cx="2560320" cy="3286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2016-04-18</a:t>
            </a:r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749040" y="5720720"/>
            <a:ext cx="3474720" cy="3286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7863840" y="5720720"/>
            <a:ext cx="2560320" cy="3286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A78C75F-3921-4200-A546-C4950D0184B6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>
          <a:xfrm>
            <a:off x="548640" y="5720720"/>
            <a:ext cx="2560320" cy="3286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2016-04-18</a:t>
            </a:r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749040" y="5720720"/>
            <a:ext cx="3474720" cy="3286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7863840" y="5720720"/>
            <a:ext cx="2560320" cy="3286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7694E68-0D6D-410C-8C00-3741D352D069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48643" y="245745"/>
            <a:ext cx="3609975" cy="1045845"/>
          </a:xfrm>
          <a:prstGeom prst="rect">
            <a:avLst/>
          </a:prstGeom>
        </p:spPr>
        <p:txBody>
          <a:bodyPr anchor="b"/>
          <a:lstStyle>
            <a:lvl1pPr algn="l">
              <a:defRPr sz="18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290063" y="245750"/>
            <a:ext cx="6134100" cy="5267802"/>
          </a:xfrm>
          <a:prstGeom prst="rect">
            <a:avLst/>
          </a:prstGeom>
        </p:spPr>
        <p:txBody>
          <a:bodyPr/>
          <a:lstStyle>
            <a:lvl1pPr>
              <a:defRPr sz="2880"/>
            </a:lvl1pPr>
            <a:lvl2pPr>
              <a:defRPr sz="2520"/>
            </a:lvl2pPr>
            <a:lvl3pPr>
              <a:defRPr sz="216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48643" y="1291593"/>
            <a:ext cx="3609975" cy="422195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60"/>
            </a:lvl1pPr>
            <a:lvl2pPr marL="411480" indent="0">
              <a:buNone/>
              <a:defRPr sz="1080"/>
            </a:lvl2pPr>
            <a:lvl3pPr marL="822960" indent="0">
              <a:buNone/>
              <a:defRPr sz="900"/>
            </a:lvl3pPr>
            <a:lvl4pPr marL="1234440" indent="0">
              <a:buNone/>
              <a:defRPr sz="810"/>
            </a:lvl4pPr>
            <a:lvl5pPr marL="1645920" indent="0">
              <a:buNone/>
              <a:defRPr sz="810"/>
            </a:lvl5pPr>
            <a:lvl6pPr marL="2057400" indent="0">
              <a:buNone/>
              <a:defRPr sz="810"/>
            </a:lvl6pPr>
            <a:lvl7pPr marL="2468880" indent="0">
              <a:buNone/>
              <a:defRPr sz="810"/>
            </a:lvl7pPr>
            <a:lvl8pPr marL="2880360" indent="0">
              <a:buNone/>
              <a:defRPr sz="810"/>
            </a:lvl8pPr>
            <a:lvl9pPr marL="3291840" indent="0">
              <a:buNone/>
              <a:defRPr sz="81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>
          <a:xfrm>
            <a:off x="548640" y="5720720"/>
            <a:ext cx="2560320" cy="3286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2016-04-18</a:t>
            </a:r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749040" y="5720720"/>
            <a:ext cx="3474720" cy="3286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7863840" y="5720720"/>
            <a:ext cx="2560320" cy="3286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75CE17F-E7E8-4836-8B19-28E882EF05B9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50745" y="4320541"/>
            <a:ext cx="6583680" cy="510064"/>
          </a:xfrm>
          <a:prstGeom prst="rect">
            <a:avLst/>
          </a:prstGeom>
        </p:spPr>
        <p:txBody>
          <a:bodyPr anchor="b"/>
          <a:lstStyle>
            <a:lvl1pPr algn="l">
              <a:defRPr sz="18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150745" y="551498"/>
            <a:ext cx="6583680" cy="3703320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None/>
              <a:defRPr sz="2880"/>
            </a:lvl1pPr>
            <a:lvl2pPr marL="411480" indent="0">
              <a:buNone/>
              <a:defRPr sz="2520"/>
            </a:lvl2pPr>
            <a:lvl3pPr marL="822960" indent="0">
              <a:buNone/>
              <a:defRPr sz="2160"/>
            </a:lvl3pPr>
            <a:lvl4pPr marL="1234440" indent="0">
              <a:buNone/>
              <a:defRPr sz="1800"/>
            </a:lvl4pPr>
            <a:lvl5pPr marL="1645920" indent="0">
              <a:buNone/>
              <a:defRPr sz="1800"/>
            </a:lvl5pPr>
            <a:lvl6pPr marL="2057400" indent="0">
              <a:buNone/>
              <a:defRPr sz="1800"/>
            </a:lvl6pPr>
            <a:lvl7pPr marL="2468880" indent="0">
              <a:buNone/>
              <a:defRPr sz="1800"/>
            </a:lvl7pPr>
            <a:lvl8pPr marL="2880360" indent="0">
              <a:buNone/>
              <a:defRPr sz="1800"/>
            </a:lvl8pPr>
            <a:lvl9pPr marL="3291840" indent="0">
              <a:buNone/>
              <a:defRPr sz="18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150745" y="4830605"/>
            <a:ext cx="6583680" cy="7243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60"/>
            </a:lvl1pPr>
            <a:lvl2pPr marL="411480" indent="0">
              <a:buNone/>
              <a:defRPr sz="1080"/>
            </a:lvl2pPr>
            <a:lvl3pPr marL="822960" indent="0">
              <a:buNone/>
              <a:defRPr sz="900"/>
            </a:lvl3pPr>
            <a:lvl4pPr marL="1234440" indent="0">
              <a:buNone/>
              <a:defRPr sz="810"/>
            </a:lvl4pPr>
            <a:lvl5pPr marL="1645920" indent="0">
              <a:buNone/>
              <a:defRPr sz="810"/>
            </a:lvl5pPr>
            <a:lvl6pPr marL="2057400" indent="0">
              <a:buNone/>
              <a:defRPr sz="810"/>
            </a:lvl6pPr>
            <a:lvl7pPr marL="2468880" indent="0">
              <a:buNone/>
              <a:defRPr sz="810"/>
            </a:lvl7pPr>
            <a:lvl8pPr marL="2880360" indent="0">
              <a:buNone/>
              <a:defRPr sz="810"/>
            </a:lvl8pPr>
            <a:lvl9pPr marL="3291840" indent="0">
              <a:buNone/>
              <a:defRPr sz="81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>
          <a:xfrm>
            <a:off x="548640" y="5720720"/>
            <a:ext cx="2560320" cy="3286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2016-04-18</a:t>
            </a:r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749040" y="5720720"/>
            <a:ext cx="3474720" cy="3286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7863840" y="5720720"/>
            <a:ext cx="2560320" cy="3286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0D8648-5A27-46B1-9DFF-F43427A188ED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48640" y="247174"/>
            <a:ext cx="9875520" cy="10287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48640" y="1440185"/>
            <a:ext cx="9875520" cy="4073367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548640" y="5720720"/>
            <a:ext cx="2560320" cy="3286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2016-04-18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749040" y="5720720"/>
            <a:ext cx="3474720" cy="3286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7863840" y="5720720"/>
            <a:ext cx="2560320" cy="3286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6AFD8D9-97CE-47AB-99B6-669B4E33450F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955280" y="247179"/>
            <a:ext cx="2468880" cy="5266372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48640" y="247179"/>
            <a:ext cx="7223760" cy="52663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548640" y="5720720"/>
            <a:ext cx="2560320" cy="3286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2016-04-18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749040" y="5720720"/>
            <a:ext cx="3474720" cy="3286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7863840" y="5720720"/>
            <a:ext cx="2560320" cy="3286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4D234CD-C4BF-451E-A810-76886530BD7F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占位符 1"/>
          <p:cNvSpPr>
            <a:spLocks noGrp="1"/>
          </p:cNvSpPr>
          <p:nvPr>
            <p:ph type="title"/>
          </p:nvPr>
        </p:nvSpPr>
        <p:spPr>
          <a:xfrm>
            <a:off x="1536247" y="165887"/>
            <a:ext cx="8515478" cy="493047"/>
          </a:xfrm>
          <a:prstGeom prst="rect">
            <a:avLst/>
          </a:prstGeom>
          <a:noFill/>
          <a:ln w="9525">
            <a:noFill/>
          </a:ln>
        </p:spPr>
        <p:txBody>
          <a:bodyPr lIns="114181" tIns="57091" rIns="114181" bIns="57091" anchor="ctr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8" name="文本占位符 2"/>
          <p:cNvSpPr>
            <a:spLocks noGrp="1"/>
          </p:cNvSpPr>
          <p:nvPr>
            <p:ph type="body" idx="1"/>
          </p:nvPr>
        </p:nvSpPr>
        <p:spPr>
          <a:xfrm>
            <a:off x="549729" y="987581"/>
            <a:ext cx="9873343" cy="4095781"/>
          </a:xfrm>
          <a:prstGeom prst="rect">
            <a:avLst/>
          </a:prstGeom>
          <a:noFill/>
          <a:ln w="9525">
            <a:noFill/>
          </a:ln>
        </p:spPr>
        <p:txBody>
          <a:bodyPr lIns="114181" tIns="57091" rIns="114181" bIns="57091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marL="925830" lvl="1" indent="-354330" algn="l" defTabSz="1139825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</a:pPr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9" name="日期占位符 3"/>
          <p:cNvSpPr>
            <a:spLocks noGrp="1"/>
          </p:cNvSpPr>
          <p:nvPr>
            <p:ph type="dt" sz="half" idx="2"/>
          </p:nvPr>
        </p:nvSpPr>
        <p:spPr>
          <a:xfrm>
            <a:off x="549729" y="5720443"/>
            <a:ext cx="2559504" cy="329293"/>
          </a:xfrm>
          <a:prstGeom prst="rect">
            <a:avLst/>
          </a:prstGeom>
        </p:spPr>
        <p:txBody>
          <a:bodyPr vert="horz" wrap="square" lIns="114181" tIns="57091" rIns="114181" bIns="57091" numCol="1" anchor="ctr" anchorCtr="0" compatLnSpc="1"/>
          <a:lstStyle>
            <a:lvl1pPr eaLnBrk="1" hangingPunct="1">
              <a:defRPr sz="1285">
                <a:solidFill>
                  <a:srgbClr val="898989"/>
                </a:solidFill>
              </a:defRPr>
            </a:lvl1pPr>
          </a:lstStyle>
          <a:p>
            <a:pPr marL="0" marR="0" lvl="0" indent="0" algn="l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BA475E7-221C-4D4C-9E76-BE926D4F7B19}" type="datetimeFigureOut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2024/12/26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页脚占位符 4"/>
          <p:cNvSpPr>
            <a:spLocks noGrp="1"/>
          </p:cNvSpPr>
          <p:nvPr>
            <p:ph type="ftr" sz="quarter" idx="3"/>
          </p:nvPr>
        </p:nvSpPr>
        <p:spPr>
          <a:xfrm>
            <a:off x="3748768" y="5720443"/>
            <a:ext cx="3475264" cy="329293"/>
          </a:xfrm>
          <a:prstGeom prst="rect">
            <a:avLst/>
          </a:prstGeom>
        </p:spPr>
        <p:txBody>
          <a:bodyPr vert="horz" lIns="114181" tIns="57091" rIns="114181" bIns="57091" rtlCol="0" anchor="ctr"/>
          <a:lstStyle>
            <a:lvl1pPr algn="ctr" defTabSz="1141730" eaLnBrk="1" fontAlgn="auto" hangingPunct="1">
              <a:spcBef>
                <a:spcPts val="0"/>
              </a:spcBef>
              <a:spcAft>
                <a:spcPts val="0"/>
              </a:spcAft>
              <a:defRPr sz="1285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ctr" defTabSz="11417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140409" y="5710193"/>
            <a:ext cx="2559504" cy="329293"/>
          </a:xfrm>
          <a:prstGeom prst="rect">
            <a:avLst/>
          </a:prstGeom>
        </p:spPr>
        <p:txBody>
          <a:bodyPr vert="horz" wrap="square" lIns="114181" tIns="57091" rIns="114181" bIns="57091" numCol="1" anchor="ctr" anchorCtr="0" compatLnSpc="1"/>
          <a:lstStyle>
            <a:lvl1pPr algn="r" eaLnBrk="1" hangingPunct="1">
              <a:defRPr sz="1285">
                <a:solidFill>
                  <a:srgbClr val="898989"/>
                </a:solidFill>
              </a:defRPr>
            </a:lvl1pPr>
          </a:lstStyle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12" name="图片 5"/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54085" y="42295"/>
            <a:ext cx="794657" cy="7402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lang="zh-CN" altLang="en-US" sz="3430" b="1" kern="1200" dirty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62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62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62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62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5pPr>
      <a:lvl6pPr marL="480060" algn="ctr" rtl="0" fontAlgn="base">
        <a:spcBef>
          <a:spcPct val="0"/>
        </a:spcBef>
        <a:spcAft>
          <a:spcPct val="0"/>
        </a:spcAft>
        <a:defRPr sz="462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960120" algn="ctr" rtl="0" fontAlgn="base">
        <a:spcBef>
          <a:spcPct val="0"/>
        </a:spcBef>
        <a:spcAft>
          <a:spcPct val="0"/>
        </a:spcAft>
        <a:defRPr sz="462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440180" algn="ctr" rtl="0" fontAlgn="base">
        <a:spcBef>
          <a:spcPct val="0"/>
        </a:spcBef>
        <a:spcAft>
          <a:spcPct val="0"/>
        </a:spcAft>
        <a:defRPr sz="462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1920240" algn="ctr" rtl="0" fontAlgn="base">
        <a:spcBef>
          <a:spcPct val="0"/>
        </a:spcBef>
        <a:spcAft>
          <a:spcPct val="0"/>
        </a:spcAft>
        <a:defRPr sz="462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308610" indent="-308610" algn="l" rtl="0" eaLnBrk="0" fontAlgn="base" hangingPunct="0">
        <a:spcBef>
          <a:spcPct val="17000"/>
        </a:spcBef>
        <a:spcAft>
          <a:spcPct val="0"/>
        </a:spcAft>
        <a:buFont typeface="Arial" panose="020B0604020202020204" pitchFamily="34" charset="0"/>
        <a:buChar char="»"/>
        <a:defRPr kumimoji="1" lang="zh-CN" altLang="en-US" sz="3085" b="1" kern="1200" dirty="0">
          <a:solidFill>
            <a:srgbClr val="0070C0"/>
          </a:solidFill>
          <a:latin typeface="微软雅黑" panose="020B0503020204020204" charset="-122"/>
          <a:ea typeface="微软雅黑" panose="020B0503020204020204" charset="-122"/>
          <a:cs typeface="+mn-cs"/>
        </a:defRPr>
      </a:lvl1pPr>
      <a:lvl2pPr marL="882015" indent="-391795" algn="l" rtl="0" eaLnBrk="0" fontAlgn="base" hangingPunct="0">
        <a:spcBef>
          <a:spcPct val="17000"/>
        </a:spcBef>
        <a:spcAft>
          <a:spcPct val="0"/>
        </a:spcAft>
        <a:buFont typeface="Arial" panose="020B0604020202020204" pitchFamily="34" charset="0"/>
        <a:buChar char="–"/>
        <a:defRPr kumimoji="1" lang="zh-CN" altLang="en-US" sz="2745" b="1" kern="1200" dirty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2pPr>
      <a:lvl3pPr marL="1028700" indent="-205740" algn="l" rtl="0" eaLnBrk="0" fontAlgn="base" hangingPunct="0">
        <a:spcBef>
          <a:spcPct val="17000"/>
        </a:spcBef>
        <a:spcAft>
          <a:spcPct val="0"/>
        </a:spcAft>
        <a:buFont typeface="Arial" panose="020B0604020202020204" pitchFamily="34" charset="0"/>
        <a:buChar char="»"/>
        <a:defRPr kumimoji="1" lang="zh-CN" altLang="en-US" sz="2400" b="1" kern="1200" dirty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3pPr>
      <a:lvl4pPr marL="1440180" indent="-205740" algn="l" rtl="0" eaLnBrk="0" fontAlgn="base" hangingPunct="0">
        <a:spcBef>
          <a:spcPct val="17000"/>
        </a:spcBef>
        <a:spcAft>
          <a:spcPct val="0"/>
        </a:spcAft>
        <a:buFont typeface="Arial" panose="020B0604020202020204" pitchFamily="34" charset="0"/>
        <a:buChar char="»"/>
        <a:defRPr kumimoji="1" lang="zh-CN" altLang="en-US" sz="2055" b="1" kern="1200" dirty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4pPr>
      <a:lvl5pPr marL="1851660" indent="-205740" algn="l" rtl="0" eaLnBrk="0" fontAlgn="base" hangingPunct="0">
        <a:spcBef>
          <a:spcPct val="17000"/>
        </a:spcBef>
        <a:spcAft>
          <a:spcPct val="0"/>
        </a:spcAft>
        <a:buFont typeface="Arial" panose="020B0604020202020204" pitchFamily="34" charset="0"/>
        <a:buChar char="»"/>
        <a:defRPr kumimoji="1" lang="zh-CN" altLang="en-US" sz="1715" b="1" kern="1200" dirty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5pPr>
      <a:lvl6pPr marL="2263140" indent="-205740" algn="l" defTabSz="822325" rtl="0" eaLnBrk="1" latinLnBrk="0" hangingPunct="1">
        <a:spcBef>
          <a:spcPct val="17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674620" indent="-205740" algn="l" defTabSz="822325" rtl="0" eaLnBrk="1" latinLnBrk="0" hangingPunct="1">
        <a:spcBef>
          <a:spcPct val="17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086100" indent="-205740" algn="l" defTabSz="822325" rtl="0" eaLnBrk="1" latinLnBrk="0" hangingPunct="1">
        <a:spcBef>
          <a:spcPct val="17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497580" indent="-205740" algn="l" defTabSz="822325" rtl="0" eaLnBrk="1" latinLnBrk="0" hangingPunct="1">
        <a:spcBef>
          <a:spcPct val="17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822325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1pPr>
      <a:lvl2pPr marL="411480" algn="l" defTabSz="822325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algn="l" defTabSz="822325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3pPr>
      <a:lvl4pPr marL="1234440" algn="l" defTabSz="822325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4pPr>
      <a:lvl5pPr marL="1645920" algn="l" defTabSz="822325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algn="l" defTabSz="822325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6pPr>
      <a:lvl7pPr marL="2468880" algn="l" defTabSz="822325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7pPr>
      <a:lvl8pPr marL="2880360" algn="l" defTabSz="822325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8pPr>
      <a:lvl9pPr marL="3291840" algn="l" defTabSz="822325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nvidia.com/content/GTC-2010/pdfs/2012_GTC2010.pdf" TargetMode="External"/><Relationship Id="rId2" Type="http://schemas.openxmlformats.org/officeDocument/2006/relationships/hyperlink" Target="http://on-demand.gputechconf.com/gtc/2012/presentations/S0514-GTC2012-GPU-Performance-Analysis.pdf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371600" y="2010728"/>
            <a:ext cx="8610600" cy="1231106"/>
          </a:xfrm>
        </p:spPr>
        <p:txBody>
          <a:bodyPr>
            <a:noAutofit/>
          </a:bodyPr>
          <a:lstStyle/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lang="en-US" altLang="zh-CN" sz="3200" b="1" spc="-5" dirty="0">
                <a:latin typeface="Comic Sans MS" panose="030F0702030302020204" pitchFamily="66" charset="0"/>
                <a:cs typeface="Calibri Light" panose="020F0302020204030204" pitchFamily="34" charset="0"/>
              </a:rPr>
              <a:t>GPU PERFORMANCE  ANALYSIS</a:t>
            </a:r>
            <a:endParaRPr lang="en-US" sz="2000" dirty="0">
              <a:latin typeface="Comic Sans MS" panose="030F0702030302020204" pitchFamily="66" charset="0"/>
              <a:cs typeface="Calibri Light" panose="020F0302020204030204" pitchFamily="34" charset="0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295400" y="3234139"/>
            <a:ext cx="8229600" cy="607165"/>
          </a:xfrm>
        </p:spPr>
        <p:txBody>
          <a:bodyPr>
            <a:normAutofit fontScale="95000"/>
          </a:bodyPr>
          <a:lstStyle/>
          <a:p>
            <a:r>
              <a:rPr lang="en-US" altLang="zh-CN" sz="2000" b="1" dirty="0">
                <a:solidFill>
                  <a:srgbClr val="76B900"/>
                </a:solidFill>
                <a:latin typeface="Comic Sans MS" panose="030F0702030302020204" pitchFamily="66" charset="0"/>
                <a:cs typeface="Calibri Light" panose="020F0302020204030204" pitchFamily="34" charset="0"/>
              </a:rPr>
              <a:t>Bob </a:t>
            </a:r>
            <a:r>
              <a:rPr lang="en-US" altLang="zh-CN" sz="2000" b="1" dirty="0" err="1">
                <a:solidFill>
                  <a:srgbClr val="76B900"/>
                </a:solidFill>
                <a:latin typeface="Comic Sans MS" panose="030F0702030302020204" pitchFamily="66" charset="0"/>
                <a:cs typeface="Calibri Light" panose="020F0302020204030204" pitchFamily="34" charset="0"/>
              </a:rPr>
              <a:t>Crovella</a:t>
            </a:r>
            <a:r>
              <a:rPr lang="en-US" altLang="zh-CN" sz="2000" b="1" dirty="0">
                <a:solidFill>
                  <a:srgbClr val="76B900"/>
                </a:solidFill>
                <a:latin typeface="Comic Sans MS" panose="030F0702030302020204" pitchFamily="66" charset="0"/>
                <a:cs typeface="Calibri Light" panose="020F0302020204030204" pitchFamily="34" charset="0"/>
              </a:rPr>
              <a:t>, 5/13/2020</a:t>
            </a:r>
            <a:endParaRPr lang="en-US" altLang="zh-CN" sz="1800" b="1" dirty="0">
              <a:solidFill>
                <a:schemeClr val="tx1"/>
              </a:solidFill>
              <a:latin typeface="Comic Sans MS" panose="030F0702030302020204" pitchFamily="66" charset="0"/>
              <a:cs typeface="Calibri Light" panose="020F0302020204030204" pitchFamily="34" charset="0"/>
            </a:endParaRPr>
          </a:p>
        </p:txBody>
      </p:sp>
      <p:sp>
        <p:nvSpPr>
          <p:cNvPr id="5" name="object 34"/>
          <p:cNvSpPr txBox="1">
            <a:spLocks noGrp="1"/>
          </p:cNvSpPr>
          <p:nvPr>
            <p:ph type="sldNum" sz="quarter" idx="12"/>
          </p:nvPr>
        </p:nvSpPr>
        <p:spPr>
          <a:xfrm>
            <a:off x="7749540" y="5795253"/>
            <a:ext cx="2468880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5" dirty="0">
                <a:latin typeface="Comic Sans MS" panose="030F0702030302020204" pitchFamily="66" charset="0"/>
              </a:rPr>
              <a:t>1</a:t>
            </a:fld>
            <a:endParaRPr spc="-5" dirty="0">
              <a:latin typeface="Comic Sans MS" panose="030F0702030302020204" pitchFamily="66" charset="0"/>
            </a:endParaRPr>
          </a:p>
        </p:txBody>
      </p:sp>
      <p:pic>
        <p:nvPicPr>
          <p:cNvPr id="4101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9050"/>
            <a:ext cx="4246880" cy="66167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886200" y="144579"/>
            <a:ext cx="265684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" dirty="0">
                <a:latin typeface="Comic Sans MS" panose="030F0702030302020204" pitchFamily="66" charset="0"/>
              </a:rPr>
              <a:t>A</a:t>
            </a:r>
            <a:r>
              <a:rPr sz="3600" dirty="0">
                <a:latin typeface="Comic Sans MS" panose="030F0702030302020204" pitchFamily="66" charset="0"/>
              </a:rPr>
              <a:t>GE</a:t>
            </a:r>
            <a:r>
              <a:rPr sz="3600" spc="5" dirty="0">
                <a:latin typeface="Comic Sans MS" panose="030F0702030302020204" pitchFamily="66" charset="0"/>
              </a:rPr>
              <a:t>N</a:t>
            </a:r>
            <a:r>
              <a:rPr sz="3600" dirty="0">
                <a:latin typeface="Comic Sans MS" panose="030F0702030302020204" pitchFamily="66" charset="0"/>
              </a:rPr>
              <a:t>DA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971800" y="1257300"/>
            <a:ext cx="5290185" cy="39805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450" indent="-285750">
              <a:spcBef>
                <a:spcPts val="100"/>
              </a:spcBef>
              <a:buChar char="•"/>
              <a:tabLst>
                <a:tab pos="297815" algn="l"/>
                <a:tab pos="298450" algn="l"/>
              </a:tabLst>
            </a:pPr>
            <a:r>
              <a:rPr lang="en-US" sz="2800" spc="-5" dirty="0">
                <a:latin typeface="Comic Sans MS" panose="030F0702030302020204" pitchFamily="66" charset="0"/>
                <a:cs typeface="Arial" panose="020B0604020202020204"/>
              </a:rPr>
              <a:t>Analysis Driven Optimization</a:t>
            </a:r>
          </a:p>
          <a:p>
            <a:pPr marL="298450" indent="-285750">
              <a:spcBef>
                <a:spcPts val="100"/>
              </a:spcBef>
              <a:buChar char="•"/>
              <a:tabLst>
                <a:tab pos="297815" algn="l"/>
                <a:tab pos="298450" algn="l"/>
              </a:tabLst>
            </a:pPr>
            <a:r>
              <a:rPr lang="en-US" sz="2800" spc="-5" dirty="0">
                <a:latin typeface="Comic Sans MS" panose="030F0702030302020204" pitchFamily="66" charset="0"/>
                <a:cs typeface="Arial" panose="020B0604020202020204"/>
              </a:rPr>
              <a:t>Understanding Performance Limiters</a:t>
            </a:r>
          </a:p>
          <a:p>
            <a:pPr marL="298450" indent="-285750">
              <a:spcBef>
                <a:spcPts val="100"/>
              </a:spcBef>
              <a:buChar char="•"/>
              <a:tabLst>
                <a:tab pos="297815" algn="l"/>
                <a:tab pos="298450" algn="l"/>
              </a:tabLst>
            </a:pPr>
            <a:r>
              <a:rPr lang="en-US" sz="2800" spc="-5" dirty="0">
                <a:latin typeface="Comic Sans MS" panose="030F0702030302020204" pitchFamily="66" charset="0"/>
                <a:cs typeface="Arial" panose="020B0604020202020204"/>
              </a:rPr>
              <a:t>Metrics Review</a:t>
            </a:r>
          </a:p>
          <a:p>
            <a:pPr marL="298450" indent="-285750">
              <a:spcBef>
                <a:spcPts val="100"/>
              </a:spcBef>
              <a:buChar char="•"/>
              <a:tabLst>
                <a:tab pos="297815" algn="l"/>
                <a:tab pos="298450" algn="l"/>
              </a:tabLst>
            </a:pPr>
            <a:r>
              <a:rPr lang="en-US" sz="2800" spc="-5" dirty="0">
                <a:latin typeface="Comic Sans MS" panose="030F0702030302020204" pitchFamily="66" charset="0"/>
                <a:cs typeface="Arial" panose="020B0604020202020204"/>
              </a:rPr>
              <a:t>Memory Bound Analysis</a:t>
            </a:r>
          </a:p>
          <a:p>
            <a:pPr marL="298450" indent="-285750">
              <a:spcBef>
                <a:spcPts val="100"/>
              </a:spcBef>
              <a:buChar char="•"/>
              <a:tabLst>
                <a:tab pos="297815" algn="l"/>
                <a:tab pos="298450" algn="l"/>
              </a:tabLst>
            </a:pPr>
            <a:r>
              <a:rPr lang="en-US" sz="2800" spc="-5" dirty="0">
                <a:latin typeface="Comic Sans MS" panose="030F0702030302020204" pitchFamily="66" charset="0"/>
                <a:cs typeface="Arial" panose="020B0604020202020204"/>
              </a:rPr>
              <a:t>Compute Bound Analysis</a:t>
            </a:r>
          </a:p>
          <a:p>
            <a:pPr marL="298450" indent="-285750">
              <a:spcBef>
                <a:spcPts val="100"/>
              </a:spcBef>
              <a:buChar char="•"/>
              <a:tabLst>
                <a:tab pos="297815" algn="l"/>
                <a:tab pos="298450" algn="l"/>
              </a:tabLst>
            </a:pPr>
            <a:r>
              <a:rPr lang="en-US" sz="2800" spc="-5" dirty="0">
                <a:latin typeface="Comic Sans MS" panose="030F0702030302020204" pitchFamily="66" charset="0"/>
                <a:cs typeface="Arial" panose="020B0604020202020204"/>
              </a:rPr>
              <a:t>Future Sessions</a:t>
            </a:r>
          </a:p>
          <a:p>
            <a:pPr marL="298450" indent="-285750">
              <a:spcBef>
                <a:spcPts val="100"/>
              </a:spcBef>
              <a:buChar char="•"/>
              <a:tabLst>
                <a:tab pos="297815" algn="l"/>
                <a:tab pos="298450" algn="l"/>
              </a:tabLst>
            </a:pPr>
            <a:r>
              <a:rPr lang="en-US" sz="2800" spc="-5" dirty="0">
                <a:latin typeface="Comic Sans MS" panose="030F0702030302020204" pitchFamily="66" charset="0"/>
                <a:cs typeface="Arial" panose="020B0604020202020204"/>
              </a:rPr>
              <a:t>Further Study</a:t>
            </a:r>
          </a:p>
          <a:p>
            <a:pPr marL="298450" indent="-285750">
              <a:spcBef>
                <a:spcPts val="100"/>
              </a:spcBef>
              <a:buChar char="•"/>
              <a:tabLst>
                <a:tab pos="297815" algn="l"/>
                <a:tab pos="298450" algn="l"/>
              </a:tabLst>
            </a:pPr>
            <a:r>
              <a:rPr lang="en-US" sz="2800" spc="-5" dirty="0">
                <a:latin typeface="Comic Sans MS" panose="030F0702030302020204" pitchFamily="66" charset="0"/>
                <a:cs typeface="Arial" panose="020B0604020202020204"/>
              </a:rPr>
              <a:t>Homework</a:t>
            </a:r>
            <a:endParaRPr lang="en-US" sz="2800" dirty="0">
              <a:latin typeface="Comic Sans MS" panose="030F0702030302020204" pitchFamily="66" charset="0"/>
              <a:cs typeface="Arial" panose="020B0604020202020204"/>
            </a:endParaRPr>
          </a:p>
        </p:txBody>
      </p:sp>
      <p:sp>
        <p:nvSpPr>
          <p:cNvPr id="7" name="object 34"/>
          <p:cNvSpPr txBox="1">
            <a:spLocks noGrp="1"/>
          </p:cNvSpPr>
          <p:nvPr>
            <p:ph type="sldNum" sz="quarter" idx="12"/>
          </p:nvPr>
        </p:nvSpPr>
        <p:spPr>
          <a:xfrm>
            <a:off x="7749540" y="5795253"/>
            <a:ext cx="2468880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5" dirty="0">
                <a:latin typeface="Comic Sans MS" panose="030F0702030302020204" pitchFamily="66" charset="0"/>
              </a:rPr>
              <a:t>2</a:t>
            </a:fld>
            <a:endParaRPr spc="-5" dirty="0">
              <a:latin typeface="Comic Sans MS" panose="030F0702030302020204" pitchFamily="66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011102" y="5872479"/>
            <a:ext cx="72390" cy="12054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00" dirty="0">
                <a:solidFill>
                  <a:srgbClr val="8C8C8C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3</a:t>
            </a:r>
            <a:endParaRPr sz="700" dirty="0">
              <a:latin typeface="Comic Sans MS" panose="030F0702030302020204" pitchFamily="66" charset="0"/>
              <a:cs typeface="Calibri" panose="020F0502020204030204" pitchFamily="34" charset="0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838200" y="214257"/>
            <a:ext cx="10571163" cy="381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Comic Sans MS" panose="030F0702030302020204" pitchFamily="66" charset="0"/>
              </a:rPr>
              <a:t>REVIEW: TOP-LEVEL PERFORMANCE CODING</a:t>
            </a:r>
            <a:r>
              <a:rPr sz="2400" spc="15" dirty="0">
                <a:latin typeface="Comic Sans MS" panose="030F0702030302020204" pitchFamily="66" charset="0"/>
              </a:rPr>
              <a:t> </a:t>
            </a:r>
            <a:r>
              <a:rPr sz="2400" spc="-5" dirty="0">
                <a:latin typeface="Comic Sans MS" panose="030F0702030302020204" pitchFamily="66" charset="0"/>
              </a:rPr>
              <a:t>OBJECTIVES</a:t>
            </a:r>
          </a:p>
        </p:txBody>
      </p:sp>
      <p:sp>
        <p:nvSpPr>
          <p:cNvPr id="15" name="object 14"/>
          <p:cNvSpPr txBox="1"/>
          <p:nvPr/>
        </p:nvSpPr>
        <p:spPr>
          <a:xfrm>
            <a:off x="685800" y="1257100"/>
            <a:ext cx="9601200" cy="405072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sz="200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Make </a:t>
            </a:r>
            <a:r>
              <a:rPr sz="20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efficient </a:t>
            </a:r>
            <a:r>
              <a:rPr sz="200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use of the </a:t>
            </a:r>
            <a:r>
              <a:rPr sz="2000" spc="-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memory</a:t>
            </a:r>
            <a:r>
              <a:rPr sz="2000" spc="2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2000" spc="-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subsystem</a:t>
            </a:r>
            <a:endParaRPr sz="2000" dirty="0">
              <a:solidFill>
                <a:srgbClr val="FF0000"/>
              </a:solidFill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marL="868045" indent="-285750">
              <a:lnSpc>
                <a:spcPct val="100000"/>
              </a:lnSpc>
              <a:spcBef>
                <a:spcPts val="1590"/>
              </a:spcBef>
              <a:buFont typeface="Arial" panose="020B0604020202020204" pitchFamily="34" charset="0"/>
              <a:buChar char="•"/>
            </a:pPr>
            <a:r>
              <a:rPr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Efficient use of global memory (coalesced</a:t>
            </a:r>
            <a:r>
              <a:rPr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access)</a:t>
            </a:r>
            <a:endParaRPr dirty="0"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marL="285750" indent="-285750">
              <a:lnSpc>
                <a:spcPct val="100000"/>
              </a:lnSpc>
              <a:spcBef>
                <a:spcPts val="40"/>
              </a:spcBef>
              <a:buFont typeface="Arial" panose="020B0604020202020204" pitchFamily="34" charset="0"/>
              <a:buChar char="•"/>
            </a:pPr>
            <a:endParaRPr sz="1600" dirty="0"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marL="868045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Intelligent use of the memory</a:t>
            </a:r>
            <a:r>
              <a:rPr spc="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hierarchy</a:t>
            </a:r>
            <a:endParaRPr dirty="0"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marL="285750" indent="-285750">
              <a:lnSpc>
                <a:spcPct val="100000"/>
              </a:lnSpc>
              <a:spcBef>
                <a:spcPts val="50"/>
              </a:spcBef>
              <a:buFont typeface="Arial" panose="020B0604020202020204" pitchFamily="34" charset="0"/>
              <a:buChar char="•"/>
            </a:pPr>
            <a:endParaRPr dirty="0"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marL="1327150" indent="-285750">
              <a:lnSpc>
                <a:spcPct val="100000"/>
              </a:lnSpc>
              <a:spcBef>
                <a:spcPts val="5"/>
              </a:spcBef>
              <a:buFont typeface="Arial" panose="020B0604020202020204" pitchFamily="34" charset="0"/>
              <a:buChar char="•"/>
            </a:pPr>
            <a:r>
              <a:rPr sz="1600" spc="-1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shared, </a:t>
            </a:r>
            <a:r>
              <a:rPr sz="16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constant, texture, caches, etc.</a:t>
            </a:r>
            <a:endParaRPr sz="1600" dirty="0"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marL="285750" indent="-285750">
              <a:lnSpc>
                <a:spcPct val="100000"/>
              </a:lnSpc>
              <a:spcBef>
                <a:spcPts val="30"/>
              </a:spcBef>
              <a:buFont typeface="Arial" panose="020B0604020202020204" pitchFamily="34" charset="0"/>
              <a:buChar char="•"/>
            </a:pPr>
            <a:endParaRPr sz="1600" dirty="0"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Font typeface="Arial" panose="020B0604020202020204" pitchFamily="34" charset="0"/>
              <a:buChar char="•"/>
            </a:pPr>
            <a:r>
              <a:rPr sz="20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Expose enough parallelism (work) </a:t>
            </a:r>
            <a:r>
              <a:rPr sz="200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to </a:t>
            </a:r>
            <a:r>
              <a:rPr sz="2000" spc="-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saturate</a:t>
            </a:r>
            <a:r>
              <a:rPr sz="20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200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the </a:t>
            </a:r>
            <a:r>
              <a:rPr sz="20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machine and </a:t>
            </a:r>
            <a:r>
              <a:rPr sz="200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hide</a:t>
            </a:r>
            <a:r>
              <a:rPr sz="2000" spc="18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20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latency</a:t>
            </a:r>
            <a:endParaRPr sz="2000" dirty="0"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marL="868045" marR="5046345" indent="-285750">
              <a:lnSpc>
                <a:spcPct val="196000"/>
              </a:lnSpc>
              <a:spcBef>
                <a:spcPts val="65"/>
              </a:spcBef>
              <a:buFont typeface="Arial" panose="020B0604020202020204" pitchFamily="34" charset="0"/>
              <a:buChar char="•"/>
            </a:pPr>
            <a:r>
              <a:rPr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Threads/blocks  </a:t>
            </a:r>
            <a:endParaRPr lang="en-US" spc="-5" dirty="0">
              <a:solidFill>
                <a:srgbClr val="5E5E5E"/>
              </a:solidFill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marL="868045" marR="5046345" indent="-285750">
              <a:lnSpc>
                <a:spcPct val="196000"/>
              </a:lnSpc>
              <a:spcBef>
                <a:spcPts val="65"/>
              </a:spcBef>
              <a:buFont typeface="Arial" panose="020B0604020202020204" pitchFamily="34" charset="0"/>
              <a:buChar char="•"/>
            </a:pPr>
            <a:r>
              <a:rPr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Occupancy  Work per</a:t>
            </a:r>
            <a:r>
              <a:rPr spc="-6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thread</a:t>
            </a:r>
            <a:endParaRPr dirty="0"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marL="285750" indent="-285750">
              <a:lnSpc>
                <a:spcPct val="100000"/>
              </a:lnSpc>
              <a:spcBef>
                <a:spcPts val="40"/>
              </a:spcBef>
              <a:buFont typeface="Arial" panose="020B0604020202020204" pitchFamily="34" charset="0"/>
              <a:buChar char="•"/>
            </a:pPr>
            <a:endParaRPr sz="1600" dirty="0"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marL="868045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Execution </a:t>
            </a:r>
            <a:r>
              <a:rPr spc="-1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efficiency</a:t>
            </a:r>
            <a:endParaRPr dirty="0">
              <a:latin typeface="Comic Sans MS" panose="030F0702030302020204" pitchFamily="66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646612" y="5636259"/>
            <a:ext cx="72390" cy="12054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00" dirty="0">
                <a:solidFill>
                  <a:srgbClr val="8C8C8C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4</a:t>
            </a:r>
            <a:endParaRPr sz="700" dirty="0">
              <a:latin typeface="Comic Sans MS" panose="030F0702030302020204" pitchFamily="66" charset="0"/>
              <a:cs typeface="Calibri" panose="020F0502020204030204" pitchFamily="34" charset="0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676400" y="114679"/>
            <a:ext cx="86106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5" dirty="0">
                <a:latin typeface="Comic Sans MS" panose="030F0702030302020204" pitchFamily="66" charset="0"/>
              </a:rPr>
              <a:t>ANALYSIS DRIVEN</a:t>
            </a:r>
            <a:r>
              <a:rPr sz="3200" spc="-50" dirty="0">
                <a:latin typeface="Comic Sans MS" panose="030F0702030302020204" pitchFamily="66" charset="0"/>
              </a:rPr>
              <a:t> </a:t>
            </a:r>
            <a:r>
              <a:rPr sz="3200" spc="-5" dirty="0">
                <a:latin typeface="Comic Sans MS" panose="030F0702030302020204" pitchFamily="66" charset="0"/>
              </a:rPr>
              <a:t>OPTIMIZATION</a:t>
            </a:r>
          </a:p>
        </p:txBody>
      </p:sp>
      <p:sp>
        <p:nvSpPr>
          <p:cNvPr id="5" name="object 5"/>
          <p:cNvSpPr/>
          <p:nvPr/>
        </p:nvSpPr>
        <p:spPr>
          <a:xfrm>
            <a:off x="4114891" y="952477"/>
            <a:ext cx="2014220" cy="1309370"/>
          </a:xfrm>
          <a:custGeom>
            <a:avLst/>
            <a:gdLst/>
            <a:ahLst/>
            <a:cxnLst/>
            <a:rect l="l" t="t" r="r" b="b"/>
            <a:pathLst>
              <a:path w="2014220" h="1309370">
                <a:moveTo>
                  <a:pt x="1795844" y="0"/>
                </a:moveTo>
                <a:lnTo>
                  <a:pt x="218191" y="0"/>
                </a:lnTo>
                <a:lnTo>
                  <a:pt x="168161" y="5762"/>
                </a:lnTo>
                <a:lnTo>
                  <a:pt x="122236" y="22177"/>
                </a:lnTo>
                <a:lnTo>
                  <a:pt x="81723" y="47934"/>
                </a:lnTo>
                <a:lnTo>
                  <a:pt x="47934" y="81723"/>
                </a:lnTo>
                <a:lnTo>
                  <a:pt x="22177" y="122236"/>
                </a:lnTo>
                <a:lnTo>
                  <a:pt x="5762" y="168161"/>
                </a:lnTo>
                <a:lnTo>
                  <a:pt x="0" y="218191"/>
                </a:lnTo>
                <a:lnTo>
                  <a:pt x="0" y="1090932"/>
                </a:lnTo>
                <a:lnTo>
                  <a:pt x="5762" y="1140961"/>
                </a:lnTo>
                <a:lnTo>
                  <a:pt x="22177" y="1186887"/>
                </a:lnTo>
                <a:lnTo>
                  <a:pt x="47934" y="1227400"/>
                </a:lnTo>
                <a:lnTo>
                  <a:pt x="81723" y="1261189"/>
                </a:lnTo>
                <a:lnTo>
                  <a:pt x="122236" y="1286946"/>
                </a:lnTo>
                <a:lnTo>
                  <a:pt x="168161" y="1303361"/>
                </a:lnTo>
                <a:lnTo>
                  <a:pt x="218191" y="1309123"/>
                </a:lnTo>
                <a:lnTo>
                  <a:pt x="1795844" y="1309123"/>
                </a:lnTo>
                <a:lnTo>
                  <a:pt x="1845874" y="1303361"/>
                </a:lnTo>
                <a:lnTo>
                  <a:pt x="1891799" y="1286946"/>
                </a:lnTo>
                <a:lnTo>
                  <a:pt x="1932312" y="1261189"/>
                </a:lnTo>
                <a:lnTo>
                  <a:pt x="1966101" y="1227400"/>
                </a:lnTo>
                <a:lnTo>
                  <a:pt x="1991858" y="1186887"/>
                </a:lnTo>
                <a:lnTo>
                  <a:pt x="2008273" y="1140961"/>
                </a:lnTo>
                <a:lnTo>
                  <a:pt x="2014035" y="1090932"/>
                </a:lnTo>
                <a:lnTo>
                  <a:pt x="2014035" y="218191"/>
                </a:lnTo>
                <a:lnTo>
                  <a:pt x="2008273" y="168161"/>
                </a:lnTo>
                <a:lnTo>
                  <a:pt x="1991858" y="122236"/>
                </a:lnTo>
                <a:lnTo>
                  <a:pt x="1966101" y="81723"/>
                </a:lnTo>
                <a:lnTo>
                  <a:pt x="1932312" y="47934"/>
                </a:lnTo>
                <a:lnTo>
                  <a:pt x="1891799" y="22177"/>
                </a:lnTo>
                <a:lnTo>
                  <a:pt x="1845874" y="5762"/>
                </a:lnTo>
                <a:lnTo>
                  <a:pt x="1795844" y="0"/>
                </a:lnTo>
                <a:close/>
              </a:path>
            </a:pathLst>
          </a:custGeom>
          <a:solidFill>
            <a:srgbClr val="76B900"/>
          </a:solid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114891" y="952477"/>
            <a:ext cx="2014220" cy="1309370"/>
          </a:xfrm>
          <a:custGeom>
            <a:avLst/>
            <a:gdLst/>
            <a:ahLst/>
            <a:cxnLst/>
            <a:rect l="l" t="t" r="r" b="b"/>
            <a:pathLst>
              <a:path w="2014220" h="1309370">
                <a:moveTo>
                  <a:pt x="0" y="218191"/>
                </a:moveTo>
                <a:lnTo>
                  <a:pt x="5762" y="168162"/>
                </a:lnTo>
                <a:lnTo>
                  <a:pt x="22177" y="122236"/>
                </a:lnTo>
                <a:lnTo>
                  <a:pt x="47934" y="81723"/>
                </a:lnTo>
                <a:lnTo>
                  <a:pt x="81723" y="47934"/>
                </a:lnTo>
                <a:lnTo>
                  <a:pt x="122236" y="22177"/>
                </a:lnTo>
                <a:lnTo>
                  <a:pt x="168162" y="5762"/>
                </a:lnTo>
                <a:lnTo>
                  <a:pt x="218191" y="0"/>
                </a:lnTo>
                <a:lnTo>
                  <a:pt x="1795845" y="0"/>
                </a:lnTo>
                <a:lnTo>
                  <a:pt x="1845874" y="5762"/>
                </a:lnTo>
                <a:lnTo>
                  <a:pt x="1891800" y="22177"/>
                </a:lnTo>
                <a:lnTo>
                  <a:pt x="1932312" y="47934"/>
                </a:lnTo>
                <a:lnTo>
                  <a:pt x="1966102" y="81723"/>
                </a:lnTo>
                <a:lnTo>
                  <a:pt x="1991859" y="122236"/>
                </a:lnTo>
                <a:lnTo>
                  <a:pt x="2008274" y="168162"/>
                </a:lnTo>
                <a:lnTo>
                  <a:pt x="2014037" y="218191"/>
                </a:lnTo>
                <a:lnTo>
                  <a:pt x="2014037" y="1090932"/>
                </a:lnTo>
                <a:lnTo>
                  <a:pt x="2008274" y="1140961"/>
                </a:lnTo>
                <a:lnTo>
                  <a:pt x="1991859" y="1186887"/>
                </a:lnTo>
                <a:lnTo>
                  <a:pt x="1966102" y="1227399"/>
                </a:lnTo>
                <a:lnTo>
                  <a:pt x="1932312" y="1261189"/>
                </a:lnTo>
                <a:lnTo>
                  <a:pt x="1891800" y="1286946"/>
                </a:lnTo>
                <a:lnTo>
                  <a:pt x="1845874" y="1303361"/>
                </a:lnTo>
                <a:lnTo>
                  <a:pt x="1795845" y="1309124"/>
                </a:lnTo>
                <a:lnTo>
                  <a:pt x="218191" y="1309124"/>
                </a:lnTo>
                <a:lnTo>
                  <a:pt x="168162" y="1303361"/>
                </a:lnTo>
                <a:lnTo>
                  <a:pt x="122236" y="1286946"/>
                </a:lnTo>
                <a:lnTo>
                  <a:pt x="81723" y="1261189"/>
                </a:lnTo>
                <a:lnTo>
                  <a:pt x="47934" y="1227399"/>
                </a:lnTo>
                <a:lnTo>
                  <a:pt x="22177" y="1186887"/>
                </a:lnTo>
                <a:lnTo>
                  <a:pt x="5762" y="1140961"/>
                </a:lnTo>
                <a:lnTo>
                  <a:pt x="0" y="1090932"/>
                </a:lnTo>
                <a:lnTo>
                  <a:pt x="0" y="218191"/>
                </a:lnTo>
                <a:close/>
              </a:path>
            </a:pathLst>
          </a:custGeom>
          <a:ln w="25400">
            <a:solidFill>
              <a:srgbClr val="76B900"/>
            </a:solidFill>
          </a:ln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625275" y="1359408"/>
            <a:ext cx="1277504" cy="4129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spc="-125" dirty="0">
                <a:latin typeface="Comic Sans MS" panose="030F0702030302020204" pitchFamily="66" charset="0"/>
                <a:cs typeface="Calibri" panose="020F0502020204030204" pitchFamily="34" charset="0"/>
              </a:rPr>
              <a:t>P</a:t>
            </a:r>
            <a:r>
              <a:rPr sz="2600" dirty="0">
                <a:latin typeface="Comic Sans MS" panose="030F0702030302020204" pitchFamily="66" charset="0"/>
                <a:cs typeface="Calibri" panose="020F0502020204030204" pitchFamily="34" charset="0"/>
              </a:rPr>
              <a:t>r</a:t>
            </a:r>
            <a:r>
              <a:rPr sz="2600" spc="-5" dirty="0">
                <a:latin typeface="Comic Sans MS" panose="030F0702030302020204" pitchFamily="66" charset="0"/>
                <a:cs typeface="Calibri" panose="020F0502020204030204" pitchFamily="34" charset="0"/>
              </a:rPr>
              <a:t>of</a:t>
            </a:r>
            <a:r>
              <a:rPr sz="2600" dirty="0">
                <a:latin typeface="Comic Sans MS" panose="030F0702030302020204" pitchFamily="66" charset="0"/>
                <a:cs typeface="Calibri" panose="020F0502020204030204" pitchFamily="34" charset="0"/>
              </a:rPr>
              <a:t>ile</a:t>
            </a:r>
          </a:p>
        </p:txBody>
      </p:sp>
      <p:sp>
        <p:nvSpPr>
          <p:cNvPr id="8" name="object 8"/>
          <p:cNvSpPr/>
          <p:nvPr/>
        </p:nvSpPr>
        <p:spPr>
          <a:xfrm>
            <a:off x="6272338" y="2022756"/>
            <a:ext cx="422909" cy="508000"/>
          </a:xfrm>
          <a:custGeom>
            <a:avLst/>
            <a:gdLst/>
            <a:ahLst/>
            <a:cxnLst/>
            <a:rect l="l" t="t" r="r" b="b"/>
            <a:pathLst>
              <a:path w="422909" h="508000">
                <a:moveTo>
                  <a:pt x="200511" y="315485"/>
                </a:moveTo>
                <a:lnTo>
                  <a:pt x="188386" y="316557"/>
                </a:lnTo>
                <a:lnTo>
                  <a:pt x="177549" y="322098"/>
                </a:lnTo>
                <a:lnTo>
                  <a:pt x="169386" y="331707"/>
                </a:lnTo>
                <a:lnTo>
                  <a:pt x="165591" y="343730"/>
                </a:lnTo>
                <a:lnTo>
                  <a:pt x="166663" y="355855"/>
                </a:lnTo>
                <a:lnTo>
                  <a:pt x="172204" y="366692"/>
                </a:lnTo>
                <a:lnTo>
                  <a:pt x="181813" y="374854"/>
                </a:lnTo>
                <a:lnTo>
                  <a:pt x="422464" y="507881"/>
                </a:lnTo>
                <a:lnTo>
                  <a:pt x="422098" y="470025"/>
                </a:lnTo>
                <a:lnTo>
                  <a:pt x="362920" y="470025"/>
                </a:lnTo>
                <a:lnTo>
                  <a:pt x="355334" y="457244"/>
                </a:lnTo>
                <a:lnTo>
                  <a:pt x="312698" y="392390"/>
                </a:lnTo>
                <a:lnTo>
                  <a:pt x="291349" y="362847"/>
                </a:lnTo>
                <a:lnTo>
                  <a:pt x="212534" y="319280"/>
                </a:lnTo>
                <a:lnTo>
                  <a:pt x="200511" y="315485"/>
                </a:lnTo>
                <a:close/>
              </a:path>
              <a:path w="422909" h="508000">
                <a:moveTo>
                  <a:pt x="291349" y="362847"/>
                </a:moveTo>
                <a:lnTo>
                  <a:pt x="312698" y="392390"/>
                </a:lnTo>
                <a:lnTo>
                  <a:pt x="355334" y="457244"/>
                </a:lnTo>
                <a:lnTo>
                  <a:pt x="362920" y="470025"/>
                </a:lnTo>
                <a:lnTo>
                  <a:pt x="389674" y="454070"/>
                </a:lnTo>
                <a:lnTo>
                  <a:pt x="358440" y="454070"/>
                </a:lnTo>
                <a:lnTo>
                  <a:pt x="357914" y="399643"/>
                </a:lnTo>
                <a:lnTo>
                  <a:pt x="291349" y="362847"/>
                </a:lnTo>
                <a:close/>
              </a:path>
              <a:path w="422909" h="508000">
                <a:moveTo>
                  <a:pt x="387750" y="201482"/>
                </a:moveTo>
                <a:lnTo>
                  <a:pt x="375415" y="204097"/>
                </a:lnTo>
                <a:lnTo>
                  <a:pt x="365389" y="210998"/>
                </a:lnTo>
                <a:lnTo>
                  <a:pt x="358683" y="221155"/>
                </a:lnTo>
                <a:lnTo>
                  <a:pt x="356308" y="233537"/>
                </a:lnTo>
                <a:lnTo>
                  <a:pt x="357394" y="345842"/>
                </a:lnTo>
                <a:lnTo>
                  <a:pt x="364152" y="355178"/>
                </a:lnTo>
                <a:lnTo>
                  <a:pt x="408381" y="422339"/>
                </a:lnTo>
                <a:lnTo>
                  <a:pt x="417459" y="437501"/>
                </a:lnTo>
                <a:lnTo>
                  <a:pt x="362920" y="470025"/>
                </a:lnTo>
                <a:lnTo>
                  <a:pt x="422098" y="470025"/>
                </a:lnTo>
                <a:lnTo>
                  <a:pt x="419804" y="232924"/>
                </a:lnTo>
                <a:lnTo>
                  <a:pt x="417190" y="220590"/>
                </a:lnTo>
                <a:lnTo>
                  <a:pt x="410289" y="210564"/>
                </a:lnTo>
                <a:lnTo>
                  <a:pt x="400131" y="203858"/>
                </a:lnTo>
                <a:lnTo>
                  <a:pt x="387750" y="201482"/>
                </a:lnTo>
                <a:close/>
              </a:path>
              <a:path w="422909" h="508000">
                <a:moveTo>
                  <a:pt x="357914" y="399643"/>
                </a:moveTo>
                <a:lnTo>
                  <a:pt x="358440" y="454070"/>
                </a:lnTo>
                <a:lnTo>
                  <a:pt x="405550" y="425975"/>
                </a:lnTo>
                <a:lnTo>
                  <a:pt x="357914" y="399643"/>
                </a:lnTo>
                <a:close/>
              </a:path>
              <a:path w="422909" h="508000">
                <a:moveTo>
                  <a:pt x="357394" y="345842"/>
                </a:moveTo>
                <a:lnTo>
                  <a:pt x="357914" y="399643"/>
                </a:lnTo>
                <a:lnTo>
                  <a:pt x="405550" y="425975"/>
                </a:lnTo>
                <a:lnTo>
                  <a:pt x="358440" y="454070"/>
                </a:lnTo>
                <a:lnTo>
                  <a:pt x="389674" y="454070"/>
                </a:lnTo>
                <a:lnTo>
                  <a:pt x="417459" y="437501"/>
                </a:lnTo>
                <a:lnTo>
                  <a:pt x="408381" y="422339"/>
                </a:lnTo>
                <a:lnTo>
                  <a:pt x="364152" y="355178"/>
                </a:lnTo>
                <a:lnTo>
                  <a:pt x="357394" y="345842"/>
                </a:lnTo>
                <a:close/>
              </a:path>
              <a:path w="422909" h="508000">
                <a:moveTo>
                  <a:pt x="42052" y="0"/>
                </a:moveTo>
                <a:lnTo>
                  <a:pt x="0" y="47580"/>
                </a:lnTo>
                <a:lnTo>
                  <a:pt x="59292" y="99984"/>
                </a:lnTo>
                <a:lnTo>
                  <a:pt x="115095" y="153925"/>
                </a:lnTo>
                <a:lnTo>
                  <a:pt x="168409" y="210224"/>
                </a:lnTo>
                <a:lnTo>
                  <a:pt x="219162" y="268792"/>
                </a:lnTo>
                <a:lnTo>
                  <a:pt x="267282" y="329544"/>
                </a:lnTo>
                <a:lnTo>
                  <a:pt x="291349" y="362847"/>
                </a:lnTo>
                <a:lnTo>
                  <a:pt x="357914" y="399643"/>
                </a:lnTo>
                <a:lnTo>
                  <a:pt x="357394" y="345842"/>
                </a:lnTo>
                <a:lnTo>
                  <a:pt x="317044" y="290097"/>
                </a:lnTo>
                <a:lnTo>
                  <a:pt x="267135" y="227189"/>
                </a:lnTo>
                <a:lnTo>
                  <a:pt x="214499" y="166543"/>
                </a:lnTo>
                <a:lnTo>
                  <a:pt x="159211" y="108252"/>
                </a:lnTo>
                <a:lnTo>
                  <a:pt x="101344" y="52405"/>
                </a:lnTo>
                <a:lnTo>
                  <a:pt x="42052" y="0"/>
                </a:lnTo>
                <a:close/>
              </a:path>
            </a:pathLst>
          </a:custGeom>
          <a:solidFill>
            <a:srgbClr val="76B900"/>
          </a:solid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902779" y="2714958"/>
            <a:ext cx="2014220" cy="1309370"/>
          </a:xfrm>
          <a:custGeom>
            <a:avLst/>
            <a:gdLst/>
            <a:ahLst/>
            <a:cxnLst/>
            <a:rect l="l" t="t" r="r" b="b"/>
            <a:pathLst>
              <a:path w="2014220" h="1309370">
                <a:moveTo>
                  <a:pt x="1795844" y="0"/>
                </a:moveTo>
                <a:lnTo>
                  <a:pt x="218192" y="0"/>
                </a:lnTo>
                <a:lnTo>
                  <a:pt x="168162" y="5762"/>
                </a:lnTo>
                <a:lnTo>
                  <a:pt x="122237" y="22177"/>
                </a:lnTo>
                <a:lnTo>
                  <a:pt x="81724" y="47934"/>
                </a:lnTo>
                <a:lnTo>
                  <a:pt x="47934" y="81723"/>
                </a:lnTo>
                <a:lnTo>
                  <a:pt x="22177" y="122236"/>
                </a:lnTo>
                <a:lnTo>
                  <a:pt x="5762" y="168161"/>
                </a:lnTo>
                <a:lnTo>
                  <a:pt x="0" y="218191"/>
                </a:lnTo>
                <a:lnTo>
                  <a:pt x="0" y="1090932"/>
                </a:lnTo>
                <a:lnTo>
                  <a:pt x="5762" y="1140961"/>
                </a:lnTo>
                <a:lnTo>
                  <a:pt x="22177" y="1186887"/>
                </a:lnTo>
                <a:lnTo>
                  <a:pt x="47934" y="1227400"/>
                </a:lnTo>
                <a:lnTo>
                  <a:pt x="81724" y="1261189"/>
                </a:lnTo>
                <a:lnTo>
                  <a:pt x="122237" y="1286946"/>
                </a:lnTo>
                <a:lnTo>
                  <a:pt x="168162" y="1303361"/>
                </a:lnTo>
                <a:lnTo>
                  <a:pt x="218192" y="1309123"/>
                </a:lnTo>
                <a:lnTo>
                  <a:pt x="1795844" y="1309123"/>
                </a:lnTo>
                <a:lnTo>
                  <a:pt x="1845874" y="1303361"/>
                </a:lnTo>
                <a:lnTo>
                  <a:pt x="1891800" y="1286946"/>
                </a:lnTo>
                <a:lnTo>
                  <a:pt x="1932312" y="1261189"/>
                </a:lnTo>
                <a:lnTo>
                  <a:pt x="1966102" y="1227400"/>
                </a:lnTo>
                <a:lnTo>
                  <a:pt x="1991859" y="1186887"/>
                </a:lnTo>
                <a:lnTo>
                  <a:pt x="2008274" y="1140961"/>
                </a:lnTo>
                <a:lnTo>
                  <a:pt x="2014037" y="1090932"/>
                </a:lnTo>
                <a:lnTo>
                  <a:pt x="2014037" y="218191"/>
                </a:lnTo>
                <a:lnTo>
                  <a:pt x="2008274" y="168161"/>
                </a:lnTo>
                <a:lnTo>
                  <a:pt x="1991859" y="122236"/>
                </a:lnTo>
                <a:lnTo>
                  <a:pt x="1966102" y="81723"/>
                </a:lnTo>
                <a:lnTo>
                  <a:pt x="1932312" y="47934"/>
                </a:lnTo>
                <a:lnTo>
                  <a:pt x="1891800" y="22177"/>
                </a:lnTo>
                <a:lnTo>
                  <a:pt x="1845874" y="5762"/>
                </a:lnTo>
                <a:lnTo>
                  <a:pt x="1795844" y="0"/>
                </a:lnTo>
                <a:close/>
              </a:path>
            </a:pathLst>
          </a:custGeom>
          <a:solidFill>
            <a:srgbClr val="76B900"/>
          </a:solid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902779" y="2714958"/>
            <a:ext cx="2014220" cy="1309370"/>
          </a:xfrm>
          <a:custGeom>
            <a:avLst/>
            <a:gdLst/>
            <a:ahLst/>
            <a:cxnLst/>
            <a:rect l="l" t="t" r="r" b="b"/>
            <a:pathLst>
              <a:path w="2014220" h="1309370">
                <a:moveTo>
                  <a:pt x="0" y="218191"/>
                </a:moveTo>
                <a:lnTo>
                  <a:pt x="5762" y="168162"/>
                </a:lnTo>
                <a:lnTo>
                  <a:pt x="22177" y="122236"/>
                </a:lnTo>
                <a:lnTo>
                  <a:pt x="47934" y="81723"/>
                </a:lnTo>
                <a:lnTo>
                  <a:pt x="81723" y="47934"/>
                </a:lnTo>
                <a:lnTo>
                  <a:pt x="122236" y="22177"/>
                </a:lnTo>
                <a:lnTo>
                  <a:pt x="168162" y="5762"/>
                </a:lnTo>
                <a:lnTo>
                  <a:pt x="218191" y="0"/>
                </a:lnTo>
                <a:lnTo>
                  <a:pt x="1795845" y="0"/>
                </a:lnTo>
                <a:lnTo>
                  <a:pt x="1845874" y="5762"/>
                </a:lnTo>
                <a:lnTo>
                  <a:pt x="1891800" y="22177"/>
                </a:lnTo>
                <a:lnTo>
                  <a:pt x="1932312" y="47934"/>
                </a:lnTo>
                <a:lnTo>
                  <a:pt x="1966102" y="81723"/>
                </a:lnTo>
                <a:lnTo>
                  <a:pt x="1991859" y="122236"/>
                </a:lnTo>
                <a:lnTo>
                  <a:pt x="2008274" y="168162"/>
                </a:lnTo>
                <a:lnTo>
                  <a:pt x="2014037" y="218191"/>
                </a:lnTo>
                <a:lnTo>
                  <a:pt x="2014037" y="1090932"/>
                </a:lnTo>
                <a:lnTo>
                  <a:pt x="2008274" y="1140961"/>
                </a:lnTo>
                <a:lnTo>
                  <a:pt x="1991859" y="1186887"/>
                </a:lnTo>
                <a:lnTo>
                  <a:pt x="1966102" y="1227399"/>
                </a:lnTo>
                <a:lnTo>
                  <a:pt x="1932312" y="1261189"/>
                </a:lnTo>
                <a:lnTo>
                  <a:pt x="1891800" y="1286946"/>
                </a:lnTo>
                <a:lnTo>
                  <a:pt x="1845874" y="1303361"/>
                </a:lnTo>
                <a:lnTo>
                  <a:pt x="1795845" y="1309124"/>
                </a:lnTo>
                <a:lnTo>
                  <a:pt x="218191" y="1309124"/>
                </a:lnTo>
                <a:lnTo>
                  <a:pt x="168162" y="1303361"/>
                </a:lnTo>
                <a:lnTo>
                  <a:pt x="122236" y="1286946"/>
                </a:lnTo>
                <a:lnTo>
                  <a:pt x="81723" y="1261189"/>
                </a:lnTo>
                <a:lnTo>
                  <a:pt x="47934" y="1227399"/>
                </a:lnTo>
                <a:lnTo>
                  <a:pt x="22177" y="1186887"/>
                </a:lnTo>
                <a:lnTo>
                  <a:pt x="5762" y="1140961"/>
                </a:lnTo>
                <a:lnTo>
                  <a:pt x="0" y="1090932"/>
                </a:lnTo>
                <a:lnTo>
                  <a:pt x="0" y="218191"/>
                </a:lnTo>
                <a:close/>
              </a:path>
            </a:pathLst>
          </a:custGeom>
          <a:ln w="25400">
            <a:solidFill>
              <a:srgbClr val="76B900"/>
            </a:solidFill>
          </a:ln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121763" y="2791967"/>
            <a:ext cx="1795236" cy="95077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3365" marR="5080" indent="-241300">
              <a:lnSpc>
                <a:spcPct val="122000"/>
              </a:lnSpc>
              <a:spcBef>
                <a:spcPts val="100"/>
              </a:spcBef>
            </a:pPr>
            <a:r>
              <a:rPr sz="2600" dirty="0">
                <a:latin typeface="Comic Sans MS" panose="030F0702030302020204" pitchFamily="66" charset="0"/>
                <a:cs typeface="Calibri" panose="020F0502020204030204" pitchFamily="34" charset="0"/>
              </a:rPr>
              <a:t>Deter</a:t>
            </a:r>
            <a:r>
              <a:rPr sz="2600" spc="-5" dirty="0">
                <a:latin typeface="Comic Sans MS" panose="030F0702030302020204" pitchFamily="66" charset="0"/>
                <a:cs typeface="Calibri" panose="020F0502020204030204" pitchFamily="34" charset="0"/>
              </a:rPr>
              <a:t>m</a:t>
            </a:r>
            <a:r>
              <a:rPr sz="2600" dirty="0">
                <a:latin typeface="Comic Sans MS" panose="030F0702030302020204" pitchFamily="66" charset="0"/>
                <a:cs typeface="Calibri" panose="020F0502020204030204" pitchFamily="34" charset="0"/>
              </a:rPr>
              <a:t>i</a:t>
            </a:r>
            <a:r>
              <a:rPr sz="2600" spc="-5" dirty="0">
                <a:latin typeface="Comic Sans MS" panose="030F0702030302020204" pitchFamily="66" charset="0"/>
                <a:cs typeface="Calibri" panose="020F0502020204030204" pitchFamily="34" charset="0"/>
              </a:rPr>
              <a:t>n</a:t>
            </a:r>
            <a:r>
              <a:rPr sz="2600" dirty="0">
                <a:latin typeface="Comic Sans MS" panose="030F0702030302020204" pitchFamily="66" charset="0"/>
                <a:cs typeface="Calibri" panose="020F0502020204030204" pitchFamily="34" charset="0"/>
              </a:rPr>
              <a:t>e  </a:t>
            </a:r>
            <a:r>
              <a:rPr sz="2600" spc="-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Limiter</a:t>
            </a:r>
            <a:endParaRPr sz="2600" dirty="0">
              <a:solidFill>
                <a:srgbClr val="FF0000"/>
              </a:solidFill>
              <a:latin typeface="Comic Sans MS" panose="030F0702030302020204" pitchFamily="66" charset="0"/>
              <a:cs typeface="Calibri" panose="020F0502020204030204" pitchFamily="34" charset="0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6295414" y="4199378"/>
            <a:ext cx="429895" cy="519430"/>
          </a:xfrm>
          <a:custGeom>
            <a:avLst/>
            <a:gdLst/>
            <a:ahLst/>
            <a:cxnLst/>
            <a:rect l="l" t="t" r="r" b="b"/>
            <a:pathLst>
              <a:path w="429895" h="519429">
                <a:moveTo>
                  <a:pt x="109562" y="234535"/>
                </a:moveTo>
                <a:lnTo>
                  <a:pt x="97896" y="238007"/>
                </a:lnTo>
                <a:lnTo>
                  <a:pt x="88383" y="245600"/>
                </a:lnTo>
                <a:lnTo>
                  <a:pt x="82303" y="256645"/>
                </a:lnTo>
                <a:lnTo>
                  <a:pt x="0" y="519010"/>
                </a:lnTo>
                <a:lnTo>
                  <a:pt x="88645" y="500053"/>
                </a:lnTo>
                <a:lnTo>
                  <a:pt x="67965" y="500053"/>
                </a:lnTo>
                <a:lnTo>
                  <a:pt x="25206" y="453106"/>
                </a:lnTo>
                <a:lnTo>
                  <a:pt x="93946" y="385715"/>
                </a:lnTo>
                <a:lnTo>
                  <a:pt x="142892" y="275652"/>
                </a:lnTo>
                <a:lnTo>
                  <a:pt x="144210" y="263113"/>
                </a:lnTo>
                <a:lnTo>
                  <a:pt x="140739" y="251447"/>
                </a:lnTo>
                <a:lnTo>
                  <a:pt x="133146" y="241934"/>
                </a:lnTo>
                <a:lnTo>
                  <a:pt x="122101" y="235854"/>
                </a:lnTo>
                <a:lnTo>
                  <a:pt x="109562" y="234535"/>
                </a:lnTo>
                <a:close/>
              </a:path>
              <a:path w="429895" h="519429">
                <a:moveTo>
                  <a:pt x="115869" y="361797"/>
                </a:moveTo>
                <a:lnTo>
                  <a:pt x="93946" y="385715"/>
                </a:lnTo>
                <a:lnTo>
                  <a:pt x="37626" y="441839"/>
                </a:lnTo>
                <a:lnTo>
                  <a:pt x="25206" y="453106"/>
                </a:lnTo>
                <a:lnTo>
                  <a:pt x="67965" y="500053"/>
                </a:lnTo>
                <a:lnTo>
                  <a:pt x="82466" y="486801"/>
                </a:lnTo>
                <a:lnTo>
                  <a:pt x="83185" y="486083"/>
                </a:lnTo>
                <a:lnTo>
                  <a:pt x="76880" y="486083"/>
                </a:lnTo>
                <a:lnTo>
                  <a:pt x="39946" y="445532"/>
                </a:lnTo>
                <a:lnTo>
                  <a:pt x="93172" y="434150"/>
                </a:lnTo>
                <a:lnTo>
                  <a:pt x="115869" y="361797"/>
                </a:lnTo>
                <a:close/>
              </a:path>
              <a:path w="429895" h="519429">
                <a:moveTo>
                  <a:pt x="268220" y="399268"/>
                </a:moveTo>
                <a:lnTo>
                  <a:pt x="255612" y="399413"/>
                </a:lnTo>
                <a:lnTo>
                  <a:pt x="146046" y="422843"/>
                </a:lnTo>
                <a:lnTo>
                  <a:pt x="140775" y="428603"/>
                </a:lnTo>
                <a:lnTo>
                  <a:pt x="82466" y="486801"/>
                </a:lnTo>
                <a:lnTo>
                  <a:pt x="67965" y="500053"/>
                </a:lnTo>
                <a:lnTo>
                  <a:pt x="88645" y="500053"/>
                </a:lnTo>
                <a:lnTo>
                  <a:pt x="268892" y="461509"/>
                </a:lnTo>
                <a:lnTo>
                  <a:pt x="280455" y="456485"/>
                </a:lnTo>
                <a:lnTo>
                  <a:pt x="288901" y="447720"/>
                </a:lnTo>
                <a:lnTo>
                  <a:pt x="293444" y="436429"/>
                </a:lnTo>
                <a:lnTo>
                  <a:pt x="293300" y="423821"/>
                </a:lnTo>
                <a:lnTo>
                  <a:pt x="288276" y="412258"/>
                </a:lnTo>
                <a:lnTo>
                  <a:pt x="279511" y="403812"/>
                </a:lnTo>
                <a:lnTo>
                  <a:pt x="268220" y="399268"/>
                </a:lnTo>
                <a:close/>
              </a:path>
              <a:path w="429895" h="519429">
                <a:moveTo>
                  <a:pt x="93172" y="434150"/>
                </a:moveTo>
                <a:lnTo>
                  <a:pt x="39946" y="445532"/>
                </a:lnTo>
                <a:lnTo>
                  <a:pt x="76880" y="486083"/>
                </a:lnTo>
                <a:lnTo>
                  <a:pt x="93172" y="434150"/>
                </a:lnTo>
                <a:close/>
              </a:path>
              <a:path w="429895" h="519429">
                <a:moveTo>
                  <a:pt x="146046" y="422843"/>
                </a:moveTo>
                <a:lnTo>
                  <a:pt x="93172" y="434150"/>
                </a:lnTo>
                <a:lnTo>
                  <a:pt x="76880" y="486083"/>
                </a:lnTo>
                <a:lnTo>
                  <a:pt x="83185" y="486083"/>
                </a:lnTo>
                <a:lnTo>
                  <a:pt x="140775" y="428603"/>
                </a:lnTo>
                <a:lnTo>
                  <a:pt x="146046" y="422843"/>
                </a:lnTo>
                <a:close/>
              </a:path>
              <a:path w="429895" h="519429">
                <a:moveTo>
                  <a:pt x="374199" y="0"/>
                </a:moveTo>
                <a:lnTo>
                  <a:pt x="334250" y="70545"/>
                </a:lnTo>
                <a:lnTo>
                  <a:pt x="291950" y="137868"/>
                </a:lnTo>
                <a:lnTo>
                  <a:pt x="246693" y="203141"/>
                </a:lnTo>
                <a:lnTo>
                  <a:pt x="198555" y="266272"/>
                </a:lnTo>
                <a:lnTo>
                  <a:pt x="147614" y="327162"/>
                </a:lnTo>
                <a:lnTo>
                  <a:pt x="115869" y="361797"/>
                </a:lnTo>
                <a:lnTo>
                  <a:pt x="93172" y="434150"/>
                </a:lnTo>
                <a:lnTo>
                  <a:pt x="146046" y="422843"/>
                </a:lnTo>
                <a:lnTo>
                  <a:pt x="196335" y="367887"/>
                </a:lnTo>
                <a:lnTo>
                  <a:pt x="249067" y="304754"/>
                </a:lnTo>
                <a:lnTo>
                  <a:pt x="298891" y="239302"/>
                </a:lnTo>
                <a:lnTo>
                  <a:pt x="345730" y="171630"/>
                </a:lnTo>
                <a:lnTo>
                  <a:pt x="389505" y="101836"/>
                </a:lnTo>
                <a:lnTo>
                  <a:pt x="429454" y="31291"/>
                </a:lnTo>
                <a:lnTo>
                  <a:pt x="374199" y="0"/>
                </a:lnTo>
                <a:close/>
              </a:path>
            </a:pathLst>
          </a:custGeom>
          <a:solidFill>
            <a:srgbClr val="76B900"/>
          </a:solid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4114891" y="4502848"/>
            <a:ext cx="2014220" cy="1309370"/>
          </a:xfrm>
          <a:custGeom>
            <a:avLst/>
            <a:gdLst/>
            <a:ahLst/>
            <a:cxnLst/>
            <a:rect l="l" t="t" r="r" b="b"/>
            <a:pathLst>
              <a:path w="2014220" h="1309370">
                <a:moveTo>
                  <a:pt x="1795844" y="0"/>
                </a:moveTo>
                <a:lnTo>
                  <a:pt x="218191" y="0"/>
                </a:lnTo>
                <a:lnTo>
                  <a:pt x="168161" y="5762"/>
                </a:lnTo>
                <a:lnTo>
                  <a:pt x="122236" y="22177"/>
                </a:lnTo>
                <a:lnTo>
                  <a:pt x="81723" y="47934"/>
                </a:lnTo>
                <a:lnTo>
                  <a:pt x="47934" y="81723"/>
                </a:lnTo>
                <a:lnTo>
                  <a:pt x="22177" y="122236"/>
                </a:lnTo>
                <a:lnTo>
                  <a:pt x="5762" y="168161"/>
                </a:lnTo>
                <a:lnTo>
                  <a:pt x="0" y="218191"/>
                </a:lnTo>
                <a:lnTo>
                  <a:pt x="0" y="1090931"/>
                </a:lnTo>
                <a:lnTo>
                  <a:pt x="5762" y="1140961"/>
                </a:lnTo>
                <a:lnTo>
                  <a:pt x="22177" y="1186886"/>
                </a:lnTo>
                <a:lnTo>
                  <a:pt x="47934" y="1227399"/>
                </a:lnTo>
                <a:lnTo>
                  <a:pt x="81723" y="1261189"/>
                </a:lnTo>
                <a:lnTo>
                  <a:pt x="122236" y="1286946"/>
                </a:lnTo>
                <a:lnTo>
                  <a:pt x="168161" y="1303360"/>
                </a:lnTo>
                <a:lnTo>
                  <a:pt x="218191" y="1309123"/>
                </a:lnTo>
                <a:lnTo>
                  <a:pt x="1795844" y="1309123"/>
                </a:lnTo>
                <a:lnTo>
                  <a:pt x="1845874" y="1303360"/>
                </a:lnTo>
                <a:lnTo>
                  <a:pt x="1891799" y="1286946"/>
                </a:lnTo>
                <a:lnTo>
                  <a:pt x="1932312" y="1261189"/>
                </a:lnTo>
                <a:lnTo>
                  <a:pt x="1966101" y="1227399"/>
                </a:lnTo>
                <a:lnTo>
                  <a:pt x="1991858" y="1186886"/>
                </a:lnTo>
                <a:lnTo>
                  <a:pt x="2008273" y="1140961"/>
                </a:lnTo>
                <a:lnTo>
                  <a:pt x="2014035" y="1090931"/>
                </a:lnTo>
                <a:lnTo>
                  <a:pt x="2014035" y="218191"/>
                </a:lnTo>
                <a:lnTo>
                  <a:pt x="2008273" y="168161"/>
                </a:lnTo>
                <a:lnTo>
                  <a:pt x="1991858" y="122236"/>
                </a:lnTo>
                <a:lnTo>
                  <a:pt x="1966101" y="81723"/>
                </a:lnTo>
                <a:lnTo>
                  <a:pt x="1932312" y="47934"/>
                </a:lnTo>
                <a:lnTo>
                  <a:pt x="1891799" y="22177"/>
                </a:lnTo>
                <a:lnTo>
                  <a:pt x="1845874" y="5762"/>
                </a:lnTo>
                <a:lnTo>
                  <a:pt x="1795844" y="0"/>
                </a:lnTo>
                <a:close/>
              </a:path>
            </a:pathLst>
          </a:custGeom>
          <a:solidFill>
            <a:srgbClr val="D0FF7D"/>
          </a:solid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4136004" y="4465717"/>
            <a:ext cx="2014220" cy="1309370"/>
          </a:xfrm>
          <a:custGeom>
            <a:avLst/>
            <a:gdLst/>
            <a:ahLst/>
            <a:cxnLst/>
            <a:rect l="l" t="t" r="r" b="b"/>
            <a:pathLst>
              <a:path w="2014220" h="1309370">
                <a:moveTo>
                  <a:pt x="0" y="218191"/>
                </a:moveTo>
                <a:lnTo>
                  <a:pt x="5762" y="168162"/>
                </a:lnTo>
                <a:lnTo>
                  <a:pt x="22177" y="122236"/>
                </a:lnTo>
                <a:lnTo>
                  <a:pt x="47934" y="81723"/>
                </a:lnTo>
                <a:lnTo>
                  <a:pt x="81723" y="47934"/>
                </a:lnTo>
                <a:lnTo>
                  <a:pt x="122236" y="22177"/>
                </a:lnTo>
                <a:lnTo>
                  <a:pt x="168162" y="5762"/>
                </a:lnTo>
                <a:lnTo>
                  <a:pt x="218191" y="0"/>
                </a:lnTo>
                <a:lnTo>
                  <a:pt x="1795845" y="0"/>
                </a:lnTo>
                <a:lnTo>
                  <a:pt x="1845874" y="5762"/>
                </a:lnTo>
                <a:lnTo>
                  <a:pt x="1891800" y="22177"/>
                </a:lnTo>
                <a:lnTo>
                  <a:pt x="1932312" y="47934"/>
                </a:lnTo>
                <a:lnTo>
                  <a:pt x="1966102" y="81723"/>
                </a:lnTo>
                <a:lnTo>
                  <a:pt x="1991859" y="122236"/>
                </a:lnTo>
                <a:lnTo>
                  <a:pt x="2008274" y="168162"/>
                </a:lnTo>
                <a:lnTo>
                  <a:pt x="2014037" y="218191"/>
                </a:lnTo>
                <a:lnTo>
                  <a:pt x="2014037" y="1090932"/>
                </a:lnTo>
                <a:lnTo>
                  <a:pt x="2008274" y="1140961"/>
                </a:lnTo>
                <a:lnTo>
                  <a:pt x="1991859" y="1186887"/>
                </a:lnTo>
                <a:lnTo>
                  <a:pt x="1966102" y="1227399"/>
                </a:lnTo>
                <a:lnTo>
                  <a:pt x="1932312" y="1261189"/>
                </a:lnTo>
                <a:lnTo>
                  <a:pt x="1891800" y="1286946"/>
                </a:lnTo>
                <a:lnTo>
                  <a:pt x="1845874" y="1303361"/>
                </a:lnTo>
                <a:lnTo>
                  <a:pt x="1795845" y="1309124"/>
                </a:lnTo>
                <a:lnTo>
                  <a:pt x="218191" y="1309124"/>
                </a:lnTo>
                <a:lnTo>
                  <a:pt x="168162" y="1303361"/>
                </a:lnTo>
                <a:lnTo>
                  <a:pt x="122236" y="1286946"/>
                </a:lnTo>
                <a:lnTo>
                  <a:pt x="81723" y="1261189"/>
                </a:lnTo>
                <a:lnTo>
                  <a:pt x="47934" y="1227399"/>
                </a:lnTo>
                <a:lnTo>
                  <a:pt x="22177" y="1186887"/>
                </a:lnTo>
                <a:lnTo>
                  <a:pt x="5762" y="1140961"/>
                </a:lnTo>
                <a:lnTo>
                  <a:pt x="0" y="1090932"/>
                </a:lnTo>
                <a:lnTo>
                  <a:pt x="0" y="218191"/>
                </a:lnTo>
                <a:close/>
              </a:path>
            </a:pathLst>
          </a:custGeom>
          <a:ln w="25400">
            <a:solidFill>
              <a:srgbClr val="76B900"/>
            </a:solidFill>
          </a:ln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567299" y="4457191"/>
            <a:ext cx="1561812" cy="1346522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12700" marR="5080" indent="-635" algn="ctr">
              <a:lnSpc>
                <a:spcPts val="2500"/>
              </a:lnSpc>
              <a:spcBef>
                <a:spcPts val="500"/>
              </a:spcBef>
            </a:pPr>
            <a:r>
              <a:rPr sz="2400" spc="-50" dirty="0">
                <a:latin typeface="Comic Sans MS" panose="030F0702030302020204" pitchFamily="66" charset="0"/>
                <a:cs typeface="Calibri" panose="020F0502020204030204" pitchFamily="34" charset="0"/>
              </a:rPr>
              <a:t>Study,  </a:t>
            </a:r>
            <a:r>
              <a:rPr sz="2400" spc="-100" dirty="0">
                <a:latin typeface="Comic Sans MS" panose="030F0702030302020204" pitchFamily="66" charset="0"/>
                <a:cs typeface="Calibri" panose="020F0502020204030204" pitchFamily="34" charset="0"/>
              </a:rPr>
              <a:t>R</a:t>
            </a:r>
            <a:r>
              <a:rPr sz="2400" dirty="0">
                <a:latin typeface="Comic Sans MS" panose="030F0702030302020204" pitchFamily="66" charset="0"/>
                <a:cs typeface="Calibri" panose="020F0502020204030204" pitchFamily="34" charset="0"/>
              </a:rPr>
              <a:t>e</a:t>
            </a:r>
            <a:r>
              <a:rPr sz="2400" spc="-5" dirty="0">
                <a:latin typeface="Comic Sans MS" panose="030F0702030302020204" pitchFamily="66" charset="0"/>
                <a:cs typeface="Calibri" panose="020F0502020204030204" pitchFamily="34" charset="0"/>
              </a:rPr>
              <a:t>f</a:t>
            </a:r>
            <a:r>
              <a:rPr sz="2400" dirty="0">
                <a:latin typeface="Comic Sans MS" panose="030F0702030302020204" pitchFamily="66" charset="0"/>
                <a:cs typeface="Calibri" panose="020F0502020204030204" pitchFamily="34" charset="0"/>
              </a:rPr>
              <a:t>lect,  </a:t>
            </a:r>
            <a:r>
              <a:rPr sz="2400" spc="-5" dirty="0">
                <a:latin typeface="Comic Sans MS" panose="030F0702030302020204" pitchFamily="66" charset="0"/>
                <a:cs typeface="Calibri" panose="020F0502020204030204" pitchFamily="34" charset="0"/>
              </a:rPr>
              <a:t>Learn,  Inspect</a:t>
            </a:r>
            <a:endParaRPr sz="2400" dirty="0">
              <a:latin typeface="Comic Sans MS" panose="030F0702030302020204" pitchFamily="66" charset="0"/>
              <a:cs typeface="Calibri" panose="020F0502020204030204" pitchFamily="34" charset="0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3542981" y="4214896"/>
            <a:ext cx="426720" cy="527050"/>
          </a:xfrm>
          <a:custGeom>
            <a:avLst/>
            <a:gdLst/>
            <a:ahLst/>
            <a:cxnLst/>
            <a:rect l="l" t="t" r="r" b="b"/>
            <a:pathLst>
              <a:path w="426720" h="527050">
                <a:moveTo>
                  <a:pt x="65624" y="109662"/>
                </a:moveTo>
                <a:lnTo>
                  <a:pt x="64931" y="163727"/>
                </a:lnTo>
                <a:lnTo>
                  <a:pt x="107374" y="224946"/>
                </a:lnTo>
                <a:lnTo>
                  <a:pt x="157251" y="290358"/>
                </a:lnTo>
                <a:lnTo>
                  <a:pt x="210033" y="353451"/>
                </a:lnTo>
                <a:lnTo>
                  <a:pt x="265642" y="414122"/>
                </a:lnTo>
                <a:lnTo>
                  <a:pt x="323998" y="472276"/>
                </a:lnTo>
                <a:lnTo>
                  <a:pt x="383934" y="526866"/>
                </a:lnTo>
                <a:lnTo>
                  <a:pt x="426693" y="479920"/>
                </a:lnTo>
                <a:lnTo>
                  <a:pt x="366756" y="425330"/>
                </a:lnTo>
                <a:lnTo>
                  <a:pt x="310483" y="369161"/>
                </a:lnTo>
                <a:lnTo>
                  <a:pt x="256862" y="310563"/>
                </a:lnTo>
                <a:lnTo>
                  <a:pt x="205971" y="249632"/>
                </a:lnTo>
                <a:lnTo>
                  <a:pt x="157886" y="186463"/>
                </a:lnTo>
                <a:lnTo>
                  <a:pt x="131146" y="147830"/>
                </a:lnTo>
                <a:lnTo>
                  <a:pt x="65624" y="109662"/>
                </a:lnTo>
                <a:close/>
              </a:path>
              <a:path w="426720" h="527050">
                <a:moveTo>
                  <a:pt x="3524" y="0"/>
                </a:moveTo>
                <a:lnTo>
                  <a:pt x="0" y="274948"/>
                </a:lnTo>
                <a:lnTo>
                  <a:pt x="2336" y="287338"/>
                </a:lnTo>
                <a:lnTo>
                  <a:pt x="9011" y="297516"/>
                </a:lnTo>
                <a:lnTo>
                  <a:pt x="19015" y="304449"/>
                </a:lnTo>
                <a:lnTo>
                  <a:pt x="31341" y="307102"/>
                </a:lnTo>
                <a:lnTo>
                  <a:pt x="43730" y="304766"/>
                </a:lnTo>
                <a:lnTo>
                  <a:pt x="53908" y="298092"/>
                </a:lnTo>
                <a:lnTo>
                  <a:pt x="60841" y="288088"/>
                </a:lnTo>
                <a:lnTo>
                  <a:pt x="63494" y="275762"/>
                </a:lnTo>
                <a:lnTo>
                  <a:pt x="64931" y="163727"/>
                </a:lnTo>
                <a:lnTo>
                  <a:pt x="60483" y="157312"/>
                </a:lnTo>
                <a:lnTo>
                  <a:pt x="16654" y="87553"/>
                </a:lnTo>
                <a:lnTo>
                  <a:pt x="6946" y="70476"/>
                </a:lnTo>
                <a:lnTo>
                  <a:pt x="62202" y="39185"/>
                </a:lnTo>
                <a:lnTo>
                  <a:pt x="70794" y="39185"/>
                </a:lnTo>
                <a:lnTo>
                  <a:pt x="3524" y="0"/>
                </a:lnTo>
                <a:close/>
              </a:path>
              <a:path w="426720" h="527050">
                <a:moveTo>
                  <a:pt x="70794" y="39185"/>
                </a:moveTo>
                <a:lnTo>
                  <a:pt x="62202" y="39185"/>
                </a:lnTo>
                <a:lnTo>
                  <a:pt x="70436" y="53793"/>
                </a:lnTo>
                <a:lnTo>
                  <a:pt x="112682" y="121151"/>
                </a:lnTo>
                <a:lnTo>
                  <a:pt x="131146" y="147830"/>
                </a:lnTo>
                <a:lnTo>
                  <a:pt x="209161" y="193274"/>
                </a:lnTo>
                <a:lnTo>
                  <a:pt x="221095" y="197339"/>
                </a:lnTo>
                <a:lnTo>
                  <a:pt x="233241" y="196539"/>
                </a:lnTo>
                <a:lnTo>
                  <a:pt x="244200" y="191243"/>
                </a:lnTo>
                <a:lnTo>
                  <a:pt x="252576" y="181820"/>
                </a:lnTo>
                <a:lnTo>
                  <a:pt x="256641" y="169885"/>
                </a:lnTo>
                <a:lnTo>
                  <a:pt x="255841" y="157740"/>
                </a:lnTo>
                <a:lnTo>
                  <a:pt x="250546" y="146781"/>
                </a:lnTo>
                <a:lnTo>
                  <a:pt x="241123" y="138404"/>
                </a:lnTo>
                <a:lnTo>
                  <a:pt x="70794" y="39185"/>
                </a:lnTo>
                <a:close/>
              </a:path>
              <a:path w="426720" h="527050">
                <a:moveTo>
                  <a:pt x="62202" y="39185"/>
                </a:moveTo>
                <a:lnTo>
                  <a:pt x="6946" y="70476"/>
                </a:lnTo>
                <a:lnTo>
                  <a:pt x="16654" y="87553"/>
                </a:lnTo>
                <a:lnTo>
                  <a:pt x="60483" y="157312"/>
                </a:lnTo>
                <a:lnTo>
                  <a:pt x="64931" y="163727"/>
                </a:lnTo>
                <a:lnTo>
                  <a:pt x="65624" y="109662"/>
                </a:lnTo>
                <a:lnTo>
                  <a:pt x="18592" y="82265"/>
                </a:lnTo>
                <a:lnTo>
                  <a:pt x="66321" y="55238"/>
                </a:lnTo>
                <a:lnTo>
                  <a:pt x="71343" y="55238"/>
                </a:lnTo>
                <a:lnTo>
                  <a:pt x="70436" y="53793"/>
                </a:lnTo>
                <a:lnTo>
                  <a:pt x="62202" y="39185"/>
                </a:lnTo>
                <a:close/>
              </a:path>
              <a:path w="426720" h="527050">
                <a:moveTo>
                  <a:pt x="71343" y="55238"/>
                </a:moveTo>
                <a:lnTo>
                  <a:pt x="66321" y="55238"/>
                </a:lnTo>
                <a:lnTo>
                  <a:pt x="65624" y="109662"/>
                </a:lnTo>
                <a:lnTo>
                  <a:pt x="131146" y="147830"/>
                </a:lnTo>
                <a:lnTo>
                  <a:pt x="112682" y="121151"/>
                </a:lnTo>
                <a:lnTo>
                  <a:pt x="71343" y="55238"/>
                </a:lnTo>
                <a:close/>
              </a:path>
              <a:path w="426720" h="527050">
                <a:moveTo>
                  <a:pt x="66321" y="55238"/>
                </a:moveTo>
                <a:lnTo>
                  <a:pt x="18592" y="82265"/>
                </a:lnTo>
                <a:lnTo>
                  <a:pt x="65624" y="109662"/>
                </a:lnTo>
                <a:lnTo>
                  <a:pt x="66321" y="55238"/>
                </a:lnTo>
                <a:close/>
              </a:path>
            </a:pathLst>
          </a:custGeom>
          <a:solidFill>
            <a:srgbClr val="76B900"/>
          </a:solid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2327001" y="2714958"/>
            <a:ext cx="2014220" cy="1309370"/>
          </a:xfrm>
          <a:custGeom>
            <a:avLst/>
            <a:gdLst/>
            <a:ahLst/>
            <a:cxnLst/>
            <a:rect l="l" t="t" r="r" b="b"/>
            <a:pathLst>
              <a:path w="2014220" h="1309370">
                <a:moveTo>
                  <a:pt x="1795844" y="0"/>
                </a:moveTo>
                <a:lnTo>
                  <a:pt x="218192" y="0"/>
                </a:lnTo>
                <a:lnTo>
                  <a:pt x="168162" y="5762"/>
                </a:lnTo>
                <a:lnTo>
                  <a:pt x="122237" y="22177"/>
                </a:lnTo>
                <a:lnTo>
                  <a:pt x="81724" y="47934"/>
                </a:lnTo>
                <a:lnTo>
                  <a:pt x="47934" y="81723"/>
                </a:lnTo>
                <a:lnTo>
                  <a:pt x="22177" y="122236"/>
                </a:lnTo>
                <a:lnTo>
                  <a:pt x="5762" y="168161"/>
                </a:lnTo>
                <a:lnTo>
                  <a:pt x="0" y="218191"/>
                </a:lnTo>
                <a:lnTo>
                  <a:pt x="0" y="1090932"/>
                </a:lnTo>
                <a:lnTo>
                  <a:pt x="5762" y="1140961"/>
                </a:lnTo>
                <a:lnTo>
                  <a:pt x="22177" y="1186887"/>
                </a:lnTo>
                <a:lnTo>
                  <a:pt x="47934" y="1227400"/>
                </a:lnTo>
                <a:lnTo>
                  <a:pt x="81724" y="1261189"/>
                </a:lnTo>
                <a:lnTo>
                  <a:pt x="122237" y="1286946"/>
                </a:lnTo>
                <a:lnTo>
                  <a:pt x="168162" y="1303361"/>
                </a:lnTo>
                <a:lnTo>
                  <a:pt x="218192" y="1309123"/>
                </a:lnTo>
                <a:lnTo>
                  <a:pt x="1795844" y="1309123"/>
                </a:lnTo>
                <a:lnTo>
                  <a:pt x="1845874" y="1303361"/>
                </a:lnTo>
                <a:lnTo>
                  <a:pt x="1891800" y="1286946"/>
                </a:lnTo>
                <a:lnTo>
                  <a:pt x="1932312" y="1261189"/>
                </a:lnTo>
                <a:lnTo>
                  <a:pt x="1966102" y="1227400"/>
                </a:lnTo>
                <a:lnTo>
                  <a:pt x="1991859" y="1186887"/>
                </a:lnTo>
                <a:lnTo>
                  <a:pt x="2008274" y="1140961"/>
                </a:lnTo>
                <a:lnTo>
                  <a:pt x="2014037" y="1090932"/>
                </a:lnTo>
                <a:lnTo>
                  <a:pt x="2014037" y="218191"/>
                </a:lnTo>
                <a:lnTo>
                  <a:pt x="2008274" y="168161"/>
                </a:lnTo>
                <a:lnTo>
                  <a:pt x="1991859" y="122236"/>
                </a:lnTo>
                <a:lnTo>
                  <a:pt x="1966102" y="81723"/>
                </a:lnTo>
                <a:lnTo>
                  <a:pt x="1932312" y="47934"/>
                </a:lnTo>
                <a:lnTo>
                  <a:pt x="1891800" y="22177"/>
                </a:lnTo>
                <a:lnTo>
                  <a:pt x="1845874" y="5762"/>
                </a:lnTo>
                <a:lnTo>
                  <a:pt x="1795844" y="0"/>
                </a:lnTo>
                <a:close/>
              </a:path>
            </a:pathLst>
          </a:custGeom>
          <a:solidFill>
            <a:srgbClr val="D0FF7D"/>
          </a:solid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2327001" y="2714958"/>
            <a:ext cx="2014220" cy="1309370"/>
          </a:xfrm>
          <a:custGeom>
            <a:avLst/>
            <a:gdLst/>
            <a:ahLst/>
            <a:cxnLst/>
            <a:rect l="l" t="t" r="r" b="b"/>
            <a:pathLst>
              <a:path w="2014220" h="1309370">
                <a:moveTo>
                  <a:pt x="0" y="218191"/>
                </a:moveTo>
                <a:lnTo>
                  <a:pt x="5762" y="168162"/>
                </a:lnTo>
                <a:lnTo>
                  <a:pt x="22177" y="122236"/>
                </a:lnTo>
                <a:lnTo>
                  <a:pt x="47934" y="81723"/>
                </a:lnTo>
                <a:lnTo>
                  <a:pt x="81723" y="47934"/>
                </a:lnTo>
                <a:lnTo>
                  <a:pt x="122236" y="22177"/>
                </a:lnTo>
                <a:lnTo>
                  <a:pt x="168162" y="5762"/>
                </a:lnTo>
                <a:lnTo>
                  <a:pt x="218191" y="0"/>
                </a:lnTo>
                <a:lnTo>
                  <a:pt x="1795845" y="0"/>
                </a:lnTo>
                <a:lnTo>
                  <a:pt x="1845874" y="5762"/>
                </a:lnTo>
                <a:lnTo>
                  <a:pt x="1891800" y="22177"/>
                </a:lnTo>
                <a:lnTo>
                  <a:pt x="1932312" y="47934"/>
                </a:lnTo>
                <a:lnTo>
                  <a:pt x="1966102" y="81723"/>
                </a:lnTo>
                <a:lnTo>
                  <a:pt x="1991859" y="122236"/>
                </a:lnTo>
                <a:lnTo>
                  <a:pt x="2008274" y="168162"/>
                </a:lnTo>
                <a:lnTo>
                  <a:pt x="2014037" y="218191"/>
                </a:lnTo>
                <a:lnTo>
                  <a:pt x="2014037" y="1090932"/>
                </a:lnTo>
                <a:lnTo>
                  <a:pt x="2008274" y="1140961"/>
                </a:lnTo>
                <a:lnTo>
                  <a:pt x="1991859" y="1186887"/>
                </a:lnTo>
                <a:lnTo>
                  <a:pt x="1966102" y="1227399"/>
                </a:lnTo>
                <a:lnTo>
                  <a:pt x="1932312" y="1261189"/>
                </a:lnTo>
                <a:lnTo>
                  <a:pt x="1891800" y="1286946"/>
                </a:lnTo>
                <a:lnTo>
                  <a:pt x="1845874" y="1303361"/>
                </a:lnTo>
                <a:lnTo>
                  <a:pt x="1795845" y="1309124"/>
                </a:lnTo>
                <a:lnTo>
                  <a:pt x="218191" y="1309124"/>
                </a:lnTo>
                <a:lnTo>
                  <a:pt x="168162" y="1303361"/>
                </a:lnTo>
                <a:lnTo>
                  <a:pt x="122236" y="1286946"/>
                </a:lnTo>
                <a:lnTo>
                  <a:pt x="81723" y="1261189"/>
                </a:lnTo>
                <a:lnTo>
                  <a:pt x="47934" y="1227399"/>
                </a:lnTo>
                <a:lnTo>
                  <a:pt x="22177" y="1186887"/>
                </a:lnTo>
                <a:lnTo>
                  <a:pt x="5762" y="1140961"/>
                </a:lnTo>
                <a:lnTo>
                  <a:pt x="0" y="1090932"/>
                </a:lnTo>
                <a:lnTo>
                  <a:pt x="0" y="218191"/>
                </a:lnTo>
                <a:close/>
              </a:path>
            </a:pathLst>
          </a:custGeom>
          <a:ln w="25400">
            <a:solidFill>
              <a:srgbClr val="76B900"/>
            </a:solidFill>
          </a:ln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653014" y="3121152"/>
            <a:ext cx="1537986" cy="4129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spc="-5" dirty="0">
                <a:latin typeface="Comic Sans MS" panose="030F0702030302020204" pitchFamily="66" charset="0"/>
                <a:cs typeface="Calibri" panose="020F0502020204030204" pitchFamily="34" charset="0"/>
              </a:rPr>
              <a:t>Optimize</a:t>
            </a:r>
            <a:endParaRPr sz="2600" dirty="0">
              <a:latin typeface="Comic Sans MS" panose="030F0702030302020204" pitchFamily="66" charset="0"/>
              <a:cs typeface="Calibri" panose="020F0502020204030204" pitchFamily="34" charset="0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521820" y="2046449"/>
            <a:ext cx="429259" cy="500380"/>
          </a:xfrm>
          <a:custGeom>
            <a:avLst/>
            <a:gdLst/>
            <a:ahLst/>
            <a:cxnLst/>
            <a:rect l="l" t="t" r="r" b="b"/>
            <a:pathLst>
              <a:path w="429260" h="500380">
                <a:moveTo>
                  <a:pt x="334313" y="83458"/>
                </a:moveTo>
                <a:lnTo>
                  <a:pt x="281537" y="93922"/>
                </a:lnTo>
                <a:lnTo>
                  <a:pt x="234218" y="143888"/>
                </a:lnTo>
                <a:lnTo>
                  <a:pt x="181629" y="204574"/>
                </a:lnTo>
                <a:lnTo>
                  <a:pt x="131767" y="267521"/>
                </a:lnTo>
                <a:lnTo>
                  <a:pt x="84710" y="332639"/>
                </a:lnTo>
                <a:lnTo>
                  <a:pt x="40532" y="399836"/>
                </a:lnTo>
                <a:lnTo>
                  <a:pt x="0" y="467800"/>
                </a:lnTo>
                <a:lnTo>
                  <a:pt x="54538" y="500325"/>
                </a:lnTo>
                <a:lnTo>
                  <a:pt x="95069" y="432361"/>
                </a:lnTo>
                <a:lnTo>
                  <a:pt x="137756" y="367543"/>
                </a:lnTo>
                <a:lnTo>
                  <a:pt x="183221" y="304733"/>
                </a:lnTo>
                <a:lnTo>
                  <a:pt x="231390" y="244021"/>
                </a:lnTo>
                <a:lnTo>
                  <a:pt x="282190" y="185493"/>
                </a:lnTo>
                <a:lnTo>
                  <a:pt x="310466" y="155682"/>
                </a:lnTo>
                <a:lnTo>
                  <a:pt x="334313" y="83458"/>
                </a:lnTo>
                <a:close/>
              </a:path>
              <a:path w="429260" h="500380">
                <a:moveTo>
                  <a:pt x="422818" y="17938"/>
                </a:moveTo>
                <a:lnTo>
                  <a:pt x="360502" y="17938"/>
                </a:lnTo>
                <a:lnTo>
                  <a:pt x="402554" y="65519"/>
                </a:lnTo>
                <a:lnTo>
                  <a:pt x="391397" y="75338"/>
                </a:lnTo>
                <a:lnTo>
                  <a:pt x="335550" y="129236"/>
                </a:lnTo>
                <a:lnTo>
                  <a:pt x="310466" y="155682"/>
                </a:lnTo>
                <a:lnTo>
                  <a:pt x="282230" y="241197"/>
                </a:lnTo>
                <a:lnTo>
                  <a:pt x="280725" y="253714"/>
                </a:lnTo>
                <a:lnTo>
                  <a:pt x="284022" y="265430"/>
                </a:lnTo>
                <a:lnTo>
                  <a:pt x="291473" y="275055"/>
                </a:lnTo>
                <a:lnTo>
                  <a:pt x="302426" y="281299"/>
                </a:lnTo>
                <a:lnTo>
                  <a:pt x="314943" y="282805"/>
                </a:lnTo>
                <a:lnTo>
                  <a:pt x="326659" y="279508"/>
                </a:lnTo>
                <a:lnTo>
                  <a:pt x="336285" y="272058"/>
                </a:lnTo>
                <a:lnTo>
                  <a:pt x="342529" y="261105"/>
                </a:lnTo>
                <a:lnTo>
                  <a:pt x="422818" y="17938"/>
                </a:lnTo>
                <a:close/>
              </a:path>
              <a:path w="429260" h="500380">
                <a:moveTo>
                  <a:pt x="372730" y="31774"/>
                </a:moveTo>
                <a:lnTo>
                  <a:pt x="351378" y="31774"/>
                </a:lnTo>
                <a:lnTo>
                  <a:pt x="387703" y="72872"/>
                </a:lnTo>
                <a:lnTo>
                  <a:pt x="334313" y="83458"/>
                </a:lnTo>
                <a:lnTo>
                  <a:pt x="310466" y="155682"/>
                </a:lnTo>
                <a:lnTo>
                  <a:pt x="335550" y="129236"/>
                </a:lnTo>
                <a:lnTo>
                  <a:pt x="391397" y="75338"/>
                </a:lnTo>
                <a:lnTo>
                  <a:pt x="402554" y="65519"/>
                </a:lnTo>
                <a:lnTo>
                  <a:pt x="372730" y="31774"/>
                </a:lnTo>
                <a:close/>
              </a:path>
              <a:path w="429260" h="500380">
                <a:moveTo>
                  <a:pt x="428741" y="0"/>
                </a:moveTo>
                <a:lnTo>
                  <a:pt x="159021" y="53478"/>
                </a:lnTo>
                <a:lnTo>
                  <a:pt x="134053" y="90797"/>
                </a:lnTo>
                <a:lnTo>
                  <a:pt x="138904" y="102434"/>
                </a:lnTo>
                <a:lnTo>
                  <a:pt x="147541" y="111010"/>
                </a:lnTo>
                <a:lnTo>
                  <a:pt x="158763" y="115721"/>
                </a:lnTo>
                <a:lnTo>
                  <a:pt x="171371" y="115765"/>
                </a:lnTo>
                <a:lnTo>
                  <a:pt x="281537" y="93922"/>
                </a:lnTo>
                <a:lnTo>
                  <a:pt x="289460" y="85556"/>
                </a:lnTo>
                <a:lnTo>
                  <a:pt x="347281" y="29664"/>
                </a:lnTo>
                <a:lnTo>
                  <a:pt x="360502" y="17938"/>
                </a:lnTo>
                <a:lnTo>
                  <a:pt x="422818" y="17938"/>
                </a:lnTo>
                <a:lnTo>
                  <a:pt x="428741" y="0"/>
                </a:lnTo>
                <a:close/>
              </a:path>
              <a:path w="429260" h="500380">
                <a:moveTo>
                  <a:pt x="360502" y="17938"/>
                </a:moveTo>
                <a:lnTo>
                  <a:pt x="347281" y="29664"/>
                </a:lnTo>
                <a:lnTo>
                  <a:pt x="289460" y="85556"/>
                </a:lnTo>
                <a:lnTo>
                  <a:pt x="281537" y="93922"/>
                </a:lnTo>
                <a:lnTo>
                  <a:pt x="334313" y="83458"/>
                </a:lnTo>
                <a:lnTo>
                  <a:pt x="351378" y="31774"/>
                </a:lnTo>
                <a:lnTo>
                  <a:pt x="372730" y="31774"/>
                </a:lnTo>
                <a:lnTo>
                  <a:pt x="360502" y="17938"/>
                </a:lnTo>
                <a:close/>
              </a:path>
              <a:path w="429260" h="500380">
                <a:moveTo>
                  <a:pt x="351378" y="31774"/>
                </a:moveTo>
                <a:lnTo>
                  <a:pt x="334313" y="83458"/>
                </a:lnTo>
                <a:lnTo>
                  <a:pt x="387703" y="72872"/>
                </a:lnTo>
                <a:lnTo>
                  <a:pt x="351378" y="31774"/>
                </a:lnTo>
                <a:close/>
              </a:path>
            </a:pathLst>
          </a:custGeom>
          <a:solidFill>
            <a:srgbClr val="76B900"/>
          </a:solid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996903" y="2940629"/>
            <a:ext cx="257314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Comic Sans MS" panose="030F0702030302020204" pitchFamily="66" charset="0"/>
              </a:rPr>
              <a:t>Or</a:t>
            </a:r>
            <a:r>
              <a:rPr lang="zh-CN" altLang="en-US" sz="2800" dirty="0">
                <a:latin typeface="Comic Sans MS" panose="030F0702030302020204" pitchFamily="66" charset="0"/>
              </a:rPr>
              <a:t> </a:t>
            </a:r>
            <a:r>
              <a:rPr lang="en-US" altLang="zh-CN" sz="2800" dirty="0">
                <a:latin typeface="Comic Sans MS" panose="030F0702030302020204" pitchFamily="66" charset="0"/>
              </a:rPr>
              <a:t>determine</a:t>
            </a:r>
            <a:r>
              <a:rPr lang="zh-CN" altLang="en-US" sz="2800" dirty="0">
                <a:latin typeface="Comic Sans MS" panose="030F0702030302020204" pitchFamily="66" charset="0"/>
              </a:rPr>
              <a:t> </a:t>
            </a:r>
            <a:endParaRPr lang="en-US" altLang="zh-CN" sz="2800" dirty="0">
              <a:latin typeface="Comic Sans MS" panose="030F0702030302020204" pitchFamily="66" charset="0"/>
            </a:endParaRPr>
          </a:p>
          <a:p>
            <a:r>
              <a:rPr lang="en-US" altLang="zh-CN" sz="2800" dirty="0">
                <a:latin typeface="Comic Sans MS" panose="030F0702030302020204" pitchFamily="66" charset="0"/>
              </a:rPr>
              <a:t>bottleneck</a:t>
            </a:r>
            <a:endParaRPr lang="en-US" sz="2800" dirty="0">
              <a:latin typeface="Comic Sans MS" panose="030F0702030302020204" pitchFamily="66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09140" y="103900"/>
            <a:ext cx="8291830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" dirty="0">
                <a:latin typeface="Comic Sans MS" panose="030F0702030302020204" pitchFamily="66" charset="0"/>
              </a:rPr>
              <a:t>ANALYSIS DRIVEN</a:t>
            </a:r>
            <a:r>
              <a:rPr sz="2800" spc="-10" dirty="0">
                <a:latin typeface="Comic Sans MS" panose="030F0702030302020204" pitchFamily="66" charset="0"/>
              </a:rPr>
              <a:t> OPTIMIZATION</a:t>
            </a:r>
            <a:endParaRPr sz="2800" dirty="0">
              <a:latin typeface="Comic Sans MS" panose="030F0702030302020204" pitchFamily="66" charset="0"/>
            </a:endParaRPr>
          </a:p>
        </p:txBody>
      </p:sp>
      <p:sp>
        <p:nvSpPr>
          <p:cNvPr id="35" name="object 35"/>
          <p:cNvSpPr txBox="1">
            <a:spLocks noGrp="1"/>
          </p:cNvSpPr>
          <p:nvPr>
            <p:ph type="sldNum" sz="quarter" idx="12"/>
          </p:nvPr>
        </p:nvSpPr>
        <p:spPr>
          <a:xfrm>
            <a:off x="7863840" y="5782626"/>
            <a:ext cx="2560320" cy="20480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>
                <a:latin typeface="Comic Sans MS" panose="030F0702030302020204" pitchFamily="66" charset="0"/>
              </a:rPr>
              <a:t>5</a:t>
            </a:fld>
            <a:endParaRPr dirty="0">
              <a:latin typeface="Comic Sans MS" panose="030F0702030302020204" pitchFamily="66" charset="0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201334" y="499532"/>
            <a:ext cx="1659889" cy="1609090"/>
          </a:xfrm>
          <a:custGeom>
            <a:avLst/>
            <a:gdLst/>
            <a:ahLst/>
            <a:cxnLst/>
            <a:rect l="l" t="t" r="r" b="b"/>
            <a:pathLst>
              <a:path w="1659889" h="1609089">
                <a:moveTo>
                  <a:pt x="829732" y="0"/>
                </a:moveTo>
                <a:lnTo>
                  <a:pt x="0" y="804332"/>
                </a:lnTo>
                <a:lnTo>
                  <a:pt x="829732" y="1608667"/>
                </a:lnTo>
                <a:lnTo>
                  <a:pt x="1659465" y="804332"/>
                </a:lnTo>
                <a:lnTo>
                  <a:pt x="829732" y="0"/>
                </a:lnTo>
                <a:close/>
              </a:path>
            </a:pathLst>
          </a:custGeom>
          <a:solidFill>
            <a:srgbClr val="76B900"/>
          </a:solid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037665" y="537632"/>
            <a:ext cx="2328545" cy="1532890"/>
          </a:xfrm>
          <a:custGeom>
            <a:avLst/>
            <a:gdLst/>
            <a:ahLst/>
            <a:cxnLst/>
            <a:rect l="l" t="t" r="r" b="b"/>
            <a:pathLst>
              <a:path w="2328545" h="1532889">
                <a:moveTo>
                  <a:pt x="2072918" y="0"/>
                </a:moveTo>
                <a:lnTo>
                  <a:pt x="255416" y="0"/>
                </a:lnTo>
                <a:lnTo>
                  <a:pt x="209504" y="4115"/>
                </a:lnTo>
                <a:lnTo>
                  <a:pt x="166293" y="15979"/>
                </a:lnTo>
                <a:lnTo>
                  <a:pt x="126503" y="34871"/>
                </a:lnTo>
                <a:lnTo>
                  <a:pt x="90855" y="60070"/>
                </a:lnTo>
                <a:lnTo>
                  <a:pt x="60070" y="90854"/>
                </a:lnTo>
                <a:lnTo>
                  <a:pt x="34871" y="126502"/>
                </a:lnTo>
                <a:lnTo>
                  <a:pt x="15979" y="166292"/>
                </a:lnTo>
                <a:lnTo>
                  <a:pt x="4115" y="209504"/>
                </a:lnTo>
                <a:lnTo>
                  <a:pt x="0" y="255416"/>
                </a:lnTo>
                <a:lnTo>
                  <a:pt x="0" y="1277049"/>
                </a:lnTo>
                <a:lnTo>
                  <a:pt x="4115" y="1322961"/>
                </a:lnTo>
                <a:lnTo>
                  <a:pt x="15979" y="1366172"/>
                </a:lnTo>
                <a:lnTo>
                  <a:pt x="34871" y="1405963"/>
                </a:lnTo>
                <a:lnTo>
                  <a:pt x="60070" y="1441611"/>
                </a:lnTo>
                <a:lnTo>
                  <a:pt x="90855" y="1472395"/>
                </a:lnTo>
                <a:lnTo>
                  <a:pt x="126503" y="1497594"/>
                </a:lnTo>
                <a:lnTo>
                  <a:pt x="166293" y="1516486"/>
                </a:lnTo>
                <a:lnTo>
                  <a:pt x="209504" y="1528350"/>
                </a:lnTo>
                <a:lnTo>
                  <a:pt x="255416" y="1532465"/>
                </a:lnTo>
                <a:lnTo>
                  <a:pt x="2072918" y="1532465"/>
                </a:lnTo>
                <a:lnTo>
                  <a:pt x="2118829" y="1528350"/>
                </a:lnTo>
                <a:lnTo>
                  <a:pt x="2162041" y="1516486"/>
                </a:lnTo>
                <a:lnTo>
                  <a:pt x="2201831" y="1497594"/>
                </a:lnTo>
                <a:lnTo>
                  <a:pt x="2237479" y="1472395"/>
                </a:lnTo>
                <a:lnTo>
                  <a:pt x="2268263" y="1441611"/>
                </a:lnTo>
                <a:lnTo>
                  <a:pt x="2293462" y="1405963"/>
                </a:lnTo>
                <a:lnTo>
                  <a:pt x="2312354" y="1366172"/>
                </a:lnTo>
                <a:lnTo>
                  <a:pt x="2324219" y="1322961"/>
                </a:lnTo>
                <a:lnTo>
                  <a:pt x="2328334" y="1277049"/>
                </a:lnTo>
                <a:lnTo>
                  <a:pt x="2328334" y="255416"/>
                </a:lnTo>
                <a:lnTo>
                  <a:pt x="2324219" y="209504"/>
                </a:lnTo>
                <a:lnTo>
                  <a:pt x="2312354" y="166292"/>
                </a:lnTo>
                <a:lnTo>
                  <a:pt x="2293462" y="126502"/>
                </a:lnTo>
                <a:lnTo>
                  <a:pt x="2268263" y="90854"/>
                </a:lnTo>
                <a:lnTo>
                  <a:pt x="2237479" y="60070"/>
                </a:lnTo>
                <a:lnTo>
                  <a:pt x="2201831" y="34871"/>
                </a:lnTo>
                <a:lnTo>
                  <a:pt x="2162041" y="15979"/>
                </a:lnTo>
                <a:lnTo>
                  <a:pt x="2118829" y="4115"/>
                </a:lnTo>
                <a:lnTo>
                  <a:pt x="2072918" y="0"/>
                </a:lnTo>
                <a:close/>
              </a:path>
            </a:pathLst>
          </a:custGeom>
          <a:solidFill>
            <a:srgbClr val="76B900"/>
          </a:solid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201334" y="2345265"/>
            <a:ext cx="1659889" cy="1609090"/>
          </a:xfrm>
          <a:custGeom>
            <a:avLst/>
            <a:gdLst/>
            <a:ahLst/>
            <a:cxnLst/>
            <a:rect l="l" t="t" r="r" b="b"/>
            <a:pathLst>
              <a:path w="1659889" h="1609089">
                <a:moveTo>
                  <a:pt x="829732" y="0"/>
                </a:moveTo>
                <a:lnTo>
                  <a:pt x="0" y="804334"/>
                </a:lnTo>
                <a:lnTo>
                  <a:pt x="829732" y="1608667"/>
                </a:lnTo>
                <a:lnTo>
                  <a:pt x="1659465" y="804334"/>
                </a:lnTo>
                <a:lnTo>
                  <a:pt x="829732" y="0"/>
                </a:lnTo>
                <a:close/>
              </a:path>
            </a:pathLst>
          </a:custGeom>
          <a:solidFill>
            <a:srgbClr val="76B900"/>
          </a:solid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037665" y="2383365"/>
            <a:ext cx="2328545" cy="1532890"/>
          </a:xfrm>
          <a:custGeom>
            <a:avLst/>
            <a:gdLst/>
            <a:ahLst/>
            <a:cxnLst/>
            <a:rect l="l" t="t" r="r" b="b"/>
            <a:pathLst>
              <a:path w="2328545" h="1532889">
                <a:moveTo>
                  <a:pt x="2072918" y="0"/>
                </a:moveTo>
                <a:lnTo>
                  <a:pt x="255416" y="0"/>
                </a:lnTo>
                <a:lnTo>
                  <a:pt x="209504" y="4115"/>
                </a:lnTo>
                <a:lnTo>
                  <a:pt x="166293" y="15979"/>
                </a:lnTo>
                <a:lnTo>
                  <a:pt x="126503" y="34871"/>
                </a:lnTo>
                <a:lnTo>
                  <a:pt x="90855" y="60070"/>
                </a:lnTo>
                <a:lnTo>
                  <a:pt x="60070" y="90854"/>
                </a:lnTo>
                <a:lnTo>
                  <a:pt x="34871" y="126502"/>
                </a:lnTo>
                <a:lnTo>
                  <a:pt x="15979" y="166292"/>
                </a:lnTo>
                <a:lnTo>
                  <a:pt x="4115" y="209504"/>
                </a:lnTo>
                <a:lnTo>
                  <a:pt x="0" y="255416"/>
                </a:lnTo>
                <a:lnTo>
                  <a:pt x="0" y="1277049"/>
                </a:lnTo>
                <a:lnTo>
                  <a:pt x="4115" y="1322961"/>
                </a:lnTo>
                <a:lnTo>
                  <a:pt x="15979" y="1366172"/>
                </a:lnTo>
                <a:lnTo>
                  <a:pt x="34871" y="1405963"/>
                </a:lnTo>
                <a:lnTo>
                  <a:pt x="60070" y="1441611"/>
                </a:lnTo>
                <a:lnTo>
                  <a:pt x="90855" y="1472395"/>
                </a:lnTo>
                <a:lnTo>
                  <a:pt x="126503" y="1497594"/>
                </a:lnTo>
                <a:lnTo>
                  <a:pt x="166293" y="1516486"/>
                </a:lnTo>
                <a:lnTo>
                  <a:pt x="209504" y="1528350"/>
                </a:lnTo>
                <a:lnTo>
                  <a:pt x="255416" y="1532465"/>
                </a:lnTo>
                <a:lnTo>
                  <a:pt x="2072918" y="1532465"/>
                </a:lnTo>
                <a:lnTo>
                  <a:pt x="2118829" y="1528350"/>
                </a:lnTo>
                <a:lnTo>
                  <a:pt x="2162041" y="1516486"/>
                </a:lnTo>
                <a:lnTo>
                  <a:pt x="2201831" y="1497594"/>
                </a:lnTo>
                <a:lnTo>
                  <a:pt x="2237479" y="1472395"/>
                </a:lnTo>
                <a:lnTo>
                  <a:pt x="2268263" y="1441611"/>
                </a:lnTo>
                <a:lnTo>
                  <a:pt x="2293462" y="1405963"/>
                </a:lnTo>
                <a:lnTo>
                  <a:pt x="2312354" y="1366172"/>
                </a:lnTo>
                <a:lnTo>
                  <a:pt x="2324219" y="1322961"/>
                </a:lnTo>
                <a:lnTo>
                  <a:pt x="2328334" y="1277049"/>
                </a:lnTo>
                <a:lnTo>
                  <a:pt x="2328334" y="255416"/>
                </a:lnTo>
                <a:lnTo>
                  <a:pt x="2324219" y="209504"/>
                </a:lnTo>
                <a:lnTo>
                  <a:pt x="2312354" y="166292"/>
                </a:lnTo>
                <a:lnTo>
                  <a:pt x="2293462" y="126502"/>
                </a:lnTo>
                <a:lnTo>
                  <a:pt x="2268263" y="90854"/>
                </a:lnTo>
                <a:lnTo>
                  <a:pt x="2237479" y="60070"/>
                </a:lnTo>
                <a:lnTo>
                  <a:pt x="2201831" y="34871"/>
                </a:lnTo>
                <a:lnTo>
                  <a:pt x="2162041" y="15979"/>
                </a:lnTo>
                <a:lnTo>
                  <a:pt x="2118829" y="4115"/>
                </a:lnTo>
                <a:lnTo>
                  <a:pt x="2072918" y="0"/>
                </a:lnTo>
                <a:close/>
              </a:path>
            </a:pathLst>
          </a:custGeom>
          <a:solidFill>
            <a:srgbClr val="76B900"/>
          </a:solid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037665" y="4267198"/>
            <a:ext cx="2328545" cy="1532890"/>
          </a:xfrm>
          <a:custGeom>
            <a:avLst/>
            <a:gdLst/>
            <a:ahLst/>
            <a:cxnLst/>
            <a:rect l="l" t="t" r="r" b="b"/>
            <a:pathLst>
              <a:path w="2328545" h="1532889">
                <a:moveTo>
                  <a:pt x="2072918" y="0"/>
                </a:moveTo>
                <a:lnTo>
                  <a:pt x="255416" y="0"/>
                </a:lnTo>
                <a:lnTo>
                  <a:pt x="209504" y="4115"/>
                </a:lnTo>
                <a:lnTo>
                  <a:pt x="166293" y="15979"/>
                </a:lnTo>
                <a:lnTo>
                  <a:pt x="126503" y="34871"/>
                </a:lnTo>
                <a:lnTo>
                  <a:pt x="90855" y="60070"/>
                </a:lnTo>
                <a:lnTo>
                  <a:pt x="60070" y="90854"/>
                </a:lnTo>
                <a:lnTo>
                  <a:pt x="34871" y="126502"/>
                </a:lnTo>
                <a:lnTo>
                  <a:pt x="15979" y="166292"/>
                </a:lnTo>
                <a:lnTo>
                  <a:pt x="4115" y="209504"/>
                </a:lnTo>
                <a:lnTo>
                  <a:pt x="0" y="255416"/>
                </a:lnTo>
                <a:lnTo>
                  <a:pt x="0" y="1277049"/>
                </a:lnTo>
                <a:lnTo>
                  <a:pt x="4115" y="1322960"/>
                </a:lnTo>
                <a:lnTo>
                  <a:pt x="15979" y="1366172"/>
                </a:lnTo>
                <a:lnTo>
                  <a:pt x="34871" y="1405963"/>
                </a:lnTo>
                <a:lnTo>
                  <a:pt x="60070" y="1441611"/>
                </a:lnTo>
                <a:lnTo>
                  <a:pt x="90855" y="1472395"/>
                </a:lnTo>
                <a:lnTo>
                  <a:pt x="126503" y="1497594"/>
                </a:lnTo>
                <a:lnTo>
                  <a:pt x="166293" y="1516486"/>
                </a:lnTo>
                <a:lnTo>
                  <a:pt x="209504" y="1528350"/>
                </a:lnTo>
                <a:lnTo>
                  <a:pt x="255416" y="1532465"/>
                </a:lnTo>
                <a:lnTo>
                  <a:pt x="2072918" y="1532465"/>
                </a:lnTo>
                <a:lnTo>
                  <a:pt x="2118829" y="1528350"/>
                </a:lnTo>
                <a:lnTo>
                  <a:pt x="2162041" y="1516486"/>
                </a:lnTo>
                <a:lnTo>
                  <a:pt x="2201831" y="1497594"/>
                </a:lnTo>
                <a:lnTo>
                  <a:pt x="2237479" y="1472395"/>
                </a:lnTo>
                <a:lnTo>
                  <a:pt x="2268263" y="1441611"/>
                </a:lnTo>
                <a:lnTo>
                  <a:pt x="2293462" y="1405963"/>
                </a:lnTo>
                <a:lnTo>
                  <a:pt x="2312354" y="1366172"/>
                </a:lnTo>
                <a:lnTo>
                  <a:pt x="2324219" y="1322960"/>
                </a:lnTo>
                <a:lnTo>
                  <a:pt x="2328334" y="1277049"/>
                </a:lnTo>
                <a:lnTo>
                  <a:pt x="2328334" y="255416"/>
                </a:lnTo>
                <a:lnTo>
                  <a:pt x="2324219" y="209504"/>
                </a:lnTo>
                <a:lnTo>
                  <a:pt x="2312354" y="166292"/>
                </a:lnTo>
                <a:lnTo>
                  <a:pt x="2293462" y="126502"/>
                </a:lnTo>
                <a:lnTo>
                  <a:pt x="2268263" y="90854"/>
                </a:lnTo>
                <a:lnTo>
                  <a:pt x="2237479" y="60070"/>
                </a:lnTo>
                <a:lnTo>
                  <a:pt x="2201831" y="34871"/>
                </a:lnTo>
                <a:lnTo>
                  <a:pt x="2162041" y="15979"/>
                </a:lnTo>
                <a:lnTo>
                  <a:pt x="2118829" y="4115"/>
                </a:lnTo>
                <a:lnTo>
                  <a:pt x="2072918" y="0"/>
                </a:lnTo>
                <a:close/>
              </a:path>
            </a:pathLst>
          </a:custGeom>
          <a:solidFill>
            <a:srgbClr val="76B900"/>
          </a:solid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992968" y="152400"/>
            <a:ext cx="76200" cy="347345"/>
          </a:xfrm>
          <a:custGeom>
            <a:avLst/>
            <a:gdLst/>
            <a:ahLst/>
            <a:cxnLst/>
            <a:rect l="l" t="t" r="r" b="b"/>
            <a:pathLst>
              <a:path w="76200" h="347345">
                <a:moveTo>
                  <a:pt x="33337" y="270932"/>
                </a:moveTo>
                <a:lnTo>
                  <a:pt x="0" y="270932"/>
                </a:lnTo>
                <a:lnTo>
                  <a:pt x="38100" y="347132"/>
                </a:lnTo>
                <a:lnTo>
                  <a:pt x="69850" y="283632"/>
                </a:lnTo>
                <a:lnTo>
                  <a:pt x="33337" y="283632"/>
                </a:lnTo>
                <a:lnTo>
                  <a:pt x="33337" y="270932"/>
                </a:lnTo>
                <a:close/>
              </a:path>
              <a:path w="76200" h="347345">
                <a:moveTo>
                  <a:pt x="42861" y="0"/>
                </a:moveTo>
                <a:lnTo>
                  <a:pt x="33336" y="0"/>
                </a:lnTo>
                <a:lnTo>
                  <a:pt x="33337" y="283632"/>
                </a:lnTo>
                <a:lnTo>
                  <a:pt x="42862" y="283632"/>
                </a:lnTo>
                <a:lnTo>
                  <a:pt x="42861" y="0"/>
                </a:lnTo>
                <a:close/>
              </a:path>
              <a:path w="76200" h="347345">
                <a:moveTo>
                  <a:pt x="76200" y="270932"/>
                </a:moveTo>
                <a:lnTo>
                  <a:pt x="42862" y="270932"/>
                </a:lnTo>
                <a:lnTo>
                  <a:pt x="42862" y="283632"/>
                </a:lnTo>
                <a:lnTo>
                  <a:pt x="69850" y="283632"/>
                </a:lnTo>
                <a:lnTo>
                  <a:pt x="76200" y="270932"/>
                </a:lnTo>
                <a:close/>
              </a:path>
            </a:pathLst>
          </a:custGeom>
          <a:solidFill>
            <a:srgbClr val="5E5E5E"/>
          </a:solid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992967" y="2108200"/>
            <a:ext cx="76200" cy="23706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860800" y="1265765"/>
            <a:ext cx="1177290" cy="76200"/>
          </a:xfrm>
          <a:custGeom>
            <a:avLst/>
            <a:gdLst/>
            <a:ahLst/>
            <a:cxnLst/>
            <a:rect l="l" t="t" r="r" b="b"/>
            <a:pathLst>
              <a:path w="1177289" h="76200">
                <a:moveTo>
                  <a:pt x="1167340" y="33337"/>
                </a:moveTo>
                <a:lnTo>
                  <a:pt x="1113365" y="33337"/>
                </a:lnTo>
                <a:lnTo>
                  <a:pt x="1113365" y="42862"/>
                </a:lnTo>
                <a:lnTo>
                  <a:pt x="1100665" y="42862"/>
                </a:lnTo>
                <a:lnTo>
                  <a:pt x="1100665" y="76200"/>
                </a:lnTo>
                <a:lnTo>
                  <a:pt x="1176865" y="38100"/>
                </a:lnTo>
                <a:lnTo>
                  <a:pt x="1167340" y="33337"/>
                </a:lnTo>
                <a:close/>
              </a:path>
              <a:path w="1177289" h="76200">
                <a:moveTo>
                  <a:pt x="1100665" y="33337"/>
                </a:moveTo>
                <a:lnTo>
                  <a:pt x="0" y="33338"/>
                </a:lnTo>
                <a:lnTo>
                  <a:pt x="0" y="42863"/>
                </a:lnTo>
                <a:lnTo>
                  <a:pt x="1100665" y="42862"/>
                </a:lnTo>
                <a:lnTo>
                  <a:pt x="1100665" y="33337"/>
                </a:lnTo>
                <a:close/>
              </a:path>
              <a:path w="1177289" h="76200">
                <a:moveTo>
                  <a:pt x="1113365" y="33337"/>
                </a:moveTo>
                <a:lnTo>
                  <a:pt x="1100665" y="33337"/>
                </a:lnTo>
                <a:lnTo>
                  <a:pt x="1100665" y="42862"/>
                </a:lnTo>
                <a:lnTo>
                  <a:pt x="1113365" y="42862"/>
                </a:lnTo>
                <a:lnTo>
                  <a:pt x="1113365" y="33337"/>
                </a:lnTo>
                <a:close/>
              </a:path>
              <a:path w="1177289" h="76200">
                <a:moveTo>
                  <a:pt x="1100665" y="0"/>
                </a:moveTo>
                <a:lnTo>
                  <a:pt x="1100665" y="33337"/>
                </a:lnTo>
                <a:lnTo>
                  <a:pt x="1167340" y="33337"/>
                </a:lnTo>
                <a:lnTo>
                  <a:pt x="1100665" y="0"/>
                </a:lnTo>
                <a:close/>
              </a:path>
            </a:pathLst>
          </a:custGeom>
          <a:solidFill>
            <a:srgbClr val="5E5E5E"/>
          </a:solid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860800" y="3111498"/>
            <a:ext cx="1177290" cy="76200"/>
          </a:xfrm>
          <a:custGeom>
            <a:avLst/>
            <a:gdLst/>
            <a:ahLst/>
            <a:cxnLst/>
            <a:rect l="l" t="t" r="r" b="b"/>
            <a:pathLst>
              <a:path w="1177289" h="76200">
                <a:moveTo>
                  <a:pt x="1167340" y="33337"/>
                </a:moveTo>
                <a:lnTo>
                  <a:pt x="1113365" y="33337"/>
                </a:lnTo>
                <a:lnTo>
                  <a:pt x="1113365" y="42862"/>
                </a:lnTo>
                <a:lnTo>
                  <a:pt x="1100665" y="42862"/>
                </a:lnTo>
                <a:lnTo>
                  <a:pt x="1100665" y="76200"/>
                </a:lnTo>
                <a:lnTo>
                  <a:pt x="1176865" y="38100"/>
                </a:lnTo>
                <a:lnTo>
                  <a:pt x="1167340" y="33337"/>
                </a:lnTo>
                <a:close/>
              </a:path>
              <a:path w="1177289" h="76200">
                <a:moveTo>
                  <a:pt x="1100665" y="33337"/>
                </a:moveTo>
                <a:lnTo>
                  <a:pt x="0" y="33338"/>
                </a:lnTo>
                <a:lnTo>
                  <a:pt x="0" y="42863"/>
                </a:lnTo>
                <a:lnTo>
                  <a:pt x="1100665" y="42862"/>
                </a:lnTo>
                <a:lnTo>
                  <a:pt x="1100665" y="33337"/>
                </a:lnTo>
                <a:close/>
              </a:path>
              <a:path w="1177289" h="76200">
                <a:moveTo>
                  <a:pt x="1113365" y="33337"/>
                </a:moveTo>
                <a:lnTo>
                  <a:pt x="1100665" y="33337"/>
                </a:lnTo>
                <a:lnTo>
                  <a:pt x="1100665" y="42862"/>
                </a:lnTo>
                <a:lnTo>
                  <a:pt x="1113365" y="42862"/>
                </a:lnTo>
                <a:lnTo>
                  <a:pt x="1113365" y="33337"/>
                </a:lnTo>
                <a:close/>
              </a:path>
              <a:path w="1177289" h="76200">
                <a:moveTo>
                  <a:pt x="1100665" y="0"/>
                </a:moveTo>
                <a:lnTo>
                  <a:pt x="1100665" y="33337"/>
                </a:lnTo>
                <a:lnTo>
                  <a:pt x="1167340" y="33337"/>
                </a:lnTo>
                <a:lnTo>
                  <a:pt x="1100665" y="0"/>
                </a:lnTo>
                <a:close/>
              </a:path>
            </a:pathLst>
          </a:custGeom>
          <a:solidFill>
            <a:srgbClr val="5E5E5E"/>
          </a:solid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3031067" y="4995332"/>
            <a:ext cx="2006600" cy="76200"/>
          </a:xfrm>
          <a:custGeom>
            <a:avLst/>
            <a:gdLst/>
            <a:ahLst/>
            <a:cxnLst/>
            <a:rect l="l" t="t" r="r" b="b"/>
            <a:pathLst>
              <a:path w="2006600" h="76200">
                <a:moveTo>
                  <a:pt x="1930398" y="42862"/>
                </a:moveTo>
                <a:lnTo>
                  <a:pt x="1930398" y="76199"/>
                </a:lnTo>
                <a:lnTo>
                  <a:pt x="1997073" y="42862"/>
                </a:lnTo>
                <a:lnTo>
                  <a:pt x="1930398" y="42862"/>
                </a:lnTo>
                <a:close/>
              </a:path>
              <a:path w="2006600" h="76200">
                <a:moveTo>
                  <a:pt x="1930398" y="33337"/>
                </a:moveTo>
                <a:lnTo>
                  <a:pt x="1930398" y="42862"/>
                </a:lnTo>
                <a:lnTo>
                  <a:pt x="1943098" y="42862"/>
                </a:lnTo>
                <a:lnTo>
                  <a:pt x="1943098" y="33337"/>
                </a:lnTo>
                <a:lnTo>
                  <a:pt x="1930398" y="33337"/>
                </a:lnTo>
                <a:close/>
              </a:path>
              <a:path w="2006600" h="76200">
                <a:moveTo>
                  <a:pt x="1930398" y="0"/>
                </a:moveTo>
                <a:lnTo>
                  <a:pt x="1930398" y="33337"/>
                </a:lnTo>
                <a:lnTo>
                  <a:pt x="1943098" y="33337"/>
                </a:lnTo>
                <a:lnTo>
                  <a:pt x="1943098" y="42862"/>
                </a:lnTo>
                <a:lnTo>
                  <a:pt x="1997075" y="42861"/>
                </a:lnTo>
                <a:lnTo>
                  <a:pt x="2006598" y="38099"/>
                </a:lnTo>
                <a:lnTo>
                  <a:pt x="1930398" y="0"/>
                </a:lnTo>
                <a:close/>
              </a:path>
              <a:path w="2006600" h="76200">
                <a:moveTo>
                  <a:pt x="0" y="33336"/>
                </a:moveTo>
                <a:lnTo>
                  <a:pt x="0" y="42861"/>
                </a:lnTo>
                <a:lnTo>
                  <a:pt x="1930398" y="42862"/>
                </a:lnTo>
                <a:lnTo>
                  <a:pt x="1930398" y="33337"/>
                </a:lnTo>
                <a:lnTo>
                  <a:pt x="0" y="33336"/>
                </a:lnTo>
                <a:close/>
              </a:path>
            </a:pathLst>
          </a:custGeom>
          <a:solidFill>
            <a:srgbClr val="5E5E5E"/>
          </a:solid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8115181" y="2383365"/>
            <a:ext cx="2328545" cy="1532890"/>
          </a:xfrm>
          <a:custGeom>
            <a:avLst/>
            <a:gdLst/>
            <a:ahLst/>
            <a:cxnLst/>
            <a:rect l="l" t="t" r="r" b="b"/>
            <a:pathLst>
              <a:path w="2328545" h="1532889">
                <a:moveTo>
                  <a:pt x="2072918" y="0"/>
                </a:moveTo>
                <a:lnTo>
                  <a:pt x="255417" y="0"/>
                </a:lnTo>
                <a:lnTo>
                  <a:pt x="209505" y="4115"/>
                </a:lnTo>
                <a:lnTo>
                  <a:pt x="166294" y="15979"/>
                </a:lnTo>
                <a:lnTo>
                  <a:pt x="126503" y="34871"/>
                </a:lnTo>
                <a:lnTo>
                  <a:pt x="90855" y="60070"/>
                </a:lnTo>
                <a:lnTo>
                  <a:pt x="60071" y="90854"/>
                </a:lnTo>
                <a:lnTo>
                  <a:pt x="34872" y="126502"/>
                </a:lnTo>
                <a:lnTo>
                  <a:pt x="15979" y="166292"/>
                </a:lnTo>
                <a:lnTo>
                  <a:pt x="4115" y="209504"/>
                </a:lnTo>
                <a:lnTo>
                  <a:pt x="0" y="255416"/>
                </a:lnTo>
                <a:lnTo>
                  <a:pt x="0" y="1277049"/>
                </a:lnTo>
                <a:lnTo>
                  <a:pt x="4115" y="1322961"/>
                </a:lnTo>
                <a:lnTo>
                  <a:pt x="15979" y="1366172"/>
                </a:lnTo>
                <a:lnTo>
                  <a:pt x="34872" y="1405963"/>
                </a:lnTo>
                <a:lnTo>
                  <a:pt x="60071" y="1441611"/>
                </a:lnTo>
                <a:lnTo>
                  <a:pt x="90855" y="1472395"/>
                </a:lnTo>
                <a:lnTo>
                  <a:pt x="126503" y="1497594"/>
                </a:lnTo>
                <a:lnTo>
                  <a:pt x="166294" y="1516486"/>
                </a:lnTo>
                <a:lnTo>
                  <a:pt x="209505" y="1528350"/>
                </a:lnTo>
                <a:lnTo>
                  <a:pt x="255417" y="1532465"/>
                </a:lnTo>
                <a:lnTo>
                  <a:pt x="2072918" y="1532465"/>
                </a:lnTo>
                <a:lnTo>
                  <a:pt x="2118829" y="1528350"/>
                </a:lnTo>
                <a:lnTo>
                  <a:pt x="2162041" y="1516486"/>
                </a:lnTo>
                <a:lnTo>
                  <a:pt x="2201831" y="1497594"/>
                </a:lnTo>
                <a:lnTo>
                  <a:pt x="2237479" y="1472395"/>
                </a:lnTo>
                <a:lnTo>
                  <a:pt x="2268263" y="1441611"/>
                </a:lnTo>
                <a:lnTo>
                  <a:pt x="2293462" y="1405963"/>
                </a:lnTo>
                <a:lnTo>
                  <a:pt x="2312354" y="1366172"/>
                </a:lnTo>
                <a:lnTo>
                  <a:pt x="2324219" y="1322961"/>
                </a:lnTo>
                <a:lnTo>
                  <a:pt x="2328334" y="1277049"/>
                </a:lnTo>
                <a:lnTo>
                  <a:pt x="2328334" y="255416"/>
                </a:lnTo>
                <a:lnTo>
                  <a:pt x="2324219" y="209504"/>
                </a:lnTo>
                <a:lnTo>
                  <a:pt x="2312354" y="166292"/>
                </a:lnTo>
                <a:lnTo>
                  <a:pt x="2293462" y="126502"/>
                </a:lnTo>
                <a:lnTo>
                  <a:pt x="2268263" y="90854"/>
                </a:lnTo>
                <a:lnTo>
                  <a:pt x="2237479" y="60070"/>
                </a:lnTo>
                <a:lnTo>
                  <a:pt x="2201831" y="34871"/>
                </a:lnTo>
                <a:lnTo>
                  <a:pt x="2162041" y="15979"/>
                </a:lnTo>
                <a:lnTo>
                  <a:pt x="2118829" y="4115"/>
                </a:lnTo>
                <a:lnTo>
                  <a:pt x="2072918" y="0"/>
                </a:lnTo>
                <a:close/>
              </a:path>
            </a:pathLst>
          </a:custGeom>
          <a:solidFill>
            <a:srgbClr val="76B900"/>
          </a:solid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7366000" y="3111500"/>
            <a:ext cx="711200" cy="76200"/>
          </a:xfrm>
          <a:custGeom>
            <a:avLst/>
            <a:gdLst/>
            <a:ahLst/>
            <a:cxnLst/>
            <a:rect l="l" t="t" r="r" b="b"/>
            <a:pathLst>
              <a:path w="711200" h="76200">
                <a:moveTo>
                  <a:pt x="634998" y="42862"/>
                </a:moveTo>
                <a:lnTo>
                  <a:pt x="634998" y="76200"/>
                </a:lnTo>
                <a:lnTo>
                  <a:pt x="701673" y="42862"/>
                </a:lnTo>
                <a:lnTo>
                  <a:pt x="634998" y="42862"/>
                </a:lnTo>
                <a:close/>
              </a:path>
              <a:path w="711200" h="76200">
                <a:moveTo>
                  <a:pt x="634998" y="33337"/>
                </a:moveTo>
                <a:lnTo>
                  <a:pt x="634998" y="42862"/>
                </a:lnTo>
                <a:lnTo>
                  <a:pt x="647698" y="42862"/>
                </a:lnTo>
                <a:lnTo>
                  <a:pt x="647698" y="33337"/>
                </a:lnTo>
                <a:lnTo>
                  <a:pt x="634998" y="33337"/>
                </a:lnTo>
                <a:close/>
              </a:path>
              <a:path w="711200" h="76200">
                <a:moveTo>
                  <a:pt x="634998" y="0"/>
                </a:moveTo>
                <a:lnTo>
                  <a:pt x="634998" y="33337"/>
                </a:lnTo>
                <a:lnTo>
                  <a:pt x="647698" y="33337"/>
                </a:lnTo>
                <a:lnTo>
                  <a:pt x="647698" y="42862"/>
                </a:lnTo>
                <a:lnTo>
                  <a:pt x="701676" y="42861"/>
                </a:lnTo>
                <a:lnTo>
                  <a:pt x="711198" y="38100"/>
                </a:lnTo>
                <a:lnTo>
                  <a:pt x="634998" y="0"/>
                </a:lnTo>
                <a:close/>
              </a:path>
              <a:path w="711200" h="76200">
                <a:moveTo>
                  <a:pt x="0" y="33336"/>
                </a:moveTo>
                <a:lnTo>
                  <a:pt x="0" y="42861"/>
                </a:lnTo>
                <a:lnTo>
                  <a:pt x="634998" y="42862"/>
                </a:lnTo>
                <a:lnTo>
                  <a:pt x="634998" y="33337"/>
                </a:lnTo>
                <a:lnTo>
                  <a:pt x="0" y="33336"/>
                </a:lnTo>
                <a:close/>
              </a:path>
            </a:pathLst>
          </a:custGeom>
          <a:solidFill>
            <a:srgbClr val="5E5E5E"/>
          </a:solid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7361544" y="3149598"/>
            <a:ext cx="724535" cy="1885950"/>
          </a:xfrm>
          <a:custGeom>
            <a:avLst/>
            <a:gdLst/>
            <a:ahLst/>
            <a:cxnLst/>
            <a:rect l="l" t="t" r="r" b="b"/>
            <a:pathLst>
              <a:path w="724534" h="1885950">
                <a:moveTo>
                  <a:pt x="684284" y="69606"/>
                </a:moveTo>
                <a:lnTo>
                  <a:pt x="0" y="1882151"/>
                </a:lnTo>
                <a:lnTo>
                  <a:pt x="8910" y="1885515"/>
                </a:lnTo>
                <a:lnTo>
                  <a:pt x="693196" y="72971"/>
                </a:lnTo>
                <a:lnTo>
                  <a:pt x="684284" y="69606"/>
                </a:lnTo>
                <a:close/>
              </a:path>
              <a:path w="724534" h="1885950">
                <a:moveTo>
                  <a:pt x="721601" y="57725"/>
                </a:moveTo>
                <a:lnTo>
                  <a:pt x="688770" y="57725"/>
                </a:lnTo>
                <a:lnTo>
                  <a:pt x="697682" y="61089"/>
                </a:lnTo>
                <a:lnTo>
                  <a:pt x="693196" y="72971"/>
                </a:lnTo>
                <a:lnTo>
                  <a:pt x="724385" y="84745"/>
                </a:lnTo>
                <a:lnTo>
                  <a:pt x="721601" y="57725"/>
                </a:lnTo>
                <a:close/>
              </a:path>
              <a:path w="724534" h="1885950">
                <a:moveTo>
                  <a:pt x="688770" y="57725"/>
                </a:moveTo>
                <a:lnTo>
                  <a:pt x="684284" y="69606"/>
                </a:lnTo>
                <a:lnTo>
                  <a:pt x="693196" y="72971"/>
                </a:lnTo>
                <a:lnTo>
                  <a:pt x="697682" y="61089"/>
                </a:lnTo>
                <a:lnTo>
                  <a:pt x="688770" y="57725"/>
                </a:lnTo>
                <a:close/>
              </a:path>
              <a:path w="724534" h="1885950">
                <a:moveTo>
                  <a:pt x="715653" y="0"/>
                </a:moveTo>
                <a:lnTo>
                  <a:pt x="653096" y="57831"/>
                </a:lnTo>
                <a:lnTo>
                  <a:pt x="684284" y="69606"/>
                </a:lnTo>
                <a:lnTo>
                  <a:pt x="688770" y="57725"/>
                </a:lnTo>
                <a:lnTo>
                  <a:pt x="721601" y="57725"/>
                </a:lnTo>
                <a:lnTo>
                  <a:pt x="715653" y="0"/>
                </a:lnTo>
                <a:close/>
              </a:path>
            </a:pathLst>
          </a:custGeom>
          <a:solidFill>
            <a:srgbClr val="5E5E5E"/>
          </a:solid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7361556" y="1302153"/>
            <a:ext cx="723900" cy="1847850"/>
          </a:xfrm>
          <a:custGeom>
            <a:avLst/>
            <a:gdLst/>
            <a:ahLst/>
            <a:cxnLst/>
            <a:rect l="l" t="t" r="r" b="b"/>
            <a:pathLst>
              <a:path w="723900" h="1847850">
                <a:moveTo>
                  <a:pt x="683800" y="1778053"/>
                </a:moveTo>
                <a:lnTo>
                  <a:pt x="652692" y="1790039"/>
                </a:lnTo>
                <a:lnTo>
                  <a:pt x="715642" y="1847444"/>
                </a:lnTo>
                <a:lnTo>
                  <a:pt x="721175" y="1789903"/>
                </a:lnTo>
                <a:lnTo>
                  <a:pt x="688366" y="1789903"/>
                </a:lnTo>
                <a:lnTo>
                  <a:pt x="683800" y="1778053"/>
                </a:lnTo>
                <a:close/>
              </a:path>
              <a:path w="723900" h="1847850">
                <a:moveTo>
                  <a:pt x="692689" y="1774628"/>
                </a:moveTo>
                <a:lnTo>
                  <a:pt x="683800" y="1778053"/>
                </a:lnTo>
                <a:lnTo>
                  <a:pt x="688366" y="1789903"/>
                </a:lnTo>
                <a:lnTo>
                  <a:pt x="697255" y="1786478"/>
                </a:lnTo>
                <a:lnTo>
                  <a:pt x="692689" y="1774628"/>
                </a:lnTo>
                <a:close/>
              </a:path>
              <a:path w="723900" h="1847850">
                <a:moveTo>
                  <a:pt x="723797" y="1762641"/>
                </a:moveTo>
                <a:lnTo>
                  <a:pt x="692689" y="1774628"/>
                </a:lnTo>
                <a:lnTo>
                  <a:pt x="697255" y="1786478"/>
                </a:lnTo>
                <a:lnTo>
                  <a:pt x="688366" y="1789903"/>
                </a:lnTo>
                <a:lnTo>
                  <a:pt x="721175" y="1789903"/>
                </a:lnTo>
                <a:lnTo>
                  <a:pt x="723797" y="1762641"/>
                </a:lnTo>
                <a:close/>
              </a:path>
              <a:path w="723900" h="1847850">
                <a:moveTo>
                  <a:pt x="8887" y="0"/>
                </a:moveTo>
                <a:lnTo>
                  <a:pt x="0" y="3423"/>
                </a:lnTo>
                <a:lnTo>
                  <a:pt x="683800" y="1778053"/>
                </a:lnTo>
                <a:lnTo>
                  <a:pt x="692689" y="1774628"/>
                </a:lnTo>
                <a:lnTo>
                  <a:pt x="8887" y="0"/>
                </a:lnTo>
                <a:close/>
              </a:path>
            </a:pathLst>
          </a:custGeom>
          <a:solidFill>
            <a:srgbClr val="5E5E5E"/>
          </a:solid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3031067" y="3953933"/>
            <a:ext cx="0" cy="1079500"/>
          </a:xfrm>
          <a:custGeom>
            <a:avLst/>
            <a:gdLst/>
            <a:ahLst/>
            <a:cxnLst/>
            <a:rect l="l" t="t" r="r" b="b"/>
            <a:pathLst>
              <a:path h="1079500">
                <a:moveTo>
                  <a:pt x="0" y="0"/>
                </a:moveTo>
                <a:lnTo>
                  <a:pt x="1" y="1079499"/>
                </a:lnTo>
              </a:path>
            </a:pathLst>
          </a:custGeom>
          <a:ln w="9525">
            <a:solidFill>
              <a:srgbClr val="5E5E5E"/>
            </a:solidFill>
          </a:ln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10405533" y="3149598"/>
            <a:ext cx="135890" cy="0"/>
          </a:xfrm>
          <a:custGeom>
            <a:avLst/>
            <a:gdLst/>
            <a:ahLst/>
            <a:cxnLst/>
            <a:rect l="l" t="t" r="r" b="b"/>
            <a:pathLst>
              <a:path w="135890">
                <a:moveTo>
                  <a:pt x="0" y="0"/>
                </a:moveTo>
                <a:lnTo>
                  <a:pt x="135467" y="1"/>
                </a:lnTo>
              </a:path>
            </a:pathLst>
          </a:custGeom>
          <a:ln w="9525">
            <a:solidFill>
              <a:srgbClr val="5E5E5E"/>
            </a:solidFill>
          </a:ln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10541000" y="3149598"/>
            <a:ext cx="0" cy="2844800"/>
          </a:xfrm>
          <a:custGeom>
            <a:avLst/>
            <a:gdLst/>
            <a:ahLst/>
            <a:cxnLst/>
            <a:rect l="l" t="t" r="r" b="b"/>
            <a:pathLst>
              <a:path h="2844800">
                <a:moveTo>
                  <a:pt x="0" y="0"/>
                </a:moveTo>
                <a:lnTo>
                  <a:pt x="1" y="2844801"/>
                </a:lnTo>
              </a:path>
            </a:pathLst>
          </a:custGeom>
          <a:ln w="9525">
            <a:solidFill>
              <a:srgbClr val="5E5E5E"/>
            </a:solidFill>
          </a:ln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549399" y="6019800"/>
            <a:ext cx="8991600" cy="0"/>
          </a:xfrm>
          <a:custGeom>
            <a:avLst/>
            <a:gdLst/>
            <a:ahLst/>
            <a:cxnLst/>
            <a:rect l="l" t="t" r="r" b="b"/>
            <a:pathLst>
              <a:path w="8991600">
                <a:moveTo>
                  <a:pt x="8991600" y="0"/>
                </a:moveTo>
                <a:lnTo>
                  <a:pt x="0" y="1"/>
                </a:lnTo>
              </a:path>
            </a:pathLst>
          </a:custGeom>
          <a:ln w="9525">
            <a:solidFill>
              <a:srgbClr val="5E5E5E"/>
            </a:solidFill>
          </a:ln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262466" y="152400"/>
            <a:ext cx="2768600" cy="0"/>
          </a:xfrm>
          <a:custGeom>
            <a:avLst/>
            <a:gdLst/>
            <a:ahLst/>
            <a:cxnLst/>
            <a:rect l="l" t="t" r="r" b="b"/>
            <a:pathLst>
              <a:path w="2768600">
                <a:moveTo>
                  <a:pt x="0" y="0"/>
                </a:moveTo>
                <a:lnTo>
                  <a:pt x="2768600" y="1"/>
                </a:lnTo>
              </a:path>
            </a:pathLst>
          </a:custGeom>
          <a:ln w="9525">
            <a:solidFill>
              <a:srgbClr val="5E5E5E"/>
            </a:solidFill>
          </a:ln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1511301" y="152400"/>
            <a:ext cx="76200" cy="5867400"/>
          </a:xfrm>
          <a:custGeom>
            <a:avLst/>
            <a:gdLst/>
            <a:ahLst/>
            <a:cxnLst/>
            <a:rect l="l" t="t" r="r" b="b"/>
            <a:pathLst>
              <a:path w="76200" h="5867400">
                <a:moveTo>
                  <a:pt x="42862" y="63503"/>
                </a:moveTo>
                <a:lnTo>
                  <a:pt x="33337" y="63503"/>
                </a:lnTo>
                <a:lnTo>
                  <a:pt x="33336" y="5867399"/>
                </a:lnTo>
                <a:lnTo>
                  <a:pt x="42861" y="5867399"/>
                </a:lnTo>
                <a:lnTo>
                  <a:pt x="42862" y="63503"/>
                </a:lnTo>
                <a:close/>
              </a:path>
              <a:path w="76200" h="5867400">
                <a:moveTo>
                  <a:pt x="38100" y="0"/>
                </a:moveTo>
                <a:lnTo>
                  <a:pt x="0" y="76200"/>
                </a:lnTo>
                <a:lnTo>
                  <a:pt x="33337" y="76200"/>
                </a:lnTo>
                <a:lnTo>
                  <a:pt x="33337" y="63503"/>
                </a:lnTo>
                <a:lnTo>
                  <a:pt x="69851" y="63503"/>
                </a:lnTo>
                <a:lnTo>
                  <a:pt x="38100" y="0"/>
                </a:lnTo>
                <a:close/>
              </a:path>
              <a:path w="76200" h="5867400">
                <a:moveTo>
                  <a:pt x="69851" y="63503"/>
                </a:moveTo>
                <a:lnTo>
                  <a:pt x="42862" y="63503"/>
                </a:lnTo>
                <a:lnTo>
                  <a:pt x="42862" y="76200"/>
                </a:lnTo>
                <a:lnTo>
                  <a:pt x="76200" y="76200"/>
                </a:lnTo>
                <a:lnTo>
                  <a:pt x="69851" y="63503"/>
                </a:lnTo>
                <a:close/>
              </a:path>
            </a:pathLst>
          </a:custGeom>
          <a:solidFill>
            <a:srgbClr val="5E5E5E"/>
          </a:solid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545554" y="1023619"/>
            <a:ext cx="1112046" cy="548868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57150" marR="5080" indent="-44450">
              <a:lnSpc>
                <a:spcPts val="2020"/>
              </a:lnSpc>
              <a:spcBef>
                <a:spcPts val="280"/>
              </a:spcBef>
            </a:pPr>
            <a:r>
              <a:rPr sz="1800" spc="-5" dirty="0">
                <a:latin typeface="Comic Sans MS" panose="030F0702030302020204" pitchFamily="66" charset="0"/>
                <a:cs typeface="Calibri" panose="020F0502020204030204" pitchFamily="34" charset="0"/>
              </a:rPr>
              <a:t>M</a:t>
            </a:r>
            <a:r>
              <a:rPr sz="1800" spc="5" dirty="0">
                <a:latin typeface="Comic Sans MS" panose="030F0702030302020204" pitchFamily="66" charset="0"/>
                <a:cs typeface="Calibri" panose="020F0502020204030204" pitchFamily="34" charset="0"/>
              </a:rPr>
              <a:t>em</a:t>
            </a:r>
            <a:r>
              <a:rPr sz="1800" spc="-5" dirty="0">
                <a:latin typeface="Comic Sans MS" panose="030F0702030302020204" pitchFamily="66" charset="0"/>
                <a:cs typeface="Calibri" panose="020F0502020204030204" pitchFamily="34" charset="0"/>
              </a:rPr>
              <a:t>o</a:t>
            </a:r>
            <a:r>
              <a:rPr sz="1800" dirty="0">
                <a:latin typeface="Comic Sans MS" panose="030F0702030302020204" pitchFamily="66" charset="0"/>
                <a:cs typeface="Calibri" panose="020F0502020204030204" pitchFamily="34" charset="0"/>
              </a:rPr>
              <a:t>ry  </a:t>
            </a:r>
            <a:r>
              <a:rPr sz="1800" spc="-5" dirty="0">
                <a:latin typeface="Comic Sans MS" panose="030F0702030302020204" pitchFamily="66" charset="0"/>
                <a:cs typeface="Calibri" panose="020F0502020204030204" pitchFamily="34" charset="0"/>
              </a:rPr>
              <a:t>Bound?</a:t>
            </a:r>
            <a:endParaRPr sz="1800" dirty="0">
              <a:latin typeface="Comic Sans MS" panose="030F0702030302020204" pitchFamily="66" charset="0"/>
              <a:cs typeface="Calibri" panose="020F0502020204030204" pitchFamily="34" charset="0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546875" y="2907283"/>
            <a:ext cx="9423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omic Sans MS" panose="030F0702030302020204" pitchFamily="66" charset="0"/>
                <a:cs typeface="Calibri" panose="020F0502020204030204" pitchFamily="34" charset="0"/>
              </a:rPr>
              <a:t>Co</a:t>
            </a:r>
            <a:r>
              <a:rPr sz="1800" spc="5" dirty="0">
                <a:latin typeface="Comic Sans MS" panose="030F0702030302020204" pitchFamily="66" charset="0"/>
                <a:cs typeface="Calibri" panose="020F0502020204030204" pitchFamily="34" charset="0"/>
              </a:rPr>
              <a:t>m</a:t>
            </a:r>
            <a:r>
              <a:rPr sz="1800" spc="-5" dirty="0">
                <a:latin typeface="Comic Sans MS" panose="030F0702030302020204" pitchFamily="66" charset="0"/>
                <a:cs typeface="Calibri" panose="020F0502020204030204" pitchFamily="34" charset="0"/>
              </a:rPr>
              <a:t>p</a:t>
            </a:r>
            <a:r>
              <a:rPr sz="1800" dirty="0">
                <a:latin typeface="Comic Sans MS" panose="030F0702030302020204" pitchFamily="66" charset="0"/>
                <a:cs typeface="Calibri" panose="020F0502020204030204" pitchFamily="34" charset="0"/>
              </a:rPr>
              <a:t>u</a:t>
            </a:r>
            <a:r>
              <a:rPr sz="1800" spc="-5" dirty="0">
                <a:latin typeface="Comic Sans MS" panose="030F0702030302020204" pitchFamily="66" charset="0"/>
                <a:cs typeface="Calibri" panose="020F0502020204030204" pitchFamily="34" charset="0"/>
              </a:rPr>
              <a:t>t</a:t>
            </a:r>
            <a:r>
              <a:rPr sz="1800" dirty="0">
                <a:latin typeface="Comic Sans MS" panose="030F0702030302020204" pitchFamily="66" charset="0"/>
                <a:cs typeface="Calibri" panose="020F0502020204030204" pitchFamily="34" charset="0"/>
              </a:rPr>
              <a:t>e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2649239" y="3163316"/>
            <a:ext cx="73787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omic Sans MS" panose="030F0702030302020204" pitchFamily="66" charset="0"/>
                <a:cs typeface="Calibri" panose="020F0502020204030204" pitchFamily="34" charset="0"/>
              </a:rPr>
              <a:t>B</a:t>
            </a:r>
            <a:r>
              <a:rPr sz="1800" spc="-5" dirty="0">
                <a:latin typeface="Comic Sans MS" panose="030F0702030302020204" pitchFamily="66" charset="0"/>
                <a:cs typeface="Calibri" panose="020F0502020204030204" pitchFamily="34" charset="0"/>
              </a:rPr>
              <a:t>o</a:t>
            </a:r>
            <a:r>
              <a:rPr sz="1800" dirty="0">
                <a:latin typeface="Comic Sans MS" panose="030F0702030302020204" pitchFamily="66" charset="0"/>
                <a:cs typeface="Calibri" panose="020F0502020204030204" pitchFamily="34" charset="0"/>
              </a:rPr>
              <a:t>un</a:t>
            </a:r>
            <a:r>
              <a:rPr sz="1800" spc="-5" dirty="0">
                <a:latin typeface="Comic Sans MS" panose="030F0702030302020204" pitchFamily="66" charset="0"/>
                <a:cs typeface="Calibri" panose="020F0502020204030204" pitchFamily="34" charset="0"/>
              </a:rPr>
              <a:t>d</a:t>
            </a:r>
            <a:r>
              <a:rPr sz="1800" dirty="0">
                <a:latin typeface="Comic Sans MS" panose="030F0702030302020204" pitchFamily="66" charset="0"/>
                <a:cs typeface="Calibri" panose="020F0502020204030204" pitchFamily="34" charset="0"/>
              </a:rPr>
              <a:t>?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8719345" y="2974339"/>
            <a:ext cx="1101786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omic Sans MS" panose="030F0702030302020204" pitchFamily="66" charset="0"/>
                <a:cs typeface="Calibri" panose="020F0502020204030204" pitchFamily="34" charset="0"/>
              </a:rPr>
              <a:t>Opti</a:t>
            </a:r>
            <a:r>
              <a:rPr sz="1800" spc="5" dirty="0">
                <a:latin typeface="Comic Sans MS" panose="030F0702030302020204" pitchFamily="66" charset="0"/>
                <a:cs typeface="Calibri" panose="020F0502020204030204" pitchFamily="34" charset="0"/>
              </a:rPr>
              <a:t>m</a:t>
            </a:r>
            <a:r>
              <a:rPr sz="1800" spc="-5" dirty="0">
                <a:latin typeface="Comic Sans MS" panose="030F0702030302020204" pitchFamily="66" charset="0"/>
                <a:cs typeface="Calibri" panose="020F0502020204030204" pitchFamily="34" charset="0"/>
              </a:rPr>
              <a:t>iz</a:t>
            </a:r>
            <a:r>
              <a:rPr sz="1800" dirty="0">
                <a:latin typeface="Comic Sans MS" panose="030F0702030302020204" pitchFamily="66" charset="0"/>
                <a:cs typeface="Calibri" panose="020F0502020204030204" pitchFamily="34" charset="0"/>
              </a:rPr>
              <a:t>e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5569285" y="755395"/>
            <a:ext cx="1656591" cy="1045414"/>
          </a:xfrm>
          <a:prstGeom prst="rect">
            <a:avLst/>
          </a:prstGeom>
        </p:spPr>
        <p:txBody>
          <a:bodyPr vert="horz" wrap="square" lIns="0" tIns="36830" rIns="0" bIns="0" rtlCol="0">
            <a:spAutoFit/>
          </a:bodyPr>
          <a:lstStyle/>
          <a:p>
            <a:pPr marL="15875" marR="5080" indent="-3810" algn="just">
              <a:lnSpc>
                <a:spcPct val="91000"/>
              </a:lnSpc>
              <a:spcBef>
                <a:spcPts val="290"/>
              </a:spcBef>
            </a:pPr>
            <a:r>
              <a:rPr sz="1800" spc="-90" dirty="0">
                <a:latin typeface="Comic Sans MS" panose="030F0702030302020204" pitchFamily="66" charset="0"/>
                <a:cs typeface="Calibri" panose="020F0502020204030204" pitchFamily="34" charset="0"/>
              </a:rPr>
              <a:t>P</a:t>
            </a:r>
            <a:r>
              <a:rPr sz="1800" spc="5" dirty="0">
                <a:latin typeface="Comic Sans MS" panose="030F0702030302020204" pitchFamily="66" charset="0"/>
                <a:cs typeface="Calibri" panose="020F0502020204030204" pitchFamily="34" charset="0"/>
              </a:rPr>
              <a:t>e</a:t>
            </a:r>
            <a:r>
              <a:rPr sz="1800" spc="-5" dirty="0">
                <a:latin typeface="Comic Sans MS" panose="030F0702030302020204" pitchFamily="66" charset="0"/>
                <a:cs typeface="Calibri" panose="020F0502020204030204" pitchFamily="34" charset="0"/>
              </a:rPr>
              <a:t>rfor</a:t>
            </a:r>
            <a:r>
              <a:rPr sz="1800" dirty="0">
                <a:latin typeface="Comic Sans MS" panose="030F0702030302020204" pitchFamily="66" charset="0"/>
                <a:cs typeface="Calibri" panose="020F0502020204030204" pitchFamily="34" charset="0"/>
              </a:rPr>
              <a:t>m  </a:t>
            </a:r>
            <a:r>
              <a:rPr sz="1800" spc="-5" dirty="0">
                <a:latin typeface="Comic Sans MS" panose="030F0702030302020204" pitchFamily="66" charset="0"/>
                <a:cs typeface="Calibri" panose="020F0502020204030204" pitchFamily="34" charset="0"/>
              </a:rPr>
              <a:t>M</a:t>
            </a:r>
            <a:r>
              <a:rPr sz="1800" spc="5" dirty="0">
                <a:latin typeface="Comic Sans MS" panose="030F0702030302020204" pitchFamily="66" charset="0"/>
                <a:cs typeface="Calibri" panose="020F0502020204030204" pitchFamily="34" charset="0"/>
              </a:rPr>
              <a:t>em</a:t>
            </a:r>
            <a:r>
              <a:rPr sz="1800" spc="-5" dirty="0">
                <a:latin typeface="Comic Sans MS" panose="030F0702030302020204" pitchFamily="66" charset="0"/>
                <a:cs typeface="Calibri" panose="020F0502020204030204" pitchFamily="34" charset="0"/>
              </a:rPr>
              <a:t>o</a:t>
            </a:r>
            <a:r>
              <a:rPr sz="1800" dirty="0">
                <a:latin typeface="Comic Sans MS" panose="030F0702030302020204" pitchFamily="66" charset="0"/>
                <a:cs typeface="Calibri" panose="020F0502020204030204" pitchFamily="34" charset="0"/>
              </a:rPr>
              <a:t>ry  </a:t>
            </a:r>
            <a:r>
              <a:rPr sz="1800" spc="-5" dirty="0">
                <a:latin typeface="Comic Sans MS" panose="030F0702030302020204" pitchFamily="66" charset="0"/>
                <a:cs typeface="Calibri" panose="020F0502020204030204" pitchFamily="34" charset="0"/>
              </a:rPr>
              <a:t>Limiter  </a:t>
            </a:r>
            <a:r>
              <a:rPr sz="1800" dirty="0">
                <a:latin typeface="Comic Sans MS" panose="030F0702030302020204" pitchFamily="66" charset="0"/>
                <a:cs typeface="Calibri" panose="020F0502020204030204" pitchFamily="34" charset="0"/>
              </a:rPr>
              <a:t>An</a:t>
            </a:r>
            <a:r>
              <a:rPr sz="1800" spc="5" dirty="0">
                <a:latin typeface="Comic Sans MS" panose="030F0702030302020204" pitchFamily="66" charset="0"/>
                <a:cs typeface="Calibri" panose="020F0502020204030204" pitchFamily="34" charset="0"/>
              </a:rPr>
              <a:t>a</a:t>
            </a:r>
            <a:r>
              <a:rPr sz="1800" spc="-10" dirty="0">
                <a:latin typeface="Comic Sans MS" panose="030F0702030302020204" pitchFamily="66" charset="0"/>
                <a:cs typeface="Calibri" panose="020F0502020204030204" pitchFamily="34" charset="0"/>
              </a:rPr>
              <a:t>l</a:t>
            </a:r>
            <a:r>
              <a:rPr sz="1800" dirty="0">
                <a:latin typeface="Comic Sans MS" panose="030F0702030302020204" pitchFamily="66" charset="0"/>
                <a:cs typeface="Calibri" panose="020F0502020204030204" pitchFamily="34" charset="0"/>
              </a:rPr>
              <a:t>y</a:t>
            </a:r>
            <a:r>
              <a:rPr sz="1800" spc="-10" dirty="0">
                <a:latin typeface="Comic Sans MS" panose="030F0702030302020204" pitchFamily="66" charset="0"/>
                <a:cs typeface="Calibri" panose="020F0502020204030204" pitchFamily="34" charset="0"/>
              </a:rPr>
              <a:t>s</a:t>
            </a:r>
            <a:r>
              <a:rPr sz="1800" spc="-5" dirty="0">
                <a:latin typeface="Comic Sans MS" panose="030F0702030302020204" pitchFamily="66" charset="0"/>
                <a:cs typeface="Calibri" panose="020F0502020204030204" pitchFamily="34" charset="0"/>
              </a:rPr>
              <a:t>i</a:t>
            </a:r>
            <a:r>
              <a:rPr sz="1800" dirty="0">
                <a:latin typeface="Comic Sans MS" panose="030F0702030302020204" pitchFamily="66" charset="0"/>
                <a:cs typeface="Calibri" panose="020F0502020204030204" pitchFamily="34" charset="0"/>
              </a:rPr>
              <a:t>s</a:t>
            </a:r>
          </a:p>
        </p:txBody>
      </p:sp>
      <p:sp>
        <p:nvSpPr>
          <p:cNvPr id="28" name="object 28"/>
          <p:cNvSpPr txBox="1"/>
          <p:nvPr/>
        </p:nvSpPr>
        <p:spPr>
          <a:xfrm>
            <a:off x="5616052" y="2605532"/>
            <a:ext cx="1057628" cy="553085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12700" marR="5080" indent="50165">
              <a:lnSpc>
                <a:spcPts val="1990"/>
              </a:lnSpc>
              <a:spcBef>
                <a:spcPts val="305"/>
              </a:spcBef>
            </a:pPr>
            <a:r>
              <a:rPr sz="1800" spc="-15" dirty="0">
                <a:latin typeface="Comic Sans MS" panose="030F0702030302020204" pitchFamily="66" charset="0"/>
                <a:cs typeface="Calibri" panose="020F0502020204030204" pitchFamily="34" charset="0"/>
              </a:rPr>
              <a:t>Perform  </a:t>
            </a:r>
            <a:r>
              <a:rPr sz="1800" spc="-5" dirty="0">
                <a:latin typeface="Comic Sans MS" panose="030F0702030302020204" pitchFamily="66" charset="0"/>
                <a:cs typeface="Calibri" panose="020F0502020204030204" pitchFamily="34" charset="0"/>
              </a:rPr>
              <a:t>Co</a:t>
            </a:r>
            <a:r>
              <a:rPr sz="1800" spc="5" dirty="0">
                <a:latin typeface="Comic Sans MS" panose="030F0702030302020204" pitchFamily="66" charset="0"/>
                <a:cs typeface="Calibri" panose="020F0502020204030204" pitchFamily="34" charset="0"/>
              </a:rPr>
              <a:t>m</a:t>
            </a:r>
            <a:r>
              <a:rPr sz="1800" spc="-5" dirty="0">
                <a:latin typeface="Comic Sans MS" panose="030F0702030302020204" pitchFamily="66" charset="0"/>
                <a:cs typeface="Calibri" panose="020F0502020204030204" pitchFamily="34" charset="0"/>
              </a:rPr>
              <a:t>p</a:t>
            </a:r>
            <a:r>
              <a:rPr sz="1800" dirty="0">
                <a:latin typeface="Comic Sans MS" panose="030F0702030302020204" pitchFamily="66" charset="0"/>
                <a:cs typeface="Calibri" panose="020F0502020204030204" pitchFamily="34" charset="0"/>
              </a:rPr>
              <a:t>u</a:t>
            </a:r>
            <a:r>
              <a:rPr sz="1800" spc="-5" dirty="0">
                <a:latin typeface="Comic Sans MS" panose="030F0702030302020204" pitchFamily="66" charset="0"/>
                <a:cs typeface="Calibri" panose="020F0502020204030204" pitchFamily="34" charset="0"/>
              </a:rPr>
              <a:t>t</a:t>
            </a:r>
            <a:r>
              <a:rPr sz="1800" dirty="0">
                <a:latin typeface="Comic Sans MS" panose="030F0702030302020204" pitchFamily="66" charset="0"/>
                <a:cs typeface="Calibri" panose="020F0502020204030204" pitchFamily="34" charset="0"/>
              </a:rPr>
              <a:t>e</a:t>
            </a:r>
          </a:p>
        </p:txBody>
      </p:sp>
      <p:sp>
        <p:nvSpPr>
          <p:cNvPr id="29" name="object 29"/>
          <p:cNvSpPr txBox="1"/>
          <p:nvPr/>
        </p:nvSpPr>
        <p:spPr>
          <a:xfrm>
            <a:off x="5670027" y="3099307"/>
            <a:ext cx="1057628" cy="549508"/>
          </a:xfrm>
          <a:prstGeom prst="rect">
            <a:avLst/>
          </a:prstGeom>
        </p:spPr>
        <p:txBody>
          <a:bodyPr vert="horz" wrap="square" lIns="0" tIns="36194" rIns="0" bIns="0" rtlCol="0">
            <a:spAutoFit/>
          </a:bodyPr>
          <a:lstStyle/>
          <a:p>
            <a:pPr marL="12700" marR="5080" indent="33655">
              <a:lnSpc>
                <a:spcPts val="2020"/>
              </a:lnSpc>
              <a:spcBef>
                <a:spcPts val="285"/>
              </a:spcBef>
            </a:pPr>
            <a:r>
              <a:rPr sz="1800" spc="-5" dirty="0">
                <a:latin typeface="Comic Sans MS" panose="030F0702030302020204" pitchFamily="66" charset="0"/>
                <a:cs typeface="Calibri" panose="020F0502020204030204" pitchFamily="34" charset="0"/>
              </a:rPr>
              <a:t>Limiter  </a:t>
            </a:r>
            <a:r>
              <a:rPr sz="1800" dirty="0">
                <a:latin typeface="Comic Sans MS" panose="030F0702030302020204" pitchFamily="66" charset="0"/>
                <a:cs typeface="Calibri" panose="020F0502020204030204" pitchFamily="34" charset="0"/>
              </a:rPr>
              <a:t>An</a:t>
            </a:r>
            <a:r>
              <a:rPr sz="1800" spc="5" dirty="0">
                <a:latin typeface="Comic Sans MS" panose="030F0702030302020204" pitchFamily="66" charset="0"/>
                <a:cs typeface="Calibri" panose="020F0502020204030204" pitchFamily="34" charset="0"/>
              </a:rPr>
              <a:t>a</a:t>
            </a:r>
            <a:r>
              <a:rPr sz="1800" spc="-10" dirty="0">
                <a:latin typeface="Comic Sans MS" panose="030F0702030302020204" pitchFamily="66" charset="0"/>
                <a:cs typeface="Calibri" panose="020F0502020204030204" pitchFamily="34" charset="0"/>
              </a:rPr>
              <a:t>l</a:t>
            </a:r>
            <a:r>
              <a:rPr sz="1800" dirty="0">
                <a:latin typeface="Comic Sans MS" panose="030F0702030302020204" pitchFamily="66" charset="0"/>
                <a:cs typeface="Calibri" panose="020F0502020204030204" pitchFamily="34" charset="0"/>
              </a:rPr>
              <a:t>y</a:t>
            </a:r>
            <a:r>
              <a:rPr sz="1800" spc="-10" dirty="0">
                <a:latin typeface="Comic Sans MS" panose="030F0702030302020204" pitchFamily="66" charset="0"/>
                <a:cs typeface="Calibri" panose="020F0502020204030204" pitchFamily="34" charset="0"/>
              </a:rPr>
              <a:t>s</a:t>
            </a:r>
            <a:r>
              <a:rPr sz="1800" spc="-5" dirty="0">
                <a:latin typeface="Comic Sans MS" panose="030F0702030302020204" pitchFamily="66" charset="0"/>
                <a:cs typeface="Calibri" panose="020F0502020204030204" pitchFamily="34" charset="0"/>
              </a:rPr>
              <a:t>i</a:t>
            </a:r>
            <a:r>
              <a:rPr sz="1800" dirty="0">
                <a:latin typeface="Comic Sans MS" panose="030F0702030302020204" pitchFamily="66" charset="0"/>
                <a:cs typeface="Calibri" panose="020F0502020204030204" pitchFamily="34" charset="0"/>
              </a:rPr>
              <a:t>s</a:t>
            </a:r>
          </a:p>
        </p:txBody>
      </p:sp>
      <p:sp>
        <p:nvSpPr>
          <p:cNvPr id="30" name="object 30"/>
          <p:cNvSpPr txBox="1"/>
          <p:nvPr/>
        </p:nvSpPr>
        <p:spPr>
          <a:xfrm>
            <a:off x="5734384" y="4617211"/>
            <a:ext cx="1428415" cy="794641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15875" marR="5080" indent="-3810" algn="just">
              <a:lnSpc>
                <a:spcPct val="91000"/>
              </a:lnSpc>
              <a:spcBef>
                <a:spcPts val="300"/>
              </a:spcBef>
            </a:pPr>
            <a:r>
              <a:rPr sz="1800" spc="-90" dirty="0">
                <a:latin typeface="Comic Sans MS" panose="030F0702030302020204" pitchFamily="66" charset="0"/>
                <a:cs typeface="Calibri" panose="020F0502020204030204" pitchFamily="34" charset="0"/>
              </a:rPr>
              <a:t>P</a:t>
            </a:r>
            <a:r>
              <a:rPr sz="1800" spc="5" dirty="0">
                <a:latin typeface="Comic Sans MS" panose="030F0702030302020204" pitchFamily="66" charset="0"/>
                <a:cs typeface="Calibri" panose="020F0502020204030204" pitchFamily="34" charset="0"/>
              </a:rPr>
              <a:t>e</a:t>
            </a:r>
            <a:r>
              <a:rPr sz="1800" spc="-5" dirty="0">
                <a:latin typeface="Comic Sans MS" panose="030F0702030302020204" pitchFamily="66" charset="0"/>
                <a:cs typeface="Calibri" panose="020F0502020204030204" pitchFamily="34" charset="0"/>
              </a:rPr>
              <a:t>rfor</a:t>
            </a:r>
            <a:r>
              <a:rPr sz="1800" dirty="0">
                <a:latin typeface="Comic Sans MS" panose="030F0702030302020204" pitchFamily="66" charset="0"/>
                <a:cs typeface="Calibri" panose="020F0502020204030204" pitchFamily="34" charset="0"/>
              </a:rPr>
              <a:t>m  La</a:t>
            </a:r>
            <a:r>
              <a:rPr sz="1800" spc="-5" dirty="0">
                <a:latin typeface="Comic Sans MS" panose="030F0702030302020204" pitchFamily="66" charset="0"/>
                <a:cs typeface="Calibri" panose="020F0502020204030204" pitchFamily="34" charset="0"/>
              </a:rPr>
              <a:t>t</a:t>
            </a:r>
            <a:r>
              <a:rPr sz="1800" spc="5" dirty="0">
                <a:latin typeface="Comic Sans MS" panose="030F0702030302020204" pitchFamily="66" charset="0"/>
                <a:cs typeface="Calibri" panose="020F0502020204030204" pitchFamily="34" charset="0"/>
              </a:rPr>
              <a:t>e</a:t>
            </a:r>
            <a:r>
              <a:rPr sz="1800" dirty="0">
                <a:latin typeface="Comic Sans MS" panose="030F0702030302020204" pitchFamily="66" charset="0"/>
                <a:cs typeface="Calibri" panose="020F0502020204030204" pitchFamily="34" charset="0"/>
              </a:rPr>
              <a:t>n</a:t>
            </a:r>
            <a:r>
              <a:rPr sz="1800" spc="-5" dirty="0">
                <a:latin typeface="Comic Sans MS" panose="030F0702030302020204" pitchFamily="66" charset="0"/>
                <a:cs typeface="Calibri" panose="020F0502020204030204" pitchFamily="34" charset="0"/>
              </a:rPr>
              <a:t>c</a:t>
            </a:r>
            <a:r>
              <a:rPr sz="1800" dirty="0">
                <a:latin typeface="Comic Sans MS" panose="030F0702030302020204" pitchFamily="66" charset="0"/>
                <a:cs typeface="Calibri" panose="020F0502020204030204" pitchFamily="34" charset="0"/>
              </a:rPr>
              <a:t>y  An</a:t>
            </a:r>
            <a:r>
              <a:rPr sz="1800" spc="5" dirty="0">
                <a:latin typeface="Comic Sans MS" panose="030F0702030302020204" pitchFamily="66" charset="0"/>
                <a:cs typeface="Calibri" panose="020F0502020204030204" pitchFamily="34" charset="0"/>
              </a:rPr>
              <a:t>a</a:t>
            </a:r>
            <a:r>
              <a:rPr sz="1800" spc="-10" dirty="0">
                <a:latin typeface="Comic Sans MS" panose="030F0702030302020204" pitchFamily="66" charset="0"/>
                <a:cs typeface="Calibri" panose="020F0502020204030204" pitchFamily="34" charset="0"/>
              </a:rPr>
              <a:t>l</a:t>
            </a:r>
            <a:r>
              <a:rPr sz="1800" dirty="0">
                <a:latin typeface="Comic Sans MS" panose="030F0702030302020204" pitchFamily="66" charset="0"/>
                <a:cs typeface="Calibri" panose="020F0502020204030204" pitchFamily="34" charset="0"/>
              </a:rPr>
              <a:t>y</a:t>
            </a:r>
            <a:r>
              <a:rPr sz="1800" spc="-10" dirty="0">
                <a:latin typeface="Comic Sans MS" panose="030F0702030302020204" pitchFamily="66" charset="0"/>
                <a:cs typeface="Calibri" panose="020F0502020204030204" pitchFamily="34" charset="0"/>
              </a:rPr>
              <a:t>s</a:t>
            </a:r>
            <a:r>
              <a:rPr sz="1800" spc="-5" dirty="0">
                <a:latin typeface="Comic Sans MS" panose="030F0702030302020204" pitchFamily="66" charset="0"/>
                <a:cs typeface="Calibri" panose="020F0502020204030204" pitchFamily="34" charset="0"/>
              </a:rPr>
              <a:t>i</a:t>
            </a:r>
            <a:r>
              <a:rPr sz="1800" dirty="0">
                <a:latin typeface="Comic Sans MS" panose="030F0702030302020204" pitchFamily="66" charset="0"/>
                <a:cs typeface="Calibri" panose="020F0502020204030204" pitchFamily="34" charset="0"/>
              </a:rPr>
              <a:t>s</a:t>
            </a:r>
          </a:p>
        </p:txBody>
      </p:sp>
      <p:sp>
        <p:nvSpPr>
          <p:cNvPr id="31" name="object 31"/>
          <p:cNvSpPr txBox="1"/>
          <p:nvPr/>
        </p:nvSpPr>
        <p:spPr>
          <a:xfrm>
            <a:off x="3856666" y="1340611"/>
            <a:ext cx="604098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95" dirty="0">
                <a:latin typeface="Comic Sans MS" panose="030F0702030302020204" pitchFamily="66" charset="0"/>
                <a:cs typeface="Calibri" panose="020F0502020204030204" pitchFamily="34" charset="0"/>
              </a:rPr>
              <a:t>Y</a:t>
            </a:r>
            <a:r>
              <a:rPr sz="1800" spc="5" dirty="0">
                <a:latin typeface="Comic Sans MS" panose="030F0702030302020204" pitchFamily="66" charset="0"/>
                <a:cs typeface="Calibri" panose="020F0502020204030204" pitchFamily="34" charset="0"/>
              </a:rPr>
              <a:t>e</a:t>
            </a:r>
            <a:r>
              <a:rPr sz="1800" dirty="0">
                <a:latin typeface="Comic Sans MS" panose="030F0702030302020204" pitchFamily="66" charset="0"/>
                <a:cs typeface="Calibri" panose="020F0502020204030204" pitchFamily="34" charset="0"/>
              </a:rPr>
              <a:t>s</a:t>
            </a:r>
          </a:p>
        </p:txBody>
      </p:sp>
      <p:sp>
        <p:nvSpPr>
          <p:cNvPr id="32" name="object 32"/>
          <p:cNvSpPr txBox="1"/>
          <p:nvPr/>
        </p:nvSpPr>
        <p:spPr>
          <a:xfrm>
            <a:off x="3856658" y="3157220"/>
            <a:ext cx="488414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95" dirty="0">
                <a:latin typeface="Comic Sans MS" panose="030F0702030302020204" pitchFamily="66" charset="0"/>
                <a:cs typeface="Calibri" panose="020F0502020204030204" pitchFamily="34" charset="0"/>
              </a:rPr>
              <a:t>Y</a:t>
            </a:r>
            <a:r>
              <a:rPr sz="1800" spc="5" dirty="0">
                <a:latin typeface="Comic Sans MS" panose="030F0702030302020204" pitchFamily="66" charset="0"/>
                <a:cs typeface="Calibri" panose="020F0502020204030204" pitchFamily="34" charset="0"/>
              </a:rPr>
              <a:t>e</a:t>
            </a:r>
            <a:r>
              <a:rPr sz="1800" dirty="0">
                <a:latin typeface="Comic Sans MS" panose="030F0702030302020204" pitchFamily="66" charset="0"/>
                <a:cs typeface="Calibri" panose="020F0502020204030204" pitchFamily="34" charset="0"/>
              </a:rPr>
              <a:t>s</a:t>
            </a:r>
          </a:p>
        </p:txBody>
      </p:sp>
      <p:sp>
        <p:nvSpPr>
          <p:cNvPr id="33" name="object 33"/>
          <p:cNvSpPr txBox="1"/>
          <p:nvPr/>
        </p:nvSpPr>
        <p:spPr>
          <a:xfrm>
            <a:off x="3194318" y="3916171"/>
            <a:ext cx="547738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omic Sans MS" panose="030F0702030302020204" pitchFamily="66" charset="0"/>
                <a:cs typeface="Calibri" panose="020F0502020204030204" pitchFamily="34" charset="0"/>
              </a:rPr>
              <a:t>No</a:t>
            </a:r>
          </a:p>
        </p:txBody>
      </p:sp>
      <p:sp>
        <p:nvSpPr>
          <p:cNvPr id="34" name="object 34"/>
          <p:cNvSpPr txBox="1"/>
          <p:nvPr/>
        </p:nvSpPr>
        <p:spPr>
          <a:xfrm>
            <a:off x="3196442" y="2011171"/>
            <a:ext cx="486558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omic Sans MS" panose="030F0702030302020204" pitchFamily="66" charset="0"/>
                <a:cs typeface="Calibri" panose="020F0502020204030204" pitchFamily="34" charset="0"/>
              </a:rPr>
              <a:t>No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7961" y="190470"/>
            <a:ext cx="9981407" cy="381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Comic Sans MS" panose="030F0702030302020204" pitchFamily="66" charset="0"/>
              </a:rPr>
              <a:t>TOP-LEVEL PERFORMANCE </a:t>
            </a:r>
            <a:r>
              <a:rPr sz="2400" dirty="0">
                <a:latin typeface="Comic Sans MS" panose="030F0702030302020204" pitchFamily="66" charset="0"/>
              </a:rPr>
              <a:t>BEHAVIOR -</a:t>
            </a:r>
            <a:r>
              <a:rPr sz="2400" spc="-40" dirty="0">
                <a:latin typeface="Comic Sans MS" panose="030F0702030302020204" pitchFamily="66" charset="0"/>
              </a:rPr>
              <a:t> </a:t>
            </a:r>
            <a:r>
              <a:rPr sz="2400" spc="-10" dirty="0">
                <a:latin typeface="Comic Sans MS" panose="030F0702030302020204" pitchFamily="66" charset="0"/>
              </a:rPr>
              <a:t>LIMITERS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12"/>
          </p:nvPr>
        </p:nvSpPr>
        <p:spPr>
          <a:xfrm>
            <a:off x="7863840" y="5782626"/>
            <a:ext cx="2560320" cy="20480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>
                <a:latin typeface="Comic Sans MS" panose="030F0702030302020204" pitchFamily="66" charset="0"/>
              </a:rPr>
              <a:t>6</a:t>
            </a:fld>
            <a:endParaRPr dirty="0">
              <a:latin typeface="Comic Sans MS" panose="030F0702030302020204" pitchFamily="66" charset="0"/>
            </a:endParaRPr>
          </a:p>
        </p:txBody>
      </p:sp>
      <p:sp>
        <p:nvSpPr>
          <p:cNvPr id="11" name="object 9"/>
          <p:cNvSpPr txBox="1"/>
          <p:nvPr/>
        </p:nvSpPr>
        <p:spPr>
          <a:xfrm>
            <a:off x="380365" y="1028933"/>
            <a:ext cx="10212212" cy="4274760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298450" marR="82550" indent="-285750">
              <a:lnSpc>
                <a:spcPts val="2020"/>
              </a:lnSpc>
              <a:spcBef>
                <a:spcPts val="280"/>
              </a:spcBef>
              <a:buFont typeface="Arial" panose="020B0604020202020204" pitchFamily="34" charset="0"/>
              <a:buChar char="•"/>
            </a:pPr>
            <a:r>
              <a:rPr sz="200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Memory </a:t>
            </a:r>
            <a:r>
              <a:rPr sz="20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Bound </a:t>
            </a:r>
            <a:r>
              <a:rPr sz="200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– A </a:t>
            </a:r>
            <a:r>
              <a:rPr sz="20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code is </a:t>
            </a:r>
            <a:r>
              <a:rPr sz="200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memory </a:t>
            </a:r>
            <a:r>
              <a:rPr sz="20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bound, </a:t>
            </a:r>
            <a:r>
              <a:rPr sz="200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when </a:t>
            </a:r>
            <a:r>
              <a:rPr sz="20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the </a:t>
            </a:r>
            <a:r>
              <a:rPr sz="200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measured memory </a:t>
            </a:r>
            <a:r>
              <a:rPr sz="20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system performance  is </a:t>
            </a:r>
            <a:r>
              <a:rPr sz="200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at </a:t>
            </a:r>
            <a:r>
              <a:rPr sz="20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or close to the expected </a:t>
            </a:r>
            <a:r>
              <a:rPr sz="200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maximum. </a:t>
            </a:r>
            <a:r>
              <a:rPr sz="20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(saturate </a:t>
            </a:r>
            <a:r>
              <a:rPr sz="200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memory</a:t>
            </a:r>
            <a:r>
              <a:rPr sz="2000" spc="-2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20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bus)</a:t>
            </a:r>
            <a:endParaRPr sz="2000" dirty="0"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marL="298450" marR="260350" indent="-285750">
              <a:lnSpc>
                <a:spcPts val="1990"/>
              </a:lnSpc>
              <a:spcBef>
                <a:spcPts val="1700"/>
              </a:spcBef>
              <a:buFont typeface="Arial" panose="020B0604020202020204" pitchFamily="34" charset="0"/>
              <a:buChar char="•"/>
            </a:pPr>
            <a:r>
              <a:rPr sz="20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Compute Bound </a:t>
            </a:r>
            <a:r>
              <a:rPr sz="200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– A </a:t>
            </a:r>
            <a:r>
              <a:rPr sz="20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code is compute bound </a:t>
            </a:r>
            <a:r>
              <a:rPr sz="200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when </a:t>
            </a:r>
            <a:r>
              <a:rPr sz="20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the compute instruction throughput is </a:t>
            </a:r>
            <a:r>
              <a:rPr sz="200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at  </a:t>
            </a:r>
            <a:r>
              <a:rPr sz="20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or close to the expected</a:t>
            </a:r>
            <a:r>
              <a:rPr sz="2000" spc="-1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200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maximum.</a:t>
            </a:r>
            <a:endParaRPr sz="2000" dirty="0"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marL="298450" marR="5080" indent="-285750">
              <a:lnSpc>
                <a:spcPts val="2020"/>
              </a:lnSpc>
              <a:spcBef>
                <a:spcPts val="1685"/>
              </a:spcBef>
              <a:buFont typeface="Arial" panose="020B0604020202020204" pitchFamily="34" charset="0"/>
              <a:buChar char="•"/>
            </a:pPr>
            <a:r>
              <a:rPr lang="en-US" sz="20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Latency Bound </a:t>
            </a:r>
            <a:r>
              <a:rPr lang="en-US" sz="200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– One </a:t>
            </a:r>
            <a:r>
              <a:rPr lang="en-US" sz="20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of the indicators for </a:t>
            </a:r>
            <a:r>
              <a:rPr lang="en-US" sz="200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a </a:t>
            </a:r>
            <a:r>
              <a:rPr lang="en-US" sz="20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latency bound code is </a:t>
            </a:r>
            <a:r>
              <a:rPr lang="en-US" sz="200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when neither </a:t>
            </a:r>
            <a:r>
              <a:rPr lang="en-US" sz="20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of the above  are </a:t>
            </a:r>
            <a:r>
              <a:rPr lang="en-US" sz="200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true (both</a:t>
            </a:r>
            <a:r>
              <a:rPr lang="zh-CN" altLang="en-US" sz="200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lang="en-US" altLang="zh-CN" sz="200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compute</a:t>
            </a:r>
            <a:r>
              <a:rPr lang="zh-CN" altLang="en-US" sz="200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lang="en-US" altLang="zh-CN" sz="200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and</a:t>
            </a:r>
            <a:r>
              <a:rPr lang="zh-CN" altLang="en-US" sz="200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lang="en-US" altLang="zh-CN" sz="200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memory</a:t>
            </a:r>
            <a:r>
              <a:rPr lang="zh-CN" altLang="en-US" sz="200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lang="en-US" altLang="zh-CN" sz="200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performance are low)</a:t>
            </a:r>
            <a:r>
              <a:rPr lang="en-US" sz="200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.</a:t>
            </a:r>
            <a:endParaRPr lang="en-US" sz="2000" dirty="0"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marL="298450" marR="592455" indent="-285750">
              <a:lnSpc>
                <a:spcPts val="1900"/>
              </a:lnSpc>
              <a:spcBef>
                <a:spcPts val="1765"/>
              </a:spcBef>
              <a:buFont typeface="Arial" panose="020B0604020202020204" pitchFamily="34" charset="0"/>
              <a:buChar char="•"/>
            </a:pPr>
            <a:r>
              <a:rPr sz="20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(Analysis-driven) Optimization </a:t>
            </a:r>
            <a:r>
              <a:rPr sz="200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uses </a:t>
            </a:r>
            <a:r>
              <a:rPr sz="20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the above determination to direct code refactoring  efforts in the first</a:t>
            </a:r>
            <a:r>
              <a:rPr sz="2000" spc="-1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20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stage.</a:t>
            </a:r>
            <a:endParaRPr sz="2000" dirty="0"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marL="298450" marR="1229360" indent="-285750">
              <a:lnSpc>
                <a:spcPct val="172000"/>
              </a:lnSpc>
              <a:spcBef>
                <a:spcPts val="50"/>
              </a:spcBef>
              <a:buFont typeface="Arial" panose="020B0604020202020204" pitchFamily="34" charset="0"/>
              <a:buChar char="•"/>
            </a:pPr>
            <a:r>
              <a:rPr sz="20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Limiting behavior of </a:t>
            </a:r>
            <a:r>
              <a:rPr sz="200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a </a:t>
            </a:r>
            <a:r>
              <a:rPr sz="20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code </a:t>
            </a:r>
            <a:r>
              <a:rPr sz="200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may </a:t>
            </a:r>
            <a:r>
              <a:rPr sz="20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change </a:t>
            </a:r>
            <a:r>
              <a:rPr sz="200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over </a:t>
            </a:r>
            <a:r>
              <a:rPr sz="20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the duration of its execution cycle.  </a:t>
            </a:r>
            <a:endParaRPr lang="en-US" sz="2000" spc="-5" dirty="0">
              <a:solidFill>
                <a:srgbClr val="5E5E5E"/>
              </a:solidFill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marL="298450" marR="1229360" indent="-285750">
              <a:lnSpc>
                <a:spcPct val="172000"/>
              </a:lnSpc>
              <a:spcBef>
                <a:spcPts val="50"/>
              </a:spcBef>
              <a:buFont typeface="Arial" panose="020B0604020202020204" pitchFamily="34" charset="0"/>
              <a:buChar char="•"/>
            </a:pPr>
            <a:r>
              <a:rPr sz="2000" spc="-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It’s desirable to analyze small sections of code </a:t>
            </a:r>
            <a:r>
              <a:rPr sz="200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e.g. </a:t>
            </a:r>
            <a:r>
              <a:rPr sz="2000" spc="-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one </a:t>
            </a:r>
            <a:r>
              <a:rPr sz="200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kernel at a</a:t>
            </a:r>
            <a:r>
              <a:rPr sz="2000" spc="-3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2000" spc="-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time</a:t>
            </a:r>
            <a:endParaRPr sz="2000" dirty="0">
              <a:solidFill>
                <a:srgbClr val="FF0000"/>
              </a:solidFill>
              <a:latin typeface="Comic Sans MS" panose="030F0702030302020204" pitchFamily="66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2000" y="184774"/>
            <a:ext cx="10132220" cy="704039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2000" spc="-5" dirty="0">
                <a:latin typeface="Comic Sans MS" panose="030F0702030302020204" pitchFamily="66" charset="0"/>
              </a:rPr>
              <a:t>METRICS </a:t>
            </a:r>
            <a:r>
              <a:rPr sz="2000" dirty="0">
                <a:latin typeface="Comic Sans MS" panose="030F0702030302020204" pitchFamily="66" charset="0"/>
              </a:rPr>
              <a:t>FOR </a:t>
            </a:r>
            <a:r>
              <a:rPr sz="2000" spc="-5" dirty="0">
                <a:latin typeface="Comic Sans MS" panose="030F0702030302020204" pitchFamily="66" charset="0"/>
              </a:rPr>
              <a:t>DETERMINING COMPUTE </a:t>
            </a:r>
            <a:r>
              <a:rPr sz="2000" dirty="0">
                <a:latin typeface="Comic Sans MS" panose="030F0702030302020204" pitchFamily="66" charset="0"/>
              </a:rPr>
              <a:t>VS. </a:t>
            </a:r>
            <a:r>
              <a:rPr sz="2000" spc="-5" dirty="0">
                <a:latin typeface="Comic Sans MS" panose="030F0702030302020204" pitchFamily="66" charset="0"/>
              </a:rPr>
              <a:t>MEMORY</a:t>
            </a:r>
            <a:r>
              <a:rPr sz="2000" spc="-20" dirty="0">
                <a:latin typeface="Comic Sans MS" panose="030F0702030302020204" pitchFamily="66" charset="0"/>
              </a:rPr>
              <a:t> </a:t>
            </a:r>
            <a:r>
              <a:rPr sz="2000" spc="-5" dirty="0">
                <a:latin typeface="Comic Sans MS" panose="030F0702030302020204" pitchFamily="66" charset="0"/>
              </a:rPr>
              <a:t>BOUND</a:t>
            </a:r>
            <a:endParaRPr sz="2400" spc="-5" dirty="0">
              <a:latin typeface="Comic Sans MS" panose="030F0702030302020204" pitchFamily="66" charset="0"/>
            </a:endParaRPr>
          </a:p>
          <a:p>
            <a:pPr marL="114935">
              <a:lnSpc>
                <a:spcPct val="100000"/>
              </a:lnSpc>
              <a:spcBef>
                <a:spcPts val="385"/>
              </a:spcBef>
            </a:pPr>
            <a:r>
              <a:rPr sz="1600" u="sng" spc="-5" dirty="0">
                <a:solidFill>
                  <a:srgbClr val="76B900"/>
                </a:solidFill>
                <a:uFill>
                  <a:solidFill>
                    <a:srgbClr val="76B900"/>
                  </a:solidFill>
                </a:uFill>
                <a:latin typeface="Comic Sans MS" panose="030F0702030302020204" pitchFamily="66" charset="0"/>
              </a:rPr>
              <a:t>https://docs.nvidia.com/nsight-compute/NsightComputeCli/index.html#nvprof-metric-comparison</a:t>
            </a:r>
            <a:endParaRPr sz="1600" dirty="0">
              <a:latin typeface="Comic Sans MS" panose="030F0702030302020204" pitchFamily="66" charset="0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xfrm>
            <a:off x="7863840" y="5782626"/>
            <a:ext cx="2560320" cy="20480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>
                <a:latin typeface="Comic Sans MS" panose="030F0702030302020204" pitchFamily="66" charset="0"/>
              </a:rPr>
              <a:t>7</a:t>
            </a:fld>
            <a:endParaRPr dirty="0">
              <a:latin typeface="Comic Sans MS" panose="030F0702030302020204" pitchFamily="66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1302" y="1084985"/>
            <a:ext cx="11150097" cy="4603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075"/>
              </a:lnSpc>
              <a:spcBef>
                <a:spcPts val="100"/>
              </a:spcBef>
            </a:pPr>
            <a:r>
              <a:rPr sz="2000" b="1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Latency</a:t>
            </a:r>
            <a:r>
              <a:rPr sz="2000" b="1" spc="-1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2000" b="1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metrics</a:t>
            </a:r>
            <a:r>
              <a:rPr sz="200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:</a:t>
            </a:r>
            <a:endParaRPr sz="2000" dirty="0"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marL="12700">
              <a:lnSpc>
                <a:spcPts val="2075"/>
              </a:lnSpc>
              <a:tabLst>
                <a:tab pos="2512695" algn="l"/>
              </a:tabLst>
            </a:pPr>
            <a:r>
              <a:rPr sz="200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“sm</a:t>
            </a:r>
            <a:r>
              <a:rPr sz="2000" spc="1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20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efficiency”:</a:t>
            </a:r>
            <a:r>
              <a:rPr sz="2000" spc="1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20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smsp</a:t>
            </a:r>
            <a:r>
              <a:rPr sz="2000" u="heavy" spc="-5" dirty="0">
                <a:solidFill>
                  <a:srgbClr val="5E5E5E"/>
                </a:solidFill>
                <a:uFill>
                  <a:solidFill>
                    <a:srgbClr val="5D5D5D"/>
                  </a:solidFill>
                </a:uFill>
                <a:latin typeface="Comic Sans MS" panose="030F0702030302020204" pitchFamily="66" charset="0"/>
                <a:cs typeface="Calibri" panose="020F0502020204030204" pitchFamily="34" charset="0"/>
              </a:rPr>
              <a:t> 	</a:t>
            </a:r>
            <a:r>
              <a:rPr sz="20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cycles_active.avg.pct_of_peak_sustained_elapsed</a:t>
            </a:r>
            <a:endParaRPr sz="2000" dirty="0"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marL="12700">
              <a:lnSpc>
                <a:spcPts val="2075"/>
              </a:lnSpc>
              <a:spcBef>
                <a:spcPts val="1245"/>
              </a:spcBef>
            </a:pPr>
            <a:r>
              <a:rPr sz="2000" b="1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Memory</a:t>
            </a:r>
            <a:r>
              <a:rPr sz="2000" b="1" spc="-1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2000" b="1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metrics</a:t>
            </a:r>
            <a:r>
              <a:rPr sz="20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:</a:t>
            </a:r>
            <a:endParaRPr sz="2000" dirty="0"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marL="12700" marR="2047875">
              <a:lnSpc>
                <a:spcPct val="91000"/>
              </a:lnSpc>
              <a:spcBef>
                <a:spcPts val="120"/>
              </a:spcBef>
              <a:tabLst>
                <a:tab pos="2245995" algn="l"/>
                <a:tab pos="2814320" algn="l"/>
              </a:tabLst>
            </a:pPr>
            <a:r>
              <a:rPr sz="200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“dram</a:t>
            </a:r>
            <a:r>
              <a:rPr sz="2000" spc="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20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utilization”:</a:t>
            </a:r>
            <a:r>
              <a:rPr sz="2000" spc="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20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dram</a:t>
            </a:r>
            <a:r>
              <a:rPr lang="en-US" sz="2000" u="heavy" spc="-5" dirty="0">
                <a:solidFill>
                  <a:srgbClr val="5E5E5E"/>
                </a:solidFill>
                <a:uFill>
                  <a:solidFill>
                    <a:srgbClr val="5D5D5D"/>
                  </a:solidFill>
                </a:uFill>
                <a:latin typeface="Comic Sans MS" panose="030F0702030302020204" pitchFamily="66" charset="0"/>
                <a:cs typeface="Calibri" panose="020F0502020204030204" pitchFamily="34" charset="0"/>
              </a:rPr>
              <a:t>__</a:t>
            </a:r>
            <a:r>
              <a:rPr sz="2000" spc="-5" dirty="0" err="1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throughput.avg.pct_of_peak_sustained_elapsed</a:t>
            </a:r>
            <a:r>
              <a:rPr sz="20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 </a:t>
            </a:r>
            <a:r>
              <a:rPr sz="200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“L2</a:t>
            </a:r>
            <a:r>
              <a:rPr sz="2000" spc="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20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utilization”:</a:t>
            </a:r>
            <a:r>
              <a:rPr sz="2000" spc="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2000" spc="-10" dirty="0" err="1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lts</a:t>
            </a:r>
            <a:r>
              <a:rPr sz="2000" u="heavy" spc="-10" dirty="0">
                <a:solidFill>
                  <a:srgbClr val="5E5E5E"/>
                </a:solidFill>
                <a:uFill>
                  <a:solidFill>
                    <a:srgbClr val="5D5D5D"/>
                  </a:solidFill>
                </a:u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lang="en-US" sz="2000" u="heavy" spc="-10" dirty="0">
                <a:solidFill>
                  <a:srgbClr val="5E5E5E"/>
                </a:solidFill>
                <a:uFill>
                  <a:solidFill>
                    <a:srgbClr val="5D5D5D"/>
                  </a:solidFill>
                </a:uFill>
                <a:latin typeface="Comic Sans MS" panose="030F0702030302020204" pitchFamily="66" charset="0"/>
                <a:cs typeface="Calibri" panose="020F0502020204030204" pitchFamily="34" charset="0"/>
              </a:rPr>
              <a:t>_</a:t>
            </a:r>
            <a:r>
              <a:rPr sz="2000" spc="-5" dirty="0" err="1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t_sectors.avg.pct_of_peak_sustained_elapsed</a:t>
            </a:r>
            <a:r>
              <a:rPr sz="20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 </a:t>
            </a:r>
            <a:r>
              <a:rPr sz="200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“shared</a:t>
            </a:r>
            <a:r>
              <a:rPr sz="2000" spc="-1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20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utilization”:</a:t>
            </a:r>
            <a:endParaRPr sz="2000" dirty="0"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marL="12700">
              <a:lnSpc>
                <a:spcPts val="1895"/>
              </a:lnSpc>
              <a:tabLst>
                <a:tab pos="770255" algn="l"/>
              </a:tabLst>
            </a:pPr>
            <a:r>
              <a:rPr sz="20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l1tex</a:t>
            </a:r>
            <a:r>
              <a:rPr sz="2000" u="heavy" spc="-5" dirty="0">
                <a:solidFill>
                  <a:srgbClr val="5E5E5E"/>
                </a:solidFill>
                <a:uFill>
                  <a:solidFill>
                    <a:srgbClr val="5D5D5D"/>
                  </a:solidFill>
                </a:u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lang="en-US" sz="2000" u="heavy" spc="-5" dirty="0">
                <a:solidFill>
                  <a:srgbClr val="5E5E5E"/>
                </a:solidFill>
                <a:uFill>
                  <a:solidFill>
                    <a:srgbClr val="5D5D5D"/>
                  </a:solidFill>
                </a:uFill>
                <a:latin typeface="Comic Sans MS" panose="030F0702030302020204" pitchFamily="66" charset="0"/>
                <a:cs typeface="Calibri" panose="020F0502020204030204" pitchFamily="34" charset="0"/>
              </a:rPr>
              <a:t>_</a:t>
            </a:r>
            <a:r>
              <a:rPr sz="20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data_pipe_lsu_wavefronts_mem_shared.avg.pct_of_peak_sustained_elapsed</a:t>
            </a:r>
            <a:endParaRPr sz="2000" dirty="0"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marL="12700">
              <a:lnSpc>
                <a:spcPts val="2030"/>
              </a:lnSpc>
              <a:spcBef>
                <a:spcPts val="1345"/>
              </a:spcBef>
            </a:pPr>
            <a:r>
              <a:rPr sz="2000" b="1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Compute</a:t>
            </a:r>
            <a:r>
              <a:rPr sz="2000" b="1" spc="-1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2000" b="1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metrics</a:t>
            </a:r>
            <a:r>
              <a:rPr sz="20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:</a:t>
            </a:r>
            <a:endParaRPr sz="2000" dirty="0"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marL="12700" marR="1018540">
              <a:lnSpc>
                <a:spcPct val="90000"/>
              </a:lnSpc>
              <a:spcBef>
                <a:spcPts val="85"/>
              </a:spcBef>
              <a:tabLst>
                <a:tab pos="2520315" algn="l"/>
                <a:tab pos="2550795" algn="l"/>
              </a:tabLst>
            </a:pPr>
            <a:r>
              <a:rPr sz="200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“DP</a:t>
            </a:r>
            <a:r>
              <a:rPr sz="20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Utilization”:</a:t>
            </a:r>
            <a:r>
              <a:rPr lang="zh-CN" altLang="en-US" sz="200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20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smsp</a:t>
            </a:r>
            <a:r>
              <a:rPr lang="en-US" sz="2000" u="heavy" spc="-5" dirty="0">
                <a:solidFill>
                  <a:srgbClr val="5E5E5E"/>
                </a:solidFill>
                <a:uFill>
                  <a:solidFill>
                    <a:srgbClr val="5D5D5D"/>
                  </a:solidFill>
                </a:uFill>
                <a:latin typeface="Comic Sans MS" panose="030F0702030302020204" pitchFamily="66" charset="0"/>
                <a:cs typeface="Calibri" panose="020F0502020204030204" pitchFamily="34" charset="0"/>
              </a:rPr>
              <a:t>__</a:t>
            </a:r>
            <a:r>
              <a:rPr sz="20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inst_executed_pipe_fp64.avg.pct_of_peak_sustained_active  </a:t>
            </a:r>
            <a:r>
              <a:rPr sz="200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“</a:t>
            </a:r>
            <a:endParaRPr lang="en-US" sz="2000" dirty="0">
              <a:solidFill>
                <a:srgbClr val="5E5E5E"/>
              </a:solidFill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marL="12700" marR="1018540">
              <a:lnSpc>
                <a:spcPct val="90000"/>
              </a:lnSpc>
              <a:spcBef>
                <a:spcPts val="85"/>
              </a:spcBef>
              <a:tabLst>
                <a:tab pos="2520315" algn="l"/>
                <a:tab pos="2550795" algn="l"/>
              </a:tabLst>
            </a:pPr>
            <a:r>
              <a:rPr sz="200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SP</a:t>
            </a:r>
            <a:r>
              <a:rPr sz="20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Utilization”:</a:t>
            </a:r>
            <a:r>
              <a:rPr sz="200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2000" spc="-5" dirty="0" err="1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smsp</a:t>
            </a:r>
            <a:r>
              <a:rPr lang="en-US" sz="2000" u="heavy" spc="-5" dirty="0">
                <a:solidFill>
                  <a:srgbClr val="5E5E5E"/>
                </a:solidFill>
                <a:uFill>
                  <a:solidFill>
                    <a:srgbClr val="5D5D5D"/>
                  </a:solidFill>
                </a:uFill>
                <a:latin typeface="Comic Sans MS" panose="030F0702030302020204" pitchFamily="66" charset="0"/>
                <a:cs typeface="Calibri" panose="020F0502020204030204" pitchFamily="34" charset="0"/>
              </a:rPr>
              <a:t>__</a:t>
            </a:r>
            <a:r>
              <a:rPr sz="2000" spc="-5" dirty="0" err="1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pipe_fma_cycles_active.avg.pct_of_peak_sustained_active</a:t>
            </a:r>
            <a:r>
              <a:rPr sz="20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 </a:t>
            </a:r>
            <a:r>
              <a:rPr sz="200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“HP</a:t>
            </a:r>
            <a:r>
              <a:rPr sz="20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Utilization”:</a:t>
            </a:r>
            <a:r>
              <a:rPr sz="200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20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smsp</a:t>
            </a:r>
            <a:r>
              <a:rPr lang="en-US" sz="2000" u="heavy" spc="-5" dirty="0">
                <a:solidFill>
                  <a:srgbClr val="5E5E5E"/>
                </a:solidFill>
                <a:uFill>
                  <a:solidFill>
                    <a:srgbClr val="5D5D5D"/>
                  </a:solidFill>
                </a:uFill>
                <a:latin typeface="Comic Sans MS" panose="030F0702030302020204" pitchFamily="66" charset="0"/>
                <a:cs typeface="Calibri" panose="020F0502020204030204" pitchFamily="34" charset="0"/>
              </a:rPr>
              <a:t>__</a:t>
            </a:r>
            <a:r>
              <a:rPr sz="20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inst_executed_pipe_fp16.avg.pct_of_peak_sustained_active</a:t>
            </a:r>
            <a:endParaRPr sz="2000" dirty="0"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marL="12700">
              <a:lnSpc>
                <a:spcPts val="1825"/>
              </a:lnSpc>
              <a:tabLst>
                <a:tab pos="2334260" algn="l"/>
              </a:tabLst>
            </a:pPr>
            <a:r>
              <a:rPr sz="200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“TC</a:t>
            </a:r>
            <a:r>
              <a:rPr sz="20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Utilization”:</a:t>
            </a:r>
            <a:r>
              <a:rPr sz="200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20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sm</a:t>
            </a:r>
            <a:r>
              <a:rPr lang="en-US" sz="2000" u="heavy" spc="-5" dirty="0">
                <a:solidFill>
                  <a:srgbClr val="5E5E5E"/>
                </a:solidFill>
                <a:uFill>
                  <a:solidFill>
                    <a:srgbClr val="5D5D5D"/>
                  </a:solidFill>
                </a:uFill>
                <a:latin typeface="Comic Sans MS" panose="030F0702030302020204" pitchFamily="66" charset="0"/>
                <a:cs typeface="Calibri" panose="020F0502020204030204" pitchFamily="34" charset="0"/>
              </a:rPr>
              <a:t>__</a:t>
            </a:r>
            <a:r>
              <a:rPr sz="20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pipe_tensor_op_hmma_cycles_active.avg.pct_of_peak_sustained_active</a:t>
            </a:r>
            <a:endParaRPr sz="2000" dirty="0"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marL="12700">
              <a:lnSpc>
                <a:spcPts val="1955"/>
              </a:lnSpc>
            </a:pPr>
            <a:r>
              <a:rPr sz="200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“Integer</a:t>
            </a:r>
            <a:r>
              <a:rPr sz="2000" spc="-1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20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Utilization”:</a:t>
            </a:r>
            <a:endParaRPr sz="2000" dirty="0"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marL="12700">
              <a:lnSpc>
                <a:spcPts val="2030"/>
              </a:lnSpc>
              <a:tabLst>
                <a:tab pos="755015" algn="l"/>
              </a:tabLst>
            </a:pPr>
            <a:r>
              <a:rPr lang="en-US" sz="20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S</a:t>
            </a:r>
            <a:r>
              <a:rPr sz="20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msp</a:t>
            </a:r>
            <a:r>
              <a:rPr lang="en-US" sz="2000" u="heavy" spc="-5" dirty="0">
                <a:solidFill>
                  <a:srgbClr val="5E5E5E"/>
                </a:solidFill>
                <a:uFill>
                  <a:solidFill>
                    <a:srgbClr val="5D5D5D"/>
                  </a:solidFill>
                </a:uFill>
                <a:latin typeface="Comic Sans MS" panose="030F0702030302020204" pitchFamily="66" charset="0"/>
                <a:cs typeface="Calibri" panose="020F0502020204030204" pitchFamily="34" charset="0"/>
              </a:rPr>
              <a:t>__</a:t>
            </a:r>
            <a:r>
              <a:rPr sz="20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sass_thread_inst_executed_op_integer_pred_on.avg.pct_of_peak_sustained_active</a:t>
            </a:r>
            <a:endParaRPr sz="2000" dirty="0">
              <a:latin typeface="Comic Sans MS" panose="030F0702030302020204" pitchFamily="66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57880" y="190183"/>
            <a:ext cx="4505960" cy="566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" dirty="0">
                <a:latin typeface="Comic Sans MS" panose="030F0702030302020204" pitchFamily="66" charset="0"/>
              </a:rPr>
              <a:t>MEMORY</a:t>
            </a:r>
            <a:r>
              <a:rPr sz="3600" spc="-70" dirty="0">
                <a:latin typeface="Comic Sans MS" panose="030F0702030302020204" pitchFamily="66" charset="0"/>
              </a:rPr>
              <a:t> </a:t>
            </a:r>
            <a:r>
              <a:rPr sz="3600" spc="-5" dirty="0">
                <a:latin typeface="Comic Sans MS" panose="030F0702030302020204" pitchFamily="66" charset="0"/>
              </a:rPr>
              <a:t>BOUND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12"/>
          </p:nvPr>
        </p:nvSpPr>
        <p:spPr>
          <a:xfrm>
            <a:off x="7863840" y="5782626"/>
            <a:ext cx="2560320" cy="20480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>
                <a:latin typeface="Comic Sans MS" panose="030F0702030302020204" pitchFamily="66" charset="0"/>
              </a:rPr>
              <a:t>8</a:t>
            </a:fld>
            <a:endParaRPr dirty="0">
              <a:latin typeface="Comic Sans MS" panose="030F0702030302020204" pitchFamily="66" charset="0"/>
            </a:endParaRPr>
          </a:p>
        </p:txBody>
      </p:sp>
      <p:sp>
        <p:nvSpPr>
          <p:cNvPr id="11" name="object 9"/>
          <p:cNvSpPr txBox="1"/>
          <p:nvPr/>
        </p:nvSpPr>
        <p:spPr>
          <a:xfrm>
            <a:off x="457200" y="1181100"/>
            <a:ext cx="9907411" cy="4458528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355600" marR="382270" indent="-342900">
              <a:lnSpc>
                <a:spcPts val="1990"/>
              </a:lnSpc>
              <a:spcBef>
                <a:spcPts val="305"/>
              </a:spcBef>
              <a:buFont typeface="Arial" panose="020B0604020202020204" pitchFamily="34" charset="0"/>
              <a:buChar char="•"/>
            </a:pPr>
            <a:r>
              <a:rPr sz="200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A </a:t>
            </a:r>
            <a:r>
              <a:rPr sz="20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code </a:t>
            </a:r>
            <a:r>
              <a:rPr sz="200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can </a:t>
            </a:r>
            <a:r>
              <a:rPr sz="20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be </a:t>
            </a:r>
            <a:r>
              <a:rPr sz="200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memory </a:t>
            </a:r>
            <a:r>
              <a:rPr sz="20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bound </a:t>
            </a:r>
            <a:r>
              <a:rPr sz="200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when either </a:t>
            </a:r>
            <a:r>
              <a:rPr sz="20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it is limited by </a:t>
            </a:r>
            <a:r>
              <a:rPr sz="200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memory </a:t>
            </a:r>
            <a:r>
              <a:rPr sz="20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bandwidth or latency. </a:t>
            </a:r>
            <a:endParaRPr lang="en-US" sz="2000" spc="-5" dirty="0">
              <a:solidFill>
                <a:srgbClr val="5E5E5E"/>
              </a:solidFill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marL="12700" marR="382270">
              <a:lnSpc>
                <a:spcPts val="1990"/>
              </a:lnSpc>
              <a:spcBef>
                <a:spcPts val="305"/>
              </a:spcBef>
            </a:pPr>
            <a:r>
              <a:rPr sz="20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endParaRPr sz="2000" dirty="0"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marL="355600" marR="5080" indent="-342900">
              <a:lnSpc>
                <a:spcPts val="2020"/>
              </a:lnSpc>
              <a:spcBef>
                <a:spcPts val="1685"/>
              </a:spcBef>
              <a:buFont typeface="Arial" panose="020B0604020202020204" pitchFamily="34" charset="0"/>
              <a:buChar char="•"/>
            </a:pPr>
            <a:r>
              <a:rPr sz="200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For a memory </a:t>
            </a:r>
            <a:r>
              <a:rPr sz="20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bandwidth bound code, we will </a:t>
            </a:r>
            <a:r>
              <a:rPr sz="200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seek </a:t>
            </a:r>
            <a:r>
              <a:rPr sz="20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to optimize usage of the </a:t>
            </a:r>
            <a:r>
              <a:rPr sz="200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various memory  </a:t>
            </a:r>
            <a:r>
              <a:rPr sz="20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subsystems, taking advantage of the </a:t>
            </a:r>
            <a:r>
              <a:rPr sz="200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memory </a:t>
            </a:r>
            <a:r>
              <a:rPr sz="20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hierarchy </a:t>
            </a:r>
            <a:r>
              <a:rPr sz="200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where </a:t>
            </a:r>
            <a:r>
              <a:rPr sz="20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possible.</a:t>
            </a:r>
            <a:endParaRPr sz="2000" dirty="0"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marL="868045" indent="-285750">
              <a:lnSpc>
                <a:spcPct val="100000"/>
              </a:lnSpc>
              <a:spcBef>
                <a:spcPts val="1470"/>
              </a:spcBef>
              <a:buFont typeface="Arial" panose="020B0604020202020204" pitchFamily="34" charset="0"/>
              <a:buChar char="•"/>
            </a:pPr>
            <a:r>
              <a:rPr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Optimize </a:t>
            </a:r>
            <a:r>
              <a:rPr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use of </a:t>
            </a:r>
            <a:r>
              <a:rPr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global</a:t>
            </a:r>
            <a:r>
              <a:rPr spc="1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memory</a:t>
            </a:r>
            <a:endParaRPr dirty="0"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marL="285750" indent="-285750">
              <a:lnSpc>
                <a:spcPct val="100000"/>
              </a:lnSpc>
              <a:spcBef>
                <a:spcPts val="5"/>
              </a:spcBef>
              <a:buFont typeface="Arial" panose="020B0604020202020204" pitchFamily="34" charset="0"/>
              <a:buChar char="•"/>
            </a:pPr>
            <a:endParaRPr dirty="0"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marL="868045" marR="204470" indent="-285750">
              <a:lnSpc>
                <a:spcPts val="1700"/>
              </a:lnSpc>
              <a:buFont typeface="Arial" panose="020B0604020202020204" pitchFamily="34" charset="0"/>
              <a:buChar char="•"/>
            </a:pPr>
            <a:r>
              <a:rPr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Under data </a:t>
            </a:r>
            <a:r>
              <a:rPr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reuse </a:t>
            </a:r>
            <a:r>
              <a:rPr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scenarios, make (efficient) </a:t>
            </a:r>
            <a:r>
              <a:rPr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use of higher levels of the </a:t>
            </a:r>
            <a:r>
              <a:rPr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memory hierarchy, and  </a:t>
            </a:r>
            <a:r>
              <a:rPr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optimize these </a:t>
            </a:r>
            <a:r>
              <a:rPr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usages (L2 cache, shared</a:t>
            </a:r>
            <a:r>
              <a:rPr spc="3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memory).</a:t>
            </a:r>
            <a:endParaRPr dirty="0"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marL="285750" indent="-285750">
              <a:lnSpc>
                <a:spcPct val="100000"/>
              </a:lnSpc>
              <a:spcBef>
                <a:spcPts val="10"/>
              </a:spcBef>
              <a:buFont typeface="Arial" panose="020B0604020202020204" pitchFamily="34" charset="0"/>
              <a:buChar char="•"/>
            </a:pPr>
            <a:endParaRPr sz="1600" dirty="0"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marL="868045" marR="167005" indent="-285750">
              <a:lnSpc>
                <a:spcPts val="1700"/>
              </a:lnSpc>
              <a:buFont typeface="Arial" panose="020B0604020202020204" pitchFamily="34" charset="0"/>
              <a:buChar char="•"/>
            </a:pPr>
            <a:r>
              <a:rPr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Take advantage </a:t>
            </a:r>
            <a:r>
              <a:rPr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of </a:t>
            </a:r>
            <a:r>
              <a:rPr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cache “diversification” </a:t>
            </a:r>
            <a:r>
              <a:rPr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using </a:t>
            </a:r>
            <a:r>
              <a:rPr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special </a:t>
            </a:r>
            <a:r>
              <a:rPr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GPU </a:t>
            </a:r>
            <a:r>
              <a:rPr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caches </a:t>
            </a:r>
            <a:r>
              <a:rPr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– </a:t>
            </a:r>
            <a:r>
              <a:rPr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constant cache, read-only  cache, texture cache/memory, surface</a:t>
            </a:r>
            <a:r>
              <a:rPr spc="3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memory.</a:t>
            </a:r>
            <a:endParaRPr dirty="0"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marL="285750" indent="-285750">
              <a:lnSpc>
                <a:spcPct val="100000"/>
              </a:lnSpc>
              <a:spcBef>
                <a:spcPts val="25"/>
              </a:spcBef>
              <a:buFont typeface="Arial" panose="020B0604020202020204" pitchFamily="34" charset="0"/>
              <a:buChar char="•"/>
            </a:pPr>
            <a:endParaRPr sz="1600" dirty="0"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marL="355600" marR="451485" indent="-342900">
              <a:lnSpc>
                <a:spcPts val="1990"/>
              </a:lnSpc>
              <a:buFont typeface="Arial" panose="020B0604020202020204" pitchFamily="34" charset="0"/>
              <a:buChar char="•"/>
            </a:pPr>
            <a:r>
              <a:rPr sz="200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For a </a:t>
            </a:r>
            <a:r>
              <a:rPr sz="20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code that is </a:t>
            </a:r>
            <a:r>
              <a:rPr sz="200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memory </a:t>
            </a:r>
            <a:r>
              <a:rPr sz="20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bandwidth bound, we can compute the actual throughput </a:t>
            </a:r>
            <a:r>
              <a:rPr sz="200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vs.  peak</a:t>
            </a:r>
            <a:r>
              <a:rPr sz="2000" spc="-1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20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theoretical</a:t>
            </a:r>
            <a:endParaRPr sz="2000" dirty="0">
              <a:latin typeface="Comic Sans MS" panose="030F0702030302020204" pitchFamily="66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52800" y="190183"/>
            <a:ext cx="4328795" cy="566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3600" spc="-5" dirty="0">
                <a:latin typeface="Comic Sans MS" panose="030F0702030302020204" pitchFamily="66" charset="0"/>
              </a:rPr>
              <a:t>COMPUTE</a:t>
            </a:r>
            <a:r>
              <a:rPr sz="3600" spc="-65" dirty="0">
                <a:latin typeface="Comic Sans MS" panose="030F0702030302020204" pitchFamily="66" charset="0"/>
              </a:rPr>
              <a:t> </a:t>
            </a:r>
            <a:r>
              <a:rPr sz="3600" spc="-5" dirty="0">
                <a:latin typeface="Comic Sans MS" panose="030F0702030302020204" pitchFamily="66" charset="0"/>
              </a:rPr>
              <a:t>BOUND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12"/>
          </p:nvPr>
        </p:nvSpPr>
        <p:spPr>
          <a:xfrm>
            <a:off x="7863840" y="5782626"/>
            <a:ext cx="2560320" cy="20480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>
                <a:latin typeface="Comic Sans MS" panose="030F0702030302020204" pitchFamily="66" charset="0"/>
              </a:rPr>
              <a:t>9</a:t>
            </a:fld>
            <a:endParaRPr dirty="0">
              <a:latin typeface="Comic Sans MS" panose="030F0702030302020204" pitchFamily="66" charset="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85800" y="1866900"/>
            <a:ext cx="9761220" cy="3177601"/>
          </a:xfrm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marL="355600" marR="57150" indent="-342900">
              <a:lnSpc>
                <a:spcPct val="90000"/>
              </a:lnSpc>
              <a:spcBef>
                <a:spcPts val="350"/>
              </a:spcBef>
              <a:buFont typeface="Arial" panose="020B0604020202020204" pitchFamily="34" charset="0"/>
              <a:buChar char="•"/>
            </a:pPr>
            <a:r>
              <a:rPr sz="240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A </a:t>
            </a:r>
            <a:r>
              <a:rPr sz="24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code </a:t>
            </a:r>
            <a:r>
              <a:rPr sz="240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is </a:t>
            </a:r>
            <a:r>
              <a:rPr sz="24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compute bound when </a:t>
            </a:r>
            <a:r>
              <a:rPr sz="2400" spc="-1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the </a:t>
            </a:r>
            <a:r>
              <a:rPr sz="24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performance </a:t>
            </a:r>
            <a:r>
              <a:rPr sz="240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of a </a:t>
            </a:r>
            <a:r>
              <a:rPr sz="24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particular type </a:t>
            </a:r>
            <a:r>
              <a:rPr sz="240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of </a:t>
            </a:r>
            <a:r>
              <a:rPr sz="24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compute  instruction/operation </a:t>
            </a:r>
            <a:r>
              <a:rPr sz="240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is </a:t>
            </a:r>
            <a:r>
              <a:rPr sz="24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at </a:t>
            </a:r>
            <a:r>
              <a:rPr sz="240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or </a:t>
            </a:r>
            <a:r>
              <a:rPr sz="24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near </a:t>
            </a:r>
            <a:r>
              <a:rPr sz="2400" spc="-1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the </a:t>
            </a:r>
            <a:r>
              <a:rPr sz="24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limit </a:t>
            </a:r>
            <a:r>
              <a:rPr sz="240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of </a:t>
            </a:r>
            <a:r>
              <a:rPr sz="2400" spc="-1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the functional </a:t>
            </a:r>
            <a:r>
              <a:rPr sz="24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unit servicing </a:t>
            </a:r>
            <a:r>
              <a:rPr sz="2400" spc="-1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that  </a:t>
            </a:r>
            <a:r>
              <a:rPr sz="24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type</a:t>
            </a:r>
            <a:endParaRPr sz="2400" dirty="0"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marL="355600" marR="5080" indent="-342900">
              <a:lnSpc>
                <a:spcPts val="2090"/>
              </a:lnSpc>
              <a:spcBef>
                <a:spcPts val="1935"/>
              </a:spcBef>
              <a:buFont typeface="Arial" panose="020B0604020202020204" pitchFamily="34" charset="0"/>
              <a:buChar char="•"/>
            </a:pPr>
            <a:r>
              <a:rPr sz="24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Optimization strategy involves optimizing </a:t>
            </a:r>
            <a:r>
              <a:rPr sz="2400" spc="-1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the </a:t>
            </a:r>
            <a:r>
              <a:rPr sz="24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use </a:t>
            </a:r>
            <a:r>
              <a:rPr sz="240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of </a:t>
            </a:r>
            <a:r>
              <a:rPr sz="2400" spc="-1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that functional </a:t>
            </a:r>
            <a:r>
              <a:rPr sz="24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unit type, as  well as (possibly) seeking to shift </a:t>
            </a:r>
            <a:r>
              <a:rPr sz="2400" spc="-1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the </a:t>
            </a:r>
            <a:r>
              <a:rPr sz="24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compute load to other</a:t>
            </a:r>
            <a:r>
              <a:rPr sz="2400" spc="-1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24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types</a:t>
            </a:r>
            <a:endParaRPr sz="2400" dirty="0"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marL="355600" marR="50165" indent="-342900">
              <a:lnSpc>
                <a:spcPts val="2210"/>
              </a:lnSpc>
              <a:spcBef>
                <a:spcPts val="1820"/>
              </a:spcBef>
              <a:buFont typeface="Arial" panose="020B0604020202020204" pitchFamily="34" charset="0"/>
              <a:buChar char="•"/>
            </a:pPr>
            <a:r>
              <a:rPr sz="240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For a </a:t>
            </a:r>
            <a:r>
              <a:rPr sz="24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code </a:t>
            </a:r>
            <a:r>
              <a:rPr sz="2400" spc="-1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that </a:t>
            </a:r>
            <a:r>
              <a:rPr sz="240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is </a:t>
            </a:r>
            <a:r>
              <a:rPr sz="24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dominated by </a:t>
            </a:r>
            <a:r>
              <a:rPr sz="240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a </a:t>
            </a:r>
            <a:r>
              <a:rPr sz="24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particular type (e.g. single precision floating  point multiply/add) we can compare </a:t>
            </a:r>
            <a:r>
              <a:rPr sz="2400" spc="-1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the actual throughput </a:t>
            </a:r>
            <a:r>
              <a:rPr sz="24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vs. peak</a:t>
            </a:r>
            <a:r>
              <a:rPr sz="2400" spc="2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24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theoretical.</a:t>
            </a:r>
            <a:endParaRPr sz="2400" dirty="0">
              <a:latin typeface="Comic Sans MS" panose="030F0702030302020204" pitchFamily="66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81400" y="190183"/>
            <a:ext cx="4076065" cy="566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3600" spc="-5" dirty="0">
                <a:latin typeface="Comic Sans MS" panose="030F0702030302020204" pitchFamily="66" charset="0"/>
              </a:rPr>
              <a:t>LATENCY</a:t>
            </a:r>
            <a:r>
              <a:rPr sz="3600" spc="-70" dirty="0">
                <a:latin typeface="Comic Sans MS" panose="030F0702030302020204" pitchFamily="66" charset="0"/>
              </a:rPr>
              <a:t> </a:t>
            </a:r>
            <a:r>
              <a:rPr sz="3600" spc="-5" dirty="0">
                <a:latin typeface="Comic Sans MS" panose="030F0702030302020204" pitchFamily="66" charset="0"/>
              </a:rPr>
              <a:t>BOUND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12"/>
          </p:nvPr>
        </p:nvSpPr>
        <p:spPr>
          <a:xfrm>
            <a:off x="7863840" y="5782626"/>
            <a:ext cx="2560320" cy="20480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>
                <a:latin typeface="Comic Sans MS" panose="030F0702030302020204" pitchFamily="66" charset="0"/>
              </a:rPr>
              <a:t>10</a:t>
            </a:fld>
            <a:endParaRPr dirty="0">
              <a:latin typeface="Comic Sans MS" panose="030F0702030302020204" pitchFamily="66" charset="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49947" y="1181100"/>
            <a:ext cx="9538970" cy="4653838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582295" marR="5080" indent="-569595">
              <a:spcBef>
                <a:spcPts val="235"/>
              </a:spcBef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A </a:t>
            </a:r>
            <a:r>
              <a:rPr lang="en-US" altLang="zh-CN" sz="24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code </a:t>
            </a:r>
            <a:r>
              <a:rPr lang="en-US" altLang="zh-CN" sz="240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is </a:t>
            </a:r>
            <a:r>
              <a:rPr lang="en-US" altLang="zh-CN" sz="2400" spc="-1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latency </a:t>
            </a:r>
            <a:r>
              <a:rPr lang="en-US" altLang="zh-CN" sz="24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bound when </a:t>
            </a:r>
            <a:r>
              <a:rPr lang="en-US" altLang="zh-CN" sz="2400" spc="-1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the </a:t>
            </a:r>
            <a:r>
              <a:rPr lang="en-US" altLang="zh-CN" sz="24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GPU </a:t>
            </a:r>
            <a:r>
              <a:rPr lang="en-US" altLang="zh-CN" sz="2400" spc="-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cannot  keep busy (low occupancy) </a:t>
            </a:r>
            <a:r>
              <a:rPr lang="en-US" altLang="zh-CN" sz="24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with </a:t>
            </a:r>
            <a:r>
              <a:rPr lang="en-US" altLang="zh-CN" sz="2400" spc="-1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the  </a:t>
            </a:r>
            <a:r>
              <a:rPr lang="en-US" altLang="zh-CN" sz="24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available/exposed parallel</a:t>
            </a:r>
            <a:r>
              <a:rPr lang="en-US" altLang="zh-CN" sz="2400" spc="-1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lang="en-US" altLang="zh-CN" sz="24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work.</a:t>
            </a:r>
          </a:p>
          <a:p>
            <a:pPr marL="582295" marR="5080" indent="-569595">
              <a:spcBef>
                <a:spcPts val="235"/>
              </a:spcBef>
              <a:buFont typeface="Arial" panose="020B0604020202020204" pitchFamily="34" charset="0"/>
              <a:buChar char="•"/>
            </a:pPr>
            <a:r>
              <a:rPr sz="24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The general strategy for </a:t>
            </a:r>
            <a:r>
              <a:rPr sz="240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a </a:t>
            </a:r>
            <a:r>
              <a:rPr sz="2400" spc="-1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latency </a:t>
            </a:r>
            <a:r>
              <a:rPr sz="24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bound code will be to expose more parallel work  </a:t>
            </a:r>
            <a:endParaRPr lang="en-US" sz="2400" spc="-5" dirty="0">
              <a:solidFill>
                <a:srgbClr val="5E5E5E"/>
              </a:solidFill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marL="1039495" marR="5080" lvl="1" indent="-569595">
              <a:spcBef>
                <a:spcPts val="235"/>
              </a:spcBef>
              <a:buFont typeface="Arial" panose="020B0604020202020204" pitchFamily="34" charset="0"/>
              <a:buChar char="•"/>
            </a:pPr>
            <a:r>
              <a:rPr sz="240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Make </a:t>
            </a:r>
            <a:r>
              <a:rPr sz="24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sure </a:t>
            </a:r>
            <a:r>
              <a:rPr sz="2400" spc="-1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that </a:t>
            </a:r>
            <a:r>
              <a:rPr sz="240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you </a:t>
            </a:r>
            <a:r>
              <a:rPr sz="24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are </a:t>
            </a:r>
            <a:r>
              <a:rPr sz="2400" spc="-1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launching </a:t>
            </a:r>
            <a:r>
              <a:rPr sz="240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a </a:t>
            </a:r>
            <a:r>
              <a:rPr sz="24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large number </a:t>
            </a:r>
            <a:r>
              <a:rPr sz="240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of</a:t>
            </a:r>
            <a:r>
              <a:rPr sz="2400" spc="-5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2400" spc="-1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threads</a:t>
            </a:r>
            <a:endParaRPr lang="en-US" sz="2400" spc="-10" dirty="0">
              <a:solidFill>
                <a:srgbClr val="5E5E5E"/>
              </a:solidFill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marL="1039495" marR="5080" lvl="1" indent="-569595">
              <a:spcBef>
                <a:spcPts val="235"/>
              </a:spcBef>
              <a:buFont typeface="Arial" panose="020B0604020202020204" pitchFamily="34" charset="0"/>
              <a:buChar char="•"/>
            </a:pPr>
            <a:r>
              <a:rPr lang="en-US" altLang="zh-CN" sz="24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Increase </a:t>
            </a:r>
            <a:r>
              <a:rPr lang="en-US" altLang="zh-CN" sz="2400" spc="-1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the </a:t>
            </a:r>
            <a:r>
              <a:rPr lang="en-US" altLang="zh-CN" sz="24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work per </a:t>
            </a:r>
            <a:r>
              <a:rPr lang="en-US" altLang="zh-CN" sz="2400" spc="-1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thread </a:t>
            </a:r>
            <a:r>
              <a:rPr lang="en-US" altLang="zh-CN" sz="24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(e.g. via </a:t>
            </a:r>
            <a:r>
              <a:rPr lang="en-US" altLang="zh-CN" sz="240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a </a:t>
            </a:r>
            <a:r>
              <a:rPr lang="en-US" altLang="zh-CN" sz="24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loop over input</a:t>
            </a:r>
            <a:r>
              <a:rPr lang="en-US" altLang="zh-CN" sz="240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lang="en-US" altLang="zh-CN" sz="24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elements)</a:t>
            </a:r>
            <a:endParaRPr lang="en-US" altLang="zh-CN" sz="2400" dirty="0"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marL="1039495" marR="5080" lvl="1" indent="-569595">
              <a:spcBef>
                <a:spcPts val="235"/>
              </a:spcBef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Use </a:t>
            </a:r>
            <a:r>
              <a:rPr lang="en-US" altLang="zh-CN" sz="24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“vector load” to allow </a:t>
            </a:r>
            <a:r>
              <a:rPr lang="en-US" altLang="zh-CN" sz="240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a </a:t>
            </a:r>
            <a:r>
              <a:rPr lang="en-US" altLang="zh-CN" sz="24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single </a:t>
            </a:r>
            <a:r>
              <a:rPr lang="en-US" altLang="zh-CN" sz="2400" spc="-1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thread </a:t>
            </a:r>
            <a:r>
              <a:rPr lang="en-US" altLang="zh-CN" sz="24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to process multiple input elements  </a:t>
            </a:r>
          </a:p>
          <a:p>
            <a:pPr marL="1039495" marR="5080" lvl="1" indent="-569595">
              <a:spcBef>
                <a:spcPts val="235"/>
              </a:spcBef>
              <a:buFont typeface="Arial" panose="020B0604020202020204" pitchFamily="34" charset="0"/>
              <a:buChar char="•"/>
            </a:pPr>
            <a:r>
              <a:rPr lang="en-US" altLang="zh-CN" sz="24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Strive for maximum</a:t>
            </a:r>
            <a:r>
              <a:rPr lang="en-US" altLang="zh-CN" sz="2400" spc="-1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lang="en-US" altLang="zh-CN" sz="24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occupancy</a:t>
            </a:r>
            <a:endParaRPr lang="en-US" altLang="zh-CN" sz="2400" dirty="0"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marL="1039495" marR="5080" lvl="1" indent="-569595">
              <a:spcBef>
                <a:spcPts val="235"/>
              </a:spcBef>
              <a:buFont typeface="Arial" panose="020B0604020202020204" pitchFamily="34" charset="0"/>
              <a:buChar char="•"/>
            </a:pPr>
            <a:endParaRPr lang="en-US" sz="2400" spc="-10" dirty="0">
              <a:solidFill>
                <a:srgbClr val="5E5E5E"/>
              </a:solidFill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marL="1039495" marR="5080" lvl="1" indent="-569595">
              <a:spcBef>
                <a:spcPts val="235"/>
              </a:spcBef>
              <a:buFont typeface="Arial" panose="020B0604020202020204" pitchFamily="34" charset="0"/>
              <a:buChar char="•"/>
            </a:pPr>
            <a:endParaRPr lang="zh-CN" altLang="en-US" sz="2400" dirty="0">
              <a:latin typeface="Comic Sans MS" panose="030F0702030302020204" pitchFamily="66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47644" y="876030"/>
            <a:ext cx="7721600" cy="13018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7000"/>
              </a:lnSpc>
              <a:spcBef>
                <a:spcPts val="100"/>
              </a:spcBef>
            </a:pPr>
            <a:r>
              <a:rPr sz="3200" spc="-5" dirty="0">
                <a:latin typeface="Comic Sans MS" panose="030F0702030302020204" pitchFamily="66" charset="0"/>
                <a:cs typeface="Calibri" panose="020F0502020204030204" pitchFamily="34" charset="0"/>
              </a:rPr>
              <a:t>Memory Utilization vs Compute Utilization  </a:t>
            </a:r>
            <a:r>
              <a:rPr sz="3200" spc="-10" dirty="0">
                <a:latin typeface="Comic Sans MS" panose="030F0702030302020204" pitchFamily="66" charset="0"/>
                <a:cs typeface="Calibri" panose="020F0502020204030204" pitchFamily="34" charset="0"/>
              </a:rPr>
              <a:t>Four </a:t>
            </a:r>
            <a:r>
              <a:rPr sz="3200" spc="-5" dirty="0">
                <a:latin typeface="Comic Sans MS" panose="030F0702030302020204" pitchFamily="66" charset="0"/>
                <a:cs typeface="Calibri" panose="020F0502020204030204" pitchFamily="34" charset="0"/>
              </a:rPr>
              <a:t>possible</a:t>
            </a:r>
            <a:r>
              <a:rPr sz="3200" spc="-15" dirty="0"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3200" spc="-5" dirty="0">
                <a:latin typeface="Comic Sans MS" panose="030F0702030302020204" pitchFamily="66" charset="0"/>
                <a:cs typeface="Calibri" panose="020F0502020204030204" pitchFamily="34" charset="0"/>
              </a:rPr>
              <a:t>combinations:</a:t>
            </a:r>
            <a:endParaRPr sz="3200" dirty="0">
              <a:latin typeface="Comic Sans MS" panose="030F0702030302020204" pitchFamily="66" charset="0"/>
              <a:cs typeface="Calibri" panose="020F0502020204030204" pitchFamily="34" charset="0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31240" y="190500"/>
            <a:ext cx="9098915" cy="5048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10" dirty="0">
                <a:latin typeface="Comic Sans MS" panose="030F0702030302020204" pitchFamily="66" charset="0"/>
              </a:rPr>
              <a:t>PERFORMANCE LIMITER</a:t>
            </a:r>
            <a:r>
              <a:rPr sz="3200" spc="-85" dirty="0">
                <a:latin typeface="Comic Sans MS" panose="030F0702030302020204" pitchFamily="66" charset="0"/>
              </a:rPr>
              <a:t> </a:t>
            </a:r>
            <a:r>
              <a:rPr sz="3200" spc="-5" dirty="0">
                <a:latin typeface="Comic Sans MS" panose="030F0702030302020204" pitchFamily="66" charset="0"/>
              </a:rPr>
              <a:t>CATEGORIES</a:t>
            </a:r>
          </a:p>
        </p:txBody>
      </p:sp>
      <p:sp>
        <p:nvSpPr>
          <p:cNvPr id="4" name="object 4"/>
          <p:cNvSpPr/>
          <p:nvPr/>
        </p:nvSpPr>
        <p:spPr>
          <a:xfrm>
            <a:off x="1404679" y="2592177"/>
            <a:ext cx="777584" cy="16919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444679" y="2612177"/>
            <a:ext cx="697865" cy="1612265"/>
          </a:xfrm>
          <a:custGeom>
            <a:avLst/>
            <a:gdLst/>
            <a:ahLst/>
            <a:cxnLst/>
            <a:rect l="l" t="t" r="r" b="b"/>
            <a:pathLst>
              <a:path w="697864" h="1612264">
                <a:moveTo>
                  <a:pt x="697583" y="1611982"/>
                </a:moveTo>
                <a:lnTo>
                  <a:pt x="0" y="1611982"/>
                </a:lnTo>
                <a:lnTo>
                  <a:pt x="0" y="0"/>
                </a:lnTo>
                <a:lnTo>
                  <a:pt x="697583" y="0"/>
                </a:lnTo>
                <a:lnTo>
                  <a:pt x="697583" y="1611982"/>
                </a:lnTo>
                <a:close/>
              </a:path>
            </a:pathLst>
          </a:custGeom>
          <a:solidFill>
            <a:srgbClr val="7030A0"/>
          </a:solid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305988" y="3684113"/>
            <a:ext cx="777584" cy="60004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345988" y="3704113"/>
            <a:ext cx="697865" cy="520065"/>
          </a:xfrm>
          <a:custGeom>
            <a:avLst/>
            <a:gdLst/>
            <a:ahLst/>
            <a:cxnLst/>
            <a:rect l="l" t="t" r="r" b="b"/>
            <a:pathLst>
              <a:path w="697864" h="520064">
                <a:moveTo>
                  <a:pt x="697583" y="520044"/>
                </a:moveTo>
                <a:lnTo>
                  <a:pt x="0" y="520044"/>
                </a:lnTo>
                <a:lnTo>
                  <a:pt x="0" y="0"/>
                </a:lnTo>
                <a:lnTo>
                  <a:pt x="697583" y="0"/>
                </a:lnTo>
                <a:lnTo>
                  <a:pt x="697583" y="520044"/>
                </a:lnTo>
                <a:close/>
              </a:path>
            </a:pathLst>
          </a:custGeom>
          <a:solidFill>
            <a:srgbClr val="809DFF"/>
          </a:solid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27205" y="4138349"/>
            <a:ext cx="1695318" cy="1278363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0"/>
              </a:spcBef>
              <a:tabLst>
                <a:tab pos="1028700" algn="l"/>
              </a:tabLst>
            </a:pPr>
            <a:r>
              <a:rPr sz="1800" spc="-5" dirty="0">
                <a:solidFill>
                  <a:srgbClr val="008564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Com</a:t>
            </a:r>
            <a:r>
              <a:rPr sz="1800" dirty="0">
                <a:solidFill>
                  <a:srgbClr val="008564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p	</a:t>
            </a:r>
            <a:r>
              <a:rPr sz="1800" spc="-5" dirty="0">
                <a:solidFill>
                  <a:srgbClr val="008564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Mem</a:t>
            </a:r>
            <a:endParaRPr sz="1800" dirty="0"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marL="357505" marR="73660" indent="-192405">
              <a:lnSpc>
                <a:spcPts val="2850"/>
              </a:lnSpc>
              <a:spcBef>
                <a:spcPts val="1195"/>
              </a:spcBef>
            </a:pPr>
            <a:r>
              <a:rPr sz="2400" b="1" spc="-5" dirty="0">
                <a:solidFill>
                  <a:srgbClr val="76B900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Compute  Bound</a:t>
            </a:r>
            <a:endParaRPr sz="2400" dirty="0">
              <a:latin typeface="Comic Sans MS" panose="030F0702030302020204" pitchFamily="66" charset="0"/>
              <a:cs typeface="Calibri" panose="020F0502020204030204" pitchFamily="34" charset="0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714824" y="3684114"/>
            <a:ext cx="777584" cy="60161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754824" y="3704113"/>
            <a:ext cx="697865" cy="521970"/>
          </a:xfrm>
          <a:custGeom>
            <a:avLst/>
            <a:gdLst/>
            <a:ahLst/>
            <a:cxnLst/>
            <a:rect l="l" t="t" r="r" b="b"/>
            <a:pathLst>
              <a:path w="697864" h="521970">
                <a:moveTo>
                  <a:pt x="697583" y="521614"/>
                </a:moveTo>
                <a:lnTo>
                  <a:pt x="0" y="521614"/>
                </a:lnTo>
                <a:lnTo>
                  <a:pt x="0" y="0"/>
                </a:lnTo>
                <a:lnTo>
                  <a:pt x="697583" y="0"/>
                </a:lnTo>
                <a:lnTo>
                  <a:pt x="697583" y="521614"/>
                </a:lnTo>
                <a:close/>
              </a:path>
            </a:pathLst>
          </a:custGeom>
          <a:solidFill>
            <a:srgbClr val="7030A0"/>
          </a:solid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616132" y="2593746"/>
            <a:ext cx="777584" cy="169198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4656132" y="2613745"/>
            <a:ext cx="697865" cy="1612265"/>
          </a:xfrm>
          <a:custGeom>
            <a:avLst/>
            <a:gdLst/>
            <a:ahLst/>
            <a:cxnLst/>
            <a:rect l="l" t="t" r="r" b="b"/>
            <a:pathLst>
              <a:path w="697864" h="1612264">
                <a:moveTo>
                  <a:pt x="697583" y="1611982"/>
                </a:moveTo>
                <a:lnTo>
                  <a:pt x="0" y="1611982"/>
                </a:lnTo>
                <a:lnTo>
                  <a:pt x="0" y="0"/>
                </a:lnTo>
                <a:lnTo>
                  <a:pt x="697583" y="0"/>
                </a:lnTo>
                <a:lnTo>
                  <a:pt x="697583" y="1611982"/>
                </a:lnTo>
                <a:close/>
              </a:path>
            </a:pathLst>
          </a:custGeom>
          <a:solidFill>
            <a:srgbClr val="809DFF"/>
          </a:solid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800989" y="4139917"/>
            <a:ext cx="1533525" cy="1266190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900"/>
              </a:spcBef>
              <a:tabLst>
                <a:tab pos="965200" algn="l"/>
              </a:tabLst>
            </a:pPr>
            <a:r>
              <a:rPr sz="1800" spc="-5" dirty="0">
                <a:solidFill>
                  <a:srgbClr val="008564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Comp	Mem</a:t>
            </a:r>
            <a:endParaRPr sz="1800" dirty="0"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marL="321310" marR="5080" indent="-309245">
              <a:lnSpc>
                <a:spcPts val="2850"/>
              </a:lnSpc>
              <a:spcBef>
                <a:spcPts val="1195"/>
              </a:spcBef>
            </a:pPr>
            <a:r>
              <a:rPr sz="2400" b="1" spc="-5" dirty="0">
                <a:solidFill>
                  <a:srgbClr val="76B900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Bandwidth  Bound</a:t>
            </a:r>
            <a:endParaRPr sz="2400" dirty="0">
              <a:latin typeface="Comic Sans MS" panose="030F0702030302020204" pitchFamily="66" charset="0"/>
              <a:cs typeface="Calibri" panose="020F0502020204030204" pitchFamily="34" charset="0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6062561" y="3842642"/>
            <a:ext cx="777584" cy="44308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6102561" y="3862641"/>
            <a:ext cx="697865" cy="363220"/>
          </a:xfrm>
          <a:custGeom>
            <a:avLst/>
            <a:gdLst/>
            <a:ahLst/>
            <a:cxnLst/>
            <a:rect l="l" t="t" r="r" b="b"/>
            <a:pathLst>
              <a:path w="697865" h="363220">
                <a:moveTo>
                  <a:pt x="697584" y="363086"/>
                </a:moveTo>
                <a:lnTo>
                  <a:pt x="0" y="363086"/>
                </a:lnTo>
                <a:lnTo>
                  <a:pt x="0" y="0"/>
                </a:lnTo>
                <a:lnTo>
                  <a:pt x="697584" y="0"/>
                </a:lnTo>
                <a:lnTo>
                  <a:pt x="697584" y="363086"/>
                </a:lnTo>
                <a:close/>
              </a:path>
            </a:pathLst>
          </a:custGeom>
          <a:solidFill>
            <a:srgbClr val="7030A0"/>
          </a:solid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6963869" y="3685683"/>
            <a:ext cx="777584" cy="60004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7003869" y="3705682"/>
            <a:ext cx="697865" cy="520065"/>
          </a:xfrm>
          <a:custGeom>
            <a:avLst/>
            <a:gdLst/>
            <a:ahLst/>
            <a:cxnLst/>
            <a:rect l="l" t="t" r="r" b="b"/>
            <a:pathLst>
              <a:path w="697865" h="520064">
                <a:moveTo>
                  <a:pt x="697584" y="520044"/>
                </a:moveTo>
                <a:lnTo>
                  <a:pt x="0" y="520044"/>
                </a:lnTo>
                <a:lnTo>
                  <a:pt x="0" y="0"/>
                </a:lnTo>
                <a:lnTo>
                  <a:pt x="697584" y="0"/>
                </a:lnTo>
                <a:lnTo>
                  <a:pt x="697584" y="520044"/>
                </a:lnTo>
                <a:close/>
              </a:path>
            </a:pathLst>
          </a:custGeom>
          <a:solidFill>
            <a:srgbClr val="809DFF"/>
          </a:solid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147306" y="4139918"/>
            <a:ext cx="1867433" cy="1278363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0"/>
              </a:spcBef>
              <a:tabLst>
                <a:tab pos="965835" algn="l"/>
              </a:tabLst>
            </a:pPr>
            <a:r>
              <a:rPr sz="1800" spc="-5" dirty="0">
                <a:solidFill>
                  <a:srgbClr val="008564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Com</a:t>
            </a:r>
            <a:r>
              <a:rPr sz="1800" dirty="0">
                <a:solidFill>
                  <a:srgbClr val="008564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p	</a:t>
            </a:r>
            <a:r>
              <a:rPr sz="1800" spc="-5" dirty="0">
                <a:solidFill>
                  <a:srgbClr val="008564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Mem</a:t>
            </a:r>
            <a:endParaRPr sz="1800" dirty="0"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marL="329565" marR="113030" indent="-117475">
              <a:lnSpc>
                <a:spcPts val="2850"/>
              </a:lnSpc>
              <a:spcBef>
                <a:spcPts val="1195"/>
              </a:spcBef>
            </a:pPr>
            <a:r>
              <a:rPr sz="2400" b="1" spc="-5" dirty="0">
                <a:solidFill>
                  <a:srgbClr val="76B900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Latency  Bound</a:t>
            </a:r>
            <a:endParaRPr sz="2400" dirty="0">
              <a:latin typeface="Comic Sans MS" panose="030F0702030302020204" pitchFamily="66" charset="0"/>
              <a:cs typeface="Calibri" panose="020F0502020204030204" pitchFamily="34" charset="0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8372705" y="2439777"/>
            <a:ext cx="777584" cy="184752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8412704" y="2459777"/>
            <a:ext cx="697865" cy="1767839"/>
          </a:xfrm>
          <a:custGeom>
            <a:avLst/>
            <a:gdLst/>
            <a:ahLst/>
            <a:cxnLst/>
            <a:rect l="l" t="t" r="r" b="b"/>
            <a:pathLst>
              <a:path w="697865" h="1767839">
                <a:moveTo>
                  <a:pt x="697584" y="1767519"/>
                </a:moveTo>
                <a:lnTo>
                  <a:pt x="0" y="1767519"/>
                </a:lnTo>
                <a:lnTo>
                  <a:pt x="0" y="0"/>
                </a:lnTo>
                <a:lnTo>
                  <a:pt x="697584" y="0"/>
                </a:lnTo>
                <a:lnTo>
                  <a:pt x="697584" y="1767519"/>
                </a:lnTo>
                <a:close/>
              </a:path>
            </a:pathLst>
          </a:custGeom>
          <a:solidFill>
            <a:srgbClr val="7030A0"/>
          </a:solid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9274012" y="2595315"/>
            <a:ext cx="777584" cy="169198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9314012" y="2615315"/>
            <a:ext cx="697865" cy="1612265"/>
          </a:xfrm>
          <a:custGeom>
            <a:avLst/>
            <a:gdLst/>
            <a:ahLst/>
            <a:cxnLst/>
            <a:rect l="l" t="t" r="r" b="b"/>
            <a:pathLst>
              <a:path w="697865" h="1612264">
                <a:moveTo>
                  <a:pt x="697584" y="1611981"/>
                </a:moveTo>
                <a:lnTo>
                  <a:pt x="0" y="1611981"/>
                </a:lnTo>
                <a:lnTo>
                  <a:pt x="0" y="0"/>
                </a:lnTo>
                <a:lnTo>
                  <a:pt x="697584" y="0"/>
                </a:lnTo>
                <a:lnTo>
                  <a:pt x="697584" y="1611981"/>
                </a:lnTo>
                <a:close/>
              </a:path>
            </a:pathLst>
          </a:custGeom>
          <a:solidFill>
            <a:srgbClr val="809DFF"/>
          </a:solid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235662" y="4141486"/>
            <a:ext cx="1906270" cy="1764586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00"/>
              </a:spcBef>
              <a:tabLst>
                <a:tab pos="949960" algn="l"/>
              </a:tabLst>
            </a:pPr>
            <a:r>
              <a:rPr sz="1800" spc="-5" dirty="0">
                <a:solidFill>
                  <a:srgbClr val="008564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Comp	Mem</a:t>
            </a:r>
            <a:endParaRPr sz="1800" dirty="0"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marL="12700" marR="5080" algn="ctr">
              <a:lnSpc>
                <a:spcPts val="2850"/>
              </a:lnSpc>
              <a:spcBef>
                <a:spcPts val="1195"/>
              </a:spcBef>
            </a:pPr>
            <a:r>
              <a:rPr sz="2400" b="1" spc="-5" dirty="0">
                <a:solidFill>
                  <a:srgbClr val="76B900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Compute</a:t>
            </a:r>
            <a:r>
              <a:rPr sz="2400" b="1" spc="-100" dirty="0">
                <a:solidFill>
                  <a:srgbClr val="76B900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2400" b="1" spc="-5" dirty="0">
                <a:solidFill>
                  <a:srgbClr val="76B900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and  Bandwidth  Bound</a:t>
            </a:r>
            <a:endParaRPr sz="2400" dirty="0"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marR="45085" algn="r">
              <a:lnSpc>
                <a:spcPts val="830"/>
              </a:lnSpc>
            </a:pPr>
            <a:r>
              <a:rPr lang="en-US" sz="700" spc="-5" dirty="0">
                <a:solidFill>
                  <a:srgbClr val="6E6E6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11</a:t>
            </a:r>
            <a:endParaRPr sz="700" dirty="0">
              <a:latin typeface="Comic Sans MS" panose="030F0702030302020204" pitchFamily="66" charset="0"/>
              <a:cs typeface="Calibri" panose="020F0502020204030204" pitchFamily="34" charset="0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3402103" y="2378496"/>
            <a:ext cx="0" cy="2968625"/>
          </a:xfrm>
          <a:custGeom>
            <a:avLst/>
            <a:gdLst/>
            <a:ahLst/>
            <a:cxnLst/>
            <a:rect l="l" t="t" r="r" b="b"/>
            <a:pathLst>
              <a:path h="2968625">
                <a:moveTo>
                  <a:pt x="0" y="0"/>
                </a:moveTo>
                <a:lnTo>
                  <a:pt x="0" y="2968290"/>
                </a:lnTo>
              </a:path>
            </a:pathLst>
          </a:custGeom>
          <a:ln w="12699">
            <a:solidFill>
              <a:srgbClr val="B3B3B3"/>
            </a:solidFill>
          </a:ln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5708422" y="2398816"/>
            <a:ext cx="0" cy="2968625"/>
          </a:xfrm>
          <a:custGeom>
            <a:avLst/>
            <a:gdLst/>
            <a:ahLst/>
            <a:cxnLst/>
            <a:rect l="l" t="t" r="r" b="b"/>
            <a:pathLst>
              <a:path h="2968625">
                <a:moveTo>
                  <a:pt x="0" y="0"/>
                </a:moveTo>
                <a:lnTo>
                  <a:pt x="0" y="2968290"/>
                </a:lnTo>
              </a:path>
            </a:pathLst>
          </a:custGeom>
          <a:ln w="12699">
            <a:solidFill>
              <a:srgbClr val="B3B3B3"/>
            </a:solidFill>
          </a:ln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8035062" y="2398816"/>
            <a:ext cx="0" cy="2968625"/>
          </a:xfrm>
          <a:custGeom>
            <a:avLst/>
            <a:gdLst/>
            <a:ahLst/>
            <a:cxnLst/>
            <a:rect l="l" t="t" r="r" b="b"/>
            <a:pathLst>
              <a:path h="2968625">
                <a:moveTo>
                  <a:pt x="0" y="0"/>
                </a:moveTo>
                <a:lnTo>
                  <a:pt x="0" y="2968290"/>
                </a:lnTo>
              </a:path>
            </a:pathLst>
          </a:custGeom>
          <a:ln w="12699">
            <a:solidFill>
              <a:srgbClr val="B3B3B3"/>
            </a:solidFill>
          </a:ln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943382" y="3223347"/>
            <a:ext cx="9311005" cy="0"/>
          </a:xfrm>
          <a:custGeom>
            <a:avLst/>
            <a:gdLst/>
            <a:ahLst/>
            <a:cxnLst/>
            <a:rect l="l" t="t" r="r" b="b"/>
            <a:pathLst>
              <a:path w="9311005">
                <a:moveTo>
                  <a:pt x="0" y="0"/>
                </a:moveTo>
                <a:lnTo>
                  <a:pt x="9310767" y="0"/>
                </a:lnTo>
              </a:path>
            </a:pathLst>
          </a:custGeom>
          <a:ln w="19049">
            <a:solidFill>
              <a:srgbClr val="008564"/>
            </a:solidFill>
          </a:ln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38400" y="144559"/>
            <a:ext cx="536892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latin typeface="Comic Sans MS" panose="030F0702030302020204" pitchFamily="66" charset="0"/>
              </a:rPr>
              <a:t>WHAT </a:t>
            </a:r>
            <a:r>
              <a:rPr sz="3200" spc="-5" dirty="0">
                <a:latin typeface="Comic Sans MS" panose="030F0702030302020204" pitchFamily="66" charset="0"/>
              </a:rPr>
              <a:t>IS</a:t>
            </a:r>
            <a:r>
              <a:rPr sz="3200" spc="-70" dirty="0">
                <a:latin typeface="Comic Sans MS" panose="030F0702030302020204" pitchFamily="66" charset="0"/>
              </a:rPr>
              <a:t> </a:t>
            </a:r>
            <a:r>
              <a:rPr sz="3200" spc="-5" dirty="0">
                <a:latin typeface="Comic Sans MS" panose="030F0702030302020204" pitchFamily="66" charset="0"/>
              </a:rPr>
              <a:t>OCCUPANCY?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12"/>
          </p:nvPr>
        </p:nvSpPr>
        <p:spPr>
          <a:xfrm>
            <a:off x="7863840" y="5782626"/>
            <a:ext cx="2560320" cy="20480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>
                <a:latin typeface="Comic Sans MS" panose="030F0702030302020204" pitchFamily="66" charset="0"/>
              </a:rPr>
              <a:t>12</a:t>
            </a:fld>
            <a:endParaRPr dirty="0">
              <a:latin typeface="Comic Sans MS" panose="030F0702030302020204" pitchFamily="66" charset="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14400" y="797304"/>
            <a:ext cx="9509760" cy="4146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sz="180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A measure </a:t>
            </a:r>
            <a:r>
              <a:rPr sz="18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of the actual </a:t>
            </a:r>
            <a:r>
              <a:rPr sz="180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thread </a:t>
            </a:r>
            <a:r>
              <a:rPr sz="18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load in </a:t>
            </a:r>
            <a:r>
              <a:rPr sz="180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an </a:t>
            </a:r>
            <a:r>
              <a:rPr sz="18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SM</a:t>
            </a:r>
            <a:r>
              <a:rPr lang="en-US" sz="18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(SIMD Processor)</a:t>
            </a:r>
            <a:r>
              <a:rPr sz="18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, </a:t>
            </a:r>
            <a:r>
              <a:rPr sz="180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vs. peak </a:t>
            </a:r>
            <a:r>
              <a:rPr sz="18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theoretical/peak</a:t>
            </a:r>
            <a:r>
              <a:rPr sz="1800" spc="-2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18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achievable</a:t>
            </a:r>
            <a:endParaRPr sz="1800" dirty="0"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marL="298450" indent="-285750">
              <a:lnSpc>
                <a:spcPct val="100000"/>
              </a:lnSpc>
              <a:spcBef>
                <a:spcPts val="1630"/>
              </a:spcBef>
              <a:buFont typeface="Arial" panose="020B0604020202020204" pitchFamily="34" charset="0"/>
              <a:buChar char="•"/>
            </a:pPr>
            <a:r>
              <a:rPr sz="18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CUDA includes </a:t>
            </a:r>
            <a:r>
              <a:rPr sz="180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an </a:t>
            </a:r>
            <a:r>
              <a:rPr sz="18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occupancy calculator</a:t>
            </a:r>
            <a:r>
              <a:rPr sz="1800" spc="-2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180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spreadsheet</a:t>
            </a:r>
            <a:r>
              <a:rPr lang="en-US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https://docs.nvidia.com/cuda/archive/12.1.0/cuda-occupancy-calculator/index.html</a:t>
            </a:r>
            <a:endParaRPr sz="1800" dirty="0"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marL="298450" indent="-285750">
              <a:lnSpc>
                <a:spcPct val="100000"/>
              </a:lnSpc>
              <a:spcBef>
                <a:spcPts val="1535"/>
              </a:spcBef>
              <a:buFont typeface="Arial" panose="020B0604020202020204" pitchFamily="34" charset="0"/>
              <a:buChar char="•"/>
            </a:pPr>
            <a:r>
              <a:rPr sz="18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Higher occupancy is </a:t>
            </a:r>
            <a:r>
              <a:rPr sz="180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sometimes a </a:t>
            </a:r>
            <a:r>
              <a:rPr sz="18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path to higher</a:t>
            </a:r>
            <a:r>
              <a:rPr sz="1800" spc="-3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18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performance</a:t>
            </a:r>
            <a:endParaRPr sz="1800" dirty="0"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marL="298450" marR="2604135" indent="-285750">
              <a:lnSpc>
                <a:spcPct val="171000"/>
              </a:lnSpc>
              <a:spcBef>
                <a:spcPts val="120"/>
              </a:spcBef>
              <a:buFont typeface="Arial" panose="020B0604020202020204" pitchFamily="34" charset="0"/>
              <a:buChar char="•"/>
            </a:pPr>
            <a:r>
              <a:rPr sz="18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Achievable occupancy is affected by limiters to occupancy  </a:t>
            </a:r>
            <a:endParaRPr lang="en-US" sz="1800" spc="-5" dirty="0">
              <a:solidFill>
                <a:srgbClr val="5E5E5E"/>
              </a:solidFill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marL="298450" marR="2604135" indent="-285750">
              <a:lnSpc>
                <a:spcPct val="171000"/>
              </a:lnSpc>
              <a:spcBef>
                <a:spcPts val="120"/>
              </a:spcBef>
              <a:buFont typeface="Arial" panose="020B0604020202020204" pitchFamily="34" charset="0"/>
              <a:buChar char="•"/>
            </a:pPr>
            <a:r>
              <a:rPr sz="18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Primary</a:t>
            </a:r>
            <a:r>
              <a:rPr sz="1800" spc="-1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18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limiters:</a:t>
            </a:r>
            <a:endParaRPr sz="1800" dirty="0"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marL="868045" marR="544830" indent="-285750">
              <a:lnSpc>
                <a:spcPct val="183000"/>
              </a:lnSpc>
              <a:spcBef>
                <a:spcPts val="60"/>
              </a:spcBef>
              <a:buFont typeface="Arial" panose="020B0604020202020204" pitchFamily="34" charset="0"/>
              <a:buChar char="•"/>
            </a:pPr>
            <a:r>
              <a:rPr sz="160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Registers </a:t>
            </a:r>
            <a:r>
              <a:rPr sz="16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per thread (can be reported by </a:t>
            </a:r>
            <a:r>
              <a:rPr sz="160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the </a:t>
            </a:r>
            <a:r>
              <a:rPr sz="16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profiler, </a:t>
            </a:r>
            <a:r>
              <a:rPr sz="160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or </a:t>
            </a:r>
            <a:r>
              <a:rPr sz="16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can get at compile </a:t>
            </a:r>
            <a:r>
              <a:rPr sz="160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time)  </a:t>
            </a:r>
            <a:endParaRPr lang="en-US" sz="1600" dirty="0">
              <a:solidFill>
                <a:srgbClr val="5E5E5E"/>
              </a:solidFill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marL="868045" marR="544830" indent="-285750">
              <a:lnSpc>
                <a:spcPct val="183000"/>
              </a:lnSpc>
              <a:spcBef>
                <a:spcPts val="60"/>
              </a:spcBef>
              <a:buFont typeface="Arial" panose="020B0604020202020204" pitchFamily="34" charset="0"/>
              <a:buChar char="•"/>
            </a:pPr>
            <a:r>
              <a:rPr sz="16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Threads per</a:t>
            </a:r>
            <a:r>
              <a:rPr sz="1600" spc="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16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threadblock</a:t>
            </a:r>
            <a:endParaRPr sz="1600" dirty="0"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marL="868045" indent="-285750">
              <a:lnSpc>
                <a:spcPct val="100000"/>
              </a:lnSpc>
              <a:spcBef>
                <a:spcPts val="1560"/>
              </a:spcBef>
              <a:buFont typeface="Arial" panose="020B0604020202020204" pitchFamily="34" charset="0"/>
              <a:buChar char="•"/>
            </a:pPr>
            <a:r>
              <a:rPr sz="160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Shared </a:t>
            </a:r>
            <a:r>
              <a:rPr sz="16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memory usage</a:t>
            </a:r>
            <a:endParaRPr sz="1600" dirty="0">
              <a:latin typeface="Comic Sans MS" panose="030F0702030302020204" pitchFamily="66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95600" y="144559"/>
            <a:ext cx="442277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3200" spc="-5" dirty="0">
                <a:latin typeface="Comic Sans MS" panose="030F0702030302020204" pitchFamily="66" charset="0"/>
              </a:rPr>
              <a:t>FURTHER</a:t>
            </a:r>
            <a:r>
              <a:rPr sz="3200" spc="-80" dirty="0">
                <a:latin typeface="Comic Sans MS" panose="030F0702030302020204" pitchFamily="66" charset="0"/>
              </a:rPr>
              <a:t> </a:t>
            </a:r>
            <a:r>
              <a:rPr sz="3200" spc="-5" dirty="0">
                <a:latin typeface="Comic Sans MS" panose="030F0702030302020204" pitchFamily="66" charset="0"/>
              </a:rPr>
              <a:t>STUDY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13</a:t>
            </a:fld>
            <a:endParaRPr dirty="0"/>
          </a:p>
        </p:txBody>
      </p:sp>
      <p:sp>
        <p:nvSpPr>
          <p:cNvPr id="17" name="object 11"/>
          <p:cNvSpPr txBox="1">
            <a:spLocks noGrp="1"/>
          </p:cNvSpPr>
          <p:nvPr>
            <p:ph idx="1"/>
          </p:nvPr>
        </p:nvSpPr>
        <p:spPr>
          <a:xfrm>
            <a:off x="758049" y="769556"/>
            <a:ext cx="9666111" cy="49673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2085">
              <a:lnSpc>
                <a:spcPct val="100000"/>
              </a:lnSpc>
              <a:spcBef>
                <a:spcPts val="100"/>
              </a:spcBef>
            </a:pPr>
            <a:r>
              <a:rPr spc="-5" dirty="0">
                <a:latin typeface="Comic Sans MS" panose="030F0702030302020204" pitchFamily="66" charset="0"/>
              </a:rPr>
              <a:t>Analysis Driven</a:t>
            </a:r>
            <a:r>
              <a:rPr spc="-15" dirty="0">
                <a:latin typeface="Comic Sans MS" panose="030F0702030302020204" pitchFamily="66" charset="0"/>
              </a:rPr>
              <a:t> </a:t>
            </a:r>
            <a:r>
              <a:rPr spc="-5" dirty="0">
                <a:latin typeface="Comic Sans MS" panose="030F0702030302020204" pitchFamily="66" charset="0"/>
              </a:rPr>
              <a:t>optimization:</a:t>
            </a:r>
          </a:p>
          <a:p>
            <a:pPr marL="741680">
              <a:lnSpc>
                <a:spcPts val="1810"/>
              </a:lnSpc>
              <a:spcBef>
                <a:spcPts val="1640"/>
              </a:spcBef>
            </a:pPr>
            <a:r>
              <a:rPr lang="en-US" altLang="zh-CN" sz="1600" u="sng" spc="-5" dirty="0">
                <a:solidFill>
                  <a:srgbClr val="76B900"/>
                </a:solidFill>
                <a:uFill>
                  <a:solidFill>
                    <a:srgbClr val="76B900"/>
                  </a:solidFill>
                </a:uFill>
                <a:latin typeface="Comic Sans MS" panose="030F0702030302020204" pitchFamily="66" charset="0"/>
                <a:hlinkClick r:id="rId2"/>
              </a:rPr>
              <a:t>http://on-demand.gputechconf.com/gtc/2012/presentations/S0514-GTC2012-GPU-Performance-Analysis.pdf</a:t>
            </a:r>
            <a:endParaRPr lang="en-US" altLang="zh-CN" sz="1600" dirty="0">
              <a:latin typeface="Comic Sans MS" panose="030F0702030302020204" pitchFamily="66" charset="0"/>
            </a:endParaRPr>
          </a:p>
          <a:p>
            <a:pPr marL="741680" marR="2588895">
              <a:lnSpc>
                <a:spcPct val="181000"/>
              </a:lnSpc>
              <a:spcBef>
                <a:spcPts val="120"/>
              </a:spcBef>
            </a:pPr>
            <a:r>
              <a:rPr sz="1600" u="sng" spc="-5" dirty="0">
                <a:solidFill>
                  <a:srgbClr val="76B900"/>
                </a:solidFill>
                <a:uFill>
                  <a:solidFill>
                    <a:srgbClr val="76B900"/>
                  </a:solidFill>
                </a:uFill>
                <a:latin typeface="Comic Sans MS" panose="030F0702030302020204" pitchFamily="66" charset="0"/>
                <a:hlinkClick r:id="rId3"/>
              </a:rPr>
              <a:t>http://www.nvidia.com/content/GTC-2010/pdfs/2012_GTC2010.pdf </a:t>
            </a:r>
            <a:r>
              <a:rPr sz="1600" spc="-5" dirty="0">
                <a:solidFill>
                  <a:srgbClr val="76B900"/>
                </a:solidFill>
                <a:latin typeface="Comic Sans MS" panose="030F0702030302020204" pitchFamily="66" charset="0"/>
              </a:rPr>
              <a:t> </a:t>
            </a:r>
            <a:endParaRPr lang="en-US" sz="1600" spc="-5" dirty="0">
              <a:solidFill>
                <a:srgbClr val="76B900"/>
              </a:solidFill>
              <a:latin typeface="Comic Sans MS" panose="030F0702030302020204" pitchFamily="66" charset="0"/>
            </a:endParaRPr>
          </a:p>
          <a:p>
            <a:pPr marL="741680" marR="2588895">
              <a:lnSpc>
                <a:spcPct val="181000"/>
              </a:lnSpc>
              <a:spcBef>
                <a:spcPts val="120"/>
              </a:spcBef>
            </a:pPr>
            <a:r>
              <a:rPr sz="1600" dirty="0">
                <a:latin typeface="Comic Sans MS" panose="030F0702030302020204" pitchFamily="66" charset="0"/>
              </a:rPr>
              <a:t>Google </a:t>
            </a:r>
            <a:r>
              <a:rPr sz="1600" spc="-5" dirty="0">
                <a:latin typeface="Comic Sans MS" panose="030F0702030302020204" pitchFamily="66" charset="0"/>
              </a:rPr>
              <a:t>“gtc cuda</a:t>
            </a:r>
            <a:r>
              <a:rPr sz="1600" spc="5" dirty="0">
                <a:latin typeface="Comic Sans MS" panose="030F0702030302020204" pitchFamily="66" charset="0"/>
              </a:rPr>
              <a:t> </a:t>
            </a:r>
            <a:r>
              <a:rPr sz="1600" dirty="0">
                <a:latin typeface="Comic Sans MS" panose="030F0702030302020204" pitchFamily="66" charset="0"/>
              </a:rPr>
              <a:t>optimization”</a:t>
            </a:r>
          </a:p>
          <a:p>
            <a:pPr marL="172085">
              <a:lnSpc>
                <a:spcPct val="100000"/>
              </a:lnSpc>
              <a:spcBef>
                <a:spcPts val="1600"/>
              </a:spcBef>
            </a:pPr>
            <a:r>
              <a:rPr dirty="0">
                <a:latin typeface="Comic Sans MS" panose="030F0702030302020204" pitchFamily="66" charset="0"/>
              </a:rPr>
              <a:t>New </a:t>
            </a:r>
            <a:r>
              <a:rPr spc="-5" dirty="0">
                <a:latin typeface="Comic Sans MS" panose="030F0702030302020204" pitchFamily="66" charset="0"/>
              </a:rPr>
              <a:t>tools</a:t>
            </a:r>
            <a:r>
              <a:rPr spc="-25" dirty="0">
                <a:latin typeface="Comic Sans MS" panose="030F0702030302020204" pitchFamily="66" charset="0"/>
              </a:rPr>
              <a:t> </a:t>
            </a:r>
            <a:r>
              <a:rPr spc="-5" dirty="0">
                <a:latin typeface="Comic Sans MS" panose="030F0702030302020204" pitchFamily="66" charset="0"/>
              </a:rPr>
              <a:t>blogs:</a:t>
            </a:r>
          </a:p>
          <a:p>
            <a:pPr marL="741680" marR="255270">
              <a:lnSpc>
                <a:spcPct val="182000"/>
              </a:lnSpc>
              <a:spcBef>
                <a:spcPts val="65"/>
              </a:spcBef>
            </a:pPr>
            <a:r>
              <a:rPr sz="1600" u="sng" spc="-5" dirty="0">
                <a:solidFill>
                  <a:srgbClr val="76B900"/>
                </a:solidFill>
                <a:uFill>
                  <a:solidFill>
                    <a:srgbClr val="76B900"/>
                  </a:solidFill>
                </a:uFill>
                <a:latin typeface="Comic Sans MS" panose="030F0702030302020204" pitchFamily="66" charset="0"/>
              </a:rPr>
              <a:t>https://developer.nvidia.com/blog/migrating-nvidia-nsight-tools-nvvp-nvprof/ </a:t>
            </a:r>
            <a:r>
              <a:rPr sz="1600" spc="-5" dirty="0">
                <a:solidFill>
                  <a:srgbClr val="76B900"/>
                </a:solidFill>
                <a:latin typeface="Comic Sans MS" panose="030F0702030302020204" pitchFamily="66" charset="0"/>
              </a:rPr>
              <a:t> </a:t>
            </a:r>
            <a:endParaRPr lang="en-US" sz="1600" spc="-5" dirty="0">
              <a:solidFill>
                <a:srgbClr val="76B900"/>
              </a:solidFill>
              <a:latin typeface="Comic Sans MS" panose="030F0702030302020204" pitchFamily="66" charset="0"/>
            </a:endParaRPr>
          </a:p>
          <a:p>
            <a:pPr marL="741680" marR="255270">
              <a:lnSpc>
                <a:spcPct val="182000"/>
              </a:lnSpc>
              <a:spcBef>
                <a:spcPts val="65"/>
              </a:spcBef>
            </a:pPr>
            <a:r>
              <a:rPr sz="1600" u="sng" spc="-5" dirty="0">
                <a:solidFill>
                  <a:srgbClr val="76B900"/>
                </a:solidFill>
                <a:uFill>
                  <a:solidFill>
                    <a:srgbClr val="76B900"/>
                  </a:solidFill>
                </a:uFill>
                <a:latin typeface="Comic Sans MS" panose="030F0702030302020204" pitchFamily="66" charset="0"/>
              </a:rPr>
              <a:t>https://developer.nvidia.com/blog/transitioning-nsight-systems-nvidia-visual-profiler-nvprof/ </a:t>
            </a:r>
            <a:r>
              <a:rPr sz="1600" spc="-5" dirty="0">
                <a:solidFill>
                  <a:srgbClr val="76B900"/>
                </a:solidFill>
                <a:latin typeface="Comic Sans MS" panose="030F0702030302020204" pitchFamily="66" charset="0"/>
              </a:rPr>
              <a:t> </a:t>
            </a:r>
            <a:endParaRPr lang="en-US" sz="1600" spc="-5" dirty="0">
              <a:solidFill>
                <a:srgbClr val="76B900"/>
              </a:solidFill>
              <a:latin typeface="Comic Sans MS" panose="030F0702030302020204" pitchFamily="66" charset="0"/>
            </a:endParaRPr>
          </a:p>
          <a:p>
            <a:pPr marL="741680" marR="255270">
              <a:lnSpc>
                <a:spcPct val="182000"/>
              </a:lnSpc>
              <a:spcBef>
                <a:spcPts val="65"/>
              </a:spcBef>
            </a:pPr>
            <a:r>
              <a:rPr sz="1600" u="sng" spc="-5" dirty="0">
                <a:solidFill>
                  <a:srgbClr val="76B900"/>
                </a:solidFill>
                <a:uFill>
                  <a:solidFill>
                    <a:srgbClr val="76B900"/>
                  </a:solidFill>
                </a:uFill>
                <a:latin typeface="Comic Sans MS" panose="030F0702030302020204" pitchFamily="66" charset="0"/>
              </a:rPr>
              <a:t>https://developer.nvidia.com/blog/using-nsight-compute-to-inspect-your-kernels/</a:t>
            </a:r>
            <a:endParaRPr sz="1600" dirty="0">
              <a:latin typeface="Comic Sans MS" panose="030F0702030302020204" pitchFamily="66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1063</Words>
  <Application>Microsoft Office PowerPoint</Application>
  <PresentationFormat>自定义</PresentationFormat>
  <Paragraphs>127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0" baseType="lpstr">
      <vt:lpstr>宋体</vt:lpstr>
      <vt:lpstr>微软雅黑</vt:lpstr>
      <vt:lpstr>Arial</vt:lpstr>
      <vt:lpstr>Calibri</vt:lpstr>
      <vt:lpstr>Calibri Light</vt:lpstr>
      <vt:lpstr>Comic Sans MS</vt:lpstr>
      <vt:lpstr>1_Office 主题​​</vt:lpstr>
      <vt:lpstr>GPU PERFORMANCE  ANALYSIS</vt:lpstr>
      <vt:lpstr>AGENDA</vt:lpstr>
      <vt:lpstr>REVIEW: TOP-LEVEL PERFORMANCE CODING OBJECTIVES</vt:lpstr>
      <vt:lpstr>ANALYSIS DRIVEN OPTIMIZATION</vt:lpstr>
      <vt:lpstr>ANALYSIS DRIVEN OPTIMIZATION</vt:lpstr>
      <vt:lpstr>TOP-LEVEL PERFORMANCE BEHAVIOR - LIMITERS</vt:lpstr>
      <vt:lpstr>METRICS FOR DETERMINING COMPUTE VS. MEMORY BOUND https://docs.nvidia.com/nsight-compute/NsightComputeCli/index.html#nvprof-metric-comparison</vt:lpstr>
      <vt:lpstr>MEMORY BOUND</vt:lpstr>
      <vt:lpstr>COMPUTE BOUND</vt:lpstr>
      <vt:lpstr>LATENCY BOUND</vt:lpstr>
      <vt:lpstr>PERFORMANCE LIMITER CATEGORIES</vt:lpstr>
      <vt:lpstr>WHAT IS OCCUPANCY?</vt:lpstr>
      <vt:lpstr>FURTHER STUDY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GPU PERFORMANCE  ANALYSIS Bob Crovella, 8/18/2020</dc:title>
  <dc:creator/>
  <cp:lastModifiedBy>Lab317-Dan</cp:lastModifiedBy>
  <cp:revision>36</cp:revision>
  <dcterms:created xsi:type="dcterms:W3CDTF">2020-11-24T11:56:00Z</dcterms:created>
  <dcterms:modified xsi:type="dcterms:W3CDTF">2024-12-26T15:30:04Z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2020-08-15T00:00:00Z</vt:filetime>
  </property>
  <property fmtid="{D5CDD505-2E9C-101B-9397-08002B2CF9AE}" pid="3" name="LastSaved">
    <vt:filetime>2020-11-25T00:00:00Z</vt:filetime>
  </property>
  <property fmtid="{D5CDD505-2E9C-101B-9397-08002B2CF9AE}" pid="4" name="ICV">
    <vt:lpwstr>E219C9E849674D2CB2FC9CAE41FF7020</vt:lpwstr>
  </property>
  <property fmtid="{D5CDD505-2E9C-101B-9397-08002B2CF9AE}" pid="5" name="KSOProductBuildVer">
    <vt:lpwstr>2052-11.1.0.11294</vt:lpwstr>
  </property>
</Properties>
</file>