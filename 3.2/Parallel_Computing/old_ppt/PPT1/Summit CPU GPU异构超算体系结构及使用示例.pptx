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14.jpg" ContentType="image/jpg"/>
  <Override PartName="/ppt/media/image16.jpg" ContentType="image/jpg"/>
  <Override PartName="/ppt/media/image18.jpg" ContentType="image/jp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24.jpg" ContentType="image/jpg"/>
  <Override PartName="/ppt/notesSlides/notesSlide8.xml" ContentType="application/vnd.openxmlformats-officedocument.presentationml.notesSlide+xml"/>
  <Override PartName="/ppt/media/image25.jpg" ContentType="image/jp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33.jpg" ContentType="image/jp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4"/>
  </p:notesMasterIdLst>
  <p:sldIdLst>
    <p:sldId id="256" r:id="rId2"/>
    <p:sldId id="1331" r:id="rId3"/>
    <p:sldId id="1506" r:id="rId4"/>
    <p:sldId id="1419" r:id="rId5"/>
    <p:sldId id="1420" r:id="rId6"/>
    <p:sldId id="1463" r:id="rId7"/>
    <p:sldId id="1422" r:id="rId8"/>
    <p:sldId id="1423" r:id="rId9"/>
    <p:sldId id="1475" r:id="rId10"/>
    <p:sldId id="1425" r:id="rId11"/>
    <p:sldId id="1476" r:id="rId12"/>
    <p:sldId id="1427" r:id="rId13"/>
    <p:sldId id="1426" r:id="rId14"/>
    <p:sldId id="1507" r:id="rId15"/>
    <p:sldId id="1473" r:id="rId16"/>
    <p:sldId id="1474" r:id="rId17"/>
    <p:sldId id="1435" r:id="rId18"/>
    <p:sldId id="1440" r:id="rId19"/>
    <p:sldId id="1441" r:id="rId20"/>
    <p:sldId id="1442" r:id="rId21"/>
    <p:sldId id="1513" r:id="rId22"/>
    <p:sldId id="1436" r:id="rId23"/>
    <p:sldId id="1443" r:id="rId24"/>
    <p:sldId id="1444" r:id="rId25"/>
    <p:sldId id="1438" r:id="rId26"/>
    <p:sldId id="1508" r:id="rId27"/>
    <p:sldId id="1450" r:id="rId28"/>
    <p:sldId id="1451" r:id="rId29"/>
    <p:sldId id="1452" r:id="rId30"/>
    <p:sldId id="1439" r:id="rId31"/>
    <p:sldId id="1446" r:id="rId32"/>
    <p:sldId id="1453" r:id="rId33"/>
    <p:sldId id="1455" r:id="rId34"/>
    <p:sldId id="1454" r:id="rId35"/>
    <p:sldId id="1456" r:id="rId36"/>
    <p:sldId id="1457" r:id="rId37"/>
    <p:sldId id="1458" r:id="rId38"/>
    <p:sldId id="1460" r:id="rId39"/>
    <p:sldId id="1461" r:id="rId40"/>
    <p:sldId id="1477" r:id="rId41"/>
    <p:sldId id="1469" r:id="rId42"/>
    <p:sldId id="1470" r:id="rId43"/>
    <p:sldId id="1471" r:id="rId44"/>
    <p:sldId id="1464" r:id="rId45"/>
    <p:sldId id="1472" r:id="rId46"/>
    <p:sldId id="1465" r:id="rId47"/>
    <p:sldId id="1509" r:id="rId48"/>
    <p:sldId id="1466" r:id="rId49"/>
    <p:sldId id="1478" r:id="rId50"/>
    <p:sldId id="1514" r:id="rId51"/>
    <p:sldId id="1479" r:id="rId52"/>
    <p:sldId id="1480" r:id="rId53"/>
    <p:sldId id="1515" r:id="rId54"/>
    <p:sldId id="1516" r:id="rId55"/>
    <p:sldId id="1510" r:id="rId56"/>
    <p:sldId id="1481" r:id="rId57"/>
    <p:sldId id="1482" r:id="rId58"/>
    <p:sldId id="1483" r:id="rId59"/>
    <p:sldId id="1484" r:id="rId60"/>
    <p:sldId id="1485" r:id="rId61"/>
    <p:sldId id="1486" r:id="rId62"/>
    <p:sldId id="1487" r:id="rId63"/>
    <p:sldId id="1488" r:id="rId64"/>
    <p:sldId id="1511" r:id="rId65"/>
    <p:sldId id="1489" r:id="rId66"/>
    <p:sldId id="1490" r:id="rId67"/>
    <p:sldId id="1491" r:id="rId68"/>
    <p:sldId id="1492" r:id="rId69"/>
    <p:sldId id="1493" r:id="rId70"/>
    <p:sldId id="1495" r:id="rId71"/>
    <p:sldId id="1494" r:id="rId72"/>
    <p:sldId id="1512" r:id="rId73"/>
    <p:sldId id="1496" r:id="rId74"/>
    <p:sldId id="1497" r:id="rId75"/>
    <p:sldId id="1498" r:id="rId76"/>
    <p:sldId id="1499" r:id="rId77"/>
    <p:sldId id="1500" r:id="rId78"/>
    <p:sldId id="1501" r:id="rId79"/>
    <p:sldId id="1502" r:id="rId80"/>
    <p:sldId id="1503" r:id="rId81"/>
    <p:sldId id="1504" r:id="rId82"/>
    <p:sldId id="1505" r:id="rId83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6">
          <p15:clr>
            <a:srgbClr val="A4A3A4"/>
          </p15:clr>
        </p15:guide>
        <p15:guide id="2" pos="408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000000"/>
    <a:srgbClr val="D9D9D9"/>
    <a:srgbClr val="F7AA89"/>
    <a:srgbClr val="FFD78E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24" autoAdjust="0"/>
    <p:restoredTop sz="91981" autoAdjust="0"/>
  </p:normalViewPr>
  <p:slideViewPr>
    <p:cSldViewPr showGuides="1">
      <p:cViewPr varScale="1">
        <p:scale>
          <a:sx n="95" d="100"/>
          <a:sy n="95" d="100"/>
        </p:scale>
        <p:origin x="1350" y="84"/>
      </p:cViewPr>
      <p:guideLst>
        <p:guide orient="horz" pos="2286"/>
        <p:guide pos="40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505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80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174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175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513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039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939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890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646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339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773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196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485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7086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3104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838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79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19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727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6744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5054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8856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6257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5134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3154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436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0033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358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29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7549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5596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2316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813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2884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0852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024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8590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2643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4195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39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2570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8896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7701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6099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25588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4875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81386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2539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3245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2841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49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6058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6438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8963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193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49073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54848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5502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61465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1024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30069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59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2234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76772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28675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77177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9090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38148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54577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4845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48795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4648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69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72423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4858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75874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66882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86597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74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90061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75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59722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76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55513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77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35583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5776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79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35347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80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07350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81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0122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862138" y="992188"/>
            <a:ext cx="8823326" cy="4964112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2FA1E-DE58-4277-AF8C-1F679A34E4FA}" type="slidenum">
              <a:rPr lang="zh-CN" altLang="en-US">
                <a:latin typeface="Calibri" panose="020F0502020204030204" pitchFamily="34" charset="0"/>
              </a:rPr>
              <a:t>82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579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l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>
              <a:lnSpc>
                <a:spcPct val="125000"/>
              </a:lnSpc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2025/4/9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40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600" b="1" kern="1200" dirty="0">
          <a:solidFill>
            <a:srgbClr val="0070C0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8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jp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jpg"/><Relationship Id="rId5" Type="http://schemas.openxmlformats.org/officeDocument/2006/relationships/image" Target="../media/image8.png"/><Relationship Id="rId15" Type="http://schemas.openxmlformats.org/officeDocument/2006/relationships/image" Target="../media/image18.jp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lmod.readthedocs.io/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4.png"/><Relationship Id="rId4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0" y="2489342"/>
            <a:ext cx="12801600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并行程序设计</a:t>
            </a: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0" y="3589254"/>
            <a:ext cx="12801600" cy="2305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卢宇彤（Lu, Yutong）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288" y="-43295"/>
            <a:ext cx="973455" cy="90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0" y="71519"/>
            <a:ext cx="12801600" cy="792000"/>
          </a:xfrm>
        </p:spPr>
        <p:txBody>
          <a:bodyPr/>
          <a:lstStyle/>
          <a:p>
            <a:pPr algn="ctr"/>
            <a:r>
              <a:rPr lang="en-US" altLang="zh-CN" dirty="0">
                <a:sym typeface="+mn-ea"/>
              </a:rPr>
              <a:t>Summit</a:t>
            </a:r>
            <a:endParaRPr lang="zh-CN" altLang="en-US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BE336A-0A54-47DB-A66F-35119073A228}"/>
              </a:ext>
            </a:extLst>
          </p:cNvPr>
          <p:cNvSpPr txBox="1"/>
          <p:nvPr/>
        </p:nvSpPr>
        <p:spPr>
          <a:xfrm>
            <a:off x="64096" y="1944266"/>
            <a:ext cx="12673408" cy="243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5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Summit: CPU+GPU</a:t>
            </a:r>
          </a:p>
          <a:p>
            <a:pPr algn="ctr">
              <a:lnSpc>
                <a:spcPct val="150000"/>
              </a:lnSpc>
            </a:pPr>
            <a:r>
              <a:rPr lang="zh-CN" altLang="en-US" sz="5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异构超算体系结构及使用示例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22E6322F-9832-4B00-8ECA-D4920E13F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040610"/>
            <a:ext cx="12801600" cy="168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Based on </a:t>
            </a:r>
            <a:r>
              <a:rPr lang="en-US" altLang="zh-CN" sz="2400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Summit User Guide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and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the slides of 2020 OLCF User Meeting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(Summit New User Training)</a:t>
            </a:r>
          </a:p>
        </p:txBody>
      </p:sp>
    </p:spTree>
    <p:extLst>
      <p:ext uri="{BB962C8B-B14F-4D97-AF65-F5344CB8AC3E}">
        <p14:creationId xmlns:p14="http://schemas.microsoft.com/office/powerpoint/2010/main" val="443902703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solidFill>
                <a:srgbClr val="FF0000"/>
              </a:solidFill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236300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136104" y="1008162"/>
            <a:ext cx="2887346" cy="5904656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ym typeface="+mn-ea"/>
              </a:rPr>
              <a:t>美国橡树岭国家实验室</a:t>
            </a:r>
            <a:br>
              <a:rPr lang="en-US" altLang="zh-CN" sz="3600" dirty="0">
                <a:sym typeface="+mn-ea"/>
              </a:rPr>
            </a:br>
            <a:br>
              <a:rPr lang="en-US" altLang="zh-CN" sz="3600" dirty="0">
                <a:sym typeface="+mn-ea"/>
              </a:rPr>
            </a:br>
            <a:r>
              <a:rPr lang="en-US" altLang="zh-CN" sz="3600" dirty="0">
                <a:sym typeface="+mn-ea"/>
              </a:rPr>
              <a:t>Oak Ridge National Laboratory</a:t>
            </a:r>
            <a:endParaRPr lang="zh-CN" altLang="en-US" sz="3600" b="1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50A604-3305-1485-6108-2878E8E2A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0"/>
            <a:ext cx="9601200" cy="7200900"/>
          </a:xfrm>
          <a:prstGeom prst="rect">
            <a:avLst/>
          </a:prstGeom>
        </p:spPr>
      </p:pic>
      <p:sp>
        <p:nvSpPr>
          <p:cNvPr id="2" name="object 4">
            <a:extLst>
              <a:ext uri="{FF2B5EF4-FFF2-40B4-BE49-F238E27FC236}">
                <a16:creationId xmlns:a16="http://schemas.microsoft.com/office/drawing/2014/main" id="{B6F16050-FF89-2B46-EEAC-835460DED145}"/>
              </a:ext>
            </a:extLst>
          </p:cNvPr>
          <p:cNvSpPr txBox="1"/>
          <p:nvPr/>
        </p:nvSpPr>
        <p:spPr>
          <a:xfrm>
            <a:off x="9497145" y="1834906"/>
            <a:ext cx="316835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200" b="1" dirty="0">
                <a:solidFill>
                  <a:srgbClr val="FFFFFF"/>
                </a:solidFill>
                <a:latin typeface="Century Gothic"/>
                <a:cs typeface="Century Gothic"/>
              </a:rPr>
              <a:t>Frontier</a:t>
            </a:r>
            <a:r>
              <a:rPr lang="en-US" sz="3200" b="1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en-US" sz="32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here</a:t>
            </a:r>
            <a:endParaRPr sz="3200" dirty="0">
              <a:latin typeface="Century Gothic"/>
              <a:cs typeface="Century Gothic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FC5EAF0B-8D29-4135-61B3-714EC5115030}"/>
              </a:ext>
            </a:extLst>
          </p:cNvPr>
          <p:cNvSpPr/>
          <p:nvPr/>
        </p:nvSpPr>
        <p:spPr>
          <a:xfrm>
            <a:off x="8273008" y="1900416"/>
            <a:ext cx="2448272" cy="1168609"/>
          </a:xfrm>
          <a:custGeom>
            <a:avLst/>
            <a:gdLst/>
            <a:ahLst/>
            <a:cxnLst/>
            <a:rect l="l" t="t" r="r" b="b"/>
            <a:pathLst>
              <a:path w="2191384" h="1037589">
                <a:moveTo>
                  <a:pt x="228600" y="369760"/>
                </a:moveTo>
                <a:lnTo>
                  <a:pt x="152387" y="369760"/>
                </a:lnTo>
                <a:lnTo>
                  <a:pt x="152387" y="0"/>
                </a:lnTo>
                <a:lnTo>
                  <a:pt x="76187" y="0"/>
                </a:lnTo>
                <a:lnTo>
                  <a:pt x="76187" y="369760"/>
                </a:lnTo>
                <a:lnTo>
                  <a:pt x="0" y="369760"/>
                </a:lnTo>
                <a:lnTo>
                  <a:pt x="114300" y="598360"/>
                </a:lnTo>
                <a:lnTo>
                  <a:pt x="209537" y="407860"/>
                </a:lnTo>
                <a:lnTo>
                  <a:pt x="228600" y="369760"/>
                </a:lnTo>
                <a:close/>
              </a:path>
              <a:path w="2191384" h="1037589">
                <a:moveTo>
                  <a:pt x="2191321" y="808736"/>
                </a:moveTo>
                <a:lnTo>
                  <a:pt x="2115121" y="808736"/>
                </a:lnTo>
                <a:lnTo>
                  <a:pt x="2115121" y="438988"/>
                </a:lnTo>
                <a:lnTo>
                  <a:pt x="2038921" y="438988"/>
                </a:lnTo>
                <a:lnTo>
                  <a:pt x="2038921" y="808736"/>
                </a:lnTo>
                <a:lnTo>
                  <a:pt x="1962721" y="808736"/>
                </a:lnTo>
                <a:lnTo>
                  <a:pt x="2077021" y="1037336"/>
                </a:lnTo>
                <a:lnTo>
                  <a:pt x="2172271" y="846836"/>
                </a:lnTo>
                <a:lnTo>
                  <a:pt x="2191321" y="808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C80BD2-D17E-118E-DE92-13C006C2BC6D}"/>
              </a:ext>
            </a:extLst>
          </p:cNvPr>
          <p:cNvSpPr txBox="1"/>
          <p:nvPr/>
        </p:nvSpPr>
        <p:spPr>
          <a:xfrm>
            <a:off x="7048872" y="1250131"/>
            <a:ext cx="30243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3200" b="1" dirty="0">
                <a:solidFill>
                  <a:srgbClr val="FFFFFF"/>
                </a:solidFill>
                <a:latin typeface="Century Gothic"/>
                <a:cs typeface="Century Gothic"/>
              </a:rPr>
              <a:t>Summit</a:t>
            </a:r>
            <a:r>
              <a:rPr lang="en-US" altLang="zh-CN" sz="3200" b="1" spc="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en-US" altLang="zh-CN" sz="32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here</a:t>
            </a:r>
            <a:endParaRPr lang="en-US" altLang="zh-CN" sz="32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579540552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F36A7C6B-A35F-7376-CAE9-60B08E06DF88}"/>
              </a:ext>
            </a:extLst>
          </p:cNvPr>
          <p:cNvGrpSpPr/>
          <p:nvPr/>
        </p:nvGrpSpPr>
        <p:grpSpPr>
          <a:xfrm>
            <a:off x="576310" y="798118"/>
            <a:ext cx="11607165" cy="6239510"/>
            <a:chOff x="502919" y="115823"/>
            <a:chExt cx="11607165" cy="6239510"/>
          </a:xfrm>
        </p:grpSpPr>
        <p:pic>
          <p:nvPicPr>
            <p:cNvPr id="3" name="object 5">
              <a:extLst>
                <a:ext uri="{FF2B5EF4-FFF2-40B4-BE49-F238E27FC236}">
                  <a16:creationId xmlns:a16="http://schemas.microsoft.com/office/drawing/2014/main" id="{B130B4DB-F3D5-F4E7-B2EA-CDB1A105C5A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3784" y="2776727"/>
              <a:ext cx="2630424" cy="2871216"/>
            </a:xfrm>
            <a:prstGeom prst="rect">
              <a:avLst/>
            </a:prstGeom>
          </p:spPr>
        </p:pic>
        <p:pic>
          <p:nvPicPr>
            <p:cNvPr id="4" name="object 6">
              <a:extLst>
                <a:ext uri="{FF2B5EF4-FFF2-40B4-BE49-F238E27FC236}">
                  <a16:creationId xmlns:a16="http://schemas.microsoft.com/office/drawing/2014/main" id="{A14B8399-7C93-D3F0-7B7B-FC7ABE6D700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6248" y="2804844"/>
              <a:ext cx="2519252" cy="2761038"/>
            </a:xfrm>
            <a:prstGeom prst="rect">
              <a:avLst/>
            </a:prstGeom>
          </p:spPr>
        </p:pic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A9E756D9-A126-04C0-E948-B24D23B3E01D}"/>
                </a:ext>
              </a:extLst>
            </p:cNvPr>
            <p:cNvSpPr/>
            <p:nvPr/>
          </p:nvSpPr>
          <p:spPr>
            <a:xfrm>
              <a:off x="6734661" y="2803257"/>
              <a:ext cx="2522855" cy="2764790"/>
            </a:xfrm>
            <a:custGeom>
              <a:avLst/>
              <a:gdLst/>
              <a:ahLst/>
              <a:cxnLst/>
              <a:rect l="l" t="t" r="r" b="b"/>
              <a:pathLst>
                <a:path w="2522854" h="2764790">
                  <a:moveTo>
                    <a:pt x="0" y="0"/>
                  </a:moveTo>
                  <a:lnTo>
                    <a:pt x="2522426" y="0"/>
                  </a:lnTo>
                  <a:lnTo>
                    <a:pt x="2522426" y="2689841"/>
                  </a:lnTo>
                  <a:lnTo>
                    <a:pt x="2502176" y="2687895"/>
                  </a:lnTo>
                  <a:lnTo>
                    <a:pt x="2498190" y="2687851"/>
                  </a:lnTo>
                  <a:lnTo>
                    <a:pt x="2490855" y="2687949"/>
                  </a:lnTo>
                  <a:lnTo>
                    <a:pt x="2480581" y="2688115"/>
                  </a:lnTo>
                  <a:lnTo>
                    <a:pt x="2467763" y="2688273"/>
                  </a:lnTo>
                  <a:lnTo>
                    <a:pt x="2398857" y="2687339"/>
                  </a:lnTo>
                  <a:lnTo>
                    <a:pt x="2359187" y="2684885"/>
                  </a:lnTo>
                  <a:lnTo>
                    <a:pt x="2320121" y="2680306"/>
                  </a:lnTo>
                  <a:lnTo>
                    <a:pt x="2269316" y="2668103"/>
                  </a:lnTo>
                  <a:lnTo>
                    <a:pt x="2218840" y="2636647"/>
                  </a:lnTo>
                  <a:lnTo>
                    <a:pt x="2181643" y="2598092"/>
                  </a:lnTo>
                  <a:lnTo>
                    <a:pt x="2169631" y="2561176"/>
                  </a:lnTo>
                  <a:lnTo>
                    <a:pt x="2134430" y="2573332"/>
                  </a:lnTo>
                  <a:lnTo>
                    <a:pt x="2124392" y="2576799"/>
                  </a:lnTo>
                  <a:lnTo>
                    <a:pt x="2109392" y="2581978"/>
                  </a:lnTo>
                  <a:lnTo>
                    <a:pt x="2091373" y="2588200"/>
                  </a:lnTo>
                  <a:lnTo>
                    <a:pt x="2072275" y="2594795"/>
                  </a:lnTo>
                  <a:lnTo>
                    <a:pt x="2054040" y="2601091"/>
                  </a:lnTo>
                  <a:lnTo>
                    <a:pt x="2038609" y="2606420"/>
                  </a:lnTo>
                  <a:lnTo>
                    <a:pt x="2001570" y="2623835"/>
                  </a:lnTo>
                  <a:lnTo>
                    <a:pt x="1963337" y="2674471"/>
                  </a:lnTo>
                  <a:lnTo>
                    <a:pt x="1947620" y="2696235"/>
                  </a:lnTo>
                  <a:lnTo>
                    <a:pt x="1889234" y="2751237"/>
                  </a:lnTo>
                  <a:lnTo>
                    <a:pt x="1839100" y="2764257"/>
                  </a:lnTo>
                  <a:lnTo>
                    <a:pt x="1827912" y="2760459"/>
                  </a:lnTo>
                  <a:lnTo>
                    <a:pt x="1819503" y="2757701"/>
                  </a:lnTo>
                  <a:lnTo>
                    <a:pt x="1797468" y="2746151"/>
                  </a:lnTo>
                  <a:lnTo>
                    <a:pt x="1792634" y="2739922"/>
                  </a:lnTo>
                  <a:lnTo>
                    <a:pt x="1764590" y="2713007"/>
                  </a:lnTo>
                  <a:lnTo>
                    <a:pt x="1745185" y="2701512"/>
                  </a:lnTo>
                  <a:lnTo>
                    <a:pt x="1735340" y="2695521"/>
                  </a:lnTo>
                  <a:lnTo>
                    <a:pt x="1727378" y="2687191"/>
                  </a:lnTo>
                  <a:lnTo>
                    <a:pt x="1722262" y="2674926"/>
                  </a:lnTo>
                  <a:lnTo>
                    <a:pt x="1720002" y="2661674"/>
                  </a:lnTo>
                  <a:lnTo>
                    <a:pt x="1718296" y="2648421"/>
                  </a:lnTo>
                  <a:lnTo>
                    <a:pt x="1714973" y="2636045"/>
                  </a:lnTo>
                  <a:lnTo>
                    <a:pt x="1703726" y="2616711"/>
                  </a:lnTo>
                  <a:lnTo>
                    <a:pt x="1691576" y="2599568"/>
                  </a:lnTo>
                  <a:lnTo>
                    <a:pt x="1690823" y="2600177"/>
                  </a:lnTo>
                  <a:lnTo>
                    <a:pt x="1685142" y="2604689"/>
                  </a:lnTo>
                  <a:lnTo>
                    <a:pt x="1641947" y="2636185"/>
                  </a:lnTo>
                  <a:lnTo>
                    <a:pt x="1603909" y="2654851"/>
                  </a:lnTo>
                  <a:lnTo>
                    <a:pt x="1556681" y="2662496"/>
                  </a:lnTo>
                  <a:lnTo>
                    <a:pt x="1519487" y="2649651"/>
                  </a:lnTo>
                  <a:lnTo>
                    <a:pt x="1504393" y="2644623"/>
                  </a:lnTo>
                  <a:lnTo>
                    <a:pt x="1491759" y="2640728"/>
                  </a:lnTo>
                  <a:lnTo>
                    <a:pt x="1472729" y="2635477"/>
                  </a:lnTo>
                  <a:lnTo>
                    <a:pt x="1460174" y="2632182"/>
                  </a:lnTo>
                  <a:lnTo>
                    <a:pt x="1451827" y="2629079"/>
                  </a:lnTo>
                  <a:lnTo>
                    <a:pt x="1445698" y="2624393"/>
                  </a:lnTo>
                  <a:lnTo>
                    <a:pt x="1439896" y="2616637"/>
                  </a:lnTo>
                  <a:lnTo>
                    <a:pt x="1432220" y="2604239"/>
                  </a:lnTo>
                  <a:lnTo>
                    <a:pt x="1420759" y="2585923"/>
                  </a:lnTo>
                  <a:lnTo>
                    <a:pt x="1408728" y="2582717"/>
                  </a:lnTo>
                  <a:lnTo>
                    <a:pt x="1398436" y="2579837"/>
                  </a:lnTo>
                  <a:lnTo>
                    <a:pt x="1383501" y="2575615"/>
                  </a:lnTo>
                  <a:lnTo>
                    <a:pt x="1373797" y="2573553"/>
                  </a:lnTo>
                  <a:lnTo>
                    <a:pt x="1366416" y="2573674"/>
                  </a:lnTo>
                  <a:lnTo>
                    <a:pt x="1358200" y="2576071"/>
                  </a:lnTo>
                  <a:lnTo>
                    <a:pt x="1346167" y="2580987"/>
                  </a:lnTo>
                  <a:lnTo>
                    <a:pt x="1327546" y="2588523"/>
                  </a:lnTo>
                  <a:lnTo>
                    <a:pt x="1314877" y="2593304"/>
                  </a:lnTo>
                  <a:lnTo>
                    <a:pt x="1298966" y="2598964"/>
                  </a:lnTo>
                  <a:lnTo>
                    <a:pt x="1296281" y="2597925"/>
                  </a:lnTo>
                  <a:lnTo>
                    <a:pt x="1290443" y="2595693"/>
                  </a:lnTo>
                  <a:lnTo>
                    <a:pt x="1246936" y="2580061"/>
                  </a:lnTo>
                  <a:lnTo>
                    <a:pt x="1188277" y="2566790"/>
                  </a:lnTo>
                  <a:lnTo>
                    <a:pt x="1151330" y="2560668"/>
                  </a:lnTo>
                  <a:lnTo>
                    <a:pt x="1134280" y="2556455"/>
                  </a:lnTo>
                  <a:lnTo>
                    <a:pt x="1123574" y="2553095"/>
                  </a:lnTo>
                  <a:lnTo>
                    <a:pt x="1117064" y="2550015"/>
                  </a:lnTo>
                  <a:lnTo>
                    <a:pt x="1112811" y="2546729"/>
                  </a:lnTo>
                  <a:lnTo>
                    <a:pt x="1108856" y="2542888"/>
                  </a:lnTo>
                  <a:lnTo>
                    <a:pt x="1103070" y="2537960"/>
                  </a:lnTo>
                  <a:lnTo>
                    <a:pt x="1059411" y="2513102"/>
                  </a:lnTo>
                  <a:lnTo>
                    <a:pt x="1041351" y="2509829"/>
                  </a:lnTo>
                  <a:lnTo>
                    <a:pt x="1028745" y="2513620"/>
                  </a:lnTo>
                  <a:lnTo>
                    <a:pt x="1016732" y="2520152"/>
                  </a:lnTo>
                  <a:lnTo>
                    <a:pt x="993863" y="2534403"/>
                  </a:lnTo>
                  <a:lnTo>
                    <a:pt x="996186" y="2543347"/>
                  </a:lnTo>
                  <a:lnTo>
                    <a:pt x="1000361" y="2554288"/>
                  </a:lnTo>
                  <a:lnTo>
                    <a:pt x="1009754" y="2576954"/>
                  </a:lnTo>
                  <a:lnTo>
                    <a:pt x="1013089" y="2587679"/>
                  </a:lnTo>
                  <a:lnTo>
                    <a:pt x="980261" y="2620091"/>
                  </a:lnTo>
                  <a:lnTo>
                    <a:pt x="928534" y="2626427"/>
                  </a:lnTo>
                  <a:lnTo>
                    <a:pt x="901957" y="2626096"/>
                  </a:lnTo>
                  <a:lnTo>
                    <a:pt x="848417" y="2623348"/>
                  </a:lnTo>
                  <a:lnTo>
                    <a:pt x="821872" y="2622876"/>
                  </a:lnTo>
                  <a:lnTo>
                    <a:pt x="795843" y="2624286"/>
                  </a:lnTo>
                  <a:lnTo>
                    <a:pt x="777455" y="2629484"/>
                  </a:lnTo>
                  <a:lnTo>
                    <a:pt x="759181" y="2636967"/>
                  </a:lnTo>
                  <a:lnTo>
                    <a:pt x="745221" y="2639253"/>
                  </a:lnTo>
                  <a:lnTo>
                    <a:pt x="728111" y="2642447"/>
                  </a:lnTo>
                  <a:lnTo>
                    <a:pt x="687847" y="2648491"/>
                  </a:lnTo>
                  <a:lnTo>
                    <a:pt x="666622" y="2649757"/>
                  </a:lnTo>
                  <a:lnTo>
                    <a:pt x="646009" y="2648779"/>
                  </a:lnTo>
                  <a:lnTo>
                    <a:pt x="602287" y="2628672"/>
                  </a:lnTo>
                  <a:lnTo>
                    <a:pt x="585801" y="2598695"/>
                  </a:lnTo>
                  <a:lnTo>
                    <a:pt x="569624" y="2595782"/>
                  </a:lnTo>
                  <a:lnTo>
                    <a:pt x="555716" y="2593078"/>
                  </a:lnTo>
                  <a:lnTo>
                    <a:pt x="544433" y="2590760"/>
                  </a:lnTo>
                  <a:lnTo>
                    <a:pt x="535356" y="2588866"/>
                  </a:lnTo>
                  <a:lnTo>
                    <a:pt x="522123" y="2586493"/>
                  </a:lnTo>
                  <a:lnTo>
                    <a:pt x="512605" y="2586201"/>
                  </a:lnTo>
                  <a:lnTo>
                    <a:pt x="503165" y="2588215"/>
                  </a:lnTo>
                  <a:lnTo>
                    <a:pt x="490186" y="2592906"/>
                  </a:lnTo>
                  <a:lnTo>
                    <a:pt x="481305" y="2596355"/>
                  </a:lnTo>
                  <a:lnTo>
                    <a:pt x="470264" y="2600581"/>
                  </a:lnTo>
                  <a:lnTo>
                    <a:pt x="456648" y="2605616"/>
                  </a:lnTo>
                  <a:lnTo>
                    <a:pt x="439276" y="2611757"/>
                  </a:lnTo>
                  <a:lnTo>
                    <a:pt x="401760" y="2585847"/>
                  </a:lnTo>
                  <a:lnTo>
                    <a:pt x="365407" y="2559627"/>
                  </a:lnTo>
                  <a:lnTo>
                    <a:pt x="328291" y="2535103"/>
                  </a:lnTo>
                  <a:lnTo>
                    <a:pt x="310172" y="2528621"/>
                  </a:lnTo>
                  <a:lnTo>
                    <a:pt x="291546" y="2522417"/>
                  </a:lnTo>
                  <a:lnTo>
                    <a:pt x="275913" y="2514142"/>
                  </a:lnTo>
                  <a:lnTo>
                    <a:pt x="249778" y="2495056"/>
                  </a:lnTo>
                  <a:lnTo>
                    <a:pt x="243842" y="2493095"/>
                  </a:lnTo>
                  <a:lnTo>
                    <a:pt x="233030" y="2489452"/>
                  </a:lnTo>
                  <a:lnTo>
                    <a:pt x="218489" y="2484467"/>
                  </a:lnTo>
                  <a:lnTo>
                    <a:pt x="203047" y="2489511"/>
                  </a:lnTo>
                  <a:lnTo>
                    <a:pt x="168137" y="2518863"/>
                  </a:lnTo>
                  <a:lnTo>
                    <a:pt x="158391" y="2534620"/>
                  </a:lnTo>
                  <a:lnTo>
                    <a:pt x="151876" y="2542038"/>
                  </a:lnTo>
                  <a:lnTo>
                    <a:pt x="143668" y="2547322"/>
                  </a:lnTo>
                  <a:lnTo>
                    <a:pt x="124449" y="2553131"/>
                  </a:lnTo>
                  <a:lnTo>
                    <a:pt x="103584" y="2556258"/>
                  </a:lnTo>
                  <a:lnTo>
                    <a:pt x="83080" y="2560818"/>
                  </a:lnTo>
                  <a:lnTo>
                    <a:pt x="64467" y="2547083"/>
                  </a:lnTo>
                  <a:lnTo>
                    <a:pt x="45896" y="2535103"/>
                  </a:lnTo>
                  <a:lnTo>
                    <a:pt x="27796" y="2528547"/>
                  </a:lnTo>
                  <a:lnTo>
                    <a:pt x="9167" y="2522425"/>
                  </a:lnTo>
                  <a:lnTo>
                    <a:pt x="0" y="251786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C0793DB7-BCE5-B995-6D48-C90F664E148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36663" y="4501895"/>
              <a:ext cx="2746248" cy="1770888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D53DC957-8ED8-729C-3006-86D2562673E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94575" y="4501895"/>
              <a:ext cx="2740152" cy="1213104"/>
            </a:xfrm>
            <a:prstGeom prst="rect">
              <a:avLst/>
            </a:prstGeom>
          </p:spPr>
        </p:pic>
        <p:pic>
          <p:nvPicPr>
            <p:cNvPr id="8" name="object 10">
              <a:extLst>
                <a:ext uri="{FF2B5EF4-FFF2-40B4-BE49-F238E27FC236}">
                  <a16:creationId xmlns:a16="http://schemas.microsoft.com/office/drawing/2014/main" id="{02E5629A-D4EC-E52C-FB69-38E275D6A45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22603" y="4530115"/>
              <a:ext cx="2630632" cy="1101784"/>
            </a:xfrm>
            <a:prstGeom prst="rect">
              <a:avLst/>
            </a:prstGeom>
          </p:spPr>
        </p:pic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56B8C908-A74E-3C27-A226-F9ABA7FB02C1}"/>
                </a:ext>
              </a:extLst>
            </p:cNvPr>
            <p:cNvSpPr/>
            <p:nvPr/>
          </p:nvSpPr>
          <p:spPr>
            <a:xfrm>
              <a:off x="6921016" y="4528527"/>
              <a:ext cx="2633980" cy="1105535"/>
            </a:xfrm>
            <a:custGeom>
              <a:avLst/>
              <a:gdLst/>
              <a:ahLst/>
              <a:cxnLst/>
              <a:rect l="l" t="t" r="r" b="b"/>
              <a:pathLst>
                <a:path w="2633979" h="1105535">
                  <a:moveTo>
                    <a:pt x="0" y="0"/>
                  </a:moveTo>
                  <a:lnTo>
                    <a:pt x="2633807" y="0"/>
                  </a:lnTo>
                  <a:lnTo>
                    <a:pt x="2633807" y="1075277"/>
                  </a:lnTo>
                  <a:lnTo>
                    <a:pt x="2612790" y="1074505"/>
                  </a:lnTo>
                  <a:lnTo>
                    <a:pt x="2608578" y="1074487"/>
                  </a:lnTo>
                  <a:lnTo>
                    <a:pt x="2600896" y="1074527"/>
                  </a:lnTo>
                  <a:lnTo>
                    <a:pt x="2590168" y="1074592"/>
                  </a:lnTo>
                  <a:lnTo>
                    <a:pt x="2576791" y="1074655"/>
                  </a:lnTo>
                  <a:lnTo>
                    <a:pt x="2504890" y="1074283"/>
                  </a:lnTo>
                  <a:lnTo>
                    <a:pt x="2463514" y="1073305"/>
                  </a:lnTo>
                  <a:lnTo>
                    <a:pt x="2422794" y="1071481"/>
                  </a:lnTo>
                  <a:lnTo>
                    <a:pt x="2369935" y="1066631"/>
                  </a:lnTo>
                  <a:lnTo>
                    <a:pt x="2317473" y="1054135"/>
                  </a:lnTo>
                  <a:lnTo>
                    <a:pt x="2278643" y="1038754"/>
                  </a:lnTo>
                  <a:lnTo>
                    <a:pt x="2265874" y="1023864"/>
                  </a:lnTo>
                  <a:lnTo>
                    <a:pt x="2228394" y="1028810"/>
                  </a:lnTo>
                  <a:lnTo>
                    <a:pt x="2217912" y="1030193"/>
                  </a:lnTo>
                  <a:lnTo>
                    <a:pt x="2202249" y="1032260"/>
                  </a:lnTo>
                  <a:lnTo>
                    <a:pt x="2183433" y="1034743"/>
                  </a:lnTo>
                  <a:lnTo>
                    <a:pt x="2163491" y="1037374"/>
                  </a:lnTo>
                  <a:lnTo>
                    <a:pt x="2144449" y="1039887"/>
                  </a:lnTo>
                  <a:lnTo>
                    <a:pt x="2128336" y="1042013"/>
                  </a:lnTo>
                  <a:lnTo>
                    <a:pt x="2117179" y="1043486"/>
                  </a:lnTo>
                  <a:lnTo>
                    <a:pt x="2113050" y="1044031"/>
                  </a:lnTo>
                  <a:lnTo>
                    <a:pt x="2099707" y="1046582"/>
                  </a:lnTo>
                  <a:lnTo>
                    <a:pt x="2089434" y="1049006"/>
                  </a:lnTo>
                  <a:lnTo>
                    <a:pt x="2074988" y="1054067"/>
                  </a:lnTo>
                  <a:lnTo>
                    <a:pt x="2063688" y="1060386"/>
                  </a:lnTo>
                  <a:lnTo>
                    <a:pt x="2049481" y="1069219"/>
                  </a:lnTo>
                  <a:lnTo>
                    <a:pt x="2033048" y="1077915"/>
                  </a:lnTo>
                  <a:lnTo>
                    <a:pt x="2014388" y="1085947"/>
                  </a:lnTo>
                  <a:lnTo>
                    <a:pt x="1972123" y="1099849"/>
                  </a:lnTo>
                  <a:lnTo>
                    <a:pt x="1947278" y="1103280"/>
                  </a:lnTo>
                  <a:lnTo>
                    <a:pt x="1920427" y="1104966"/>
                  </a:lnTo>
                  <a:lnTo>
                    <a:pt x="1908978" y="1103481"/>
                  </a:lnTo>
                  <a:lnTo>
                    <a:pt x="1900196" y="1102380"/>
                  </a:lnTo>
                  <a:lnTo>
                    <a:pt x="1888738" y="1100981"/>
                  </a:lnTo>
                  <a:lnTo>
                    <a:pt x="1882971" y="1100152"/>
                  </a:lnTo>
                  <a:lnTo>
                    <a:pt x="1880054" y="1099266"/>
                  </a:lnTo>
                  <a:lnTo>
                    <a:pt x="1877471" y="1097831"/>
                  </a:lnTo>
                  <a:lnTo>
                    <a:pt x="1872429" y="1095348"/>
                  </a:lnTo>
                  <a:lnTo>
                    <a:pt x="1861905" y="1091125"/>
                  </a:lnTo>
                  <a:lnTo>
                    <a:pt x="1853699" y="1088178"/>
                  </a:lnTo>
                  <a:lnTo>
                    <a:pt x="1843121" y="1084599"/>
                  </a:lnTo>
                  <a:lnTo>
                    <a:pt x="1822732" y="1079979"/>
                  </a:lnTo>
                  <a:lnTo>
                    <a:pt x="1812563" y="1077615"/>
                  </a:lnTo>
                  <a:lnTo>
                    <a:pt x="1804231" y="1074284"/>
                  </a:lnTo>
                  <a:lnTo>
                    <a:pt x="1798623" y="1069146"/>
                  </a:lnTo>
                  <a:lnTo>
                    <a:pt x="1796136" y="1063572"/>
                  </a:lnTo>
                  <a:lnTo>
                    <a:pt x="1794394" y="1058400"/>
                  </a:lnTo>
                  <a:lnTo>
                    <a:pt x="1791144" y="1053775"/>
                  </a:lnTo>
                  <a:lnTo>
                    <a:pt x="1779562" y="1046166"/>
                  </a:lnTo>
                  <a:lnTo>
                    <a:pt x="1766458" y="1039101"/>
                  </a:lnTo>
                  <a:lnTo>
                    <a:pt x="1764935" y="1039571"/>
                  </a:lnTo>
                  <a:lnTo>
                    <a:pt x="1759007" y="1041370"/>
                  </a:lnTo>
                  <a:lnTo>
                    <a:pt x="1713933" y="1053930"/>
                  </a:lnTo>
                  <a:lnTo>
                    <a:pt x="1658346" y="1062515"/>
                  </a:lnTo>
                  <a:lnTo>
                    <a:pt x="1625534" y="1064359"/>
                  </a:lnTo>
                  <a:lnTo>
                    <a:pt x="1586923" y="1059264"/>
                  </a:lnTo>
                  <a:lnTo>
                    <a:pt x="1571153" y="1057256"/>
                  </a:lnTo>
                  <a:lnTo>
                    <a:pt x="1557929" y="1055699"/>
                  </a:lnTo>
                  <a:lnTo>
                    <a:pt x="1538031" y="1053600"/>
                  </a:lnTo>
                  <a:lnTo>
                    <a:pt x="1524970" y="1052290"/>
                  </a:lnTo>
                  <a:lnTo>
                    <a:pt x="1516419" y="1051075"/>
                  </a:lnTo>
                  <a:lnTo>
                    <a:pt x="1510145" y="1049242"/>
                  </a:lnTo>
                  <a:lnTo>
                    <a:pt x="1504078" y="1046143"/>
                  </a:lnTo>
                  <a:lnTo>
                    <a:pt x="1496047" y="1041186"/>
                  </a:lnTo>
                  <a:lnTo>
                    <a:pt x="1484042" y="1033854"/>
                  </a:lnTo>
                  <a:lnTo>
                    <a:pt x="1471213" y="1032548"/>
                  </a:lnTo>
                  <a:lnTo>
                    <a:pt x="1460472" y="1031399"/>
                  </a:lnTo>
                  <a:lnTo>
                    <a:pt x="1444851" y="1029712"/>
                  </a:lnTo>
                  <a:lnTo>
                    <a:pt x="1434566" y="1028876"/>
                  </a:lnTo>
                  <a:lnTo>
                    <a:pt x="1426600" y="1028926"/>
                  </a:lnTo>
                  <a:lnTo>
                    <a:pt x="1417843" y="1029902"/>
                  </a:lnTo>
                  <a:lnTo>
                    <a:pt x="1405234" y="1031871"/>
                  </a:lnTo>
                  <a:lnTo>
                    <a:pt x="1396557" y="1033242"/>
                  </a:lnTo>
                  <a:lnTo>
                    <a:pt x="1385799" y="1034877"/>
                  </a:lnTo>
                  <a:lnTo>
                    <a:pt x="1372591" y="1036782"/>
                  </a:lnTo>
                  <a:lnTo>
                    <a:pt x="1356341" y="1038991"/>
                  </a:lnTo>
                  <a:lnTo>
                    <a:pt x="1353888" y="1038628"/>
                  </a:lnTo>
                  <a:lnTo>
                    <a:pt x="1347788" y="1037737"/>
                  </a:lnTo>
                  <a:lnTo>
                    <a:pt x="1338698" y="1036431"/>
                  </a:lnTo>
                  <a:lnTo>
                    <a:pt x="1327499" y="1034857"/>
                  </a:lnTo>
                  <a:lnTo>
                    <a:pt x="1302309" y="1031492"/>
                  </a:lnTo>
                  <a:lnTo>
                    <a:pt x="1279277" y="1028817"/>
                  </a:lnTo>
                  <a:lnTo>
                    <a:pt x="1240916" y="1026183"/>
                  </a:lnTo>
                  <a:lnTo>
                    <a:pt x="1202372" y="1023743"/>
                  </a:lnTo>
                  <a:lnTo>
                    <a:pt x="1184637" y="1022068"/>
                  </a:lnTo>
                  <a:lnTo>
                    <a:pt x="1173549" y="1020738"/>
                  </a:lnTo>
                  <a:lnTo>
                    <a:pt x="1166886" y="1019534"/>
                  </a:lnTo>
                  <a:lnTo>
                    <a:pt x="1162526" y="1018247"/>
                  </a:lnTo>
                  <a:lnTo>
                    <a:pt x="1158407" y="1016717"/>
                  </a:lnTo>
                  <a:lnTo>
                    <a:pt x="1152327" y="1014739"/>
                  </a:lnTo>
                  <a:lnTo>
                    <a:pt x="1142016" y="1012067"/>
                  </a:lnTo>
                  <a:lnTo>
                    <a:pt x="1125252" y="1008488"/>
                  </a:lnTo>
                  <a:lnTo>
                    <a:pt x="1106612" y="1004791"/>
                  </a:lnTo>
                  <a:lnTo>
                    <a:pt x="1087179" y="1003454"/>
                  </a:lnTo>
                  <a:lnTo>
                    <a:pt x="1061089" y="1007624"/>
                  </a:lnTo>
                  <a:lnTo>
                    <a:pt x="1038429" y="1013020"/>
                  </a:lnTo>
                  <a:lnTo>
                    <a:pt x="1039807" y="1015047"/>
                  </a:lnTo>
                  <a:lnTo>
                    <a:pt x="1044078" y="1019325"/>
                  </a:lnTo>
                  <a:lnTo>
                    <a:pt x="1053927" y="1028406"/>
                  </a:lnTo>
                  <a:lnTo>
                    <a:pt x="1057610" y="1032934"/>
                  </a:lnTo>
                  <a:lnTo>
                    <a:pt x="996730" y="1049312"/>
                  </a:lnTo>
                  <a:lnTo>
                    <a:pt x="941809" y="1049844"/>
                  </a:lnTo>
                  <a:lnTo>
                    <a:pt x="885905" y="1048748"/>
                  </a:lnTo>
                  <a:lnTo>
                    <a:pt x="830776" y="1049126"/>
                  </a:lnTo>
                  <a:lnTo>
                    <a:pt x="811425" y="1051216"/>
                  </a:lnTo>
                  <a:lnTo>
                    <a:pt x="792395" y="1054194"/>
                  </a:lnTo>
                  <a:lnTo>
                    <a:pt x="777931" y="1055099"/>
                  </a:lnTo>
                  <a:lnTo>
                    <a:pt x="760065" y="1056374"/>
                  </a:lnTo>
                  <a:lnTo>
                    <a:pt x="739767" y="1057707"/>
                  </a:lnTo>
                  <a:lnTo>
                    <a:pt x="718056" y="1058783"/>
                  </a:lnTo>
                  <a:lnTo>
                    <a:pt x="674651" y="1058899"/>
                  </a:lnTo>
                  <a:lnTo>
                    <a:pt x="654942" y="1057298"/>
                  </a:lnTo>
                  <a:lnTo>
                    <a:pt x="637940" y="1054150"/>
                  </a:lnTo>
                  <a:lnTo>
                    <a:pt x="629446" y="1050951"/>
                  </a:lnTo>
                  <a:lnTo>
                    <a:pt x="623051" y="1046950"/>
                  </a:lnTo>
                  <a:lnTo>
                    <a:pt x="612157" y="1038939"/>
                  </a:lnTo>
                  <a:lnTo>
                    <a:pt x="594930" y="1037754"/>
                  </a:lnTo>
                  <a:lnTo>
                    <a:pt x="580420" y="1036676"/>
                  </a:lnTo>
                  <a:lnTo>
                    <a:pt x="568643" y="1035751"/>
                  </a:lnTo>
                  <a:lnTo>
                    <a:pt x="559155" y="1034995"/>
                  </a:lnTo>
                  <a:lnTo>
                    <a:pt x="545245" y="1034042"/>
                  </a:lnTo>
                  <a:lnTo>
                    <a:pt x="535105" y="1033923"/>
                  </a:lnTo>
                  <a:lnTo>
                    <a:pt x="525056" y="1034742"/>
                  </a:lnTo>
                  <a:lnTo>
                    <a:pt x="511428" y="1036625"/>
                  </a:lnTo>
                  <a:lnTo>
                    <a:pt x="502151" y="1038001"/>
                  </a:lnTo>
                  <a:lnTo>
                    <a:pt x="490628" y="1039687"/>
                  </a:lnTo>
                  <a:lnTo>
                    <a:pt x="476421" y="1041694"/>
                  </a:lnTo>
                  <a:lnTo>
                    <a:pt x="458773" y="1044079"/>
                  </a:lnTo>
                  <a:lnTo>
                    <a:pt x="419995" y="1033844"/>
                  </a:lnTo>
                  <a:lnTo>
                    <a:pt x="382027" y="1023379"/>
                  </a:lnTo>
                  <a:lnTo>
                    <a:pt x="343180" y="1013569"/>
                  </a:lnTo>
                  <a:lnTo>
                    <a:pt x="324147" y="1010968"/>
                  </a:lnTo>
                  <a:lnTo>
                    <a:pt x="304762" y="1008500"/>
                  </a:lnTo>
                  <a:lnTo>
                    <a:pt x="288511" y="1005213"/>
                  </a:lnTo>
                  <a:lnTo>
                    <a:pt x="261037" y="997568"/>
                  </a:lnTo>
                  <a:lnTo>
                    <a:pt x="254878" y="996791"/>
                  </a:lnTo>
                  <a:lnTo>
                    <a:pt x="243593" y="995337"/>
                  </a:lnTo>
                  <a:lnTo>
                    <a:pt x="228087" y="993306"/>
                  </a:lnTo>
                  <a:lnTo>
                    <a:pt x="211646" y="995358"/>
                  </a:lnTo>
                  <a:lnTo>
                    <a:pt x="174933" y="1007111"/>
                  </a:lnTo>
                  <a:lnTo>
                    <a:pt x="164662" y="1013457"/>
                  </a:lnTo>
                  <a:lnTo>
                    <a:pt x="149591" y="1018433"/>
                  </a:lnTo>
                  <a:lnTo>
                    <a:pt x="129653" y="1020736"/>
                  </a:lnTo>
                  <a:lnTo>
                    <a:pt x="107903" y="1021982"/>
                  </a:lnTo>
                  <a:lnTo>
                    <a:pt x="86907" y="1023766"/>
                  </a:lnTo>
                  <a:lnTo>
                    <a:pt x="67783" y="1018374"/>
                  </a:lnTo>
                  <a:lnTo>
                    <a:pt x="48297" y="1013570"/>
                  </a:lnTo>
                  <a:lnTo>
                    <a:pt x="29282" y="1010937"/>
                  </a:lnTo>
                  <a:lnTo>
                    <a:pt x="9886" y="1008502"/>
                  </a:lnTo>
                  <a:lnTo>
                    <a:pt x="0" y="100662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2">
              <a:extLst>
                <a:ext uri="{FF2B5EF4-FFF2-40B4-BE49-F238E27FC236}">
                  <a16:creationId xmlns:a16="http://schemas.microsoft.com/office/drawing/2014/main" id="{F896E0F7-7440-3B1A-953E-8EB58B291110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91528" y="5602223"/>
              <a:ext cx="2734055" cy="670560"/>
            </a:xfrm>
            <a:prstGeom prst="rect">
              <a:avLst/>
            </a:prstGeom>
          </p:spPr>
        </p:pic>
        <p:pic>
          <p:nvPicPr>
            <p:cNvPr id="12" name="object 13">
              <a:extLst>
                <a:ext uri="{FF2B5EF4-FFF2-40B4-BE49-F238E27FC236}">
                  <a16:creationId xmlns:a16="http://schemas.microsoft.com/office/drawing/2014/main" id="{3F5DEB6F-F000-2842-75D4-73D397D2C403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19706" y="5631899"/>
              <a:ext cx="2623938" cy="558359"/>
            </a:xfrm>
            <a:prstGeom prst="rect">
              <a:avLst/>
            </a:prstGeom>
          </p:spPr>
        </p:pic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90C6EED5-9A39-35B4-A9D2-125AC5E80335}"/>
                </a:ext>
              </a:extLst>
            </p:cNvPr>
            <p:cNvSpPr/>
            <p:nvPr/>
          </p:nvSpPr>
          <p:spPr>
            <a:xfrm>
              <a:off x="6918119" y="5630312"/>
              <a:ext cx="2627630" cy="561975"/>
            </a:xfrm>
            <a:custGeom>
              <a:avLst/>
              <a:gdLst/>
              <a:ahLst/>
              <a:cxnLst/>
              <a:rect l="l" t="t" r="r" b="b"/>
              <a:pathLst>
                <a:path w="2627629" h="561975">
                  <a:moveTo>
                    <a:pt x="0" y="0"/>
                  </a:moveTo>
                  <a:lnTo>
                    <a:pt x="2627113" y="0"/>
                  </a:lnTo>
                  <a:lnTo>
                    <a:pt x="2627113" y="546492"/>
                  </a:lnTo>
                  <a:lnTo>
                    <a:pt x="2606156" y="546101"/>
                  </a:lnTo>
                  <a:lnTo>
                    <a:pt x="2601942" y="546092"/>
                  </a:lnTo>
                  <a:lnTo>
                    <a:pt x="2594277" y="546112"/>
                  </a:lnTo>
                  <a:lnTo>
                    <a:pt x="2583575" y="546145"/>
                  </a:lnTo>
                  <a:lnTo>
                    <a:pt x="2570237" y="546177"/>
                  </a:lnTo>
                  <a:lnTo>
                    <a:pt x="2498532" y="545988"/>
                  </a:lnTo>
                  <a:lnTo>
                    <a:pt x="2457275" y="545493"/>
                  </a:lnTo>
                  <a:lnTo>
                    <a:pt x="2416680" y="544569"/>
                  </a:lnTo>
                  <a:lnTo>
                    <a:pt x="2364017" y="542114"/>
                  </a:lnTo>
                  <a:lnTo>
                    <a:pt x="2311797" y="535793"/>
                  </a:lnTo>
                  <a:lnTo>
                    <a:pt x="2273200" y="528027"/>
                  </a:lnTo>
                  <a:lnTo>
                    <a:pt x="2260393" y="520415"/>
                  </a:lnTo>
                  <a:lnTo>
                    <a:pt x="2222626" y="522947"/>
                  </a:lnTo>
                  <a:lnTo>
                    <a:pt x="2212171" y="523648"/>
                  </a:lnTo>
                  <a:lnTo>
                    <a:pt x="2196548" y="524695"/>
                  </a:lnTo>
                  <a:lnTo>
                    <a:pt x="2177779" y="525954"/>
                  </a:lnTo>
                  <a:lnTo>
                    <a:pt x="2157888" y="527287"/>
                  </a:lnTo>
                  <a:lnTo>
                    <a:pt x="2138895" y="528561"/>
                  </a:lnTo>
                  <a:lnTo>
                    <a:pt x="2122823" y="529638"/>
                  </a:lnTo>
                  <a:lnTo>
                    <a:pt x="2111693" y="530384"/>
                  </a:lnTo>
                  <a:lnTo>
                    <a:pt x="2107553" y="530662"/>
                  </a:lnTo>
                  <a:lnTo>
                    <a:pt x="2069414" y="535773"/>
                  </a:lnTo>
                  <a:lnTo>
                    <a:pt x="2043926" y="543465"/>
                  </a:lnTo>
                  <a:lnTo>
                    <a:pt x="2027570" y="547863"/>
                  </a:lnTo>
                  <a:lnTo>
                    <a:pt x="2009004" y="551923"/>
                  </a:lnTo>
                  <a:lnTo>
                    <a:pt x="1966937" y="558953"/>
                  </a:lnTo>
                  <a:lnTo>
                    <a:pt x="1942249" y="560685"/>
                  </a:lnTo>
                  <a:lnTo>
                    <a:pt x="1915569" y="561536"/>
                  </a:lnTo>
                  <a:lnTo>
                    <a:pt x="1904221" y="560788"/>
                  </a:lnTo>
                  <a:lnTo>
                    <a:pt x="1895460" y="560230"/>
                  </a:lnTo>
                  <a:lnTo>
                    <a:pt x="1884036" y="559521"/>
                  </a:lnTo>
                  <a:lnTo>
                    <a:pt x="1878348" y="559106"/>
                  </a:lnTo>
                  <a:lnTo>
                    <a:pt x="1875557" y="558676"/>
                  </a:lnTo>
                  <a:lnTo>
                    <a:pt x="1873023" y="557960"/>
                  </a:lnTo>
                  <a:lnTo>
                    <a:pt x="1867963" y="556694"/>
                  </a:lnTo>
                  <a:lnTo>
                    <a:pt x="1857430" y="554547"/>
                  </a:lnTo>
                  <a:lnTo>
                    <a:pt x="1849237" y="553052"/>
                  </a:lnTo>
                  <a:lnTo>
                    <a:pt x="1838638" y="551230"/>
                  </a:lnTo>
                  <a:lnTo>
                    <a:pt x="1818270" y="548885"/>
                  </a:lnTo>
                  <a:lnTo>
                    <a:pt x="1808179" y="547693"/>
                  </a:lnTo>
                  <a:lnTo>
                    <a:pt x="1800000" y="546032"/>
                  </a:lnTo>
                  <a:lnTo>
                    <a:pt x="1794389" y="543420"/>
                  </a:lnTo>
                  <a:lnTo>
                    <a:pt x="1791781" y="540451"/>
                  </a:lnTo>
                  <a:lnTo>
                    <a:pt x="1790095" y="537906"/>
                  </a:lnTo>
                  <a:lnTo>
                    <a:pt x="1786978" y="535653"/>
                  </a:lnTo>
                  <a:lnTo>
                    <a:pt x="1775388" y="531784"/>
                  </a:lnTo>
                  <a:lnTo>
                    <a:pt x="1762043" y="528129"/>
                  </a:lnTo>
                  <a:lnTo>
                    <a:pt x="1760230" y="528413"/>
                  </a:lnTo>
                  <a:lnTo>
                    <a:pt x="1754319" y="529325"/>
                  </a:lnTo>
                  <a:lnTo>
                    <a:pt x="1709395" y="535685"/>
                  </a:lnTo>
                  <a:lnTo>
                    <a:pt x="1654068" y="540026"/>
                  </a:lnTo>
                  <a:lnTo>
                    <a:pt x="1621430" y="540958"/>
                  </a:lnTo>
                  <a:lnTo>
                    <a:pt x="1582989" y="538380"/>
                  </a:lnTo>
                  <a:lnTo>
                    <a:pt x="1567241" y="537362"/>
                  </a:lnTo>
                  <a:lnTo>
                    <a:pt x="1554054" y="536573"/>
                  </a:lnTo>
                  <a:lnTo>
                    <a:pt x="1534202" y="535509"/>
                  </a:lnTo>
                  <a:lnTo>
                    <a:pt x="1521186" y="534846"/>
                  </a:lnTo>
                  <a:lnTo>
                    <a:pt x="1512682" y="534232"/>
                  </a:lnTo>
                  <a:lnTo>
                    <a:pt x="1500635" y="531782"/>
                  </a:lnTo>
                  <a:lnTo>
                    <a:pt x="1492600" y="529262"/>
                  </a:lnTo>
                  <a:lnTo>
                    <a:pt x="1480507" y="525510"/>
                  </a:lnTo>
                  <a:lnTo>
                    <a:pt x="1467555" y="524840"/>
                  </a:lnTo>
                  <a:lnTo>
                    <a:pt x="1456841" y="524258"/>
                  </a:lnTo>
                  <a:lnTo>
                    <a:pt x="1441249" y="523402"/>
                  </a:lnTo>
                  <a:lnTo>
                    <a:pt x="1430948" y="522977"/>
                  </a:lnTo>
                  <a:lnTo>
                    <a:pt x="1422928" y="523003"/>
                  </a:lnTo>
                  <a:lnTo>
                    <a:pt x="1414136" y="523501"/>
                  </a:lnTo>
                  <a:lnTo>
                    <a:pt x="1401543" y="524499"/>
                  </a:lnTo>
                  <a:lnTo>
                    <a:pt x="1392891" y="525194"/>
                  </a:lnTo>
                  <a:lnTo>
                    <a:pt x="1382163" y="526023"/>
                  </a:lnTo>
                  <a:lnTo>
                    <a:pt x="1368994" y="526987"/>
                  </a:lnTo>
                  <a:lnTo>
                    <a:pt x="1352897" y="528099"/>
                  </a:lnTo>
                  <a:lnTo>
                    <a:pt x="1350559" y="527923"/>
                  </a:lnTo>
                  <a:lnTo>
                    <a:pt x="1344473" y="527472"/>
                  </a:lnTo>
                  <a:lnTo>
                    <a:pt x="1335405" y="526810"/>
                  </a:lnTo>
                  <a:lnTo>
                    <a:pt x="1324232" y="526012"/>
                  </a:lnTo>
                  <a:lnTo>
                    <a:pt x="1299096" y="524306"/>
                  </a:lnTo>
                  <a:lnTo>
                    <a:pt x="1276097" y="522949"/>
                  </a:lnTo>
                  <a:lnTo>
                    <a:pt x="1199376" y="520377"/>
                  </a:lnTo>
                  <a:lnTo>
                    <a:pt x="1181708" y="519529"/>
                  </a:lnTo>
                  <a:lnTo>
                    <a:pt x="1170681" y="518857"/>
                  </a:lnTo>
                  <a:lnTo>
                    <a:pt x="1164096" y="518252"/>
                  </a:lnTo>
                  <a:lnTo>
                    <a:pt x="1159807" y="517609"/>
                  </a:lnTo>
                  <a:lnTo>
                    <a:pt x="1155705" y="516836"/>
                  </a:lnTo>
                  <a:lnTo>
                    <a:pt x="1149611" y="515828"/>
                  </a:lnTo>
                  <a:lnTo>
                    <a:pt x="1139288" y="514469"/>
                  </a:lnTo>
                  <a:lnTo>
                    <a:pt x="1122543" y="512652"/>
                  </a:lnTo>
                  <a:lnTo>
                    <a:pt x="1103902" y="510774"/>
                  </a:lnTo>
                  <a:lnTo>
                    <a:pt x="1084381" y="510091"/>
                  </a:lnTo>
                  <a:lnTo>
                    <a:pt x="1058244" y="512214"/>
                  </a:lnTo>
                  <a:lnTo>
                    <a:pt x="1037515" y="514722"/>
                  </a:lnTo>
                  <a:lnTo>
                    <a:pt x="1041025" y="516507"/>
                  </a:lnTo>
                  <a:lnTo>
                    <a:pt x="1050852" y="521111"/>
                  </a:lnTo>
                  <a:lnTo>
                    <a:pt x="1054666" y="523493"/>
                  </a:lnTo>
                  <a:lnTo>
                    <a:pt x="994154" y="533334"/>
                  </a:lnTo>
                  <a:lnTo>
                    <a:pt x="939420" y="533603"/>
                  </a:lnTo>
                  <a:lnTo>
                    <a:pt x="883660" y="533048"/>
                  </a:lnTo>
                  <a:lnTo>
                    <a:pt x="828630" y="533239"/>
                  </a:lnTo>
                  <a:lnTo>
                    <a:pt x="790288" y="535810"/>
                  </a:lnTo>
                  <a:lnTo>
                    <a:pt x="775895" y="536268"/>
                  </a:lnTo>
                  <a:lnTo>
                    <a:pt x="758084" y="536913"/>
                  </a:lnTo>
                  <a:lnTo>
                    <a:pt x="737844" y="537588"/>
                  </a:lnTo>
                  <a:lnTo>
                    <a:pt x="716213" y="538133"/>
                  </a:lnTo>
                  <a:lnTo>
                    <a:pt x="672968" y="538192"/>
                  </a:lnTo>
                  <a:lnTo>
                    <a:pt x="653381" y="537383"/>
                  </a:lnTo>
                  <a:lnTo>
                    <a:pt x="636523" y="535798"/>
                  </a:lnTo>
                  <a:lnTo>
                    <a:pt x="628163" y="534198"/>
                  </a:lnTo>
                  <a:lnTo>
                    <a:pt x="621841" y="532188"/>
                  </a:lnTo>
                  <a:lnTo>
                    <a:pt x="610857" y="528085"/>
                  </a:lnTo>
                  <a:lnTo>
                    <a:pt x="593478" y="527477"/>
                  </a:lnTo>
                  <a:lnTo>
                    <a:pt x="579007" y="526931"/>
                  </a:lnTo>
                  <a:lnTo>
                    <a:pt x="567260" y="526463"/>
                  </a:lnTo>
                  <a:lnTo>
                    <a:pt x="557787" y="526079"/>
                  </a:lnTo>
                  <a:lnTo>
                    <a:pt x="543894" y="525595"/>
                  </a:lnTo>
                  <a:lnTo>
                    <a:pt x="533719" y="525535"/>
                  </a:lnTo>
                  <a:lnTo>
                    <a:pt x="523638" y="525952"/>
                  </a:lnTo>
                  <a:lnTo>
                    <a:pt x="510017" y="526908"/>
                  </a:lnTo>
                  <a:lnTo>
                    <a:pt x="500764" y="527606"/>
                  </a:lnTo>
                  <a:lnTo>
                    <a:pt x="489275" y="528460"/>
                  </a:lnTo>
                  <a:lnTo>
                    <a:pt x="475110" y="529477"/>
                  </a:lnTo>
                  <a:lnTo>
                    <a:pt x="457657" y="530675"/>
                  </a:lnTo>
                  <a:lnTo>
                    <a:pt x="419127" y="525508"/>
                  </a:lnTo>
                  <a:lnTo>
                    <a:pt x="381252" y="520204"/>
                  </a:lnTo>
                  <a:lnTo>
                    <a:pt x="342456" y="515227"/>
                  </a:lnTo>
                  <a:lnTo>
                    <a:pt x="323425" y="513905"/>
                  </a:lnTo>
                  <a:lnTo>
                    <a:pt x="304115" y="512656"/>
                  </a:lnTo>
                  <a:lnTo>
                    <a:pt x="287936" y="510993"/>
                  </a:lnTo>
                  <a:lnTo>
                    <a:pt x="260646" y="507125"/>
                  </a:lnTo>
                  <a:lnTo>
                    <a:pt x="254330" y="506720"/>
                  </a:lnTo>
                  <a:lnTo>
                    <a:pt x="243076" y="505984"/>
                  </a:lnTo>
                  <a:lnTo>
                    <a:pt x="227513" y="504948"/>
                  </a:lnTo>
                  <a:lnTo>
                    <a:pt x="211019" y="505994"/>
                  </a:lnTo>
                  <a:lnTo>
                    <a:pt x="174130" y="511996"/>
                  </a:lnTo>
                  <a:lnTo>
                    <a:pt x="163944" y="515194"/>
                  </a:lnTo>
                  <a:lnTo>
                    <a:pt x="149050" y="517692"/>
                  </a:lnTo>
                  <a:lnTo>
                    <a:pt x="129261" y="518853"/>
                  </a:lnTo>
                  <a:lnTo>
                    <a:pt x="107576" y="519484"/>
                  </a:lnTo>
                  <a:lnTo>
                    <a:pt x="86763" y="520383"/>
                  </a:lnTo>
                  <a:lnTo>
                    <a:pt x="67809" y="517667"/>
                  </a:lnTo>
                  <a:lnTo>
                    <a:pt x="48323" y="515227"/>
                  </a:lnTo>
                  <a:lnTo>
                    <a:pt x="29312" y="513890"/>
                  </a:lnTo>
                  <a:lnTo>
                    <a:pt x="9984" y="512656"/>
                  </a:lnTo>
                  <a:lnTo>
                    <a:pt x="0" y="51169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5">
              <a:extLst>
                <a:ext uri="{FF2B5EF4-FFF2-40B4-BE49-F238E27FC236}">
                  <a16:creationId xmlns:a16="http://schemas.microsoft.com/office/drawing/2014/main" id="{87C0A171-7574-AC25-A72F-6FD05F600113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64167" y="3870959"/>
              <a:ext cx="2078735" cy="1523999"/>
            </a:xfrm>
            <a:prstGeom prst="rect">
              <a:avLst/>
            </a:prstGeom>
          </p:spPr>
        </p:pic>
        <p:pic>
          <p:nvPicPr>
            <p:cNvPr id="15" name="object 16">
              <a:extLst>
                <a:ext uri="{FF2B5EF4-FFF2-40B4-BE49-F238E27FC236}">
                  <a16:creationId xmlns:a16="http://schemas.microsoft.com/office/drawing/2014/main" id="{10B6232D-F8DB-B95D-A950-1C69459BC772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42856" y="3895230"/>
              <a:ext cx="1974362" cy="1421409"/>
            </a:xfrm>
            <a:prstGeom prst="rect">
              <a:avLst/>
            </a:prstGeom>
          </p:spPr>
        </p:pic>
        <p:pic>
          <p:nvPicPr>
            <p:cNvPr id="16" name="object 17">
              <a:extLst>
                <a:ext uri="{FF2B5EF4-FFF2-40B4-BE49-F238E27FC236}">
                  <a16:creationId xmlns:a16="http://schemas.microsoft.com/office/drawing/2014/main" id="{C18756E1-1890-A9EF-62DD-7CE826E9FF16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33560" y="4334256"/>
              <a:ext cx="2185416" cy="1496568"/>
            </a:xfrm>
            <a:prstGeom prst="rect">
              <a:avLst/>
            </a:prstGeom>
          </p:spPr>
        </p:pic>
        <p:pic>
          <p:nvPicPr>
            <p:cNvPr id="17" name="object 18">
              <a:extLst>
                <a:ext uri="{FF2B5EF4-FFF2-40B4-BE49-F238E27FC236}">
                  <a16:creationId xmlns:a16="http://schemas.microsoft.com/office/drawing/2014/main" id="{7F1D5387-7DEB-F6C9-AA71-8777F52ED6F7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21783" y="4368815"/>
              <a:ext cx="2062311" cy="1372853"/>
            </a:xfrm>
            <a:prstGeom prst="rect">
              <a:avLst/>
            </a:prstGeom>
          </p:spPr>
        </p:pic>
        <p:sp>
          <p:nvSpPr>
            <p:cNvPr id="18" name="object 19">
              <a:extLst>
                <a:ext uri="{FF2B5EF4-FFF2-40B4-BE49-F238E27FC236}">
                  <a16:creationId xmlns:a16="http://schemas.microsoft.com/office/drawing/2014/main" id="{5D1D857A-1F37-D2B1-C115-EFBEC02EC682}"/>
                </a:ext>
              </a:extLst>
            </p:cNvPr>
            <p:cNvSpPr/>
            <p:nvPr/>
          </p:nvSpPr>
          <p:spPr>
            <a:xfrm>
              <a:off x="9517020" y="4364052"/>
              <a:ext cx="2072005" cy="1382395"/>
            </a:xfrm>
            <a:custGeom>
              <a:avLst/>
              <a:gdLst/>
              <a:ahLst/>
              <a:cxnLst/>
              <a:rect l="l" t="t" r="r" b="b"/>
              <a:pathLst>
                <a:path w="2072004" h="1382395">
                  <a:moveTo>
                    <a:pt x="0" y="0"/>
                  </a:moveTo>
                  <a:lnTo>
                    <a:pt x="2071836" y="0"/>
                  </a:lnTo>
                  <a:lnTo>
                    <a:pt x="2071836" y="1382378"/>
                  </a:lnTo>
                  <a:lnTo>
                    <a:pt x="0" y="138237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0A504E32-8CE8-0D56-CE2C-31516727590F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69424" y="4779263"/>
              <a:ext cx="2240279" cy="1575815"/>
            </a:xfrm>
            <a:prstGeom prst="rect">
              <a:avLst/>
            </a:prstGeom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9F01DC0E-4D8F-83AB-F1CC-E33514068DC6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58447" y="4815483"/>
              <a:ext cx="2117547" cy="1451298"/>
            </a:xfrm>
            <a:prstGeom prst="rect">
              <a:avLst/>
            </a:prstGeom>
          </p:spPr>
        </p:pic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FB45A77C-B979-CEAC-5245-1D76DC585500}"/>
                </a:ext>
              </a:extLst>
            </p:cNvPr>
            <p:cNvSpPr/>
            <p:nvPr/>
          </p:nvSpPr>
          <p:spPr>
            <a:xfrm>
              <a:off x="9953684" y="4810720"/>
              <a:ext cx="2127250" cy="1461135"/>
            </a:xfrm>
            <a:custGeom>
              <a:avLst/>
              <a:gdLst/>
              <a:ahLst/>
              <a:cxnLst/>
              <a:rect l="l" t="t" r="r" b="b"/>
              <a:pathLst>
                <a:path w="2127250" h="1461135">
                  <a:moveTo>
                    <a:pt x="0" y="0"/>
                  </a:moveTo>
                  <a:lnTo>
                    <a:pt x="2127072" y="0"/>
                  </a:lnTo>
                  <a:lnTo>
                    <a:pt x="2127072" y="1460824"/>
                  </a:lnTo>
                  <a:lnTo>
                    <a:pt x="0" y="146082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7A7C89D9-5CFD-8BC0-BF95-29F5E1C5461E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06311" y="115823"/>
              <a:ext cx="5794247" cy="3892296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7E07858E-AADF-5F51-14A4-A0FB593C7ED2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86286" y="141730"/>
              <a:ext cx="5689707" cy="3785891"/>
            </a:xfrm>
            <a:prstGeom prst="rect">
              <a:avLst/>
            </a:prstGeom>
          </p:spPr>
        </p:pic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C0BA0CB9-D34C-736C-4545-C55CB0CE8428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2919" y="978407"/>
              <a:ext cx="5681472" cy="1548384"/>
            </a:xfrm>
            <a:prstGeom prst="rect">
              <a:avLst/>
            </a:prstGeom>
          </p:spPr>
        </p:pic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3F0A481A-573B-11EC-9AF3-FE429A2C1CF2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2919" y="2636519"/>
              <a:ext cx="5681472" cy="1676399"/>
            </a:xfrm>
            <a:prstGeom prst="rect">
              <a:avLst/>
            </a:prstGeom>
          </p:spPr>
        </p:pic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991C5F5A-2C46-4820-CD4A-31EFB7071685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2919" y="4416551"/>
              <a:ext cx="5681472" cy="1898904"/>
            </a:xfrm>
            <a:prstGeom prst="rect">
              <a:avLst/>
            </a:prstGeom>
          </p:spPr>
        </p:pic>
      </p:grpSp>
      <p:sp>
        <p:nvSpPr>
          <p:cNvPr id="28" name="object 3">
            <a:extLst>
              <a:ext uri="{FF2B5EF4-FFF2-40B4-BE49-F238E27FC236}">
                <a16:creationId xmlns:a16="http://schemas.microsoft.com/office/drawing/2014/main" id="{60319F33-16B9-62A3-1323-64A493AE34C2}"/>
              </a:ext>
            </a:extLst>
          </p:cNvPr>
          <p:cNvSpPr txBox="1">
            <a:spLocks/>
          </p:cNvSpPr>
          <p:nvPr/>
        </p:nvSpPr>
        <p:spPr>
          <a:xfrm>
            <a:off x="138794" y="1174264"/>
            <a:ext cx="6262006" cy="32060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2700" rIns="0" bIns="0" rtlCol="0" anchor="ctr">
            <a:spAutoFit/>
          </a:bodyPr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z="2000" dirty="0">
                <a:solidFill>
                  <a:srgbClr val="000000"/>
                </a:solidFill>
              </a:rPr>
              <a:t>Oak Ridge Leadership Computing Facility (OLCF) </a:t>
            </a:r>
            <a:endParaRPr lang="en-US" sz="2000" spc="-10" dirty="0">
              <a:solidFill>
                <a:srgbClr val="000000"/>
              </a:solidFill>
            </a:endParaRPr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B7CFA13B-D6C6-B037-4DBE-34259692E13C}"/>
              </a:ext>
            </a:extLst>
          </p:cNvPr>
          <p:cNvSpPr txBox="1"/>
          <p:nvPr/>
        </p:nvSpPr>
        <p:spPr>
          <a:xfrm>
            <a:off x="689154" y="1713654"/>
            <a:ext cx="5228590" cy="514032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660"/>
              </a:spcBef>
            </a:pPr>
            <a:r>
              <a:rPr sz="2000" b="1" dirty="0">
                <a:latin typeface="Century Gothic"/>
                <a:cs typeface="Century Gothic"/>
              </a:rPr>
              <a:t>The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system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includes</a:t>
            </a:r>
            <a:endParaRPr sz="2000" dirty="0">
              <a:latin typeface="Century Gothic"/>
              <a:cs typeface="Century Gothic"/>
            </a:endParaRPr>
          </a:p>
          <a:p>
            <a:pPr marL="389890" indent="-286385">
              <a:lnSpc>
                <a:spcPct val="100000"/>
              </a:lnSpc>
              <a:spcBef>
                <a:spcPts val="445"/>
              </a:spcBef>
              <a:buFont typeface="Arial"/>
              <a:buChar char="•"/>
              <a:tabLst>
                <a:tab pos="389890" algn="l"/>
                <a:tab pos="390525" algn="l"/>
              </a:tabLst>
            </a:pPr>
            <a:r>
              <a:rPr sz="1600" dirty="0">
                <a:latin typeface="Century Gothic"/>
                <a:cs typeface="Century Gothic"/>
              </a:rPr>
              <a:t>4,608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nodes</a:t>
            </a:r>
            <a:endParaRPr sz="1600" dirty="0">
              <a:latin typeface="Century Gothic"/>
              <a:cs typeface="Century Gothic"/>
            </a:endParaRPr>
          </a:p>
          <a:p>
            <a:pPr marL="389890" indent="-28638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89890" algn="l"/>
                <a:tab pos="390525" algn="l"/>
              </a:tabLst>
            </a:pPr>
            <a:r>
              <a:rPr sz="1600" spc="-10" dirty="0">
                <a:latin typeface="Century Gothic"/>
                <a:cs typeface="Century Gothic"/>
              </a:rPr>
              <a:t>Dual-</a:t>
            </a:r>
            <a:r>
              <a:rPr sz="1600" dirty="0">
                <a:latin typeface="Century Gothic"/>
                <a:cs typeface="Century Gothic"/>
              </a:rPr>
              <a:t>port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Mellanox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EDR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InfiniBand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network</a:t>
            </a:r>
            <a:endParaRPr sz="1600" dirty="0">
              <a:latin typeface="Century Gothic"/>
              <a:cs typeface="Century Gothic"/>
            </a:endParaRPr>
          </a:p>
          <a:p>
            <a:pPr marL="389890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89890" algn="l"/>
                <a:tab pos="390525" algn="l"/>
              </a:tabLst>
            </a:pPr>
            <a:r>
              <a:rPr sz="1600" dirty="0">
                <a:latin typeface="Century Gothic"/>
                <a:cs typeface="Century Gothic"/>
              </a:rPr>
              <a:t>250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PB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IBM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file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system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transferring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data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at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2.5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TB/s</a:t>
            </a:r>
            <a:endParaRPr sz="16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650" dirty="0">
              <a:latin typeface="Century Gothic"/>
              <a:cs typeface="Century Gothic"/>
            </a:endParaRPr>
          </a:p>
          <a:p>
            <a:pPr marL="63500">
              <a:lnSpc>
                <a:spcPct val="100000"/>
              </a:lnSpc>
            </a:pPr>
            <a:r>
              <a:rPr sz="2000" b="1" dirty="0">
                <a:latin typeface="Century Gothic"/>
                <a:cs typeface="Century Gothic"/>
              </a:rPr>
              <a:t>System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Performance</a:t>
            </a:r>
            <a:endParaRPr sz="2000" dirty="0">
              <a:latin typeface="Century Gothic"/>
              <a:cs typeface="Century Gothic"/>
            </a:endParaRPr>
          </a:p>
          <a:p>
            <a:pPr marL="337820" marR="683895" indent="-230504">
              <a:lnSpc>
                <a:spcPts val="1700"/>
              </a:lnSpc>
              <a:spcBef>
                <a:spcPts val="785"/>
              </a:spcBef>
              <a:buFont typeface="Arial"/>
              <a:buChar char="•"/>
              <a:tabLst>
                <a:tab pos="337820" algn="l"/>
                <a:tab pos="338455" algn="l"/>
              </a:tabLst>
            </a:pPr>
            <a:r>
              <a:rPr sz="1600" dirty="0">
                <a:latin typeface="Century Gothic"/>
                <a:cs typeface="Century Gothic"/>
              </a:rPr>
              <a:t>Peak</a:t>
            </a:r>
            <a:r>
              <a:rPr sz="1600" spc="-4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of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200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Petaflops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(FP</a:t>
            </a:r>
            <a:r>
              <a:rPr sz="1650" baseline="-15151" dirty="0">
                <a:latin typeface="Century Gothic"/>
                <a:cs typeface="Century Gothic"/>
              </a:rPr>
              <a:t>64</a:t>
            </a:r>
            <a:r>
              <a:rPr sz="1600" dirty="0">
                <a:latin typeface="Century Gothic"/>
                <a:cs typeface="Century Gothic"/>
              </a:rPr>
              <a:t>)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for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modeling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spc="-50" dirty="0">
                <a:latin typeface="Century Gothic"/>
                <a:cs typeface="Century Gothic"/>
              </a:rPr>
              <a:t>&amp; </a:t>
            </a:r>
            <a:r>
              <a:rPr sz="1600" spc="-10" dirty="0">
                <a:latin typeface="Century Gothic"/>
                <a:cs typeface="Century Gothic"/>
              </a:rPr>
              <a:t>simulation</a:t>
            </a:r>
            <a:endParaRPr sz="1600" dirty="0">
              <a:latin typeface="Century Gothic"/>
              <a:cs typeface="Century Gothic"/>
            </a:endParaRPr>
          </a:p>
          <a:p>
            <a:pPr marL="337820" marR="196215" indent="-230504">
              <a:lnSpc>
                <a:spcPts val="1800"/>
              </a:lnSpc>
              <a:spcBef>
                <a:spcPts val="720"/>
              </a:spcBef>
              <a:buFont typeface="Arial"/>
              <a:buChar char="•"/>
              <a:tabLst>
                <a:tab pos="337820" algn="l"/>
                <a:tab pos="338455" algn="l"/>
              </a:tabLst>
            </a:pPr>
            <a:r>
              <a:rPr sz="1600" dirty="0">
                <a:latin typeface="Century Gothic"/>
                <a:cs typeface="Century Gothic"/>
              </a:rPr>
              <a:t>Peak</a:t>
            </a:r>
            <a:r>
              <a:rPr sz="1600" spc="-4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of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3.3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ExaOps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(FP</a:t>
            </a:r>
            <a:r>
              <a:rPr sz="1650" baseline="-15151" dirty="0">
                <a:latin typeface="Century Gothic"/>
                <a:cs typeface="Century Gothic"/>
              </a:rPr>
              <a:t>16</a:t>
            </a:r>
            <a:r>
              <a:rPr sz="1600" dirty="0">
                <a:latin typeface="Century Gothic"/>
                <a:cs typeface="Century Gothic"/>
              </a:rPr>
              <a:t>)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for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data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analytics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spc="-25" dirty="0">
                <a:latin typeface="Century Gothic"/>
                <a:cs typeface="Century Gothic"/>
              </a:rPr>
              <a:t>and </a:t>
            </a:r>
            <a:r>
              <a:rPr sz="1600" dirty="0">
                <a:latin typeface="Century Gothic"/>
                <a:cs typeface="Century Gothic"/>
              </a:rPr>
              <a:t>artificial</a:t>
            </a:r>
            <a:r>
              <a:rPr sz="1600" spc="-3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intelligence</a:t>
            </a:r>
            <a:endParaRPr sz="16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500" dirty="0">
              <a:latin typeface="Century Gothic"/>
              <a:cs typeface="Century Gothic"/>
            </a:endParaRPr>
          </a:p>
          <a:p>
            <a:pPr marL="71120">
              <a:lnSpc>
                <a:spcPct val="100000"/>
              </a:lnSpc>
            </a:pPr>
            <a:r>
              <a:rPr sz="2000" b="1" dirty="0">
                <a:latin typeface="Century Gothic"/>
                <a:cs typeface="Century Gothic"/>
              </a:rPr>
              <a:t>Each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node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spc="-25" dirty="0">
                <a:latin typeface="Century Gothic"/>
                <a:cs typeface="Century Gothic"/>
              </a:rPr>
              <a:t>has</a:t>
            </a:r>
            <a:endParaRPr sz="2000" dirty="0">
              <a:latin typeface="Century Gothic"/>
              <a:cs typeface="Century Gothic"/>
            </a:endParaRPr>
          </a:p>
          <a:p>
            <a:pPr marL="358140" indent="-231140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358140" algn="l"/>
                <a:tab pos="358775" algn="l"/>
              </a:tabLst>
            </a:pPr>
            <a:r>
              <a:rPr sz="1600" dirty="0">
                <a:latin typeface="Century Gothic"/>
                <a:cs typeface="Century Gothic"/>
              </a:rPr>
              <a:t>2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IBM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POWER9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processors</a:t>
            </a:r>
            <a:endParaRPr sz="1600" dirty="0">
              <a:latin typeface="Century Gothic"/>
              <a:cs typeface="Century Gothic"/>
            </a:endParaRPr>
          </a:p>
          <a:p>
            <a:pPr marL="358140" indent="-23114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8140" algn="l"/>
                <a:tab pos="358775" algn="l"/>
              </a:tabLst>
            </a:pPr>
            <a:r>
              <a:rPr sz="1600" dirty="0">
                <a:latin typeface="Century Gothic"/>
                <a:cs typeface="Century Gothic"/>
              </a:rPr>
              <a:t>6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NVIDIA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Tesla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V100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GPUs</a:t>
            </a:r>
            <a:endParaRPr sz="1600" dirty="0">
              <a:latin typeface="Century Gothic"/>
              <a:cs typeface="Century Gothic"/>
            </a:endParaRPr>
          </a:p>
          <a:p>
            <a:pPr marL="358140" indent="-23114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8140" algn="l"/>
                <a:tab pos="358775" algn="l"/>
              </a:tabLst>
            </a:pPr>
            <a:r>
              <a:rPr sz="1600" dirty="0">
                <a:latin typeface="Century Gothic"/>
                <a:cs typeface="Century Gothic"/>
              </a:rPr>
              <a:t>608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GB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of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fast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memory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300" dirty="0">
                <a:latin typeface="Century Gothic"/>
                <a:cs typeface="Century Gothic"/>
              </a:rPr>
              <a:t>(96 GB</a:t>
            </a:r>
            <a:r>
              <a:rPr sz="1300" spc="5" dirty="0">
                <a:latin typeface="Century Gothic"/>
                <a:cs typeface="Century Gothic"/>
              </a:rPr>
              <a:t> </a:t>
            </a:r>
            <a:r>
              <a:rPr sz="1300" dirty="0">
                <a:latin typeface="Century Gothic"/>
                <a:cs typeface="Century Gothic"/>
              </a:rPr>
              <a:t>HBM2 + 512 GB</a:t>
            </a:r>
            <a:r>
              <a:rPr sz="1300" spc="5" dirty="0">
                <a:latin typeface="Century Gothic"/>
                <a:cs typeface="Century Gothic"/>
              </a:rPr>
              <a:t> </a:t>
            </a:r>
            <a:r>
              <a:rPr sz="1300" spc="-10" dirty="0">
                <a:latin typeface="Century Gothic"/>
                <a:cs typeface="Century Gothic"/>
              </a:rPr>
              <a:t>DDR4)</a:t>
            </a:r>
            <a:endParaRPr sz="1300" dirty="0">
              <a:latin typeface="Century Gothic"/>
              <a:cs typeface="Century Gothic"/>
            </a:endParaRPr>
          </a:p>
          <a:p>
            <a:pPr marL="358140" indent="-23114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8140" algn="l"/>
                <a:tab pos="358775" algn="l"/>
              </a:tabLst>
            </a:pPr>
            <a:r>
              <a:rPr sz="1600" dirty="0">
                <a:latin typeface="Century Gothic"/>
                <a:cs typeface="Century Gothic"/>
              </a:rPr>
              <a:t>1.6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TB of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lang="en-US" sz="1600" spc="-5" dirty="0">
                <a:latin typeface="Century Gothic"/>
                <a:cs typeface="Century Gothic"/>
              </a:rPr>
              <a:t>NVRAM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OLCF Summit Overview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1133326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Considerations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1662B853-9466-A6A3-B50D-940BE5F559EE}"/>
              </a:ext>
            </a:extLst>
          </p:cNvPr>
          <p:cNvSpPr txBox="1"/>
          <p:nvPr/>
        </p:nvSpPr>
        <p:spPr>
          <a:xfrm>
            <a:off x="422581" y="1224186"/>
            <a:ext cx="11956438" cy="51609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sz="3600" dirty="0">
                <a:latin typeface="Century Gothic"/>
                <a:cs typeface="Century Gothic"/>
              </a:rPr>
              <a:t>Running </a:t>
            </a:r>
            <a:r>
              <a:rPr sz="3600" spc="-20" dirty="0">
                <a:latin typeface="Century Gothic"/>
                <a:cs typeface="Century Gothic"/>
              </a:rPr>
              <a:t>Jobs</a:t>
            </a:r>
            <a:endParaRPr sz="36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2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3200" dirty="0">
                <a:latin typeface="Century Gothic"/>
                <a:cs typeface="Century Gothic"/>
              </a:rPr>
              <a:t>Summit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uses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LSF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for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batch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queue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system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4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3200" dirty="0">
                <a:latin typeface="Century Gothic"/>
                <a:cs typeface="Century Gothic"/>
              </a:rPr>
              <a:t>Summit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uses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jsrun</a:t>
            </a:r>
            <a:r>
              <a:rPr sz="2800" spc="-540" dirty="0">
                <a:latin typeface="Courier New"/>
                <a:cs typeface="Courier New"/>
              </a:rPr>
              <a:t> </a:t>
            </a:r>
            <a:r>
              <a:rPr sz="3200" dirty="0">
                <a:latin typeface="Century Gothic"/>
                <a:cs typeface="Century Gothic"/>
              </a:rPr>
              <a:t>as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its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parallel</a:t>
            </a:r>
            <a:r>
              <a:rPr sz="3200" spc="-10" dirty="0">
                <a:latin typeface="Century Gothic"/>
                <a:cs typeface="Century Gothic"/>
              </a:rPr>
              <a:t> launcher</a:t>
            </a:r>
            <a:endParaRPr sz="3200" dirty="0">
              <a:latin typeface="Century Gothic"/>
              <a:cs typeface="Century Gothic"/>
            </a:endParaRPr>
          </a:p>
          <a:p>
            <a:pPr marL="1044575" lvl="2" indent="-289560">
              <a:lnSpc>
                <a:spcPct val="100000"/>
              </a:lnSpc>
              <a:spcBef>
                <a:spcPts val="620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sz="2800" dirty="0">
                <a:latin typeface="Century Gothic"/>
                <a:cs typeface="Century Gothic"/>
              </a:rPr>
              <a:t>Different</a:t>
            </a:r>
            <a:r>
              <a:rPr sz="2800" spc="-3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approach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to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thinking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about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resources</a:t>
            </a:r>
            <a:endParaRPr lang="en-US" sz="2800" spc="-10" dirty="0">
              <a:latin typeface="Century Gothic"/>
              <a:cs typeface="Century Gothic"/>
            </a:endParaRPr>
          </a:p>
          <a:p>
            <a:pPr marL="755015" lvl="2" indent="0">
              <a:lnSpc>
                <a:spcPct val="100000"/>
              </a:lnSpc>
              <a:spcBef>
                <a:spcPts val="620"/>
              </a:spcBef>
              <a:buSzPct val="90000"/>
              <a:tabLst>
                <a:tab pos="1043940" algn="l"/>
                <a:tab pos="1044575" algn="l"/>
              </a:tabLst>
            </a:pPr>
            <a:endParaRPr sz="28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405"/>
              </a:spcBef>
              <a:buSzPct val="89285"/>
              <a:buChar char="•"/>
              <a:tabLst>
                <a:tab pos="301625" algn="l"/>
              </a:tabLst>
            </a:pPr>
            <a:r>
              <a:rPr sz="3600" dirty="0">
                <a:latin typeface="Century Gothic"/>
                <a:cs typeface="Century Gothic"/>
              </a:rPr>
              <a:t>Processor </a:t>
            </a:r>
            <a:r>
              <a:rPr sz="3600" spc="-10" dirty="0">
                <a:latin typeface="Century Gothic"/>
                <a:cs typeface="Century Gothic"/>
              </a:rPr>
              <a:t>Architecture</a:t>
            </a:r>
            <a:endParaRPr sz="36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4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3200" spc="-10" dirty="0">
                <a:latin typeface="Century Gothic"/>
                <a:cs typeface="Century Gothic"/>
              </a:rPr>
              <a:t>POWER9™</a:t>
            </a:r>
            <a:endParaRPr sz="3200" dirty="0">
              <a:latin typeface="Century Gothic"/>
              <a:cs typeface="Century Gothic"/>
            </a:endParaRPr>
          </a:p>
          <a:p>
            <a:pPr marL="700405" marR="231775" lvl="1" indent="-288925">
              <a:lnSpc>
                <a:spcPts val="2620"/>
              </a:lnSpc>
              <a:spcBef>
                <a:spcPts val="81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3200" dirty="0">
                <a:latin typeface="Century Gothic"/>
                <a:cs typeface="Century Gothic"/>
              </a:rPr>
              <a:t>Not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compatible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with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x86_64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binaries,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so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you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may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have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issues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with </a:t>
            </a:r>
            <a:r>
              <a:rPr sz="3200" dirty="0">
                <a:latin typeface="Century Gothic"/>
                <a:cs typeface="Century Gothic"/>
              </a:rPr>
              <a:t>precompiled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software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</a:t>
            </a:r>
            <a:r>
              <a:rPr sz="3200" i="1" dirty="0">
                <a:latin typeface="Century Gothic"/>
                <a:cs typeface="Century Gothic"/>
              </a:rPr>
              <a:t>LOTS</a:t>
            </a:r>
            <a:r>
              <a:rPr sz="3200" i="1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stuff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targets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x86_64)</a:t>
            </a:r>
            <a:endParaRPr sz="32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109040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IBM Power9 Processor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1B9DA1C6-DD3A-831C-8796-16F42565C15B}"/>
              </a:ext>
            </a:extLst>
          </p:cNvPr>
          <p:cNvSpPr txBox="1"/>
          <p:nvPr/>
        </p:nvSpPr>
        <p:spPr>
          <a:xfrm>
            <a:off x="424136" y="1008162"/>
            <a:ext cx="7704856" cy="562974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sz="2800" b="1" dirty="0">
                <a:latin typeface="Century Gothic"/>
                <a:cs typeface="Century Gothic"/>
              </a:rPr>
              <a:t>Summit’s</a:t>
            </a:r>
            <a:r>
              <a:rPr sz="2800" b="1" spc="-30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P9s:</a:t>
            </a:r>
            <a:r>
              <a:rPr sz="2800" b="1" spc="-20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22</a:t>
            </a:r>
            <a:r>
              <a:rPr sz="2800" b="1" spc="-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cores</a:t>
            </a:r>
            <a:r>
              <a:rPr sz="28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(4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spc="-10" dirty="0" err="1">
                <a:latin typeface="Century Gothic"/>
                <a:cs typeface="Century Gothic"/>
              </a:rPr>
              <a:t>hw</a:t>
            </a:r>
            <a:r>
              <a:rPr lang="en-US" altLang="zh-CN" sz="2000" b="1" spc="-10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threads/core)</a:t>
            </a:r>
            <a:endParaRPr sz="2000" b="1" dirty="0">
              <a:latin typeface="Century Gothic"/>
              <a:cs typeface="Century Gothic"/>
            </a:endParaRPr>
          </a:p>
          <a:p>
            <a:pPr marL="299720" indent="-287020">
              <a:lnSpc>
                <a:spcPct val="100000"/>
              </a:lnSpc>
              <a:spcBef>
                <a:spcPts val="12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sz="2800" b="1" spc="-10" dirty="0">
                <a:latin typeface="Century Gothic"/>
                <a:cs typeface="Century Gothic"/>
              </a:rPr>
              <a:t>PCI-</a:t>
            </a:r>
            <a:r>
              <a:rPr sz="2800" b="1" dirty="0">
                <a:latin typeface="Century Gothic"/>
                <a:cs typeface="Century Gothic"/>
              </a:rPr>
              <a:t>Express</a:t>
            </a:r>
            <a:r>
              <a:rPr sz="2800" b="1" spc="5" dirty="0">
                <a:latin typeface="Century Gothic"/>
                <a:cs typeface="Century Gothic"/>
              </a:rPr>
              <a:t> </a:t>
            </a:r>
            <a:r>
              <a:rPr sz="2800" b="1" spc="-25" dirty="0">
                <a:latin typeface="Century Gothic"/>
                <a:cs typeface="Century Gothic"/>
              </a:rPr>
              <a:t>4.0</a:t>
            </a:r>
            <a:endParaRPr sz="28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590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Twice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as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fast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as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PCIe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spc="-25" dirty="0">
                <a:latin typeface="Century Gothic"/>
                <a:cs typeface="Century Gothic"/>
              </a:rPr>
              <a:t>3.0</a:t>
            </a:r>
            <a:endParaRPr sz="2000" b="1" dirty="0">
              <a:latin typeface="Century Gothic"/>
              <a:cs typeface="Century Gothic"/>
            </a:endParaRPr>
          </a:p>
          <a:p>
            <a:pPr marL="299720" indent="-287020">
              <a:lnSpc>
                <a:spcPct val="100000"/>
              </a:lnSpc>
              <a:spcBef>
                <a:spcPts val="1185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sz="2800" b="1" dirty="0">
                <a:latin typeface="Century Gothic"/>
                <a:cs typeface="Century Gothic"/>
              </a:rPr>
              <a:t>NVLink</a:t>
            </a:r>
            <a:r>
              <a:rPr sz="2800" b="1" spc="-25" dirty="0">
                <a:latin typeface="Century Gothic"/>
                <a:cs typeface="Century Gothic"/>
              </a:rPr>
              <a:t> 2.0</a:t>
            </a:r>
            <a:endParaRPr sz="28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590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Coherent,</a:t>
            </a:r>
            <a:r>
              <a:rPr sz="2000" b="1" spc="-40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high-</a:t>
            </a:r>
            <a:r>
              <a:rPr sz="2000" b="1" dirty="0">
                <a:latin typeface="Century Gothic"/>
                <a:cs typeface="Century Gothic"/>
              </a:rPr>
              <a:t>bandwidth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links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to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spc="-20" dirty="0">
                <a:latin typeface="Century Gothic"/>
                <a:cs typeface="Century Gothic"/>
              </a:rPr>
              <a:t>GPUs</a:t>
            </a:r>
            <a:endParaRPr sz="2000" b="1" dirty="0">
              <a:latin typeface="Century Gothic"/>
              <a:cs typeface="Century Gothic"/>
            </a:endParaRPr>
          </a:p>
          <a:p>
            <a:pPr marL="299720" indent="-287020">
              <a:lnSpc>
                <a:spcPct val="100000"/>
              </a:lnSpc>
              <a:spcBef>
                <a:spcPts val="1185"/>
              </a:spcBef>
              <a:buSzPct val="90000"/>
              <a:buChar char="•"/>
              <a:tabLst>
                <a:tab pos="299085" algn="l"/>
                <a:tab pos="299720" algn="l"/>
                <a:tab pos="1115060" algn="l"/>
              </a:tabLst>
            </a:pPr>
            <a:r>
              <a:rPr sz="2800" b="1" spc="-20" dirty="0">
                <a:latin typeface="Century Gothic"/>
                <a:cs typeface="Century Gothic"/>
              </a:rPr>
              <a:t>14nm</a:t>
            </a:r>
            <a:r>
              <a:rPr lang="en-US" sz="2800" b="1" dirty="0">
                <a:latin typeface="Century Gothic"/>
                <a:cs typeface="Century Gothic"/>
              </a:rPr>
              <a:t> </a:t>
            </a:r>
            <a:r>
              <a:rPr sz="2800" b="1" dirty="0" err="1">
                <a:latin typeface="Century Gothic"/>
                <a:cs typeface="Century Gothic"/>
              </a:rPr>
              <a:t>FinFET</a:t>
            </a:r>
            <a:r>
              <a:rPr sz="2800" b="1" spc="-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SOI</a:t>
            </a:r>
            <a:r>
              <a:rPr sz="2800" b="1" spc="-10" dirty="0">
                <a:latin typeface="Century Gothic"/>
                <a:cs typeface="Century Gothic"/>
              </a:rPr>
              <a:t> technology</a:t>
            </a:r>
            <a:endParaRPr sz="28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590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8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billion</a:t>
            </a:r>
            <a:r>
              <a:rPr sz="2000" b="1" spc="-10" dirty="0">
                <a:latin typeface="Century Gothic"/>
                <a:cs typeface="Century Gothic"/>
              </a:rPr>
              <a:t> transistors</a:t>
            </a:r>
            <a:endParaRPr sz="2000" b="1" dirty="0">
              <a:latin typeface="Century Gothic"/>
              <a:cs typeface="Century Gothic"/>
            </a:endParaRPr>
          </a:p>
          <a:p>
            <a:pPr marL="299720" indent="-287020">
              <a:lnSpc>
                <a:spcPct val="100000"/>
              </a:lnSpc>
              <a:spcBef>
                <a:spcPts val="109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sz="2800" b="1" spc="-10" dirty="0">
                <a:latin typeface="Century Gothic"/>
                <a:cs typeface="Century Gothic"/>
              </a:rPr>
              <a:t>Cache</a:t>
            </a:r>
            <a:endParaRPr sz="28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690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L1I:</a:t>
            </a:r>
            <a:r>
              <a:rPr sz="2000" b="1" spc="-3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32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KiB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(per core,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8-way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set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associative)</a:t>
            </a:r>
            <a:endParaRPr sz="20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600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L1D: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32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KiB</a:t>
            </a:r>
            <a:r>
              <a:rPr sz="2000" b="1" spc="-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(per</a:t>
            </a:r>
            <a:r>
              <a:rPr sz="2000" b="1" spc="-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core,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8-</a:t>
            </a:r>
            <a:r>
              <a:rPr sz="2000" b="1" spc="-20" dirty="0">
                <a:latin typeface="Century Gothic"/>
                <a:cs typeface="Century Gothic"/>
              </a:rPr>
              <a:t>way)</a:t>
            </a:r>
            <a:endParaRPr sz="20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575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L2:</a:t>
            </a:r>
            <a:r>
              <a:rPr sz="2000" b="1" spc="-2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512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KiB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(per</a:t>
            </a:r>
            <a:r>
              <a:rPr sz="2000" b="1" spc="-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pair</a:t>
            </a:r>
            <a:r>
              <a:rPr sz="2000" b="1" spc="-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of</a:t>
            </a:r>
            <a:r>
              <a:rPr sz="2000" b="1" spc="-15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cores)</a:t>
            </a:r>
            <a:endParaRPr sz="2000" b="1" dirty="0">
              <a:latin typeface="Century Gothic"/>
              <a:cs typeface="Century Gothic"/>
            </a:endParaRPr>
          </a:p>
          <a:p>
            <a:pPr marL="701675" lvl="1" indent="-285750">
              <a:lnSpc>
                <a:spcPct val="100000"/>
              </a:lnSpc>
              <a:spcBef>
                <a:spcPts val="575"/>
              </a:spcBef>
              <a:buSzPct val="87500"/>
              <a:buChar char="–"/>
              <a:tabLst>
                <a:tab pos="701040" algn="l"/>
                <a:tab pos="701675" algn="l"/>
              </a:tabLst>
            </a:pPr>
            <a:r>
              <a:rPr sz="2000" b="1" dirty="0">
                <a:latin typeface="Century Gothic"/>
                <a:cs typeface="Century Gothic"/>
              </a:rPr>
              <a:t>L3:</a:t>
            </a:r>
            <a:r>
              <a:rPr sz="2000" b="1" spc="-3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120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MiB</a:t>
            </a:r>
            <a:r>
              <a:rPr sz="2000" b="1" spc="-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eDRAM,</a:t>
            </a:r>
            <a:r>
              <a:rPr sz="2000" b="1" spc="-2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20-way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(shared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by</a:t>
            </a:r>
            <a:r>
              <a:rPr sz="2000" b="1" spc="-1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all</a:t>
            </a:r>
            <a:r>
              <a:rPr sz="2000" b="1" spc="-10" dirty="0">
                <a:latin typeface="Century Gothic"/>
                <a:cs typeface="Century Gothic"/>
              </a:rPr>
              <a:t> cores)</a:t>
            </a:r>
            <a:endParaRPr sz="2000" b="1" dirty="0">
              <a:latin typeface="Century Gothic"/>
              <a:cs typeface="Century Gothic"/>
            </a:endParaRPr>
          </a:p>
        </p:txBody>
      </p:sp>
      <p:pic>
        <p:nvPicPr>
          <p:cNvPr id="31" name="object 4">
            <a:extLst>
              <a:ext uri="{FF2B5EF4-FFF2-40B4-BE49-F238E27FC236}">
                <a16:creationId xmlns:a16="http://schemas.microsoft.com/office/drawing/2014/main" id="{35840E3F-0579-1CD3-809B-35F961D03AF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911" y="1584226"/>
            <a:ext cx="5061553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24049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7B5587CC-6A88-A131-C071-51EDBA83A6B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0280" y="11012"/>
            <a:ext cx="9143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0958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sym typeface="+mn-ea"/>
              </a:rPr>
              <a:t>Power9 Processor Hardware Threads</a:t>
            </a:r>
            <a:endParaRPr lang="zh-CN" altLang="en-US" sz="3600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1B9DA1C6-DD3A-831C-8796-16F42565C15B}"/>
              </a:ext>
            </a:extLst>
          </p:cNvPr>
          <p:cNvSpPr txBox="1"/>
          <p:nvPr/>
        </p:nvSpPr>
        <p:spPr>
          <a:xfrm>
            <a:off x="272208" y="1124479"/>
            <a:ext cx="12529392" cy="570412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lang="en-US" sz="2800" b="1" dirty="0">
                <a:latin typeface="Century Gothic"/>
                <a:cs typeface="Century Gothic"/>
              </a:rPr>
              <a:t>Each cores has 4 “slices” which provide Simultaneous Multi Threading (SMT), similar to Hyper-Threading(HT) on some Intel microprocessors.</a:t>
            </a:r>
          </a:p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lang="en-US" altLang="zh-CN" sz="2800" b="1" dirty="0">
                <a:latin typeface="Century Gothic"/>
                <a:cs typeface="Century Gothic"/>
              </a:rPr>
              <a:t>The four slices share the physical core’s L1 instruction &amp; data caches.</a:t>
            </a:r>
          </a:p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endParaRPr lang="en-US" sz="2800" b="1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  <a:buSzPct val="90000"/>
              <a:tabLst>
                <a:tab pos="299085" algn="l"/>
                <a:tab pos="299720" algn="l"/>
              </a:tabLst>
            </a:pPr>
            <a:r>
              <a:rPr lang="en-US" altLang="zh-CN" sz="2800" b="1" dirty="0">
                <a:latin typeface="Century Gothic"/>
                <a:cs typeface="Century Gothic"/>
              </a:rPr>
              <a:t>Three SMT modes</a:t>
            </a:r>
            <a:endParaRPr lang="en-US" sz="2800" b="1" dirty="0">
              <a:latin typeface="Century Gothic"/>
              <a:cs typeface="Century Gothic"/>
            </a:endParaRPr>
          </a:p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lang="en-US" sz="2400" dirty="0">
                <a:latin typeface="Century Gothic"/>
                <a:cs typeface="Century Gothic"/>
              </a:rPr>
              <a:t>SMT4 mode: each of the slices operates independently of the other three.</a:t>
            </a:r>
          </a:p>
          <a:p>
            <a:pPr marL="12700">
              <a:lnSpc>
                <a:spcPct val="100000"/>
              </a:lnSpc>
              <a:spcBef>
                <a:spcPts val="1300"/>
              </a:spcBef>
              <a:buSzPct val="90000"/>
              <a:tabLst>
                <a:tab pos="299085" algn="l"/>
                <a:tab pos="299720" algn="l"/>
              </a:tabLst>
            </a:pPr>
            <a:r>
              <a:rPr lang="en-US" sz="2400" dirty="0">
                <a:latin typeface="Century Gothic"/>
                <a:cs typeface="Century Gothic"/>
              </a:rPr>
              <a:t>   </a:t>
            </a:r>
            <a:r>
              <a:rPr lang="en-US" sz="2000" dirty="0">
                <a:latin typeface="Century Gothic"/>
                <a:cs typeface="Century Gothic"/>
              </a:rPr>
              <a:t>This would permit 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four separate streams of execution</a:t>
            </a:r>
            <a:r>
              <a:rPr lang="en-US" sz="2000" dirty="0">
                <a:latin typeface="Century Gothic"/>
                <a:cs typeface="Century Gothic"/>
              </a:rPr>
              <a:t> (i.e. OpenMP threads or MPI tasks) on each physical core.</a:t>
            </a:r>
            <a:r>
              <a:rPr lang="en-US" sz="2000" dirty="0">
                <a:solidFill>
                  <a:srgbClr val="FF0000"/>
                </a:solidFill>
                <a:latin typeface="Century Gothic"/>
                <a:cs typeface="Century Gothic"/>
              </a:rPr>
              <a:t> (Intel's Hyper-Threading does not have SMT4 mode)</a:t>
            </a:r>
            <a:endParaRPr lang="en-US" sz="2400" dirty="0">
              <a:solidFill>
                <a:srgbClr val="FF0000"/>
              </a:solidFill>
              <a:latin typeface="Century Gothic"/>
              <a:cs typeface="Century Gothic"/>
            </a:endParaRPr>
          </a:p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lang="en-US" sz="2400" dirty="0">
                <a:latin typeface="Century Gothic"/>
                <a:cs typeface="Century Gothic"/>
              </a:rPr>
              <a:t>SMT2 mode: pairs of slices work together to run tasks.</a:t>
            </a:r>
          </a:p>
          <a:p>
            <a:pPr marL="299720" indent="-287020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lang="en-US" sz="2400" dirty="0">
                <a:latin typeface="Century Gothic"/>
                <a:cs typeface="Century Gothic"/>
              </a:rPr>
              <a:t>SMT1 mode: the four slices work together to execute the task/thread assigned to the physical core. </a:t>
            </a:r>
          </a:p>
        </p:txBody>
      </p:sp>
    </p:spTree>
    <p:extLst>
      <p:ext uri="{BB962C8B-B14F-4D97-AF65-F5344CB8AC3E}">
        <p14:creationId xmlns:p14="http://schemas.microsoft.com/office/powerpoint/2010/main" val="48421371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NVIDIA Tesla v100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5" name="object 3">
            <a:extLst>
              <a:ext uri="{FF2B5EF4-FFF2-40B4-BE49-F238E27FC236}">
                <a16:creationId xmlns:a16="http://schemas.microsoft.com/office/drawing/2014/main" id="{4B8D5307-BCA7-8E83-0D24-5494595D08C2}"/>
              </a:ext>
            </a:extLst>
          </p:cNvPr>
          <p:cNvSpPr txBox="1"/>
          <p:nvPr/>
        </p:nvSpPr>
        <p:spPr>
          <a:xfrm>
            <a:off x="568152" y="870148"/>
            <a:ext cx="9624196" cy="4319131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lang="en-US" sz="2300" b="1" dirty="0">
                <a:latin typeface="Century Gothic"/>
                <a:cs typeface="Century Gothic"/>
              </a:rPr>
              <a:t>Summit Contains 27,648 NVIDIA Tesla v100s</a:t>
            </a:r>
          </a:p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sz="2300" b="1" dirty="0">
                <a:latin typeface="Century Gothic"/>
                <a:cs typeface="Century Gothic"/>
              </a:rPr>
              <a:t>Each</a:t>
            </a:r>
            <a:r>
              <a:rPr sz="2300" b="1" spc="-1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Tesla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v100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GPU</a:t>
            </a:r>
            <a:r>
              <a:rPr sz="2300" b="1" spc="-15" dirty="0">
                <a:latin typeface="Century Gothic"/>
                <a:cs typeface="Century Gothic"/>
              </a:rPr>
              <a:t> </a:t>
            </a:r>
            <a:r>
              <a:rPr sz="2300" b="1" spc="-20" dirty="0">
                <a:latin typeface="Century Gothic"/>
                <a:cs typeface="Century Gothic"/>
              </a:rPr>
              <a:t>has:</a:t>
            </a:r>
            <a:endParaRPr sz="2300" b="1" dirty="0">
              <a:latin typeface="Century Gothic"/>
              <a:cs typeface="Century Gothic"/>
            </a:endParaRPr>
          </a:p>
          <a:p>
            <a:pPr marL="267970" indent="-229870">
              <a:lnSpc>
                <a:spcPct val="100000"/>
              </a:lnSpc>
              <a:spcBef>
                <a:spcPts val="1210"/>
              </a:spcBef>
              <a:buFont typeface="Arial"/>
              <a:buChar char="•"/>
              <a:tabLst>
                <a:tab pos="267335" algn="l"/>
                <a:tab pos="267970" algn="l"/>
              </a:tabLst>
            </a:pPr>
            <a:r>
              <a:rPr sz="2300" b="1" dirty="0">
                <a:latin typeface="Century Gothic"/>
                <a:cs typeface="Century Gothic"/>
              </a:rPr>
              <a:t>150+150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GB/s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total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BW</a:t>
            </a:r>
            <a:r>
              <a:rPr sz="2300" b="1" spc="-1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(NVLink</a:t>
            </a:r>
            <a:r>
              <a:rPr sz="2300" b="1" spc="-10" dirty="0">
                <a:latin typeface="Century Gothic"/>
                <a:cs typeface="Century Gothic"/>
              </a:rPr>
              <a:t> v2.0)</a:t>
            </a:r>
            <a:endParaRPr sz="2300" b="1" dirty="0">
              <a:latin typeface="Century Gothic"/>
              <a:cs typeface="Century Gothic"/>
            </a:endParaRPr>
          </a:p>
          <a:p>
            <a:pPr marL="267970" indent="-229870">
              <a:lnSpc>
                <a:spcPct val="100000"/>
              </a:lnSpc>
              <a:spcBef>
                <a:spcPts val="1150"/>
              </a:spcBef>
              <a:buFont typeface="Arial"/>
              <a:buChar char="•"/>
              <a:tabLst>
                <a:tab pos="267335" algn="l"/>
                <a:tab pos="267970" algn="l"/>
              </a:tabLst>
            </a:pPr>
            <a:r>
              <a:rPr sz="2300" b="1" dirty="0">
                <a:latin typeface="Century Gothic"/>
                <a:cs typeface="Century Gothic"/>
              </a:rPr>
              <a:t>5,120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CUDA</a:t>
            </a:r>
            <a:r>
              <a:rPr sz="2300" b="1" spc="-1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cores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(64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on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each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of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80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spc="-20" dirty="0">
                <a:latin typeface="Century Gothic"/>
                <a:cs typeface="Century Gothic"/>
              </a:rPr>
              <a:t>SMs)</a:t>
            </a:r>
            <a:endParaRPr sz="2300" b="1" dirty="0">
              <a:latin typeface="Century Gothic"/>
              <a:cs typeface="Century Gothic"/>
            </a:endParaRPr>
          </a:p>
          <a:p>
            <a:pPr marL="267970" indent="-22987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267335" algn="l"/>
                <a:tab pos="267970" algn="l"/>
              </a:tabLst>
            </a:pPr>
            <a:r>
              <a:rPr sz="2300" b="1" dirty="0">
                <a:latin typeface="Century Gothic"/>
                <a:cs typeface="Century Gothic"/>
              </a:rPr>
              <a:t>640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Tensor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cores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(8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on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each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of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80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spc="-20" dirty="0">
                <a:latin typeface="Century Gothic"/>
                <a:cs typeface="Century Gothic"/>
              </a:rPr>
              <a:t>SMs)</a:t>
            </a:r>
            <a:endParaRPr sz="2300" b="1" dirty="0">
              <a:latin typeface="Century Gothic"/>
              <a:cs typeface="Century Gothic"/>
            </a:endParaRPr>
          </a:p>
          <a:p>
            <a:pPr marL="267970" indent="-229870">
              <a:lnSpc>
                <a:spcPct val="100000"/>
              </a:lnSpc>
              <a:spcBef>
                <a:spcPts val="1150"/>
              </a:spcBef>
              <a:buFont typeface="Arial"/>
              <a:buChar char="•"/>
              <a:tabLst>
                <a:tab pos="267335" algn="l"/>
                <a:tab pos="267970" algn="l"/>
                <a:tab pos="2294890" algn="l"/>
                <a:tab pos="3858260" algn="l"/>
                <a:tab pos="4138929" algn="l"/>
              </a:tabLst>
            </a:pPr>
            <a:r>
              <a:rPr sz="2300" b="1" dirty="0">
                <a:latin typeface="Century Gothic"/>
                <a:cs typeface="Century Gothic"/>
              </a:rPr>
              <a:t>20MB Registers</a:t>
            </a:r>
            <a:r>
              <a:rPr lang="en-US" sz="2300" b="1" spc="484" dirty="0">
                <a:latin typeface="Century Gothic"/>
                <a:cs typeface="Century Gothic"/>
              </a:rPr>
              <a:t> </a:t>
            </a:r>
            <a:r>
              <a:rPr sz="2300" b="1" spc="-50" dirty="0">
                <a:latin typeface="Century Gothic"/>
                <a:cs typeface="Century Gothic"/>
              </a:rPr>
              <a:t>|</a:t>
            </a:r>
            <a:r>
              <a:rPr lang="en-US" sz="2300" b="1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16MB </a:t>
            </a:r>
            <a:r>
              <a:rPr sz="2300" b="1" spc="-10" dirty="0">
                <a:latin typeface="Century Gothic"/>
                <a:cs typeface="Century Gothic"/>
              </a:rPr>
              <a:t>Cache</a:t>
            </a:r>
            <a:r>
              <a:rPr lang="en-US" sz="2300" b="1" dirty="0">
                <a:latin typeface="Century Gothic"/>
                <a:cs typeface="Century Gothic"/>
              </a:rPr>
              <a:t> </a:t>
            </a:r>
            <a:r>
              <a:rPr sz="2300" b="1" spc="-50" dirty="0">
                <a:latin typeface="Century Gothic"/>
                <a:cs typeface="Century Gothic"/>
              </a:rPr>
              <a:t>|</a:t>
            </a:r>
            <a:r>
              <a:rPr lang="en-US" sz="2300" b="1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16GB HBM2 @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900 </a:t>
            </a:r>
            <a:r>
              <a:rPr sz="2300" b="1" spc="-20" dirty="0">
                <a:latin typeface="Century Gothic"/>
                <a:cs typeface="Century Gothic"/>
              </a:rPr>
              <a:t>GB/s</a:t>
            </a:r>
            <a:endParaRPr sz="2300" b="1" dirty="0">
              <a:latin typeface="Century Gothic"/>
              <a:cs typeface="Century Gothic"/>
            </a:endParaRPr>
          </a:p>
          <a:p>
            <a:pPr marL="267970" indent="-22987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267335" algn="l"/>
                <a:tab pos="267970" algn="l"/>
              </a:tabLst>
            </a:pPr>
            <a:r>
              <a:rPr sz="2300" b="1" dirty="0">
                <a:latin typeface="Century Gothic"/>
                <a:cs typeface="Century Gothic"/>
              </a:rPr>
              <a:t>7.5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DP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TFLOPS</a:t>
            </a:r>
            <a:r>
              <a:rPr lang="en-US"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|</a:t>
            </a:r>
            <a:r>
              <a:rPr lang="en-US"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15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SP</a:t>
            </a:r>
            <a:r>
              <a:rPr sz="2300" b="1" spc="-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TFLOPS</a:t>
            </a:r>
            <a:r>
              <a:rPr lang="en-US"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|</a:t>
            </a:r>
            <a:r>
              <a:rPr lang="en-US"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120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FP</a:t>
            </a:r>
            <a:r>
              <a:rPr sz="2300" b="1" baseline="-13888" dirty="0">
                <a:latin typeface="Century Gothic"/>
                <a:cs typeface="Century Gothic"/>
              </a:rPr>
              <a:t>16</a:t>
            </a:r>
            <a:r>
              <a:rPr sz="2300" b="1" spc="240" baseline="-13888" dirty="0">
                <a:latin typeface="Century Gothic"/>
                <a:cs typeface="Century Gothic"/>
              </a:rPr>
              <a:t> </a:t>
            </a:r>
            <a:r>
              <a:rPr sz="2300" b="1" spc="-20" dirty="0">
                <a:latin typeface="Century Gothic"/>
                <a:cs typeface="Century Gothic"/>
              </a:rPr>
              <a:t>TOPS</a:t>
            </a:r>
            <a:endParaRPr sz="2300" b="1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300" b="1" dirty="0">
              <a:latin typeface="Century Gothic"/>
              <a:cs typeface="Century Gothic"/>
            </a:endParaRPr>
          </a:p>
          <a:p>
            <a:pPr marL="267970" indent="-229870">
              <a:lnSpc>
                <a:spcPct val="100000"/>
              </a:lnSpc>
              <a:buFont typeface="Arial"/>
              <a:buChar char="•"/>
              <a:tabLst>
                <a:tab pos="267335" algn="l"/>
                <a:tab pos="267970" algn="l"/>
              </a:tabLst>
            </a:pPr>
            <a:r>
              <a:rPr sz="2300" b="1" dirty="0">
                <a:latin typeface="Century Gothic"/>
                <a:cs typeface="Century Gothic"/>
              </a:rPr>
              <a:t>Tensor</a:t>
            </a:r>
            <a:r>
              <a:rPr sz="2300" b="1" spc="-1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cores do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mixed</a:t>
            </a:r>
            <a:r>
              <a:rPr sz="2300" b="1" spc="10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precision </a:t>
            </a:r>
            <a:r>
              <a:rPr sz="2300" b="1" spc="-10" dirty="0">
                <a:latin typeface="Century Gothic"/>
                <a:cs typeface="Century Gothic"/>
              </a:rPr>
              <a:t>multiply-</a:t>
            </a:r>
            <a:r>
              <a:rPr sz="2300" b="1" dirty="0">
                <a:latin typeface="Century Gothic"/>
                <a:cs typeface="Century Gothic"/>
              </a:rPr>
              <a:t>add</a:t>
            </a:r>
            <a:r>
              <a:rPr sz="2300" b="1" spc="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of</a:t>
            </a:r>
            <a:r>
              <a:rPr sz="2300" b="1" spc="-5" dirty="0">
                <a:latin typeface="Century Gothic"/>
                <a:cs typeface="Century Gothic"/>
              </a:rPr>
              <a:t> </a:t>
            </a:r>
            <a:r>
              <a:rPr sz="2300" b="1" dirty="0">
                <a:latin typeface="Century Gothic"/>
                <a:cs typeface="Century Gothic"/>
              </a:rPr>
              <a:t>4x4</a:t>
            </a:r>
            <a:r>
              <a:rPr sz="2300" b="1" spc="5" dirty="0">
                <a:latin typeface="Century Gothic"/>
                <a:cs typeface="Century Gothic"/>
              </a:rPr>
              <a:t> </a:t>
            </a:r>
            <a:r>
              <a:rPr sz="2300" b="1" spc="-10" dirty="0">
                <a:latin typeface="Century Gothic"/>
                <a:cs typeface="Century Gothic"/>
              </a:rPr>
              <a:t>matrices</a:t>
            </a:r>
            <a:endParaRPr sz="2300" b="1" dirty="0">
              <a:latin typeface="Century Gothic"/>
              <a:cs typeface="Century Gothic"/>
            </a:endParaRPr>
          </a:p>
        </p:txBody>
      </p:sp>
      <p:grpSp>
        <p:nvGrpSpPr>
          <p:cNvPr id="36" name="object 4">
            <a:extLst>
              <a:ext uri="{FF2B5EF4-FFF2-40B4-BE49-F238E27FC236}">
                <a16:creationId xmlns:a16="http://schemas.microsoft.com/office/drawing/2014/main" id="{8B3FF326-740D-589A-32D7-FD7C8F6358B5}"/>
              </a:ext>
            </a:extLst>
          </p:cNvPr>
          <p:cNvGrpSpPr/>
          <p:nvPr/>
        </p:nvGrpSpPr>
        <p:grpSpPr>
          <a:xfrm>
            <a:off x="856184" y="807953"/>
            <a:ext cx="11813871" cy="6256435"/>
            <a:chOff x="368159" y="-111085"/>
            <a:chExt cx="11813871" cy="6256435"/>
          </a:xfrm>
        </p:grpSpPr>
        <p:pic>
          <p:nvPicPr>
            <p:cNvPr id="37" name="object 5">
              <a:extLst>
                <a:ext uri="{FF2B5EF4-FFF2-40B4-BE49-F238E27FC236}">
                  <a16:creationId xmlns:a16="http://schemas.microsoft.com/office/drawing/2014/main" id="{F9019708-7886-81E5-CF3F-021E384138B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159" y="4270241"/>
              <a:ext cx="5658227" cy="1875109"/>
            </a:xfrm>
            <a:prstGeom prst="rect">
              <a:avLst/>
            </a:prstGeom>
          </p:spPr>
        </p:pic>
        <p:pic>
          <p:nvPicPr>
            <p:cNvPr id="38" name="object 6">
              <a:extLst>
                <a:ext uri="{FF2B5EF4-FFF2-40B4-BE49-F238E27FC236}">
                  <a16:creationId xmlns:a16="http://schemas.microsoft.com/office/drawing/2014/main" id="{DB585A6C-5E26-5286-F235-D2E6C484A39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8879" y="4528544"/>
              <a:ext cx="4701404" cy="1371243"/>
            </a:xfrm>
            <a:prstGeom prst="rect">
              <a:avLst/>
            </a:prstGeom>
          </p:spPr>
        </p:pic>
        <p:pic>
          <p:nvPicPr>
            <p:cNvPr id="39" name="object 7">
              <a:extLst>
                <a:ext uri="{FF2B5EF4-FFF2-40B4-BE49-F238E27FC236}">
                  <a16:creationId xmlns:a16="http://schemas.microsoft.com/office/drawing/2014/main" id="{DBB5BAE7-83BE-39CE-40AA-4D316FCCEE3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96951" y="-111085"/>
              <a:ext cx="4685079" cy="36566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1012384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NVIDIA </a:t>
            </a:r>
            <a:r>
              <a:rPr lang="en-US" altLang="zh-CN" dirty="0" err="1">
                <a:sym typeface="+mn-ea"/>
              </a:rPr>
              <a:t>NVLink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16AAD3-319C-B94D-F751-3C6025C966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9" t="12159" r="11003" b="13283"/>
          <a:stretch/>
        </p:blipFill>
        <p:spPr>
          <a:xfrm>
            <a:off x="5654977" y="1741797"/>
            <a:ext cx="6929711" cy="4920095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F253F729-248F-8B89-51BF-FB026E21471D}"/>
              </a:ext>
            </a:extLst>
          </p:cNvPr>
          <p:cNvSpPr txBox="1"/>
          <p:nvPr/>
        </p:nvSpPr>
        <p:spPr>
          <a:xfrm>
            <a:off x="148420" y="2616365"/>
            <a:ext cx="5692671" cy="3634328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720" indent="-287020">
              <a:lnSpc>
                <a:spcPct val="150000"/>
              </a:lnSpc>
              <a:spcBef>
                <a:spcPts val="0"/>
              </a:spcBef>
              <a:buSzPct val="90000"/>
              <a:buChar char="•"/>
              <a:tabLst>
                <a:tab pos="299085" algn="l"/>
                <a:tab pos="299720" algn="l"/>
              </a:tabLst>
            </a:pPr>
            <a:r>
              <a:rPr lang="en-US" sz="2600" b="1" spc="-10" dirty="0">
                <a:latin typeface="Century Gothic"/>
                <a:cs typeface="Century Gothic"/>
              </a:rPr>
              <a:t>Each link has a peak bandwidth of 25 GB/s (in each direction),</a:t>
            </a:r>
            <a:r>
              <a:rPr lang="zh-CN" altLang="en-US" sz="2600" b="1" spc="-10" dirty="0">
                <a:latin typeface="Century Gothic"/>
                <a:cs typeface="Century Gothic"/>
              </a:rPr>
              <a:t> </a:t>
            </a:r>
            <a:r>
              <a:rPr lang="en-US" altLang="zh-CN" sz="2600" b="1" spc="-10" dirty="0">
                <a:latin typeface="Century Gothic"/>
                <a:cs typeface="Century Gothic"/>
              </a:rPr>
              <a:t>so</a:t>
            </a:r>
            <a:endParaRPr lang="en-US" sz="2600" b="1" spc="-10" dirty="0">
              <a:latin typeface="Century Gothic"/>
              <a:cs typeface="Century Gothic"/>
            </a:endParaRPr>
          </a:p>
          <a:p>
            <a:pPr marL="469900" indent="-457200">
              <a:lnSpc>
                <a:spcPct val="100000"/>
              </a:lnSpc>
              <a:spcBef>
                <a:spcPts val="1300"/>
              </a:spcBef>
              <a:buSzPct val="90000"/>
              <a:buFont typeface="Wingdings" panose="05000000000000000000" pitchFamily="2" charset="2"/>
              <a:buChar char="p"/>
              <a:tabLst>
                <a:tab pos="299085" algn="l"/>
                <a:tab pos="299720" algn="l"/>
              </a:tabLst>
            </a:pPr>
            <a:r>
              <a:rPr lang="en-US" sz="2600" spc="-10" dirty="0">
                <a:latin typeface="Century Gothic"/>
                <a:cs typeface="Century Gothic"/>
              </a:rPr>
              <a:t>2 links between processors</a:t>
            </a:r>
          </a:p>
          <a:p>
            <a:pPr marL="12700">
              <a:lnSpc>
                <a:spcPct val="100000"/>
              </a:lnSpc>
              <a:spcBef>
                <a:spcPts val="1300"/>
              </a:spcBef>
              <a:buSzPct val="90000"/>
              <a:tabLst>
                <a:tab pos="299085" algn="l"/>
                <a:tab pos="299720" algn="l"/>
              </a:tabLst>
            </a:pPr>
            <a:r>
              <a:rPr lang="en-US" sz="2600" spc="-10" dirty="0">
                <a:latin typeface="Century Gothic"/>
                <a:cs typeface="Century Gothic"/>
              </a:rPr>
              <a:t>         </a:t>
            </a:r>
            <a:r>
              <a:rPr lang="en-US" altLang="zh-CN" sz="2600" spc="-10" dirty="0">
                <a:latin typeface="Century Gothic"/>
                <a:cs typeface="Century Gothic"/>
              </a:rPr>
              <a:t>bandwidth: 25 x 2 = </a:t>
            </a:r>
            <a:r>
              <a:rPr lang="en-US" sz="2600" spc="-10" dirty="0">
                <a:latin typeface="Century Gothic"/>
                <a:cs typeface="Century Gothic"/>
              </a:rPr>
              <a:t>50 GB/s.</a:t>
            </a:r>
          </a:p>
          <a:p>
            <a:pPr marL="469900" indent="-457200">
              <a:lnSpc>
                <a:spcPct val="100000"/>
              </a:lnSpc>
              <a:spcBef>
                <a:spcPts val="1300"/>
              </a:spcBef>
              <a:buSzPct val="90000"/>
              <a:buFont typeface="Wingdings" panose="05000000000000000000" pitchFamily="2" charset="2"/>
              <a:buChar char="p"/>
              <a:tabLst>
                <a:tab pos="299085" algn="l"/>
                <a:tab pos="299720" algn="l"/>
              </a:tabLst>
            </a:pPr>
            <a:r>
              <a:rPr lang="en-US" sz="2600" spc="-10" dirty="0">
                <a:latin typeface="Century Gothic"/>
                <a:cs typeface="Century Gothic"/>
              </a:rPr>
              <a:t>bi-directional bandwidth:</a:t>
            </a:r>
          </a:p>
          <a:p>
            <a:pPr marL="12700">
              <a:lnSpc>
                <a:spcPct val="100000"/>
              </a:lnSpc>
              <a:spcBef>
                <a:spcPts val="1300"/>
              </a:spcBef>
              <a:buSzPct val="90000"/>
              <a:tabLst>
                <a:tab pos="299085" algn="l"/>
                <a:tab pos="299720" algn="l"/>
              </a:tabLst>
            </a:pPr>
            <a:r>
              <a:rPr lang="en-US" altLang="zh-CN" sz="2600" spc="-10" dirty="0">
                <a:latin typeface="Century Gothic"/>
                <a:cs typeface="Century Gothic"/>
              </a:rPr>
              <a:t>         bandwidth: 50 x 2 = 100 GB/s.</a:t>
            </a:r>
            <a:endParaRPr lang="en-US" sz="2600" spc="-10" dirty="0">
              <a:latin typeface="Century Gothic"/>
              <a:cs typeface="Century Gothic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DB1F36-EDA3-E677-12AF-FC6FF5804248}"/>
              </a:ext>
            </a:extLst>
          </p:cNvPr>
          <p:cNvSpPr txBox="1"/>
          <p:nvPr/>
        </p:nvSpPr>
        <p:spPr>
          <a:xfrm>
            <a:off x="179218" y="950207"/>
            <a:ext cx="12431213" cy="1301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0"/>
              </a:spcBef>
              <a:buSzPct val="90000"/>
              <a:tabLst>
                <a:tab pos="299085" algn="l"/>
                <a:tab pos="299720" algn="l"/>
              </a:tabLst>
            </a:pPr>
            <a:r>
              <a:rPr lang="en-US" altLang="zh-CN" sz="2800" b="1" dirty="0">
                <a:latin typeface="Century Gothic"/>
                <a:cs typeface="Century Gothic"/>
              </a:rPr>
              <a:t>The processors(CPU&amp;GPU) within a node are connected by NVIDIA’s </a:t>
            </a:r>
            <a:r>
              <a:rPr lang="en-US" altLang="zh-CN" sz="2800" b="1" dirty="0" err="1">
                <a:latin typeface="Century Gothic"/>
                <a:cs typeface="Century Gothic"/>
              </a:rPr>
              <a:t>NVLink</a:t>
            </a:r>
            <a:r>
              <a:rPr lang="en-US" altLang="zh-CN" sz="2800" b="1" dirty="0">
                <a:latin typeface="Century Gothic"/>
                <a:cs typeface="Century Gothic"/>
              </a:rPr>
              <a:t> interconnect</a:t>
            </a:r>
          </a:p>
        </p:txBody>
      </p:sp>
    </p:spTree>
    <p:extLst>
      <p:ext uri="{BB962C8B-B14F-4D97-AF65-F5344CB8AC3E}">
        <p14:creationId xmlns:p14="http://schemas.microsoft.com/office/powerpoint/2010/main" val="3325805326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Specs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grpSp>
        <p:nvGrpSpPr>
          <p:cNvPr id="2" name="object 5">
            <a:extLst>
              <a:ext uri="{FF2B5EF4-FFF2-40B4-BE49-F238E27FC236}">
                <a16:creationId xmlns:a16="http://schemas.microsoft.com/office/drawing/2014/main" id="{7FE72209-D0AB-4AD0-E399-739BE742BA4C}"/>
              </a:ext>
            </a:extLst>
          </p:cNvPr>
          <p:cNvGrpSpPr/>
          <p:nvPr/>
        </p:nvGrpSpPr>
        <p:grpSpPr>
          <a:xfrm>
            <a:off x="136104" y="1874764"/>
            <a:ext cx="5751830" cy="3761104"/>
            <a:chOff x="633983" y="1310999"/>
            <a:chExt cx="5751830" cy="3761104"/>
          </a:xfrm>
        </p:grpSpPr>
        <p:pic>
          <p:nvPicPr>
            <p:cNvPr id="3" name="object 6">
              <a:extLst>
                <a:ext uri="{FF2B5EF4-FFF2-40B4-BE49-F238E27FC236}">
                  <a16:creationId xmlns:a16="http://schemas.microsoft.com/office/drawing/2014/main" id="{3F09D602-8B2F-2359-B270-13760AE8A1F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468" y="1310999"/>
              <a:ext cx="2098916" cy="889386"/>
            </a:xfrm>
            <a:prstGeom prst="rect">
              <a:avLst/>
            </a:prstGeom>
          </p:spPr>
        </p:pic>
        <p:pic>
          <p:nvPicPr>
            <p:cNvPr id="4" name="object 7">
              <a:extLst>
                <a:ext uri="{FF2B5EF4-FFF2-40B4-BE49-F238E27FC236}">
                  <a16:creationId xmlns:a16="http://schemas.microsoft.com/office/drawing/2014/main" id="{4F13D8C1-1FDF-8816-A1A0-85DC69C5A9C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983" y="1984248"/>
              <a:ext cx="5751576" cy="3087624"/>
            </a:xfrm>
            <a:prstGeom prst="rect">
              <a:avLst/>
            </a:prstGeom>
          </p:spPr>
        </p:pic>
        <p:pic>
          <p:nvPicPr>
            <p:cNvPr id="5" name="object 8">
              <a:extLst>
                <a:ext uri="{FF2B5EF4-FFF2-40B4-BE49-F238E27FC236}">
                  <a16:creationId xmlns:a16="http://schemas.microsoft.com/office/drawing/2014/main" id="{2B4505DA-CDF1-BA3F-422D-134ADC27A8D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468" y="2010707"/>
              <a:ext cx="5647574" cy="2980750"/>
            </a:xfrm>
            <a:prstGeom prst="rect">
              <a:avLst/>
            </a:prstGeom>
          </p:spPr>
        </p:pic>
      </p:grp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4E95E3E2-677C-718C-3B71-93E918E3A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828048"/>
              </p:ext>
            </p:extLst>
          </p:nvPr>
        </p:nvGraphicFramePr>
        <p:xfrm>
          <a:off x="5913165" y="999598"/>
          <a:ext cx="6649690" cy="55146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0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b="1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marL="0" marR="0" marT="33019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1E7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b="1" dirty="0">
                          <a:solidFill>
                            <a:schemeClr val="bg1"/>
                          </a:solidFill>
                        </a:rPr>
                        <a:t>Summit</a:t>
                      </a:r>
                    </a:p>
                  </a:txBody>
                  <a:tcPr marL="0" marR="0" marT="33019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1E7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b="1" dirty="0"/>
                        <a:t>Peak FLOPS</a:t>
                      </a:r>
                      <a:endParaRPr b="1"/>
                    </a:p>
                  </a:txBody>
                  <a:tcPr marL="0" marR="0" marT="62229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b="1" dirty="0"/>
                        <a:t>200 PF</a:t>
                      </a:r>
                    </a:p>
                  </a:txBody>
                  <a:tcPr marL="0" marR="0" marT="62229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b="1" dirty="0"/>
                        <a:t>Max possible Power</a:t>
                      </a:r>
                    </a:p>
                  </a:txBody>
                  <a:tcPr marL="0" marR="0" marT="59690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b="1" dirty="0"/>
                        <a:t>13 MW</a:t>
                      </a:r>
                      <a:endParaRPr b="1"/>
                    </a:p>
                  </a:txBody>
                  <a:tcPr marL="0" marR="0" marT="59690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b="1" dirty="0"/>
                        <a:t>Number of Nodes</a:t>
                      </a:r>
                    </a:p>
                  </a:txBody>
                  <a:tcPr marL="0" marR="0" marT="60325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b="1" dirty="0"/>
                        <a:t>4,608</a:t>
                      </a:r>
                    </a:p>
                  </a:txBody>
                  <a:tcPr marL="0" marR="0" marT="60325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b="1" dirty="0"/>
                        <a:t>Node performance</a:t>
                      </a:r>
                    </a:p>
                  </a:txBody>
                  <a:tcPr marL="0" marR="0" marT="60960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b="1" dirty="0"/>
                        <a:t>42 TF</a:t>
                      </a:r>
                      <a:endParaRPr b="1"/>
                    </a:p>
                  </a:txBody>
                  <a:tcPr marL="0" marR="0" marT="60960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b="1" dirty="0"/>
                        <a:t>Memory per Node</a:t>
                      </a:r>
                    </a:p>
                  </a:txBody>
                  <a:tcPr marL="0" marR="0" marT="61594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b="1" dirty="0"/>
                        <a:t>512 GB DDR4 + 96 GB HBM2</a:t>
                      </a:r>
                      <a:endParaRPr b="1"/>
                    </a:p>
                  </a:txBody>
                  <a:tcPr marL="0" marR="0" marT="61594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b="1" dirty="0"/>
                        <a:t>NV memory per Node</a:t>
                      </a:r>
                    </a:p>
                  </a:txBody>
                  <a:tcPr marL="0" marR="0" marT="59055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b="1" dirty="0"/>
                        <a:t>1.6 TB</a:t>
                      </a:r>
                    </a:p>
                  </a:txBody>
                  <a:tcPr marL="0" marR="0" marT="59055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6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b="1" dirty="0"/>
                        <a:t>Total System Memory</a:t>
                      </a:r>
                      <a:endParaRPr b="1"/>
                    </a:p>
                  </a:txBody>
                  <a:tcPr marL="0" marR="0" marT="66040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b="1" dirty="0"/>
                        <a:t>2.8 PB + 7.4 PB NVM</a:t>
                      </a:r>
                    </a:p>
                  </a:txBody>
                  <a:tcPr marL="0" marR="0" marT="66040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829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b="1" dirty="0"/>
                        <a:t>System Interconnect</a:t>
                      </a:r>
                      <a:endParaRPr b="1"/>
                    </a:p>
                  </a:txBody>
                  <a:tcPr marL="0" marR="0" marT="72390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b="1" dirty="0"/>
                        <a:t>Dual Port EDR-IB (25 GB/s)</a:t>
                      </a:r>
                    </a:p>
                  </a:txBody>
                  <a:tcPr marL="0" marR="0" marT="72390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b="1" dirty="0"/>
                        <a:t>Interconnect Topology</a:t>
                      </a:r>
                      <a:endParaRPr b="1"/>
                    </a:p>
                  </a:txBody>
                  <a:tcPr marL="0" marR="0" marT="60325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b="1" dirty="0"/>
                        <a:t>Non-blocking Fat Tree</a:t>
                      </a:r>
                    </a:p>
                  </a:txBody>
                  <a:tcPr marL="0" marR="0" marT="60325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b="1" dirty="0"/>
                        <a:t>Bi-Section Bandwidth</a:t>
                      </a:r>
                      <a:endParaRPr b="1"/>
                    </a:p>
                  </a:txBody>
                  <a:tcPr marL="0" marR="0" marT="60960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b="1" dirty="0"/>
                        <a:t>115.2 TB/s</a:t>
                      </a:r>
                    </a:p>
                  </a:txBody>
                  <a:tcPr marL="0" marR="0" marT="60960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34619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b="1" dirty="0"/>
                        <a:t>Processors on node</a:t>
                      </a:r>
                      <a:endParaRPr b="1"/>
                    </a:p>
                  </a:txBody>
                  <a:tcPr marL="0" marR="0" marT="162560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b="1" dirty="0"/>
                        <a:t>2 IBM POWER9™</a:t>
                      </a:r>
                      <a:endParaRPr lang="en-US" b="1" dirty="0"/>
                    </a:p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b="1" dirty="0"/>
                        <a:t>6 NVIDIA Volta™</a:t>
                      </a:r>
                    </a:p>
                  </a:txBody>
                  <a:tcPr marL="0" marR="0" marT="55880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EE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457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b="1" dirty="0"/>
                        <a:t>File System</a:t>
                      </a:r>
                      <a:endParaRPr b="1"/>
                    </a:p>
                  </a:txBody>
                  <a:tcPr marL="0" marR="0" marT="60325" marB="0">
                    <a:lnL w="19050">
                      <a:solidFill>
                        <a:srgbClr val="8FBB55"/>
                      </a:solidFill>
                      <a:prstDash val="solid"/>
                    </a:lnL>
                    <a:lnR w="19050">
                      <a:solidFill>
                        <a:srgbClr val="95BE5E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b="1" dirty="0"/>
                        <a:t>250 PB, 2.5 TB/s, GPFS™</a:t>
                      </a:r>
                    </a:p>
                  </a:txBody>
                  <a:tcPr marL="0" marR="0" marT="60325" marB="0">
                    <a:lnL w="19050">
                      <a:solidFill>
                        <a:srgbClr val="95BE5E"/>
                      </a:solidFill>
                      <a:prstDash val="solid"/>
                    </a:lnL>
                    <a:lnR w="19050">
                      <a:solidFill>
                        <a:srgbClr val="8FBB55"/>
                      </a:solidFill>
                      <a:prstDash val="solid"/>
                    </a:lnR>
                    <a:lnT w="19050">
                      <a:solidFill>
                        <a:srgbClr val="8FBB55"/>
                      </a:solidFill>
                      <a:prstDash val="solid"/>
                    </a:lnT>
                    <a:lnB w="19050">
                      <a:solidFill>
                        <a:srgbClr val="8FBB5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625061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0F389575-1918-4306-8C62-937A8B8CD60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112" y="916789"/>
            <a:ext cx="12509518" cy="6129277"/>
          </a:xfrm>
          <a:prstGeom prst="rect">
            <a:avLst/>
          </a:prstGeom>
        </p:spPr>
      </p:pic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sym typeface="+mn-ea"/>
              </a:rPr>
              <a:t>Summit Board (1 node) showing the Water Cooling</a:t>
            </a:r>
            <a:endParaRPr lang="zh-CN" altLang="en-US" sz="2800" dirty="0">
              <a:solidFill>
                <a:srgbClr val="00206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455764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13429423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Node Types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10382C3-143C-0297-A0BD-A03143CB9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364948"/>
              </p:ext>
            </p:extLst>
          </p:nvPr>
        </p:nvGraphicFramePr>
        <p:xfrm>
          <a:off x="318368" y="1095686"/>
          <a:ext cx="12164864" cy="5457092"/>
        </p:xfrm>
        <a:graphic>
          <a:graphicData uri="http://schemas.openxmlformats.org/drawingml/2006/table">
            <a:tbl>
              <a:tblPr/>
              <a:tblGrid>
                <a:gridCol w="2194000">
                  <a:extLst>
                    <a:ext uri="{9D8B030D-6E8A-4147-A177-3AD203B41FA5}">
                      <a16:colId xmlns:a16="http://schemas.microsoft.com/office/drawing/2014/main" val="1209189116"/>
                    </a:ext>
                  </a:extLst>
                </a:gridCol>
                <a:gridCol w="9970864">
                  <a:extLst>
                    <a:ext uri="{9D8B030D-6E8A-4147-A177-3AD203B41FA5}">
                      <a16:colId xmlns:a16="http://schemas.microsoft.com/office/drawing/2014/main" val="1884283576"/>
                    </a:ext>
                  </a:extLst>
                </a:gridCol>
              </a:tblGrid>
              <a:tr h="439391">
                <a:tc>
                  <a:txBody>
                    <a:bodyPr/>
                    <a:lstStyle/>
                    <a:p>
                      <a:r>
                        <a:rPr lang="en-US" sz="2600" b="1" dirty="0">
                          <a:effectLst/>
                        </a:rPr>
                        <a:t>Node Type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>
                          <a:effectLst/>
                        </a:rPr>
                        <a:t>Description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83092"/>
                  </a:ext>
                </a:extLst>
              </a:tr>
              <a:tr h="1647715"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effectLst/>
                        </a:rPr>
                        <a:t>Login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When connecting to Summit, you are placed on a login node</a:t>
                      </a:r>
                    </a:p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Write, edit, and compile code, manage data, and submit jobs</a:t>
                      </a:r>
                    </a:p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N</a:t>
                      </a:r>
                      <a:r>
                        <a:rPr lang="en-US" altLang="zh-CN" sz="2600" dirty="0">
                          <a:effectLst/>
                        </a:rPr>
                        <a:t>ot </a:t>
                      </a:r>
                      <a:r>
                        <a:rPr lang="en-US" sz="2600" dirty="0">
                          <a:effectLst/>
                        </a:rPr>
                        <a:t>to launch parallel jobs or run threaded jobs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452297"/>
                  </a:ext>
                </a:extLst>
              </a:tr>
              <a:tr h="1949797"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effectLst/>
                        </a:rPr>
                        <a:t>Launch</a:t>
                      </a:r>
                    </a:p>
                    <a:p>
                      <a:pPr fontAlgn="ctr"/>
                      <a:r>
                        <a:rPr lang="en-US" sz="2600" dirty="0">
                          <a:effectLst/>
                        </a:rPr>
                        <a:t>(Batch)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When batch script starts running, it will execute on a Launch </a:t>
                      </a:r>
                      <a:r>
                        <a:rPr lang="en-US" sz="2600" dirty="0" err="1">
                          <a:effectLst/>
                        </a:rPr>
                        <a:t>NodeAll</a:t>
                      </a:r>
                      <a:r>
                        <a:rPr lang="en-US" sz="2600" dirty="0">
                          <a:effectLst/>
                        </a:rPr>
                        <a:t> commands within your job script will run on a launch node</a:t>
                      </a:r>
                    </a:p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Avoid running multiprocessor/threaded programs on launch nodes and instead launch the </a:t>
                      </a:r>
                      <a:r>
                        <a:rPr lang="en-US" sz="2600" dirty="0" err="1">
                          <a:effectLst/>
                        </a:rPr>
                        <a:t>jsrun</a:t>
                      </a:r>
                      <a:r>
                        <a:rPr lang="en-US" sz="2600" dirty="0">
                          <a:effectLst/>
                        </a:rPr>
                        <a:t> command from there.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229510"/>
                  </a:ext>
                </a:extLst>
              </a:tr>
              <a:tr h="741472"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effectLst/>
                        </a:rPr>
                        <a:t>Compute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Most of the nodes on Summit are compute nodes</a:t>
                      </a:r>
                    </a:p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W</a:t>
                      </a:r>
                      <a:r>
                        <a:rPr lang="en-US" altLang="zh-CN" sz="2600" dirty="0">
                          <a:effectLst/>
                        </a:rPr>
                        <a:t>here </a:t>
                      </a:r>
                      <a:r>
                        <a:rPr lang="en-US" sz="2600" dirty="0">
                          <a:effectLst/>
                        </a:rPr>
                        <a:t>your parallel job executes</a:t>
                      </a:r>
                    </a:p>
                    <a:p>
                      <a:pPr marL="342900" indent="-34290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effectLst/>
                        </a:rPr>
                        <a:t>Accessed via the </a:t>
                      </a:r>
                      <a:r>
                        <a:rPr lang="en-US" sz="2600" dirty="0" err="1">
                          <a:effectLst/>
                        </a:rPr>
                        <a:t>jsrun</a:t>
                      </a:r>
                      <a:r>
                        <a:rPr lang="en-US" sz="2600" dirty="0">
                          <a:effectLst/>
                        </a:rPr>
                        <a:t> command.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389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537398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Node Types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1662B853-9466-A6A3-B50D-940BE5F559EE}"/>
              </a:ext>
            </a:extLst>
          </p:cNvPr>
          <p:cNvSpPr txBox="1"/>
          <p:nvPr/>
        </p:nvSpPr>
        <p:spPr>
          <a:xfrm>
            <a:off x="422581" y="1036016"/>
            <a:ext cx="11956438" cy="1288173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lang="en-US" sz="3600" dirty="0">
                <a:latin typeface="Century Gothic"/>
                <a:cs typeface="Century Gothic"/>
              </a:rPr>
              <a:t>Logically organized into different </a:t>
            </a:r>
            <a:r>
              <a:rPr lang="en-US" altLang="zh-CN" sz="3600" dirty="0">
                <a:latin typeface="Century Gothic"/>
                <a:cs typeface="Century Gothic"/>
              </a:rPr>
              <a:t>types</a:t>
            </a:r>
          </a:p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lang="en-US" sz="3600" dirty="0">
                <a:latin typeface="Century Gothic"/>
                <a:cs typeface="Century Gothic"/>
              </a:rPr>
              <a:t>B</a:t>
            </a:r>
            <a:r>
              <a:rPr lang="en-US" altLang="zh-CN" sz="3600" dirty="0">
                <a:latin typeface="Century Gothic"/>
                <a:cs typeface="Century Gothic"/>
              </a:rPr>
              <a:t>ut </a:t>
            </a:r>
            <a:r>
              <a:rPr lang="en-US" sz="3600" dirty="0">
                <a:latin typeface="Century Gothic"/>
                <a:cs typeface="Century Gothic"/>
              </a:rPr>
              <a:t>contain similar hardware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DA60DE2-2A1A-4EB6-5C89-0BD9B5D4CEAC}"/>
              </a:ext>
            </a:extLst>
          </p:cNvPr>
          <p:cNvGraphicFramePr>
            <a:graphicFrameLocks noGrp="1"/>
          </p:cNvGraphicFramePr>
          <p:nvPr/>
        </p:nvGraphicFramePr>
        <p:xfrm>
          <a:off x="422581" y="2769031"/>
          <a:ext cx="12164864" cy="1662837"/>
        </p:xfrm>
        <a:graphic>
          <a:graphicData uri="http://schemas.openxmlformats.org/drawingml/2006/table">
            <a:tbl>
              <a:tblPr/>
              <a:tblGrid>
                <a:gridCol w="2194000">
                  <a:extLst>
                    <a:ext uri="{9D8B030D-6E8A-4147-A177-3AD203B41FA5}">
                      <a16:colId xmlns:a16="http://schemas.microsoft.com/office/drawing/2014/main" val="1209189116"/>
                    </a:ext>
                  </a:extLst>
                </a:gridCol>
                <a:gridCol w="4985432">
                  <a:extLst>
                    <a:ext uri="{9D8B030D-6E8A-4147-A177-3AD203B41FA5}">
                      <a16:colId xmlns:a16="http://schemas.microsoft.com/office/drawing/2014/main" val="1884283576"/>
                    </a:ext>
                  </a:extLst>
                </a:gridCol>
                <a:gridCol w="4985432">
                  <a:extLst>
                    <a:ext uri="{9D8B030D-6E8A-4147-A177-3AD203B41FA5}">
                      <a16:colId xmlns:a16="http://schemas.microsoft.com/office/drawing/2014/main" val="3133518226"/>
                    </a:ext>
                  </a:extLst>
                </a:gridCol>
              </a:tblGrid>
              <a:tr h="341857">
                <a:tc>
                  <a:txBody>
                    <a:bodyPr/>
                    <a:lstStyle/>
                    <a:p>
                      <a:r>
                        <a:rPr lang="en-US" sz="2600" b="1" dirty="0">
                          <a:effectLst/>
                        </a:rPr>
                        <a:t>Node Type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 dirty="0">
                          <a:effectLst/>
                        </a:rPr>
                        <a:t>CPU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1" dirty="0">
                          <a:effectLst/>
                        </a:rPr>
                        <a:t>GPU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783092"/>
                  </a:ext>
                </a:extLst>
              </a:tr>
              <a:tr h="341857"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effectLst/>
                        </a:rPr>
                        <a:t>Login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ctr">
                        <a:buFont typeface="Arial" panose="020B0604020202020204" pitchFamily="34" charset="0"/>
                        <a:buNone/>
                      </a:pPr>
                      <a:r>
                        <a:rPr lang="en-US" sz="2600" dirty="0">
                          <a:effectLst/>
                        </a:rPr>
                        <a:t>2 </a:t>
                      </a:r>
                      <a:r>
                        <a:rPr lang="en-US" altLang="zh-CN" sz="2600" dirty="0">
                          <a:effectLst/>
                        </a:rPr>
                        <a:t>x </a:t>
                      </a:r>
                      <a:r>
                        <a:rPr lang="en-US" sz="2600" dirty="0">
                          <a:effectLst/>
                        </a:rPr>
                        <a:t>16-core Power9 CPUs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ctr">
                        <a:buFont typeface="Arial" panose="020B0604020202020204" pitchFamily="34" charset="0"/>
                        <a:buNone/>
                      </a:pPr>
                      <a:r>
                        <a:rPr lang="en-US" sz="2600" dirty="0">
                          <a:effectLst/>
                        </a:rPr>
                        <a:t>4 </a:t>
                      </a:r>
                      <a:r>
                        <a:rPr lang="en-US" altLang="zh-CN" sz="2600" dirty="0">
                          <a:effectLst/>
                        </a:rPr>
                        <a:t>x</a:t>
                      </a:r>
                      <a:r>
                        <a:rPr lang="en-US" sz="2600" dirty="0">
                          <a:effectLst/>
                        </a:rPr>
                        <a:t> V100 GPUs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452297"/>
                  </a:ext>
                </a:extLst>
              </a:tr>
              <a:tr h="595737">
                <a:tc>
                  <a:txBody>
                    <a:bodyPr/>
                    <a:lstStyle/>
                    <a:p>
                      <a:pPr fontAlgn="ctr"/>
                      <a:r>
                        <a:rPr lang="en-US" sz="2600" dirty="0">
                          <a:effectLst/>
                        </a:rPr>
                        <a:t>Compute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417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2600" dirty="0">
                          <a:effectLst/>
                        </a:rPr>
                        <a:t>2 x 22-core Power9 CPUs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417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2600" dirty="0">
                          <a:effectLst/>
                        </a:rPr>
                        <a:t>6 x V100 GPUs</a:t>
                      </a:r>
                    </a:p>
                  </a:txBody>
                  <a:tcPr marL="137310" marR="137310" marT="68655" marB="6865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389829"/>
                  </a:ext>
                </a:extLst>
              </a:tr>
            </a:tbl>
          </a:graphicData>
        </a:graphic>
      </p:graphicFrame>
      <p:sp>
        <p:nvSpPr>
          <p:cNvPr id="5" name="object 3">
            <a:extLst>
              <a:ext uri="{FF2B5EF4-FFF2-40B4-BE49-F238E27FC236}">
                <a16:creationId xmlns:a16="http://schemas.microsoft.com/office/drawing/2014/main" id="{476C9877-DA15-1DBF-73E2-C01A0B0F7D6A}"/>
              </a:ext>
            </a:extLst>
          </p:cNvPr>
          <p:cNvSpPr txBox="1"/>
          <p:nvPr/>
        </p:nvSpPr>
        <p:spPr>
          <a:xfrm>
            <a:off x="318368" y="4725418"/>
            <a:ext cx="11956438" cy="1842171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lang="en-US" sz="3600" dirty="0">
                <a:latin typeface="Century Gothic"/>
                <a:cs typeface="Century Gothic"/>
              </a:rPr>
              <a:t>Called Homogeneous architecture</a:t>
            </a:r>
          </a:p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lang="en-US" sz="3600" dirty="0">
                <a:latin typeface="Century Gothic"/>
                <a:cs typeface="Century Gothic"/>
              </a:rPr>
              <a:t>Not a need to cross-compile when building on a login node</a:t>
            </a:r>
            <a:endParaRPr sz="32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27412175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Scheduler and Job Launch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AFDE96-5D99-9442-BB2B-764FDA105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89" y="1368202"/>
            <a:ext cx="11742422" cy="489654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3F0D4090-9DD4-79A3-DCC5-C25D322DF88E}"/>
              </a:ext>
            </a:extLst>
          </p:cNvPr>
          <p:cNvSpPr/>
          <p:nvPr/>
        </p:nvSpPr>
        <p:spPr>
          <a:xfrm>
            <a:off x="2296344" y="2664346"/>
            <a:ext cx="1473200" cy="1473200"/>
          </a:xfrm>
          <a:custGeom>
            <a:avLst/>
            <a:gdLst/>
            <a:ahLst/>
            <a:cxnLst/>
            <a:rect l="l" t="t" r="r" b="b"/>
            <a:pathLst>
              <a:path w="1473200" h="1473200">
                <a:moveTo>
                  <a:pt x="0" y="736337"/>
                </a:moveTo>
                <a:lnTo>
                  <a:pt x="1566" y="687922"/>
                </a:lnTo>
                <a:lnTo>
                  <a:pt x="6200" y="640344"/>
                </a:lnTo>
                <a:lnTo>
                  <a:pt x="13805" y="593699"/>
                </a:lnTo>
                <a:lnTo>
                  <a:pt x="24283" y="548084"/>
                </a:lnTo>
                <a:lnTo>
                  <a:pt x="37538" y="503597"/>
                </a:lnTo>
                <a:lnTo>
                  <a:pt x="53473" y="460334"/>
                </a:lnTo>
                <a:lnTo>
                  <a:pt x="71991" y="418392"/>
                </a:lnTo>
                <a:lnTo>
                  <a:pt x="92994" y="377869"/>
                </a:lnTo>
                <a:lnTo>
                  <a:pt x="116386" y="338861"/>
                </a:lnTo>
                <a:lnTo>
                  <a:pt x="142070" y="301465"/>
                </a:lnTo>
                <a:lnTo>
                  <a:pt x="169948" y="265779"/>
                </a:lnTo>
                <a:lnTo>
                  <a:pt x="199924" y="231900"/>
                </a:lnTo>
                <a:lnTo>
                  <a:pt x="231900" y="199924"/>
                </a:lnTo>
                <a:lnTo>
                  <a:pt x="265779" y="169948"/>
                </a:lnTo>
                <a:lnTo>
                  <a:pt x="301465" y="142070"/>
                </a:lnTo>
                <a:lnTo>
                  <a:pt x="338861" y="116386"/>
                </a:lnTo>
                <a:lnTo>
                  <a:pt x="377869" y="92994"/>
                </a:lnTo>
                <a:lnTo>
                  <a:pt x="418392" y="71991"/>
                </a:lnTo>
                <a:lnTo>
                  <a:pt x="460334" y="53473"/>
                </a:lnTo>
                <a:lnTo>
                  <a:pt x="503597" y="37538"/>
                </a:lnTo>
                <a:lnTo>
                  <a:pt x="548084" y="24283"/>
                </a:lnTo>
                <a:lnTo>
                  <a:pt x="593699" y="13805"/>
                </a:lnTo>
                <a:lnTo>
                  <a:pt x="640344" y="6200"/>
                </a:lnTo>
                <a:lnTo>
                  <a:pt x="687922" y="1566"/>
                </a:lnTo>
                <a:lnTo>
                  <a:pt x="736337" y="0"/>
                </a:lnTo>
                <a:lnTo>
                  <a:pt x="784751" y="1566"/>
                </a:lnTo>
                <a:lnTo>
                  <a:pt x="832329" y="6200"/>
                </a:lnTo>
                <a:lnTo>
                  <a:pt x="878974" y="13805"/>
                </a:lnTo>
                <a:lnTo>
                  <a:pt x="924589" y="24283"/>
                </a:lnTo>
                <a:lnTo>
                  <a:pt x="969076" y="37538"/>
                </a:lnTo>
                <a:lnTo>
                  <a:pt x="1012339" y="53473"/>
                </a:lnTo>
                <a:lnTo>
                  <a:pt x="1054281" y="71991"/>
                </a:lnTo>
                <a:lnTo>
                  <a:pt x="1094804" y="92994"/>
                </a:lnTo>
                <a:lnTo>
                  <a:pt x="1133812" y="116386"/>
                </a:lnTo>
                <a:lnTo>
                  <a:pt x="1171208" y="142070"/>
                </a:lnTo>
                <a:lnTo>
                  <a:pt x="1206894" y="169948"/>
                </a:lnTo>
                <a:lnTo>
                  <a:pt x="1240773" y="199924"/>
                </a:lnTo>
                <a:lnTo>
                  <a:pt x="1272750" y="231900"/>
                </a:lnTo>
                <a:lnTo>
                  <a:pt x="1302725" y="265779"/>
                </a:lnTo>
                <a:lnTo>
                  <a:pt x="1330603" y="301465"/>
                </a:lnTo>
                <a:lnTo>
                  <a:pt x="1356287" y="338861"/>
                </a:lnTo>
                <a:lnTo>
                  <a:pt x="1379679" y="377869"/>
                </a:lnTo>
                <a:lnTo>
                  <a:pt x="1400682" y="418392"/>
                </a:lnTo>
                <a:lnTo>
                  <a:pt x="1419200" y="460334"/>
                </a:lnTo>
                <a:lnTo>
                  <a:pt x="1435135" y="503597"/>
                </a:lnTo>
                <a:lnTo>
                  <a:pt x="1448390" y="548084"/>
                </a:lnTo>
                <a:lnTo>
                  <a:pt x="1458868" y="593699"/>
                </a:lnTo>
                <a:lnTo>
                  <a:pt x="1466473" y="640344"/>
                </a:lnTo>
                <a:lnTo>
                  <a:pt x="1471107" y="687922"/>
                </a:lnTo>
                <a:lnTo>
                  <a:pt x="1472674" y="736337"/>
                </a:lnTo>
                <a:lnTo>
                  <a:pt x="1471107" y="784751"/>
                </a:lnTo>
                <a:lnTo>
                  <a:pt x="1466473" y="832329"/>
                </a:lnTo>
                <a:lnTo>
                  <a:pt x="1458868" y="878974"/>
                </a:lnTo>
                <a:lnTo>
                  <a:pt x="1448390" y="924589"/>
                </a:lnTo>
                <a:lnTo>
                  <a:pt x="1435135" y="969076"/>
                </a:lnTo>
                <a:lnTo>
                  <a:pt x="1419200" y="1012339"/>
                </a:lnTo>
                <a:lnTo>
                  <a:pt x="1400682" y="1054281"/>
                </a:lnTo>
                <a:lnTo>
                  <a:pt x="1379679" y="1094804"/>
                </a:lnTo>
                <a:lnTo>
                  <a:pt x="1356287" y="1133812"/>
                </a:lnTo>
                <a:lnTo>
                  <a:pt x="1330603" y="1171208"/>
                </a:lnTo>
                <a:lnTo>
                  <a:pt x="1302725" y="1206894"/>
                </a:lnTo>
                <a:lnTo>
                  <a:pt x="1272750" y="1240773"/>
                </a:lnTo>
                <a:lnTo>
                  <a:pt x="1240773" y="1272750"/>
                </a:lnTo>
                <a:lnTo>
                  <a:pt x="1206894" y="1302725"/>
                </a:lnTo>
                <a:lnTo>
                  <a:pt x="1171208" y="1330603"/>
                </a:lnTo>
                <a:lnTo>
                  <a:pt x="1133812" y="1356287"/>
                </a:lnTo>
                <a:lnTo>
                  <a:pt x="1094804" y="1379679"/>
                </a:lnTo>
                <a:lnTo>
                  <a:pt x="1054281" y="1400682"/>
                </a:lnTo>
                <a:lnTo>
                  <a:pt x="1012339" y="1419200"/>
                </a:lnTo>
                <a:lnTo>
                  <a:pt x="969076" y="1435135"/>
                </a:lnTo>
                <a:lnTo>
                  <a:pt x="924589" y="1448390"/>
                </a:lnTo>
                <a:lnTo>
                  <a:pt x="878974" y="1458868"/>
                </a:lnTo>
                <a:lnTo>
                  <a:pt x="832329" y="1466473"/>
                </a:lnTo>
                <a:lnTo>
                  <a:pt x="784751" y="1471107"/>
                </a:lnTo>
                <a:lnTo>
                  <a:pt x="736337" y="1472674"/>
                </a:lnTo>
                <a:lnTo>
                  <a:pt x="687922" y="1471107"/>
                </a:lnTo>
                <a:lnTo>
                  <a:pt x="640344" y="1466473"/>
                </a:lnTo>
                <a:lnTo>
                  <a:pt x="593699" y="1458868"/>
                </a:lnTo>
                <a:lnTo>
                  <a:pt x="548084" y="1448390"/>
                </a:lnTo>
                <a:lnTo>
                  <a:pt x="503597" y="1435135"/>
                </a:lnTo>
                <a:lnTo>
                  <a:pt x="460334" y="1419200"/>
                </a:lnTo>
                <a:lnTo>
                  <a:pt x="418392" y="1400682"/>
                </a:lnTo>
                <a:lnTo>
                  <a:pt x="377869" y="1379679"/>
                </a:lnTo>
                <a:lnTo>
                  <a:pt x="338861" y="1356287"/>
                </a:lnTo>
                <a:lnTo>
                  <a:pt x="301465" y="1330603"/>
                </a:lnTo>
                <a:lnTo>
                  <a:pt x="265779" y="1302725"/>
                </a:lnTo>
                <a:lnTo>
                  <a:pt x="231900" y="1272750"/>
                </a:lnTo>
                <a:lnTo>
                  <a:pt x="199924" y="1240773"/>
                </a:lnTo>
                <a:lnTo>
                  <a:pt x="169948" y="1206894"/>
                </a:lnTo>
                <a:lnTo>
                  <a:pt x="142070" y="1171208"/>
                </a:lnTo>
                <a:lnTo>
                  <a:pt x="116386" y="1133812"/>
                </a:lnTo>
                <a:lnTo>
                  <a:pt x="92994" y="1094804"/>
                </a:lnTo>
                <a:lnTo>
                  <a:pt x="71991" y="1054281"/>
                </a:lnTo>
                <a:lnTo>
                  <a:pt x="53473" y="1012339"/>
                </a:lnTo>
                <a:lnTo>
                  <a:pt x="37538" y="969076"/>
                </a:lnTo>
                <a:lnTo>
                  <a:pt x="24283" y="924589"/>
                </a:lnTo>
                <a:lnTo>
                  <a:pt x="13805" y="878974"/>
                </a:lnTo>
                <a:lnTo>
                  <a:pt x="6200" y="832329"/>
                </a:lnTo>
                <a:lnTo>
                  <a:pt x="1566" y="784751"/>
                </a:lnTo>
                <a:lnTo>
                  <a:pt x="0" y="736337"/>
                </a:lnTo>
                <a:close/>
              </a:path>
            </a:pathLst>
          </a:custGeom>
          <a:ln w="508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3356832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Scheduler and Job Launch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AFDE96-5D99-9442-BB2B-764FDA105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89" y="1368202"/>
            <a:ext cx="11742422" cy="489654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3F0D4090-9DD4-79A3-DCC5-C25D322DF88E}"/>
              </a:ext>
            </a:extLst>
          </p:cNvPr>
          <p:cNvSpPr/>
          <p:nvPr/>
        </p:nvSpPr>
        <p:spPr>
          <a:xfrm>
            <a:off x="4672608" y="2664346"/>
            <a:ext cx="1473200" cy="1473200"/>
          </a:xfrm>
          <a:custGeom>
            <a:avLst/>
            <a:gdLst/>
            <a:ahLst/>
            <a:cxnLst/>
            <a:rect l="l" t="t" r="r" b="b"/>
            <a:pathLst>
              <a:path w="1473200" h="1473200">
                <a:moveTo>
                  <a:pt x="0" y="736337"/>
                </a:moveTo>
                <a:lnTo>
                  <a:pt x="1566" y="687922"/>
                </a:lnTo>
                <a:lnTo>
                  <a:pt x="6200" y="640344"/>
                </a:lnTo>
                <a:lnTo>
                  <a:pt x="13805" y="593699"/>
                </a:lnTo>
                <a:lnTo>
                  <a:pt x="24283" y="548084"/>
                </a:lnTo>
                <a:lnTo>
                  <a:pt x="37538" y="503597"/>
                </a:lnTo>
                <a:lnTo>
                  <a:pt x="53473" y="460334"/>
                </a:lnTo>
                <a:lnTo>
                  <a:pt x="71991" y="418392"/>
                </a:lnTo>
                <a:lnTo>
                  <a:pt x="92994" y="377869"/>
                </a:lnTo>
                <a:lnTo>
                  <a:pt x="116386" y="338861"/>
                </a:lnTo>
                <a:lnTo>
                  <a:pt x="142070" y="301465"/>
                </a:lnTo>
                <a:lnTo>
                  <a:pt x="169948" y="265779"/>
                </a:lnTo>
                <a:lnTo>
                  <a:pt x="199924" y="231900"/>
                </a:lnTo>
                <a:lnTo>
                  <a:pt x="231900" y="199924"/>
                </a:lnTo>
                <a:lnTo>
                  <a:pt x="265779" y="169948"/>
                </a:lnTo>
                <a:lnTo>
                  <a:pt x="301465" y="142070"/>
                </a:lnTo>
                <a:lnTo>
                  <a:pt x="338861" y="116386"/>
                </a:lnTo>
                <a:lnTo>
                  <a:pt x="377869" y="92994"/>
                </a:lnTo>
                <a:lnTo>
                  <a:pt x="418392" y="71991"/>
                </a:lnTo>
                <a:lnTo>
                  <a:pt x="460334" y="53473"/>
                </a:lnTo>
                <a:lnTo>
                  <a:pt x="503597" y="37538"/>
                </a:lnTo>
                <a:lnTo>
                  <a:pt x="548084" y="24283"/>
                </a:lnTo>
                <a:lnTo>
                  <a:pt x="593699" y="13805"/>
                </a:lnTo>
                <a:lnTo>
                  <a:pt x="640344" y="6200"/>
                </a:lnTo>
                <a:lnTo>
                  <a:pt x="687922" y="1566"/>
                </a:lnTo>
                <a:lnTo>
                  <a:pt x="736337" y="0"/>
                </a:lnTo>
                <a:lnTo>
                  <a:pt x="784751" y="1566"/>
                </a:lnTo>
                <a:lnTo>
                  <a:pt x="832329" y="6200"/>
                </a:lnTo>
                <a:lnTo>
                  <a:pt x="878974" y="13805"/>
                </a:lnTo>
                <a:lnTo>
                  <a:pt x="924589" y="24283"/>
                </a:lnTo>
                <a:lnTo>
                  <a:pt x="969076" y="37538"/>
                </a:lnTo>
                <a:lnTo>
                  <a:pt x="1012339" y="53473"/>
                </a:lnTo>
                <a:lnTo>
                  <a:pt x="1054281" y="71991"/>
                </a:lnTo>
                <a:lnTo>
                  <a:pt x="1094804" y="92994"/>
                </a:lnTo>
                <a:lnTo>
                  <a:pt x="1133812" y="116386"/>
                </a:lnTo>
                <a:lnTo>
                  <a:pt x="1171208" y="142070"/>
                </a:lnTo>
                <a:lnTo>
                  <a:pt x="1206894" y="169948"/>
                </a:lnTo>
                <a:lnTo>
                  <a:pt x="1240773" y="199924"/>
                </a:lnTo>
                <a:lnTo>
                  <a:pt x="1272750" y="231900"/>
                </a:lnTo>
                <a:lnTo>
                  <a:pt x="1302725" y="265779"/>
                </a:lnTo>
                <a:lnTo>
                  <a:pt x="1330603" y="301465"/>
                </a:lnTo>
                <a:lnTo>
                  <a:pt x="1356287" y="338861"/>
                </a:lnTo>
                <a:lnTo>
                  <a:pt x="1379679" y="377869"/>
                </a:lnTo>
                <a:lnTo>
                  <a:pt x="1400682" y="418392"/>
                </a:lnTo>
                <a:lnTo>
                  <a:pt x="1419200" y="460334"/>
                </a:lnTo>
                <a:lnTo>
                  <a:pt x="1435135" y="503597"/>
                </a:lnTo>
                <a:lnTo>
                  <a:pt x="1448390" y="548084"/>
                </a:lnTo>
                <a:lnTo>
                  <a:pt x="1458868" y="593699"/>
                </a:lnTo>
                <a:lnTo>
                  <a:pt x="1466473" y="640344"/>
                </a:lnTo>
                <a:lnTo>
                  <a:pt x="1471107" y="687922"/>
                </a:lnTo>
                <a:lnTo>
                  <a:pt x="1472674" y="736337"/>
                </a:lnTo>
                <a:lnTo>
                  <a:pt x="1471107" y="784751"/>
                </a:lnTo>
                <a:lnTo>
                  <a:pt x="1466473" y="832329"/>
                </a:lnTo>
                <a:lnTo>
                  <a:pt x="1458868" y="878974"/>
                </a:lnTo>
                <a:lnTo>
                  <a:pt x="1448390" y="924589"/>
                </a:lnTo>
                <a:lnTo>
                  <a:pt x="1435135" y="969076"/>
                </a:lnTo>
                <a:lnTo>
                  <a:pt x="1419200" y="1012339"/>
                </a:lnTo>
                <a:lnTo>
                  <a:pt x="1400682" y="1054281"/>
                </a:lnTo>
                <a:lnTo>
                  <a:pt x="1379679" y="1094804"/>
                </a:lnTo>
                <a:lnTo>
                  <a:pt x="1356287" y="1133812"/>
                </a:lnTo>
                <a:lnTo>
                  <a:pt x="1330603" y="1171208"/>
                </a:lnTo>
                <a:lnTo>
                  <a:pt x="1302725" y="1206894"/>
                </a:lnTo>
                <a:lnTo>
                  <a:pt x="1272750" y="1240773"/>
                </a:lnTo>
                <a:lnTo>
                  <a:pt x="1240773" y="1272750"/>
                </a:lnTo>
                <a:lnTo>
                  <a:pt x="1206894" y="1302725"/>
                </a:lnTo>
                <a:lnTo>
                  <a:pt x="1171208" y="1330603"/>
                </a:lnTo>
                <a:lnTo>
                  <a:pt x="1133812" y="1356287"/>
                </a:lnTo>
                <a:lnTo>
                  <a:pt x="1094804" y="1379679"/>
                </a:lnTo>
                <a:lnTo>
                  <a:pt x="1054281" y="1400682"/>
                </a:lnTo>
                <a:lnTo>
                  <a:pt x="1012339" y="1419200"/>
                </a:lnTo>
                <a:lnTo>
                  <a:pt x="969076" y="1435135"/>
                </a:lnTo>
                <a:lnTo>
                  <a:pt x="924589" y="1448390"/>
                </a:lnTo>
                <a:lnTo>
                  <a:pt x="878974" y="1458868"/>
                </a:lnTo>
                <a:lnTo>
                  <a:pt x="832329" y="1466473"/>
                </a:lnTo>
                <a:lnTo>
                  <a:pt x="784751" y="1471107"/>
                </a:lnTo>
                <a:lnTo>
                  <a:pt x="736337" y="1472674"/>
                </a:lnTo>
                <a:lnTo>
                  <a:pt x="687922" y="1471107"/>
                </a:lnTo>
                <a:lnTo>
                  <a:pt x="640344" y="1466473"/>
                </a:lnTo>
                <a:lnTo>
                  <a:pt x="593699" y="1458868"/>
                </a:lnTo>
                <a:lnTo>
                  <a:pt x="548084" y="1448390"/>
                </a:lnTo>
                <a:lnTo>
                  <a:pt x="503597" y="1435135"/>
                </a:lnTo>
                <a:lnTo>
                  <a:pt x="460334" y="1419200"/>
                </a:lnTo>
                <a:lnTo>
                  <a:pt x="418392" y="1400682"/>
                </a:lnTo>
                <a:lnTo>
                  <a:pt x="377869" y="1379679"/>
                </a:lnTo>
                <a:lnTo>
                  <a:pt x="338861" y="1356287"/>
                </a:lnTo>
                <a:lnTo>
                  <a:pt x="301465" y="1330603"/>
                </a:lnTo>
                <a:lnTo>
                  <a:pt x="265779" y="1302725"/>
                </a:lnTo>
                <a:lnTo>
                  <a:pt x="231900" y="1272750"/>
                </a:lnTo>
                <a:lnTo>
                  <a:pt x="199924" y="1240773"/>
                </a:lnTo>
                <a:lnTo>
                  <a:pt x="169948" y="1206894"/>
                </a:lnTo>
                <a:lnTo>
                  <a:pt x="142070" y="1171208"/>
                </a:lnTo>
                <a:lnTo>
                  <a:pt x="116386" y="1133812"/>
                </a:lnTo>
                <a:lnTo>
                  <a:pt x="92994" y="1094804"/>
                </a:lnTo>
                <a:lnTo>
                  <a:pt x="71991" y="1054281"/>
                </a:lnTo>
                <a:lnTo>
                  <a:pt x="53473" y="1012339"/>
                </a:lnTo>
                <a:lnTo>
                  <a:pt x="37538" y="969076"/>
                </a:lnTo>
                <a:lnTo>
                  <a:pt x="24283" y="924589"/>
                </a:lnTo>
                <a:lnTo>
                  <a:pt x="13805" y="878974"/>
                </a:lnTo>
                <a:lnTo>
                  <a:pt x="6200" y="832329"/>
                </a:lnTo>
                <a:lnTo>
                  <a:pt x="1566" y="784751"/>
                </a:lnTo>
                <a:lnTo>
                  <a:pt x="0" y="736337"/>
                </a:lnTo>
                <a:close/>
              </a:path>
            </a:pathLst>
          </a:custGeom>
          <a:ln w="508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9387925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19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Scheduler and Job Launch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AFDE96-5D99-9442-BB2B-764FDA105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89" y="1368202"/>
            <a:ext cx="11742422" cy="489654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3F0D4090-9DD4-79A3-DCC5-C25D322DF88E}"/>
              </a:ext>
            </a:extLst>
          </p:cNvPr>
          <p:cNvSpPr/>
          <p:nvPr/>
        </p:nvSpPr>
        <p:spPr>
          <a:xfrm>
            <a:off x="7120880" y="2736354"/>
            <a:ext cx="1473200" cy="1473200"/>
          </a:xfrm>
          <a:custGeom>
            <a:avLst/>
            <a:gdLst/>
            <a:ahLst/>
            <a:cxnLst/>
            <a:rect l="l" t="t" r="r" b="b"/>
            <a:pathLst>
              <a:path w="1473200" h="1473200">
                <a:moveTo>
                  <a:pt x="0" y="736337"/>
                </a:moveTo>
                <a:lnTo>
                  <a:pt x="1566" y="687922"/>
                </a:lnTo>
                <a:lnTo>
                  <a:pt x="6200" y="640344"/>
                </a:lnTo>
                <a:lnTo>
                  <a:pt x="13805" y="593699"/>
                </a:lnTo>
                <a:lnTo>
                  <a:pt x="24283" y="548084"/>
                </a:lnTo>
                <a:lnTo>
                  <a:pt x="37538" y="503597"/>
                </a:lnTo>
                <a:lnTo>
                  <a:pt x="53473" y="460334"/>
                </a:lnTo>
                <a:lnTo>
                  <a:pt x="71991" y="418392"/>
                </a:lnTo>
                <a:lnTo>
                  <a:pt x="92994" y="377869"/>
                </a:lnTo>
                <a:lnTo>
                  <a:pt x="116386" y="338861"/>
                </a:lnTo>
                <a:lnTo>
                  <a:pt x="142070" y="301465"/>
                </a:lnTo>
                <a:lnTo>
                  <a:pt x="169948" y="265779"/>
                </a:lnTo>
                <a:lnTo>
                  <a:pt x="199924" y="231900"/>
                </a:lnTo>
                <a:lnTo>
                  <a:pt x="231900" y="199924"/>
                </a:lnTo>
                <a:lnTo>
                  <a:pt x="265779" y="169948"/>
                </a:lnTo>
                <a:lnTo>
                  <a:pt x="301465" y="142070"/>
                </a:lnTo>
                <a:lnTo>
                  <a:pt x="338861" y="116386"/>
                </a:lnTo>
                <a:lnTo>
                  <a:pt x="377869" y="92994"/>
                </a:lnTo>
                <a:lnTo>
                  <a:pt x="418392" y="71991"/>
                </a:lnTo>
                <a:lnTo>
                  <a:pt x="460334" y="53473"/>
                </a:lnTo>
                <a:lnTo>
                  <a:pt x="503597" y="37538"/>
                </a:lnTo>
                <a:lnTo>
                  <a:pt x="548084" y="24283"/>
                </a:lnTo>
                <a:lnTo>
                  <a:pt x="593699" y="13805"/>
                </a:lnTo>
                <a:lnTo>
                  <a:pt x="640344" y="6200"/>
                </a:lnTo>
                <a:lnTo>
                  <a:pt x="687922" y="1566"/>
                </a:lnTo>
                <a:lnTo>
                  <a:pt x="736337" y="0"/>
                </a:lnTo>
                <a:lnTo>
                  <a:pt x="784751" y="1566"/>
                </a:lnTo>
                <a:lnTo>
                  <a:pt x="832329" y="6200"/>
                </a:lnTo>
                <a:lnTo>
                  <a:pt x="878974" y="13805"/>
                </a:lnTo>
                <a:lnTo>
                  <a:pt x="924589" y="24283"/>
                </a:lnTo>
                <a:lnTo>
                  <a:pt x="969076" y="37538"/>
                </a:lnTo>
                <a:lnTo>
                  <a:pt x="1012339" y="53473"/>
                </a:lnTo>
                <a:lnTo>
                  <a:pt x="1054281" y="71991"/>
                </a:lnTo>
                <a:lnTo>
                  <a:pt x="1094804" y="92994"/>
                </a:lnTo>
                <a:lnTo>
                  <a:pt x="1133812" y="116386"/>
                </a:lnTo>
                <a:lnTo>
                  <a:pt x="1171208" y="142070"/>
                </a:lnTo>
                <a:lnTo>
                  <a:pt x="1206894" y="169948"/>
                </a:lnTo>
                <a:lnTo>
                  <a:pt x="1240773" y="199924"/>
                </a:lnTo>
                <a:lnTo>
                  <a:pt x="1272750" y="231900"/>
                </a:lnTo>
                <a:lnTo>
                  <a:pt x="1302725" y="265779"/>
                </a:lnTo>
                <a:lnTo>
                  <a:pt x="1330603" y="301465"/>
                </a:lnTo>
                <a:lnTo>
                  <a:pt x="1356287" y="338861"/>
                </a:lnTo>
                <a:lnTo>
                  <a:pt x="1379679" y="377869"/>
                </a:lnTo>
                <a:lnTo>
                  <a:pt x="1400682" y="418392"/>
                </a:lnTo>
                <a:lnTo>
                  <a:pt x="1419200" y="460334"/>
                </a:lnTo>
                <a:lnTo>
                  <a:pt x="1435135" y="503597"/>
                </a:lnTo>
                <a:lnTo>
                  <a:pt x="1448390" y="548084"/>
                </a:lnTo>
                <a:lnTo>
                  <a:pt x="1458868" y="593699"/>
                </a:lnTo>
                <a:lnTo>
                  <a:pt x="1466473" y="640344"/>
                </a:lnTo>
                <a:lnTo>
                  <a:pt x="1471107" y="687922"/>
                </a:lnTo>
                <a:lnTo>
                  <a:pt x="1472674" y="736337"/>
                </a:lnTo>
                <a:lnTo>
                  <a:pt x="1471107" y="784751"/>
                </a:lnTo>
                <a:lnTo>
                  <a:pt x="1466473" y="832329"/>
                </a:lnTo>
                <a:lnTo>
                  <a:pt x="1458868" y="878974"/>
                </a:lnTo>
                <a:lnTo>
                  <a:pt x="1448390" y="924589"/>
                </a:lnTo>
                <a:lnTo>
                  <a:pt x="1435135" y="969076"/>
                </a:lnTo>
                <a:lnTo>
                  <a:pt x="1419200" y="1012339"/>
                </a:lnTo>
                <a:lnTo>
                  <a:pt x="1400682" y="1054281"/>
                </a:lnTo>
                <a:lnTo>
                  <a:pt x="1379679" y="1094804"/>
                </a:lnTo>
                <a:lnTo>
                  <a:pt x="1356287" y="1133812"/>
                </a:lnTo>
                <a:lnTo>
                  <a:pt x="1330603" y="1171208"/>
                </a:lnTo>
                <a:lnTo>
                  <a:pt x="1302725" y="1206894"/>
                </a:lnTo>
                <a:lnTo>
                  <a:pt x="1272750" y="1240773"/>
                </a:lnTo>
                <a:lnTo>
                  <a:pt x="1240773" y="1272750"/>
                </a:lnTo>
                <a:lnTo>
                  <a:pt x="1206894" y="1302725"/>
                </a:lnTo>
                <a:lnTo>
                  <a:pt x="1171208" y="1330603"/>
                </a:lnTo>
                <a:lnTo>
                  <a:pt x="1133812" y="1356287"/>
                </a:lnTo>
                <a:lnTo>
                  <a:pt x="1094804" y="1379679"/>
                </a:lnTo>
                <a:lnTo>
                  <a:pt x="1054281" y="1400682"/>
                </a:lnTo>
                <a:lnTo>
                  <a:pt x="1012339" y="1419200"/>
                </a:lnTo>
                <a:lnTo>
                  <a:pt x="969076" y="1435135"/>
                </a:lnTo>
                <a:lnTo>
                  <a:pt x="924589" y="1448390"/>
                </a:lnTo>
                <a:lnTo>
                  <a:pt x="878974" y="1458868"/>
                </a:lnTo>
                <a:lnTo>
                  <a:pt x="832329" y="1466473"/>
                </a:lnTo>
                <a:lnTo>
                  <a:pt x="784751" y="1471107"/>
                </a:lnTo>
                <a:lnTo>
                  <a:pt x="736337" y="1472674"/>
                </a:lnTo>
                <a:lnTo>
                  <a:pt x="687922" y="1471107"/>
                </a:lnTo>
                <a:lnTo>
                  <a:pt x="640344" y="1466473"/>
                </a:lnTo>
                <a:lnTo>
                  <a:pt x="593699" y="1458868"/>
                </a:lnTo>
                <a:lnTo>
                  <a:pt x="548084" y="1448390"/>
                </a:lnTo>
                <a:lnTo>
                  <a:pt x="503597" y="1435135"/>
                </a:lnTo>
                <a:lnTo>
                  <a:pt x="460334" y="1419200"/>
                </a:lnTo>
                <a:lnTo>
                  <a:pt x="418392" y="1400682"/>
                </a:lnTo>
                <a:lnTo>
                  <a:pt x="377869" y="1379679"/>
                </a:lnTo>
                <a:lnTo>
                  <a:pt x="338861" y="1356287"/>
                </a:lnTo>
                <a:lnTo>
                  <a:pt x="301465" y="1330603"/>
                </a:lnTo>
                <a:lnTo>
                  <a:pt x="265779" y="1302725"/>
                </a:lnTo>
                <a:lnTo>
                  <a:pt x="231900" y="1272750"/>
                </a:lnTo>
                <a:lnTo>
                  <a:pt x="199924" y="1240773"/>
                </a:lnTo>
                <a:lnTo>
                  <a:pt x="169948" y="1206894"/>
                </a:lnTo>
                <a:lnTo>
                  <a:pt x="142070" y="1171208"/>
                </a:lnTo>
                <a:lnTo>
                  <a:pt x="116386" y="1133812"/>
                </a:lnTo>
                <a:lnTo>
                  <a:pt x="92994" y="1094804"/>
                </a:lnTo>
                <a:lnTo>
                  <a:pt x="71991" y="1054281"/>
                </a:lnTo>
                <a:lnTo>
                  <a:pt x="53473" y="1012339"/>
                </a:lnTo>
                <a:lnTo>
                  <a:pt x="37538" y="969076"/>
                </a:lnTo>
                <a:lnTo>
                  <a:pt x="24283" y="924589"/>
                </a:lnTo>
                <a:lnTo>
                  <a:pt x="13805" y="878974"/>
                </a:lnTo>
                <a:lnTo>
                  <a:pt x="6200" y="832329"/>
                </a:lnTo>
                <a:lnTo>
                  <a:pt x="1566" y="784751"/>
                </a:lnTo>
                <a:lnTo>
                  <a:pt x="0" y="736337"/>
                </a:lnTo>
                <a:close/>
              </a:path>
            </a:pathLst>
          </a:custGeom>
          <a:ln w="508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7971859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Parallel Job Execution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2" name="object 9">
            <a:extLst>
              <a:ext uri="{FF2B5EF4-FFF2-40B4-BE49-F238E27FC236}">
                <a16:creationId xmlns:a16="http://schemas.microsoft.com/office/drawing/2014/main" id="{2E93D607-CF5D-5EDD-EDFD-5E83771DDEC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2339" y="931258"/>
            <a:ext cx="8516922" cy="3351387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61BCF210-4757-C0D3-A914-D8E3CC648CCF}"/>
              </a:ext>
            </a:extLst>
          </p:cNvPr>
          <p:cNvSpPr txBox="1"/>
          <p:nvPr/>
        </p:nvSpPr>
        <p:spPr>
          <a:xfrm>
            <a:off x="1432248" y="4367312"/>
            <a:ext cx="332729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Batch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System</a:t>
            </a:r>
            <a:r>
              <a:rPr sz="2800" spc="-10" dirty="0">
                <a:latin typeface="Century Gothic"/>
                <a:cs typeface="Century Gothic"/>
              </a:rPr>
              <a:t> (LSF)</a:t>
            </a:r>
            <a:endParaRPr sz="2800" dirty="0">
              <a:latin typeface="Century Gothic"/>
              <a:cs typeface="Century Gothic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806B5E81-DFEA-D636-7207-99B26881E32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4632" y="4871921"/>
            <a:ext cx="5824594" cy="2106675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9A0ADE73-AC0E-E50E-97ED-2BCF2A62F2AD}"/>
              </a:ext>
            </a:extLst>
          </p:cNvPr>
          <p:cNvSpPr txBox="1"/>
          <p:nvPr/>
        </p:nvSpPr>
        <p:spPr>
          <a:xfrm>
            <a:off x="478576" y="4961854"/>
            <a:ext cx="5824594" cy="192681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243204" indent="-230504">
              <a:lnSpc>
                <a:spcPct val="100000"/>
              </a:lnSpc>
              <a:spcBef>
                <a:spcPts val="1205"/>
              </a:spcBef>
              <a:buSzPct val="90000"/>
              <a:buChar char="•"/>
              <a:tabLst>
                <a:tab pos="243204" algn="l"/>
              </a:tabLst>
            </a:pPr>
            <a:r>
              <a:rPr lang="en-US" sz="2400" dirty="0">
                <a:latin typeface="Century Gothic"/>
                <a:cs typeface="Century Gothic"/>
              </a:rPr>
              <a:t>Batch</a:t>
            </a:r>
            <a:r>
              <a:rPr lang="en-US" sz="2400" spc="-25" dirty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scheduler,</a:t>
            </a:r>
            <a:r>
              <a:rPr lang="en-US" sz="2400" spc="-20" dirty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allocates</a:t>
            </a:r>
            <a:r>
              <a:rPr lang="en-US" sz="2400" spc="-15" dirty="0">
                <a:latin typeface="Century Gothic"/>
                <a:cs typeface="Century Gothic"/>
              </a:rPr>
              <a:t> </a:t>
            </a:r>
            <a:r>
              <a:rPr lang="en-US" sz="2400" spc="-10" dirty="0">
                <a:latin typeface="Century Gothic"/>
                <a:cs typeface="Century Gothic"/>
              </a:rPr>
              <a:t>resources</a:t>
            </a:r>
            <a:endParaRPr lang="en-US" sz="2400" dirty="0">
              <a:latin typeface="Century Gothic"/>
              <a:cs typeface="Century Gothic"/>
            </a:endParaRPr>
          </a:p>
          <a:p>
            <a:pPr marL="243204" indent="-230504">
              <a:lnSpc>
                <a:spcPct val="100000"/>
              </a:lnSpc>
              <a:spcBef>
                <a:spcPts val="1100"/>
              </a:spcBef>
              <a:buSzPct val="90000"/>
              <a:buChar char="•"/>
              <a:tabLst>
                <a:tab pos="243204" algn="l"/>
              </a:tabLst>
            </a:pPr>
            <a:r>
              <a:rPr lang="en-US" sz="2400" dirty="0">
                <a:latin typeface="Century Gothic"/>
                <a:cs typeface="Century Gothic"/>
              </a:rPr>
              <a:t>Similar</a:t>
            </a:r>
            <a:r>
              <a:rPr lang="en-US" sz="2400" spc="-40" dirty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functionality</a:t>
            </a:r>
            <a:r>
              <a:rPr lang="en-US" sz="2400" spc="-25" dirty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to</a:t>
            </a:r>
            <a:r>
              <a:rPr lang="en-US" sz="2400" spc="-20" dirty="0">
                <a:latin typeface="Century Gothic"/>
                <a:cs typeface="Century Gothic"/>
              </a:rPr>
              <a:t> </a:t>
            </a:r>
            <a:r>
              <a:rPr lang="en-US" sz="2400" spc="-10" dirty="0">
                <a:latin typeface="Century Gothic"/>
                <a:cs typeface="Century Gothic"/>
              </a:rPr>
              <a:t>PBS/MOAB/SLURM</a:t>
            </a:r>
            <a:endParaRPr lang="en-US" sz="2400" dirty="0">
              <a:latin typeface="Century Gothic"/>
              <a:cs typeface="Century Gothic"/>
            </a:endParaRPr>
          </a:p>
          <a:p>
            <a:pPr marL="243204" indent="-230504">
              <a:lnSpc>
                <a:spcPct val="100000"/>
              </a:lnSpc>
              <a:spcBef>
                <a:spcPts val="1200"/>
              </a:spcBef>
              <a:buSzPct val="90000"/>
              <a:buChar char="•"/>
              <a:tabLst>
                <a:tab pos="243204" algn="l"/>
              </a:tabLst>
            </a:pPr>
            <a:r>
              <a:rPr lang="en-US" sz="2400" dirty="0">
                <a:latin typeface="Century Gothic"/>
                <a:cs typeface="Century Gothic"/>
              </a:rPr>
              <a:t>Allocates</a:t>
            </a:r>
            <a:r>
              <a:rPr lang="en-US" sz="2400" spc="-30" dirty="0">
                <a:latin typeface="Century Gothic"/>
                <a:cs typeface="Century Gothic"/>
              </a:rPr>
              <a:t> </a:t>
            </a:r>
            <a:r>
              <a:rPr lang="en-US" sz="2400" dirty="0">
                <a:latin typeface="Century Gothic"/>
                <a:cs typeface="Century Gothic"/>
              </a:rPr>
              <a:t>entire</a:t>
            </a:r>
            <a:r>
              <a:rPr lang="en-US" sz="2400" spc="-20" dirty="0">
                <a:latin typeface="Century Gothic"/>
                <a:cs typeface="Century Gothic"/>
              </a:rPr>
              <a:t> </a:t>
            </a:r>
            <a:r>
              <a:rPr lang="en-US" sz="2400" spc="-10" dirty="0">
                <a:latin typeface="Century Gothic"/>
                <a:cs typeface="Century Gothic"/>
              </a:rPr>
              <a:t>nodes</a:t>
            </a:r>
            <a:endParaRPr lang="en-US" sz="2400" dirty="0">
              <a:latin typeface="Century Gothic"/>
              <a:cs typeface="Century Gothic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9B7250E-8FDF-1A2A-1A67-560B1CD03C5E}"/>
              </a:ext>
            </a:extLst>
          </p:cNvPr>
          <p:cNvSpPr txBox="1"/>
          <p:nvPr/>
        </p:nvSpPr>
        <p:spPr>
          <a:xfrm>
            <a:off x="7585726" y="4372668"/>
            <a:ext cx="41964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Job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Launcher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(jsrun)</a:t>
            </a:r>
            <a:endParaRPr sz="2800" dirty="0">
              <a:latin typeface="Century Gothic"/>
              <a:cs typeface="Century Gothic"/>
            </a:endParaRPr>
          </a:p>
        </p:txBody>
      </p:sp>
      <p:pic>
        <p:nvPicPr>
          <p:cNvPr id="9" name="object 7">
            <a:extLst>
              <a:ext uri="{FF2B5EF4-FFF2-40B4-BE49-F238E27FC236}">
                <a16:creationId xmlns:a16="http://schemas.microsoft.com/office/drawing/2014/main" id="{AD28E6CE-9111-CB9E-656A-0BB8837CB26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55021" y="4871921"/>
            <a:ext cx="5084246" cy="2070679"/>
          </a:xfrm>
          <a:prstGeom prst="rect">
            <a:avLst/>
          </a:prstGeom>
        </p:spPr>
      </p:pic>
      <p:sp>
        <p:nvSpPr>
          <p:cNvPr id="10" name="object 8">
            <a:extLst>
              <a:ext uri="{FF2B5EF4-FFF2-40B4-BE49-F238E27FC236}">
                <a16:creationId xmlns:a16="http://schemas.microsoft.com/office/drawing/2014/main" id="{E025083E-A67B-6518-5BD1-37828EFDBEB9}"/>
              </a:ext>
            </a:extLst>
          </p:cNvPr>
          <p:cNvSpPr txBox="1"/>
          <p:nvPr/>
        </p:nvSpPr>
        <p:spPr>
          <a:xfrm>
            <a:off x="7141824" y="4897733"/>
            <a:ext cx="5084245" cy="20550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0355" marR="506730" indent="-287655">
              <a:spcBef>
                <a:spcPts val="425"/>
              </a:spcBef>
              <a:buSzPct val="90000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Century Gothic"/>
                <a:cs typeface="Century Gothic"/>
              </a:rPr>
              <a:t>Developed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by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IBM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for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the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Oak</a:t>
            </a:r>
            <a:r>
              <a:rPr lang="en-US" sz="2400" spc="-1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Ridge </a:t>
            </a:r>
            <a:r>
              <a:rPr sz="2400" dirty="0">
                <a:latin typeface="Century Gothic"/>
                <a:cs typeface="Century Gothic"/>
              </a:rPr>
              <a:t>and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Livermore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CORAL</a:t>
            </a:r>
            <a:r>
              <a:rPr lang="en-US" sz="2400" spc="-1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systems</a:t>
            </a:r>
            <a:endParaRPr sz="2400" dirty="0">
              <a:latin typeface="Century Gothic"/>
              <a:cs typeface="Century Gothic"/>
            </a:endParaRPr>
          </a:p>
          <a:p>
            <a:pPr marL="300355" indent="-287655">
              <a:spcBef>
                <a:spcPts val="1180"/>
              </a:spcBef>
              <a:buSzPct val="90000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Century Gothic"/>
                <a:cs typeface="Century Gothic"/>
              </a:rPr>
              <a:t>Similar</a:t>
            </a:r>
            <a:r>
              <a:rPr sz="2400" spc="-4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functionality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aprun/srun/mpirun</a:t>
            </a:r>
            <a:endParaRPr sz="24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41313121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8165804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LSF Example Batch Script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5469C0B-DF76-0A38-CFF3-A00C09DC2A00}"/>
              </a:ext>
            </a:extLst>
          </p:cNvPr>
          <p:cNvSpPr/>
          <p:nvPr/>
        </p:nvSpPr>
        <p:spPr>
          <a:xfrm>
            <a:off x="1857565" y="1719819"/>
            <a:ext cx="5518150" cy="2585720"/>
          </a:xfrm>
          <a:custGeom>
            <a:avLst/>
            <a:gdLst/>
            <a:ahLst/>
            <a:cxnLst/>
            <a:rect l="l" t="t" r="r" b="b"/>
            <a:pathLst>
              <a:path w="5518150" h="2585720">
                <a:moveTo>
                  <a:pt x="5517860" y="0"/>
                </a:moveTo>
                <a:lnTo>
                  <a:pt x="0" y="0"/>
                </a:lnTo>
                <a:lnTo>
                  <a:pt x="0" y="2585322"/>
                </a:lnTo>
                <a:lnTo>
                  <a:pt x="5517860" y="2585322"/>
                </a:lnTo>
                <a:lnTo>
                  <a:pt x="5517860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BDDB958F-E718-F6A4-9F9E-3BFD734B64EC}"/>
              </a:ext>
            </a:extLst>
          </p:cNvPr>
          <p:cNvSpPr txBox="1"/>
          <p:nvPr/>
        </p:nvSpPr>
        <p:spPr>
          <a:xfrm>
            <a:off x="1936304" y="1715782"/>
            <a:ext cx="1143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#!/bin/bash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26B71F15-36B4-9C89-933A-E3C5B64661B0}"/>
              </a:ext>
            </a:extLst>
          </p:cNvPr>
          <p:cNvSpPr txBox="1"/>
          <p:nvPr/>
        </p:nvSpPr>
        <p:spPr>
          <a:xfrm>
            <a:off x="1936304" y="2209559"/>
            <a:ext cx="2477135" cy="129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#BSUB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-W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2:00</a:t>
            </a:r>
            <a:endParaRPr sz="1800" dirty="0">
              <a:latin typeface="Arial"/>
              <a:cs typeface="Arial"/>
            </a:endParaRPr>
          </a:p>
          <a:p>
            <a:pPr marL="12700" marR="605790">
              <a:lnSpc>
                <a:spcPts val="1920"/>
              </a:lnSpc>
              <a:spcBef>
                <a:spcPts val="180"/>
              </a:spcBef>
            </a:pPr>
            <a:r>
              <a:rPr sz="1800" dirty="0">
                <a:latin typeface="Arial"/>
                <a:cs typeface="Arial"/>
              </a:rPr>
              <a:t>#BSUB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-nnodes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2 </a:t>
            </a:r>
            <a:r>
              <a:rPr sz="1800" dirty="0">
                <a:latin typeface="Arial"/>
                <a:cs typeface="Arial"/>
              </a:rPr>
              <a:t>#BSUB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-P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abc007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ts val="1900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#BSUB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-o</a:t>
            </a:r>
            <a:r>
              <a:rPr sz="1800" spc="-10" dirty="0">
                <a:latin typeface="Arial"/>
                <a:cs typeface="Arial"/>
              </a:rPr>
              <a:t> example.o%J </a:t>
            </a:r>
            <a:r>
              <a:rPr sz="1800" dirty="0">
                <a:latin typeface="Arial"/>
                <a:cs typeface="Arial"/>
              </a:rPr>
              <a:t>#BSUB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-J</a:t>
            </a:r>
            <a:r>
              <a:rPr sz="1800" spc="-10" dirty="0">
                <a:latin typeface="Arial"/>
                <a:cs typeface="Arial"/>
              </a:rPr>
              <a:t> example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C6BFC998-164F-7B3C-2326-6D33360A505E}"/>
              </a:ext>
            </a:extLst>
          </p:cNvPr>
          <p:cNvSpPr txBox="1"/>
          <p:nvPr/>
        </p:nvSpPr>
        <p:spPr>
          <a:xfrm>
            <a:off x="1936304" y="3696982"/>
            <a:ext cx="3099435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hostname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030"/>
              </a:lnSpc>
            </a:pPr>
            <a:r>
              <a:rPr sz="1800" dirty="0">
                <a:latin typeface="Arial"/>
                <a:cs typeface="Arial"/>
              </a:rPr>
              <a:t>jsrun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-n2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-r1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-a1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-c1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hostname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6" name="object 7">
            <a:extLst>
              <a:ext uri="{FF2B5EF4-FFF2-40B4-BE49-F238E27FC236}">
                <a16:creationId xmlns:a16="http://schemas.microsoft.com/office/drawing/2014/main" id="{51794E4E-C0F9-EDCF-59D5-7FE794802192}"/>
              </a:ext>
            </a:extLst>
          </p:cNvPr>
          <p:cNvGrpSpPr/>
          <p:nvPr/>
        </p:nvGrpSpPr>
        <p:grpSpPr>
          <a:xfrm>
            <a:off x="1808797" y="5120906"/>
            <a:ext cx="6983095" cy="988060"/>
            <a:chOff x="1780032" y="4812791"/>
            <a:chExt cx="6983095" cy="988060"/>
          </a:xfrm>
        </p:grpSpPr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156CCED4-A3AC-EB4C-1F89-34236C73A39D}"/>
                </a:ext>
              </a:extLst>
            </p:cNvPr>
            <p:cNvSpPr/>
            <p:nvPr/>
          </p:nvSpPr>
          <p:spPr>
            <a:xfrm>
              <a:off x="1828800" y="4876799"/>
              <a:ext cx="6934200" cy="840740"/>
            </a:xfrm>
            <a:custGeom>
              <a:avLst/>
              <a:gdLst/>
              <a:ahLst/>
              <a:cxnLst/>
              <a:rect l="l" t="t" r="r" b="b"/>
              <a:pathLst>
                <a:path w="6934200" h="840739">
                  <a:moveTo>
                    <a:pt x="6934200" y="0"/>
                  </a:moveTo>
                  <a:lnTo>
                    <a:pt x="0" y="0"/>
                  </a:lnTo>
                  <a:lnTo>
                    <a:pt x="0" y="840229"/>
                  </a:lnTo>
                  <a:lnTo>
                    <a:pt x="6934200" y="840229"/>
                  </a:lnTo>
                  <a:lnTo>
                    <a:pt x="6934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9">
              <a:extLst>
                <a:ext uri="{FF2B5EF4-FFF2-40B4-BE49-F238E27FC236}">
                  <a16:creationId xmlns:a16="http://schemas.microsoft.com/office/drawing/2014/main" id="{A51EE243-3D95-52AD-CC58-B747E581DA8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0032" y="4812791"/>
              <a:ext cx="1018032" cy="490728"/>
            </a:xfrm>
            <a:prstGeom prst="rect">
              <a:avLst/>
            </a:prstGeom>
          </p:spPr>
        </p:pic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B3CF7593-65AE-0DB4-1220-F5E20898B40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4600" y="4812791"/>
              <a:ext cx="359663" cy="490728"/>
            </a:xfrm>
            <a:prstGeom prst="rect">
              <a:avLst/>
            </a:prstGeom>
          </p:spPr>
        </p:pic>
        <p:pic>
          <p:nvPicPr>
            <p:cNvPr id="10" name="object 11">
              <a:extLst>
                <a:ext uri="{FF2B5EF4-FFF2-40B4-BE49-F238E27FC236}">
                  <a16:creationId xmlns:a16="http://schemas.microsoft.com/office/drawing/2014/main" id="{BE582EBF-50B4-3873-33C8-37D21B5D16D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0800" y="4812791"/>
              <a:ext cx="1091184" cy="490728"/>
            </a:xfrm>
            <a:prstGeom prst="rect">
              <a:avLst/>
            </a:prstGeom>
          </p:spPr>
        </p:pic>
        <p:pic>
          <p:nvPicPr>
            <p:cNvPr id="11" name="object 12">
              <a:extLst>
                <a:ext uri="{FF2B5EF4-FFF2-40B4-BE49-F238E27FC236}">
                  <a16:creationId xmlns:a16="http://schemas.microsoft.com/office/drawing/2014/main" id="{317D261B-BA32-6964-5E44-B4073C95B8E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0032" y="5309615"/>
              <a:ext cx="1018032" cy="490728"/>
            </a:xfrm>
            <a:prstGeom prst="rect">
              <a:avLst/>
            </a:prstGeom>
          </p:spPr>
        </p:pic>
        <p:pic>
          <p:nvPicPr>
            <p:cNvPr id="12" name="object 13">
              <a:extLst>
                <a:ext uri="{FF2B5EF4-FFF2-40B4-BE49-F238E27FC236}">
                  <a16:creationId xmlns:a16="http://schemas.microsoft.com/office/drawing/2014/main" id="{0DF6CBEF-9B4A-5CBE-389F-27F9F622D63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4600" y="5309615"/>
              <a:ext cx="359663" cy="490728"/>
            </a:xfrm>
            <a:prstGeom prst="rect">
              <a:avLst/>
            </a:prstGeom>
          </p:spPr>
        </p:pic>
        <p:pic>
          <p:nvPicPr>
            <p:cNvPr id="13" name="object 14">
              <a:extLst>
                <a:ext uri="{FF2B5EF4-FFF2-40B4-BE49-F238E27FC236}">
                  <a16:creationId xmlns:a16="http://schemas.microsoft.com/office/drawing/2014/main" id="{817BBA31-C1D8-DA25-43AE-A39C684A7FF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800" y="5309615"/>
              <a:ext cx="1027176" cy="490728"/>
            </a:xfrm>
            <a:prstGeom prst="rect">
              <a:avLst/>
            </a:prstGeom>
          </p:spPr>
        </p:pic>
      </p:grpSp>
      <p:sp>
        <p:nvSpPr>
          <p:cNvPr id="14" name="object 15">
            <a:extLst>
              <a:ext uri="{FF2B5EF4-FFF2-40B4-BE49-F238E27FC236}">
                <a16:creationId xmlns:a16="http://schemas.microsoft.com/office/drawing/2014/main" id="{F62F45FA-1928-21F5-3175-CC0C23B5E21E}"/>
              </a:ext>
            </a:extLst>
          </p:cNvPr>
          <p:cNvSpPr txBox="1"/>
          <p:nvPr/>
        </p:nvSpPr>
        <p:spPr>
          <a:xfrm>
            <a:off x="1936304" y="4617479"/>
            <a:ext cx="5296535" cy="111696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00" dirty="0">
                <a:latin typeface="Arial"/>
                <a:cs typeface="Arial"/>
              </a:rPr>
              <a:t>Batch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submission</a:t>
            </a:r>
            <a:endParaRPr sz="1800">
              <a:latin typeface="Arial"/>
              <a:cs typeface="Arial"/>
            </a:endParaRPr>
          </a:p>
          <a:p>
            <a:pPr marR="309880" algn="ctr">
              <a:lnSpc>
                <a:spcPts val="2090"/>
              </a:lnSpc>
              <a:spcBef>
                <a:spcPts val="1130"/>
              </a:spcBef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bsub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example.lsf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Job</a:t>
            </a:r>
            <a:r>
              <a:rPr sz="1800" spc="-3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&lt;29209&gt;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submitted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default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queue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&lt;batch&gt;.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3BB334B6-1F71-8F49-34B1-31CA4E09EEF9}"/>
              </a:ext>
            </a:extLst>
          </p:cNvPr>
          <p:cNvSpPr txBox="1"/>
          <p:nvPr/>
        </p:nvSpPr>
        <p:spPr>
          <a:xfrm>
            <a:off x="8389808" y="1570495"/>
            <a:ext cx="3411592" cy="17990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1594" marR="1307465" indent="4445">
              <a:lnSpc>
                <a:spcPct val="133100"/>
              </a:lnSpc>
              <a:spcBef>
                <a:spcPts val="110"/>
              </a:spcBef>
            </a:pPr>
            <a:r>
              <a:rPr sz="1800" dirty="0">
                <a:latin typeface="Century Gothic"/>
                <a:cs typeface="Century Gothic"/>
              </a:rPr>
              <a:t>2-hour </a:t>
            </a:r>
            <a:r>
              <a:rPr sz="1800" spc="-10" dirty="0">
                <a:latin typeface="Century Gothic"/>
                <a:cs typeface="Century Gothic"/>
              </a:rPr>
              <a:t>walltime </a:t>
            </a:r>
            <a:r>
              <a:rPr sz="1800" dirty="0">
                <a:latin typeface="Century Gothic"/>
                <a:cs typeface="Century Gothic"/>
              </a:rPr>
              <a:t>2</a:t>
            </a:r>
            <a:r>
              <a:rPr sz="1800" spc="-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nodes </a:t>
            </a:r>
            <a:r>
              <a:rPr sz="1800" dirty="0">
                <a:latin typeface="Century Gothic"/>
                <a:cs typeface="Century Gothic"/>
              </a:rPr>
              <a:t>ABC007</a:t>
            </a:r>
            <a:r>
              <a:rPr sz="1800" spc="-10" dirty="0">
                <a:latin typeface="Century Gothic"/>
                <a:cs typeface="Century Gothic"/>
              </a:rPr>
              <a:t> project</a:t>
            </a:r>
            <a:endParaRPr sz="1800" dirty="0">
              <a:latin typeface="Century Gothic"/>
              <a:cs typeface="Century Gothic"/>
            </a:endParaRPr>
          </a:p>
          <a:p>
            <a:pPr marL="15875" marR="5080" indent="-3810">
              <a:lnSpc>
                <a:spcPts val="2760"/>
              </a:lnSpc>
            </a:pPr>
            <a:r>
              <a:rPr sz="1800" dirty="0">
                <a:latin typeface="Century Gothic"/>
                <a:cs typeface="Century Gothic"/>
              </a:rPr>
              <a:t>Output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file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example.o</a:t>
            </a:r>
            <a:r>
              <a:rPr sz="1800" i="1" spc="-10" dirty="0">
                <a:latin typeface="Century Gothic"/>
                <a:cs typeface="Century Gothic"/>
              </a:rPr>
              <a:t>&lt;jobid&gt; </a:t>
            </a:r>
            <a:r>
              <a:rPr sz="1800" dirty="0">
                <a:latin typeface="Century Gothic"/>
                <a:cs typeface="Century Gothic"/>
              </a:rPr>
              <a:t>Job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spc="-20" dirty="0">
                <a:latin typeface="Century Gothic"/>
                <a:cs typeface="Century Gothic"/>
              </a:rPr>
              <a:t>name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C6906075-8872-0D9E-CA75-5DAE1237B23D}"/>
              </a:ext>
            </a:extLst>
          </p:cNvPr>
          <p:cNvSpPr/>
          <p:nvPr/>
        </p:nvSpPr>
        <p:spPr>
          <a:xfrm>
            <a:off x="3036658" y="1782851"/>
            <a:ext cx="5330190" cy="2395855"/>
          </a:xfrm>
          <a:custGeom>
            <a:avLst/>
            <a:gdLst/>
            <a:ahLst/>
            <a:cxnLst/>
            <a:rect l="l" t="t" r="r" b="b"/>
            <a:pathLst>
              <a:path w="5330190" h="2395854">
                <a:moveTo>
                  <a:pt x="5274538" y="2046008"/>
                </a:moveTo>
                <a:lnTo>
                  <a:pt x="5274272" y="2007908"/>
                </a:lnTo>
                <a:lnTo>
                  <a:pt x="114160" y="2044344"/>
                </a:lnTo>
                <a:lnTo>
                  <a:pt x="113614" y="1968144"/>
                </a:lnTo>
                <a:lnTo>
                  <a:pt x="0" y="2064194"/>
                </a:lnTo>
                <a:lnTo>
                  <a:pt x="114960" y="2158644"/>
                </a:lnTo>
                <a:lnTo>
                  <a:pt x="114427" y="2082571"/>
                </a:lnTo>
                <a:lnTo>
                  <a:pt x="114427" y="2082444"/>
                </a:lnTo>
                <a:lnTo>
                  <a:pt x="5274538" y="2046008"/>
                </a:lnTo>
                <a:close/>
              </a:path>
              <a:path w="5330190" h="2395854">
                <a:moveTo>
                  <a:pt x="5274742" y="2335733"/>
                </a:moveTo>
                <a:lnTo>
                  <a:pt x="2147951" y="2281097"/>
                </a:lnTo>
                <a:lnTo>
                  <a:pt x="2147951" y="2280767"/>
                </a:lnTo>
                <a:lnTo>
                  <a:pt x="2149284" y="2204910"/>
                </a:lnTo>
                <a:lnTo>
                  <a:pt x="2033333" y="2298154"/>
                </a:lnTo>
                <a:lnTo>
                  <a:pt x="2145957" y="2395385"/>
                </a:lnTo>
                <a:lnTo>
                  <a:pt x="2147278" y="2319197"/>
                </a:lnTo>
                <a:lnTo>
                  <a:pt x="5274068" y="2373833"/>
                </a:lnTo>
                <a:lnTo>
                  <a:pt x="5274742" y="2335733"/>
                </a:lnTo>
                <a:close/>
              </a:path>
              <a:path w="5330190" h="2395854">
                <a:moveTo>
                  <a:pt x="5275999" y="1013752"/>
                </a:moveTo>
                <a:lnTo>
                  <a:pt x="5272811" y="975791"/>
                </a:lnTo>
                <a:lnTo>
                  <a:pt x="1556092" y="1286992"/>
                </a:lnTo>
                <a:lnTo>
                  <a:pt x="1549742" y="1211059"/>
                </a:lnTo>
                <a:lnTo>
                  <a:pt x="1443786" y="1315516"/>
                </a:lnTo>
                <a:lnTo>
                  <a:pt x="1565630" y="1400898"/>
                </a:lnTo>
                <a:lnTo>
                  <a:pt x="1559407" y="1326553"/>
                </a:lnTo>
                <a:lnTo>
                  <a:pt x="1559280" y="1324965"/>
                </a:lnTo>
                <a:lnTo>
                  <a:pt x="5275999" y="1013752"/>
                </a:lnTo>
                <a:close/>
              </a:path>
              <a:path w="5330190" h="2395854">
                <a:moveTo>
                  <a:pt x="5278755" y="1363814"/>
                </a:moveTo>
                <a:lnTo>
                  <a:pt x="5276520" y="1325778"/>
                </a:lnTo>
                <a:lnTo>
                  <a:pt x="1011555" y="1576539"/>
                </a:lnTo>
                <a:lnTo>
                  <a:pt x="1007084" y="1500466"/>
                </a:lnTo>
                <a:lnTo>
                  <a:pt x="898575" y="1602257"/>
                </a:lnTo>
                <a:lnTo>
                  <a:pt x="1018260" y="1690636"/>
                </a:lnTo>
                <a:lnTo>
                  <a:pt x="1013853" y="1615681"/>
                </a:lnTo>
                <a:lnTo>
                  <a:pt x="1013790" y="1614563"/>
                </a:lnTo>
                <a:lnTo>
                  <a:pt x="5278755" y="1363814"/>
                </a:lnTo>
                <a:close/>
              </a:path>
              <a:path w="5330190" h="2395854">
                <a:moveTo>
                  <a:pt x="5325097" y="687463"/>
                </a:moveTo>
                <a:lnTo>
                  <a:pt x="5321592" y="649528"/>
                </a:lnTo>
                <a:lnTo>
                  <a:pt x="964920" y="1051890"/>
                </a:lnTo>
                <a:lnTo>
                  <a:pt x="957910" y="976007"/>
                </a:lnTo>
                <a:lnTo>
                  <a:pt x="852855" y="1081366"/>
                </a:lnTo>
                <a:lnTo>
                  <a:pt x="975436" y="1165707"/>
                </a:lnTo>
                <a:lnTo>
                  <a:pt x="968578" y="1091577"/>
                </a:lnTo>
                <a:lnTo>
                  <a:pt x="968425" y="1089825"/>
                </a:lnTo>
                <a:lnTo>
                  <a:pt x="5325097" y="687463"/>
                </a:lnTo>
                <a:close/>
              </a:path>
              <a:path w="5330190" h="2395854">
                <a:moveTo>
                  <a:pt x="5325364" y="363067"/>
                </a:moveTo>
                <a:lnTo>
                  <a:pt x="5321325" y="325183"/>
                </a:lnTo>
                <a:lnTo>
                  <a:pt x="910907" y="796277"/>
                </a:lnTo>
                <a:lnTo>
                  <a:pt x="902817" y="720509"/>
                </a:lnTo>
                <a:lnTo>
                  <a:pt x="799287" y="827366"/>
                </a:lnTo>
                <a:lnTo>
                  <a:pt x="923048" y="909929"/>
                </a:lnTo>
                <a:lnTo>
                  <a:pt x="915174" y="836193"/>
                </a:lnTo>
                <a:lnTo>
                  <a:pt x="914958" y="834161"/>
                </a:lnTo>
                <a:lnTo>
                  <a:pt x="5325364" y="363067"/>
                </a:lnTo>
                <a:close/>
              </a:path>
              <a:path w="5330190" h="2395854">
                <a:moveTo>
                  <a:pt x="5330152" y="37858"/>
                </a:moveTo>
                <a:lnTo>
                  <a:pt x="5325808" y="0"/>
                </a:lnTo>
                <a:lnTo>
                  <a:pt x="749058" y="524243"/>
                </a:lnTo>
                <a:lnTo>
                  <a:pt x="740384" y="448538"/>
                </a:lnTo>
                <a:lnTo>
                  <a:pt x="637667" y="556171"/>
                </a:lnTo>
                <a:lnTo>
                  <a:pt x="762063" y="637794"/>
                </a:lnTo>
                <a:lnTo>
                  <a:pt x="753643" y="564261"/>
                </a:lnTo>
                <a:lnTo>
                  <a:pt x="753389" y="562102"/>
                </a:lnTo>
                <a:lnTo>
                  <a:pt x="5330152" y="37858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DB01CBA7-3BCA-1501-F502-1BE09AFA0ED1}"/>
              </a:ext>
            </a:extLst>
          </p:cNvPr>
          <p:cNvSpPr txBox="1"/>
          <p:nvPr/>
        </p:nvSpPr>
        <p:spPr>
          <a:xfrm>
            <a:off x="1936304" y="1350023"/>
            <a:ext cx="2146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Batch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script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example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26F9C981-1A20-E214-3A3A-AC1EB5A8F108}"/>
              </a:ext>
            </a:extLst>
          </p:cNvPr>
          <p:cNvSpPr txBox="1"/>
          <p:nvPr/>
        </p:nvSpPr>
        <p:spPr>
          <a:xfrm>
            <a:off x="8389808" y="3579127"/>
            <a:ext cx="2887762" cy="713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100"/>
              </a:spcBef>
            </a:pPr>
            <a:r>
              <a:rPr sz="1800" dirty="0">
                <a:latin typeface="Century Gothic"/>
                <a:cs typeface="Century Gothic"/>
              </a:rPr>
              <a:t>Batch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node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(</a:t>
            </a:r>
            <a:r>
              <a:rPr sz="1800" i="1" spc="-10" dirty="0">
                <a:solidFill>
                  <a:srgbClr val="595959"/>
                </a:solidFill>
                <a:latin typeface="Century Gothic"/>
                <a:cs typeface="Century Gothic"/>
              </a:rPr>
              <a:t>batch2</a:t>
            </a:r>
            <a:r>
              <a:rPr sz="1800" spc="-10" dirty="0">
                <a:latin typeface="Century Gothic"/>
                <a:cs typeface="Century Gothic"/>
              </a:rPr>
              <a:t>) </a:t>
            </a:r>
            <a:r>
              <a:rPr sz="1800" dirty="0">
                <a:latin typeface="Century Gothic"/>
                <a:cs typeface="Century Gothic"/>
              </a:rPr>
              <a:t>Compute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node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(</a:t>
            </a:r>
            <a:r>
              <a:rPr sz="1800" i="1" spc="-10" dirty="0">
                <a:solidFill>
                  <a:srgbClr val="595959"/>
                </a:solidFill>
                <a:latin typeface="Century Gothic"/>
                <a:cs typeface="Century Gothic"/>
              </a:rPr>
              <a:t>h23n01</a:t>
            </a:r>
            <a:r>
              <a:rPr sz="1800" spc="-10" dirty="0">
                <a:latin typeface="Century Gothic"/>
                <a:cs typeface="Century Gothic"/>
              </a:rPr>
              <a:t>)</a:t>
            </a:r>
            <a:endParaRPr sz="18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99879792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LSF Interactive Batch Job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D2B3C1F-4151-F676-74D1-15DAB3CF4EB5}"/>
              </a:ext>
            </a:extLst>
          </p:cNvPr>
          <p:cNvSpPr txBox="1"/>
          <p:nvPr/>
        </p:nvSpPr>
        <p:spPr>
          <a:xfrm>
            <a:off x="496144" y="912399"/>
            <a:ext cx="12665496" cy="3223959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320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300" dirty="0">
                <a:latin typeface="Arial"/>
                <a:cs typeface="Arial"/>
              </a:rPr>
              <a:t>Allows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access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to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compute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resources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interactively</a:t>
            </a:r>
            <a:endParaRPr sz="2300" dirty="0">
              <a:latin typeface="Arial"/>
              <a:cs typeface="Arial"/>
            </a:endParaRPr>
          </a:p>
          <a:p>
            <a:pPr marL="300355" marR="5080" indent="-287655">
              <a:lnSpc>
                <a:spcPts val="1900"/>
              </a:lnSpc>
              <a:spcBef>
                <a:spcPts val="1505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300" dirty="0">
                <a:latin typeface="Arial"/>
                <a:cs typeface="Arial"/>
              </a:rPr>
              <a:t>Through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batch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system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similar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to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batch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script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submission,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but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returns</a:t>
            </a:r>
            <a:r>
              <a:rPr sz="2300" spc="-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prompt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on </a:t>
            </a:r>
            <a:r>
              <a:rPr sz="2300" dirty="0">
                <a:latin typeface="Arial"/>
                <a:cs typeface="Arial"/>
              </a:rPr>
              <a:t>launch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node</a:t>
            </a:r>
            <a:endParaRPr sz="2300" dirty="0">
              <a:latin typeface="Arial"/>
              <a:cs typeface="Arial"/>
            </a:endParaRPr>
          </a:p>
          <a:p>
            <a:pPr marL="300355" marR="792480" indent="-287655">
              <a:lnSpc>
                <a:spcPts val="1900"/>
              </a:lnSpc>
              <a:spcBef>
                <a:spcPts val="1505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300" dirty="0">
                <a:latin typeface="Arial"/>
                <a:cs typeface="Arial"/>
              </a:rPr>
              <a:t>Run</a:t>
            </a:r>
            <a:r>
              <a:rPr sz="2300" spc="-3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multiple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jsrun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with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only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one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queue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wait,</a:t>
            </a:r>
            <a:r>
              <a:rPr sz="2300" spc="47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very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useful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for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testing</a:t>
            </a:r>
            <a:r>
              <a:rPr sz="2300" spc="-1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and </a:t>
            </a:r>
            <a:r>
              <a:rPr sz="2300" spc="-10" dirty="0">
                <a:latin typeface="Arial"/>
                <a:cs typeface="Arial"/>
              </a:rPr>
              <a:t>debugging</a:t>
            </a:r>
            <a:endParaRPr lang="en-US" sz="2300" spc="-10" dirty="0">
              <a:latin typeface="Arial"/>
              <a:cs typeface="Arial"/>
            </a:endParaRPr>
          </a:p>
          <a:p>
            <a:pPr marL="300355" marR="792480" indent="-287655">
              <a:lnSpc>
                <a:spcPts val="1900"/>
              </a:lnSpc>
              <a:spcBef>
                <a:spcPts val="1505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lang="en-US" altLang="zh-CN" sz="2300" spc="-10" dirty="0">
                <a:latin typeface="Arial"/>
                <a:cs typeface="Arial"/>
              </a:rPr>
              <a:t>Syntax</a:t>
            </a:r>
            <a:endParaRPr lang="en-US" altLang="zh-CN" sz="2300" dirty="0">
              <a:latin typeface="Arial"/>
              <a:cs typeface="Arial"/>
            </a:endParaRPr>
          </a:p>
          <a:p>
            <a:pPr marL="868680" lvl="1" indent="-285750">
              <a:spcBef>
                <a:spcPts val="819"/>
              </a:spcBef>
              <a:buSzPct val="92857"/>
              <a:buFont typeface="Century Gothic"/>
              <a:buChar char="–"/>
              <a:tabLst>
                <a:tab pos="297815" algn="l"/>
                <a:tab pos="298450" algn="l"/>
              </a:tabLst>
            </a:pPr>
            <a:r>
              <a:rPr lang="en-US" altLang="zh-CN" sz="2300" dirty="0">
                <a:latin typeface="Arial"/>
                <a:cs typeface="Arial"/>
              </a:rPr>
              <a:t>Use</a:t>
            </a:r>
            <a:r>
              <a:rPr lang="en-US" altLang="zh-CN" sz="2300" spc="-3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Times New Roman"/>
                <a:cs typeface="Times New Roman"/>
              </a:rPr>
              <a:t>–Is </a:t>
            </a:r>
            <a:r>
              <a:rPr lang="en-US" altLang="zh-CN" sz="2300" dirty="0">
                <a:latin typeface="Arial"/>
                <a:cs typeface="Arial"/>
              </a:rPr>
              <a:t>and</a:t>
            </a:r>
            <a:r>
              <a:rPr lang="en-US" altLang="zh-CN" sz="2300" spc="-1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the</a:t>
            </a:r>
            <a:r>
              <a:rPr lang="en-US" altLang="zh-CN" sz="2300" spc="-15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shell</a:t>
            </a:r>
            <a:r>
              <a:rPr lang="en-US" altLang="zh-CN" sz="2300" spc="-5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to</a:t>
            </a:r>
            <a:r>
              <a:rPr lang="en-US" altLang="zh-CN" sz="2300" spc="-1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be</a:t>
            </a:r>
            <a:r>
              <a:rPr lang="en-US" altLang="zh-CN" sz="2300" spc="-10" dirty="0">
                <a:latin typeface="Arial"/>
                <a:cs typeface="Arial"/>
              </a:rPr>
              <a:t> started</a:t>
            </a:r>
            <a:endParaRPr lang="en-US" altLang="zh-CN" sz="2300" dirty="0">
              <a:latin typeface="Arial"/>
              <a:cs typeface="Arial"/>
            </a:endParaRPr>
          </a:p>
          <a:p>
            <a:pPr marL="868680" lvl="1" indent="-285750">
              <a:spcBef>
                <a:spcPts val="720"/>
              </a:spcBef>
              <a:buSzPct val="92857"/>
              <a:buFont typeface="Century Gothic"/>
              <a:buChar char="–"/>
              <a:tabLst>
                <a:tab pos="297815" algn="l"/>
                <a:tab pos="298450" algn="l"/>
              </a:tabLst>
            </a:pPr>
            <a:r>
              <a:rPr lang="en-US" altLang="zh-CN" sz="2300" dirty="0">
                <a:latin typeface="Arial"/>
                <a:cs typeface="Arial"/>
              </a:rPr>
              <a:t>Most</a:t>
            </a:r>
            <a:r>
              <a:rPr lang="en-US" altLang="zh-CN" sz="2300" spc="-2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other</a:t>
            </a:r>
            <a:r>
              <a:rPr lang="en-US" altLang="zh-CN" sz="2300" spc="-25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batch</a:t>
            </a:r>
            <a:r>
              <a:rPr lang="en-US" altLang="zh-CN" sz="2300" spc="-2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flags</a:t>
            </a:r>
            <a:r>
              <a:rPr lang="en-US" altLang="zh-CN" sz="2300" spc="-20" dirty="0">
                <a:latin typeface="Arial"/>
                <a:cs typeface="Arial"/>
              </a:rPr>
              <a:t> </a:t>
            </a:r>
            <a:r>
              <a:rPr lang="en-US" altLang="zh-CN" sz="2300" spc="-10" dirty="0">
                <a:latin typeface="Arial"/>
                <a:cs typeface="Arial"/>
              </a:rPr>
              <a:t>valid</a:t>
            </a:r>
            <a:endParaRPr lang="en-US" altLang="zh-CN" sz="2300" dirty="0">
              <a:latin typeface="Arial"/>
              <a:cs typeface="Arial"/>
            </a:endParaRPr>
          </a:p>
          <a:p>
            <a:pPr marL="868680" lvl="1" indent="-285750">
              <a:spcBef>
                <a:spcPts val="625"/>
              </a:spcBef>
              <a:buSzPct val="92857"/>
              <a:buFont typeface="Century Gothic"/>
              <a:buChar char="–"/>
              <a:tabLst>
                <a:tab pos="297815" algn="l"/>
                <a:tab pos="298450" algn="l"/>
              </a:tabLst>
            </a:pPr>
            <a:r>
              <a:rPr lang="en-US" altLang="zh-CN" sz="2300" dirty="0">
                <a:latin typeface="Arial"/>
                <a:cs typeface="Arial"/>
              </a:rPr>
              <a:t>Add</a:t>
            </a:r>
            <a:r>
              <a:rPr lang="en-US" altLang="zh-CN" sz="2300" spc="-2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batch</a:t>
            </a:r>
            <a:r>
              <a:rPr lang="en-US" altLang="zh-CN" sz="2300" spc="-2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flags</a:t>
            </a:r>
            <a:r>
              <a:rPr lang="en-US" altLang="zh-CN" sz="2300" spc="-15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to</a:t>
            </a:r>
            <a:r>
              <a:rPr lang="en-US" altLang="zh-CN" sz="2300" spc="-20" dirty="0">
                <a:latin typeface="Arial"/>
                <a:cs typeface="Arial"/>
              </a:rPr>
              <a:t> </a:t>
            </a:r>
            <a:r>
              <a:rPr lang="en-US" altLang="zh-CN" sz="2300" dirty="0">
                <a:latin typeface="Arial"/>
                <a:cs typeface="Arial"/>
              </a:rPr>
              <a:t>command</a:t>
            </a:r>
            <a:r>
              <a:rPr lang="en-US" altLang="zh-CN" sz="2300" spc="-15" dirty="0">
                <a:latin typeface="Arial"/>
                <a:cs typeface="Arial"/>
              </a:rPr>
              <a:t> </a:t>
            </a:r>
            <a:r>
              <a:rPr lang="en-US" altLang="zh-CN" sz="2300" spc="-20" dirty="0">
                <a:latin typeface="Arial"/>
                <a:cs typeface="Arial"/>
              </a:rPr>
              <a:t>line</a:t>
            </a:r>
            <a:endParaRPr lang="en-US" altLang="zh-CN" sz="2300" dirty="0">
              <a:latin typeface="Arial"/>
              <a:cs typeface="Arial"/>
            </a:endParaRPr>
          </a:p>
        </p:txBody>
      </p:sp>
      <p:grpSp>
        <p:nvGrpSpPr>
          <p:cNvPr id="5" name="object 6">
            <a:extLst>
              <a:ext uri="{FF2B5EF4-FFF2-40B4-BE49-F238E27FC236}">
                <a16:creationId xmlns:a16="http://schemas.microsoft.com/office/drawing/2014/main" id="{087CB50F-6789-B369-4650-21866B02F126}"/>
              </a:ext>
            </a:extLst>
          </p:cNvPr>
          <p:cNvGrpSpPr/>
          <p:nvPr/>
        </p:nvGrpSpPr>
        <p:grpSpPr>
          <a:xfrm>
            <a:off x="1792288" y="4104506"/>
            <a:ext cx="7823834" cy="2649855"/>
            <a:chOff x="1837944" y="3898391"/>
            <a:chExt cx="7823834" cy="2649855"/>
          </a:xfrm>
        </p:grpSpPr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4AF20AC-8248-146E-BC4F-16DC85A2D045}"/>
                </a:ext>
              </a:extLst>
            </p:cNvPr>
            <p:cNvSpPr/>
            <p:nvPr/>
          </p:nvSpPr>
          <p:spPr>
            <a:xfrm>
              <a:off x="1888954" y="3962401"/>
              <a:ext cx="7772400" cy="2585720"/>
            </a:xfrm>
            <a:custGeom>
              <a:avLst/>
              <a:gdLst/>
              <a:ahLst/>
              <a:cxnLst/>
              <a:rect l="l" t="t" r="r" b="b"/>
              <a:pathLst>
                <a:path w="7772400" h="2585720">
                  <a:moveTo>
                    <a:pt x="7772400" y="0"/>
                  </a:moveTo>
                  <a:lnTo>
                    <a:pt x="0" y="0"/>
                  </a:lnTo>
                  <a:lnTo>
                    <a:pt x="0" y="2585322"/>
                  </a:lnTo>
                  <a:lnTo>
                    <a:pt x="7772400" y="2585322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8">
              <a:extLst>
                <a:ext uri="{FF2B5EF4-FFF2-40B4-BE49-F238E27FC236}">
                  <a16:creationId xmlns:a16="http://schemas.microsoft.com/office/drawing/2014/main" id="{00E2A3CE-1879-7E07-C447-E9D1461858C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7944" y="3898391"/>
              <a:ext cx="1021080" cy="493775"/>
            </a:xfrm>
            <a:prstGeom prst="rect">
              <a:avLst/>
            </a:prstGeom>
          </p:spPr>
        </p:pic>
        <p:pic>
          <p:nvPicPr>
            <p:cNvPr id="8" name="object 9">
              <a:extLst>
                <a:ext uri="{FF2B5EF4-FFF2-40B4-BE49-F238E27FC236}">
                  <a16:creationId xmlns:a16="http://schemas.microsoft.com/office/drawing/2014/main" id="{531F4B45-0327-E5C8-8B4A-6E32F68F32B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5560" y="3898391"/>
              <a:ext cx="359663" cy="493775"/>
            </a:xfrm>
            <a:prstGeom prst="rect">
              <a:avLst/>
            </a:prstGeom>
          </p:spPr>
        </p:pic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F97661E4-573E-07BE-7AA1-2F103BB585B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1760" y="3898391"/>
              <a:ext cx="1088136" cy="493775"/>
            </a:xfrm>
            <a:prstGeom prst="rect">
              <a:avLst/>
            </a:prstGeom>
          </p:spPr>
        </p:pic>
        <p:pic>
          <p:nvPicPr>
            <p:cNvPr id="10" name="object 11">
              <a:extLst>
                <a:ext uri="{FF2B5EF4-FFF2-40B4-BE49-F238E27FC236}">
                  <a16:creationId xmlns:a16="http://schemas.microsoft.com/office/drawing/2014/main" id="{9983E030-2D42-2BBA-2442-0A55DEFEC3F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7944" y="4888991"/>
              <a:ext cx="1021080" cy="493775"/>
            </a:xfrm>
            <a:prstGeom prst="rect">
              <a:avLst/>
            </a:prstGeom>
          </p:spPr>
        </p:pic>
        <p:pic>
          <p:nvPicPr>
            <p:cNvPr id="11" name="object 12">
              <a:extLst>
                <a:ext uri="{FF2B5EF4-FFF2-40B4-BE49-F238E27FC236}">
                  <a16:creationId xmlns:a16="http://schemas.microsoft.com/office/drawing/2014/main" id="{E33B07D7-517B-383D-17FD-B06989854B5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5560" y="4888991"/>
              <a:ext cx="359663" cy="493775"/>
            </a:xfrm>
            <a:prstGeom prst="rect">
              <a:avLst/>
            </a:prstGeom>
          </p:spPr>
        </p:pic>
        <p:pic>
          <p:nvPicPr>
            <p:cNvPr id="12" name="object 13">
              <a:extLst>
                <a:ext uri="{FF2B5EF4-FFF2-40B4-BE49-F238E27FC236}">
                  <a16:creationId xmlns:a16="http://schemas.microsoft.com/office/drawing/2014/main" id="{1B242365-8D1E-C5E1-17AD-E7BFC7AF137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1760" y="4888991"/>
              <a:ext cx="1609343" cy="493775"/>
            </a:xfrm>
            <a:prstGeom prst="rect">
              <a:avLst/>
            </a:prstGeom>
          </p:spPr>
        </p:pic>
        <p:pic>
          <p:nvPicPr>
            <p:cNvPr id="13" name="object 14">
              <a:extLst>
                <a:ext uri="{FF2B5EF4-FFF2-40B4-BE49-F238E27FC236}">
                  <a16:creationId xmlns:a16="http://schemas.microsoft.com/office/drawing/2014/main" id="{06EF3B57-49A2-6E73-84FF-16CACC8038E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37944" y="5385815"/>
              <a:ext cx="1021080" cy="490728"/>
            </a:xfrm>
            <a:prstGeom prst="rect">
              <a:avLst/>
            </a:prstGeom>
          </p:spPr>
        </p:pic>
        <p:pic>
          <p:nvPicPr>
            <p:cNvPr id="14" name="object 15">
              <a:extLst>
                <a:ext uri="{FF2B5EF4-FFF2-40B4-BE49-F238E27FC236}">
                  <a16:creationId xmlns:a16="http://schemas.microsoft.com/office/drawing/2014/main" id="{0409EBDD-AACF-5B4F-56DB-02D9CEDFEF1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75560" y="5385815"/>
              <a:ext cx="359663" cy="490728"/>
            </a:xfrm>
            <a:prstGeom prst="rect">
              <a:avLst/>
            </a:prstGeom>
          </p:spPr>
        </p:pic>
        <p:pic>
          <p:nvPicPr>
            <p:cNvPr id="15" name="object 16">
              <a:extLst>
                <a:ext uri="{FF2B5EF4-FFF2-40B4-BE49-F238E27FC236}">
                  <a16:creationId xmlns:a16="http://schemas.microsoft.com/office/drawing/2014/main" id="{0EBF5FF7-8C4F-2FDC-DFE9-9770DEE977F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51760" y="5385815"/>
              <a:ext cx="1609343" cy="490728"/>
            </a:xfrm>
            <a:prstGeom prst="rect">
              <a:avLst/>
            </a:prstGeom>
          </p:spPr>
        </p:pic>
      </p:grpSp>
      <p:sp>
        <p:nvSpPr>
          <p:cNvPr id="16" name="object 17">
            <a:extLst>
              <a:ext uri="{FF2B5EF4-FFF2-40B4-BE49-F238E27FC236}">
                <a16:creationId xmlns:a16="http://schemas.microsoft.com/office/drawing/2014/main" id="{14B86E5C-C9EB-383A-7289-59DF28815B22}"/>
              </a:ext>
            </a:extLst>
          </p:cNvPr>
          <p:cNvSpPr txBox="1"/>
          <p:nvPr/>
        </p:nvSpPr>
        <p:spPr>
          <a:xfrm>
            <a:off x="1922038" y="4164959"/>
            <a:ext cx="6517005" cy="230896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1619250">
              <a:lnSpc>
                <a:spcPts val="1989"/>
              </a:lnSpc>
              <a:spcBef>
                <a:spcPts val="305"/>
              </a:spcBef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bsub</a:t>
            </a:r>
            <a:r>
              <a:rPr sz="18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-Is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-P</a:t>
            </a:r>
            <a:r>
              <a:rPr sz="1800" spc="-4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abc007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–nnodes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–W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2:00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$SHELL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Job</a:t>
            </a:r>
            <a:r>
              <a:rPr sz="1800" spc="-3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&lt;29507&gt;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submitted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default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queue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&lt;batch&gt;.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775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&lt;&lt;Waiting</a:t>
            </a:r>
            <a:r>
              <a:rPr sz="1800" spc="-5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for</a:t>
            </a:r>
            <a:r>
              <a:rPr sz="1800" spc="-4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dispatch</a:t>
            </a:r>
            <a:r>
              <a:rPr sz="1800" spc="-4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...&gt;&gt;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955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&lt;&lt;Starting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batch1&gt;&gt;</a:t>
            </a:r>
            <a:endParaRPr sz="1800" dirty="0">
              <a:latin typeface="Arial"/>
              <a:cs typeface="Arial"/>
            </a:endParaRPr>
          </a:p>
          <a:p>
            <a:pPr marL="2152650">
              <a:lnSpc>
                <a:spcPts val="1955"/>
              </a:lnSpc>
            </a:pP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hostname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945"/>
              </a:lnSpc>
            </a:pP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batch1</a:t>
            </a:r>
            <a:endParaRPr sz="1800" dirty="0">
              <a:latin typeface="Arial"/>
              <a:cs typeface="Arial"/>
            </a:endParaRPr>
          </a:p>
          <a:p>
            <a:pPr marL="2152650">
              <a:lnSpc>
                <a:spcPts val="1895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jsrun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-n2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-r1</a:t>
            </a:r>
            <a:r>
              <a:rPr sz="18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hostname</a:t>
            </a:r>
            <a:endParaRPr sz="1800" dirty="0">
              <a:latin typeface="Arial"/>
              <a:cs typeface="Arial"/>
            </a:endParaRPr>
          </a:p>
          <a:p>
            <a:pPr marL="12700" marR="5734050">
              <a:lnSpc>
                <a:spcPts val="2020"/>
              </a:lnSpc>
              <a:spcBef>
                <a:spcPts val="55"/>
              </a:spcBef>
            </a:pP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a01n01 a01n02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7" name="object 18">
            <a:extLst>
              <a:ext uri="{FF2B5EF4-FFF2-40B4-BE49-F238E27FC236}">
                <a16:creationId xmlns:a16="http://schemas.microsoft.com/office/drawing/2014/main" id="{4B7D1B99-C8E5-036A-7E16-1E1BFEBD21C9}"/>
              </a:ext>
            </a:extLst>
          </p:cNvPr>
          <p:cNvGrpSpPr/>
          <p:nvPr/>
        </p:nvGrpSpPr>
        <p:grpSpPr>
          <a:xfrm>
            <a:off x="1792288" y="6326498"/>
            <a:ext cx="2359660" cy="494030"/>
            <a:chOff x="1837944" y="6120383"/>
            <a:chExt cx="2359660" cy="494030"/>
          </a:xfrm>
        </p:grpSpPr>
        <p:pic>
          <p:nvPicPr>
            <p:cNvPr id="18" name="object 19">
              <a:extLst>
                <a:ext uri="{FF2B5EF4-FFF2-40B4-BE49-F238E27FC236}">
                  <a16:creationId xmlns:a16="http://schemas.microsoft.com/office/drawing/2014/main" id="{9BA6AAD9-F361-9117-5C8F-81F7FF308D7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7944" y="6120383"/>
              <a:ext cx="1021080" cy="493776"/>
            </a:xfrm>
            <a:prstGeom prst="rect">
              <a:avLst/>
            </a:prstGeom>
          </p:spPr>
        </p:pic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F8ACF0FC-9DF7-B6D3-91B6-18F876351CE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5560" y="6120383"/>
              <a:ext cx="359663" cy="493776"/>
            </a:xfrm>
            <a:prstGeom prst="rect">
              <a:avLst/>
            </a:prstGeom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194E2BB1-C58D-2ACC-5976-21F58915A33E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51760" y="6120383"/>
              <a:ext cx="1545336" cy="493776"/>
            </a:xfrm>
            <a:prstGeom prst="rect">
              <a:avLst/>
            </a:prstGeom>
          </p:spPr>
        </p:pic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D6C3EE8B-AA5F-EAEA-8BE5-423A05AF6598}"/>
              </a:ext>
            </a:extLst>
          </p:cNvPr>
          <p:cNvSpPr txBox="1"/>
          <p:nvPr/>
        </p:nvSpPr>
        <p:spPr>
          <a:xfrm>
            <a:off x="7396568" y="2894916"/>
            <a:ext cx="4908888" cy="1071575"/>
          </a:xfrm>
          <a:prstGeom prst="rect">
            <a:avLst/>
          </a:prstGeom>
          <a:solidFill>
            <a:srgbClr val="F2F2F2"/>
          </a:solidFill>
          <a:ln w="9525">
            <a:solidFill>
              <a:srgbClr val="447E59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279400" marR="271145" algn="ctr">
              <a:lnSpc>
                <a:spcPct val="150000"/>
              </a:lnSpc>
              <a:spcBef>
                <a:spcPts val="250"/>
              </a:spcBef>
            </a:pPr>
            <a:r>
              <a:rPr sz="2400" dirty="0">
                <a:latin typeface="Arial"/>
                <a:cs typeface="Arial"/>
              </a:rPr>
              <a:t>Presentation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examples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following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allocate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resources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5577269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Common LSF Commands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F3960A52-8FFA-719B-DCB2-FC77475CB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238820"/>
              </p:ext>
            </p:extLst>
          </p:nvPr>
        </p:nvGraphicFramePr>
        <p:xfrm>
          <a:off x="255410" y="1368202"/>
          <a:ext cx="12290779" cy="49857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8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6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2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72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Function</a:t>
                      </a:r>
                      <a:endParaRPr sz="2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PBS/MOAB</a:t>
                      </a:r>
                      <a:endParaRPr sz="2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SLURM</a:t>
                      </a:r>
                      <a:endParaRPr sz="28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LSF</a:t>
                      </a:r>
                      <a:endParaRPr sz="28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05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600" b="1" spc="-10" dirty="0">
                          <a:latin typeface="Century Gothic"/>
                          <a:cs typeface="Century Gothic"/>
                        </a:rPr>
                        <a:t>Submit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600" spc="-20" dirty="0">
                          <a:latin typeface="Century Gothic"/>
                          <a:cs typeface="Century Gothic"/>
                        </a:rPr>
                        <a:t>qsub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sbatch/salloc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600" spc="-20" dirty="0">
                          <a:latin typeface="Century Gothic"/>
                          <a:cs typeface="Century Gothic"/>
                        </a:rPr>
                        <a:t>bsub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5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b="1" dirty="0">
                          <a:latin typeface="Century Gothic"/>
                          <a:cs typeface="Century Gothic"/>
                        </a:rPr>
                        <a:t>Monitor</a:t>
                      </a:r>
                      <a:r>
                        <a:rPr sz="2600" b="1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spc="-10" dirty="0">
                          <a:latin typeface="Century Gothic"/>
                          <a:cs typeface="Century Gothic"/>
                        </a:rPr>
                        <a:t>Queue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showq/qstat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squeue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bjobs/jobstat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81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b="1" dirty="0">
                          <a:latin typeface="Century Gothic"/>
                          <a:cs typeface="Century Gothic"/>
                        </a:rPr>
                        <a:t>Investigate</a:t>
                      </a:r>
                      <a:r>
                        <a:rPr sz="2600" b="1" spc="-5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spc="-25" dirty="0">
                          <a:latin typeface="Century Gothic"/>
                          <a:cs typeface="Century Gothic"/>
                        </a:rPr>
                        <a:t>Job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checkjob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scontrol/sacct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bhist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527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b="1" dirty="0">
                          <a:latin typeface="Century Gothic"/>
                          <a:cs typeface="Century Gothic"/>
                        </a:rPr>
                        <a:t>Alter</a:t>
                      </a:r>
                      <a:r>
                        <a:rPr sz="2600" b="1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dirty="0">
                          <a:latin typeface="Century Gothic"/>
                          <a:cs typeface="Century Gothic"/>
                        </a:rPr>
                        <a:t>Queued</a:t>
                      </a:r>
                      <a:r>
                        <a:rPr sz="2600" b="1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spc="-25" dirty="0">
                          <a:latin typeface="Century Gothic"/>
                          <a:cs typeface="Century Gothic"/>
                        </a:rPr>
                        <a:t>Job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qalter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dirty="0">
                          <a:latin typeface="Century Gothic"/>
                          <a:cs typeface="Century Gothic"/>
                        </a:rPr>
                        <a:t>scontrol</a:t>
                      </a:r>
                      <a:r>
                        <a:rPr sz="26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spc="-10" dirty="0">
                          <a:latin typeface="Century Gothic"/>
                          <a:cs typeface="Century Gothic"/>
                        </a:rPr>
                        <a:t>update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20" dirty="0">
                          <a:latin typeface="Century Gothic"/>
                          <a:cs typeface="Century Gothic"/>
                        </a:rPr>
                        <a:t>bmod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97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b="1" dirty="0">
                          <a:latin typeface="Century Gothic"/>
                          <a:cs typeface="Century Gothic"/>
                        </a:rPr>
                        <a:t>Remove</a:t>
                      </a:r>
                      <a:r>
                        <a:rPr sz="2600" b="1" spc="-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dirty="0">
                          <a:latin typeface="Century Gothic"/>
                          <a:cs typeface="Century Gothic"/>
                        </a:rPr>
                        <a:t>Queued</a:t>
                      </a:r>
                      <a:r>
                        <a:rPr sz="2600" b="1" spc="-25" dirty="0">
                          <a:latin typeface="Century Gothic"/>
                          <a:cs typeface="Century Gothic"/>
                        </a:rPr>
                        <a:t> Job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20" dirty="0">
                          <a:latin typeface="Century Gothic"/>
                          <a:cs typeface="Century Gothic"/>
                        </a:rPr>
                        <a:t>qdel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scancel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bkill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44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527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b="1" dirty="0">
                          <a:latin typeface="Century Gothic"/>
                          <a:cs typeface="Century Gothic"/>
                        </a:rPr>
                        <a:t>Hold</a:t>
                      </a:r>
                      <a:r>
                        <a:rPr sz="2600" b="1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dirty="0">
                          <a:latin typeface="Century Gothic"/>
                          <a:cs typeface="Century Gothic"/>
                        </a:rPr>
                        <a:t>Queued</a:t>
                      </a:r>
                      <a:r>
                        <a:rPr sz="2600" b="1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spc="-25" dirty="0">
                          <a:latin typeface="Century Gothic"/>
                          <a:cs typeface="Century Gothic"/>
                        </a:rPr>
                        <a:t>Job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qhold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dirty="0">
                          <a:latin typeface="Century Gothic"/>
                          <a:cs typeface="Century Gothic"/>
                        </a:rPr>
                        <a:t>scontrol</a:t>
                      </a:r>
                      <a:r>
                        <a:rPr sz="2600" spc="-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spc="-20" dirty="0">
                          <a:latin typeface="Century Gothic"/>
                          <a:cs typeface="Century Gothic"/>
                        </a:rPr>
                        <a:t>hold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bstop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81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b="1" dirty="0">
                          <a:latin typeface="Century Gothic"/>
                          <a:cs typeface="Century Gothic"/>
                        </a:rPr>
                        <a:t>Release</a:t>
                      </a:r>
                      <a:r>
                        <a:rPr sz="2600" b="1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dirty="0">
                          <a:latin typeface="Century Gothic"/>
                          <a:cs typeface="Century Gothic"/>
                        </a:rPr>
                        <a:t>Held</a:t>
                      </a:r>
                      <a:r>
                        <a:rPr sz="2600" b="1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b="1" spc="-25" dirty="0">
                          <a:latin typeface="Century Gothic"/>
                          <a:cs typeface="Century Gothic"/>
                        </a:rPr>
                        <a:t>Job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20" dirty="0">
                          <a:latin typeface="Century Gothic"/>
                          <a:cs typeface="Century Gothic"/>
                        </a:rPr>
                        <a:t>qrls</a:t>
                      </a:r>
                      <a:endParaRPr sz="260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dirty="0">
                          <a:latin typeface="Century Gothic"/>
                          <a:cs typeface="Century Gothic"/>
                        </a:rPr>
                        <a:t>scontrol</a:t>
                      </a:r>
                      <a:r>
                        <a:rPr sz="26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600" spc="-10" dirty="0">
                          <a:latin typeface="Century Gothic"/>
                          <a:cs typeface="Century Gothic"/>
                        </a:rPr>
                        <a:t>release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600" spc="-10" dirty="0">
                          <a:latin typeface="Century Gothic"/>
                          <a:cs typeface="Century Gothic"/>
                        </a:rPr>
                        <a:t>bresume</a:t>
                      </a:r>
                      <a:endParaRPr sz="2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085937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Viewing the Batch Queue with </a:t>
            </a:r>
            <a:r>
              <a:rPr lang="en-US" altLang="zh-CN" dirty="0" err="1">
                <a:sym typeface="+mn-ea"/>
              </a:rPr>
              <a:t>jobstat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41" name="object 3">
            <a:extLst>
              <a:ext uri="{FF2B5EF4-FFF2-40B4-BE49-F238E27FC236}">
                <a16:creationId xmlns:a16="http://schemas.microsoft.com/office/drawing/2014/main" id="{428B20A7-84D8-3384-3CB6-16EE4A4063DC}"/>
              </a:ext>
            </a:extLst>
          </p:cNvPr>
          <p:cNvSpPr/>
          <p:nvPr/>
        </p:nvSpPr>
        <p:spPr>
          <a:xfrm>
            <a:off x="1216224" y="2016274"/>
            <a:ext cx="9591040" cy="3970654"/>
          </a:xfrm>
          <a:custGeom>
            <a:avLst/>
            <a:gdLst/>
            <a:ahLst/>
            <a:cxnLst/>
            <a:rect l="l" t="t" r="r" b="b"/>
            <a:pathLst>
              <a:path w="9591040" h="3970654">
                <a:moveTo>
                  <a:pt x="9590710" y="0"/>
                </a:moveTo>
                <a:lnTo>
                  <a:pt x="0" y="0"/>
                </a:lnTo>
                <a:lnTo>
                  <a:pt x="0" y="3873995"/>
                </a:lnTo>
                <a:lnTo>
                  <a:pt x="0" y="3970324"/>
                </a:lnTo>
                <a:lnTo>
                  <a:pt x="9590710" y="3970324"/>
                </a:lnTo>
                <a:lnTo>
                  <a:pt x="9590710" y="3873995"/>
                </a:lnTo>
                <a:lnTo>
                  <a:pt x="95907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">
            <a:extLst>
              <a:ext uri="{FF2B5EF4-FFF2-40B4-BE49-F238E27FC236}">
                <a16:creationId xmlns:a16="http://schemas.microsoft.com/office/drawing/2014/main" id="{B47DF718-0ECF-8D92-E1BD-36960F5C8015}"/>
              </a:ext>
            </a:extLst>
          </p:cNvPr>
          <p:cNvSpPr txBox="1"/>
          <p:nvPr/>
        </p:nvSpPr>
        <p:spPr>
          <a:xfrm>
            <a:off x="928192" y="1648103"/>
            <a:ext cx="7383145" cy="800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450" dirty="0">
              <a:latin typeface="Arial"/>
              <a:cs typeface="Arial"/>
            </a:endParaRPr>
          </a:p>
          <a:p>
            <a:pPr marL="386715">
              <a:lnSpc>
                <a:spcPts val="1585"/>
              </a:lnSpc>
            </a:pPr>
            <a:r>
              <a:rPr lang="en-US" sz="1400" spc="-10" dirty="0">
                <a:solidFill>
                  <a:srgbClr val="00B050"/>
                </a:solidFill>
                <a:latin typeface="Arial"/>
                <a:cs typeface="Arial"/>
              </a:rPr>
              <a:t>s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ummit-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login1 1082&gt;</a:t>
            </a:r>
            <a:r>
              <a:rPr sz="14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jobstat</a:t>
            </a:r>
            <a:endParaRPr sz="1400" dirty="0">
              <a:latin typeface="Arial"/>
              <a:cs typeface="Arial"/>
            </a:endParaRPr>
          </a:p>
          <a:p>
            <a:pPr marL="386715">
              <a:lnSpc>
                <a:spcPts val="1585"/>
              </a:lnSpc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--------------------------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400" spc="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Running</a:t>
            </a:r>
            <a:r>
              <a:rPr sz="1400" spc="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Jobs:</a:t>
            </a:r>
            <a:r>
              <a:rPr sz="1400" spc="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7</a:t>
            </a:r>
            <a:r>
              <a:rPr sz="1400" spc="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(4158</a:t>
            </a:r>
            <a:r>
              <a:rPr sz="1400" spc="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400" spc="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4608</a:t>
            </a:r>
            <a:r>
              <a:rPr sz="1400" spc="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nodes,</a:t>
            </a:r>
            <a:r>
              <a:rPr sz="1400" spc="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90.23%)</a:t>
            </a:r>
            <a:r>
              <a:rPr sz="1400" spc="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--------------------------</a:t>
            </a: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3" name="object 5">
            <a:extLst>
              <a:ext uri="{FF2B5EF4-FFF2-40B4-BE49-F238E27FC236}">
                <a16:creationId xmlns:a16="http://schemas.microsoft.com/office/drawing/2014/main" id="{108E5222-E0B5-2463-6661-9089CDDE3DAC}"/>
              </a:ext>
            </a:extLst>
          </p:cNvPr>
          <p:cNvSpPr txBox="1"/>
          <p:nvPr/>
        </p:nvSpPr>
        <p:spPr>
          <a:xfrm>
            <a:off x="1294974" y="2404895"/>
            <a:ext cx="3839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2620" algn="l"/>
                <a:tab pos="1607820" algn="l"/>
                <a:tab pos="2553970" algn="l"/>
                <a:tab pos="32143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JobId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Username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Project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Nodes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Remain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4" name="object 6">
            <a:extLst>
              <a:ext uri="{FF2B5EF4-FFF2-40B4-BE49-F238E27FC236}">
                <a16:creationId xmlns:a16="http://schemas.microsoft.com/office/drawing/2014/main" id="{C4F8A711-6384-AF79-531C-2D4A8EF69C49}"/>
              </a:ext>
            </a:extLst>
          </p:cNvPr>
          <p:cNvSpPr txBox="1"/>
          <p:nvPr/>
        </p:nvSpPr>
        <p:spPr>
          <a:xfrm>
            <a:off x="4536544" y="2785895"/>
            <a:ext cx="6165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1:35:12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7">
            <a:extLst>
              <a:ext uri="{FF2B5EF4-FFF2-40B4-BE49-F238E27FC236}">
                <a16:creationId xmlns:a16="http://schemas.microsoft.com/office/drawing/2014/main" id="{44E3FB58-98E1-A2A1-D3C2-5540238D0DE9}"/>
              </a:ext>
            </a:extLst>
          </p:cNvPr>
          <p:cNvSpPr txBox="1"/>
          <p:nvPr/>
        </p:nvSpPr>
        <p:spPr>
          <a:xfrm>
            <a:off x="2831514" y="2593871"/>
            <a:ext cx="716915" cy="10160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algn="just">
              <a:lnSpc>
                <a:spcPct val="91100"/>
              </a:lnSpc>
              <a:spcBef>
                <a:spcPts val="25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CSC100 CSC100 CSC006 CSC007 CSC201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8">
            <a:extLst>
              <a:ext uri="{FF2B5EF4-FFF2-40B4-BE49-F238E27FC236}">
                <a16:creationId xmlns:a16="http://schemas.microsoft.com/office/drawing/2014/main" id="{5C3FB1FF-2507-57C8-F3B3-427D92A0F624}"/>
              </a:ext>
            </a:extLst>
          </p:cNvPr>
          <p:cNvSpPr txBox="1"/>
          <p:nvPr/>
        </p:nvSpPr>
        <p:spPr>
          <a:xfrm>
            <a:off x="4542643" y="2990110"/>
            <a:ext cx="629920" cy="808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ts val="1585"/>
              </a:lnSpc>
              <a:spcBef>
                <a:spcPts val="10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1:06:47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2:59:40</a:t>
            </a:r>
            <a:endParaRPr sz="1400">
              <a:latin typeface="Arial"/>
              <a:cs typeface="Arial"/>
            </a:endParaRPr>
          </a:p>
          <a:p>
            <a:pPr marL="25400">
              <a:lnSpc>
                <a:spcPts val="1500"/>
              </a:lnSpc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1:29:29</a:t>
            </a:r>
            <a:endParaRPr sz="1400">
              <a:latin typeface="Arial"/>
              <a:cs typeface="Arial"/>
            </a:endParaRPr>
          </a:p>
          <a:p>
            <a:pPr marL="15875">
              <a:lnSpc>
                <a:spcPts val="1585"/>
              </a:lnSpc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1:31:06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20B94B9C-689F-4D1F-8E21-2B0DB28CD195}"/>
              </a:ext>
            </a:extLst>
          </p:cNvPr>
          <p:cNvSpPr txBox="1"/>
          <p:nvPr/>
        </p:nvSpPr>
        <p:spPr>
          <a:xfrm>
            <a:off x="1294974" y="2593871"/>
            <a:ext cx="123698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100"/>
              </a:spcBef>
              <a:tabLst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221070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userA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60"/>
              </a:lnSpc>
              <a:tabLst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221090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userA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50"/>
              </a:lnSpc>
              <a:tabLst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221092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userB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00"/>
              </a:lnSpc>
              <a:tabLst>
                <a:tab pos="737235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221105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00"/>
              </a:lnSpc>
              <a:tabLst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221095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00"/>
              </a:lnSpc>
              <a:tabLst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221088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95"/>
              </a:lnSpc>
              <a:tabLst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221097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userF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10">
            <a:extLst>
              <a:ext uri="{FF2B5EF4-FFF2-40B4-BE49-F238E27FC236}">
                <a16:creationId xmlns:a16="http://schemas.microsoft.com/office/drawing/2014/main" id="{BD44060C-6A9C-1398-EC2B-3E7A5FA4CB54}"/>
              </a:ext>
            </a:extLst>
          </p:cNvPr>
          <p:cNvSpPr txBox="1"/>
          <p:nvPr/>
        </p:nvSpPr>
        <p:spPr>
          <a:xfrm>
            <a:off x="2830180" y="3560086"/>
            <a:ext cx="708660" cy="4311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10795">
              <a:lnSpc>
                <a:spcPts val="1510"/>
              </a:lnSpc>
              <a:spcBef>
                <a:spcPts val="29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CSC100 CSC100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11">
            <a:extLst>
              <a:ext uri="{FF2B5EF4-FFF2-40B4-BE49-F238E27FC236}">
                <a16:creationId xmlns:a16="http://schemas.microsoft.com/office/drawing/2014/main" id="{A72C8BB8-0D99-870A-AFAB-33DEBF582B5E}"/>
              </a:ext>
            </a:extLst>
          </p:cNvPr>
          <p:cNvSpPr txBox="1"/>
          <p:nvPr/>
        </p:nvSpPr>
        <p:spPr>
          <a:xfrm>
            <a:off x="4239920" y="3752110"/>
            <a:ext cx="9118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7340" algn="l"/>
              </a:tabLst>
            </a:pP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1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1:52:26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12">
            <a:extLst>
              <a:ext uri="{FF2B5EF4-FFF2-40B4-BE49-F238E27FC236}">
                <a16:creationId xmlns:a16="http://schemas.microsoft.com/office/drawing/2014/main" id="{7D0E39A9-2318-A971-4195-7054FF724036}"/>
              </a:ext>
            </a:extLst>
          </p:cNvPr>
          <p:cNvSpPr txBox="1"/>
          <p:nvPr/>
        </p:nvSpPr>
        <p:spPr>
          <a:xfrm>
            <a:off x="3952062" y="2404895"/>
            <a:ext cx="2572385" cy="158623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04775" marR="24130" indent="1457325">
              <a:lnSpc>
                <a:spcPts val="1490"/>
              </a:lnSpc>
              <a:spcBef>
                <a:spcPts val="305"/>
              </a:spcBef>
              <a:tabLst>
                <a:tab pos="744220" algn="l"/>
                <a:tab pos="138430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StartTime 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512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44:22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9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11:01:25</a:t>
            </a:r>
            <a:endParaRPr sz="1400">
              <a:latin typeface="Arial"/>
              <a:cs typeface="Arial"/>
            </a:endParaRPr>
          </a:p>
          <a:p>
            <a:pPr marL="104775">
              <a:lnSpc>
                <a:spcPts val="1455"/>
              </a:lnSpc>
              <a:tabLst>
                <a:tab pos="1384300" algn="l"/>
              </a:tabLst>
            </a:pP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272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11:52:15</a:t>
            </a:r>
            <a:endParaRPr sz="1400">
              <a:latin typeface="Arial"/>
              <a:cs typeface="Arial"/>
            </a:endParaRPr>
          </a:p>
          <a:p>
            <a:pPr marR="14604" algn="r">
              <a:lnSpc>
                <a:spcPts val="1550"/>
              </a:lnSpc>
              <a:tabLst>
                <a:tab pos="1082040" algn="l"/>
              </a:tabLst>
            </a:pP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1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11:23:50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ts val="1500"/>
              </a:lnSpc>
              <a:tabLst>
                <a:tab pos="1377950" algn="l"/>
              </a:tabLst>
            </a:pP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3200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12:16:43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ts val="1500"/>
              </a:lnSpc>
              <a:tabLst>
                <a:tab pos="1082040" algn="l"/>
              </a:tabLst>
            </a:pP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11:46:32</a:t>
            </a:r>
            <a:endParaRPr sz="1400">
              <a:latin typeface="Arial"/>
              <a:cs typeface="Arial"/>
            </a:endParaRPr>
          </a:p>
          <a:p>
            <a:pPr marR="14604" algn="r">
              <a:lnSpc>
                <a:spcPts val="1500"/>
              </a:lnSpc>
              <a:tabLst>
                <a:tab pos="1279525" algn="l"/>
              </a:tabLst>
            </a:pP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170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11:48:09</a:t>
            </a:r>
            <a:endParaRPr sz="1400">
              <a:latin typeface="Arial"/>
              <a:cs typeface="Arial"/>
            </a:endParaRPr>
          </a:p>
          <a:p>
            <a:pPr marR="12065" algn="r">
              <a:lnSpc>
                <a:spcPts val="1595"/>
              </a:lnSpc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12:09:29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13">
            <a:extLst>
              <a:ext uri="{FF2B5EF4-FFF2-40B4-BE49-F238E27FC236}">
                <a16:creationId xmlns:a16="http://schemas.microsoft.com/office/drawing/2014/main" id="{99E07F5F-1C1A-1CFD-7509-F053F3B1B49B}"/>
              </a:ext>
            </a:extLst>
          </p:cNvPr>
          <p:cNvSpPr txBox="1"/>
          <p:nvPr/>
        </p:nvSpPr>
        <p:spPr>
          <a:xfrm>
            <a:off x="6685108" y="2404895"/>
            <a:ext cx="1141095" cy="158623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120014">
              <a:lnSpc>
                <a:spcPct val="90200"/>
              </a:lnSpc>
              <a:spcBef>
                <a:spcPts val="265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JobName run745-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A3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run745-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B2 </a:t>
            </a:r>
            <a:r>
              <a:rPr sz="1400" spc="-10" dirty="0">
                <a:solidFill>
                  <a:srgbClr val="D9D9D9"/>
                </a:solidFill>
                <a:latin typeface="Arial"/>
                <a:cs typeface="Arial"/>
              </a:rPr>
              <a:t>Not_Specified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Not_Specified Not_Specified 20_a_1</a:t>
            </a:r>
            <a:endParaRPr sz="1400">
              <a:latin typeface="Arial"/>
              <a:cs typeface="Arial"/>
            </a:endParaRPr>
          </a:p>
          <a:p>
            <a:pPr marL="14604">
              <a:lnSpc>
                <a:spcPts val="1510"/>
              </a:lnSpc>
            </a:pP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Job3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14">
            <a:extLst>
              <a:ext uri="{FF2B5EF4-FFF2-40B4-BE49-F238E27FC236}">
                <a16:creationId xmlns:a16="http://schemas.microsoft.com/office/drawing/2014/main" id="{CBF81E5B-96A0-379E-75A5-BFD06A7B0D68}"/>
              </a:ext>
            </a:extLst>
          </p:cNvPr>
          <p:cNvSpPr/>
          <p:nvPr/>
        </p:nvSpPr>
        <p:spPr>
          <a:xfrm>
            <a:off x="1307674" y="4085531"/>
            <a:ext cx="2408555" cy="0"/>
          </a:xfrm>
          <a:custGeom>
            <a:avLst/>
            <a:gdLst/>
            <a:ahLst/>
            <a:cxnLst/>
            <a:rect l="l" t="t" r="r" b="b"/>
            <a:pathLst>
              <a:path w="2408554">
                <a:moveTo>
                  <a:pt x="0" y="0"/>
                </a:moveTo>
                <a:lnTo>
                  <a:pt x="2408549" y="0"/>
                </a:lnTo>
              </a:path>
            </a:pathLst>
          </a:custGeom>
          <a:ln w="15713">
            <a:solidFill>
              <a:srgbClr val="00AF4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5">
            <a:extLst>
              <a:ext uri="{FF2B5EF4-FFF2-40B4-BE49-F238E27FC236}">
                <a16:creationId xmlns:a16="http://schemas.microsoft.com/office/drawing/2014/main" id="{472B5ADA-8E92-5578-7196-1873BDF9EEE7}"/>
              </a:ext>
            </a:extLst>
          </p:cNvPr>
          <p:cNvSpPr txBox="1"/>
          <p:nvPr/>
        </p:nvSpPr>
        <p:spPr>
          <a:xfrm>
            <a:off x="3752424" y="3941086"/>
            <a:ext cx="1219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Eligible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Jobs: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54" name="object 16">
            <a:extLst>
              <a:ext uri="{FF2B5EF4-FFF2-40B4-BE49-F238E27FC236}">
                <a16:creationId xmlns:a16="http://schemas.microsoft.com/office/drawing/2014/main" id="{306C0821-3348-BCC2-D754-24301E4C2FF8}"/>
              </a:ext>
            </a:extLst>
          </p:cNvPr>
          <p:cNvSpPr/>
          <p:nvPr/>
        </p:nvSpPr>
        <p:spPr>
          <a:xfrm>
            <a:off x="5008137" y="4085531"/>
            <a:ext cx="2408555" cy="0"/>
          </a:xfrm>
          <a:custGeom>
            <a:avLst/>
            <a:gdLst/>
            <a:ahLst/>
            <a:cxnLst/>
            <a:rect l="l" t="t" r="r" b="b"/>
            <a:pathLst>
              <a:path w="2408554">
                <a:moveTo>
                  <a:pt x="0" y="0"/>
                </a:moveTo>
                <a:lnTo>
                  <a:pt x="2408549" y="0"/>
                </a:lnTo>
              </a:path>
            </a:pathLst>
          </a:custGeom>
          <a:ln w="15713">
            <a:solidFill>
              <a:srgbClr val="00AF4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7">
            <a:extLst>
              <a:ext uri="{FF2B5EF4-FFF2-40B4-BE49-F238E27FC236}">
                <a16:creationId xmlns:a16="http://schemas.microsoft.com/office/drawing/2014/main" id="{D029E25E-FA48-09BB-D2FD-830F05A8A7CD}"/>
              </a:ext>
            </a:extLst>
          </p:cNvPr>
          <p:cNvSpPr txBox="1"/>
          <p:nvPr/>
        </p:nvSpPr>
        <p:spPr>
          <a:xfrm>
            <a:off x="1294974" y="4133110"/>
            <a:ext cx="1473835" cy="6197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490"/>
              </a:lnSpc>
              <a:spcBef>
                <a:spcPts val="305"/>
              </a:spcBef>
              <a:tabLst>
                <a:tab pos="642620" algn="l"/>
                <a:tab pos="737235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JobId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Username 221108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490"/>
              </a:lnSpc>
              <a:tabLst>
                <a:tab pos="737235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221101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userC</a:t>
            </a:r>
            <a:endParaRPr sz="1400">
              <a:latin typeface="Arial"/>
              <a:cs typeface="Arial"/>
            </a:endParaRPr>
          </a:p>
        </p:txBody>
      </p:sp>
      <p:sp>
        <p:nvSpPr>
          <p:cNvPr id="56" name="object 18">
            <a:extLst>
              <a:ext uri="{FF2B5EF4-FFF2-40B4-BE49-F238E27FC236}">
                <a16:creationId xmlns:a16="http://schemas.microsoft.com/office/drawing/2014/main" id="{9F4B82C2-1525-319B-E4A4-D99621335D2B}"/>
              </a:ext>
            </a:extLst>
          </p:cNvPr>
          <p:cNvSpPr txBox="1"/>
          <p:nvPr/>
        </p:nvSpPr>
        <p:spPr>
          <a:xfrm>
            <a:off x="2837612" y="4133110"/>
            <a:ext cx="697865" cy="6197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52705">
              <a:lnSpc>
                <a:spcPct val="89300"/>
              </a:lnSpc>
              <a:spcBef>
                <a:spcPts val="28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Project CSC007 CSC007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19">
            <a:extLst>
              <a:ext uri="{FF2B5EF4-FFF2-40B4-BE49-F238E27FC236}">
                <a16:creationId xmlns:a16="http://schemas.microsoft.com/office/drawing/2014/main" id="{2B0EB2BD-A266-71CF-1682-8B44591AC671}"/>
              </a:ext>
            </a:extLst>
          </p:cNvPr>
          <p:cNvSpPr txBox="1"/>
          <p:nvPr/>
        </p:nvSpPr>
        <p:spPr>
          <a:xfrm>
            <a:off x="3787470" y="4133110"/>
            <a:ext cx="1322705" cy="6197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78740" marR="5080" indent="-66675">
              <a:lnSpc>
                <a:spcPts val="1490"/>
              </a:lnSpc>
              <a:spcBef>
                <a:spcPts val="305"/>
              </a:spcBef>
              <a:tabLst>
                <a:tab pos="619760" algn="l"/>
              </a:tabLst>
            </a:pP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Nodes</a:t>
            </a:r>
            <a:r>
              <a:rPr sz="1400" spc="36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Walltime 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4200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10:00:00</a:t>
            </a:r>
            <a:endParaRPr sz="1400">
              <a:latin typeface="Arial"/>
              <a:cs typeface="Arial"/>
            </a:endParaRPr>
          </a:p>
          <a:p>
            <a:pPr marL="78740">
              <a:lnSpc>
                <a:spcPts val="1490"/>
              </a:lnSpc>
              <a:tabLst>
                <a:tab pos="718185" algn="l"/>
              </a:tabLst>
            </a:pP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1048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6:00:00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20">
            <a:extLst>
              <a:ext uri="{FF2B5EF4-FFF2-40B4-BE49-F238E27FC236}">
                <a16:creationId xmlns:a16="http://schemas.microsoft.com/office/drawing/2014/main" id="{4C995B2A-52AB-896B-7014-B895E002A81B}"/>
              </a:ext>
            </a:extLst>
          </p:cNvPr>
          <p:cNvSpPr txBox="1"/>
          <p:nvPr/>
        </p:nvSpPr>
        <p:spPr>
          <a:xfrm>
            <a:off x="5280869" y="4133110"/>
            <a:ext cx="1193800" cy="6197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86995">
              <a:lnSpc>
                <a:spcPts val="1490"/>
              </a:lnSpc>
              <a:spcBef>
                <a:spcPts val="305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QueueTime 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12:16:07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490"/>
              </a:lnSpc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11/30</a:t>
            </a:r>
            <a:r>
              <a:rPr sz="1400" spc="-8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12:12:28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21">
            <a:extLst>
              <a:ext uri="{FF2B5EF4-FFF2-40B4-BE49-F238E27FC236}">
                <a16:creationId xmlns:a16="http://schemas.microsoft.com/office/drawing/2014/main" id="{FFE38C86-C3A5-9250-45CE-A30DD946D2C7}"/>
              </a:ext>
            </a:extLst>
          </p:cNvPr>
          <p:cNvSpPr txBox="1"/>
          <p:nvPr/>
        </p:nvSpPr>
        <p:spPr>
          <a:xfrm>
            <a:off x="6631861" y="4133110"/>
            <a:ext cx="183388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5"/>
              </a:lnSpc>
              <a:spcBef>
                <a:spcPts val="100"/>
              </a:spcBef>
              <a:tabLst>
                <a:tab pos="810895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Priority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JobName</a:t>
            </a:r>
            <a:endParaRPr sz="1400">
              <a:latin typeface="Arial"/>
              <a:cs typeface="Arial"/>
            </a:endParaRPr>
          </a:p>
          <a:p>
            <a:pPr marL="26034">
              <a:lnSpc>
                <a:spcPts val="1500"/>
              </a:lnSpc>
              <a:tabLst>
                <a:tab pos="71501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520.00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Not_Specified</a:t>
            </a:r>
            <a:endParaRPr sz="1400">
              <a:latin typeface="Arial"/>
              <a:cs typeface="Arial"/>
            </a:endParaRPr>
          </a:p>
          <a:p>
            <a:pPr marL="26034">
              <a:lnSpc>
                <a:spcPts val="1595"/>
              </a:lnSpc>
              <a:tabLst>
                <a:tab pos="71501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515.00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Not_Specified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" name="object 22">
            <a:extLst>
              <a:ext uri="{FF2B5EF4-FFF2-40B4-BE49-F238E27FC236}">
                <a16:creationId xmlns:a16="http://schemas.microsoft.com/office/drawing/2014/main" id="{65A9B69A-F79B-1333-1DF0-0F276361ECE0}"/>
              </a:ext>
            </a:extLst>
          </p:cNvPr>
          <p:cNvSpPr/>
          <p:nvPr/>
        </p:nvSpPr>
        <p:spPr>
          <a:xfrm>
            <a:off x="1307674" y="4859723"/>
            <a:ext cx="2408555" cy="0"/>
          </a:xfrm>
          <a:custGeom>
            <a:avLst/>
            <a:gdLst/>
            <a:ahLst/>
            <a:cxnLst/>
            <a:rect l="l" t="t" r="r" b="b"/>
            <a:pathLst>
              <a:path w="2408554">
                <a:moveTo>
                  <a:pt x="0" y="0"/>
                </a:moveTo>
                <a:lnTo>
                  <a:pt x="2408549" y="0"/>
                </a:lnTo>
              </a:path>
            </a:pathLst>
          </a:custGeom>
          <a:ln w="15713">
            <a:solidFill>
              <a:srgbClr val="00AF4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3">
            <a:extLst>
              <a:ext uri="{FF2B5EF4-FFF2-40B4-BE49-F238E27FC236}">
                <a16:creationId xmlns:a16="http://schemas.microsoft.com/office/drawing/2014/main" id="{FE789A29-E2ED-2661-8EBD-3D2D3E3EEEA9}"/>
              </a:ext>
            </a:extLst>
          </p:cNvPr>
          <p:cNvSpPr txBox="1"/>
          <p:nvPr/>
        </p:nvSpPr>
        <p:spPr>
          <a:xfrm>
            <a:off x="3752424" y="4715279"/>
            <a:ext cx="12788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Blocked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Jobs: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62" name="object 24">
            <a:extLst>
              <a:ext uri="{FF2B5EF4-FFF2-40B4-BE49-F238E27FC236}">
                <a16:creationId xmlns:a16="http://schemas.microsoft.com/office/drawing/2014/main" id="{BA2D363C-64DA-ED15-9B94-F5803BA4CFDD}"/>
              </a:ext>
            </a:extLst>
          </p:cNvPr>
          <p:cNvSpPr/>
          <p:nvPr/>
        </p:nvSpPr>
        <p:spPr>
          <a:xfrm>
            <a:off x="5066874" y="4859723"/>
            <a:ext cx="2467610" cy="0"/>
          </a:xfrm>
          <a:custGeom>
            <a:avLst/>
            <a:gdLst/>
            <a:ahLst/>
            <a:cxnLst/>
            <a:rect l="l" t="t" r="r" b="b"/>
            <a:pathLst>
              <a:path w="2467609">
                <a:moveTo>
                  <a:pt x="0" y="0"/>
                </a:moveTo>
                <a:lnTo>
                  <a:pt x="2467294" y="0"/>
                </a:lnTo>
              </a:path>
            </a:pathLst>
          </a:custGeom>
          <a:ln w="15713">
            <a:solidFill>
              <a:srgbClr val="00AF4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25">
            <a:extLst>
              <a:ext uri="{FF2B5EF4-FFF2-40B4-BE49-F238E27FC236}">
                <a16:creationId xmlns:a16="http://schemas.microsoft.com/office/drawing/2014/main" id="{40D40A1E-3D00-FAC5-D1D0-1D119866A14E}"/>
              </a:ext>
            </a:extLst>
          </p:cNvPr>
          <p:cNvSpPr txBox="1"/>
          <p:nvPr/>
        </p:nvSpPr>
        <p:spPr>
          <a:xfrm>
            <a:off x="3738255" y="4907303"/>
            <a:ext cx="1360805" cy="4279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72390" marR="5080" indent="-60325">
              <a:lnSpc>
                <a:spcPts val="1490"/>
              </a:lnSpc>
              <a:spcBef>
                <a:spcPts val="305"/>
              </a:spcBef>
              <a:tabLst>
                <a:tab pos="672465" algn="l"/>
                <a:tab pos="7124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Nodes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Walltime 1048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6:00:00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64" name="object 26">
            <a:extLst>
              <a:ext uri="{FF2B5EF4-FFF2-40B4-BE49-F238E27FC236}">
                <a16:creationId xmlns:a16="http://schemas.microsoft.com/office/drawing/2014/main" id="{D24F3BD3-6D8B-99D3-0ED0-284880B4D0C3}"/>
              </a:ext>
            </a:extLst>
          </p:cNvPr>
          <p:cNvSpPr txBox="1"/>
          <p:nvPr/>
        </p:nvSpPr>
        <p:spPr>
          <a:xfrm>
            <a:off x="1294974" y="4907303"/>
            <a:ext cx="1473835" cy="10007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490"/>
              </a:lnSpc>
              <a:spcBef>
                <a:spcPts val="305"/>
              </a:spcBef>
              <a:tabLst>
                <a:tab pos="642620" algn="l"/>
                <a:tab pos="75057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JobId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Username 221099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userA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395"/>
              </a:lnSpc>
              <a:tabLst>
                <a:tab pos="723900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221110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userC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00"/>
              </a:lnSpc>
              <a:tabLst>
                <a:tab pos="737235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221107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95"/>
              </a:lnSpc>
              <a:tabLst>
                <a:tab pos="737235" algn="l"/>
              </a:tabLst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221151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userC</a:t>
            </a:r>
            <a:endParaRPr sz="1400">
              <a:latin typeface="Arial"/>
              <a:cs typeface="Arial"/>
            </a:endParaRPr>
          </a:p>
        </p:txBody>
      </p:sp>
      <p:sp>
        <p:nvSpPr>
          <p:cNvPr id="65" name="object 27">
            <a:extLst>
              <a:ext uri="{FF2B5EF4-FFF2-40B4-BE49-F238E27FC236}">
                <a16:creationId xmlns:a16="http://schemas.microsoft.com/office/drawing/2014/main" id="{694590CE-AAE6-DB30-8E84-9FED43552D30}"/>
              </a:ext>
            </a:extLst>
          </p:cNvPr>
          <p:cNvSpPr txBox="1"/>
          <p:nvPr/>
        </p:nvSpPr>
        <p:spPr>
          <a:xfrm>
            <a:off x="2824401" y="4907303"/>
            <a:ext cx="711200" cy="10007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-635" algn="ctr">
              <a:lnSpc>
                <a:spcPct val="89300"/>
              </a:lnSpc>
              <a:spcBef>
                <a:spcPts val="28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Project CSC100 CSC007 CSC007 CSC007</a:t>
            </a:r>
            <a:endParaRPr sz="1400">
              <a:latin typeface="Arial"/>
              <a:cs typeface="Arial"/>
            </a:endParaRPr>
          </a:p>
        </p:txBody>
      </p:sp>
      <p:sp>
        <p:nvSpPr>
          <p:cNvPr id="66" name="object 28">
            <a:extLst>
              <a:ext uri="{FF2B5EF4-FFF2-40B4-BE49-F238E27FC236}">
                <a16:creationId xmlns:a16="http://schemas.microsoft.com/office/drawing/2014/main" id="{41472E40-99D9-713F-1A6B-05CDC7A0A531}"/>
              </a:ext>
            </a:extLst>
          </p:cNvPr>
          <p:cNvSpPr txBox="1"/>
          <p:nvPr/>
        </p:nvSpPr>
        <p:spPr>
          <a:xfrm>
            <a:off x="3791207" y="5288303"/>
            <a:ext cx="127000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780" algn="r">
              <a:lnSpc>
                <a:spcPts val="1585"/>
              </a:lnSpc>
              <a:spcBef>
                <a:spcPts val="100"/>
              </a:spcBef>
              <a:tabLst>
                <a:tab pos="639445" algn="l"/>
              </a:tabLst>
            </a:pP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1800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8:00:00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ts val="1500"/>
              </a:lnSpc>
              <a:tabLst>
                <a:tab pos="491490" algn="l"/>
              </a:tabLst>
            </a:pPr>
            <a:r>
              <a:rPr sz="1400" spc="-50" dirty="0">
                <a:solidFill>
                  <a:srgbClr val="00B050"/>
                </a:solidFill>
                <a:latin typeface="Arial"/>
                <a:cs typeface="Arial"/>
              </a:rPr>
              <a:t>1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45:00</a:t>
            </a:r>
            <a:endParaRPr sz="1400">
              <a:latin typeface="Arial"/>
              <a:cs typeface="Arial"/>
            </a:endParaRPr>
          </a:p>
          <a:p>
            <a:pPr marR="5080" algn="r">
              <a:lnSpc>
                <a:spcPts val="1595"/>
              </a:lnSpc>
              <a:tabLst>
                <a:tab pos="442595" algn="l"/>
              </a:tabLst>
            </a:pP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16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3:00:00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67" name="object 29">
            <a:extLst>
              <a:ext uri="{FF2B5EF4-FFF2-40B4-BE49-F238E27FC236}">
                <a16:creationId xmlns:a16="http://schemas.microsoft.com/office/drawing/2014/main" id="{0D4945A6-187A-EE9E-E21D-32A304021FB7}"/>
              </a:ext>
            </a:extLst>
          </p:cNvPr>
          <p:cNvSpPr txBox="1"/>
          <p:nvPr/>
        </p:nvSpPr>
        <p:spPr>
          <a:xfrm>
            <a:off x="5169228" y="4907303"/>
            <a:ext cx="481012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560">
              <a:lnSpc>
                <a:spcPts val="1585"/>
              </a:lnSpc>
              <a:spcBef>
                <a:spcPts val="100"/>
              </a:spcBef>
            </a:pP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BlockReason</a:t>
            </a:r>
            <a:endParaRPr sz="1400">
              <a:latin typeface="Arial"/>
              <a:cs typeface="Arial"/>
            </a:endParaRPr>
          </a:p>
          <a:p>
            <a:pPr marL="12700" marR="5080" indent="6350">
              <a:lnSpc>
                <a:spcPct val="89500"/>
              </a:lnSpc>
              <a:spcBef>
                <a:spcPts val="80"/>
              </a:spcBef>
            </a:pPr>
            <a:r>
              <a:rPr sz="1400" dirty="0">
                <a:solidFill>
                  <a:srgbClr val="D9D9D9"/>
                </a:solidFill>
                <a:latin typeface="Arial"/>
                <a:cs typeface="Arial"/>
              </a:rPr>
              <a:t>JOBS</a:t>
            </a:r>
            <a:r>
              <a:rPr sz="14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limit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defined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for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the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user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user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group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has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been</a:t>
            </a:r>
            <a:r>
              <a:rPr sz="14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Arial"/>
                <a:cs typeface="Arial"/>
              </a:rPr>
              <a:t>reach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JOBS_PER_SCHED_CYCLE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defined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for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user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user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JOBS_PER_SCHED_CYCLE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defined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for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user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user </a:t>
            </a:r>
            <a:r>
              <a:rPr sz="1400" dirty="0">
                <a:solidFill>
                  <a:srgbClr val="D9D9D9"/>
                </a:solidFill>
                <a:latin typeface="Arial"/>
                <a:cs typeface="Arial"/>
              </a:rPr>
              <a:t>JOBS_PER_SCHED_CYCLE</a:t>
            </a:r>
            <a:r>
              <a:rPr sz="1400" spc="-2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defined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for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user</a:t>
            </a:r>
            <a:r>
              <a:rPr sz="14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B050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00B050"/>
                </a:solidFill>
                <a:latin typeface="Arial"/>
                <a:cs typeface="Arial"/>
              </a:rPr>
              <a:t> user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68" name="object 30">
            <a:extLst>
              <a:ext uri="{FF2B5EF4-FFF2-40B4-BE49-F238E27FC236}">
                <a16:creationId xmlns:a16="http://schemas.microsoft.com/office/drawing/2014/main" id="{FAF23C84-FDA4-C4C4-7337-91D1009E896C}"/>
              </a:ext>
            </a:extLst>
          </p:cNvPr>
          <p:cNvSpPr txBox="1"/>
          <p:nvPr/>
        </p:nvSpPr>
        <p:spPr>
          <a:xfrm>
            <a:off x="8918708" y="4427965"/>
            <a:ext cx="1447800" cy="480695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220979" marR="212725" indent="29209">
              <a:lnSpc>
                <a:spcPts val="1510"/>
              </a:lnSpc>
              <a:spcBef>
                <a:spcPts val="345"/>
              </a:spcBef>
            </a:pPr>
            <a:r>
              <a:rPr sz="1400" dirty="0">
                <a:latin typeface="Arial"/>
                <a:cs typeface="Arial"/>
              </a:rPr>
              <a:t>Running</a:t>
            </a:r>
            <a:r>
              <a:rPr sz="1400" spc="-25" dirty="0">
                <a:latin typeface="Arial"/>
                <a:cs typeface="Arial"/>
              </a:rPr>
              <a:t> job </a:t>
            </a:r>
            <a:r>
              <a:rPr sz="1400" dirty="0">
                <a:latin typeface="Arial"/>
                <a:cs typeface="Arial"/>
              </a:rPr>
              <a:t>limit</a:t>
            </a:r>
            <a:r>
              <a:rPr sz="1400" spc="-10" dirty="0">
                <a:latin typeface="Arial"/>
                <a:cs typeface="Arial"/>
              </a:rPr>
              <a:t> reached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9" name="object 31">
            <a:extLst>
              <a:ext uri="{FF2B5EF4-FFF2-40B4-BE49-F238E27FC236}">
                <a16:creationId xmlns:a16="http://schemas.microsoft.com/office/drawing/2014/main" id="{7503BF57-B39F-2FE8-4307-C688B43AB960}"/>
              </a:ext>
            </a:extLst>
          </p:cNvPr>
          <p:cNvGrpSpPr/>
          <p:nvPr/>
        </p:nvGrpSpPr>
        <p:grpSpPr>
          <a:xfrm>
            <a:off x="9099483" y="5885500"/>
            <a:ext cx="1438275" cy="490220"/>
            <a:chOff x="8840178" y="5545625"/>
            <a:chExt cx="1438275" cy="490220"/>
          </a:xfrm>
        </p:grpSpPr>
        <p:sp>
          <p:nvSpPr>
            <p:cNvPr id="70" name="object 32">
              <a:extLst>
                <a:ext uri="{FF2B5EF4-FFF2-40B4-BE49-F238E27FC236}">
                  <a16:creationId xmlns:a16="http://schemas.microsoft.com/office/drawing/2014/main" id="{AEFB6B33-5198-F461-430E-4D8345863151}"/>
                </a:ext>
              </a:extLst>
            </p:cNvPr>
            <p:cNvSpPr/>
            <p:nvPr/>
          </p:nvSpPr>
          <p:spPr>
            <a:xfrm>
              <a:off x="8844940" y="5550387"/>
              <a:ext cx="1428750" cy="480695"/>
            </a:xfrm>
            <a:custGeom>
              <a:avLst/>
              <a:gdLst/>
              <a:ahLst/>
              <a:cxnLst/>
              <a:rect l="l" t="t" r="r" b="b"/>
              <a:pathLst>
                <a:path w="1428750" h="480695">
                  <a:moveTo>
                    <a:pt x="1428750" y="0"/>
                  </a:moveTo>
                  <a:lnTo>
                    <a:pt x="0" y="0"/>
                  </a:lnTo>
                  <a:lnTo>
                    <a:pt x="0" y="480131"/>
                  </a:lnTo>
                  <a:lnTo>
                    <a:pt x="1428750" y="480131"/>
                  </a:lnTo>
                  <a:lnTo>
                    <a:pt x="14287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33">
              <a:extLst>
                <a:ext uri="{FF2B5EF4-FFF2-40B4-BE49-F238E27FC236}">
                  <a16:creationId xmlns:a16="http://schemas.microsoft.com/office/drawing/2014/main" id="{512AD667-9FDD-B685-B449-5700FF8968B4}"/>
                </a:ext>
              </a:extLst>
            </p:cNvPr>
            <p:cNvSpPr/>
            <p:nvPr/>
          </p:nvSpPr>
          <p:spPr>
            <a:xfrm>
              <a:off x="8844940" y="5550387"/>
              <a:ext cx="1428750" cy="480695"/>
            </a:xfrm>
            <a:custGeom>
              <a:avLst/>
              <a:gdLst/>
              <a:ahLst/>
              <a:cxnLst/>
              <a:rect l="l" t="t" r="r" b="b"/>
              <a:pathLst>
                <a:path w="1428750" h="480695">
                  <a:moveTo>
                    <a:pt x="0" y="0"/>
                  </a:moveTo>
                  <a:lnTo>
                    <a:pt x="1428750" y="0"/>
                  </a:lnTo>
                  <a:lnTo>
                    <a:pt x="1428750" y="480131"/>
                  </a:lnTo>
                  <a:lnTo>
                    <a:pt x="0" y="48013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34">
            <a:extLst>
              <a:ext uri="{FF2B5EF4-FFF2-40B4-BE49-F238E27FC236}">
                <a16:creationId xmlns:a16="http://schemas.microsoft.com/office/drawing/2014/main" id="{178DBAAD-9DA5-AC94-7D62-A73CF134D0AB}"/>
              </a:ext>
            </a:extLst>
          </p:cNvPr>
          <p:cNvSpPr txBox="1"/>
          <p:nvPr/>
        </p:nvSpPr>
        <p:spPr>
          <a:xfrm>
            <a:off x="9193939" y="5897903"/>
            <a:ext cx="1250315" cy="4279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04800" marR="5080" indent="-292100">
              <a:lnSpc>
                <a:spcPts val="1490"/>
              </a:lnSpc>
              <a:spcBef>
                <a:spcPts val="305"/>
              </a:spcBef>
            </a:pPr>
            <a:r>
              <a:rPr sz="1400" dirty="0">
                <a:latin typeface="Arial"/>
                <a:cs typeface="Arial"/>
              </a:rPr>
              <a:t>Eligible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job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limit reached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73" name="object 35">
            <a:extLst>
              <a:ext uri="{FF2B5EF4-FFF2-40B4-BE49-F238E27FC236}">
                <a16:creationId xmlns:a16="http://schemas.microsoft.com/office/drawing/2014/main" id="{B24B07FD-6CA2-6DE1-C601-7FFCB368801A}"/>
              </a:ext>
            </a:extLst>
          </p:cNvPr>
          <p:cNvSpPr txBox="1"/>
          <p:nvPr/>
        </p:nvSpPr>
        <p:spPr>
          <a:xfrm>
            <a:off x="8371574" y="2644917"/>
            <a:ext cx="1447800" cy="480695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87045" marR="266700" indent="-212090">
              <a:lnSpc>
                <a:spcPts val="1510"/>
              </a:lnSpc>
              <a:spcBef>
                <a:spcPts val="345"/>
              </a:spcBef>
            </a:pPr>
            <a:r>
              <a:rPr sz="1400" dirty="0">
                <a:latin typeface="Arial"/>
                <a:cs typeface="Arial"/>
              </a:rPr>
              <a:t>Default</a:t>
            </a:r>
            <a:r>
              <a:rPr sz="1400" spc="-25" dirty="0">
                <a:latin typeface="Arial"/>
                <a:cs typeface="Arial"/>
              </a:rPr>
              <a:t> Job </a:t>
            </a:r>
            <a:r>
              <a:rPr sz="1400" spc="-20" dirty="0">
                <a:latin typeface="Arial"/>
                <a:cs typeface="Arial"/>
              </a:rPr>
              <a:t>Name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4" name="object 36">
            <a:extLst>
              <a:ext uri="{FF2B5EF4-FFF2-40B4-BE49-F238E27FC236}">
                <a16:creationId xmlns:a16="http://schemas.microsoft.com/office/drawing/2014/main" id="{DA21CD7E-E23A-573A-0083-BDFFDD58CB08}"/>
              </a:ext>
            </a:extLst>
          </p:cNvPr>
          <p:cNvGrpSpPr/>
          <p:nvPr/>
        </p:nvGrpSpPr>
        <p:grpSpPr>
          <a:xfrm>
            <a:off x="5701106" y="2872283"/>
            <a:ext cx="3416300" cy="3270885"/>
            <a:chOff x="5441801" y="2532408"/>
            <a:chExt cx="3416300" cy="3270885"/>
          </a:xfrm>
        </p:grpSpPr>
        <p:sp>
          <p:nvSpPr>
            <p:cNvPr id="75" name="object 37">
              <a:extLst>
                <a:ext uri="{FF2B5EF4-FFF2-40B4-BE49-F238E27FC236}">
                  <a16:creationId xmlns:a16="http://schemas.microsoft.com/office/drawing/2014/main" id="{A7E4303D-6AE9-E743-37AA-CA42CD7D9F36}"/>
                </a:ext>
              </a:extLst>
            </p:cNvPr>
            <p:cNvSpPr/>
            <p:nvPr/>
          </p:nvSpPr>
          <p:spPr>
            <a:xfrm>
              <a:off x="7602278" y="2545108"/>
              <a:ext cx="510540" cy="180340"/>
            </a:xfrm>
            <a:custGeom>
              <a:avLst/>
              <a:gdLst/>
              <a:ahLst/>
              <a:cxnLst/>
              <a:rect l="l" t="t" r="r" b="b"/>
              <a:pathLst>
                <a:path w="510540" h="180339">
                  <a:moveTo>
                    <a:pt x="0" y="179757"/>
                  </a:moveTo>
                  <a:lnTo>
                    <a:pt x="509991" y="0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38">
              <a:extLst>
                <a:ext uri="{FF2B5EF4-FFF2-40B4-BE49-F238E27FC236}">
                  <a16:creationId xmlns:a16="http://schemas.microsoft.com/office/drawing/2014/main" id="{A61FD535-9EA8-9D2E-7CFB-D2B74743311E}"/>
                </a:ext>
              </a:extLst>
            </p:cNvPr>
            <p:cNvSpPr/>
            <p:nvPr/>
          </p:nvSpPr>
          <p:spPr>
            <a:xfrm>
              <a:off x="5454501" y="4328157"/>
              <a:ext cx="3205480" cy="525780"/>
            </a:xfrm>
            <a:custGeom>
              <a:avLst/>
              <a:gdLst/>
              <a:ahLst/>
              <a:cxnLst/>
              <a:rect l="l" t="t" r="r" b="b"/>
              <a:pathLst>
                <a:path w="3205479" h="525779">
                  <a:moveTo>
                    <a:pt x="0" y="525769"/>
                  </a:moveTo>
                  <a:lnTo>
                    <a:pt x="3204902" y="0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39">
              <a:extLst>
                <a:ext uri="{FF2B5EF4-FFF2-40B4-BE49-F238E27FC236}">
                  <a16:creationId xmlns:a16="http://schemas.microsoft.com/office/drawing/2014/main" id="{D3DD7484-07B8-5E4E-B7AE-FF4A629C0009}"/>
                </a:ext>
              </a:extLst>
            </p:cNvPr>
            <p:cNvSpPr/>
            <p:nvPr/>
          </p:nvSpPr>
          <p:spPr>
            <a:xfrm>
              <a:off x="6900529" y="5562682"/>
              <a:ext cx="1945005" cy="227965"/>
            </a:xfrm>
            <a:custGeom>
              <a:avLst/>
              <a:gdLst/>
              <a:ahLst/>
              <a:cxnLst/>
              <a:rect l="l" t="t" r="r" b="b"/>
              <a:pathLst>
                <a:path w="1945004" h="227964">
                  <a:moveTo>
                    <a:pt x="0" y="0"/>
                  </a:moveTo>
                  <a:lnTo>
                    <a:pt x="1944411" y="227771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文本框 78">
            <a:extLst>
              <a:ext uri="{FF2B5EF4-FFF2-40B4-BE49-F238E27FC236}">
                <a16:creationId xmlns:a16="http://schemas.microsoft.com/office/drawing/2014/main" id="{1FF26628-263B-EC4F-F0FA-F3E3C5C8A1E3}"/>
              </a:ext>
            </a:extLst>
          </p:cNvPr>
          <p:cNvSpPr txBox="1"/>
          <p:nvPr/>
        </p:nvSpPr>
        <p:spPr>
          <a:xfrm>
            <a:off x="833447" y="1284386"/>
            <a:ext cx="8395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00"/>
              </a:spcBef>
              <a:buSzPct val="90000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lang="en-US" altLang="zh-CN" sz="2800" b="1" dirty="0">
                <a:latin typeface="Arial"/>
                <a:cs typeface="Arial"/>
              </a:rPr>
              <a:t>OLCF</a:t>
            </a:r>
            <a:r>
              <a:rPr lang="en-US" altLang="zh-CN" sz="2800" b="1" spc="-10" dirty="0">
                <a:latin typeface="Arial"/>
                <a:cs typeface="Arial"/>
              </a:rPr>
              <a:t> </a:t>
            </a:r>
            <a:r>
              <a:rPr lang="en-US" altLang="zh-CN" sz="2800" b="1" dirty="0">
                <a:latin typeface="Arial"/>
                <a:cs typeface="Arial"/>
              </a:rPr>
              <a:t>developed</a:t>
            </a:r>
            <a:r>
              <a:rPr lang="en-US" altLang="zh-CN" sz="2800" b="1" spc="-10" dirty="0">
                <a:latin typeface="Arial"/>
                <a:cs typeface="Arial"/>
              </a:rPr>
              <a:t> </a:t>
            </a:r>
            <a:r>
              <a:rPr lang="en-US" altLang="zh-CN" sz="2800" b="1" dirty="0">
                <a:latin typeface="Arial"/>
                <a:cs typeface="Arial"/>
              </a:rPr>
              <a:t>tool to</a:t>
            </a:r>
            <a:r>
              <a:rPr lang="en-US" altLang="zh-CN" sz="2800" b="1" spc="-15" dirty="0">
                <a:latin typeface="Arial"/>
                <a:cs typeface="Arial"/>
              </a:rPr>
              <a:t> </a:t>
            </a:r>
            <a:r>
              <a:rPr lang="en-US" altLang="zh-CN" sz="2800" b="1" dirty="0">
                <a:latin typeface="Arial"/>
                <a:cs typeface="Arial"/>
              </a:rPr>
              <a:t>help</a:t>
            </a:r>
            <a:r>
              <a:rPr lang="en-US" altLang="zh-CN" sz="2800" b="1" spc="-10" dirty="0">
                <a:latin typeface="Arial"/>
                <a:cs typeface="Arial"/>
              </a:rPr>
              <a:t> </a:t>
            </a:r>
            <a:r>
              <a:rPr lang="en-US" altLang="zh-CN" sz="2800" b="1" dirty="0">
                <a:latin typeface="Arial"/>
                <a:cs typeface="Arial"/>
              </a:rPr>
              <a:t>view </a:t>
            </a:r>
            <a:r>
              <a:rPr lang="en-US" altLang="zh-CN" sz="2800" b="1" spc="-10" dirty="0">
                <a:latin typeface="Arial"/>
                <a:cs typeface="Arial"/>
              </a:rPr>
              <a:t>queue</a:t>
            </a:r>
            <a:endParaRPr lang="en-US" altLang="zh-CN" sz="28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9173271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b="1" dirty="0" err="1">
                <a:solidFill>
                  <a:srgbClr val="FF0000"/>
                </a:solidFill>
                <a:latin typeface="+mj-lt"/>
                <a:cs typeface="Calibri" panose="020F0502020204030204"/>
              </a:rPr>
              <a:t>jsrun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61063862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jsrun Introduction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2" name="object 9">
            <a:extLst>
              <a:ext uri="{FF2B5EF4-FFF2-40B4-BE49-F238E27FC236}">
                <a16:creationId xmlns:a16="http://schemas.microsoft.com/office/drawing/2014/main" id="{2E93D607-CF5D-5EDD-EDFD-5E83771DDEC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2339" y="931258"/>
            <a:ext cx="8516922" cy="335138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CCF7453C-3AFE-B055-CFF4-2CDC2F0D150E}"/>
              </a:ext>
            </a:extLst>
          </p:cNvPr>
          <p:cNvSpPr txBox="1"/>
          <p:nvPr/>
        </p:nvSpPr>
        <p:spPr>
          <a:xfrm>
            <a:off x="1211765" y="4451159"/>
            <a:ext cx="10378069" cy="2424382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225"/>
              </a:spcBef>
              <a:buSzPct val="91666"/>
              <a:buFont typeface="Century Gothic"/>
              <a:buChar char="•"/>
              <a:tabLst>
                <a:tab pos="300355" algn="l"/>
              </a:tabLst>
            </a:pPr>
            <a:r>
              <a:rPr sz="3200" dirty="0">
                <a:latin typeface="Arial"/>
                <a:cs typeface="Arial"/>
              </a:rPr>
              <a:t>Launch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job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on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compute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resources</a:t>
            </a:r>
            <a:endParaRPr sz="32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130"/>
              </a:spcBef>
              <a:buSzPct val="91666"/>
              <a:buFont typeface="Century Gothic"/>
              <a:buChar char="•"/>
              <a:tabLst>
                <a:tab pos="300355" algn="l"/>
              </a:tabLst>
            </a:pPr>
            <a:r>
              <a:rPr sz="3200" dirty="0">
                <a:latin typeface="Arial"/>
                <a:cs typeface="Arial"/>
              </a:rPr>
              <a:t>Similar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functionality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srun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and</a:t>
            </a:r>
            <a:r>
              <a:rPr sz="3200" spc="-10" dirty="0">
                <a:latin typeface="Arial"/>
                <a:cs typeface="Arial"/>
              </a:rPr>
              <a:t> mpirun</a:t>
            </a:r>
            <a:endParaRPr sz="32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125"/>
              </a:spcBef>
              <a:buSzPct val="91666"/>
              <a:buFont typeface="Century Gothic"/>
              <a:buChar char="•"/>
              <a:tabLst>
                <a:tab pos="300355" algn="l"/>
              </a:tabLst>
            </a:pPr>
            <a:r>
              <a:rPr sz="3200" dirty="0">
                <a:latin typeface="Arial"/>
                <a:cs typeface="Arial"/>
              </a:rPr>
              <a:t>Launch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nodes</a:t>
            </a:r>
            <a:endParaRPr sz="3200" dirty="0">
              <a:latin typeface="Arial"/>
              <a:cs typeface="Arial"/>
            </a:endParaRPr>
          </a:p>
          <a:p>
            <a:pPr marL="415925">
              <a:lnSpc>
                <a:spcPct val="100000"/>
              </a:lnSpc>
              <a:spcBef>
                <a:spcPts val="620"/>
              </a:spcBef>
              <a:tabLst>
                <a:tab pos="701040" algn="l"/>
              </a:tabLst>
            </a:pPr>
            <a:r>
              <a:rPr sz="2400" spc="-50" dirty="0">
                <a:latin typeface="Century Gothic"/>
                <a:cs typeface="Century Gothic"/>
              </a:rPr>
              <a:t>–</a:t>
            </a:r>
            <a:r>
              <a:rPr sz="2400" dirty="0">
                <a:latin typeface="Century Gothic"/>
                <a:cs typeface="Century Gothic"/>
              </a:rPr>
              <a:t>	</a:t>
            </a:r>
            <a:r>
              <a:rPr sz="2800" spc="-10" dirty="0">
                <a:latin typeface="Arial"/>
                <a:cs typeface="Arial"/>
              </a:rPr>
              <a:t>Non-</a:t>
            </a:r>
            <a:r>
              <a:rPr sz="2800" dirty="0">
                <a:latin typeface="Arial"/>
                <a:cs typeface="Arial"/>
              </a:rPr>
              <a:t>jsrun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commands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executed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launch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node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3357180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Resource Set Introduction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B88CCCA-C394-797E-6750-7C7CCF9E5B67}"/>
              </a:ext>
            </a:extLst>
          </p:cNvPr>
          <p:cNvSpPr txBox="1"/>
          <p:nvPr/>
        </p:nvSpPr>
        <p:spPr>
          <a:xfrm>
            <a:off x="340818" y="864146"/>
            <a:ext cx="418777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00"/>
              </a:spcBef>
              <a:buSzPct val="91666"/>
              <a:buFont typeface="Century Gothic"/>
              <a:buChar char="•"/>
              <a:tabLst>
                <a:tab pos="300355" algn="l"/>
              </a:tabLst>
            </a:pPr>
            <a:r>
              <a:rPr sz="3200" dirty="0">
                <a:latin typeface="Arial"/>
                <a:cs typeface="Arial"/>
              </a:rPr>
              <a:t>jsrun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format: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F2753AD-10F9-C11D-9843-00B507C97364}"/>
              </a:ext>
            </a:extLst>
          </p:cNvPr>
          <p:cNvSpPr txBox="1"/>
          <p:nvPr/>
        </p:nvSpPr>
        <p:spPr>
          <a:xfrm>
            <a:off x="340818" y="1685983"/>
            <a:ext cx="10452470" cy="531940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840"/>
              </a:spcBef>
              <a:buSzPct val="91666"/>
              <a:buFont typeface="Century Gothic"/>
              <a:buChar char="•"/>
              <a:tabLst>
                <a:tab pos="300355" algn="l"/>
              </a:tabLst>
            </a:pPr>
            <a:r>
              <a:rPr sz="3200" dirty="0">
                <a:latin typeface="Arial"/>
                <a:cs typeface="Arial"/>
              </a:rPr>
              <a:t>Resource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set</a:t>
            </a:r>
            <a:endParaRPr sz="32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615"/>
              </a:spcBef>
              <a:buSzPct val="900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sz="2800" dirty="0">
                <a:latin typeface="Arial"/>
                <a:cs typeface="Arial"/>
              </a:rPr>
              <a:t>Subgroup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resources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within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node</a:t>
            </a:r>
            <a:endParaRPr sz="2800" dirty="0">
              <a:latin typeface="Arial"/>
              <a:cs typeface="Arial"/>
            </a:endParaRPr>
          </a:p>
          <a:p>
            <a:pPr marL="1043305" lvl="2" indent="-285750">
              <a:lnSpc>
                <a:spcPct val="100000"/>
              </a:lnSpc>
              <a:spcBef>
                <a:spcPts val="605"/>
              </a:spcBef>
              <a:buSzPct val="88888"/>
              <a:buFont typeface="Century Gothic"/>
              <a:buChar char="•"/>
              <a:tabLst>
                <a:tab pos="1042669" algn="l"/>
                <a:tab pos="1043305" algn="l"/>
              </a:tabLst>
            </a:pPr>
            <a:r>
              <a:rPr sz="2400" dirty="0">
                <a:latin typeface="Arial"/>
                <a:cs typeface="Arial"/>
              </a:rPr>
              <a:t>GPUs,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CPUs</a:t>
            </a:r>
            <a:endParaRPr sz="24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545"/>
              </a:spcBef>
              <a:buSzPct val="900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sz="2800" b="1" i="1" dirty="0">
                <a:latin typeface="Arial"/>
                <a:cs typeface="Arial"/>
              </a:rPr>
              <a:t>Just</a:t>
            </a:r>
            <a:r>
              <a:rPr sz="2800" b="1" i="1" spc="-2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cgroups</a:t>
            </a:r>
            <a:r>
              <a:rPr sz="2800" b="1" i="1" spc="-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under</a:t>
            </a:r>
            <a:r>
              <a:rPr sz="2800" b="1" i="1" spc="-1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the</a:t>
            </a:r>
            <a:r>
              <a:rPr sz="2800" b="1" i="1" spc="-10" dirty="0">
                <a:latin typeface="Arial"/>
                <a:cs typeface="Arial"/>
              </a:rPr>
              <a:t> covers</a:t>
            </a:r>
            <a:endParaRPr sz="28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505"/>
              </a:spcBef>
              <a:buSzPct val="900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sz="2800" dirty="0">
                <a:latin typeface="Arial"/>
                <a:cs typeface="Arial"/>
              </a:rPr>
              <a:t>Building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blocks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jsrun</a:t>
            </a:r>
            <a:endParaRPr sz="28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600"/>
              </a:spcBef>
              <a:buSzPct val="900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sz="2800" dirty="0">
                <a:latin typeface="Arial"/>
                <a:cs typeface="Arial"/>
              </a:rPr>
              <a:t>Provides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ability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create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subsets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nodes</a:t>
            </a:r>
            <a:endParaRPr sz="2800" dirty="0">
              <a:latin typeface="Arial"/>
              <a:cs typeface="Arial"/>
            </a:endParaRPr>
          </a:p>
          <a:p>
            <a:pPr marL="1043305" lvl="2" indent="-285750">
              <a:lnSpc>
                <a:spcPct val="100000"/>
              </a:lnSpc>
              <a:spcBef>
                <a:spcPts val="585"/>
              </a:spcBef>
              <a:buSzPct val="88888"/>
              <a:buFont typeface="Century Gothic"/>
              <a:buChar char="•"/>
              <a:tabLst>
                <a:tab pos="1042669" algn="l"/>
                <a:tab pos="1043305" algn="l"/>
              </a:tabLst>
            </a:pPr>
            <a:r>
              <a:rPr sz="2400" dirty="0">
                <a:latin typeface="Arial"/>
                <a:cs typeface="Arial"/>
              </a:rPr>
              <a:t>Flexibility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resources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code’s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requirements</a:t>
            </a:r>
            <a:endParaRPr sz="24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545"/>
              </a:spcBef>
              <a:buSzPct val="900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sz="2800" spc="-10" dirty="0">
                <a:latin typeface="Arial"/>
                <a:cs typeface="Arial"/>
              </a:rPr>
              <a:t>Limitations</a:t>
            </a:r>
            <a:endParaRPr sz="2800" dirty="0">
              <a:latin typeface="Arial"/>
              <a:cs typeface="Arial"/>
            </a:endParaRPr>
          </a:p>
          <a:p>
            <a:pPr marL="1043305" lvl="2" indent="-285750">
              <a:lnSpc>
                <a:spcPct val="100000"/>
              </a:lnSpc>
              <a:spcBef>
                <a:spcPts val="605"/>
              </a:spcBef>
              <a:buSzPct val="88888"/>
              <a:buFont typeface="Century Gothic"/>
              <a:buChar char="•"/>
              <a:tabLst>
                <a:tab pos="1042669" algn="l"/>
                <a:tab pos="1043305" algn="l"/>
              </a:tabLst>
            </a:pPr>
            <a:r>
              <a:rPr sz="2400" dirty="0">
                <a:latin typeface="Arial"/>
                <a:cs typeface="Arial"/>
              </a:rPr>
              <a:t>Can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span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sockets;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span</a:t>
            </a:r>
            <a:r>
              <a:rPr sz="2400" spc="-10" dirty="0">
                <a:latin typeface="Arial"/>
                <a:cs typeface="Arial"/>
              </a:rPr>
              <a:t> nodes</a:t>
            </a:r>
            <a:endParaRPr sz="2400" dirty="0">
              <a:latin typeface="Arial"/>
              <a:cs typeface="Arial"/>
            </a:endParaRPr>
          </a:p>
          <a:p>
            <a:pPr marL="1043305" lvl="2" indent="-285750">
              <a:lnSpc>
                <a:spcPct val="100000"/>
              </a:lnSpc>
              <a:spcBef>
                <a:spcPts val="530"/>
              </a:spcBef>
              <a:buSzPct val="88888"/>
              <a:buFont typeface="Century Gothic"/>
              <a:buChar char="•"/>
              <a:tabLst>
                <a:tab pos="1042669" algn="l"/>
                <a:tab pos="1043305" algn="l"/>
              </a:tabLst>
            </a:pPr>
            <a:r>
              <a:rPr sz="2400" dirty="0">
                <a:latin typeface="Arial"/>
                <a:cs typeface="Arial"/>
              </a:rPr>
              <a:t>Entire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cores;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10" dirty="0">
                <a:latin typeface="Arial"/>
                <a:cs typeface="Arial"/>
              </a:rPr>
              <a:t> hyper-</a:t>
            </a:r>
            <a:r>
              <a:rPr sz="2400" dirty="0">
                <a:latin typeface="Arial"/>
                <a:cs typeface="Arial"/>
              </a:rPr>
              <a:t>thread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level</a:t>
            </a:r>
            <a:endParaRPr sz="2400" dirty="0">
              <a:latin typeface="Arial"/>
              <a:cs typeface="Arial"/>
            </a:endParaRPr>
          </a:p>
          <a:p>
            <a:pPr marL="1043305" lvl="2" indent="-285750">
              <a:lnSpc>
                <a:spcPct val="100000"/>
              </a:lnSpc>
              <a:spcBef>
                <a:spcPts val="645"/>
              </a:spcBef>
              <a:buSzPct val="88888"/>
              <a:buFont typeface="Century Gothic"/>
              <a:buChar char="•"/>
              <a:tabLst>
                <a:tab pos="1042669" algn="l"/>
                <a:tab pos="1043305" algn="l"/>
              </a:tabLst>
            </a:pPr>
            <a:r>
              <a:rPr sz="2400" dirty="0">
                <a:latin typeface="Arial"/>
                <a:cs typeface="Arial"/>
              </a:rPr>
              <a:t>Homogeneous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default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BF90D18-E0AB-B67E-8D7E-CEF406942C4D}"/>
              </a:ext>
            </a:extLst>
          </p:cNvPr>
          <p:cNvSpPr txBox="1"/>
          <p:nvPr/>
        </p:nvSpPr>
        <p:spPr>
          <a:xfrm>
            <a:off x="1563479" y="1439599"/>
            <a:ext cx="10309929" cy="315471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0"/>
              </a:spcBef>
            </a:pPr>
            <a:r>
              <a:rPr sz="2000" dirty="0">
                <a:latin typeface="Arial"/>
                <a:cs typeface="Arial"/>
              </a:rPr>
              <a:t>jsrun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B4D3D"/>
                </a:solidFill>
                <a:latin typeface="Arial"/>
                <a:cs typeface="Arial"/>
              </a:rPr>
              <a:t>[ </a:t>
            </a:r>
            <a:r>
              <a:rPr sz="2000" spc="-10" dirty="0">
                <a:solidFill>
                  <a:srgbClr val="CB4D3D"/>
                </a:solidFill>
                <a:latin typeface="Arial"/>
                <a:cs typeface="Arial"/>
              </a:rPr>
              <a:t>-</a:t>
            </a:r>
            <a:r>
              <a:rPr sz="2000" dirty="0">
                <a:solidFill>
                  <a:srgbClr val="CB4D3D"/>
                </a:solidFill>
                <a:latin typeface="Arial"/>
                <a:cs typeface="Arial"/>
              </a:rPr>
              <a:t>n</a:t>
            </a:r>
            <a:r>
              <a:rPr sz="2000" spc="5" dirty="0">
                <a:solidFill>
                  <a:srgbClr val="CB4D3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B4D3D"/>
                </a:solidFill>
                <a:latin typeface="Arial"/>
                <a:cs typeface="Arial"/>
              </a:rPr>
              <a:t>#Resource Sets</a:t>
            </a:r>
            <a:r>
              <a:rPr sz="2000" spc="-5" dirty="0">
                <a:solidFill>
                  <a:srgbClr val="CB4D3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B4D3D"/>
                </a:solidFill>
                <a:latin typeface="Arial"/>
                <a:cs typeface="Arial"/>
              </a:rPr>
              <a:t>]</a:t>
            </a:r>
            <a:r>
              <a:rPr sz="2000" spc="5" dirty="0">
                <a:solidFill>
                  <a:srgbClr val="CB4D3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BA2AD"/>
                </a:solidFill>
                <a:latin typeface="Arial"/>
                <a:cs typeface="Arial"/>
              </a:rPr>
              <a:t>[tasks, threads, and</a:t>
            </a:r>
            <a:r>
              <a:rPr sz="2000" spc="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BA2AD"/>
                </a:solidFill>
                <a:latin typeface="Arial"/>
                <a:cs typeface="Arial"/>
              </a:rPr>
              <a:t>GPUs</a:t>
            </a:r>
            <a:r>
              <a:rPr sz="2000" spc="-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BA2AD"/>
                </a:solidFill>
                <a:latin typeface="Arial"/>
                <a:cs typeface="Arial"/>
              </a:rPr>
              <a:t>w/in each</a:t>
            </a:r>
            <a:r>
              <a:rPr sz="2000" spc="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BA2AD"/>
                </a:solidFill>
                <a:latin typeface="Arial"/>
                <a:cs typeface="Arial"/>
              </a:rPr>
              <a:t>Resource Set]</a:t>
            </a:r>
            <a:r>
              <a:rPr sz="2000" spc="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7F7F7F"/>
                </a:solidFill>
                <a:latin typeface="Arial"/>
                <a:cs typeface="Arial"/>
              </a:rPr>
              <a:t>program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5518805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29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Choosing a Resource Set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9F9EAC0D-BE36-186B-4C53-3DAF8E80CF06}"/>
              </a:ext>
            </a:extLst>
          </p:cNvPr>
          <p:cNvSpPr txBox="1"/>
          <p:nvPr/>
        </p:nvSpPr>
        <p:spPr>
          <a:xfrm>
            <a:off x="568152" y="1035993"/>
            <a:ext cx="11216640" cy="5625899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0355" indent="-287655">
              <a:spcBef>
                <a:spcPts val="810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b="1" dirty="0">
                <a:latin typeface="Arial"/>
                <a:cs typeface="Arial"/>
              </a:rPr>
              <a:t>Understand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how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your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expects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to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interact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with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-10" dirty="0">
                <a:latin typeface="Arial"/>
                <a:cs typeface="Arial"/>
              </a:rPr>
              <a:t> system.</a:t>
            </a:r>
            <a:endParaRPr dirty="0">
              <a:latin typeface="Arial"/>
              <a:cs typeface="Arial"/>
            </a:endParaRPr>
          </a:p>
          <a:p>
            <a:pPr marL="701675" lvl="1" indent="-286385">
              <a:spcBef>
                <a:spcPts val="630"/>
              </a:spcBef>
              <a:buSzPct val="875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dirty="0">
                <a:latin typeface="Arial"/>
                <a:cs typeface="Arial"/>
              </a:rPr>
              <a:t>How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many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tasks/threads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per </a:t>
            </a:r>
            <a:r>
              <a:rPr spc="-20" dirty="0">
                <a:latin typeface="Arial"/>
                <a:cs typeface="Arial"/>
              </a:rPr>
              <a:t>GPU?</a:t>
            </a:r>
            <a:endParaRPr dirty="0">
              <a:latin typeface="Arial"/>
              <a:cs typeface="Arial"/>
            </a:endParaRPr>
          </a:p>
          <a:p>
            <a:pPr marL="701040" marR="708025" lvl="1" indent="-285750">
              <a:spcBef>
                <a:spcPts val="760"/>
              </a:spcBef>
              <a:buSzPct val="875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dirty="0">
                <a:latin typeface="Arial"/>
                <a:cs typeface="Arial"/>
              </a:rPr>
              <a:t>Does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each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task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expect</a:t>
            </a:r>
            <a:r>
              <a:rPr spc="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single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GPU?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multiple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tasks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expect 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share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GPU?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 the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code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written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to </a:t>
            </a:r>
            <a:r>
              <a:rPr dirty="0">
                <a:latin typeface="Arial"/>
                <a:cs typeface="Arial"/>
              </a:rPr>
              <a:t>internally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manage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task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workload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based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number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available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cores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10" dirty="0">
                <a:latin typeface="Arial"/>
                <a:cs typeface="Arial"/>
              </a:rPr>
              <a:t> GPUs?</a:t>
            </a:r>
            <a:endParaRPr dirty="0">
              <a:latin typeface="Arial"/>
              <a:cs typeface="Arial"/>
            </a:endParaRPr>
          </a:p>
          <a:p>
            <a:pPr marL="300355" indent="-287655">
              <a:spcBef>
                <a:spcPts val="1130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b="1" dirty="0">
                <a:latin typeface="Arial"/>
                <a:cs typeface="Arial"/>
              </a:rPr>
              <a:t>Create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resource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sets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containing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needed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GPU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to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task</a:t>
            </a:r>
            <a:r>
              <a:rPr b="1" spc="-10" dirty="0">
                <a:latin typeface="Arial"/>
                <a:cs typeface="Arial"/>
              </a:rPr>
              <a:t> binding</a:t>
            </a:r>
            <a:endParaRPr dirty="0">
              <a:latin typeface="Arial"/>
              <a:cs typeface="Arial"/>
            </a:endParaRPr>
          </a:p>
          <a:p>
            <a:pPr marL="701040" marR="323850" lvl="1" indent="-285750">
              <a:spcBef>
                <a:spcPts val="695"/>
              </a:spcBef>
              <a:buSzPct val="875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dirty="0">
                <a:latin typeface="Arial"/>
                <a:cs typeface="Arial"/>
              </a:rPr>
              <a:t>Based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how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your code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expects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interact with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system, you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create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resource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sets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containing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needed </a:t>
            </a:r>
            <a:r>
              <a:rPr dirty="0">
                <a:latin typeface="Arial"/>
                <a:cs typeface="Arial"/>
              </a:rPr>
              <a:t>GPU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core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resources.</a:t>
            </a:r>
            <a:endParaRPr dirty="0">
              <a:latin typeface="Arial"/>
              <a:cs typeface="Arial"/>
            </a:endParaRPr>
          </a:p>
          <a:p>
            <a:pPr marL="701040" marR="5080" lvl="1" indent="-285750">
              <a:spcBef>
                <a:spcPts val="775"/>
              </a:spcBef>
              <a:buSzPct val="875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dirty="0">
                <a:latin typeface="Arial"/>
                <a:cs typeface="Arial"/>
              </a:rPr>
              <a:t>If 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code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expects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utilize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per task,</a:t>
            </a:r>
            <a:r>
              <a:rPr spc="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resource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set would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contain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core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GPU. If</a:t>
            </a:r>
            <a:r>
              <a:rPr spc="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code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expects </a:t>
            </a:r>
            <a:r>
              <a:rPr dirty="0">
                <a:latin typeface="Arial"/>
                <a:cs typeface="Arial"/>
              </a:rPr>
              <a:t>to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pass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work 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single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from two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tasks, a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resource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set would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contain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two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cores 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one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GPU.</a:t>
            </a:r>
            <a:endParaRPr dirty="0">
              <a:latin typeface="Arial"/>
              <a:cs typeface="Arial"/>
            </a:endParaRPr>
          </a:p>
          <a:p>
            <a:pPr marL="300355" indent="-287655">
              <a:spcBef>
                <a:spcPts val="1180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b="1" dirty="0">
                <a:latin typeface="Arial"/>
                <a:cs typeface="Arial"/>
              </a:rPr>
              <a:t>Decide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on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number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resource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sets</a:t>
            </a:r>
            <a:r>
              <a:rPr b="1" spc="-10" dirty="0">
                <a:latin typeface="Arial"/>
                <a:cs typeface="Arial"/>
              </a:rPr>
              <a:t> needed</a:t>
            </a:r>
            <a:endParaRPr dirty="0">
              <a:latin typeface="Arial"/>
              <a:cs typeface="Arial"/>
            </a:endParaRPr>
          </a:p>
          <a:p>
            <a:pPr marL="701040" marR="5080" lvl="1" indent="-285750">
              <a:spcBef>
                <a:spcPts val="869"/>
              </a:spcBef>
              <a:buSzPct val="87500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dirty="0">
                <a:latin typeface="Arial"/>
                <a:cs typeface="Arial"/>
              </a:rPr>
              <a:t>Once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you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understand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tasks, threads, and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GPUs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resource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set, you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simply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need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decide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number of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resource </a:t>
            </a:r>
            <a:r>
              <a:rPr dirty="0">
                <a:latin typeface="Arial"/>
                <a:cs typeface="Arial"/>
              </a:rPr>
              <a:t>sets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needed.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8176847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Summit Node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0E7861B6-9226-6321-B996-40FD351B2B5F}"/>
              </a:ext>
            </a:extLst>
          </p:cNvPr>
          <p:cNvGrpSpPr/>
          <p:nvPr/>
        </p:nvGrpSpPr>
        <p:grpSpPr>
          <a:xfrm>
            <a:off x="1562592" y="1506438"/>
            <a:ext cx="9127490" cy="5340350"/>
            <a:chOff x="413128" y="1398882"/>
            <a:chExt cx="9127490" cy="5340350"/>
          </a:xfrm>
        </p:grpSpPr>
        <p:pic>
          <p:nvPicPr>
            <p:cNvPr id="3" name="object 5">
              <a:extLst>
                <a:ext uri="{FF2B5EF4-FFF2-40B4-BE49-F238E27FC236}">
                  <a16:creationId xmlns:a16="http://schemas.microsoft.com/office/drawing/2014/main" id="{49C3AD66-7D0D-F200-D9F9-943F07BCA87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128" y="6476999"/>
              <a:ext cx="1088135" cy="261859"/>
            </a:xfrm>
            <a:prstGeom prst="rect">
              <a:avLst/>
            </a:prstGeom>
          </p:spPr>
        </p:pic>
        <p:pic>
          <p:nvPicPr>
            <p:cNvPr id="4" name="object 6">
              <a:extLst>
                <a:ext uri="{FF2B5EF4-FFF2-40B4-BE49-F238E27FC236}">
                  <a16:creationId xmlns:a16="http://schemas.microsoft.com/office/drawing/2014/main" id="{3B68AD91-ACB2-DC8D-39F6-9F0A65349CC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5431" y="1398882"/>
              <a:ext cx="6609297" cy="5185231"/>
            </a:xfrm>
            <a:prstGeom prst="rect">
              <a:avLst/>
            </a:prstGeom>
          </p:spPr>
        </p:pic>
        <p:pic>
          <p:nvPicPr>
            <p:cNvPr id="5" name="object 7">
              <a:extLst>
                <a:ext uri="{FF2B5EF4-FFF2-40B4-BE49-F238E27FC236}">
                  <a16:creationId xmlns:a16="http://schemas.microsoft.com/office/drawing/2014/main" id="{68747B16-0999-C066-8776-D313608178F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09304" y="5309615"/>
              <a:ext cx="630935" cy="429768"/>
            </a:xfrm>
            <a:prstGeom prst="rect">
              <a:avLst/>
            </a:prstGeom>
          </p:spPr>
        </p:pic>
      </p:grpSp>
      <p:sp>
        <p:nvSpPr>
          <p:cNvPr id="6" name="object 9">
            <a:extLst>
              <a:ext uri="{FF2B5EF4-FFF2-40B4-BE49-F238E27FC236}">
                <a16:creationId xmlns:a16="http://schemas.microsoft.com/office/drawing/2014/main" id="{DD694C4A-9650-E385-D257-86A6875B85E0}"/>
              </a:ext>
            </a:extLst>
          </p:cNvPr>
          <p:cNvSpPr txBox="1"/>
          <p:nvPr/>
        </p:nvSpPr>
        <p:spPr>
          <a:xfrm>
            <a:off x="10242257" y="5447144"/>
            <a:ext cx="371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RAM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5B08D2C9-AE50-5F59-7F20-C5D110021207}"/>
              </a:ext>
            </a:extLst>
          </p:cNvPr>
          <p:cNvSpPr txBox="1"/>
          <p:nvPr/>
        </p:nvSpPr>
        <p:spPr>
          <a:xfrm>
            <a:off x="8274055" y="415160"/>
            <a:ext cx="1720274" cy="6283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GPU</a:t>
            </a:r>
            <a:endParaRPr sz="2000" dirty="0">
              <a:latin typeface="Arial"/>
              <a:cs typeface="Arial"/>
            </a:endParaRPr>
          </a:p>
          <a:p>
            <a:pPr algn="ctr"/>
            <a:r>
              <a:rPr sz="2000" b="1" dirty="0">
                <a:latin typeface="Arial"/>
                <a:cs typeface="Arial"/>
              </a:rPr>
              <a:t>(3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x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Socket)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0AE80636-05B8-0C02-AE86-C6FFDC8B1156}"/>
              </a:ext>
            </a:extLst>
          </p:cNvPr>
          <p:cNvSpPr txBox="1"/>
          <p:nvPr/>
        </p:nvSpPr>
        <p:spPr>
          <a:xfrm>
            <a:off x="10105693" y="1335564"/>
            <a:ext cx="1810650" cy="6392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23495" rIns="0" bIns="0" rtlCol="0">
            <a:spAutoFit/>
          </a:bodyPr>
          <a:lstStyle/>
          <a:p>
            <a:pPr marR="5080">
              <a:spcBef>
                <a:spcPts val="0"/>
              </a:spcBef>
            </a:pPr>
            <a:r>
              <a:rPr sz="2000" b="1" spc="-10" dirty="0">
                <a:latin typeface="Arial"/>
                <a:cs typeface="Arial"/>
              </a:rPr>
              <a:t>Socket </a:t>
            </a:r>
            <a:endParaRPr lang="en-US" sz="2000" b="1" spc="-10" dirty="0">
              <a:latin typeface="Arial"/>
              <a:cs typeface="Arial"/>
            </a:endParaRPr>
          </a:p>
          <a:p>
            <a:pPr marR="5080">
              <a:spcBef>
                <a:spcPts val="0"/>
              </a:spcBef>
            </a:pPr>
            <a:r>
              <a:rPr sz="2000" b="1" dirty="0">
                <a:latin typeface="Arial"/>
                <a:cs typeface="Arial"/>
              </a:rPr>
              <a:t>(2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x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Node)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6CF4F790-1F93-B662-BBE0-F0625366DC21}"/>
              </a:ext>
            </a:extLst>
          </p:cNvPr>
          <p:cNvSpPr txBox="1"/>
          <p:nvPr/>
        </p:nvSpPr>
        <p:spPr>
          <a:xfrm>
            <a:off x="10433249" y="4071352"/>
            <a:ext cx="2277280" cy="6617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0" tIns="20320" rIns="0" bIns="0" rtlCol="0">
            <a:spAutoFit/>
          </a:bodyPr>
          <a:lstStyle/>
          <a:p>
            <a:pPr marL="283210" marR="5080" indent="-271145" algn="ctr">
              <a:spcBef>
                <a:spcPts val="160"/>
              </a:spcBef>
            </a:pPr>
            <a:r>
              <a:rPr sz="2000" b="1" dirty="0">
                <a:latin typeface="Arial"/>
                <a:cs typeface="Arial"/>
              </a:rPr>
              <a:t>Hardware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Thread </a:t>
            </a:r>
            <a:endParaRPr lang="en-US" sz="2000" b="1" spc="-10" dirty="0">
              <a:latin typeface="Arial"/>
              <a:cs typeface="Arial"/>
            </a:endParaRPr>
          </a:p>
          <a:p>
            <a:pPr marL="283210" marR="5080" indent="-271145" algn="ctr">
              <a:spcBef>
                <a:spcPts val="160"/>
              </a:spcBef>
            </a:pPr>
            <a:r>
              <a:rPr sz="2000" b="1" dirty="0">
                <a:latin typeface="Arial"/>
                <a:cs typeface="Arial"/>
              </a:rPr>
              <a:t>(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4x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Core)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14" name="object 17">
            <a:extLst>
              <a:ext uri="{FF2B5EF4-FFF2-40B4-BE49-F238E27FC236}">
                <a16:creationId xmlns:a16="http://schemas.microsoft.com/office/drawing/2014/main" id="{28110CE2-ABB1-7F73-F804-836D4B710F27}"/>
              </a:ext>
            </a:extLst>
          </p:cNvPr>
          <p:cNvGrpSpPr/>
          <p:nvPr/>
        </p:nvGrpSpPr>
        <p:grpSpPr>
          <a:xfrm>
            <a:off x="8135048" y="1012234"/>
            <a:ext cx="2033270" cy="4747895"/>
            <a:chOff x="6985584" y="904678"/>
            <a:chExt cx="2033270" cy="4747895"/>
          </a:xfrm>
        </p:grpSpPr>
        <p:sp>
          <p:nvSpPr>
            <p:cNvPr id="15" name="object 18">
              <a:extLst>
                <a:ext uri="{FF2B5EF4-FFF2-40B4-BE49-F238E27FC236}">
                  <a16:creationId xmlns:a16="http://schemas.microsoft.com/office/drawing/2014/main" id="{AAE8F609-CA35-C38E-681C-A9858B917D3E}"/>
                </a:ext>
              </a:extLst>
            </p:cNvPr>
            <p:cNvSpPr/>
            <p:nvPr/>
          </p:nvSpPr>
          <p:spPr>
            <a:xfrm>
              <a:off x="6990346" y="909440"/>
              <a:ext cx="638810" cy="804545"/>
            </a:xfrm>
            <a:custGeom>
              <a:avLst/>
              <a:gdLst/>
              <a:ahLst/>
              <a:cxnLst/>
              <a:rect l="l" t="t" r="r" b="b"/>
              <a:pathLst>
                <a:path w="638809" h="804544">
                  <a:moveTo>
                    <a:pt x="638422" y="0"/>
                  </a:moveTo>
                  <a:lnTo>
                    <a:pt x="0" y="80403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9">
              <a:extLst>
                <a:ext uri="{FF2B5EF4-FFF2-40B4-BE49-F238E27FC236}">
                  <a16:creationId xmlns:a16="http://schemas.microsoft.com/office/drawing/2014/main" id="{2200E82C-37EF-42B5-62BF-C8A476CAB9A2}"/>
                </a:ext>
              </a:extLst>
            </p:cNvPr>
            <p:cNvSpPr/>
            <p:nvPr/>
          </p:nvSpPr>
          <p:spPr>
            <a:xfrm>
              <a:off x="7603812" y="5445043"/>
              <a:ext cx="1410335" cy="202565"/>
            </a:xfrm>
            <a:custGeom>
              <a:avLst/>
              <a:gdLst/>
              <a:ahLst/>
              <a:cxnLst/>
              <a:rect l="l" t="t" r="r" b="b"/>
              <a:pathLst>
                <a:path w="1410334" h="202564">
                  <a:moveTo>
                    <a:pt x="1410241" y="0"/>
                  </a:moveTo>
                  <a:lnTo>
                    <a:pt x="0" y="20229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0">
              <a:extLst>
                <a:ext uri="{FF2B5EF4-FFF2-40B4-BE49-F238E27FC236}">
                  <a16:creationId xmlns:a16="http://schemas.microsoft.com/office/drawing/2014/main" id="{07A0E3B3-F64A-8715-CCB0-0547BFFCD1F0}"/>
                </a:ext>
              </a:extLst>
            </p:cNvPr>
            <p:cNvSpPr/>
            <p:nvPr/>
          </p:nvSpPr>
          <p:spPr>
            <a:xfrm>
              <a:off x="7849492" y="1628994"/>
              <a:ext cx="1035050" cy="169545"/>
            </a:xfrm>
            <a:custGeom>
              <a:avLst/>
              <a:gdLst/>
              <a:ahLst/>
              <a:cxnLst/>
              <a:rect l="l" t="t" r="r" b="b"/>
              <a:pathLst>
                <a:path w="1035050" h="169544">
                  <a:moveTo>
                    <a:pt x="1034600" y="0"/>
                  </a:moveTo>
                  <a:lnTo>
                    <a:pt x="0" y="16895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21">
            <a:extLst>
              <a:ext uri="{FF2B5EF4-FFF2-40B4-BE49-F238E27FC236}">
                <a16:creationId xmlns:a16="http://schemas.microsoft.com/office/drawing/2014/main" id="{7B91C178-9958-4D91-6F02-3F93FEFD7E1D}"/>
              </a:ext>
            </a:extLst>
          </p:cNvPr>
          <p:cNvSpPr txBox="1"/>
          <p:nvPr/>
        </p:nvSpPr>
        <p:spPr>
          <a:xfrm>
            <a:off x="6394820" y="6678536"/>
            <a:ext cx="2617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7F7F7F"/>
                </a:solidFill>
                <a:latin typeface="Arial"/>
                <a:cs typeface="Arial"/>
              </a:rPr>
              <a:t>*Numbering</a:t>
            </a:r>
            <a:r>
              <a:rPr sz="12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7F7F7F"/>
                </a:solidFill>
                <a:latin typeface="Arial"/>
                <a:cs typeface="Arial"/>
              </a:rPr>
              <a:t>skips</a:t>
            </a:r>
            <a:r>
              <a:rPr sz="12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7F7F7F"/>
                </a:solidFill>
                <a:latin typeface="Arial"/>
                <a:cs typeface="Arial"/>
              </a:rPr>
              <a:t>due</a:t>
            </a:r>
            <a:r>
              <a:rPr sz="12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7F7F7F"/>
                </a:solidFill>
                <a:latin typeface="Arial"/>
                <a:cs typeface="Arial"/>
              </a:rPr>
              <a:t>to</a:t>
            </a:r>
            <a:r>
              <a:rPr sz="1200" i="1" spc="-1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7F7F7F"/>
                </a:solidFill>
                <a:latin typeface="Arial"/>
                <a:cs typeface="Arial"/>
              </a:rPr>
              <a:t>core</a:t>
            </a:r>
            <a:r>
              <a:rPr sz="1200" i="1" spc="-1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7F7F7F"/>
                </a:solidFill>
                <a:latin typeface="Arial"/>
                <a:cs typeface="Arial"/>
              </a:rPr>
              <a:t>isolation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2">
            <a:extLst>
              <a:ext uri="{FF2B5EF4-FFF2-40B4-BE49-F238E27FC236}">
                <a16:creationId xmlns:a16="http://schemas.microsoft.com/office/drawing/2014/main" id="{0DD12231-87EC-C698-0A9F-C87B0A6E47CA}"/>
              </a:ext>
            </a:extLst>
          </p:cNvPr>
          <p:cNvGrpSpPr/>
          <p:nvPr/>
        </p:nvGrpSpPr>
        <p:grpSpPr>
          <a:xfrm>
            <a:off x="7336904" y="2369172"/>
            <a:ext cx="3950335" cy="3931920"/>
            <a:chOff x="6187440" y="2261616"/>
            <a:chExt cx="3950335" cy="3931920"/>
          </a:xfrm>
        </p:grpSpPr>
        <p:pic>
          <p:nvPicPr>
            <p:cNvPr id="21" name="object 23">
              <a:extLst>
                <a:ext uri="{FF2B5EF4-FFF2-40B4-BE49-F238E27FC236}">
                  <a16:creationId xmlns:a16="http://schemas.microsoft.com/office/drawing/2014/main" id="{BFE73275-7EAB-41EB-A5C0-B36EF62A7F0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7440" y="2548127"/>
              <a:ext cx="3352800" cy="3645408"/>
            </a:xfrm>
            <a:prstGeom prst="rect">
              <a:avLst/>
            </a:prstGeom>
          </p:spPr>
        </p:pic>
        <p:pic>
          <p:nvPicPr>
            <p:cNvPr id="22" name="object 24">
              <a:extLst>
                <a:ext uri="{FF2B5EF4-FFF2-40B4-BE49-F238E27FC236}">
                  <a16:creationId xmlns:a16="http://schemas.microsoft.com/office/drawing/2014/main" id="{49DC6863-09CC-8C34-4B36-80C78D2AB33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69352" y="2261616"/>
              <a:ext cx="2209800" cy="1734312"/>
            </a:xfrm>
            <a:prstGeom prst="rect">
              <a:avLst/>
            </a:prstGeom>
          </p:spPr>
        </p:pic>
        <p:sp>
          <p:nvSpPr>
            <p:cNvPr id="23" name="object 25">
              <a:extLst>
                <a:ext uri="{FF2B5EF4-FFF2-40B4-BE49-F238E27FC236}">
                  <a16:creationId xmlns:a16="http://schemas.microsoft.com/office/drawing/2014/main" id="{E64F365F-83D5-A73B-5065-636207ED94E3}"/>
                </a:ext>
              </a:extLst>
            </p:cNvPr>
            <p:cNvSpPr/>
            <p:nvPr/>
          </p:nvSpPr>
          <p:spPr>
            <a:xfrm>
              <a:off x="9570411" y="3327481"/>
              <a:ext cx="562610" cy="539115"/>
            </a:xfrm>
            <a:custGeom>
              <a:avLst/>
              <a:gdLst/>
              <a:ahLst/>
              <a:cxnLst/>
              <a:rect l="l" t="t" r="r" b="b"/>
              <a:pathLst>
                <a:path w="562609" h="539114">
                  <a:moveTo>
                    <a:pt x="562580" y="538693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C67F40D3-D5CB-EA09-2E89-121A0F4A05E5}"/>
              </a:ext>
            </a:extLst>
          </p:cNvPr>
          <p:cNvSpPr txBox="1"/>
          <p:nvPr/>
        </p:nvSpPr>
        <p:spPr>
          <a:xfrm>
            <a:off x="30577" y="1570256"/>
            <a:ext cx="2644608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*Core Isolation:</a:t>
            </a:r>
            <a:endParaRPr lang="en-US" altLang="zh-CN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1 core on each socket has been set aside for overhead and is not available for allocation through </a:t>
            </a:r>
            <a:r>
              <a:rPr lang="en-US" altLang="zh-CN" sz="2000" b="0" i="0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jsrun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.</a:t>
            </a:r>
          </a:p>
          <a:p>
            <a:endParaRPr lang="en-US" altLang="zh-CN" sz="20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The core has been omitted and is not shown in the image.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FEB3670-875F-3CB9-68E2-E5EBB79E1F2F}"/>
              </a:ext>
            </a:extLst>
          </p:cNvPr>
          <p:cNvSpPr txBox="1"/>
          <p:nvPr/>
        </p:nvSpPr>
        <p:spPr>
          <a:xfrm>
            <a:off x="-172988" y="804020"/>
            <a:ext cx="6467474" cy="7078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R="196215" algn="ctr">
              <a:spcBef>
                <a:spcPts val="1135"/>
              </a:spcBef>
            </a:pPr>
            <a:r>
              <a:rPr lang="en-US" altLang="zh-CN" sz="2000" b="1" spc="-20" dirty="0">
                <a:latin typeface="Arial"/>
                <a:cs typeface="Arial"/>
              </a:rPr>
              <a:t>Core</a:t>
            </a:r>
            <a:endParaRPr lang="en-US" altLang="zh-CN" sz="2000" dirty="0">
              <a:latin typeface="Arial"/>
              <a:cs typeface="Arial"/>
            </a:endParaRPr>
          </a:p>
          <a:p>
            <a:pPr marR="196215" algn="ctr"/>
            <a:r>
              <a:rPr lang="en-US" altLang="zh-CN" sz="2000" b="1" dirty="0">
                <a:latin typeface="Arial"/>
                <a:cs typeface="Arial"/>
              </a:rPr>
              <a:t>(21</a:t>
            </a:r>
            <a:r>
              <a:rPr lang="en-US" altLang="zh-CN" sz="2000" b="1" spc="-10" dirty="0">
                <a:latin typeface="Arial"/>
                <a:cs typeface="Arial"/>
              </a:rPr>
              <a:t> </a:t>
            </a:r>
            <a:r>
              <a:rPr lang="en-US" altLang="zh-CN" sz="2000" b="1" dirty="0">
                <a:latin typeface="Arial"/>
                <a:cs typeface="Arial"/>
              </a:rPr>
              <a:t>x</a:t>
            </a:r>
            <a:r>
              <a:rPr lang="en-US" altLang="zh-CN" sz="2000" b="1" spc="-5" dirty="0">
                <a:latin typeface="Arial"/>
                <a:cs typeface="Arial"/>
              </a:rPr>
              <a:t> </a:t>
            </a:r>
            <a:r>
              <a:rPr lang="en-US" altLang="zh-CN" sz="2000" b="1" spc="-10" dirty="0">
                <a:latin typeface="Arial"/>
                <a:cs typeface="Arial"/>
              </a:rPr>
              <a:t>Socket)</a:t>
            </a:r>
            <a:endParaRPr lang="en-US" altLang="zh-CN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7761033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Hardware Thread Levels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74B1EC1-84CD-6500-2F29-227DF8E92252}"/>
              </a:ext>
            </a:extLst>
          </p:cNvPr>
          <p:cNvSpPr txBox="1"/>
          <p:nvPr/>
        </p:nvSpPr>
        <p:spPr>
          <a:xfrm>
            <a:off x="784176" y="1584226"/>
            <a:ext cx="10009112" cy="45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130"/>
              </a:spcBef>
              <a:buSzPct val="89285"/>
              <a:buFont typeface="Century Gothic"/>
              <a:buChar char="•"/>
              <a:tabLst>
                <a:tab pos="300355" algn="l"/>
              </a:tabLst>
            </a:pPr>
            <a:r>
              <a:rPr lang="en-US" altLang="zh-CN" sz="3200" dirty="0">
                <a:latin typeface="Arial"/>
                <a:cs typeface="Arial"/>
              </a:rPr>
              <a:t>Each physical</a:t>
            </a:r>
            <a:r>
              <a:rPr lang="en-US" altLang="zh-CN" sz="3200" spc="1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core</a:t>
            </a:r>
            <a:r>
              <a:rPr lang="en-US" altLang="zh-CN" sz="3200" spc="1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contains</a:t>
            </a:r>
            <a:r>
              <a:rPr lang="en-US" altLang="zh-CN" sz="3200" spc="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4</a:t>
            </a:r>
            <a:r>
              <a:rPr lang="en-US" altLang="zh-CN" sz="3200" spc="1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hardware</a:t>
            </a:r>
            <a:r>
              <a:rPr lang="en-US" altLang="zh-CN" sz="3200" spc="15" dirty="0">
                <a:latin typeface="Arial"/>
                <a:cs typeface="Arial"/>
              </a:rPr>
              <a:t> </a:t>
            </a:r>
            <a:r>
              <a:rPr lang="en-US" altLang="zh-CN" sz="3200" spc="-10" dirty="0">
                <a:latin typeface="Arial"/>
                <a:cs typeface="Arial"/>
              </a:rPr>
              <a:t>threads</a:t>
            </a:r>
            <a:endParaRPr lang="en-US" altLang="zh-CN" sz="32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035"/>
              </a:spcBef>
              <a:buSzPct val="89285"/>
              <a:buFont typeface="Century Gothic"/>
              <a:buChar char="•"/>
              <a:tabLst>
                <a:tab pos="300355" algn="l"/>
              </a:tabLst>
            </a:pPr>
            <a:r>
              <a:rPr lang="en-US" altLang="zh-CN" sz="3200" dirty="0">
                <a:latin typeface="Arial"/>
                <a:cs typeface="Arial"/>
              </a:rPr>
              <a:t>Simultaneous</a:t>
            </a:r>
            <a:r>
              <a:rPr lang="en-US" altLang="zh-CN" sz="3200" spc="2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Multithreading</a:t>
            </a:r>
            <a:r>
              <a:rPr lang="en-US" altLang="zh-CN" sz="3200" spc="30" dirty="0">
                <a:latin typeface="Arial"/>
                <a:cs typeface="Arial"/>
              </a:rPr>
              <a:t> </a:t>
            </a:r>
            <a:r>
              <a:rPr lang="en-US" altLang="zh-CN" sz="3200" spc="-10" dirty="0">
                <a:latin typeface="Arial"/>
                <a:cs typeface="Arial"/>
              </a:rPr>
              <a:t>(SMT)</a:t>
            </a:r>
            <a:endParaRPr lang="en-US" altLang="zh-CN" sz="32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030"/>
              </a:spcBef>
              <a:buSzPct val="89285"/>
              <a:buFont typeface="Century Gothic"/>
              <a:buChar char="•"/>
              <a:tabLst>
                <a:tab pos="300355" algn="l"/>
              </a:tabLst>
            </a:pPr>
            <a:r>
              <a:rPr lang="en-US" altLang="zh-CN" sz="3200" dirty="0">
                <a:latin typeface="Arial"/>
                <a:cs typeface="Arial"/>
              </a:rPr>
              <a:t>Power9</a:t>
            </a:r>
            <a:r>
              <a:rPr lang="en-US" altLang="zh-CN" sz="3200" spc="-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supports 3</a:t>
            </a:r>
            <a:r>
              <a:rPr lang="en-US" altLang="zh-CN" sz="3200" spc="1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levels:</a:t>
            </a:r>
            <a:r>
              <a:rPr lang="en-US" altLang="zh-CN" sz="3200" spc="-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1, 2,</a:t>
            </a:r>
            <a:r>
              <a:rPr lang="en-US" altLang="zh-CN" sz="3200" spc="-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or</a:t>
            </a:r>
            <a:r>
              <a:rPr lang="en-US" altLang="zh-CN" sz="3200" spc="1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4</a:t>
            </a:r>
            <a:r>
              <a:rPr lang="en-US" altLang="zh-CN" sz="3200" spc="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virtual</a:t>
            </a:r>
            <a:r>
              <a:rPr lang="en-US" altLang="zh-CN" sz="3200" spc="10" dirty="0">
                <a:latin typeface="Arial"/>
                <a:cs typeface="Arial"/>
              </a:rPr>
              <a:t> </a:t>
            </a:r>
            <a:r>
              <a:rPr lang="en-US" altLang="zh-CN" sz="3200" spc="-10" dirty="0">
                <a:latin typeface="Arial"/>
                <a:cs typeface="Arial"/>
              </a:rPr>
              <a:t>cores</a:t>
            </a:r>
            <a:endParaRPr lang="en-US" altLang="zh-CN" sz="32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150"/>
              </a:spcBef>
              <a:buSzPct val="89285"/>
              <a:buFont typeface="Century Gothic"/>
              <a:buChar char="•"/>
              <a:tabLst>
                <a:tab pos="300355" algn="l"/>
              </a:tabLst>
            </a:pPr>
            <a:r>
              <a:rPr lang="en-US" altLang="zh-CN" sz="3200" dirty="0">
                <a:latin typeface="Arial"/>
                <a:cs typeface="Arial"/>
              </a:rPr>
              <a:t>SMT</a:t>
            </a:r>
            <a:r>
              <a:rPr lang="en-US" altLang="zh-CN" sz="3200" spc="-5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level</a:t>
            </a:r>
            <a:r>
              <a:rPr lang="en-US" altLang="zh-CN" sz="3200" spc="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set</a:t>
            </a:r>
            <a:r>
              <a:rPr lang="en-US" altLang="zh-CN" sz="3200" spc="-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for</a:t>
            </a:r>
            <a:r>
              <a:rPr lang="en-US" altLang="zh-CN" sz="3200" spc="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each</a:t>
            </a:r>
            <a:r>
              <a:rPr lang="en-US" altLang="zh-CN" sz="3200" spc="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batch</a:t>
            </a:r>
            <a:r>
              <a:rPr lang="en-US" altLang="zh-CN" sz="3200" spc="10" dirty="0">
                <a:latin typeface="Arial"/>
                <a:cs typeface="Arial"/>
              </a:rPr>
              <a:t> </a:t>
            </a:r>
            <a:r>
              <a:rPr lang="en-US" altLang="zh-CN" sz="3200" spc="-25" dirty="0">
                <a:latin typeface="Arial"/>
                <a:cs typeface="Arial"/>
              </a:rPr>
              <a:t>job</a:t>
            </a:r>
          </a:p>
          <a:p>
            <a:pPr marL="701675" lvl="1" indent="-285750">
              <a:lnSpc>
                <a:spcPct val="100000"/>
              </a:lnSpc>
              <a:spcBef>
                <a:spcPts val="425"/>
              </a:spcBef>
              <a:buSzPct val="91666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lang="en-US" altLang="zh-CN" sz="2800" dirty="0">
                <a:latin typeface="Arial"/>
                <a:cs typeface="Arial"/>
              </a:rPr>
              <a:t>#BSUB</a:t>
            </a:r>
            <a:r>
              <a:rPr lang="en-US" altLang="zh-CN" sz="2800" spc="-10" dirty="0">
                <a:latin typeface="Arial"/>
                <a:cs typeface="Arial"/>
              </a:rPr>
              <a:t> </a:t>
            </a:r>
            <a:r>
              <a:rPr lang="en-US" altLang="zh-CN" sz="2800" dirty="0">
                <a:latin typeface="Arial"/>
                <a:cs typeface="Arial"/>
              </a:rPr>
              <a:t>–</a:t>
            </a:r>
            <a:r>
              <a:rPr lang="en-US" altLang="zh-CN" sz="2800" dirty="0" err="1">
                <a:latin typeface="Arial"/>
                <a:cs typeface="Arial"/>
              </a:rPr>
              <a:t>alloc_flags</a:t>
            </a:r>
            <a:r>
              <a:rPr lang="en-US" altLang="zh-CN" sz="2800" spc="-10" dirty="0">
                <a:latin typeface="Arial"/>
                <a:cs typeface="Arial"/>
              </a:rPr>
              <a:t> </a:t>
            </a:r>
            <a:r>
              <a:rPr lang="en-US" altLang="zh-CN" sz="2800" spc="-20" dirty="0">
                <a:latin typeface="Arial"/>
                <a:cs typeface="Arial"/>
              </a:rPr>
              <a:t>smt1</a:t>
            </a:r>
            <a:endParaRPr lang="en-US" altLang="zh-CN" sz="28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530"/>
              </a:spcBef>
              <a:buSzPct val="91666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lang="en-US" altLang="zh-CN" sz="2800" dirty="0">
                <a:latin typeface="Arial"/>
                <a:cs typeface="Arial"/>
              </a:rPr>
              <a:t>#BSUB</a:t>
            </a:r>
            <a:r>
              <a:rPr lang="en-US" altLang="zh-CN" sz="2800" spc="-10" dirty="0">
                <a:latin typeface="Arial"/>
                <a:cs typeface="Arial"/>
              </a:rPr>
              <a:t> </a:t>
            </a:r>
            <a:r>
              <a:rPr lang="en-US" altLang="zh-CN" sz="2800" dirty="0">
                <a:latin typeface="Arial"/>
                <a:cs typeface="Arial"/>
              </a:rPr>
              <a:t>–</a:t>
            </a:r>
            <a:r>
              <a:rPr lang="en-US" altLang="zh-CN" sz="2800" dirty="0" err="1">
                <a:latin typeface="Arial"/>
                <a:cs typeface="Arial"/>
              </a:rPr>
              <a:t>alloc_flags</a:t>
            </a:r>
            <a:r>
              <a:rPr lang="en-US" altLang="zh-CN" sz="2800" spc="-10" dirty="0">
                <a:latin typeface="Arial"/>
                <a:cs typeface="Arial"/>
              </a:rPr>
              <a:t> </a:t>
            </a:r>
            <a:r>
              <a:rPr lang="en-US" altLang="zh-CN" sz="2800" spc="-20" dirty="0">
                <a:latin typeface="Arial"/>
                <a:cs typeface="Arial"/>
              </a:rPr>
              <a:t>smt2</a:t>
            </a:r>
            <a:endParaRPr lang="en-US" altLang="zh-CN" sz="2800" dirty="0">
              <a:latin typeface="Arial"/>
              <a:cs typeface="Arial"/>
            </a:endParaRPr>
          </a:p>
          <a:p>
            <a:pPr marL="701675" lvl="1" indent="-285750">
              <a:lnSpc>
                <a:spcPct val="100000"/>
              </a:lnSpc>
              <a:spcBef>
                <a:spcPts val="525"/>
              </a:spcBef>
              <a:buSzPct val="91666"/>
              <a:buFont typeface="Century Gothic"/>
              <a:buChar char="–"/>
              <a:tabLst>
                <a:tab pos="701040" algn="l"/>
                <a:tab pos="701675" algn="l"/>
              </a:tabLst>
            </a:pPr>
            <a:r>
              <a:rPr lang="en-US" altLang="zh-CN" sz="2800" dirty="0">
                <a:latin typeface="Arial"/>
                <a:cs typeface="Arial"/>
              </a:rPr>
              <a:t>#BSUB</a:t>
            </a:r>
            <a:r>
              <a:rPr lang="en-US" altLang="zh-CN" sz="2800" spc="-20" dirty="0">
                <a:latin typeface="Arial"/>
                <a:cs typeface="Arial"/>
              </a:rPr>
              <a:t> </a:t>
            </a:r>
            <a:r>
              <a:rPr lang="en-US" altLang="zh-CN" sz="2800" dirty="0">
                <a:latin typeface="Arial"/>
                <a:cs typeface="Arial"/>
              </a:rPr>
              <a:t>–</a:t>
            </a:r>
            <a:r>
              <a:rPr lang="en-US" altLang="zh-CN" sz="2800" dirty="0" err="1">
                <a:latin typeface="Arial"/>
                <a:cs typeface="Arial"/>
              </a:rPr>
              <a:t>alloc_flags</a:t>
            </a:r>
            <a:r>
              <a:rPr lang="en-US" altLang="zh-CN" sz="2800" spc="-10" dirty="0">
                <a:latin typeface="Arial"/>
                <a:cs typeface="Arial"/>
              </a:rPr>
              <a:t> </a:t>
            </a:r>
            <a:r>
              <a:rPr lang="en-US" altLang="zh-CN" sz="2800" dirty="0">
                <a:latin typeface="Arial"/>
                <a:cs typeface="Arial"/>
              </a:rPr>
              <a:t>smt4</a:t>
            </a:r>
            <a:r>
              <a:rPr lang="en-US" altLang="zh-CN" sz="2800" spc="-10" dirty="0">
                <a:latin typeface="Arial"/>
                <a:cs typeface="Arial"/>
              </a:rPr>
              <a:t> (default)</a:t>
            </a:r>
            <a:endParaRPr lang="en-US" altLang="zh-CN" sz="2800" spc="-25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150"/>
              </a:spcBef>
              <a:buSzPct val="89285"/>
              <a:buFont typeface="Century Gothic"/>
              <a:buChar char="•"/>
              <a:tabLst>
                <a:tab pos="300355" algn="l"/>
              </a:tabLst>
            </a:pPr>
            <a:r>
              <a:rPr lang="en-US" altLang="zh-CN" sz="3200" dirty="0">
                <a:latin typeface="Arial"/>
                <a:cs typeface="Arial"/>
              </a:rPr>
              <a:t>jsrun controls</a:t>
            </a:r>
            <a:r>
              <a:rPr lang="en-US" altLang="zh-CN" sz="3200" spc="5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task/thread</a:t>
            </a:r>
            <a:r>
              <a:rPr lang="en-US" altLang="zh-CN" sz="3200" spc="15" dirty="0">
                <a:latin typeface="Arial"/>
                <a:cs typeface="Arial"/>
              </a:rPr>
              <a:t> </a:t>
            </a:r>
            <a:r>
              <a:rPr lang="en-US" altLang="zh-CN" sz="3200" spc="-10" dirty="0">
                <a:latin typeface="Arial"/>
                <a:cs typeface="Arial"/>
              </a:rPr>
              <a:t>layout</a:t>
            </a:r>
            <a:endParaRPr lang="en-US" altLang="zh-CN" sz="3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2400928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Jsrun Format and Options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CB77F931-D495-0D2C-FB27-8C6E8118A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683252"/>
              </p:ext>
            </p:extLst>
          </p:nvPr>
        </p:nvGraphicFramePr>
        <p:xfrm>
          <a:off x="318368" y="1620000"/>
          <a:ext cx="11915081" cy="50447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562"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400" b="1" kern="1200" spc="-10" dirty="0">
                          <a:solidFill>
                            <a:srgbClr val="FFFFFF"/>
                          </a:solidFill>
                          <a:latin typeface="Century Gothic"/>
                          <a:ea typeface="+mn-ea"/>
                          <a:cs typeface="Century Gothic"/>
                        </a:rPr>
                        <a:t>Flags (long)</a:t>
                      </a: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2400" b="1" kern="1200" spc="-10" dirty="0">
                          <a:solidFill>
                            <a:srgbClr val="FFFFFF"/>
                          </a:solidFill>
                          <a:latin typeface="Century Gothic"/>
                          <a:ea typeface="+mn-ea"/>
                          <a:cs typeface="Century Gothic"/>
                        </a:rPr>
                        <a:t>Flags (short)</a:t>
                      </a: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400" b="1" kern="1200" spc="-10" dirty="0">
                          <a:solidFill>
                            <a:srgbClr val="FFFFFF"/>
                          </a:solidFill>
                          <a:latin typeface="Century Gothic"/>
                          <a:ea typeface="+mn-ea"/>
                          <a:cs typeface="Century Gothic"/>
                        </a:rPr>
                        <a:t>Description</a:t>
                      </a: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3BA2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nrs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000" b="1" spc="-1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b="1" spc="-5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n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90805" algn="l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Number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resource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sets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rs_per_host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spc="-50" dirty="0">
                          <a:latin typeface="Century Gothic"/>
                          <a:cs typeface="Century Gothic"/>
                        </a:rPr>
                        <a:t>r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65125" algn="l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Number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resource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sets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per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host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(node)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tasks_per_rs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000" b="1" spc="-1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b="1" spc="-5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a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556895" algn="l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Number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MPI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tasks/ranks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per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resource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set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cpu_per_rs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000" b="1" spc="-1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b="1" spc="-5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c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733425" algn="l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Number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CPUs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(cores)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per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resource</a:t>
                      </a:r>
                      <a:r>
                        <a:rPr sz="2000" spc="-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set.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gpu_per_rs</a:t>
                      </a:r>
                      <a:endParaRPr sz="200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000" b="1" spc="-1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b="1" spc="-5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g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90805" algn="l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Number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GPUs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per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resource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set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bind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2000" b="1" spc="-1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b="1" spc="-5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b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87020" algn="l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Binding of tasks within</a:t>
                      </a:r>
                      <a:r>
                        <a:rPr sz="2000" spc="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a</a:t>
                      </a:r>
                      <a:r>
                        <a:rPr sz="2000" spc="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resource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set.</a:t>
                      </a:r>
                      <a:r>
                        <a:rPr sz="20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Can</a:t>
                      </a:r>
                      <a:r>
                        <a:rPr sz="20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be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none,</a:t>
                      </a:r>
                      <a:r>
                        <a:rPr sz="20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rs,</a:t>
                      </a:r>
                      <a:r>
                        <a:rPr sz="20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or</a:t>
                      </a:r>
                      <a:r>
                        <a:rPr sz="20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packed:#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--latency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priority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spc="-50" dirty="0">
                          <a:latin typeface="Century Gothic"/>
                          <a:cs typeface="Century Gothic"/>
                        </a:rPr>
                        <a:t>l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70815" algn="l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Latency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Priority.</a:t>
                      </a:r>
                      <a:r>
                        <a:rPr sz="20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Controls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layout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priorities.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Can currently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be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cpu-</a:t>
                      </a:r>
                      <a:r>
                        <a:rPr sz="2000" spc="-25" dirty="0">
                          <a:latin typeface="Century Gothic"/>
                          <a:cs typeface="Century Gothic"/>
                        </a:rPr>
                        <a:t>cpu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or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gpu-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cpu.</a:t>
                      </a:r>
                      <a:r>
                        <a:rPr sz="2000" spc="33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Upper v/s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lower </a:t>
                      </a:r>
                      <a:r>
                        <a:rPr sz="2000" spc="-20" dirty="0">
                          <a:latin typeface="Century Gothic"/>
                          <a:cs typeface="Century Gothic"/>
                        </a:rPr>
                        <a:t>case.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--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launch_distribution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00000"/>
                        </a:lnSpc>
                      </a:pPr>
                      <a:r>
                        <a:rPr sz="2000" b="1" spc="-1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2000" b="1" spc="-50" dirty="0">
                          <a:solidFill>
                            <a:srgbClr val="CB4D3D"/>
                          </a:solidFill>
                          <a:latin typeface="Century Gothic"/>
                          <a:cs typeface="Century Gothic"/>
                        </a:rPr>
                        <a:t>d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34315" algn="l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latin typeface="Century Gothic"/>
                          <a:cs typeface="Century Gothic"/>
                        </a:rPr>
                        <a:t>How tasks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are</a:t>
                      </a:r>
                      <a:r>
                        <a:rPr sz="2000" spc="-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distributed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between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resource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sets. Can be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 cyclic, </a:t>
                      </a:r>
                      <a:r>
                        <a:rPr sz="2000" dirty="0">
                          <a:latin typeface="Century Gothic"/>
                          <a:cs typeface="Century Gothic"/>
                        </a:rPr>
                        <a:t>packed,</a:t>
                      </a:r>
                      <a:r>
                        <a:rPr sz="20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spc="-10" dirty="0">
                          <a:latin typeface="Century Gothic"/>
                          <a:cs typeface="Century Gothic"/>
                        </a:rPr>
                        <a:t>plane.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AA2ABE79-76B3-AC92-24E8-9F7C62A8F72C}"/>
              </a:ext>
            </a:extLst>
          </p:cNvPr>
          <p:cNvSpPr txBox="1"/>
          <p:nvPr/>
        </p:nvSpPr>
        <p:spPr>
          <a:xfrm>
            <a:off x="310034" y="1098895"/>
            <a:ext cx="1234712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jsrun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19785"/>
                </a:solidFill>
                <a:latin typeface="Arial"/>
                <a:cs typeface="Arial"/>
              </a:rPr>
              <a:t>[ </a:t>
            </a:r>
            <a:r>
              <a:rPr sz="2400" spc="-10" dirty="0">
                <a:solidFill>
                  <a:srgbClr val="919785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919785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srgbClr val="91978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19785"/>
                </a:solidFill>
                <a:latin typeface="Arial"/>
                <a:cs typeface="Arial"/>
              </a:rPr>
              <a:t>#Resource Sets</a:t>
            </a:r>
            <a:r>
              <a:rPr sz="2400" spc="-5" dirty="0">
                <a:solidFill>
                  <a:srgbClr val="91978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919785"/>
                </a:solidFill>
                <a:latin typeface="Arial"/>
                <a:cs typeface="Arial"/>
              </a:rPr>
              <a:t>]</a:t>
            </a:r>
            <a:r>
              <a:rPr sz="2400" spc="5" dirty="0">
                <a:solidFill>
                  <a:srgbClr val="91978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BA2AD"/>
                </a:solidFill>
                <a:latin typeface="Arial"/>
                <a:cs typeface="Arial"/>
              </a:rPr>
              <a:t>[tasks, threads, and</a:t>
            </a:r>
            <a:r>
              <a:rPr sz="2400" spc="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BA2AD"/>
                </a:solidFill>
                <a:latin typeface="Arial"/>
                <a:cs typeface="Arial"/>
              </a:rPr>
              <a:t>GPUs</a:t>
            </a:r>
            <a:r>
              <a:rPr sz="2400" spc="-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BA2AD"/>
                </a:solidFill>
                <a:latin typeface="Arial"/>
                <a:cs typeface="Arial"/>
              </a:rPr>
              <a:t>w/in each</a:t>
            </a:r>
            <a:r>
              <a:rPr sz="2400" spc="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BA2AD"/>
                </a:solidFill>
                <a:latin typeface="Arial"/>
                <a:cs typeface="Arial"/>
              </a:rPr>
              <a:t>Resource Set]</a:t>
            </a:r>
            <a:r>
              <a:rPr sz="2400" spc="5" dirty="0">
                <a:solidFill>
                  <a:srgbClr val="3BA2AD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7F7F7F"/>
                </a:solidFill>
                <a:latin typeface="Arial"/>
                <a:cs typeface="Arial"/>
              </a:rPr>
              <a:t>program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80745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spc="-10" dirty="0"/>
              <a:t>examples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82D84BC4-3790-F1C8-AF9A-9A3F2566A879}"/>
              </a:ext>
            </a:extLst>
          </p:cNvPr>
          <p:cNvSpPr txBox="1"/>
          <p:nvPr/>
        </p:nvSpPr>
        <p:spPr>
          <a:xfrm>
            <a:off x="508506" y="3639174"/>
            <a:ext cx="2940050" cy="110680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01625" marR="5080" indent="-288925">
              <a:lnSpc>
                <a:spcPts val="2620"/>
              </a:lnSpc>
              <a:spcBef>
                <a:spcPts val="405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What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by </a:t>
            </a:r>
            <a:r>
              <a:rPr sz="2400" spc="-10" dirty="0">
                <a:latin typeface="Arial"/>
                <a:cs typeface="Arial"/>
              </a:rPr>
              <a:t>default?</a:t>
            </a:r>
            <a:endParaRPr sz="2400" dirty="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565"/>
              </a:spcBef>
              <a:tabLst>
                <a:tab pos="699770" algn="l"/>
              </a:tabLst>
            </a:pPr>
            <a:r>
              <a:rPr sz="1800" spc="-50" dirty="0">
                <a:latin typeface="Century Gothic"/>
                <a:cs typeface="Century Gothic"/>
              </a:rPr>
              <a:t>–</a:t>
            </a:r>
            <a:r>
              <a:rPr sz="1800" dirty="0">
                <a:latin typeface="Century Gothic"/>
                <a:cs typeface="Century Gothic"/>
              </a:rPr>
              <a:t>	</a:t>
            </a:r>
            <a:r>
              <a:rPr sz="2000" dirty="0">
                <a:latin typeface="Arial"/>
                <a:cs typeface="Arial"/>
              </a:rPr>
              <a:t>Almost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nothing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3F4B1667-2D59-E8A4-D239-9DA5BA3E49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7338" y="950674"/>
            <a:ext cx="7547026" cy="5903976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7244C4BD-8A24-C5B6-2011-9037E0D487DA}"/>
              </a:ext>
            </a:extLst>
          </p:cNvPr>
          <p:cNvSpPr txBox="1"/>
          <p:nvPr/>
        </p:nvSpPr>
        <p:spPr>
          <a:xfrm>
            <a:off x="526794" y="1375525"/>
            <a:ext cx="2561638" cy="14125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–n1</a:t>
            </a:r>
            <a:r>
              <a:rPr sz="2000" b="1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latin typeface="Consolas"/>
                <a:cs typeface="Consolas"/>
              </a:rPr>
              <a:t>a.out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lang="zh-CN" altLang="en-US" sz="2400" dirty="0">
              <a:latin typeface="Consolas"/>
              <a:cs typeface="Consolas"/>
            </a:endParaRPr>
          </a:p>
          <a:p>
            <a:pPr marL="346075" algn="ctr">
              <a:lnSpc>
                <a:spcPts val="1585"/>
              </a:lnSpc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marL="674370" marR="320040" algn="ctr">
              <a:lnSpc>
                <a:spcPts val="151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5" dirty="0">
                <a:latin typeface="Arial"/>
                <a:cs typeface="Arial"/>
              </a:rPr>
              <a:t>set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770BF521-018D-2B2C-8B27-75BF399DBC05}"/>
              </a:ext>
            </a:extLst>
          </p:cNvPr>
          <p:cNvSpPr/>
          <p:nvPr/>
        </p:nvSpPr>
        <p:spPr>
          <a:xfrm>
            <a:off x="1443789" y="1695928"/>
            <a:ext cx="102870" cy="443865"/>
          </a:xfrm>
          <a:custGeom>
            <a:avLst/>
            <a:gdLst/>
            <a:ahLst/>
            <a:cxnLst/>
            <a:rect l="l" t="t" r="r" b="b"/>
            <a:pathLst>
              <a:path w="102869" h="443864">
                <a:moveTo>
                  <a:pt x="102276" y="443716"/>
                </a:moveTo>
                <a:lnTo>
                  <a:pt x="0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2603140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spc="-10" dirty="0"/>
              <a:t>examples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1B82952-8014-0C71-8D3A-03D1E99209F3}"/>
              </a:ext>
            </a:extLst>
          </p:cNvPr>
          <p:cNvSpPr txBox="1"/>
          <p:nvPr/>
        </p:nvSpPr>
        <p:spPr>
          <a:xfrm>
            <a:off x="474293" y="3559925"/>
            <a:ext cx="3517265" cy="26530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01625" marR="510540" indent="-288925" algn="just">
              <a:lnSpc>
                <a:spcPct val="90400"/>
              </a:lnSpc>
              <a:spcBef>
                <a:spcPts val="375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Explicitly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requesting </a:t>
            </a:r>
            <a:r>
              <a:rPr sz="2400" dirty="0">
                <a:latin typeface="Arial"/>
                <a:cs typeface="Arial"/>
              </a:rPr>
              <a:t>resources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your </a:t>
            </a:r>
            <a:r>
              <a:rPr sz="2400" spc="-10" dirty="0">
                <a:latin typeface="Arial"/>
                <a:cs typeface="Arial"/>
              </a:rPr>
              <a:t>benefit.</a:t>
            </a:r>
            <a:endParaRPr sz="24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615"/>
              </a:spcBef>
              <a:tabLst>
                <a:tab pos="699770" algn="l"/>
              </a:tabLst>
            </a:pPr>
            <a:r>
              <a:rPr sz="1800" spc="-50" dirty="0">
                <a:latin typeface="Century Gothic"/>
                <a:cs typeface="Century Gothic"/>
              </a:rPr>
              <a:t>–</a:t>
            </a:r>
            <a:r>
              <a:rPr sz="1800" dirty="0">
                <a:latin typeface="Century Gothic"/>
                <a:cs typeface="Century Gothic"/>
              </a:rPr>
              <a:t>	</a:t>
            </a:r>
            <a:r>
              <a:rPr sz="2000" dirty="0">
                <a:latin typeface="Arial"/>
                <a:cs typeface="Arial"/>
              </a:rPr>
              <a:t>Don’t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rely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defaults.</a:t>
            </a:r>
            <a:endParaRPr sz="2000">
              <a:latin typeface="Arial"/>
              <a:cs typeface="Arial"/>
            </a:endParaRPr>
          </a:p>
          <a:p>
            <a:pPr marL="301625" marR="5080" indent="-288925">
              <a:lnSpc>
                <a:spcPct val="90400"/>
              </a:lnSpc>
              <a:spcBef>
                <a:spcPts val="1775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How many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0" dirty="0">
                <a:latin typeface="Arial"/>
                <a:cs typeface="Arial"/>
              </a:rPr>
              <a:t> these </a:t>
            </a:r>
            <a:r>
              <a:rPr sz="2400" dirty="0">
                <a:latin typeface="Arial"/>
                <a:cs typeface="Arial"/>
              </a:rPr>
              <a:t>resource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fit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single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node?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2" name="object 4">
            <a:extLst>
              <a:ext uri="{FF2B5EF4-FFF2-40B4-BE49-F238E27FC236}">
                <a16:creationId xmlns:a16="http://schemas.microsoft.com/office/drawing/2014/main" id="{481E289D-7CD3-AAD4-B370-63C3A5E72A6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7305" y="952872"/>
            <a:ext cx="7531401" cy="5891752"/>
          </a:xfrm>
          <a:prstGeom prst="rect">
            <a:avLst/>
          </a:prstGeom>
        </p:spPr>
      </p:pic>
      <p:sp>
        <p:nvSpPr>
          <p:cNvPr id="23" name="object 5">
            <a:extLst>
              <a:ext uri="{FF2B5EF4-FFF2-40B4-BE49-F238E27FC236}">
                <a16:creationId xmlns:a16="http://schemas.microsoft.com/office/drawing/2014/main" id="{F52FEA4D-4D26-4A35-D43E-EF971F4070C8}"/>
              </a:ext>
            </a:extLst>
          </p:cNvPr>
          <p:cNvSpPr txBox="1"/>
          <p:nvPr/>
        </p:nvSpPr>
        <p:spPr>
          <a:xfrm>
            <a:off x="526794" y="1375525"/>
            <a:ext cx="299368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–n1</a:t>
            </a:r>
            <a:r>
              <a:rPr sz="20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–a1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–c1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–g1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24" name="object 6">
            <a:extLst>
              <a:ext uri="{FF2B5EF4-FFF2-40B4-BE49-F238E27FC236}">
                <a16:creationId xmlns:a16="http://schemas.microsoft.com/office/drawing/2014/main" id="{83003EBA-7AE7-F704-037C-4FF2D8B5509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4792" y="2140065"/>
            <a:ext cx="2194560" cy="697991"/>
          </a:xfrm>
          <a:prstGeom prst="rect">
            <a:avLst/>
          </a:prstGeom>
        </p:spPr>
      </p:pic>
      <p:sp>
        <p:nvSpPr>
          <p:cNvPr id="25" name="object 7">
            <a:extLst>
              <a:ext uri="{FF2B5EF4-FFF2-40B4-BE49-F238E27FC236}">
                <a16:creationId xmlns:a16="http://schemas.microsoft.com/office/drawing/2014/main" id="{D53A3A7B-9D99-649F-E421-B2B4129EBE9F}"/>
              </a:ext>
            </a:extLst>
          </p:cNvPr>
          <p:cNvSpPr txBox="1"/>
          <p:nvPr/>
        </p:nvSpPr>
        <p:spPr>
          <a:xfrm>
            <a:off x="280120" y="2126349"/>
            <a:ext cx="1001666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5" dirty="0">
                <a:latin typeface="Arial"/>
                <a:cs typeface="Arial"/>
              </a:rPr>
              <a:t>set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1EC37C10-F140-1B70-8749-9A66994B6A7E}"/>
              </a:ext>
            </a:extLst>
          </p:cNvPr>
          <p:cNvSpPr txBox="1"/>
          <p:nvPr/>
        </p:nvSpPr>
        <p:spPr>
          <a:xfrm>
            <a:off x="1810979" y="2233029"/>
            <a:ext cx="466020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0" dirty="0">
                <a:latin typeface="Arial"/>
                <a:cs typeface="Arial"/>
              </a:rPr>
              <a:t>task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7" name="object 9">
            <a:extLst>
              <a:ext uri="{FF2B5EF4-FFF2-40B4-BE49-F238E27FC236}">
                <a16:creationId xmlns:a16="http://schemas.microsoft.com/office/drawing/2014/main" id="{A0EEA31B-23A9-7AA7-9930-D793B4D8A34F}"/>
              </a:ext>
            </a:extLst>
          </p:cNvPr>
          <p:cNvSpPr txBox="1"/>
          <p:nvPr/>
        </p:nvSpPr>
        <p:spPr>
          <a:xfrm>
            <a:off x="2437390" y="2201394"/>
            <a:ext cx="895210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physical </a:t>
            </a:r>
            <a:r>
              <a:rPr sz="1800" spc="-20" dirty="0">
                <a:latin typeface="Arial"/>
                <a:cs typeface="Arial"/>
              </a:rPr>
              <a:t>core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8" name="object 10">
            <a:extLst>
              <a:ext uri="{FF2B5EF4-FFF2-40B4-BE49-F238E27FC236}">
                <a16:creationId xmlns:a16="http://schemas.microsoft.com/office/drawing/2014/main" id="{FB6FE7F8-346D-9900-7ED6-EFC2AD355EDE}"/>
              </a:ext>
            </a:extLst>
          </p:cNvPr>
          <p:cNvSpPr txBox="1"/>
          <p:nvPr/>
        </p:nvSpPr>
        <p:spPr>
          <a:xfrm>
            <a:off x="3410017" y="2233029"/>
            <a:ext cx="512762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5" dirty="0">
                <a:latin typeface="Arial"/>
                <a:cs typeface="Arial"/>
              </a:rPr>
              <a:t>GPU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9" name="object 11">
            <a:extLst>
              <a:ext uri="{FF2B5EF4-FFF2-40B4-BE49-F238E27FC236}">
                <a16:creationId xmlns:a16="http://schemas.microsoft.com/office/drawing/2014/main" id="{D5293AD6-E886-8259-3C09-9FBDB0320424}"/>
              </a:ext>
            </a:extLst>
          </p:cNvPr>
          <p:cNvSpPr/>
          <p:nvPr/>
        </p:nvSpPr>
        <p:spPr>
          <a:xfrm>
            <a:off x="923965" y="1695928"/>
            <a:ext cx="440055" cy="422275"/>
          </a:xfrm>
          <a:custGeom>
            <a:avLst/>
            <a:gdLst/>
            <a:ahLst/>
            <a:cxnLst/>
            <a:rect l="l" t="t" r="r" b="b"/>
            <a:pathLst>
              <a:path w="440055" h="422275">
                <a:moveTo>
                  <a:pt x="0" y="421863"/>
                </a:moveTo>
                <a:lnTo>
                  <a:pt x="439813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grpSp>
        <p:nvGrpSpPr>
          <p:cNvPr id="31" name="object 12">
            <a:extLst>
              <a:ext uri="{FF2B5EF4-FFF2-40B4-BE49-F238E27FC236}">
                <a16:creationId xmlns:a16="http://schemas.microsoft.com/office/drawing/2014/main" id="{A83187C5-0662-AA5E-B897-114CE505EFA1}"/>
              </a:ext>
            </a:extLst>
          </p:cNvPr>
          <p:cNvGrpSpPr/>
          <p:nvPr/>
        </p:nvGrpSpPr>
        <p:grpSpPr>
          <a:xfrm>
            <a:off x="2101648" y="1695927"/>
            <a:ext cx="1514133" cy="529590"/>
            <a:chOff x="2101648" y="1466957"/>
            <a:chExt cx="1514133" cy="529590"/>
          </a:xfrm>
        </p:grpSpPr>
        <p:sp>
          <p:nvSpPr>
            <p:cNvPr id="32" name="object 13">
              <a:extLst>
                <a:ext uri="{FF2B5EF4-FFF2-40B4-BE49-F238E27FC236}">
                  <a16:creationId xmlns:a16="http://schemas.microsoft.com/office/drawing/2014/main" id="{E791434C-F3E8-CF0A-7E92-D325D544341C}"/>
                </a:ext>
              </a:extLst>
            </p:cNvPr>
            <p:cNvSpPr/>
            <p:nvPr/>
          </p:nvSpPr>
          <p:spPr>
            <a:xfrm flipH="1">
              <a:off x="2101648" y="1466957"/>
              <a:ext cx="45719" cy="529590"/>
            </a:xfrm>
            <a:custGeom>
              <a:avLst/>
              <a:gdLst/>
              <a:ahLst/>
              <a:cxnLst/>
              <a:rect l="l" t="t" r="r" b="b"/>
              <a:pathLst>
                <a:path w="200660" h="529589">
                  <a:moveTo>
                    <a:pt x="0" y="0"/>
                  </a:moveTo>
                  <a:lnTo>
                    <a:pt x="200274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33" name="object 14">
              <a:extLst>
                <a:ext uri="{FF2B5EF4-FFF2-40B4-BE49-F238E27FC236}">
                  <a16:creationId xmlns:a16="http://schemas.microsoft.com/office/drawing/2014/main" id="{1BB0F1FB-FE86-6389-EBD8-AE62A4E4E2CB}"/>
                </a:ext>
              </a:extLst>
            </p:cNvPr>
            <p:cNvSpPr/>
            <p:nvPr/>
          </p:nvSpPr>
          <p:spPr>
            <a:xfrm>
              <a:off x="2774111" y="1499749"/>
              <a:ext cx="51371" cy="390117"/>
            </a:xfrm>
            <a:custGeom>
              <a:avLst/>
              <a:gdLst/>
              <a:ahLst/>
              <a:cxnLst/>
              <a:rect l="l" t="t" r="r" b="b"/>
              <a:pathLst>
                <a:path w="456564" h="422910">
                  <a:moveTo>
                    <a:pt x="0" y="0"/>
                  </a:moveTo>
                  <a:lnTo>
                    <a:pt x="456522" y="422475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34" name="object 15">
              <a:extLst>
                <a:ext uri="{FF2B5EF4-FFF2-40B4-BE49-F238E27FC236}">
                  <a16:creationId xmlns:a16="http://schemas.microsoft.com/office/drawing/2014/main" id="{2433BA7D-92B6-8D98-8A45-C9A9640DC339}"/>
                </a:ext>
              </a:extLst>
            </p:cNvPr>
            <p:cNvSpPr/>
            <p:nvPr/>
          </p:nvSpPr>
          <p:spPr>
            <a:xfrm>
              <a:off x="3408382" y="1499749"/>
              <a:ext cx="207399" cy="496798"/>
            </a:xfrm>
            <a:custGeom>
              <a:avLst/>
              <a:gdLst/>
              <a:ahLst/>
              <a:cxnLst/>
              <a:rect l="l" t="t" r="r" b="b"/>
              <a:pathLst>
                <a:path w="706120" h="529589">
                  <a:moveTo>
                    <a:pt x="0" y="0"/>
                  </a:moveTo>
                  <a:lnTo>
                    <a:pt x="705937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35" name="object 16">
            <a:extLst>
              <a:ext uri="{FF2B5EF4-FFF2-40B4-BE49-F238E27FC236}">
                <a16:creationId xmlns:a16="http://schemas.microsoft.com/office/drawing/2014/main" id="{5C3F809C-2AEF-1F14-CD90-6BB3C1F29CA5}"/>
              </a:ext>
            </a:extLst>
          </p:cNvPr>
          <p:cNvSpPr txBox="1"/>
          <p:nvPr/>
        </p:nvSpPr>
        <p:spPr>
          <a:xfrm>
            <a:off x="1458174" y="2267573"/>
            <a:ext cx="101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3051946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spc="-10" dirty="0"/>
              <a:t>examples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11E6808F-FABD-C8F5-9A13-0F2231426BF2}"/>
              </a:ext>
            </a:extLst>
          </p:cNvPr>
          <p:cNvSpPr txBox="1"/>
          <p:nvPr/>
        </p:nvSpPr>
        <p:spPr>
          <a:xfrm>
            <a:off x="545363" y="3626981"/>
            <a:ext cx="3450590" cy="22688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1625" marR="5080" indent="-288925">
              <a:lnSpc>
                <a:spcPts val="2590"/>
              </a:lnSpc>
              <a:spcBef>
                <a:spcPts val="425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Increase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RS</a:t>
            </a:r>
            <a:endParaRPr sz="2400">
              <a:latin typeface="Arial"/>
              <a:cs typeface="Arial"/>
            </a:endParaRPr>
          </a:p>
          <a:p>
            <a:pPr marL="301625" marR="140970" indent="-288925">
              <a:lnSpc>
                <a:spcPct val="90300"/>
              </a:lnSpc>
              <a:spcBef>
                <a:spcPts val="1755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Each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 </a:t>
            </a:r>
            <a:r>
              <a:rPr sz="2400" spc="-10" dirty="0">
                <a:latin typeface="Arial"/>
                <a:cs typeface="Arial"/>
              </a:rPr>
              <a:t>contain </a:t>
            </a:r>
            <a:r>
              <a:rPr sz="2400" dirty="0">
                <a:latin typeface="Arial"/>
                <a:cs typeface="Arial"/>
              </a:rPr>
              <a:t>same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specified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tasks,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cores, </a:t>
            </a:r>
            <a:r>
              <a:rPr sz="2400" spc="-20" dirty="0">
                <a:latin typeface="Arial"/>
                <a:cs typeface="Arial"/>
              </a:rPr>
              <a:t>GPUs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74EBA388-CCCA-BD0A-7AD2-D01C6DE8FBF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0118" y="960687"/>
            <a:ext cx="7521464" cy="5883979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DFF2FA47-07FC-9A00-C0B2-43259E77C61C}"/>
              </a:ext>
            </a:extLst>
          </p:cNvPr>
          <p:cNvSpPr txBox="1"/>
          <p:nvPr/>
        </p:nvSpPr>
        <p:spPr>
          <a:xfrm>
            <a:off x="220182" y="1357523"/>
            <a:ext cx="308921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–n6</a:t>
            </a:r>
            <a:r>
              <a:rPr sz="20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–a1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–c1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–g1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5171E055-4EBE-F707-0DA6-6868B2F9053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4792" y="2140065"/>
            <a:ext cx="2194560" cy="697991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E423E0DE-E131-AB88-CB3B-DF93D45C08E8}"/>
              </a:ext>
            </a:extLst>
          </p:cNvPr>
          <p:cNvSpPr txBox="1"/>
          <p:nvPr/>
        </p:nvSpPr>
        <p:spPr>
          <a:xfrm>
            <a:off x="375263" y="2121696"/>
            <a:ext cx="990637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6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0" dirty="0">
                <a:latin typeface="Arial"/>
                <a:cs typeface="Arial"/>
              </a:rPr>
              <a:t>sets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76BEDD03-0FFB-CE42-FDF0-525A5C24C5FB}"/>
              </a:ext>
            </a:extLst>
          </p:cNvPr>
          <p:cNvSpPr txBox="1"/>
          <p:nvPr/>
        </p:nvSpPr>
        <p:spPr>
          <a:xfrm>
            <a:off x="1772553" y="2233029"/>
            <a:ext cx="504446" cy="423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0" dirty="0">
                <a:latin typeface="Arial"/>
                <a:cs typeface="Arial"/>
              </a:rPr>
              <a:t>task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D6626D43-B07C-C147-A47B-222CA79E62FE}"/>
              </a:ext>
            </a:extLst>
          </p:cNvPr>
          <p:cNvSpPr txBox="1"/>
          <p:nvPr/>
        </p:nvSpPr>
        <p:spPr>
          <a:xfrm>
            <a:off x="2459396" y="2186379"/>
            <a:ext cx="897068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physical </a:t>
            </a:r>
            <a:r>
              <a:rPr sz="1800" spc="-20" dirty="0">
                <a:latin typeface="Arial"/>
                <a:cs typeface="Arial"/>
              </a:rPr>
              <a:t>core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06DD51AB-E6C5-A148-15E3-BCA953C437B9}"/>
              </a:ext>
            </a:extLst>
          </p:cNvPr>
          <p:cNvSpPr txBox="1"/>
          <p:nvPr/>
        </p:nvSpPr>
        <p:spPr>
          <a:xfrm>
            <a:off x="3410016" y="2233029"/>
            <a:ext cx="528451" cy="423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5" dirty="0">
                <a:latin typeface="Arial"/>
                <a:cs typeface="Arial"/>
              </a:rPr>
              <a:t>GPU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79AEA86D-2F27-2C91-0BCE-E5273BB00EC4}"/>
              </a:ext>
            </a:extLst>
          </p:cNvPr>
          <p:cNvSpPr/>
          <p:nvPr/>
        </p:nvSpPr>
        <p:spPr>
          <a:xfrm>
            <a:off x="923965" y="1699658"/>
            <a:ext cx="521970" cy="418465"/>
          </a:xfrm>
          <a:custGeom>
            <a:avLst/>
            <a:gdLst/>
            <a:ahLst/>
            <a:cxnLst/>
            <a:rect l="l" t="t" r="r" b="b"/>
            <a:pathLst>
              <a:path w="521969" h="418464">
                <a:moveTo>
                  <a:pt x="0" y="418132"/>
                </a:moveTo>
                <a:lnTo>
                  <a:pt x="521559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grpSp>
        <p:nvGrpSpPr>
          <p:cNvPr id="11" name="object 12">
            <a:extLst>
              <a:ext uri="{FF2B5EF4-FFF2-40B4-BE49-F238E27FC236}">
                <a16:creationId xmlns:a16="http://schemas.microsoft.com/office/drawing/2014/main" id="{A3AC5802-25AE-45C3-463F-2F90B90A224F}"/>
              </a:ext>
            </a:extLst>
          </p:cNvPr>
          <p:cNvGrpSpPr/>
          <p:nvPr/>
        </p:nvGrpSpPr>
        <p:grpSpPr>
          <a:xfrm>
            <a:off x="1908258" y="1691165"/>
            <a:ext cx="1712595" cy="539115"/>
            <a:chOff x="1908258" y="1462195"/>
            <a:chExt cx="1712595" cy="539115"/>
          </a:xfrm>
        </p:grpSpPr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4EDDC392-1BAA-AEA5-12B3-6335EAE887F8}"/>
                </a:ext>
              </a:extLst>
            </p:cNvPr>
            <p:cNvSpPr/>
            <p:nvPr/>
          </p:nvSpPr>
          <p:spPr>
            <a:xfrm>
              <a:off x="1913021" y="1466957"/>
              <a:ext cx="188595" cy="529590"/>
            </a:xfrm>
            <a:custGeom>
              <a:avLst/>
              <a:gdLst/>
              <a:ahLst/>
              <a:cxnLst/>
              <a:rect l="l" t="t" r="r" b="b"/>
              <a:pathLst>
                <a:path w="188594" h="529589">
                  <a:moveTo>
                    <a:pt x="0" y="0"/>
                  </a:moveTo>
                  <a:lnTo>
                    <a:pt x="188242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32F9D6F7-7ED6-92EE-BBE6-E2B071731476}"/>
                </a:ext>
              </a:extLst>
            </p:cNvPr>
            <p:cNvSpPr/>
            <p:nvPr/>
          </p:nvSpPr>
          <p:spPr>
            <a:xfrm>
              <a:off x="2368917" y="1466957"/>
              <a:ext cx="456565" cy="422909"/>
            </a:xfrm>
            <a:custGeom>
              <a:avLst/>
              <a:gdLst/>
              <a:ahLst/>
              <a:cxnLst/>
              <a:rect l="l" t="t" r="r" b="b"/>
              <a:pathLst>
                <a:path w="456564" h="422910">
                  <a:moveTo>
                    <a:pt x="0" y="0"/>
                  </a:moveTo>
                  <a:lnTo>
                    <a:pt x="456522" y="422475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4FF27841-26A5-BE0D-BDAE-D19F4E8B9F61}"/>
                </a:ext>
              </a:extLst>
            </p:cNvPr>
            <p:cNvSpPr/>
            <p:nvPr/>
          </p:nvSpPr>
          <p:spPr>
            <a:xfrm>
              <a:off x="2825438" y="1466957"/>
              <a:ext cx="790575" cy="529590"/>
            </a:xfrm>
            <a:custGeom>
              <a:avLst/>
              <a:gdLst/>
              <a:ahLst/>
              <a:cxnLst/>
              <a:rect l="l" t="t" r="r" b="b"/>
              <a:pathLst>
                <a:path w="790575" h="529589">
                  <a:moveTo>
                    <a:pt x="0" y="0"/>
                  </a:moveTo>
                  <a:lnTo>
                    <a:pt x="790161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15" name="object 16">
            <a:extLst>
              <a:ext uri="{FF2B5EF4-FFF2-40B4-BE49-F238E27FC236}">
                <a16:creationId xmlns:a16="http://schemas.microsoft.com/office/drawing/2014/main" id="{FD2DDF27-7328-F1F0-B680-C08E9A94959C}"/>
              </a:ext>
            </a:extLst>
          </p:cNvPr>
          <p:cNvSpPr txBox="1"/>
          <p:nvPr/>
        </p:nvSpPr>
        <p:spPr>
          <a:xfrm>
            <a:off x="1458174" y="2267573"/>
            <a:ext cx="101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2723816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spc="-10" dirty="0"/>
              <a:t>examples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AC85349-417E-4C9E-11A4-787E80F70DA8}"/>
              </a:ext>
            </a:extLst>
          </p:cNvPr>
          <p:cNvSpPr txBox="1"/>
          <p:nvPr/>
        </p:nvSpPr>
        <p:spPr>
          <a:xfrm>
            <a:off x="508506" y="3526468"/>
            <a:ext cx="3348354" cy="193992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01625" marR="5080" indent="-288925">
              <a:lnSpc>
                <a:spcPct val="90400"/>
              </a:lnSpc>
              <a:spcBef>
                <a:spcPts val="375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Increase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RS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utilize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 </a:t>
            </a:r>
            <a:r>
              <a:rPr sz="2400" spc="-10" dirty="0">
                <a:latin typeface="Arial"/>
                <a:cs typeface="Arial"/>
              </a:rPr>
              <a:t>available </a:t>
            </a:r>
            <a:r>
              <a:rPr sz="2400" dirty="0">
                <a:latin typeface="Arial"/>
                <a:cs typeface="Arial"/>
              </a:rPr>
              <a:t>physical </a:t>
            </a:r>
            <a:r>
              <a:rPr sz="2400" spc="-10" dirty="0">
                <a:latin typeface="Arial"/>
                <a:cs typeface="Arial"/>
              </a:rPr>
              <a:t>cores.</a:t>
            </a:r>
            <a:endParaRPr sz="2400">
              <a:latin typeface="Arial"/>
              <a:cs typeface="Arial"/>
            </a:endParaRPr>
          </a:p>
          <a:p>
            <a:pPr marL="301625" marR="139700" indent="-288925">
              <a:lnSpc>
                <a:spcPts val="2590"/>
              </a:lnSpc>
              <a:spcBef>
                <a:spcPts val="1839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Still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only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task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per RS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2860C601-F439-18F2-464E-8DEFBC785BA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2300" y="950735"/>
            <a:ext cx="7529258" cy="5890075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35B7E0B5-812A-4F6F-0AC6-C17E9566415D}"/>
              </a:ext>
            </a:extLst>
          </p:cNvPr>
          <p:cNvSpPr txBox="1"/>
          <p:nvPr/>
        </p:nvSpPr>
        <p:spPr>
          <a:xfrm>
            <a:off x="526793" y="1372547"/>
            <a:ext cx="378577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–n6</a:t>
            </a:r>
            <a:r>
              <a:rPr sz="20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–a1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–c7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–g1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EE4C5606-3FC4-08BD-736D-AA479D1E072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4792" y="2137087"/>
            <a:ext cx="2194560" cy="697991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1010FC06-3B12-1362-9C3F-CC60DC214E24}"/>
              </a:ext>
            </a:extLst>
          </p:cNvPr>
          <p:cNvSpPr txBox="1"/>
          <p:nvPr/>
        </p:nvSpPr>
        <p:spPr>
          <a:xfrm>
            <a:off x="352128" y="2123371"/>
            <a:ext cx="929658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6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0" dirty="0">
                <a:latin typeface="Arial"/>
                <a:cs typeface="Arial"/>
              </a:rPr>
              <a:t>sets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A267CB24-1D4B-9448-CA6B-7D87AB05C513}"/>
              </a:ext>
            </a:extLst>
          </p:cNvPr>
          <p:cNvSpPr txBox="1"/>
          <p:nvPr/>
        </p:nvSpPr>
        <p:spPr>
          <a:xfrm>
            <a:off x="1764735" y="2230051"/>
            <a:ext cx="512264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0" dirty="0">
                <a:latin typeface="Arial"/>
                <a:cs typeface="Arial"/>
              </a:rPr>
              <a:t>task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5A73613E-7283-F9DB-78FE-36826EA9A914}"/>
              </a:ext>
            </a:extLst>
          </p:cNvPr>
          <p:cNvSpPr txBox="1"/>
          <p:nvPr/>
        </p:nvSpPr>
        <p:spPr>
          <a:xfrm>
            <a:off x="2491073" y="2200805"/>
            <a:ext cx="824229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7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physical cores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645933CD-0B3A-4417-A925-DFF08CE0B868}"/>
              </a:ext>
            </a:extLst>
          </p:cNvPr>
          <p:cNvSpPr txBox="1"/>
          <p:nvPr/>
        </p:nvSpPr>
        <p:spPr>
          <a:xfrm>
            <a:off x="3410016" y="2230051"/>
            <a:ext cx="549335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5" dirty="0">
                <a:latin typeface="Arial"/>
                <a:cs typeface="Arial"/>
              </a:rPr>
              <a:t>GPU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8387895F-939D-2CB9-4BD9-F2AB0A6220A1}"/>
              </a:ext>
            </a:extLst>
          </p:cNvPr>
          <p:cNvSpPr/>
          <p:nvPr/>
        </p:nvSpPr>
        <p:spPr>
          <a:xfrm>
            <a:off x="923965" y="1692950"/>
            <a:ext cx="440055" cy="422275"/>
          </a:xfrm>
          <a:custGeom>
            <a:avLst/>
            <a:gdLst/>
            <a:ahLst/>
            <a:cxnLst/>
            <a:rect l="l" t="t" r="r" b="b"/>
            <a:pathLst>
              <a:path w="440055" h="422275">
                <a:moveTo>
                  <a:pt x="0" y="421863"/>
                </a:moveTo>
                <a:lnTo>
                  <a:pt x="439813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grpSp>
        <p:nvGrpSpPr>
          <p:cNvPr id="11" name="object 12">
            <a:extLst>
              <a:ext uri="{FF2B5EF4-FFF2-40B4-BE49-F238E27FC236}">
                <a16:creationId xmlns:a16="http://schemas.microsoft.com/office/drawing/2014/main" id="{A7E3A7C5-DBFA-FFD7-37E2-544A6FBA5EE9}"/>
              </a:ext>
            </a:extLst>
          </p:cNvPr>
          <p:cNvGrpSpPr/>
          <p:nvPr/>
        </p:nvGrpSpPr>
        <p:grpSpPr>
          <a:xfrm>
            <a:off x="2101588" y="1723888"/>
            <a:ext cx="1514386" cy="498416"/>
            <a:chOff x="2101588" y="1497896"/>
            <a:chExt cx="1514386" cy="498416"/>
          </a:xfrm>
        </p:grpSpPr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6A1CDC7F-3C5A-72FB-69AF-9D21D341EF4A}"/>
                </a:ext>
              </a:extLst>
            </p:cNvPr>
            <p:cNvSpPr/>
            <p:nvPr/>
          </p:nvSpPr>
          <p:spPr>
            <a:xfrm flipH="1">
              <a:off x="2101588" y="1508515"/>
              <a:ext cx="47095" cy="487578"/>
            </a:xfrm>
            <a:custGeom>
              <a:avLst/>
              <a:gdLst/>
              <a:ahLst/>
              <a:cxnLst/>
              <a:rect l="l" t="t" r="r" b="b"/>
              <a:pathLst>
                <a:path w="210819" h="502919">
                  <a:moveTo>
                    <a:pt x="0" y="0"/>
                  </a:moveTo>
                  <a:lnTo>
                    <a:pt x="210493" y="502761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75430BF1-DA29-11E8-CC5B-26A8C13ACE46}"/>
                </a:ext>
              </a:extLst>
            </p:cNvPr>
            <p:cNvSpPr/>
            <p:nvPr/>
          </p:nvSpPr>
          <p:spPr>
            <a:xfrm>
              <a:off x="2710572" y="1508515"/>
              <a:ext cx="114910" cy="381351"/>
            </a:xfrm>
            <a:custGeom>
              <a:avLst/>
              <a:gdLst/>
              <a:ahLst/>
              <a:cxnLst/>
              <a:rect l="l" t="t" r="r" b="b"/>
              <a:pathLst>
                <a:path w="456564" h="422910">
                  <a:moveTo>
                    <a:pt x="0" y="0"/>
                  </a:moveTo>
                  <a:lnTo>
                    <a:pt x="456522" y="422475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272E18D6-477A-242E-DFC8-0507E927FEED}"/>
                </a:ext>
              </a:extLst>
            </p:cNvPr>
            <p:cNvSpPr/>
            <p:nvPr/>
          </p:nvSpPr>
          <p:spPr>
            <a:xfrm>
              <a:off x="3308429" y="1497896"/>
              <a:ext cx="307545" cy="498416"/>
            </a:xfrm>
            <a:custGeom>
              <a:avLst/>
              <a:gdLst/>
              <a:ahLst/>
              <a:cxnLst/>
              <a:rect l="l" t="t" r="r" b="b"/>
              <a:pathLst>
                <a:path w="824229" h="519430">
                  <a:moveTo>
                    <a:pt x="0" y="0"/>
                  </a:moveTo>
                  <a:lnTo>
                    <a:pt x="823854" y="519051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15" name="object 16">
            <a:extLst>
              <a:ext uri="{FF2B5EF4-FFF2-40B4-BE49-F238E27FC236}">
                <a16:creationId xmlns:a16="http://schemas.microsoft.com/office/drawing/2014/main" id="{91CB2AEB-4D9C-339A-EF2E-B86B21654015}"/>
              </a:ext>
            </a:extLst>
          </p:cNvPr>
          <p:cNvSpPr txBox="1"/>
          <p:nvPr/>
        </p:nvSpPr>
        <p:spPr>
          <a:xfrm>
            <a:off x="1458174" y="2264595"/>
            <a:ext cx="101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2301148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spc="-10" dirty="0"/>
              <a:t>examples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CF5B40CA-3BE2-FBE3-E67B-E60A3A3BFABC}"/>
              </a:ext>
            </a:extLst>
          </p:cNvPr>
          <p:cNvSpPr txBox="1"/>
          <p:nvPr/>
        </p:nvSpPr>
        <p:spPr>
          <a:xfrm>
            <a:off x="508506" y="4230486"/>
            <a:ext cx="3281679" cy="13817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01625" marR="5080" indent="-288925">
              <a:lnSpc>
                <a:spcPct val="90300"/>
              </a:lnSpc>
              <a:spcBef>
                <a:spcPts val="380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Launch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distribution </a:t>
            </a:r>
            <a:r>
              <a:rPr sz="2400" dirty="0">
                <a:latin typeface="Arial"/>
                <a:cs typeface="Arial"/>
              </a:rPr>
              <a:t>controls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order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tasks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started</a:t>
            </a:r>
            <a:r>
              <a:rPr sz="2400" spc="-10" dirty="0">
                <a:latin typeface="Arial"/>
                <a:cs typeface="Arial"/>
              </a:rPr>
              <a:t> across </a:t>
            </a:r>
            <a:r>
              <a:rPr sz="2400" dirty="0">
                <a:latin typeface="Arial"/>
                <a:cs typeface="Arial"/>
              </a:rPr>
              <a:t>multiple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resource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sets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1F362305-3555-925C-0D1F-531D9B6FF24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0118" y="956770"/>
            <a:ext cx="7521464" cy="5883978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85515F10-E881-638B-061F-F771D29B41F0}"/>
              </a:ext>
            </a:extLst>
          </p:cNvPr>
          <p:cNvSpPr txBox="1"/>
          <p:nvPr/>
        </p:nvSpPr>
        <p:spPr>
          <a:xfrm>
            <a:off x="136104" y="1375525"/>
            <a:ext cx="431401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–n6</a:t>
            </a:r>
            <a:r>
              <a:rPr sz="20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–a7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–c7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–g1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B050"/>
                </a:solidFill>
                <a:latin typeface="Consolas"/>
                <a:cs typeface="Consolas"/>
              </a:rPr>
              <a:t>-dpacked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37B5B2C9-7020-EA17-994C-E12B9D0EB0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4272" y="2140065"/>
            <a:ext cx="2197607" cy="697991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62837E7F-DFF1-0BD2-F581-BD348EAECBB2}"/>
              </a:ext>
            </a:extLst>
          </p:cNvPr>
          <p:cNvSpPr txBox="1"/>
          <p:nvPr/>
        </p:nvSpPr>
        <p:spPr>
          <a:xfrm>
            <a:off x="208113" y="2126349"/>
            <a:ext cx="913490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6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0" dirty="0">
                <a:latin typeface="Arial"/>
                <a:cs typeface="Arial"/>
              </a:rPr>
              <a:t>sets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96006653-84B0-A98D-7F02-F392D9ABA07F}"/>
              </a:ext>
            </a:extLst>
          </p:cNvPr>
          <p:cNvSpPr txBox="1"/>
          <p:nvPr/>
        </p:nvSpPr>
        <p:spPr>
          <a:xfrm>
            <a:off x="1390371" y="2233029"/>
            <a:ext cx="582158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7</a:t>
            </a:r>
          </a:p>
          <a:p>
            <a:pPr algn="ctr">
              <a:lnSpc>
                <a:spcPts val="1585"/>
              </a:lnSpc>
            </a:pPr>
            <a:r>
              <a:rPr sz="1800" spc="-10" dirty="0">
                <a:latin typeface="Arial"/>
                <a:cs typeface="Arial"/>
              </a:rPr>
              <a:t>tasks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ED21E275-AC39-4EF0-FF13-56B9AD05590F}"/>
              </a:ext>
            </a:extLst>
          </p:cNvPr>
          <p:cNvSpPr txBox="1"/>
          <p:nvPr/>
        </p:nvSpPr>
        <p:spPr>
          <a:xfrm>
            <a:off x="2071685" y="2216597"/>
            <a:ext cx="967596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7</a:t>
            </a:r>
          </a:p>
          <a:p>
            <a:pPr marL="12700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physical cores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B689B4FD-564E-D4EC-09EB-C15BF593A007}"/>
              </a:ext>
            </a:extLst>
          </p:cNvPr>
          <p:cNvSpPr txBox="1"/>
          <p:nvPr/>
        </p:nvSpPr>
        <p:spPr>
          <a:xfrm>
            <a:off x="3061097" y="2233029"/>
            <a:ext cx="559826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5" dirty="0">
                <a:latin typeface="Arial"/>
                <a:cs typeface="Arial"/>
              </a:rPr>
              <a:t>GPU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C621B464-B76A-04F5-8474-B7DAD990205E}"/>
              </a:ext>
            </a:extLst>
          </p:cNvPr>
          <p:cNvSpPr/>
          <p:nvPr/>
        </p:nvSpPr>
        <p:spPr>
          <a:xfrm>
            <a:off x="763779" y="1726612"/>
            <a:ext cx="416758" cy="392123"/>
          </a:xfrm>
          <a:custGeom>
            <a:avLst/>
            <a:gdLst/>
            <a:ahLst/>
            <a:cxnLst/>
            <a:rect l="l" t="t" r="r" b="b"/>
            <a:pathLst>
              <a:path w="521969" h="418464">
                <a:moveTo>
                  <a:pt x="0" y="418132"/>
                </a:moveTo>
                <a:lnTo>
                  <a:pt x="521559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grpSp>
        <p:nvGrpSpPr>
          <p:cNvPr id="11" name="object 12">
            <a:extLst>
              <a:ext uri="{FF2B5EF4-FFF2-40B4-BE49-F238E27FC236}">
                <a16:creationId xmlns:a16="http://schemas.microsoft.com/office/drawing/2014/main" id="{8D949259-61A2-42D5-F148-15744F5E02E2}"/>
              </a:ext>
            </a:extLst>
          </p:cNvPr>
          <p:cNvGrpSpPr/>
          <p:nvPr/>
        </p:nvGrpSpPr>
        <p:grpSpPr>
          <a:xfrm>
            <a:off x="1747580" y="1691165"/>
            <a:ext cx="2135505" cy="1250950"/>
            <a:chOff x="1747580" y="1462195"/>
            <a:chExt cx="2135505" cy="1250950"/>
          </a:xfrm>
        </p:grpSpPr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1BB04B75-9EA5-32BF-C373-BC4AC5F9A91B}"/>
                </a:ext>
              </a:extLst>
            </p:cNvPr>
            <p:cNvSpPr/>
            <p:nvPr/>
          </p:nvSpPr>
          <p:spPr>
            <a:xfrm>
              <a:off x="1752343" y="1466957"/>
              <a:ext cx="88900" cy="529590"/>
            </a:xfrm>
            <a:custGeom>
              <a:avLst/>
              <a:gdLst/>
              <a:ahLst/>
              <a:cxnLst/>
              <a:rect l="l" t="t" r="r" b="b"/>
              <a:pathLst>
                <a:path w="88900" h="529589">
                  <a:moveTo>
                    <a:pt x="88489" y="0"/>
                  </a:moveTo>
                  <a:lnTo>
                    <a:pt x="0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F8B238D3-7D13-ACF9-E09D-826E62BFFA62}"/>
                </a:ext>
              </a:extLst>
            </p:cNvPr>
            <p:cNvSpPr/>
            <p:nvPr/>
          </p:nvSpPr>
          <p:spPr>
            <a:xfrm>
              <a:off x="2368917" y="1466957"/>
              <a:ext cx="107950" cy="422909"/>
            </a:xfrm>
            <a:custGeom>
              <a:avLst/>
              <a:gdLst/>
              <a:ahLst/>
              <a:cxnLst/>
              <a:rect l="l" t="t" r="r" b="b"/>
              <a:pathLst>
                <a:path w="107950" h="422910">
                  <a:moveTo>
                    <a:pt x="0" y="0"/>
                  </a:moveTo>
                  <a:lnTo>
                    <a:pt x="107602" y="422475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E10A5A65-7352-37C9-8843-307B797C82DC}"/>
                </a:ext>
              </a:extLst>
            </p:cNvPr>
            <p:cNvSpPr/>
            <p:nvPr/>
          </p:nvSpPr>
          <p:spPr>
            <a:xfrm>
              <a:off x="2791325" y="1497642"/>
              <a:ext cx="475615" cy="498475"/>
            </a:xfrm>
            <a:custGeom>
              <a:avLst/>
              <a:gdLst/>
              <a:ahLst/>
              <a:cxnLst/>
              <a:rect l="l" t="t" r="r" b="b"/>
              <a:pathLst>
                <a:path w="475614" h="498475">
                  <a:moveTo>
                    <a:pt x="0" y="0"/>
                  </a:moveTo>
                  <a:lnTo>
                    <a:pt x="475354" y="498292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08ABB56C-868B-9F39-01A7-809AB58467DE}"/>
                </a:ext>
              </a:extLst>
            </p:cNvPr>
            <p:cNvSpPr/>
            <p:nvPr/>
          </p:nvSpPr>
          <p:spPr>
            <a:xfrm>
              <a:off x="3599547" y="1497642"/>
              <a:ext cx="278765" cy="1210945"/>
            </a:xfrm>
            <a:custGeom>
              <a:avLst/>
              <a:gdLst/>
              <a:ahLst/>
              <a:cxnLst/>
              <a:rect l="l" t="t" r="r" b="b"/>
              <a:pathLst>
                <a:path w="278764" h="1210945">
                  <a:moveTo>
                    <a:pt x="0" y="0"/>
                  </a:moveTo>
                  <a:lnTo>
                    <a:pt x="278317" y="1210529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16" name="object 17">
            <a:extLst>
              <a:ext uri="{FF2B5EF4-FFF2-40B4-BE49-F238E27FC236}">
                <a16:creationId xmlns:a16="http://schemas.microsoft.com/office/drawing/2014/main" id="{F021CF96-1C37-1379-8F51-821D193A2A81}"/>
              </a:ext>
            </a:extLst>
          </p:cNvPr>
          <p:cNvSpPr txBox="1"/>
          <p:nvPr/>
        </p:nvSpPr>
        <p:spPr>
          <a:xfrm>
            <a:off x="1241603" y="2267573"/>
            <a:ext cx="101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BF39B2E-11D4-370A-BD0F-735646206879}"/>
              </a:ext>
            </a:extLst>
          </p:cNvPr>
          <p:cNvSpPr txBox="1"/>
          <p:nvPr/>
        </p:nvSpPr>
        <p:spPr>
          <a:xfrm>
            <a:off x="3226518" y="2968043"/>
            <a:ext cx="1218887" cy="1269257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 algn="ctr">
              <a:lnSpc>
                <a:spcPct val="89000"/>
              </a:lnSpc>
              <a:spcBef>
                <a:spcPts val="284"/>
              </a:spcBef>
            </a:pPr>
            <a:r>
              <a:rPr sz="1800" dirty="0">
                <a:latin typeface="Arial"/>
                <a:cs typeface="Arial"/>
              </a:rPr>
              <a:t>assign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tasks sequentially </a:t>
            </a:r>
            <a:r>
              <a:rPr sz="1800" dirty="0">
                <a:latin typeface="Arial"/>
                <a:cs typeface="Arial"/>
              </a:rPr>
              <a:t>filling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RS </a:t>
            </a:r>
            <a:r>
              <a:rPr sz="1800" spc="-10" dirty="0">
                <a:latin typeface="Arial"/>
                <a:cs typeface="Arial"/>
              </a:rPr>
              <a:t>first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9114821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spc="-10" dirty="0"/>
              <a:t>examples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3C56C64-42EF-FCD0-A487-89BACFAC1E40}"/>
              </a:ext>
            </a:extLst>
          </p:cNvPr>
          <p:cNvSpPr txBox="1"/>
          <p:nvPr/>
        </p:nvSpPr>
        <p:spPr>
          <a:xfrm>
            <a:off x="385707" y="4945781"/>
            <a:ext cx="3619500" cy="13817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01625" marR="5080" indent="-288925">
              <a:lnSpc>
                <a:spcPct val="90300"/>
              </a:lnSpc>
              <a:spcBef>
                <a:spcPts val="380"/>
              </a:spcBef>
              <a:buSzPct val="91666"/>
              <a:buFont typeface="Century Gothic"/>
              <a:buChar char="•"/>
              <a:tabLst>
                <a:tab pos="301625" algn="l"/>
              </a:tabLst>
            </a:pPr>
            <a:r>
              <a:rPr sz="2400" dirty="0">
                <a:latin typeface="Arial"/>
                <a:cs typeface="Arial"/>
              </a:rPr>
              <a:t>Change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order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tasks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started</a:t>
            </a:r>
            <a:r>
              <a:rPr sz="2400" spc="-10" dirty="0">
                <a:latin typeface="Arial"/>
                <a:cs typeface="Arial"/>
              </a:rPr>
              <a:t> across </a:t>
            </a:r>
            <a:r>
              <a:rPr sz="2400" dirty="0">
                <a:latin typeface="Arial"/>
                <a:cs typeface="Arial"/>
              </a:rPr>
              <a:t>multiple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resource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round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robin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350526BD-FD16-237B-5523-9442F65D7C5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0094" y="959819"/>
            <a:ext cx="7513686" cy="5877894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0678481B-9D0C-3B91-A36A-218D1EF4CF1C}"/>
              </a:ext>
            </a:extLst>
          </p:cNvPr>
          <p:cNvSpPr txBox="1"/>
          <p:nvPr/>
        </p:nvSpPr>
        <p:spPr>
          <a:xfrm>
            <a:off x="136104" y="1375525"/>
            <a:ext cx="431399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–n6</a:t>
            </a:r>
            <a:r>
              <a:rPr sz="20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–a7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–c7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–g1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B050"/>
                </a:solidFill>
                <a:latin typeface="Consolas"/>
                <a:cs typeface="Consolas"/>
              </a:rPr>
              <a:t>-dcyclic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B4117A97-F103-6031-1B5C-A76934F202B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4272" y="2140065"/>
            <a:ext cx="2197607" cy="697991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599119DE-3C88-1085-6408-D55F29ED630E}"/>
              </a:ext>
            </a:extLst>
          </p:cNvPr>
          <p:cNvSpPr txBox="1"/>
          <p:nvPr/>
        </p:nvSpPr>
        <p:spPr>
          <a:xfrm>
            <a:off x="136104" y="2126349"/>
            <a:ext cx="985498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6</a:t>
            </a:r>
          </a:p>
          <a:p>
            <a:pPr marL="12065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0" dirty="0">
                <a:latin typeface="Arial"/>
                <a:cs typeface="Arial"/>
              </a:rPr>
              <a:t>sets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BB03B763-C326-795A-9047-96274C1C85EF}"/>
              </a:ext>
            </a:extLst>
          </p:cNvPr>
          <p:cNvSpPr txBox="1"/>
          <p:nvPr/>
        </p:nvSpPr>
        <p:spPr>
          <a:xfrm>
            <a:off x="1425403" y="2233029"/>
            <a:ext cx="547126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7</a:t>
            </a:r>
          </a:p>
          <a:p>
            <a:pPr algn="ctr">
              <a:lnSpc>
                <a:spcPts val="1585"/>
              </a:lnSpc>
            </a:pPr>
            <a:r>
              <a:rPr sz="1800" spc="-10" dirty="0">
                <a:latin typeface="Arial"/>
                <a:cs typeface="Arial"/>
              </a:rPr>
              <a:t>tasks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45E2FB7A-DB7C-1FF6-0408-A50B4B05E4BC}"/>
              </a:ext>
            </a:extLst>
          </p:cNvPr>
          <p:cNvSpPr txBox="1"/>
          <p:nvPr/>
        </p:nvSpPr>
        <p:spPr>
          <a:xfrm>
            <a:off x="2133553" y="2193148"/>
            <a:ext cx="846885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7</a:t>
            </a:r>
          </a:p>
          <a:p>
            <a:pPr marL="12700" marR="5080" algn="ctr">
              <a:lnSpc>
                <a:spcPts val="1510"/>
              </a:lnSpc>
              <a:spcBef>
                <a:spcPts val="95"/>
              </a:spcBef>
            </a:pPr>
            <a:r>
              <a:rPr sz="1800" spc="-10" dirty="0">
                <a:latin typeface="Arial"/>
                <a:cs typeface="Arial"/>
              </a:rPr>
              <a:t>physical cores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F2D48456-CCC1-7506-6213-0B1874747CBF}"/>
              </a:ext>
            </a:extLst>
          </p:cNvPr>
          <p:cNvSpPr txBox="1"/>
          <p:nvPr/>
        </p:nvSpPr>
        <p:spPr>
          <a:xfrm>
            <a:off x="3061097" y="2233029"/>
            <a:ext cx="550782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8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85"/>
              </a:lnSpc>
            </a:pPr>
            <a:r>
              <a:rPr sz="1800" spc="-25" dirty="0">
                <a:latin typeface="Arial"/>
                <a:cs typeface="Arial"/>
              </a:rPr>
              <a:t>GPU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77074599-D730-1B3E-DBF1-2FD64F7A67E1}"/>
              </a:ext>
            </a:extLst>
          </p:cNvPr>
          <p:cNvSpPr/>
          <p:nvPr/>
        </p:nvSpPr>
        <p:spPr>
          <a:xfrm>
            <a:off x="763779" y="1700270"/>
            <a:ext cx="521970" cy="418465"/>
          </a:xfrm>
          <a:custGeom>
            <a:avLst/>
            <a:gdLst/>
            <a:ahLst/>
            <a:cxnLst/>
            <a:rect l="l" t="t" r="r" b="b"/>
            <a:pathLst>
              <a:path w="521969" h="418464">
                <a:moveTo>
                  <a:pt x="0" y="418132"/>
                </a:moveTo>
                <a:lnTo>
                  <a:pt x="521559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grpSp>
        <p:nvGrpSpPr>
          <p:cNvPr id="11" name="object 12">
            <a:extLst>
              <a:ext uri="{FF2B5EF4-FFF2-40B4-BE49-F238E27FC236}">
                <a16:creationId xmlns:a16="http://schemas.microsoft.com/office/drawing/2014/main" id="{100B945B-CEFC-E891-DC79-5B22E04102DC}"/>
              </a:ext>
            </a:extLst>
          </p:cNvPr>
          <p:cNvGrpSpPr/>
          <p:nvPr/>
        </p:nvGrpSpPr>
        <p:grpSpPr>
          <a:xfrm>
            <a:off x="1747580" y="1691165"/>
            <a:ext cx="2135505" cy="1250950"/>
            <a:chOff x="1747580" y="1462195"/>
            <a:chExt cx="2135505" cy="1250950"/>
          </a:xfrm>
        </p:grpSpPr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FDCF4648-83E6-C33B-CE19-E00E0F3A7F1C}"/>
                </a:ext>
              </a:extLst>
            </p:cNvPr>
            <p:cNvSpPr/>
            <p:nvPr/>
          </p:nvSpPr>
          <p:spPr>
            <a:xfrm>
              <a:off x="1752342" y="1466957"/>
              <a:ext cx="100965" cy="529590"/>
            </a:xfrm>
            <a:custGeom>
              <a:avLst/>
              <a:gdLst/>
              <a:ahLst/>
              <a:cxnLst/>
              <a:rect l="l" t="t" r="r" b="b"/>
              <a:pathLst>
                <a:path w="100964" h="529589">
                  <a:moveTo>
                    <a:pt x="100520" y="0"/>
                  </a:moveTo>
                  <a:lnTo>
                    <a:pt x="0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10290981-C87A-404C-1B21-88FC77EDFD4A}"/>
                </a:ext>
              </a:extLst>
            </p:cNvPr>
            <p:cNvSpPr/>
            <p:nvPr/>
          </p:nvSpPr>
          <p:spPr>
            <a:xfrm>
              <a:off x="2368916" y="1466957"/>
              <a:ext cx="107950" cy="422909"/>
            </a:xfrm>
            <a:custGeom>
              <a:avLst/>
              <a:gdLst/>
              <a:ahLst/>
              <a:cxnLst/>
              <a:rect l="l" t="t" r="r" b="b"/>
              <a:pathLst>
                <a:path w="107950" h="422910">
                  <a:moveTo>
                    <a:pt x="0" y="0"/>
                  </a:moveTo>
                  <a:lnTo>
                    <a:pt x="107602" y="422475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F5B77EAC-29BA-370D-2585-3FCD0D09E1F6}"/>
                </a:ext>
              </a:extLst>
            </p:cNvPr>
            <p:cNvSpPr/>
            <p:nvPr/>
          </p:nvSpPr>
          <p:spPr>
            <a:xfrm>
              <a:off x="2815389" y="1466957"/>
              <a:ext cx="451484" cy="529590"/>
            </a:xfrm>
            <a:custGeom>
              <a:avLst/>
              <a:gdLst/>
              <a:ahLst/>
              <a:cxnLst/>
              <a:rect l="l" t="t" r="r" b="b"/>
              <a:pathLst>
                <a:path w="451485" h="529589">
                  <a:moveTo>
                    <a:pt x="0" y="0"/>
                  </a:moveTo>
                  <a:lnTo>
                    <a:pt x="451291" y="528976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8A455210-7B77-B120-977C-81A07C714AA4}"/>
                </a:ext>
              </a:extLst>
            </p:cNvPr>
            <p:cNvSpPr/>
            <p:nvPr/>
          </p:nvSpPr>
          <p:spPr>
            <a:xfrm>
              <a:off x="3636453" y="1497642"/>
              <a:ext cx="241935" cy="1210945"/>
            </a:xfrm>
            <a:custGeom>
              <a:avLst/>
              <a:gdLst/>
              <a:ahLst/>
              <a:cxnLst/>
              <a:rect l="l" t="t" r="r" b="b"/>
              <a:pathLst>
                <a:path w="241935" h="1210945">
                  <a:moveTo>
                    <a:pt x="0" y="0"/>
                  </a:moveTo>
                  <a:lnTo>
                    <a:pt x="241411" y="1210529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16" name="object 17">
            <a:extLst>
              <a:ext uri="{FF2B5EF4-FFF2-40B4-BE49-F238E27FC236}">
                <a16:creationId xmlns:a16="http://schemas.microsoft.com/office/drawing/2014/main" id="{FA3BBAB4-5345-BB35-0FCF-8C6F9361915D}"/>
              </a:ext>
            </a:extLst>
          </p:cNvPr>
          <p:cNvSpPr txBox="1"/>
          <p:nvPr/>
        </p:nvSpPr>
        <p:spPr>
          <a:xfrm>
            <a:off x="1241603" y="2267573"/>
            <a:ext cx="101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715FD74-CC54-B797-C2DB-A062A0D3F9F7}"/>
              </a:ext>
            </a:extLst>
          </p:cNvPr>
          <p:cNvSpPr txBox="1"/>
          <p:nvPr/>
        </p:nvSpPr>
        <p:spPr>
          <a:xfrm>
            <a:off x="3560320" y="2968043"/>
            <a:ext cx="1002030" cy="1515158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52705" marR="5080" indent="-40640" algn="just">
              <a:lnSpc>
                <a:spcPct val="89300"/>
              </a:lnSpc>
              <a:spcBef>
                <a:spcPts val="280"/>
              </a:spcBef>
            </a:pPr>
            <a:r>
              <a:rPr sz="1800" dirty="0">
                <a:latin typeface="Arial"/>
                <a:cs typeface="Arial"/>
              </a:rPr>
              <a:t>assign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tasks </a:t>
            </a:r>
            <a:r>
              <a:rPr sz="1800" dirty="0">
                <a:latin typeface="Arial"/>
                <a:cs typeface="Arial"/>
              </a:rPr>
              <a:t>round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robin </a:t>
            </a:r>
            <a:r>
              <a:rPr sz="1800" dirty="0">
                <a:latin typeface="Arial"/>
                <a:cs typeface="Arial"/>
              </a:rPr>
              <a:t>across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RS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3082310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39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lang="en-US" altLang="zh-CN" spc="-88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altLang="zh-CN" dirty="0"/>
              <a:t>examples</a:t>
            </a:r>
            <a:r>
              <a:rPr lang="en-US" altLang="zh-CN" spc="-25" dirty="0"/>
              <a:t> </a:t>
            </a:r>
            <a:r>
              <a:rPr lang="en-US" altLang="zh-CN" spc="-10" dirty="0"/>
              <a:t>(threads)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9DD035B7-0E68-3A50-A8A8-7D382FBB3D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856" y="2729857"/>
            <a:ext cx="5679143" cy="4029599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D189E515-D2C3-5A72-4DAF-9ACFA039470D}"/>
              </a:ext>
            </a:extLst>
          </p:cNvPr>
          <p:cNvSpPr txBox="1"/>
          <p:nvPr/>
        </p:nvSpPr>
        <p:spPr>
          <a:xfrm>
            <a:off x="205778" y="1042457"/>
            <a:ext cx="634108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olas"/>
                <a:cs typeface="Consolas"/>
              </a:rPr>
              <a:t>–n12</a:t>
            </a:r>
            <a:r>
              <a:rPr sz="2000" b="1" spc="-3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–a1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–c4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–g1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–b</a:t>
            </a:r>
            <a:r>
              <a:rPr sz="2000" b="1" spc="-25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packed:4</a:t>
            </a:r>
            <a:r>
              <a:rPr sz="2000" b="1" spc="-3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onsolas"/>
                <a:cs typeface="Consolas"/>
              </a:rPr>
              <a:t>–d</a:t>
            </a:r>
            <a:r>
              <a:rPr sz="2000" b="1" spc="-20" dirty="0">
                <a:solidFill>
                  <a:srgbClr val="00B05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B050"/>
                </a:solidFill>
                <a:latin typeface="Consolas"/>
                <a:cs typeface="Consolas"/>
              </a:rPr>
              <a:t>packed</a:t>
            </a:r>
            <a:endParaRPr sz="2000" dirty="0">
              <a:latin typeface="Consolas"/>
              <a:cs typeface="Consolas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9E53091-81AB-DA69-35F6-D8BA970D877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41082" y="2760381"/>
            <a:ext cx="5629872" cy="3986138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1FAAA85E-6523-1462-F27A-A7A1B0218C2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8153" y="1675275"/>
            <a:ext cx="2182367" cy="701039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A3365EE6-4CB6-A26D-964C-FD35EB037829}"/>
              </a:ext>
            </a:extLst>
          </p:cNvPr>
          <p:cNvSpPr txBox="1"/>
          <p:nvPr/>
        </p:nvSpPr>
        <p:spPr>
          <a:xfrm>
            <a:off x="220726" y="1800818"/>
            <a:ext cx="840309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95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12</a:t>
            </a:r>
            <a:endParaRPr sz="1800" dirty="0">
              <a:latin typeface="Arial"/>
              <a:cs typeface="Arial"/>
            </a:endParaRPr>
          </a:p>
          <a:p>
            <a:pPr marL="12700" marR="5080" algn="ctr">
              <a:lnSpc>
                <a:spcPts val="1490"/>
              </a:lnSpc>
              <a:spcBef>
                <a:spcPts val="120"/>
              </a:spcBef>
            </a:pPr>
            <a:r>
              <a:rPr sz="1800" spc="-10" dirty="0">
                <a:latin typeface="Arial"/>
                <a:cs typeface="Arial"/>
              </a:rPr>
              <a:t>resource </a:t>
            </a:r>
            <a:r>
              <a:rPr sz="1800" spc="-20" dirty="0">
                <a:latin typeface="Arial"/>
                <a:cs typeface="Arial"/>
              </a:rPr>
              <a:t>sets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16FF72DE-4626-8ECB-C392-7C26591EC4D6}"/>
              </a:ext>
            </a:extLst>
          </p:cNvPr>
          <p:cNvSpPr txBox="1"/>
          <p:nvPr/>
        </p:nvSpPr>
        <p:spPr>
          <a:xfrm>
            <a:off x="1675030" y="1757171"/>
            <a:ext cx="565897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9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95"/>
              </a:lnSpc>
            </a:pPr>
            <a:r>
              <a:rPr sz="1800" spc="-20" dirty="0">
                <a:latin typeface="Arial"/>
                <a:cs typeface="Arial"/>
              </a:rPr>
              <a:t>task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0AA5B46A-9040-D9FE-8589-210C01919636}"/>
              </a:ext>
            </a:extLst>
          </p:cNvPr>
          <p:cNvSpPr txBox="1"/>
          <p:nvPr/>
        </p:nvSpPr>
        <p:spPr>
          <a:xfrm>
            <a:off x="2239465" y="1694312"/>
            <a:ext cx="888302" cy="62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9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4</a:t>
            </a:r>
          </a:p>
          <a:p>
            <a:pPr marL="12700" marR="5080" algn="ctr">
              <a:lnSpc>
                <a:spcPts val="1490"/>
              </a:lnSpc>
              <a:spcBef>
                <a:spcPts val="120"/>
              </a:spcBef>
            </a:pPr>
            <a:r>
              <a:rPr sz="1800" spc="-10" dirty="0">
                <a:latin typeface="Arial"/>
                <a:cs typeface="Arial"/>
              </a:rPr>
              <a:t>physical cores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8E661E6A-599F-E113-8963-96ABEB48AB65}"/>
              </a:ext>
            </a:extLst>
          </p:cNvPr>
          <p:cNvSpPr txBox="1"/>
          <p:nvPr/>
        </p:nvSpPr>
        <p:spPr>
          <a:xfrm>
            <a:off x="3199162" y="1757171"/>
            <a:ext cx="588637" cy="42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95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</a:t>
            </a:r>
          </a:p>
          <a:p>
            <a:pPr algn="ctr">
              <a:lnSpc>
                <a:spcPts val="1595"/>
              </a:lnSpc>
            </a:pPr>
            <a:r>
              <a:rPr sz="1800" spc="-25" dirty="0">
                <a:latin typeface="Arial"/>
                <a:cs typeface="Arial"/>
              </a:rPr>
              <a:t>GPU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A6BA6AC0-1CA3-CFC2-18AA-895111BEEEBA}"/>
              </a:ext>
            </a:extLst>
          </p:cNvPr>
          <p:cNvSpPr txBox="1"/>
          <p:nvPr/>
        </p:nvSpPr>
        <p:spPr>
          <a:xfrm>
            <a:off x="4067909" y="1626108"/>
            <a:ext cx="1142713" cy="10220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300"/>
              </a:lnSpc>
              <a:spcBef>
                <a:spcPts val="28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bind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tasks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cores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resource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set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C2E432FB-F775-7FC9-8DE2-E140A3B6C310}"/>
              </a:ext>
            </a:extLst>
          </p:cNvPr>
          <p:cNvSpPr/>
          <p:nvPr/>
        </p:nvSpPr>
        <p:spPr>
          <a:xfrm>
            <a:off x="778616" y="1398370"/>
            <a:ext cx="389890" cy="273685"/>
          </a:xfrm>
          <a:custGeom>
            <a:avLst/>
            <a:gdLst/>
            <a:ahLst/>
            <a:cxnLst/>
            <a:rect l="l" t="t" r="r" b="b"/>
            <a:pathLst>
              <a:path w="389890" h="273685">
                <a:moveTo>
                  <a:pt x="0" y="273108"/>
                </a:moveTo>
                <a:lnTo>
                  <a:pt x="389415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grpSp>
        <p:nvGrpSpPr>
          <p:cNvPr id="12" name="object 13">
            <a:extLst>
              <a:ext uri="{FF2B5EF4-FFF2-40B4-BE49-F238E27FC236}">
                <a16:creationId xmlns:a16="http://schemas.microsoft.com/office/drawing/2014/main" id="{975B7D2B-218B-A22C-B982-140645801F65}"/>
              </a:ext>
            </a:extLst>
          </p:cNvPr>
          <p:cNvGrpSpPr/>
          <p:nvPr/>
        </p:nvGrpSpPr>
        <p:grpSpPr>
          <a:xfrm>
            <a:off x="1965683" y="1312127"/>
            <a:ext cx="2733758" cy="363149"/>
            <a:chOff x="1965683" y="1312127"/>
            <a:chExt cx="2733758" cy="363149"/>
          </a:xfrm>
        </p:grpSpPr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CA8761E5-F264-E65B-AE9A-515C15449DC3}"/>
                </a:ext>
              </a:extLst>
            </p:cNvPr>
            <p:cNvSpPr/>
            <p:nvPr/>
          </p:nvSpPr>
          <p:spPr>
            <a:xfrm>
              <a:off x="1965683" y="1370703"/>
              <a:ext cx="45719" cy="297539"/>
            </a:xfrm>
            <a:custGeom>
              <a:avLst/>
              <a:gdLst/>
              <a:ahLst/>
              <a:cxnLst/>
              <a:rect l="l" t="t" r="r" b="b"/>
              <a:pathLst>
                <a:path w="99694" h="379730">
                  <a:moveTo>
                    <a:pt x="0" y="0"/>
                  </a:moveTo>
                  <a:lnTo>
                    <a:pt x="99509" y="379609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569939D8-F6E9-F458-6D10-809DC4666817}"/>
                </a:ext>
              </a:extLst>
            </p:cNvPr>
            <p:cNvSpPr/>
            <p:nvPr/>
          </p:nvSpPr>
          <p:spPr>
            <a:xfrm>
              <a:off x="2494893" y="1336804"/>
              <a:ext cx="192436" cy="331438"/>
            </a:xfrm>
            <a:custGeom>
              <a:avLst/>
              <a:gdLst/>
              <a:ahLst/>
              <a:cxnLst/>
              <a:rect l="l" t="t" r="r" b="b"/>
              <a:pathLst>
                <a:path w="300989" h="307339">
                  <a:moveTo>
                    <a:pt x="0" y="0"/>
                  </a:moveTo>
                  <a:lnTo>
                    <a:pt x="300962" y="307007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295374E1-FE1E-40BF-5375-1C72CE72A1E9}"/>
                </a:ext>
              </a:extLst>
            </p:cNvPr>
            <p:cNvSpPr/>
            <p:nvPr/>
          </p:nvSpPr>
          <p:spPr>
            <a:xfrm>
              <a:off x="3107014" y="1377736"/>
              <a:ext cx="360248" cy="297540"/>
            </a:xfrm>
            <a:custGeom>
              <a:avLst/>
              <a:gdLst/>
              <a:ahLst/>
              <a:cxnLst/>
              <a:rect l="l" t="t" r="r" b="b"/>
              <a:pathLst>
                <a:path w="630554" h="380364">
                  <a:moveTo>
                    <a:pt x="0" y="0"/>
                  </a:moveTo>
                  <a:lnTo>
                    <a:pt x="630358" y="380221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6" name="object 17">
              <a:extLst>
                <a:ext uri="{FF2B5EF4-FFF2-40B4-BE49-F238E27FC236}">
                  <a16:creationId xmlns:a16="http://schemas.microsoft.com/office/drawing/2014/main" id="{F4FDA7EC-3371-EE67-00CA-E77CEED43B62}"/>
                </a:ext>
              </a:extLst>
            </p:cNvPr>
            <p:cNvSpPr/>
            <p:nvPr/>
          </p:nvSpPr>
          <p:spPr>
            <a:xfrm>
              <a:off x="3858701" y="1312127"/>
              <a:ext cx="840740" cy="307340"/>
            </a:xfrm>
            <a:custGeom>
              <a:avLst/>
              <a:gdLst/>
              <a:ahLst/>
              <a:cxnLst/>
              <a:rect l="l" t="t" r="r" b="b"/>
              <a:pathLst>
                <a:path w="840739" h="307340">
                  <a:moveTo>
                    <a:pt x="0" y="0"/>
                  </a:moveTo>
                  <a:lnTo>
                    <a:pt x="840586" y="307007"/>
                  </a:lnTo>
                </a:path>
              </a:pathLst>
            </a:custGeom>
            <a:ln w="952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17" name="object 18">
            <a:extLst>
              <a:ext uri="{FF2B5EF4-FFF2-40B4-BE49-F238E27FC236}">
                <a16:creationId xmlns:a16="http://schemas.microsoft.com/office/drawing/2014/main" id="{A8DDF41B-1EA1-EF74-DDE9-B5DD1950046B}"/>
              </a:ext>
            </a:extLst>
          </p:cNvPr>
          <p:cNvSpPr txBox="1"/>
          <p:nvPr/>
        </p:nvSpPr>
        <p:spPr>
          <a:xfrm>
            <a:off x="1288232" y="1901245"/>
            <a:ext cx="101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9372CC9A-62E1-5CA7-78F2-09852B4493E3}"/>
              </a:ext>
            </a:extLst>
          </p:cNvPr>
          <p:cNvSpPr txBox="1"/>
          <p:nvPr/>
        </p:nvSpPr>
        <p:spPr>
          <a:xfrm>
            <a:off x="5324332" y="1643962"/>
            <a:ext cx="1279402" cy="1022715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 algn="ctr">
              <a:lnSpc>
                <a:spcPct val="89000"/>
              </a:lnSpc>
              <a:spcBef>
                <a:spcPts val="284"/>
              </a:spcBef>
            </a:pPr>
            <a:r>
              <a:rPr sz="1800" dirty="0">
                <a:latin typeface="Arial"/>
                <a:cs typeface="Arial"/>
              </a:rPr>
              <a:t>assign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tasks sequentially </a:t>
            </a:r>
            <a:r>
              <a:rPr sz="1800" dirty="0">
                <a:latin typeface="Arial"/>
                <a:cs typeface="Arial"/>
              </a:rPr>
              <a:t>filling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RS </a:t>
            </a:r>
            <a:r>
              <a:rPr sz="1800" spc="-10" dirty="0">
                <a:latin typeface="Arial"/>
                <a:cs typeface="Arial"/>
              </a:rPr>
              <a:t>first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3793CFA-1F54-015D-06E9-2BE23D498B45}"/>
              </a:ext>
            </a:extLst>
          </p:cNvPr>
          <p:cNvSpPr/>
          <p:nvPr/>
        </p:nvSpPr>
        <p:spPr>
          <a:xfrm>
            <a:off x="5315968" y="1329265"/>
            <a:ext cx="560705" cy="280035"/>
          </a:xfrm>
          <a:custGeom>
            <a:avLst/>
            <a:gdLst/>
            <a:ahLst/>
            <a:cxnLst/>
            <a:rect l="l" t="t" r="r" b="b"/>
            <a:pathLst>
              <a:path w="560704" h="280034">
                <a:moveTo>
                  <a:pt x="0" y="0"/>
                </a:moveTo>
                <a:lnTo>
                  <a:pt x="560256" y="279742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0BF52E3D-0A8C-5499-2B14-1DAD7DCF24BF}"/>
              </a:ext>
            </a:extLst>
          </p:cNvPr>
          <p:cNvSpPr txBox="1"/>
          <p:nvPr/>
        </p:nvSpPr>
        <p:spPr>
          <a:xfrm>
            <a:off x="6837568" y="1104013"/>
            <a:ext cx="6024978" cy="124906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297815" algn="l"/>
              </a:tabLst>
            </a:pPr>
            <a:r>
              <a:rPr sz="2000" i="1" dirty="0">
                <a:solidFill>
                  <a:srgbClr val="7F7F7F"/>
                </a:solidFill>
                <a:latin typeface="Calibri"/>
                <a:cs typeface="Calibri"/>
              </a:rPr>
              <a:t>#	</a:t>
            </a:r>
            <a:r>
              <a:rPr sz="2000" dirty="0">
                <a:solidFill>
                  <a:srgbClr val="7F7F7F"/>
                </a:solidFill>
                <a:latin typeface="Century Gothic"/>
                <a:cs typeface="Century Gothic"/>
              </a:rPr>
              <a:t>2-node allocation</a:t>
            </a: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297815" algn="l"/>
              </a:tabLst>
            </a:pPr>
            <a:r>
              <a:rPr sz="2000" i="1" dirty="0">
                <a:solidFill>
                  <a:srgbClr val="7F7F7F"/>
                </a:solidFill>
                <a:latin typeface="Calibri"/>
                <a:cs typeface="Calibri"/>
              </a:rPr>
              <a:t>#	</a:t>
            </a:r>
            <a:r>
              <a:rPr sz="2000" dirty="0">
                <a:solidFill>
                  <a:srgbClr val="7F7F7F"/>
                </a:solidFill>
                <a:latin typeface="Century Gothic"/>
                <a:cs typeface="Century Gothic"/>
              </a:rPr>
              <a:t>OMP_NUM_THREADS = 4</a:t>
            </a: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297815" algn="l"/>
              </a:tabLst>
            </a:pPr>
            <a:r>
              <a:rPr sz="2000" i="1" dirty="0">
                <a:solidFill>
                  <a:srgbClr val="7F7F7F"/>
                </a:solidFill>
                <a:latin typeface="Calibri"/>
                <a:cs typeface="Calibri"/>
              </a:rPr>
              <a:t>#	</a:t>
            </a:r>
            <a:r>
              <a:rPr sz="2000" dirty="0">
                <a:solidFill>
                  <a:srgbClr val="7F7F7F"/>
                </a:solidFill>
                <a:latin typeface="Century Gothic"/>
                <a:cs typeface="Century Gothic"/>
              </a:rPr>
              <a:t>rank0’s OMP_PLACES = {0:4},{4:4},{8:4},{12:4}</a:t>
            </a:r>
            <a:endParaRPr sz="20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92234510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  <a:cs typeface="Consolas"/>
              </a:rPr>
              <a:t>jsrun</a:t>
            </a:r>
            <a:r>
              <a:rPr lang="en-US" altLang="zh-CN" spc="-869" dirty="0">
                <a:solidFill>
                  <a:srgbClr val="0070C0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lang="en-US" altLang="zh-CN" spc="-10" dirty="0">
                <a:latin typeface="Consolas" panose="020B0609020204030204" pitchFamily="49" charset="0"/>
              </a:rPr>
              <a:t>Binding Flag</a:t>
            </a:r>
            <a:endParaRPr lang="zh-CN" altLang="en-US" dirty="0">
              <a:solidFill>
                <a:srgbClr val="002060"/>
              </a:solidFill>
              <a:latin typeface="Consolas" panose="020B0609020204030204" pitchFamily="49" charset="0"/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DF2C56D-1BCE-9548-A118-A6258F1DF072}"/>
              </a:ext>
            </a:extLst>
          </p:cNvPr>
          <p:cNvSpPr txBox="1"/>
          <p:nvPr/>
        </p:nvSpPr>
        <p:spPr>
          <a:xfrm>
            <a:off x="424136" y="1223455"/>
            <a:ext cx="4974203" cy="297979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300"/>
              </a:spcBef>
              <a:buSzPct val="90000"/>
              <a:buChar char="•"/>
              <a:tabLst>
                <a:tab pos="299720" algn="l"/>
                <a:tab pos="300355" algn="l"/>
              </a:tabLst>
            </a:pPr>
            <a:r>
              <a:rPr sz="2400" spc="-10" dirty="0">
                <a:latin typeface="Century Gothic"/>
                <a:cs typeface="Century Gothic"/>
              </a:rPr>
              <a:t>-</a:t>
            </a:r>
            <a:r>
              <a:rPr sz="2400" dirty="0">
                <a:latin typeface="Century Gothic"/>
                <a:cs typeface="Century Gothic"/>
              </a:rPr>
              <a:t>b, </a:t>
            </a:r>
            <a:r>
              <a:rPr sz="2400" spc="-10" dirty="0">
                <a:latin typeface="Century Gothic"/>
                <a:cs typeface="Century Gothic"/>
              </a:rPr>
              <a:t>--</a:t>
            </a:r>
            <a:r>
              <a:rPr sz="2400" spc="-20" dirty="0">
                <a:latin typeface="Century Gothic"/>
                <a:cs typeface="Century Gothic"/>
              </a:rPr>
              <a:t>bind</a:t>
            </a:r>
            <a:endParaRPr sz="2400" dirty="0">
              <a:latin typeface="Century Gothic"/>
              <a:cs typeface="Century Gothic"/>
            </a:endParaRPr>
          </a:p>
          <a:p>
            <a:pPr marL="299720" marR="201930" indent="-287655">
              <a:lnSpc>
                <a:spcPts val="2090"/>
              </a:lnSpc>
              <a:spcBef>
                <a:spcPts val="1525"/>
              </a:spcBef>
              <a:buSzPct val="90000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Century Gothic"/>
                <a:cs typeface="Century Gothic"/>
              </a:rPr>
              <a:t>Binding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of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tasks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within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spc="-50" dirty="0">
                <a:latin typeface="Century Gothic"/>
                <a:cs typeface="Century Gothic"/>
              </a:rPr>
              <a:t>a </a:t>
            </a:r>
            <a:r>
              <a:rPr sz="2400" dirty="0">
                <a:latin typeface="Century Gothic"/>
                <a:cs typeface="Century Gothic"/>
              </a:rPr>
              <a:t>resource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spc="-25" dirty="0">
                <a:latin typeface="Century Gothic"/>
                <a:cs typeface="Century Gothic"/>
              </a:rPr>
              <a:t>set</a:t>
            </a:r>
            <a:endParaRPr sz="2400" dirty="0">
              <a:latin typeface="Century Gothic"/>
              <a:cs typeface="Century Gothic"/>
            </a:endParaRPr>
          </a:p>
          <a:p>
            <a:pPr marL="300355" indent="-287655">
              <a:lnSpc>
                <a:spcPct val="100000"/>
              </a:lnSpc>
              <a:spcBef>
                <a:spcPts val="1180"/>
              </a:spcBef>
              <a:buSzPct val="90000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Century Gothic"/>
                <a:cs typeface="Century Gothic"/>
              </a:rPr>
              <a:t>OMP_PLACES,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affinity</a:t>
            </a:r>
            <a:endParaRPr sz="2400" dirty="0">
              <a:latin typeface="Century Gothic"/>
              <a:cs typeface="Century Gothic"/>
            </a:endParaRPr>
          </a:p>
          <a:p>
            <a:pPr marL="299720" marR="5080" indent="-287655">
              <a:lnSpc>
                <a:spcPct val="89500"/>
              </a:lnSpc>
              <a:spcBef>
                <a:spcPts val="1455"/>
              </a:spcBef>
              <a:buSzPct val="90000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400" b="1" dirty="0">
                <a:latin typeface="Century Gothic"/>
                <a:cs typeface="Century Gothic"/>
              </a:rPr>
              <a:t>Should</a:t>
            </a:r>
            <a:r>
              <a:rPr sz="2400" b="1" spc="-25" dirty="0">
                <a:latin typeface="Century Gothic"/>
                <a:cs typeface="Century Gothic"/>
              </a:rPr>
              <a:t> </a:t>
            </a:r>
            <a:r>
              <a:rPr sz="2400" b="1" dirty="0">
                <a:latin typeface="Century Gothic"/>
                <a:cs typeface="Century Gothic"/>
              </a:rPr>
              <a:t>specify</a:t>
            </a:r>
            <a:r>
              <a:rPr sz="2400" b="1" spc="-25" dirty="0">
                <a:latin typeface="Century Gothic"/>
                <a:cs typeface="Century Gothic"/>
              </a:rPr>
              <a:t> </a:t>
            </a:r>
            <a:r>
              <a:rPr sz="2400" b="1" dirty="0">
                <a:latin typeface="Century Gothic"/>
                <a:cs typeface="Century Gothic"/>
              </a:rPr>
              <a:t>binding</a:t>
            </a:r>
            <a:r>
              <a:rPr sz="2400" b="1" spc="-20" dirty="0">
                <a:latin typeface="Century Gothic"/>
                <a:cs typeface="Century Gothic"/>
              </a:rPr>
              <a:t> </a:t>
            </a:r>
            <a:r>
              <a:rPr sz="2400" b="1" spc="-25" dirty="0">
                <a:latin typeface="Century Gothic"/>
                <a:cs typeface="Century Gothic"/>
              </a:rPr>
              <a:t>to </a:t>
            </a:r>
            <a:r>
              <a:rPr sz="2400" b="1" dirty="0">
                <a:latin typeface="Century Gothic"/>
                <a:cs typeface="Century Gothic"/>
              </a:rPr>
              <a:t>help</a:t>
            </a:r>
            <a:r>
              <a:rPr sz="2400" b="1" spc="-25" dirty="0">
                <a:latin typeface="Century Gothic"/>
                <a:cs typeface="Century Gothic"/>
              </a:rPr>
              <a:t> </a:t>
            </a:r>
            <a:r>
              <a:rPr sz="2400" b="1" dirty="0">
                <a:latin typeface="Century Gothic"/>
                <a:cs typeface="Century Gothic"/>
              </a:rPr>
              <a:t>prevent</a:t>
            </a:r>
            <a:r>
              <a:rPr sz="2400" b="1" spc="-20" dirty="0">
                <a:latin typeface="Century Gothic"/>
                <a:cs typeface="Century Gothic"/>
              </a:rPr>
              <a:t> </a:t>
            </a:r>
            <a:r>
              <a:rPr sz="2400" b="1" spc="-10" dirty="0">
                <a:latin typeface="Century Gothic"/>
                <a:cs typeface="Century Gothic"/>
              </a:rPr>
              <a:t>unwanted oversubscription</a:t>
            </a:r>
            <a:endParaRPr sz="2400" dirty="0">
              <a:latin typeface="Century Gothic"/>
              <a:cs typeface="Century Gothic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C53D25D9-9BCB-E8FF-4239-720049F3DC30}"/>
              </a:ext>
            </a:extLst>
          </p:cNvPr>
          <p:cNvSpPr txBox="1"/>
          <p:nvPr/>
        </p:nvSpPr>
        <p:spPr>
          <a:xfrm>
            <a:off x="5824736" y="959986"/>
            <a:ext cx="6408712" cy="3695884"/>
          </a:xfrm>
          <a:prstGeom prst="rect">
            <a:avLst/>
          </a:prstGeom>
          <a:ln w="9525">
            <a:solidFill>
              <a:srgbClr val="447E59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87020" marR="2892425" indent="-287020">
              <a:lnSpc>
                <a:spcPct val="100000"/>
              </a:lnSpc>
              <a:spcBef>
                <a:spcPts val="60"/>
              </a:spcBef>
              <a:buSzPct val="88888"/>
              <a:buChar char="•"/>
              <a:tabLst>
                <a:tab pos="287020" algn="l"/>
                <a:tab pos="287655" algn="l"/>
              </a:tabLst>
            </a:pPr>
            <a:r>
              <a:rPr sz="2000" spc="-10" dirty="0">
                <a:latin typeface="Century Gothic"/>
                <a:cs typeface="Century Gothic"/>
              </a:rPr>
              <a:t>Options:</a:t>
            </a:r>
            <a:endParaRPr sz="1800" dirty="0">
              <a:latin typeface="Century Gothic"/>
              <a:cs typeface="Century Gothic"/>
            </a:endParaRPr>
          </a:p>
          <a:p>
            <a:pPr marL="780415" lvl="1" indent="-286385">
              <a:lnSpc>
                <a:spcPct val="100000"/>
              </a:lnSpc>
              <a:spcBef>
                <a:spcPts val="615"/>
              </a:spcBef>
              <a:buSzPct val="87500"/>
              <a:buChar char="–"/>
              <a:tabLst>
                <a:tab pos="779780" algn="l"/>
                <a:tab pos="780415" algn="l"/>
              </a:tabLst>
            </a:pPr>
            <a:r>
              <a:rPr lang="en-US" altLang="zh-CN" sz="1800" spc="-25" dirty="0">
                <a:latin typeface="Century Gothic"/>
                <a:cs typeface="Century Gothic"/>
              </a:rPr>
              <a:t>none</a:t>
            </a:r>
            <a:endParaRPr lang="en-US" altLang="zh-CN" sz="1800" dirty="0">
              <a:latin typeface="Century Gothic"/>
              <a:cs typeface="Century Gothic"/>
            </a:endParaRPr>
          </a:p>
          <a:p>
            <a:pPr marL="1122045" lvl="2" indent="-286385">
              <a:lnSpc>
                <a:spcPct val="100000"/>
              </a:lnSpc>
              <a:spcBef>
                <a:spcPts val="680"/>
              </a:spcBef>
              <a:buSzPct val="92857"/>
              <a:buChar char="•"/>
              <a:tabLst>
                <a:tab pos="1121410" algn="l"/>
                <a:tab pos="1122045" algn="l"/>
              </a:tabLst>
            </a:pPr>
            <a:r>
              <a:rPr lang="en-US" altLang="zh-CN" sz="1600" dirty="0">
                <a:latin typeface="Century Gothic"/>
                <a:cs typeface="Century Gothic"/>
              </a:rPr>
              <a:t>No</a:t>
            </a:r>
            <a:r>
              <a:rPr lang="en-US" altLang="zh-CN" sz="1600" spc="-5" dirty="0">
                <a:latin typeface="Century Gothic"/>
                <a:cs typeface="Century Gothic"/>
              </a:rPr>
              <a:t> </a:t>
            </a:r>
            <a:r>
              <a:rPr lang="en-US" altLang="zh-CN" sz="1600" spc="-10" dirty="0">
                <a:latin typeface="Century Gothic"/>
                <a:cs typeface="Century Gothic"/>
              </a:rPr>
              <a:t>binding</a:t>
            </a:r>
          </a:p>
          <a:p>
            <a:pPr marL="780415" lvl="1" indent="-286385">
              <a:lnSpc>
                <a:spcPct val="100000"/>
              </a:lnSpc>
              <a:spcBef>
                <a:spcPts val="615"/>
              </a:spcBef>
              <a:buSzPct val="87500"/>
              <a:buChar char="–"/>
              <a:tabLst>
                <a:tab pos="779780" algn="l"/>
                <a:tab pos="780415" algn="l"/>
              </a:tabLst>
            </a:pPr>
            <a:r>
              <a:rPr sz="1800" spc="-25" dirty="0" err="1">
                <a:latin typeface="Century Gothic"/>
                <a:cs typeface="Century Gothic"/>
              </a:rPr>
              <a:t>rs</a:t>
            </a:r>
            <a:endParaRPr sz="1800" dirty="0">
              <a:latin typeface="Century Gothic"/>
              <a:cs typeface="Century Gothic"/>
            </a:endParaRPr>
          </a:p>
          <a:p>
            <a:pPr marL="1122045" lvl="2" indent="-286385">
              <a:lnSpc>
                <a:spcPct val="100000"/>
              </a:lnSpc>
              <a:spcBef>
                <a:spcPts val="585"/>
              </a:spcBef>
              <a:buSzPct val="92857"/>
              <a:buChar char="•"/>
              <a:tabLst>
                <a:tab pos="1121410" algn="l"/>
                <a:tab pos="1122045" algn="l"/>
              </a:tabLst>
            </a:pPr>
            <a:r>
              <a:rPr sz="1600" dirty="0">
                <a:latin typeface="Century Gothic"/>
                <a:cs typeface="Century Gothic"/>
              </a:rPr>
              <a:t>Bind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to</a:t>
            </a:r>
            <a:r>
              <a:rPr sz="1600" spc="-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cores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in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resource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25" dirty="0">
                <a:latin typeface="Century Gothic"/>
                <a:cs typeface="Century Gothic"/>
              </a:rPr>
              <a:t>set</a:t>
            </a:r>
            <a:endParaRPr sz="1600" dirty="0">
              <a:latin typeface="Century Gothic"/>
              <a:cs typeface="Century Gothic"/>
            </a:endParaRPr>
          </a:p>
          <a:p>
            <a:pPr marL="1122045" lvl="2" indent="-286385">
              <a:lnSpc>
                <a:spcPct val="100000"/>
              </a:lnSpc>
              <a:spcBef>
                <a:spcPts val="620"/>
              </a:spcBef>
              <a:buClr>
                <a:srgbClr val="000000"/>
              </a:buClr>
              <a:buSzPct val="92857"/>
              <a:buFont typeface="Century Gothic"/>
              <a:buChar char="•"/>
              <a:tabLst>
                <a:tab pos="1121410" algn="l"/>
                <a:tab pos="1122045" algn="l"/>
              </a:tabLst>
            </a:pPr>
            <a:r>
              <a:rPr sz="1600" b="1" i="1" dirty="0">
                <a:solidFill>
                  <a:srgbClr val="CB4D3D"/>
                </a:solidFill>
                <a:latin typeface="Century Gothic"/>
                <a:cs typeface="Century Gothic"/>
              </a:rPr>
              <a:t>Not </a:t>
            </a:r>
            <a:r>
              <a:rPr sz="1600" b="1" i="1" spc="-10" dirty="0">
                <a:solidFill>
                  <a:srgbClr val="CB4D3D"/>
                </a:solidFill>
                <a:latin typeface="Century Gothic"/>
                <a:cs typeface="Century Gothic"/>
              </a:rPr>
              <a:t>Recommended</a:t>
            </a:r>
            <a:endParaRPr sz="1600" dirty="0">
              <a:latin typeface="Century Gothic"/>
              <a:cs typeface="Century Gothic"/>
            </a:endParaRPr>
          </a:p>
          <a:p>
            <a:pPr marL="780415" lvl="1" indent="-286385">
              <a:lnSpc>
                <a:spcPct val="100000"/>
              </a:lnSpc>
              <a:spcBef>
                <a:spcPts val="620"/>
              </a:spcBef>
              <a:buSzPct val="87500"/>
              <a:buChar char="–"/>
              <a:tabLst>
                <a:tab pos="779780" algn="l"/>
                <a:tab pos="780415" algn="l"/>
              </a:tabLst>
            </a:pPr>
            <a:r>
              <a:rPr sz="1800" spc="-10" dirty="0">
                <a:latin typeface="Century Gothic"/>
                <a:cs typeface="Century Gothic"/>
              </a:rPr>
              <a:t>packed:#</a:t>
            </a:r>
            <a:endParaRPr sz="1800" dirty="0">
              <a:latin typeface="Century Gothic"/>
              <a:cs typeface="Century Gothic"/>
            </a:endParaRPr>
          </a:p>
          <a:p>
            <a:pPr marL="1122045" lvl="2" indent="-286385">
              <a:lnSpc>
                <a:spcPct val="100000"/>
              </a:lnSpc>
              <a:spcBef>
                <a:spcPts val="680"/>
              </a:spcBef>
              <a:buSzPct val="92857"/>
              <a:buFont typeface="Century Gothic"/>
              <a:buChar char="•"/>
              <a:tabLst>
                <a:tab pos="1121410" algn="l"/>
                <a:tab pos="1122045" algn="l"/>
              </a:tabLst>
            </a:pPr>
            <a:r>
              <a:rPr sz="1600" b="1" dirty="0">
                <a:latin typeface="Century Gothic"/>
                <a:cs typeface="Century Gothic"/>
              </a:rPr>
              <a:t>Default:</a:t>
            </a:r>
            <a:r>
              <a:rPr sz="1600" b="1" spc="-35" dirty="0">
                <a:latin typeface="Century Gothic"/>
                <a:cs typeface="Century Gothic"/>
              </a:rPr>
              <a:t> </a:t>
            </a:r>
            <a:r>
              <a:rPr sz="1600" b="1" spc="-10" dirty="0">
                <a:latin typeface="Century Gothic"/>
                <a:cs typeface="Century Gothic"/>
              </a:rPr>
              <a:t>packed:1</a:t>
            </a:r>
            <a:endParaRPr sz="1600" dirty="0">
              <a:latin typeface="Century Gothic"/>
              <a:cs typeface="Century Gothic"/>
            </a:endParaRPr>
          </a:p>
          <a:p>
            <a:pPr marL="1122045" lvl="2" indent="-286385">
              <a:lnSpc>
                <a:spcPct val="100000"/>
              </a:lnSpc>
              <a:spcBef>
                <a:spcPts val="620"/>
              </a:spcBef>
              <a:buSzPct val="92857"/>
              <a:buChar char="•"/>
              <a:tabLst>
                <a:tab pos="1121410" algn="l"/>
                <a:tab pos="1122045" algn="l"/>
              </a:tabLst>
            </a:pPr>
            <a:r>
              <a:rPr sz="1600" dirty="0">
                <a:latin typeface="Century Gothic"/>
                <a:cs typeface="Century Gothic"/>
              </a:rPr>
              <a:t>Number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of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CPUs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bound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to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task</a:t>
            </a:r>
            <a:endParaRPr sz="1600" dirty="0">
              <a:latin typeface="Century Gothic"/>
              <a:cs typeface="Century Gothic"/>
            </a:endParaRPr>
          </a:p>
          <a:p>
            <a:pPr marL="780415" lvl="1" indent="-286385">
              <a:lnSpc>
                <a:spcPct val="100000"/>
              </a:lnSpc>
              <a:spcBef>
                <a:spcPts val="620"/>
              </a:spcBef>
              <a:buSzPct val="87500"/>
              <a:buChar char="–"/>
              <a:tabLst>
                <a:tab pos="779780" algn="l"/>
                <a:tab pos="780415" algn="l"/>
              </a:tabLst>
            </a:pPr>
            <a:r>
              <a:rPr sz="1800" spc="-10" dirty="0">
                <a:latin typeface="Century Gothic"/>
                <a:cs typeface="Century Gothic"/>
              </a:rPr>
              <a:t>packed:smt:#</a:t>
            </a:r>
            <a:endParaRPr sz="1800" dirty="0">
              <a:latin typeface="Century Gothic"/>
              <a:cs typeface="Century Gothic"/>
            </a:endParaRPr>
          </a:p>
          <a:p>
            <a:pPr marL="1122045" lvl="2" indent="-286385">
              <a:lnSpc>
                <a:spcPct val="100000"/>
              </a:lnSpc>
              <a:spcBef>
                <a:spcPts val="580"/>
              </a:spcBef>
              <a:buSzPct val="92857"/>
              <a:buChar char="•"/>
              <a:tabLst>
                <a:tab pos="1121410" algn="l"/>
                <a:tab pos="1122045" algn="l"/>
              </a:tabLst>
            </a:pPr>
            <a:r>
              <a:rPr sz="1600" dirty="0">
                <a:latin typeface="Century Gothic"/>
                <a:cs typeface="Century Gothic"/>
              </a:rPr>
              <a:t>Hardware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threads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bound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to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task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07E6F015-6323-6A9D-1D6E-472AD92F93CD}"/>
              </a:ext>
            </a:extLst>
          </p:cNvPr>
          <p:cNvSpPr/>
          <p:nvPr/>
        </p:nvSpPr>
        <p:spPr>
          <a:xfrm>
            <a:off x="496143" y="4995485"/>
            <a:ext cx="8339229" cy="674370"/>
          </a:xfrm>
          <a:custGeom>
            <a:avLst/>
            <a:gdLst/>
            <a:ahLst/>
            <a:cxnLst/>
            <a:rect l="l" t="t" r="r" b="b"/>
            <a:pathLst>
              <a:path w="6602095" h="674370">
                <a:moveTo>
                  <a:pt x="6601749" y="0"/>
                </a:moveTo>
                <a:lnTo>
                  <a:pt x="0" y="0"/>
                </a:lnTo>
                <a:lnTo>
                  <a:pt x="0" y="674030"/>
                </a:lnTo>
                <a:lnTo>
                  <a:pt x="6601749" y="674030"/>
                </a:lnTo>
                <a:lnTo>
                  <a:pt x="660174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F31FD8E5-3952-63AB-04B0-272FB2801ADF}"/>
              </a:ext>
            </a:extLst>
          </p:cNvPr>
          <p:cNvSpPr txBox="1"/>
          <p:nvPr/>
        </p:nvSpPr>
        <p:spPr>
          <a:xfrm>
            <a:off x="568152" y="5040610"/>
            <a:ext cx="8267221" cy="6168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B050"/>
                </a:solidFill>
                <a:latin typeface="Arial"/>
                <a:cs typeface="Arial"/>
              </a:rPr>
              <a:t>summit-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batch1&gt;</a:t>
            </a:r>
            <a:r>
              <a:rPr sz="1800" b="1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jsrun</a:t>
            </a:r>
            <a:r>
              <a:rPr sz="1800" b="1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–n1</a:t>
            </a:r>
            <a:r>
              <a:rPr sz="1800" b="1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a1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–c2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./jsrun_layout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|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B050"/>
                </a:solidFill>
                <a:latin typeface="Arial"/>
                <a:cs typeface="Arial"/>
              </a:rPr>
              <a:t>sort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MPI</a:t>
            </a:r>
            <a:r>
              <a:rPr sz="18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Rank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000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001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HWThread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8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Node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h41n08,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OMP_threadID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</a:t>
            </a:r>
            <a:r>
              <a:rPr sz="1800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585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MPI</a:t>
            </a:r>
            <a:r>
              <a:rPr sz="18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Rank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000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001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HWThread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8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Node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h41n08,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OMP_threadID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1</a:t>
            </a:r>
            <a:r>
              <a:rPr sz="1800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EE22E413-4817-A6F3-AB8D-70C33EDF860B}"/>
              </a:ext>
            </a:extLst>
          </p:cNvPr>
          <p:cNvSpPr/>
          <p:nvPr/>
        </p:nvSpPr>
        <p:spPr>
          <a:xfrm>
            <a:off x="496144" y="5960088"/>
            <a:ext cx="8339228" cy="674370"/>
          </a:xfrm>
          <a:custGeom>
            <a:avLst/>
            <a:gdLst/>
            <a:ahLst/>
            <a:cxnLst/>
            <a:rect l="l" t="t" r="r" b="b"/>
            <a:pathLst>
              <a:path w="6602095" h="674370">
                <a:moveTo>
                  <a:pt x="6601749" y="0"/>
                </a:moveTo>
                <a:lnTo>
                  <a:pt x="0" y="0"/>
                </a:lnTo>
                <a:lnTo>
                  <a:pt x="0" y="674030"/>
                </a:lnTo>
                <a:lnTo>
                  <a:pt x="6601749" y="674030"/>
                </a:lnTo>
                <a:lnTo>
                  <a:pt x="660174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B592BD43-B9AB-0091-4D47-B57162BE9946}"/>
              </a:ext>
            </a:extLst>
          </p:cNvPr>
          <p:cNvSpPr txBox="1"/>
          <p:nvPr/>
        </p:nvSpPr>
        <p:spPr>
          <a:xfrm>
            <a:off x="568152" y="6007950"/>
            <a:ext cx="8195212" cy="6168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5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B050"/>
                </a:solidFill>
                <a:latin typeface="Arial"/>
                <a:cs typeface="Arial"/>
              </a:rPr>
              <a:t>summit-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batch1&gt;</a:t>
            </a:r>
            <a:r>
              <a:rPr sz="1800" b="1" spc="-4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jsrun</a:t>
            </a:r>
            <a:r>
              <a:rPr sz="1800" b="1" spc="-3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–n1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a1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–c2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u="sng" spc="-1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-</a:t>
            </a:r>
            <a:r>
              <a:rPr sz="1800" b="1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bpacked:2</a:t>
            </a:r>
            <a:r>
              <a:rPr sz="1800" b="1" u="sng" spc="-3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./jsrun_layout</a:t>
            </a:r>
            <a:r>
              <a:rPr sz="1800" b="1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B050"/>
                </a:solidFill>
                <a:latin typeface="Arial"/>
                <a:cs typeface="Arial"/>
              </a:rPr>
              <a:t>|</a:t>
            </a:r>
            <a:r>
              <a:rPr sz="1800" b="1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B050"/>
                </a:solidFill>
                <a:latin typeface="Arial"/>
                <a:cs typeface="Arial"/>
              </a:rPr>
              <a:t>sort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MPI</a:t>
            </a:r>
            <a:r>
              <a:rPr sz="18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Rank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000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001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HWThread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8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Node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h41n08,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OMP_threadID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</a:t>
            </a:r>
            <a:r>
              <a:rPr sz="1800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595"/>
              </a:lnSpc>
            </a:pP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MPI</a:t>
            </a:r>
            <a:r>
              <a:rPr sz="18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Rank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000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001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HWThread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004</a:t>
            </a:r>
            <a:r>
              <a:rPr sz="18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Node</a:t>
            </a:r>
            <a:r>
              <a:rPr sz="18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h41n08,</a:t>
            </a:r>
            <a:r>
              <a:rPr sz="18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OMP_threadID</a:t>
            </a:r>
            <a:r>
              <a:rPr sz="18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1</a:t>
            </a:r>
            <a:r>
              <a:rPr sz="1800" spc="-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B05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B050"/>
                </a:solidFill>
                <a:latin typeface="Arial"/>
                <a:cs typeface="Arial"/>
              </a:rPr>
              <a:t>2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9FA680C4-824C-A56A-97B3-4C78CC874286}"/>
              </a:ext>
            </a:extLst>
          </p:cNvPr>
          <p:cNvSpPr txBox="1"/>
          <p:nvPr/>
        </p:nvSpPr>
        <p:spPr>
          <a:xfrm>
            <a:off x="9898558" y="5006864"/>
            <a:ext cx="2664296" cy="529631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 algn="ctr">
              <a:lnSpc>
                <a:spcPct val="89000"/>
              </a:lnSpc>
              <a:spcBef>
                <a:spcPts val="284"/>
              </a:spcBef>
            </a:pPr>
            <a:r>
              <a:rPr sz="1800" dirty="0">
                <a:latin typeface="Arial"/>
                <a:cs typeface="Arial"/>
              </a:rPr>
              <a:t>Threads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placed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core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10" dirty="0">
                <a:latin typeface="Arial"/>
                <a:cs typeface="Arial"/>
              </a:rPr>
              <a:t> default binding.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5BED9150-E397-FC39-7782-320E5C68432E}"/>
              </a:ext>
            </a:extLst>
          </p:cNvPr>
          <p:cNvSpPr txBox="1"/>
          <p:nvPr/>
        </p:nvSpPr>
        <p:spPr>
          <a:xfrm>
            <a:off x="9898558" y="6069537"/>
            <a:ext cx="2664296" cy="528991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300"/>
              </a:lnSpc>
              <a:spcBef>
                <a:spcPts val="280"/>
              </a:spcBef>
            </a:pPr>
            <a:r>
              <a:rPr sz="1800" dirty="0">
                <a:latin typeface="Arial"/>
                <a:cs typeface="Arial"/>
              </a:rPr>
              <a:t>Use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‘–b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packed:2’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each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rank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cores.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0" name="object 11">
            <a:extLst>
              <a:ext uri="{FF2B5EF4-FFF2-40B4-BE49-F238E27FC236}">
                <a16:creationId xmlns:a16="http://schemas.microsoft.com/office/drawing/2014/main" id="{D30104ED-DD4F-42B4-EC89-9E48B7B03395}"/>
              </a:ext>
            </a:extLst>
          </p:cNvPr>
          <p:cNvGrpSpPr/>
          <p:nvPr/>
        </p:nvGrpSpPr>
        <p:grpSpPr>
          <a:xfrm>
            <a:off x="8641579" y="5245413"/>
            <a:ext cx="1178532" cy="302895"/>
            <a:chOff x="8064500" y="4671164"/>
            <a:chExt cx="939800" cy="302895"/>
          </a:xfrm>
        </p:grpSpPr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9E2E8E48-ECEE-D6AA-5555-E5B607799487}"/>
                </a:ext>
              </a:extLst>
            </p:cNvPr>
            <p:cNvSpPr/>
            <p:nvPr/>
          </p:nvSpPr>
          <p:spPr>
            <a:xfrm>
              <a:off x="8077200" y="4683864"/>
              <a:ext cx="914400" cy="107950"/>
            </a:xfrm>
            <a:custGeom>
              <a:avLst/>
              <a:gdLst/>
              <a:ahLst/>
              <a:cxnLst/>
              <a:rect l="l" t="t" r="r" b="b"/>
              <a:pathLst>
                <a:path w="914400" h="107950">
                  <a:moveTo>
                    <a:pt x="0" y="107385"/>
                  </a:moveTo>
                  <a:lnTo>
                    <a:pt x="914400" y="0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6E825752-FA13-B79E-50CC-357157F3D0AA}"/>
                </a:ext>
              </a:extLst>
            </p:cNvPr>
            <p:cNvSpPr/>
            <p:nvPr/>
          </p:nvSpPr>
          <p:spPr>
            <a:xfrm>
              <a:off x="8077200" y="4697431"/>
              <a:ext cx="914400" cy="264160"/>
            </a:xfrm>
            <a:custGeom>
              <a:avLst/>
              <a:gdLst/>
              <a:ahLst/>
              <a:cxnLst/>
              <a:rect l="l" t="t" r="r" b="b"/>
              <a:pathLst>
                <a:path w="914400" h="264160">
                  <a:moveTo>
                    <a:pt x="0" y="263892"/>
                  </a:moveTo>
                  <a:lnTo>
                    <a:pt x="914400" y="0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4">
            <a:extLst>
              <a:ext uri="{FF2B5EF4-FFF2-40B4-BE49-F238E27FC236}">
                <a16:creationId xmlns:a16="http://schemas.microsoft.com/office/drawing/2014/main" id="{713A5A38-6F7D-7651-2898-70373359162D}"/>
              </a:ext>
            </a:extLst>
          </p:cNvPr>
          <p:cNvGrpSpPr/>
          <p:nvPr/>
        </p:nvGrpSpPr>
        <p:grpSpPr>
          <a:xfrm>
            <a:off x="8657505" y="6239556"/>
            <a:ext cx="1146680" cy="264160"/>
            <a:chOff x="8064500" y="5746284"/>
            <a:chExt cx="767715" cy="195580"/>
          </a:xfrm>
        </p:grpSpPr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B1BD2C51-BD53-6F6F-FE1B-859FCBF3FBF9}"/>
                </a:ext>
              </a:extLst>
            </p:cNvPr>
            <p:cNvSpPr/>
            <p:nvPr/>
          </p:nvSpPr>
          <p:spPr>
            <a:xfrm>
              <a:off x="8077200" y="5758984"/>
              <a:ext cx="742315" cy="170180"/>
            </a:xfrm>
            <a:custGeom>
              <a:avLst/>
              <a:gdLst/>
              <a:ahLst/>
              <a:cxnLst/>
              <a:rect l="l" t="t" r="r" b="b"/>
              <a:pathLst>
                <a:path w="742315" h="170179">
                  <a:moveTo>
                    <a:pt x="0" y="170072"/>
                  </a:moveTo>
                  <a:lnTo>
                    <a:pt x="741889" y="0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3DA75331-66EA-204B-18F8-5193F6AB4324}"/>
                </a:ext>
              </a:extLst>
            </p:cNvPr>
            <p:cNvSpPr/>
            <p:nvPr/>
          </p:nvSpPr>
          <p:spPr>
            <a:xfrm>
              <a:off x="8077200" y="5758985"/>
              <a:ext cx="742315" cy="0"/>
            </a:xfrm>
            <a:custGeom>
              <a:avLst/>
              <a:gdLst/>
              <a:ahLst/>
              <a:cxnLst/>
              <a:rect l="l" t="t" r="r" b="b"/>
              <a:pathLst>
                <a:path w="742315">
                  <a:moveTo>
                    <a:pt x="0" y="0"/>
                  </a:moveTo>
                  <a:lnTo>
                    <a:pt x="741889" y="1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42138992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Viewing jsrun Layout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327478E1-91DE-33EA-5736-D72BD019F0B0}"/>
              </a:ext>
            </a:extLst>
          </p:cNvPr>
          <p:cNvSpPr txBox="1"/>
          <p:nvPr/>
        </p:nvSpPr>
        <p:spPr>
          <a:xfrm>
            <a:off x="859348" y="897919"/>
            <a:ext cx="9573900" cy="1308692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345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000" dirty="0">
                <a:latin typeface="Arial"/>
                <a:cs typeface="Arial"/>
              </a:rPr>
              <a:t>Execute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code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within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interactive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job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view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jsrun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layout</a:t>
            </a:r>
            <a:endParaRPr sz="20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250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000" dirty="0">
                <a:latin typeface="Arial"/>
                <a:cs typeface="Arial"/>
              </a:rPr>
              <a:t>Lab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maintained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example</a:t>
            </a:r>
            <a:r>
              <a:rPr sz="2000" spc="-20" dirty="0">
                <a:latin typeface="Arial"/>
                <a:cs typeface="Arial"/>
              </a:rPr>
              <a:t> code:</a:t>
            </a:r>
            <a:endParaRPr sz="2000" dirty="0">
              <a:latin typeface="Arial"/>
              <a:cs typeface="Arial"/>
            </a:endParaRPr>
          </a:p>
          <a:p>
            <a:pPr marL="415290">
              <a:lnSpc>
                <a:spcPct val="100000"/>
              </a:lnSpc>
              <a:spcBef>
                <a:spcPts val="630"/>
              </a:spcBef>
              <a:tabLst>
                <a:tab pos="701040" algn="l"/>
              </a:tabLst>
            </a:pPr>
            <a:r>
              <a:rPr sz="1600" spc="-50" dirty="0">
                <a:latin typeface="Century Gothic"/>
                <a:cs typeface="Century Gothic"/>
              </a:rPr>
              <a:t>–</a:t>
            </a:r>
            <a:r>
              <a:rPr sz="1600" dirty="0">
                <a:latin typeface="Century Gothic"/>
                <a:cs typeface="Century Gothic"/>
              </a:rPr>
              <a:t>	</a:t>
            </a:r>
            <a:r>
              <a:rPr sz="1800" u="sng" spc="-10" dirty="0">
                <a:solidFill>
                  <a:srgbClr val="397D52"/>
                </a:solidFill>
                <a:uFill>
                  <a:solidFill>
                    <a:srgbClr val="397D52"/>
                  </a:solidFill>
                </a:uFill>
                <a:latin typeface="Arial"/>
                <a:cs typeface="Arial"/>
              </a:rPr>
              <a:t>https://docs.olcf.ornl.gov/systems/summit_user_guide.html#hello-jsrun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8" name="object 4">
            <a:extLst>
              <a:ext uri="{FF2B5EF4-FFF2-40B4-BE49-F238E27FC236}">
                <a16:creationId xmlns:a16="http://schemas.microsoft.com/office/drawing/2014/main" id="{589F4370-290F-7335-7525-6BEC5A17761B}"/>
              </a:ext>
            </a:extLst>
          </p:cNvPr>
          <p:cNvGrpSpPr/>
          <p:nvPr/>
        </p:nvGrpSpPr>
        <p:grpSpPr>
          <a:xfrm>
            <a:off x="859348" y="2473906"/>
            <a:ext cx="7294397" cy="1256030"/>
            <a:chOff x="1719290" y="2473906"/>
            <a:chExt cx="6434455" cy="1256030"/>
          </a:xfrm>
        </p:grpSpPr>
        <p:sp>
          <p:nvSpPr>
            <p:cNvPr id="20" name="object 5">
              <a:extLst>
                <a:ext uri="{FF2B5EF4-FFF2-40B4-BE49-F238E27FC236}">
                  <a16:creationId xmlns:a16="http://schemas.microsoft.com/office/drawing/2014/main" id="{39A8D412-18E5-01A4-A367-E794D6F32250}"/>
                </a:ext>
              </a:extLst>
            </p:cNvPr>
            <p:cNvSpPr/>
            <p:nvPr/>
          </p:nvSpPr>
          <p:spPr>
            <a:xfrm>
              <a:off x="1719290" y="2473906"/>
              <a:ext cx="6434455" cy="1256030"/>
            </a:xfrm>
            <a:custGeom>
              <a:avLst/>
              <a:gdLst/>
              <a:ahLst/>
              <a:cxnLst/>
              <a:rect l="l" t="t" r="r" b="b"/>
              <a:pathLst>
                <a:path w="6434455" h="1256029">
                  <a:moveTo>
                    <a:pt x="6434109" y="0"/>
                  </a:moveTo>
                  <a:lnTo>
                    <a:pt x="0" y="0"/>
                  </a:lnTo>
                  <a:lnTo>
                    <a:pt x="0" y="1255727"/>
                  </a:lnTo>
                  <a:lnTo>
                    <a:pt x="6434109" y="1255727"/>
                  </a:lnTo>
                  <a:lnTo>
                    <a:pt x="6434109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6">
              <a:extLst>
                <a:ext uri="{FF2B5EF4-FFF2-40B4-BE49-F238E27FC236}">
                  <a16:creationId xmlns:a16="http://schemas.microsoft.com/office/drawing/2014/main" id="{8FA180D6-B29F-B78C-2786-189DC153A276}"/>
                </a:ext>
              </a:extLst>
            </p:cNvPr>
            <p:cNvSpPr/>
            <p:nvPr/>
          </p:nvSpPr>
          <p:spPr>
            <a:xfrm>
              <a:off x="4680930" y="3065726"/>
              <a:ext cx="342900" cy="12700"/>
            </a:xfrm>
            <a:custGeom>
              <a:avLst/>
              <a:gdLst/>
              <a:ahLst/>
              <a:cxnLst/>
              <a:rect l="l" t="t" r="r" b="b"/>
              <a:pathLst>
                <a:path w="342900" h="12700">
                  <a:moveTo>
                    <a:pt x="342898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42898" y="12700"/>
                  </a:lnTo>
                  <a:lnTo>
                    <a:pt x="342898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7">
            <a:extLst>
              <a:ext uri="{FF2B5EF4-FFF2-40B4-BE49-F238E27FC236}">
                <a16:creationId xmlns:a16="http://schemas.microsoft.com/office/drawing/2014/main" id="{4BF4E08E-C302-078F-D0D5-6E0FE7461E48}"/>
              </a:ext>
            </a:extLst>
          </p:cNvPr>
          <p:cNvSpPr txBox="1"/>
          <p:nvPr/>
        </p:nvSpPr>
        <p:spPr>
          <a:xfrm>
            <a:off x="928192" y="2482596"/>
            <a:ext cx="7140463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5"/>
              </a:lnSpc>
              <a:spcBef>
                <a:spcPts val="100"/>
              </a:spcBef>
            </a:pPr>
            <a:r>
              <a:rPr lang="en-US" altLang="zh-CN" sz="1600" b="1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batch1&gt;</a:t>
            </a:r>
            <a:r>
              <a:rPr lang="en-US" altLang="zh-CN" sz="1600" b="1" spc="-4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 err="1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lang="en-US" altLang="zh-CN" sz="1600" b="1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–n2</a:t>
            </a:r>
            <a:r>
              <a:rPr lang="en-US" altLang="zh-CN"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a2</a:t>
            </a:r>
            <a:r>
              <a:rPr lang="en-US" altLang="zh-CN" sz="1600" b="1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–d</a:t>
            </a:r>
            <a:r>
              <a:rPr lang="en-US" altLang="zh-CN"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cyclic</a:t>
            </a:r>
            <a:r>
              <a:rPr lang="en-US" altLang="zh-CN"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./</a:t>
            </a:r>
            <a:r>
              <a:rPr lang="en-US" altLang="zh-CN" sz="1600" b="1" dirty="0" err="1">
                <a:solidFill>
                  <a:srgbClr val="8FBB55"/>
                </a:solidFill>
                <a:latin typeface="Arial"/>
                <a:cs typeface="Arial"/>
              </a:rPr>
              <a:t>jsrun_layout</a:t>
            </a:r>
            <a:r>
              <a:rPr lang="en-US" altLang="zh-CN"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8FBB55"/>
                </a:solidFill>
                <a:latin typeface="Arial"/>
                <a:cs typeface="Arial"/>
              </a:rPr>
              <a:t>|</a:t>
            </a:r>
            <a:r>
              <a:rPr lang="en-US" altLang="zh-CN"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b="1" spc="-20" dirty="0">
                <a:solidFill>
                  <a:srgbClr val="8FBB55"/>
                </a:solidFill>
                <a:latin typeface="Arial"/>
                <a:cs typeface="Arial"/>
              </a:rPr>
              <a:t>sort</a:t>
            </a:r>
            <a:endParaRPr lang="en-US" altLang="zh-CN" sz="1600" dirty="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...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Warning: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more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than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task/rank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assigned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core</a:t>
            </a:r>
            <a:endParaRPr lang="en-US" altLang="zh-CN" sz="1600" dirty="0">
              <a:latin typeface="Arial"/>
              <a:cs typeface="Arial"/>
            </a:endParaRPr>
          </a:p>
          <a:p>
            <a:pPr marL="12700">
              <a:lnSpc>
                <a:spcPts val="1595"/>
              </a:lnSpc>
            </a:pP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lang="en-US" altLang="zh-CN" sz="16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0070C0"/>
                </a:solidFill>
                <a:latin typeface="Arial"/>
                <a:cs typeface="Arial"/>
              </a:rPr>
              <a:t>000</a:t>
            </a:r>
            <a:r>
              <a:rPr lang="en-US" altLang="zh-CN" sz="16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lang="en-US" altLang="zh-CN" sz="1600" dirty="0">
              <a:latin typeface="Arial"/>
              <a:cs typeface="Arial"/>
            </a:endParaRPr>
          </a:p>
          <a:p>
            <a:pPr marL="12700">
              <a:lnSpc>
                <a:spcPts val="1595"/>
              </a:lnSpc>
              <a:spcBef>
                <a:spcPts val="100"/>
              </a:spcBef>
            </a:pP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001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lang="en-US" altLang="zh-CN" sz="1600" dirty="0">
              <a:latin typeface="Arial"/>
              <a:cs typeface="Arial"/>
            </a:endParaRPr>
          </a:p>
          <a:p>
            <a:pPr marL="12700">
              <a:lnSpc>
                <a:spcPts val="1550"/>
              </a:lnSpc>
            </a:pP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002</a:t>
            </a:r>
            <a:r>
              <a:rPr lang="en-US" altLang="zh-CN" sz="16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lang="en-US" altLang="zh-CN" sz="1600" u="sng" spc="-2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lang="en-US" altLang="zh-CN" sz="1600" dirty="0">
              <a:latin typeface="Arial"/>
              <a:cs typeface="Arial"/>
            </a:endParaRPr>
          </a:p>
          <a:p>
            <a:pPr marL="12700">
              <a:lnSpc>
                <a:spcPts val="1630"/>
              </a:lnSpc>
            </a:pP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003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lang="en-US" altLang="zh-CN" sz="1600" dirty="0">
              <a:latin typeface="Arial"/>
              <a:cs typeface="Arial"/>
            </a:endParaRPr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10BD1D77-4404-D522-DC86-FF2DEC66E0CD}"/>
              </a:ext>
            </a:extLst>
          </p:cNvPr>
          <p:cNvSpPr/>
          <p:nvPr/>
        </p:nvSpPr>
        <p:spPr>
          <a:xfrm>
            <a:off x="855540" y="3975962"/>
            <a:ext cx="7294396" cy="1062355"/>
          </a:xfrm>
          <a:custGeom>
            <a:avLst/>
            <a:gdLst/>
            <a:ahLst/>
            <a:cxnLst/>
            <a:rect l="l" t="t" r="r" b="b"/>
            <a:pathLst>
              <a:path w="6467475" h="1062354">
                <a:moveTo>
                  <a:pt x="6467129" y="0"/>
                </a:moveTo>
                <a:lnTo>
                  <a:pt x="0" y="0"/>
                </a:lnTo>
                <a:lnTo>
                  <a:pt x="0" y="1061827"/>
                </a:lnTo>
                <a:lnTo>
                  <a:pt x="6467129" y="1061827"/>
                </a:lnTo>
                <a:lnTo>
                  <a:pt x="646712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B632B6B7-E004-1324-E040-73D20F7068D9}"/>
              </a:ext>
            </a:extLst>
          </p:cNvPr>
          <p:cNvSpPr txBox="1"/>
          <p:nvPr/>
        </p:nvSpPr>
        <p:spPr>
          <a:xfrm>
            <a:off x="859348" y="3975962"/>
            <a:ext cx="7290587" cy="1006686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90805">
              <a:lnSpc>
                <a:spcPts val="1595"/>
              </a:lnSpc>
              <a:spcBef>
                <a:spcPts val="150"/>
              </a:spcBef>
            </a:pPr>
            <a:r>
              <a:rPr sz="1600" b="1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batch1&gt;</a:t>
            </a:r>
            <a:r>
              <a:rPr sz="1600" b="1" spc="-3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600" b="1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–n2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a2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u="sng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–c2</a:t>
            </a:r>
            <a:r>
              <a:rPr sz="1600" b="1" spc="-2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d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cyclic</a:t>
            </a:r>
            <a:r>
              <a:rPr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./jsrun_layout</a:t>
            </a:r>
            <a:r>
              <a:rPr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|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 sort</a:t>
            </a:r>
            <a:endParaRPr sz="1600" dirty="0">
              <a:latin typeface="Arial"/>
              <a:cs typeface="Arial"/>
            </a:endParaRPr>
          </a:p>
          <a:p>
            <a:pPr marL="90805">
              <a:lnSpc>
                <a:spcPts val="1500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6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600" u="sng" spc="-2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90805">
              <a:lnSpc>
                <a:spcPts val="1500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001</a:t>
            </a:r>
            <a:r>
              <a:rPr sz="16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008</a:t>
            </a:r>
            <a:r>
              <a:rPr sz="1600" u="sng" spc="-2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90805">
              <a:lnSpc>
                <a:spcPts val="1500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002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90805">
              <a:lnSpc>
                <a:spcPts val="1585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003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012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0935ABFC-E426-18AA-5EF0-B06628685316}"/>
              </a:ext>
            </a:extLst>
          </p:cNvPr>
          <p:cNvSpPr/>
          <p:nvPr/>
        </p:nvSpPr>
        <p:spPr>
          <a:xfrm>
            <a:off x="855540" y="5431081"/>
            <a:ext cx="7298205" cy="1062355"/>
          </a:xfrm>
          <a:custGeom>
            <a:avLst/>
            <a:gdLst/>
            <a:ahLst/>
            <a:cxnLst/>
            <a:rect l="l" t="t" r="r" b="b"/>
            <a:pathLst>
              <a:path w="6471284" h="1062354">
                <a:moveTo>
                  <a:pt x="6470939" y="0"/>
                </a:moveTo>
                <a:lnTo>
                  <a:pt x="0" y="0"/>
                </a:lnTo>
                <a:lnTo>
                  <a:pt x="0" y="1061828"/>
                </a:lnTo>
                <a:lnTo>
                  <a:pt x="6470939" y="1061828"/>
                </a:lnTo>
                <a:lnTo>
                  <a:pt x="6470939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6AFADE60-3306-E706-7E8B-2B0A210CFD28}"/>
              </a:ext>
            </a:extLst>
          </p:cNvPr>
          <p:cNvSpPr txBox="1"/>
          <p:nvPr/>
        </p:nvSpPr>
        <p:spPr>
          <a:xfrm>
            <a:off x="855540" y="5439155"/>
            <a:ext cx="717755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5"/>
              </a:lnSpc>
              <a:spcBef>
                <a:spcPts val="100"/>
              </a:spcBef>
            </a:pPr>
            <a:r>
              <a:rPr sz="1600" b="1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batch1&gt;</a:t>
            </a:r>
            <a:r>
              <a:rPr sz="1600" b="1" spc="-4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600" b="1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–n2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a2</a:t>
            </a:r>
            <a:r>
              <a:rPr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–c2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–d</a:t>
            </a:r>
            <a:r>
              <a:rPr sz="1600" b="1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packed</a:t>
            </a:r>
            <a:r>
              <a:rPr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./jsrun_layout</a:t>
            </a:r>
            <a:r>
              <a:rPr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8FBB55"/>
                </a:solidFill>
                <a:latin typeface="Arial"/>
                <a:cs typeface="Arial"/>
              </a:rPr>
              <a:t>|</a:t>
            </a:r>
            <a:r>
              <a:rPr sz="1600" b="1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8FBB55"/>
                </a:solidFill>
                <a:latin typeface="Arial"/>
                <a:cs typeface="Arial"/>
              </a:rPr>
              <a:t>sort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6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000</a:t>
            </a:r>
            <a:r>
              <a:rPr sz="1600" u="sng" spc="-2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001</a:t>
            </a:r>
            <a:r>
              <a:rPr sz="16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004</a:t>
            </a:r>
            <a:r>
              <a:rPr sz="1600" u="sng" spc="-20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ts val="1500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002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008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ts val="1595"/>
              </a:lnSpc>
            </a:pP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MPI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Rank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003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004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HWThread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012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Node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h41n08,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OMP_threadID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of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8" name="object 13">
            <a:extLst>
              <a:ext uri="{FF2B5EF4-FFF2-40B4-BE49-F238E27FC236}">
                <a16:creationId xmlns:a16="http://schemas.microsoft.com/office/drawing/2014/main" id="{C28A7D42-50D4-2201-457E-29E9BBB00512}"/>
              </a:ext>
            </a:extLst>
          </p:cNvPr>
          <p:cNvSpPr txBox="1"/>
          <p:nvPr/>
        </p:nvSpPr>
        <p:spPr>
          <a:xfrm>
            <a:off x="8908220" y="2491740"/>
            <a:ext cx="3110824" cy="5837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-635" algn="ctr">
              <a:lnSpc>
                <a:spcPct val="89300"/>
              </a:lnSpc>
              <a:spcBef>
                <a:spcPts val="280"/>
              </a:spcBef>
            </a:pPr>
            <a:r>
              <a:rPr sz="2000" dirty="0">
                <a:latin typeface="Arial"/>
                <a:cs typeface="Arial"/>
              </a:rPr>
              <a:t>Without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–c</a:t>
            </a:r>
            <a:r>
              <a:rPr sz="2000" spc="3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multiple </a:t>
            </a:r>
            <a:r>
              <a:rPr sz="2000" dirty="0">
                <a:latin typeface="Arial"/>
                <a:cs typeface="Arial"/>
              </a:rPr>
              <a:t>ranks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placed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on </a:t>
            </a:r>
            <a:r>
              <a:rPr sz="2000" dirty="0">
                <a:latin typeface="Arial"/>
                <a:cs typeface="Arial"/>
              </a:rPr>
              <a:t>single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core.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9" name="object 14">
            <a:extLst>
              <a:ext uri="{FF2B5EF4-FFF2-40B4-BE49-F238E27FC236}">
                <a16:creationId xmlns:a16="http://schemas.microsoft.com/office/drawing/2014/main" id="{EF925DE9-844D-F04D-6E6B-CAE2485BACC4}"/>
              </a:ext>
            </a:extLst>
          </p:cNvPr>
          <p:cNvSpPr txBox="1"/>
          <p:nvPr/>
        </p:nvSpPr>
        <p:spPr>
          <a:xfrm>
            <a:off x="8900318" y="3534155"/>
            <a:ext cx="3261122" cy="5837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300"/>
              </a:lnSpc>
              <a:spcBef>
                <a:spcPts val="280"/>
              </a:spcBef>
            </a:pPr>
            <a:r>
              <a:rPr sz="2000" dirty="0">
                <a:latin typeface="Arial"/>
                <a:cs typeface="Arial"/>
              </a:rPr>
              <a:t>Adding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cores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RS </a:t>
            </a:r>
            <a:r>
              <a:rPr sz="2000" dirty="0">
                <a:latin typeface="Arial"/>
                <a:cs typeface="Arial"/>
              </a:rPr>
              <a:t>provides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for </a:t>
            </a:r>
            <a:r>
              <a:rPr sz="2000" dirty="0">
                <a:latin typeface="Arial"/>
                <a:cs typeface="Arial"/>
              </a:rPr>
              <a:t>each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rank.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E67ABF36-048E-36E7-F013-72816C630718}"/>
              </a:ext>
            </a:extLst>
          </p:cNvPr>
          <p:cNvSpPr txBox="1"/>
          <p:nvPr/>
        </p:nvSpPr>
        <p:spPr>
          <a:xfrm>
            <a:off x="8358678" y="5706400"/>
            <a:ext cx="4209907" cy="58439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 marR="5080" algn="ctr">
              <a:lnSpc>
                <a:spcPct val="89000"/>
              </a:lnSpc>
              <a:spcBef>
                <a:spcPts val="284"/>
              </a:spcBef>
            </a:pPr>
            <a:r>
              <a:rPr sz="2000" dirty="0">
                <a:latin typeface="Arial"/>
                <a:cs typeface="Arial"/>
              </a:rPr>
              <a:t>Changing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distribution </a:t>
            </a:r>
            <a:r>
              <a:rPr sz="2000" dirty="0">
                <a:latin typeface="Arial"/>
                <a:cs typeface="Arial"/>
              </a:rPr>
              <a:t>order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packed </a:t>
            </a:r>
            <a:r>
              <a:rPr sz="2000" dirty="0">
                <a:latin typeface="Arial"/>
                <a:cs typeface="Arial"/>
              </a:rPr>
              <a:t>changes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rank </a:t>
            </a:r>
            <a:r>
              <a:rPr sz="2000" spc="-10" dirty="0">
                <a:latin typeface="Arial"/>
                <a:cs typeface="Arial"/>
              </a:rPr>
              <a:t>placement.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2" name="object 16">
            <a:extLst>
              <a:ext uri="{FF2B5EF4-FFF2-40B4-BE49-F238E27FC236}">
                <a16:creationId xmlns:a16="http://schemas.microsoft.com/office/drawing/2014/main" id="{A92F36B2-D1E3-5695-8BAF-284A673640CF}"/>
              </a:ext>
            </a:extLst>
          </p:cNvPr>
          <p:cNvSpPr txBox="1"/>
          <p:nvPr/>
        </p:nvSpPr>
        <p:spPr>
          <a:xfrm>
            <a:off x="8679178" y="4604004"/>
            <a:ext cx="3538882" cy="5837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-635" algn="ctr">
              <a:lnSpc>
                <a:spcPct val="89300"/>
              </a:lnSpc>
              <a:spcBef>
                <a:spcPts val="280"/>
              </a:spcBef>
            </a:pPr>
            <a:r>
              <a:rPr sz="2000" dirty="0">
                <a:latin typeface="Arial"/>
                <a:cs typeface="Arial"/>
              </a:rPr>
              <a:t>Notice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default</a:t>
            </a:r>
            <a:r>
              <a:rPr sz="2000" spc="-20" dirty="0">
                <a:latin typeface="Arial"/>
                <a:cs typeface="Arial"/>
              </a:rPr>
              <a:t> rank </a:t>
            </a:r>
            <a:r>
              <a:rPr sz="2000" dirty="0">
                <a:latin typeface="Arial"/>
                <a:cs typeface="Arial"/>
              </a:rPr>
              <a:t>placement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order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cycles </a:t>
            </a:r>
            <a:r>
              <a:rPr sz="2000" dirty="0">
                <a:latin typeface="Arial"/>
                <a:cs typeface="Arial"/>
              </a:rPr>
              <a:t>between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RS.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33" name="object 17">
            <a:extLst>
              <a:ext uri="{FF2B5EF4-FFF2-40B4-BE49-F238E27FC236}">
                <a16:creationId xmlns:a16="http://schemas.microsoft.com/office/drawing/2014/main" id="{9B4A2E21-4C0F-1DB9-371F-E812E6F4A679}"/>
              </a:ext>
            </a:extLst>
          </p:cNvPr>
          <p:cNvGrpSpPr/>
          <p:nvPr/>
        </p:nvGrpSpPr>
        <p:grpSpPr>
          <a:xfrm>
            <a:off x="4669974" y="2729997"/>
            <a:ext cx="4153155" cy="629920"/>
            <a:chOff x="5016500" y="2732622"/>
            <a:chExt cx="3683000" cy="629920"/>
          </a:xfrm>
        </p:grpSpPr>
        <p:sp>
          <p:nvSpPr>
            <p:cNvPr id="34" name="object 18">
              <a:extLst>
                <a:ext uri="{FF2B5EF4-FFF2-40B4-BE49-F238E27FC236}">
                  <a16:creationId xmlns:a16="http://schemas.microsoft.com/office/drawing/2014/main" id="{5427135B-F507-FA4B-2108-49AAD7C35AA8}"/>
                </a:ext>
              </a:extLst>
            </p:cNvPr>
            <p:cNvSpPr/>
            <p:nvPr/>
          </p:nvSpPr>
          <p:spPr>
            <a:xfrm>
              <a:off x="5029200" y="2753866"/>
              <a:ext cx="3657600" cy="216535"/>
            </a:xfrm>
            <a:custGeom>
              <a:avLst/>
              <a:gdLst/>
              <a:ahLst/>
              <a:cxnLst/>
              <a:rect l="l" t="t" r="r" b="b"/>
              <a:pathLst>
                <a:path w="3657600" h="216535">
                  <a:moveTo>
                    <a:pt x="0" y="216177"/>
                  </a:moveTo>
                  <a:lnTo>
                    <a:pt x="3657600" y="0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9">
              <a:extLst>
                <a:ext uri="{FF2B5EF4-FFF2-40B4-BE49-F238E27FC236}">
                  <a16:creationId xmlns:a16="http://schemas.microsoft.com/office/drawing/2014/main" id="{6E8E63C9-7ADB-8B2E-D149-1964912E6DA3}"/>
                </a:ext>
              </a:extLst>
            </p:cNvPr>
            <p:cNvSpPr/>
            <p:nvPr/>
          </p:nvSpPr>
          <p:spPr>
            <a:xfrm>
              <a:off x="5029200" y="2745322"/>
              <a:ext cx="3657600" cy="604520"/>
            </a:xfrm>
            <a:custGeom>
              <a:avLst/>
              <a:gdLst/>
              <a:ahLst/>
              <a:cxnLst/>
              <a:rect l="l" t="t" r="r" b="b"/>
              <a:pathLst>
                <a:path w="3657600" h="604520">
                  <a:moveTo>
                    <a:pt x="0" y="604516"/>
                  </a:moveTo>
                  <a:lnTo>
                    <a:pt x="3657600" y="0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20">
            <a:extLst>
              <a:ext uri="{FF2B5EF4-FFF2-40B4-BE49-F238E27FC236}">
                <a16:creationId xmlns:a16="http://schemas.microsoft.com/office/drawing/2014/main" id="{9E2E7704-D03D-BC02-2DB8-25532CD5B0C5}"/>
              </a:ext>
            </a:extLst>
          </p:cNvPr>
          <p:cNvGrpSpPr/>
          <p:nvPr/>
        </p:nvGrpSpPr>
        <p:grpSpPr>
          <a:xfrm>
            <a:off x="4059646" y="3851059"/>
            <a:ext cx="4698113" cy="1094105"/>
            <a:chOff x="4483100" y="3851925"/>
            <a:chExt cx="4203700" cy="1094105"/>
          </a:xfrm>
        </p:grpSpPr>
        <p:sp>
          <p:nvSpPr>
            <p:cNvPr id="37" name="object 21">
              <a:extLst>
                <a:ext uri="{FF2B5EF4-FFF2-40B4-BE49-F238E27FC236}">
                  <a16:creationId xmlns:a16="http://schemas.microsoft.com/office/drawing/2014/main" id="{CCC13ABE-1123-012F-6FDA-2EA3710E35CD}"/>
                </a:ext>
              </a:extLst>
            </p:cNvPr>
            <p:cNvSpPr/>
            <p:nvPr/>
          </p:nvSpPr>
          <p:spPr>
            <a:xfrm>
              <a:off x="4495800" y="3864625"/>
              <a:ext cx="0" cy="111760"/>
            </a:xfrm>
            <a:custGeom>
              <a:avLst/>
              <a:gdLst/>
              <a:ahLst/>
              <a:cxnLst/>
              <a:rect l="l" t="t" r="r" b="b"/>
              <a:pathLst>
                <a:path h="111760">
                  <a:moveTo>
                    <a:pt x="0" y="111336"/>
                  </a:moveTo>
                  <a:lnTo>
                    <a:pt x="1" y="0"/>
                  </a:lnTo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22">
              <a:extLst>
                <a:ext uri="{FF2B5EF4-FFF2-40B4-BE49-F238E27FC236}">
                  <a16:creationId xmlns:a16="http://schemas.microsoft.com/office/drawing/2014/main" id="{E810062A-3C96-7862-6750-04BCDA8F8B05}"/>
                </a:ext>
              </a:extLst>
            </p:cNvPr>
            <p:cNvSpPr/>
            <p:nvPr/>
          </p:nvSpPr>
          <p:spPr>
            <a:xfrm>
              <a:off x="4495800" y="3864625"/>
              <a:ext cx="4191000" cy="0"/>
            </a:xfrm>
            <a:custGeom>
              <a:avLst/>
              <a:gdLst/>
              <a:ahLst/>
              <a:cxnLst/>
              <a:rect l="l" t="t" r="r" b="b"/>
              <a:pathLst>
                <a:path w="4191000">
                  <a:moveTo>
                    <a:pt x="0" y="0"/>
                  </a:moveTo>
                  <a:lnTo>
                    <a:pt x="4191000" y="1"/>
                  </a:lnTo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3">
              <a:extLst>
                <a:ext uri="{FF2B5EF4-FFF2-40B4-BE49-F238E27FC236}">
                  <a16:creationId xmlns:a16="http://schemas.microsoft.com/office/drawing/2014/main" id="{CAA66D60-D5F3-8559-B703-5D4156C4AD41}"/>
                </a:ext>
              </a:extLst>
            </p:cNvPr>
            <p:cNvSpPr/>
            <p:nvPr/>
          </p:nvSpPr>
          <p:spPr>
            <a:xfrm>
              <a:off x="5029200" y="4312977"/>
              <a:ext cx="3509010" cy="620395"/>
            </a:xfrm>
            <a:custGeom>
              <a:avLst/>
              <a:gdLst/>
              <a:ahLst/>
              <a:cxnLst/>
              <a:rect l="l" t="t" r="r" b="b"/>
              <a:pathLst>
                <a:path w="3509009" h="620395">
                  <a:moveTo>
                    <a:pt x="0" y="0"/>
                  </a:moveTo>
                  <a:lnTo>
                    <a:pt x="3509010" y="620242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4">
              <a:extLst>
                <a:ext uri="{FF2B5EF4-FFF2-40B4-BE49-F238E27FC236}">
                  <a16:creationId xmlns:a16="http://schemas.microsoft.com/office/drawing/2014/main" id="{1867818B-2186-5E3E-80A9-A317B69EDCA0}"/>
                </a:ext>
              </a:extLst>
            </p:cNvPr>
            <p:cNvSpPr/>
            <p:nvPr/>
          </p:nvSpPr>
          <p:spPr>
            <a:xfrm>
              <a:off x="5029200" y="4506874"/>
              <a:ext cx="3509010" cy="426720"/>
            </a:xfrm>
            <a:custGeom>
              <a:avLst/>
              <a:gdLst/>
              <a:ahLst/>
              <a:cxnLst/>
              <a:rect l="l" t="t" r="r" b="b"/>
              <a:pathLst>
                <a:path w="3509009" h="426720">
                  <a:moveTo>
                    <a:pt x="0" y="0"/>
                  </a:moveTo>
                  <a:lnTo>
                    <a:pt x="3509010" y="426344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25">
            <a:extLst>
              <a:ext uri="{FF2B5EF4-FFF2-40B4-BE49-F238E27FC236}">
                <a16:creationId xmlns:a16="http://schemas.microsoft.com/office/drawing/2014/main" id="{79EF5472-35C5-2FF5-1A5F-CAE0D6991D0B}"/>
              </a:ext>
            </a:extLst>
          </p:cNvPr>
          <p:cNvGrpSpPr/>
          <p:nvPr/>
        </p:nvGrpSpPr>
        <p:grpSpPr>
          <a:xfrm>
            <a:off x="4744616" y="5763395"/>
            <a:ext cx="3892494" cy="404495"/>
            <a:chOff x="5016500" y="5774317"/>
            <a:chExt cx="3534410" cy="404495"/>
          </a:xfrm>
        </p:grpSpPr>
        <p:sp>
          <p:nvSpPr>
            <p:cNvPr id="42" name="object 26">
              <a:extLst>
                <a:ext uri="{FF2B5EF4-FFF2-40B4-BE49-F238E27FC236}">
                  <a16:creationId xmlns:a16="http://schemas.microsoft.com/office/drawing/2014/main" id="{1475C7DC-5E29-C015-D5C9-CDCF3E164099}"/>
                </a:ext>
              </a:extLst>
            </p:cNvPr>
            <p:cNvSpPr/>
            <p:nvPr/>
          </p:nvSpPr>
          <p:spPr>
            <a:xfrm>
              <a:off x="5029200" y="5787017"/>
              <a:ext cx="3509010" cy="379095"/>
            </a:xfrm>
            <a:custGeom>
              <a:avLst/>
              <a:gdLst/>
              <a:ahLst/>
              <a:cxnLst/>
              <a:rect l="l" t="t" r="r" b="b"/>
              <a:pathLst>
                <a:path w="3509009" h="379095">
                  <a:moveTo>
                    <a:pt x="0" y="0"/>
                  </a:moveTo>
                  <a:lnTo>
                    <a:pt x="3509010" y="378982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27">
              <a:extLst>
                <a:ext uri="{FF2B5EF4-FFF2-40B4-BE49-F238E27FC236}">
                  <a16:creationId xmlns:a16="http://schemas.microsoft.com/office/drawing/2014/main" id="{80F7DCE7-B101-230C-2AB4-1C84AF23772E}"/>
                </a:ext>
              </a:extLst>
            </p:cNvPr>
            <p:cNvSpPr/>
            <p:nvPr/>
          </p:nvSpPr>
          <p:spPr>
            <a:xfrm>
              <a:off x="5029200" y="5965642"/>
              <a:ext cx="3509010" cy="200660"/>
            </a:xfrm>
            <a:custGeom>
              <a:avLst/>
              <a:gdLst/>
              <a:ahLst/>
              <a:cxnLst/>
              <a:rect l="l" t="t" r="r" b="b"/>
              <a:pathLst>
                <a:path w="3509009" h="200660">
                  <a:moveTo>
                    <a:pt x="0" y="0"/>
                  </a:moveTo>
                  <a:lnTo>
                    <a:pt x="3509010" y="200357"/>
                  </a:lnTo>
                </a:path>
              </a:pathLst>
            </a:custGeom>
            <a:ln w="25400">
              <a:solidFill>
                <a:srgbClr val="3BA2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945226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Viewing jsrun Layout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327478E1-91DE-33EA-5736-D72BD019F0B0}"/>
              </a:ext>
            </a:extLst>
          </p:cNvPr>
          <p:cNvSpPr txBox="1"/>
          <p:nvPr/>
        </p:nvSpPr>
        <p:spPr>
          <a:xfrm>
            <a:off x="859348" y="897919"/>
            <a:ext cx="9573900" cy="954749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345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lang="en-US" sz="2000" b="1" i="1" dirty="0" err="1">
                <a:latin typeface="Arial"/>
                <a:cs typeface="Arial"/>
              </a:rPr>
              <a:t>js_task_info</a:t>
            </a:r>
            <a:r>
              <a:rPr lang="en-US" sz="2000" dirty="0">
                <a:latin typeface="Arial"/>
                <a:cs typeface="Arial"/>
              </a:rPr>
              <a:t>: binary provided by jsrun developers</a:t>
            </a:r>
          </a:p>
          <a:p>
            <a:pPr marL="300355" indent="-287655">
              <a:lnSpc>
                <a:spcPct val="100000"/>
              </a:lnSpc>
              <a:spcBef>
                <a:spcPts val="1345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lang="en-US" sz="2000" dirty="0">
                <a:latin typeface="Arial"/>
                <a:cs typeface="Arial"/>
              </a:rPr>
              <a:t>Examples ran with default SMT4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389F5605-7F1A-A65B-8346-EF2B1603D0DD}"/>
              </a:ext>
            </a:extLst>
          </p:cNvPr>
          <p:cNvSpPr/>
          <p:nvPr/>
        </p:nvSpPr>
        <p:spPr>
          <a:xfrm>
            <a:off x="424137" y="1964597"/>
            <a:ext cx="11017224" cy="1062355"/>
          </a:xfrm>
          <a:custGeom>
            <a:avLst/>
            <a:gdLst/>
            <a:ahLst/>
            <a:cxnLst/>
            <a:rect l="l" t="t" r="r" b="b"/>
            <a:pathLst>
              <a:path w="9817100" h="1062355">
                <a:moveTo>
                  <a:pt x="9817034" y="0"/>
                </a:moveTo>
                <a:lnTo>
                  <a:pt x="0" y="0"/>
                </a:lnTo>
                <a:lnTo>
                  <a:pt x="0" y="1061827"/>
                </a:lnTo>
                <a:lnTo>
                  <a:pt x="9817034" y="1061827"/>
                </a:lnTo>
                <a:lnTo>
                  <a:pt x="9817034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E4C47149-DD4F-6529-6A62-60C6E09385FF}"/>
              </a:ext>
            </a:extLst>
          </p:cNvPr>
          <p:cNvSpPr txBox="1"/>
          <p:nvPr/>
        </p:nvSpPr>
        <p:spPr>
          <a:xfrm>
            <a:off x="450507" y="1973579"/>
            <a:ext cx="11134869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5"/>
              </a:lnSpc>
              <a:spcBef>
                <a:spcPts val="100"/>
              </a:spcBef>
            </a:pP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batch1&gt;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n1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a4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bpacked:1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dpacked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js_task_info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|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sort</a:t>
            </a: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95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0-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3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OMP_PLACES={0:4}</a:t>
            </a:r>
            <a:endParaRPr lang="en-US" sz="1600" spc="-10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95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4-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7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OMP_PLACES={4:4}</a:t>
            </a:r>
            <a:endParaRPr lang="en-US" sz="1600" spc="-10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95"/>
              </a:spcBef>
            </a:pPr>
            <a:r>
              <a:rPr lang="en-US" altLang="zh-CN"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2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2/4,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2/4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cpu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[s]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8-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11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OMP_PLACES={8:4}</a:t>
            </a:r>
          </a:p>
          <a:p>
            <a:pPr marL="12700" marR="5080">
              <a:lnSpc>
                <a:spcPts val="1510"/>
              </a:lnSpc>
              <a:spcBef>
                <a:spcPts val="95"/>
              </a:spcBef>
            </a:pPr>
            <a:r>
              <a:rPr lang="en-US" altLang="zh-CN"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3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3/4,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3/4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cpu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[s]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12-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15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OMP_PLACES={12:4}</a:t>
            </a:r>
            <a:endParaRPr lang="en-US" altLang="zh-CN" sz="1600" dirty="0">
              <a:latin typeface="Arial"/>
              <a:cs typeface="Arial"/>
            </a:endParaRPr>
          </a:p>
          <a:p>
            <a:pPr marL="12700" marR="5080">
              <a:lnSpc>
                <a:spcPts val="1510"/>
              </a:lnSpc>
              <a:spcBef>
                <a:spcPts val="95"/>
              </a:spcBef>
            </a:pP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749F4C91-16B4-0E25-6C90-74C1F37C0CB4}"/>
              </a:ext>
            </a:extLst>
          </p:cNvPr>
          <p:cNvSpPr txBox="1"/>
          <p:nvPr/>
        </p:nvSpPr>
        <p:spPr>
          <a:xfrm>
            <a:off x="745782" y="2543555"/>
            <a:ext cx="9608185" cy="22955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DC656A6F-697A-8E9E-CA03-7581AB42A722}"/>
              </a:ext>
            </a:extLst>
          </p:cNvPr>
          <p:cNvSpPr/>
          <p:nvPr/>
        </p:nvSpPr>
        <p:spPr>
          <a:xfrm>
            <a:off x="424134" y="3548865"/>
            <a:ext cx="11017224" cy="1062355"/>
          </a:xfrm>
          <a:custGeom>
            <a:avLst/>
            <a:gdLst/>
            <a:ahLst/>
            <a:cxnLst/>
            <a:rect l="l" t="t" r="r" b="b"/>
            <a:pathLst>
              <a:path w="9817100" h="1062354">
                <a:moveTo>
                  <a:pt x="9817034" y="0"/>
                </a:moveTo>
                <a:lnTo>
                  <a:pt x="0" y="0"/>
                </a:lnTo>
                <a:lnTo>
                  <a:pt x="0" y="1061827"/>
                </a:lnTo>
                <a:lnTo>
                  <a:pt x="9817034" y="1061827"/>
                </a:lnTo>
                <a:lnTo>
                  <a:pt x="9817034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C97DB2AD-5DAD-4065-3160-831730BB0106}"/>
              </a:ext>
            </a:extLst>
          </p:cNvPr>
          <p:cNvSpPr txBox="1"/>
          <p:nvPr/>
        </p:nvSpPr>
        <p:spPr>
          <a:xfrm>
            <a:off x="424137" y="3528366"/>
            <a:ext cx="11017224" cy="10387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100"/>
              </a:spcBef>
            </a:pP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batch1&gt;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n1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bpacked:smt:4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dpacked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js_task_info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|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sort</a:t>
            </a: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ts val="1490"/>
              </a:lnSpc>
              <a:spcBef>
                <a:spcPts val="125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0-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3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OMP_PLACES={0:4}</a:t>
            </a:r>
            <a:endParaRPr lang="en-US" sz="1600" spc="-10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>
              <a:lnSpc>
                <a:spcPts val="1490"/>
              </a:lnSpc>
              <a:spcBef>
                <a:spcPts val="125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4-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7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OMP_PLACES={4:4}</a:t>
            </a:r>
            <a:endParaRPr lang="en-US" sz="1600" spc="-10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>
              <a:lnSpc>
                <a:spcPts val="1490"/>
              </a:lnSpc>
              <a:spcBef>
                <a:spcPts val="125"/>
              </a:spcBef>
            </a:pPr>
            <a:r>
              <a:rPr lang="en-US" altLang="zh-CN"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2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lang="en-US" altLang="zh-CN" sz="16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2/4,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2/4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cpu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[s]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8-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11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OMP_PLACES={8:4}</a:t>
            </a:r>
            <a:endParaRPr lang="en-US" altLang="zh-CN" sz="1600" dirty="0">
              <a:latin typeface="Arial"/>
              <a:cs typeface="Arial"/>
            </a:endParaRPr>
          </a:p>
          <a:p>
            <a:pPr marL="12700" marR="5080">
              <a:lnSpc>
                <a:spcPts val="1490"/>
              </a:lnSpc>
              <a:spcBef>
                <a:spcPts val="125"/>
              </a:spcBef>
            </a:pPr>
            <a:r>
              <a:rPr lang="en-US" altLang="zh-CN"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lang="en-US" altLang="zh-CN"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3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3/4,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3/4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lang="en-US" altLang="zh-CN"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 err="1">
                <a:solidFill>
                  <a:srgbClr val="8FBB55"/>
                </a:solidFill>
                <a:latin typeface="Arial"/>
                <a:cs typeface="Arial"/>
              </a:rPr>
              <a:t>cpu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[s]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12-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15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lang="en-US" altLang="zh-CN"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lang="en-US" altLang="zh-CN" sz="1600" spc="-10" dirty="0">
                <a:solidFill>
                  <a:srgbClr val="8FBB55"/>
                </a:solidFill>
                <a:latin typeface="Arial"/>
                <a:cs typeface="Arial"/>
              </a:rPr>
              <a:t>OMP_PLACES={12:4}</a:t>
            </a:r>
            <a:endParaRPr lang="en-US" altLang="zh-CN" sz="1600" dirty="0">
              <a:latin typeface="Arial"/>
              <a:cs typeface="Arial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B7F79943-BB3C-4B52-EBF2-7D4223AFB7AD}"/>
              </a:ext>
            </a:extLst>
          </p:cNvPr>
          <p:cNvSpPr/>
          <p:nvPr/>
        </p:nvSpPr>
        <p:spPr>
          <a:xfrm>
            <a:off x="451248" y="5031811"/>
            <a:ext cx="11017223" cy="1163621"/>
          </a:xfrm>
          <a:custGeom>
            <a:avLst/>
            <a:gdLst/>
            <a:ahLst/>
            <a:cxnLst/>
            <a:rect l="l" t="t" r="r" b="b"/>
            <a:pathLst>
              <a:path w="9817100" h="1062354">
                <a:moveTo>
                  <a:pt x="9817034" y="0"/>
                </a:moveTo>
                <a:lnTo>
                  <a:pt x="0" y="0"/>
                </a:lnTo>
                <a:lnTo>
                  <a:pt x="0" y="1061828"/>
                </a:lnTo>
                <a:lnTo>
                  <a:pt x="9817034" y="1061828"/>
                </a:lnTo>
                <a:lnTo>
                  <a:pt x="9817034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57BF20C5-445E-4F4D-6674-9A9C94D11416}"/>
              </a:ext>
            </a:extLst>
          </p:cNvPr>
          <p:cNvSpPr txBox="1"/>
          <p:nvPr/>
        </p:nvSpPr>
        <p:spPr>
          <a:xfrm>
            <a:off x="473324" y="5031811"/>
            <a:ext cx="10918845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585"/>
              </a:lnSpc>
              <a:spcBef>
                <a:spcPts val="100"/>
              </a:spcBef>
            </a:pP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batch1&gt;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n1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bpacked:smt:1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dpacked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js_task_info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|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sort</a:t>
            </a:r>
            <a:endParaRPr sz="1600" dirty="0">
              <a:latin typeface="Arial"/>
              <a:cs typeface="Arial"/>
            </a:endParaRPr>
          </a:p>
          <a:p>
            <a:pPr marL="12700" marR="5080" algn="just">
              <a:lnSpc>
                <a:spcPct val="89500"/>
              </a:lnSpc>
              <a:spcBef>
                <a:spcPts val="80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0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OMP_PLACES={0}</a:t>
            </a:r>
            <a:endParaRPr lang="en-US" sz="1600" spc="-10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89500"/>
              </a:lnSpc>
              <a:spcBef>
                <a:spcPts val="80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OMP_PLACES={1}</a:t>
            </a:r>
            <a:endParaRPr lang="en-US" sz="1600" spc="-10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89500"/>
              </a:lnSpc>
              <a:spcBef>
                <a:spcPts val="80"/>
              </a:spcBef>
            </a:pP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Task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2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2/4,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2/4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2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OMP_PLACES={2} </a:t>
            </a:r>
            <a:endParaRPr lang="en-US" sz="1600" spc="-35" dirty="0">
              <a:solidFill>
                <a:srgbClr val="8FBB55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89500"/>
              </a:lnSpc>
              <a:spcBef>
                <a:spcPts val="80"/>
              </a:spcBef>
            </a:pPr>
            <a:r>
              <a:rPr lang="en-US" sz="1600" spc="-35" dirty="0">
                <a:solidFill>
                  <a:srgbClr val="8FBB55"/>
                </a:solidFill>
                <a:latin typeface="Arial"/>
                <a:cs typeface="Arial"/>
              </a:rPr>
              <a:t>T</a:t>
            </a:r>
            <a:r>
              <a:rPr sz="1600" spc="-35" dirty="0">
                <a:solidFill>
                  <a:srgbClr val="8FBB55"/>
                </a:solidFill>
                <a:latin typeface="Arial"/>
                <a:cs typeface="Arial"/>
              </a:rPr>
              <a:t>ask</a:t>
            </a:r>
            <a:r>
              <a:rPr sz="1600" spc="-3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3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(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3/4,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3/4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is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to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3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host</a:t>
            </a:r>
            <a:r>
              <a:rPr sz="1600" spc="-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a01n18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OMP_NUM_THREADS=1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8FBB55"/>
                </a:solidFill>
                <a:latin typeface="Arial"/>
                <a:cs typeface="Arial"/>
              </a:rPr>
              <a:t>with</a:t>
            </a:r>
            <a:r>
              <a:rPr sz="16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8FBB55"/>
                </a:solidFill>
                <a:latin typeface="Arial"/>
                <a:cs typeface="Arial"/>
              </a:rPr>
              <a:t>OMP_PLACES={3}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194B9B17-79AC-C296-F60D-B10DC3781CD1}"/>
              </a:ext>
            </a:extLst>
          </p:cNvPr>
          <p:cNvSpPr txBox="1"/>
          <p:nvPr/>
        </p:nvSpPr>
        <p:spPr>
          <a:xfrm>
            <a:off x="10786334" y="1603098"/>
            <a:ext cx="1886115" cy="483209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32080" marR="124460" algn="ctr">
              <a:lnSpc>
                <a:spcPct val="89300"/>
              </a:lnSpc>
              <a:spcBef>
                <a:spcPts val="350"/>
              </a:spcBef>
            </a:pPr>
            <a:r>
              <a:rPr sz="1600" dirty="0">
                <a:latin typeface="Arial"/>
                <a:cs typeface="Arial"/>
              </a:rPr>
              <a:t>Default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binding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10" dirty="0">
                <a:latin typeface="Arial"/>
                <a:cs typeface="Arial"/>
              </a:rPr>
              <a:t> physical </a:t>
            </a:r>
            <a:r>
              <a:rPr sz="1600" spc="-20" dirty="0">
                <a:latin typeface="Arial"/>
                <a:cs typeface="Arial"/>
              </a:rPr>
              <a:t>core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4DCAD033-1BEC-28EA-9873-7B5F77CC4A8F}"/>
              </a:ext>
            </a:extLst>
          </p:cNvPr>
          <p:cNvSpPr txBox="1"/>
          <p:nvPr/>
        </p:nvSpPr>
        <p:spPr>
          <a:xfrm>
            <a:off x="10668689" y="3216459"/>
            <a:ext cx="1886114" cy="431528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196850" marR="188595" indent="230504">
              <a:lnSpc>
                <a:spcPts val="1490"/>
              </a:lnSpc>
              <a:spcBef>
                <a:spcPts val="365"/>
              </a:spcBef>
            </a:pPr>
            <a:r>
              <a:rPr sz="1600" spc="-10" dirty="0">
                <a:latin typeface="Arial"/>
                <a:cs typeface="Arial"/>
              </a:rPr>
              <a:t>Binding packed:smt:4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14DCCE8C-8167-4002-9057-FCA8AF604FA5}"/>
              </a:ext>
            </a:extLst>
          </p:cNvPr>
          <p:cNvSpPr txBox="1"/>
          <p:nvPr/>
        </p:nvSpPr>
        <p:spPr>
          <a:xfrm>
            <a:off x="10844032" y="4980348"/>
            <a:ext cx="1828417" cy="1316514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96850" marR="188595" algn="ctr">
              <a:lnSpc>
                <a:spcPts val="1510"/>
              </a:lnSpc>
              <a:spcBef>
                <a:spcPts val="345"/>
              </a:spcBef>
            </a:pPr>
            <a:r>
              <a:rPr sz="1600" spc="-10" dirty="0">
                <a:latin typeface="Arial"/>
                <a:cs typeface="Arial"/>
              </a:rPr>
              <a:t>Binding packed:smt:1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 dirty="0">
              <a:latin typeface="Arial"/>
              <a:cs typeface="Arial"/>
            </a:endParaRPr>
          </a:p>
          <a:p>
            <a:pPr marL="146685" marR="139065" algn="ctr">
              <a:lnSpc>
                <a:spcPct val="91000"/>
              </a:lnSpc>
            </a:pPr>
            <a:r>
              <a:rPr sz="1600" dirty="0">
                <a:latin typeface="Arial"/>
                <a:cs typeface="Arial"/>
              </a:rPr>
              <a:t>All </a:t>
            </a:r>
            <a:r>
              <a:rPr sz="1600" spc="-10" dirty="0">
                <a:latin typeface="Arial"/>
                <a:cs typeface="Arial"/>
              </a:rPr>
              <a:t>tasked </a:t>
            </a:r>
            <a:r>
              <a:rPr sz="1600" dirty="0">
                <a:latin typeface="Arial"/>
                <a:cs typeface="Arial"/>
              </a:rPr>
              <a:t>placed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on </a:t>
            </a:r>
            <a:r>
              <a:rPr sz="1600" dirty="0">
                <a:latin typeface="Arial"/>
                <a:cs typeface="Arial"/>
              </a:rPr>
              <a:t>single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physical </a:t>
            </a:r>
            <a:r>
              <a:rPr sz="1600" spc="-20" dirty="0">
                <a:latin typeface="Arial"/>
                <a:cs typeface="Arial"/>
              </a:rPr>
              <a:t>core</a:t>
            </a:r>
            <a:endParaRPr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9759580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Consolas"/>
                <a:cs typeface="Consolas"/>
              </a:rPr>
              <a:t>Viewing jsrun Layout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872207FD-93B6-A954-CEFE-039173E7BE18}"/>
              </a:ext>
            </a:extLst>
          </p:cNvPr>
          <p:cNvSpPr txBox="1"/>
          <p:nvPr/>
        </p:nvSpPr>
        <p:spPr>
          <a:xfrm>
            <a:off x="928192" y="1096799"/>
            <a:ext cx="676875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00"/>
              </a:spcBef>
              <a:buSzPct val="88888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000" dirty="0">
                <a:latin typeface="Arial"/>
                <a:cs typeface="Arial"/>
              </a:rPr>
              <a:t>Execute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tools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compute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nodes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through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jsrun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B8CA793A-4E89-0E3E-BC3F-C57163DBF4BB}"/>
              </a:ext>
            </a:extLst>
          </p:cNvPr>
          <p:cNvSpPr/>
          <p:nvPr/>
        </p:nvSpPr>
        <p:spPr>
          <a:xfrm>
            <a:off x="674254" y="1835469"/>
            <a:ext cx="9817100" cy="681332"/>
          </a:xfrm>
          <a:custGeom>
            <a:avLst/>
            <a:gdLst/>
            <a:ahLst/>
            <a:cxnLst/>
            <a:rect l="l" t="t" r="r" b="b"/>
            <a:pathLst>
              <a:path w="9817100" h="480694">
                <a:moveTo>
                  <a:pt x="9817034" y="0"/>
                </a:moveTo>
                <a:lnTo>
                  <a:pt x="0" y="0"/>
                </a:lnTo>
                <a:lnTo>
                  <a:pt x="0" y="480131"/>
                </a:lnTo>
                <a:lnTo>
                  <a:pt x="9817034" y="480131"/>
                </a:lnTo>
                <a:lnTo>
                  <a:pt x="9817034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5">
            <a:extLst>
              <a:ext uri="{FF2B5EF4-FFF2-40B4-BE49-F238E27FC236}">
                <a16:creationId xmlns:a16="http://schemas.microsoft.com/office/drawing/2014/main" id="{67CD97B9-D03E-1554-32E9-E549311816D4}"/>
              </a:ext>
            </a:extLst>
          </p:cNvPr>
          <p:cNvSpPr txBox="1"/>
          <p:nvPr/>
        </p:nvSpPr>
        <p:spPr>
          <a:xfrm>
            <a:off x="752994" y="1944266"/>
            <a:ext cx="7589520" cy="49885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90"/>
              </a:spcBef>
            </a:pP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batch3&gt;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n1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g0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sh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c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'nvidia-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smi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--query-gpu=gpu_name,gpu_bus_id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--format=csv'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No</a:t>
            </a:r>
            <a:r>
              <a:rPr sz="18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devices</a:t>
            </a:r>
            <a:r>
              <a:rPr sz="1800" spc="-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were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 found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F1ACADE5-2A0D-FD50-E1A8-069D04C07FBB}"/>
              </a:ext>
            </a:extLst>
          </p:cNvPr>
          <p:cNvSpPr/>
          <p:nvPr/>
        </p:nvSpPr>
        <p:spPr>
          <a:xfrm>
            <a:off x="674254" y="3169569"/>
            <a:ext cx="9817100" cy="1331062"/>
          </a:xfrm>
          <a:custGeom>
            <a:avLst/>
            <a:gdLst/>
            <a:ahLst/>
            <a:cxnLst/>
            <a:rect l="l" t="t" r="r" b="b"/>
            <a:pathLst>
              <a:path w="9817100" h="1062354">
                <a:moveTo>
                  <a:pt x="9817034" y="0"/>
                </a:moveTo>
                <a:lnTo>
                  <a:pt x="0" y="0"/>
                </a:lnTo>
                <a:lnTo>
                  <a:pt x="0" y="1061829"/>
                </a:lnTo>
                <a:lnTo>
                  <a:pt x="9817034" y="1061829"/>
                </a:lnTo>
                <a:lnTo>
                  <a:pt x="9817034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FF9408A7-9830-36A4-B1A4-4450A137B768}"/>
              </a:ext>
            </a:extLst>
          </p:cNvPr>
          <p:cNvSpPr txBox="1"/>
          <p:nvPr/>
        </p:nvSpPr>
        <p:spPr>
          <a:xfrm>
            <a:off x="752994" y="3177568"/>
            <a:ext cx="9104190" cy="119327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05"/>
              </a:spcBef>
            </a:pP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batch3&gt;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n1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g3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sh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c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'nvidia-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smi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--query-gpu=gpu_name,gpu_bus_id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--format=csv'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name,</a:t>
            </a: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pci.bus_id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00000004:04:00.0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00000004:05:00.0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00000004:06:00.0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1BDEE2CF-F4FF-5E05-958B-2759AA1C8CF9}"/>
              </a:ext>
            </a:extLst>
          </p:cNvPr>
          <p:cNvSpPr/>
          <p:nvPr/>
        </p:nvSpPr>
        <p:spPr>
          <a:xfrm>
            <a:off x="706526" y="4861287"/>
            <a:ext cx="9817100" cy="1475467"/>
          </a:xfrm>
          <a:custGeom>
            <a:avLst/>
            <a:gdLst/>
            <a:ahLst/>
            <a:cxnLst/>
            <a:rect l="l" t="t" r="r" b="b"/>
            <a:pathLst>
              <a:path w="9817100" h="1256029">
                <a:moveTo>
                  <a:pt x="9817034" y="0"/>
                </a:moveTo>
                <a:lnTo>
                  <a:pt x="0" y="0"/>
                </a:lnTo>
                <a:lnTo>
                  <a:pt x="0" y="1255727"/>
                </a:lnTo>
                <a:lnTo>
                  <a:pt x="9817034" y="1255727"/>
                </a:lnTo>
                <a:lnTo>
                  <a:pt x="9817034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341DD35D-8C5E-78E2-E6AC-36BF3B0CAC34}"/>
              </a:ext>
            </a:extLst>
          </p:cNvPr>
          <p:cNvSpPr txBox="1"/>
          <p:nvPr/>
        </p:nvSpPr>
        <p:spPr>
          <a:xfrm>
            <a:off x="785265" y="4869208"/>
            <a:ext cx="7983220" cy="1424108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05"/>
              </a:spcBef>
            </a:pP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summit-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batch3&gt;</a:t>
            </a:r>
            <a:r>
              <a:rPr sz="1800" spc="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jsrun</a:t>
            </a:r>
            <a:r>
              <a:rPr sz="1800" spc="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n1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g4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c42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sh</a:t>
            </a:r>
            <a:r>
              <a:rPr sz="1800" spc="1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c</a:t>
            </a:r>
            <a:r>
              <a:rPr sz="1800" spc="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'nvidia-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smi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--query-gpu=gpu_name,gpu_bus_id</a:t>
            </a:r>
            <a:r>
              <a:rPr sz="1800" spc="20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--format=csv' 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name,</a:t>
            </a: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pci.bus_id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00000004:04:00.0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00000004:05:00.0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00000035:03:00.0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800" spc="-25" dirty="0">
                <a:solidFill>
                  <a:srgbClr val="8FBB55"/>
                </a:solidFill>
                <a:latin typeface="Arial"/>
                <a:cs typeface="Arial"/>
              </a:rPr>
              <a:t>Tesla</a:t>
            </a:r>
            <a:r>
              <a:rPr sz="1800" spc="-5" dirty="0">
                <a:solidFill>
                  <a:srgbClr val="8FBB5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V100-SXM2-</a:t>
            </a:r>
            <a:r>
              <a:rPr sz="1800" dirty="0">
                <a:solidFill>
                  <a:srgbClr val="8FBB55"/>
                </a:solidFill>
                <a:latin typeface="Arial"/>
                <a:cs typeface="Arial"/>
              </a:rPr>
              <a:t>16GB, </a:t>
            </a:r>
            <a:r>
              <a:rPr sz="1800" spc="-10" dirty="0">
                <a:solidFill>
                  <a:srgbClr val="8FBB55"/>
                </a:solidFill>
                <a:latin typeface="Arial"/>
                <a:cs typeface="Arial"/>
              </a:rPr>
              <a:t>00000035:04:00.0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EFEC6C-184B-BEC1-6A46-0D45A9CBF070}"/>
              </a:ext>
            </a:extLst>
          </p:cNvPr>
          <p:cNvSpPr txBox="1"/>
          <p:nvPr/>
        </p:nvSpPr>
        <p:spPr>
          <a:xfrm>
            <a:off x="9497144" y="1940042"/>
            <a:ext cx="2728393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330200" algn="ctr">
              <a:spcBef>
                <a:spcPts val="0"/>
              </a:spcBef>
            </a:pPr>
            <a:r>
              <a:rPr lang="en-US" altLang="zh-CN" sz="2400" dirty="0">
                <a:latin typeface="Arial"/>
                <a:cs typeface="Arial"/>
              </a:rPr>
              <a:t>No</a:t>
            </a:r>
            <a:r>
              <a:rPr lang="en-US" altLang="zh-CN" sz="2400" spc="-5" dirty="0">
                <a:latin typeface="Arial"/>
                <a:cs typeface="Arial"/>
              </a:rPr>
              <a:t> </a:t>
            </a:r>
            <a:r>
              <a:rPr lang="en-US" altLang="zh-CN" sz="2400" spc="-10" dirty="0">
                <a:latin typeface="Arial"/>
                <a:cs typeface="Arial"/>
              </a:rPr>
              <a:t>visible </a:t>
            </a:r>
            <a:r>
              <a:rPr lang="en-US" altLang="zh-CN" sz="2400" spc="-20" dirty="0">
                <a:latin typeface="Arial"/>
                <a:cs typeface="Arial"/>
              </a:rPr>
              <a:t>GPUs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9EEF3A-E485-958B-3CCA-213E2E6C79BE}"/>
              </a:ext>
            </a:extLst>
          </p:cNvPr>
          <p:cNvSpPr txBox="1"/>
          <p:nvPr/>
        </p:nvSpPr>
        <p:spPr>
          <a:xfrm>
            <a:off x="9497144" y="3515758"/>
            <a:ext cx="2728393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0970">
              <a:lnSpc>
                <a:spcPct val="100000"/>
              </a:lnSpc>
              <a:spcBef>
                <a:spcPts val="155"/>
              </a:spcBef>
            </a:pPr>
            <a:r>
              <a:rPr lang="en-US" altLang="zh-CN" sz="2400" dirty="0">
                <a:latin typeface="Arial"/>
                <a:cs typeface="Arial"/>
              </a:rPr>
              <a:t>3</a:t>
            </a:r>
            <a:r>
              <a:rPr lang="en-US" altLang="zh-CN" sz="2400" spc="-10" dirty="0">
                <a:latin typeface="Arial"/>
                <a:cs typeface="Arial"/>
              </a:rPr>
              <a:t> </a:t>
            </a:r>
            <a:r>
              <a:rPr lang="en-US" altLang="zh-CN" sz="2400" dirty="0">
                <a:latin typeface="Arial"/>
                <a:cs typeface="Arial"/>
              </a:rPr>
              <a:t>visible</a:t>
            </a:r>
            <a:r>
              <a:rPr lang="en-US" altLang="zh-CN" sz="2400" spc="-5" dirty="0">
                <a:latin typeface="Arial"/>
                <a:cs typeface="Arial"/>
              </a:rPr>
              <a:t> </a:t>
            </a:r>
            <a:r>
              <a:rPr lang="en-US" altLang="zh-CN" sz="2400" spc="-20" dirty="0">
                <a:latin typeface="Arial"/>
                <a:cs typeface="Arial"/>
              </a:rPr>
              <a:t>GPUs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08C4B3-6303-7CEB-6109-4ABF6D3ACFE9}"/>
              </a:ext>
            </a:extLst>
          </p:cNvPr>
          <p:cNvSpPr txBox="1"/>
          <p:nvPr/>
        </p:nvSpPr>
        <p:spPr>
          <a:xfrm>
            <a:off x="9497144" y="4981097"/>
            <a:ext cx="2728393" cy="120032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0970">
              <a:lnSpc>
                <a:spcPct val="100000"/>
              </a:lnSpc>
              <a:spcBef>
                <a:spcPts val="155"/>
              </a:spcBef>
            </a:pPr>
            <a:r>
              <a:rPr lang="en-US" altLang="zh-CN" sz="2400" dirty="0">
                <a:latin typeface="Arial"/>
                <a:cs typeface="Arial"/>
              </a:rPr>
              <a:t>Bus ID shows two GPUs per socket visible</a:t>
            </a:r>
          </a:p>
        </p:txBody>
      </p:sp>
    </p:spTree>
    <p:extLst>
      <p:ext uri="{BB962C8B-B14F-4D97-AF65-F5344CB8AC3E}">
        <p14:creationId xmlns:p14="http://schemas.microsoft.com/office/powerpoint/2010/main" val="2630120450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0" dirty="0"/>
              <a:t>Multiple</a:t>
            </a:r>
            <a:r>
              <a:rPr lang="en-US" altLang="zh-CN" b="0" spc="-40" dirty="0"/>
              <a:t> </a:t>
            </a:r>
            <a:r>
              <a:rPr lang="en-US" altLang="zh-CN" b="0" dirty="0" err="1"/>
              <a:t>Jsruns</a:t>
            </a:r>
            <a:r>
              <a:rPr lang="en-US" altLang="zh-CN" b="0" spc="-15" dirty="0"/>
              <a:t> </a:t>
            </a:r>
            <a:r>
              <a:rPr lang="en-US" altLang="zh-CN" b="1" spc="-10" dirty="0">
                <a:latin typeface="Century Gothic"/>
                <a:cs typeface="Century Gothic"/>
              </a:rPr>
              <a:t>Sequentially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A16C037-BA64-F959-3D9B-816FDAF74EFB}"/>
              </a:ext>
            </a:extLst>
          </p:cNvPr>
          <p:cNvSpPr/>
          <p:nvPr/>
        </p:nvSpPr>
        <p:spPr>
          <a:xfrm>
            <a:off x="2469032" y="1163115"/>
            <a:ext cx="9389745" cy="5245648"/>
          </a:xfrm>
          <a:custGeom>
            <a:avLst/>
            <a:gdLst/>
            <a:ahLst/>
            <a:cxnLst/>
            <a:rect l="l" t="t" r="r" b="b"/>
            <a:pathLst>
              <a:path w="9389745" h="4607560">
                <a:moveTo>
                  <a:pt x="9389275" y="0"/>
                </a:moveTo>
                <a:lnTo>
                  <a:pt x="0" y="0"/>
                </a:lnTo>
                <a:lnTo>
                  <a:pt x="0" y="898918"/>
                </a:lnTo>
                <a:lnTo>
                  <a:pt x="0" y="4607407"/>
                </a:lnTo>
                <a:lnTo>
                  <a:pt x="9389275" y="4607407"/>
                </a:lnTo>
                <a:lnTo>
                  <a:pt x="9389275" y="898918"/>
                </a:lnTo>
                <a:lnTo>
                  <a:pt x="9389275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5AD9ACDB-F1D0-08DD-4824-9AFCB431345D}"/>
              </a:ext>
            </a:extLst>
          </p:cNvPr>
          <p:cNvSpPr txBox="1"/>
          <p:nvPr/>
        </p:nvSpPr>
        <p:spPr>
          <a:xfrm>
            <a:off x="2502582" y="1225991"/>
            <a:ext cx="9389745" cy="496289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0805">
              <a:spcBef>
                <a:spcPts val="60"/>
              </a:spcBef>
            </a:pPr>
            <a:r>
              <a:rPr lang="en-US" sz="2400" dirty="0">
                <a:latin typeface="Arial"/>
                <a:cs typeface="Arial"/>
              </a:rPr>
              <a:t>#!/bin/bash</a:t>
            </a:r>
          </a:p>
          <a:p>
            <a:pPr marL="90805">
              <a:spcBef>
                <a:spcPts val="60"/>
              </a:spcBef>
            </a:pPr>
            <a:r>
              <a:rPr lang="en-US" sz="2400" dirty="0">
                <a:latin typeface="Arial"/>
                <a:cs typeface="Arial"/>
              </a:rPr>
              <a:t>#BSUB -W 2:00</a:t>
            </a:r>
          </a:p>
          <a:p>
            <a:pPr marL="90805">
              <a:spcBef>
                <a:spcPts val="60"/>
              </a:spcBef>
            </a:pPr>
            <a:r>
              <a:rPr lang="en-US" sz="2400" dirty="0">
                <a:latin typeface="Arial"/>
                <a:cs typeface="Arial"/>
              </a:rPr>
              <a:t>#BSUB -</a:t>
            </a:r>
            <a:r>
              <a:rPr lang="en-US" sz="2400" dirty="0" err="1">
                <a:latin typeface="Arial"/>
                <a:cs typeface="Arial"/>
              </a:rPr>
              <a:t>nnodes</a:t>
            </a:r>
            <a:r>
              <a:rPr lang="en-US" sz="2400" dirty="0">
                <a:latin typeface="Arial"/>
                <a:cs typeface="Arial"/>
              </a:rPr>
              <a:t> 2</a:t>
            </a:r>
          </a:p>
          <a:p>
            <a:pPr marL="90805">
              <a:spcBef>
                <a:spcPts val="60"/>
              </a:spcBef>
            </a:pPr>
            <a:r>
              <a:rPr lang="en-US" sz="2400" dirty="0">
                <a:latin typeface="Arial"/>
                <a:cs typeface="Arial"/>
              </a:rPr>
              <a:t>#BSUB -P abc007</a:t>
            </a:r>
          </a:p>
          <a:p>
            <a:pPr marL="90805">
              <a:spcBef>
                <a:spcPts val="60"/>
              </a:spcBef>
            </a:pPr>
            <a:r>
              <a:rPr lang="en-US" sz="2400" dirty="0">
                <a:latin typeface="Arial"/>
                <a:cs typeface="Arial"/>
              </a:rPr>
              <a:t>cd $MEMBERWORK/abc007</a:t>
            </a:r>
          </a:p>
          <a:p>
            <a:pPr marL="90805">
              <a:spcBef>
                <a:spcPts val="60"/>
              </a:spcBef>
            </a:pP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r>
              <a:rPr lang="en-US" sz="2400" dirty="0" err="1">
                <a:latin typeface="Arial"/>
                <a:cs typeface="Arial"/>
              </a:rPr>
              <a:t>jsrun</a:t>
            </a:r>
            <a:r>
              <a:rPr lang="en-US" sz="2400" dirty="0">
                <a:latin typeface="Arial"/>
                <a:cs typeface="Arial"/>
              </a:rPr>
              <a:t> –n12 –r6 –g1 –a2 –c2 ./</a:t>
            </a:r>
            <a:r>
              <a:rPr lang="en-US" sz="2400" dirty="0" err="1">
                <a:latin typeface="Arial"/>
                <a:cs typeface="Arial"/>
              </a:rPr>
              <a:t>a.out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fileA</a:t>
            </a: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r>
              <a:rPr lang="en-US" sz="2400" dirty="0" err="1">
                <a:latin typeface="Arial"/>
                <a:cs typeface="Arial"/>
              </a:rPr>
              <a:t>jsrun</a:t>
            </a:r>
            <a:r>
              <a:rPr lang="en-US" sz="2400" dirty="0">
                <a:latin typeface="Arial"/>
                <a:cs typeface="Arial"/>
              </a:rPr>
              <a:t> –n1 –r1 –a12 –c12 ./</a:t>
            </a:r>
            <a:r>
              <a:rPr lang="en-US" sz="2400" dirty="0" err="1">
                <a:latin typeface="Arial"/>
                <a:cs typeface="Arial"/>
              </a:rPr>
              <a:t>post_process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fileA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fileB</a:t>
            </a: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r>
              <a:rPr lang="en-US" sz="2400" dirty="0" err="1">
                <a:latin typeface="Arial"/>
                <a:cs typeface="Arial"/>
              </a:rPr>
              <a:t>jsrun</a:t>
            </a:r>
            <a:r>
              <a:rPr lang="en-US" sz="2400" dirty="0">
                <a:latin typeface="Arial"/>
                <a:cs typeface="Arial"/>
              </a:rPr>
              <a:t> –n12 –r6 –g1 –a2 –c2 ./</a:t>
            </a:r>
            <a:r>
              <a:rPr lang="en-US" sz="2400" dirty="0" err="1">
                <a:latin typeface="Arial"/>
                <a:cs typeface="Arial"/>
              </a:rPr>
              <a:t>a.out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fileB</a:t>
            </a: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r>
              <a:rPr lang="en-US" sz="2400" dirty="0" err="1">
                <a:latin typeface="Arial"/>
                <a:cs typeface="Arial"/>
              </a:rPr>
              <a:t>jsrun</a:t>
            </a:r>
            <a:r>
              <a:rPr lang="en-US" sz="2400" dirty="0">
                <a:latin typeface="Arial"/>
                <a:cs typeface="Arial"/>
              </a:rPr>
              <a:t> –n1 –r1 –a12 –c12 ./</a:t>
            </a:r>
            <a:r>
              <a:rPr lang="en-US" sz="2400" dirty="0" err="1">
                <a:latin typeface="Arial"/>
                <a:cs typeface="Arial"/>
              </a:rPr>
              <a:t>post_process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fileB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fileC</a:t>
            </a: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endParaRPr lang="en-US" sz="2400" dirty="0">
              <a:latin typeface="Arial"/>
              <a:cs typeface="Arial"/>
            </a:endParaRPr>
          </a:p>
          <a:p>
            <a:pPr marL="90805">
              <a:spcBef>
                <a:spcPts val="60"/>
              </a:spcBef>
            </a:pPr>
            <a:r>
              <a:rPr lang="en-US" sz="2400" dirty="0" err="1">
                <a:latin typeface="Arial"/>
                <a:cs typeface="Arial"/>
              </a:rPr>
              <a:t>jsrun</a:t>
            </a:r>
            <a:r>
              <a:rPr lang="en-US" sz="2400" dirty="0">
                <a:latin typeface="Arial"/>
                <a:cs typeface="Arial"/>
              </a:rPr>
              <a:t> –n12 –r6 –g1 –a2 –c2 ./</a:t>
            </a:r>
            <a:r>
              <a:rPr lang="en-US" sz="2400" dirty="0" err="1">
                <a:latin typeface="Arial"/>
                <a:cs typeface="Arial"/>
              </a:rPr>
              <a:t>a.out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fileC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46C0479-6C21-900B-FE08-202CC14B7EB0}"/>
              </a:ext>
            </a:extLst>
          </p:cNvPr>
          <p:cNvSpPr txBox="1"/>
          <p:nvPr/>
        </p:nvSpPr>
        <p:spPr>
          <a:xfrm>
            <a:off x="9492664" y="1083300"/>
            <a:ext cx="2990568" cy="862544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98425" marR="90805" algn="ctr">
              <a:lnSpc>
                <a:spcPct val="88300"/>
              </a:lnSpc>
              <a:spcBef>
                <a:spcPts val="390"/>
              </a:spcBef>
            </a:pPr>
            <a:r>
              <a:rPr sz="2000" dirty="0">
                <a:latin typeface="Arial"/>
                <a:cs typeface="Arial"/>
              </a:rPr>
              <a:t>Walltime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should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be </a:t>
            </a:r>
            <a:r>
              <a:rPr sz="2000" dirty="0">
                <a:latin typeface="Arial"/>
                <a:cs typeface="Arial"/>
              </a:rPr>
              <a:t>long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enough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run </a:t>
            </a:r>
            <a:r>
              <a:rPr sz="2000" dirty="0">
                <a:latin typeface="Arial"/>
                <a:cs typeface="Arial"/>
              </a:rPr>
              <a:t>all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jsruns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 </a:t>
            </a:r>
            <a:r>
              <a:rPr sz="2000" dirty="0">
                <a:latin typeface="Arial"/>
                <a:cs typeface="Arial"/>
              </a:rPr>
              <a:t>support</a:t>
            </a:r>
            <a:r>
              <a:rPr sz="2000" spc="-10" dirty="0">
                <a:latin typeface="Arial"/>
                <a:cs typeface="Arial"/>
              </a:rPr>
              <a:t> tasks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90CFF5CC-5B7D-EDE6-3A43-C93853535ADE}"/>
              </a:ext>
            </a:extLst>
          </p:cNvPr>
          <p:cNvSpPr/>
          <p:nvPr/>
        </p:nvSpPr>
        <p:spPr>
          <a:xfrm>
            <a:off x="4816624" y="1553628"/>
            <a:ext cx="4677036" cy="310515"/>
          </a:xfrm>
          <a:custGeom>
            <a:avLst/>
            <a:gdLst/>
            <a:ahLst/>
            <a:cxnLst/>
            <a:rect l="l" t="t" r="r" b="b"/>
            <a:pathLst>
              <a:path w="5278120" h="310515">
                <a:moveTo>
                  <a:pt x="110603" y="119961"/>
                </a:moveTo>
                <a:lnTo>
                  <a:pt x="0" y="219481"/>
                </a:lnTo>
                <a:lnTo>
                  <a:pt x="117833" y="310324"/>
                </a:lnTo>
                <a:lnTo>
                  <a:pt x="114968" y="234903"/>
                </a:lnTo>
                <a:lnTo>
                  <a:pt x="95892" y="234903"/>
                </a:lnTo>
                <a:lnTo>
                  <a:pt x="94446" y="196830"/>
                </a:lnTo>
                <a:lnTo>
                  <a:pt x="113495" y="196107"/>
                </a:lnTo>
                <a:lnTo>
                  <a:pt x="110603" y="119961"/>
                </a:lnTo>
                <a:close/>
              </a:path>
              <a:path w="5278120" h="310515">
                <a:moveTo>
                  <a:pt x="5276401" y="0"/>
                </a:moveTo>
                <a:lnTo>
                  <a:pt x="94446" y="196830"/>
                </a:lnTo>
                <a:lnTo>
                  <a:pt x="95892" y="234903"/>
                </a:lnTo>
                <a:lnTo>
                  <a:pt x="114941" y="234179"/>
                </a:lnTo>
                <a:lnTo>
                  <a:pt x="113495" y="196107"/>
                </a:lnTo>
                <a:lnTo>
                  <a:pt x="1117268" y="196107"/>
                </a:lnTo>
                <a:lnTo>
                  <a:pt x="5277846" y="38073"/>
                </a:lnTo>
                <a:lnTo>
                  <a:pt x="5276401" y="0"/>
                </a:lnTo>
                <a:close/>
              </a:path>
              <a:path w="5278120" h="310515">
                <a:moveTo>
                  <a:pt x="114941" y="234179"/>
                </a:moveTo>
                <a:lnTo>
                  <a:pt x="95892" y="234903"/>
                </a:lnTo>
                <a:lnTo>
                  <a:pt x="114968" y="234903"/>
                </a:lnTo>
                <a:lnTo>
                  <a:pt x="114941" y="234179"/>
                </a:lnTo>
                <a:close/>
              </a:path>
              <a:path w="5278120" h="310515">
                <a:moveTo>
                  <a:pt x="1117268" y="196107"/>
                </a:moveTo>
                <a:lnTo>
                  <a:pt x="113495" y="196107"/>
                </a:lnTo>
                <a:lnTo>
                  <a:pt x="114941" y="234179"/>
                </a:lnTo>
                <a:lnTo>
                  <a:pt x="1117268" y="196107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F5CFF3FE-F4C4-D4EB-B08E-C0C7EC9E11F8}"/>
              </a:ext>
            </a:extLst>
          </p:cNvPr>
          <p:cNvSpPr txBox="1"/>
          <p:nvPr/>
        </p:nvSpPr>
        <p:spPr>
          <a:xfrm>
            <a:off x="7348599" y="2335274"/>
            <a:ext cx="2514133" cy="709233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22555" marR="114935" indent="-635" algn="ctr">
              <a:lnSpc>
                <a:spcPts val="1700"/>
              </a:lnSpc>
              <a:spcBef>
                <a:spcPts val="400"/>
              </a:spcBef>
            </a:pPr>
            <a:r>
              <a:rPr sz="2000" dirty="0">
                <a:latin typeface="Arial"/>
                <a:cs typeface="Arial"/>
              </a:rPr>
              <a:t>Allocated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nodes </a:t>
            </a:r>
            <a:r>
              <a:rPr sz="2000" dirty="0">
                <a:latin typeface="Arial"/>
                <a:cs typeface="Arial"/>
              </a:rPr>
              <a:t>should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large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largest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jsrun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62E2E8AE-2B5D-0C4D-CF48-A7BD5AED1D1B}"/>
              </a:ext>
            </a:extLst>
          </p:cNvPr>
          <p:cNvSpPr txBox="1"/>
          <p:nvPr/>
        </p:nvSpPr>
        <p:spPr>
          <a:xfrm>
            <a:off x="10061933" y="3597038"/>
            <a:ext cx="2664296" cy="1884490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133985" marR="125730" algn="ctr">
              <a:lnSpc>
                <a:spcPts val="1700"/>
              </a:lnSpc>
              <a:spcBef>
                <a:spcPts val="395"/>
              </a:spcBef>
            </a:pPr>
            <a:r>
              <a:rPr sz="2000" dirty="0">
                <a:latin typeface="Arial"/>
                <a:cs typeface="Arial"/>
              </a:rPr>
              <a:t>All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tasks </a:t>
            </a:r>
            <a:r>
              <a:rPr sz="2000" spc="-10" dirty="0">
                <a:latin typeface="Arial"/>
                <a:cs typeface="Arial"/>
              </a:rPr>
              <a:t>executed sequentially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 dirty="0">
              <a:latin typeface="Arial"/>
              <a:cs typeface="Arial"/>
            </a:endParaRPr>
          </a:p>
          <a:p>
            <a:pPr marL="99695" marR="92075" algn="ctr">
              <a:lnSpc>
                <a:spcPct val="9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jsrun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post_process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launch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until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previous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jsrun </a:t>
            </a:r>
            <a:r>
              <a:rPr sz="2000" dirty="0">
                <a:latin typeface="Arial"/>
                <a:cs typeface="Arial"/>
              </a:rPr>
              <a:t>a.out </a:t>
            </a:r>
            <a:r>
              <a:rPr sz="2000" spc="-10" dirty="0">
                <a:latin typeface="Arial"/>
                <a:cs typeface="Arial"/>
              </a:rPr>
              <a:t>completes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9" name="object 10">
            <a:extLst>
              <a:ext uri="{FF2B5EF4-FFF2-40B4-BE49-F238E27FC236}">
                <a16:creationId xmlns:a16="http://schemas.microsoft.com/office/drawing/2014/main" id="{CA09E05C-FC61-2E2C-0E42-FD8FD31E35E1}"/>
              </a:ext>
            </a:extLst>
          </p:cNvPr>
          <p:cNvGrpSpPr/>
          <p:nvPr/>
        </p:nvGrpSpPr>
        <p:grpSpPr>
          <a:xfrm>
            <a:off x="1402617" y="3340289"/>
            <a:ext cx="950594" cy="240665"/>
            <a:chOff x="1402617" y="3084042"/>
            <a:chExt cx="950594" cy="240665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37355A8B-E147-C4A3-4307-1C1FE4ED29B3}"/>
                </a:ext>
              </a:extLst>
            </p:cNvPr>
            <p:cNvSpPr/>
            <p:nvPr/>
          </p:nvSpPr>
          <p:spPr>
            <a:xfrm>
              <a:off x="1407379" y="3088805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4"/>
                  </a:lnTo>
                  <a:lnTo>
                    <a:pt x="3019" y="23468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2"/>
                  </a:lnTo>
                  <a:lnTo>
                    <a:pt x="11255" y="219296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6"/>
                  </a:lnTo>
                  <a:lnTo>
                    <a:pt x="937469" y="207082"/>
                  </a:lnTo>
                  <a:lnTo>
                    <a:pt x="940489" y="192125"/>
                  </a:lnTo>
                  <a:lnTo>
                    <a:pt x="940489" y="38426"/>
                  </a:lnTo>
                  <a:lnTo>
                    <a:pt x="937469" y="23468"/>
                  </a:lnTo>
                  <a:lnTo>
                    <a:pt x="929235" y="11254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03053E55-F585-6393-3596-ACFE736E5F6E}"/>
                </a:ext>
              </a:extLst>
            </p:cNvPr>
            <p:cNvSpPr/>
            <p:nvPr/>
          </p:nvSpPr>
          <p:spPr>
            <a:xfrm>
              <a:off x="1407379" y="3088805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3">
            <a:extLst>
              <a:ext uri="{FF2B5EF4-FFF2-40B4-BE49-F238E27FC236}">
                <a16:creationId xmlns:a16="http://schemas.microsoft.com/office/drawing/2014/main" id="{AF03F2CB-A115-E0CE-240C-DDAA9064E00D}"/>
              </a:ext>
            </a:extLst>
          </p:cNvPr>
          <p:cNvSpPr txBox="1"/>
          <p:nvPr/>
        </p:nvSpPr>
        <p:spPr>
          <a:xfrm>
            <a:off x="1520437" y="3327106"/>
            <a:ext cx="714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00:25:00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13" name="object 14">
            <a:extLst>
              <a:ext uri="{FF2B5EF4-FFF2-40B4-BE49-F238E27FC236}">
                <a16:creationId xmlns:a16="http://schemas.microsoft.com/office/drawing/2014/main" id="{B42F6D80-8C3A-E05B-A638-AC386D4C2A1C}"/>
              </a:ext>
            </a:extLst>
          </p:cNvPr>
          <p:cNvGrpSpPr/>
          <p:nvPr/>
        </p:nvGrpSpPr>
        <p:grpSpPr>
          <a:xfrm>
            <a:off x="1402756" y="3816129"/>
            <a:ext cx="950594" cy="240665"/>
            <a:chOff x="1402756" y="3559882"/>
            <a:chExt cx="950594" cy="240665"/>
          </a:xfrm>
        </p:grpSpPr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52EDF8F8-1CDD-8066-7282-C821C0CF519F}"/>
                </a:ext>
              </a:extLst>
            </p:cNvPr>
            <p:cNvSpPr/>
            <p:nvPr/>
          </p:nvSpPr>
          <p:spPr>
            <a:xfrm>
              <a:off x="1407519" y="3564644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4"/>
                  </a:lnTo>
                  <a:lnTo>
                    <a:pt x="3019" y="23468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5" y="219297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7"/>
                  </a:lnTo>
                  <a:lnTo>
                    <a:pt x="937471" y="207083"/>
                  </a:lnTo>
                  <a:lnTo>
                    <a:pt x="940490" y="192125"/>
                  </a:lnTo>
                  <a:lnTo>
                    <a:pt x="940490" y="38426"/>
                  </a:lnTo>
                  <a:lnTo>
                    <a:pt x="937471" y="23468"/>
                  </a:lnTo>
                  <a:lnTo>
                    <a:pt x="929235" y="11254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63430269-9CA3-4BE1-82FB-75F888402948}"/>
                </a:ext>
              </a:extLst>
            </p:cNvPr>
            <p:cNvSpPr/>
            <p:nvPr/>
          </p:nvSpPr>
          <p:spPr>
            <a:xfrm>
              <a:off x="1407519" y="3564644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7">
            <a:extLst>
              <a:ext uri="{FF2B5EF4-FFF2-40B4-BE49-F238E27FC236}">
                <a16:creationId xmlns:a16="http://schemas.microsoft.com/office/drawing/2014/main" id="{9F80A319-6848-8182-88D8-3082EC2AB29D}"/>
              </a:ext>
            </a:extLst>
          </p:cNvPr>
          <p:cNvSpPr txBox="1"/>
          <p:nvPr/>
        </p:nvSpPr>
        <p:spPr>
          <a:xfrm>
            <a:off x="1520577" y="3802595"/>
            <a:ext cx="714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00:05:00</a:t>
            </a:r>
            <a:endParaRPr sz="1400" dirty="0">
              <a:latin typeface="Century Gothic"/>
              <a:cs typeface="Century Gothic"/>
            </a:endParaRPr>
          </a:p>
        </p:txBody>
      </p:sp>
      <p:grpSp>
        <p:nvGrpSpPr>
          <p:cNvPr id="17" name="object 18">
            <a:extLst>
              <a:ext uri="{FF2B5EF4-FFF2-40B4-BE49-F238E27FC236}">
                <a16:creationId xmlns:a16="http://schemas.microsoft.com/office/drawing/2014/main" id="{586F6A44-F8AD-5028-AA93-73F83356E7C0}"/>
              </a:ext>
            </a:extLst>
          </p:cNvPr>
          <p:cNvGrpSpPr/>
          <p:nvPr/>
        </p:nvGrpSpPr>
        <p:grpSpPr>
          <a:xfrm>
            <a:off x="1402617" y="4421691"/>
            <a:ext cx="950594" cy="240665"/>
            <a:chOff x="1402617" y="4165444"/>
            <a:chExt cx="950594" cy="240665"/>
          </a:xfrm>
        </p:grpSpPr>
        <p:sp>
          <p:nvSpPr>
            <p:cNvPr id="18" name="object 19">
              <a:extLst>
                <a:ext uri="{FF2B5EF4-FFF2-40B4-BE49-F238E27FC236}">
                  <a16:creationId xmlns:a16="http://schemas.microsoft.com/office/drawing/2014/main" id="{581F6ACA-EA67-4CE1-51AE-EC0E4CDA1FC2}"/>
                </a:ext>
              </a:extLst>
            </p:cNvPr>
            <p:cNvSpPr/>
            <p:nvPr/>
          </p:nvSpPr>
          <p:spPr>
            <a:xfrm>
              <a:off x="1407379" y="4170207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5" y="219297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7"/>
                  </a:lnTo>
                  <a:lnTo>
                    <a:pt x="937469" y="207083"/>
                  </a:lnTo>
                  <a:lnTo>
                    <a:pt x="940489" y="192126"/>
                  </a:lnTo>
                  <a:lnTo>
                    <a:pt x="940489" y="38426"/>
                  </a:lnTo>
                  <a:lnTo>
                    <a:pt x="937469" y="23469"/>
                  </a:lnTo>
                  <a:lnTo>
                    <a:pt x="929235" y="11255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685B448-DAA5-4FEC-BF9A-008565368E35}"/>
                </a:ext>
              </a:extLst>
            </p:cNvPr>
            <p:cNvSpPr/>
            <p:nvPr/>
          </p:nvSpPr>
          <p:spPr>
            <a:xfrm>
              <a:off x="1407379" y="4170207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70351601-673A-0A99-E645-66E2735D9537}"/>
              </a:ext>
            </a:extLst>
          </p:cNvPr>
          <p:cNvSpPr txBox="1"/>
          <p:nvPr/>
        </p:nvSpPr>
        <p:spPr>
          <a:xfrm>
            <a:off x="1520437" y="4406099"/>
            <a:ext cx="714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00:30:00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82C01DFF-CE01-C548-9130-C7B5A7F102B8}"/>
              </a:ext>
            </a:extLst>
          </p:cNvPr>
          <p:cNvGrpSpPr/>
          <p:nvPr/>
        </p:nvGrpSpPr>
        <p:grpSpPr>
          <a:xfrm>
            <a:off x="1402617" y="4881710"/>
            <a:ext cx="950594" cy="240665"/>
            <a:chOff x="1402617" y="4625463"/>
            <a:chExt cx="950594" cy="240665"/>
          </a:xfrm>
        </p:grpSpPr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2E75CA49-CB34-7EDA-204D-23B5B278D261}"/>
                </a:ext>
              </a:extLst>
            </p:cNvPr>
            <p:cNvSpPr/>
            <p:nvPr/>
          </p:nvSpPr>
          <p:spPr>
            <a:xfrm>
              <a:off x="1407379" y="4630225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5" y="219297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7"/>
                  </a:lnTo>
                  <a:lnTo>
                    <a:pt x="937469" y="207083"/>
                  </a:lnTo>
                  <a:lnTo>
                    <a:pt x="940489" y="192125"/>
                  </a:lnTo>
                  <a:lnTo>
                    <a:pt x="940489" y="38426"/>
                  </a:lnTo>
                  <a:lnTo>
                    <a:pt x="937469" y="23469"/>
                  </a:lnTo>
                  <a:lnTo>
                    <a:pt x="929235" y="11255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98C9360-D996-DA28-AC13-16FCE7288893}"/>
                </a:ext>
              </a:extLst>
            </p:cNvPr>
            <p:cNvSpPr/>
            <p:nvPr/>
          </p:nvSpPr>
          <p:spPr>
            <a:xfrm>
              <a:off x="1407379" y="4630225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0AA58CB8-27BB-1BB4-2F01-8B860E4BC9E8}"/>
              </a:ext>
            </a:extLst>
          </p:cNvPr>
          <p:cNvSpPr txBox="1"/>
          <p:nvPr/>
        </p:nvSpPr>
        <p:spPr>
          <a:xfrm>
            <a:off x="1520437" y="4866347"/>
            <a:ext cx="714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00:05:00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26" name="object 26">
            <a:extLst>
              <a:ext uri="{FF2B5EF4-FFF2-40B4-BE49-F238E27FC236}">
                <a16:creationId xmlns:a16="http://schemas.microsoft.com/office/drawing/2014/main" id="{FC867790-1209-92DF-EADA-C48BA6DE5B02}"/>
              </a:ext>
            </a:extLst>
          </p:cNvPr>
          <p:cNvGrpSpPr/>
          <p:nvPr/>
        </p:nvGrpSpPr>
        <p:grpSpPr>
          <a:xfrm>
            <a:off x="1402695" y="5416151"/>
            <a:ext cx="950594" cy="240665"/>
            <a:chOff x="1402695" y="5159904"/>
            <a:chExt cx="950594" cy="240665"/>
          </a:xfrm>
        </p:grpSpPr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3390D62B-5295-85C0-AEF3-8B81C3C8E689}"/>
                </a:ext>
              </a:extLst>
            </p:cNvPr>
            <p:cNvSpPr/>
            <p:nvPr/>
          </p:nvSpPr>
          <p:spPr>
            <a:xfrm>
              <a:off x="1407458" y="5164666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3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902063" y="230551"/>
                  </a:lnTo>
                  <a:lnTo>
                    <a:pt x="917020" y="227532"/>
                  </a:lnTo>
                  <a:lnTo>
                    <a:pt x="929235" y="219297"/>
                  </a:lnTo>
                  <a:lnTo>
                    <a:pt x="937469" y="207083"/>
                  </a:lnTo>
                  <a:lnTo>
                    <a:pt x="940489" y="192125"/>
                  </a:lnTo>
                  <a:lnTo>
                    <a:pt x="940489" y="38426"/>
                  </a:lnTo>
                  <a:lnTo>
                    <a:pt x="937469" y="23468"/>
                  </a:lnTo>
                  <a:lnTo>
                    <a:pt x="929235" y="11254"/>
                  </a:lnTo>
                  <a:lnTo>
                    <a:pt x="917020" y="3019"/>
                  </a:lnTo>
                  <a:lnTo>
                    <a:pt x="902063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78A9949E-1FC9-A073-9AE3-550B7C07C540}"/>
                </a:ext>
              </a:extLst>
            </p:cNvPr>
            <p:cNvSpPr/>
            <p:nvPr/>
          </p:nvSpPr>
          <p:spPr>
            <a:xfrm>
              <a:off x="1407458" y="5164666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9" name="object 29">
            <a:extLst>
              <a:ext uri="{FF2B5EF4-FFF2-40B4-BE49-F238E27FC236}">
                <a16:creationId xmlns:a16="http://schemas.microsoft.com/office/drawing/2014/main" id="{06486F2F-9A61-04A4-9765-BC52A5715B3E}"/>
              </a:ext>
            </a:extLst>
          </p:cNvPr>
          <p:cNvSpPr txBox="1"/>
          <p:nvPr/>
        </p:nvSpPr>
        <p:spPr>
          <a:xfrm>
            <a:off x="1520515" y="5402794"/>
            <a:ext cx="714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00:25:00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31" name="object 30">
            <a:extLst>
              <a:ext uri="{FF2B5EF4-FFF2-40B4-BE49-F238E27FC236}">
                <a16:creationId xmlns:a16="http://schemas.microsoft.com/office/drawing/2014/main" id="{6C4FBAFB-8059-2541-BCF3-B69A48027DB2}"/>
              </a:ext>
            </a:extLst>
          </p:cNvPr>
          <p:cNvGrpSpPr/>
          <p:nvPr/>
        </p:nvGrpSpPr>
        <p:grpSpPr>
          <a:xfrm>
            <a:off x="625026" y="3340289"/>
            <a:ext cx="419100" cy="240665"/>
            <a:chOff x="625026" y="3084042"/>
            <a:chExt cx="419100" cy="240665"/>
          </a:xfrm>
        </p:grpSpPr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8BF63291-4448-927E-EEFD-B3EAED5954DE}"/>
                </a:ext>
              </a:extLst>
            </p:cNvPr>
            <p:cNvSpPr/>
            <p:nvPr/>
          </p:nvSpPr>
          <p:spPr>
            <a:xfrm>
              <a:off x="629788" y="3088805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5"/>
                  </a:lnTo>
                  <a:lnTo>
                    <a:pt x="0" y="192125"/>
                  </a:lnTo>
                  <a:lnTo>
                    <a:pt x="3019" y="207082"/>
                  </a:lnTo>
                  <a:lnTo>
                    <a:pt x="11254" y="219296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6"/>
                  </a:lnTo>
                  <a:lnTo>
                    <a:pt x="406264" y="207082"/>
                  </a:lnTo>
                  <a:lnTo>
                    <a:pt x="409284" y="192125"/>
                  </a:lnTo>
                  <a:lnTo>
                    <a:pt x="409284" y="38425"/>
                  </a:lnTo>
                  <a:lnTo>
                    <a:pt x="406264" y="23468"/>
                  </a:lnTo>
                  <a:lnTo>
                    <a:pt x="398029" y="11254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2">
              <a:extLst>
                <a:ext uri="{FF2B5EF4-FFF2-40B4-BE49-F238E27FC236}">
                  <a16:creationId xmlns:a16="http://schemas.microsoft.com/office/drawing/2014/main" id="{10EC7726-73CD-C7DC-5373-4F4A438BB83D}"/>
                </a:ext>
              </a:extLst>
            </p:cNvPr>
            <p:cNvSpPr/>
            <p:nvPr/>
          </p:nvSpPr>
          <p:spPr>
            <a:xfrm>
              <a:off x="629788" y="3088805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4" name="object 33">
            <a:extLst>
              <a:ext uri="{FF2B5EF4-FFF2-40B4-BE49-F238E27FC236}">
                <a16:creationId xmlns:a16="http://schemas.microsoft.com/office/drawing/2014/main" id="{F501BD01-5DEE-E093-6705-83CFEE9C5363}"/>
              </a:ext>
            </a:extLst>
          </p:cNvPr>
          <p:cNvSpPr txBox="1"/>
          <p:nvPr/>
        </p:nvSpPr>
        <p:spPr>
          <a:xfrm>
            <a:off x="772518" y="3327106"/>
            <a:ext cx="124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35" name="object 34">
            <a:extLst>
              <a:ext uri="{FF2B5EF4-FFF2-40B4-BE49-F238E27FC236}">
                <a16:creationId xmlns:a16="http://schemas.microsoft.com/office/drawing/2014/main" id="{BA6C56DC-1FD6-A325-8F1B-A3D2CE31B336}"/>
              </a:ext>
            </a:extLst>
          </p:cNvPr>
          <p:cNvGrpSpPr/>
          <p:nvPr/>
        </p:nvGrpSpPr>
        <p:grpSpPr>
          <a:xfrm>
            <a:off x="627401" y="3798341"/>
            <a:ext cx="419100" cy="240665"/>
            <a:chOff x="627401" y="3542094"/>
            <a:chExt cx="419100" cy="240665"/>
          </a:xfrm>
        </p:grpSpPr>
        <p:sp>
          <p:nvSpPr>
            <p:cNvPr id="36" name="object 35">
              <a:extLst>
                <a:ext uri="{FF2B5EF4-FFF2-40B4-BE49-F238E27FC236}">
                  <a16:creationId xmlns:a16="http://schemas.microsoft.com/office/drawing/2014/main" id="{0D9F8EF2-B8F2-6A0C-3105-C5577B1B998C}"/>
                </a:ext>
              </a:extLst>
            </p:cNvPr>
            <p:cNvSpPr/>
            <p:nvPr/>
          </p:nvSpPr>
          <p:spPr>
            <a:xfrm>
              <a:off x="632163" y="3546857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5"/>
                  </a:lnTo>
                  <a:lnTo>
                    <a:pt x="0" y="192125"/>
                  </a:lnTo>
                  <a:lnTo>
                    <a:pt x="3019" y="207082"/>
                  </a:lnTo>
                  <a:lnTo>
                    <a:pt x="11254" y="219296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6"/>
                  </a:lnTo>
                  <a:lnTo>
                    <a:pt x="406264" y="207082"/>
                  </a:lnTo>
                  <a:lnTo>
                    <a:pt x="409284" y="192125"/>
                  </a:lnTo>
                  <a:lnTo>
                    <a:pt x="409284" y="38425"/>
                  </a:lnTo>
                  <a:lnTo>
                    <a:pt x="406264" y="23468"/>
                  </a:lnTo>
                  <a:lnTo>
                    <a:pt x="398029" y="11254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6">
              <a:extLst>
                <a:ext uri="{FF2B5EF4-FFF2-40B4-BE49-F238E27FC236}">
                  <a16:creationId xmlns:a16="http://schemas.microsoft.com/office/drawing/2014/main" id="{F8657DDA-D930-9964-742B-71D957360E83}"/>
                </a:ext>
              </a:extLst>
            </p:cNvPr>
            <p:cNvSpPr/>
            <p:nvPr/>
          </p:nvSpPr>
          <p:spPr>
            <a:xfrm>
              <a:off x="632163" y="3546857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7">
            <a:extLst>
              <a:ext uri="{FF2B5EF4-FFF2-40B4-BE49-F238E27FC236}">
                <a16:creationId xmlns:a16="http://schemas.microsoft.com/office/drawing/2014/main" id="{9084ED23-DD6C-A9C7-DD0E-7E3D1A13A1D5}"/>
              </a:ext>
            </a:extLst>
          </p:cNvPr>
          <p:cNvSpPr txBox="1"/>
          <p:nvPr/>
        </p:nvSpPr>
        <p:spPr>
          <a:xfrm>
            <a:off x="750287" y="3784307"/>
            <a:ext cx="1733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entury Gothic"/>
                <a:cs typeface="Century Gothic"/>
              </a:rPr>
              <a:t>.1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39" name="object 38">
            <a:extLst>
              <a:ext uri="{FF2B5EF4-FFF2-40B4-BE49-F238E27FC236}">
                <a16:creationId xmlns:a16="http://schemas.microsoft.com/office/drawing/2014/main" id="{7B4F0748-8245-22DB-775C-20716E0DEB83}"/>
              </a:ext>
            </a:extLst>
          </p:cNvPr>
          <p:cNvGrpSpPr/>
          <p:nvPr/>
        </p:nvGrpSpPr>
        <p:grpSpPr>
          <a:xfrm>
            <a:off x="625026" y="4418951"/>
            <a:ext cx="419100" cy="240665"/>
            <a:chOff x="625026" y="4162704"/>
            <a:chExt cx="419100" cy="240665"/>
          </a:xfrm>
        </p:grpSpPr>
        <p:sp>
          <p:nvSpPr>
            <p:cNvPr id="40" name="object 39">
              <a:extLst>
                <a:ext uri="{FF2B5EF4-FFF2-40B4-BE49-F238E27FC236}">
                  <a16:creationId xmlns:a16="http://schemas.microsoft.com/office/drawing/2014/main" id="{9C5D5C4F-EBCD-C18F-C959-9F477CDCB06B}"/>
                </a:ext>
              </a:extLst>
            </p:cNvPr>
            <p:cNvSpPr/>
            <p:nvPr/>
          </p:nvSpPr>
          <p:spPr>
            <a:xfrm>
              <a:off x="629788" y="4167466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5"/>
                  </a:lnTo>
                  <a:lnTo>
                    <a:pt x="409284" y="38426"/>
                  </a:lnTo>
                  <a:lnTo>
                    <a:pt x="406264" y="23468"/>
                  </a:lnTo>
                  <a:lnTo>
                    <a:pt x="398029" y="11254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0">
              <a:extLst>
                <a:ext uri="{FF2B5EF4-FFF2-40B4-BE49-F238E27FC236}">
                  <a16:creationId xmlns:a16="http://schemas.microsoft.com/office/drawing/2014/main" id="{18D5F2D9-3CFE-2431-BC2D-CD5BDB081ADD}"/>
                </a:ext>
              </a:extLst>
            </p:cNvPr>
            <p:cNvSpPr/>
            <p:nvPr/>
          </p:nvSpPr>
          <p:spPr>
            <a:xfrm>
              <a:off x="629788" y="4167466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2" name="object 41">
            <a:extLst>
              <a:ext uri="{FF2B5EF4-FFF2-40B4-BE49-F238E27FC236}">
                <a16:creationId xmlns:a16="http://schemas.microsoft.com/office/drawing/2014/main" id="{4F2CE341-13C4-EBC1-0DCB-9CE4327781A8}"/>
              </a:ext>
            </a:extLst>
          </p:cNvPr>
          <p:cNvSpPr txBox="1"/>
          <p:nvPr/>
        </p:nvSpPr>
        <p:spPr>
          <a:xfrm>
            <a:off x="772518" y="4406099"/>
            <a:ext cx="124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43" name="object 42">
            <a:extLst>
              <a:ext uri="{FF2B5EF4-FFF2-40B4-BE49-F238E27FC236}">
                <a16:creationId xmlns:a16="http://schemas.microsoft.com/office/drawing/2014/main" id="{C0099551-C17D-EBB4-3F26-F16931EFFC97}"/>
              </a:ext>
            </a:extLst>
          </p:cNvPr>
          <p:cNvGrpSpPr/>
          <p:nvPr/>
        </p:nvGrpSpPr>
        <p:grpSpPr>
          <a:xfrm>
            <a:off x="627401" y="4878919"/>
            <a:ext cx="419100" cy="240665"/>
            <a:chOff x="627401" y="4622672"/>
            <a:chExt cx="419100" cy="240665"/>
          </a:xfrm>
        </p:grpSpPr>
        <p:sp>
          <p:nvSpPr>
            <p:cNvPr id="44" name="object 43">
              <a:extLst>
                <a:ext uri="{FF2B5EF4-FFF2-40B4-BE49-F238E27FC236}">
                  <a16:creationId xmlns:a16="http://schemas.microsoft.com/office/drawing/2014/main" id="{12847646-35F6-2C75-3F59-2DD396DA59A4}"/>
                </a:ext>
              </a:extLst>
            </p:cNvPr>
            <p:cNvSpPr/>
            <p:nvPr/>
          </p:nvSpPr>
          <p:spPr>
            <a:xfrm>
              <a:off x="632163" y="4627435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6"/>
                  </a:lnTo>
                  <a:lnTo>
                    <a:pt x="409284" y="38426"/>
                  </a:lnTo>
                  <a:lnTo>
                    <a:pt x="406264" y="23469"/>
                  </a:lnTo>
                  <a:lnTo>
                    <a:pt x="398029" y="11255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4">
              <a:extLst>
                <a:ext uri="{FF2B5EF4-FFF2-40B4-BE49-F238E27FC236}">
                  <a16:creationId xmlns:a16="http://schemas.microsoft.com/office/drawing/2014/main" id="{65307E62-EC5C-B33E-4DFA-099968E53E33}"/>
                </a:ext>
              </a:extLst>
            </p:cNvPr>
            <p:cNvSpPr/>
            <p:nvPr/>
          </p:nvSpPr>
          <p:spPr>
            <a:xfrm>
              <a:off x="632163" y="4627435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6" name="object 45">
            <a:extLst>
              <a:ext uri="{FF2B5EF4-FFF2-40B4-BE49-F238E27FC236}">
                <a16:creationId xmlns:a16="http://schemas.microsoft.com/office/drawing/2014/main" id="{28594F93-F2B3-C01E-81A8-D7796FFBA92D}"/>
              </a:ext>
            </a:extLst>
          </p:cNvPr>
          <p:cNvSpPr txBox="1"/>
          <p:nvPr/>
        </p:nvSpPr>
        <p:spPr>
          <a:xfrm>
            <a:off x="750287" y="4866347"/>
            <a:ext cx="1733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entury Gothic"/>
                <a:cs typeface="Century Gothic"/>
              </a:rPr>
              <a:t>.1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47" name="object 46">
            <a:extLst>
              <a:ext uri="{FF2B5EF4-FFF2-40B4-BE49-F238E27FC236}">
                <a16:creationId xmlns:a16="http://schemas.microsoft.com/office/drawing/2014/main" id="{FB295EBE-350F-9F0D-95FB-890C074AB94D}"/>
              </a:ext>
            </a:extLst>
          </p:cNvPr>
          <p:cNvGrpSpPr/>
          <p:nvPr/>
        </p:nvGrpSpPr>
        <p:grpSpPr>
          <a:xfrm>
            <a:off x="624949" y="5415203"/>
            <a:ext cx="419100" cy="240665"/>
            <a:chOff x="624949" y="5158956"/>
            <a:chExt cx="419100" cy="240665"/>
          </a:xfrm>
        </p:grpSpPr>
        <p:sp>
          <p:nvSpPr>
            <p:cNvPr id="48" name="object 47">
              <a:extLst>
                <a:ext uri="{FF2B5EF4-FFF2-40B4-BE49-F238E27FC236}">
                  <a16:creationId xmlns:a16="http://schemas.microsoft.com/office/drawing/2014/main" id="{41D4ADAB-9DC2-7222-F876-7F2B6C2E30BB}"/>
                </a:ext>
              </a:extLst>
            </p:cNvPr>
            <p:cNvSpPr/>
            <p:nvPr/>
          </p:nvSpPr>
          <p:spPr>
            <a:xfrm>
              <a:off x="629711" y="5163718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6"/>
                  </a:lnTo>
                  <a:lnTo>
                    <a:pt x="409284" y="38426"/>
                  </a:lnTo>
                  <a:lnTo>
                    <a:pt x="406264" y="23469"/>
                  </a:lnTo>
                  <a:lnTo>
                    <a:pt x="398029" y="11255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8">
              <a:extLst>
                <a:ext uri="{FF2B5EF4-FFF2-40B4-BE49-F238E27FC236}">
                  <a16:creationId xmlns:a16="http://schemas.microsoft.com/office/drawing/2014/main" id="{4D626150-8D32-41C3-F67B-8A71ED8CC2D1}"/>
                </a:ext>
              </a:extLst>
            </p:cNvPr>
            <p:cNvSpPr/>
            <p:nvPr/>
          </p:nvSpPr>
          <p:spPr>
            <a:xfrm>
              <a:off x="629711" y="5163718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0" name="object 49">
            <a:extLst>
              <a:ext uri="{FF2B5EF4-FFF2-40B4-BE49-F238E27FC236}">
                <a16:creationId xmlns:a16="http://schemas.microsoft.com/office/drawing/2014/main" id="{3BD3D45B-C98E-0210-534C-A107E893D7D4}"/>
              </a:ext>
            </a:extLst>
          </p:cNvPr>
          <p:cNvSpPr txBox="1"/>
          <p:nvPr/>
        </p:nvSpPr>
        <p:spPr>
          <a:xfrm>
            <a:off x="772441" y="5399747"/>
            <a:ext cx="124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1" name="object 50">
            <a:extLst>
              <a:ext uri="{FF2B5EF4-FFF2-40B4-BE49-F238E27FC236}">
                <a16:creationId xmlns:a16="http://schemas.microsoft.com/office/drawing/2014/main" id="{F8D58AD0-B82A-9EE5-8746-732B844D492F}"/>
              </a:ext>
            </a:extLst>
          </p:cNvPr>
          <p:cNvSpPr txBox="1"/>
          <p:nvPr/>
        </p:nvSpPr>
        <p:spPr>
          <a:xfrm>
            <a:off x="549783" y="2712426"/>
            <a:ext cx="690880" cy="3733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95250">
              <a:lnSpc>
                <a:spcPts val="1300"/>
              </a:lnSpc>
              <a:spcBef>
                <a:spcPts val="260"/>
              </a:spcBef>
            </a:pPr>
            <a:r>
              <a:rPr sz="1200" i="1" spc="-10" dirty="0">
                <a:latin typeface="Century Gothic"/>
                <a:cs typeface="Century Gothic"/>
              </a:rPr>
              <a:t>Nodes Required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52" name="object 51">
            <a:extLst>
              <a:ext uri="{FF2B5EF4-FFF2-40B4-BE49-F238E27FC236}">
                <a16:creationId xmlns:a16="http://schemas.microsoft.com/office/drawing/2014/main" id="{C825E56A-E25E-7CD2-F41C-F16C2AA4D8E8}"/>
              </a:ext>
            </a:extLst>
          </p:cNvPr>
          <p:cNvSpPr txBox="1"/>
          <p:nvPr/>
        </p:nvSpPr>
        <p:spPr>
          <a:xfrm>
            <a:off x="1634827" y="2715475"/>
            <a:ext cx="690880" cy="3733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163830">
              <a:lnSpc>
                <a:spcPts val="1300"/>
              </a:lnSpc>
              <a:spcBef>
                <a:spcPts val="260"/>
              </a:spcBef>
            </a:pPr>
            <a:r>
              <a:rPr sz="1200" i="1" spc="-20" dirty="0">
                <a:latin typeface="Century Gothic"/>
                <a:cs typeface="Century Gothic"/>
              </a:rPr>
              <a:t>Time </a:t>
            </a:r>
            <a:r>
              <a:rPr sz="1200" i="1" spc="-10" dirty="0">
                <a:latin typeface="Century Gothic"/>
                <a:cs typeface="Century Gothic"/>
              </a:rPr>
              <a:t>Required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53" name="object 52">
            <a:extLst>
              <a:ext uri="{FF2B5EF4-FFF2-40B4-BE49-F238E27FC236}">
                <a16:creationId xmlns:a16="http://schemas.microsoft.com/office/drawing/2014/main" id="{D967C895-0BF6-20AC-4E8F-A513B90EC4E3}"/>
              </a:ext>
            </a:extLst>
          </p:cNvPr>
          <p:cNvGrpSpPr/>
          <p:nvPr/>
        </p:nvGrpSpPr>
        <p:grpSpPr>
          <a:xfrm>
            <a:off x="1397025" y="6291793"/>
            <a:ext cx="950594" cy="260985"/>
            <a:chOff x="1397025" y="6035546"/>
            <a:chExt cx="950594" cy="260985"/>
          </a:xfrm>
        </p:grpSpPr>
        <p:sp>
          <p:nvSpPr>
            <p:cNvPr id="54" name="object 53">
              <a:extLst>
                <a:ext uri="{FF2B5EF4-FFF2-40B4-BE49-F238E27FC236}">
                  <a16:creationId xmlns:a16="http://schemas.microsoft.com/office/drawing/2014/main" id="{96F8964A-12E6-3C40-8FA0-B3893B14F95D}"/>
                </a:ext>
              </a:extLst>
            </p:cNvPr>
            <p:cNvSpPr/>
            <p:nvPr/>
          </p:nvSpPr>
          <p:spPr>
            <a:xfrm>
              <a:off x="1401787" y="6040308"/>
              <a:ext cx="941069" cy="251460"/>
            </a:xfrm>
            <a:custGeom>
              <a:avLst/>
              <a:gdLst/>
              <a:ahLst/>
              <a:cxnLst/>
              <a:rect l="l" t="t" r="r" b="b"/>
              <a:pathLst>
                <a:path w="941069" h="251460">
                  <a:moveTo>
                    <a:pt x="898638" y="0"/>
                  </a:moveTo>
                  <a:lnTo>
                    <a:pt x="41851" y="0"/>
                  </a:lnTo>
                  <a:lnTo>
                    <a:pt x="25561" y="3288"/>
                  </a:lnTo>
                  <a:lnTo>
                    <a:pt x="12258" y="12258"/>
                  </a:lnTo>
                  <a:lnTo>
                    <a:pt x="3288" y="25561"/>
                  </a:lnTo>
                  <a:lnTo>
                    <a:pt x="0" y="41852"/>
                  </a:lnTo>
                  <a:lnTo>
                    <a:pt x="0" y="209255"/>
                  </a:lnTo>
                  <a:lnTo>
                    <a:pt x="3288" y="225546"/>
                  </a:lnTo>
                  <a:lnTo>
                    <a:pt x="12258" y="238849"/>
                  </a:lnTo>
                  <a:lnTo>
                    <a:pt x="25561" y="247819"/>
                  </a:lnTo>
                  <a:lnTo>
                    <a:pt x="41851" y="251108"/>
                  </a:lnTo>
                  <a:lnTo>
                    <a:pt x="898638" y="251108"/>
                  </a:lnTo>
                  <a:lnTo>
                    <a:pt x="914928" y="247819"/>
                  </a:lnTo>
                  <a:lnTo>
                    <a:pt x="928231" y="238849"/>
                  </a:lnTo>
                  <a:lnTo>
                    <a:pt x="937200" y="225546"/>
                  </a:lnTo>
                  <a:lnTo>
                    <a:pt x="940489" y="209255"/>
                  </a:lnTo>
                  <a:lnTo>
                    <a:pt x="940489" y="41852"/>
                  </a:lnTo>
                  <a:lnTo>
                    <a:pt x="937200" y="25561"/>
                  </a:lnTo>
                  <a:lnTo>
                    <a:pt x="928231" y="12258"/>
                  </a:lnTo>
                  <a:lnTo>
                    <a:pt x="914928" y="3288"/>
                  </a:lnTo>
                  <a:lnTo>
                    <a:pt x="898638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4">
              <a:extLst>
                <a:ext uri="{FF2B5EF4-FFF2-40B4-BE49-F238E27FC236}">
                  <a16:creationId xmlns:a16="http://schemas.microsoft.com/office/drawing/2014/main" id="{2AC9CC96-AF6E-E536-61B6-7A8A01F4B55F}"/>
                </a:ext>
              </a:extLst>
            </p:cNvPr>
            <p:cNvSpPr/>
            <p:nvPr/>
          </p:nvSpPr>
          <p:spPr>
            <a:xfrm>
              <a:off x="1401787" y="6040308"/>
              <a:ext cx="941069" cy="251460"/>
            </a:xfrm>
            <a:custGeom>
              <a:avLst/>
              <a:gdLst/>
              <a:ahLst/>
              <a:cxnLst/>
              <a:rect l="l" t="t" r="r" b="b"/>
              <a:pathLst>
                <a:path w="941069" h="251460">
                  <a:moveTo>
                    <a:pt x="0" y="41852"/>
                  </a:moveTo>
                  <a:lnTo>
                    <a:pt x="3288" y="25561"/>
                  </a:lnTo>
                  <a:lnTo>
                    <a:pt x="12258" y="12258"/>
                  </a:lnTo>
                  <a:lnTo>
                    <a:pt x="25561" y="3288"/>
                  </a:lnTo>
                  <a:lnTo>
                    <a:pt x="41852" y="0"/>
                  </a:lnTo>
                  <a:lnTo>
                    <a:pt x="898638" y="0"/>
                  </a:lnTo>
                  <a:lnTo>
                    <a:pt x="914928" y="3288"/>
                  </a:lnTo>
                  <a:lnTo>
                    <a:pt x="928231" y="12258"/>
                  </a:lnTo>
                  <a:lnTo>
                    <a:pt x="937201" y="25561"/>
                  </a:lnTo>
                  <a:lnTo>
                    <a:pt x="940490" y="41852"/>
                  </a:lnTo>
                  <a:lnTo>
                    <a:pt x="940490" y="209256"/>
                  </a:lnTo>
                  <a:lnTo>
                    <a:pt x="937201" y="225546"/>
                  </a:lnTo>
                  <a:lnTo>
                    <a:pt x="928231" y="238849"/>
                  </a:lnTo>
                  <a:lnTo>
                    <a:pt x="914928" y="247819"/>
                  </a:lnTo>
                  <a:lnTo>
                    <a:pt x="898638" y="251108"/>
                  </a:lnTo>
                  <a:lnTo>
                    <a:pt x="41852" y="251108"/>
                  </a:lnTo>
                  <a:lnTo>
                    <a:pt x="25561" y="247819"/>
                  </a:lnTo>
                  <a:lnTo>
                    <a:pt x="12258" y="238849"/>
                  </a:lnTo>
                  <a:lnTo>
                    <a:pt x="3288" y="225546"/>
                  </a:lnTo>
                  <a:lnTo>
                    <a:pt x="0" y="209256"/>
                  </a:lnTo>
                  <a:lnTo>
                    <a:pt x="0" y="41852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6" name="object 55">
            <a:extLst>
              <a:ext uri="{FF2B5EF4-FFF2-40B4-BE49-F238E27FC236}">
                <a16:creationId xmlns:a16="http://schemas.microsoft.com/office/drawing/2014/main" id="{90BAFE23-549B-2C9E-0394-8E94B09EC93C}"/>
              </a:ext>
            </a:extLst>
          </p:cNvPr>
          <p:cNvSpPr txBox="1"/>
          <p:nvPr/>
        </p:nvSpPr>
        <p:spPr>
          <a:xfrm>
            <a:off x="1510083" y="5848818"/>
            <a:ext cx="723900" cy="671978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45720" marR="36830" indent="-1270" algn="ctr">
              <a:lnSpc>
                <a:spcPts val="1300"/>
              </a:lnSpc>
              <a:spcBef>
                <a:spcPts val="259"/>
              </a:spcBef>
            </a:pPr>
            <a:r>
              <a:rPr sz="1200" b="1" i="1" spc="-10" dirty="0">
                <a:latin typeface="Century Gothic"/>
                <a:cs typeface="Century Gothic"/>
              </a:rPr>
              <a:t>Total Walltime</a:t>
            </a:r>
            <a:endParaRPr sz="12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1400" b="1" spc="-10" dirty="0">
                <a:latin typeface="Century Gothic"/>
                <a:cs typeface="Century Gothic"/>
              </a:rPr>
              <a:t>01:30:00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57" name="object 56">
            <a:extLst>
              <a:ext uri="{FF2B5EF4-FFF2-40B4-BE49-F238E27FC236}">
                <a16:creationId xmlns:a16="http://schemas.microsoft.com/office/drawing/2014/main" id="{3147DF0B-D6EF-03CB-A697-9556F2633568}"/>
              </a:ext>
            </a:extLst>
          </p:cNvPr>
          <p:cNvGrpSpPr/>
          <p:nvPr/>
        </p:nvGrpSpPr>
        <p:grpSpPr>
          <a:xfrm>
            <a:off x="624949" y="6293341"/>
            <a:ext cx="419100" cy="240665"/>
            <a:chOff x="624949" y="6037094"/>
            <a:chExt cx="419100" cy="240665"/>
          </a:xfrm>
        </p:grpSpPr>
        <p:sp>
          <p:nvSpPr>
            <p:cNvPr id="58" name="object 57">
              <a:extLst>
                <a:ext uri="{FF2B5EF4-FFF2-40B4-BE49-F238E27FC236}">
                  <a16:creationId xmlns:a16="http://schemas.microsoft.com/office/drawing/2014/main" id="{9B97DC8B-6A26-BF3E-F9A3-B29681D2521A}"/>
                </a:ext>
              </a:extLst>
            </p:cNvPr>
            <p:cNvSpPr/>
            <p:nvPr/>
          </p:nvSpPr>
          <p:spPr>
            <a:xfrm>
              <a:off x="629711" y="6041856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5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5"/>
                  </a:lnTo>
                  <a:lnTo>
                    <a:pt x="409284" y="38425"/>
                  </a:lnTo>
                  <a:lnTo>
                    <a:pt x="406264" y="23468"/>
                  </a:lnTo>
                  <a:lnTo>
                    <a:pt x="398029" y="11254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9" name="object 58">
              <a:extLst>
                <a:ext uri="{FF2B5EF4-FFF2-40B4-BE49-F238E27FC236}">
                  <a16:creationId xmlns:a16="http://schemas.microsoft.com/office/drawing/2014/main" id="{0FFD9960-D824-AB21-6F67-AF52B25CE220}"/>
                </a:ext>
              </a:extLst>
            </p:cNvPr>
            <p:cNvSpPr/>
            <p:nvPr/>
          </p:nvSpPr>
          <p:spPr>
            <a:xfrm>
              <a:off x="629711" y="6041856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0" name="object 59">
            <a:extLst>
              <a:ext uri="{FF2B5EF4-FFF2-40B4-BE49-F238E27FC236}">
                <a16:creationId xmlns:a16="http://schemas.microsoft.com/office/drawing/2014/main" id="{C5945EB8-8C65-66D4-7D0F-F8B6C0DCA4A5}"/>
              </a:ext>
            </a:extLst>
          </p:cNvPr>
          <p:cNvSpPr txBox="1"/>
          <p:nvPr/>
        </p:nvSpPr>
        <p:spPr>
          <a:xfrm>
            <a:off x="332704" y="5848818"/>
            <a:ext cx="1003935" cy="659154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algn="ctr">
              <a:lnSpc>
                <a:spcPts val="1300"/>
              </a:lnSpc>
              <a:spcBef>
                <a:spcPts val="259"/>
              </a:spcBef>
            </a:pPr>
            <a:r>
              <a:rPr sz="1200" b="1" i="1" spc="-10" dirty="0">
                <a:latin typeface="Century Gothic"/>
                <a:cs typeface="Century Gothic"/>
              </a:rPr>
              <a:t>Simultaneous Nodes</a:t>
            </a:r>
            <a:endParaRPr sz="12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1400" b="1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pic>
        <p:nvPicPr>
          <p:cNvPr id="61" name="object 60">
            <a:extLst>
              <a:ext uri="{FF2B5EF4-FFF2-40B4-BE49-F238E27FC236}">
                <a16:creationId xmlns:a16="http://schemas.microsoft.com/office/drawing/2014/main" id="{A92ADEB9-1310-B9FD-87FE-88FC90E3D26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9176" y="4142447"/>
            <a:ext cx="164592" cy="192024"/>
          </a:xfrm>
          <a:prstGeom prst="rect">
            <a:avLst/>
          </a:prstGeom>
        </p:spPr>
      </p:pic>
      <p:pic>
        <p:nvPicPr>
          <p:cNvPr id="62" name="object 61">
            <a:extLst>
              <a:ext uri="{FF2B5EF4-FFF2-40B4-BE49-F238E27FC236}">
                <a16:creationId xmlns:a16="http://schemas.microsoft.com/office/drawing/2014/main" id="{6D1BEA88-A394-DB04-AC75-7833F1AF18A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9176" y="3615143"/>
            <a:ext cx="164592" cy="192024"/>
          </a:xfrm>
          <a:prstGeom prst="rect">
            <a:avLst/>
          </a:prstGeom>
        </p:spPr>
      </p:pic>
      <p:pic>
        <p:nvPicPr>
          <p:cNvPr id="63" name="object 62">
            <a:extLst>
              <a:ext uri="{FF2B5EF4-FFF2-40B4-BE49-F238E27FC236}">
                <a16:creationId xmlns:a16="http://schemas.microsoft.com/office/drawing/2014/main" id="{C919BD61-FDEA-76BF-A708-63F9DB9177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9176" y="4678894"/>
            <a:ext cx="164592" cy="192024"/>
          </a:xfrm>
          <a:prstGeom prst="rect">
            <a:avLst/>
          </a:prstGeom>
        </p:spPr>
      </p:pic>
      <p:pic>
        <p:nvPicPr>
          <p:cNvPr id="64" name="object 63">
            <a:extLst>
              <a:ext uri="{FF2B5EF4-FFF2-40B4-BE49-F238E27FC236}">
                <a16:creationId xmlns:a16="http://schemas.microsoft.com/office/drawing/2014/main" id="{743808A3-686C-35EF-7F97-9D772E9B16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9176" y="5175718"/>
            <a:ext cx="164592" cy="192024"/>
          </a:xfrm>
          <a:prstGeom prst="rect">
            <a:avLst/>
          </a:prstGeom>
        </p:spPr>
      </p:pic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19437AB-7564-3BA7-D10C-A445DEA2BBAE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5176664" y="2175312"/>
            <a:ext cx="2171935" cy="514579"/>
          </a:xfrm>
          <a:prstGeom prst="straightConnector1">
            <a:avLst/>
          </a:prstGeom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2C40CBE-8BEC-1345-E5D2-9A5A57DB3370}"/>
              </a:ext>
            </a:extLst>
          </p:cNvPr>
          <p:cNvCxnSpPr>
            <a:cxnSpLocks/>
          </p:cNvCxnSpPr>
          <p:nvPr/>
        </p:nvCxnSpPr>
        <p:spPr>
          <a:xfrm flipH="1" flipV="1">
            <a:off x="8056984" y="3673253"/>
            <a:ext cx="2004949" cy="216065"/>
          </a:xfrm>
          <a:prstGeom prst="straightConnector1">
            <a:avLst/>
          </a:prstGeom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B59B50DA-1CF1-0DE0-0281-21BB34277C07}"/>
              </a:ext>
            </a:extLst>
          </p:cNvPr>
          <p:cNvCxnSpPr>
            <a:cxnSpLocks/>
          </p:cNvCxnSpPr>
          <p:nvPr/>
        </p:nvCxnSpPr>
        <p:spPr>
          <a:xfrm flipH="1">
            <a:off x="9317608" y="3918674"/>
            <a:ext cx="744325" cy="223773"/>
          </a:xfrm>
          <a:prstGeom prst="straightConnector1">
            <a:avLst/>
          </a:prstGeom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291993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0" dirty="0"/>
              <a:t>Multiple</a:t>
            </a:r>
            <a:r>
              <a:rPr lang="en-US" altLang="zh-CN" b="0" spc="-40" dirty="0"/>
              <a:t> </a:t>
            </a:r>
            <a:r>
              <a:rPr lang="en-US" altLang="zh-CN" b="0" dirty="0" err="1"/>
              <a:t>Jsruns</a:t>
            </a:r>
            <a:r>
              <a:rPr lang="en-US" altLang="zh-CN" b="0" spc="-15" dirty="0"/>
              <a:t> </a:t>
            </a:r>
            <a:r>
              <a:rPr lang="en-US" altLang="zh-CN" dirty="0"/>
              <a:t>Simultaneously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65" name="object 3">
            <a:extLst>
              <a:ext uri="{FF2B5EF4-FFF2-40B4-BE49-F238E27FC236}">
                <a16:creationId xmlns:a16="http://schemas.microsoft.com/office/drawing/2014/main" id="{7CD5A4E6-8A69-55F4-5C79-130BE140C8A5}"/>
              </a:ext>
            </a:extLst>
          </p:cNvPr>
          <p:cNvSpPr/>
          <p:nvPr/>
        </p:nvSpPr>
        <p:spPr>
          <a:xfrm>
            <a:off x="2443200" y="1129582"/>
            <a:ext cx="9384665" cy="5078730"/>
          </a:xfrm>
          <a:custGeom>
            <a:avLst/>
            <a:gdLst/>
            <a:ahLst/>
            <a:cxnLst/>
            <a:rect l="l" t="t" r="r" b="b"/>
            <a:pathLst>
              <a:path w="9384665" h="5078730">
                <a:moveTo>
                  <a:pt x="9384093" y="0"/>
                </a:moveTo>
                <a:lnTo>
                  <a:pt x="0" y="0"/>
                </a:lnTo>
                <a:lnTo>
                  <a:pt x="0" y="722363"/>
                </a:lnTo>
                <a:lnTo>
                  <a:pt x="0" y="4360837"/>
                </a:lnTo>
                <a:lnTo>
                  <a:pt x="0" y="5078311"/>
                </a:lnTo>
                <a:lnTo>
                  <a:pt x="9384093" y="5078311"/>
                </a:lnTo>
                <a:lnTo>
                  <a:pt x="9384093" y="4360837"/>
                </a:lnTo>
                <a:lnTo>
                  <a:pt x="9384093" y="722363"/>
                </a:lnTo>
                <a:lnTo>
                  <a:pt x="9384093" y="0"/>
                </a:lnTo>
                <a:close/>
              </a:path>
            </a:pathLst>
          </a:custGeom>
          <a:solidFill>
            <a:srgbClr val="DDE7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">
            <a:extLst>
              <a:ext uri="{FF2B5EF4-FFF2-40B4-BE49-F238E27FC236}">
                <a16:creationId xmlns:a16="http://schemas.microsoft.com/office/drawing/2014/main" id="{A3CBBA5F-96E0-3CA3-7FD7-E20B63496050}"/>
              </a:ext>
            </a:extLst>
          </p:cNvPr>
          <p:cNvSpPr txBox="1"/>
          <p:nvPr/>
        </p:nvSpPr>
        <p:spPr>
          <a:xfrm>
            <a:off x="2521950" y="1124578"/>
            <a:ext cx="150247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#!/bin/bash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7" name="object 5">
            <a:extLst>
              <a:ext uri="{FF2B5EF4-FFF2-40B4-BE49-F238E27FC236}">
                <a16:creationId xmlns:a16="http://schemas.microsoft.com/office/drawing/2014/main" id="{D7360662-82D4-193B-0794-511CC46B41DE}"/>
              </a:ext>
            </a:extLst>
          </p:cNvPr>
          <p:cNvSpPr txBox="1"/>
          <p:nvPr/>
        </p:nvSpPr>
        <p:spPr>
          <a:xfrm>
            <a:off x="2521950" y="1618355"/>
            <a:ext cx="2366682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#BSUB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-W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1:00</a:t>
            </a:r>
            <a:endParaRPr sz="2000" dirty="0">
              <a:latin typeface="Arial"/>
              <a:cs typeface="Arial"/>
            </a:endParaRPr>
          </a:p>
          <a:p>
            <a:pPr marL="12700" marR="5080">
              <a:spcBef>
                <a:spcPts val="204"/>
              </a:spcBef>
            </a:pPr>
            <a:r>
              <a:rPr sz="2000" dirty="0">
                <a:latin typeface="Arial"/>
                <a:cs typeface="Arial"/>
              </a:rPr>
              <a:t>#BSUB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-nnodes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6 </a:t>
            </a:r>
            <a:r>
              <a:rPr sz="2000" dirty="0">
                <a:latin typeface="Arial"/>
                <a:cs typeface="Arial"/>
              </a:rPr>
              <a:t>#BSUB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abc007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8" name="object 6">
            <a:extLst>
              <a:ext uri="{FF2B5EF4-FFF2-40B4-BE49-F238E27FC236}">
                <a16:creationId xmlns:a16="http://schemas.microsoft.com/office/drawing/2014/main" id="{4DC265EF-25AD-244A-13AA-910F707CA4F2}"/>
              </a:ext>
            </a:extLst>
          </p:cNvPr>
          <p:cNvSpPr txBox="1"/>
          <p:nvPr/>
        </p:nvSpPr>
        <p:spPr>
          <a:xfrm>
            <a:off x="2518681" y="2876845"/>
            <a:ext cx="373483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cd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$MEMBERWORK/abc007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9" name="object 7">
            <a:extLst>
              <a:ext uri="{FF2B5EF4-FFF2-40B4-BE49-F238E27FC236}">
                <a16:creationId xmlns:a16="http://schemas.microsoft.com/office/drawing/2014/main" id="{C80A99E7-83D6-ACFC-D575-32E7A606EC92}"/>
              </a:ext>
            </a:extLst>
          </p:cNvPr>
          <p:cNvSpPr txBox="1"/>
          <p:nvPr/>
        </p:nvSpPr>
        <p:spPr>
          <a:xfrm>
            <a:off x="2521950" y="3599555"/>
            <a:ext cx="488696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jsrun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–n12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–r6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–g1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–a2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–c2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./a.out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fileA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&amp;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0" name="object 8">
            <a:extLst>
              <a:ext uri="{FF2B5EF4-FFF2-40B4-BE49-F238E27FC236}">
                <a16:creationId xmlns:a16="http://schemas.microsoft.com/office/drawing/2014/main" id="{A5CC50E7-65B8-B561-42E5-D6A088673AA9}"/>
              </a:ext>
            </a:extLst>
          </p:cNvPr>
          <p:cNvSpPr txBox="1"/>
          <p:nvPr/>
        </p:nvSpPr>
        <p:spPr>
          <a:xfrm>
            <a:off x="2521950" y="4337171"/>
            <a:ext cx="488696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jsrun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–n12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–r6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–g1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–a2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–c2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./a.out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&amp;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1" name="object 9">
            <a:extLst>
              <a:ext uri="{FF2B5EF4-FFF2-40B4-BE49-F238E27FC236}">
                <a16:creationId xmlns:a16="http://schemas.microsoft.com/office/drawing/2014/main" id="{FF557F91-3B37-8D19-2E26-1F83DB89CB2F}"/>
              </a:ext>
            </a:extLst>
          </p:cNvPr>
          <p:cNvSpPr txBox="1"/>
          <p:nvPr/>
        </p:nvSpPr>
        <p:spPr>
          <a:xfrm>
            <a:off x="2521950" y="5074787"/>
            <a:ext cx="488696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jsrun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–n12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–r6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–g1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–a2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–c2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./a.out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fileC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&amp;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2" name="object 10">
            <a:extLst>
              <a:ext uri="{FF2B5EF4-FFF2-40B4-BE49-F238E27FC236}">
                <a16:creationId xmlns:a16="http://schemas.microsoft.com/office/drawing/2014/main" id="{FF7DDA1E-8E7D-8ABF-0F5E-51DE8FC01D5E}"/>
              </a:ext>
            </a:extLst>
          </p:cNvPr>
          <p:cNvSpPr txBox="1"/>
          <p:nvPr/>
        </p:nvSpPr>
        <p:spPr>
          <a:xfrm>
            <a:off x="2521950" y="5824594"/>
            <a:ext cx="87905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"/>
                <a:cs typeface="Arial"/>
              </a:rPr>
              <a:t>wait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3" name="object 11">
            <a:extLst>
              <a:ext uri="{FF2B5EF4-FFF2-40B4-BE49-F238E27FC236}">
                <a16:creationId xmlns:a16="http://schemas.microsoft.com/office/drawing/2014/main" id="{DC09AD10-D36F-2375-CC18-9F2A49F28A43}"/>
              </a:ext>
            </a:extLst>
          </p:cNvPr>
          <p:cNvSpPr txBox="1"/>
          <p:nvPr/>
        </p:nvSpPr>
        <p:spPr>
          <a:xfrm>
            <a:off x="8343488" y="873215"/>
            <a:ext cx="2796164" cy="862544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98425" marR="90805" algn="ctr">
              <a:lnSpc>
                <a:spcPct val="88300"/>
              </a:lnSpc>
              <a:spcBef>
                <a:spcPts val="390"/>
              </a:spcBef>
            </a:pPr>
            <a:r>
              <a:rPr sz="2000" dirty="0">
                <a:latin typeface="Arial"/>
                <a:cs typeface="Arial"/>
              </a:rPr>
              <a:t>Walltime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should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be </a:t>
            </a:r>
            <a:r>
              <a:rPr sz="2000" dirty="0">
                <a:latin typeface="Arial"/>
                <a:cs typeface="Arial"/>
              </a:rPr>
              <a:t>long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enough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run </a:t>
            </a:r>
            <a:r>
              <a:rPr sz="2000" dirty="0">
                <a:latin typeface="Arial"/>
                <a:cs typeface="Arial"/>
              </a:rPr>
              <a:t>longest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running jsrun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4" name="object 12">
            <a:extLst>
              <a:ext uri="{FF2B5EF4-FFF2-40B4-BE49-F238E27FC236}">
                <a16:creationId xmlns:a16="http://schemas.microsoft.com/office/drawing/2014/main" id="{C3A40734-B70A-EF2A-E1E4-782689581B6E}"/>
              </a:ext>
            </a:extLst>
          </p:cNvPr>
          <p:cNvSpPr/>
          <p:nvPr/>
        </p:nvSpPr>
        <p:spPr>
          <a:xfrm>
            <a:off x="4458112" y="1343614"/>
            <a:ext cx="3887201" cy="494030"/>
          </a:xfrm>
          <a:custGeom>
            <a:avLst/>
            <a:gdLst/>
            <a:ahLst/>
            <a:cxnLst/>
            <a:rect l="l" t="t" r="r" b="b"/>
            <a:pathLst>
              <a:path w="4144009" h="494030">
                <a:moveTo>
                  <a:pt x="104851" y="304102"/>
                </a:moveTo>
                <a:lnTo>
                  <a:pt x="0" y="409665"/>
                </a:lnTo>
                <a:lnTo>
                  <a:pt x="122740" y="493760"/>
                </a:lnTo>
                <a:lnTo>
                  <a:pt x="115753" y="419686"/>
                </a:lnTo>
                <a:lnTo>
                  <a:pt x="96617" y="419686"/>
                </a:lnTo>
                <a:lnTo>
                  <a:pt x="93038" y="381755"/>
                </a:lnTo>
                <a:lnTo>
                  <a:pt x="112006" y="379966"/>
                </a:lnTo>
                <a:lnTo>
                  <a:pt x="104851" y="304102"/>
                </a:lnTo>
                <a:close/>
              </a:path>
              <a:path w="4144009" h="494030">
                <a:moveTo>
                  <a:pt x="112006" y="379966"/>
                </a:moveTo>
                <a:lnTo>
                  <a:pt x="93038" y="381755"/>
                </a:lnTo>
                <a:lnTo>
                  <a:pt x="96617" y="419686"/>
                </a:lnTo>
                <a:lnTo>
                  <a:pt x="115584" y="417897"/>
                </a:lnTo>
                <a:lnTo>
                  <a:pt x="112006" y="379966"/>
                </a:lnTo>
                <a:close/>
              </a:path>
              <a:path w="4144009" h="494030">
                <a:moveTo>
                  <a:pt x="115584" y="417897"/>
                </a:moveTo>
                <a:lnTo>
                  <a:pt x="96617" y="419686"/>
                </a:lnTo>
                <a:lnTo>
                  <a:pt x="115753" y="419686"/>
                </a:lnTo>
                <a:lnTo>
                  <a:pt x="115584" y="417897"/>
                </a:lnTo>
                <a:close/>
              </a:path>
              <a:path w="4144009" h="494030">
                <a:moveTo>
                  <a:pt x="4140395" y="0"/>
                </a:moveTo>
                <a:lnTo>
                  <a:pt x="112006" y="379966"/>
                </a:lnTo>
                <a:lnTo>
                  <a:pt x="115584" y="417897"/>
                </a:lnTo>
                <a:lnTo>
                  <a:pt x="4143973" y="37932"/>
                </a:lnTo>
                <a:lnTo>
                  <a:pt x="414039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13">
            <a:extLst>
              <a:ext uri="{FF2B5EF4-FFF2-40B4-BE49-F238E27FC236}">
                <a16:creationId xmlns:a16="http://schemas.microsoft.com/office/drawing/2014/main" id="{389798BE-0C0F-0F91-8BA2-7132F33158FE}"/>
              </a:ext>
            </a:extLst>
          </p:cNvPr>
          <p:cNvSpPr txBox="1"/>
          <p:nvPr/>
        </p:nvSpPr>
        <p:spPr>
          <a:xfrm>
            <a:off x="9555830" y="2080180"/>
            <a:ext cx="2468799" cy="1154803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122555" marR="114935" indent="-635" algn="ctr">
              <a:lnSpc>
                <a:spcPct val="89700"/>
              </a:lnSpc>
              <a:spcBef>
                <a:spcPts val="365"/>
              </a:spcBef>
            </a:pPr>
            <a:r>
              <a:rPr sz="2000" dirty="0">
                <a:latin typeface="Arial"/>
                <a:cs typeface="Arial"/>
              </a:rPr>
              <a:t>Allocated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nodes </a:t>
            </a:r>
            <a:r>
              <a:rPr sz="2000" dirty="0">
                <a:latin typeface="Arial"/>
                <a:cs typeface="Arial"/>
              </a:rPr>
              <a:t>should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large </a:t>
            </a:r>
            <a:r>
              <a:rPr sz="2000" dirty="0">
                <a:latin typeface="Arial"/>
                <a:cs typeface="Arial"/>
              </a:rPr>
              <a:t>as the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sum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all </a:t>
            </a:r>
            <a:r>
              <a:rPr sz="2000" spc="-10" dirty="0">
                <a:latin typeface="Arial"/>
                <a:cs typeface="Arial"/>
              </a:rPr>
              <a:t>simultaneous jsruns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6" name="object 14">
            <a:extLst>
              <a:ext uri="{FF2B5EF4-FFF2-40B4-BE49-F238E27FC236}">
                <a16:creationId xmlns:a16="http://schemas.microsoft.com/office/drawing/2014/main" id="{E69382C4-B734-172E-85EE-2BC121FFE06D}"/>
              </a:ext>
            </a:extLst>
          </p:cNvPr>
          <p:cNvSpPr txBox="1"/>
          <p:nvPr/>
        </p:nvSpPr>
        <p:spPr>
          <a:xfrm>
            <a:off x="8277309" y="3629605"/>
            <a:ext cx="3123517" cy="1415131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12395" marR="104775" algn="ctr">
              <a:lnSpc>
                <a:spcPct val="89400"/>
              </a:lnSpc>
              <a:spcBef>
                <a:spcPts val="355"/>
              </a:spcBef>
            </a:pPr>
            <a:r>
              <a:rPr sz="2000" dirty="0">
                <a:latin typeface="Arial"/>
                <a:cs typeface="Arial"/>
              </a:rPr>
              <a:t>Placing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jsruns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dirty="0">
                <a:latin typeface="Arial"/>
                <a:cs typeface="Arial"/>
              </a:rPr>
              <a:t>background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allows </a:t>
            </a:r>
            <a:r>
              <a:rPr sz="2000" dirty="0">
                <a:latin typeface="Arial"/>
                <a:cs typeface="Arial"/>
              </a:rPr>
              <a:t>each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run </a:t>
            </a:r>
            <a:r>
              <a:rPr sz="2000" spc="-25" dirty="0">
                <a:latin typeface="Arial"/>
                <a:cs typeface="Arial"/>
              </a:rPr>
              <a:t>at </a:t>
            </a:r>
            <a:r>
              <a:rPr sz="2000" dirty="0">
                <a:latin typeface="Arial"/>
                <a:cs typeface="Arial"/>
              </a:rPr>
              <a:t>same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time.</a:t>
            </a:r>
            <a:r>
              <a:rPr sz="2000" spc="4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Jsrun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place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each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on </a:t>
            </a:r>
            <a:r>
              <a:rPr sz="2000" spc="-10" dirty="0">
                <a:latin typeface="Arial"/>
                <a:cs typeface="Arial"/>
              </a:rPr>
              <a:t>separate resources.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7" name="object 15">
            <a:extLst>
              <a:ext uri="{FF2B5EF4-FFF2-40B4-BE49-F238E27FC236}">
                <a16:creationId xmlns:a16="http://schemas.microsoft.com/office/drawing/2014/main" id="{87625C54-ED7E-D1C6-AE88-586FE0FA8AA9}"/>
              </a:ext>
            </a:extLst>
          </p:cNvPr>
          <p:cNvSpPr txBox="1"/>
          <p:nvPr/>
        </p:nvSpPr>
        <p:spPr>
          <a:xfrm>
            <a:off x="7912968" y="5490418"/>
            <a:ext cx="4888632" cy="1309910"/>
          </a:xfrm>
          <a:prstGeom prst="rect">
            <a:avLst/>
          </a:prstGeom>
          <a:solidFill>
            <a:srgbClr val="D9D9D9"/>
          </a:solidFill>
          <a:ln w="25400">
            <a:solidFill>
              <a:srgbClr val="7F7F7F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220979" marR="213995" algn="ctr">
              <a:lnSpc>
                <a:spcPct val="88100"/>
              </a:lnSpc>
              <a:spcBef>
                <a:spcPts val="400"/>
              </a:spcBef>
            </a:pPr>
            <a:r>
              <a:rPr sz="2000" dirty="0">
                <a:latin typeface="Arial"/>
                <a:cs typeface="Arial"/>
              </a:rPr>
              <a:t>UNIX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wait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ensures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script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does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not </a:t>
            </a:r>
            <a:r>
              <a:rPr sz="2000" dirty="0">
                <a:latin typeface="Arial"/>
                <a:cs typeface="Arial"/>
              </a:rPr>
              <a:t>exit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before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backgrounded</a:t>
            </a:r>
            <a:r>
              <a:rPr sz="2000" spc="-20" dirty="0">
                <a:latin typeface="Arial"/>
                <a:cs typeface="Arial"/>
              </a:rPr>
              <a:t> work </a:t>
            </a:r>
            <a:r>
              <a:rPr sz="2000" spc="-10" dirty="0">
                <a:latin typeface="Arial"/>
                <a:cs typeface="Arial"/>
              </a:rPr>
              <a:t>completes.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 dirty="0">
              <a:latin typeface="Arial"/>
              <a:cs typeface="Arial"/>
            </a:endParaRPr>
          </a:p>
          <a:p>
            <a:pPr marL="374015" marR="367030" algn="ctr">
              <a:lnSpc>
                <a:spcPts val="1700"/>
              </a:lnSpc>
            </a:pPr>
            <a:r>
              <a:rPr sz="2000" dirty="0">
                <a:latin typeface="Arial"/>
                <a:cs typeface="Arial"/>
              </a:rPr>
              <a:t>Without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wait,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batch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job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will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exit </a:t>
            </a:r>
            <a:r>
              <a:rPr sz="2000" dirty="0">
                <a:latin typeface="Arial"/>
                <a:cs typeface="Arial"/>
              </a:rPr>
              <a:t>before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jsruns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0" dirty="0">
                <a:latin typeface="Arial"/>
                <a:cs typeface="Arial"/>
              </a:rPr>
              <a:t> complete.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8" name="object 16">
            <a:extLst>
              <a:ext uri="{FF2B5EF4-FFF2-40B4-BE49-F238E27FC236}">
                <a16:creationId xmlns:a16="http://schemas.microsoft.com/office/drawing/2014/main" id="{BD196607-94D6-54CA-4369-E750DCA13DEC}"/>
              </a:ext>
            </a:extLst>
          </p:cNvPr>
          <p:cNvSpPr/>
          <p:nvPr/>
        </p:nvSpPr>
        <p:spPr>
          <a:xfrm>
            <a:off x="4024426" y="1976278"/>
            <a:ext cx="5534000" cy="4244340"/>
          </a:xfrm>
          <a:custGeom>
            <a:avLst/>
            <a:gdLst/>
            <a:ahLst/>
            <a:cxnLst/>
            <a:rect l="l" t="t" r="r" b="b"/>
            <a:pathLst>
              <a:path w="6555740" h="4244340">
                <a:moveTo>
                  <a:pt x="5040731" y="2433904"/>
                </a:moveTo>
                <a:lnTo>
                  <a:pt x="5030190" y="2418042"/>
                </a:lnTo>
                <a:lnTo>
                  <a:pt x="5038369" y="2400833"/>
                </a:lnTo>
                <a:lnTo>
                  <a:pt x="3904932" y="1861794"/>
                </a:lnTo>
                <a:lnTo>
                  <a:pt x="3908818" y="1853603"/>
                </a:lnTo>
                <a:lnTo>
                  <a:pt x="3937660" y="1792973"/>
                </a:lnTo>
                <a:lnTo>
                  <a:pt x="3793528" y="1829904"/>
                </a:lnTo>
                <a:lnTo>
                  <a:pt x="3855847" y="1965007"/>
                </a:lnTo>
                <a:lnTo>
                  <a:pt x="3888575" y="1896198"/>
                </a:lnTo>
                <a:lnTo>
                  <a:pt x="4958308" y="2404961"/>
                </a:lnTo>
                <a:lnTo>
                  <a:pt x="3905834" y="2493327"/>
                </a:lnTo>
                <a:lnTo>
                  <a:pt x="3899458" y="2417394"/>
                </a:lnTo>
                <a:lnTo>
                  <a:pt x="3793528" y="2521877"/>
                </a:lnTo>
                <a:lnTo>
                  <a:pt x="3915397" y="2607233"/>
                </a:lnTo>
                <a:lnTo>
                  <a:pt x="3909161" y="2532888"/>
                </a:lnTo>
                <a:lnTo>
                  <a:pt x="3909022" y="2531300"/>
                </a:lnTo>
                <a:lnTo>
                  <a:pt x="4957864" y="2443226"/>
                </a:lnTo>
                <a:lnTo>
                  <a:pt x="3878186" y="3160674"/>
                </a:lnTo>
                <a:lnTo>
                  <a:pt x="3836009" y="3097199"/>
                </a:lnTo>
                <a:lnTo>
                  <a:pt x="3793528" y="3239795"/>
                </a:lnTo>
                <a:lnTo>
                  <a:pt x="3941445" y="3255873"/>
                </a:lnTo>
                <a:lnTo>
                  <a:pt x="3906278" y="3202952"/>
                </a:lnTo>
                <a:lnTo>
                  <a:pt x="3899268" y="3192399"/>
                </a:lnTo>
                <a:lnTo>
                  <a:pt x="5040731" y="2433904"/>
                </a:lnTo>
                <a:close/>
              </a:path>
              <a:path w="6555740" h="4244340">
                <a:moveTo>
                  <a:pt x="5499570" y="4206075"/>
                </a:moveTo>
                <a:lnTo>
                  <a:pt x="115011" y="3975150"/>
                </a:lnTo>
                <a:lnTo>
                  <a:pt x="115049" y="3974338"/>
                </a:lnTo>
                <a:lnTo>
                  <a:pt x="118275" y="3899027"/>
                </a:lnTo>
                <a:lnTo>
                  <a:pt x="0" y="3989286"/>
                </a:lnTo>
                <a:lnTo>
                  <a:pt x="110109" y="4089349"/>
                </a:lnTo>
                <a:lnTo>
                  <a:pt x="113372" y="4013212"/>
                </a:lnTo>
                <a:lnTo>
                  <a:pt x="5497944" y="4244137"/>
                </a:lnTo>
                <a:lnTo>
                  <a:pt x="5499570" y="4206075"/>
                </a:lnTo>
                <a:close/>
              </a:path>
              <a:path w="6555740" h="4244340">
                <a:moveTo>
                  <a:pt x="6555448" y="685165"/>
                </a:moveTo>
                <a:lnTo>
                  <a:pt x="1549158" y="75641"/>
                </a:lnTo>
                <a:lnTo>
                  <a:pt x="1549438" y="73342"/>
                </a:lnTo>
                <a:lnTo>
                  <a:pt x="1558366" y="0"/>
                </a:lnTo>
                <a:lnTo>
                  <a:pt x="1433385" y="80733"/>
                </a:lnTo>
                <a:lnTo>
                  <a:pt x="1535341" y="189103"/>
                </a:lnTo>
                <a:lnTo>
                  <a:pt x="1544548" y="113461"/>
                </a:lnTo>
                <a:lnTo>
                  <a:pt x="6550838" y="722985"/>
                </a:lnTo>
                <a:lnTo>
                  <a:pt x="6555448" y="685165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9" name="object 17">
            <a:extLst>
              <a:ext uri="{FF2B5EF4-FFF2-40B4-BE49-F238E27FC236}">
                <a16:creationId xmlns:a16="http://schemas.microsoft.com/office/drawing/2014/main" id="{551EA01E-AF9E-9803-C2B9-F87912FE948B}"/>
              </a:ext>
            </a:extLst>
          </p:cNvPr>
          <p:cNvGrpSpPr/>
          <p:nvPr/>
        </p:nvGrpSpPr>
        <p:grpSpPr>
          <a:xfrm>
            <a:off x="1336135" y="3683133"/>
            <a:ext cx="950594" cy="240665"/>
            <a:chOff x="1336135" y="3448062"/>
            <a:chExt cx="950594" cy="240665"/>
          </a:xfrm>
        </p:grpSpPr>
        <p:sp>
          <p:nvSpPr>
            <p:cNvPr id="80" name="object 18">
              <a:extLst>
                <a:ext uri="{FF2B5EF4-FFF2-40B4-BE49-F238E27FC236}">
                  <a16:creationId xmlns:a16="http://schemas.microsoft.com/office/drawing/2014/main" id="{53A265F6-891E-0732-55B0-2476C614D418}"/>
                </a:ext>
              </a:extLst>
            </p:cNvPr>
            <p:cNvSpPr/>
            <p:nvPr/>
          </p:nvSpPr>
          <p:spPr>
            <a:xfrm>
              <a:off x="1340897" y="3452825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5" y="219297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7"/>
                  </a:lnTo>
                  <a:lnTo>
                    <a:pt x="937469" y="207083"/>
                  </a:lnTo>
                  <a:lnTo>
                    <a:pt x="940489" y="192126"/>
                  </a:lnTo>
                  <a:lnTo>
                    <a:pt x="940489" y="38426"/>
                  </a:lnTo>
                  <a:lnTo>
                    <a:pt x="937469" y="23469"/>
                  </a:lnTo>
                  <a:lnTo>
                    <a:pt x="929235" y="11255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19">
              <a:extLst>
                <a:ext uri="{FF2B5EF4-FFF2-40B4-BE49-F238E27FC236}">
                  <a16:creationId xmlns:a16="http://schemas.microsoft.com/office/drawing/2014/main" id="{5F6F8A9D-4F61-C028-EBB1-84106A1DCDF1}"/>
                </a:ext>
              </a:extLst>
            </p:cNvPr>
            <p:cNvSpPr/>
            <p:nvPr/>
          </p:nvSpPr>
          <p:spPr>
            <a:xfrm>
              <a:off x="1340897" y="3452825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20">
            <a:extLst>
              <a:ext uri="{FF2B5EF4-FFF2-40B4-BE49-F238E27FC236}">
                <a16:creationId xmlns:a16="http://schemas.microsoft.com/office/drawing/2014/main" id="{110AEF61-8CC8-896D-BE4A-A46AA1326051}"/>
              </a:ext>
            </a:extLst>
          </p:cNvPr>
          <p:cNvSpPr txBox="1"/>
          <p:nvPr/>
        </p:nvSpPr>
        <p:spPr>
          <a:xfrm>
            <a:off x="1453955" y="3206362"/>
            <a:ext cx="792480" cy="70104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14300" marR="5080" indent="163830">
              <a:lnSpc>
                <a:spcPts val="1300"/>
              </a:lnSpc>
              <a:spcBef>
                <a:spcPts val="260"/>
              </a:spcBef>
            </a:pPr>
            <a:r>
              <a:rPr sz="1200" i="1" spc="-20" dirty="0">
                <a:latin typeface="Century Gothic"/>
                <a:cs typeface="Century Gothic"/>
              </a:rPr>
              <a:t>Time </a:t>
            </a:r>
            <a:r>
              <a:rPr sz="1200" i="1" spc="-10" dirty="0">
                <a:latin typeface="Century Gothic"/>
                <a:cs typeface="Century Gothic"/>
              </a:rPr>
              <a:t>Required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00" spc="-10" dirty="0">
                <a:latin typeface="Century Gothic"/>
                <a:cs typeface="Century Gothic"/>
              </a:rPr>
              <a:t>00:25:00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83" name="object 21">
            <a:extLst>
              <a:ext uri="{FF2B5EF4-FFF2-40B4-BE49-F238E27FC236}">
                <a16:creationId xmlns:a16="http://schemas.microsoft.com/office/drawing/2014/main" id="{0962774A-53D7-DD78-2D36-5B8785C9CF00}"/>
              </a:ext>
            </a:extLst>
          </p:cNvPr>
          <p:cNvGrpSpPr/>
          <p:nvPr/>
        </p:nvGrpSpPr>
        <p:grpSpPr>
          <a:xfrm>
            <a:off x="1336274" y="4393757"/>
            <a:ext cx="950594" cy="240665"/>
            <a:chOff x="1336274" y="4158686"/>
            <a:chExt cx="950594" cy="240665"/>
          </a:xfrm>
        </p:grpSpPr>
        <p:sp>
          <p:nvSpPr>
            <p:cNvPr id="84" name="object 22">
              <a:extLst>
                <a:ext uri="{FF2B5EF4-FFF2-40B4-BE49-F238E27FC236}">
                  <a16:creationId xmlns:a16="http://schemas.microsoft.com/office/drawing/2014/main" id="{CC1D380D-D976-71B1-E92B-5D205CD939D0}"/>
                </a:ext>
              </a:extLst>
            </p:cNvPr>
            <p:cNvSpPr/>
            <p:nvPr/>
          </p:nvSpPr>
          <p:spPr>
            <a:xfrm>
              <a:off x="1341037" y="4163448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5" y="219297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7"/>
                  </a:lnTo>
                  <a:lnTo>
                    <a:pt x="937471" y="207083"/>
                  </a:lnTo>
                  <a:lnTo>
                    <a:pt x="940490" y="192125"/>
                  </a:lnTo>
                  <a:lnTo>
                    <a:pt x="940490" y="38426"/>
                  </a:lnTo>
                  <a:lnTo>
                    <a:pt x="937471" y="23469"/>
                  </a:lnTo>
                  <a:lnTo>
                    <a:pt x="929235" y="11255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23">
              <a:extLst>
                <a:ext uri="{FF2B5EF4-FFF2-40B4-BE49-F238E27FC236}">
                  <a16:creationId xmlns:a16="http://schemas.microsoft.com/office/drawing/2014/main" id="{C9D2E6EB-DFAF-E2FC-4A36-7B8A41CE3243}"/>
                </a:ext>
              </a:extLst>
            </p:cNvPr>
            <p:cNvSpPr/>
            <p:nvPr/>
          </p:nvSpPr>
          <p:spPr>
            <a:xfrm>
              <a:off x="1341037" y="4163448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24">
            <a:extLst>
              <a:ext uri="{FF2B5EF4-FFF2-40B4-BE49-F238E27FC236}">
                <a16:creationId xmlns:a16="http://schemas.microsoft.com/office/drawing/2014/main" id="{A15D122E-FEB9-904A-22EF-F9A05ED9F265}"/>
              </a:ext>
            </a:extLst>
          </p:cNvPr>
          <p:cNvSpPr txBox="1"/>
          <p:nvPr/>
        </p:nvSpPr>
        <p:spPr>
          <a:xfrm>
            <a:off x="1454095" y="4378826"/>
            <a:ext cx="714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00:30:00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87" name="object 25">
            <a:extLst>
              <a:ext uri="{FF2B5EF4-FFF2-40B4-BE49-F238E27FC236}">
                <a16:creationId xmlns:a16="http://schemas.microsoft.com/office/drawing/2014/main" id="{44B00FC2-C10B-3711-A7E5-2513529CE232}"/>
              </a:ext>
            </a:extLst>
          </p:cNvPr>
          <p:cNvGrpSpPr/>
          <p:nvPr/>
        </p:nvGrpSpPr>
        <p:grpSpPr>
          <a:xfrm>
            <a:off x="1336135" y="5122886"/>
            <a:ext cx="950594" cy="240665"/>
            <a:chOff x="1336135" y="4887815"/>
            <a:chExt cx="950594" cy="240665"/>
          </a:xfrm>
        </p:grpSpPr>
        <p:sp>
          <p:nvSpPr>
            <p:cNvPr id="88" name="object 26">
              <a:extLst>
                <a:ext uri="{FF2B5EF4-FFF2-40B4-BE49-F238E27FC236}">
                  <a16:creationId xmlns:a16="http://schemas.microsoft.com/office/drawing/2014/main" id="{7C63E7A9-4AD3-5C8F-9DEE-76CA59E4FD28}"/>
                </a:ext>
              </a:extLst>
            </p:cNvPr>
            <p:cNvSpPr/>
            <p:nvPr/>
          </p:nvSpPr>
          <p:spPr>
            <a:xfrm>
              <a:off x="1340897" y="4892578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902064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5" y="11254"/>
                  </a:lnTo>
                  <a:lnTo>
                    <a:pt x="3019" y="23468"/>
                  </a:lnTo>
                  <a:lnTo>
                    <a:pt x="0" y="38425"/>
                  </a:lnTo>
                  <a:lnTo>
                    <a:pt x="0" y="192125"/>
                  </a:lnTo>
                  <a:lnTo>
                    <a:pt x="3019" y="207082"/>
                  </a:lnTo>
                  <a:lnTo>
                    <a:pt x="11255" y="219296"/>
                  </a:lnTo>
                  <a:lnTo>
                    <a:pt x="23469" y="227532"/>
                  </a:lnTo>
                  <a:lnTo>
                    <a:pt x="38426" y="230551"/>
                  </a:lnTo>
                  <a:lnTo>
                    <a:pt x="902064" y="230551"/>
                  </a:lnTo>
                  <a:lnTo>
                    <a:pt x="917021" y="227532"/>
                  </a:lnTo>
                  <a:lnTo>
                    <a:pt x="929235" y="219296"/>
                  </a:lnTo>
                  <a:lnTo>
                    <a:pt x="937469" y="207082"/>
                  </a:lnTo>
                  <a:lnTo>
                    <a:pt x="940489" y="192125"/>
                  </a:lnTo>
                  <a:lnTo>
                    <a:pt x="940489" y="38425"/>
                  </a:lnTo>
                  <a:lnTo>
                    <a:pt x="937469" y="23468"/>
                  </a:lnTo>
                  <a:lnTo>
                    <a:pt x="929235" y="11254"/>
                  </a:lnTo>
                  <a:lnTo>
                    <a:pt x="917021" y="3019"/>
                  </a:lnTo>
                  <a:lnTo>
                    <a:pt x="902064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27">
              <a:extLst>
                <a:ext uri="{FF2B5EF4-FFF2-40B4-BE49-F238E27FC236}">
                  <a16:creationId xmlns:a16="http://schemas.microsoft.com/office/drawing/2014/main" id="{1D76F2C4-4824-45AE-1D30-FCBD3B689768}"/>
                </a:ext>
              </a:extLst>
            </p:cNvPr>
            <p:cNvSpPr/>
            <p:nvPr/>
          </p:nvSpPr>
          <p:spPr>
            <a:xfrm>
              <a:off x="1340897" y="4892578"/>
              <a:ext cx="941069" cy="231140"/>
            </a:xfrm>
            <a:custGeom>
              <a:avLst/>
              <a:gdLst/>
              <a:ahLst/>
              <a:cxnLst/>
              <a:rect l="l" t="t" r="r" b="b"/>
              <a:pathLst>
                <a:path w="941069" h="231139">
                  <a:moveTo>
                    <a:pt x="0" y="38426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902064" y="0"/>
                  </a:lnTo>
                  <a:lnTo>
                    <a:pt x="917021" y="3019"/>
                  </a:lnTo>
                  <a:lnTo>
                    <a:pt x="929235" y="11254"/>
                  </a:lnTo>
                  <a:lnTo>
                    <a:pt x="937470" y="23468"/>
                  </a:lnTo>
                  <a:lnTo>
                    <a:pt x="940490" y="38426"/>
                  </a:lnTo>
                  <a:lnTo>
                    <a:pt x="940490" y="192126"/>
                  </a:lnTo>
                  <a:lnTo>
                    <a:pt x="937470" y="207083"/>
                  </a:lnTo>
                  <a:lnTo>
                    <a:pt x="929235" y="219297"/>
                  </a:lnTo>
                  <a:lnTo>
                    <a:pt x="917021" y="227532"/>
                  </a:lnTo>
                  <a:lnTo>
                    <a:pt x="902064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28">
            <a:extLst>
              <a:ext uri="{FF2B5EF4-FFF2-40B4-BE49-F238E27FC236}">
                <a16:creationId xmlns:a16="http://schemas.microsoft.com/office/drawing/2014/main" id="{464FC864-0070-73DA-D601-90CE80DF75B0}"/>
              </a:ext>
            </a:extLst>
          </p:cNvPr>
          <p:cNvSpPr txBox="1"/>
          <p:nvPr/>
        </p:nvSpPr>
        <p:spPr>
          <a:xfrm>
            <a:off x="1453955" y="5107299"/>
            <a:ext cx="714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entury Gothic"/>
                <a:cs typeface="Century Gothic"/>
              </a:rPr>
              <a:t>00:25:00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91" name="object 29">
            <a:extLst>
              <a:ext uri="{FF2B5EF4-FFF2-40B4-BE49-F238E27FC236}">
                <a16:creationId xmlns:a16="http://schemas.microsoft.com/office/drawing/2014/main" id="{B328E67B-C8E6-24A5-A1B7-A21659AFA6EC}"/>
              </a:ext>
            </a:extLst>
          </p:cNvPr>
          <p:cNvGrpSpPr/>
          <p:nvPr/>
        </p:nvGrpSpPr>
        <p:grpSpPr>
          <a:xfrm>
            <a:off x="570902" y="3683133"/>
            <a:ext cx="419100" cy="240665"/>
            <a:chOff x="570902" y="3448062"/>
            <a:chExt cx="419100" cy="240665"/>
          </a:xfrm>
        </p:grpSpPr>
        <p:sp>
          <p:nvSpPr>
            <p:cNvPr id="92" name="object 30">
              <a:extLst>
                <a:ext uri="{FF2B5EF4-FFF2-40B4-BE49-F238E27FC236}">
                  <a16:creationId xmlns:a16="http://schemas.microsoft.com/office/drawing/2014/main" id="{82F52DF0-E620-9EF6-EEA1-9C61ABA5D029}"/>
                </a:ext>
              </a:extLst>
            </p:cNvPr>
            <p:cNvSpPr/>
            <p:nvPr/>
          </p:nvSpPr>
          <p:spPr>
            <a:xfrm>
              <a:off x="575664" y="3452825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6"/>
                  </a:lnTo>
                  <a:lnTo>
                    <a:pt x="409284" y="38426"/>
                  </a:lnTo>
                  <a:lnTo>
                    <a:pt x="406264" y="23469"/>
                  </a:lnTo>
                  <a:lnTo>
                    <a:pt x="398029" y="11255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31">
              <a:extLst>
                <a:ext uri="{FF2B5EF4-FFF2-40B4-BE49-F238E27FC236}">
                  <a16:creationId xmlns:a16="http://schemas.microsoft.com/office/drawing/2014/main" id="{01618D30-EDD1-9C0E-DAC3-AF858A7E6B60}"/>
                </a:ext>
              </a:extLst>
            </p:cNvPr>
            <p:cNvSpPr/>
            <p:nvPr/>
          </p:nvSpPr>
          <p:spPr>
            <a:xfrm>
              <a:off x="575664" y="3452825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32">
            <a:extLst>
              <a:ext uri="{FF2B5EF4-FFF2-40B4-BE49-F238E27FC236}">
                <a16:creationId xmlns:a16="http://schemas.microsoft.com/office/drawing/2014/main" id="{F77E60A1-0320-DE04-20A9-B6BD823D661F}"/>
              </a:ext>
            </a:extLst>
          </p:cNvPr>
          <p:cNvSpPr txBox="1"/>
          <p:nvPr/>
        </p:nvSpPr>
        <p:spPr>
          <a:xfrm>
            <a:off x="491490" y="3203315"/>
            <a:ext cx="690880" cy="70421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95250">
              <a:lnSpc>
                <a:spcPts val="1300"/>
              </a:lnSpc>
              <a:spcBef>
                <a:spcPts val="260"/>
              </a:spcBef>
            </a:pPr>
            <a:r>
              <a:rPr sz="1200" i="1" spc="-10" dirty="0">
                <a:latin typeface="Century Gothic"/>
                <a:cs typeface="Century Gothic"/>
              </a:rPr>
              <a:t>Nodes Required</a:t>
            </a:r>
            <a:endParaRPr sz="1200">
              <a:latin typeface="Century Gothic"/>
              <a:cs typeface="Century Gothic"/>
            </a:endParaRPr>
          </a:p>
          <a:p>
            <a:pPr marR="104775" algn="ctr">
              <a:lnSpc>
                <a:spcPct val="100000"/>
              </a:lnSpc>
              <a:spcBef>
                <a:spcPts val="900"/>
              </a:spcBef>
            </a:pPr>
            <a:r>
              <a:rPr sz="1400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95" name="object 33">
            <a:extLst>
              <a:ext uri="{FF2B5EF4-FFF2-40B4-BE49-F238E27FC236}">
                <a16:creationId xmlns:a16="http://schemas.microsoft.com/office/drawing/2014/main" id="{1CB824EC-BE4C-4C61-0C61-93CF893022D8}"/>
              </a:ext>
            </a:extLst>
          </p:cNvPr>
          <p:cNvGrpSpPr/>
          <p:nvPr/>
        </p:nvGrpSpPr>
        <p:grpSpPr>
          <a:xfrm>
            <a:off x="573277" y="4375969"/>
            <a:ext cx="419100" cy="240665"/>
            <a:chOff x="573277" y="4140898"/>
            <a:chExt cx="419100" cy="240665"/>
          </a:xfrm>
        </p:grpSpPr>
        <p:sp>
          <p:nvSpPr>
            <p:cNvPr id="96" name="object 34">
              <a:extLst>
                <a:ext uri="{FF2B5EF4-FFF2-40B4-BE49-F238E27FC236}">
                  <a16:creationId xmlns:a16="http://schemas.microsoft.com/office/drawing/2014/main" id="{5340F395-38E6-07D3-5740-F420E3D0D54D}"/>
                </a:ext>
              </a:extLst>
            </p:cNvPr>
            <p:cNvSpPr/>
            <p:nvPr/>
          </p:nvSpPr>
          <p:spPr>
            <a:xfrm>
              <a:off x="578040" y="4145660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5"/>
                  </a:lnTo>
                  <a:lnTo>
                    <a:pt x="409284" y="38426"/>
                  </a:lnTo>
                  <a:lnTo>
                    <a:pt x="406264" y="23468"/>
                  </a:lnTo>
                  <a:lnTo>
                    <a:pt x="398029" y="11254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35">
              <a:extLst>
                <a:ext uri="{FF2B5EF4-FFF2-40B4-BE49-F238E27FC236}">
                  <a16:creationId xmlns:a16="http://schemas.microsoft.com/office/drawing/2014/main" id="{65631FE3-FA6B-C66B-1250-6E9FF4E6AFA8}"/>
                </a:ext>
              </a:extLst>
            </p:cNvPr>
            <p:cNvSpPr/>
            <p:nvPr/>
          </p:nvSpPr>
          <p:spPr>
            <a:xfrm>
              <a:off x="578040" y="4145660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36">
            <a:extLst>
              <a:ext uri="{FF2B5EF4-FFF2-40B4-BE49-F238E27FC236}">
                <a16:creationId xmlns:a16="http://schemas.microsoft.com/office/drawing/2014/main" id="{959C03DD-69EA-BB67-A91A-D8E89323A775}"/>
              </a:ext>
            </a:extLst>
          </p:cNvPr>
          <p:cNvSpPr txBox="1"/>
          <p:nvPr/>
        </p:nvSpPr>
        <p:spPr>
          <a:xfrm>
            <a:off x="720769" y="4360538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99" name="object 37">
            <a:extLst>
              <a:ext uri="{FF2B5EF4-FFF2-40B4-BE49-F238E27FC236}">
                <a16:creationId xmlns:a16="http://schemas.microsoft.com/office/drawing/2014/main" id="{AD41A895-B118-97E2-FDED-3FEBE1692C26}"/>
              </a:ext>
            </a:extLst>
          </p:cNvPr>
          <p:cNvGrpSpPr/>
          <p:nvPr/>
        </p:nvGrpSpPr>
        <p:grpSpPr>
          <a:xfrm>
            <a:off x="570902" y="5120144"/>
            <a:ext cx="419100" cy="240665"/>
            <a:chOff x="570902" y="4885073"/>
            <a:chExt cx="419100" cy="240665"/>
          </a:xfrm>
        </p:grpSpPr>
        <p:sp>
          <p:nvSpPr>
            <p:cNvPr id="100" name="object 38">
              <a:extLst>
                <a:ext uri="{FF2B5EF4-FFF2-40B4-BE49-F238E27FC236}">
                  <a16:creationId xmlns:a16="http://schemas.microsoft.com/office/drawing/2014/main" id="{44503BFB-7CE5-8710-0489-D17C89AC7DD4}"/>
                </a:ext>
              </a:extLst>
            </p:cNvPr>
            <p:cNvSpPr/>
            <p:nvPr/>
          </p:nvSpPr>
          <p:spPr>
            <a:xfrm>
              <a:off x="575664" y="4889836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5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6"/>
                  </a:lnTo>
                  <a:lnTo>
                    <a:pt x="409284" y="38426"/>
                  </a:lnTo>
                  <a:lnTo>
                    <a:pt x="406264" y="23469"/>
                  </a:lnTo>
                  <a:lnTo>
                    <a:pt x="398029" y="11255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39">
              <a:extLst>
                <a:ext uri="{FF2B5EF4-FFF2-40B4-BE49-F238E27FC236}">
                  <a16:creationId xmlns:a16="http://schemas.microsoft.com/office/drawing/2014/main" id="{0A835963-9AD7-FF8B-BD8F-FC92DE837B12}"/>
                </a:ext>
              </a:extLst>
            </p:cNvPr>
            <p:cNvSpPr/>
            <p:nvPr/>
          </p:nvSpPr>
          <p:spPr>
            <a:xfrm>
              <a:off x="575664" y="4889836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40">
            <a:extLst>
              <a:ext uri="{FF2B5EF4-FFF2-40B4-BE49-F238E27FC236}">
                <a16:creationId xmlns:a16="http://schemas.microsoft.com/office/drawing/2014/main" id="{72E23FF9-CF81-4943-601A-74068BF63632}"/>
              </a:ext>
            </a:extLst>
          </p:cNvPr>
          <p:cNvSpPr txBox="1"/>
          <p:nvPr/>
        </p:nvSpPr>
        <p:spPr>
          <a:xfrm>
            <a:off x="718394" y="5107299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entury Gothic"/>
                <a:cs typeface="Century Gothic"/>
              </a:rPr>
              <a:t>2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103" name="object 41">
            <a:extLst>
              <a:ext uri="{FF2B5EF4-FFF2-40B4-BE49-F238E27FC236}">
                <a16:creationId xmlns:a16="http://schemas.microsoft.com/office/drawing/2014/main" id="{CF83C3C9-D161-7B83-E0E1-68611B8F7FE7}"/>
              </a:ext>
            </a:extLst>
          </p:cNvPr>
          <p:cNvGrpSpPr/>
          <p:nvPr/>
        </p:nvGrpSpPr>
        <p:grpSpPr>
          <a:xfrm>
            <a:off x="1237279" y="6200496"/>
            <a:ext cx="1049020" cy="240665"/>
            <a:chOff x="1237279" y="5965425"/>
            <a:chExt cx="1049020" cy="240665"/>
          </a:xfrm>
        </p:grpSpPr>
        <p:sp>
          <p:nvSpPr>
            <p:cNvPr id="104" name="object 42">
              <a:extLst>
                <a:ext uri="{FF2B5EF4-FFF2-40B4-BE49-F238E27FC236}">
                  <a16:creationId xmlns:a16="http://schemas.microsoft.com/office/drawing/2014/main" id="{37CC6302-6F7F-E74C-EF8E-326954A54EAC}"/>
                </a:ext>
              </a:extLst>
            </p:cNvPr>
            <p:cNvSpPr/>
            <p:nvPr/>
          </p:nvSpPr>
          <p:spPr>
            <a:xfrm>
              <a:off x="1242041" y="5970187"/>
              <a:ext cx="1039494" cy="231140"/>
            </a:xfrm>
            <a:custGeom>
              <a:avLst/>
              <a:gdLst/>
              <a:ahLst/>
              <a:cxnLst/>
              <a:rect l="l" t="t" r="r" b="b"/>
              <a:pathLst>
                <a:path w="1039494" h="231139">
                  <a:moveTo>
                    <a:pt x="1000919" y="0"/>
                  </a:moveTo>
                  <a:lnTo>
                    <a:pt x="38426" y="0"/>
                  </a:lnTo>
                  <a:lnTo>
                    <a:pt x="23469" y="3019"/>
                  </a:lnTo>
                  <a:lnTo>
                    <a:pt x="11254" y="11254"/>
                  </a:lnTo>
                  <a:lnTo>
                    <a:pt x="3019" y="23469"/>
                  </a:lnTo>
                  <a:lnTo>
                    <a:pt x="0" y="38426"/>
                  </a:lnTo>
                  <a:lnTo>
                    <a:pt x="0" y="192125"/>
                  </a:lnTo>
                  <a:lnTo>
                    <a:pt x="3019" y="207082"/>
                  </a:lnTo>
                  <a:lnTo>
                    <a:pt x="11254" y="219297"/>
                  </a:lnTo>
                  <a:lnTo>
                    <a:pt x="23469" y="227532"/>
                  </a:lnTo>
                  <a:lnTo>
                    <a:pt x="38426" y="230552"/>
                  </a:lnTo>
                  <a:lnTo>
                    <a:pt x="1000919" y="230552"/>
                  </a:lnTo>
                  <a:lnTo>
                    <a:pt x="1015876" y="227532"/>
                  </a:lnTo>
                  <a:lnTo>
                    <a:pt x="1028090" y="219297"/>
                  </a:lnTo>
                  <a:lnTo>
                    <a:pt x="1036325" y="207082"/>
                  </a:lnTo>
                  <a:lnTo>
                    <a:pt x="1039345" y="192125"/>
                  </a:lnTo>
                  <a:lnTo>
                    <a:pt x="1039345" y="38426"/>
                  </a:lnTo>
                  <a:lnTo>
                    <a:pt x="1036325" y="23469"/>
                  </a:lnTo>
                  <a:lnTo>
                    <a:pt x="1028090" y="11254"/>
                  </a:lnTo>
                  <a:lnTo>
                    <a:pt x="1015876" y="3019"/>
                  </a:lnTo>
                  <a:lnTo>
                    <a:pt x="1000919" y="0"/>
                  </a:lnTo>
                  <a:close/>
                </a:path>
              </a:pathLst>
            </a:custGeom>
            <a:solidFill>
              <a:srgbClr val="ACB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43">
              <a:extLst>
                <a:ext uri="{FF2B5EF4-FFF2-40B4-BE49-F238E27FC236}">
                  <a16:creationId xmlns:a16="http://schemas.microsoft.com/office/drawing/2014/main" id="{9EAB3D35-6ADA-A4AD-442C-BA7D6D68AC9B}"/>
                </a:ext>
              </a:extLst>
            </p:cNvPr>
            <p:cNvSpPr/>
            <p:nvPr/>
          </p:nvSpPr>
          <p:spPr>
            <a:xfrm>
              <a:off x="1242041" y="5970187"/>
              <a:ext cx="1039494" cy="231140"/>
            </a:xfrm>
            <a:custGeom>
              <a:avLst/>
              <a:gdLst/>
              <a:ahLst/>
              <a:cxnLst/>
              <a:rect l="l" t="t" r="r" b="b"/>
              <a:pathLst>
                <a:path w="1039494" h="231139">
                  <a:moveTo>
                    <a:pt x="0" y="38426"/>
                  </a:moveTo>
                  <a:lnTo>
                    <a:pt x="3019" y="23469"/>
                  </a:lnTo>
                  <a:lnTo>
                    <a:pt x="11254" y="11254"/>
                  </a:lnTo>
                  <a:lnTo>
                    <a:pt x="23469" y="3019"/>
                  </a:lnTo>
                  <a:lnTo>
                    <a:pt x="38426" y="0"/>
                  </a:lnTo>
                  <a:lnTo>
                    <a:pt x="1000919" y="0"/>
                  </a:lnTo>
                  <a:lnTo>
                    <a:pt x="1015876" y="3019"/>
                  </a:lnTo>
                  <a:lnTo>
                    <a:pt x="1028091" y="11254"/>
                  </a:lnTo>
                  <a:lnTo>
                    <a:pt x="1036326" y="23469"/>
                  </a:lnTo>
                  <a:lnTo>
                    <a:pt x="1039346" y="38426"/>
                  </a:lnTo>
                  <a:lnTo>
                    <a:pt x="1039346" y="192125"/>
                  </a:lnTo>
                  <a:lnTo>
                    <a:pt x="1036326" y="207082"/>
                  </a:lnTo>
                  <a:lnTo>
                    <a:pt x="1028091" y="219297"/>
                  </a:lnTo>
                  <a:lnTo>
                    <a:pt x="1015876" y="227532"/>
                  </a:lnTo>
                  <a:lnTo>
                    <a:pt x="1000919" y="230552"/>
                  </a:lnTo>
                  <a:lnTo>
                    <a:pt x="38426" y="230552"/>
                  </a:lnTo>
                  <a:lnTo>
                    <a:pt x="23469" y="227532"/>
                  </a:lnTo>
                  <a:lnTo>
                    <a:pt x="11254" y="219297"/>
                  </a:lnTo>
                  <a:lnTo>
                    <a:pt x="3019" y="207082"/>
                  </a:lnTo>
                  <a:lnTo>
                    <a:pt x="0" y="192125"/>
                  </a:lnTo>
                  <a:lnTo>
                    <a:pt x="0" y="38426"/>
                  </a:lnTo>
                  <a:close/>
                </a:path>
              </a:pathLst>
            </a:custGeom>
            <a:ln w="952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44">
            <a:extLst>
              <a:ext uri="{FF2B5EF4-FFF2-40B4-BE49-F238E27FC236}">
                <a16:creationId xmlns:a16="http://schemas.microsoft.com/office/drawing/2014/main" id="{16035639-02F4-6A6B-532F-7619CB153032}"/>
              </a:ext>
            </a:extLst>
          </p:cNvPr>
          <p:cNvSpPr txBox="1"/>
          <p:nvPr/>
        </p:nvSpPr>
        <p:spPr>
          <a:xfrm>
            <a:off x="1399764" y="5775826"/>
            <a:ext cx="740410" cy="64960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94615" marR="5080" indent="154305">
              <a:lnSpc>
                <a:spcPts val="1300"/>
              </a:lnSpc>
              <a:spcBef>
                <a:spcPts val="259"/>
              </a:spcBef>
            </a:pPr>
            <a:r>
              <a:rPr sz="1200" b="1" i="1" spc="-25" dirty="0">
                <a:latin typeface="Century Gothic"/>
                <a:cs typeface="Century Gothic"/>
              </a:rPr>
              <a:t>Max </a:t>
            </a:r>
            <a:r>
              <a:rPr sz="1200" b="1" i="1" spc="-10" dirty="0">
                <a:latin typeface="Century Gothic"/>
                <a:cs typeface="Century Gothic"/>
              </a:rPr>
              <a:t>Walltime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400" b="1" spc="-10" dirty="0">
                <a:latin typeface="Century Gothic"/>
                <a:cs typeface="Century Gothic"/>
              </a:rPr>
              <a:t>00:30:00</a:t>
            </a:r>
            <a:endParaRPr sz="1400">
              <a:latin typeface="Century Gothic"/>
              <a:cs typeface="Century Gothic"/>
            </a:endParaRPr>
          </a:p>
        </p:txBody>
      </p:sp>
      <p:pic>
        <p:nvPicPr>
          <p:cNvPr id="107" name="object 45">
            <a:extLst>
              <a:ext uri="{FF2B5EF4-FFF2-40B4-BE49-F238E27FC236}">
                <a16:creationId xmlns:a16="http://schemas.microsoft.com/office/drawing/2014/main" id="{664C2AE9-5622-B74C-2A01-22E26D9ACDC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127" y="4023735"/>
            <a:ext cx="289559" cy="292607"/>
          </a:xfrm>
          <a:prstGeom prst="rect">
            <a:avLst/>
          </a:prstGeom>
        </p:spPr>
      </p:pic>
      <p:pic>
        <p:nvPicPr>
          <p:cNvPr id="108" name="object 46">
            <a:extLst>
              <a:ext uri="{FF2B5EF4-FFF2-40B4-BE49-F238E27FC236}">
                <a16:creationId xmlns:a16="http://schemas.microsoft.com/office/drawing/2014/main" id="{AF06EBD8-8A5E-6704-5D15-CBBEE699604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176" y="4721726"/>
            <a:ext cx="289560" cy="292607"/>
          </a:xfrm>
          <a:prstGeom prst="rect">
            <a:avLst/>
          </a:prstGeom>
        </p:spPr>
      </p:pic>
      <p:grpSp>
        <p:nvGrpSpPr>
          <p:cNvPr id="109" name="object 47">
            <a:extLst>
              <a:ext uri="{FF2B5EF4-FFF2-40B4-BE49-F238E27FC236}">
                <a16:creationId xmlns:a16="http://schemas.microsoft.com/office/drawing/2014/main" id="{EEBC18BA-1361-A897-4AEC-3A06255064BA}"/>
              </a:ext>
            </a:extLst>
          </p:cNvPr>
          <p:cNvGrpSpPr/>
          <p:nvPr/>
        </p:nvGrpSpPr>
        <p:grpSpPr>
          <a:xfrm>
            <a:off x="579108" y="6200496"/>
            <a:ext cx="419100" cy="240665"/>
            <a:chOff x="579108" y="5965425"/>
            <a:chExt cx="419100" cy="240665"/>
          </a:xfrm>
        </p:grpSpPr>
        <p:sp>
          <p:nvSpPr>
            <p:cNvPr id="110" name="object 48">
              <a:extLst>
                <a:ext uri="{FF2B5EF4-FFF2-40B4-BE49-F238E27FC236}">
                  <a16:creationId xmlns:a16="http://schemas.microsoft.com/office/drawing/2014/main" id="{80F84FB0-DDB1-7541-D1BC-2F96A5478CDA}"/>
                </a:ext>
              </a:extLst>
            </p:cNvPr>
            <p:cNvSpPr/>
            <p:nvPr/>
          </p:nvSpPr>
          <p:spPr>
            <a:xfrm>
              <a:off x="583870" y="5970187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370858" y="0"/>
                  </a:moveTo>
                  <a:lnTo>
                    <a:pt x="38425" y="0"/>
                  </a:lnTo>
                  <a:lnTo>
                    <a:pt x="23468" y="3019"/>
                  </a:lnTo>
                  <a:lnTo>
                    <a:pt x="11254" y="11254"/>
                  </a:lnTo>
                  <a:lnTo>
                    <a:pt x="3019" y="23468"/>
                  </a:lnTo>
                  <a:lnTo>
                    <a:pt x="0" y="38426"/>
                  </a:lnTo>
                  <a:lnTo>
                    <a:pt x="0" y="192126"/>
                  </a:lnTo>
                  <a:lnTo>
                    <a:pt x="3019" y="207083"/>
                  </a:lnTo>
                  <a:lnTo>
                    <a:pt x="11254" y="219297"/>
                  </a:lnTo>
                  <a:lnTo>
                    <a:pt x="23468" y="227532"/>
                  </a:lnTo>
                  <a:lnTo>
                    <a:pt x="38425" y="230551"/>
                  </a:lnTo>
                  <a:lnTo>
                    <a:pt x="370858" y="230551"/>
                  </a:lnTo>
                  <a:lnTo>
                    <a:pt x="385815" y="227532"/>
                  </a:lnTo>
                  <a:lnTo>
                    <a:pt x="398029" y="219297"/>
                  </a:lnTo>
                  <a:lnTo>
                    <a:pt x="406264" y="207083"/>
                  </a:lnTo>
                  <a:lnTo>
                    <a:pt x="409284" y="192126"/>
                  </a:lnTo>
                  <a:lnTo>
                    <a:pt x="409284" y="38426"/>
                  </a:lnTo>
                  <a:lnTo>
                    <a:pt x="406264" y="23468"/>
                  </a:lnTo>
                  <a:lnTo>
                    <a:pt x="398029" y="11254"/>
                  </a:lnTo>
                  <a:lnTo>
                    <a:pt x="385815" y="3019"/>
                  </a:lnTo>
                  <a:lnTo>
                    <a:pt x="370858" y="0"/>
                  </a:lnTo>
                  <a:close/>
                </a:path>
              </a:pathLst>
            </a:custGeom>
            <a:solidFill>
              <a:srgbClr val="C1C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49">
              <a:extLst>
                <a:ext uri="{FF2B5EF4-FFF2-40B4-BE49-F238E27FC236}">
                  <a16:creationId xmlns:a16="http://schemas.microsoft.com/office/drawing/2014/main" id="{50B94979-AD00-E69D-986B-02AD5F9F52B4}"/>
                </a:ext>
              </a:extLst>
            </p:cNvPr>
            <p:cNvSpPr/>
            <p:nvPr/>
          </p:nvSpPr>
          <p:spPr>
            <a:xfrm>
              <a:off x="583870" y="5970187"/>
              <a:ext cx="409575" cy="231140"/>
            </a:xfrm>
            <a:custGeom>
              <a:avLst/>
              <a:gdLst/>
              <a:ahLst/>
              <a:cxnLst/>
              <a:rect l="l" t="t" r="r" b="b"/>
              <a:pathLst>
                <a:path w="409575" h="231139">
                  <a:moveTo>
                    <a:pt x="0" y="38425"/>
                  </a:moveTo>
                  <a:lnTo>
                    <a:pt x="3019" y="23468"/>
                  </a:lnTo>
                  <a:lnTo>
                    <a:pt x="11254" y="11254"/>
                  </a:lnTo>
                  <a:lnTo>
                    <a:pt x="23468" y="3019"/>
                  </a:lnTo>
                  <a:lnTo>
                    <a:pt x="38425" y="0"/>
                  </a:lnTo>
                  <a:lnTo>
                    <a:pt x="370858" y="0"/>
                  </a:lnTo>
                  <a:lnTo>
                    <a:pt x="385815" y="3019"/>
                  </a:lnTo>
                  <a:lnTo>
                    <a:pt x="398029" y="11254"/>
                  </a:lnTo>
                  <a:lnTo>
                    <a:pt x="406264" y="23468"/>
                  </a:lnTo>
                  <a:lnTo>
                    <a:pt x="409284" y="38425"/>
                  </a:lnTo>
                  <a:lnTo>
                    <a:pt x="409284" y="192126"/>
                  </a:lnTo>
                  <a:lnTo>
                    <a:pt x="406264" y="207083"/>
                  </a:lnTo>
                  <a:lnTo>
                    <a:pt x="398029" y="219297"/>
                  </a:lnTo>
                  <a:lnTo>
                    <a:pt x="385815" y="227532"/>
                  </a:lnTo>
                  <a:lnTo>
                    <a:pt x="370858" y="230552"/>
                  </a:lnTo>
                  <a:lnTo>
                    <a:pt x="38425" y="230552"/>
                  </a:lnTo>
                  <a:lnTo>
                    <a:pt x="23468" y="227532"/>
                  </a:lnTo>
                  <a:lnTo>
                    <a:pt x="11254" y="219297"/>
                  </a:lnTo>
                  <a:lnTo>
                    <a:pt x="3019" y="207083"/>
                  </a:lnTo>
                  <a:lnTo>
                    <a:pt x="0" y="192126"/>
                  </a:lnTo>
                  <a:lnTo>
                    <a:pt x="0" y="38425"/>
                  </a:lnTo>
                  <a:close/>
                </a:path>
              </a:pathLst>
            </a:custGeom>
            <a:ln w="9525">
              <a:solidFill>
                <a:srgbClr val="9197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50">
            <a:extLst>
              <a:ext uri="{FF2B5EF4-FFF2-40B4-BE49-F238E27FC236}">
                <a16:creationId xmlns:a16="http://schemas.microsoft.com/office/drawing/2014/main" id="{030F69A9-9BCC-5B37-ECA5-B06E09638339}"/>
              </a:ext>
            </a:extLst>
          </p:cNvPr>
          <p:cNvSpPr txBox="1"/>
          <p:nvPr/>
        </p:nvSpPr>
        <p:spPr>
          <a:xfrm>
            <a:off x="278657" y="5775826"/>
            <a:ext cx="1003935" cy="64960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algn="ctr">
              <a:lnSpc>
                <a:spcPts val="1300"/>
              </a:lnSpc>
              <a:spcBef>
                <a:spcPts val="259"/>
              </a:spcBef>
            </a:pPr>
            <a:r>
              <a:rPr sz="1200" b="1" i="1" spc="-10" dirty="0">
                <a:latin typeface="Century Gothic"/>
                <a:cs typeface="Century Gothic"/>
              </a:rPr>
              <a:t>Simultaneous Nodes</a:t>
            </a:r>
            <a:endParaRPr sz="1200">
              <a:latin typeface="Century Gothic"/>
              <a:cs typeface="Century Gothic"/>
            </a:endParaRPr>
          </a:p>
          <a:p>
            <a:pPr marL="15240" algn="ctr">
              <a:lnSpc>
                <a:spcPct val="100000"/>
              </a:lnSpc>
              <a:spcBef>
                <a:spcPts val="470"/>
              </a:spcBef>
            </a:pPr>
            <a:r>
              <a:rPr sz="1400" b="1" dirty="0">
                <a:latin typeface="Century Gothic"/>
                <a:cs typeface="Century Gothic"/>
              </a:rPr>
              <a:t>6</a:t>
            </a:r>
            <a:endParaRPr sz="14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33179653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Multiple</a:t>
            </a:r>
            <a:r>
              <a:rPr lang="en-US" altLang="zh-CN" spc="-40" dirty="0"/>
              <a:t> </a:t>
            </a:r>
            <a:r>
              <a:rPr lang="en-US" altLang="zh-CN" dirty="0"/>
              <a:t>Simultaneous</a:t>
            </a:r>
            <a:r>
              <a:rPr lang="en-US" altLang="zh-CN" spc="-20" dirty="0"/>
              <a:t> </a:t>
            </a:r>
            <a:r>
              <a:rPr lang="en-US" altLang="zh-CN" dirty="0"/>
              <a:t>Job</a:t>
            </a:r>
            <a:r>
              <a:rPr lang="en-US" altLang="zh-CN" spc="-10" dirty="0"/>
              <a:t> Steps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DA0E3D0-1C82-0D69-8FC4-69C1CB389B05}"/>
              </a:ext>
            </a:extLst>
          </p:cNvPr>
          <p:cNvSpPr/>
          <p:nvPr/>
        </p:nvSpPr>
        <p:spPr>
          <a:xfrm>
            <a:off x="827417" y="2247096"/>
            <a:ext cx="10071100" cy="4164329"/>
          </a:xfrm>
          <a:custGeom>
            <a:avLst/>
            <a:gdLst/>
            <a:ahLst/>
            <a:cxnLst/>
            <a:rect l="l" t="t" r="r" b="b"/>
            <a:pathLst>
              <a:path w="10071100" h="4164329">
                <a:moveTo>
                  <a:pt x="10070948" y="0"/>
                </a:moveTo>
                <a:lnTo>
                  <a:pt x="0" y="0"/>
                </a:lnTo>
                <a:lnTo>
                  <a:pt x="0" y="3857663"/>
                </a:lnTo>
                <a:lnTo>
                  <a:pt x="0" y="4164228"/>
                </a:lnTo>
                <a:lnTo>
                  <a:pt x="10070948" y="4164228"/>
                </a:lnTo>
                <a:lnTo>
                  <a:pt x="10070948" y="3857663"/>
                </a:lnTo>
                <a:lnTo>
                  <a:pt x="100709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41B818D6-EC38-5FD7-C601-EDC1733B67B9}"/>
              </a:ext>
            </a:extLst>
          </p:cNvPr>
          <p:cNvSpPr txBox="1"/>
          <p:nvPr/>
        </p:nvSpPr>
        <p:spPr>
          <a:xfrm>
            <a:off x="661616" y="1080170"/>
            <a:ext cx="11931872" cy="16235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00"/>
              </a:spcBef>
              <a:buSzPct val="90000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Arial"/>
                <a:cs typeface="Arial"/>
              </a:rPr>
              <a:t>jsrun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placement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IBM’s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CSM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(Cluster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System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Management)</a:t>
            </a:r>
            <a:endParaRPr sz="24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95"/>
              </a:spcBef>
              <a:buSzPct val="90000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Arial"/>
                <a:cs typeface="Arial"/>
              </a:rPr>
              <a:t>Aware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 jsrun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allocations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LSF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job;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allows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multiple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node,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multi node,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…</a:t>
            </a:r>
            <a:endParaRPr sz="240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buSzPct val="90000"/>
              <a:buFont typeface="Century Gothic"/>
              <a:buChar char="•"/>
              <a:tabLst>
                <a:tab pos="299720" algn="l"/>
                <a:tab pos="300355" algn="l"/>
              </a:tabLst>
            </a:pPr>
            <a:r>
              <a:rPr sz="2400" dirty="0">
                <a:latin typeface="Arial"/>
                <a:cs typeface="Arial"/>
              </a:rPr>
              <a:t>Following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example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2-</a:t>
            </a:r>
            <a:r>
              <a:rPr sz="2400" dirty="0">
                <a:latin typeface="Arial"/>
                <a:cs typeface="Arial"/>
              </a:rPr>
              <a:t>node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allocation</a:t>
            </a:r>
            <a:endParaRPr sz="2400" dirty="0">
              <a:latin typeface="Arial"/>
              <a:cs typeface="Arial"/>
            </a:endParaRPr>
          </a:p>
          <a:p>
            <a:pPr marL="257175">
              <a:lnSpc>
                <a:spcPct val="100000"/>
              </a:lnSpc>
              <a:spcBef>
                <a:spcPts val="1945"/>
              </a:spcBef>
            </a:pP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batch3&gt;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jsrun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n1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a1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c1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g6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bpacked:1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csh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"js_task_info;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sleep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30"</a:t>
            </a:r>
            <a:r>
              <a:rPr sz="16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00B050"/>
                </a:solidFill>
                <a:latin typeface="Arial"/>
                <a:cs typeface="Arial"/>
              </a:rPr>
              <a:t>&amp;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C97428BA-1A3E-E44D-E421-E3B078490A6F}"/>
              </a:ext>
            </a:extLst>
          </p:cNvPr>
          <p:cNvSpPr txBox="1"/>
          <p:nvPr/>
        </p:nvSpPr>
        <p:spPr>
          <a:xfrm>
            <a:off x="906164" y="2634650"/>
            <a:ext cx="569491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35" dirty="0">
                <a:solidFill>
                  <a:srgbClr val="00B050"/>
                </a:solidFill>
                <a:latin typeface="Arial"/>
                <a:cs typeface="Arial"/>
              </a:rPr>
              <a:t>Task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0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(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0/1,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0/1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is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to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0-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3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host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a01n02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CF7BB927-973B-3418-92C9-E87D60DCC74C}"/>
              </a:ext>
            </a:extLst>
          </p:cNvPr>
          <p:cNvSpPr txBox="1"/>
          <p:nvPr/>
        </p:nvSpPr>
        <p:spPr>
          <a:xfrm>
            <a:off x="906164" y="3219865"/>
            <a:ext cx="793214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batch3&gt;</a:t>
            </a:r>
            <a:r>
              <a:rPr sz="1600" spc="-3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jsrun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n1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a1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c42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g0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bpacked:1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csh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"js_task_info;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sleep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30"</a:t>
            </a:r>
            <a:r>
              <a:rPr sz="16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00B050"/>
                </a:solidFill>
                <a:latin typeface="Arial"/>
                <a:cs typeface="Arial"/>
              </a:rPr>
              <a:t>&amp;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F45F64A5-E931-0C25-ADB2-552F2232DD0E}"/>
              </a:ext>
            </a:extLst>
          </p:cNvPr>
          <p:cNvSpPr txBox="1"/>
          <p:nvPr/>
        </p:nvSpPr>
        <p:spPr>
          <a:xfrm>
            <a:off x="906165" y="3600866"/>
            <a:ext cx="540359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35" dirty="0">
                <a:solidFill>
                  <a:srgbClr val="00B050"/>
                </a:solidFill>
                <a:latin typeface="Arial"/>
                <a:cs typeface="Arial"/>
              </a:rPr>
              <a:t>Task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0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(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0/1,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0/1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)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is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bound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to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cpu[s]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0-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3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on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host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a01n01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53212045-C3B2-5C85-3CB0-870D58458396}"/>
              </a:ext>
            </a:extLst>
          </p:cNvPr>
          <p:cNvSpPr txBox="1"/>
          <p:nvPr/>
        </p:nvSpPr>
        <p:spPr>
          <a:xfrm>
            <a:off x="906165" y="4173890"/>
            <a:ext cx="770443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batch3&gt;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jsrun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n1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a1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c1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g1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bpacked:1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csh</a:t>
            </a:r>
            <a:r>
              <a:rPr sz="1600" spc="-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c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"js_task_info;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sleep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30"</a:t>
            </a:r>
            <a:r>
              <a:rPr sz="16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00B050"/>
                </a:solidFill>
                <a:latin typeface="Arial"/>
                <a:cs typeface="Arial"/>
              </a:rPr>
              <a:t>&amp;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5092FDC8-2A61-6D83-C712-1D85E13B8A64}"/>
              </a:ext>
            </a:extLst>
          </p:cNvPr>
          <p:cNvSpPr txBox="1"/>
          <p:nvPr/>
        </p:nvSpPr>
        <p:spPr>
          <a:xfrm>
            <a:off x="906165" y="4743866"/>
            <a:ext cx="253601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summit-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batch3</a:t>
            </a:r>
            <a:r>
              <a:rPr sz="16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1023&gt;</a:t>
            </a:r>
            <a:r>
              <a:rPr sz="16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jslist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7CEE2564-3241-5B1B-6C6A-277E5331ED5E}"/>
              </a:ext>
            </a:extLst>
          </p:cNvPr>
          <p:cNvSpPr txBox="1"/>
          <p:nvPr/>
        </p:nvSpPr>
        <p:spPr>
          <a:xfrm>
            <a:off x="1299865" y="4948082"/>
            <a:ext cx="449484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50645" algn="l"/>
                <a:tab pos="2168525" algn="l"/>
                <a:tab pos="2946400" algn="l"/>
              </a:tabLst>
            </a:pP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parent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cpus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gpus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exit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227F86A5-78A9-0E33-F249-7C7C3E946AF8}"/>
              </a:ext>
            </a:extLst>
          </p:cNvPr>
          <p:cNvSpPr txBox="1"/>
          <p:nvPr/>
        </p:nvSpPr>
        <p:spPr>
          <a:xfrm>
            <a:off x="1053803" y="5137058"/>
            <a:ext cx="504707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245" algn="l"/>
                <a:tab pos="958215" algn="l"/>
                <a:tab pos="1499870" algn="l"/>
                <a:tab pos="2347595" algn="l"/>
                <a:tab pos="3146425" algn="l"/>
                <a:tab pos="4062095" algn="l"/>
              </a:tabLst>
            </a:pP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ID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ID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nrs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per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RS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per</a:t>
            </a:r>
            <a:r>
              <a:rPr sz="1600" spc="-2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0B050"/>
                </a:solidFill>
                <a:latin typeface="Arial"/>
                <a:cs typeface="Arial"/>
              </a:rPr>
              <a:t>RS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status</a:t>
            </a:r>
            <a:r>
              <a:rPr sz="1600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status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DA95993C-487E-EF55-FF7F-9C3D71182707}"/>
              </a:ext>
            </a:extLst>
          </p:cNvPr>
          <p:cNvSpPr txBox="1"/>
          <p:nvPr/>
        </p:nvSpPr>
        <p:spPr>
          <a:xfrm>
            <a:off x="906165" y="5329082"/>
            <a:ext cx="959909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0B050"/>
                </a:solidFill>
                <a:latin typeface="Arial"/>
                <a:cs typeface="Arial"/>
              </a:rPr>
              <a:t>===============================================================================</a:t>
            </a:r>
            <a:endParaRPr sz="1600" dirty="0">
              <a:latin typeface="Arial"/>
              <a:cs typeface="Arial"/>
            </a:endParaRPr>
          </a:p>
        </p:txBody>
      </p:sp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88CE3281-260F-D2C8-18DF-ED58C0CB6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001750"/>
              </p:ext>
            </p:extLst>
          </p:nvPr>
        </p:nvGraphicFramePr>
        <p:xfrm>
          <a:off x="1034753" y="5565864"/>
          <a:ext cx="4759956" cy="770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5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marR="83185" algn="ctr">
                        <a:lnSpc>
                          <a:spcPts val="1440"/>
                        </a:lnSpc>
                      </a:pPr>
                      <a:r>
                        <a:rPr sz="1600" spc="-25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17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60680" algn="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87020" algn="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ts val="1440"/>
                        </a:lnSpc>
                      </a:pPr>
                      <a:r>
                        <a:rPr sz="1600" spc="-1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83185" algn="ctr">
                        <a:lnSpc>
                          <a:spcPts val="1400"/>
                        </a:lnSpc>
                      </a:pPr>
                      <a:r>
                        <a:rPr sz="1600" spc="-25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1400"/>
                        </a:lnSpc>
                      </a:pPr>
                      <a:r>
                        <a:rPr sz="1600" spc="-25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42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87020" algn="r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ts val="1400"/>
                        </a:lnSpc>
                      </a:pPr>
                      <a:r>
                        <a:rPr sz="1600" spc="-1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83185" algn="ctr">
                        <a:lnSpc>
                          <a:spcPts val="1400"/>
                        </a:lnSpc>
                      </a:pPr>
                      <a:r>
                        <a:rPr sz="1600" spc="-25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60680" algn="r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87020" algn="r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40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ts val="1400"/>
                        </a:lnSpc>
                      </a:pPr>
                      <a:r>
                        <a:rPr sz="1600" spc="-1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Queued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R="82550" algn="ct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60680" algn="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87020" algn="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1440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0"/>
                        </a:lnSpc>
                      </a:pPr>
                      <a:r>
                        <a:rPr sz="1600" spc="-10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Complete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4">
            <a:extLst>
              <a:ext uri="{FF2B5EF4-FFF2-40B4-BE49-F238E27FC236}">
                <a16:creationId xmlns:a16="http://schemas.microsoft.com/office/drawing/2014/main" id="{76A9C36D-4185-1825-0E59-B6F7E34E02AF}"/>
              </a:ext>
            </a:extLst>
          </p:cNvPr>
          <p:cNvSpPr txBox="1"/>
          <p:nvPr/>
        </p:nvSpPr>
        <p:spPr>
          <a:xfrm>
            <a:off x="8838312" y="3231268"/>
            <a:ext cx="1882967" cy="707117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37795" marR="130175" indent="-635" algn="ctr">
              <a:lnSpc>
                <a:spcPct val="89500"/>
              </a:lnSpc>
              <a:spcBef>
                <a:spcPts val="330"/>
              </a:spcBef>
            </a:pPr>
            <a:r>
              <a:rPr sz="1600" dirty="0">
                <a:latin typeface="Arial"/>
                <a:cs typeface="Arial"/>
              </a:rPr>
              <a:t>Requires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all </a:t>
            </a:r>
            <a:r>
              <a:rPr sz="1600" dirty="0">
                <a:latin typeface="Arial"/>
                <a:cs typeface="Arial"/>
              </a:rPr>
              <a:t>cores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node, </a:t>
            </a:r>
            <a:r>
              <a:rPr sz="1600" dirty="0">
                <a:latin typeface="Arial"/>
                <a:cs typeface="Arial"/>
              </a:rPr>
              <a:t>placed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on </a:t>
            </a:r>
            <a:r>
              <a:rPr sz="1600" dirty="0">
                <a:latin typeface="Arial"/>
                <a:cs typeface="Arial"/>
              </a:rPr>
              <a:t>separate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node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DA02DE59-AAAA-B05E-2F2E-A42E5E02A31C}"/>
              </a:ext>
            </a:extLst>
          </p:cNvPr>
          <p:cNvSpPr txBox="1"/>
          <p:nvPr/>
        </p:nvSpPr>
        <p:spPr>
          <a:xfrm>
            <a:off x="7561300" y="4539798"/>
            <a:ext cx="2943956" cy="702372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234315" marR="226695" algn="ctr">
              <a:lnSpc>
                <a:spcPct val="89300"/>
              </a:lnSpc>
              <a:spcBef>
                <a:spcPts val="350"/>
              </a:spcBef>
            </a:pPr>
            <a:r>
              <a:rPr sz="1600" dirty="0">
                <a:latin typeface="Arial"/>
                <a:cs typeface="Arial"/>
              </a:rPr>
              <a:t>Not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enough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free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resources, </a:t>
            </a:r>
            <a:r>
              <a:rPr sz="1600" dirty="0">
                <a:latin typeface="Arial"/>
                <a:cs typeface="Arial"/>
              </a:rPr>
              <a:t>waiting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completion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running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step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01F39ADB-60B8-54B8-C6B1-70A8817ABE43}"/>
              </a:ext>
            </a:extLst>
          </p:cNvPr>
          <p:cNvSpPr txBox="1"/>
          <p:nvPr/>
        </p:nvSpPr>
        <p:spPr>
          <a:xfrm>
            <a:off x="8296054" y="2502971"/>
            <a:ext cx="1882966" cy="428964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215900" marR="208279" indent="23495">
              <a:lnSpc>
                <a:spcPts val="1510"/>
              </a:lnSpc>
              <a:spcBef>
                <a:spcPts val="345"/>
              </a:spcBef>
            </a:pPr>
            <a:r>
              <a:rPr sz="1600" dirty="0">
                <a:latin typeface="Arial"/>
                <a:cs typeface="Arial"/>
              </a:rPr>
              <a:t>All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GPUs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on </a:t>
            </a:r>
            <a:r>
              <a:rPr sz="1600" dirty="0">
                <a:latin typeface="Arial"/>
                <a:cs typeface="Arial"/>
              </a:rPr>
              <a:t>node,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1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CPU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16" name="object 17">
            <a:extLst>
              <a:ext uri="{FF2B5EF4-FFF2-40B4-BE49-F238E27FC236}">
                <a16:creationId xmlns:a16="http://schemas.microsoft.com/office/drawing/2014/main" id="{8290831B-94B3-133F-4385-DBD68C817798}"/>
              </a:ext>
            </a:extLst>
          </p:cNvPr>
          <p:cNvGrpSpPr/>
          <p:nvPr/>
        </p:nvGrpSpPr>
        <p:grpSpPr>
          <a:xfrm>
            <a:off x="5391813" y="2730336"/>
            <a:ext cx="3459274" cy="2159635"/>
            <a:chOff x="4155262" y="2666674"/>
            <a:chExt cx="4695825" cy="2159635"/>
          </a:xfrm>
        </p:grpSpPr>
        <p:sp>
          <p:nvSpPr>
            <p:cNvPr id="17" name="object 18">
              <a:extLst>
                <a:ext uri="{FF2B5EF4-FFF2-40B4-BE49-F238E27FC236}">
                  <a16:creationId xmlns:a16="http://schemas.microsoft.com/office/drawing/2014/main" id="{22B4B9CD-6AA2-D6BF-BD08-47122616C84D}"/>
                </a:ext>
              </a:extLst>
            </p:cNvPr>
            <p:cNvSpPr/>
            <p:nvPr/>
          </p:nvSpPr>
          <p:spPr>
            <a:xfrm>
              <a:off x="5401339" y="2679374"/>
              <a:ext cx="2894965" cy="30480"/>
            </a:xfrm>
            <a:custGeom>
              <a:avLst/>
              <a:gdLst/>
              <a:ahLst/>
              <a:cxnLst/>
              <a:rect l="l" t="t" r="r" b="b"/>
              <a:pathLst>
                <a:path w="2894965" h="30480">
                  <a:moveTo>
                    <a:pt x="0" y="30400"/>
                  </a:moveTo>
                  <a:lnTo>
                    <a:pt x="2894715" y="0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9">
              <a:extLst>
                <a:ext uri="{FF2B5EF4-FFF2-40B4-BE49-F238E27FC236}">
                  <a16:creationId xmlns:a16="http://schemas.microsoft.com/office/drawing/2014/main" id="{21FB528C-9667-7908-C49C-584233292AC0}"/>
                </a:ext>
              </a:extLst>
            </p:cNvPr>
            <p:cNvSpPr/>
            <p:nvPr/>
          </p:nvSpPr>
          <p:spPr>
            <a:xfrm>
              <a:off x="5369440" y="3601570"/>
              <a:ext cx="3469004" cy="101600"/>
            </a:xfrm>
            <a:custGeom>
              <a:avLst/>
              <a:gdLst/>
              <a:ahLst/>
              <a:cxnLst/>
              <a:rect l="l" t="t" r="r" b="b"/>
              <a:pathLst>
                <a:path w="3469004" h="101600">
                  <a:moveTo>
                    <a:pt x="0" y="101216"/>
                  </a:moveTo>
                  <a:lnTo>
                    <a:pt x="3468873" y="0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FB8C6097-5943-2DFE-F0B5-85A091EFC495}"/>
                </a:ext>
              </a:extLst>
            </p:cNvPr>
            <p:cNvSpPr/>
            <p:nvPr/>
          </p:nvSpPr>
          <p:spPr>
            <a:xfrm>
              <a:off x="4167962" y="4384917"/>
              <a:ext cx="3393440" cy="428625"/>
            </a:xfrm>
            <a:custGeom>
              <a:avLst/>
              <a:gdLst/>
              <a:ahLst/>
              <a:cxnLst/>
              <a:rect l="l" t="t" r="r" b="b"/>
              <a:pathLst>
                <a:path w="3393440" h="428625">
                  <a:moveTo>
                    <a:pt x="0" y="0"/>
                  </a:moveTo>
                  <a:lnTo>
                    <a:pt x="3393338" y="428234"/>
                  </a:lnTo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74C58CEE-B540-99FE-C1F0-22DCCFA3C9EC}"/>
              </a:ext>
            </a:extLst>
          </p:cNvPr>
          <p:cNvSpPr txBox="1"/>
          <p:nvPr/>
        </p:nvSpPr>
        <p:spPr>
          <a:xfrm>
            <a:off x="7162802" y="5609804"/>
            <a:ext cx="1830286" cy="702372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37160" marR="128905" algn="ctr">
              <a:lnSpc>
                <a:spcPct val="89300"/>
              </a:lnSpc>
              <a:spcBef>
                <a:spcPts val="350"/>
              </a:spcBef>
            </a:pPr>
            <a:r>
              <a:rPr sz="1600" i="1" dirty="0">
                <a:latin typeface="Arial"/>
                <a:cs typeface="Arial"/>
              </a:rPr>
              <a:t>jslist</a:t>
            </a:r>
            <a:r>
              <a:rPr sz="1600" i="1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command </a:t>
            </a:r>
            <a:r>
              <a:rPr sz="1600" dirty="0">
                <a:latin typeface="Arial"/>
                <a:cs typeface="Arial"/>
              </a:rPr>
              <a:t>displays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job </a:t>
            </a:r>
            <a:r>
              <a:rPr sz="1600" spc="-10" dirty="0">
                <a:latin typeface="Arial"/>
                <a:cs typeface="Arial"/>
              </a:rPr>
              <a:t>steps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26F8D07-669A-D2C5-F0B6-4839AE66AE05}"/>
              </a:ext>
            </a:extLst>
          </p:cNvPr>
          <p:cNvSpPr/>
          <p:nvPr/>
        </p:nvSpPr>
        <p:spPr>
          <a:xfrm>
            <a:off x="5879804" y="5854559"/>
            <a:ext cx="1283335" cy="92710"/>
          </a:xfrm>
          <a:custGeom>
            <a:avLst/>
            <a:gdLst/>
            <a:ahLst/>
            <a:cxnLst/>
            <a:rect l="l" t="t" r="r" b="b"/>
            <a:pathLst>
              <a:path w="1283334" h="92710">
                <a:moveTo>
                  <a:pt x="0" y="0"/>
                </a:moveTo>
                <a:lnTo>
                  <a:pt x="1282997" y="92260"/>
                </a:lnTo>
              </a:path>
            </a:pathLst>
          </a:custGeom>
          <a:ln w="254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403A7360-9F98-06DE-8B10-034278DE1D6D}"/>
              </a:ext>
            </a:extLst>
          </p:cNvPr>
          <p:cNvSpPr txBox="1"/>
          <p:nvPr/>
        </p:nvSpPr>
        <p:spPr>
          <a:xfrm>
            <a:off x="9672528" y="6104749"/>
            <a:ext cx="2704935" cy="701089"/>
          </a:xfrm>
          <a:prstGeom prst="rect">
            <a:avLst/>
          </a:prstGeom>
          <a:solidFill>
            <a:srgbClr val="D9D9D9"/>
          </a:solidFill>
          <a:ln w="9525">
            <a:solidFill>
              <a:srgbClr val="00B05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1440" marR="295910">
              <a:lnSpc>
                <a:spcPct val="89300"/>
              </a:lnSpc>
              <a:spcBef>
                <a:spcPts val="340"/>
              </a:spcBef>
            </a:pPr>
            <a:r>
              <a:rPr sz="1600" b="1" dirty="0">
                <a:latin typeface="Century Gothic"/>
                <a:cs typeface="Century Gothic"/>
              </a:rPr>
              <a:t>Note:</a:t>
            </a:r>
            <a:r>
              <a:rPr sz="1600" b="1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In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a batch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job, </a:t>
            </a:r>
            <a:r>
              <a:rPr sz="1600" dirty="0">
                <a:latin typeface="Century Gothic"/>
                <a:cs typeface="Century Gothic"/>
              </a:rPr>
              <a:t>backgrounded</a:t>
            </a:r>
            <a:r>
              <a:rPr sz="1600" spc="-45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tasks </a:t>
            </a:r>
            <a:r>
              <a:rPr sz="1600" dirty="0">
                <a:latin typeface="Century Gothic"/>
                <a:cs typeface="Century Gothic"/>
              </a:rPr>
              <a:t>require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b="1" i="1" dirty="0">
                <a:latin typeface="Century Gothic"/>
                <a:cs typeface="Century Gothic"/>
              </a:rPr>
              <a:t>wait</a:t>
            </a:r>
            <a:r>
              <a:rPr sz="1600" b="1" i="1" spc="-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command</a:t>
            </a:r>
            <a:endParaRPr sz="16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10142422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solidFill>
                <a:srgbClr val="FF0000"/>
              </a:solidFill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13924023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What is the Programming Environment?</a:t>
            </a:r>
            <a:endParaRPr lang="zh-CN" altLang="en-US" dirty="0">
              <a:latin typeface="Comic Sans MS" panose="030F0702030302020204" pitchFamily="66" charset="0"/>
              <a:cs typeface="+mn-c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06DF9C07-02C5-0F72-6144-7A210EDD1F19}"/>
              </a:ext>
            </a:extLst>
          </p:cNvPr>
          <p:cNvSpPr txBox="1"/>
          <p:nvPr/>
        </p:nvSpPr>
        <p:spPr>
          <a:xfrm>
            <a:off x="1767398" y="6048722"/>
            <a:ext cx="9216390" cy="457200"/>
          </a:xfrm>
          <a:prstGeom prst="rect">
            <a:avLst/>
          </a:prstGeom>
          <a:solidFill>
            <a:srgbClr val="DDE7F1"/>
          </a:solidFill>
          <a:ln w="9525">
            <a:solidFill>
              <a:srgbClr val="5785B7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1800" spc="-10" dirty="0">
                <a:solidFill>
                  <a:srgbClr val="3D648E"/>
                </a:solidFill>
                <a:latin typeface="Century Gothic"/>
                <a:cs typeface="Century Gothic"/>
              </a:rPr>
              <a:t>Hardware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38B103A7-50DE-BD56-C1EE-3214D877978E}"/>
              </a:ext>
            </a:extLst>
          </p:cNvPr>
          <p:cNvSpPr txBox="1"/>
          <p:nvPr/>
        </p:nvSpPr>
        <p:spPr>
          <a:xfrm>
            <a:off x="1767398" y="5476950"/>
            <a:ext cx="9216390" cy="457200"/>
          </a:xfrm>
          <a:prstGeom prst="rect">
            <a:avLst/>
          </a:prstGeom>
          <a:solidFill>
            <a:srgbClr val="DDE7F1"/>
          </a:solidFill>
          <a:ln w="9525">
            <a:solidFill>
              <a:srgbClr val="5785B7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800" dirty="0">
                <a:solidFill>
                  <a:srgbClr val="3D648E"/>
                </a:solidFill>
                <a:latin typeface="Century Gothic"/>
                <a:cs typeface="Century Gothic"/>
              </a:rPr>
              <a:t>Operating</a:t>
            </a:r>
            <a:r>
              <a:rPr sz="1800" spc="-20" dirty="0">
                <a:solidFill>
                  <a:srgbClr val="3D648E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3D648E"/>
                </a:solidFill>
                <a:latin typeface="Century Gothic"/>
                <a:cs typeface="Century Gothic"/>
              </a:rPr>
              <a:t>System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1C4BF5A9-A835-CE88-ADA1-E457A93D1F6D}"/>
              </a:ext>
            </a:extLst>
          </p:cNvPr>
          <p:cNvSpPr txBox="1"/>
          <p:nvPr/>
        </p:nvSpPr>
        <p:spPr>
          <a:xfrm>
            <a:off x="1772607" y="4905178"/>
            <a:ext cx="9216390" cy="457200"/>
          </a:xfrm>
          <a:prstGeom prst="rect">
            <a:avLst/>
          </a:prstGeom>
          <a:solidFill>
            <a:srgbClr val="D6EEF1"/>
          </a:solidFill>
          <a:ln w="9525">
            <a:solidFill>
              <a:srgbClr val="3BA2AD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800" dirty="0">
                <a:solidFill>
                  <a:srgbClr val="2C7A82"/>
                </a:solidFill>
                <a:latin typeface="Century Gothic"/>
                <a:cs typeface="Century Gothic"/>
              </a:rPr>
              <a:t>Common</a:t>
            </a:r>
            <a:r>
              <a:rPr sz="1800" spc="-10" dirty="0">
                <a:solidFill>
                  <a:srgbClr val="2C7A82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C7A82"/>
                </a:solidFill>
                <a:latin typeface="Century Gothic"/>
                <a:cs typeface="Century Gothic"/>
              </a:rPr>
              <a:t>Linux</a:t>
            </a:r>
            <a:r>
              <a:rPr sz="1800" spc="-5" dirty="0">
                <a:solidFill>
                  <a:srgbClr val="2C7A82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C7A82"/>
                </a:solidFill>
                <a:latin typeface="Century Gothic"/>
                <a:cs typeface="Century Gothic"/>
              </a:rPr>
              <a:t>Runtime </a:t>
            </a:r>
            <a:r>
              <a:rPr sz="1800" spc="-10" dirty="0">
                <a:solidFill>
                  <a:srgbClr val="2C7A82"/>
                </a:solidFill>
                <a:latin typeface="Century Gothic"/>
                <a:cs typeface="Century Gothic"/>
              </a:rPr>
              <a:t>Libraries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26857DBC-0C99-2953-78CA-C3FBFBCE6B02}"/>
              </a:ext>
            </a:extLst>
          </p:cNvPr>
          <p:cNvSpPr txBox="1"/>
          <p:nvPr/>
        </p:nvSpPr>
        <p:spPr>
          <a:xfrm>
            <a:off x="1772610" y="4330978"/>
            <a:ext cx="6236970" cy="457200"/>
          </a:xfrm>
          <a:prstGeom prst="rect">
            <a:avLst/>
          </a:prstGeom>
          <a:solidFill>
            <a:srgbClr val="D6EEF1"/>
          </a:solidFill>
          <a:ln w="9525">
            <a:solidFill>
              <a:srgbClr val="3BA2AD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800" dirty="0">
                <a:solidFill>
                  <a:srgbClr val="2C7A82"/>
                </a:solidFill>
                <a:latin typeface="Century Gothic"/>
                <a:cs typeface="Century Gothic"/>
              </a:rPr>
              <a:t>LLCA,</a:t>
            </a:r>
            <a:r>
              <a:rPr sz="1800" spc="10" dirty="0">
                <a:solidFill>
                  <a:srgbClr val="2C7A82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2C7A82"/>
                </a:solidFill>
                <a:latin typeface="Century Gothic"/>
                <a:cs typeface="Century Gothic"/>
              </a:rPr>
              <a:t>Networks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041EF01-E70E-117A-CCAB-8D4C54D100C4}"/>
              </a:ext>
            </a:extLst>
          </p:cNvPr>
          <p:cNvSpPr txBox="1"/>
          <p:nvPr/>
        </p:nvSpPr>
        <p:spPr>
          <a:xfrm>
            <a:off x="6267175" y="3125405"/>
            <a:ext cx="1742439" cy="1097280"/>
          </a:xfrm>
          <a:prstGeom prst="rect">
            <a:avLst/>
          </a:prstGeom>
          <a:solidFill>
            <a:srgbClr val="C0D6AB"/>
          </a:solidFill>
          <a:ln w="25400">
            <a:solidFill>
              <a:srgbClr val="000000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marL="121285" marR="114300" algn="ctr">
              <a:lnSpc>
                <a:spcPct val="99400"/>
              </a:lnSpc>
              <a:spcBef>
                <a:spcPts val="1085"/>
              </a:spcBef>
            </a:pPr>
            <a:r>
              <a:rPr sz="1800" spc="-10" dirty="0">
                <a:latin typeface="Century Gothic"/>
                <a:cs typeface="Century Gothic"/>
              </a:rPr>
              <a:t>Programming Model Runtimes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F9A83B21-AF2F-20C2-A146-F556B2625A0D}"/>
              </a:ext>
            </a:extLst>
          </p:cNvPr>
          <p:cNvSpPr txBox="1"/>
          <p:nvPr/>
        </p:nvSpPr>
        <p:spPr>
          <a:xfrm>
            <a:off x="3262480" y="1936685"/>
            <a:ext cx="1517015" cy="2286000"/>
          </a:xfrm>
          <a:prstGeom prst="rect">
            <a:avLst/>
          </a:prstGeom>
          <a:solidFill>
            <a:srgbClr val="C0D6AB"/>
          </a:solidFill>
          <a:ln w="25400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3100">
              <a:latin typeface="Times New Roman"/>
              <a:cs typeface="Times New Roman"/>
            </a:endParaRPr>
          </a:p>
          <a:p>
            <a:pPr marL="143510" marR="135890" indent="-1270" algn="ctr">
              <a:lnSpc>
                <a:spcPct val="99400"/>
              </a:lnSpc>
            </a:pPr>
            <a:r>
              <a:rPr sz="1800" spc="-10" dirty="0">
                <a:latin typeface="Century Gothic"/>
                <a:cs typeface="Century Gothic"/>
              </a:rPr>
              <a:t>Scalable Debuggers </a:t>
            </a:r>
            <a:r>
              <a:rPr sz="1800" spc="-50" dirty="0">
                <a:latin typeface="Century Gothic"/>
                <a:cs typeface="Century Gothic"/>
              </a:rPr>
              <a:t>&amp;</a:t>
            </a:r>
            <a:endParaRPr sz="1800">
              <a:latin typeface="Century Gothic"/>
              <a:cs typeface="Century Gothic"/>
            </a:endParaRPr>
          </a:p>
          <a:p>
            <a:pPr algn="ctr">
              <a:lnSpc>
                <a:spcPts val="2110"/>
              </a:lnSpc>
            </a:pPr>
            <a:r>
              <a:rPr sz="1800" spc="-10" dirty="0">
                <a:latin typeface="Century Gothic"/>
                <a:cs typeface="Century Gothic"/>
              </a:rPr>
              <a:t>Analysis</a:t>
            </a:r>
            <a:endParaRPr sz="18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800" spc="-10" dirty="0">
                <a:latin typeface="Century Gothic"/>
                <a:cs typeface="Century Gothic"/>
              </a:rPr>
              <a:t>Utilities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1B77BEEC-4445-518D-715F-AD4B286630A3}"/>
              </a:ext>
            </a:extLst>
          </p:cNvPr>
          <p:cNvSpPr txBox="1"/>
          <p:nvPr/>
        </p:nvSpPr>
        <p:spPr>
          <a:xfrm>
            <a:off x="4884090" y="3125405"/>
            <a:ext cx="1278255" cy="1097280"/>
          </a:xfrm>
          <a:prstGeom prst="rect">
            <a:avLst/>
          </a:prstGeom>
          <a:solidFill>
            <a:srgbClr val="C0D6AB"/>
          </a:solidFill>
          <a:ln w="25400">
            <a:solidFill>
              <a:srgbClr val="000000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marL="80645" marR="73660" algn="ctr">
              <a:lnSpc>
                <a:spcPct val="99400"/>
              </a:lnSpc>
              <a:spcBef>
                <a:spcPts val="1085"/>
              </a:spcBef>
            </a:pPr>
            <a:r>
              <a:rPr sz="1800" dirty="0">
                <a:latin typeface="Century Gothic"/>
                <a:cs typeface="Century Gothic"/>
              </a:rPr>
              <a:t>IO</a:t>
            </a:r>
            <a:r>
              <a:rPr sz="1800" spc="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Service </a:t>
            </a:r>
            <a:r>
              <a:rPr sz="1800" spc="-50" dirty="0">
                <a:latin typeface="Century Gothic"/>
                <a:cs typeface="Century Gothic"/>
              </a:rPr>
              <a:t>&amp; </a:t>
            </a:r>
            <a:r>
              <a:rPr sz="1800" spc="-10" dirty="0">
                <a:latin typeface="Century Gothic"/>
                <a:cs typeface="Century Gothic"/>
              </a:rPr>
              <a:t>Runtimes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0A45F90A-4DE3-BABF-AEB6-1DFFEBFDAD89}"/>
              </a:ext>
            </a:extLst>
          </p:cNvPr>
          <p:cNvSpPr txBox="1"/>
          <p:nvPr/>
        </p:nvSpPr>
        <p:spPr>
          <a:xfrm>
            <a:off x="1772610" y="1936685"/>
            <a:ext cx="1384935" cy="2286000"/>
          </a:xfrm>
          <a:prstGeom prst="rect">
            <a:avLst/>
          </a:prstGeom>
          <a:solidFill>
            <a:srgbClr val="D6EEF1"/>
          </a:solidFill>
          <a:ln w="9525">
            <a:solidFill>
              <a:srgbClr val="3BA2A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131445" marR="125095" algn="ctr">
              <a:lnSpc>
                <a:spcPct val="98900"/>
              </a:lnSpc>
              <a:spcBef>
                <a:spcPts val="5"/>
              </a:spcBef>
            </a:pPr>
            <a:r>
              <a:rPr sz="1800" spc="-10" dirty="0">
                <a:solidFill>
                  <a:srgbClr val="2C7A82"/>
                </a:solidFill>
                <a:latin typeface="Century Gothic"/>
                <a:cs typeface="Century Gothic"/>
              </a:rPr>
              <a:t>Resource </a:t>
            </a:r>
            <a:r>
              <a:rPr sz="1800" spc="-50" dirty="0">
                <a:solidFill>
                  <a:srgbClr val="2C7A82"/>
                </a:solidFill>
                <a:latin typeface="Century Gothic"/>
                <a:cs typeface="Century Gothic"/>
              </a:rPr>
              <a:t>&amp; </a:t>
            </a:r>
            <a:r>
              <a:rPr sz="1800" spc="-10" dirty="0">
                <a:solidFill>
                  <a:srgbClr val="2C7A82"/>
                </a:solidFill>
                <a:latin typeface="Century Gothic"/>
                <a:cs typeface="Century Gothic"/>
              </a:rPr>
              <a:t>Workload Managers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A225E4FE-48D7-9ECE-556C-C718C794E3D4}"/>
              </a:ext>
            </a:extLst>
          </p:cNvPr>
          <p:cNvSpPr txBox="1"/>
          <p:nvPr/>
        </p:nvSpPr>
        <p:spPr>
          <a:xfrm>
            <a:off x="8114164" y="1936684"/>
            <a:ext cx="1384935" cy="2851785"/>
          </a:xfrm>
          <a:prstGeom prst="rect">
            <a:avLst/>
          </a:prstGeom>
          <a:solidFill>
            <a:srgbClr val="C0D6AB"/>
          </a:solidFill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 marL="112395" marR="104775" indent="71755">
              <a:lnSpc>
                <a:spcPts val="2110"/>
              </a:lnSpc>
              <a:spcBef>
                <a:spcPts val="1585"/>
              </a:spcBef>
            </a:pPr>
            <a:r>
              <a:rPr sz="1800" spc="-10" dirty="0">
                <a:latin typeface="Century Gothic"/>
                <a:cs typeface="Century Gothic"/>
              </a:rPr>
              <a:t>Compiler Toolchains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5530606F-B87B-08D1-0339-9EB6ADA47BCC}"/>
              </a:ext>
            </a:extLst>
          </p:cNvPr>
          <p:cNvSpPr txBox="1"/>
          <p:nvPr/>
        </p:nvSpPr>
        <p:spPr>
          <a:xfrm>
            <a:off x="4884086" y="1936685"/>
            <a:ext cx="3125470" cy="1071880"/>
          </a:xfrm>
          <a:prstGeom prst="rect">
            <a:avLst/>
          </a:prstGeom>
          <a:solidFill>
            <a:srgbClr val="C0D6AB"/>
          </a:solidFill>
          <a:ln w="25400">
            <a:solidFill>
              <a:srgbClr val="0000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marL="720090" marR="712470" indent="-1270" algn="ctr">
              <a:lnSpc>
                <a:spcPct val="99400"/>
              </a:lnSpc>
              <a:spcBef>
                <a:spcPts val="990"/>
              </a:spcBef>
            </a:pPr>
            <a:r>
              <a:rPr sz="1800" spc="-10" dirty="0">
                <a:latin typeface="Century Gothic"/>
                <a:cs typeface="Century Gothic"/>
              </a:rPr>
              <a:t>Performance </a:t>
            </a:r>
            <a:r>
              <a:rPr sz="1800" dirty="0">
                <a:latin typeface="Century Gothic"/>
                <a:cs typeface="Century Gothic"/>
              </a:rPr>
              <a:t>Math</a:t>
            </a:r>
            <a:r>
              <a:rPr sz="1800" spc="-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&amp;</a:t>
            </a:r>
            <a:r>
              <a:rPr sz="1800" spc="-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Parallel Libraries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2A536C73-7C6C-0AA3-C211-988143C149B1}"/>
              </a:ext>
            </a:extLst>
          </p:cNvPr>
          <p:cNvSpPr txBox="1"/>
          <p:nvPr/>
        </p:nvSpPr>
        <p:spPr>
          <a:xfrm>
            <a:off x="9604037" y="1936685"/>
            <a:ext cx="1384935" cy="2851785"/>
          </a:xfrm>
          <a:prstGeom prst="rect">
            <a:avLst/>
          </a:prstGeom>
          <a:solidFill>
            <a:srgbClr val="C0D6AB"/>
          </a:solidFill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>
              <a:latin typeface="Times New Roman"/>
              <a:cs typeface="Times New Roman"/>
            </a:endParaRPr>
          </a:p>
          <a:p>
            <a:pPr marL="215265" marR="207645" algn="ctr">
              <a:lnSpc>
                <a:spcPts val="2110"/>
              </a:lnSpc>
              <a:spcBef>
                <a:spcPts val="1955"/>
              </a:spcBef>
            </a:pPr>
            <a:r>
              <a:rPr sz="1800" spc="-10" dirty="0">
                <a:latin typeface="Century Gothic"/>
                <a:cs typeface="Century Gothic"/>
              </a:rPr>
              <a:t>Userland Tools</a:t>
            </a:r>
            <a:endParaRPr sz="1800">
              <a:latin typeface="Century Gothic"/>
              <a:cs typeface="Century Gothic"/>
            </a:endParaRPr>
          </a:p>
          <a:p>
            <a:pPr marL="328295" marR="320675" indent="-635" algn="ctr">
              <a:lnSpc>
                <a:spcPts val="2110"/>
              </a:lnSpc>
              <a:spcBef>
                <a:spcPts val="75"/>
              </a:spcBef>
            </a:pPr>
            <a:r>
              <a:rPr sz="1800" spc="-50" dirty="0">
                <a:latin typeface="Century Gothic"/>
                <a:cs typeface="Century Gothic"/>
              </a:rPr>
              <a:t>&amp; </a:t>
            </a:r>
            <a:r>
              <a:rPr sz="1800" spc="-10" dirty="0">
                <a:latin typeface="Century Gothic"/>
                <a:cs typeface="Century Gothic"/>
              </a:rPr>
              <a:t>Utilities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45D59A1C-6775-8074-09CA-FDFC21DFEB3F}"/>
              </a:ext>
            </a:extLst>
          </p:cNvPr>
          <p:cNvSpPr txBox="1"/>
          <p:nvPr/>
        </p:nvSpPr>
        <p:spPr>
          <a:xfrm>
            <a:off x="1772606" y="1359346"/>
            <a:ext cx="9216390" cy="457200"/>
          </a:xfrm>
          <a:prstGeom prst="rect">
            <a:avLst/>
          </a:prstGeom>
          <a:solidFill>
            <a:srgbClr val="FAEED9"/>
          </a:solidFill>
          <a:ln w="9525">
            <a:solidFill>
              <a:srgbClr val="E5A940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C1851A"/>
                </a:solidFill>
                <a:latin typeface="Century Gothic"/>
                <a:cs typeface="Century Gothic"/>
              </a:rPr>
              <a:t>Your</a:t>
            </a:r>
            <a:r>
              <a:rPr sz="1800" spc="-15" dirty="0">
                <a:solidFill>
                  <a:srgbClr val="C1851A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C1851A"/>
                </a:solidFill>
                <a:latin typeface="Century Gothic"/>
                <a:cs typeface="Century Gothic"/>
              </a:rPr>
              <a:t>Applications</a:t>
            </a:r>
            <a:r>
              <a:rPr sz="1800" spc="-10" dirty="0">
                <a:solidFill>
                  <a:srgbClr val="C1851A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C1851A"/>
                </a:solidFill>
                <a:latin typeface="Century Gothic"/>
                <a:cs typeface="Century Gothic"/>
              </a:rPr>
              <a:t>&amp;</a:t>
            </a:r>
            <a:r>
              <a:rPr sz="1800" spc="-5" dirty="0">
                <a:solidFill>
                  <a:srgbClr val="C1851A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C1851A"/>
                </a:solidFill>
                <a:latin typeface="Century Gothic"/>
                <a:cs typeface="Century Gothic"/>
              </a:rPr>
              <a:t>Jobs</a:t>
            </a:r>
            <a:endParaRPr sz="18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16655865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49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Programming Environment Overview</a:t>
            </a: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C38C93D8-B196-182C-6D8D-4F1364B342B0}"/>
              </a:ext>
            </a:extLst>
          </p:cNvPr>
          <p:cNvSpPr txBox="1"/>
          <p:nvPr/>
        </p:nvSpPr>
        <p:spPr>
          <a:xfrm>
            <a:off x="280120" y="1190485"/>
            <a:ext cx="12593488" cy="54649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01625" marR="648335" indent="-288925">
              <a:spcBef>
                <a:spcPts val="59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At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the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highest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level, the</a:t>
            </a:r>
            <a:r>
              <a:rPr sz="3200" spc="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PE is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your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shell’s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build-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and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run-</a:t>
            </a:r>
            <a:r>
              <a:rPr sz="3200" spc="-20" dirty="0">
                <a:latin typeface="Century Gothic"/>
                <a:cs typeface="Century Gothic"/>
              </a:rPr>
              <a:t>time </a:t>
            </a:r>
            <a:r>
              <a:rPr sz="3200" dirty="0">
                <a:latin typeface="Century Gothic"/>
                <a:cs typeface="Century Gothic"/>
              </a:rPr>
              <a:t>environment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(see</a:t>
            </a:r>
            <a:r>
              <a:rPr sz="3200" spc="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output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 </a:t>
            </a:r>
            <a:r>
              <a:rPr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/>
                <a:cs typeface="Consolas"/>
              </a:rPr>
              <a:t>env</a:t>
            </a:r>
            <a:r>
              <a:rPr sz="3200" spc="-10" dirty="0">
                <a:latin typeface="Century Gothic"/>
                <a:cs typeface="Century Gothic"/>
              </a:rPr>
              <a:t>).</a:t>
            </a:r>
            <a:endParaRPr sz="3200" dirty="0">
              <a:latin typeface="Century Gothic"/>
              <a:cs typeface="Century Gothic"/>
            </a:endParaRPr>
          </a:p>
          <a:p>
            <a:pPr marL="301625" indent="-288925">
              <a:spcBef>
                <a:spcPts val="154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Software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outside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default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lang="en-US" altLang="zh-CN" sz="3200" dirty="0">
                <a:latin typeface="Century Gothic"/>
                <a:cs typeface="Century Gothic"/>
              </a:rPr>
              <a:t>(</a:t>
            </a:r>
            <a:r>
              <a:rPr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/>
                <a:cs typeface="Consolas"/>
              </a:rPr>
              <a:t>/usr/bin</a:t>
            </a:r>
            <a:r>
              <a:rPr sz="3200" dirty="0">
                <a:latin typeface="Century Gothic"/>
                <a:cs typeface="Century Gothic"/>
              </a:rPr>
              <a:t>,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/>
                <a:cs typeface="Consolas"/>
              </a:rPr>
              <a:t>/usr/lib</a:t>
            </a:r>
            <a:r>
              <a:rPr sz="3200" dirty="0">
                <a:latin typeface="Century Gothic"/>
                <a:cs typeface="Century Gothic"/>
              </a:rPr>
              <a:t>,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etc.)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UNIX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paths.</a:t>
            </a:r>
            <a:endParaRPr sz="3200" dirty="0">
              <a:latin typeface="Century Gothic"/>
              <a:cs typeface="Century Gothic"/>
            </a:endParaRPr>
          </a:p>
          <a:p>
            <a:pPr marL="301625" indent="-288925">
              <a:spcBef>
                <a:spcPts val="153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Managed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via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session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environment </a:t>
            </a:r>
            <a:r>
              <a:rPr sz="3200" spc="-10" dirty="0">
                <a:latin typeface="Century Gothic"/>
                <a:cs typeface="Century Gothic"/>
              </a:rPr>
              <a:t>variables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spcBef>
                <a:spcPts val="54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Search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paths</a:t>
            </a:r>
            <a:endParaRPr sz="2800" dirty="0">
              <a:latin typeface="Century Gothic"/>
              <a:cs typeface="Century Gothic"/>
            </a:endParaRPr>
          </a:p>
          <a:p>
            <a:pPr marL="1044575" lvl="2" indent="-289560">
              <a:spcBef>
                <a:spcPts val="400"/>
              </a:spcBef>
              <a:buSzPct val="90000"/>
              <a:buFont typeface="Century Gothic"/>
              <a:buChar char="•"/>
              <a:tabLst>
                <a:tab pos="1043940" algn="l"/>
                <a:tab pos="1044575" algn="l"/>
              </a:tabLst>
            </a:pP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PATH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cs typeface="Century Gothic"/>
              </a:rPr>
              <a:t>, 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LD_LIBRARY_PATH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cs typeface="Century Gothic"/>
              </a:rPr>
              <a:t>, 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LIBRARY_PATH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cs typeface="Century Gothic"/>
              </a:rPr>
              <a:t>, 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PKG_CONFIG_PATH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spc="-20" dirty="0">
                <a:latin typeface="Century Gothic"/>
                <a:cs typeface="Century Gothic"/>
              </a:rPr>
              <a:t>etc…</a:t>
            </a:r>
            <a:endParaRPr sz="2400" dirty="0">
              <a:latin typeface="Century Gothic"/>
              <a:cs typeface="Century Gothic"/>
            </a:endParaRPr>
          </a:p>
          <a:p>
            <a:pPr marL="700405" lvl="1" indent="-288925">
              <a:spcBef>
                <a:spcPts val="60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Program</a:t>
            </a:r>
            <a:r>
              <a:rPr sz="2800" spc="-4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environment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options</a:t>
            </a:r>
            <a:endParaRPr sz="2800" dirty="0">
              <a:latin typeface="Century Gothic"/>
              <a:cs typeface="Century Gothic"/>
            </a:endParaRPr>
          </a:p>
          <a:p>
            <a:pPr marL="1044575" lvl="2" indent="-289560">
              <a:spcBef>
                <a:spcPts val="520"/>
              </a:spcBef>
              <a:buSzPct val="90000"/>
              <a:buFont typeface="Century Gothic"/>
              <a:buChar char="•"/>
              <a:tabLst>
                <a:tab pos="1043940" algn="l"/>
                <a:tab pos="1044575" algn="l"/>
              </a:tabLst>
            </a:pP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OMPI_*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cs typeface="Century Gothic"/>
              </a:rPr>
              <a:t>, 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CC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cs typeface="Century Gothic"/>
              </a:rPr>
              <a:t>, </a:t>
            </a:r>
            <a:r>
              <a:rPr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nsolas"/>
                <a:cs typeface="Consolas"/>
              </a:rPr>
              <a:t>FC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spc="-20" dirty="0">
                <a:latin typeface="Century Gothic"/>
                <a:cs typeface="Century Gothic"/>
              </a:rPr>
              <a:t>etc…</a:t>
            </a:r>
            <a:endParaRPr sz="2400" dirty="0">
              <a:latin typeface="Century Gothic"/>
              <a:cs typeface="Century Gothic"/>
            </a:endParaRPr>
          </a:p>
          <a:p>
            <a:pPr marL="301625" indent="-288925">
              <a:spcBef>
                <a:spcPts val="150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Summit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uses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LMOD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for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this</a:t>
            </a:r>
            <a:r>
              <a:rPr sz="3200" spc="-10" dirty="0">
                <a:latin typeface="Century Gothic"/>
                <a:cs typeface="Century Gothic"/>
              </a:rPr>
              <a:t> purpose</a:t>
            </a:r>
            <a:endParaRPr sz="32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93921682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39077573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LMOD Environment Modules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9C187E71-A6A5-318D-00EE-33E4DD10CC64}"/>
              </a:ext>
            </a:extLst>
          </p:cNvPr>
          <p:cNvSpPr txBox="1"/>
          <p:nvPr/>
        </p:nvSpPr>
        <p:spPr>
          <a:xfrm>
            <a:off x="318368" y="931654"/>
            <a:ext cx="12483232" cy="270330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01625" marR="175260" indent="-288925">
              <a:spcBef>
                <a:spcPts val="50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Much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of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the available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software cannot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coexist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simultaneously </a:t>
            </a:r>
            <a:r>
              <a:rPr sz="2800" dirty="0">
                <a:latin typeface="Century Gothic"/>
                <a:cs typeface="Century Gothic"/>
              </a:rPr>
              <a:t>in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your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environment.</a:t>
            </a:r>
            <a:endParaRPr sz="2800" dirty="0">
              <a:latin typeface="Century Gothic"/>
              <a:cs typeface="Century Gothic"/>
            </a:endParaRPr>
          </a:p>
          <a:p>
            <a:pPr marL="301625" indent="-288925">
              <a:spcBef>
                <a:spcPts val="149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Build-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and</a:t>
            </a:r>
            <a:r>
              <a:rPr sz="2800" spc="-10" dirty="0">
                <a:latin typeface="Century Gothic"/>
                <a:cs typeface="Century Gothic"/>
              </a:rPr>
              <a:t> runtime-</a:t>
            </a:r>
            <a:r>
              <a:rPr sz="2800" dirty="0">
                <a:latin typeface="Century Gothic"/>
                <a:cs typeface="Century Gothic"/>
              </a:rPr>
              <a:t>environment software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managed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with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LMOD</a:t>
            </a:r>
            <a:endParaRPr lang="en-US" sz="2800" spc="-20" dirty="0">
              <a:latin typeface="Century Gothic"/>
              <a:cs typeface="Century Gothic"/>
            </a:endParaRPr>
          </a:p>
          <a:p>
            <a:pPr marL="12700">
              <a:spcBef>
                <a:spcPts val="1495"/>
              </a:spcBef>
              <a:buSzPct val="89285"/>
              <a:tabLst>
                <a:tab pos="301625" algn="l"/>
              </a:tabLst>
            </a:pPr>
            <a:r>
              <a:rPr lang="en-US" altLang="zh-CN" sz="1800" spc="-10" dirty="0">
                <a:latin typeface="Century Gothic"/>
                <a:cs typeface="Century Gothic"/>
              </a:rPr>
              <a:t>(</a:t>
            </a:r>
            <a:r>
              <a:rPr lang="en-US" altLang="zh-CN" sz="1800" spc="-10" dirty="0">
                <a:latin typeface="Century Gothic"/>
                <a:cs typeface="Century Gothic"/>
                <a:hlinkClick r:id="rId3"/>
              </a:rPr>
              <a:t>https://lmod.readthedocs.io</a:t>
            </a:r>
            <a:r>
              <a:rPr lang="en-US" altLang="zh-CN" sz="1800" spc="-10" dirty="0">
                <a:latin typeface="Century Gothic"/>
                <a:cs typeface="Century Gothic"/>
              </a:rPr>
              <a:t>)</a:t>
            </a:r>
            <a:endParaRPr lang="en-US" sz="2800" dirty="0">
              <a:latin typeface="Century Gothic"/>
              <a:cs typeface="Century Gothic"/>
            </a:endParaRPr>
          </a:p>
          <a:p>
            <a:pPr marL="301625" indent="-288925">
              <a:spcBef>
                <a:spcPts val="1495"/>
              </a:spcBef>
              <a:buSzPct val="89285"/>
              <a:buChar char="•"/>
              <a:tabLst>
                <a:tab pos="301625" algn="l"/>
              </a:tabLst>
            </a:pPr>
            <a:r>
              <a:rPr lang="en-US" altLang="zh-CN" sz="3200" b="1" spc="-10" dirty="0">
                <a:latin typeface="Century Gothic"/>
                <a:cs typeface="Century Gothic"/>
              </a:rPr>
              <a:t>Usage:</a:t>
            </a:r>
            <a:endParaRPr lang="en-US" altLang="zh-CN" sz="3200" b="1" dirty="0">
              <a:latin typeface="Century Gothic"/>
              <a:cs typeface="Century Gothic"/>
            </a:endParaRPr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207D7D80-D667-34A6-CE36-2091D19DEF06}"/>
              </a:ext>
            </a:extLst>
          </p:cNvPr>
          <p:cNvGrpSpPr/>
          <p:nvPr/>
        </p:nvGrpSpPr>
        <p:grpSpPr>
          <a:xfrm>
            <a:off x="1655143" y="3634958"/>
            <a:ext cx="10997031" cy="3219020"/>
            <a:chOff x="2265005" y="3726838"/>
            <a:chExt cx="9201150" cy="256730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6DF5EB09-25DD-16A1-F02A-69EE8DC94518}"/>
                </a:ext>
              </a:extLst>
            </p:cNvPr>
            <p:cNvSpPr/>
            <p:nvPr/>
          </p:nvSpPr>
          <p:spPr>
            <a:xfrm>
              <a:off x="2269768" y="3731600"/>
              <a:ext cx="9191625" cy="2557780"/>
            </a:xfrm>
            <a:custGeom>
              <a:avLst/>
              <a:gdLst/>
              <a:ahLst/>
              <a:cxnLst/>
              <a:rect l="l" t="t" r="r" b="b"/>
              <a:pathLst>
                <a:path w="9191625" h="2557779">
                  <a:moveTo>
                    <a:pt x="9191519" y="0"/>
                  </a:moveTo>
                  <a:lnTo>
                    <a:pt x="0" y="0"/>
                  </a:lnTo>
                  <a:lnTo>
                    <a:pt x="0" y="2557439"/>
                  </a:lnTo>
                  <a:lnTo>
                    <a:pt x="9191519" y="2557439"/>
                  </a:lnTo>
                  <a:lnTo>
                    <a:pt x="9191519" y="0"/>
                  </a:lnTo>
                  <a:close/>
                </a:path>
              </a:pathLst>
            </a:custGeom>
            <a:solidFill>
              <a:srgbClr val="FAEED9">
                <a:alpha val="4783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7862002D-5D09-5097-E9F9-495074D6E516}"/>
                </a:ext>
              </a:extLst>
            </p:cNvPr>
            <p:cNvSpPr/>
            <p:nvPr/>
          </p:nvSpPr>
          <p:spPr>
            <a:xfrm>
              <a:off x="2269768" y="3731600"/>
              <a:ext cx="9191625" cy="2557780"/>
            </a:xfrm>
            <a:custGeom>
              <a:avLst/>
              <a:gdLst/>
              <a:ahLst/>
              <a:cxnLst/>
              <a:rect l="l" t="t" r="r" b="b"/>
              <a:pathLst>
                <a:path w="9191625" h="2557779">
                  <a:moveTo>
                    <a:pt x="0" y="0"/>
                  </a:moveTo>
                  <a:lnTo>
                    <a:pt x="9191520" y="0"/>
                  </a:lnTo>
                  <a:lnTo>
                    <a:pt x="9191520" y="2557440"/>
                  </a:lnTo>
                  <a:lnTo>
                    <a:pt x="0" y="25574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8">
            <a:extLst>
              <a:ext uri="{FF2B5EF4-FFF2-40B4-BE49-F238E27FC236}">
                <a16:creationId xmlns:a16="http://schemas.microsoft.com/office/drawing/2014/main" id="{0686DFCA-20C6-6E76-9726-7699C5EE3BC0}"/>
              </a:ext>
            </a:extLst>
          </p:cNvPr>
          <p:cNvSpPr txBox="1"/>
          <p:nvPr/>
        </p:nvSpPr>
        <p:spPr>
          <a:xfrm>
            <a:off x="1712307" y="3705141"/>
            <a:ext cx="10925023" cy="3116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sz="2000" spc="-20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module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-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list</a:t>
            </a:r>
            <a:r>
              <a:rPr lang="en-US" sz="2000" spc="-20" dirty="0">
                <a:latin typeface="Verdana"/>
                <a:cs typeface="Verdana"/>
              </a:rPr>
              <a:t>    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list</a:t>
            </a:r>
            <a:r>
              <a:rPr lang="en-US" altLang="zh-CN" sz="2000" spc="-1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loaded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modules</a:t>
            </a:r>
            <a:endParaRPr sz="2000" dirty="0">
              <a:latin typeface="Verdana"/>
              <a:cs typeface="Verdana"/>
            </a:endParaRPr>
          </a:p>
          <a:p>
            <a:r>
              <a:rPr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sz="2000" spc="-2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module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avail</a:t>
            </a:r>
            <a:r>
              <a:rPr lang="en-US" sz="2000" spc="-20" dirty="0">
                <a:latin typeface="Verdana"/>
                <a:cs typeface="Verdana"/>
              </a:rPr>
              <a:t>     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Show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modules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that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can</a:t>
            </a:r>
            <a:r>
              <a:rPr lang="en-US" altLang="zh-CN" sz="2000" spc="-1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be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loaded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given</a:t>
            </a:r>
            <a:r>
              <a:rPr lang="en-US" altLang="zh-CN" sz="2000" spc="-1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current</a:t>
            </a:r>
            <a:r>
              <a:rPr lang="en-US" altLang="zh-CN" sz="2000" spc="-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spc="-25" dirty="0">
                <a:solidFill>
                  <a:srgbClr val="408080"/>
                </a:solidFill>
                <a:latin typeface="Verdana"/>
                <a:cs typeface="Verdana"/>
              </a:rPr>
              <a:t>env</a:t>
            </a:r>
          </a:p>
          <a:p>
            <a:pPr>
              <a:spcBef>
                <a:spcPts val="100"/>
              </a:spcBef>
              <a:tabLst>
                <a:tab pos="2919095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30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0" dirty="0"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Verdana"/>
                <a:cs typeface="Verdana"/>
              </a:rPr>
              <a:t>help</a:t>
            </a:r>
            <a:r>
              <a:rPr lang="en-US" altLang="zh-CN" sz="2000" spc="-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lang="en-US" altLang="zh-CN" sz="2000" spc="-10" dirty="0">
                <a:latin typeface="Verdana"/>
                <a:cs typeface="Verdana"/>
              </a:rPr>
              <a:t>&lt;package&gt;</a:t>
            </a:r>
            <a:r>
              <a:rPr lang="en-US" altLang="zh-CN" sz="2000" dirty="0">
                <a:latin typeface="Verdana"/>
                <a:cs typeface="Verdana"/>
              </a:rPr>
              <a:t>	             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Help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info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for</a:t>
            </a:r>
            <a:r>
              <a:rPr lang="en-US" altLang="zh-CN" sz="2000" spc="-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package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(if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provided)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tabLst>
                <a:tab pos="2941320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1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show </a:t>
            </a:r>
            <a:r>
              <a:rPr lang="en-US" altLang="zh-CN" sz="2000" spc="-10" dirty="0">
                <a:latin typeface="Verdana"/>
                <a:cs typeface="Verdana"/>
              </a:rPr>
              <a:t>&lt;package&gt;</a:t>
            </a:r>
            <a:r>
              <a:rPr lang="en-US" altLang="zh-CN" sz="2000" dirty="0">
                <a:latin typeface="Verdana"/>
                <a:cs typeface="Verdana"/>
              </a:rPr>
              <a:t>	 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Show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contents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of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module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tabLst>
                <a:tab pos="4474845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1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load</a:t>
            </a:r>
            <a:r>
              <a:rPr lang="en-US" altLang="zh-CN" sz="2000" spc="-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&lt;package&gt; </a:t>
            </a:r>
            <a:r>
              <a:rPr lang="en-US" altLang="zh-CN" sz="2000" spc="-10" dirty="0">
                <a:latin typeface="Verdana"/>
                <a:cs typeface="Verdana"/>
              </a:rPr>
              <a:t>&lt;package&gt;…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Add</a:t>
            </a:r>
            <a:r>
              <a:rPr lang="en-US" altLang="zh-CN" sz="2000" spc="-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package(s)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to</a:t>
            </a:r>
            <a:r>
              <a:rPr lang="en-US" altLang="zh-CN" sz="2000" spc="-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environment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spcBef>
                <a:spcPts val="95"/>
              </a:spcBef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3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2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unload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&lt;package&gt;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&lt;package&gt;…</a:t>
            </a:r>
            <a:r>
              <a:rPr lang="en-US" altLang="zh-CN" sz="2000" spc="-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1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Remove</a:t>
            </a:r>
            <a:r>
              <a:rPr lang="en-US" altLang="zh-CN" sz="2000" spc="-2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package(s)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from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environment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tabLst>
                <a:tab pos="3249295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2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0" dirty="0">
                <a:latin typeface="Verdana"/>
                <a:cs typeface="Verdana"/>
              </a:rPr>
              <a:t> </a:t>
            </a:r>
            <a:r>
              <a:rPr lang="en-US" altLang="zh-CN" sz="2000" spc="-20" dirty="0">
                <a:latin typeface="Verdana"/>
                <a:cs typeface="Verdana"/>
              </a:rPr>
              <a:t>reset</a:t>
            </a:r>
            <a:r>
              <a:rPr lang="en-US" altLang="zh-CN" sz="2000" dirty="0">
                <a:latin typeface="Verdana"/>
                <a:cs typeface="Verdana"/>
              </a:rPr>
              <a:t>	               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3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Restore</a:t>
            </a:r>
            <a:r>
              <a:rPr lang="en-US" altLang="zh-CN" sz="2000" spc="-3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system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defaults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tabLst>
                <a:tab pos="3249930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20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restore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spc="-10" dirty="0">
                <a:latin typeface="Verdana"/>
                <a:cs typeface="Verdana"/>
              </a:rPr>
              <a:t>&lt;collection&gt;</a:t>
            </a:r>
            <a:r>
              <a:rPr lang="en-US" altLang="zh-CN" sz="2000" dirty="0">
                <a:latin typeface="Verdana"/>
                <a:cs typeface="Verdana"/>
              </a:rPr>
              <a:t>	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Load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a</a:t>
            </a:r>
            <a:r>
              <a:rPr lang="en-US" altLang="zh-CN" sz="2000" spc="-1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saved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collection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tabLst>
                <a:tab pos="3253104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1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5" dirty="0"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spider</a:t>
            </a:r>
            <a:r>
              <a:rPr lang="en-US" altLang="zh-CN" sz="2000" spc="-5" dirty="0">
                <a:latin typeface="Verdana"/>
                <a:cs typeface="Verdana"/>
              </a:rPr>
              <a:t> </a:t>
            </a:r>
            <a:r>
              <a:rPr lang="en-US" altLang="zh-CN" sz="2000" spc="-10" dirty="0">
                <a:latin typeface="Verdana"/>
                <a:cs typeface="Verdana"/>
              </a:rPr>
              <a:t>&lt;package&gt;</a:t>
            </a:r>
            <a:r>
              <a:rPr lang="en-US" altLang="zh-CN" sz="2000" dirty="0">
                <a:latin typeface="Verdana"/>
                <a:cs typeface="Verdana"/>
              </a:rPr>
              <a:t>	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Deep</a:t>
            </a:r>
            <a:r>
              <a:rPr lang="en-US" altLang="zh-CN" sz="2000" spc="-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search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for</a:t>
            </a:r>
            <a:r>
              <a:rPr lang="en-US" altLang="zh-CN" sz="2000" spc="-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modules</a:t>
            </a:r>
            <a:endParaRPr lang="en-US" altLang="zh-CN" sz="2000" dirty="0">
              <a:latin typeface="Verdana"/>
              <a:cs typeface="Verdana"/>
            </a:endParaRPr>
          </a:p>
          <a:p>
            <a:pPr>
              <a:tabLst>
                <a:tab pos="3254375" algn="l"/>
              </a:tabLst>
            </a:pPr>
            <a:r>
              <a:rPr lang="en-US" altLang="zh-CN" sz="2000" dirty="0">
                <a:solidFill>
                  <a:srgbClr val="000080"/>
                </a:solidFill>
                <a:latin typeface="Verdana"/>
                <a:cs typeface="Verdana"/>
              </a:rPr>
              <a:t>$</a:t>
            </a:r>
            <a:r>
              <a:rPr lang="en-US" altLang="zh-CN" sz="2000" spc="-15" dirty="0">
                <a:solidFill>
                  <a:srgbClr val="000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latin typeface="Verdana"/>
                <a:cs typeface="Verdana"/>
              </a:rPr>
              <a:t>module</a:t>
            </a:r>
            <a:r>
              <a:rPr lang="en-US" altLang="zh-CN" sz="2000" spc="-10" dirty="0">
                <a:latin typeface="Verdana"/>
                <a:cs typeface="Verdana"/>
              </a:rPr>
              <a:t> </a:t>
            </a:r>
            <a:r>
              <a:rPr lang="en-US" altLang="zh-CN" sz="2000" spc="-20" dirty="0">
                <a:latin typeface="Verdana"/>
                <a:cs typeface="Verdana"/>
              </a:rPr>
              <a:t>purge</a:t>
            </a:r>
            <a:r>
              <a:rPr lang="en-US" altLang="zh-CN" sz="2000" dirty="0">
                <a:latin typeface="Verdana"/>
                <a:cs typeface="Verdana"/>
              </a:rPr>
              <a:t>	                         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#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Clear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all</a:t>
            </a:r>
            <a:r>
              <a:rPr lang="en-US" altLang="zh-CN" sz="2000" spc="-1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modules</a:t>
            </a:r>
            <a:r>
              <a:rPr lang="en-US" altLang="zh-CN" sz="2000" spc="-10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dirty="0">
                <a:solidFill>
                  <a:srgbClr val="408080"/>
                </a:solidFill>
                <a:latin typeface="Verdana"/>
                <a:cs typeface="Verdana"/>
              </a:rPr>
              <a:t>from</a:t>
            </a:r>
            <a:r>
              <a:rPr lang="en-US" altLang="zh-CN" sz="2000" spc="5" dirty="0">
                <a:solidFill>
                  <a:srgbClr val="408080"/>
                </a:solidFill>
                <a:latin typeface="Verdana"/>
                <a:cs typeface="Verdana"/>
              </a:rPr>
              <a:t> </a:t>
            </a:r>
            <a:r>
              <a:rPr lang="en-US" altLang="zh-CN" sz="2000" spc="-20" dirty="0">
                <a:solidFill>
                  <a:srgbClr val="408080"/>
                </a:solidFill>
                <a:latin typeface="Verdana"/>
                <a:cs typeface="Verdana"/>
              </a:rPr>
              <a:t>env.</a:t>
            </a:r>
            <a:endParaRPr lang="en-US" altLang="zh-CN" sz="20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70405154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Module Avail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228BB31-41AF-641C-1DD7-01703F30006F}"/>
              </a:ext>
            </a:extLst>
          </p:cNvPr>
          <p:cNvSpPr txBox="1"/>
          <p:nvPr/>
        </p:nvSpPr>
        <p:spPr>
          <a:xfrm>
            <a:off x="1526919" y="1635955"/>
            <a:ext cx="2355850" cy="4318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54"/>
              </a:lnSpc>
            </a:pPr>
            <a:r>
              <a:rPr sz="2800" dirty="0">
                <a:latin typeface="Consolas"/>
                <a:cs typeface="Consolas"/>
              </a:rPr>
              <a:t>module</a:t>
            </a:r>
            <a:r>
              <a:rPr sz="2800" spc="-30" dirty="0"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avail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BFB2A68-A04D-5D30-D9E5-3138798EDFBF}"/>
              </a:ext>
            </a:extLst>
          </p:cNvPr>
          <p:cNvSpPr txBox="1"/>
          <p:nvPr/>
        </p:nvSpPr>
        <p:spPr>
          <a:xfrm>
            <a:off x="526794" y="1609852"/>
            <a:ext cx="65055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SzPct val="89285"/>
              <a:buChar char="•"/>
              <a:tabLst>
                <a:tab pos="301625" algn="l"/>
                <a:tab pos="3538220" algn="l"/>
              </a:tabLst>
            </a:pPr>
            <a:r>
              <a:rPr sz="2800" spc="-25" dirty="0">
                <a:latin typeface="Century Gothic"/>
                <a:cs typeface="Century Gothic"/>
              </a:rPr>
              <a:t>The</a:t>
            </a:r>
            <a:r>
              <a:rPr sz="2800" dirty="0">
                <a:latin typeface="Century Gothic"/>
                <a:cs typeface="Century Gothic"/>
              </a:rPr>
              <a:t>	command</a:t>
            </a:r>
            <a:r>
              <a:rPr sz="2800" spc="-3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shows</a:t>
            </a:r>
            <a:endParaRPr sz="2800" dirty="0">
              <a:latin typeface="Century Gothic"/>
              <a:cs typeface="Century Gothic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F7B7832-B290-5225-B17B-BA53256F0111}"/>
              </a:ext>
            </a:extLst>
          </p:cNvPr>
          <p:cNvSpPr txBox="1"/>
          <p:nvPr/>
        </p:nvSpPr>
        <p:spPr>
          <a:xfrm>
            <a:off x="526794" y="1804923"/>
            <a:ext cx="10928350" cy="127508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596900">
              <a:lnSpc>
                <a:spcPct val="100000"/>
              </a:lnSpc>
              <a:spcBef>
                <a:spcPts val="1660"/>
              </a:spcBef>
            </a:pPr>
            <a:r>
              <a:rPr sz="2800" b="1" dirty="0">
                <a:latin typeface="Century Gothic"/>
                <a:cs typeface="Century Gothic"/>
              </a:rPr>
              <a:t>only</a:t>
            </a:r>
            <a:r>
              <a:rPr sz="2800" b="1" spc="-20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what</a:t>
            </a:r>
            <a:r>
              <a:rPr sz="2800" b="1" spc="-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can</a:t>
            </a:r>
            <a:r>
              <a:rPr sz="2800" b="1" spc="-1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be</a:t>
            </a:r>
            <a:r>
              <a:rPr sz="2800" b="1" spc="-1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loaded</a:t>
            </a:r>
            <a:r>
              <a:rPr sz="2800" b="1" spc="-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given</a:t>
            </a:r>
            <a:r>
              <a:rPr sz="2800" b="1" spc="-1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currently</a:t>
            </a:r>
            <a:r>
              <a:rPr sz="2800" b="1" spc="-5" dirty="0">
                <a:latin typeface="Century Gothic"/>
                <a:cs typeface="Century Gothic"/>
              </a:rPr>
              <a:t> </a:t>
            </a:r>
            <a:r>
              <a:rPr sz="2800" b="1" dirty="0">
                <a:latin typeface="Century Gothic"/>
                <a:cs typeface="Century Gothic"/>
              </a:rPr>
              <a:t>loaded</a:t>
            </a:r>
            <a:r>
              <a:rPr sz="2800" b="1" spc="-5" dirty="0">
                <a:latin typeface="Century Gothic"/>
                <a:cs typeface="Century Gothic"/>
              </a:rPr>
              <a:t> </a:t>
            </a:r>
            <a:r>
              <a:rPr sz="2800" b="1" spc="-10" dirty="0">
                <a:latin typeface="Century Gothic"/>
                <a:cs typeface="Century Gothic"/>
              </a:rPr>
              <a:t>packages.</a:t>
            </a:r>
            <a:endParaRPr sz="28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56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Full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partial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package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names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limit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output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to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matches.</a:t>
            </a:r>
            <a:endParaRPr sz="2800" dirty="0">
              <a:latin typeface="Century Gothic"/>
              <a:cs typeface="Century Gothic"/>
            </a:endParaRPr>
          </a:p>
        </p:txBody>
      </p:sp>
      <p:grpSp>
        <p:nvGrpSpPr>
          <p:cNvPr id="10" name="object 6">
            <a:extLst>
              <a:ext uri="{FF2B5EF4-FFF2-40B4-BE49-F238E27FC236}">
                <a16:creationId xmlns:a16="http://schemas.microsoft.com/office/drawing/2014/main" id="{2DD358EF-A28B-8B7B-57BF-89BD5CCEEA0D}"/>
              </a:ext>
            </a:extLst>
          </p:cNvPr>
          <p:cNvGrpSpPr/>
          <p:nvPr/>
        </p:nvGrpSpPr>
        <p:grpSpPr>
          <a:xfrm>
            <a:off x="568152" y="3275970"/>
            <a:ext cx="7846340" cy="2966720"/>
            <a:chOff x="1074738" y="3275970"/>
            <a:chExt cx="6990715" cy="2966720"/>
          </a:xfrm>
        </p:grpSpPr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73D92A61-D7E5-2481-E9DC-DC63C5B99BB6}"/>
                </a:ext>
              </a:extLst>
            </p:cNvPr>
            <p:cNvSpPr/>
            <p:nvPr/>
          </p:nvSpPr>
          <p:spPr>
            <a:xfrm>
              <a:off x="1079500" y="3280732"/>
              <a:ext cx="6981190" cy="2957195"/>
            </a:xfrm>
            <a:custGeom>
              <a:avLst/>
              <a:gdLst/>
              <a:ahLst/>
              <a:cxnLst/>
              <a:rect l="l" t="t" r="r" b="b"/>
              <a:pathLst>
                <a:path w="6981190" h="2957195">
                  <a:moveTo>
                    <a:pt x="6980703" y="0"/>
                  </a:moveTo>
                  <a:lnTo>
                    <a:pt x="0" y="0"/>
                  </a:lnTo>
                  <a:lnTo>
                    <a:pt x="0" y="2956927"/>
                  </a:lnTo>
                  <a:lnTo>
                    <a:pt x="6980703" y="2956927"/>
                  </a:lnTo>
                  <a:lnTo>
                    <a:pt x="6980703" y="0"/>
                  </a:lnTo>
                  <a:close/>
                </a:path>
              </a:pathLst>
            </a:custGeom>
            <a:solidFill>
              <a:srgbClr val="FAEED9">
                <a:alpha val="497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95E06AB1-DB62-0EC5-E0FA-850D7319723D}"/>
                </a:ext>
              </a:extLst>
            </p:cNvPr>
            <p:cNvSpPr/>
            <p:nvPr/>
          </p:nvSpPr>
          <p:spPr>
            <a:xfrm>
              <a:off x="1079500" y="3280732"/>
              <a:ext cx="6981190" cy="2957195"/>
            </a:xfrm>
            <a:custGeom>
              <a:avLst/>
              <a:gdLst/>
              <a:ahLst/>
              <a:cxnLst/>
              <a:rect l="l" t="t" r="r" b="b"/>
              <a:pathLst>
                <a:path w="6981190" h="2957195">
                  <a:moveTo>
                    <a:pt x="0" y="0"/>
                  </a:moveTo>
                  <a:lnTo>
                    <a:pt x="6980704" y="0"/>
                  </a:lnTo>
                  <a:lnTo>
                    <a:pt x="6980704" y="2956927"/>
                  </a:lnTo>
                  <a:lnTo>
                    <a:pt x="0" y="295692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9">
            <a:extLst>
              <a:ext uri="{FF2B5EF4-FFF2-40B4-BE49-F238E27FC236}">
                <a16:creationId xmlns:a16="http://schemas.microsoft.com/office/drawing/2014/main" id="{96A370CE-8706-78B4-5FEF-DB717A32B9BD}"/>
              </a:ext>
            </a:extLst>
          </p:cNvPr>
          <p:cNvSpPr txBox="1"/>
          <p:nvPr/>
        </p:nvSpPr>
        <p:spPr>
          <a:xfrm>
            <a:off x="650213" y="3300476"/>
            <a:ext cx="8110386" cy="5886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$ module </a:t>
            </a:r>
            <a:r>
              <a:rPr sz="1400" spc="-10" dirty="0">
                <a:latin typeface="Consolas"/>
                <a:cs typeface="Consolas"/>
              </a:rPr>
              <a:t>avail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ts val="1430"/>
              </a:lnSpc>
              <a:spcBef>
                <a:spcPts val="45"/>
              </a:spcBef>
            </a:pPr>
            <a:r>
              <a:rPr sz="1400" dirty="0">
                <a:latin typeface="Consolas"/>
                <a:cs typeface="Consolas"/>
              </a:rPr>
              <a:t>------------- </a:t>
            </a:r>
            <a:r>
              <a:rPr sz="1400" dirty="0">
                <a:solidFill>
                  <a:srgbClr val="006600"/>
                </a:solidFill>
                <a:latin typeface="Consolas"/>
                <a:cs typeface="Consolas"/>
              </a:rPr>
              <a:t>/sw/summit/modulefiles/site/linux-rhel7-ppc64le/Core </a:t>
            </a:r>
            <a:r>
              <a:rPr sz="1400" dirty="0">
                <a:latin typeface="Consolas"/>
                <a:cs typeface="Consolas"/>
              </a:rPr>
              <a:t>------------</a:t>
            </a:r>
            <a:r>
              <a:rPr sz="1400" spc="-50" dirty="0">
                <a:latin typeface="Consolas"/>
                <a:cs typeface="Consolas"/>
              </a:rPr>
              <a:t>-</a:t>
            </a:r>
            <a:endParaRPr sz="1400" dirty="0">
              <a:latin typeface="Consolas"/>
              <a:cs typeface="Consolas"/>
            </a:endParaRPr>
          </a:p>
          <a:p>
            <a:pPr marL="264160">
              <a:lnSpc>
                <a:spcPts val="1430"/>
              </a:lnSpc>
            </a:pPr>
            <a:r>
              <a:rPr sz="1400" spc="-25" dirty="0">
                <a:latin typeface="Consolas"/>
                <a:cs typeface="Consolas"/>
              </a:rPr>
              <a:t>...</a:t>
            </a:r>
            <a:endParaRPr sz="1400" dirty="0">
              <a:latin typeface="Consolas"/>
              <a:cs typeface="Consolas"/>
            </a:endParaRPr>
          </a:p>
        </p:txBody>
      </p:sp>
      <p:graphicFrame>
        <p:nvGraphicFramePr>
          <p:cNvPr id="14" name="object 10">
            <a:extLst>
              <a:ext uri="{FF2B5EF4-FFF2-40B4-BE49-F238E27FC236}">
                <a16:creationId xmlns:a16="http://schemas.microsoft.com/office/drawing/2014/main" id="{C43F5AA1-A66A-0D92-4C60-23A705935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028577"/>
              </p:ext>
            </p:extLst>
          </p:nvPr>
        </p:nvGraphicFramePr>
        <p:xfrm>
          <a:off x="883196" y="3910176"/>
          <a:ext cx="5157563" cy="696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73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cuda/10.1.168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ts val="1130"/>
                        </a:lnSpc>
                        <a:tabLst>
                          <a:tab pos="2016125" algn="l"/>
                        </a:tabLst>
                      </a:pPr>
                      <a:r>
                        <a:rPr sz="1400" dirty="0">
                          <a:latin typeface="Consolas"/>
                          <a:cs typeface="Consolas"/>
                        </a:rPr>
                        <a:t>py-</a:t>
                      </a:r>
                      <a:r>
                        <a:rPr sz="1400" spc="-10" dirty="0">
                          <a:latin typeface="Consolas"/>
                          <a:cs typeface="Consolas"/>
                        </a:rPr>
                        <a:t>nose/1.3.7</a:t>
                      </a:r>
                      <a:r>
                        <a:rPr sz="140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1400" spc="-25" dirty="0">
                          <a:latin typeface="Consolas"/>
                          <a:cs typeface="Consolas"/>
                        </a:rPr>
                        <a:t>(D)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cuda/10.1.243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ts val="1240"/>
                        </a:lnSpc>
                      </a:pPr>
                      <a:r>
                        <a:rPr sz="1400" spc="-25" dirty="0">
                          <a:latin typeface="Consolas"/>
                          <a:cs typeface="Consolas"/>
                        </a:rPr>
                        <a:t>(D)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ts val="1240"/>
                        </a:lnSpc>
                      </a:pPr>
                      <a:r>
                        <a:rPr sz="1400" dirty="0">
                          <a:latin typeface="Consolas"/>
                          <a:cs typeface="Consolas"/>
                        </a:rPr>
                        <a:t>py-</a:t>
                      </a:r>
                      <a:r>
                        <a:rPr sz="1400" spc="-10" dirty="0">
                          <a:latin typeface="Consolas"/>
                          <a:cs typeface="Consolas"/>
                        </a:rPr>
                        <a:t>pip/9.0.1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060">
                <a:tc>
                  <a:txBody>
                    <a:bodyPr/>
                    <a:lstStyle/>
                    <a:p>
                      <a:pPr marL="31750">
                        <a:lnSpc>
                          <a:spcPts val="122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gcc/4.8.5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ts val="141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gcc/5.4.0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43840" algn="r">
                        <a:lnSpc>
                          <a:spcPts val="1225"/>
                        </a:lnSpc>
                      </a:pPr>
                      <a:r>
                        <a:rPr sz="1400" spc="-25" dirty="0">
                          <a:latin typeface="Consolas"/>
                          <a:cs typeface="Consolas"/>
                        </a:rPr>
                        <a:t>(L)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ts val="1225"/>
                        </a:lnSpc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python/3.5.2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  <a:p>
                      <a:pPr marL="251460">
                        <a:lnSpc>
                          <a:spcPts val="141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onsolas"/>
                          <a:cs typeface="Consolas"/>
                        </a:rPr>
                        <a:t>readline/6.3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AEED9">
                        <a:alpha val="497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2">
            <a:extLst>
              <a:ext uri="{FF2B5EF4-FFF2-40B4-BE49-F238E27FC236}">
                <a16:creationId xmlns:a16="http://schemas.microsoft.com/office/drawing/2014/main" id="{0C2ACD59-0A48-7118-40D9-77D303561F6D}"/>
              </a:ext>
            </a:extLst>
          </p:cNvPr>
          <p:cNvSpPr txBox="1"/>
          <p:nvPr/>
        </p:nvSpPr>
        <p:spPr>
          <a:xfrm>
            <a:off x="853049" y="4797589"/>
            <a:ext cx="2402210" cy="614912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  <a:tabLst>
                <a:tab pos="348615" algn="l"/>
              </a:tabLst>
            </a:pPr>
            <a:r>
              <a:rPr lang="en-US" altLang="zh-CN" sz="1400" spc="-10" dirty="0">
                <a:solidFill>
                  <a:srgbClr val="990099"/>
                </a:solidFill>
                <a:latin typeface="Consolas"/>
                <a:cs typeface="Consolas"/>
              </a:rPr>
              <a:t>Where:</a:t>
            </a:r>
            <a:endParaRPr lang="en-US" sz="1400" spc="-25" dirty="0">
              <a:solidFill>
                <a:srgbClr val="990099"/>
              </a:solidFill>
              <a:latin typeface="Consolas"/>
              <a:cs typeface="Consolas"/>
            </a:endParaRPr>
          </a:p>
          <a:p>
            <a:pPr marL="12700" marR="5080">
              <a:lnSpc>
                <a:spcPts val="1390"/>
              </a:lnSpc>
              <a:spcBef>
                <a:spcPts val="185"/>
              </a:spcBef>
              <a:tabLst>
                <a:tab pos="348615" algn="l"/>
              </a:tabLst>
            </a:pPr>
            <a:r>
              <a:rPr sz="1400" spc="-25" dirty="0">
                <a:solidFill>
                  <a:srgbClr val="990099"/>
                </a:solidFill>
                <a:latin typeface="Consolas"/>
                <a:cs typeface="Consolas"/>
              </a:rPr>
              <a:t>L:</a:t>
            </a:r>
            <a:r>
              <a:rPr sz="1400" dirty="0">
                <a:solidFill>
                  <a:srgbClr val="990099"/>
                </a:solidFill>
                <a:latin typeface="Consolas"/>
                <a:cs typeface="Consolas"/>
              </a:rPr>
              <a:t>	</a:t>
            </a:r>
            <a:r>
              <a:rPr lang="en-US" sz="1400" dirty="0">
                <a:solidFill>
                  <a:srgbClr val="990099"/>
                </a:solidFill>
                <a:latin typeface="Consolas"/>
                <a:cs typeface="Consolas"/>
              </a:rPr>
              <a:t>M</a:t>
            </a:r>
            <a:r>
              <a:rPr sz="1400" dirty="0">
                <a:solidFill>
                  <a:srgbClr val="990099"/>
                </a:solidFill>
                <a:latin typeface="Consolas"/>
                <a:cs typeface="Consolas"/>
              </a:rPr>
              <a:t>odule</a:t>
            </a:r>
            <a:r>
              <a:rPr sz="1400" spc="-10" dirty="0">
                <a:solidFill>
                  <a:srgbClr val="99009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90099"/>
                </a:solidFill>
                <a:latin typeface="Consolas"/>
                <a:cs typeface="Consolas"/>
              </a:rPr>
              <a:t>is </a:t>
            </a:r>
            <a:r>
              <a:rPr sz="1400" spc="-10" dirty="0">
                <a:solidFill>
                  <a:srgbClr val="990099"/>
                </a:solidFill>
                <a:latin typeface="Consolas"/>
                <a:cs typeface="Consolas"/>
              </a:rPr>
              <a:t>loaded</a:t>
            </a:r>
            <a:endParaRPr lang="en-US" sz="1400" spc="-10" dirty="0">
              <a:solidFill>
                <a:srgbClr val="990099"/>
              </a:solidFill>
              <a:latin typeface="Consolas"/>
              <a:cs typeface="Consolas"/>
            </a:endParaRPr>
          </a:p>
          <a:p>
            <a:pPr marL="12700" marR="5080">
              <a:lnSpc>
                <a:spcPts val="1390"/>
              </a:lnSpc>
              <a:spcBef>
                <a:spcPts val="185"/>
              </a:spcBef>
              <a:tabLst>
                <a:tab pos="348615" algn="l"/>
              </a:tabLst>
            </a:pPr>
            <a:r>
              <a:rPr sz="1400" spc="-25" dirty="0">
                <a:solidFill>
                  <a:srgbClr val="990099"/>
                </a:solidFill>
                <a:latin typeface="Consolas"/>
                <a:cs typeface="Consolas"/>
              </a:rPr>
              <a:t>D:</a:t>
            </a:r>
            <a:r>
              <a:rPr sz="1400" dirty="0">
                <a:solidFill>
                  <a:srgbClr val="990099"/>
                </a:solidFill>
                <a:latin typeface="Consolas"/>
                <a:cs typeface="Consolas"/>
              </a:rPr>
              <a:t>	Default</a:t>
            </a:r>
            <a:r>
              <a:rPr sz="1400" spc="-10" dirty="0">
                <a:solidFill>
                  <a:srgbClr val="990099"/>
                </a:solidFill>
                <a:latin typeface="Consolas"/>
                <a:cs typeface="Consolas"/>
              </a:rPr>
              <a:t> Module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5D54864-4EE1-3C7C-AF5C-9E9DE45F4EAF}"/>
              </a:ext>
            </a:extLst>
          </p:cNvPr>
          <p:cNvSpPr txBox="1"/>
          <p:nvPr/>
        </p:nvSpPr>
        <p:spPr>
          <a:xfrm>
            <a:off x="650214" y="5498083"/>
            <a:ext cx="6579870" cy="601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Use "module spider" to find all possible </a:t>
            </a:r>
            <a:r>
              <a:rPr sz="1400" spc="-10" dirty="0">
                <a:latin typeface="Consolas"/>
                <a:cs typeface="Consolas"/>
              </a:rPr>
              <a:t>modules.</a:t>
            </a:r>
            <a:endParaRPr sz="1400" dirty="0">
              <a:latin typeface="Consolas"/>
              <a:cs typeface="Consolas"/>
            </a:endParaRPr>
          </a:p>
          <a:p>
            <a:pPr marL="12700" marR="5080">
              <a:lnSpc>
                <a:spcPts val="1420"/>
              </a:lnSpc>
              <a:spcBef>
                <a:spcPts val="110"/>
              </a:spcBef>
            </a:pPr>
            <a:r>
              <a:rPr sz="1400" dirty="0">
                <a:latin typeface="Consolas"/>
                <a:cs typeface="Consolas"/>
              </a:rPr>
              <a:t>Use "module keyword key1 key2 ..." to search for all possible modules </a:t>
            </a:r>
            <a:r>
              <a:rPr sz="1400" spc="-10" dirty="0">
                <a:latin typeface="Consolas"/>
                <a:cs typeface="Consolas"/>
              </a:rPr>
              <a:t>matching </a:t>
            </a:r>
            <a:r>
              <a:rPr sz="1400" dirty="0">
                <a:latin typeface="Consolas"/>
                <a:cs typeface="Consolas"/>
              </a:rPr>
              <a:t>any of the </a:t>
            </a:r>
            <a:r>
              <a:rPr sz="1400" spc="-10" dirty="0">
                <a:latin typeface="Consolas"/>
                <a:cs typeface="Consolas"/>
              </a:rPr>
              <a:t>"keys".</a:t>
            </a:r>
            <a:endParaRPr sz="1400" dirty="0">
              <a:latin typeface="Consolas"/>
              <a:cs typeface="Consolas"/>
            </a:endParaRPr>
          </a:p>
        </p:txBody>
      </p:sp>
      <p:grpSp>
        <p:nvGrpSpPr>
          <p:cNvPr id="18" name="object 14">
            <a:extLst>
              <a:ext uri="{FF2B5EF4-FFF2-40B4-BE49-F238E27FC236}">
                <a16:creationId xmlns:a16="http://schemas.microsoft.com/office/drawing/2014/main" id="{D25C3103-42E8-A42B-8D39-9040B1907A6B}"/>
              </a:ext>
            </a:extLst>
          </p:cNvPr>
          <p:cNvGrpSpPr/>
          <p:nvPr/>
        </p:nvGrpSpPr>
        <p:grpSpPr>
          <a:xfrm>
            <a:off x="4620675" y="3405498"/>
            <a:ext cx="7235403" cy="2832268"/>
            <a:chOff x="3454400" y="3405498"/>
            <a:chExt cx="8486243" cy="2832268"/>
          </a:xfrm>
        </p:grpSpPr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2DAF0FC8-B728-99E5-CF22-8A4CEE02CE57}"/>
                </a:ext>
              </a:extLst>
            </p:cNvPr>
            <p:cNvSpPr/>
            <p:nvPr/>
          </p:nvSpPr>
          <p:spPr>
            <a:xfrm>
              <a:off x="7594600" y="3405498"/>
              <a:ext cx="715645" cy="393700"/>
            </a:xfrm>
            <a:custGeom>
              <a:avLst/>
              <a:gdLst/>
              <a:ahLst/>
              <a:cxnLst/>
              <a:rect l="l" t="t" r="r" b="b"/>
              <a:pathLst>
                <a:path w="715645" h="393700">
                  <a:moveTo>
                    <a:pt x="196672" y="0"/>
                  </a:moveTo>
                  <a:lnTo>
                    <a:pt x="0" y="196672"/>
                  </a:lnTo>
                  <a:lnTo>
                    <a:pt x="196672" y="393345"/>
                  </a:lnTo>
                  <a:lnTo>
                    <a:pt x="196672" y="295009"/>
                  </a:lnTo>
                  <a:lnTo>
                    <a:pt x="715424" y="295009"/>
                  </a:lnTo>
                  <a:lnTo>
                    <a:pt x="715424" y="98336"/>
                  </a:lnTo>
                  <a:lnTo>
                    <a:pt x="196672" y="98336"/>
                  </a:lnTo>
                  <a:lnTo>
                    <a:pt x="196672" y="0"/>
                  </a:lnTo>
                  <a:close/>
                </a:path>
              </a:pathLst>
            </a:custGeom>
            <a:solidFill>
              <a:srgbClr val="447E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02B384FC-94F7-1069-4790-6D84C3F664ED}"/>
                </a:ext>
              </a:extLst>
            </p:cNvPr>
            <p:cNvSpPr/>
            <p:nvPr/>
          </p:nvSpPr>
          <p:spPr>
            <a:xfrm>
              <a:off x="7594600" y="3405498"/>
              <a:ext cx="715645" cy="393700"/>
            </a:xfrm>
            <a:custGeom>
              <a:avLst/>
              <a:gdLst/>
              <a:ahLst/>
              <a:cxnLst/>
              <a:rect l="l" t="t" r="r" b="b"/>
              <a:pathLst>
                <a:path w="715645" h="393700">
                  <a:moveTo>
                    <a:pt x="0" y="196673"/>
                  </a:moveTo>
                  <a:lnTo>
                    <a:pt x="196672" y="0"/>
                  </a:lnTo>
                  <a:lnTo>
                    <a:pt x="196672" y="98336"/>
                  </a:lnTo>
                  <a:lnTo>
                    <a:pt x="715424" y="98336"/>
                  </a:lnTo>
                  <a:lnTo>
                    <a:pt x="715424" y="295009"/>
                  </a:lnTo>
                  <a:lnTo>
                    <a:pt x="196672" y="295009"/>
                  </a:lnTo>
                  <a:lnTo>
                    <a:pt x="196672" y="393346"/>
                  </a:lnTo>
                  <a:lnTo>
                    <a:pt x="0" y="196673"/>
                  </a:lnTo>
                  <a:close/>
                </a:path>
              </a:pathLst>
            </a:custGeom>
            <a:ln w="10795">
              <a:solidFill>
                <a:srgbClr val="6889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36FF2922-3961-D11B-3BEE-66BD625371FC}"/>
                </a:ext>
              </a:extLst>
            </p:cNvPr>
            <p:cNvSpPr/>
            <p:nvPr/>
          </p:nvSpPr>
          <p:spPr>
            <a:xfrm>
              <a:off x="3454400" y="4983230"/>
              <a:ext cx="4855845" cy="393700"/>
            </a:xfrm>
            <a:custGeom>
              <a:avLst/>
              <a:gdLst/>
              <a:ahLst/>
              <a:cxnLst/>
              <a:rect l="l" t="t" r="r" b="b"/>
              <a:pathLst>
                <a:path w="4855845" h="393700">
                  <a:moveTo>
                    <a:pt x="196673" y="0"/>
                  </a:moveTo>
                  <a:lnTo>
                    <a:pt x="0" y="196673"/>
                  </a:lnTo>
                  <a:lnTo>
                    <a:pt x="196673" y="393345"/>
                  </a:lnTo>
                  <a:lnTo>
                    <a:pt x="196673" y="295012"/>
                  </a:lnTo>
                  <a:lnTo>
                    <a:pt x="4855624" y="295012"/>
                  </a:lnTo>
                  <a:lnTo>
                    <a:pt x="4855624" y="98338"/>
                  </a:lnTo>
                  <a:lnTo>
                    <a:pt x="196673" y="98338"/>
                  </a:lnTo>
                  <a:lnTo>
                    <a:pt x="196673" y="0"/>
                  </a:lnTo>
                  <a:close/>
                </a:path>
              </a:pathLst>
            </a:custGeom>
            <a:solidFill>
              <a:srgbClr val="578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B57CAF2B-760A-AAF1-D609-98631E606521}"/>
                </a:ext>
              </a:extLst>
            </p:cNvPr>
            <p:cNvSpPr/>
            <p:nvPr/>
          </p:nvSpPr>
          <p:spPr>
            <a:xfrm>
              <a:off x="3454400" y="4983230"/>
              <a:ext cx="4855845" cy="393700"/>
            </a:xfrm>
            <a:custGeom>
              <a:avLst/>
              <a:gdLst/>
              <a:ahLst/>
              <a:cxnLst/>
              <a:rect l="l" t="t" r="r" b="b"/>
              <a:pathLst>
                <a:path w="4855845" h="393700">
                  <a:moveTo>
                    <a:pt x="0" y="196673"/>
                  </a:moveTo>
                  <a:lnTo>
                    <a:pt x="196672" y="0"/>
                  </a:lnTo>
                  <a:lnTo>
                    <a:pt x="196672" y="98339"/>
                  </a:lnTo>
                  <a:lnTo>
                    <a:pt x="4855624" y="98339"/>
                  </a:lnTo>
                  <a:lnTo>
                    <a:pt x="4855624" y="295012"/>
                  </a:lnTo>
                  <a:lnTo>
                    <a:pt x="196672" y="295012"/>
                  </a:lnTo>
                  <a:lnTo>
                    <a:pt x="196672" y="393346"/>
                  </a:lnTo>
                  <a:lnTo>
                    <a:pt x="0" y="196673"/>
                  </a:lnTo>
                  <a:close/>
                </a:path>
              </a:pathLst>
            </a:custGeom>
            <a:ln w="17145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9">
              <a:extLst>
                <a:ext uri="{FF2B5EF4-FFF2-40B4-BE49-F238E27FC236}">
                  <a16:creationId xmlns:a16="http://schemas.microsoft.com/office/drawing/2014/main" id="{CF2B5A07-5CC7-F82D-BEAD-3A9E3FDBDFC3}"/>
                </a:ext>
              </a:extLst>
            </p:cNvPr>
            <p:cNvSpPr/>
            <p:nvPr/>
          </p:nvSpPr>
          <p:spPr>
            <a:xfrm>
              <a:off x="8310024" y="4815366"/>
              <a:ext cx="3630619" cy="1422400"/>
            </a:xfrm>
            <a:custGeom>
              <a:avLst/>
              <a:gdLst/>
              <a:ahLst/>
              <a:cxnLst/>
              <a:rect l="l" t="t" r="r" b="b"/>
              <a:pathLst>
                <a:path w="3056890" h="1422400">
                  <a:moveTo>
                    <a:pt x="0" y="237054"/>
                  </a:moveTo>
                  <a:lnTo>
                    <a:pt x="4816" y="189279"/>
                  </a:lnTo>
                  <a:lnTo>
                    <a:pt x="18628" y="144782"/>
                  </a:lnTo>
                  <a:lnTo>
                    <a:pt x="40485" y="104515"/>
                  </a:lnTo>
                  <a:lnTo>
                    <a:pt x="69431" y="69431"/>
                  </a:lnTo>
                  <a:lnTo>
                    <a:pt x="104514" y="40485"/>
                  </a:lnTo>
                  <a:lnTo>
                    <a:pt x="144781" y="18628"/>
                  </a:lnTo>
                  <a:lnTo>
                    <a:pt x="189279" y="4816"/>
                  </a:lnTo>
                  <a:lnTo>
                    <a:pt x="237054" y="0"/>
                  </a:lnTo>
                  <a:lnTo>
                    <a:pt x="2819422" y="0"/>
                  </a:lnTo>
                  <a:lnTo>
                    <a:pt x="2867196" y="4816"/>
                  </a:lnTo>
                  <a:lnTo>
                    <a:pt x="2911694" y="18628"/>
                  </a:lnTo>
                  <a:lnTo>
                    <a:pt x="2951961" y="40485"/>
                  </a:lnTo>
                  <a:lnTo>
                    <a:pt x="2987044" y="69431"/>
                  </a:lnTo>
                  <a:lnTo>
                    <a:pt x="3015990" y="104515"/>
                  </a:lnTo>
                  <a:lnTo>
                    <a:pt x="3037847" y="144782"/>
                  </a:lnTo>
                  <a:lnTo>
                    <a:pt x="3051659" y="189279"/>
                  </a:lnTo>
                  <a:lnTo>
                    <a:pt x="3056476" y="237054"/>
                  </a:lnTo>
                  <a:lnTo>
                    <a:pt x="3056476" y="1185239"/>
                  </a:lnTo>
                  <a:lnTo>
                    <a:pt x="3051659" y="1233013"/>
                  </a:lnTo>
                  <a:lnTo>
                    <a:pt x="3037847" y="1277511"/>
                  </a:lnTo>
                  <a:lnTo>
                    <a:pt x="3015990" y="1317778"/>
                  </a:lnTo>
                  <a:lnTo>
                    <a:pt x="2987044" y="1352862"/>
                  </a:lnTo>
                  <a:lnTo>
                    <a:pt x="2951961" y="1381808"/>
                  </a:lnTo>
                  <a:lnTo>
                    <a:pt x="2911694" y="1403665"/>
                  </a:lnTo>
                  <a:lnTo>
                    <a:pt x="2867196" y="1417477"/>
                  </a:lnTo>
                  <a:lnTo>
                    <a:pt x="2819422" y="1422294"/>
                  </a:lnTo>
                  <a:lnTo>
                    <a:pt x="237054" y="1422294"/>
                  </a:lnTo>
                  <a:lnTo>
                    <a:pt x="189279" y="1417477"/>
                  </a:lnTo>
                  <a:lnTo>
                    <a:pt x="144781" y="1403665"/>
                  </a:lnTo>
                  <a:lnTo>
                    <a:pt x="104514" y="1381808"/>
                  </a:lnTo>
                  <a:lnTo>
                    <a:pt x="69431" y="1352862"/>
                  </a:lnTo>
                  <a:lnTo>
                    <a:pt x="40485" y="1317778"/>
                  </a:lnTo>
                  <a:lnTo>
                    <a:pt x="18628" y="1277511"/>
                  </a:lnTo>
                  <a:lnTo>
                    <a:pt x="4816" y="1233013"/>
                  </a:lnTo>
                  <a:lnTo>
                    <a:pt x="0" y="1185239"/>
                  </a:lnTo>
                  <a:lnTo>
                    <a:pt x="0" y="237054"/>
                  </a:lnTo>
                  <a:close/>
                </a:path>
              </a:pathLst>
            </a:custGeom>
            <a:ln w="10795">
              <a:solidFill>
                <a:srgbClr val="578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0">
            <a:extLst>
              <a:ext uri="{FF2B5EF4-FFF2-40B4-BE49-F238E27FC236}">
                <a16:creationId xmlns:a16="http://schemas.microsoft.com/office/drawing/2014/main" id="{97AD7CC3-6DEA-2E2E-8AC9-DF17A88A54E9}"/>
              </a:ext>
            </a:extLst>
          </p:cNvPr>
          <p:cNvSpPr txBox="1"/>
          <p:nvPr/>
        </p:nvSpPr>
        <p:spPr>
          <a:xfrm>
            <a:off x="8830671" y="4975088"/>
            <a:ext cx="2955523" cy="1157496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algn="just">
              <a:lnSpc>
                <a:spcPct val="91100"/>
              </a:lnSpc>
              <a:spcBef>
                <a:spcPts val="290"/>
              </a:spcBef>
            </a:pPr>
            <a:r>
              <a:rPr sz="2000" dirty="0">
                <a:latin typeface="Century Gothic"/>
                <a:cs typeface="Century Gothic"/>
              </a:rPr>
              <a:t>Future labels will </a:t>
            </a:r>
            <a:r>
              <a:rPr sz="2000" spc="-20" dirty="0">
                <a:latin typeface="Century Gothic"/>
                <a:cs typeface="Century Gothic"/>
              </a:rPr>
              <a:t>have </a:t>
            </a:r>
            <a:r>
              <a:rPr sz="2000" dirty="0">
                <a:latin typeface="Century Gothic"/>
                <a:cs typeface="Century Gothic"/>
              </a:rPr>
              <a:t>explanation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in</a:t>
            </a:r>
            <a:r>
              <a:rPr sz="2000" spc="-10" dirty="0">
                <a:latin typeface="Century Gothic"/>
                <a:cs typeface="Century Gothic"/>
              </a:rPr>
              <a:t> legend </a:t>
            </a:r>
            <a:r>
              <a:rPr sz="2000" dirty="0">
                <a:latin typeface="Century Gothic"/>
                <a:cs typeface="Century Gothic"/>
              </a:rPr>
              <a:t>(shown</a:t>
            </a:r>
            <a:r>
              <a:rPr sz="2000" spc="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on</a:t>
            </a:r>
            <a:r>
              <a:rPr sz="2000" spc="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in</a:t>
            </a:r>
            <a:r>
              <a:rPr sz="2000" spc="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non-</a:t>
            </a:r>
            <a:r>
              <a:rPr sz="2000" spc="-20" dirty="0">
                <a:latin typeface="Century Gothic"/>
                <a:cs typeface="Century Gothic"/>
              </a:rPr>
              <a:t>terse </a:t>
            </a:r>
            <a:r>
              <a:rPr sz="2000" spc="-10" dirty="0">
                <a:latin typeface="Century Gothic"/>
                <a:cs typeface="Century Gothic"/>
              </a:rPr>
              <a:t>output)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4D22AB73-BEBD-342F-036A-B60BAEF7452F}"/>
              </a:ext>
            </a:extLst>
          </p:cNvPr>
          <p:cNvSpPr/>
          <p:nvPr/>
        </p:nvSpPr>
        <p:spPr>
          <a:xfrm>
            <a:off x="8799189" y="3241048"/>
            <a:ext cx="3056890" cy="1422400"/>
          </a:xfrm>
          <a:custGeom>
            <a:avLst/>
            <a:gdLst/>
            <a:ahLst/>
            <a:cxnLst/>
            <a:rect l="l" t="t" r="r" b="b"/>
            <a:pathLst>
              <a:path w="3056890" h="1422400">
                <a:moveTo>
                  <a:pt x="0" y="237054"/>
                </a:moveTo>
                <a:lnTo>
                  <a:pt x="4816" y="189279"/>
                </a:lnTo>
                <a:lnTo>
                  <a:pt x="18628" y="144782"/>
                </a:lnTo>
                <a:lnTo>
                  <a:pt x="40485" y="104515"/>
                </a:lnTo>
                <a:lnTo>
                  <a:pt x="69431" y="69431"/>
                </a:lnTo>
                <a:lnTo>
                  <a:pt x="104514" y="40485"/>
                </a:lnTo>
                <a:lnTo>
                  <a:pt x="144781" y="18628"/>
                </a:lnTo>
                <a:lnTo>
                  <a:pt x="189279" y="4816"/>
                </a:lnTo>
                <a:lnTo>
                  <a:pt x="237054" y="0"/>
                </a:lnTo>
                <a:lnTo>
                  <a:pt x="2819423" y="0"/>
                </a:lnTo>
                <a:lnTo>
                  <a:pt x="2867197" y="4816"/>
                </a:lnTo>
                <a:lnTo>
                  <a:pt x="2911695" y="18628"/>
                </a:lnTo>
                <a:lnTo>
                  <a:pt x="2951962" y="40485"/>
                </a:lnTo>
                <a:lnTo>
                  <a:pt x="2987045" y="69431"/>
                </a:lnTo>
                <a:lnTo>
                  <a:pt x="3015991" y="104515"/>
                </a:lnTo>
                <a:lnTo>
                  <a:pt x="3037848" y="144782"/>
                </a:lnTo>
                <a:lnTo>
                  <a:pt x="3051660" y="189279"/>
                </a:lnTo>
                <a:lnTo>
                  <a:pt x="3056477" y="237054"/>
                </a:lnTo>
                <a:lnTo>
                  <a:pt x="3056477" y="1185239"/>
                </a:lnTo>
                <a:lnTo>
                  <a:pt x="3051660" y="1233013"/>
                </a:lnTo>
                <a:lnTo>
                  <a:pt x="3037848" y="1277511"/>
                </a:lnTo>
                <a:lnTo>
                  <a:pt x="3015991" y="1317778"/>
                </a:lnTo>
                <a:lnTo>
                  <a:pt x="2987045" y="1352862"/>
                </a:lnTo>
                <a:lnTo>
                  <a:pt x="2951962" y="1381808"/>
                </a:lnTo>
                <a:lnTo>
                  <a:pt x="2911695" y="1403665"/>
                </a:lnTo>
                <a:lnTo>
                  <a:pt x="2867197" y="1417477"/>
                </a:lnTo>
                <a:lnTo>
                  <a:pt x="2819423" y="1422294"/>
                </a:lnTo>
                <a:lnTo>
                  <a:pt x="237054" y="1422294"/>
                </a:lnTo>
                <a:lnTo>
                  <a:pt x="189279" y="1417477"/>
                </a:lnTo>
                <a:lnTo>
                  <a:pt x="144781" y="1403665"/>
                </a:lnTo>
                <a:lnTo>
                  <a:pt x="104514" y="1381808"/>
                </a:lnTo>
                <a:lnTo>
                  <a:pt x="69431" y="1352862"/>
                </a:lnTo>
                <a:lnTo>
                  <a:pt x="40485" y="1317778"/>
                </a:lnTo>
                <a:lnTo>
                  <a:pt x="18628" y="1277511"/>
                </a:lnTo>
                <a:lnTo>
                  <a:pt x="4816" y="1233013"/>
                </a:lnTo>
                <a:lnTo>
                  <a:pt x="0" y="1185239"/>
                </a:lnTo>
                <a:lnTo>
                  <a:pt x="0" y="237054"/>
                </a:lnTo>
                <a:close/>
              </a:path>
            </a:pathLst>
          </a:custGeom>
          <a:ln w="10795">
            <a:solidFill>
              <a:srgbClr val="8FBB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A0F8B769-E0BA-BFE3-6F94-C7DE6C7635D7}"/>
              </a:ext>
            </a:extLst>
          </p:cNvPr>
          <p:cNvSpPr txBox="1"/>
          <p:nvPr/>
        </p:nvSpPr>
        <p:spPr>
          <a:xfrm>
            <a:off x="8921080" y="3288284"/>
            <a:ext cx="2934998" cy="1157496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ct val="91100"/>
              </a:lnSpc>
              <a:spcBef>
                <a:spcPts val="290"/>
              </a:spcBef>
            </a:pPr>
            <a:r>
              <a:rPr sz="2000" dirty="0">
                <a:latin typeface="Century Gothic"/>
                <a:cs typeface="Century Gothic"/>
              </a:rPr>
              <a:t>Path in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onsolas"/>
                <a:cs typeface="Consolas"/>
              </a:rPr>
              <a:t>MODULEPATH </a:t>
            </a:r>
            <a:r>
              <a:rPr sz="2000" dirty="0">
                <a:latin typeface="Century Gothic"/>
                <a:cs typeface="Century Gothic"/>
              </a:rPr>
              <a:t>where a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module</a:t>
            </a:r>
            <a:r>
              <a:rPr sz="2000" spc="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exists. </a:t>
            </a:r>
            <a:r>
              <a:rPr sz="2000" dirty="0">
                <a:latin typeface="Century Gothic"/>
                <a:cs typeface="Century Gothic"/>
              </a:rPr>
              <a:t>Printed in order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of </a:t>
            </a:r>
            <a:r>
              <a:rPr sz="2000" spc="-10" dirty="0">
                <a:latin typeface="Century Gothic"/>
                <a:cs typeface="Century Gothic"/>
              </a:rPr>
              <a:t>priority.</a:t>
            </a:r>
            <a:endParaRPr sz="20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52101643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err="1">
                <a:latin typeface="Comic Sans MS" panose="030F0702030302020204" pitchFamily="66" charset="0"/>
                <a:cs typeface="+mn-cs"/>
              </a:rPr>
              <a:t>Modulefile</a:t>
            </a:r>
            <a:r>
              <a:rPr lang="en-US" altLang="zh-CN" dirty="0">
                <a:latin typeface="Comic Sans MS" panose="030F0702030302020204" pitchFamily="66" charset="0"/>
                <a:cs typeface="+mn-cs"/>
              </a:rPr>
              <a:t> Priority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39E908E-11C7-251E-C092-D9DC7B0A67BC}"/>
              </a:ext>
            </a:extLst>
          </p:cNvPr>
          <p:cNvSpPr/>
          <p:nvPr/>
        </p:nvSpPr>
        <p:spPr>
          <a:xfrm>
            <a:off x="7086344" y="1648654"/>
            <a:ext cx="1952625" cy="431800"/>
          </a:xfrm>
          <a:custGeom>
            <a:avLst/>
            <a:gdLst/>
            <a:ahLst/>
            <a:cxnLst/>
            <a:rect l="l" t="t" r="r" b="b"/>
            <a:pathLst>
              <a:path w="1952625" h="431800">
                <a:moveTo>
                  <a:pt x="1952625" y="0"/>
                </a:moveTo>
                <a:lnTo>
                  <a:pt x="0" y="0"/>
                </a:lnTo>
                <a:lnTo>
                  <a:pt x="0" y="431800"/>
                </a:lnTo>
                <a:lnTo>
                  <a:pt x="1952625" y="431800"/>
                </a:lnTo>
                <a:lnTo>
                  <a:pt x="1952625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BFC4088-2FFB-5701-0C53-AF00DD1E4283}"/>
              </a:ext>
            </a:extLst>
          </p:cNvPr>
          <p:cNvSpPr txBox="1"/>
          <p:nvPr/>
        </p:nvSpPr>
        <p:spPr>
          <a:xfrm>
            <a:off x="526794" y="1527217"/>
            <a:ext cx="10955655" cy="158940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844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Loading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some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modules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will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alter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onsolas"/>
                <a:cs typeface="Consolas"/>
              </a:rPr>
              <a:t>MODULEPATH</a:t>
            </a:r>
            <a:r>
              <a:rPr sz="2800" spc="-10" dirty="0">
                <a:latin typeface="Century Gothic"/>
                <a:cs typeface="Century Gothic"/>
              </a:rPr>
              <a:t>.</a:t>
            </a:r>
            <a:endParaRPr sz="2800">
              <a:latin typeface="Century Gothic"/>
              <a:cs typeface="Century Gothic"/>
            </a:endParaRPr>
          </a:p>
          <a:p>
            <a:pPr marL="411480">
              <a:lnSpc>
                <a:spcPct val="100000"/>
              </a:lnSpc>
              <a:spcBef>
                <a:spcPts val="640"/>
              </a:spcBef>
              <a:tabLst>
                <a:tab pos="699770" algn="l"/>
              </a:tabLst>
            </a:pPr>
            <a:r>
              <a:rPr sz="2200" spc="-50" dirty="0">
                <a:latin typeface="Century Gothic"/>
                <a:cs typeface="Century Gothic"/>
              </a:rPr>
              <a:t>–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400" dirty="0">
                <a:latin typeface="Century Gothic"/>
                <a:cs typeface="Century Gothic"/>
              </a:rPr>
              <a:t>Compilers,</a:t>
            </a:r>
            <a:r>
              <a:rPr sz="2400" spc="-3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MPI: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Only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one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module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in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families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can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loaded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at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time.</a:t>
            </a:r>
            <a:endParaRPr sz="240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33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First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module</a:t>
            </a:r>
            <a:r>
              <a:rPr sz="2800" spc="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among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duplicate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onsolas"/>
                <a:cs typeface="Consolas"/>
              </a:rPr>
              <a:t>package/version</a:t>
            </a:r>
            <a:r>
              <a:rPr sz="2800" spc="-765" dirty="0">
                <a:latin typeface="Consolas"/>
                <a:cs typeface="Consolas"/>
              </a:rPr>
              <a:t> </a:t>
            </a:r>
            <a:r>
              <a:rPr sz="2800" dirty="0">
                <a:latin typeface="Century Gothic"/>
                <a:cs typeface="Century Gothic"/>
              </a:rPr>
              <a:t>names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in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BD7B7214-C3AB-ADA0-2BD8-6485932371C7}"/>
              </a:ext>
            </a:extLst>
          </p:cNvPr>
          <p:cNvSpPr txBox="1"/>
          <p:nvPr/>
        </p:nvSpPr>
        <p:spPr>
          <a:xfrm>
            <a:off x="828419" y="3083754"/>
            <a:ext cx="1952625" cy="4318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54"/>
              </a:lnSpc>
            </a:pPr>
            <a:r>
              <a:rPr sz="2800" spc="-10" dirty="0">
                <a:latin typeface="Consolas"/>
                <a:cs typeface="Consolas"/>
              </a:rPr>
              <a:t>MODULEPATH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DD95344C-F4FD-C0E6-241D-43DEB209F5A5}"/>
              </a:ext>
            </a:extLst>
          </p:cNvPr>
          <p:cNvSpPr txBox="1"/>
          <p:nvPr/>
        </p:nvSpPr>
        <p:spPr>
          <a:xfrm>
            <a:off x="2866769" y="3057651"/>
            <a:ext cx="2804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will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be </a:t>
            </a:r>
            <a:r>
              <a:rPr sz="2800" spc="-10" dirty="0">
                <a:latin typeface="Century Gothic"/>
                <a:cs typeface="Century Gothic"/>
              </a:rPr>
              <a:t>selected: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F1345E90-74A2-1C45-FE2B-5563A9849500}"/>
              </a:ext>
            </a:extLst>
          </p:cNvPr>
          <p:cNvSpPr txBox="1"/>
          <p:nvPr/>
        </p:nvSpPr>
        <p:spPr>
          <a:xfrm>
            <a:off x="600454" y="3721050"/>
            <a:ext cx="11412220" cy="1483360"/>
          </a:xfrm>
          <a:prstGeom prst="rect">
            <a:avLst/>
          </a:prstGeom>
          <a:solidFill>
            <a:srgbClr val="FAEED9">
              <a:alpha val="50199"/>
            </a:srgbClr>
          </a:solidFill>
          <a:ln w="9525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latin typeface="Consolas"/>
                <a:cs typeface="Consolas"/>
              </a:rPr>
              <a:t>$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module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-</a:t>
            </a:r>
            <a:r>
              <a:rPr sz="1800" dirty="0">
                <a:latin typeface="Consolas"/>
                <a:cs typeface="Consolas"/>
              </a:rPr>
              <a:t>t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avail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hdf5/1.10.4</a:t>
            </a:r>
            <a:endParaRPr sz="1800">
              <a:latin typeface="Consolas"/>
              <a:cs typeface="Consolas"/>
            </a:endParaRPr>
          </a:p>
          <a:p>
            <a:pPr marL="89535" marR="915035">
              <a:lnSpc>
                <a:spcPts val="2110"/>
              </a:lnSpc>
              <a:spcBef>
                <a:spcPts val="160"/>
              </a:spcBef>
            </a:pPr>
            <a:r>
              <a:rPr sz="1800" spc="-10" dirty="0">
                <a:solidFill>
                  <a:srgbClr val="9933FF"/>
                </a:solidFill>
                <a:latin typeface="Consolas"/>
                <a:cs typeface="Consolas"/>
              </a:rPr>
              <a:t>/sw/summit/modulefiles/site/.../spectrum-mpi/10.3.1.2-20200121-p6nrnt6/xl/16.1.1-</a:t>
            </a:r>
            <a:r>
              <a:rPr sz="1800" spc="-25" dirty="0">
                <a:solidFill>
                  <a:srgbClr val="9933FF"/>
                </a:solidFill>
                <a:latin typeface="Consolas"/>
                <a:cs typeface="Consolas"/>
              </a:rPr>
              <a:t>5: </a:t>
            </a:r>
            <a:r>
              <a:rPr sz="1800" spc="-10" dirty="0">
                <a:solidFill>
                  <a:srgbClr val="009933"/>
                </a:solidFill>
                <a:latin typeface="Consolas"/>
                <a:cs typeface="Consolas"/>
              </a:rPr>
              <a:t>hdf5/1.10.4</a:t>
            </a:r>
            <a:endParaRPr sz="1800">
              <a:latin typeface="Consolas"/>
              <a:cs typeface="Consolas"/>
            </a:endParaRPr>
          </a:p>
          <a:p>
            <a:pPr marL="89535" marR="5801360">
              <a:lnSpc>
                <a:spcPts val="2110"/>
              </a:lnSpc>
              <a:spcBef>
                <a:spcPts val="75"/>
              </a:spcBef>
            </a:pPr>
            <a:r>
              <a:rPr sz="1800" spc="-10" dirty="0">
                <a:solidFill>
                  <a:srgbClr val="9933FF"/>
                </a:solidFill>
                <a:latin typeface="Consolas"/>
                <a:cs typeface="Consolas"/>
              </a:rPr>
              <a:t>/sw/summit/modulefiles/site/.../xl/16.1.1-</a:t>
            </a:r>
            <a:r>
              <a:rPr sz="1800" spc="-25" dirty="0">
                <a:solidFill>
                  <a:srgbClr val="9933FF"/>
                </a:solidFill>
                <a:latin typeface="Consolas"/>
                <a:cs typeface="Consolas"/>
              </a:rPr>
              <a:t>5: </a:t>
            </a:r>
            <a:r>
              <a:rPr sz="1800" spc="-10" dirty="0">
                <a:solidFill>
                  <a:srgbClr val="FF9900"/>
                </a:solidFill>
                <a:latin typeface="Consolas"/>
                <a:cs typeface="Consolas"/>
              </a:rPr>
              <a:t>hdf5/1.10.4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4D40A8A0-B538-EB5E-C18C-62B7F18F5AE7}"/>
              </a:ext>
            </a:extLst>
          </p:cNvPr>
          <p:cNvSpPr txBox="1"/>
          <p:nvPr/>
        </p:nvSpPr>
        <p:spPr>
          <a:xfrm>
            <a:off x="679194" y="5287771"/>
            <a:ext cx="1123315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Century Gothic"/>
                <a:cs typeface="Century Gothic"/>
              </a:rPr>
              <a:t>Example:</a:t>
            </a:r>
            <a:r>
              <a:rPr sz="2400" spc="-3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MPI-</a:t>
            </a:r>
            <a:r>
              <a:rPr sz="2400" dirty="0">
                <a:latin typeface="Century Gothic"/>
                <a:cs typeface="Century Gothic"/>
              </a:rPr>
              <a:t>enabled</a:t>
            </a:r>
            <a:r>
              <a:rPr sz="2400" spc="-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builds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replace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serial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builds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when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MPI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implementation </a:t>
            </a:r>
            <a:r>
              <a:rPr sz="2400" dirty="0">
                <a:latin typeface="Century Gothic"/>
                <a:cs typeface="Century Gothic"/>
              </a:rPr>
              <a:t>is</a:t>
            </a:r>
            <a:r>
              <a:rPr sz="2400" spc="-10" dirty="0">
                <a:latin typeface="Century Gothic"/>
                <a:cs typeface="Century Gothic"/>
              </a:rPr>
              <a:t> loaded.</a:t>
            </a:r>
            <a:endParaRPr sz="24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03959332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err="1">
                <a:latin typeface="Comic Sans MS" panose="030F0702030302020204" pitchFamily="66" charset="0"/>
                <a:cs typeface="+mn-cs"/>
              </a:rPr>
              <a:t>Modulefile</a:t>
            </a:r>
            <a:r>
              <a:rPr lang="en-US" altLang="zh-CN" dirty="0">
                <a:latin typeface="Comic Sans MS" panose="030F0702030302020204" pitchFamily="66" charset="0"/>
                <a:cs typeface="+mn-cs"/>
              </a:rPr>
              <a:t> Priority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E885F5B-4506-BE76-5538-AD3DDE5B2EC8}"/>
              </a:ext>
            </a:extLst>
          </p:cNvPr>
          <p:cNvSpPr/>
          <p:nvPr/>
        </p:nvSpPr>
        <p:spPr>
          <a:xfrm>
            <a:off x="1416035" y="2295072"/>
            <a:ext cx="9171940" cy="825500"/>
          </a:xfrm>
          <a:custGeom>
            <a:avLst/>
            <a:gdLst/>
            <a:ahLst/>
            <a:cxnLst/>
            <a:rect l="l" t="t" r="r" b="b"/>
            <a:pathLst>
              <a:path w="9171940" h="825500">
                <a:moveTo>
                  <a:pt x="9171368" y="393700"/>
                </a:moveTo>
                <a:lnTo>
                  <a:pt x="7416863" y="393700"/>
                </a:lnTo>
                <a:lnTo>
                  <a:pt x="7416863" y="0"/>
                </a:lnTo>
                <a:lnTo>
                  <a:pt x="1714" y="0"/>
                </a:lnTo>
                <a:lnTo>
                  <a:pt x="1714" y="393700"/>
                </a:lnTo>
                <a:lnTo>
                  <a:pt x="0" y="393700"/>
                </a:lnTo>
                <a:lnTo>
                  <a:pt x="0" y="825500"/>
                </a:lnTo>
                <a:lnTo>
                  <a:pt x="1756219" y="825500"/>
                </a:lnTo>
                <a:lnTo>
                  <a:pt x="2731897" y="825500"/>
                </a:lnTo>
                <a:lnTo>
                  <a:pt x="2927032" y="825500"/>
                </a:lnTo>
                <a:lnTo>
                  <a:pt x="9171368" y="825500"/>
                </a:lnTo>
                <a:lnTo>
                  <a:pt x="9171368" y="39370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5D329ED-9F84-09B9-90BE-94591CC5786C}"/>
              </a:ext>
            </a:extLst>
          </p:cNvPr>
          <p:cNvSpPr txBox="1"/>
          <p:nvPr/>
        </p:nvSpPr>
        <p:spPr>
          <a:xfrm>
            <a:off x="1011361" y="1887453"/>
            <a:ext cx="10213975" cy="3225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8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To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override</a:t>
            </a:r>
            <a:r>
              <a:rPr sz="2800" spc="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behavior, alter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the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onsolas"/>
                <a:cs typeface="Consolas"/>
              </a:rPr>
              <a:t>MODULEPATH</a:t>
            </a:r>
            <a:r>
              <a:rPr sz="2800" spc="-765" dirty="0">
                <a:latin typeface="Consolas"/>
                <a:cs typeface="Consolas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yourself:</a:t>
            </a:r>
            <a:endParaRPr sz="2800" dirty="0">
              <a:latin typeface="Century Gothic"/>
              <a:cs typeface="Century Gothic"/>
            </a:endParaRPr>
          </a:p>
          <a:p>
            <a:pPr marL="406400">
              <a:lnSpc>
                <a:spcPts val="3060"/>
              </a:lnSpc>
            </a:pPr>
            <a:r>
              <a:rPr sz="2800" dirty="0">
                <a:latin typeface="Consolas"/>
                <a:cs typeface="Consolas"/>
              </a:rPr>
              <a:t>$</a:t>
            </a:r>
            <a:r>
              <a:rPr sz="2800" spc="-25" dirty="0">
                <a:latin typeface="Consolas"/>
                <a:cs typeface="Consolas"/>
              </a:rPr>
              <a:t> </a:t>
            </a:r>
            <a:r>
              <a:rPr sz="2800" dirty="0">
                <a:latin typeface="Consolas"/>
                <a:cs typeface="Consolas"/>
              </a:rPr>
              <a:t>module</a:t>
            </a:r>
            <a:r>
              <a:rPr sz="2800" spc="-20" dirty="0">
                <a:latin typeface="Consolas"/>
                <a:cs typeface="Consolas"/>
              </a:rPr>
              <a:t> </a:t>
            </a:r>
            <a:r>
              <a:rPr sz="2800" dirty="0">
                <a:latin typeface="Consolas"/>
                <a:cs typeface="Consolas"/>
              </a:rPr>
              <a:t>use</a:t>
            </a:r>
            <a:r>
              <a:rPr sz="2800" spc="-20" dirty="0"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/path/to/module/file/tree</a:t>
            </a:r>
            <a:endParaRPr sz="2800" dirty="0">
              <a:latin typeface="Consolas"/>
              <a:cs typeface="Consolas"/>
            </a:endParaRPr>
          </a:p>
          <a:p>
            <a:pPr marL="404495">
              <a:lnSpc>
                <a:spcPts val="3240"/>
              </a:lnSpc>
            </a:pPr>
            <a:r>
              <a:rPr sz="2800" dirty="0">
                <a:latin typeface="Consolas"/>
                <a:cs typeface="Consolas"/>
              </a:rPr>
              <a:t>$</a:t>
            </a:r>
            <a:r>
              <a:rPr sz="2800" spc="-25" dirty="0">
                <a:latin typeface="Consolas"/>
                <a:cs typeface="Consolas"/>
              </a:rPr>
              <a:t> </a:t>
            </a:r>
            <a:r>
              <a:rPr sz="2800" dirty="0">
                <a:latin typeface="Consolas"/>
                <a:cs typeface="Consolas"/>
              </a:rPr>
              <a:t>module</a:t>
            </a:r>
            <a:r>
              <a:rPr sz="2800" spc="-25" dirty="0">
                <a:latin typeface="Consolas"/>
                <a:cs typeface="Consolas"/>
              </a:rPr>
              <a:t> </a:t>
            </a:r>
            <a:r>
              <a:rPr sz="2800" dirty="0">
                <a:latin typeface="Consolas"/>
                <a:cs typeface="Consolas"/>
              </a:rPr>
              <a:t>unuse</a:t>
            </a:r>
            <a:r>
              <a:rPr sz="2800" spc="-25" dirty="0"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/path/to/remove/from/search/tree</a:t>
            </a:r>
            <a:endParaRPr sz="2800" dirty="0">
              <a:latin typeface="Consolas"/>
              <a:cs typeface="Consolas"/>
            </a:endParaRPr>
          </a:p>
          <a:p>
            <a:pPr marL="301625" indent="-288925">
              <a:lnSpc>
                <a:spcPct val="100000"/>
              </a:lnSpc>
              <a:spcBef>
                <a:spcPts val="153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Path is prepended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with higher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priority</a:t>
            </a:r>
            <a:endParaRPr sz="28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44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Can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also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provide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your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own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custom</a:t>
            </a:r>
            <a:r>
              <a:rPr sz="2800" spc="-10" dirty="0">
                <a:latin typeface="Century Gothic"/>
                <a:cs typeface="Century Gothic"/>
              </a:rPr>
              <a:t> modulefiles.</a:t>
            </a:r>
            <a:endParaRPr sz="2800" dirty="0">
              <a:latin typeface="Century Gothic"/>
              <a:cs typeface="Century Gothic"/>
            </a:endParaRPr>
          </a:p>
          <a:p>
            <a:pPr marL="700405" marR="5080" indent="-288925">
              <a:lnSpc>
                <a:spcPts val="2590"/>
              </a:lnSpc>
              <a:spcBef>
                <a:spcPts val="869"/>
              </a:spcBef>
              <a:tabLst>
                <a:tab pos="699770" algn="l"/>
              </a:tabLst>
            </a:pPr>
            <a:r>
              <a:rPr sz="2200" spc="-50" dirty="0">
                <a:latin typeface="Century Gothic"/>
                <a:cs typeface="Century Gothic"/>
              </a:rPr>
              <a:t>–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400" dirty="0">
                <a:latin typeface="Century Gothic"/>
                <a:cs typeface="Century Gothic"/>
              </a:rPr>
              <a:t>Complete</a:t>
            </a:r>
            <a:r>
              <a:rPr sz="2400" spc="-3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instructions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for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writing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modulefiles: https://lmod.readthedocs.io/en/latest/015_writing_modules.html</a:t>
            </a:r>
            <a:endParaRPr sz="24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97263752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97455360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Compiler Environments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9149814-594B-05E7-1FB7-FA24F251CC66}"/>
              </a:ext>
            </a:extLst>
          </p:cNvPr>
          <p:cNvSpPr txBox="1"/>
          <p:nvPr/>
        </p:nvSpPr>
        <p:spPr>
          <a:xfrm>
            <a:off x="530346" y="1381252"/>
            <a:ext cx="3623310" cy="834390"/>
          </a:xfrm>
          <a:prstGeom prst="rect">
            <a:avLst/>
          </a:prstGeom>
          <a:solidFill>
            <a:srgbClr val="447E59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9779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IBM</a:t>
            </a:r>
            <a:r>
              <a:rPr sz="2000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XL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 (default)</a:t>
            </a:r>
            <a:endParaRPr sz="2000" dirty="0">
              <a:latin typeface="Century Gothic"/>
              <a:cs typeface="Century Gothic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70748305-31AC-65FC-5FAD-088FA751344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7304" y="2200655"/>
            <a:ext cx="3627120" cy="1761744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0449CBDA-570B-BE09-FCB1-DC828EAA5DAC}"/>
              </a:ext>
            </a:extLst>
          </p:cNvPr>
          <p:cNvSpPr txBox="1"/>
          <p:nvPr/>
        </p:nvSpPr>
        <p:spPr>
          <a:xfrm>
            <a:off x="615436" y="2102611"/>
            <a:ext cx="3032760" cy="204152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5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xl/16.1.1-</a:t>
            </a:r>
            <a:r>
              <a:rPr sz="1800" spc="-50" dirty="0">
                <a:latin typeface="Consolas"/>
                <a:cs typeface="Consolas"/>
              </a:rPr>
              <a:t>7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15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xl/16.1.1-</a:t>
            </a:r>
            <a:r>
              <a:rPr sz="1800" spc="-50" dirty="0">
                <a:latin typeface="Consolas"/>
                <a:cs typeface="Consolas"/>
              </a:rPr>
              <a:t>6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22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xl/16.1.1-</a:t>
            </a:r>
            <a:r>
              <a:rPr sz="1800" dirty="0">
                <a:latin typeface="Consolas"/>
                <a:cs typeface="Consolas"/>
              </a:rPr>
              <a:t>5</a:t>
            </a:r>
            <a:r>
              <a:rPr sz="1800" spc="4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(default)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15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xl/16.1.1-</a:t>
            </a:r>
            <a:r>
              <a:rPr sz="1800" spc="-50" dirty="0">
                <a:latin typeface="Consolas"/>
                <a:cs typeface="Consolas"/>
              </a:rPr>
              <a:t>4</a:t>
            </a:r>
            <a:endParaRPr sz="1800">
              <a:latin typeface="Consolas"/>
              <a:cs typeface="Consolas"/>
            </a:endParaRPr>
          </a:p>
          <a:p>
            <a:pPr marL="300990">
              <a:lnSpc>
                <a:spcPct val="100000"/>
              </a:lnSpc>
              <a:spcBef>
                <a:spcPts val="630"/>
              </a:spcBef>
              <a:tabLst>
                <a:tab pos="526415" algn="l"/>
              </a:tabLst>
            </a:pPr>
            <a:r>
              <a:rPr sz="1400" spc="-50" dirty="0">
                <a:latin typeface="Century Gothic"/>
                <a:cs typeface="Century Gothic"/>
              </a:rPr>
              <a:t>–</a:t>
            </a:r>
            <a:r>
              <a:rPr sz="1400" dirty="0">
                <a:latin typeface="Century Gothic"/>
                <a:cs typeface="Century Gothic"/>
              </a:rPr>
              <a:t>	</a:t>
            </a:r>
            <a:r>
              <a:rPr sz="1600" dirty="0">
                <a:latin typeface="Century Gothic"/>
                <a:cs typeface="Century Gothic"/>
              </a:rPr>
              <a:t>Older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not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recommended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0A9387B8-6FE1-9AAD-2BF6-6402E0910071}"/>
              </a:ext>
            </a:extLst>
          </p:cNvPr>
          <p:cNvSpPr txBox="1"/>
          <p:nvPr/>
        </p:nvSpPr>
        <p:spPr>
          <a:xfrm>
            <a:off x="4387308" y="1381252"/>
            <a:ext cx="3621404" cy="834390"/>
          </a:xfrm>
          <a:prstGeom prst="rect">
            <a:avLst/>
          </a:prstGeom>
          <a:solidFill>
            <a:srgbClr val="447E59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900">
              <a:latin typeface="Times New Roman"/>
              <a:cs typeface="Times New Roman"/>
            </a:endParaRPr>
          </a:p>
          <a:p>
            <a:pPr marL="97790">
              <a:lnSpc>
                <a:spcPct val="100000"/>
              </a:lnSpc>
            </a:pPr>
            <a:r>
              <a:rPr sz="2000" spc="-25" dirty="0">
                <a:solidFill>
                  <a:srgbClr val="FFFFFF"/>
                </a:solidFill>
                <a:latin typeface="Century Gothic"/>
                <a:cs typeface="Century Gothic"/>
              </a:rPr>
              <a:t>GCC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11" name="object 7">
            <a:extLst>
              <a:ext uri="{FF2B5EF4-FFF2-40B4-BE49-F238E27FC236}">
                <a16:creationId xmlns:a16="http://schemas.microsoft.com/office/drawing/2014/main" id="{D90AAD07-F398-55A6-6564-A48B784F9B3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6071" y="2206751"/>
            <a:ext cx="3624072" cy="3828288"/>
          </a:xfrm>
          <a:prstGeom prst="rect">
            <a:avLst/>
          </a:prstGeom>
        </p:spPr>
      </p:pic>
      <p:sp>
        <p:nvSpPr>
          <p:cNvPr id="12" name="object 8">
            <a:extLst>
              <a:ext uri="{FF2B5EF4-FFF2-40B4-BE49-F238E27FC236}">
                <a16:creationId xmlns:a16="http://schemas.microsoft.com/office/drawing/2014/main" id="{AC45E313-27EE-42B5-C358-112FB2F734EF}"/>
              </a:ext>
            </a:extLst>
          </p:cNvPr>
          <p:cNvSpPr txBox="1"/>
          <p:nvPr/>
        </p:nvSpPr>
        <p:spPr>
          <a:xfrm>
            <a:off x="4472399" y="2111755"/>
            <a:ext cx="1381760" cy="129349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2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gcc/9.1.0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13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gcc/8.1.1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24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gcc/7.4.0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C0DC3C9C-85FF-3C66-0956-199E3F68F507}"/>
              </a:ext>
            </a:extLst>
          </p:cNvPr>
          <p:cNvSpPr txBox="1"/>
          <p:nvPr/>
        </p:nvSpPr>
        <p:spPr>
          <a:xfrm>
            <a:off x="4472399" y="3325424"/>
            <a:ext cx="3266440" cy="232156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160"/>
              </a:spcBef>
            </a:pPr>
            <a:r>
              <a:rPr sz="1400" dirty="0">
                <a:latin typeface="Century Gothic"/>
                <a:cs typeface="Century Gothic"/>
              </a:rPr>
              <a:t>–</a:t>
            </a:r>
            <a:r>
              <a:rPr sz="1400" spc="24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Latest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w/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CUDA10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NVCC</a:t>
            </a:r>
            <a:endParaRPr sz="16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119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gcc/6.4.0</a:t>
            </a:r>
            <a:r>
              <a:rPr sz="1800" spc="-44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(default)</a:t>
            </a:r>
            <a:endParaRPr sz="1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113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gcc/5.4.0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15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gcc/4.8.5</a:t>
            </a:r>
            <a:endParaRPr sz="1800">
              <a:latin typeface="Consolas"/>
              <a:cs typeface="Consolas"/>
            </a:endParaRPr>
          </a:p>
          <a:p>
            <a:pPr marL="473075" lvl="1" indent="-171450">
              <a:lnSpc>
                <a:spcPct val="100000"/>
              </a:lnSpc>
              <a:spcBef>
                <a:spcPts val="630"/>
              </a:spcBef>
              <a:buSzPct val="87500"/>
              <a:buChar char="–"/>
              <a:tabLst>
                <a:tab pos="473075" algn="l"/>
              </a:tabLst>
            </a:pPr>
            <a:r>
              <a:rPr sz="1600" dirty="0">
                <a:latin typeface="Century Gothic"/>
                <a:cs typeface="Century Gothic"/>
              </a:rPr>
              <a:t>RHEL7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OS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compiler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in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onsolas"/>
                <a:cs typeface="Consolas"/>
              </a:rPr>
              <a:t>`/usr`</a:t>
            </a:r>
            <a:endParaRPr sz="1600">
              <a:latin typeface="Consolas"/>
              <a:cs typeface="Consolas"/>
            </a:endParaRPr>
          </a:p>
          <a:p>
            <a:pPr marL="473075" lvl="1" indent="-171450">
              <a:lnSpc>
                <a:spcPct val="100000"/>
              </a:lnSpc>
              <a:spcBef>
                <a:spcPts val="675"/>
              </a:spcBef>
              <a:buSzPct val="87500"/>
              <a:buChar char="–"/>
              <a:tabLst>
                <a:tab pos="473075" algn="l"/>
              </a:tabLst>
            </a:pPr>
            <a:r>
              <a:rPr sz="1600" dirty="0">
                <a:latin typeface="Century Gothic"/>
                <a:cs typeface="Century Gothic"/>
              </a:rPr>
              <a:t>“Core”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modulefiles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2F65B4B6-33E8-325B-6556-A4B1D18A0BC8}"/>
              </a:ext>
            </a:extLst>
          </p:cNvPr>
          <p:cNvSpPr txBox="1"/>
          <p:nvPr/>
        </p:nvSpPr>
        <p:spPr>
          <a:xfrm>
            <a:off x="8242212" y="1381252"/>
            <a:ext cx="3621404" cy="834390"/>
          </a:xfrm>
          <a:prstGeom prst="rect">
            <a:avLst/>
          </a:prstGeom>
          <a:solidFill>
            <a:srgbClr val="447E59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900">
              <a:latin typeface="Times New Roman"/>
              <a:cs typeface="Times New Roman"/>
            </a:endParaRPr>
          </a:p>
          <a:p>
            <a:pPr marL="97790">
              <a:lnSpc>
                <a:spcPct val="100000"/>
              </a:lnSpc>
            </a:pPr>
            <a:r>
              <a:rPr sz="2000" spc="-25" dirty="0">
                <a:solidFill>
                  <a:srgbClr val="FFFFFF"/>
                </a:solidFill>
                <a:latin typeface="Century Gothic"/>
                <a:cs typeface="Century Gothic"/>
              </a:rPr>
              <a:t>PGI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15" name="object 11">
            <a:extLst>
              <a:ext uri="{FF2B5EF4-FFF2-40B4-BE49-F238E27FC236}">
                <a16:creationId xmlns:a16="http://schemas.microsoft.com/office/drawing/2014/main" id="{65A556E8-D5DF-B583-0743-095F046317A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41792" y="2206751"/>
            <a:ext cx="3624072" cy="3828288"/>
          </a:xfrm>
          <a:prstGeom prst="rect">
            <a:avLst/>
          </a:prstGeom>
        </p:spPr>
      </p:pic>
      <p:sp>
        <p:nvSpPr>
          <p:cNvPr id="16" name="object 12">
            <a:extLst>
              <a:ext uri="{FF2B5EF4-FFF2-40B4-BE49-F238E27FC236}">
                <a16:creationId xmlns:a16="http://schemas.microsoft.com/office/drawing/2014/main" id="{EA1CC2CB-144F-2781-53EE-C4AED10705FF}"/>
              </a:ext>
            </a:extLst>
          </p:cNvPr>
          <p:cNvSpPr txBox="1"/>
          <p:nvPr/>
        </p:nvSpPr>
        <p:spPr>
          <a:xfrm>
            <a:off x="8327302" y="2111755"/>
            <a:ext cx="2345690" cy="21437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2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pgi/20.1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13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pgi/19.10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24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dirty="0">
                <a:latin typeface="Consolas"/>
                <a:cs typeface="Consolas"/>
              </a:rPr>
              <a:t>pgi/19.9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(default)</a:t>
            </a:r>
            <a:endParaRPr sz="1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113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pgi/18.10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25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pgi/18.7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7" name="object 13">
            <a:extLst>
              <a:ext uri="{FF2B5EF4-FFF2-40B4-BE49-F238E27FC236}">
                <a16:creationId xmlns:a16="http://schemas.microsoft.com/office/drawing/2014/main" id="{10083EDB-40EC-818A-2CA6-97E0BF3F4385}"/>
              </a:ext>
            </a:extLst>
          </p:cNvPr>
          <p:cNvGrpSpPr/>
          <p:nvPr/>
        </p:nvGrpSpPr>
        <p:grpSpPr>
          <a:xfrm>
            <a:off x="6738937" y="5822282"/>
            <a:ext cx="4919345" cy="766445"/>
            <a:chOff x="6738937" y="5822282"/>
            <a:chExt cx="4919345" cy="766445"/>
          </a:xfrm>
        </p:grpSpPr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B124A62E-5CCC-57DC-4738-324086AA9BA4}"/>
                </a:ext>
              </a:extLst>
            </p:cNvPr>
            <p:cNvSpPr/>
            <p:nvPr/>
          </p:nvSpPr>
          <p:spPr>
            <a:xfrm>
              <a:off x="6743700" y="5827044"/>
              <a:ext cx="4909820" cy="756920"/>
            </a:xfrm>
            <a:custGeom>
              <a:avLst/>
              <a:gdLst/>
              <a:ahLst/>
              <a:cxnLst/>
              <a:rect l="l" t="t" r="r" b="b"/>
              <a:pathLst>
                <a:path w="4909820" h="756920">
                  <a:moveTo>
                    <a:pt x="4783438" y="0"/>
                  </a:moveTo>
                  <a:lnTo>
                    <a:pt x="126104" y="0"/>
                  </a:lnTo>
                  <a:lnTo>
                    <a:pt x="77019" y="9910"/>
                  </a:lnTo>
                  <a:lnTo>
                    <a:pt x="36935" y="36935"/>
                  </a:lnTo>
                  <a:lnTo>
                    <a:pt x="9909" y="77019"/>
                  </a:lnTo>
                  <a:lnTo>
                    <a:pt x="0" y="126105"/>
                  </a:lnTo>
                  <a:lnTo>
                    <a:pt x="0" y="630529"/>
                  </a:lnTo>
                  <a:lnTo>
                    <a:pt x="9909" y="679615"/>
                  </a:lnTo>
                  <a:lnTo>
                    <a:pt x="36935" y="719699"/>
                  </a:lnTo>
                  <a:lnTo>
                    <a:pt x="77019" y="746724"/>
                  </a:lnTo>
                  <a:lnTo>
                    <a:pt x="126104" y="756635"/>
                  </a:lnTo>
                  <a:lnTo>
                    <a:pt x="4783438" y="756635"/>
                  </a:lnTo>
                  <a:lnTo>
                    <a:pt x="4832524" y="746724"/>
                  </a:lnTo>
                  <a:lnTo>
                    <a:pt x="4872607" y="719699"/>
                  </a:lnTo>
                  <a:lnTo>
                    <a:pt x="4899633" y="679615"/>
                  </a:lnTo>
                  <a:lnTo>
                    <a:pt x="4909543" y="630529"/>
                  </a:lnTo>
                  <a:lnTo>
                    <a:pt x="4909543" y="126105"/>
                  </a:lnTo>
                  <a:lnTo>
                    <a:pt x="4899633" y="77019"/>
                  </a:lnTo>
                  <a:lnTo>
                    <a:pt x="4872607" y="36935"/>
                  </a:lnTo>
                  <a:lnTo>
                    <a:pt x="4832524" y="9910"/>
                  </a:lnTo>
                  <a:lnTo>
                    <a:pt x="4783438" y="0"/>
                  </a:lnTo>
                  <a:close/>
                </a:path>
              </a:pathLst>
            </a:custGeom>
            <a:solidFill>
              <a:srgbClr val="C0D6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EC628B81-5ABF-9AF9-B9C1-3C6DC0F23564}"/>
                </a:ext>
              </a:extLst>
            </p:cNvPr>
            <p:cNvSpPr/>
            <p:nvPr/>
          </p:nvSpPr>
          <p:spPr>
            <a:xfrm>
              <a:off x="6743700" y="5827044"/>
              <a:ext cx="4909820" cy="756920"/>
            </a:xfrm>
            <a:custGeom>
              <a:avLst/>
              <a:gdLst/>
              <a:ahLst/>
              <a:cxnLst/>
              <a:rect l="l" t="t" r="r" b="b"/>
              <a:pathLst>
                <a:path w="4909820" h="756920">
                  <a:moveTo>
                    <a:pt x="0" y="126105"/>
                  </a:moveTo>
                  <a:lnTo>
                    <a:pt x="9909" y="77019"/>
                  </a:lnTo>
                  <a:lnTo>
                    <a:pt x="36935" y="36935"/>
                  </a:lnTo>
                  <a:lnTo>
                    <a:pt x="77019" y="9910"/>
                  </a:lnTo>
                  <a:lnTo>
                    <a:pt x="126105" y="0"/>
                  </a:lnTo>
                  <a:lnTo>
                    <a:pt x="4783439" y="0"/>
                  </a:lnTo>
                  <a:lnTo>
                    <a:pt x="4832524" y="9910"/>
                  </a:lnTo>
                  <a:lnTo>
                    <a:pt x="4872608" y="36935"/>
                  </a:lnTo>
                  <a:lnTo>
                    <a:pt x="4899634" y="77019"/>
                  </a:lnTo>
                  <a:lnTo>
                    <a:pt x="4909544" y="126105"/>
                  </a:lnTo>
                  <a:lnTo>
                    <a:pt x="4909544" y="630529"/>
                  </a:lnTo>
                  <a:lnTo>
                    <a:pt x="4899634" y="679615"/>
                  </a:lnTo>
                  <a:lnTo>
                    <a:pt x="4872608" y="719699"/>
                  </a:lnTo>
                  <a:lnTo>
                    <a:pt x="4832524" y="746724"/>
                  </a:lnTo>
                  <a:lnTo>
                    <a:pt x="4783439" y="756635"/>
                  </a:lnTo>
                  <a:lnTo>
                    <a:pt x="126105" y="756635"/>
                  </a:lnTo>
                  <a:lnTo>
                    <a:pt x="77019" y="746724"/>
                  </a:lnTo>
                  <a:lnTo>
                    <a:pt x="36935" y="719699"/>
                  </a:lnTo>
                  <a:lnTo>
                    <a:pt x="9909" y="679615"/>
                  </a:lnTo>
                  <a:lnTo>
                    <a:pt x="0" y="630529"/>
                  </a:lnTo>
                  <a:lnTo>
                    <a:pt x="0" y="126105"/>
                  </a:lnTo>
                  <a:close/>
                </a:path>
              </a:pathLst>
            </a:custGeom>
            <a:ln w="9525">
              <a:solidFill>
                <a:srgbClr val="8FBB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6">
            <a:extLst>
              <a:ext uri="{FF2B5EF4-FFF2-40B4-BE49-F238E27FC236}">
                <a16:creationId xmlns:a16="http://schemas.microsoft.com/office/drawing/2014/main" id="{D65B5F2F-8CA7-851C-AF1F-040C0F445687}"/>
              </a:ext>
            </a:extLst>
          </p:cNvPr>
          <p:cNvSpPr txBox="1"/>
          <p:nvPr/>
        </p:nvSpPr>
        <p:spPr>
          <a:xfrm>
            <a:off x="6973590" y="6031483"/>
            <a:ext cx="4449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entury Gothic"/>
                <a:cs typeface="Century Gothic"/>
              </a:rPr>
              <a:t>New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compiler</a:t>
            </a:r>
            <a:r>
              <a:rPr sz="1800" spc="-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releases added</a:t>
            </a:r>
            <a:r>
              <a:rPr sz="1800" spc="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regularly.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9F33E951-7DB9-6089-0FFD-36E24C14CCD5}"/>
              </a:ext>
            </a:extLst>
          </p:cNvPr>
          <p:cNvSpPr txBox="1"/>
          <p:nvPr/>
        </p:nvSpPr>
        <p:spPr>
          <a:xfrm>
            <a:off x="538755" y="4419598"/>
            <a:ext cx="3608704" cy="699770"/>
          </a:xfrm>
          <a:prstGeom prst="rect">
            <a:avLst/>
          </a:prstGeom>
          <a:solidFill>
            <a:srgbClr val="447E59"/>
          </a:solidFill>
          <a:ln w="12700">
            <a:solidFill>
              <a:srgbClr val="E5A94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LLVM/Clang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23" name="object 18">
            <a:extLst>
              <a:ext uri="{FF2B5EF4-FFF2-40B4-BE49-F238E27FC236}">
                <a16:creationId xmlns:a16="http://schemas.microsoft.com/office/drawing/2014/main" id="{2E59FACB-015F-A092-1026-B89739E23EC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0351" y="5114544"/>
            <a:ext cx="3624072" cy="1743456"/>
          </a:xfrm>
          <a:prstGeom prst="rect">
            <a:avLst/>
          </a:prstGeom>
        </p:spPr>
      </p:pic>
      <p:sp>
        <p:nvSpPr>
          <p:cNvPr id="24" name="object 19">
            <a:extLst>
              <a:ext uri="{FF2B5EF4-FFF2-40B4-BE49-F238E27FC236}">
                <a16:creationId xmlns:a16="http://schemas.microsoft.com/office/drawing/2014/main" id="{46BC2D1A-423D-0B43-60D9-81E80C6DC009}"/>
              </a:ext>
            </a:extLst>
          </p:cNvPr>
          <p:cNvSpPr txBox="1"/>
          <p:nvPr/>
        </p:nvSpPr>
        <p:spPr>
          <a:xfrm>
            <a:off x="617495" y="5016500"/>
            <a:ext cx="3413760" cy="120332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50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llvm/9.0.0-</a:t>
            </a:r>
            <a:r>
              <a:rPr sz="1800" spc="-50" dirty="0">
                <a:latin typeface="Consolas"/>
                <a:cs typeface="Consolas"/>
              </a:rPr>
              <a:t>2</a:t>
            </a:r>
            <a:endParaRPr sz="1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155"/>
              </a:spcBef>
              <a:buSzPct val="88888"/>
              <a:buFont typeface="Century Gothic"/>
              <a:buChar char="•"/>
              <a:tabLst>
                <a:tab pos="240029" algn="l"/>
              </a:tabLst>
            </a:pPr>
            <a:r>
              <a:rPr sz="1800" spc="-10" dirty="0">
                <a:latin typeface="Consolas"/>
                <a:cs typeface="Consolas"/>
              </a:rPr>
              <a:t>llvm/1.0-20190225</a:t>
            </a:r>
            <a:r>
              <a:rPr sz="1800" spc="-40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(default)</a:t>
            </a:r>
            <a:endParaRPr sz="1800">
              <a:latin typeface="Century Gothic"/>
              <a:cs typeface="Century Gothic"/>
            </a:endParaRPr>
          </a:p>
          <a:p>
            <a:pPr marL="301625">
              <a:lnSpc>
                <a:spcPct val="100000"/>
              </a:lnSpc>
              <a:spcBef>
                <a:spcPts val="725"/>
              </a:spcBef>
            </a:pPr>
            <a:r>
              <a:rPr sz="1400" dirty="0">
                <a:latin typeface="Century Gothic"/>
                <a:cs typeface="Century Gothic"/>
              </a:rPr>
              <a:t>–</a:t>
            </a:r>
            <a:r>
              <a:rPr sz="1400" spc="24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Older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not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recommended</a:t>
            </a:r>
            <a:endParaRPr sz="1600">
              <a:latin typeface="Century Gothic"/>
              <a:cs typeface="Century Gothic"/>
            </a:endParaRPr>
          </a:p>
        </p:txBody>
      </p:sp>
      <p:grpSp>
        <p:nvGrpSpPr>
          <p:cNvPr id="25" name="object 20">
            <a:extLst>
              <a:ext uri="{FF2B5EF4-FFF2-40B4-BE49-F238E27FC236}">
                <a16:creationId xmlns:a16="http://schemas.microsoft.com/office/drawing/2014/main" id="{51525759-CAE0-3F9F-4753-C8C0FD48DA9A}"/>
              </a:ext>
            </a:extLst>
          </p:cNvPr>
          <p:cNvGrpSpPr/>
          <p:nvPr/>
        </p:nvGrpSpPr>
        <p:grpSpPr>
          <a:xfrm>
            <a:off x="4465633" y="2264519"/>
            <a:ext cx="3464560" cy="766445"/>
            <a:chOff x="4465633" y="2264519"/>
            <a:chExt cx="3464560" cy="766445"/>
          </a:xfrm>
        </p:grpSpPr>
        <p:sp>
          <p:nvSpPr>
            <p:cNvPr id="26" name="object 21">
              <a:extLst>
                <a:ext uri="{FF2B5EF4-FFF2-40B4-BE49-F238E27FC236}">
                  <a16:creationId xmlns:a16="http://schemas.microsoft.com/office/drawing/2014/main" id="{5211C065-76C2-5816-6911-D843EBCF122E}"/>
                </a:ext>
              </a:extLst>
            </p:cNvPr>
            <p:cNvSpPr/>
            <p:nvPr/>
          </p:nvSpPr>
          <p:spPr>
            <a:xfrm>
              <a:off x="4470396" y="2269281"/>
              <a:ext cx="3455035" cy="756920"/>
            </a:xfrm>
            <a:custGeom>
              <a:avLst/>
              <a:gdLst/>
              <a:ahLst/>
              <a:cxnLst/>
              <a:rect l="l" t="t" r="r" b="b"/>
              <a:pathLst>
                <a:path w="3455034" h="756919">
                  <a:moveTo>
                    <a:pt x="3328835" y="0"/>
                  </a:moveTo>
                  <a:lnTo>
                    <a:pt x="126107" y="0"/>
                  </a:lnTo>
                  <a:lnTo>
                    <a:pt x="77020" y="9910"/>
                  </a:lnTo>
                  <a:lnTo>
                    <a:pt x="36936" y="36936"/>
                  </a:lnTo>
                  <a:lnTo>
                    <a:pt x="9910" y="77020"/>
                  </a:lnTo>
                  <a:lnTo>
                    <a:pt x="0" y="126107"/>
                  </a:lnTo>
                  <a:lnTo>
                    <a:pt x="0" y="630528"/>
                  </a:lnTo>
                  <a:lnTo>
                    <a:pt x="9910" y="679614"/>
                  </a:lnTo>
                  <a:lnTo>
                    <a:pt x="36936" y="719699"/>
                  </a:lnTo>
                  <a:lnTo>
                    <a:pt x="77020" y="746725"/>
                  </a:lnTo>
                  <a:lnTo>
                    <a:pt x="126107" y="756635"/>
                  </a:lnTo>
                  <a:lnTo>
                    <a:pt x="3328835" y="756635"/>
                  </a:lnTo>
                  <a:lnTo>
                    <a:pt x="3377921" y="746725"/>
                  </a:lnTo>
                  <a:lnTo>
                    <a:pt x="3418005" y="719699"/>
                  </a:lnTo>
                  <a:lnTo>
                    <a:pt x="3445031" y="679614"/>
                  </a:lnTo>
                  <a:lnTo>
                    <a:pt x="3454941" y="630528"/>
                  </a:lnTo>
                  <a:lnTo>
                    <a:pt x="3454941" y="126107"/>
                  </a:lnTo>
                  <a:lnTo>
                    <a:pt x="3445031" y="77020"/>
                  </a:lnTo>
                  <a:lnTo>
                    <a:pt x="3418005" y="36936"/>
                  </a:lnTo>
                  <a:lnTo>
                    <a:pt x="3377921" y="9910"/>
                  </a:lnTo>
                  <a:lnTo>
                    <a:pt x="3328835" y="0"/>
                  </a:lnTo>
                  <a:close/>
                </a:path>
              </a:pathLst>
            </a:custGeom>
            <a:solidFill>
              <a:srgbClr val="C0D6AB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49EA62FF-3CF4-1B5F-6368-F8A671D9970F}"/>
                </a:ext>
              </a:extLst>
            </p:cNvPr>
            <p:cNvSpPr/>
            <p:nvPr/>
          </p:nvSpPr>
          <p:spPr>
            <a:xfrm>
              <a:off x="4470396" y="2269281"/>
              <a:ext cx="3455035" cy="756920"/>
            </a:xfrm>
            <a:custGeom>
              <a:avLst/>
              <a:gdLst/>
              <a:ahLst/>
              <a:cxnLst/>
              <a:rect l="l" t="t" r="r" b="b"/>
              <a:pathLst>
                <a:path w="3455034" h="756919">
                  <a:moveTo>
                    <a:pt x="0" y="126107"/>
                  </a:moveTo>
                  <a:lnTo>
                    <a:pt x="9910" y="77020"/>
                  </a:lnTo>
                  <a:lnTo>
                    <a:pt x="36935" y="36935"/>
                  </a:lnTo>
                  <a:lnTo>
                    <a:pt x="77020" y="9910"/>
                  </a:lnTo>
                  <a:lnTo>
                    <a:pt x="126106" y="0"/>
                  </a:lnTo>
                  <a:lnTo>
                    <a:pt x="3328834" y="0"/>
                  </a:lnTo>
                  <a:lnTo>
                    <a:pt x="3377920" y="9910"/>
                  </a:lnTo>
                  <a:lnTo>
                    <a:pt x="3418005" y="36935"/>
                  </a:lnTo>
                  <a:lnTo>
                    <a:pt x="3445030" y="77020"/>
                  </a:lnTo>
                  <a:lnTo>
                    <a:pt x="3454941" y="126107"/>
                  </a:lnTo>
                  <a:lnTo>
                    <a:pt x="3454941" y="630527"/>
                  </a:lnTo>
                  <a:lnTo>
                    <a:pt x="3445030" y="679614"/>
                  </a:lnTo>
                  <a:lnTo>
                    <a:pt x="3418005" y="719699"/>
                  </a:lnTo>
                  <a:lnTo>
                    <a:pt x="3377920" y="746724"/>
                  </a:lnTo>
                  <a:lnTo>
                    <a:pt x="3328834" y="756635"/>
                  </a:lnTo>
                  <a:lnTo>
                    <a:pt x="126106" y="756635"/>
                  </a:lnTo>
                  <a:lnTo>
                    <a:pt x="77020" y="746724"/>
                  </a:lnTo>
                  <a:lnTo>
                    <a:pt x="36935" y="719699"/>
                  </a:lnTo>
                  <a:lnTo>
                    <a:pt x="9910" y="679614"/>
                  </a:lnTo>
                  <a:lnTo>
                    <a:pt x="0" y="630527"/>
                  </a:lnTo>
                  <a:lnTo>
                    <a:pt x="0" y="126107"/>
                  </a:lnTo>
                  <a:close/>
                </a:path>
              </a:pathLst>
            </a:custGeom>
            <a:ln w="9525">
              <a:solidFill>
                <a:srgbClr val="8FBB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3">
            <a:extLst>
              <a:ext uri="{FF2B5EF4-FFF2-40B4-BE49-F238E27FC236}">
                <a16:creationId xmlns:a16="http://schemas.microsoft.com/office/drawing/2014/main" id="{797EB384-59C6-24A1-A397-7D24E232C4B0}"/>
              </a:ext>
            </a:extLst>
          </p:cNvPr>
          <p:cNvSpPr txBox="1"/>
          <p:nvPr/>
        </p:nvSpPr>
        <p:spPr>
          <a:xfrm>
            <a:off x="6371375" y="2321052"/>
            <a:ext cx="1347470" cy="6197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584200" algn="r">
              <a:lnSpc>
                <a:spcPct val="89300"/>
              </a:lnSpc>
              <a:spcBef>
                <a:spcPts val="280"/>
              </a:spcBef>
            </a:pPr>
            <a:r>
              <a:rPr sz="1400" spc="-10" dirty="0">
                <a:latin typeface="Century Gothic"/>
                <a:cs typeface="Century Gothic"/>
              </a:rPr>
              <a:t>Supports OMP-Offload </a:t>
            </a:r>
            <a:r>
              <a:rPr sz="1400" dirty="0">
                <a:latin typeface="Century Gothic"/>
                <a:cs typeface="Century Gothic"/>
              </a:rPr>
              <a:t>and </a:t>
            </a:r>
            <a:r>
              <a:rPr sz="1400" spc="-10" dirty="0">
                <a:latin typeface="Century Gothic"/>
                <a:cs typeface="Century Gothic"/>
              </a:rPr>
              <a:t>OpenACC</a:t>
            </a:r>
            <a:endParaRPr sz="14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6848644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MPI Implementation – IBM Spectrum-MPI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23F589D-4322-2AC6-D292-348E19F222B4}"/>
              </a:ext>
            </a:extLst>
          </p:cNvPr>
          <p:cNvSpPr/>
          <p:nvPr/>
        </p:nvSpPr>
        <p:spPr>
          <a:xfrm>
            <a:off x="938274" y="2143954"/>
            <a:ext cx="841375" cy="368300"/>
          </a:xfrm>
          <a:custGeom>
            <a:avLst/>
            <a:gdLst/>
            <a:ahLst/>
            <a:cxnLst/>
            <a:rect l="l" t="t" r="r" b="b"/>
            <a:pathLst>
              <a:path w="841375" h="368300">
                <a:moveTo>
                  <a:pt x="841375" y="0"/>
                </a:moveTo>
                <a:lnTo>
                  <a:pt x="0" y="0"/>
                </a:lnTo>
                <a:lnTo>
                  <a:pt x="0" y="368300"/>
                </a:lnTo>
                <a:lnTo>
                  <a:pt x="841375" y="368300"/>
                </a:lnTo>
                <a:lnTo>
                  <a:pt x="841375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E9770A1-7557-E975-AB93-55AC4975C771}"/>
              </a:ext>
            </a:extLst>
          </p:cNvPr>
          <p:cNvSpPr/>
          <p:nvPr/>
        </p:nvSpPr>
        <p:spPr>
          <a:xfrm>
            <a:off x="1947913" y="2143962"/>
            <a:ext cx="1009650" cy="368300"/>
          </a:xfrm>
          <a:custGeom>
            <a:avLst/>
            <a:gdLst/>
            <a:ahLst/>
            <a:cxnLst/>
            <a:rect l="l" t="t" r="r" b="b"/>
            <a:pathLst>
              <a:path w="1009650" h="368300">
                <a:moveTo>
                  <a:pt x="1009650" y="0"/>
                </a:moveTo>
                <a:lnTo>
                  <a:pt x="673100" y="0"/>
                </a:lnTo>
                <a:lnTo>
                  <a:pt x="0" y="0"/>
                </a:lnTo>
                <a:lnTo>
                  <a:pt x="0" y="368300"/>
                </a:lnTo>
                <a:lnTo>
                  <a:pt x="673100" y="368300"/>
                </a:lnTo>
                <a:lnTo>
                  <a:pt x="1009650" y="368300"/>
                </a:lnTo>
                <a:lnTo>
                  <a:pt x="1009650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13F9A44-CB85-7449-ECC7-2DFDFFBECFB9}"/>
              </a:ext>
            </a:extLst>
          </p:cNvPr>
          <p:cNvSpPr/>
          <p:nvPr/>
        </p:nvSpPr>
        <p:spPr>
          <a:xfrm>
            <a:off x="3125849" y="2143954"/>
            <a:ext cx="841375" cy="368300"/>
          </a:xfrm>
          <a:custGeom>
            <a:avLst/>
            <a:gdLst/>
            <a:ahLst/>
            <a:cxnLst/>
            <a:rect l="l" t="t" r="r" b="b"/>
            <a:pathLst>
              <a:path w="841375" h="368300">
                <a:moveTo>
                  <a:pt x="841375" y="0"/>
                </a:moveTo>
                <a:lnTo>
                  <a:pt x="0" y="0"/>
                </a:lnTo>
                <a:lnTo>
                  <a:pt x="0" y="368300"/>
                </a:lnTo>
                <a:lnTo>
                  <a:pt x="841375" y="368300"/>
                </a:lnTo>
                <a:lnTo>
                  <a:pt x="841375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BC54874-2A4C-C424-5AE0-5C4AEE567513}"/>
              </a:ext>
            </a:extLst>
          </p:cNvPr>
          <p:cNvSpPr/>
          <p:nvPr/>
        </p:nvSpPr>
        <p:spPr>
          <a:xfrm>
            <a:off x="4135499" y="2143954"/>
            <a:ext cx="1177925" cy="368300"/>
          </a:xfrm>
          <a:custGeom>
            <a:avLst/>
            <a:gdLst/>
            <a:ahLst/>
            <a:cxnLst/>
            <a:rect l="l" t="t" r="r" b="b"/>
            <a:pathLst>
              <a:path w="1177925" h="368300">
                <a:moveTo>
                  <a:pt x="1177924" y="0"/>
                </a:moveTo>
                <a:lnTo>
                  <a:pt x="0" y="0"/>
                </a:lnTo>
                <a:lnTo>
                  <a:pt x="0" y="368300"/>
                </a:lnTo>
                <a:lnTo>
                  <a:pt x="1177924" y="368300"/>
                </a:lnTo>
                <a:lnTo>
                  <a:pt x="1177924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0CCC0D1-BE89-06BE-9427-60E60476CBE9}"/>
              </a:ext>
            </a:extLst>
          </p:cNvPr>
          <p:cNvSpPr/>
          <p:nvPr/>
        </p:nvSpPr>
        <p:spPr>
          <a:xfrm>
            <a:off x="5481699" y="2143954"/>
            <a:ext cx="1009650" cy="368300"/>
          </a:xfrm>
          <a:custGeom>
            <a:avLst/>
            <a:gdLst/>
            <a:ahLst/>
            <a:cxnLst/>
            <a:rect l="l" t="t" r="r" b="b"/>
            <a:pathLst>
              <a:path w="1009650" h="368300">
                <a:moveTo>
                  <a:pt x="1009650" y="0"/>
                </a:moveTo>
                <a:lnTo>
                  <a:pt x="0" y="0"/>
                </a:lnTo>
                <a:lnTo>
                  <a:pt x="0" y="368300"/>
                </a:lnTo>
                <a:lnTo>
                  <a:pt x="1009650" y="368300"/>
                </a:lnTo>
                <a:lnTo>
                  <a:pt x="1009650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942EF294-EBF3-43E7-FB48-F0B77C64E252}"/>
              </a:ext>
            </a:extLst>
          </p:cNvPr>
          <p:cNvSpPr/>
          <p:nvPr/>
        </p:nvSpPr>
        <p:spPr>
          <a:xfrm>
            <a:off x="6659624" y="2143954"/>
            <a:ext cx="1009650" cy="368300"/>
          </a:xfrm>
          <a:custGeom>
            <a:avLst/>
            <a:gdLst/>
            <a:ahLst/>
            <a:cxnLst/>
            <a:rect l="l" t="t" r="r" b="b"/>
            <a:pathLst>
              <a:path w="1009650" h="368300">
                <a:moveTo>
                  <a:pt x="1009650" y="0"/>
                </a:moveTo>
                <a:lnTo>
                  <a:pt x="0" y="0"/>
                </a:lnTo>
                <a:lnTo>
                  <a:pt x="0" y="368300"/>
                </a:lnTo>
                <a:lnTo>
                  <a:pt x="1009650" y="368300"/>
                </a:lnTo>
                <a:lnTo>
                  <a:pt x="1009650" y="0"/>
                </a:lnTo>
                <a:close/>
              </a:path>
            </a:pathLst>
          </a:custGeom>
          <a:solidFill>
            <a:srgbClr val="FA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9">
            <a:extLst>
              <a:ext uri="{FF2B5EF4-FFF2-40B4-BE49-F238E27FC236}">
                <a16:creationId xmlns:a16="http://schemas.microsoft.com/office/drawing/2014/main" id="{7D894929-FA35-C20B-9EEE-830F16071132}"/>
              </a:ext>
            </a:extLst>
          </p:cNvPr>
          <p:cNvSpPr txBox="1"/>
          <p:nvPr/>
        </p:nvSpPr>
        <p:spPr>
          <a:xfrm>
            <a:off x="526794" y="1637283"/>
            <a:ext cx="9902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Based</a:t>
            </a:r>
            <a:r>
              <a:rPr sz="2800" spc="-2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on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OpenMPI,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similar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compiler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wrappers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and</a:t>
            </a:r>
            <a:r>
              <a:rPr sz="2800" spc="-10" dirty="0">
                <a:latin typeface="Century Gothic"/>
                <a:cs typeface="Century Gothic"/>
              </a:rPr>
              <a:t> flags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2" name="object 10">
            <a:extLst>
              <a:ext uri="{FF2B5EF4-FFF2-40B4-BE49-F238E27FC236}">
                <a16:creationId xmlns:a16="http://schemas.microsoft.com/office/drawing/2014/main" id="{6FC43F4A-F6C4-1659-0BC0-6FF087398411}"/>
              </a:ext>
            </a:extLst>
          </p:cNvPr>
          <p:cNvSpPr txBox="1"/>
          <p:nvPr/>
        </p:nvSpPr>
        <p:spPr>
          <a:xfrm>
            <a:off x="925574" y="2117852"/>
            <a:ext cx="6924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nsolas"/>
                <a:cs typeface="Consolas"/>
              </a:rPr>
              <a:t>mpicc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onsolas"/>
                <a:cs typeface="Consolas"/>
              </a:rPr>
              <a:t>mpic++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onsolas"/>
                <a:cs typeface="Consolas"/>
              </a:rPr>
              <a:t>mpiCC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onsolas"/>
                <a:cs typeface="Consolas"/>
              </a:rPr>
              <a:t>mpifort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onsolas"/>
                <a:cs typeface="Consolas"/>
              </a:rPr>
              <a:t>mpif77</a:t>
            </a:r>
            <a:r>
              <a:rPr sz="2400" dirty="0">
                <a:latin typeface="Century Gothic"/>
                <a:cs typeface="Century Gothic"/>
              </a:rPr>
              <a:t>,</a:t>
            </a:r>
            <a:r>
              <a:rPr sz="2400" spc="2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onsolas"/>
                <a:cs typeface="Consolas"/>
              </a:rPr>
              <a:t>mpif90,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33" name="object 11">
            <a:extLst>
              <a:ext uri="{FF2B5EF4-FFF2-40B4-BE49-F238E27FC236}">
                <a16:creationId xmlns:a16="http://schemas.microsoft.com/office/drawing/2014/main" id="{2570F21D-ACCE-2615-E456-80B8BE681F66}"/>
              </a:ext>
            </a:extLst>
          </p:cNvPr>
          <p:cNvSpPr txBox="1"/>
          <p:nvPr/>
        </p:nvSpPr>
        <p:spPr>
          <a:xfrm>
            <a:off x="8005824" y="2143954"/>
            <a:ext cx="1009650" cy="3683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sz="2400" spc="-10" dirty="0">
                <a:latin typeface="Consolas"/>
                <a:cs typeface="Consolas"/>
              </a:rPr>
              <a:t>mpixl*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34" name="object 12">
            <a:extLst>
              <a:ext uri="{FF2B5EF4-FFF2-40B4-BE49-F238E27FC236}">
                <a16:creationId xmlns:a16="http://schemas.microsoft.com/office/drawing/2014/main" id="{05E704BF-B50F-8026-6281-73C2465C2D6A}"/>
              </a:ext>
            </a:extLst>
          </p:cNvPr>
          <p:cNvSpPr txBox="1"/>
          <p:nvPr/>
        </p:nvSpPr>
        <p:spPr>
          <a:xfrm>
            <a:off x="526794" y="2664459"/>
            <a:ext cx="177418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SzPct val="89285"/>
              <a:buChar char="•"/>
              <a:tabLst>
                <a:tab pos="301625" algn="l"/>
              </a:tabLst>
            </a:pPr>
            <a:r>
              <a:rPr sz="2800" spc="-10" dirty="0">
                <a:latin typeface="Century Gothic"/>
                <a:cs typeface="Century Gothic"/>
              </a:rPr>
              <a:t>Modules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5" name="object 13">
            <a:extLst>
              <a:ext uri="{FF2B5EF4-FFF2-40B4-BE49-F238E27FC236}">
                <a16:creationId xmlns:a16="http://schemas.microsoft.com/office/drawing/2014/main" id="{433FCDEA-6EA2-43BC-751C-EAA6254F8CFF}"/>
              </a:ext>
            </a:extLst>
          </p:cNvPr>
          <p:cNvSpPr txBox="1"/>
          <p:nvPr/>
        </p:nvSpPr>
        <p:spPr>
          <a:xfrm>
            <a:off x="2387344" y="2690054"/>
            <a:ext cx="5857875" cy="4318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0"/>
              </a:lnSpc>
            </a:pPr>
            <a:r>
              <a:rPr sz="2800" spc="-10" dirty="0">
                <a:latin typeface="Consolas"/>
                <a:cs typeface="Consolas"/>
              </a:rPr>
              <a:t>spectrum-mpi/10.3.1.2-20200121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36" name="object 14">
            <a:extLst>
              <a:ext uri="{FF2B5EF4-FFF2-40B4-BE49-F238E27FC236}">
                <a16:creationId xmlns:a16="http://schemas.microsoft.com/office/drawing/2014/main" id="{91C8C5A0-2092-1686-63CE-AC9D4DBD0377}"/>
              </a:ext>
            </a:extLst>
          </p:cNvPr>
          <p:cNvSpPr txBox="1"/>
          <p:nvPr/>
        </p:nvSpPr>
        <p:spPr>
          <a:xfrm>
            <a:off x="8330944" y="2664459"/>
            <a:ext cx="15252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entury Gothic"/>
                <a:cs typeface="Century Gothic"/>
              </a:rPr>
              <a:t>(default)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7" name="object 15">
            <a:extLst>
              <a:ext uri="{FF2B5EF4-FFF2-40B4-BE49-F238E27FC236}">
                <a16:creationId xmlns:a16="http://schemas.microsoft.com/office/drawing/2014/main" id="{6737837D-0B84-2F04-C6B7-30E8C8A1E5CC}"/>
              </a:ext>
            </a:extLst>
          </p:cNvPr>
          <p:cNvSpPr txBox="1"/>
          <p:nvPr/>
        </p:nvSpPr>
        <p:spPr>
          <a:xfrm>
            <a:off x="526794" y="3017447"/>
            <a:ext cx="6920230" cy="115379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320"/>
              </a:spcBef>
              <a:tabLst>
                <a:tab pos="699770" algn="l"/>
              </a:tabLst>
            </a:pPr>
            <a:r>
              <a:rPr sz="2200" spc="-50" dirty="0">
                <a:latin typeface="Century Gothic"/>
                <a:cs typeface="Century Gothic"/>
              </a:rPr>
              <a:t>–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400" dirty="0">
                <a:latin typeface="Century Gothic"/>
                <a:cs typeface="Century Gothic"/>
              </a:rPr>
              <a:t>Avoid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hidden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older</a:t>
            </a:r>
            <a:r>
              <a:rPr sz="2400" spc="-10" dirty="0">
                <a:latin typeface="Century Gothic"/>
                <a:cs typeface="Century Gothic"/>
              </a:rPr>
              <a:t> releases</a:t>
            </a:r>
            <a:endParaRPr sz="24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42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Updates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usually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require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recompilation.</a:t>
            </a:r>
            <a:endParaRPr sz="2800" dirty="0">
              <a:latin typeface="Century Gothic"/>
              <a:cs typeface="Century Gothic"/>
            </a:endParaRPr>
          </a:p>
        </p:txBody>
      </p:sp>
      <p:sp>
        <p:nvSpPr>
          <p:cNvPr id="38" name="object 16">
            <a:extLst>
              <a:ext uri="{FF2B5EF4-FFF2-40B4-BE49-F238E27FC236}">
                <a16:creationId xmlns:a16="http://schemas.microsoft.com/office/drawing/2014/main" id="{01A944DB-92BD-279B-FC19-5217704F4F02}"/>
              </a:ext>
            </a:extLst>
          </p:cNvPr>
          <p:cNvSpPr txBox="1"/>
          <p:nvPr/>
        </p:nvSpPr>
        <p:spPr>
          <a:xfrm>
            <a:off x="1668207" y="4353754"/>
            <a:ext cx="976630" cy="4318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0"/>
              </a:lnSpc>
            </a:pPr>
            <a:r>
              <a:rPr sz="2800" spc="-20" dirty="0">
                <a:latin typeface="Consolas"/>
                <a:cs typeface="Consolas"/>
              </a:rPr>
              <a:t>jsrun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39" name="object 17">
            <a:extLst>
              <a:ext uri="{FF2B5EF4-FFF2-40B4-BE49-F238E27FC236}">
                <a16:creationId xmlns:a16="http://schemas.microsoft.com/office/drawing/2014/main" id="{98F43AA7-DA84-FA6F-AB1C-ED2F2661B637}"/>
              </a:ext>
            </a:extLst>
          </p:cNvPr>
          <p:cNvSpPr txBox="1"/>
          <p:nvPr/>
        </p:nvSpPr>
        <p:spPr>
          <a:xfrm>
            <a:off x="526794" y="4328667"/>
            <a:ext cx="98990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SzPct val="89285"/>
              <a:buChar char="•"/>
              <a:tabLst>
                <a:tab pos="301625" algn="l"/>
                <a:tab pos="2215515" algn="l"/>
              </a:tabLst>
            </a:pPr>
            <a:r>
              <a:rPr sz="2800" spc="-20" dirty="0">
                <a:latin typeface="Century Gothic"/>
                <a:cs typeface="Century Gothic"/>
              </a:rPr>
              <a:t>Uses</a:t>
            </a:r>
            <a:r>
              <a:rPr sz="2800" dirty="0">
                <a:latin typeface="Century Gothic"/>
                <a:cs typeface="Century Gothic"/>
              </a:rPr>
              <a:t>	MPI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launcher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(See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separate talk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in this </a:t>
            </a:r>
            <a:r>
              <a:rPr sz="2800" spc="-10" dirty="0">
                <a:latin typeface="Century Gothic"/>
                <a:cs typeface="Century Gothic"/>
              </a:rPr>
              <a:t>series)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0" name="object 18">
            <a:extLst>
              <a:ext uri="{FF2B5EF4-FFF2-40B4-BE49-F238E27FC236}">
                <a16:creationId xmlns:a16="http://schemas.microsoft.com/office/drawing/2014/main" id="{48EBA4B8-D1B9-6EAF-4788-3DACC2A776A7}"/>
              </a:ext>
            </a:extLst>
          </p:cNvPr>
          <p:cNvSpPr txBox="1"/>
          <p:nvPr/>
        </p:nvSpPr>
        <p:spPr>
          <a:xfrm>
            <a:off x="526794" y="4950459"/>
            <a:ext cx="6934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Avoid</a:t>
            </a:r>
            <a:r>
              <a:rPr sz="2800" spc="-2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Alt.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implementations </a:t>
            </a:r>
            <a:r>
              <a:rPr sz="2800" spc="-10" dirty="0">
                <a:latin typeface="Century Gothic"/>
                <a:cs typeface="Century Gothic"/>
              </a:rPr>
              <a:t>(OpenMPI)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1" name="object 19">
            <a:extLst>
              <a:ext uri="{FF2B5EF4-FFF2-40B4-BE49-F238E27FC236}">
                <a16:creationId xmlns:a16="http://schemas.microsoft.com/office/drawing/2014/main" id="{B5A770D9-A67A-37B3-D103-A5F378C42333}"/>
              </a:ext>
            </a:extLst>
          </p:cNvPr>
          <p:cNvSpPr txBox="1"/>
          <p:nvPr/>
        </p:nvSpPr>
        <p:spPr>
          <a:xfrm>
            <a:off x="925574" y="5471667"/>
            <a:ext cx="1651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entury Gothic"/>
                <a:cs typeface="Century Gothic"/>
              </a:rPr>
              <a:t>–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42" name="object 20">
            <a:extLst>
              <a:ext uri="{FF2B5EF4-FFF2-40B4-BE49-F238E27FC236}">
                <a16:creationId xmlns:a16="http://schemas.microsoft.com/office/drawing/2014/main" id="{BD79007A-43F7-B4A9-87F8-62133D86FAF4}"/>
              </a:ext>
            </a:extLst>
          </p:cNvPr>
          <p:cNvSpPr txBox="1"/>
          <p:nvPr/>
        </p:nvSpPr>
        <p:spPr>
          <a:xfrm>
            <a:off x="1227199" y="5471353"/>
            <a:ext cx="2165350" cy="3556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0"/>
              </a:lnSpc>
            </a:pPr>
            <a:r>
              <a:rPr sz="2400" spc="-10" dirty="0">
                <a:latin typeface="Century Gothic"/>
                <a:cs typeface="Century Gothic"/>
              </a:rPr>
              <a:t>openmpi/4.0.3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3" name="object 21">
            <a:extLst>
              <a:ext uri="{FF2B5EF4-FFF2-40B4-BE49-F238E27FC236}">
                <a16:creationId xmlns:a16="http://schemas.microsoft.com/office/drawing/2014/main" id="{4BE8111E-8F07-BBDC-A124-048538F5E122}"/>
              </a:ext>
            </a:extLst>
          </p:cNvPr>
          <p:cNvSpPr txBox="1"/>
          <p:nvPr/>
        </p:nvSpPr>
        <p:spPr>
          <a:xfrm>
            <a:off x="3451287" y="5446267"/>
            <a:ext cx="82143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is</a:t>
            </a:r>
            <a:r>
              <a:rPr sz="2400" spc="-25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experimental</a:t>
            </a:r>
            <a:r>
              <a:rPr sz="2400" spc="-15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and</a:t>
            </a:r>
            <a:r>
              <a:rPr sz="2400" spc="-10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not</a:t>
            </a:r>
            <a:r>
              <a:rPr sz="2400" spc="-15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recommended</a:t>
            </a:r>
            <a:r>
              <a:rPr sz="2400" spc="-10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for</a:t>
            </a:r>
            <a:r>
              <a:rPr sz="2400" spc="-15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CB4D3D"/>
                </a:solidFill>
                <a:latin typeface="Century Gothic"/>
                <a:cs typeface="Century Gothic"/>
              </a:rPr>
              <a:t>general</a:t>
            </a:r>
            <a:r>
              <a:rPr sz="2400" spc="-15" dirty="0">
                <a:solidFill>
                  <a:srgbClr val="CB4D3D"/>
                </a:solidFill>
                <a:latin typeface="Century Gothic"/>
                <a:cs typeface="Century Gothic"/>
              </a:rPr>
              <a:t> </a:t>
            </a:r>
            <a:r>
              <a:rPr sz="2400" spc="-20" dirty="0">
                <a:solidFill>
                  <a:srgbClr val="CB4D3D"/>
                </a:solidFill>
                <a:latin typeface="Century Gothic"/>
                <a:cs typeface="Century Gothic"/>
              </a:rPr>
              <a:t>use.</a:t>
            </a:r>
            <a:endParaRPr sz="24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06864000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MPI vs OpenMP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BF45C68-DB01-6C62-6186-A2E85BC999F6}"/>
              </a:ext>
            </a:extLst>
          </p:cNvPr>
          <p:cNvSpPr txBox="1"/>
          <p:nvPr/>
        </p:nvSpPr>
        <p:spPr>
          <a:xfrm>
            <a:off x="424136" y="1440210"/>
            <a:ext cx="12129558" cy="504362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833120" indent="-342900">
              <a:lnSpc>
                <a:spcPts val="3300"/>
              </a:lnSpc>
              <a:spcBef>
                <a:spcPts val="26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sz="3600" b="1" dirty="0">
                <a:latin typeface="+mj-lt"/>
                <a:cs typeface="Calibri" panose="020F0502020204030204"/>
              </a:rPr>
              <a:t>MPI provides explicit communication between  separate processes</a:t>
            </a:r>
            <a:endParaRPr lang="en-US" sz="36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sz="3200" dirty="0">
                <a:latin typeface="+mj-lt"/>
                <a:cs typeface="Calibri" panose="020F0502020204030204"/>
              </a:rPr>
              <a:t>Optionally on separate nodes – </a:t>
            </a:r>
            <a:r>
              <a:rPr lang="en-US" sz="3200" dirty="0" err="1">
                <a:latin typeface="+mj-lt"/>
                <a:cs typeface="Calibri" panose="020F0502020204030204"/>
              </a:rPr>
              <a:t>ie</a:t>
            </a:r>
            <a:r>
              <a:rPr lang="en-US" sz="3200" dirty="0">
                <a:latin typeface="+mj-lt"/>
                <a:cs typeface="Calibri" panose="020F0502020204030204"/>
              </a:rPr>
              <a:t> packets over a network</a:t>
            </a:r>
          </a:p>
          <a:p>
            <a:pPr marL="749300" marR="161290" lvl="1" indent="-279400">
              <a:lnSpc>
                <a:spcPct val="101000"/>
              </a:lnSpc>
              <a:spcBef>
                <a:spcPts val="47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sz="3200" dirty="0">
                <a:latin typeface="+mj-lt"/>
                <a:cs typeface="Calibri" panose="020F0502020204030204"/>
              </a:rPr>
              <a:t>Most parallel development in last 2 decades has used this  approach</a:t>
            </a:r>
          </a:p>
          <a:p>
            <a:pPr marL="355600" marR="5080" indent="-342900">
              <a:lnSpc>
                <a:spcPts val="3330"/>
              </a:lnSpc>
              <a:spcBef>
                <a:spcPts val="83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sz="3600" b="1" dirty="0">
                <a:latin typeface="+mj-lt"/>
                <a:cs typeface="Calibri" panose="020F0502020204030204"/>
              </a:rPr>
              <a:t>OpenMP provides work-sharing and  synchronization between threads in a single process</a:t>
            </a:r>
            <a:endParaRPr lang="en-US" sz="36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0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sz="3200" dirty="0">
                <a:latin typeface="+mj-lt"/>
                <a:cs typeface="Calibri" panose="020F0502020204030204"/>
              </a:rPr>
              <a:t>Threads share the same memory image</a:t>
            </a:r>
          </a:p>
          <a:p>
            <a:pPr marL="749300" marR="447675" lvl="1" indent="-279400">
              <a:lnSpc>
                <a:spcPct val="101000"/>
              </a:lnSpc>
              <a:spcBef>
                <a:spcPts val="48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sz="3200" dirty="0">
                <a:latin typeface="+mj-lt"/>
                <a:cs typeface="Calibri" panose="020F0502020204030204"/>
              </a:rPr>
              <a:t>To make the most of a KNL node, most applications will  need to use OpenMP</a:t>
            </a:r>
          </a:p>
        </p:txBody>
      </p:sp>
    </p:spTree>
    <p:extLst>
      <p:ext uri="{BB962C8B-B14F-4D97-AF65-F5344CB8AC3E}">
        <p14:creationId xmlns:p14="http://schemas.microsoft.com/office/powerpoint/2010/main" val="1858543743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59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MPI vs OpenMP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727F8F1-F36A-37B7-C789-02E866E68CAE}"/>
              </a:ext>
            </a:extLst>
          </p:cNvPr>
          <p:cNvSpPr txBox="1"/>
          <p:nvPr/>
        </p:nvSpPr>
        <p:spPr>
          <a:xfrm>
            <a:off x="214561" y="1528180"/>
            <a:ext cx="6520954" cy="99899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+mj-lt"/>
                <a:cs typeface="Calibri" panose="020F0502020204030204"/>
              </a:rPr>
              <a:t>An MPI application can  have processes on  more than one node</a:t>
            </a:r>
            <a:endParaRPr sz="3200" dirty="0">
              <a:latin typeface="+mj-lt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30A06C5-7AA3-31E9-EB4B-9112D84A49AA}"/>
              </a:ext>
            </a:extLst>
          </p:cNvPr>
          <p:cNvSpPr/>
          <p:nvPr/>
        </p:nvSpPr>
        <p:spPr>
          <a:xfrm>
            <a:off x="2141610" y="2846358"/>
            <a:ext cx="5843365" cy="39692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AECA2B9-A13C-3084-0942-6FCE7EDA3919}"/>
              </a:ext>
            </a:extLst>
          </p:cNvPr>
          <p:cNvSpPr/>
          <p:nvPr/>
        </p:nvSpPr>
        <p:spPr>
          <a:xfrm>
            <a:off x="2224336" y="2846357"/>
            <a:ext cx="5724562" cy="1640385"/>
          </a:xfrm>
          <a:custGeom>
            <a:avLst/>
            <a:gdLst/>
            <a:ahLst/>
            <a:cxnLst/>
            <a:rect l="l" t="t" r="r" b="b"/>
            <a:pathLst>
              <a:path w="3753485" h="1309370">
                <a:moveTo>
                  <a:pt x="0" y="218183"/>
                </a:moveTo>
                <a:lnTo>
                  <a:pt x="5762" y="168156"/>
                </a:lnTo>
                <a:lnTo>
                  <a:pt x="22176" y="122232"/>
                </a:lnTo>
                <a:lnTo>
                  <a:pt x="47932" y="81721"/>
                </a:lnTo>
                <a:lnTo>
                  <a:pt x="81721" y="47932"/>
                </a:lnTo>
                <a:lnTo>
                  <a:pt x="122232" y="22176"/>
                </a:lnTo>
                <a:lnTo>
                  <a:pt x="168156" y="5762"/>
                </a:lnTo>
                <a:lnTo>
                  <a:pt x="218183" y="0"/>
                </a:lnTo>
                <a:lnTo>
                  <a:pt x="3535153" y="0"/>
                </a:lnTo>
                <a:lnTo>
                  <a:pt x="3585180" y="5762"/>
                </a:lnTo>
                <a:lnTo>
                  <a:pt x="3631105" y="22176"/>
                </a:lnTo>
                <a:lnTo>
                  <a:pt x="3671616" y="47932"/>
                </a:lnTo>
                <a:lnTo>
                  <a:pt x="3705404" y="81721"/>
                </a:lnTo>
                <a:lnTo>
                  <a:pt x="3731160" y="122232"/>
                </a:lnTo>
                <a:lnTo>
                  <a:pt x="3747574" y="168156"/>
                </a:lnTo>
                <a:lnTo>
                  <a:pt x="3753337" y="218183"/>
                </a:lnTo>
                <a:lnTo>
                  <a:pt x="3753337" y="1090893"/>
                </a:lnTo>
                <a:lnTo>
                  <a:pt x="3747574" y="1140921"/>
                </a:lnTo>
                <a:lnTo>
                  <a:pt x="3731160" y="1186845"/>
                </a:lnTo>
                <a:lnTo>
                  <a:pt x="3705404" y="1227356"/>
                </a:lnTo>
                <a:lnTo>
                  <a:pt x="3671616" y="1261145"/>
                </a:lnTo>
                <a:lnTo>
                  <a:pt x="3631105" y="1286901"/>
                </a:lnTo>
                <a:lnTo>
                  <a:pt x="3585180" y="1303315"/>
                </a:lnTo>
                <a:lnTo>
                  <a:pt x="3535153" y="1309077"/>
                </a:lnTo>
                <a:lnTo>
                  <a:pt x="218183" y="1309077"/>
                </a:lnTo>
                <a:lnTo>
                  <a:pt x="168156" y="1303315"/>
                </a:lnTo>
                <a:lnTo>
                  <a:pt x="122232" y="1286901"/>
                </a:lnTo>
                <a:lnTo>
                  <a:pt x="81721" y="1261145"/>
                </a:lnTo>
                <a:lnTo>
                  <a:pt x="47932" y="1227356"/>
                </a:lnTo>
                <a:lnTo>
                  <a:pt x="22176" y="1186845"/>
                </a:lnTo>
                <a:lnTo>
                  <a:pt x="5762" y="1140921"/>
                </a:lnTo>
                <a:lnTo>
                  <a:pt x="0" y="1090893"/>
                </a:lnTo>
                <a:lnTo>
                  <a:pt x="0" y="218183"/>
                </a:lnTo>
                <a:close/>
              </a:path>
            </a:pathLst>
          </a:custGeom>
          <a:ln w="57149">
            <a:solidFill>
              <a:srgbClr val="A13B2A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FF820B1-8C94-1EBC-5040-003D6B03B595}"/>
              </a:ext>
            </a:extLst>
          </p:cNvPr>
          <p:cNvSpPr txBox="1"/>
          <p:nvPr/>
        </p:nvSpPr>
        <p:spPr>
          <a:xfrm>
            <a:off x="736987" y="3044621"/>
            <a:ext cx="131459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+mj-lt"/>
                <a:cs typeface="Calibri" panose="020F0502020204030204"/>
              </a:rPr>
              <a:t>MPI rank 0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D39497E-6D38-A5C0-5695-8E79EB0B5C32}"/>
              </a:ext>
            </a:extLst>
          </p:cNvPr>
          <p:cNvSpPr/>
          <p:nvPr/>
        </p:nvSpPr>
        <p:spPr>
          <a:xfrm>
            <a:off x="2141610" y="5040609"/>
            <a:ext cx="5807289" cy="1775019"/>
          </a:xfrm>
          <a:custGeom>
            <a:avLst/>
            <a:gdLst/>
            <a:ahLst/>
            <a:cxnLst/>
            <a:rect l="l" t="t" r="r" b="b"/>
            <a:pathLst>
              <a:path w="3753485" h="1383664">
                <a:moveTo>
                  <a:pt x="0" y="230549"/>
                </a:moveTo>
                <a:lnTo>
                  <a:pt x="4683" y="184086"/>
                </a:lnTo>
                <a:lnTo>
                  <a:pt x="18117" y="140809"/>
                </a:lnTo>
                <a:lnTo>
                  <a:pt x="39374" y="101647"/>
                </a:lnTo>
                <a:lnTo>
                  <a:pt x="67526" y="67526"/>
                </a:lnTo>
                <a:lnTo>
                  <a:pt x="101647" y="39374"/>
                </a:lnTo>
                <a:lnTo>
                  <a:pt x="140809" y="18117"/>
                </a:lnTo>
                <a:lnTo>
                  <a:pt x="184086" y="4683"/>
                </a:lnTo>
                <a:lnTo>
                  <a:pt x="230549" y="0"/>
                </a:lnTo>
                <a:lnTo>
                  <a:pt x="3522787" y="0"/>
                </a:lnTo>
                <a:lnTo>
                  <a:pt x="3569250" y="4683"/>
                </a:lnTo>
                <a:lnTo>
                  <a:pt x="3612527" y="18117"/>
                </a:lnTo>
                <a:lnTo>
                  <a:pt x="3651689" y="39374"/>
                </a:lnTo>
                <a:lnTo>
                  <a:pt x="3685810" y="67526"/>
                </a:lnTo>
                <a:lnTo>
                  <a:pt x="3713962" y="101647"/>
                </a:lnTo>
                <a:lnTo>
                  <a:pt x="3735219" y="140809"/>
                </a:lnTo>
                <a:lnTo>
                  <a:pt x="3748653" y="184086"/>
                </a:lnTo>
                <a:lnTo>
                  <a:pt x="3753337" y="230549"/>
                </a:lnTo>
                <a:lnTo>
                  <a:pt x="3753337" y="1152724"/>
                </a:lnTo>
                <a:lnTo>
                  <a:pt x="3748653" y="1199188"/>
                </a:lnTo>
                <a:lnTo>
                  <a:pt x="3735219" y="1242465"/>
                </a:lnTo>
                <a:lnTo>
                  <a:pt x="3713962" y="1281627"/>
                </a:lnTo>
                <a:lnTo>
                  <a:pt x="3685810" y="1315748"/>
                </a:lnTo>
                <a:lnTo>
                  <a:pt x="3651689" y="1343900"/>
                </a:lnTo>
                <a:lnTo>
                  <a:pt x="3612527" y="1365156"/>
                </a:lnTo>
                <a:lnTo>
                  <a:pt x="3569250" y="1378590"/>
                </a:lnTo>
                <a:lnTo>
                  <a:pt x="3522787" y="1383274"/>
                </a:lnTo>
                <a:lnTo>
                  <a:pt x="230549" y="1383274"/>
                </a:lnTo>
                <a:lnTo>
                  <a:pt x="184086" y="1378590"/>
                </a:lnTo>
                <a:lnTo>
                  <a:pt x="140809" y="1365156"/>
                </a:lnTo>
                <a:lnTo>
                  <a:pt x="101647" y="1343900"/>
                </a:lnTo>
                <a:lnTo>
                  <a:pt x="67526" y="1315748"/>
                </a:lnTo>
                <a:lnTo>
                  <a:pt x="39374" y="1281627"/>
                </a:lnTo>
                <a:lnTo>
                  <a:pt x="18117" y="1242465"/>
                </a:lnTo>
                <a:lnTo>
                  <a:pt x="4683" y="1199188"/>
                </a:lnTo>
                <a:lnTo>
                  <a:pt x="0" y="1152724"/>
                </a:lnTo>
                <a:lnTo>
                  <a:pt x="0" y="230549"/>
                </a:lnTo>
                <a:close/>
              </a:path>
            </a:pathLst>
          </a:custGeom>
          <a:ln w="57149">
            <a:solidFill>
              <a:srgbClr val="A13B2A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7A91F40-8312-2111-53A6-BE34DFED19C8}"/>
              </a:ext>
            </a:extLst>
          </p:cNvPr>
          <p:cNvSpPr txBox="1"/>
          <p:nvPr/>
        </p:nvSpPr>
        <p:spPr>
          <a:xfrm>
            <a:off x="683038" y="5084871"/>
            <a:ext cx="142249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+mj-lt"/>
                <a:cs typeface="Calibri" panose="020F0502020204030204"/>
              </a:rPr>
              <a:t>MPI rank 1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8A284A0-865A-CD6A-4713-0F06F72E55C2}"/>
              </a:ext>
            </a:extLst>
          </p:cNvPr>
          <p:cNvSpPr/>
          <p:nvPr/>
        </p:nvSpPr>
        <p:spPr>
          <a:xfrm>
            <a:off x="5833372" y="3006178"/>
            <a:ext cx="4383851" cy="280035"/>
          </a:xfrm>
          <a:custGeom>
            <a:avLst/>
            <a:gdLst/>
            <a:ahLst/>
            <a:cxnLst/>
            <a:rect l="l" t="t" r="r" b="b"/>
            <a:pathLst>
              <a:path w="4014470" h="280035">
                <a:moveTo>
                  <a:pt x="0" y="46623"/>
                </a:moveTo>
                <a:lnTo>
                  <a:pt x="3663" y="28475"/>
                </a:lnTo>
                <a:lnTo>
                  <a:pt x="13655" y="13655"/>
                </a:lnTo>
                <a:lnTo>
                  <a:pt x="28475" y="3663"/>
                </a:lnTo>
                <a:lnTo>
                  <a:pt x="46623" y="0"/>
                </a:lnTo>
                <a:lnTo>
                  <a:pt x="3967689" y="0"/>
                </a:lnTo>
                <a:lnTo>
                  <a:pt x="3985838" y="3663"/>
                </a:lnTo>
                <a:lnTo>
                  <a:pt x="4000658" y="13655"/>
                </a:lnTo>
                <a:lnTo>
                  <a:pt x="4010650" y="28475"/>
                </a:lnTo>
                <a:lnTo>
                  <a:pt x="4014314" y="46623"/>
                </a:lnTo>
                <a:lnTo>
                  <a:pt x="4014314" y="233114"/>
                </a:lnTo>
                <a:lnTo>
                  <a:pt x="4010650" y="251263"/>
                </a:lnTo>
                <a:lnTo>
                  <a:pt x="4000658" y="266083"/>
                </a:lnTo>
                <a:lnTo>
                  <a:pt x="3985838" y="276075"/>
                </a:lnTo>
                <a:lnTo>
                  <a:pt x="3967689" y="279739"/>
                </a:lnTo>
                <a:lnTo>
                  <a:pt x="46623" y="279739"/>
                </a:lnTo>
                <a:lnTo>
                  <a:pt x="28475" y="276075"/>
                </a:lnTo>
                <a:lnTo>
                  <a:pt x="13655" y="266083"/>
                </a:lnTo>
                <a:lnTo>
                  <a:pt x="3663" y="251263"/>
                </a:lnTo>
                <a:lnTo>
                  <a:pt x="0" y="233114"/>
                </a:lnTo>
                <a:lnTo>
                  <a:pt x="0" y="46623"/>
                </a:lnTo>
                <a:close/>
              </a:path>
            </a:pathLst>
          </a:custGeom>
          <a:ln w="57149">
            <a:solidFill>
              <a:srgbClr val="4E89B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F706033-C6C2-9FBC-AD5E-19DAA669FF57}"/>
              </a:ext>
            </a:extLst>
          </p:cNvPr>
          <p:cNvSpPr/>
          <p:nvPr/>
        </p:nvSpPr>
        <p:spPr>
          <a:xfrm>
            <a:off x="5842714" y="3322123"/>
            <a:ext cx="4383850" cy="280035"/>
          </a:xfrm>
          <a:custGeom>
            <a:avLst/>
            <a:gdLst/>
            <a:ahLst/>
            <a:cxnLst/>
            <a:rect l="l" t="t" r="r" b="b"/>
            <a:pathLst>
              <a:path w="4014470" h="280035">
                <a:moveTo>
                  <a:pt x="0" y="46623"/>
                </a:moveTo>
                <a:lnTo>
                  <a:pt x="3663" y="28475"/>
                </a:lnTo>
                <a:lnTo>
                  <a:pt x="13655" y="13655"/>
                </a:lnTo>
                <a:lnTo>
                  <a:pt x="28475" y="3663"/>
                </a:lnTo>
                <a:lnTo>
                  <a:pt x="46623" y="0"/>
                </a:lnTo>
                <a:lnTo>
                  <a:pt x="3967689" y="0"/>
                </a:lnTo>
                <a:lnTo>
                  <a:pt x="3985838" y="3663"/>
                </a:lnTo>
                <a:lnTo>
                  <a:pt x="4000658" y="13655"/>
                </a:lnTo>
                <a:lnTo>
                  <a:pt x="4010649" y="28475"/>
                </a:lnTo>
                <a:lnTo>
                  <a:pt x="4014313" y="46623"/>
                </a:lnTo>
                <a:lnTo>
                  <a:pt x="4014313" y="233114"/>
                </a:lnTo>
                <a:lnTo>
                  <a:pt x="4010649" y="251263"/>
                </a:lnTo>
                <a:lnTo>
                  <a:pt x="4000658" y="266083"/>
                </a:lnTo>
                <a:lnTo>
                  <a:pt x="3985838" y="276075"/>
                </a:lnTo>
                <a:lnTo>
                  <a:pt x="3967689" y="279739"/>
                </a:lnTo>
                <a:lnTo>
                  <a:pt x="46623" y="279739"/>
                </a:lnTo>
                <a:lnTo>
                  <a:pt x="28475" y="276075"/>
                </a:lnTo>
                <a:lnTo>
                  <a:pt x="13655" y="266083"/>
                </a:lnTo>
                <a:lnTo>
                  <a:pt x="3663" y="251263"/>
                </a:lnTo>
                <a:lnTo>
                  <a:pt x="0" y="233114"/>
                </a:lnTo>
                <a:lnTo>
                  <a:pt x="0" y="46623"/>
                </a:lnTo>
                <a:close/>
              </a:path>
            </a:pathLst>
          </a:custGeom>
          <a:ln w="57149">
            <a:solidFill>
              <a:srgbClr val="4E89B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91266B7-1FD7-F44F-3633-18C07D7A2D2B}"/>
              </a:ext>
            </a:extLst>
          </p:cNvPr>
          <p:cNvSpPr txBox="1"/>
          <p:nvPr/>
        </p:nvSpPr>
        <p:spPr>
          <a:xfrm>
            <a:off x="7048872" y="1476681"/>
            <a:ext cx="5506368" cy="99899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187325" indent="-342900">
              <a:lnSpc>
                <a:spcPct val="100000"/>
              </a:lnSpc>
              <a:spcBef>
                <a:spcPts val="1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+mj-lt"/>
                <a:cs typeface="Calibri" panose="020F0502020204030204"/>
              </a:rPr>
              <a:t>An OpenMP application  exists entirely within 1  node</a:t>
            </a:r>
            <a:endParaRPr sz="3200" dirty="0">
              <a:latin typeface="+mj-lt"/>
              <a:cs typeface="Calibri" panose="020F0502020204030204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C5EBB8-FEC2-2322-BF76-38DBA294DE46}"/>
              </a:ext>
            </a:extLst>
          </p:cNvPr>
          <p:cNvSpPr txBox="1"/>
          <p:nvPr/>
        </p:nvSpPr>
        <p:spPr>
          <a:xfrm>
            <a:off x="7912968" y="2901492"/>
            <a:ext cx="33868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OpenMP thread 0</a:t>
            </a:r>
          </a:p>
          <a:p>
            <a:r>
              <a:rPr lang="zh-CN" altLang="en-US" dirty="0"/>
              <a:t>OpenMP thread 1</a:t>
            </a:r>
          </a:p>
        </p:txBody>
      </p:sp>
    </p:spTree>
    <p:extLst>
      <p:ext uri="{BB962C8B-B14F-4D97-AF65-F5344CB8AC3E}">
        <p14:creationId xmlns:p14="http://schemas.microsoft.com/office/powerpoint/2010/main" val="3607339669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Why do we suddenly need OpenMP?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1444EE0-67C1-E5E2-1646-A116E9776E98}"/>
              </a:ext>
            </a:extLst>
          </p:cNvPr>
          <p:cNvSpPr txBox="1"/>
          <p:nvPr/>
        </p:nvSpPr>
        <p:spPr>
          <a:xfrm>
            <a:off x="300023" y="1008162"/>
            <a:ext cx="12201565" cy="38259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3600" b="1" dirty="0">
                <a:latin typeface="+mj-lt"/>
                <a:cs typeface="Calibri" panose="020F0502020204030204"/>
              </a:rPr>
              <a:t>Multi-level parallelism</a:t>
            </a:r>
            <a:endParaRPr sz="3600" dirty="0">
              <a:latin typeface="+mj-lt"/>
              <a:cs typeface="Calibri" panose="020F0502020204030204"/>
            </a:endParaRPr>
          </a:p>
          <a:p>
            <a:pPr marL="749300" marR="5080" lvl="1" indent="-279400">
              <a:lnSpc>
                <a:spcPct val="101000"/>
              </a:lnSpc>
              <a:spcBef>
                <a:spcPts val="47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sz="3200" dirty="0">
                <a:latin typeface="+mj-lt"/>
                <a:cs typeface="Calibri" panose="020F0502020204030204"/>
              </a:rPr>
              <a:t>At very large scale, the overheads of MPI (or any parallel  approach) become excessively costly</a:t>
            </a:r>
          </a:p>
          <a:p>
            <a:pPr marL="749300" marR="476250" lvl="1" indent="-279400">
              <a:lnSpc>
                <a:spcPct val="101000"/>
              </a:lnSpc>
              <a:spcBef>
                <a:spcPts val="45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sz="3200" dirty="0">
                <a:latin typeface="+mj-lt"/>
                <a:cs typeface="Calibri" panose="020F0502020204030204"/>
              </a:rPr>
              <a:t>Combining (nesting) parallel approaches allows us to  operate each at lower scale</a:t>
            </a: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Font typeface="Arial" panose="020B0604020202020204"/>
              <a:buChar char="•"/>
              <a:tabLst>
                <a:tab pos="1155065" algn="l"/>
                <a:tab pos="1155700" algn="l"/>
              </a:tabLst>
            </a:pPr>
            <a:r>
              <a:rPr sz="2800" dirty="0">
                <a:latin typeface="+mj-lt"/>
                <a:cs typeface="Calibri" panose="020F0502020204030204"/>
              </a:rPr>
              <a:t>Sweet spot for best overall eﬃciency</a:t>
            </a: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sz="3200" dirty="0">
                <a:latin typeface="+mj-lt"/>
                <a:cs typeface="Calibri" panose="020F0502020204030204"/>
              </a:rPr>
              <a:t>MPI -&gt; OpenMP -&gt; Vectorization</a:t>
            </a: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2C7991D9-41A5-DBD3-4B71-946C7345D137}"/>
              </a:ext>
            </a:extLst>
          </p:cNvPr>
          <p:cNvSpPr/>
          <p:nvPr/>
        </p:nvSpPr>
        <p:spPr>
          <a:xfrm>
            <a:off x="6977109" y="2592338"/>
            <a:ext cx="5749281" cy="42924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5367481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CUDA/NVCC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1B191625-63C6-5150-0E0F-3509537E4DC0}"/>
              </a:ext>
            </a:extLst>
          </p:cNvPr>
          <p:cNvSpPr txBox="1"/>
          <p:nvPr/>
        </p:nvSpPr>
        <p:spPr>
          <a:xfrm>
            <a:off x="2249232" y="1648654"/>
            <a:ext cx="2538730" cy="4318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50"/>
              </a:lnSpc>
            </a:pPr>
            <a:r>
              <a:rPr sz="2800" spc="-10" dirty="0">
                <a:latin typeface="Consolas"/>
                <a:cs typeface="Consolas"/>
              </a:rPr>
              <a:t>cuda/10.1.243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E9C2C59-63CC-FBFB-9516-215BEC04EBC2}"/>
              </a:ext>
            </a:extLst>
          </p:cNvPr>
          <p:cNvSpPr txBox="1"/>
          <p:nvPr/>
        </p:nvSpPr>
        <p:spPr>
          <a:xfrm>
            <a:off x="526794" y="1622043"/>
            <a:ext cx="58718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SzPct val="89285"/>
              <a:buChar char="•"/>
              <a:tabLst>
                <a:tab pos="301625" algn="l"/>
                <a:tab pos="4358640" algn="l"/>
              </a:tabLst>
            </a:pPr>
            <a:r>
              <a:rPr sz="2800" spc="-10" dirty="0">
                <a:latin typeface="Century Gothic"/>
                <a:cs typeface="Century Gothic"/>
              </a:rPr>
              <a:t>Module</a:t>
            </a:r>
            <a:r>
              <a:rPr sz="2800" dirty="0">
                <a:latin typeface="Century Gothic"/>
                <a:cs typeface="Century Gothic"/>
              </a:rPr>
              <a:t>	</a:t>
            </a:r>
            <a:r>
              <a:rPr sz="2800" spc="-10" dirty="0">
                <a:latin typeface="Century Gothic"/>
                <a:cs typeface="Century Gothic"/>
              </a:rPr>
              <a:t>(default)</a:t>
            </a:r>
            <a:endParaRPr sz="2800" dirty="0">
              <a:latin typeface="Century Gothic"/>
              <a:cs typeface="Century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8ECA6E-F0EF-ACEA-85AD-58A4F8B55CC1}"/>
              </a:ext>
            </a:extLst>
          </p:cNvPr>
          <p:cNvSpPr txBox="1"/>
          <p:nvPr/>
        </p:nvSpPr>
        <p:spPr>
          <a:xfrm>
            <a:off x="526794" y="2051812"/>
            <a:ext cx="9650095" cy="2694940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63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Available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under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all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compiler</a:t>
            </a:r>
            <a:r>
              <a:rPr sz="2800" spc="-10" dirty="0">
                <a:latin typeface="Century Gothic"/>
                <a:cs typeface="Century Gothic"/>
              </a:rPr>
              <a:t> environments</a:t>
            </a:r>
            <a:endParaRPr sz="2800" dirty="0">
              <a:latin typeface="Century Gothic"/>
              <a:cs typeface="Century Gothic"/>
            </a:endParaRPr>
          </a:p>
          <a:p>
            <a:pPr marL="301625" marR="5080" indent="-288925">
              <a:lnSpc>
                <a:spcPts val="3000"/>
              </a:lnSpc>
              <a:spcBef>
                <a:spcPts val="193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If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you’re not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using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the GPUs,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you’re not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really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using </a:t>
            </a:r>
            <a:r>
              <a:rPr sz="2800" spc="-25" dirty="0">
                <a:latin typeface="Century Gothic"/>
                <a:cs typeface="Century Gothic"/>
              </a:rPr>
              <a:t>the </a:t>
            </a:r>
            <a:r>
              <a:rPr sz="2800" spc="-10" dirty="0">
                <a:latin typeface="Century Gothic"/>
                <a:cs typeface="Century Gothic"/>
              </a:rPr>
              <a:t>machine</a:t>
            </a:r>
            <a:endParaRPr sz="28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400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Provides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cuBLAS,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cuDNN</a:t>
            </a:r>
            <a:endParaRPr sz="2800" dirty="0">
              <a:latin typeface="Century Gothic"/>
              <a:cs typeface="Century Gothic"/>
            </a:endParaRPr>
          </a:p>
          <a:p>
            <a:pPr marL="411480">
              <a:lnSpc>
                <a:spcPct val="100000"/>
              </a:lnSpc>
              <a:spcBef>
                <a:spcPts val="545"/>
              </a:spcBef>
              <a:tabLst>
                <a:tab pos="699770" algn="l"/>
              </a:tabLst>
            </a:pPr>
            <a:r>
              <a:rPr sz="2200" spc="-50" dirty="0">
                <a:latin typeface="Century Gothic"/>
                <a:cs typeface="Century Gothic"/>
              </a:rPr>
              <a:t>–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400" dirty="0">
                <a:latin typeface="Century Gothic"/>
                <a:cs typeface="Century Gothic"/>
              </a:rPr>
              <a:t>cuBLAS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located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according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CUDA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≤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9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scheme:</a:t>
            </a:r>
            <a:endParaRPr sz="2400" dirty="0">
              <a:latin typeface="Century Gothic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9F26B4D-93AC-F5D8-DCCA-19E4E9FAD7DE}"/>
              </a:ext>
            </a:extLst>
          </p:cNvPr>
          <p:cNvSpPr txBox="1"/>
          <p:nvPr/>
        </p:nvSpPr>
        <p:spPr>
          <a:xfrm>
            <a:off x="1227199" y="4709354"/>
            <a:ext cx="5565775" cy="355600"/>
          </a:xfrm>
          <a:prstGeom prst="rect">
            <a:avLst/>
          </a:prstGeom>
          <a:solidFill>
            <a:srgbClr val="FAEED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85"/>
              </a:lnSpc>
            </a:pPr>
            <a:r>
              <a:rPr sz="2400" spc="-10" dirty="0">
                <a:latin typeface="Consolas"/>
                <a:cs typeface="Consolas"/>
              </a:rPr>
              <a:t>${OLCF_CUDA_ROOT}/{lib64,include}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28F43A2-6181-888A-C196-A1F48C1C7338}"/>
              </a:ext>
            </a:extLst>
          </p:cNvPr>
          <p:cNvSpPr txBox="1"/>
          <p:nvPr/>
        </p:nvSpPr>
        <p:spPr>
          <a:xfrm>
            <a:off x="526794" y="5150273"/>
            <a:ext cx="9967595" cy="96774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3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Older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modules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available,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but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not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recommended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for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use</a:t>
            </a:r>
            <a:endParaRPr sz="2800">
              <a:latin typeface="Century Gothic"/>
              <a:cs typeface="Century Gothic"/>
            </a:endParaRPr>
          </a:p>
          <a:p>
            <a:pPr marL="411480">
              <a:lnSpc>
                <a:spcPct val="100000"/>
              </a:lnSpc>
              <a:spcBef>
                <a:spcPts val="540"/>
              </a:spcBef>
              <a:tabLst>
                <a:tab pos="699770" algn="l"/>
              </a:tabLst>
            </a:pPr>
            <a:r>
              <a:rPr sz="2200" spc="-50" dirty="0">
                <a:latin typeface="Century Gothic"/>
                <a:cs typeface="Century Gothic"/>
              </a:rPr>
              <a:t>–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400" dirty="0">
                <a:latin typeface="Century Gothic"/>
                <a:cs typeface="Century Gothic"/>
              </a:rPr>
              <a:t>Recompile</a:t>
            </a:r>
            <a:r>
              <a:rPr sz="2400" spc="-3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against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latest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version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available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if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possible</a:t>
            </a:r>
            <a:endParaRPr sz="24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85017001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CUDA Multi-Process Service (MPS)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2541EF7-7AFB-ADD4-0029-B857224BDC86}"/>
              </a:ext>
            </a:extLst>
          </p:cNvPr>
          <p:cNvSpPr txBox="1"/>
          <p:nvPr/>
        </p:nvSpPr>
        <p:spPr>
          <a:xfrm>
            <a:off x="744739" y="1160435"/>
            <a:ext cx="10459085" cy="1277273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380"/>
              </a:spcBef>
            </a:pPr>
            <a:r>
              <a:rPr sz="2400" dirty="0">
                <a:latin typeface="Century Gothic"/>
                <a:cs typeface="Century Gothic"/>
              </a:rPr>
              <a:t>Allows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multiple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processes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(e.g.,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MPI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ranks)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concurrently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share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the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resources </a:t>
            </a:r>
            <a:r>
              <a:rPr sz="2400" dirty="0">
                <a:latin typeface="Century Gothic"/>
                <a:cs typeface="Century Gothic"/>
              </a:rPr>
              <a:t>on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single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spc="-20" dirty="0">
                <a:latin typeface="Century Gothic"/>
                <a:cs typeface="Century Gothic"/>
              </a:rPr>
              <a:t>GPU.</a:t>
            </a:r>
            <a:endParaRPr sz="2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865"/>
              </a:spcBef>
              <a:tabLst>
                <a:tab pos="3128645" algn="l"/>
              </a:tabLst>
            </a:pP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enable,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use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LSF</a:t>
            </a:r>
            <a:r>
              <a:rPr sz="2400" spc="-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flag:</a:t>
            </a:r>
            <a:r>
              <a:rPr sz="2400" dirty="0">
                <a:latin typeface="Century Gothic"/>
                <a:cs typeface="Century Gothic"/>
              </a:rPr>
              <a:t>	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–alloc_flags </a:t>
            </a:r>
            <a:r>
              <a:rPr sz="2400" spc="-10" dirty="0">
                <a:solidFill>
                  <a:srgbClr val="0070C0"/>
                </a:solidFill>
                <a:latin typeface="Consolas"/>
                <a:cs typeface="Consolas"/>
              </a:rPr>
              <a:t>“gpumps”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7BE5401B-E4F4-17B2-C0D7-3AD6EBA68B5E}"/>
              </a:ext>
            </a:extLst>
          </p:cNvPr>
          <p:cNvSpPr txBox="1"/>
          <p:nvPr/>
        </p:nvSpPr>
        <p:spPr>
          <a:xfrm>
            <a:off x="744739" y="5162458"/>
            <a:ext cx="10004425" cy="117429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45600"/>
              </a:lnSpc>
              <a:spcBef>
                <a:spcPts val="85"/>
              </a:spcBef>
            </a:pPr>
            <a:r>
              <a:rPr sz="1800" dirty="0">
                <a:latin typeface="Century Gothic"/>
                <a:cs typeface="Century Gothic"/>
              </a:rPr>
              <a:t>For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more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information,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see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the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OLCF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user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documentation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or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NVIDIA’s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more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comprehensive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document: </a:t>
            </a:r>
            <a:r>
              <a:rPr sz="1800" u="sng" spc="-10" dirty="0">
                <a:solidFill>
                  <a:srgbClr val="397D52"/>
                </a:solidFill>
                <a:uFill>
                  <a:solidFill>
                    <a:srgbClr val="397D52"/>
                  </a:solidFill>
                </a:uFill>
                <a:latin typeface="Century Gothic"/>
                <a:cs typeface="Century Gothic"/>
              </a:rPr>
              <a:t>https://docs.olcf.ornl.gov/systems/summit_user_guide.html#volta-multi-</a:t>
            </a:r>
            <a:r>
              <a:rPr sz="1800" u="sng" dirty="0">
                <a:solidFill>
                  <a:srgbClr val="397D52"/>
                </a:solidFill>
                <a:uFill>
                  <a:solidFill>
                    <a:srgbClr val="397D52"/>
                  </a:solidFill>
                </a:uFill>
                <a:latin typeface="Century Gothic"/>
                <a:cs typeface="Century Gothic"/>
              </a:rPr>
              <a:t>process-</a:t>
            </a:r>
            <a:r>
              <a:rPr sz="1800" u="sng" spc="-10" dirty="0">
                <a:solidFill>
                  <a:srgbClr val="397D52"/>
                </a:solidFill>
                <a:uFill>
                  <a:solidFill>
                    <a:srgbClr val="397D52"/>
                  </a:solidFill>
                </a:uFill>
                <a:latin typeface="Century Gothic"/>
                <a:cs typeface="Century Gothic"/>
              </a:rPr>
              <a:t>service</a:t>
            </a:r>
            <a:r>
              <a:rPr sz="1800" spc="-10" dirty="0">
                <a:solidFill>
                  <a:srgbClr val="397D52"/>
                </a:solidFill>
                <a:latin typeface="Century Gothic"/>
                <a:cs typeface="Century Gothic"/>
              </a:rPr>
              <a:t> </a:t>
            </a:r>
            <a:r>
              <a:rPr sz="1800" u="sng" spc="-10" dirty="0">
                <a:solidFill>
                  <a:srgbClr val="397D52"/>
                </a:solidFill>
                <a:uFill>
                  <a:solidFill>
                    <a:srgbClr val="397D52"/>
                  </a:solidFill>
                </a:uFill>
                <a:latin typeface="Century Gothic"/>
                <a:cs typeface="Century Gothic"/>
              </a:rPr>
              <a:t>https://docs.nvidia.com/deploy/pdf/CUDA_Multi_Process_Service_Overview.pdf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2D3DB46F-56C9-22C2-E100-F75F792E8097}"/>
              </a:ext>
            </a:extLst>
          </p:cNvPr>
          <p:cNvSpPr/>
          <p:nvPr/>
        </p:nvSpPr>
        <p:spPr>
          <a:xfrm>
            <a:off x="640161" y="2566764"/>
            <a:ext cx="9006326" cy="2308860"/>
          </a:xfrm>
          <a:custGeom>
            <a:avLst/>
            <a:gdLst/>
            <a:ahLst/>
            <a:cxnLst/>
            <a:rect l="l" t="t" r="r" b="b"/>
            <a:pathLst>
              <a:path w="7562215" h="2308860">
                <a:moveTo>
                  <a:pt x="7561941" y="0"/>
                </a:moveTo>
                <a:lnTo>
                  <a:pt x="0" y="0"/>
                </a:lnTo>
                <a:lnTo>
                  <a:pt x="0" y="2308322"/>
                </a:lnTo>
                <a:lnTo>
                  <a:pt x="7561941" y="2308322"/>
                </a:lnTo>
                <a:lnTo>
                  <a:pt x="7561941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34CB572-2DF3-8BCB-3C75-C110203211B6}"/>
              </a:ext>
            </a:extLst>
          </p:cNvPr>
          <p:cNvSpPr txBox="1"/>
          <p:nvPr/>
        </p:nvSpPr>
        <p:spPr>
          <a:xfrm>
            <a:off x="744739" y="2585882"/>
            <a:ext cx="8901748" cy="885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$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-n1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-c4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-g1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-a4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70C0"/>
                </a:solidFill>
                <a:latin typeface="Consolas"/>
                <a:cs typeface="Consolas"/>
              </a:rPr>
              <a:t>-bpacked:1</a:t>
            </a:r>
            <a:r>
              <a:rPr sz="14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70C0"/>
                </a:solidFill>
                <a:latin typeface="Consolas"/>
                <a:cs typeface="Consolas"/>
              </a:rPr>
              <a:t>./vector_add</a:t>
            </a:r>
            <a:endParaRPr sz="1400" dirty="0">
              <a:latin typeface="Consolas"/>
              <a:cs typeface="Consolas"/>
            </a:endParaRPr>
          </a:p>
          <a:p>
            <a:pPr marL="12700" marR="5080" algn="just">
              <a:lnSpc>
                <a:spcPct val="100800"/>
              </a:lnSpc>
              <a:spcBef>
                <a:spcPts val="60"/>
              </a:spcBef>
            </a:pPr>
            <a:r>
              <a:rPr sz="1400" dirty="0">
                <a:latin typeface="Consolas"/>
                <a:cs typeface="Consolas"/>
              </a:rPr>
              <a:t>CUDA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Error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-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vector_addition.cu:36: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'all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CUDA-</a:t>
            </a:r>
            <a:r>
              <a:rPr sz="1400" dirty="0">
                <a:latin typeface="Consolas"/>
                <a:cs typeface="Consolas"/>
              </a:rPr>
              <a:t>capable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devices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busy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or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unavailable' </a:t>
            </a:r>
            <a:r>
              <a:rPr sz="1400" dirty="0">
                <a:latin typeface="Consolas"/>
                <a:cs typeface="Consolas"/>
              </a:rPr>
              <a:t>CUDA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Error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-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vector_addition.cu:36: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'all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CUDA-</a:t>
            </a:r>
            <a:r>
              <a:rPr sz="1400" dirty="0">
                <a:latin typeface="Consolas"/>
                <a:cs typeface="Consolas"/>
              </a:rPr>
              <a:t>capable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devices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busy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or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unavailable' </a:t>
            </a:r>
            <a:r>
              <a:rPr sz="1400" dirty="0">
                <a:latin typeface="Consolas"/>
                <a:cs typeface="Consolas"/>
              </a:rPr>
              <a:t>CUDA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Error</a:t>
            </a:r>
            <a:r>
              <a:rPr sz="1400" spc="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-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vector_addition.cu:36: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'all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CUDA-</a:t>
            </a:r>
            <a:r>
              <a:rPr sz="1400" dirty="0">
                <a:latin typeface="Consolas"/>
                <a:cs typeface="Consolas"/>
              </a:rPr>
              <a:t>capable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devices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busy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or</a:t>
            </a:r>
            <a:r>
              <a:rPr sz="1400" spc="1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unavailable'</a:t>
            </a:r>
            <a:endParaRPr sz="1400" dirty="0">
              <a:latin typeface="Consolas"/>
              <a:cs typeface="Consolas"/>
            </a:endParaRPr>
          </a:p>
        </p:txBody>
      </p:sp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24C7E333-80C1-A844-F4CD-3EB974BAF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502940"/>
              </p:ext>
            </p:extLst>
          </p:nvPr>
        </p:nvGraphicFramePr>
        <p:xfrm>
          <a:off x="744738" y="3624826"/>
          <a:ext cx="2703733" cy="1104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  <a:tabLst>
                          <a:tab pos="167640" algn="l"/>
                          <a:tab pos="925194" algn="l"/>
                        </a:tabLst>
                      </a:pPr>
                      <a:r>
                        <a:rPr sz="12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Consolas"/>
                          <a:cs typeface="Consolas"/>
                        </a:rPr>
                        <a:t>SUCCESS</a:t>
                      </a:r>
                      <a:r>
                        <a:rPr sz="12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200" dirty="0">
                          <a:latin typeface="Consolas"/>
                          <a:cs typeface="Consolas"/>
                        </a:rPr>
                        <a:t>N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200" dirty="0">
                          <a:latin typeface="Consolas"/>
                          <a:cs typeface="Consolas"/>
                        </a:rPr>
                        <a:t>=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200" spc="-10" dirty="0">
                          <a:latin typeface="Consolas"/>
                          <a:cs typeface="Consolas"/>
                        </a:rPr>
                        <a:t>1048576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8001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ts val="1225"/>
                        </a:lnSpc>
                      </a:pPr>
                      <a:r>
                        <a:rPr sz="1200" dirty="0">
                          <a:latin typeface="Consolas"/>
                          <a:cs typeface="Consolas"/>
                        </a:rPr>
                        <a:t>Threads</a:t>
                      </a:r>
                      <a:r>
                        <a:rPr sz="1200" spc="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latin typeface="Consolas"/>
                          <a:cs typeface="Consolas"/>
                        </a:rPr>
                        <a:t>Per</a:t>
                      </a:r>
                      <a:r>
                        <a:rPr sz="1200" spc="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10" dirty="0">
                          <a:latin typeface="Consolas"/>
                          <a:cs typeface="Consolas"/>
                        </a:rPr>
                        <a:t>Block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dirty="0">
                          <a:latin typeface="Consolas"/>
                          <a:cs typeface="Consolas"/>
                        </a:rPr>
                        <a:t>=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225"/>
                        </a:lnSpc>
                      </a:pPr>
                      <a:r>
                        <a:rPr sz="1200" spc="-25" dirty="0">
                          <a:latin typeface="Consolas"/>
                          <a:cs typeface="Consolas"/>
                        </a:rPr>
                        <a:t>256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>
                        <a:lnSpc>
                          <a:spcPts val="1225"/>
                        </a:lnSpc>
                      </a:pPr>
                      <a:r>
                        <a:rPr sz="1200" dirty="0">
                          <a:latin typeface="Consolas"/>
                          <a:cs typeface="Consolas"/>
                        </a:rPr>
                        <a:t>Blocks</a:t>
                      </a:r>
                      <a:r>
                        <a:rPr sz="1200" spc="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latin typeface="Consolas"/>
                          <a:cs typeface="Consolas"/>
                        </a:rPr>
                        <a:t>In</a:t>
                      </a:r>
                      <a:r>
                        <a:rPr sz="1200" spc="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20" dirty="0">
                          <a:latin typeface="Consolas"/>
                          <a:cs typeface="Consolas"/>
                        </a:rPr>
                        <a:t>Grid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1200" dirty="0">
                          <a:latin typeface="Consolas"/>
                          <a:cs typeface="Consolas"/>
                        </a:rPr>
                        <a:t>=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225"/>
                        </a:lnSpc>
                      </a:pPr>
                      <a:r>
                        <a:rPr sz="1200" spc="-20" dirty="0">
                          <a:latin typeface="Consolas"/>
                          <a:cs typeface="Consolas"/>
                        </a:rPr>
                        <a:t>4096</a:t>
                      </a:r>
                      <a:endParaRPr sz="12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8">
            <a:extLst>
              <a:ext uri="{FF2B5EF4-FFF2-40B4-BE49-F238E27FC236}">
                <a16:creationId xmlns:a16="http://schemas.microsoft.com/office/drawing/2014/main" id="{7D6D85A5-EB45-945B-F402-3EBA2B51FF12}"/>
              </a:ext>
            </a:extLst>
          </p:cNvPr>
          <p:cNvSpPr txBox="1"/>
          <p:nvPr/>
        </p:nvSpPr>
        <p:spPr>
          <a:xfrm>
            <a:off x="10289232" y="2816271"/>
            <a:ext cx="2326204" cy="8085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305"/>
              </a:spcBef>
            </a:pPr>
            <a:r>
              <a:rPr sz="2000" dirty="0">
                <a:latin typeface="Century Gothic"/>
                <a:cs typeface="Century Gothic"/>
              </a:rPr>
              <a:t>Without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MPS,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you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might </a:t>
            </a:r>
            <a:r>
              <a:rPr sz="2000" dirty="0">
                <a:latin typeface="Century Gothic"/>
                <a:cs typeface="Century Gothic"/>
              </a:rPr>
              <a:t>see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errors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like </a:t>
            </a:r>
            <a:r>
              <a:rPr sz="2000" spc="-10" dirty="0">
                <a:latin typeface="Century Gothic"/>
                <a:cs typeface="Century Gothic"/>
              </a:rPr>
              <a:t>these</a:t>
            </a:r>
            <a:endParaRPr sz="2000" dirty="0">
              <a:latin typeface="Century Gothic"/>
              <a:cs typeface="Century Gothic"/>
            </a:endParaRPr>
          </a:p>
        </p:txBody>
      </p:sp>
      <p:pic>
        <p:nvPicPr>
          <p:cNvPr id="13" name="object 9">
            <a:extLst>
              <a:ext uri="{FF2B5EF4-FFF2-40B4-BE49-F238E27FC236}">
                <a16:creationId xmlns:a16="http://schemas.microsoft.com/office/drawing/2014/main" id="{7559E635-7CA0-6892-C1B4-39AE637F407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6487" y="3053930"/>
            <a:ext cx="579120" cy="39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10665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CUDA-Aware MPI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C151B6A-2ECA-20F3-7627-F3A306C2F3F6}"/>
              </a:ext>
            </a:extLst>
          </p:cNvPr>
          <p:cNvSpPr txBox="1"/>
          <p:nvPr/>
        </p:nvSpPr>
        <p:spPr>
          <a:xfrm>
            <a:off x="744738" y="1073403"/>
            <a:ext cx="11632725" cy="179061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900"/>
              </a:lnSpc>
              <a:spcBef>
                <a:spcPts val="340"/>
              </a:spcBef>
            </a:pPr>
            <a:r>
              <a:rPr sz="2400" dirty="0">
                <a:latin typeface="Century Gothic"/>
                <a:cs typeface="Century Gothic"/>
              </a:rPr>
              <a:t>Allows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GPU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buffers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(e.g.,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memory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allocated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with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cudaMalloc</a:t>
            </a:r>
            <a:r>
              <a:rPr sz="2400" dirty="0">
                <a:latin typeface="Century Gothic"/>
                <a:cs typeface="Century Gothic"/>
              </a:rPr>
              <a:t>)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spc="-20" dirty="0">
                <a:latin typeface="Century Gothic"/>
                <a:cs typeface="Century Gothic"/>
              </a:rPr>
              <a:t>used </a:t>
            </a:r>
            <a:r>
              <a:rPr sz="2400" dirty="0">
                <a:latin typeface="Century Gothic"/>
                <a:cs typeface="Century Gothic"/>
              </a:rPr>
              <a:t>directly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in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MPI</a:t>
            </a:r>
            <a:r>
              <a:rPr sz="2400" spc="-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calls,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rather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than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needing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manually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transfer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data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to/from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spc="-50" dirty="0">
                <a:latin typeface="Century Gothic"/>
                <a:cs typeface="Century Gothic"/>
              </a:rPr>
              <a:t>a </a:t>
            </a:r>
            <a:r>
              <a:rPr sz="2400" dirty="0">
                <a:latin typeface="Century Gothic"/>
                <a:cs typeface="Century Gothic"/>
              </a:rPr>
              <a:t>CPU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buffer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(e.g.,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using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cudaMemcpy</a:t>
            </a:r>
            <a:r>
              <a:rPr sz="2400" dirty="0">
                <a:latin typeface="Century Gothic"/>
                <a:cs typeface="Century Gothic"/>
              </a:rPr>
              <a:t>)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before/after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passing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data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in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MPI</a:t>
            </a:r>
            <a:r>
              <a:rPr sz="2400" spc="-10" dirty="0">
                <a:latin typeface="Century Gothic"/>
                <a:cs typeface="Century Gothic"/>
              </a:rPr>
              <a:t> calls.</a:t>
            </a:r>
            <a:endParaRPr sz="24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tabLst>
                <a:tab pos="3458845" algn="l"/>
              </a:tabLst>
            </a:pP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enable,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use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jsrun</a:t>
            </a:r>
            <a:r>
              <a:rPr sz="2400" spc="-5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flag:</a:t>
            </a:r>
            <a:r>
              <a:rPr sz="2400" dirty="0">
                <a:latin typeface="Century Gothic"/>
                <a:cs typeface="Century Gothic"/>
              </a:rPr>
              <a:t>	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--smpiargs=“-</a:t>
            </a:r>
            <a:r>
              <a:rPr sz="2400" spc="-20" dirty="0">
                <a:solidFill>
                  <a:srgbClr val="0070C0"/>
                </a:solidFill>
                <a:latin typeface="Consolas"/>
                <a:cs typeface="Consolas"/>
              </a:rPr>
              <a:t>gpu”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431EAE6-AD8F-6573-CEEA-782BA307A7A6}"/>
              </a:ext>
            </a:extLst>
          </p:cNvPr>
          <p:cNvSpPr txBox="1"/>
          <p:nvPr/>
        </p:nvSpPr>
        <p:spPr>
          <a:xfrm>
            <a:off x="2964873" y="3132626"/>
            <a:ext cx="9412590" cy="242822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1800" spc="-10" dirty="0">
                <a:latin typeface="Century Gothic"/>
                <a:cs typeface="Century Gothic"/>
              </a:rPr>
              <a:t>CUDA-</a:t>
            </a:r>
            <a:r>
              <a:rPr sz="1800" dirty="0">
                <a:latin typeface="Century Gothic"/>
                <a:cs typeface="Century Gothic"/>
              </a:rPr>
              <a:t>Aware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MPI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is separate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from </a:t>
            </a:r>
            <a:r>
              <a:rPr sz="1800" spc="-10" dirty="0">
                <a:latin typeface="Century Gothic"/>
                <a:cs typeface="Century Gothic"/>
              </a:rPr>
              <a:t>GPUDirect!</a:t>
            </a:r>
            <a:endParaRPr sz="1800" dirty="0">
              <a:latin typeface="Century Gothic"/>
              <a:cs typeface="Century Gothic"/>
            </a:endParaRPr>
          </a:p>
          <a:p>
            <a:pPr marL="90805" marR="683895">
              <a:lnSpc>
                <a:spcPts val="1800"/>
              </a:lnSpc>
              <a:spcBef>
                <a:spcPts val="1650"/>
              </a:spcBef>
            </a:pPr>
            <a:r>
              <a:rPr sz="1800" dirty="0">
                <a:latin typeface="Century Gothic"/>
                <a:cs typeface="Century Gothic"/>
              </a:rPr>
              <a:t>By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itself,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CUDA-Aware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MPI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does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not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specify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whether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data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staged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through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CPU </a:t>
            </a:r>
            <a:r>
              <a:rPr sz="1800" dirty="0">
                <a:latin typeface="Century Gothic"/>
                <a:cs typeface="Century Gothic"/>
              </a:rPr>
              <a:t>memory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or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transferred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directly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between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GPUs.</a:t>
            </a:r>
            <a:endParaRPr sz="1800" dirty="0">
              <a:latin typeface="Century Gothic"/>
              <a:cs typeface="Century Gothic"/>
            </a:endParaRPr>
          </a:p>
          <a:p>
            <a:pPr marL="90805" marR="149225">
              <a:lnSpc>
                <a:spcPct val="90000"/>
              </a:lnSpc>
              <a:spcBef>
                <a:spcPts val="1614"/>
              </a:spcBef>
            </a:pPr>
            <a:r>
              <a:rPr sz="1800" dirty="0">
                <a:latin typeface="Century Gothic"/>
                <a:cs typeface="Century Gothic"/>
              </a:rPr>
              <a:t>GPUDirect</a:t>
            </a:r>
            <a:r>
              <a:rPr sz="1800" spc="-3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technology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that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can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implemented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on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system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to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enhance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CUDA- </a:t>
            </a:r>
            <a:r>
              <a:rPr sz="1800" dirty="0">
                <a:latin typeface="Century Gothic"/>
                <a:cs typeface="Century Gothic"/>
              </a:rPr>
              <a:t>Aware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MPI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by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allowing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data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transfers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directly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between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GPUs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on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the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same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20" dirty="0">
                <a:latin typeface="Century Gothic"/>
                <a:cs typeface="Century Gothic"/>
              </a:rPr>
              <a:t>node </a:t>
            </a:r>
            <a:r>
              <a:rPr sz="1800" spc="-10" dirty="0">
                <a:latin typeface="Century Gothic"/>
                <a:cs typeface="Century Gothic"/>
              </a:rPr>
              <a:t>(peer-</a:t>
            </a:r>
            <a:r>
              <a:rPr sz="1800" dirty="0">
                <a:latin typeface="Century Gothic"/>
                <a:cs typeface="Century Gothic"/>
              </a:rPr>
              <a:t>to-peer)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and/or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directly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between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GPUs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on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different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nodes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(with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RDMA</a:t>
            </a:r>
            <a:r>
              <a:rPr sz="1800" spc="-10" dirty="0">
                <a:latin typeface="Century Gothic"/>
                <a:cs typeface="Century Gothic"/>
              </a:rPr>
              <a:t> support) </a:t>
            </a:r>
            <a:r>
              <a:rPr sz="1800" dirty="0">
                <a:latin typeface="Century Gothic"/>
                <a:cs typeface="Century Gothic"/>
              </a:rPr>
              <a:t>without</a:t>
            </a:r>
            <a:r>
              <a:rPr sz="1800" spc="-4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the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need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to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stage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data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through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CPU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memory.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Both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are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implemented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on </a:t>
            </a:r>
            <a:r>
              <a:rPr sz="1800" dirty="0">
                <a:latin typeface="Century Gothic"/>
                <a:cs typeface="Century Gothic"/>
              </a:rPr>
              <a:t>Summit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but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must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be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enabled.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69DF4AD-79E7-7234-7F54-92CBE69EC346}"/>
              </a:ext>
            </a:extLst>
          </p:cNvPr>
          <p:cNvSpPr txBox="1"/>
          <p:nvPr/>
        </p:nvSpPr>
        <p:spPr>
          <a:xfrm>
            <a:off x="744739" y="3138932"/>
            <a:ext cx="1983653" cy="751487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459"/>
              </a:spcBef>
            </a:pPr>
            <a:r>
              <a:rPr sz="2000" b="1" dirty="0">
                <a:latin typeface="Century Gothic"/>
                <a:cs typeface="Century Gothic"/>
              </a:rPr>
              <a:t>COMMON</a:t>
            </a:r>
            <a:r>
              <a:rPr sz="2000" b="1" spc="5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POINT </a:t>
            </a:r>
            <a:r>
              <a:rPr sz="2000" b="1" dirty="0">
                <a:latin typeface="Century Gothic"/>
                <a:cs typeface="Century Gothic"/>
              </a:rPr>
              <a:t>OF</a:t>
            </a:r>
            <a:r>
              <a:rPr sz="2000" b="1" spc="-10" dirty="0">
                <a:latin typeface="Century Gothic"/>
                <a:cs typeface="Century Gothic"/>
              </a:rPr>
              <a:t> CONFUSION: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E3A9E5B-5ED2-5A0A-1607-224BD70A9C67}"/>
              </a:ext>
            </a:extLst>
          </p:cNvPr>
          <p:cNvSpPr txBox="1"/>
          <p:nvPr/>
        </p:nvSpPr>
        <p:spPr>
          <a:xfrm>
            <a:off x="744739" y="5870955"/>
            <a:ext cx="91097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entury Gothic"/>
                <a:cs typeface="Century Gothic"/>
              </a:rPr>
              <a:t>A</a:t>
            </a:r>
            <a:r>
              <a:rPr sz="1600" spc="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simple</a:t>
            </a:r>
            <a:r>
              <a:rPr sz="1600" spc="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tutorial</a:t>
            </a:r>
            <a:r>
              <a:rPr sz="1600" spc="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on</a:t>
            </a:r>
            <a:r>
              <a:rPr sz="1600" spc="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using</a:t>
            </a:r>
            <a:r>
              <a:rPr sz="1600" spc="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CUDA-Aware</a:t>
            </a:r>
            <a:r>
              <a:rPr sz="1600" spc="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MPI:</a:t>
            </a:r>
            <a:r>
              <a:rPr sz="1600" spc="5" dirty="0">
                <a:latin typeface="Century Gothic"/>
                <a:cs typeface="Century Gothic"/>
              </a:rPr>
              <a:t> </a:t>
            </a:r>
            <a:r>
              <a:rPr sz="1600" u="sng" spc="-10" dirty="0">
                <a:solidFill>
                  <a:srgbClr val="397D52"/>
                </a:solidFill>
                <a:uFill>
                  <a:solidFill>
                    <a:srgbClr val="397D52"/>
                  </a:solidFill>
                </a:uFill>
                <a:latin typeface="Century Gothic"/>
                <a:cs typeface="Century Gothic"/>
              </a:rPr>
              <a:t>https://github.com/olcf-tutorials/MPI_ping_pong</a:t>
            </a:r>
            <a:endParaRPr sz="16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710344815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86049241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Summit Storage Options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49C159F-0837-AC2D-CDEF-D9FB3FC7CF89}"/>
              </a:ext>
            </a:extLst>
          </p:cNvPr>
          <p:cNvSpPr txBox="1"/>
          <p:nvPr/>
        </p:nvSpPr>
        <p:spPr>
          <a:xfrm>
            <a:off x="208112" y="1368202"/>
            <a:ext cx="12385376" cy="49353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Parallel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File </a:t>
            </a:r>
            <a:r>
              <a:rPr sz="3200" spc="-10" dirty="0">
                <a:latin typeface="Century Gothic"/>
                <a:cs typeface="Century Gothic"/>
              </a:rPr>
              <a:t>System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2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spc="-10" dirty="0">
                <a:latin typeface="Century Gothic"/>
                <a:cs typeface="Century Gothic"/>
              </a:rPr>
              <a:t>Spider-</a:t>
            </a:r>
            <a:r>
              <a:rPr sz="2800" dirty="0">
                <a:latin typeface="Century Gothic"/>
                <a:cs typeface="Century Gothic"/>
              </a:rPr>
              <a:t>3</a:t>
            </a:r>
            <a:r>
              <a:rPr sz="2800" spc="4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center-</a:t>
            </a:r>
            <a:r>
              <a:rPr sz="2800" dirty="0">
                <a:latin typeface="Century Gothic"/>
                <a:cs typeface="Century Gothic"/>
              </a:rPr>
              <a:t>wide</a:t>
            </a:r>
            <a:r>
              <a:rPr sz="2800" spc="6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GPFS</a:t>
            </a:r>
            <a:endParaRPr sz="2800" dirty="0">
              <a:latin typeface="Century Gothic"/>
              <a:cs typeface="Century Gothic"/>
            </a:endParaRPr>
          </a:p>
          <a:p>
            <a:pPr marL="411480">
              <a:lnSpc>
                <a:spcPct val="100000"/>
              </a:lnSpc>
              <a:spcBef>
                <a:spcPts val="530"/>
              </a:spcBef>
              <a:tabLst>
                <a:tab pos="699770" algn="l"/>
              </a:tabLst>
            </a:pPr>
            <a:r>
              <a:rPr sz="2400" spc="-50" dirty="0">
                <a:latin typeface="Century Gothic"/>
                <a:cs typeface="Century Gothic"/>
              </a:rPr>
              <a:t>–</a:t>
            </a:r>
            <a:r>
              <a:rPr sz="2400" dirty="0">
                <a:latin typeface="Century Gothic"/>
                <a:cs typeface="Century Gothic"/>
              </a:rPr>
              <a:t>	</a:t>
            </a:r>
            <a:r>
              <a:rPr sz="2800" dirty="0">
                <a:latin typeface="Century Gothic"/>
                <a:cs typeface="Century Gothic"/>
              </a:rPr>
              <a:t>250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PB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@ 2.5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TB/s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2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~540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MB/s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write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performance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per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node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when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all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nodes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are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writing</a:t>
            </a:r>
            <a:endParaRPr sz="2800" dirty="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Century Gothic"/>
              <a:buChar char="–"/>
            </a:pPr>
            <a:endParaRPr sz="40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Burst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Buffer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4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4,608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nodes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with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NVMe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SSDs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(Samsung</a:t>
            </a:r>
            <a:r>
              <a:rPr sz="2800" spc="-10" dirty="0">
                <a:latin typeface="Century Gothic"/>
                <a:cs typeface="Century Gothic"/>
              </a:rPr>
              <a:t> PM1725a)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7.3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PB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Total</a:t>
            </a:r>
            <a:endParaRPr sz="2800" dirty="0">
              <a:latin typeface="Century Gothic"/>
              <a:cs typeface="Century Gothic"/>
            </a:endParaRPr>
          </a:p>
          <a:p>
            <a:pPr marL="700405" marR="5080" lvl="1" indent="-288925">
              <a:lnSpc>
                <a:spcPts val="2620"/>
              </a:lnSpc>
              <a:spcBef>
                <a:spcPts val="80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9.67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TB/s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aggregate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write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27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TB/s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aggregate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read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performance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when </a:t>
            </a:r>
            <a:r>
              <a:rPr sz="2800" dirty="0">
                <a:latin typeface="Century Gothic"/>
                <a:cs typeface="Century Gothic"/>
              </a:rPr>
              <a:t>using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all</a:t>
            </a:r>
            <a:r>
              <a:rPr sz="2800" spc="-20" dirty="0">
                <a:latin typeface="Century Gothic"/>
                <a:cs typeface="Century Gothic"/>
              </a:rPr>
              <a:t> nodes</a:t>
            </a:r>
            <a:endParaRPr sz="28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49974248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What’s a Burst Buffer?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3915291-A002-6234-4949-540F06905E4F}"/>
              </a:ext>
            </a:extLst>
          </p:cNvPr>
          <p:cNvSpPr txBox="1"/>
          <p:nvPr/>
        </p:nvSpPr>
        <p:spPr>
          <a:xfrm>
            <a:off x="352128" y="1152178"/>
            <a:ext cx="12274806" cy="5406608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01625" marR="1180465" indent="-288925">
              <a:spcBef>
                <a:spcPts val="500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Originally: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combination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of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software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and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hardware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to </a:t>
            </a:r>
            <a:r>
              <a:rPr sz="3200" dirty="0">
                <a:latin typeface="Century Gothic"/>
                <a:cs typeface="Century Gothic"/>
              </a:rPr>
              <a:t>accelerate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phased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periodic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25" dirty="0">
                <a:latin typeface="Century Gothic"/>
                <a:cs typeface="Century Gothic"/>
              </a:rPr>
              <a:t>I/O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spcBef>
                <a:spcPts val="48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E.g.</a:t>
            </a:r>
            <a:r>
              <a:rPr sz="2800" spc="-6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Applications</a:t>
            </a:r>
            <a:r>
              <a:rPr sz="2800" spc="-4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checkpointing</a:t>
            </a:r>
            <a:r>
              <a:rPr sz="2800" spc="-50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hourly</a:t>
            </a:r>
            <a:endParaRPr sz="2800" dirty="0">
              <a:latin typeface="Century Gothic"/>
              <a:cs typeface="Century Gothic"/>
            </a:endParaRPr>
          </a:p>
          <a:p>
            <a:pPr marL="301625" indent="-288925">
              <a:spcBef>
                <a:spcPts val="142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Why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it </a:t>
            </a:r>
            <a:r>
              <a:rPr sz="3200" spc="-10" dirty="0">
                <a:latin typeface="Century Gothic"/>
                <a:cs typeface="Century Gothic"/>
              </a:rPr>
              <a:t>helps</a:t>
            </a:r>
            <a:endParaRPr sz="3200" dirty="0">
              <a:latin typeface="Century Gothic"/>
              <a:cs typeface="Century Gothic"/>
            </a:endParaRPr>
          </a:p>
          <a:p>
            <a:pPr marL="700405" marR="5080" lvl="1" indent="-288925">
              <a:spcBef>
                <a:spcPts val="869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The</a:t>
            </a:r>
            <a:r>
              <a:rPr sz="2800" spc="-2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aggregate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Summit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NVMe’s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have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~4X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more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write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bandwidth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than </a:t>
            </a:r>
            <a:r>
              <a:rPr sz="2800" dirty="0">
                <a:latin typeface="Century Gothic"/>
                <a:cs typeface="Century Gothic"/>
              </a:rPr>
              <a:t>the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PFS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and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larger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factor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more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meta-</a:t>
            </a:r>
            <a:r>
              <a:rPr sz="2800" dirty="0">
                <a:latin typeface="Century Gothic"/>
                <a:cs typeface="Century Gothic"/>
              </a:rPr>
              <a:t>data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create</a:t>
            </a:r>
            <a:r>
              <a:rPr sz="2800" spc="-10" dirty="0">
                <a:latin typeface="Century Gothic"/>
                <a:cs typeface="Century Gothic"/>
              </a:rPr>
              <a:t> performance.</a:t>
            </a:r>
            <a:endParaRPr sz="2800" dirty="0">
              <a:latin typeface="Century Gothic"/>
              <a:cs typeface="Century Gothic"/>
            </a:endParaRPr>
          </a:p>
          <a:p>
            <a:pPr marL="700405" marR="757555" lvl="1" indent="-288925">
              <a:spcBef>
                <a:spcPts val="819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Goal:</a:t>
            </a:r>
            <a:r>
              <a:rPr sz="2800" spc="-3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shrinking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5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minute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hourly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I/O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phase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for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24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hour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job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to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spc="-50" dirty="0">
                <a:latin typeface="Century Gothic"/>
                <a:cs typeface="Century Gothic"/>
              </a:rPr>
              <a:t>2 </a:t>
            </a:r>
            <a:r>
              <a:rPr sz="2800" spc="-10" dirty="0">
                <a:latin typeface="Century Gothic"/>
                <a:cs typeface="Century Gothic"/>
              </a:rPr>
              <a:t>minutes</a:t>
            </a:r>
            <a:endParaRPr sz="2800" dirty="0">
              <a:latin typeface="Century Gothic"/>
              <a:cs typeface="Century Gothic"/>
            </a:endParaRPr>
          </a:p>
          <a:p>
            <a:pPr marL="1044575" lvl="2" indent="-289560">
              <a:spcBef>
                <a:spcPts val="484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sz="2400" dirty="0">
                <a:latin typeface="Century Gothic"/>
                <a:cs typeface="Century Gothic"/>
              </a:rPr>
              <a:t>Reduces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I/O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from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8%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of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application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runtime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to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spc="-25" dirty="0">
                <a:latin typeface="Century Gothic"/>
                <a:cs typeface="Century Gothic"/>
              </a:rPr>
              <a:t>3%</a:t>
            </a:r>
            <a:endParaRPr sz="2400" dirty="0">
              <a:latin typeface="Century Gothic"/>
              <a:cs typeface="Century Gothic"/>
            </a:endParaRPr>
          </a:p>
          <a:p>
            <a:pPr marL="983615">
              <a:spcBef>
                <a:spcPts val="605"/>
              </a:spcBef>
            </a:pPr>
            <a:r>
              <a:rPr sz="2000" dirty="0">
                <a:latin typeface="Arial"/>
                <a:cs typeface="Arial"/>
              </a:rPr>
              <a:t>–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dirty="0">
                <a:latin typeface="Century Gothic"/>
                <a:cs typeface="Century Gothic"/>
              </a:rPr>
              <a:t>In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early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testing the </a:t>
            </a:r>
            <a:r>
              <a:rPr sz="2000" spc="-10" dirty="0">
                <a:latin typeface="Century Gothic"/>
                <a:cs typeface="Century Gothic"/>
              </a:rPr>
              <a:t>meta-</a:t>
            </a:r>
            <a:r>
              <a:rPr sz="2000" dirty="0">
                <a:latin typeface="Century Gothic"/>
                <a:cs typeface="Century Gothic"/>
              </a:rPr>
              <a:t>data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performance improvement is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even </a:t>
            </a:r>
            <a:r>
              <a:rPr sz="2000" spc="-10" dirty="0">
                <a:latin typeface="Century Gothic"/>
                <a:cs typeface="Century Gothic"/>
              </a:rPr>
              <a:t>greater</a:t>
            </a:r>
            <a:endParaRPr sz="20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621548161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Other </a:t>
            </a:r>
            <a:r>
              <a:rPr lang="en-US" altLang="zh-CN" dirty="0" err="1">
                <a:latin typeface="Comic Sans MS" panose="030F0702030302020204" pitchFamily="66" charset="0"/>
                <a:cs typeface="+mn-cs"/>
              </a:rPr>
              <a:t>NVMe</a:t>
            </a:r>
            <a:r>
              <a:rPr lang="en-US" altLang="zh-CN" dirty="0">
                <a:latin typeface="Comic Sans MS" panose="030F0702030302020204" pitchFamily="66" charset="0"/>
                <a:cs typeface="+mn-cs"/>
              </a:rPr>
              <a:t> Uses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B945857-E991-1856-55A7-FEE28E5C3341}"/>
              </a:ext>
            </a:extLst>
          </p:cNvPr>
          <p:cNvSpPr txBox="1"/>
          <p:nvPr/>
        </p:nvSpPr>
        <p:spPr>
          <a:xfrm>
            <a:off x="496144" y="1224186"/>
            <a:ext cx="12210710" cy="5181547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Machine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Learning</a:t>
            </a:r>
            <a:r>
              <a:rPr sz="3200" spc="-10" dirty="0">
                <a:latin typeface="Century Gothic"/>
                <a:cs typeface="Century Gothic"/>
              </a:rPr>
              <a:t> Training: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2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Each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PM1725A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offers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1million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4K</a:t>
            </a:r>
            <a:r>
              <a:rPr sz="2800" spc="-2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reads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per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second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1.6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TB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for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datasets</a:t>
            </a:r>
            <a:endParaRPr sz="2800" dirty="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buFont typeface="Century Gothic"/>
              <a:buChar char="–"/>
            </a:pPr>
            <a:endParaRPr sz="3200" dirty="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Century Gothic"/>
              <a:buChar char="–"/>
            </a:pPr>
            <a:endParaRPr sz="24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Scratch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space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for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temporary</a:t>
            </a:r>
            <a:r>
              <a:rPr sz="3200" spc="-10" dirty="0">
                <a:latin typeface="Century Gothic"/>
                <a:cs typeface="Century Gothic"/>
              </a:rPr>
              <a:t> files</a:t>
            </a:r>
            <a:endParaRPr sz="32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buFont typeface="Century Gothic"/>
              <a:buChar char="•"/>
            </a:pPr>
            <a:endParaRPr sz="36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2170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Extended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memory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via</a:t>
            </a:r>
            <a:r>
              <a:rPr sz="3200" spc="-10" dirty="0">
                <a:latin typeface="Century Gothic"/>
                <a:cs typeface="Century Gothic"/>
              </a:rPr>
              <a:t> </a:t>
            </a:r>
            <a:r>
              <a:rPr sz="3200" spc="-20" dirty="0">
                <a:latin typeface="Century Gothic"/>
                <a:cs typeface="Century Gothic"/>
              </a:rPr>
              <a:t>mmap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4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Storage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to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reduce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memory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pressure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for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infrequently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accessed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20" dirty="0">
                <a:latin typeface="Century Gothic"/>
                <a:cs typeface="Century Gothic"/>
              </a:rPr>
              <a:t>data</a:t>
            </a:r>
            <a:endParaRPr sz="28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29329154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latin typeface="Comic Sans MS" panose="030F0702030302020204" pitchFamily="66" charset="0"/>
                <a:cs typeface="+mn-cs"/>
              </a:rPr>
              <a:t>When to use the Burst Buffers (Node Scale)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9312A89-8E90-BC97-3D55-2EA1B34D62BE}"/>
              </a:ext>
            </a:extLst>
          </p:cNvPr>
          <p:cNvSpPr txBox="1"/>
          <p:nvPr/>
        </p:nvSpPr>
        <p:spPr>
          <a:xfrm>
            <a:off x="577014" y="1528361"/>
            <a:ext cx="7190105" cy="4849404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35"/>
              </a:spcBef>
              <a:buSzPct val="89285"/>
              <a:buChar char="•"/>
              <a:tabLst>
                <a:tab pos="301625" algn="l"/>
              </a:tabLst>
            </a:pPr>
            <a:r>
              <a:rPr sz="2800" dirty="0">
                <a:latin typeface="Century Gothic"/>
                <a:cs typeface="Century Gothic"/>
              </a:rPr>
              <a:t>Alpine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GPFS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Performance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4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400" dirty="0">
                <a:latin typeface="Century Gothic"/>
                <a:cs typeface="Century Gothic"/>
              </a:rPr>
              <a:t>Per</a:t>
            </a:r>
            <a:r>
              <a:rPr sz="2400" spc="-2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node</a:t>
            </a:r>
            <a:r>
              <a:rPr sz="2400" spc="-10" dirty="0">
                <a:latin typeface="Century Gothic"/>
                <a:cs typeface="Century Gothic"/>
              </a:rPr>
              <a:t> 12-</a:t>
            </a:r>
            <a:r>
              <a:rPr sz="2400" dirty="0">
                <a:latin typeface="Century Gothic"/>
                <a:cs typeface="Century Gothic"/>
              </a:rPr>
              <a:t>14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GB/s (Without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core</a:t>
            </a:r>
            <a:r>
              <a:rPr sz="2400" spc="-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isolation)</a:t>
            </a:r>
            <a:endParaRPr sz="24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400" dirty="0">
                <a:latin typeface="Century Gothic"/>
                <a:cs typeface="Century Gothic"/>
              </a:rPr>
              <a:t>Aggregate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2.5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spc="-20" dirty="0">
                <a:latin typeface="Century Gothic"/>
                <a:cs typeface="Century Gothic"/>
              </a:rPr>
              <a:t>TB/s</a:t>
            </a:r>
            <a:endParaRPr sz="2400" dirty="0">
              <a:latin typeface="Century Gothic"/>
              <a:cs typeface="Century Gothic"/>
            </a:endParaRPr>
          </a:p>
          <a:p>
            <a:pPr marL="1044575" lvl="2" indent="-289560">
              <a:lnSpc>
                <a:spcPct val="100000"/>
              </a:lnSpc>
              <a:spcBef>
                <a:spcPts val="520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sz="2000" dirty="0">
                <a:latin typeface="Century Gothic"/>
                <a:cs typeface="Century Gothic"/>
              </a:rPr>
              <a:t>Full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system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job</a:t>
            </a:r>
            <a:r>
              <a:rPr sz="2000" spc="-1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will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achieve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550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MB/s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per</a:t>
            </a:r>
            <a:r>
              <a:rPr sz="2000" spc="-1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node</a:t>
            </a:r>
            <a:endParaRPr lang="en-US" sz="2000" spc="-2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735"/>
              </a:spcBef>
              <a:buSzPct val="89285"/>
              <a:buChar char="•"/>
              <a:tabLst>
                <a:tab pos="301625" algn="l"/>
              </a:tabLst>
            </a:pPr>
            <a:r>
              <a:rPr lang="en-US" altLang="zh-CN" sz="2800" dirty="0">
                <a:latin typeface="Century Gothic"/>
                <a:cs typeface="Century Gothic"/>
              </a:rPr>
              <a:t>Node Local NVME</a:t>
            </a:r>
          </a:p>
          <a:p>
            <a:pPr marL="700405" lvl="1" indent="-288925">
              <a:lnSpc>
                <a:spcPct val="100000"/>
              </a:lnSpc>
              <a:spcBef>
                <a:spcPts val="54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lang="en-US" altLang="zh-CN" sz="2400" dirty="0">
                <a:latin typeface="Century Gothic"/>
                <a:cs typeface="Century Gothic"/>
              </a:rPr>
              <a:t>Scales linearly with Job Size</a:t>
            </a:r>
          </a:p>
          <a:p>
            <a:pPr marL="700405" lvl="1" indent="-288925">
              <a:lnSpc>
                <a:spcPct val="100000"/>
              </a:lnSpc>
              <a:spcBef>
                <a:spcPts val="5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lang="en-US" altLang="zh-CN" sz="2400" dirty="0">
                <a:latin typeface="Century Gothic"/>
                <a:cs typeface="Century Gothic"/>
              </a:rPr>
              <a:t>Samsung PM1725A</a:t>
            </a:r>
          </a:p>
          <a:p>
            <a:pPr marL="1044575" lvl="2" indent="-289560">
              <a:lnSpc>
                <a:spcPct val="100000"/>
              </a:lnSpc>
              <a:spcBef>
                <a:spcPts val="520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lang="en-US" altLang="zh-CN" sz="2000" dirty="0">
                <a:latin typeface="Century Gothic"/>
                <a:cs typeface="Century Gothic"/>
              </a:rPr>
              <a:t>Write 2.1 GB/s</a:t>
            </a:r>
          </a:p>
          <a:p>
            <a:pPr marL="1044575" lvl="2" indent="-289560">
              <a:lnSpc>
                <a:spcPct val="100000"/>
              </a:lnSpc>
              <a:spcBef>
                <a:spcPts val="520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lang="en-US" altLang="zh-CN" sz="2000" dirty="0">
                <a:latin typeface="Century Gothic"/>
                <a:cs typeface="Century Gothic"/>
              </a:rPr>
              <a:t>Read 5.5 GB/s</a:t>
            </a:r>
          </a:p>
          <a:p>
            <a:pPr marL="301625" indent="-288925">
              <a:lnSpc>
                <a:spcPct val="100000"/>
              </a:lnSpc>
              <a:spcBef>
                <a:spcPts val="735"/>
              </a:spcBef>
              <a:buSzPct val="89285"/>
              <a:buChar char="•"/>
              <a:tabLst>
                <a:tab pos="301625" algn="l"/>
              </a:tabLst>
            </a:pPr>
            <a:r>
              <a:rPr lang="en-US" altLang="zh-CN" sz="2800" dirty="0">
                <a:latin typeface="Century Gothic"/>
                <a:cs typeface="Century Gothic"/>
              </a:rPr>
              <a:t>Realistically benefit is realized</a:t>
            </a:r>
          </a:p>
          <a:p>
            <a:pPr marL="700405" lvl="1" indent="-288925">
              <a:lnSpc>
                <a:spcPct val="100000"/>
              </a:lnSpc>
              <a:spcBef>
                <a:spcPts val="54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lang="en-US" altLang="zh-CN" sz="2400" dirty="0">
                <a:latin typeface="Century Gothic"/>
                <a:cs typeface="Century Gothic"/>
              </a:rPr>
              <a:t>150 Nodes</a:t>
            </a: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C50AFAB2-6AF2-7513-0417-9EA718F9CFFE}"/>
              </a:ext>
            </a:extLst>
          </p:cNvPr>
          <p:cNvGrpSpPr/>
          <p:nvPr/>
        </p:nvGrpSpPr>
        <p:grpSpPr>
          <a:xfrm>
            <a:off x="6994464" y="4323985"/>
            <a:ext cx="5118100" cy="1148080"/>
            <a:chOff x="6336791" y="4129087"/>
            <a:chExt cx="5118100" cy="114808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0CCFBA6-E3BC-8924-E815-FE073150D6B5}"/>
                </a:ext>
              </a:extLst>
            </p:cNvPr>
            <p:cNvSpPr/>
            <p:nvPr/>
          </p:nvSpPr>
          <p:spPr>
            <a:xfrm>
              <a:off x="6343649" y="4133849"/>
              <a:ext cx="5105400" cy="977900"/>
            </a:xfrm>
            <a:custGeom>
              <a:avLst/>
              <a:gdLst/>
              <a:ahLst/>
              <a:cxnLst/>
              <a:rect l="l" t="t" r="r" b="b"/>
              <a:pathLst>
                <a:path w="5105400" h="977900">
                  <a:moveTo>
                    <a:pt x="0" y="977900"/>
                  </a:moveTo>
                  <a:lnTo>
                    <a:pt x="5105400" y="977900"/>
                  </a:lnTo>
                </a:path>
                <a:path w="5105400" h="977900">
                  <a:moveTo>
                    <a:pt x="0" y="812800"/>
                  </a:moveTo>
                  <a:lnTo>
                    <a:pt x="5105400" y="812800"/>
                  </a:lnTo>
                </a:path>
                <a:path w="5105400" h="977900">
                  <a:moveTo>
                    <a:pt x="0" y="647700"/>
                  </a:moveTo>
                  <a:lnTo>
                    <a:pt x="5105400" y="647700"/>
                  </a:lnTo>
                </a:path>
                <a:path w="5105400" h="977900">
                  <a:moveTo>
                    <a:pt x="0" y="482600"/>
                  </a:moveTo>
                  <a:lnTo>
                    <a:pt x="5105400" y="482600"/>
                  </a:lnTo>
                </a:path>
                <a:path w="5105400" h="977900">
                  <a:moveTo>
                    <a:pt x="0" y="317500"/>
                  </a:moveTo>
                  <a:lnTo>
                    <a:pt x="5105400" y="317500"/>
                  </a:lnTo>
                </a:path>
                <a:path w="5105400" h="977900">
                  <a:moveTo>
                    <a:pt x="0" y="165100"/>
                  </a:moveTo>
                  <a:lnTo>
                    <a:pt x="5105400" y="165100"/>
                  </a:lnTo>
                </a:path>
                <a:path w="5105400" h="977900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ln w="9525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331B160-B837-1A74-7AC0-54C7B8CAB867}"/>
                </a:ext>
              </a:extLst>
            </p:cNvPr>
            <p:cNvSpPr/>
            <p:nvPr/>
          </p:nvSpPr>
          <p:spPr>
            <a:xfrm>
              <a:off x="6347346" y="4129543"/>
              <a:ext cx="5099685" cy="1142365"/>
            </a:xfrm>
            <a:custGeom>
              <a:avLst/>
              <a:gdLst/>
              <a:ahLst/>
              <a:cxnLst/>
              <a:rect l="l" t="t" r="r" b="b"/>
              <a:pathLst>
                <a:path w="5099684" h="1142364">
                  <a:moveTo>
                    <a:pt x="0" y="1142145"/>
                  </a:moveTo>
                  <a:lnTo>
                    <a:pt x="1" y="0"/>
                  </a:lnTo>
                </a:path>
                <a:path w="5099684" h="1142364">
                  <a:moveTo>
                    <a:pt x="0" y="1142145"/>
                  </a:moveTo>
                  <a:lnTo>
                    <a:pt x="5099682" y="1142144"/>
                  </a:lnTo>
                </a:path>
              </a:pathLst>
            </a:custGeom>
            <a:ln w="9525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7E88D9D-1B33-BCBF-A613-D27E1DE3E02D}"/>
                </a:ext>
              </a:extLst>
            </p:cNvPr>
            <p:cNvSpPr/>
            <p:nvPr/>
          </p:nvSpPr>
          <p:spPr>
            <a:xfrm>
              <a:off x="6343649" y="5226050"/>
              <a:ext cx="4978400" cy="50800"/>
            </a:xfrm>
            <a:custGeom>
              <a:avLst/>
              <a:gdLst/>
              <a:ahLst/>
              <a:cxnLst/>
              <a:rect l="l" t="t" r="r" b="b"/>
              <a:pathLst>
                <a:path w="4978400" h="50800">
                  <a:moveTo>
                    <a:pt x="0" y="0"/>
                  </a:moveTo>
                  <a:lnTo>
                    <a:pt x="0" y="50800"/>
                  </a:lnTo>
                </a:path>
                <a:path w="4978400" h="50800">
                  <a:moveTo>
                    <a:pt x="203200" y="0"/>
                  </a:moveTo>
                  <a:lnTo>
                    <a:pt x="203200" y="50800"/>
                  </a:lnTo>
                </a:path>
                <a:path w="4978400" h="50800">
                  <a:moveTo>
                    <a:pt x="406400" y="0"/>
                  </a:moveTo>
                  <a:lnTo>
                    <a:pt x="406400" y="50800"/>
                  </a:lnTo>
                </a:path>
                <a:path w="4978400" h="50800">
                  <a:moveTo>
                    <a:pt x="596900" y="0"/>
                  </a:moveTo>
                  <a:lnTo>
                    <a:pt x="596900" y="50800"/>
                  </a:lnTo>
                </a:path>
                <a:path w="4978400" h="50800">
                  <a:moveTo>
                    <a:pt x="800100" y="0"/>
                  </a:moveTo>
                  <a:lnTo>
                    <a:pt x="800100" y="50800"/>
                  </a:lnTo>
                </a:path>
                <a:path w="4978400" h="50800">
                  <a:moveTo>
                    <a:pt x="1003300" y="0"/>
                  </a:moveTo>
                  <a:lnTo>
                    <a:pt x="1003300" y="50800"/>
                  </a:lnTo>
                </a:path>
                <a:path w="4978400" h="50800">
                  <a:moveTo>
                    <a:pt x="1193800" y="0"/>
                  </a:moveTo>
                  <a:lnTo>
                    <a:pt x="1193800" y="50800"/>
                  </a:lnTo>
                </a:path>
                <a:path w="4978400" h="50800">
                  <a:moveTo>
                    <a:pt x="1397000" y="0"/>
                  </a:moveTo>
                  <a:lnTo>
                    <a:pt x="1397000" y="50800"/>
                  </a:lnTo>
                </a:path>
                <a:path w="4978400" h="50800">
                  <a:moveTo>
                    <a:pt x="1600200" y="0"/>
                  </a:moveTo>
                  <a:lnTo>
                    <a:pt x="1600200" y="50800"/>
                  </a:lnTo>
                </a:path>
                <a:path w="4978400" h="50800">
                  <a:moveTo>
                    <a:pt x="1790700" y="0"/>
                  </a:moveTo>
                  <a:lnTo>
                    <a:pt x="1790700" y="50800"/>
                  </a:lnTo>
                </a:path>
                <a:path w="4978400" h="50800">
                  <a:moveTo>
                    <a:pt x="1993900" y="0"/>
                  </a:moveTo>
                  <a:lnTo>
                    <a:pt x="1993900" y="50800"/>
                  </a:lnTo>
                </a:path>
                <a:path w="4978400" h="50800">
                  <a:moveTo>
                    <a:pt x="2197100" y="0"/>
                  </a:moveTo>
                  <a:lnTo>
                    <a:pt x="2197100" y="50800"/>
                  </a:lnTo>
                </a:path>
                <a:path w="4978400" h="50800">
                  <a:moveTo>
                    <a:pt x="2400300" y="0"/>
                  </a:moveTo>
                  <a:lnTo>
                    <a:pt x="2400300" y="50800"/>
                  </a:lnTo>
                </a:path>
                <a:path w="4978400" h="50800">
                  <a:moveTo>
                    <a:pt x="2590800" y="0"/>
                  </a:moveTo>
                  <a:lnTo>
                    <a:pt x="2590800" y="50800"/>
                  </a:lnTo>
                </a:path>
                <a:path w="4978400" h="50800">
                  <a:moveTo>
                    <a:pt x="2794000" y="0"/>
                  </a:moveTo>
                  <a:lnTo>
                    <a:pt x="2794000" y="50800"/>
                  </a:lnTo>
                </a:path>
                <a:path w="4978400" h="50800">
                  <a:moveTo>
                    <a:pt x="2997200" y="0"/>
                  </a:moveTo>
                  <a:lnTo>
                    <a:pt x="2997200" y="50800"/>
                  </a:lnTo>
                </a:path>
                <a:path w="4978400" h="50800">
                  <a:moveTo>
                    <a:pt x="3187700" y="0"/>
                  </a:moveTo>
                  <a:lnTo>
                    <a:pt x="3187700" y="50800"/>
                  </a:lnTo>
                </a:path>
                <a:path w="4978400" h="50800">
                  <a:moveTo>
                    <a:pt x="3390900" y="0"/>
                  </a:moveTo>
                  <a:lnTo>
                    <a:pt x="3390900" y="50800"/>
                  </a:lnTo>
                </a:path>
                <a:path w="4978400" h="50800">
                  <a:moveTo>
                    <a:pt x="3594100" y="0"/>
                  </a:moveTo>
                  <a:lnTo>
                    <a:pt x="3594100" y="50800"/>
                  </a:lnTo>
                </a:path>
                <a:path w="4978400" h="50800">
                  <a:moveTo>
                    <a:pt x="3784600" y="0"/>
                  </a:moveTo>
                  <a:lnTo>
                    <a:pt x="3784600" y="50800"/>
                  </a:lnTo>
                </a:path>
                <a:path w="4978400" h="50800">
                  <a:moveTo>
                    <a:pt x="3987800" y="0"/>
                  </a:moveTo>
                  <a:lnTo>
                    <a:pt x="3987800" y="50800"/>
                  </a:lnTo>
                </a:path>
                <a:path w="4978400" h="50800">
                  <a:moveTo>
                    <a:pt x="4191000" y="0"/>
                  </a:moveTo>
                  <a:lnTo>
                    <a:pt x="4191000" y="50800"/>
                  </a:lnTo>
                </a:path>
                <a:path w="4978400" h="50800">
                  <a:moveTo>
                    <a:pt x="4381500" y="0"/>
                  </a:moveTo>
                  <a:lnTo>
                    <a:pt x="4381500" y="50800"/>
                  </a:lnTo>
                </a:path>
                <a:path w="4978400" h="50800">
                  <a:moveTo>
                    <a:pt x="4584700" y="0"/>
                  </a:moveTo>
                  <a:lnTo>
                    <a:pt x="4584700" y="50800"/>
                  </a:lnTo>
                </a:path>
                <a:path w="4978400" h="50800">
                  <a:moveTo>
                    <a:pt x="4787900" y="0"/>
                  </a:moveTo>
                  <a:lnTo>
                    <a:pt x="4787900" y="50800"/>
                  </a:lnTo>
                </a:path>
                <a:path w="4978400" h="50800">
                  <a:moveTo>
                    <a:pt x="4978400" y="0"/>
                  </a:moveTo>
                  <a:lnTo>
                    <a:pt x="4978400" y="50800"/>
                  </a:lnTo>
                </a:path>
              </a:pathLst>
            </a:custGeom>
            <a:ln w="9525">
              <a:solidFill>
                <a:srgbClr val="8989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7C3B5577-FA3A-18D2-1512-BCC9F86B26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6791" y="4279900"/>
              <a:ext cx="5117592" cy="965200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30A70421-B1D9-3302-6C53-4FB283D45CD1}"/>
                </a:ext>
              </a:extLst>
            </p:cNvPr>
            <p:cNvSpPr/>
            <p:nvPr/>
          </p:nvSpPr>
          <p:spPr>
            <a:xfrm>
              <a:off x="6336792" y="5067300"/>
              <a:ext cx="5118100" cy="38100"/>
            </a:xfrm>
            <a:custGeom>
              <a:avLst/>
              <a:gdLst/>
              <a:ahLst/>
              <a:cxnLst/>
              <a:rect l="l" t="t" r="r" b="b"/>
              <a:pathLst>
                <a:path w="5118100" h="38100">
                  <a:moveTo>
                    <a:pt x="5117592" y="1270"/>
                  </a:moveTo>
                  <a:lnTo>
                    <a:pt x="5115395" y="1270"/>
                  </a:lnTo>
                  <a:lnTo>
                    <a:pt x="5115395" y="0"/>
                  </a:lnTo>
                  <a:lnTo>
                    <a:pt x="3708" y="0"/>
                  </a:lnTo>
                  <a:lnTo>
                    <a:pt x="3708" y="1270"/>
                  </a:lnTo>
                  <a:lnTo>
                    <a:pt x="0" y="1270"/>
                  </a:lnTo>
                  <a:lnTo>
                    <a:pt x="0" y="36830"/>
                  </a:lnTo>
                  <a:lnTo>
                    <a:pt x="3708" y="36830"/>
                  </a:lnTo>
                  <a:lnTo>
                    <a:pt x="3708" y="38100"/>
                  </a:lnTo>
                  <a:lnTo>
                    <a:pt x="5115395" y="38100"/>
                  </a:lnTo>
                  <a:lnTo>
                    <a:pt x="5115395" y="36830"/>
                  </a:lnTo>
                  <a:lnTo>
                    <a:pt x="5117592" y="36830"/>
                  </a:lnTo>
                  <a:lnTo>
                    <a:pt x="5117592" y="1270"/>
                  </a:lnTo>
                  <a:close/>
                </a:path>
              </a:pathLst>
            </a:custGeom>
            <a:solidFill>
              <a:srgbClr val="3BA2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184A9020-9692-009E-7F07-B08435C02811}"/>
              </a:ext>
            </a:extLst>
          </p:cNvPr>
          <p:cNvSpPr txBox="1"/>
          <p:nvPr/>
        </p:nvSpPr>
        <p:spPr>
          <a:xfrm>
            <a:off x="6629333" y="4215717"/>
            <a:ext cx="273685" cy="13335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00" spc="-20" dirty="0">
                <a:latin typeface="Century Gothic"/>
                <a:cs typeface="Century Gothic"/>
              </a:rPr>
              <a:t>14.0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Century Gothic"/>
                <a:cs typeface="Century Gothic"/>
              </a:rPr>
              <a:t>12.0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20" dirty="0">
                <a:latin typeface="Century Gothic"/>
                <a:cs typeface="Century Gothic"/>
              </a:rPr>
              <a:t>10.0</a:t>
            </a:r>
            <a:endParaRPr sz="1000">
              <a:latin typeface="Century Gothic"/>
              <a:cs typeface="Century Gothic"/>
            </a:endParaRPr>
          </a:p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Century Gothic"/>
                <a:cs typeface="Century Gothic"/>
              </a:rPr>
              <a:t>8.0</a:t>
            </a:r>
            <a:endParaRPr sz="1000">
              <a:latin typeface="Century Gothic"/>
              <a:cs typeface="Century Gothic"/>
            </a:endParaRPr>
          </a:p>
          <a:p>
            <a:pPr marL="82550">
              <a:lnSpc>
                <a:spcPct val="100000"/>
              </a:lnSpc>
              <a:spcBef>
                <a:spcPts val="70"/>
              </a:spcBef>
            </a:pPr>
            <a:r>
              <a:rPr sz="1000" spc="-25" dirty="0">
                <a:latin typeface="Century Gothic"/>
                <a:cs typeface="Century Gothic"/>
              </a:rPr>
              <a:t>6.0</a:t>
            </a:r>
            <a:endParaRPr sz="1000">
              <a:latin typeface="Century Gothic"/>
              <a:cs typeface="Century Gothic"/>
            </a:endParaRPr>
          </a:p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Century Gothic"/>
                <a:cs typeface="Century Gothic"/>
              </a:rPr>
              <a:t>4.0</a:t>
            </a:r>
            <a:endParaRPr sz="1000">
              <a:latin typeface="Century Gothic"/>
              <a:cs typeface="Century Gothic"/>
            </a:endParaRPr>
          </a:p>
          <a:p>
            <a:pPr marL="82550">
              <a:lnSpc>
                <a:spcPct val="100000"/>
              </a:lnSpc>
              <a:spcBef>
                <a:spcPts val="75"/>
              </a:spcBef>
            </a:pPr>
            <a:r>
              <a:rPr sz="1000" spc="-25" dirty="0">
                <a:latin typeface="Century Gothic"/>
                <a:cs typeface="Century Gothic"/>
              </a:rPr>
              <a:t>2.0</a:t>
            </a:r>
            <a:endParaRPr sz="1000">
              <a:latin typeface="Century Gothic"/>
              <a:cs typeface="Century Gothic"/>
            </a:endParaRPr>
          </a:p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Century Gothic"/>
                <a:cs typeface="Century Gothic"/>
              </a:rPr>
              <a:t>0.0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E7C1904-2755-4B09-0298-71BF6DCDEBEC}"/>
              </a:ext>
            </a:extLst>
          </p:cNvPr>
          <p:cNvSpPr txBox="1"/>
          <p:nvPr/>
        </p:nvSpPr>
        <p:spPr>
          <a:xfrm>
            <a:off x="6916504" y="5525849"/>
            <a:ext cx="5161280" cy="31750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R="15875" algn="r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entury Gothic"/>
                <a:cs typeface="Century Gothic"/>
              </a:rPr>
              <a:t>1</a:t>
            </a:r>
            <a:endParaRPr sz="1000">
              <a:latin typeface="Century Gothic"/>
              <a:cs typeface="Century Gothic"/>
            </a:endParaRPr>
          </a:p>
          <a:p>
            <a:pPr marR="16510" algn="r">
              <a:lnSpc>
                <a:spcPct val="100000"/>
              </a:lnSpc>
              <a:spcBef>
                <a:spcPts val="370"/>
              </a:spcBef>
            </a:pPr>
            <a:r>
              <a:rPr sz="1000" spc="-25" dirty="0">
                <a:latin typeface="Century Gothic"/>
                <a:cs typeface="Century Gothic"/>
              </a:rPr>
              <a:t>181</a:t>
            </a:r>
            <a:endParaRPr sz="1000">
              <a:latin typeface="Century Gothic"/>
              <a:cs typeface="Century Gothic"/>
            </a:endParaRPr>
          </a:p>
          <a:p>
            <a:pPr marR="16510" algn="r">
              <a:lnSpc>
                <a:spcPct val="100000"/>
              </a:lnSpc>
              <a:spcBef>
                <a:spcPts val="365"/>
              </a:spcBef>
            </a:pPr>
            <a:r>
              <a:rPr sz="1000" spc="-25" dirty="0">
                <a:latin typeface="Century Gothic"/>
                <a:cs typeface="Century Gothic"/>
              </a:rPr>
              <a:t>361</a:t>
            </a:r>
            <a:endParaRPr sz="1000">
              <a:latin typeface="Century Gothic"/>
              <a:cs typeface="Century Gothic"/>
            </a:endParaRPr>
          </a:p>
          <a:p>
            <a:pPr marR="16510" algn="r">
              <a:lnSpc>
                <a:spcPct val="100000"/>
              </a:lnSpc>
              <a:spcBef>
                <a:spcPts val="370"/>
              </a:spcBef>
            </a:pPr>
            <a:r>
              <a:rPr sz="1000" spc="-25" dirty="0">
                <a:latin typeface="Century Gothic"/>
                <a:cs typeface="Century Gothic"/>
              </a:rPr>
              <a:t>541</a:t>
            </a:r>
            <a:endParaRPr sz="1000">
              <a:latin typeface="Century Gothic"/>
              <a:cs typeface="Century Gothic"/>
            </a:endParaRPr>
          </a:p>
          <a:p>
            <a:pPr marR="16510" algn="r">
              <a:lnSpc>
                <a:spcPct val="100000"/>
              </a:lnSpc>
              <a:spcBef>
                <a:spcPts val="370"/>
              </a:spcBef>
            </a:pPr>
            <a:r>
              <a:rPr sz="1000" spc="-25" dirty="0">
                <a:latin typeface="Century Gothic"/>
                <a:cs typeface="Century Gothic"/>
              </a:rPr>
              <a:t>721</a:t>
            </a:r>
            <a:endParaRPr sz="1000">
              <a:latin typeface="Century Gothic"/>
              <a:cs typeface="Century Gothic"/>
            </a:endParaRPr>
          </a:p>
          <a:p>
            <a:pPr marR="16510" algn="r">
              <a:lnSpc>
                <a:spcPct val="100000"/>
              </a:lnSpc>
              <a:spcBef>
                <a:spcPts val="365"/>
              </a:spcBef>
            </a:pPr>
            <a:r>
              <a:rPr sz="1000" spc="-25" dirty="0">
                <a:latin typeface="Century Gothic"/>
                <a:cs typeface="Century Gothic"/>
              </a:rPr>
              <a:t>901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1081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1261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1441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65"/>
              </a:spcBef>
            </a:pPr>
            <a:r>
              <a:rPr sz="1000" spc="-20" dirty="0">
                <a:latin typeface="Century Gothic"/>
                <a:cs typeface="Century Gothic"/>
              </a:rPr>
              <a:t>1621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1801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1981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65"/>
              </a:spcBef>
            </a:pPr>
            <a:r>
              <a:rPr sz="1000" spc="-20" dirty="0">
                <a:latin typeface="Century Gothic"/>
                <a:cs typeface="Century Gothic"/>
              </a:rPr>
              <a:t>2161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2341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2521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2701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65"/>
              </a:spcBef>
            </a:pPr>
            <a:r>
              <a:rPr sz="1000" spc="-20" dirty="0">
                <a:latin typeface="Century Gothic"/>
                <a:cs typeface="Century Gothic"/>
              </a:rPr>
              <a:t>2881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3061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3241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65"/>
              </a:spcBef>
            </a:pPr>
            <a:r>
              <a:rPr sz="1000" spc="-20" dirty="0">
                <a:latin typeface="Century Gothic"/>
                <a:cs typeface="Century Gothic"/>
              </a:rPr>
              <a:t>3421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3601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3781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3961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65"/>
              </a:spcBef>
            </a:pPr>
            <a:r>
              <a:rPr sz="1000" spc="-20" dirty="0">
                <a:latin typeface="Century Gothic"/>
                <a:cs typeface="Century Gothic"/>
              </a:rPr>
              <a:t>4141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4321</a:t>
            </a:r>
            <a:endParaRPr sz="1000">
              <a:latin typeface="Century Gothic"/>
              <a:cs typeface="Century Gothic"/>
            </a:endParaRPr>
          </a:p>
          <a:p>
            <a:pPr marR="5080" algn="r">
              <a:lnSpc>
                <a:spcPct val="100000"/>
              </a:lnSpc>
              <a:spcBef>
                <a:spcPts val="370"/>
              </a:spcBef>
            </a:pPr>
            <a:r>
              <a:rPr sz="1000" spc="-20" dirty="0">
                <a:latin typeface="Century Gothic"/>
                <a:cs typeface="Century Gothic"/>
              </a:rPr>
              <a:t>4501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EB63C89-CECE-0D39-AFE1-DC1EE5B9EDA3}"/>
              </a:ext>
            </a:extLst>
          </p:cNvPr>
          <p:cNvSpPr txBox="1"/>
          <p:nvPr/>
        </p:nvSpPr>
        <p:spPr>
          <a:xfrm>
            <a:off x="6434844" y="4386448"/>
            <a:ext cx="181610" cy="102108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latin typeface="Century Gothic"/>
                <a:cs typeface="Century Gothic"/>
              </a:rPr>
              <a:t>BW/node</a:t>
            </a:r>
            <a:r>
              <a:rPr sz="1000" b="1" spc="-30" dirty="0">
                <a:latin typeface="Century Gothic"/>
                <a:cs typeface="Century Gothic"/>
              </a:rPr>
              <a:t> </a:t>
            </a:r>
            <a:r>
              <a:rPr sz="1000" b="1" spc="-10" dirty="0">
                <a:latin typeface="Century Gothic"/>
                <a:cs typeface="Century Gothic"/>
              </a:rPr>
              <a:t>(GB/s)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538EDA6-D4CB-A2BB-E21D-41449883D148}"/>
              </a:ext>
            </a:extLst>
          </p:cNvPr>
          <p:cNvSpPr txBox="1"/>
          <p:nvPr/>
        </p:nvSpPr>
        <p:spPr>
          <a:xfrm>
            <a:off x="9201832" y="5855542"/>
            <a:ext cx="7061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Century Gothic"/>
                <a:cs typeface="Century Gothic"/>
              </a:rPr>
              <a:t>Nodes/Job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BC58B5C-A136-0D70-9A70-6271B287FC5B}"/>
              </a:ext>
            </a:extLst>
          </p:cNvPr>
          <p:cNvSpPr txBox="1"/>
          <p:nvPr/>
        </p:nvSpPr>
        <p:spPr>
          <a:xfrm>
            <a:off x="7892101" y="3873326"/>
            <a:ext cx="274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entury Gothic"/>
                <a:cs typeface="Century Gothic"/>
              </a:rPr>
              <a:t>Summit</a:t>
            </a:r>
            <a:r>
              <a:rPr sz="1800" b="1" spc="-25" dirty="0">
                <a:latin typeface="Century Gothic"/>
                <a:cs typeface="Century Gothic"/>
              </a:rPr>
              <a:t> </a:t>
            </a:r>
            <a:r>
              <a:rPr sz="1800" b="1" dirty="0">
                <a:latin typeface="Century Gothic"/>
                <a:cs typeface="Century Gothic"/>
              </a:rPr>
              <a:t>Per</a:t>
            </a:r>
            <a:r>
              <a:rPr sz="1800" b="1" spc="-10" dirty="0">
                <a:latin typeface="Century Gothic"/>
                <a:cs typeface="Century Gothic"/>
              </a:rPr>
              <a:t> </a:t>
            </a:r>
            <a:r>
              <a:rPr sz="1800" b="1" dirty="0">
                <a:latin typeface="Century Gothic"/>
                <a:cs typeface="Century Gothic"/>
              </a:rPr>
              <a:t>Node</a:t>
            </a:r>
            <a:r>
              <a:rPr sz="1800" b="1" spc="-15" dirty="0">
                <a:latin typeface="Century Gothic"/>
                <a:cs typeface="Century Gothic"/>
              </a:rPr>
              <a:t> </a:t>
            </a:r>
            <a:r>
              <a:rPr sz="1800" b="1" dirty="0">
                <a:latin typeface="Century Gothic"/>
                <a:cs typeface="Century Gothic"/>
              </a:rPr>
              <a:t>I/O</a:t>
            </a:r>
            <a:r>
              <a:rPr sz="1800" b="1" spc="-10" dirty="0">
                <a:latin typeface="Century Gothic"/>
                <a:cs typeface="Century Gothic"/>
              </a:rPr>
              <a:t> </a:t>
            </a:r>
            <a:r>
              <a:rPr sz="1800" b="1" spc="-25" dirty="0">
                <a:latin typeface="Century Gothic"/>
                <a:cs typeface="Century Gothic"/>
              </a:rPr>
              <a:t>BW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ADE39AD-24F0-7DE3-0470-E1F9BF3FA423}"/>
              </a:ext>
            </a:extLst>
          </p:cNvPr>
          <p:cNvSpPr/>
          <p:nvPr/>
        </p:nvSpPr>
        <p:spPr>
          <a:xfrm>
            <a:off x="8068850" y="6295689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1"/>
                </a:lnTo>
              </a:path>
            </a:pathLst>
          </a:custGeom>
          <a:ln w="34925">
            <a:solidFill>
              <a:srgbClr val="8FBB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DD88A17-ED03-5677-9A66-A46928588AE2}"/>
              </a:ext>
            </a:extLst>
          </p:cNvPr>
          <p:cNvSpPr txBox="1"/>
          <p:nvPr/>
        </p:nvSpPr>
        <p:spPr>
          <a:xfrm>
            <a:off x="8325708" y="6199965"/>
            <a:ext cx="483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PFS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Min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3BC5072-DCA5-C8B1-F3B7-1C9DC817CFFB}"/>
              </a:ext>
            </a:extLst>
          </p:cNvPr>
          <p:cNvSpPr/>
          <p:nvPr/>
        </p:nvSpPr>
        <p:spPr>
          <a:xfrm>
            <a:off x="8940993" y="6295689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1"/>
                </a:lnTo>
              </a:path>
            </a:pathLst>
          </a:custGeom>
          <a:ln w="38100">
            <a:solidFill>
              <a:srgbClr val="CB4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1F6F3618-8006-5F40-4D3E-858C7BC1BD7E}"/>
              </a:ext>
            </a:extLst>
          </p:cNvPr>
          <p:cNvSpPr txBox="1"/>
          <p:nvPr/>
        </p:nvSpPr>
        <p:spPr>
          <a:xfrm>
            <a:off x="9197850" y="6199965"/>
            <a:ext cx="5308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PFS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Max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EB6FEAA3-2709-3DC2-E474-C739477C0441}"/>
              </a:ext>
            </a:extLst>
          </p:cNvPr>
          <p:cNvSpPr/>
          <p:nvPr/>
        </p:nvSpPr>
        <p:spPr>
          <a:xfrm>
            <a:off x="9857968" y="6295689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1"/>
                </a:lnTo>
              </a:path>
            </a:pathLst>
          </a:custGeom>
          <a:ln w="38100">
            <a:solidFill>
              <a:srgbClr val="3BA2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1A4A731D-1C61-8B1E-DFB0-39B3C8EB8C53}"/>
              </a:ext>
            </a:extLst>
          </p:cNvPr>
          <p:cNvSpPr txBox="1"/>
          <p:nvPr/>
        </p:nvSpPr>
        <p:spPr>
          <a:xfrm>
            <a:off x="10114824" y="6199965"/>
            <a:ext cx="41338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NVMe</a:t>
            </a:r>
            <a:endParaRPr sz="10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72869649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69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latin typeface="Comic Sans MS" panose="030F0702030302020204" pitchFamily="66" charset="0"/>
                <a:cs typeface="+mn-cs"/>
              </a:rPr>
              <a:t>When to use the Burst Buffers (Node Scale)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42B04E8-87B2-491E-8294-00FC538145BE}"/>
              </a:ext>
            </a:extLst>
          </p:cNvPr>
          <p:cNvSpPr txBox="1"/>
          <p:nvPr/>
        </p:nvSpPr>
        <p:spPr>
          <a:xfrm>
            <a:off x="1231549" y="1584226"/>
            <a:ext cx="10338502" cy="4709623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705"/>
              </a:spcBef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24K</a:t>
            </a:r>
            <a:r>
              <a:rPr sz="3200" spc="-2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Files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to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GPFS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(4096</a:t>
            </a:r>
            <a:r>
              <a:rPr sz="3200" spc="-10" dirty="0">
                <a:latin typeface="Century Gothic"/>
                <a:cs typeface="Century Gothic"/>
              </a:rPr>
              <a:t> Nodes)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2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24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TB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of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data</a:t>
            </a:r>
            <a:r>
              <a:rPr sz="2800" spc="-10" dirty="0">
                <a:latin typeface="Century Gothic"/>
                <a:cs typeface="Century Gothic"/>
              </a:rPr>
              <a:t> written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500</a:t>
            </a:r>
            <a:r>
              <a:rPr sz="2800" spc="-3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seconds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spent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creating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and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writing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files</a:t>
            </a:r>
            <a:endParaRPr sz="2800" dirty="0">
              <a:latin typeface="Century Gothic"/>
              <a:cs typeface="Century Gothic"/>
            </a:endParaRPr>
          </a:p>
          <a:p>
            <a:pPr marL="1495425" lvl="2" indent="-22288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1494790" algn="l"/>
                <a:tab pos="1495425" algn="l"/>
              </a:tabLst>
            </a:pPr>
            <a:r>
              <a:rPr sz="2000" dirty="0">
                <a:latin typeface="Century Gothic"/>
                <a:cs typeface="Century Gothic"/>
              </a:rPr>
              <a:t>Most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time spent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in </a:t>
            </a:r>
            <a:r>
              <a:rPr sz="2000" spc="-10" dirty="0">
                <a:latin typeface="Century Gothic"/>
                <a:cs typeface="Century Gothic"/>
              </a:rPr>
              <a:t>creation</a:t>
            </a:r>
            <a:endParaRPr sz="2000" dirty="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buFont typeface="Arial"/>
              <a:buChar char="•"/>
            </a:pPr>
            <a:endParaRPr sz="2400" dirty="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2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buSzPct val="89285"/>
              <a:buChar char="•"/>
              <a:tabLst>
                <a:tab pos="301625" algn="l"/>
              </a:tabLst>
            </a:pPr>
            <a:r>
              <a:rPr sz="3200" dirty="0">
                <a:latin typeface="Century Gothic"/>
                <a:cs typeface="Century Gothic"/>
              </a:rPr>
              <a:t>High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IOP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read</a:t>
            </a:r>
            <a:r>
              <a:rPr sz="3200" spc="-15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workload</a:t>
            </a:r>
            <a:r>
              <a:rPr sz="3200" spc="-20" dirty="0">
                <a:latin typeface="Century Gothic"/>
                <a:cs typeface="Century Gothic"/>
              </a:rPr>
              <a:t> </a:t>
            </a:r>
            <a:r>
              <a:rPr sz="3200" dirty="0">
                <a:latin typeface="Century Gothic"/>
                <a:cs typeface="Century Gothic"/>
              </a:rPr>
              <a:t>(Full</a:t>
            </a:r>
            <a:r>
              <a:rPr sz="3200" spc="-5" dirty="0">
                <a:latin typeface="Century Gothic"/>
                <a:cs typeface="Century Gothic"/>
              </a:rPr>
              <a:t> </a:t>
            </a:r>
            <a:r>
              <a:rPr sz="3200" spc="-10" dirty="0">
                <a:latin typeface="Century Gothic"/>
                <a:cs typeface="Century Gothic"/>
              </a:rPr>
              <a:t>System)</a:t>
            </a:r>
            <a:endParaRPr sz="32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45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4k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Random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Reads (GPFS)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~100million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530"/>
              </a:spcBef>
              <a:buSzPct val="91666"/>
              <a:buChar char="–"/>
              <a:tabLst>
                <a:tab pos="699770" algn="l"/>
                <a:tab pos="700405" algn="l"/>
              </a:tabLst>
            </a:pPr>
            <a:r>
              <a:rPr sz="2800" dirty="0">
                <a:latin typeface="Century Gothic"/>
                <a:cs typeface="Century Gothic"/>
              </a:rPr>
              <a:t>4k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Random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Reads</a:t>
            </a:r>
            <a:r>
              <a:rPr sz="2800" spc="-1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(NVMe)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~4.5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Billion</a:t>
            </a:r>
            <a:endParaRPr sz="2800" dirty="0">
              <a:latin typeface="Century Gothic"/>
              <a:cs typeface="Century Gothic"/>
            </a:endParaRPr>
          </a:p>
          <a:p>
            <a:pPr marL="1044575" indent="-289560">
              <a:lnSpc>
                <a:spcPct val="100000"/>
              </a:lnSpc>
              <a:spcBef>
                <a:spcPts val="520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sz="2400" dirty="0">
                <a:latin typeface="Century Gothic"/>
                <a:cs typeface="Century Gothic"/>
              </a:rPr>
              <a:t>1M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per</a:t>
            </a:r>
            <a:r>
              <a:rPr sz="2400" spc="-10" dirty="0">
                <a:latin typeface="Century Gothic"/>
                <a:cs typeface="Century Gothic"/>
              </a:rPr>
              <a:t> device</a:t>
            </a:r>
            <a:endParaRPr sz="24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85324464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Using a Burst Buffer in a Job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3F830E8-CC86-BE52-93E3-4B0402A455EF}"/>
              </a:ext>
            </a:extLst>
          </p:cNvPr>
          <p:cNvSpPr txBox="1"/>
          <p:nvPr/>
        </p:nvSpPr>
        <p:spPr>
          <a:xfrm>
            <a:off x="526794" y="1454404"/>
            <a:ext cx="9785985" cy="205740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540"/>
              </a:spcBef>
              <a:buSzPct val="89285"/>
              <a:buChar char="•"/>
              <a:tabLst>
                <a:tab pos="301625" algn="l"/>
              </a:tabLst>
            </a:pPr>
            <a:r>
              <a:rPr sz="2800" spc="-10" dirty="0">
                <a:latin typeface="Century Gothic"/>
                <a:cs typeface="Century Gothic"/>
              </a:rPr>
              <a:t>Interactively:</a:t>
            </a:r>
            <a:endParaRPr sz="2800" dirty="0">
              <a:latin typeface="Century Gothic"/>
              <a:cs typeface="Century Gothic"/>
            </a:endParaRPr>
          </a:p>
          <a:p>
            <a:pPr marL="400050" indent="-387350">
              <a:lnSpc>
                <a:spcPts val="3229"/>
              </a:lnSpc>
              <a:spcBef>
                <a:spcPts val="1440"/>
              </a:spcBef>
              <a:buSzPct val="89285"/>
              <a:buChar char="•"/>
              <a:tabLst>
                <a:tab pos="399415" algn="l"/>
                <a:tab pos="400050" algn="l"/>
              </a:tabLst>
            </a:pPr>
            <a:r>
              <a:rPr sz="2800" dirty="0">
                <a:latin typeface="Century Gothic"/>
                <a:cs typeface="Century Gothic"/>
              </a:rPr>
              <a:t>bsub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-</a:t>
            </a:r>
            <a:r>
              <a:rPr sz="2800" dirty="0">
                <a:latin typeface="Century Gothic"/>
                <a:cs typeface="Century Gothic"/>
              </a:rPr>
              <a:t>Is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-</a:t>
            </a:r>
            <a:r>
              <a:rPr sz="2800" dirty="0">
                <a:latin typeface="Century Gothic"/>
                <a:cs typeface="Century Gothic"/>
              </a:rPr>
              <a:t>nnodes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1</a:t>
            </a:r>
            <a:r>
              <a:rPr sz="2800" spc="-10" dirty="0">
                <a:latin typeface="Century Gothic"/>
                <a:cs typeface="Century Gothic"/>
              </a:rPr>
              <a:t> -</a:t>
            </a:r>
            <a:r>
              <a:rPr sz="2800" dirty="0">
                <a:latin typeface="Century Gothic"/>
                <a:cs typeface="Century Gothic"/>
              </a:rPr>
              <a:t>PSTF008</a:t>
            </a:r>
            <a:r>
              <a:rPr sz="2800" spc="-10" dirty="0">
                <a:latin typeface="Century Gothic"/>
                <a:cs typeface="Century Gothic"/>
              </a:rPr>
              <a:t> -</a:t>
            </a:r>
            <a:r>
              <a:rPr sz="2800" dirty="0">
                <a:latin typeface="Century Gothic"/>
                <a:cs typeface="Century Gothic"/>
              </a:rPr>
              <a:t>W00:10</a:t>
            </a:r>
            <a:r>
              <a:rPr sz="2800" spc="-1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-</a:t>
            </a:r>
            <a:r>
              <a:rPr sz="2800" dirty="0">
                <a:latin typeface="Century Gothic"/>
                <a:cs typeface="Century Gothic"/>
              </a:rPr>
              <a:t>alloc_flags</a:t>
            </a:r>
            <a:r>
              <a:rPr sz="2800" spc="-5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"nvme"</a:t>
            </a:r>
            <a:endParaRPr sz="2800" dirty="0">
              <a:latin typeface="Century Gothic"/>
              <a:cs typeface="Century Gothic"/>
            </a:endParaRPr>
          </a:p>
          <a:p>
            <a:pPr marL="301625">
              <a:lnSpc>
                <a:spcPts val="3229"/>
              </a:lnSpc>
            </a:pPr>
            <a:r>
              <a:rPr sz="2800" spc="-10" dirty="0">
                <a:latin typeface="Century Gothic"/>
                <a:cs typeface="Century Gothic"/>
              </a:rPr>
              <a:t>/bin/bash</a:t>
            </a:r>
            <a:endParaRPr sz="2800" dirty="0">
              <a:latin typeface="Century Gothic"/>
              <a:cs typeface="Century Gothic"/>
            </a:endParaRPr>
          </a:p>
          <a:p>
            <a:pPr marL="411480">
              <a:lnSpc>
                <a:spcPct val="100000"/>
              </a:lnSpc>
              <a:spcBef>
                <a:spcPts val="420"/>
              </a:spcBef>
              <a:tabLst>
                <a:tab pos="699770" algn="l"/>
              </a:tabLst>
            </a:pPr>
            <a:r>
              <a:rPr sz="2200" spc="-50" dirty="0">
                <a:latin typeface="Century Gothic"/>
                <a:cs typeface="Century Gothic"/>
              </a:rPr>
              <a:t>–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400" dirty="0">
                <a:latin typeface="Century Gothic"/>
                <a:cs typeface="Century Gothic"/>
              </a:rPr>
              <a:t>jsrun</a:t>
            </a:r>
            <a:r>
              <a:rPr sz="2400" spc="-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-r1</a:t>
            </a:r>
            <a:r>
              <a:rPr sz="2400" spc="-10" dirty="0">
                <a:latin typeface="Century Gothic"/>
                <a:cs typeface="Century Gothic"/>
              </a:rPr>
              <a:t> </a:t>
            </a:r>
            <a:r>
              <a:rPr sz="2400" spc="-25" dirty="0">
                <a:latin typeface="Century Gothic"/>
                <a:cs typeface="Century Gothic"/>
              </a:rPr>
              <a:t>df</a:t>
            </a:r>
            <a:endParaRPr sz="2400" dirty="0">
              <a:latin typeface="Century Gothic"/>
              <a:cs typeface="Century Gothic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3DD5C1D-2BB3-2BF9-6FB1-5016494C3D6D}"/>
              </a:ext>
            </a:extLst>
          </p:cNvPr>
          <p:cNvSpPr txBox="1"/>
          <p:nvPr/>
        </p:nvSpPr>
        <p:spPr>
          <a:xfrm>
            <a:off x="526794" y="3567684"/>
            <a:ext cx="5222875" cy="28802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4575" indent="-289560">
              <a:lnSpc>
                <a:spcPts val="2245"/>
              </a:lnSpc>
              <a:spcBef>
                <a:spcPts val="100"/>
              </a:spcBef>
              <a:buSzPct val="90000"/>
              <a:buChar char="•"/>
              <a:tabLst>
                <a:tab pos="1043940" algn="l"/>
                <a:tab pos="1044575" algn="l"/>
              </a:tabLst>
            </a:pPr>
            <a:r>
              <a:rPr sz="2000" spc="-10" dirty="0">
                <a:latin typeface="Century Gothic"/>
                <a:cs typeface="Century Gothic"/>
              </a:rPr>
              <a:t>/dev/mapper/bb-</a:t>
            </a:r>
            <a:r>
              <a:rPr sz="2000" spc="-25" dirty="0">
                <a:latin typeface="Century Gothic"/>
                <a:cs typeface="Century Gothic"/>
              </a:rPr>
              <a:t>bb1</a:t>
            </a:r>
            <a:endParaRPr sz="2000" dirty="0">
              <a:latin typeface="Century Gothic"/>
              <a:cs typeface="Century Gothic"/>
            </a:endParaRPr>
          </a:p>
          <a:p>
            <a:pPr marL="1043940">
              <a:lnSpc>
                <a:spcPts val="2245"/>
              </a:lnSpc>
            </a:pPr>
            <a:r>
              <a:rPr sz="2000" spc="-10" dirty="0">
                <a:latin typeface="Century Gothic"/>
                <a:cs typeface="Century Gothic"/>
              </a:rPr>
              <a:t>/mnt/bb/cjzimmer</a:t>
            </a:r>
            <a:endParaRPr sz="2000" dirty="0">
              <a:latin typeface="Century Gothic"/>
              <a:cs typeface="Century Gothic"/>
            </a:endParaRPr>
          </a:p>
          <a:p>
            <a:pPr marL="301625" indent="-288925">
              <a:lnSpc>
                <a:spcPct val="100000"/>
              </a:lnSpc>
              <a:spcBef>
                <a:spcPts val="1500"/>
              </a:spcBef>
              <a:buSzPct val="89285"/>
              <a:buChar char="•"/>
              <a:tabLst>
                <a:tab pos="301625" algn="l"/>
              </a:tabLst>
            </a:pPr>
            <a:r>
              <a:rPr sz="2800" spc="-10" dirty="0">
                <a:latin typeface="Century Gothic"/>
                <a:cs typeface="Century Gothic"/>
              </a:rPr>
              <a:t>Batch:</a:t>
            </a:r>
            <a:endParaRPr sz="28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750"/>
              </a:spcBef>
              <a:buSzPct val="88888"/>
              <a:buChar char="–"/>
              <a:tabLst>
                <a:tab pos="699770" algn="l"/>
                <a:tab pos="700405" algn="l"/>
              </a:tabLst>
            </a:pPr>
            <a:r>
              <a:rPr sz="1600" dirty="0">
                <a:latin typeface="Century Gothic"/>
                <a:cs typeface="Century Gothic"/>
              </a:rPr>
              <a:t>#!/bin/bash</a:t>
            </a:r>
            <a:r>
              <a:rPr sz="1600" spc="-5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-</a:t>
            </a:r>
            <a:r>
              <a:rPr sz="1600" spc="-50" dirty="0">
                <a:latin typeface="Century Gothic"/>
                <a:cs typeface="Century Gothic"/>
              </a:rPr>
              <a:t>l</a:t>
            </a:r>
            <a:endParaRPr sz="16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720"/>
              </a:spcBef>
              <a:buSzPct val="88888"/>
              <a:buChar char="–"/>
              <a:tabLst>
                <a:tab pos="699770" algn="l"/>
                <a:tab pos="700405" algn="l"/>
              </a:tabLst>
            </a:pPr>
            <a:r>
              <a:rPr sz="1600" dirty="0">
                <a:latin typeface="Century Gothic"/>
                <a:cs typeface="Century Gothic"/>
              </a:rPr>
              <a:t>#BSUB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-P </a:t>
            </a:r>
            <a:r>
              <a:rPr sz="1600" spc="-10" dirty="0">
                <a:latin typeface="Century Gothic"/>
                <a:cs typeface="Century Gothic"/>
              </a:rPr>
              <a:t>STF008</a:t>
            </a:r>
            <a:endParaRPr sz="1600" dirty="0">
              <a:latin typeface="Century Gothic"/>
              <a:cs typeface="Century Gothic"/>
            </a:endParaRPr>
          </a:p>
          <a:p>
            <a:pPr marL="411480">
              <a:lnSpc>
                <a:spcPct val="100000"/>
              </a:lnSpc>
              <a:spcBef>
                <a:spcPts val="600"/>
              </a:spcBef>
              <a:tabLst>
                <a:tab pos="699770" algn="l"/>
              </a:tabLst>
            </a:pPr>
            <a:r>
              <a:rPr sz="1400" spc="-50" dirty="0">
                <a:latin typeface="Century Gothic"/>
                <a:cs typeface="Century Gothic"/>
              </a:rPr>
              <a:t>–</a:t>
            </a:r>
            <a:r>
              <a:rPr sz="1400" dirty="0">
                <a:latin typeface="Century Gothic"/>
                <a:cs typeface="Century Gothic"/>
              </a:rPr>
              <a:t>	</a:t>
            </a:r>
            <a:r>
              <a:rPr sz="1600" dirty="0">
                <a:latin typeface="Century Gothic"/>
                <a:cs typeface="Century Gothic"/>
              </a:rPr>
              <a:t>#BSUB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-W</a:t>
            </a:r>
            <a:r>
              <a:rPr sz="1600" spc="-10" dirty="0">
                <a:latin typeface="Century Gothic"/>
                <a:cs typeface="Century Gothic"/>
              </a:rPr>
              <a:t> 01:00</a:t>
            </a:r>
            <a:endParaRPr sz="16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720"/>
              </a:spcBef>
              <a:buSzPct val="88888"/>
              <a:buChar char="–"/>
              <a:tabLst>
                <a:tab pos="699770" algn="l"/>
                <a:tab pos="700405" algn="l"/>
              </a:tabLst>
            </a:pPr>
            <a:r>
              <a:rPr sz="1600" dirty="0">
                <a:latin typeface="Century Gothic"/>
                <a:cs typeface="Century Gothic"/>
              </a:rPr>
              <a:t>#BSUB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-nnodes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50" dirty="0">
                <a:latin typeface="Century Gothic"/>
                <a:cs typeface="Century Gothic"/>
              </a:rPr>
              <a:t>1</a:t>
            </a:r>
            <a:endParaRPr sz="1600" dirty="0">
              <a:latin typeface="Century Gothic"/>
              <a:cs typeface="Century Gothic"/>
            </a:endParaRPr>
          </a:p>
          <a:p>
            <a:pPr marL="700405" lvl="1" indent="-288925">
              <a:lnSpc>
                <a:spcPct val="100000"/>
              </a:lnSpc>
              <a:spcBef>
                <a:spcPts val="720"/>
              </a:spcBef>
              <a:buSzPct val="88888"/>
              <a:buChar char="–"/>
              <a:tabLst>
                <a:tab pos="699770" algn="l"/>
                <a:tab pos="700405" algn="l"/>
              </a:tabLst>
            </a:pPr>
            <a:r>
              <a:rPr sz="1600" dirty="0">
                <a:latin typeface="Century Gothic"/>
                <a:cs typeface="Century Gothic"/>
              </a:rPr>
              <a:t>#BSUB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-alloc_flags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"gpumps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smt4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b="1" spc="-20" dirty="0">
                <a:latin typeface="Century Gothic"/>
                <a:cs typeface="Century Gothic"/>
              </a:rPr>
              <a:t>nvme</a:t>
            </a:r>
            <a:r>
              <a:rPr sz="1600" spc="-20" dirty="0">
                <a:latin typeface="Century Gothic"/>
                <a:cs typeface="Century Gothic"/>
              </a:rPr>
              <a:t>"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E939D4A-9AE1-CAB7-6613-3AD0352501C0}"/>
              </a:ext>
            </a:extLst>
          </p:cNvPr>
          <p:cNvSpPr txBox="1"/>
          <p:nvPr/>
        </p:nvSpPr>
        <p:spPr>
          <a:xfrm>
            <a:off x="6175157" y="3567684"/>
            <a:ext cx="52228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3440" algn="l"/>
                <a:tab pos="3249295" algn="l"/>
                <a:tab pos="4871720" algn="l"/>
              </a:tabLst>
            </a:pPr>
            <a:r>
              <a:rPr sz="2000" spc="-10" dirty="0">
                <a:latin typeface="Century Gothic"/>
                <a:cs typeface="Century Gothic"/>
              </a:rPr>
              <a:t>1452706772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-10" dirty="0">
                <a:latin typeface="Century Gothic"/>
                <a:cs typeface="Century Gothic"/>
              </a:rPr>
              <a:t>33040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-10" dirty="0">
                <a:latin typeface="Century Gothic"/>
                <a:cs typeface="Century Gothic"/>
              </a:rPr>
              <a:t>1452673732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-25" dirty="0">
                <a:latin typeface="Century Gothic"/>
                <a:cs typeface="Century Gothic"/>
              </a:rPr>
              <a:t>1%</a:t>
            </a:r>
            <a:endParaRPr sz="20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553920481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71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Performance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3915291-A002-6234-4949-540F06905E4F}"/>
              </a:ext>
            </a:extLst>
          </p:cNvPr>
          <p:cNvSpPr txBox="1"/>
          <p:nvPr/>
        </p:nvSpPr>
        <p:spPr>
          <a:xfrm>
            <a:off x="352128" y="1008162"/>
            <a:ext cx="12274806" cy="556563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01625" marR="1180465" indent="-288925">
              <a:spcBef>
                <a:spcPts val="500"/>
              </a:spcBef>
              <a:buSzPct val="89285"/>
              <a:buChar char="•"/>
              <a:tabLst>
                <a:tab pos="301625" algn="l"/>
              </a:tabLst>
            </a:pPr>
            <a:r>
              <a:rPr lang="en-US" sz="3200" dirty="0">
                <a:latin typeface="Century Gothic"/>
                <a:cs typeface="Century Gothic"/>
              </a:rPr>
              <a:t>Measured up to 2048 nodes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3BD5B924-9FE7-256A-E74E-385AFE67D40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2190" y="1944266"/>
            <a:ext cx="8574682" cy="504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996959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Agenda</a:t>
            </a:r>
            <a:endParaRPr lang="zh-CN" altLang="en-US" dirty="0">
              <a:solidFill>
                <a:srgbClr val="002060"/>
              </a:solidFill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3B00C-39F5-6C4A-72C0-90DBD63D5E51}"/>
              </a:ext>
            </a:extLst>
          </p:cNvPr>
          <p:cNvSpPr txBox="1"/>
          <p:nvPr/>
        </p:nvSpPr>
        <p:spPr>
          <a:xfrm>
            <a:off x="1455245" y="1368202"/>
            <a:ext cx="989111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overview</a:t>
            </a:r>
            <a:endParaRPr lang="en-US" altLang="zh-CN" sz="3200" dirty="0">
              <a:latin typeface="+mj-lt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Scheduler and Job Launch Introduction</a:t>
            </a: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Batch System (LSF)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3200" dirty="0">
                <a:latin typeface="+mj-lt"/>
                <a:cs typeface="Calibri" panose="020F0502020204030204"/>
              </a:rPr>
              <a:t>Job Launcher (</a:t>
            </a:r>
            <a:r>
              <a:rPr lang="en-US" altLang="zh-CN" sz="3200" dirty="0" err="1">
                <a:latin typeface="+mj-lt"/>
                <a:cs typeface="Calibri" panose="020F0502020204030204"/>
              </a:rPr>
              <a:t>jsrun</a:t>
            </a:r>
            <a:r>
              <a:rPr lang="en-US" altLang="zh-CN" sz="3200" dirty="0">
                <a:latin typeface="+mj-lt"/>
                <a:cs typeface="Calibri" panose="020F0502020204030204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The Summit Programming Environment</a:t>
            </a:r>
            <a:endParaRPr lang="en-US" altLang="zh-CN" sz="2800" dirty="0">
              <a:latin typeface="+mj-lt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LMOD Environment Modules</a:t>
            </a: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lang="en-US" altLang="zh-CN" sz="2800" dirty="0">
                <a:latin typeface="+mj-lt"/>
                <a:cs typeface="Calibri" panose="020F0502020204030204"/>
              </a:rPr>
              <a:t>Programming Models (MPI/OpenMP/CUDA)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latin typeface="+mj-lt"/>
                <a:cs typeface="Calibri" panose="020F0502020204030204"/>
              </a:rPr>
              <a:t>Summit Burst Buffer</a:t>
            </a: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cs typeface="Calibri" panose="020F0502020204030204"/>
              </a:rPr>
              <a:t>NVIDIA Profilers on Summit</a:t>
            </a:r>
            <a:endParaRPr lang="en-US" altLang="zh-CN" sz="3200" dirty="0">
              <a:solidFill>
                <a:srgbClr val="FF0000"/>
              </a:solidFill>
              <a:latin typeface="+mj-lt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04815270"/>
      </p:ext>
    </p:extLst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73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CUDA Vector Addition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E36BF3C-F1D1-4554-5DEC-B5AE2C664706}"/>
              </a:ext>
            </a:extLst>
          </p:cNvPr>
          <p:cNvSpPr txBox="1"/>
          <p:nvPr/>
        </p:nvSpPr>
        <p:spPr>
          <a:xfrm>
            <a:off x="424136" y="1152178"/>
            <a:ext cx="7200800" cy="5337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43344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40FF"/>
                </a:solidFill>
                <a:latin typeface="Courier New"/>
                <a:cs typeface="Courier New"/>
              </a:rPr>
              <a:t>#include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1400" b="1" dirty="0" err="1">
                <a:solidFill>
                  <a:srgbClr val="FF0000"/>
                </a:solidFill>
                <a:latin typeface="Courier New"/>
                <a:cs typeface="Courier New"/>
              </a:rPr>
              <a:t>stdio.h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endParaRPr lang="en-US" sz="14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 marR="343344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40FF"/>
                </a:solidFill>
                <a:latin typeface="Courier New"/>
                <a:cs typeface="Courier New"/>
              </a:rPr>
              <a:t>#define N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1048576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317500" marR="843280" indent="-304800">
              <a:lnSpc>
                <a:spcPct val="100000"/>
              </a:lnSpc>
            </a:pPr>
            <a:r>
              <a:rPr sz="1400" b="1" u="sng" dirty="0">
                <a:solidFill>
                  <a:srgbClr val="00B050"/>
                </a:solidFill>
                <a:uFill>
                  <a:solidFill>
                    <a:srgbClr val="00AF4F"/>
                  </a:solidFill>
                </a:uFill>
                <a:latin typeface="Courier New"/>
                <a:cs typeface="Courier New"/>
              </a:rPr>
              <a:t> 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global</a:t>
            </a:r>
            <a:r>
              <a:rPr sz="1400" b="1" u="sng" dirty="0">
                <a:solidFill>
                  <a:srgbClr val="00B050"/>
                </a:solidFill>
                <a:uFill>
                  <a:solidFill>
                    <a:srgbClr val="00AF4F"/>
                  </a:solidFill>
                </a:uFill>
                <a:latin typeface="Courier New"/>
                <a:cs typeface="Courier New"/>
              </a:rPr>
              <a:t> 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 void </a:t>
            </a:r>
            <a:r>
              <a:rPr sz="1400" b="1" dirty="0">
                <a:latin typeface="Courier New"/>
                <a:cs typeface="Courier New"/>
              </a:rPr>
              <a:t>add_vectors(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*a,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*b,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lang="en-US" sz="1400" b="1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*c){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843280" indent="-304800">
              <a:lnSpc>
                <a:spcPct val="100000"/>
              </a:lnSpc>
            </a:pPr>
            <a:r>
              <a:rPr lang="en-US" sz="1400" b="1" dirty="0">
                <a:solidFill>
                  <a:srgbClr val="00B050"/>
                </a:solidFill>
                <a:latin typeface="Courier New"/>
                <a:cs typeface="Courier New"/>
              </a:rPr>
              <a:t>   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id = blockDim.x * blockIdx.x + </a:t>
            </a:r>
            <a:r>
              <a:rPr sz="1400" b="1" dirty="0" err="1">
                <a:latin typeface="Courier New"/>
                <a:cs typeface="Courier New"/>
              </a:rPr>
              <a:t>threadIdx.x</a:t>
            </a:r>
            <a:r>
              <a:rPr sz="1400" b="1" dirty="0">
                <a:latin typeface="Courier New"/>
                <a:cs typeface="Courier New"/>
              </a:rPr>
              <a:t>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843280" indent="-304800">
              <a:lnSpc>
                <a:spcPct val="100000"/>
              </a:lnSpc>
            </a:pPr>
            <a:r>
              <a:rPr lang="en-US" sz="1400" b="1" dirty="0">
                <a:solidFill>
                  <a:srgbClr val="FF9900"/>
                </a:solidFill>
                <a:latin typeface="Courier New"/>
                <a:cs typeface="Courier New"/>
              </a:rPr>
              <a:t>    </a:t>
            </a:r>
            <a:r>
              <a:rPr sz="1400" b="1" dirty="0">
                <a:solidFill>
                  <a:srgbClr val="FF9900"/>
                </a:solidFill>
                <a:latin typeface="Courier New"/>
                <a:cs typeface="Courier New"/>
              </a:rPr>
              <a:t>if</a:t>
            </a:r>
            <a:r>
              <a:rPr sz="1400" b="1" dirty="0">
                <a:latin typeface="Courier New"/>
                <a:cs typeface="Courier New"/>
              </a:rPr>
              <a:t>(id &lt; N) c[id] = a[id] + b[id];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main(){</a:t>
            </a:r>
            <a:endParaRPr sz="1400" dirty="0">
              <a:latin typeface="Courier New"/>
              <a:cs typeface="Courier New"/>
            </a:endParaRPr>
          </a:p>
          <a:p>
            <a:pPr marL="31750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size_t </a:t>
            </a:r>
            <a:r>
              <a:rPr sz="1400" b="1" dirty="0">
                <a:latin typeface="Courier New"/>
                <a:cs typeface="Courier New"/>
              </a:rPr>
              <a:t>bytes = N*</a:t>
            </a:r>
            <a:r>
              <a:rPr sz="1400" b="1" dirty="0">
                <a:solidFill>
                  <a:srgbClr val="FFC000"/>
                </a:solidFill>
                <a:latin typeface="Courier New"/>
                <a:cs typeface="Courier New"/>
              </a:rPr>
              <a:t>sizeof</a:t>
            </a:r>
            <a:r>
              <a:rPr sz="1400" b="1" dirty="0">
                <a:latin typeface="Courier New"/>
                <a:cs typeface="Courier New"/>
              </a:rPr>
              <a:t>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);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317500" marR="229108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*A = 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*)malloc(bytes);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229108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*B = 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*)malloc(bytes);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229108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*C = 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*)malloc(bytes);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317500" marR="2672080">
              <a:lnSpc>
                <a:spcPct val="100000"/>
              </a:lnSpc>
            </a:pPr>
            <a:r>
              <a:rPr sz="1400" b="1" dirty="0">
                <a:latin typeface="Courier New"/>
                <a:cs typeface="Courier New"/>
              </a:rPr>
              <a:t>int *d_A, *d_B, *</a:t>
            </a:r>
            <a:r>
              <a:rPr sz="1400" b="1" dirty="0" err="1">
                <a:latin typeface="Courier New"/>
                <a:cs typeface="Courier New"/>
              </a:rPr>
              <a:t>d_C</a:t>
            </a:r>
            <a:r>
              <a:rPr sz="1400" b="1" dirty="0">
                <a:latin typeface="Courier New"/>
                <a:cs typeface="Courier New"/>
              </a:rPr>
              <a:t>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2672080">
              <a:lnSpc>
                <a:spcPct val="100000"/>
              </a:lnSpc>
            </a:pPr>
            <a:r>
              <a:rPr sz="1400" b="1" dirty="0" err="1">
                <a:latin typeface="Courier New"/>
                <a:cs typeface="Courier New"/>
              </a:rPr>
              <a:t>cudaMalloc</a:t>
            </a:r>
            <a:r>
              <a:rPr sz="1400" b="1" dirty="0">
                <a:latin typeface="Courier New"/>
                <a:cs typeface="Courier New"/>
              </a:rPr>
              <a:t>(&amp;d_A, bytes); cudaMalloc(&amp;d_B, bytes); cudaMalloc(&amp;d_C, bytes);</a:t>
            </a:r>
            <a:endParaRPr lang="zh-CN" altLang="en-US" sz="1400" b="1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zh-CN" altLang="en-US" sz="1600" dirty="0">
              <a:latin typeface="Courier New"/>
              <a:cs typeface="Courier New"/>
            </a:endParaRPr>
          </a:p>
          <a:p>
            <a:pPr marL="622300" marR="2748280" indent="-304800">
              <a:lnSpc>
                <a:spcPct val="100000"/>
              </a:lnSpc>
            </a:pPr>
            <a:r>
              <a:rPr lang="nn-NO" sz="1400" b="1" dirty="0">
                <a:solidFill>
                  <a:srgbClr val="FF9900"/>
                </a:solidFill>
                <a:latin typeface="Courier New"/>
                <a:cs typeface="Courier New"/>
              </a:rPr>
              <a:t>for</a:t>
            </a:r>
            <a:r>
              <a:rPr lang="nn-NO" sz="1400" b="1" dirty="0">
                <a:latin typeface="Courier New"/>
                <a:cs typeface="Courier New"/>
              </a:rPr>
              <a:t>(</a:t>
            </a:r>
            <a:r>
              <a:rPr lang="nn-NO"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lang="nn-NO" sz="1400" b="1" dirty="0">
                <a:latin typeface="Courier New"/>
                <a:cs typeface="Courier New"/>
              </a:rPr>
              <a:t>i=</a:t>
            </a:r>
            <a:r>
              <a:rPr lang="nn-NO" sz="1400" b="1" dirty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lang="nn-NO" sz="1400" b="1" dirty="0">
                <a:latin typeface="Courier New"/>
                <a:cs typeface="Courier New"/>
              </a:rPr>
              <a:t>; i&lt;N; i++){</a:t>
            </a:r>
          </a:p>
          <a:p>
            <a:pPr marL="622300" marR="2748280" indent="-304800">
              <a:lnSpc>
                <a:spcPct val="100000"/>
              </a:lnSpc>
            </a:pPr>
            <a:r>
              <a:rPr lang="nn-NO" sz="1400" b="1" dirty="0">
                <a:latin typeface="Courier New"/>
                <a:cs typeface="Courier New"/>
              </a:rPr>
              <a:t>   A[i] = </a:t>
            </a:r>
            <a:r>
              <a:rPr lang="nn-NO" sz="1400" b="1" dirty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nn-NO" sz="1400" b="1" dirty="0">
                <a:latin typeface="Courier New"/>
                <a:cs typeface="Courier New"/>
              </a:rPr>
              <a:t>;</a:t>
            </a:r>
            <a:endParaRPr lang="nn-NO" sz="1400" dirty="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lang="nn-NO" sz="1400" b="1" dirty="0">
                <a:latin typeface="Courier New"/>
                <a:cs typeface="Courier New"/>
              </a:rPr>
              <a:t>B[i] = </a:t>
            </a:r>
            <a:r>
              <a:rPr lang="nn-NO" sz="1400" b="1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r>
              <a:rPr lang="nn-NO" sz="1400" b="1" dirty="0">
                <a:latin typeface="Courier New"/>
                <a:cs typeface="Courier New"/>
              </a:rPr>
              <a:t>;</a:t>
            </a:r>
            <a:endParaRPr lang="nn-NO" sz="14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nn-NO" sz="1400" b="1" dirty="0">
                <a:latin typeface="Courier New"/>
                <a:cs typeface="Courier New"/>
              </a:rPr>
              <a:t>}</a:t>
            </a:r>
            <a:endParaRPr lang="nn-NO" sz="1400" dirty="0">
              <a:latin typeface="Courier New"/>
              <a:cs typeface="Courier New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716199A-F45D-35CC-EAB8-31571DCD46B6}"/>
              </a:ext>
            </a:extLst>
          </p:cNvPr>
          <p:cNvSpPr txBox="1"/>
          <p:nvPr/>
        </p:nvSpPr>
        <p:spPr>
          <a:xfrm>
            <a:off x="6184776" y="2655154"/>
            <a:ext cx="7200800" cy="3834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690880">
              <a:lnSpc>
                <a:spcPct val="100000"/>
              </a:lnSpc>
            </a:pPr>
            <a:r>
              <a:rPr lang="en-US" altLang="zh-CN" sz="1400" b="1" dirty="0" err="1">
                <a:latin typeface="Courier New"/>
                <a:cs typeface="Courier New"/>
              </a:rPr>
              <a:t>cudaMemcpy</a:t>
            </a:r>
            <a:r>
              <a:rPr lang="en-US" altLang="zh-CN" sz="1400" b="1" dirty="0">
                <a:latin typeface="Courier New"/>
                <a:cs typeface="Courier New"/>
              </a:rPr>
              <a:t>(</a:t>
            </a:r>
            <a:r>
              <a:rPr lang="en-US" altLang="zh-CN" sz="1400" b="1" dirty="0" err="1">
                <a:latin typeface="Courier New"/>
                <a:cs typeface="Courier New"/>
              </a:rPr>
              <a:t>d_A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A,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bytes,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solidFill>
                  <a:srgbClr val="FF0000"/>
                </a:solidFill>
                <a:latin typeface="Courier New"/>
                <a:cs typeface="Courier New"/>
              </a:rPr>
              <a:t>cudaMemcpyHostToDevice</a:t>
            </a:r>
            <a:r>
              <a:rPr lang="en-US" altLang="zh-CN" sz="1400" b="1" spc="-10" dirty="0">
                <a:latin typeface="Courier New"/>
                <a:cs typeface="Courier New"/>
              </a:rPr>
              <a:t>); </a:t>
            </a:r>
            <a:r>
              <a:rPr lang="en-US" altLang="zh-CN" sz="1400" b="1" dirty="0" err="1">
                <a:latin typeface="Courier New"/>
                <a:cs typeface="Courier New"/>
              </a:rPr>
              <a:t>cudaMemcpy</a:t>
            </a:r>
            <a:r>
              <a:rPr lang="en-US" altLang="zh-CN" sz="1400" b="1" dirty="0">
                <a:latin typeface="Courier New"/>
                <a:cs typeface="Courier New"/>
              </a:rPr>
              <a:t>(</a:t>
            </a:r>
            <a:r>
              <a:rPr lang="en-US" altLang="zh-CN" sz="1400" b="1" dirty="0" err="1">
                <a:latin typeface="Courier New"/>
                <a:cs typeface="Courier New"/>
              </a:rPr>
              <a:t>d_B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bytes,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solidFill>
                  <a:srgbClr val="FF0000"/>
                </a:solidFill>
                <a:latin typeface="Courier New"/>
                <a:cs typeface="Courier New"/>
              </a:rPr>
              <a:t>cudaMemcpyHostToDevice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altLang="zh-CN" sz="16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en-US" altLang="zh-CN"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lang="en-US" altLang="zh-CN" sz="1400" b="1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thr_per_blk</a:t>
            </a:r>
            <a:r>
              <a:rPr lang="en-US" altLang="zh-CN" sz="1400" b="1" spc="-25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=</a:t>
            </a:r>
            <a:r>
              <a:rPr lang="en-US" altLang="zh-CN" sz="1400" b="1" spc="-25" dirty="0">
                <a:latin typeface="Courier New"/>
                <a:cs typeface="Courier New"/>
              </a:rPr>
              <a:t> </a:t>
            </a:r>
            <a:r>
              <a:rPr lang="en-US" altLang="zh-CN" sz="1400" b="1" spc="-20" dirty="0">
                <a:solidFill>
                  <a:srgbClr val="FF0000"/>
                </a:solidFill>
                <a:latin typeface="Courier New"/>
                <a:cs typeface="Courier New"/>
              </a:rPr>
              <a:t>256</a:t>
            </a:r>
            <a:r>
              <a:rPr lang="en-US" altLang="zh-CN" sz="1400" b="1" spc="-20" dirty="0">
                <a:latin typeface="Courier New"/>
                <a:cs typeface="Courier New"/>
              </a:rPr>
              <a:t>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 marR="5080">
              <a:lnSpc>
                <a:spcPct val="100000"/>
              </a:lnSpc>
            </a:pPr>
            <a:r>
              <a:rPr lang="en-US" altLang="zh-CN"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lang="en-US" altLang="zh-CN" sz="1400" b="1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blk_in_grid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=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ceil(</a:t>
            </a:r>
            <a:r>
              <a:rPr lang="en-US" altLang="zh-CN" sz="1400" b="1" spc="-2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  <a:latin typeface="Courier New"/>
                <a:cs typeface="Courier New"/>
              </a:rPr>
              <a:t>float</a:t>
            </a:r>
            <a:r>
              <a:rPr lang="en-US" altLang="zh-CN" sz="1400" b="1" dirty="0">
                <a:latin typeface="Courier New"/>
                <a:cs typeface="Courier New"/>
              </a:rPr>
              <a:t>(N)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/</a:t>
            </a:r>
            <a:r>
              <a:rPr lang="en-US" altLang="zh-CN" sz="1400" b="1" spc="-25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thr_per_blk</a:t>
            </a:r>
            <a:r>
              <a:rPr lang="en-US" altLang="zh-CN" sz="1400" b="1" spc="-25" dirty="0">
                <a:latin typeface="Courier New"/>
                <a:cs typeface="Courier New"/>
              </a:rPr>
              <a:t> );</a:t>
            </a:r>
          </a:p>
          <a:p>
            <a:pPr marL="317500" marR="5080">
              <a:lnSpc>
                <a:spcPct val="100000"/>
              </a:lnSpc>
            </a:pPr>
            <a:r>
              <a:rPr lang="en-US" altLang="zh-CN" sz="1400" b="1" dirty="0" err="1">
                <a:latin typeface="Courier New"/>
                <a:cs typeface="Courier New"/>
              </a:rPr>
              <a:t>add_vectors</a:t>
            </a:r>
            <a:r>
              <a:rPr lang="en-US" altLang="zh-CN" sz="1400" b="1" dirty="0">
                <a:latin typeface="Courier New"/>
                <a:cs typeface="Courier New"/>
              </a:rPr>
              <a:t>&lt;&lt;&lt;</a:t>
            </a:r>
            <a:r>
              <a:rPr lang="en-US" altLang="zh-CN" sz="1400" b="1" spc="-45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blk_in_grid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50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thr_per_blk</a:t>
            </a:r>
            <a:r>
              <a:rPr lang="en-US" altLang="zh-CN" sz="1400" b="1" spc="-5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&gt;&gt;&gt;(</a:t>
            </a:r>
            <a:r>
              <a:rPr lang="en-US" altLang="zh-CN" sz="1400" b="1" dirty="0" err="1">
                <a:latin typeface="Courier New"/>
                <a:cs typeface="Courier New"/>
              </a:rPr>
              <a:t>d_A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50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d_B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5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d_C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 marR="690880">
              <a:lnSpc>
                <a:spcPct val="200000"/>
              </a:lnSpc>
            </a:pPr>
            <a:r>
              <a:rPr lang="en-US" altLang="zh-CN" sz="1400" b="1" dirty="0" err="1">
                <a:latin typeface="Courier New"/>
                <a:cs typeface="Courier New"/>
              </a:rPr>
              <a:t>cudaMemcpy</a:t>
            </a:r>
            <a:r>
              <a:rPr lang="en-US" altLang="zh-CN" sz="1400" b="1" dirty="0">
                <a:latin typeface="Courier New"/>
                <a:cs typeface="Courier New"/>
              </a:rPr>
              <a:t>(C,</a:t>
            </a:r>
            <a:r>
              <a:rPr lang="en-US" altLang="zh-CN" sz="1400" b="1" spc="-35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d_C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bytes,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solidFill>
                  <a:srgbClr val="FF0000"/>
                </a:solidFill>
                <a:latin typeface="Courier New"/>
                <a:cs typeface="Courier New"/>
              </a:rPr>
              <a:t>cudaMemcpyDeviceToHost</a:t>
            </a:r>
            <a:r>
              <a:rPr lang="en-US" altLang="zh-CN" sz="1400" b="1" spc="-10" dirty="0">
                <a:latin typeface="Courier New"/>
                <a:cs typeface="Courier New"/>
              </a:rPr>
              <a:t>); free(A);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free(B);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free(C);</a:t>
            </a:r>
          </a:p>
          <a:p>
            <a:pPr marL="317500">
              <a:lnSpc>
                <a:spcPct val="100000"/>
              </a:lnSpc>
            </a:pPr>
            <a:endParaRPr lang="en-US" sz="1400" b="1" spc="-10" dirty="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   </a:t>
            </a:r>
            <a:r>
              <a:rPr lang="en-US" altLang="zh-CN" sz="1400" b="1" spc="-10" dirty="0" err="1">
                <a:latin typeface="Courier New"/>
                <a:cs typeface="Courier New"/>
              </a:rPr>
              <a:t>cudaFree</a:t>
            </a:r>
            <a:r>
              <a:rPr lang="en-US" altLang="zh-CN" sz="1400" b="1" spc="-10" dirty="0">
                <a:latin typeface="Courier New"/>
                <a:cs typeface="Courier New"/>
              </a:rPr>
              <a:t>(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d_A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   </a:t>
            </a:r>
            <a:r>
              <a:rPr lang="en-US" altLang="zh-CN" sz="1400" b="1" spc="-10" dirty="0" err="1">
                <a:latin typeface="Courier New"/>
                <a:cs typeface="Courier New"/>
              </a:rPr>
              <a:t>cudaFree</a:t>
            </a:r>
            <a:r>
              <a:rPr lang="en-US" altLang="zh-CN" sz="1400" b="1" spc="-10" dirty="0">
                <a:latin typeface="Courier New"/>
                <a:cs typeface="Courier New"/>
              </a:rPr>
              <a:t>(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d_B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</a:p>
          <a:p>
            <a:pPr marL="12700" marR="508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   </a:t>
            </a:r>
            <a:r>
              <a:rPr lang="en-US" altLang="zh-CN" sz="1400" b="1" spc="-10" dirty="0" err="1">
                <a:latin typeface="Courier New"/>
                <a:cs typeface="Courier New"/>
              </a:rPr>
              <a:t>cudaFree</a:t>
            </a:r>
            <a:r>
              <a:rPr lang="en-US" altLang="zh-CN" sz="1400" b="1" spc="-10" dirty="0">
                <a:latin typeface="Courier New"/>
                <a:cs typeface="Courier New"/>
              </a:rPr>
              <a:t>(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d_C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/>
            <a:r>
              <a:rPr lang="en-US" altLang="zh-CN" sz="1400" b="1" dirty="0">
                <a:solidFill>
                  <a:srgbClr val="FF9900"/>
                </a:solidFill>
                <a:latin typeface="Courier New"/>
                <a:cs typeface="Courier New"/>
              </a:rPr>
              <a:t>return</a:t>
            </a:r>
            <a:r>
              <a:rPr lang="en-US" altLang="zh-CN" sz="1400" b="1" spc="-30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spc="-25" dirty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lang="en-US" altLang="zh-CN" sz="1400" b="1" spc="-25" dirty="0">
                <a:latin typeface="Courier New"/>
                <a:cs typeface="Courier New"/>
              </a:rPr>
              <a:t>;</a:t>
            </a:r>
            <a:endParaRPr lang="en-US" altLang="zh-CN" sz="1400" dirty="0">
              <a:latin typeface="Courier New"/>
              <a:cs typeface="Courier New"/>
            </a:endParaRPr>
          </a:p>
          <a:p>
            <a:r>
              <a:rPr lang="en-US" sz="1400" b="1" spc="-10" dirty="0"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32371843"/>
      </p:ext>
    </p:extLst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74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CUDA Vector Addition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E36BF3C-F1D1-4554-5DEC-B5AE2C664706}"/>
              </a:ext>
            </a:extLst>
          </p:cNvPr>
          <p:cNvSpPr txBox="1"/>
          <p:nvPr/>
        </p:nvSpPr>
        <p:spPr>
          <a:xfrm>
            <a:off x="424136" y="1152178"/>
            <a:ext cx="7200800" cy="5337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43344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40FF"/>
                </a:solidFill>
                <a:latin typeface="Courier New"/>
                <a:cs typeface="Courier New"/>
              </a:rPr>
              <a:t>#include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1400" b="1" dirty="0" err="1">
                <a:solidFill>
                  <a:srgbClr val="FF0000"/>
                </a:solidFill>
                <a:latin typeface="Courier New"/>
                <a:cs typeface="Courier New"/>
              </a:rPr>
              <a:t>stdio.h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endParaRPr lang="en-US" sz="14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 marR="343344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40FF"/>
                </a:solidFill>
                <a:latin typeface="Courier New"/>
                <a:cs typeface="Courier New"/>
              </a:rPr>
              <a:t>#define N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1048576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317500" marR="843280" indent="-304800">
              <a:lnSpc>
                <a:spcPct val="100000"/>
              </a:lnSpc>
            </a:pPr>
            <a:r>
              <a:rPr sz="1400" b="1" u="sng" dirty="0">
                <a:solidFill>
                  <a:srgbClr val="00B050"/>
                </a:solidFill>
                <a:uFill>
                  <a:solidFill>
                    <a:srgbClr val="00AF4F"/>
                  </a:solidFill>
                </a:uFill>
                <a:latin typeface="Courier New"/>
                <a:cs typeface="Courier New"/>
              </a:rPr>
              <a:t> 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global</a:t>
            </a:r>
            <a:r>
              <a:rPr sz="1400" b="1" u="sng" dirty="0">
                <a:solidFill>
                  <a:srgbClr val="00B050"/>
                </a:solidFill>
                <a:uFill>
                  <a:solidFill>
                    <a:srgbClr val="00AF4F"/>
                  </a:solidFill>
                </a:uFill>
                <a:latin typeface="Courier New"/>
                <a:cs typeface="Courier New"/>
              </a:rPr>
              <a:t> 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 void </a:t>
            </a:r>
            <a:r>
              <a:rPr sz="1400" b="1" dirty="0">
                <a:latin typeface="Courier New"/>
                <a:cs typeface="Courier New"/>
              </a:rPr>
              <a:t>add_vectors(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*a,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*b,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lang="en-US" sz="1400" b="1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*c){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843280" indent="-304800">
              <a:lnSpc>
                <a:spcPct val="100000"/>
              </a:lnSpc>
            </a:pPr>
            <a:r>
              <a:rPr lang="en-US" sz="1400" b="1" dirty="0">
                <a:solidFill>
                  <a:srgbClr val="00B050"/>
                </a:solidFill>
                <a:latin typeface="Courier New"/>
                <a:cs typeface="Courier New"/>
              </a:rPr>
              <a:t>    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id = blockDim.x * blockIdx.x + </a:t>
            </a:r>
            <a:r>
              <a:rPr sz="1400" b="1" dirty="0" err="1">
                <a:latin typeface="Courier New"/>
                <a:cs typeface="Courier New"/>
              </a:rPr>
              <a:t>threadIdx.x</a:t>
            </a:r>
            <a:r>
              <a:rPr sz="1400" b="1" dirty="0">
                <a:latin typeface="Courier New"/>
                <a:cs typeface="Courier New"/>
              </a:rPr>
              <a:t>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843280" indent="-304800">
              <a:lnSpc>
                <a:spcPct val="100000"/>
              </a:lnSpc>
            </a:pPr>
            <a:r>
              <a:rPr lang="en-US" sz="1400" b="1" dirty="0">
                <a:solidFill>
                  <a:srgbClr val="FF9900"/>
                </a:solidFill>
                <a:latin typeface="Courier New"/>
                <a:cs typeface="Courier New"/>
              </a:rPr>
              <a:t>    </a:t>
            </a:r>
            <a:r>
              <a:rPr sz="1400" b="1" dirty="0">
                <a:solidFill>
                  <a:srgbClr val="FF9900"/>
                </a:solidFill>
                <a:latin typeface="Courier New"/>
                <a:cs typeface="Courier New"/>
              </a:rPr>
              <a:t>if</a:t>
            </a:r>
            <a:r>
              <a:rPr sz="1400" b="1" dirty="0">
                <a:latin typeface="Courier New"/>
                <a:cs typeface="Courier New"/>
              </a:rPr>
              <a:t>(id &lt; N) c[id] = a[id] + b[id];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main(){</a:t>
            </a:r>
            <a:endParaRPr sz="1400" dirty="0">
              <a:latin typeface="Courier New"/>
              <a:cs typeface="Courier New"/>
            </a:endParaRPr>
          </a:p>
          <a:p>
            <a:pPr marL="31750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size_t </a:t>
            </a:r>
            <a:r>
              <a:rPr sz="1400" b="1" dirty="0">
                <a:latin typeface="Courier New"/>
                <a:cs typeface="Courier New"/>
              </a:rPr>
              <a:t>bytes = N*</a:t>
            </a:r>
            <a:r>
              <a:rPr sz="1400" b="1" dirty="0">
                <a:solidFill>
                  <a:srgbClr val="FFC000"/>
                </a:solidFill>
                <a:latin typeface="Courier New"/>
                <a:cs typeface="Courier New"/>
              </a:rPr>
              <a:t>sizeof</a:t>
            </a:r>
            <a:r>
              <a:rPr sz="1400" b="1" dirty="0">
                <a:latin typeface="Courier New"/>
                <a:cs typeface="Courier New"/>
              </a:rPr>
              <a:t>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);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317500" marR="229108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*A = 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*)malloc(bytes);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229108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*B = 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*)malloc(bytes);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2291080" algn="just">
              <a:lnSpc>
                <a:spcPct val="100000"/>
              </a:lnSpc>
            </a:pP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sz="1400" b="1" dirty="0">
                <a:latin typeface="Courier New"/>
                <a:cs typeface="Courier New"/>
              </a:rPr>
              <a:t>*C = (</a:t>
            </a:r>
            <a:r>
              <a:rPr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sz="1400" b="1" dirty="0">
                <a:latin typeface="Courier New"/>
                <a:cs typeface="Courier New"/>
              </a:rPr>
              <a:t>*)malloc(bytes);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 dirty="0">
              <a:latin typeface="Courier New"/>
              <a:cs typeface="Courier New"/>
            </a:endParaRPr>
          </a:p>
          <a:p>
            <a:pPr marL="317500" marR="2672080">
              <a:lnSpc>
                <a:spcPct val="100000"/>
              </a:lnSpc>
            </a:pPr>
            <a:r>
              <a:rPr sz="1400" b="1" dirty="0">
                <a:latin typeface="Courier New"/>
                <a:cs typeface="Courier New"/>
              </a:rPr>
              <a:t>int *d_A, *d_B, *</a:t>
            </a:r>
            <a:r>
              <a:rPr sz="1400" b="1" dirty="0" err="1">
                <a:latin typeface="Courier New"/>
                <a:cs typeface="Courier New"/>
              </a:rPr>
              <a:t>d_C</a:t>
            </a:r>
            <a:r>
              <a:rPr sz="1400" b="1" dirty="0">
                <a:latin typeface="Courier New"/>
                <a:cs typeface="Courier New"/>
              </a:rPr>
              <a:t>;</a:t>
            </a:r>
            <a:endParaRPr lang="en-US" sz="1400" b="1" dirty="0">
              <a:latin typeface="Courier New"/>
              <a:cs typeface="Courier New"/>
            </a:endParaRPr>
          </a:p>
          <a:p>
            <a:pPr marL="317500" marR="2672080">
              <a:lnSpc>
                <a:spcPct val="100000"/>
              </a:lnSpc>
            </a:pPr>
            <a:r>
              <a:rPr sz="1400" b="1" dirty="0" err="1">
                <a:latin typeface="Courier New"/>
                <a:cs typeface="Courier New"/>
              </a:rPr>
              <a:t>cudaMalloc</a:t>
            </a:r>
            <a:r>
              <a:rPr sz="1400" b="1" dirty="0">
                <a:latin typeface="Courier New"/>
                <a:cs typeface="Courier New"/>
              </a:rPr>
              <a:t>(&amp;d_A, bytes); cudaMalloc(&amp;d_B, bytes); cudaMalloc(&amp;d_C, bytes);</a:t>
            </a:r>
            <a:endParaRPr lang="zh-CN" altLang="en-US" sz="1400" b="1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zh-CN" altLang="en-US" sz="1600" dirty="0">
              <a:latin typeface="Courier New"/>
              <a:cs typeface="Courier New"/>
            </a:endParaRPr>
          </a:p>
          <a:p>
            <a:pPr marL="622300" marR="2748280" indent="-304800">
              <a:lnSpc>
                <a:spcPct val="100000"/>
              </a:lnSpc>
            </a:pPr>
            <a:r>
              <a:rPr lang="nn-NO" sz="1400" b="1" dirty="0">
                <a:solidFill>
                  <a:srgbClr val="FF9900"/>
                </a:solidFill>
                <a:latin typeface="Courier New"/>
                <a:cs typeface="Courier New"/>
              </a:rPr>
              <a:t>for</a:t>
            </a:r>
            <a:r>
              <a:rPr lang="nn-NO" sz="1400" b="1" dirty="0">
                <a:latin typeface="Courier New"/>
                <a:cs typeface="Courier New"/>
              </a:rPr>
              <a:t>(</a:t>
            </a:r>
            <a:r>
              <a:rPr lang="nn-NO" sz="1400" b="1" dirty="0">
                <a:solidFill>
                  <a:srgbClr val="00B050"/>
                </a:solidFill>
                <a:latin typeface="Courier New"/>
                <a:cs typeface="Courier New"/>
              </a:rPr>
              <a:t>int </a:t>
            </a:r>
            <a:r>
              <a:rPr lang="nn-NO" sz="1400" b="1" dirty="0">
                <a:latin typeface="Courier New"/>
                <a:cs typeface="Courier New"/>
              </a:rPr>
              <a:t>i=</a:t>
            </a:r>
            <a:r>
              <a:rPr lang="nn-NO" sz="1400" b="1" dirty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lang="nn-NO" sz="1400" b="1" dirty="0">
                <a:latin typeface="Courier New"/>
                <a:cs typeface="Courier New"/>
              </a:rPr>
              <a:t>; i&lt;N; i++){</a:t>
            </a:r>
          </a:p>
          <a:p>
            <a:pPr marL="622300" marR="2748280" indent="-304800">
              <a:lnSpc>
                <a:spcPct val="100000"/>
              </a:lnSpc>
            </a:pPr>
            <a:r>
              <a:rPr lang="nn-NO" sz="1400" b="1" dirty="0">
                <a:latin typeface="Courier New"/>
                <a:cs typeface="Courier New"/>
              </a:rPr>
              <a:t>   A[i] = </a:t>
            </a:r>
            <a:r>
              <a:rPr lang="nn-NO" sz="1400" b="1" dirty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nn-NO" sz="1400" b="1" dirty="0">
                <a:latin typeface="Courier New"/>
                <a:cs typeface="Courier New"/>
              </a:rPr>
              <a:t>;</a:t>
            </a:r>
            <a:endParaRPr lang="nn-NO" sz="1400" dirty="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lang="nn-NO" sz="1400" b="1" dirty="0">
                <a:latin typeface="Courier New"/>
                <a:cs typeface="Courier New"/>
              </a:rPr>
              <a:t>B[i] = </a:t>
            </a:r>
            <a:r>
              <a:rPr lang="nn-NO" sz="1400" b="1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r>
              <a:rPr lang="nn-NO" sz="1400" b="1" dirty="0">
                <a:latin typeface="Courier New"/>
                <a:cs typeface="Courier New"/>
              </a:rPr>
              <a:t>;</a:t>
            </a:r>
            <a:endParaRPr lang="nn-NO" sz="14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nn-NO" sz="1400" b="1" dirty="0">
                <a:latin typeface="Courier New"/>
                <a:cs typeface="Courier New"/>
              </a:rPr>
              <a:t>}</a:t>
            </a:r>
            <a:endParaRPr lang="nn-NO" sz="1400" dirty="0">
              <a:latin typeface="Courier New"/>
              <a:cs typeface="Courier New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716199A-F45D-35CC-EAB8-31571DCD46B6}"/>
              </a:ext>
            </a:extLst>
          </p:cNvPr>
          <p:cNvSpPr txBox="1"/>
          <p:nvPr/>
        </p:nvSpPr>
        <p:spPr>
          <a:xfrm>
            <a:off x="6148772" y="2123488"/>
            <a:ext cx="7200800" cy="4511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690880">
              <a:lnSpc>
                <a:spcPct val="100000"/>
              </a:lnSpc>
            </a:pPr>
            <a:r>
              <a:rPr lang="en-US" altLang="zh-CN" sz="1400" b="1" dirty="0" err="1">
                <a:latin typeface="Courier New"/>
                <a:cs typeface="Courier New"/>
              </a:rPr>
              <a:t>cudaMemcpy</a:t>
            </a:r>
            <a:r>
              <a:rPr lang="en-US" altLang="zh-CN" sz="1400" b="1" dirty="0">
                <a:latin typeface="Courier New"/>
                <a:cs typeface="Courier New"/>
              </a:rPr>
              <a:t>(</a:t>
            </a:r>
            <a:r>
              <a:rPr lang="en-US" altLang="zh-CN" sz="1400" b="1" dirty="0" err="1">
                <a:latin typeface="Courier New"/>
                <a:cs typeface="Courier New"/>
              </a:rPr>
              <a:t>d_A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A,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bytes,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solidFill>
                  <a:srgbClr val="FF0000"/>
                </a:solidFill>
                <a:latin typeface="Courier New"/>
                <a:cs typeface="Courier New"/>
              </a:rPr>
              <a:t>cudaMemcpyHostToDevice</a:t>
            </a:r>
            <a:r>
              <a:rPr lang="en-US" altLang="zh-CN" sz="1400" b="1" spc="-10" dirty="0">
                <a:latin typeface="Courier New"/>
                <a:cs typeface="Courier New"/>
              </a:rPr>
              <a:t>); </a:t>
            </a:r>
            <a:r>
              <a:rPr lang="en-US" altLang="zh-CN" sz="1400" b="1" dirty="0" err="1">
                <a:latin typeface="Courier New"/>
                <a:cs typeface="Courier New"/>
              </a:rPr>
              <a:t>cudaMemcpy</a:t>
            </a:r>
            <a:r>
              <a:rPr lang="en-US" altLang="zh-CN" sz="1400" b="1" dirty="0">
                <a:latin typeface="Courier New"/>
                <a:cs typeface="Courier New"/>
              </a:rPr>
              <a:t>(</a:t>
            </a:r>
            <a:r>
              <a:rPr lang="en-US" altLang="zh-CN" sz="1400" b="1" dirty="0" err="1">
                <a:latin typeface="Courier New"/>
                <a:cs typeface="Courier New"/>
              </a:rPr>
              <a:t>d_B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bytes,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solidFill>
                  <a:srgbClr val="FF0000"/>
                </a:solidFill>
                <a:latin typeface="Courier New"/>
                <a:cs typeface="Courier New"/>
              </a:rPr>
              <a:t>cudaMemcpyHostToDevice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altLang="zh-CN" sz="16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altLang="zh-CN" sz="16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en-US" altLang="zh-CN"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lang="en-US" altLang="zh-CN" sz="1400" b="1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thr_per_blk</a:t>
            </a:r>
            <a:r>
              <a:rPr lang="en-US" altLang="zh-CN" sz="1400" b="1" spc="-25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=</a:t>
            </a:r>
            <a:r>
              <a:rPr lang="en-US" altLang="zh-CN" sz="1400" b="1" spc="-25" dirty="0">
                <a:latin typeface="Courier New"/>
                <a:cs typeface="Courier New"/>
              </a:rPr>
              <a:t> </a:t>
            </a:r>
            <a:r>
              <a:rPr lang="en-US" altLang="zh-CN" sz="1400" b="1" spc="-20" dirty="0">
                <a:solidFill>
                  <a:srgbClr val="FF0000"/>
                </a:solidFill>
                <a:latin typeface="Courier New"/>
                <a:cs typeface="Courier New"/>
              </a:rPr>
              <a:t>256</a:t>
            </a:r>
            <a:r>
              <a:rPr lang="en-US" altLang="zh-CN" sz="1400" b="1" spc="-20" dirty="0">
                <a:latin typeface="Courier New"/>
                <a:cs typeface="Courier New"/>
              </a:rPr>
              <a:t>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 marR="5080">
              <a:lnSpc>
                <a:spcPct val="100000"/>
              </a:lnSpc>
            </a:pPr>
            <a:r>
              <a:rPr lang="en-US" altLang="zh-CN" sz="1400" b="1" dirty="0">
                <a:solidFill>
                  <a:srgbClr val="00B050"/>
                </a:solidFill>
                <a:latin typeface="Courier New"/>
                <a:cs typeface="Courier New"/>
              </a:rPr>
              <a:t>int</a:t>
            </a:r>
            <a:r>
              <a:rPr lang="en-US" altLang="zh-CN" sz="1400" b="1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blk_in_grid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=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ceil(</a:t>
            </a:r>
            <a:r>
              <a:rPr lang="en-US" altLang="zh-CN" sz="1400" b="1" spc="-2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  <a:latin typeface="Courier New"/>
                <a:cs typeface="Courier New"/>
              </a:rPr>
              <a:t>float</a:t>
            </a:r>
            <a:r>
              <a:rPr lang="en-US" altLang="zh-CN" sz="1400" b="1" dirty="0">
                <a:latin typeface="Courier New"/>
                <a:cs typeface="Courier New"/>
              </a:rPr>
              <a:t>(N)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/</a:t>
            </a:r>
            <a:r>
              <a:rPr lang="en-US" altLang="zh-CN" sz="1400" b="1" spc="-25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thr_per_blk</a:t>
            </a:r>
            <a:r>
              <a:rPr lang="en-US" altLang="zh-CN" sz="1400" b="1" spc="-25" dirty="0">
                <a:latin typeface="Courier New"/>
                <a:cs typeface="Courier New"/>
              </a:rPr>
              <a:t> );</a:t>
            </a:r>
          </a:p>
          <a:p>
            <a:pPr marL="317500" marR="5080">
              <a:lnSpc>
                <a:spcPct val="100000"/>
              </a:lnSpc>
            </a:pPr>
            <a:r>
              <a:rPr lang="en-US" altLang="zh-CN" sz="1400" b="1" dirty="0" err="1">
                <a:latin typeface="Courier New"/>
                <a:cs typeface="Courier New"/>
              </a:rPr>
              <a:t>add_vectors</a:t>
            </a:r>
            <a:r>
              <a:rPr lang="en-US" altLang="zh-CN" sz="1400" b="1" dirty="0">
                <a:latin typeface="Courier New"/>
                <a:cs typeface="Courier New"/>
              </a:rPr>
              <a:t>&lt;&lt;&lt;</a:t>
            </a:r>
            <a:r>
              <a:rPr lang="en-US" altLang="zh-CN" sz="1400" b="1" spc="-45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blk_in_grid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50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thr_per_blk</a:t>
            </a:r>
            <a:r>
              <a:rPr lang="en-US" altLang="zh-CN" sz="1400" b="1" spc="-5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&gt;&gt;&gt;(</a:t>
            </a:r>
            <a:r>
              <a:rPr lang="en-US" altLang="zh-CN" sz="1400" b="1" dirty="0" err="1">
                <a:latin typeface="Courier New"/>
                <a:cs typeface="Courier New"/>
              </a:rPr>
              <a:t>d_A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50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d_B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5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d_C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 marR="690880">
              <a:lnSpc>
                <a:spcPct val="200000"/>
              </a:lnSpc>
            </a:pPr>
            <a:endParaRPr lang="en-US" altLang="zh-CN" sz="1400" b="1" dirty="0">
              <a:latin typeface="Courier New"/>
              <a:cs typeface="Courier New"/>
            </a:endParaRPr>
          </a:p>
          <a:p>
            <a:pPr marL="317500" marR="690880">
              <a:lnSpc>
                <a:spcPct val="200000"/>
              </a:lnSpc>
            </a:pPr>
            <a:r>
              <a:rPr lang="en-US" altLang="zh-CN" sz="1400" b="1" dirty="0" err="1">
                <a:latin typeface="Courier New"/>
                <a:cs typeface="Courier New"/>
              </a:rPr>
              <a:t>cudaMemcpy</a:t>
            </a:r>
            <a:r>
              <a:rPr lang="en-US" altLang="zh-CN" sz="1400" b="1" dirty="0">
                <a:latin typeface="Courier New"/>
                <a:cs typeface="Courier New"/>
              </a:rPr>
              <a:t>(C,</a:t>
            </a:r>
            <a:r>
              <a:rPr lang="en-US" altLang="zh-CN" sz="1400" b="1" spc="-35" dirty="0">
                <a:latin typeface="Courier New"/>
                <a:cs typeface="Courier New"/>
              </a:rPr>
              <a:t> </a:t>
            </a:r>
            <a:r>
              <a:rPr lang="en-US" altLang="zh-CN" sz="1400" b="1" dirty="0" err="1">
                <a:latin typeface="Courier New"/>
                <a:cs typeface="Courier New"/>
              </a:rPr>
              <a:t>d_C</a:t>
            </a:r>
            <a:r>
              <a:rPr lang="en-US" altLang="zh-CN" sz="1400" b="1" dirty="0">
                <a:latin typeface="Courier New"/>
                <a:cs typeface="Courier New"/>
              </a:rPr>
              <a:t>,</a:t>
            </a:r>
            <a:r>
              <a:rPr lang="en-US" altLang="zh-CN" sz="1400" b="1" spc="-40" dirty="0"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latin typeface="Courier New"/>
                <a:cs typeface="Courier New"/>
              </a:rPr>
              <a:t>bytes,</a:t>
            </a:r>
            <a:r>
              <a:rPr lang="en-US" altLang="zh-CN" sz="1400" b="1" spc="-30" dirty="0">
                <a:latin typeface="Courier New"/>
                <a:cs typeface="Courier New"/>
              </a:rPr>
              <a:t> </a:t>
            </a:r>
            <a:r>
              <a:rPr lang="en-US" altLang="zh-CN" sz="1400" b="1" spc="-10" dirty="0" err="1">
                <a:solidFill>
                  <a:srgbClr val="FF0000"/>
                </a:solidFill>
                <a:latin typeface="Courier New"/>
                <a:cs typeface="Courier New"/>
              </a:rPr>
              <a:t>cudaMemcpyDeviceToHost</a:t>
            </a:r>
            <a:r>
              <a:rPr lang="en-US" altLang="zh-CN" sz="1400" b="1" spc="-10" dirty="0">
                <a:latin typeface="Courier New"/>
                <a:cs typeface="Courier New"/>
              </a:rPr>
              <a:t>); free(A);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free(B);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free(C);</a:t>
            </a:r>
          </a:p>
          <a:p>
            <a:pPr marL="317500">
              <a:lnSpc>
                <a:spcPct val="100000"/>
              </a:lnSpc>
            </a:pPr>
            <a:endParaRPr lang="en-US" sz="1400" b="1" spc="-10" dirty="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   </a:t>
            </a:r>
            <a:r>
              <a:rPr lang="en-US" altLang="zh-CN" sz="1400" b="1" spc="-10" dirty="0" err="1">
                <a:latin typeface="Courier New"/>
                <a:cs typeface="Courier New"/>
              </a:rPr>
              <a:t>cudaFree</a:t>
            </a:r>
            <a:r>
              <a:rPr lang="en-US" altLang="zh-CN" sz="1400" b="1" spc="-10" dirty="0">
                <a:latin typeface="Courier New"/>
                <a:cs typeface="Courier New"/>
              </a:rPr>
              <a:t>(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d_A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   </a:t>
            </a:r>
            <a:r>
              <a:rPr lang="en-US" altLang="zh-CN" sz="1400" b="1" spc="-10" dirty="0" err="1">
                <a:latin typeface="Courier New"/>
                <a:cs typeface="Courier New"/>
              </a:rPr>
              <a:t>cudaFree</a:t>
            </a:r>
            <a:r>
              <a:rPr lang="en-US" altLang="zh-CN" sz="1400" b="1" spc="-10" dirty="0">
                <a:latin typeface="Courier New"/>
                <a:cs typeface="Courier New"/>
              </a:rPr>
              <a:t>(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d_B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</a:p>
          <a:p>
            <a:pPr marL="12700" marR="5080">
              <a:lnSpc>
                <a:spcPct val="100000"/>
              </a:lnSpc>
            </a:pPr>
            <a:r>
              <a:rPr lang="en-US" altLang="zh-CN" sz="1400" b="1" spc="-10" dirty="0">
                <a:latin typeface="Courier New"/>
                <a:cs typeface="Courier New"/>
              </a:rPr>
              <a:t>   </a:t>
            </a:r>
            <a:r>
              <a:rPr lang="en-US" altLang="zh-CN" sz="1400" b="1" spc="-10" dirty="0" err="1">
                <a:latin typeface="Courier New"/>
                <a:cs typeface="Courier New"/>
              </a:rPr>
              <a:t>cudaFree</a:t>
            </a:r>
            <a:r>
              <a:rPr lang="en-US" altLang="zh-CN" sz="1400" b="1" spc="-10" dirty="0">
                <a:latin typeface="Courier New"/>
                <a:cs typeface="Courier New"/>
              </a:rPr>
              <a:t>(</a:t>
            </a:r>
            <a:r>
              <a:rPr lang="en-US" altLang="zh-CN" sz="1400" b="1" spc="-10" dirty="0" err="1">
                <a:latin typeface="Courier New"/>
                <a:cs typeface="Courier New"/>
              </a:rPr>
              <a:t>d_C</a:t>
            </a:r>
            <a:r>
              <a:rPr lang="en-US" altLang="zh-CN" sz="1400" b="1" spc="-10" dirty="0">
                <a:latin typeface="Courier New"/>
                <a:cs typeface="Courier New"/>
              </a:rPr>
              <a:t>);</a:t>
            </a:r>
            <a:endParaRPr lang="en-US" altLang="zh-CN" sz="1400" dirty="0">
              <a:latin typeface="Courier New"/>
              <a:cs typeface="Courier New"/>
            </a:endParaRPr>
          </a:p>
          <a:p>
            <a:pPr marL="317500"/>
            <a:r>
              <a:rPr lang="en-US" altLang="zh-CN" sz="1400" b="1" dirty="0">
                <a:solidFill>
                  <a:srgbClr val="FF9900"/>
                </a:solidFill>
                <a:latin typeface="Courier New"/>
                <a:cs typeface="Courier New"/>
              </a:rPr>
              <a:t>return</a:t>
            </a:r>
            <a:r>
              <a:rPr lang="en-US" altLang="zh-CN" sz="1400" b="1" spc="-30" dirty="0">
                <a:solidFill>
                  <a:srgbClr val="FF99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spc="-25" dirty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lang="en-US" altLang="zh-CN" sz="1400" b="1" spc="-25" dirty="0">
                <a:latin typeface="Courier New"/>
                <a:cs typeface="Courier New"/>
              </a:rPr>
              <a:t>;</a:t>
            </a:r>
            <a:endParaRPr lang="en-US" altLang="zh-CN" sz="1400" dirty="0">
              <a:latin typeface="Courier New"/>
              <a:cs typeface="Courier New"/>
            </a:endParaRPr>
          </a:p>
          <a:p>
            <a:r>
              <a:rPr lang="en-US" sz="1400" b="1" spc="-10" dirty="0"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2" name="object 29">
            <a:extLst>
              <a:ext uri="{FF2B5EF4-FFF2-40B4-BE49-F238E27FC236}">
                <a16:creationId xmlns:a16="http://schemas.microsoft.com/office/drawing/2014/main" id="{94930C36-B906-267B-8527-DE873B50050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120" y="1763472"/>
            <a:ext cx="5904656" cy="9728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6B39CE26-9D09-32C3-E7EB-D207C5BDFFDD}"/>
              </a:ext>
            </a:extLst>
          </p:cNvPr>
          <p:cNvSpPr txBox="1"/>
          <p:nvPr/>
        </p:nvSpPr>
        <p:spPr>
          <a:xfrm>
            <a:off x="3232448" y="1446205"/>
            <a:ext cx="360040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70C0"/>
                </a:solidFill>
                <a:latin typeface="Arial"/>
                <a:cs typeface="Arial"/>
              </a:rPr>
              <a:t>Vector</a:t>
            </a:r>
            <a:r>
              <a:rPr sz="1800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70C0"/>
                </a:solidFill>
                <a:latin typeface="Arial"/>
                <a:cs typeface="Arial"/>
              </a:rPr>
              <a:t>addition</a:t>
            </a:r>
            <a:r>
              <a:rPr sz="1800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70C0"/>
                </a:solidFill>
                <a:latin typeface="Arial"/>
                <a:cs typeface="Arial"/>
              </a:rPr>
              <a:t>kernel</a:t>
            </a:r>
            <a:r>
              <a:rPr sz="1800" spc="-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Arial"/>
                <a:cs typeface="Arial"/>
              </a:rPr>
              <a:t>(GPU)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D173CC-739F-A8CD-11E8-724A6D1D5745}"/>
              </a:ext>
            </a:extLst>
          </p:cNvPr>
          <p:cNvSpPr txBox="1"/>
          <p:nvPr/>
        </p:nvSpPr>
        <p:spPr>
          <a:xfrm>
            <a:off x="3336206" y="3240410"/>
            <a:ext cx="2848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Allocate</a:t>
            </a:r>
            <a:r>
              <a:rPr lang="en-US" altLang="zh-CN" sz="18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memory</a:t>
            </a:r>
            <a:r>
              <a:rPr lang="en-US" altLang="zh-CN" sz="18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on</a:t>
            </a:r>
            <a:r>
              <a:rPr lang="en-US" altLang="zh-CN" sz="18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800" spc="-25" dirty="0">
                <a:solidFill>
                  <a:srgbClr val="0070C0"/>
                </a:solidFill>
                <a:latin typeface="Arial"/>
                <a:cs typeface="Arial"/>
              </a:rPr>
              <a:t>CPU</a:t>
            </a:r>
            <a:endParaRPr lang="en-US" altLang="zh-CN" sz="1800" dirty="0">
              <a:latin typeface="Arial"/>
              <a:cs typeface="Arial"/>
            </a:endParaRPr>
          </a:p>
        </p:txBody>
      </p:sp>
      <p:pic>
        <p:nvPicPr>
          <p:cNvPr id="8" name="object 29">
            <a:extLst>
              <a:ext uri="{FF2B5EF4-FFF2-40B4-BE49-F238E27FC236}">
                <a16:creationId xmlns:a16="http://schemas.microsoft.com/office/drawing/2014/main" id="{354C6094-FDB7-77B4-BC3F-5834287637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850" y="3581319"/>
            <a:ext cx="3253678" cy="739211"/>
          </a:xfrm>
          <a:prstGeom prst="rect">
            <a:avLst/>
          </a:prstGeom>
        </p:spPr>
      </p:pic>
      <p:pic>
        <p:nvPicPr>
          <p:cNvPr id="9" name="object 29">
            <a:extLst>
              <a:ext uri="{FF2B5EF4-FFF2-40B4-BE49-F238E27FC236}">
                <a16:creationId xmlns:a16="http://schemas.microsoft.com/office/drawing/2014/main" id="{5B5BE13B-D582-DD9A-ECD7-D820DA66A4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364" y="4665822"/>
            <a:ext cx="3253678" cy="73921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23C0296-2600-C924-49F8-85B7575A7483}"/>
              </a:ext>
            </a:extLst>
          </p:cNvPr>
          <p:cNvSpPr txBox="1"/>
          <p:nvPr/>
        </p:nvSpPr>
        <p:spPr>
          <a:xfrm>
            <a:off x="3231332" y="4320530"/>
            <a:ext cx="2848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Allocate</a:t>
            </a:r>
            <a:r>
              <a:rPr lang="en-US" altLang="zh-CN" sz="1800" spc="-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memory</a:t>
            </a:r>
            <a:r>
              <a:rPr lang="en-US" altLang="zh-CN" sz="18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on</a:t>
            </a:r>
            <a:r>
              <a:rPr lang="en-US" altLang="zh-CN" sz="1800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altLang="zh-CN" sz="1800" spc="-25" dirty="0">
                <a:solidFill>
                  <a:srgbClr val="0070C0"/>
                </a:solidFill>
                <a:latin typeface="Arial"/>
                <a:cs typeface="Arial"/>
              </a:rPr>
              <a:t>GPU</a:t>
            </a:r>
            <a:endParaRPr lang="en-US" altLang="zh-CN" sz="1800" dirty="0">
              <a:latin typeface="Arial"/>
              <a:cs typeface="Arial"/>
            </a:endParaRPr>
          </a:p>
        </p:txBody>
      </p:sp>
      <p:pic>
        <p:nvPicPr>
          <p:cNvPr id="11" name="object 29">
            <a:extLst>
              <a:ext uri="{FF2B5EF4-FFF2-40B4-BE49-F238E27FC236}">
                <a16:creationId xmlns:a16="http://schemas.microsoft.com/office/drawing/2014/main" id="{F1D04747-C3DA-B42A-28ED-D6272BC940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364" y="5577679"/>
            <a:ext cx="2768054" cy="91185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B56D36E-E7FF-0628-D59E-3316C7422BDF}"/>
              </a:ext>
            </a:extLst>
          </p:cNvPr>
          <p:cNvSpPr txBox="1"/>
          <p:nvPr/>
        </p:nvSpPr>
        <p:spPr>
          <a:xfrm>
            <a:off x="3408214" y="5788804"/>
            <a:ext cx="2848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Initialize arrays on CPU</a:t>
            </a:r>
          </a:p>
        </p:txBody>
      </p:sp>
      <p:pic>
        <p:nvPicPr>
          <p:cNvPr id="13" name="object 29">
            <a:extLst>
              <a:ext uri="{FF2B5EF4-FFF2-40B4-BE49-F238E27FC236}">
                <a16:creationId xmlns:a16="http://schemas.microsoft.com/office/drawing/2014/main" id="{75B6957C-8806-1014-FDC6-F886F0B4EFB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8226" y="2085516"/>
            <a:ext cx="5472608" cy="55450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9AACAB0-D8BA-30A0-BB35-AB7D6448C20E}"/>
              </a:ext>
            </a:extLst>
          </p:cNvPr>
          <p:cNvSpPr txBox="1"/>
          <p:nvPr/>
        </p:nvSpPr>
        <p:spPr>
          <a:xfrm>
            <a:off x="9482236" y="1698056"/>
            <a:ext cx="3568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Copy data from CPU to GPU</a:t>
            </a:r>
          </a:p>
        </p:txBody>
      </p:sp>
      <p:pic>
        <p:nvPicPr>
          <p:cNvPr id="15" name="object 29">
            <a:extLst>
              <a:ext uri="{FF2B5EF4-FFF2-40B4-BE49-F238E27FC236}">
                <a16:creationId xmlns:a16="http://schemas.microsoft.com/office/drawing/2014/main" id="{95FD680B-E226-5393-1DF1-5EF2B9318D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0" y="3027481"/>
            <a:ext cx="6400800" cy="69548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A7CCB75-CE02-E96B-CF62-E5BA54B25BCB}"/>
              </a:ext>
            </a:extLst>
          </p:cNvPr>
          <p:cNvSpPr txBox="1"/>
          <p:nvPr/>
        </p:nvSpPr>
        <p:spPr>
          <a:xfrm>
            <a:off x="7602978" y="2678472"/>
            <a:ext cx="5472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Set configuration parameters and launch kernel</a:t>
            </a:r>
          </a:p>
        </p:txBody>
      </p:sp>
      <p:pic>
        <p:nvPicPr>
          <p:cNvPr id="17" name="object 29">
            <a:extLst>
              <a:ext uri="{FF2B5EF4-FFF2-40B4-BE49-F238E27FC236}">
                <a16:creationId xmlns:a16="http://schemas.microsoft.com/office/drawing/2014/main" id="{A6C084E9-FBFA-8263-452D-18D5FECCB43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8676" y="4200267"/>
            <a:ext cx="5425862" cy="36061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9D9E104-8293-3617-3A0C-442E462D2BD2}"/>
              </a:ext>
            </a:extLst>
          </p:cNvPr>
          <p:cNvSpPr txBox="1"/>
          <p:nvPr/>
        </p:nvSpPr>
        <p:spPr>
          <a:xfrm>
            <a:off x="9353127" y="3868196"/>
            <a:ext cx="3961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Copy data from GPU to CPU</a:t>
            </a:r>
          </a:p>
        </p:txBody>
      </p:sp>
      <p:pic>
        <p:nvPicPr>
          <p:cNvPr id="20" name="object 29">
            <a:extLst>
              <a:ext uri="{FF2B5EF4-FFF2-40B4-BE49-F238E27FC236}">
                <a16:creationId xmlns:a16="http://schemas.microsoft.com/office/drawing/2014/main" id="{C11A847F-8ADE-ABB3-4EFE-3A80A34799B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0300" y="4665822"/>
            <a:ext cx="1574676" cy="149231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163FF032-62C5-0902-657F-90E7B74DE6AA}"/>
              </a:ext>
            </a:extLst>
          </p:cNvPr>
          <p:cNvSpPr txBox="1"/>
          <p:nvPr/>
        </p:nvSpPr>
        <p:spPr>
          <a:xfrm>
            <a:off x="8138492" y="5133512"/>
            <a:ext cx="3961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0070C0"/>
                </a:solidFill>
                <a:latin typeface="Arial"/>
                <a:cs typeface="Arial"/>
              </a:rPr>
              <a:t>Free memory on CPU and GPU</a:t>
            </a:r>
          </a:p>
        </p:txBody>
      </p:sp>
    </p:spTree>
    <p:extLst>
      <p:ext uri="{BB962C8B-B14F-4D97-AF65-F5344CB8AC3E}">
        <p14:creationId xmlns:p14="http://schemas.microsoft.com/office/powerpoint/2010/main" val="4072535934"/>
      </p:ext>
    </p:extLst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75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Vector Addition Example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5BD1507-3FCA-6E20-3981-BF91809F6BD1}"/>
              </a:ext>
            </a:extLst>
          </p:cNvPr>
          <p:cNvSpPr txBox="1"/>
          <p:nvPr/>
        </p:nvSpPr>
        <p:spPr>
          <a:xfrm>
            <a:off x="626824" y="1390015"/>
            <a:ext cx="4837872" cy="15311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7F7F7F"/>
                </a:solidFill>
                <a:latin typeface="Courier New"/>
                <a:cs typeface="Courier New"/>
              </a:rPr>
              <a:t>$</a:t>
            </a:r>
            <a:r>
              <a:rPr sz="2400" b="1" spc="-2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cd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vector_addition/cuda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2400" b="1" dirty="0">
                <a:solidFill>
                  <a:srgbClr val="7F7F7F"/>
                </a:solidFill>
                <a:latin typeface="Courier New"/>
                <a:cs typeface="Courier New"/>
              </a:rPr>
              <a:t>$</a:t>
            </a:r>
            <a:r>
              <a:rPr sz="2400" b="1" spc="-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2400" b="1" spc="-20" dirty="0" err="1">
                <a:latin typeface="Courier New"/>
                <a:cs typeface="Courier New"/>
              </a:rPr>
              <a:t>nvcc</a:t>
            </a:r>
            <a:r>
              <a:rPr lang="en-US" sz="2400" b="1" spc="-20" dirty="0">
                <a:latin typeface="Courier New"/>
                <a:cs typeface="Courier New"/>
              </a:rPr>
              <a:t> vec_add.cu –o run</a:t>
            </a:r>
          </a:p>
          <a:p>
            <a:pPr marL="12700">
              <a:spcBef>
                <a:spcPts val="1630"/>
              </a:spcBef>
            </a:pPr>
            <a:r>
              <a:rPr lang="en-US" altLang="zh-CN" sz="2400" b="1" dirty="0">
                <a:solidFill>
                  <a:srgbClr val="7F7F7F"/>
                </a:solidFill>
                <a:latin typeface="Courier New"/>
                <a:cs typeface="Courier New"/>
              </a:rPr>
              <a:t>$</a:t>
            </a:r>
            <a:r>
              <a:rPr lang="en-US" altLang="zh-CN" sz="2400" b="1" spc="-3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altLang="zh-CN" sz="2400" b="1" dirty="0" err="1">
                <a:latin typeface="Courier New"/>
                <a:cs typeface="Courier New"/>
              </a:rPr>
              <a:t>bsub</a:t>
            </a:r>
            <a:r>
              <a:rPr lang="en-US" altLang="zh-CN" sz="2400" b="1" spc="-30" dirty="0">
                <a:latin typeface="Courier New"/>
                <a:cs typeface="Courier New"/>
              </a:rPr>
              <a:t> </a:t>
            </a:r>
            <a:r>
              <a:rPr lang="en-US" altLang="zh-CN" sz="2400" b="1" spc="-10" dirty="0" err="1">
                <a:latin typeface="Courier New"/>
                <a:cs typeface="Courier New"/>
              </a:rPr>
              <a:t>submit.lsf</a:t>
            </a:r>
            <a:endParaRPr lang="en-US" altLang="zh-CN" sz="2400" dirty="0">
              <a:latin typeface="Courier New"/>
              <a:cs typeface="Courier New"/>
            </a:endParaRPr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698E8DB8-D936-8899-B0D7-6965D89C5302}"/>
              </a:ext>
            </a:extLst>
          </p:cNvPr>
          <p:cNvSpPr txBox="1"/>
          <p:nvPr/>
        </p:nvSpPr>
        <p:spPr>
          <a:xfrm>
            <a:off x="6004787" y="1355363"/>
            <a:ext cx="6495129" cy="3457357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90805">
              <a:spcBef>
                <a:spcPts val="6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Invoke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command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line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profiler</a:t>
            </a:r>
            <a:endParaRPr sz="2400" dirty="0">
              <a:latin typeface="Arial"/>
              <a:cs typeface="Arial"/>
            </a:endParaRPr>
          </a:p>
          <a:p>
            <a:pPr marL="90805">
              <a:spcBef>
                <a:spcPts val="1630"/>
              </a:spcBef>
            </a:pPr>
            <a:r>
              <a:rPr sz="2400" spc="-10" dirty="0">
                <a:solidFill>
                  <a:srgbClr val="FF0000"/>
                </a:solidFill>
                <a:latin typeface="Courier New"/>
                <a:cs typeface="Courier New"/>
              </a:rPr>
              <a:t>-</a:t>
            </a:r>
            <a:r>
              <a:rPr sz="2400" dirty="0">
                <a:solidFill>
                  <a:srgbClr val="FF0000"/>
                </a:solidFill>
                <a:latin typeface="Courier New"/>
                <a:cs typeface="Courier New"/>
              </a:rPr>
              <a:t>s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2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Print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summary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profiling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results</a:t>
            </a:r>
            <a:endParaRPr sz="2400" dirty="0">
              <a:latin typeface="Arial"/>
              <a:cs typeface="Arial"/>
            </a:endParaRPr>
          </a:p>
          <a:p>
            <a:pPr marL="471805">
              <a:spcBef>
                <a:spcPts val="155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(default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unless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-o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used)</a:t>
            </a:r>
            <a:endParaRPr sz="2000" dirty="0">
              <a:latin typeface="Arial"/>
              <a:cs typeface="Arial"/>
            </a:endParaRPr>
          </a:p>
          <a:p>
            <a:pPr marL="90805">
              <a:spcBef>
                <a:spcPts val="565"/>
              </a:spcBef>
            </a:pPr>
            <a:r>
              <a:rPr sz="2400" spc="-10" dirty="0">
                <a:solidFill>
                  <a:srgbClr val="FF0000"/>
                </a:solidFill>
                <a:latin typeface="Courier New"/>
                <a:cs typeface="Courier New"/>
              </a:rPr>
              <a:t>-</a:t>
            </a:r>
            <a:r>
              <a:rPr sz="2400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Export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timeline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file</a:t>
            </a:r>
            <a:endParaRPr sz="2400" dirty="0">
              <a:latin typeface="Arial"/>
              <a:cs typeface="Arial"/>
            </a:endParaRPr>
          </a:p>
          <a:p>
            <a:pPr marL="471805">
              <a:spcBef>
                <a:spcPts val="60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(to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opened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later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NVIDIA</a:t>
            </a:r>
            <a:r>
              <a:rPr sz="2000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Visual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Profiler)</a:t>
            </a:r>
            <a:endParaRPr sz="2000" dirty="0">
              <a:latin typeface="Arial"/>
              <a:cs typeface="Arial"/>
            </a:endParaRPr>
          </a:p>
          <a:p>
            <a:pPr marL="719455">
              <a:spcBef>
                <a:spcPts val="1560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%h: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replace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hostname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1800" dirty="0">
              <a:latin typeface="Arial"/>
              <a:cs typeface="Arial"/>
            </a:endParaRPr>
          </a:p>
          <a:p>
            <a:pPr marL="719455" marR="105410"/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${LSB_JOBID}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holds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job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ID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assigned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by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LSF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(NOT</a:t>
            </a:r>
            <a:r>
              <a:rPr sz="20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specific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NVIDIA</a:t>
            </a:r>
            <a:r>
              <a:rPr sz="2000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profilers)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23" name="object 6">
            <a:extLst>
              <a:ext uri="{FF2B5EF4-FFF2-40B4-BE49-F238E27FC236}">
                <a16:creationId xmlns:a16="http://schemas.microsoft.com/office/drawing/2014/main" id="{7244343A-1130-A54C-D091-E7BE756600C6}"/>
              </a:ext>
            </a:extLst>
          </p:cNvPr>
          <p:cNvGrpSpPr/>
          <p:nvPr/>
        </p:nvGrpSpPr>
        <p:grpSpPr>
          <a:xfrm>
            <a:off x="4130039" y="2921203"/>
            <a:ext cx="7167304" cy="3271535"/>
            <a:chOff x="4130040" y="2898102"/>
            <a:chExt cx="6431279" cy="3149130"/>
          </a:xfrm>
        </p:grpSpPr>
        <p:pic>
          <p:nvPicPr>
            <p:cNvPr id="24" name="object 7">
              <a:extLst>
                <a:ext uri="{FF2B5EF4-FFF2-40B4-BE49-F238E27FC236}">
                  <a16:creationId xmlns:a16="http://schemas.microsoft.com/office/drawing/2014/main" id="{8101D546-7A22-4C61-822A-976FCF953BC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0040" y="5626608"/>
              <a:ext cx="6431279" cy="420624"/>
            </a:xfrm>
            <a:prstGeom prst="rect">
              <a:avLst/>
            </a:prstGeom>
          </p:spPr>
        </p:pic>
        <p:sp>
          <p:nvSpPr>
            <p:cNvPr id="25" name="object 8">
              <a:extLst>
                <a:ext uri="{FF2B5EF4-FFF2-40B4-BE49-F238E27FC236}">
                  <a16:creationId xmlns:a16="http://schemas.microsoft.com/office/drawing/2014/main" id="{3D8811BA-CFA1-BAD8-96E7-843D38FA2531}"/>
                </a:ext>
              </a:extLst>
            </p:cNvPr>
            <p:cNvSpPr/>
            <p:nvPr/>
          </p:nvSpPr>
          <p:spPr>
            <a:xfrm>
              <a:off x="4146347" y="2898102"/>
              <a:ext cx="1665920" cy="2747474"/>
            </a:xfrm>
            <a:custGeom>
              <a:avLst/>
              <a:gdLst/>
              <a:ahLst/>
              <a:cxnLst/>
              <a:rect l="l" t="t" r="r" b="b"/>
              <a:pathLst>
                <a:path w="1842135" h="3112770">
                  <a:moveTo>
                    <a:pt x="0" y="3112345"/>
                  </a:moveTo>
                  <a:lnTo>
                    <a:pt x="1841757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9">
            <a:extLst>
              <a:ext uri="{FF2B5EF4-FFF2-40B4-BE49-F238E27FC236}">
                <a16:creationId xmlns:a16="http://schemas.microsoft.com/office/drawing/2014/main" id="{820B5C8E-0114-A49F-045C-8FA453371316}"/>
              </a:ext>
            </a:extLst>
          </p:cNvPr>
          <p:cNvSpPr txBox="1"/>
          <p:nvPr/>
        </p:nvSpPr>
        <p:spPr>
          <a:xfrm>
            <a:off x="424136" y="5042916"/>
            <a:ext cx="12241359" cy="1072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submit.lsf</a:t>
            </a:r>
            <a:r>
              <a:rPr sz="2400" spc="-10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 dirty="0">
              <a:latin typeface="Arial"/>
              <a:cs typeface="Arial"/>
            </a:endParaRPr>
          </a:p>
          <a:p>
            <a:pPr marL="50609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jsrun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n1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c1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g1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a1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nvprof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s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o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vec_add_cuda.${LSB_JOBID}.%h.nvvp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./run</a:t>
            </a:r>
            <a:endParaRPr sz="20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39997821"/>
      </p:ext>
    </p:extLst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76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Vector Addition Example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5BD1507-3FCA-6E20-3981-BF91809F6BD1}"/>
              </a:ext>
            </a:extLst>
          </p:cNvPr>
          <p:cNvSpPr txBox="1"/>
          <p:nvPr/>
        </p:nvSpPr>
        <p:spPr>
          <a:xfrm>
            <a:off x="568152" y="1224186"/>
            <a:ext cx="707012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b="1" dirty="0">
                <a:latin typeface="Courier New"/>
                <a:cs typeface="Courier New"/>
              </a:rPr>
              <a:t>(1) </a:t>
            </a:r>
            <a:r>
              <a:rPr lang="en-US" sz="2800" b="1" dirty="0" err="1">
                <a:latin typeface="Courier New"/>
                <a:cs typeface="Courier New"/>
              </a:rPr>
              <a:t>nvprof</a:t>
            </a:r>
            <a:r>
              <a:rPr lang="en-US" sz="2800" b="1" dirty="0">
                <a:latin typeface="Courier New"/>
                <a:cs typeface="Courier New"/>
              </a:rPr>
              <a:t> results – text only</a:t>
            </a:r>
            <a:endParaRPr lang="en-US" altLang="zh-CN" sz="2800" dirty="0">
              <a:latin typeface="Courier New"/>
              <a:cs typeface="Courier New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AD8E27C-8A33-84B3-02E9-AFF86A196EDA}"/>
              </a:ext>
            </a:extLst>
          </p:cNvPr>
          <p:cNvSpPr txBox="1"/>
          <p:nvPr/>
        </p:nvSpPr>
        <p:spPr>
          <a:xfrm>
            <a:off x="1019870" y="2234190"/>
            <a:ext cx="3501390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vec_add_cuda.JOBID</a:t>
            </a:r>
            <a:r>
              <a:rPr sz="2000" spc="-10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166370">
              <a:lnSpc>
                <a:spcPct val="100000"/>
              </a:lnSpc>
              <a:spcBef>
                <a:spcPts val="1755"/>
              </a:spcBef>
            </a:pPr>
            <a:r>
              <a:rPr sz="1300" dirty="0">
                <a:latin typeface="Courier New"/>
                <a:cs typeface="Courier New"/>
              </a:rPr>
              <a:t>==174655==</a:t>
            </a:r>
            <a:r>
              <a:rPr sz="1300" spc="-11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Profiling</a:t>
            </a:r>
            <a:r>
              <a:rPr sz="1300" spc="-10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result:</a:t>
            </a:r>
            <a:endParaRPr sz="1300" dirty="0">
              <a:latin typeface="Courier New"/>
              <a:cs typeface="Courier New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07147363-662C-29AD-1961-AE54A6178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910793"/>
              </p:ext>
            </p:extLst>
          </p:nvPr>
        </p:nvGraphicFramePr>
        <p:xfrm>
          <a:off x="1253526" y="3006570"/>
          <a:ext cx="10387961" cy="2760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2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29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29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40"/>
                        </a:lnSpc>
                      </a:pPr>
                      <a:r>
                        <a:rPr sz="1300" spc="-20" dirty="0">
                          <a:latin typeface="Courier New"/>
                          <a:cs typeface="Courier New"/>
                        </a:rPr>
                        <a:t>Type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4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Time(%)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340"/>
                        </a:lnSpc>
                      </a:pPr>
                      <a:r>
                        <a:rPr sz="1300" spc="-20" dirty="0">
                          <a:latin typeface="Courier New"/>
                          <a:cs typeface="Courier New"/>
                        </a:rPr>
                        <a:t>Time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4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Calls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40"/>
                        </a:lnSpc>
                      </a:pPr>
                      <a:r>
                        <a:rPr sz="1300" spc="-25" dirty="0">
                          <a:latin typeface="Courier New"/>
                          <a:cs typeface="Courier New"/>
                        </a:rPr>
                        <a:t>Avg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40"/>
                        </a:lnSpc>
                      </a:pPr>
                      <a:r>
                        <a:rPr sz="1300" spc="-25" dirty="0">
                          <a:latin typeface="Courier New"/>
                          <a:cs typeface="Courier New"/>
                        </a:rPr>
                        <a:t>Min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40"/>
                        </a:lnSpc>
                      </a:pPr>
                      <a:r>
                        <a:rPr sz="1300" spc="-25" dirty="0">
                          <a:latin typeface="Courier New"/>
                          <a:cs typeface="Courier New"/>
                        </a:rPr>
                        <a:t>Max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340"/>
                        </a:lnSpc>
                      </a:pPr>
                      <a:r>
                        <a:rPr sz="1300" spc="-20" dirty="0">
                          <a:latin typeface="Courier New"/>
                          <a:cs typeface="Courier New"/>
                        </a:rPr>
                        <a:t>Name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marL="31750">
                        <a:lnSpc>
                          <a:spcPts val="1410"/>
                        </a:lnSpc>
                      </a:pPr>
                      <a:r>
                        <a:rPr sz="1300" spc="-25" dirty="0">
                          <a:latin typeface="Courier New"/>
                          <a:cs typeface="Courier New"/>
                        </a:rPr>
                        <a:t>GPU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activities: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56.25%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463.36us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2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231.68us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229.66us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233.70us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[CUDA</a:t>
                      </a:r>
                      <a:r>
                        <a:rPr sz="13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00" dirty="0">
                          <a:latin typeface="Courier New"/>
                          <a:cs typeface="Courier New"/>
                        </a:rPr>
                        <a:t>memcpy</a:t>
                      </a:r>
                      <a:r>
                        <a:rPr sz="13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HtoD]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41.59%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1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[CUDA</a:t>
                      </a:r>
                      <a:r>
                        <a:rPr sz="13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00" dirty="0">
                          <a:latin typeface="Courier New"/>
                          <a:cs typeface="Courier New"/>
                        </a:rPr>
                        <a:t>memcpy</a:t>
                      </a:r>
                      <a:r>
                        <a:rPr sz="13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00" spc="-20" dirty="0">
                          <a:latin typeface="Courier New"/>
                          <a:cs typeface="Courier New"/>
                        </a:rPr>
                        <a:t>DtoH]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2.16%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1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add_vectors(int*,</a:t>
                      </a:r>
                      <a:r>
                        <a:rPr sz="1300" spc="-1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int*,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int*)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API</a:t>
                      </a:r>
                      <a:r>
                        <a:rPr sz="13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00" spc="-10" dirty="0">
                          <a:latin typeface="Courier New"/>
                          <a:cs typeface="Courier New"/>
                        </a:rPr>
                        <a:t>calls: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99.35%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719.78ms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3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239.93ms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1.1351ms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717.50ms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cudaMalloc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0.23%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1.6399ms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10"/>
                        </a:lnSpc>
                      </a:pPr>
                      <a:r>
                        <a:rPr sz="1300" spc="-25" dirty="0">
                          <a:latin typeface="Courier New"/>
                          <a:cs typeface="Courier New"/>
                        </a:rPr>
                        <a:t>96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17.082us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224ns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670.19us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cuDeviceGetAttribute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0.17%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1.2559ms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3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418.64us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399.77us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454.40us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cudaFree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0.16%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1.1646ms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3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388.18us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303.13us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550.07us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cudaMemcpy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0.06%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412.85us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1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412.85us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412.85us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412.85us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cuDeviceTotalMem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0.03%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182.11us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1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182.11us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182.11us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182.11us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cuDeviceGetName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0.00%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32.391us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1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32.391us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32.391us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32.391us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cudaLaunchKernel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0.00%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3.8960us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1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3.8960us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3.8960us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3.8960us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cuDeviceGetPCIBusId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0.00%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2.2920us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3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764ns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492ns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1.1040us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35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cuDeviceGetCount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0.00%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1.4090us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dirty="0">
                          <a:latin typeface="Courier New"/>
                          <a:cs typeface="Courier New"/>
                        </a:rPr>
                        <a:t>2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704ns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423ns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986ns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410"/>
                        </a:lnSpc>
                      </a:pPr>
                      <a:r>
                        <a:rPr sz="1300" spc="-10" dirty="0">
                          <a:latin typeface="Courier New"/>
                          <a:cs typeface="Courier New"/>
                        </a:rPr>
                        <a:t>cuDeviceGet</a:t>
                      </a:r>
                      <a:endParaRPr sz="13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4" name="object 5">
            <a:extLst>
              <a:ext uri="{FF2B5EF4-FFF2-40B4-BE49-F238E27FC236}">
                <a16:creationId xmlns:a16="http://schemas.microsoft.com/office/drawing/2014/main" id="{511E0A84-BDDF-05F6-0BF6-C8E10E46252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6048" y="3168402"/>
            <a:ext cx="10509504" cy="269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80944"/>
      </p:ext>
    </p:extLst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77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cs typeface="+mn-cs"/>
              </a:rPr>
              <a:t>Vector Addition Example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5BD1507-3FCA-6E20-3981-BF91809F6BD1}"/>
              </a:ext>
            </a:extLst>
          </p:cNvPr>
          <p:cNvSpPr txBox="1"/>
          <p:nvPr/>
        </p:nvSpPr>
        <p:spPr>
          <a:xfrm>
            <a:off x="496144" y="1308809"/>
            <a:ext cx="11593288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Courier New"/>
                <a:cs typeface="Courier New"/>
              </a:rPr>
              <a:t>(2) Visual Profiler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dirty="0">
                <a:latin typeface="Courier New"/>
                <a:cs typeface="Courier New"/>
              </a:rPr>
              <a:t>Transfer the .</a:t>
            </a:r>
            <a:r>
              <a:rPr lang="en-US" altLang="zh-CN" sz="2800" dirty="0" err="1">
                <a:latin typeface="Courier New"/>
                <a:cs typeface="Courier New"/>
              </a:rPr>
              <a:t>nvvp</a:t>
            </a:r>
            <a:r>
              <a:rPr lang="en-US" altLang="zh-CN" sz="2800" dirty="0">
                <a:latin typeface="Courier New"/>
                <a:cs typeface="Courier New"/>
              </a:rPr>
              <a:t> file to your local machine to view in NVIDIA Visual Profiler.</a:t>
            </a:r>
          </a:p>
        </p:txBody>
      </p:sp>
      <p:pic>
        <p:nvPicPr>
          <p:cNvPr id="24" name="object 4">
            <a:extLst>
              <a:ext uri="{FF2B5EF4-FFF2-40B4-BE49-F238E27FC236}">
                <a16:creationId xmlns:a16="http://schemas.microsoft.com/office/drawing/2014/main" id="{01C1384A-2F19-AEF7-6936-320883401F0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144" y="4411955"/>
            <a:ext cx="11593288" cy="1060703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A811711D-F92D-ADF9-FA47-2A6A8236FFFD}"/>
              </a:ext>
            </a:extLst>
          </p:cNvPr>
          <p:cNvSpPr txBox="1"/>
          <p:nvPr/>
        </p:nvSpPr>
        <p:spPr>
          <a:xfrm>
            <a:off x="408980" y="3421948"/>
            <a:ext cx="1198364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>
              <a:lnSpc>
                <a:spcPct val="100000"/>
              </a:lnSpc>
            </a:pPr>
            <a:r>
              <a:rPr lang="en-US" altLang="zh-CN" sz="3200" dirty="0">
                <a:latin typeface="Arial"/>
                <a:cs typeface="Arial"/>
              </a:rPr>
              <a:t>From</a:t>
            </a:r>
            <a:r>
              <a:rPr lang="en-US" altLang="zh-CN" sz="3200" spc="-1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your</a:t>
            </a:r>
            <a:r>
              <a:rPr lang="en-US" altLang="zh-CN" sz="3200" spc="-10" dirty="0">
                <a:latin typeface="Arial"/>
                <a:cs typeface="Arial"/>
              </a:rPr>
              <a:t> </a:t>
            </a:r>
            <a:r>
              <a:rPr lang="en-US" altLang="zh-CN" sz="3200" dirty="0">
                <a:latin typeface="Arial"/>
                <a:cs typeface="Arial"/>
              </a:rPr>
              <a:t>local</a:t>
            </a:r>
            <a:r>
              <a:rPr lang="en-US" altLang="zh-CN" sz="3200" spc="-5" dirty="0">
                <a:latin typeface="Arial"/>
                <a:cs typeface="Arial"/>
              </a:rPr>
              <a:t> </a:t>
            </a:r>
            <a:r>
              <a:rPr lang="en-US" altLang="zh-CN" sz="3200" spc="-10" dirty="0">
                <a:latin typeface="Arial"/>
                <a:cs typeface="Arial"/>
              </a:rPr>
              <a:t>system:</a:t>
            </a:r>
          </a:p>
          <a:p>
            <a:pPr marL="92075">
              <a:lnSpc>
                <a:spcPct val="100000"/>
              </a:lnSpc>
            </a:pPr>
            <a:endParaRPr lang="en-US" altLang="zh-CN" sz="3200" dirty="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880"/>
              </a:spcBef>
            </a:pPr>
            <a:r>
              <a:rPr lang="en-US" altLang="zh-CN" sz="2400" b="1" dirty="0">
                <a:solidFill>
                  <a:srgbClr val="7F7F7F"/>
                </a:solidFill>
                <a:latin typeface="Courier New"/>
                <a:cs typeface="Courier New"/>
              </a:rPr>
              <a:t>$</a:t>
            </a:r>
            <a:r>
              <a:rPr lang="en-US" altLang="zh-CN" sz="2400" b="1" spc="8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altLang="zh-CN" sz="2400" b="1" dirty="0" err="1">
                <a:latin typeface="Courier New"/>
                <a:cs typeface="Courier New"/>
              </a:rPr>
              <a:t>scp</a:t>
            </a:r>
            <a:r>
              <a:rPr lang="en-US" altLang="zh-CN" sz="2400" b="1" spc="80" dirty="0">
                <a:latin typeface="Courier New"/>
                <a:cs typeface="Courier New"/>
              </a:rPr>
              <a:t> </a:t>
            </a:r>
            <a:r>
              <a:rPr lang="en-US" altLang="zh-CN" sz="2400" b="1" spc="-10" dirty="0">
                <a:latin typeface="Courier New"/>
                <a:cs typeface="Courier New"/>
              </a:rPr>
              <a:t>USERNAME@login1.ascent.ccs.ornl.gov:/path/to/file/remote</a:t>
            </a:r>
            <a:r>
              <a:rPr lang="en-US" altLang="zh-CN" sz="2400" b="1" spc="85" dirty="0">
                <a:latin typeface="Courier New"/>
                <a:cs typeface="Courier New"/>
              </a:rPr>
              <a:t> </a:t>
            </a:r>
            <a:r>
              <a:rPr lang="en-US" altLang="zh-CN" sz="2400" b="1" spc="-10" dirty="0">
                <a:latin typeface="Courier New"/>
                <a:cs typeface="Courier New"/>
              </a:rPr>
              <a:t>/path/to/desired/location/local</a:t>
            </a:r>
            <a:endParaRPr lang="en-US" altLang="zh-CN" sz="2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9986569"/>
      </p:ext>
    </p:extLst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78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Vector Addition Example (Visual Profiler)</a:t>
            </a: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5F05ADE1-9C98-1DBD-E178-8ABE836D106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768" y="1570692"/>
            <a:ext cx="5273039" cy="2606039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BB6205CA-78D6-0C52-87C2-8AE26CDD715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85688" y="1555451"/>
            <a:ext cx="3291840" cy="2554224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22265D7B-2515-9D3D-559D-E8E5EADA6C8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60407" y="1543259"/>
            <a:ext cx="2072640" cy="1908048"/>
          </a:xfrm>
          <a:prstGeom prst="rect">
            <a:avLst/>
          </a:prstGeom>
        </p:spPr>
      </p:pic>
      <p:grpSp>
        <p:nvGrpSpPr>
          <p:cNvPr id="5" name="object 6">
            <a:extLst>
              <a:ext uri="{FF2B5EF4-FFF2-40B4-BE49-F238E27FC236}">
                <a16:creationId xmlns:a16="http://schemas.microsoft.com/office/drawing/2014/main" id="{988D23F1-B30C-4CAD-F2AF-B8C3F83DADDB}"/>
              </a:ext>
            </a:extLst>
          </p:cNvPr>
          <p:cNvGrpSpPr/>
          <p:nvPr/>
        </p:nvGrpSpPr>
        <p:grpSpPr>
          <a:xfrm>
            <a:off x="4069079" y="4277315"/>
            <a:ext cx="7787640" cy="2563495"/>
            <a:chOff x="4069079" y="4087367"/>
            <a:chExt cx="7787640" cy="2563495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17B74D61-0CD5-8D67-93D5-77EE0B73EB4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9079" y="4087367"/>
              <a:ext cx="7787640" cy="2563368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722841F-76B7-A6E3-2836-1AFCE37AFF7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5383" y="6248400"/>
              <a:ext cx="7470648" cy="371856"/>
            </a:xfrm>
            <a:prstGeom prst="rect">
              <a:avLst/>
            </a:prstGeom>
          </p:spPr>
        </p:pic>
      </p:grpSp>
      <p:pic>
        <p:nvPicPr>
          <p:cNvPr id="9" name="object 9">
            <a:extLst>
              <a:ext uri="{FF2B5EF4-FFF2-40B4-BE49-F238E27FC236}">
                <a16:creationId xmlns:a16="http://schemas.microsoft.com/office/drawing/2014/main" id="{32798B10-263E-D916-E2BC-2C1F563F67F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8431" y="1070820"/>
            <a:ext cx="377952" cy="377951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56746100-963B-488F-C691-20380EFF477B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58255" y="1070820"/>
            <a:ext cx="381000" cy="377951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65D6F088-86BE-73A4-F363-9490633320C4}"/>
              </a:ext>
            </a:extLst>
          </p:cNvPr>
          <p:cNvSpPr txBox="1"/>
          <p:nvPr/>
        </p:nvSpPr>
        <p:spPr>
          <a:xfrm>
            <a:off x="513742" y="1078439"/>
            <a:ext cx="56191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63540" algn="l"/>
              </a:tabLst>
            </a:pPr>
            <a:r>
              <a:rPr sz="2000" b="1" spc="-50" dirty="0">
                <a:solidFill>
                  <a:srgbClr val="FF0000"/>
                </a:solidFill>
                <a:latin typeface="Century Gothic"/>
                <a:cs typeface="Century Gothic"/>
              </a:rPr>
              <a:t>1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	</a:t>
            </a:r>
            <a:r>
              <a:rPr sz="2000" b="1" spc="-50" dirty="0">
                <a:solidFill>
                  <a:srgbClr val="FF0000"/>
                </a:solidFill>
                <a:latin typeface="Century Gothic"/>
                <a:cs typeface="Century Gothic"/>
              </a:rPr>
              <a:t>2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8F7ED33-A031-C515-20AB-17501F468364}"/>
              </a:ext>
            </a:extLst>
          </p:cNvPr>
          <p:cNvSpPr txBox="1"/>
          <p:nvPr/>
        </p:nvSpPr>
        <p:spPr>
          <a:xfrm>
            <a:off x="859110" y="1000651"/>
            <a:ext cx="801941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9095" algn="l"/>
              </a:tabLst>
            </a:pPr>
            <a:r>
              <a:rPr sz="18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File-&gt;Import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	Select</a:t>
            </a:r>
            <a:r>
              <a:rPr sz="18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“Nvprof”</a:t>
            </a:r>
            <a:r>
              <a:rPr sz="18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then</a:t>
            </a:r>
            <a:r>
              <a:rPr lang="en-US" sz="18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entury Gothic"/>
                <a:cs typeface="Century Gothic"/>
              </a:rPr>
              <a:t>“Next</a:t>
            </a:r>
            <a:r>
              <a:rPr lang="en-US" sz="18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lang="en-US" sz="18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&gt;”</a:t>
            </a:r>
            <a:endParaRPr sz="1800" b="1" dirty="0">
              <a:latin typeface="Century Gothic"/>
              <a:cs typeface="Century Gothic"/>
            </a:endParaRPr>
          </a:p>
        </p:txBody>
      </p:sp>
      <p:pic>
        <p:nvPicPr>
          <p:cNvPr id="13" name="object 13">
            <a:extLst>
              <a:ext uri="{FF2B5EF4-FFF2-40B4-BE49-F238E27FC236}">
                <a16:creationId xmlns:a16="http://schemas.microsoft.com/office/drawing/2014/main" id="{87E73B9C-D9CA-57F4-3B26-D1AD69C917F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32976" y="1043387"/>
            <a:ext cx="377951" cy="377951"/>
          </a:xfrm>
          <a:prstGeom prst="rect">
            <a:avLst/>
          </a:prstGeom>
        </p:spPr>
      </p:pic>
      <p:sp>
        <p:nvSpPr>
          <p:cNvPr id="14" name="object 14">
            <a:extLst>
              <a:ext uri="{FF2B5EF4-FFF2-40B4-BE49-F238E27FC236}">
                <a16:creationId xmlns:a16="http://schemas.microsoft.com/office/drawing/2014/main" id="{90480E92-F3C8-C863-F68C-591614FC39D3}"/>
              </a:ext>
            </a:extLst>
          </p:cNvPr>
          <p:cNvSpPr txBox="1"/>
          <p:nvPr/>
        </p:nvSpPr>
        <p:spPr>
          <a:xfrm>
            <a:off x="9436882" y="1054056"/>
            <a:ext cx="168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3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1730845-422A-244B-D87C-328AE96FAF52}"/>
              </a:ext>
            </a:extLst>
          </p:cNvPr>
          <p:cNvSpPr txBox="1"/>
          <p:nvPr/>
        </p:nvSpPr>
        <p:spPr>
          <a:xfrm>
            <a:off x="9756978" y="1072344"/>
            <a:ext cx="2986088" cy="425053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Select</a:t>
            </a:r>
            <a:r>
              <a:rPr sz="1800" b="1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“Single</a:t>
            </a:r>
            <a:r>
              <a:rPr sz="18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Process”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then</a:t>
            </a:r>
            <a:r>
              <a:rPr sz="18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“Next</a:t>
            </a:r>
            <a:r>
              <a:rPr sz="18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&gt;”</a:t>
            </a:r>
            <a:endParaRPr sz="1800" b="1" dirty="0">
              <a:latin typeface="Century Gothic"/>
              <a:cs typeface="Century Gothic"/>
            </a:endParaRPr>
          </a:p>
        </p:txBody>
      </p:sp>
      <p:pic>
        <p:nvPicPr>
          <p:cNvPr id="16" name="object 16">
            <a:extLst>
              <a:ext uri="{FF2B5EF4-FFF2-40B4-BE49-F238E27FC236}">
                <a16:creationId xmlns:a16="http://schemas.microsoft.com/office/drawing/2014/main" id="{C8D4D9C4-00C3-71E0-D217-035B65FDCBE1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8431" y="4932636"/>
            <a:ext cx="377952" cy="377951"/>
          </a:xfrm>
          <a:prstGeom prst="rect">
            <a:avLst/>
          </a:prstGeom>
        </p:spPr>
      </p:pic>
      <p:sp>
        <p:nvSpPr>
          <p:cNvPr id="17" name="object 17">
            <a:extLst>
              <a:ext uri="{FF2B5EF4-FFF2-40B4-BE49-F238E27FC236}">
                <a16:creationId xmlns:a16="http://schemas.microsoft.com/office/drawing/2014/main" id="{35864FE3-AFB6-C77B-083C-7D5BA3325F2E}"/>
              </a:ext>
            </a:extLst>
          </p:cNvPr>
          <p:cNvSpPr txBox="1"/>
          <p:nvPr/>
        </p:nvSpPr>
        <p:spPr>
          <a:xfrm>
            <a:off x="424136" y="4738626"/>
            <a:ext cx="3505835" cy="1742144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435"/>
              </a:spcBef>
            </a:pPr>
            <a:r>
              <a:rPr sz="2800" b="1" dirty="0">
                <a:solidFill>
                  <a:srgbClr val="FF0000"/>
                </a:solidFill>
                <a:latin typeface="Century Gothic"/>
                <a:cs typeface="Century Gothic"/>
              </a:rPr>
              <a:t>4</a:t>
            </a:r>
            <a:endParaRPr sz="2800" dirty="0">
              <a:latin typeface="Century Gothic"/>
              <a:cs typeface="Century Gothic"/>
            </a:endParaRPr>
          </a:p>
          <a:p>
            <a:pPr marL="12700" marR="5080">
              <a:lnSpc>
                <a:spcPct val="89300"/>
              </a:lnSpc>
              <a:spcBef>
                <a:spcPts val="1115"/>
              </a:spcBef>
            </a:pP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Click</a:t>
            </a:r>
            <a:r>
              <a:rPr sz="1800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“Browse”</a:t>
            </a:r>
            <a:r>
              <a:rPr sz="1800" spc="-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next</a:t>
            </a:r>
            <a:r>
              <a:rPr sz="1800" spc="-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to</a:t>
            </a:r>
            <a:r>
              <a:rPr sz="1800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“Timeline</a:t>
            </a:r>
            <a:r>
              <a:rPr sz="1800" spc="-20" dirty="0">
                <a:solidFill>
                  <a:srgbClr val="FF0000"/>
                </a:solidFill>
                <a:latin typeface="Century Gothic"/>
                <a:cs typeface="Century Gothic"/>
              </a:rPr>
              <a:t> data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file”</a:t>
            </a:r>
            <a:r>
              <a:rPr sz="1800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to</a:t>
            </a:r>
            <a:r>
              <a:rPr sz="1800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locate</a:t>
            </a:r>
            <a:r>
              <a:rPr sz="1800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the</a:t>
            </a:r>
            <a:r>
              <a:rPr sz="1800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.nvvp</a:t>
            </a:r>
            <a:r>
              <a:rPr sz="1800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file</a:t>
            </a:r>
            <a:r>
              <a:rPr sz="1800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on</a:t>
            </a:r>
            <a:r>
              <a:rPr sz="1800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your</a:t>
            </a:r>
            <a:r>
              <a:rPr sz="1800" spc="-10" dirty="0">
                <a:solidFill>
                  <a:srgbClr val="FF0000"/>
                </a:solidFill>
                <a:latin typeface="Century Gothic"/>
                <a:cs typeface="Century Gothic"/>
              </a:rPr>
              <a:t> local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system,</a:t>
            </a:r>
            <a:r>
              <a:rPr sz="1800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then</a:t>
            </a:r>
            <a:r>
              <a:rPr sz="1800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0000"/>
                </a:solidFill>
                <a:latin typeface="Century Gothic"/>
                <a:cs typeface="Century Gothic"/>
              </a:rPr>
              <a:t>click</a:t>
            </a:r>
            <a:r>
              <a:rPr sz="1800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entury Gothic"/>
                <a:cs typeface="Century Gothic"/>
              </a:rPr>
              <a:t>“Finish”</a:t>
            </a:r>
            <a:endParaRPr sz="1800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01838029"/>
      </p:ext>
    </p:extLst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79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Vector Addition Example (Visual Profiler)</a:t>
            </a:r>
          </a:p>
        </p:txBody>
      </p:sp>
      <p:grpSp>
        <p:nvGrpSpPr>
          <p:cNvPr id="34" name="object 3">
            <a:extLst>
              <a:ext uri="{FF2B5EF4-FFF2-40B4-BE49-F238E27FC236}">
                <a16:creationId xmlns:a16="http://schemas.microsoft.com/office/drawing/2014/main" id="{59BC38BB-73CE-7099-43D5-0EE36A61D3FD}"/>
              </a:ext>
            </a:extLst>
          </p:cNvPr>
          <p:cNvGrpSpPr/>
          <p:nvPr/>
        </p:nvGrpSpPr>
        <p:grpSpPr>
          <a:xfrm>
            <a:off x="260012" y="2341390"/>
            <a:ext cx="12189460" cy="2769235"/>
            <a:chOff x="0" y="2074212"/>
            <a:chExt cx="12189460" cy="2769235"/>
          </a:xfrm>
        </p:grpSpPr>
        <p:pic>
          <p:nvPicPr>
            <p:cNvPr id="35" name="object 4">
              <a:extLst>
                <a:ext uri="{FF2B5EF4-FFF2-40B4-BE49-F238E27FC236}">
                  <a16:creationId xmlns:a16="http://schemas.microsoft.com/office/drawing/2014/main" id="{FB5823A0-AE85-7F4A-FF53-BE591BAC7B9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209800"/>
              <a:ext cx="12188952" cy="2633472"/>
            </a:xfrm>
            <a:prstGeom prst="rect">
              <a:avLst/>
            </a:prstGeom>
          </p:spPr>
        </p:pic>
        <p:sp>
          <p:nvSpPr>
            <p:cNvPr id="36" name="object 5">
              <a:extLst>
                <a:ext uri="{FF2B5EF4-FFF2-40B4-BE49-F238E27FC236}">
                  <a16:creationId xmlns:a16="http://schemas.microsoft.com/office/drawing/2014/main" id="{F10969DF-143D-FD28-969D-459ED40348F2}"/>
                </a:ext>
              </a:extLst>
            </p:cNvPr>
            <p:cNvSpPr/>
            <p:nvPr/>
          </p:nvSpPr>
          <p:spPr>
            <a:xfrm>
              <a:off x="1271554" y="2074212"/>
              <a:ext cx="141605" cy="300355"/>
            </a:xfrm>
            <a:custGeom>
              <a:avLst/>
              <a:gdLst/>
              <a:ahLst/>
              <a:cxnLst/>
              <a:rect l="l" t="t" r="r" b="b"/>
              <a:pathLst>
                <a:path w="141605" h="300355">
                  <a:moveTo>
                    <a:pt x="0" y="204569"/>
                  </a:moveTo>
                  <a:lnTo>
                    <a:pt x="6987" y="300158"/>
                  </a:lnTo>
                  <a:lnTo>
                    <a:pt x="76591" y="239543"/>
                  </a:lnTo>
                  <a:lnTo>
                    <a:pt x="47402" y="239543"/>
                  </a:lnTo>
                  <a:lnTo>
                    <a:pt x="20981" y="228662"/>
                  </a:lnTo>
                  <a:lnTo>
                    <a:pt x="26422" y="215451"/>
                  </a:lnTo>
                  <a:lnTo>
                    <a:pt x="0" y="204569"/>
                  </a:lnTo>
                  <a:close/>
                </a:path>
                <a:path w="141605" h="300355">
                  <a:moveTo>
                    <a:pt x="26422" y="215451"/>
                  </a:moveTo>
                  <a:lnTo>
                    <a:pt x="20981" y="228662"/>
                  </a:lnTo>
                  <a:lnTo>
                    <a:pt x="47402" y="239543"/>
                  </a:lnTo>
                  <a:lnTo>
                    <a:pt x="52843" y="226332"/>
                  </a:lnTo>
                  <a:lnTo>
                    <a:pt x="26422" y="215451"/>
                  </a:lnTo>
                  <a:close/>
                </a:path>
                <a:path w="141605" h="300355">
                  <a:moveTo>
                    <a:pt x="52843" y="226332"/>
                  </a:moveTo>
                  <a:lnTo>
                    <a:pt x="47402" y="239543"/>
                  </a:lnTo>
                  <a:lnTo>
                    <a:pt x="76591" y="239543"/>
                  </a:lnTo>
                  <a:lnTo>
                    <a:pt x="79265" y="237214"/>
                  </a:lnTo>
                  <a:lnTo>
                    <a:pt x="52843" y="226332"/>
                  </a:lnTo>
                  <a:close/>
                </a:path>
                <a:path w="141605" h="300355">
                  <a:moveTo>
                    <a:pt x="115155" y="0"/>
                  </a:moveTo>
                  <a:lnTo>
                    <a:pt x="26422" y="215451"/>
                  </a:lnTo>
                  <a:lnTo>
                    <a:pt x="52843" y="226332"/>
                  </a:lnTo>
                  <a:lnTo>
                    <a:pt x="141578" y="10881"/>
                  </a:lnTo>
                  <a:lnTo>
                    <a:pt x="11515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6">
            <a:extLst>
              <a:ext uri="{FF2B5EF4-FFF2-40B4-BE49-F238E27FC236}">
                <a16:creationId xmlns:a16="http://schemas.microsoft.com/office/drawing/2014/main" id="{F845978C-C3B2-B4F2-223B-3918F783A62F}"/>
              </a:ext>
            </a:extLst>
          </p:cNvPr>
          <p:cNvSpPr txBox="1"/>
          <p:nvPr/>
        </p:nvSpPr>
        <p:spPr>
          <a:xfrm>
            <a:off x="336223" y="2031184"/>
            <a:ext cx="267389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Zoom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all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the</a:t>
            </a:r>
            <a:r>
              <a:rPr sz="20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way</a:t>
            </a:r>
            <a:r>
              <a:rPr sz="20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out</a:t>
            </a:r>
            <a:endParaRPr sz="2000" b="1" dirty="0">
              <a:latin typeface="Century Gothic"/>
              <a:cs typeface="Century Gothic"/>
            </a:endParaRPr>
          </a:p>
        </p:txBody>
      </p:sp>
      <p:grpSp>
        <p:nvGrpSpPr>
          <p:cNvPr id="38" name="object 7">
            <a:extLst>
              <a:ext uri="{FF2B5EF4-FFF2-40B4-BE49-F238E27FC236}">
                <a16:creationId xmlns:a16="http://schemas.microsoft.com/office/drawing/2014/main" id="{0BB2A1A5-3FFE-7F49-5E5B-5C1A9B240981}"/>
              </a:ext>
            </a:extLst>
          </p:cNvPr>
          <p:cNvGrpSpPr/>
          <p:nvPr/>
        </p:nvGrpSpPr>
        <p:grpSpPr>
          <a:xfrm>
            <a:off x="260012" y="2406098"/>
            <a:ext cx="3736340" cy="3213735"/>
            <a:chOff x="0" y="2138920"/>
            <a:chExt cx="3736340" cy="3213735"/>
          </a:xfrm>
        </p:grpSpPr>
        <p:sp>
          <p:nvSpPr>
            <p:cNvPr id="39" name="object 8">
              <a:extLst>
                <a:ext uri="{FF2B5EF4-FFF2-40B4-BE49-F238E27FC236}">
                  <a16:creationId xmlns:a16="http://schemas.microsoft.com/office/drawing/2014/main" id="{15FDFE53-0FF1-5EB9-6DDD-3AC3BCCB6FAD}"/>
                </a:ext>
              </a:extLst>
            </p:cNvPr>
            <p:cNvSpPr/>
            <p:nvPr/>
          </p:nvSpPr>
          <p:spPr>
            <a:xfrm>
              <a:off x="3553363" y="2138920"/>
              <a:ext cx="183515" cy="661035"/>
            </a:xfrm>
            <a:custGeom>
              <a:avLst/>
              <a:gdLst/>
              <a:ahLst/>
              <a:cxnLst/>
              <a:rect l="l" t="t" r="r" b="b"/>
              <a:pathLst>
                <a:path w="183514" h="661035">
                  <a:moveTo>
                    <a:pt x="0" y="567960"/>
                  </a:moveTo>
                  <a:lnTo>
                    <a:pt x="23317" y="660924"/>
                  </a:lnTo>
                  <a:lnTo>
                    <a:pt x="77392" y="594264"/>
                  </a:lnTo>
                  <a:lnTo>
                    <a:pt x="52710" y="594264"/>
                  </a:lnTo>
                  <a:lnTo>
                    <a:pt x="24810" y="588087"/>
                  </a:lnTo>
                  <a:lnTo>
                    <a:pt x="27899" y="574137"/>
                  </a:lnTo>
                  <a:lnTo>
                    <a:pt x="0" y="567960"/>
                  </a:lnTo>
                  <a:close/>
                </a:path>
                <a:path w="183514" h="661035">
                  <a:moveTo>
                    <a:pt x="27899" y="574137"/>
                  </a:moveTo>
                  <a:lnTo>
                    <a:pt x="24810" y="588087"/>
                  </a:lnTo>
                  <a:lnTo>
                    <a:pt x="52710" y="594264"/>
                  </a:lnTo>
                  <a:lnTo>
                    <a:pt x="55798" y="580315"/>
                  </a:lnTo>
                  <a:lnTo>
                    <a:pt x="27899" y="574137"/>
                  </a:lnTo>
                  <a:close/>
                </a:path>
                <a:path w="183514" h="661035">
                  <a:moveTo>
                    <a:pt x="55798" y="580315"/>
                  </a:moveTo>
                  <a:lnTo>
                    <a:pt x="52710" y="594264"/>
                  </a:lnTo>
                  <a:lnTo>
                    <a:pt x="77392" y="594264"/>
                  </a:lnTo>
                  <a:lnTo>
                    <a:pt x="83698" y="586492"/>
                  </a:lnTo>
                  <a:lnTo>
                    <a:pt x="55798" y="580315"/>
                  </a:lnTo>
                  <a:close/>
                </a:path>
                <a:path w="183514" h="661035">
                  <a:moveTo>
                    <a:pt x="155022" y="0"/>
                  </a:moveTo>
                  <a:lnTo>
                    <a:pt x="27899" y="574137"/>
                  </a:lnTo>
                  <a:lnTo>
                    <a:pt x="55798" y="580315"/>
                  </a:lnTo>
                  <a:lnTo>
                    <a:pt x="182921" y="6177"/>
                  </a:lnTo>
                  <a:lnTo>
                    <a:pt x="15502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9">
              <a:extLst>
                <a:ext uri="{FF2B5EF4-FFF2-40B4-BE49-F238E27FC236}">
                  <a16:creationId xmlns:a16="http://schemas.microsoft.com/office/drawing/2014/main" id="{D6148D79-6811-1711-687C-9BD636EAE8B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834640"/>
              <a:ext cx="1295400" cy="768096"/>
            </a:xfrm>
            <a:prstGeom prst="rect">
              <a:avLst/>
            </a:prstGeom>
          </p:spPr>
        </p:pic>
        <p:sp>
          <p:nvSpPr>
            <p:cNvPr id="41" name="object 10">
              <a:extLst>
                <a:ext uri="{FF2B5EF4-FFF2-40B4-BE49-F238E27FC236}">
                  <a16:creationId xmlns:a16="http://schemas.microsoft.com/office/drawing/2014/main" id="{95069450-09E8-96F6-CF59-664AA8EB23EC}"/>
                </a:ext>
              </a:extLst>
            </p:cNvPr>
            <p:cNvSpPr/>
            <p:nvPr/>
          </p:nvSpPr>
          <p:spPr>
            <a:xfrm>
              <a:off x="995319" y="3309641"/>
              <a:ext cx="1387475" cy="1805305"/>
            </a:xfrm>
            <a:custGeom>
              <a:avLst/>
              <a:gdLst/>
              <a:ahLst/>
              <a:cxnLst/>
              <a:rect l="l" t="t" r="r" b="b"/>
              <a:pathLst>
                <a:path w="1387475" h="1805304">
                  <a:moveTo>
                    <a:pt x="63462" y="59375"/>
                  </a:moveTo>
                  <a:lnTo>
                    <a:pt x="40775" y="76748"/>
                  </a:lnTo>
                  <a:lnTo>
                    <a:pt x="1364301" y="1805118"/>
                  </a:lnTo>
                  <a:lnTo>
                    <a:pt x="1386989" y="1787745"/>
                  </a:lnTo>
                  <a:lnTo>
                    <a:pt x="63462" y="59375"/>
                  </a:lnTo>
                  <a:close/>
                </a:path>
                <a:path w="1387475" h="1805304">
                  <a:moveTo>
                    <a:pt x="0" y="0"/>
                  </a:moveTo>
                  <a:lnTo>
                    <a:pt x="18088" y="94120"/>
                  </a:lnTo>
                  <a:lnTo>
                    <a:pt x="40775" y="76748"/>
                  </a:lnTo>
                  <a:lnTo>
                    <a:pt x="32086" y="65401"/>
                  </a:lnTo>
                  <a:lnTo>
                    <a:pt x="54773" y="48028"/>
                  </a:lnTo>
                  <a:lnTo>
                    <a:pt x="78280" y="48028"/>
                  </a:lnTo>
                  <a:lnTo>
                    <a:pt x="86149" y="42002"/>
                  </a:lnTo>
                  <a:lnTo>
                    <a:pt x="0" y="0"/>
                  </a:lnTo>
                  <a:close/>
                </a:path>
                <a:path w="1387475" h="1805304">
                  <a:moveTo>
                    <a:pt x="54773" y="48028"/>
                  </a:moveTo>
                  <a:lnTo>
                    <a:pt x="32086" y="65401"/>
                  </a:lnTo>
                  <a:lnTo>
                    <a:pt x="40775" y="76748"/>
                  </a:lnTo>
                  <a:lnTo>
                    <a:pt x="63462" y="59375"/>
                  </a:lnTo>
                  <a:lnTo>
                    <a:pt x="54773" y="48028"/>
                  </a:lnTo>
                  <a:close/>
                </a:path>
                <a:path w="1387475" h="1805304">
                  <a:moveTo>
                    <a:pt x="78280" y="48028"/>
                  </a:moveTo>
                  <a:lnTo>
                    <a:pt x="54773" y="48028"/>
                  </a:lnTo>
                  <a:lnTo>
                    <a:pt x="63462" y="59375"/>
                  </a:lnTo>
                  <a:lnTo>
                    <a:pt x="78280" y="4802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11">
              <a:extLst>
                <a:ext uri="{FF2B5EF4-FFF2-40B4-BE49-F238E27FC236}">
                  <a16:creationId xmlns:a16="http://schemas.microsoft.com/office/drawing/2014/main" id="{29930CC6-9F7E-1C4F-3F6E-8517FEDD36A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584447"/>
              <a:ext cx="1295400" cy="1143000"/>
            </a:xfrm>
            <a:prstGeom prst="rect">
              <a:avLst/>
            </a:prstGeom>
          </p:spPr>
        </p:pic>
        <p:sp>
          <p:nvSpPr>
            <p:cNvPr id="43" name="object 12">
              <a:extLst>
                <a:ext uri="{FF2B5EF4-FFF2-40B4-BE49-F238E27FC236}">
                  <a16:creationId xmlns:a16="http://schemas.microsoft.com/office/drawing/2014/main" id="{58AC648A-86FB-E867-504E-D9919041C71D}"/>
                </a:ext>
              </a:extLst>
            </p:cNvPr>
            <p:cNvSpPr/>
            <p:nvPr/>
          </p:nvSpPr>
          <p:spPr>
            <a:xfrm>
              <a:off x="913224" y="4450618"/>
              <a:ext cx="290830" cy="901700"/>
            </a:xfrm>
            <a:custGeom>
              <a:avLst/>
              <a:gdLst/>
              <a:ahLst/>
              <a:cxnLst/>
              <a:rect l="l" t="t" r="r" b="b"/>
              <a:pathLst>
                <a:path w="290830" h="901700">
                  <a:moveTo>
                    <a:pt x="54900" y="78381"/>
                  </a:moveTo>
                  <a:lnTo>
                    <a:pt x="27449" y="86319"/>
                  </a:lnTo>
                  <a:lnTo>
                    <a:pt x="263242" y="901639"/>
                  </a:lnTo>
                  <a:lnTo>
                    <a:pt x="290692" y="893700"/>
                  </a:lnTo>
                  <a:lnTo>
                    <a:pt x="54900" y="78381"/>
                  </a:lnTo>
                  <a:close/>
                </a:path>
                <a:path w="290830" h="901700">
                  <a:moveTo>
                    <a:pt x="17359" y="0"/>
                  </a:moveTo>
                  <a:lnTo>
                    <a:pt x="0" y="94258"/>
                  </a:lnTo>
                  <a:lnTo>
                    <a:pt x="27449" y="86319"/>
                  </a:lnTo>
                  <a:lnTo>
                    <a:pt x="23480" y="72595"/>
                  </a:lnTo>
                  <a:lnTo>
                    <a:pt x="50931" y="64656"/>
                  </a:lnTo>
                  <a:lnTo>
                    <a:pt x="77012" y="64656"/>
                  </a:lnTo>
                  <a:lnTo>
                    <a:pt x="17359" y="0"/>
                  </a:lnTo>
                  <a:close/>
                </a:path>
                <a:path w="290830" h="901700">
                  <a:moveTo>
                    <a:pt x="50931" y="64656"/>
                  </a:moveTo>
                  <a:lnTo>
                    <a:pt x="23480" y="72595"/>
                  </a:lnTo>
                  <a:lnTo>
                    <a:pt x="27449" y="86319"/>
                  </a:lnTo>
                  <a:lnTo>
                    <a:pt x="54900" y="78381"/>
                  </a:lnTo>
                  <a:lnTo>
                    <a:pt x="50931" y="64656"/>
                  </a:lnTo>
                  <a:close/>
                </a:path>
                <a:path w="290830" h="901700">
                  <a:moveTo>
                    <a:pt x="77012" y="64656"/>
                  </a:moveTo>
                  <a:lnTo>
                    <a:pt x="50931" y="64656"/>
                  </a:lnTo>
                  <a:lnTo>
                    <a:pt x="54900" y="78381"/>
                  </a:lnTo>
                  <a:lnTo>
                    <a:pt x="82350" y="70443"/>
                  </a:lnTo>
                  <a:lnTo>
                    <a:pt x="77012" y="6465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13">
            <a:extLst>
              <a:ext uri="{FF2B5EF4-FFF2-40B4-BE49-F238E27FC236}">
                <a16:creationId xmlns:a16="http://schemas.microsoft.com/office/drawing/2014/main" id="{8FE1FC2A-E2FA-717E-F49C-E88B6705502D}"/>
              </a:ext>
            </a:extLst>
          </p:cNvPr>
          <p:cNvSpPr txBox="1"/>
          <p:nvPr/>
        </p:nvSpPr>
        <p:spPr>
          <a:xfrm>
            <a:off x="3664496" y="2060403"/>
            <a:ext cx="896045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Left-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click</a:t>
            </a:r>
            <a:r>
              <a:rPr sz="2000" b="1" spc="-3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the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timeline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and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drag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mouse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to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measure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specific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activities</a:t>
            </a:r>
            <a:endParaRPr sz="2000" b="1" dirty="0">
              <a:latin typeface="Century Gothic"/>
              <a:cs typeface="Century Gothic"/>
            </a:endParaRPr>
          </a:p>
        </p:txBody>
      </p:sp>
      <p:sp>
        <p:nvSpPr>
          <p:cNvPr id="45" name="object 14">
            <a:extLst>
              <a:ext uri="{FF2B5EF4-FFF2-40B4-BE49-F238E27FC236}">
                <a16:creationId xmlns:a16="http://schemas.microsoft.com/office/drawing/2014/main" id="{B8A69B18-29A4-30F9-6D7A-A0042255C855}"/>
              </a:ext>
            </a:extLst>
          </p:cNvPr>
          <p:cNvSpPr txBox="1"/>
          <p:nvPr/>
        </p:nvSpPr>
        <p:spPr>
          <a:xfrm>
            <a:off x="735923" y="5432013"/>
            <a:ext cx="652897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635"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CUDA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API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activity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from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CPU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process</a:t>
            </a:r>
            <a:endParaRPr sz="2000" b="1" dirty="0">
              <a:latin typeface="Century Gothic"/>
              <a:cs typeface="Century Gothic"/>
            </a:endParaRPr>
          </a:p>
          <a:p>
            <a:pPr marL="12700"/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GPU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activity</a:t>
            </a:r>
            <a:endParaRPr sz="2000" b="1" dirty="0">
              <a:latin typeface="Century Gothic"/>
              <a:cs typeface="Century Gothic"/>
            </a:endParaRPr>
          </a:p>
        </p:txBody>
      </p:sp>
      <p:pic>
        <p:nvPicPr>
          <p:cNvPr id="46" name="object 15">
            <a:extLst>
              <a:ext uri="{FF2B5EF4-FFF2-40B4-BE49-F238E27FC236}">
                <a16:creationId xmlns:a16="http://schemas.microsoft.com/office/drawing/2014/main" id="{74F8E815-B161-4870-E5D5-618ACE718C3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5940" y="4089369"/>
            <a:ext cx="11954256" cy="637032"/>
          </a:xfrm>
          <a:prstGeom prst="rect">
            <a:avLst/>
          </a:prstGeom>
        </p:spPr>
      </p:pic>
      <p:sp>
        <p:nvSpPr>
          <p:cNvPr id="47" name="object 16">
            <a:extLst>
              <a:ext uri="{FF2B5EF4-FFF2-40B4-BE49-F238E27FC236}">
                <a16:creationId xmlns:a16="http://schemas.microsoft.com/office/drawing/2014/main" id="{077A8380-700B-32D4-05BE-5DDB86CDB967}"/>
              </a:ext>
            </a:extLst>
          </p:cNvPr>
          <p:cNvSpPr txBox="1"/>
          <p:nvPr/>
        </p:nvSpPr>
        <p:spPr>
          <a:xfrm>
            <a:off x="10649272" y="4060413"/>
            <a:ext cx="1833019" cy="6435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sz="1600" b="1" dirty="0">
                <a:solidFill>
                  <a:srgbClr val="FF0000"/>
                </a:solidFill>
                <a:latin typeface="Century Gothic"/>
                <a:cs typeface="Century Gothic"/>
              </a:rPr>
              <a:t>Data</a:t>
            </a:r>
            <a:r>
              <a:rPr sz="1600" b="1" spc="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Transfers </a:t>
            </a:r>
            <a:r>
              <a:rPr sz="1600" b="1" dirty="0">
                <a:solidFill>
                  <a:srgbClr val="FF0000"/>
                </a:solidFill>
                <a:latin typeface="Century Gothic"/>
                <a:cs typeface="Century Gothic"/>
              </a:rPr>
              <a:t>Kernel</a:t>
            </a:r>
            <a:r>
              <a:rPr sz="16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Execution</a:t>
            </a:r>
            <a:endParaRPr sz="1600" b="1" dirty="0">
              <a:latin typeface="Century Gothic"/>
              <a:cs typeface="Century Gothic"/>
            </a:endParaRPr>
          </a:p>
        </p:txBody>
      </p:sp>
      <p:sp>
        <p:nvSpPr>
          <p:cNvPr id="48" name="object 17">
            <a:extLst>
              <a:ext uri="{FF2B5EF4-FFF2-40B4-BE49-F238E27FC236}">
                <a16:creationId xmlns:a16="http://schemas.microsoft.com/office/drawing/2014/main" id="{DD5A9B02-F6D2-FD67-8208-2CFFBC5A5AF1}"/>
              </a:ext>
            </a:extLst>
          </p:cNvPr>
          <p:cNvSpPr txBox="1"/>
          <p:nvPr/>
        </p:nvSpPr>
        <p:spPr>
          <a:xfrm>
            <a:off x="978024" y="1365981"/>
            <a:ext cx="1126211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To</a:t>
            </a:r>
            <a:r>
              <a:rPr sz="20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zoom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in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on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</a:t>
            </a:r>
            <a:r>
              <a:rPr sz="20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specific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region,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hold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Ctrl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+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left-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click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and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drag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mouse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(Cmd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for</a:t>
            </a:r>
            <a:r>
              <a:rPr sz="20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Mac)</a:t>
            </a:r>
            <a:endParaRPr sz="2000" b="1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15773221"/>
      </p:ext>
    </p:extLst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80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Vector Addition Example (Visual Profiler)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5869EE27-FF98-1C97-081E-7963C9F08BAD}"/>
              </a:ext>
            </a:extLst>
          </p:cNvPr>
          <p:cNvGrpSpPr/>
          <p:nvPr/>
        </p:nvGrpSpPr>
        <p:grpSpPr>
          <a:xfrm>
            <a:off x="332020" y="1168007"/>
            <a:ext cx="12189460" cy="4483735"/>
            <a:chOff x="0" y="908303"/>
            <a:chExt cx="12189460" cy="4483735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513C7432-AFEE-7757-5F4C-AA5B3610319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08303"/>
              <a:ext cx="12188952" cy="2075688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B376521A-0371-3B26-57F2-47A4C79595C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304" y="3133343"/>
              <a:ext cx="5010912" cy="2258567"/>
            </a:xfrm>
            <a:prstGeom prst="rect">
              <a:avLst/>
            </a:prstGeom>
          </p:spPr>
        </p:pic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AB751C3B-745B-0E8C-A64C-6904B4A24A82}"/>
                </a:ext>
              </a:extLst>
            </p:cNvPr>
            <p:cNvSpPr/>
            <p:nvPr/>
          </p:nvSpPr>
          <p:spPr>
            <a:xfrm>
              <a:off x="1282458" y="2604833"/>
              <a:ext cx="7201534" cy="2693035"/>
            </a:xfrm>
            <a:custGeom>
              <a:avLst/>
              <a:gdLst/>
              <a:ahLst/>
              <a:cxnLst/>
              <a:rect l="l" t="t" r="r" b="b"/>
              <a:pathLst>
                <a:path w="7201534" h="2693035">
                  <a:moveTo>
                    <a:pt x="2195766" y="95897"/>
                  </a:moveTo>
                  <a:lnTo>
                    <a:pt x="2101507" y="78524"/>
                  </a:lnTo>
                  <a:lnTo>
                    <a:pt x="2109444" y="105968"/>
                  </a:lnTo>
                  <a:lnTo>
                    <a:pt x="736" y="715365"/>
                  </a:lnTo>
                  <a:lnTo>
                    <a:pt x="8661" y="742823"/>
                  </a:lnTo>
                  <a:lnTo>
                    <a:pt x="2117369" y="133426"/>
                  </a:lnTo>
                  <a:lnTo>
                    <a:pt x="2125307" y="160870"/>
                  </a:lnTo>
                  <a:lnTo>
                    <a:pt x="2189137" y="102006"/>
                  </a:lnTo>
                  <a:lnTo>
                    <a:pt x="2195766" y="95897"/>
                  </a:lnTo>
                  <a:close/>
                </a:path>
                <a:path w="7201534" h="2693035">
                  <a:moveTo>
                    <a:pt x="3944315" y="22771"/>
                  </a:moveTo>
                  <a:lnTo>
                    <a:pt x="3851211" y="0"/>
                  </a:lnTo>
                  <a:lnTo>
                    <a:pt x="3857561" y="27863"/>
                  </a:lnTo>
                  <a:lnTo>
                    <a:pt x="1524" y="905319"/>
                  </a:lnTo>
                  <a:lnTo>
                    <a:pt x="7874" y="933183"/>
                  </a:lnTo>
                  <a:lnTo>
                    <a:pt x="3863898" y="55727"/>
                  </a:lnTo>
                  <a:lnTo>
                    <a:pt x="3870236" y="83578"/>
                  </a:lnTo>
                  <a:lnTo>
                    <a:pt x="3941978" y="24688"/>
                  </a:lnTo>
                  <a:lnTo>
                    <a:pt x="3944315" y="22771"/>
                  </a:lnTo>
                  <a:close/>
                </a:path>
                <a:path w="7201534" h="2693035">
                  <a:moveTo>
                    <a:pt x="6016549" y="284035"/>
                  </a:moveTo>
                  <a:lnTo>
                    <a:pt x="5921591" y="271018"/>
                  </a:lnTo>
                  <a:lnTo>
                    <a:pt x="5930785" y="298081"/>
                  </a:lnTo>
                  <a:lnTo>
                    <a:pt x="509371" y="2139759"/>
                  </a:lnTo>
                  <a:lnTo>
                    <a:pt x="518566" y="2166823"/>
                  </a:lnTo>
                  <a:lnTo>
                    <a:pt x="5939980" y="325132"/>
                  </a:lnTo>
                  <a:lnTo>
                    <a:pt x="5949162" y="352196"/>
                  </a:lnTo>
                  <a:lnTo>
                    <a:pt x="6007201" y="293484"/>
                  </a:lnTo>
                  <a:lnTo>
                    <a:pt x="6016549" y="284035"/>
                  </a:lnTo>
                  <a:close/>
                </a:path>
                <a:path w="7201534" h="2693035">
                  <a:moveTo>
                    <a:pt x="7201027" y="170738"/>
                  </a:moveTo>
                  <a:lnTo>
                    <a:pt x="7105967" y="158483"/>
                  </a:lnTo>
                  <a:lnTo>
                    <a:pt x="7115365" y="185470"/>
                  </a:lnTo>
                  <a:lnTo>
                    <a:pt x="0" y="2665780"/>
                  </a:lnTo>
                  <a:lnTo>
                    <a:pt x="9398" y="2692768"/>
                  </a:lnTo>
                  <a:lnTo>
                    <a:pt x="7124776" y="212445"/>
                  </a:lnTo>
                  <a:lnTo>
                    <a:pt x="7134187" y="239433"/>
                  </a:lnTo>
                  <a:lnTo>
                    <a:pt x="7191248" y="180784"/>
                  </a:lnTo>
                  <a:lnTo>
                    <a:pt x="7201027" y="17073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75DE4160-79D9-B3DF-DFB7-16F365503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067518"/>
              </p:ext>
            </p:extLst>
          </p:nvPr>
        </p:nvGraphicFramePr>
        <p:xfrm>
          <a:off x="1612834" y="5867485"/>
          <a:ext cx="9944098" cy="829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6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555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3679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Type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0000"/>
                      </a:solidFill>
                      <a:prstDash val="solid"/>
                    </a:lnL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Time(%)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Time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Calls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Avg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Min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Max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Name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84455" algn="r">
                        <a:lnSpc>
                          <a:spcPts val="125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GPU</a:t>
                      </a:r>
                      <a:r>
                        <a:rPr sz="12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latin typeface="Courier New"/>
                          <a:cs typeface="Courier New"/>
                        </a:rPr>
                        <a:t>activities: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56.25%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463.36us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ts val="125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2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231.68us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229.66us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233.70us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25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[CUDA</a:t>
                      </a:r>
                      <a:r>
                        <a:rPr sz="1200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latin typeface="Courier New"/>
                          <a:cs typeface="Courier New"/>
                        </a:rPr>
                        <a:t>memcpy</a:t>
                      </a:r>
                      <a:r>
                        <a:rPr sz="12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latin typeface="Courier New"/>
                          <a:cs typeface="Courier New"/>
                        </a:rPr>
                        <a:t>HtoD]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41.59%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ts val="125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1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342.56us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25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[CUDA</a:t>
                      </a:r>
                      <a:r>
                        <a:rPr sz="1200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latin typeface="Courier New"/>
                          <a:cs typeface="Courier New"/>
                        </a:rPr>
                        <a:t>memcpy</a:t>
                      </a:r>
                      <a:r>
                        <a:rPr sz="12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latin typeface="Courier New"/>
                          <a:cs typeface="Courier New"/>
                        </a:rPr>
                        <a:t>DtoH]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31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2.16%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0" algn="r">
                        <a:lnSpc>
                          <a:spcPts val="131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ts val="131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1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31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31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31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17.824us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315"/>
                        </a:lnSpc>
                      </a:pPr>
                      <a:r>
                        <a:rPr sz="1200" dirty="0">
                          <a:latin typeface="Courier New"/>
                          <a:cs typeface="Courier New"/>
                        </a:rPr>
                        <a:t>add_vectors(int*,</a:t>
                      </a:r>
                      <a:r>
                        <a:rPr sz="12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dirty="0">
                          <a:latin typeface="Courier New"/>
                          <a:cs typeface="Courier New"/>
                        </a:rPr>
                        <a:t>int*,</a:t>
                      </a:r>
                      <a:r>
                        <a:rPr sz="12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10" dirty="0">
                          <a:latin typeface="Courier New"/>
                          <a:cs typeface="Courier New"/>
                        </a:rPr>
                        <a:t>int*)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352528"/>
      </p:ext>
    </p:extLst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Vector Addition Example (Visual Profiler)</a:t>
            </a:r>
          </a:p>
        </p:txBody>
      </p:sp>
      <p:grpSp>
        <p:nvGrpSpPr>
          <p:cNvPr id="7" name="object 2">
            <a:extLst>
              <a:ext uri="{FF2B5EF4-FFF2-40B4-BE49-F238E27FC236}">
                <a16:creationId xmlns:a16="http://schemas.microsoft.com/office/drawing/2014/main" id="{B355D4EA-EB14-455D-AD78-66EB865C5CA3}"/>
              </a:ext>
            </a:extLst>
          </p:cNvPr>
          <p:cNvGrpSpPr/>
          <p:nvPr/>
        </p:nvGrpSpPr>
        <p:grpSpPr>
          <a:xfrm>
            <a:off x="856184" y="1109484"/>
            <a:ext cx="11128375" cy="5431790"/>
            <a:chOff x="728472" y="883919"/>
            <a:chExt cx="11128375" cy="5431790"/>
          </a:xfrm>
        </p:grpSpPr>
        <p:pic>
          <p:nvPicPr>
            <p:cNvPr id="8" name="object 3">
              <a:extLst>
                <a:ext uri="{FF2B5EF4-FFF2-40B4-BE49-F238E27FC236}">
                  <a16:creationId xmlns:a16="http://schemas.microsoft.com/office/drawing/2014/main" id="{B3136996-BEC9-C140-55C7-9D2E33BCA3E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1343" y="883919"/>
              <a:ext cx="5620511" cy="2798063"/>
            </a:xfrm>
            <a:prstGeom prst="rect">
              <a:avLst/>
            </a:prstGeom>
          </p:spPr>
        </p:pic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E4450D86-39B6-3EF4-0E2A-CF1D9B80CB4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472" y="1520951"/>
              <a:ext cx="5007863" cy="2258568"/>
            </a:xfrm>
            <a:prstGeom prst="rect">
              <a:avLst/>
            </a:prstGeom>
          </p:spPr>
        </p:pic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68DD04F8-ED31-25C5-0AED-EF43610A66B2}"/>
                </a:ext>
              </a:extLst>
            </p:cNvPr>
            <p:cNvSpPr/>
            <p:nvPr/>
          </p:nvSpPr>
          <p:spPr>
            <a:xfrm>
              <a:off x="4547074" y="1721177"/>
              <a:ext cx="3658870" cy="219710"/>
            </a:xfrm>
            <a:custGeom>
              <a:avLst/>
              <a:gdLst/>
              <a:ahLst/>
              <a:cxnLst/>
              <a:rect l="l" t="t" r="r" b="b"/>
              <a:pathLst>
                <a:path w="3658870" h="219710">
                  <a:moveTo>
                    <a:pt x="3574557" y="133741"/>
                  </a:moveTo>
                  <a:lnTo>
                    <a:pt x="3573260" y="162286"/>
                  </a:lnTo>
                  <a:lnTo>
                    <a:pt x="3587530" y="162934"/>
                  </a:lnTo>
                  <a:lnTo>
                    <a:pt x="3586233" y="191480"/>
                  </a:lnTo>
                  <a:lnTo>
                    <a:pt x="3571934" y="191480"/>
                  </a:lnTo>
                  <a:lnTo>
                    <a:pt x="3570667" y="219377"/>
                  </a:lnTo>
                  <a:lnTo>
                    <a:pt x="3633432" y="191480"/>
                  </a:lnTo>
                  <a:lnTo>
                    <a:pt x="3586233" y="191480"/>
                  </a:lnTo>
                  <a:lnTo>
                    <a:pt x="3571963" y="190832"/>
                  </a:lnTo>
                  <a:lnTo>
                    <a:pt x="3634891" y="190832"/>
                  </a:lnTo>
                  <a:lnTo>
                    <a:pt x="3658248" y="180450"/>
                  </a:lnTo>
                  <a:lnTo>
                    <a:pt x="3574557" y="133741"/>
                  </a:lnTo>
                  <a:close/>
                </a:path>
                <a:path w="3658870" h="219710">
                  <a:moveTo>
                    <a:pt x="3573260" y="162286"/>
                  </a:moveTo>
                  <a:lnTo>
                    <a:pt x="3571963" y="190832"/>
                  </a:lnTo>
                  <a:lnTo>
                    <a:pt x="3586233" y="191480"/>
                  </a:lnTo>
                  <a:lnTo>
                    <a:pt x="3587530" y="162934"/>
                  </a:lnTo>
                  <a:lnTo>
                    <a:pt x="3573260" y="162286"/>
                  </a:lnTo>
                  <a:close/>
                </a:path>
                <a:path w="3658870" h="219710">
                  <a:moveTo>
                    <a:pt x="1296" y="0"/>
                  </a:moveTo>
                  <a:lnTo>
                    <a:pt x="0" y="28544"/>
                  </a:lnTo>
                  <a:lnTo>
                    <a:pt x="3571963" y="190832"/>
                  </a:lnTo>
                  <a:lnTo>
                    <a:pt x="3573260" y="162286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7D1448ED-19A4-E89E-F4B9-081771A4733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81343" y="3749040"/>
              <a:ext cx="5675376" cy="2566416"/>
            </a:xfrm>
            <a:prstGeom prst="rect">
              <a:avLst/>
            </a:prstGeom>
          </p:spPr>
        </p:pic>
      </p:grpSp>
      <p:sp>
        <p:nvSpPr>
          <p:cNvPr id="12" name="object 8">
            <a:extLst>
              <a:ext uri="{FF2B5EF4-FFF2-40B4-BE49-F238E27FC236}">
                <a16:creationId xmlns:a16="http://schemas.microsoft.com/office/drawing/2014/main" id="{D060697B-EE7E-2576-89FD-13234488D75C}"/>
              </a:ext>
            </a:extLst>
          </p:cNvPr>
          <p:cNvSpPr txBox="1"/>
          <p:nvPr/>
        </p:nvSpPr>
        <p:spPr>
          <a:xfrm>
            <a:off x="9350452" y="1760232"/>
            <a:ext cx="12617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Century Gothic"/>
                <a:cs typeface="Century Gothic"/>
              </a:rPr>
              <a:t>CUDA</a:t>
            </a:r>
            <a:r>
              <a:rPr sz="1400" spc="-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0000"/>
                </a:solidFill>
                <a:latin typeface="Century Gothic"/>
                <a:cs typeface="Century Gothic"/>
              </a:rPr>
              <a:t>API</a:t>
            </a:r>
            <a:r>
              <a:rPr sz="1400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Century Gothic"/>
                <a:cs typeface="Century Gothic"/>
              </a:rPr>
              <a:t>Call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705EA58B-DCC9-EDF9-6FBD-0D4CBC531BEC}"/>
              </a:ext>
            </a:extLst>
          </p:cNvPr>
          <p:cNvSpPr txBox="1"/>
          <p:nvPr/>
        </p:nvSpPr>
        <p:spPr>
          <a:xfrm>
            <a:off x="9656601" y="2717305"/>
            <a:ext cx="17856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Century Gothic"/>
                <a:cs typeface="Century Gothic"/>
              </a:rPr>
              <a:t>Actual</a:t>
            </a:r>
            <a:r>
              <a:rPr sz="1400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0000"/>
                </a:solidFill>
                <a:latin typeface="Century Gothic"/>
                <a:cs typeface="Century Gothic"/>
              </a:rPr>
              <a:t>Data </a:t>
            </a:r>
            <a:r>
              <a:rPr sz="1400" spc="-10" dirty="0">
                <a:solidFill>
                  <a:srgbClr val="FF0000"/>
                </a:solidFill>
                <a:latin typeface="Century Gothic"/>
                <a:cs typeface="Century Gothic"/>
              </a:rPr>
              <a:t>Transfer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14" name="object 10">
            <a:extLst>
              <a:ext uri="{FF2B5EF4-FFF2-40B4-BE49-F238E27FC236}">
                <a16:creationId xmlns:a16="http://schemas.microsoft.com/office/drawing/2014/main" id="{B19094B7-64CD-101F-077E-437DBDC447F1}"/>
              </a:ext>
            </a:extLst>
          </p:cNvPr>
          <p:cNvGrpSpPr/>
          <p:nvPr/>
        </p:nvGrpSpPr>
        <p:grpSpPr>
          <a:xfrm>
            <a:off x="4672094" y="1947123"/>
            <a:ext cx="4669790" cy="4605655"/>
            <a:chOff x="4544382" y="1721558"/>
            <a:chExt cx="4669790" cy="4605655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B03493E9-CD6C-619B-E0F9-11014F531A88}"/>
                </a:ext>
              </a:extLst>
            </p:cNvPr>
            <p:cNvSpPr/>
            <p:nvPr/>
          </p:nvSpPr>
          <p:spPr>
            <a:xfrm>
              <a:off x="4544382" y="1721558"/>
              <a:ext cx="4669790" cy="1158240"/>
            </a:xfrm>
            <a:custGeom>
              <a:avLst/>
              <a:gdLst/>
              <a:ahLst/>
              <a:cxnLst/>
              <a:rect l="l" t="t" r="r" b="b"/>
              <a:pathLst>
                <a:path w="4669790" h="1158239">
                  <a:moveTo>
                    <a:pt x="4582979" y="1130085"/>
                  </a:moveTo>
                  <a:lnTo>
                    <a:pt x="4576297" y="1157867"/>
                  </a:lnTo>
                  <a:lnTo>
                    <a:pt x="4669669" y="1136241"/>
                  </a:lnTo>
                  <a:lnTo>
                    <a:pt x="4666321" y="1133422"/>
                  </a:lnTo>
                  <a:lnTo>
                    <a:pt x="4596853" y="1133422"/>
                  </a:lnTo>
                  <a:lnTo>
                    <a:pt x="4582979" y="1130085"/>
                  </a:lnTo>
                  <a:close/>
                </a:path>
                <a:path w="4669790" h="1158239">
                  <a:moveTo>
                    <a:pt x="4589662" y="1102302"/>
                  </a:moveTo>
                  <a:lnTo>
                    <a:pt x="4582979" y="1130085"/>
                  </a:lnTo>
                  <a:lnTo>
                    <a:pt x="4596853" y="1133422"/>
                  </a:lnTo>
                  <a:lnTo>
                    <a:pt x="4603535" y="1105639"/>
                  </a:lnTo>
                  <a:lnTo>
                    <a:pt x="4589662" y="1102302"/>
                  </a:lnTo>
                  <a:close/>
                </a:path>
                <a:path w="4669790" h="1158239">
                  <a:moveTo>
                    <a:pt x="4596344" y="1074520"/>
                  </a:moveTo>
                  <a:lnTo>
                    <a:pt x="4589662" y="1102302"/>
                  </a:lnTo>
                  <a:lnTo>
                    <a:pt x="4603535" y="1105639"/>
                  </a:lnTo>
                  <a:lnTo>
                    <a:pt x="4596853" y="1133422"/>
                  </a:lnTo>
                  <a:lnTo>
                    <a:pt x="4666321" y="1133422"/>
                  </a:lnTo>
                  <a:lnTo>
                    <a:pt x="4596344" y="1074520"/>
                  </a:lnTo>
                  <a:close/>
                </a:path>
                <a:path w="4669790" h="1158239">
                  <a:moveTo>
                    <a:pt x="6682" y="0"/>
                  </a:moveTo>
                  <a:lnTo>
                    <a:pt x="0" y="27782"/>
                  </a:lnTo>
                  <a:lnTo>
                    <a:pt x="4582979" y="1130085"/>
                  </a:lnTo>
                  <a:lnTo>
                    <a:pt x="4589662" y="1102302"/>
                  </a:lnTo>
                  <a:lnTo>
                    <a:pt x="668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ECD139AA-8E62-EBE4-EF21-2B822384A382}"/>
                </a:ext>
              </a:extLst>
            </p:cNvPr>
            <p:cNvSpPr/>
            <p:nvPr/>
          </p:nvSpPr>
          <p:spPr>
            <a:xfrm>
              <a:off x="5824237" y="3814624"/>
              <a:ext cx="271780" cy="2498090"/>
            </a:xfrm>
            <a:custGeom>
              <a:avLst/>
              <a:gdLst/>
              <a:ahLst/>
              <a:cxnLst/>
              <a:rect l="l" t="t" r="r" b="b"/>
              <a:pathLst>
                <a:path w="271779" h="2498090">
                  <a:moveTo>
                    <a:pt x="271761" y="2498050"/>
                  </a:moveTo>
                  <a:lnTo>
                    <a:pt x="218870" y="2496270"/>
                  </a:lnTo>
                  <a:lnTo>
                    <a:pt x="175678" y="2491417"/>
                  </a:lnTo>
                  <a:lnTo>
                    <a:pt x="146558" y="2484219"/>
                  </a:lnTo>
                  <a:lnTo>
                    <a:pt x="135880" y="2475405"/>
                  </a:lnTo>
                  <a:lnTo>
                    <a:pt x="135880" y="1271670"/>
                  </a:lnTo>
                  <a:lnTo>
                    <a:pt x="125202" y="1262855"/>
                  </a:lnTo>
                  <a:lnTo>
                    <a:pt x="96082" y="1255657"/>
                  </a:lnTo>
                  <a:lnTo>
                    <a:pt x="52890" y="1250804"/>
                  </a:lnTo>
                  <a:lnTo>
                    <a:pt x="0" y="1249025"/>
                  </a:lnTo>
                  <a:lnTo>
                    <a:pt x="52890" y="1247245"/>
                  </a:lnTo>
                  <a:lnTo>
                    <a:pt x="96082" y="1242392"/>
                  </a:lnTo>
                  <a:lnTo>
                    <a:pt x="125202" y="1235194"/>
                  </a:lnTo>
                  <a:lnTo>
                    <a:pt x="135880" y="1226380"/>
                  </a:lnTo>
                  <a:lnTo>
                    <a:pt x="135880" y="22645"/>
                  </a:lnTo>
                  <a:lnTo>
                    <a:pt x="146558" y="13830"/>
                  </a:lnTo>
                  <a:lnTo>
                    <a:pt x="175678" y="6632"/>
                  </a:lnTo>
                  <a:lnTo>
                    <a:pt x="218870" y="1779"/>
                  </a:lnTo>
                  <a:lnTo>
                    <a:pt x="271761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2ABD5498-BDFE-9A15-55B8-59FDCFBC3425}"/>
              </a:ext>
            </a:extLst>
          </p:cNvPr>
          <p:cNvSpPr txBox="1"/>
          <p:nvPr/>
        </p:nvSpPr>
        <p:spPr>
          <a:xfrm>
            <a:off x="1863445" y="5152657"/>
            <a:ext cx="403329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Details</a:t>
            </a:r>
            <a:r>
              <a:rPr sz="20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about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the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entury Gothic"/>
                <a:cs typeface="Century Gothic"/>
              </a:rPr>
              <a:t>data </a:t>
            </a:r>
            <a:r>
              <a:rPr sz="20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transfer</a:t>
            </a:r>
            <a:endParaRPr sz="2000" b="1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61261857"/>
      </p:ext>
    </p:extLst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 bwMode="auto">
          <a:xfrm>
            <a:off x="9497144" y="6661892"/>
            <a:ext cx="2986088" cy="384175"/>
          </a:xfrm>
          <a:noFill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36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80415" indent="-300355">
              <a:spcBef>
                <a:spcPct val="20000"/>
              </a:spcBef>
              <a:buFont typeface="Arial" panose="020B0604020202020204" pitchFamily="34" charset="0"/>
              <a:buChar char="–"/>
              <a:defRPr sz="294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00150" indent="-240030">
              <a:spcBef>
                <a:spcPct val="20000"/>
              </a:spcBef>
              <a:buFont typeface="Arial" panose="020B0604020202020204" pitchFamily="34" charset="0"/>
              <a:buChar char="•"/>
              <a:defRPr sz="252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80210" indent="-240030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160270" indent="-240030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4033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2039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60045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80510" indent="-2400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79042A-73EB-4748-98EF-861469C4C2ED}" type="slidenum">
              <a:rPr lang="zh-CN" altLang="en-US" sz="1260">
                <a:solidFill>
                  <a:srgbClr val="898989"/>
                </a:solidFill>
              </a:rPr>
              <a:t>82</a:t>
            </a:fld>
            <a:endParaRPr lang="zh-CN" altLang="en-US" sz="1260" dirty="0">
              <a:solidFill>
                <a:srgbClr val="898989"/>
              </a:solidFill>
            </a:endParaRPr>
          </a:p>
        </p:txBody>
      </p:sp>
      <p:sp>
        <p:nvSpPr>
          <p:cNvPr id="30" name="标题 10">
            <a:extLst>
              <a:ext uri="{FF2B5EF4-FFF2-40B4-BE49-F238E27FC236}">
                <a16:creationId xmlns:a16="http://schemas.microsoft.com/office/drawing/2014/main" id="{37E93104-05F0-990C-8596-68CE8E821703}"/>
              </a:ext>
            </a:extLst>
          </p:cNvPr>
          <p:cNvSpPr txBox="1">
            <a:spLocks/>
          </p:cNvSpPr>
          <p:nvPr/>
        </p:nvSpPr>
        <p:spPr>
          <a:xfrm>
            <a:off x="0" y="59946"/>
            <a:ext cx="12801600" cy="792000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>
                <a:latin typeface="Comic Sans MS" panose="030F0702030302020204" pitchFamily="66" charset="0"/>
                <a:cs typeface="+mn-cs"/>
              </a:rPr>
              <a:t>Vector Addition Example (Visual Profiler)</a:t>
            </a:r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963046B4-2371-23B4-406A-32B294B8FE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6547" y="1112733"/>
            <a:ext cx="5407152" cy="1978152"/>
          </a:xfrm>
          <a:prstGeom prst="rect">
            <a:avLst/>
          </a:prstGeom>
        </p:spPr>
      </p:pic>
      <p:grpSp>
        <p:nvGrpSpPr>
          <p:cNvPr id="8" name="object 3">
            <a:extLst>
              <a:ext uri="{FF2B5EF4-FFF2-40B4-BE49-F238E27FC236}">
                <a16:creationId xmlns:a16="http://schemas.microsoft.com/office/drawing/2014/main" id="{CD98F202-5961-DCA1-FAB7-048FF2B3137D}"/>
              </a:ext>
            </a:extLst>
          </p:cNvPr>
          <p:cNvGrpSpPr/>
          <p:nvPr/>
        </p:nvGrpSpPr>
        <p:grpSpPr>
          <a:xfrm>
            <a:off x="902131" y="1606510"/>
            <a:ext cx="11043285" cy="4874260"/>
            <a:chOff x="728472" y="1520952"/>
            <a:chExt cx="11043285" cy="4874260"/>
          </a:xfrm>
        </p:grpSpPr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D9C87C2B-6210-169A-100E-DE0E340D39A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2887" y="3118104"/>
              <a:ext cx="5428488" cy="3276600"/>
            </a:xfrm>
            <a:prstGeom prst="rect">
              <a:avLst/>
            </a:prstGeom>
          </p:spPr>
        </p:pic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A24E3105-469B-1641-99F0-952F8C268A4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8472" y="1520952"/>
              <a:ext cx="5007863" cy="2258568"/>
            </a:xfrm>
            <a:prstGeom prst="rect">
              <a:avLst/>
            </a:prstGeom>
          </p:spPr>
        </p:pic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C6AAF928-F386-EE7F-FD3A-5CF9B46EAC85}"/>
                </a:ext>
              </a:extLst>
            </p:cNvPr>
            <p:cNvSpPr/>
            <p:nvPr/>
          </p:nvSpPr>
          <p:spPr>
            <a:xfrm>
              <a:off x="2010943" y="1744700"/>
              <a:ext cx="8371205" cy="1422400"/>
            </a:xfrm>
            <a:custGeom>
              <a:avLst/>
              <a:gdLst/>
              <a:ahLst/>
              <a:cxnLst/>
              <a:rect l="l" t="t" r="r" b="b"/>
              <a:pathLst>
                <a:path w="8371205" h="1422400">
                  <a:moveTo>
                    <a:pt x="8371129" y="964018"/>
                  </a:moveTo>
                  <a:lnTo>
                    <a:pt x="8347062" y="953541"/>
                  </a:lnTo>
                  <a:lnTo>
                    <a:pt x="8283257" y="925766"/>
                  </a:lnTo>
                  <a:lnTo>
                    <a:pt x="8284769" y="954290"/>
                  </a:lnTo>
                  <a:lnTo>
                    <a:pt x="161251" y="1385303"/>
                  </a:lnTo>
                  <a:lnTo>
                    <a:pt x="5782462" y="55613"/>
                  </a:lnTo>
                  <a:lnTo>
                    <a:pt x="5789041" y="83426"/>
                  </a:lnTo>
                  <a:lnTo>
                    <a:pt x="5859564" y="24523"/>
                  </a:lnTo>
                  <a:lnTo>
                    <a:pt x="5862599" y="21983"/>
                  </a:lnTo>
                  <a:lnTo>
                    <a:pt x="5769305" y="0"/>
                  </a:lnTo>
                  <a:lnTo>
                    <a:pt x="5775884" y="27813"/>
                  </a:lnTo>
                  <a:lnTo>
                    <a:pt x="0" y="1394079"/>
                  </a:lnTo>
                  <a:lnTo>
                    <a:pt x="3276" y="1407960"/>
                  </a:lnTo>
                  <a:lnTo>
                    <a:pt x="4038" y="1422247"/>
                  </a:lnTo>
                  <a:lnTo>
                    <a:pt x="8286280" y="982827"/>
                  </a:lnTo>
                  <a:lnTo>
                    <a:pt x="8287804" y="1011364"/>
                  </a:lnTo>
                  <a:lnTo>
                    <a:pt x="8371129" y="96401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1FA8B4B2-7A8E-4E65-0F9F-3B743D1D06AB}"/>
                </a:ext>
              </a:extLst>
            </p:cNvPr>
            <p:cNvSpPr/>
            <p:nvPr/>
          </p:nvSpPr>
          <p:spPr>
            <a:xfrm>
              <a:off x="5824237" y="3814624"/>
              <a:ext cx="271780" cy="2498090"/>
            </a:xfrm>
            <a:custGeom>
              <a:avLst/>
              <a:gdLst/>
              <a:ahLst/>
              <a:cxnLst/>
              <a:rect l="l" t="t" r="r" b="b"/>
              <a:pathLst>
                <a:path w="271779" h="2498090">
                  <a:moveTo>
                    <a:pt x="271761" y="2498050"/>
                  </a:moveTo>
                  <a:lnTo>
                    <a:pt x="218870" y="2496270"/>
                  </a:lnTo>
                  <a:lnTo>
                    <a:pt x="175678" y="2491417"/>
                  </a:lnTo>
                  <a:lnTo>
                    <a:pt x="146558" y="2484219"/>
                  </a:lnTo>
                  <a:lnTo>
                    <a:pt x="135880" y="2475405"/>
                  </a:lnTo>
                  <a:lnTo>
                    <a:pt x="135880" y="1271670"/>
                  </a:lnTo>
                  <a:lnTo>
                    <a:pt x="125202" y="1262855"/>
                  </a:lnTo>
                  <a:lnTo>
                    <a:pt x="96082" y="1255657"/>
                  </a:lnTo>
                  <a:lnTo>
                    <a:pt x="52890" y="1250804"/>
                  </a:lnTo>
                  <a:lnTo>
                    <a:pt x="0" y="1249025"/>
                  </a:lnTo>
                  <a:lnTo>
                    <a:pt x="52890" y="1247245"/>
                  </a:lnTo>
                  <a:lnTo>
                    <a:pt x="96082" y="1242392"/>
                  </a:lnTo>
                  <a:lnTo>
                    <a:pt x="125202" y="1235194"/>
                  </a:lnTo>
                  <a:lnTo>
                    <a:pt x="135880" y="1226380"/>
                  </a:lnTo>
                  <a:lnTo>
                    <a:pt x="135880" y="22645"/>
                  </a:lnTo>
                  <a:lnTo>
                    <a:pt x="146558" y="13830"/>
                  </a:lnTo>
                  <a:lnTo>
                    <a:pt x="175678" y="6632"/>
                  </a:lnTo>
                  <a:lnTo>
                    <a:pt x="218870" y="1779"/>
                  </a:lnTo>
                  <a:lnTo>
                    <a:pt x="271761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9">
            <a:extLst>
              <a:ext uri="{FF2B5EF4-FFF2-40B4-BE49-F238E27FC236}">
                <a16:creationId xmlns:a16="http://schemas.microsoft.com/office/drawing/2014/main" id="{C6644811-C62F-BA0B-8714-BB1B0D72B253}"/>
              </a:ext>
            </a:extLst>
          </p:cNvPr>
          <p:cNvSpPr txBox="1"/>
          <p:nvPr/>
        </p:nvSpPr>
        <p:spPr>
          <a:xfrm>
            <a:off x="1900765" y="5012650"/>
            <a:ext cx="399597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Details</a:t>
            </a:r>
            <a:r>
              <a:rPr sz="18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about</a:t>
            </a:r>
            <a:r>
              <a:rPr sz="18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the</a:t>
            </a:r>
            <a:r>
              <a:rPr sz="18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entury Gothic"/>
                <a:cs typeface="Century Gothic"/>
              </a:rPr>
              <a:t>kernel</a:t>
            </a:r>
            <a:r>
              <a:rPr sz="1800" b="1" spc="-20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entury Gothic"/>
                <a:cs typeface="Century Gothic"/>
              </a:rPr>
              <a:t>execution</a:t>
            </a:r>
            <a:endParaRPr sz="1800" b="1" dirty="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5825843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10477</TotalTime>
  <Words>7827</Words>
  <Application>Microsoft Office PowerPoint</Application>
  <PresentationFormat>自定义</PresentationFormat>
  <Paragraphs>1445</Paragraphs>
  <Slides>82</Slides>
  <Notes>82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5" baseType="lpstr">
      <vt:lpstr>Lato</vt:lpstr>
      <vt:lpstr>宋体</vt:lpstr>
      <vt:lpstr>微软雅黑</vt:lpstr>
      <vt:lpstr>Arial</vt:lpstr>
      <vt:lpstr>Calibri</vt:lpstr>
      <vt:lpstr>Century Gothic</vt:lpstr>
      <vt:lpstr>Comic Sans MS</vt:lpstr>
      <vt:lpstr>Consolas</vt:lpstr>
      <vt:lpstr>Courier New</vt:lpstr>
      <vt:lpstr>Times New Roman</vt:lpstr>
      <vt:lpstr>Verdana</vt:lpstr>
      <vt:lpstr>Wingdings</vt:lpstr>
      <vt:lpstr>教育部工程研究中心项目汇报-改</vt:lpstr>
      <vt:lpstr>PowerPoint 演示文稿</vt:lpstr>
      <vt:lpstr>Summit</vt:lpstr>
      <vt:lpstr>PowerPoint 演示文稿</vt:lpstr>
      <vt:lpstr>美国橡树岭国家实验室  Oak Ridge National Laboratory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HuangDan</cp:lastModifiedBy>
  <cp:revision>3535</cp:revision>
  <dcterms:created xsi:type="dcterms:W3CDTF">2016-05-19T09:43:00Z</dcterms:created>
  <dcterms:modified xsi:type="dcterms:W3CDTF">2025-04-09T05:52:15Z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B9EA0971408F4A94A57BE94789587C85</vt:lpwstr>
  </property>
</Properties>
</file>