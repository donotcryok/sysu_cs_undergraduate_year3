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5" r:id="rId23"/>
    <p:sldId id="294" r:id="rId24"/>
    <p:sldId id="271" r:id="rId25"/>
    <p:sldId id="272" r:id="rId26"/>
    <p:sldId id="273" r:id="rId27"/>
    <p:sldId id="274" r:id="rId28"/>
    <p:sldId id="275" r:id="rId29"/>
    <p:sldId id="276" r:id="rId30"/>
    <p:sldId id="277" r:id="rId31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2">
          <p15:clr>
            <a:srgbClr val="A4A3A4"/>
          </p15:clr>
        </p15:guide>
        <p15:guide id="2" pos="404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D9D9D9"/>
    <a:srgbClr val="F7AA89"/>
    <a:srgbClr val="FFD78E"/>
    <a:srgbClr val="0070C0"/>
    <a:srgbClr val="A0B0DC"/>
    <a:srgbClr val="338DCD"/>
    <a:srgbClr val="FFD686"/>
    <a:srgbClr val="F6B89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4" autoAdjust="0"/>
    <p:restoredTop sz="82615" autoAdjust="0"/>
  </p:normalViewPr>
  <p:slideViewPr>
    <p:cSldViewPr showGuides="1">
      <p:cViewPr varScale="1">
        <p:scale>
          <a:sx n="81" d="100"/>
          <a:sy n="81" d="100"/>
        </p:scale>
        <p:origin x="474" y="102"/>
      </p:cViewPr>
      <p:guideLst>
        <p:guide orient="horz" pos="2292"/>
        <p:guide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0900f52fed158ba" providerId="LiveId" clId="{91CAF3AE-319C-49C8-997E-BED66D8A5AEA}"/>
    <pc:docChg chg="modSld">
      <pc:chgData name="" userId="60900f52fed158ba" providerId="LiveId" clId="{91CAF3AE-319C-49C8-997E-BED66D8A5AEA}" dt="2025-05-07T09:02:04.617" v="0"/>
      <pc:docMkLst>
        <pc:docMk/>
      </pc:docMkLst>
      <pc:sldChg chg="modSp">
        <pc:chgData name="" userId="60900f52fed158ba" providerId="LiveId" clId="{91CAF3AE-319C-49C8-997E-BED66D8A5AEA}" dt="2025-05-07T09:02:04.617" v="0"/>
        <pc:sldMkLst>
          <pc:docMk/>
          <pc:sldMk cId="0" sldId="256"/>
        </pc:sldMkLst>
        <pc:spChg chg="mod">
          <ac:chgData name="" userId="60900f52fed158ba" providerId="LiveId" clId="{91CAF3AE-319C-49C8-997E-BED66D8A5AEA}" dt="2025-05-07T09:02:04.617" v="0"/>
          <ac:spMkLst>
            <pc:docMk/>
            <pc:sldMk cId="0" sldId="256"/>
            <ac:spMk id="10" creationId="{00000000-0000-0000-0000-000000000000}"/>
          </ac:spMkLst>
        </pc:spChg>
      </pc:sldChg>
    </pc:docChg>
  </pc:docChgLst>
  <pc:docChgLst>
    <pc:chgData name="LX" userId="fa1ca143-f6ef-4ad6-9014-3218337cd20b" providerId="ADAL" clId="{EC8C9A13-4869-4F02-AFEB-BFEA0617D5FD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D72EB-56EB-4991-A892-A5CE144BC12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6D08-2390-484F-8BCE-1AC42F82CB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D4C65-1623-B542-AEDD-D096B05A4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C020A1D7-7BD2-F72F-37B7-897B27BE77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B7BC7B0-1939-71E9-1D48-FFC2B45C3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8BC5664E-8422-ADCA-0C96-A4BE2908A461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76261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AA6170-4F6A-4240-B398-59747D146C57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ctr">
              <a:defRPr kumimoji="1" lang="zh-CN" altLang="en-US" sz="360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Slide 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 marL="425450" indent="-425450">
              <a:lnSpc>
                <a:spcPct val="125000"/>
              </a:lnSpc>
              <a:buFont typeface="Wingdings" panose="05000000000000000000" pitchFamily="2" charset="2"/>
              <a:buChar char="q"/>
              <a:defRPr kumimoji="1" lang="zh-CN" altLang="en-US" sz="320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>
              <a:lnSpc>
                <a:spcPct val="125000"/>
              </a:lnSpc>
              <a:spcBef>
                <a:spcPts val="0"/>
              </a:spcBef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25000"/>
              </a:lnSpc>
              <a:defRPr sz="3200" baseline="0">
                <a:latin typeface="Calibri" panose="020F050202020403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First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endParaRPr lang="zh-CN" altLang="en-US" dirty="0"/>
          </a:p>
          <a:p>
            <a:pPr lvl="3"/>
            <a:r>
              <a:rPr lang="en-US" altLang="zh-CN" dirty="0"/>
              <a:t>Forth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DE818A-A108-4677-9D6E-91BD9F1CB961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D56370-FF39-4509-A07D-D87B92C1360D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46738-2B7E-4ECD-A118-6B36836C4147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2F1915-3414-4ED5-A6AF-801488672034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9ABC0F-ACFF-429B-87E2-BA9E4508BCCA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9549B5-569F-4C30-AB79-6C40BC761A57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287415-686D-4F16-A43E-D5F3F0B9A6D9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/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D04FFC-18F0-47DA-9115-40ED58EC5719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D6E897-9B17-40C1-A56A-9BAC4DDA74A8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65AF35-8021-4ADB-8838-7F70E01D9D90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0297BB-05E3-41BD-8AF7-22D4A53B7529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3800" b="1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rgbClr val="0070C0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784429" y="2489342"/>
            <a:ext cx="11377264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zh-CN" altLang="en-US" sz="4000" b="1" spc="3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并行程序设计</a:t>
            </a:r>
            <a:endParaRPr lang="zh-CN" altLang="en-US" sz="4000" b="1" spc="3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/>
          <p:cNvSpPr txBox="1"/>
          <p:nvPr/>
        </p:nvSpPr>
        <p:spPr>
          <a:xfrm>
            <a:off x="1239224" y="1847676"/>
            <a:ext cx="10259219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2584376" y="3836493"/>
            <a:ext cx="8064896" cy="175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黄聃（Huang，Dan）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E0E02-281B-8D81-36F9-0AE12A5E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>
            <a:extLst>
              <a:ext uri="{FF2B5EF4-FFF2-40B4-BE49-F238E27FC236}">
                <a16:creationId xmlns:a16="http://schemas.microsoft.com/office/drawing/2014/main" id="{A3F09E32-9D59-9C05-82B9-7A8C83088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>
            <a:extLst>
              <a:ext uri="{FF2B5EF4-FFF2-40B4-BE49-F238E27FC236}">
                <a16:creationId xmlns:a16="http://schemas.microsoft.com/office/drawing/2014/main" id="{84EE16B4-B2BF-17EA-3EF5-6876739E7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429" y="2489342"/>
            <a:ext cx="11377264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en-US" altLang="zh-CN" sz="4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CUDA OPTIMIZATION,  PART 1</a:t>
            </a:r>
            <a:endParaRPr lang="zh-CN" altLang="en-US" sz="4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>
            <a:extLst>
              <a:ext uri="{FF2B5EF4-FFF2-40B4-BE49-F238E27FC236}">
                <a16:creationId xmlns:a16="http://schemas.microsoft.com/office/drawing/2014/main" id="{E035577B-54BE-EF42-776B-FDF63089F662}"/>
              </a:ext>
            </a:extLst>
          </p:cNvPr>
          <p:cNvSpPr txBox="1"/>
          <p:nvPr/>
        </p:nvSpPr>
        <p:spPr>
          <a:xfrm>
            <a:off x="1239224" y="1847676"/>
            <a:ext cx="10259219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18F7CED7-985B-7BEB-BE55-86E272BC9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381" y="3194827"/>
            <a:ext cx="8136904" cy="581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NVIDIA Corporation</a:t>
            </a:r>
          </a:p>
        </p:txBody>
      </p:sp>
    </p:spTree>
    <p:extLst>
      <p:ext uri="{BB962C8B-B14F-4D97-AF65-F5344CB8AC3E}">
        <p14:creationId xmlns:p14="http://schemas.microsoft.com/office/powerpoint/2010/main" val="1413910319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F61630F-79C4-43BA-AA9C-9BB6FF674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7A129C-96EB-48BA-9C11-3EF9DFAB8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331011"/>
            <a:ext cx="9433048" cy="4608511"/>
          </a:xfrm>
        </p:spPr>
        <p:txBody>
          <a:bodyPr/>
          <a:lstStyle/>
          <a:p>
            <a:r>
              <a:rPr lang="en-US" dirty="0"/>
              <a:t>Architecture:</a:t>
            </a:r>
          </a:p>
          <a:p>
            <a:pPr lvl="1"/>
            <a:r>
              <a:rPr lang="en-US" dirty="0"/>
              <a:t>Kepler/Maxwell/Pascal/Volta</a:t>
            </a:r>
          </a:p>
          <a:p>
            <a:r>
              <a:rPr lang="en-US" dirty="0"/>
              <a:t>Kernel optimizations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Launch configuration (use lots of threads)</a:t>
            </a:r>
          </a:p>
          <a:p>
            <a:r>
              <a:rPr lang="en-US" dirty="0"/>
              <a:t>Part 2 (next session):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Global memory throughput (use memory efficiently)  </a:t>
            </a:r>
          </a:p>
          <a:p>
            <a:pPr lvl="1"/>
            <a:r>
              <a:rPr lang="en-US" dirty="0"/>
              <a:t>Shared memory access</a:t>
            </a:r>
          </a:p>
          <a:p>
            <a:endParaRPr lang="en-US" dirty="0"/>
          </a:p>
        </p:txBody>
      </p:sp>
      <p:sp>
        <p:nvSpPr>
          <p:cNvPr id="2" name="object 14">
            <a:extLst>
              <a:ext uri="{FF2B5EF4-FFF2-40B4-BE49-F238E27FC236}">
                <a16:creationId xmlns:a16="http://schemas.microsoft.com/office/drawing/2014/main" id="{4DE7DE5A-2506-0CA5-EAD4-9E13FDBBDA82}"/>
              </a:ext>
            </a:extLst>
          </p:cNvPr>
          <p:cNvSpPr/>
          <p:nvPr/>
        </p:nvSpPr>
        <p:spPr>
          <a:xfrm>
            <a:off x="8787649" y="1614445"/>
            <a:ext cx="3721607" cy="2148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5">
            <a:extLst>
              <a:ext uri="{FF2B5EF4-FFF2-40B4-BE49-F238E27FC236}">
                <a16:creationId xmlns:a16="http://schemas.microsoft.com/office/drawing/2014/main" id="{242FD963-0FF6-95E6-B09F-5EBF525B2157}"/>
              </a:ext>
            </a:extLst>
          </p:cNvPr>
          <p:cNvSpPr/>
          <p:nvPr/>
        </p:nvSpPr>
        <p:spPr>
          <a:xfrm>
            <a:off x="8882137" y="1812564"/>
            <a:ext cx="3654552" cy="1883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6">
            <a:extLst>
              <a:ext uri="{FF2B5EF4-FFF2-40B4-BE49-F238E27FC236}">
                <a16:creationId xmlns:a16="http://schemas.microsoft.com/office/drawing/2014/main" id="{DC9AA272-A3E9-2F57-542C-DC461D38BD43}"/>
              </a:ext>
            </a:extLst>
          </p:cNvPr>
          <p:cNvSpPr/>
          <p:nvPr/>
        </p:nvSpPr>
        <p:spPr>
          <a:xfrm>
            <a:off x="8849022" y="1656234"/>
            <a:ext cx="3600450" cy="2025650"/>
          </a:xfrm>
          <a:custGeom>
            <a:avLst/>
            <a:gdLst/>
            <a:ahLst/>
            <a:cxnLst/>
            <a:rect l="l" t="t" r="r" b="b"/>
            <a:pathLst>
              <a:path w="3600450" h="2025650">
                <a:moveTo>
                  <a:pt x="3262854" y="0"/>
                </a:moveTo>
                <a:lnTo>
                  <a:pt x="337545" y="0"/>
                </a:lnTo>
                <a:lnTo>
                  <a:pt x="291742" y="3081"/>
                </a:lnTo>
                <a:lnTo>
                  <a:pt x="247812" y="12057"/>
                </a:lnTo>
                <a:lnTo>
                  <a:pt x="206157" y="26525"/>
                </a:lnTo>
                <a:lnTo>
                  <a:pt x="167180" y="46084"/>
                </a:lnTo>
                <a:lnTo>
                  <a:pt x="131281" y="70331"/>
                </a:lnTo>
                <a:lnTo>
                  <a:pt x="98865" y="98864"/>
                </a:lnTo>
                <a:lnTo>
                  <a:pt x="70332" y="131281"/>
                </a:lnTo>
                <a:lnTo>
                  <a:pt x="46085" y="167179"/>
                </a:lnTo>
                <a:lnTo>
                  <a:pt x="26526" y="206156"/>
                </a:lnTo>
                <a:lnTo>
                  <a:pt x="12057" y="247811"/>
                </a:lnTo>
                <a:lnTo>
                  <a:pt x="3081" y="291741"/>
                </a:lnTo>
                <a:lnTo>
                  <a:pt x="0" y="337544"/>
                </a:lnTo>
                <a:lnTo>
                  <a:pt x="0" y="1687678"/>
                </a:lnTo>
                <a:lnTo>
                  <a:pt x="3081" y="1733481"/>
                </a:lnTo>
                <a:lnTo>
                  <a:pt x="12057" y="1777412"/>
                </a:lnTo>
                <a:lnTo>
                  <a:pt x="26526" y="1819067"/>
                </a:lnTo>
                <a:lnTo>
                  <a:pt x="46085" y="1858044"/>
                </a:lnTo>
                <a:lnTo>
                  <a:pt x="70332" y="1893943"/>
                </a:lnTo>
                <a:lnTo>
                  <a:pt x="98865" y="1926359"/>
                </a:lnTo>
                <a:lnTo>
                  <a:pt x="131281" y="1954892"/>
                </a:lnTo>
                <a:lnTo>
                  <a:pt x="167180" y="1979139"/>
                </a:lnTo>
                <a:lnTo>
                  <a:pt x="206157" y="1998698"/>
                </a:lnTo>
                <a:lnTo>
                  <a:pt x="247812" y="2013167"/>
                </a:lnTo>
                <a:lnTo>
                  <a:pt x="291742" y="2022143"/>
                </a:lnTo>
                <a:lnTo>
                  <a:pt x="337545" y="2025224"/>
                </a:lnTo>
                <a:lnTo>
                  <a:pt x="3262854" y="2025224"/>
                </a:lnTo>
                <a:lnTo>
                  <a:pt x="3308657" y="2022143"/>
                </a:lnTo>
                <a:lnTo>
                  <a:pt x="3352587" y="2013167"/>
                </a:lnTo>
                <a:lnTo>
                  <a:pt x="3394242" y="1998698"/>
                </a:lnTo>
                <a:lnTo>
                  <a:pt x="3433220" y="1979139"/>
                </a:lnTo>
                <a:lnTo>
                  <a:pt x="3469118" y="1954892"/>
                </a:lnTo>
                <a:lnTo>
                  <a:pt x="3501535" y="1926359"/>
                </a:lnTo>
                <a:lnTo>
                  <a:pt x="3530068" y="1893943"/>
                </a:lnTo>
                <a:lnTo>
                  <a:pt x="3554315" y="1858044"/>
                </a:lnTo>
                <a:lnTo>
                  <a:pt x="3573874" y="1819067"/>
                </a:lnTo>
                <a:lnTo>
                  <a:pt x="3588342" y="1777412"/>
                </a:lnTo>
                <a:lnTo>
                  <a:pt x="3597319" y="1733481"/>
                </a:lnTo>
                <a:lnTo>
                  <a:pt x="3600400" y="1687678"/>
                </a:lnTo>
                <a:lnTo>
                  <a:pt x="3600400" y="337544"/>
                </a:lnTo>
                <a:lnTo>
                  <a:pt x="3597319" y="291741"/>
                </a:lnTo>
                <a:lnTo>
                  <a:pt x="3588342" y="247811"/>
                </a:lnTo>
                <a:lnTo>
                  <a:pt x="3573874" y="206156"/>
                </a:lnTo>
                <a:lnTo>
                  <a:pt x="3554315" y="167179"/>
                </a:lnTo>
                <a:lnTo>
                  <a:pt x="3530068" y="131281"/>
                </a:lnTo>
                <a:lnTo>
                  <a:pt x="3501535" y="98864"/>
                </a:lnTo>
                <a:lnTo>
                  <a:pt x="3469118" y="70331"/>
                </a:lnTo>
                <a:lnTo>
                  <a:pt x="3433220" y="46084"/>
                </a:lnTo>
                <a:lnTo>
                  <a:pt x="3394242" y="26525"/>
                </a:lnTo>
                <a:lnTo>
                  <a:pt x="3352587" y="12057"/>
                </a:lnTo>
                <a:lnTo>
                  <a:pt x="3308657" y="3081"/>
                </a:lnTo>
                <a:lnTo>
                  <a:pt x="3262854" y="0"/>
                </a:lnTo>
                <a:close/>
              </a:path>
            </a:pathLst>
          </a:custGeom>
          <a:solidFill>
            <a:srgbClr val="8C8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7">
            <a:extLst>
              <a:ext uri="{FF2B5EF4-FFF2-40B4-BE49-F238E27FC236}">
                <a16:creationId xmlns:a16="http://schemas.microsoft.com/office/drawing/2014/main" id="{C50E06EF-ED6D-CC39-9BE0-29D0BF2438AE}"/>
              </a:ext>
            </a:extLst>
          </p:cNvPr>
          <p:cNvSpPr/>
          <p:nvPr/>
        </p:nvSpPr>
        <p:spPr>
          <a:xfrm>
            <a:off x="8976022" y="1783234"/>
            <a:ext cx="3600450" cy="2025650"/>
          </a:xfrm>
          <a:custGeom>
            <a:avLst/>
            <a:gdLst/>
            <a:ahLst/>
            <a:cxnLst/>
            <a:rect l="l" t="t" r="r" b="b"/>
            <a:pathLst>
              <a:path w="3600450" h="2025650">
                <a:moveTo>
                  <a:pt x="0" y="337545"/>
                </a:moveTo>
                <a:lnTo>
                  <a:pt x="3081" y="291742"/>
                </a:lnTo>
                <a:lnTo>
                  <a:pt x="12057" y="247812"/>
                </a:lnTo>
                <a:lnTo>
                  <a:pt x="26525" y="206157"/>
                </a:lnTo>
                <a:lnTo>
                  <a:pt x="46084" y="167179"/>
                </a:lnTo>
                <a:lnTo>
                  <a:pt x="70331" y="131281"/>
                </a:lnTo>
                <a:lnTo>
                  <a:pt x="98864" y="98864"/>
                </a:lnTo>
                <a:lnTo>
                  <a:pt x="131281" y="70331"/>
                </a:lnTo>
                <a:lnTo>
                  <a:pt x="167179" y="46084"/>
                </a:lnTo>
                <a:lnTo>
                  <a:pt x="206157" y="26525"/>
                </a:lnTo>
                <a:lnTo>
                  <a:pt x="247812" y="12057"/>
                </a:lnTo>
                <a:lnTo>
                  <a:pt x="291742" y="3081"/>
                </a:lnTo>
                <a:lnTo>
                  <a:pt x="337545" y="0"/>
                </a:lnTo>
                <a:lnTo>
                  <a:pt x="3262855" y="0"/>
                </a:lnTo>
                <a:lnTo>
                  <a:pt x="3308657" y="3081"/>
                </a:lnTo>
                <a:lnTo>
                  <a:pt x="3352587" y="12057"/>
                </a:lnTo>
                <a:lnTo>
                  <a:pt x="3394242" y="26525"/>
                </a:lnTo>
                <a:lnTo>
                  <a:pt x="3433220" y="46084"/>
                </a:lnTo>
                <a:lnTo>
                  <a:pt x="3469118" y="70331"/>
                </a:lnTo>
                <a:lnTo>
                  <a:pt x="3501535" y="98864"/>
                </a:lnTo>
                <a:lnTo>
                  <a:pt x="3530068" y="131281"/>
                </a:lnTo>
                <a:lnTo>
                  <a:pt x="3554315" y="167179"/>
                </a:lnTo>
                <a:lnTo>
                  <a:pt x="3573874" y="206157"/>
                </a:lnTo>
                <a:lnTo>
                  <a:pt x="3588342" y="247812"/>
                </a:lnTo>
                <a:lnTo>
                  <a:pt x="3597318" y="291742"/>
                </a:lnTo>
                <a:lnTo>
                  <a:pt x="3600400" y="337545"/>
                </a:lnTo>
                <a:lnTo>
                  <a:pt x="3600400" y="1687680"/>
                </a:lnTo>
                <a:lnTo>
                  <a:pt x="3597318" y="1733482"/>
                </a:lnTo>
                <a:lnTo>
                  <a:pt x="3588342" y="1777412"/>
                </a:lnTo>
                <a:lnTo>
                  <a:pt x="3573874" y="1819067"/>
                </a:lnTo>
                <a:lnTo>
                  <a:pt x="3554315" y="1858045"/>
                </a:lnTo>
                <a:lnTo>
                  <a:pt x="3530068" y="1893943"/>
                </a:lnTo>
                <a:lnTo>
                  <a:pt x="3501535" y="1926360"/>
                </a:lnTo>
                <a:lnTo>
                  <a:pt x="3469118" y="1954893"/>
                </a:lnTo>
                <a:lnTo>
                  <a:pt x="3433220" y="1979140"/>
                </a:lnTo>
                <a:lnTo>
                  <a:pt x="3394242" y="1998699"/>
                </a:lnTo>
                <a:lnTo>
                  <a:pt x="3352587" y="2013167"/>
                </a:lnTo>
                <a:lnTo>
                  <a:pt x="3308657" y="2022143"/>
                </a:lnTo>
                <a:lnTo>
                  <a:pt x="3262855" y="2025225"/>
                </a:lnTo>
                <a:lnTo>
                  <a:pt x="337545" y="2025225"/>
                </a:lnTo>
                <a:lnTo>
                  <a:pt x="291742" y="2022143"/>
                </a:lnTo>
                <a:lnTo>
                  <a:pt x="247812" y="2013167"/>
                </a:lnTo>
                <a:lnTo>
                  <a:pt x="206157" y="1998699"/>
                </a:lnTo>
                <a:lnTo>
                  <a:pt x="167179" y="1979140"/>
                </a:lnTo>
                <a:lnTo>
                  <a:pt x="131281" y="1954893"/>
                </a:lnTo>
                <a:lnTo>
                  <a:pt x="98864" y="1926360"/>
                </a:lnTo>
                <a:lnTo>
                  <a:pt x="70331" y="1893943"/>
                </a:lnTo>
                <a:lnTo>
                  <a:pt x="46084" y="1858045"/>
                </a:lnTo>
                <a:lnTo>
                  <a:pt x="26525" y="1819067"/>
                </a:lnTo>
                <a:lnTo>
                  <a:pt x="12057" y="1777412"/>
                </a:lnTo>
                <a:lnTo>
                  <a:pt x="3081" y="1733482"/>
                </a:lnTo>
                <a:lnTo>
                  <a:pt x="0" y="1687680"/>
                </a:lnTo>
                <a:lnTo>
                  <a:pt x="0" y="33754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8">
            <a:extLst>
              <a:ext uri="{FF2B5EF4-FFF2-40B4-BE49-F238E27FC236}">
                <a16:creationId xmlns:a16="http://schemas.microsoft.com/office/drawing/2014/main" id="{7410EE1E-7486-0B11-1287-CBDFA45E5F30}"/>
              </a:ext>
            </a:extLst>
          </p:cNvPr>
          <p:cNvSpPr/>
          <p:nvPr/>
        </p:nvSpPr>
        <p:spPr>
          <a:xfrm>
            <a:off x="8955289" y="1830853"/>
            <a:ext cx="3505200" cy="7010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9">
            <a:extLst>
              <a:ext uri="{FF2B5EF4-FFF2-40B4-BE49-F238E27FC236}">
                <a16:creationId xmlns:a16="http://schemas.microsoft.com/office/drawing/2014/main" id="{33646881-0AF7-72A4-34A7-A32E2426DAFE}"/>
              </a:ext>
            </a:extLst>
          </p:cNvPr>
          <p:cNvSpPr/>
          <p:nvPr/>
        </p:nvSpPr>
        <p:spPr>
          <a:xfrm>
            <a:off x="8921761" y="2199660"/>
            <a:ext cx="3575304" cy="6979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20">
            <a:extLst>
              <a:ext uri="{FF2B5EF4-FFF2-40B4-BE49-F238E27FC236}">
                <a16:creationId xmlns:a16="http://schemas.microsoft.com/office/drawing/2014/main" id="{45B55DA5-F424-7C8B-EA70-8FB1E41231B2}"/>
              </a:ext>
            </a:extLst>
          </p:cNvPr>
          <p:cNvSpPr/>
          <p:nvPr/>
        </p:nvSpPr>
        <p:spPr>
          <a:xfrm>
            <a:off x="9052825" y="2568469"/>
            <a:ext cx="947927" cy="6979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21">
            <a:extLst>
              <a:ext uri="{FF2B5EF4-FFF2-40B4-BE49-F238E27FC236}">
                <a16:creationId xmlns:a16="http://schemas.microsoft.com/office/drawing/2014/main" id="{822FC27A-C87D-AB3B-0ECA-334A7DB395E7}"/>
              </a:ext>
            </a:extLst>
          </p:cNvPr>
          <p:cNvSpPr/>
          <p:nvPr/>
        </p:nvSpPr>
        <p:spPr>
          <a:xfrm>
            <a:off x="9668520" y="2568469"/>
            <a:ext cx="2697479" cy="6979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22">
            <a:extLst>
              <a:ext uri="{FF2B5EF4-FFF2-40B4-BE49-F238E27FC236}">
                <a16:creationId xmlns:a16="http://schemas.microsoft.com/office/drawing/2014/main" id="{73B4CD98-DE3B-9B76-ED85-1A9DB29F0B61}"/>
              </a:ext>
            </a:extLst>
          </p:cNvPr>
          <p:cNvSpPr/>
          <p:nvPr/>
        </p:nvSpPr>
        <p:spPr>
          <a:xfrm>
            <a:off x="9357625" y="2937276"/>
            <a:ext cx="2612135" cy="6979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3">
            <a:extLst>
              <a:ext uri="{FF2B5EF4-FFF2-40B4-BE49-F238E27FC236}">
                <a16:creationId xmlns:a16="http://schemas.microsoft.com/office/drawing/2014/main" id="{E1C243A4-B916-5C22-524A-AD7BECA74E88}"/>
              </a:ext>
            </a:extLst>
          </p:cNvPr>
          <p:cNvSpPr txBox="1"/>
          <p:nvPr/>
        </p:nvSpPr>
        <p:spPr>
          <a:xfrm>
            <a:off x="9105377" y="1912641"/>
            <a:ext cx="3088005" cy="14947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-635" algn="ctr">
              <a:lnSpc>
                <a:spcPct val="101000"/>
              </a:lnSpc>
              <a:spcBef>
                <a:spcPts val="80"/>
              </a:spcBef>
            </a:pPr>
            <a:r>
              <a:rPr sz="2400" b="1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Most </a:t>
            </a:r>
            <a:r>
              <a:rPr sz="2400" b="1" spc="-5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concepts in this  presentation </a:t>
            </a:r>
            <a:r>
              <a:rPr sz="2400" b="1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apply</a:t>
            </a:r>
            <a:r>
              <a:rPr sz="2400" b="1" spc="-75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 </a:t>
            </a:r>
            <a:r>
              <a:rPr sz="2400" b="1" spc="-5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to  </a:t>
            </a:r>
            <a:r>
              <a:rPr sz="2400" b="1" i="1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any </a:t>
            </a:r>
            <a:r>
              <a:rPr sz="2400" b="1" spc="-5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language </a:t>
            </a:r>
            <a:r>
              <a:rPr sz="2400" b="1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or API  on </a:t>
            </a:r>
            <a:r>
              <a:rPr sz="2400" b="1" spc="-10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NVIDIA</a:t>
            </a:r>
            <a:r>
              <a:rPr sz="2400" b="1" spc="-155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 </a:t>
            </a:r>
            <a:r>
              <a:rPr sz="2400" b="1" spc="-5" dirty="0">
                <a:solidFill>
                  <a:srgbClr val="B8FF3C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GPUs</a:t>
            </a:r>
            <a:endParaRPr sz="2400" dirty="0">
              <a:latin typeface="Trebuchet MS" panose="020B06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723D0B85-75CD-A451-13CE-C6629F79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86777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9EDDF-E9B9-F2E1-188C-BEEBC40D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DEC8098-503B-2119-EED0-A77339594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KEPLER CC 3.5 SM (GK110)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394101-6319-4181-CE6E-6888748FB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584226"/>
            <a:ext cx="7560840" cy="4824535"/>
          </a:xfrm>
        </p:spPr>
        <p:txBody>
          <a:bodyPr/>
          <a:lstStyle/>
          <a:p>
            <a:pPr lvl="2"/>
            <a:r>
              <a:rPr lang="en-US" dirty="0"/>
              <a:t>“SMX” (enhanced SM) SIMD processor</a:t>
            </a:r>
          </a:p>
          <a:p>
            <a:pPr lvl="2"/>
            <a:r>
              <a:rPr lang="en-US" dirty="0"/>
              <a:t>192 SP(single precision) units (“cores”)   </a:t>
            </a:r>
          </a:p>
          <a:p>
            <a:pPr lvl="2"/>
            <a:r>
              <a:rPr lang="en-US" dirty="0"/>
              <a:t>64 DP (double precision) units</a:t>
            </a:r>
          </a:p>
          <a:p>
            <a:pPr lvl="2"/>
            <a:r>
              <a:rPr lang="en-US" dirty="0"/>
              <a:t>LD/ST units, </a:t>
            </a:r>
          </a:p>
          <a:p>
            <a:pPr lvl="2"/>
            <a:r>
              <a:rPr lang="en-US" dirty="0"/>
              <a:t>64K registers  </a:t>
            </a:r>
          </a:p>
          <a:p>
            <a:pPr lvl="2"/>
            <a:r>
              <a:rPr lang="en-US" dirty="0"/>
              <a:t>4 warp scheduler </a:t>
            </a:r>
          </a:p>
          <a:p>
            <a:pPr lvl="2"/>
            <a:r>
              <a:rPr lang="en-US" dirty="0"/>
              <a:t>Each warp scheduler is dual-issue capable  </a:t>
            </a:r>
          </a:p>
          <a:p>
            <a:pPr lvl="2"/>
            <a:r>
              <a:rPr lang="en-US" dirty="0"/>
              <a:t>K20: 13 SMX’s, 5GB</a:t>
            </a:r>
          </a:p>
          <a:p>
            <a:pPr lvl="2"/>
            <a:r>
              <a:rPr lang="en-US" dirty="0"/>
              <a:t>K20X: 14 SMX’s, 6GB  </a:t>
            </a:r>
          </a:p>
          <a:p>
            <a:pPr lvl="2"/>
            <a:r>
              <a:rPr lang="en-US" dirty="0"/>
              <a:t>K40: 15 SMX’s, 12GB</a:t>
            </a:r>
          </a:p>
          <a:p>
            <a:pPr lvl="2"/>
            <a:r>
              <a:rPr lang="en-US" altLang="zh-CN" dirty="0"/>
              <a:t>K80: 26 SMXs, 24 GB</a:t>
            </a:r>
            <a:endParaRPr lang="en-US" dirty="0"/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0CDB65F2-644A-8972-D3EA-C4F1A0610E26}"/>
              </a:ext>
            </a:extLst>
          </p:cNvPr>
          <p:cNvSpPr/>
          <p:nvPr/>
        </p:nvSpPr>
        <p:spPr>
          <a:xfrm>
            <a:off x="7696944" y="1610966"/>
            <a:ext cx="4536504" cy="4725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2F005C-DC15-4900-BE05-BE945002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870434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5CA6-CECF-7EFB-456B-06D524E4E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182A36-EE55-62CD-AC26-1EC9DF67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MAXWELL/PASCAL CC5.2, CC6.1 SM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328193-DD3B-C4DD-1BD0-30EB36970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512218"/>
            <a:ext cx="7488832" cy="4896543"/>
          </a:xfrm>
        </p:spPr>
        <p:txBody>
          <a:bodyPr/>
          <a:lstStyle/>
          <a:p>
            <a:pPr lvl="2"/>
            <a:r>
              <a:rPr lang="en-US" dirty="0"/>
              <a:t>“SMM” (enhanced SM)</a:t>
            </a:r>
          </a:p>
          <a:p>
            <a:pPr lvl="2"/>
            <a:r>
              <a:rPr lang="en-US" dirty="0"/>
              <a:t>128 SP units (“cores”)  </a:t>
            </a:r>
          </a:p>
          <a:p>
            <a:pPr lvl="2"/>
            <a:r>
              <a:rPr lang="en-US" dirty="0"/>
              <a:t>4 DP units</a:t>
            </a:r>
          </a:p>
          <a:p>
            <a:pPr lvl="2"/>
            <a:r>
              <a:rPr lang="en-US" dirty="0"/>
              <a:t>LD/ST units  </a:t>
            </a:r>
          </a:p>
          <a:p>
            <a:pPr lvl="2"/>
            <a:r>
              <a:rPr lang="en-US" dirty="0"/>
              <a:t>cc 6.1: INT8</a:t>
            </a:r>
          </a:p>
          <a:p>
            <a:pPr lvl="2"/>
            <a:r>
              <a:rPr lang="en-US" dirty="0"/>
              <a:t>4 warp schedulers</a:t>
            </a:r>
          </a:p>
          <a:p>
            <a:pPr lvl="2"/>
            <a:r>
              <a:rPr lang="en-US" dirty="0"/>
              <a:t>Each warp scheduler is dual-issue capable  </a:t>
            </a:r>
          </a:p>
          <a:p>
            <a:pPr lvl="2"/>
            <a:r>
              <a:rPr lang="en-US" dirty="0"/>
              <a:t>M40: 24 SMM’s, 12/24GB</a:t>
            </a:r>
          </a:p>
          <a:p>
            <a:pPr lvl="2"/>
            <a:r>
              <a:rPr lang="en-US" dirty="0"/>
              <a:t>P40: 30 SM’s, 24GB  </a:t>
            </a:r>
          </a:p>
          <a:p>
            <a:pPr lvl="2"/>
            <a:r>
              <a:rPr lang="en-US" dirty="0"/>
              <a:t>P4: 20 SM’s, 8GB</a:t>
            </a:r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99CD3849-74C8-043C-FB6D-1F6D82AEDD77}"/>
              </a:ext>
            </a:extLst>
          </p:cNvPr>
          <p:cNvSpPr/>
          <p:nvPr/>
        </p:nvSpPr>
        <p:spPr>
          <a:xfrm>
            <a:off x="8091888" y="1248088"/>
            <a:ext cx="3312368" cy="54248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445EB8-609E-5EE0-FC84-1DA0C810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4835985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578AD-C0A6-96E1-FD8E-93AFC3BAC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40FBAE8-07D1-9DC2-35DB-C4AACED2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PASCAL/VOLTA CC6.0/7.0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747697-ABB0-B314-0552-4FEA0358C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872258"/>
            <a:ext cx="6120680" cy="4248471"/>
          </a:xfrm>
        </p:spPr>
        <p:txBody>
          <a:bodyPr/>
          <a:lstStyle/>
          <a:p>
            <a:pPr lvl="2"/>
            <a:r>
              <a:rPr lang="en-US" dirty="0"/>
              <a:t>64 SP units (“cores”)</a:t>
            </a:r>
          </a:p>
          <a:p>
            <a:pPr lvl="2"/>
            <a:r>
              <a:rPr lang="en-US" dirty="0"/>
              <a:t>32 DP units  </a:t>
            </a:r>
          </a:p>
          <a:p>
            <a:pPr lvl="2"/>
            <a:r>
              <a:rPr lang="en-US" dirty="0"/>
              <a:t>LD/ST units</a:t>
            </a:r>
          </a:p>
          <a:p>
            <a:pPr lvl="2"/>
            <a:r>
              <a:rPr lang="en-US" dirty="0"/>
              <a:t>FP16 @ 2x SP rate  </a:t>
            </a:r>
          </a:p>
          <a:p>
            <a:pPr lvl="2"/>
            <a:r>
              <a:rPr lang="en-US" dirty="0"/>
              <a:t>cc7.0: </a:t>
            </a:r>
            <a:r>
              <a:rPr lang="en-US" dirty="0" err="1"/>
              <a:t>TensorCore</a:t>
            </a:r>
            <a:endParaRPr lang="en-US" dirty="0"/>
          </a:p>
          <a:p>
            <a:pPr lvl="2"/>
            <a:r>
              <a:rPr lang="en-US" dirty="0"/>
              <a:t>P100/V100 2/4 warp schedulers  </a:t>
            </a:r>
          </a:p>
          <a:p>
            <a:pPr lvl="2"/>
            <a:r>
              <a:rPr lang="en-US" dirty="0"/>
              <a:t>Volta adds separate int32 units  </a:t>
            </a:r>
          </a:p>
          <a:p>
            <a:pPr lvl="2"/>
            <a:r>
              <a:rPr lang="en-US" dirty="0"/>
              <a:t>P100: 56 SM’s, 16GB</a:t>
            </a:r>
          </a:p>
          <a:p>
            <a:pPr lvl="2"/>
            <a:r>
              <a:rPr lang="en-US" dirty="0"/>
              <a:t>V100: 80 SM’s, 16/32GB</a:t>
            </a:r>
          </a:p>
          <a:p>
            <a:pPr lvl="2"/>
            <a:endParaRPr lang="en-US" dirty="0"/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078FF19F-97A3-2BA1-7C9A-E709BE493DED}"/>
              </a:ext>
            </a:extLst>
          </p:cNvPr>
          <p:cNvSpPr/>
          <p:nvPr/>
        </p:nvSpPr>
        <p:spPr>
          <a:xfrm>
            <a:off x="7480920" y="1224186"/>
            <a:ext cx="4104456" cy="53285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42D576-1E23-0738-7342-D6FB56DDD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784260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30CAA-DE87-0ACE-F463-CE0061330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111206F-C5FC-BFCF-C821-540620E6A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EXECUTION MODEL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580D17-8BA2-86E0-1A14-349A5B50E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6664" y="1152178"/>
            <a:ext cx="7560840" cy="5832648"/>
          </a:xfrm>
        </p:spPr>
        <p:txBody>
          <a:bodyPr/>
          <a:lstStyle/>
          <a:p>
            <a:pPr marL="540385" lvl="2" indent="0">
              <a:buNone/>
            </a:pPr>
            <a:endParaRPr lang="en-US" sz="2000" dirty="0"/>
          </a:p>
          <a:p>
            <a:pPr lvl="2"/>
            <a:r>
              <a:rPr lang="en-US" sz="2000" dirty="0"/>
              <a:t>CUDA threads are executed by scalar processors (</a:t>
            </a:r>
            <a:r>
              <a:rPr lang="en-US" sz="2000" dirty="0">
                <a:solidFill>
                  <a:srgbClr val="FF0000"/>
                </a:solidFill>
              </a:rPr>
              <a:t>Lane of SIMD processor</a:t>
            </a:r>
            <a:r>
              <a:rPr lang="en-US" sz="2000" dirty="0"/>
              <a:t>)</a:t>
            </a:r>
          </a:p>
          <a:p>
            <a:pPr lvl="2"/>
            <a:endParaRPr lang="en-US" sz="2000" dirty="0"/>
          </a:p>
          <a:p>
            <a:pPr lvl="2"/>
            <a:endParaRPr lang="en-US" sz="2000" dirty="0"/>
          </a:p>
          <a:p>
            <a:pPr lvl="2"/>
            <a:r>
              <a:rPr lang="en-US" sz="2000" dirty="0"/>
              <a:t>Thread blocks are split to warps and executed on multiprocessors (</a:t>
            </a:r>
            <a:r>
              <a:rPr lang="en-US" sz="2000" dirty="0">
                <a:solidFill>
                  <a:srgbClr val="FF0000"/>
                </a:solidFill>
              </a:rPr>
              <a:t>SIMD processor</a:t>
            </a:r>
            <a:r>
              <a:rPr lang="en-US" sz="2000" dirty="0"/>
              <a:t>) in SIMT.</a:t>
            </a:r>
          </a:p>
          <a:p>
            <a:pPr lvl="2"/>
            <a:endParaRPr lang="en-US" sz="2000" dirty="0"/>
          </a:p>
          <a:p>
            <a:pPr lvl="2"/>
            <a:endParaRPr lang="en-US" sz="2000" dirty="0"/>
          </a:p>
          <a:p>
            <a:pPr lvl="2"/>
            <a:r>
              <a:rPr lang="en-US" sz="2000" dirty="0"/>
              <a:t>Several concurrent thread blocks can reside on one  SIMD processor (when the number of thread blocks greater than multiprocessors) - limited by SIMD processor resources (shared memory and register file)</a:t>
            </a:r>
          </a:p>
          <a:p>
            <a:pPr lvl="2"/>
            <a:r>
              <a:rPr lang="en-US" sz="2000" dirty="0"/>
              <a:t>A kernel is launched as a grid of thread blocks</a:t>
            </a:r>
          </a:p>
          <a:p>
            <a:endParaRPr lang="en-US" dirty="0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6699ED3D-06AC-182C-0D42-B8E7E3931DFA}"/>
              </a:ext>
            </a:extLst>
          </p:cNvPr>
          <p:cNvSpPr txBox="1"/>
          <p:nvPr/>
        </p:nvSpPr>
        <p:spPr>
          <a:xfrm>
            <a:off x="923883" y="949133"/>
            <a:ext cx="151953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mic Sans MS" panose="030F0702030302020204" pitchFamily="66" charset="0"/>
                <a:cs typeface="Arial" panose="020B0604020202020204"/>
              </a:rPr>
              <a:t>Software</a:t>
            </a:r>
            <a:endParaRPr sz="24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6D009AD1-07EF-60AB-6BCA-E8E87F853B46}"/>
              </a:ext>
            </a:extLst>
          </p:cNvPr>
          <p:cNvSpPr/>
          <p:nvPr/>
        </p:nvSpPr>
        <p:spPr>
          <a:xfrm>
            <a:off x="4153231" y="1615605"/>
            <a:ext cx="316230" cy="168910"/>
          </a:xfrm>
          <a:custGeom>
            <a:avLst/>
            <a:gdLst/>
            <a:ahLst/>
            <a:cxnLst/>
            <a:rect l="l" t="t" r="r" b="b"/>
            <a:pathLst>
              <a:path w="316229" h="168910">
                <a:moveTo>
                  <a:pt x="316229" y="0"/>
                </a:moveTo>
                <a:lnTo>
                  <a:pt x="0" y="0"/>
                </a:lnTo>
                <a:lnTo>
                  <a:pt x="0" y="168592"/>
                </a:lnTo>
                <a:lnTo>
                  <a:pt x="316229" y="168592"/>
                </a:lnTo>
                <a:lnTo>
                  <a:pt x="316229" y="0"/>
                </a:lnTo>
                <a:close/>
              </a:path>
            </a:pathLst>
          </a:custGeom>
          <a:solidFill>
            <a:srgbClr val="FE7F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041840A1-E2C9-B3FC-91A4-BE8C5BED6654}"/>
              </a:ext>
            </a:extLst>
          </p:cNvPr>
          <p:cNvSpPr/>
          <p:nvPr/>
        </p:nvSpPr>
        <p:spPr>
          <a:xfrm>
            <a:off x="4145610" y="1604452"/>
            <a:ext cx="316230" cy="168910"/>
          </a:xfrm>
          <a:custGeom>
            <a:avLst/>
            <a:gdLst/>
            <a:ahLst/>
            <a:cxnLst/>
            <a:rect l="l" t="t" r="r" b="b"/>
            <a:pathLst>
              <a:path w="316229" h="168910">
                <a:moveTo>
                  <a:pt x="0" y="0"/>
                </a:moveTo>
                <a:lnTo>
                  <a:pt x="316230" y="0"/>
                </a:lnTo>
                <a:lnTo>
                  <a:pt x="316230" y="168593"/>
                </a:lnTo>
                <a:lnTo>
                  <a:pt x="0" y="16859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7BACC32F-1809-D29A-ADC0-767CB5CBCC52}"/>
              </a:ext>
            </a:extLst>
          </p:cNvPr>
          <p:cNvSpPr txBox="1"/>
          <p:nvPr/>
        </p:nvSpPr>
        <p:spPr>
          <a:xfrm>
            <a:off x="3559346" y="946627"/>
            <a:ext cx="155528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mic Sans MS" panose="030F0702030302020204" pitchFamily="66" charset="0"/>
                <a:cs typeface="Arial" panose="020B0604020202020204"/>
              </a:rPr>
              <a:t>Hardware</a:t>
            </a:r>
            <a:endParaRPr sz="24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6E673F16-8477-6A51-EEAC-FF1663368E25}"/>
              </a:ext>
            </a:extLst>
          </p:cNvPr>
          <p:cNvSpPr/>
          <p:nvPr/>
        </p:nvSpPr>
        <p:spPr>
          <a:xfrm>
            <a:off x="1499683" y="1547629"/>
            <a:ext cx="213360" cy="702945"/>
          </a:xfrm>
          <a:custGeom>
            <a:avLst/>
            <a:gdLst/>
            <a:ahLst/>
            <a:cxnLst/>
            <a:rect l="l" t="t" r="r" b="b"/>
            <a:pathLst>
              <a:path w="213359" h="702944">
                <a:moveTo>
                  <a:pt x="13765" y="0"/>
                </a:moveTo>
                <a:lnTo>
                  <a:pt x="63748" y="35934"/>
                </a:lnTo>
                <a:lnTo>
                  <a:pt x="110865" y="71920"/>
                </a:lnTo>
                <a:lnTo>
                  <a:pt x="152248" y="108012"/>
                </a:lnTo>
                <a:lnTo>
                  <a:pt x="185030" y="144267"/>
                </a:lnTo>
                <a:lnTo>
                  <a:pt x="206343" y="180741"/>
                </a:lnTo>
                <a:lnTo>
                  <a:pt x="213320" y="217489"/>
                </a:lnTo>
                <a:lnTo>
                  <a:pt x="200780" y="248950"/>
                </a:lnTo>
                <a:lnTo>
                  <a:pt x="170025" y="280254"/>
                </a:lnTo>
                <a:lnTo>
                  <a:pt x="128396" y="311638"/>
                </a:lnTo>
                <a:lnTo>
                  <a:pt x="83236" y="343340"/>
                </a:lnTo>
                <a:lnTo>
                  <a:pt x="41889" y="375597"/>
                </a:lnTo>
                <a:lnTo>
                  <a:pt x="11696" y="408646"/>
                </a:lnTo>
                <a:lnTo>
                  <a:pt x="0" y="442725"/>
                </a:lnTo>
                <a:lnTo>
                  <a:pt x="6219" y="477901"/>
                </a:lnTo>
                <a:lnTo>
                  <a:pt x="23633" y="513968"/>
                </a:lnTo>
                <a:lnTo>
                  <a:pt x="50375" y="550790"/>
                </a:lnTo>
                <a:lnTo>
                  <a:pt x="84581" y="588233"/>
                </a:lnTo>
                <a:lnTo>
                  <a:pt x="124384" y="626162"/>
                </a:lnTo>
                <a:lnTo>
                  <a:pt x="167919" y="664444"/>
                </a:lnTo>
                <a:lnTo>
                  <a:pt x="213320" y="70294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E8E4C770-6CC6-32B7-C7B7-64AE61F7E011}"/>
              </a:ext>
            </a:extLst>
          </p:cNvPr>
          <p:cNvSpPr/>
          <p:nvPr/>
        </p:nvSpPr>
        <p:spPr>
          <a:xfrm>
            <a:off x="805493" y="3243590"/>
            <a:ext cx="1036319" cy="777240"/>
          </a:xfrm>
          <a:custGeom>
            <a:avLst/>
            <a:gdLst/>
            <a:ahLst/>
            <a:cxnLst/>
            <a:rect l="l" t="t" r="r" b="b"/>
            <a:pathLst>
              <a:path w="1036319" h="777239">
                <a:moveTo>
                  <a:pt x="1036319" y="0"/>
                </a:moveTo>
                <a:lnTo>
                  <a:pt x="0" y="0"/>
                </a:lnTo>
                <a:lnTo>
                  <a:pt x="0" y="777239"/>
                </a:lnTo>
                <a:lnTo>
                  <a:pt x="1036319" y="777239"/>
                </a:lnTo>
                <a:lnTo>
                  <a:pt x="1036319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3">
            <a:extLst>
              <a:ext uri="{FF2B5EF4-FFF2-40B4-BE49-F238E27FC236}">
                <a16:creationId xmlns:a16="http://schemas.microsoft.com/office/drawing/2014/main" id="{4E3A38FF-9B26-4CB7-0C38-67DBCE336177}"/>
              </a:ext>
            </a:extLst>
          </p:cNvPr>
          <p:cNvSpPr/>
          <p:nvPr/>
        </p:nvSpPr>
        <p:spPr>
          <a:xfrm>
            <a:off x="874073" y="3317885"/>
            <a:ext cx="169545" cy="617220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5765ABD1-E358-7778-7F1B-17E3FA78FC9B}"/>
              </a:ext>
            </a:extLst>
          </p:cNvPr>
          <p:cNvSpPr/>
          <p:nvPr/>
        </p:nvSpPr>
        <p:spPr>
          <a:xfrm>
            <a:off x="975037" y="3317885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687E9368-603F-BD12-0901-21FC0B78FB26}"/>
              </a:ext>
            </a:extLst>
          </p:cNvPr>
          <p:cNvSpPr/>
          <p:nvPr/>
        </p:nvSpPr>
        <p:spPr>
          <a:xfrm>
            <a:off x="1077907" y="3317885"/>
            <a:ext cx="169545" cy="617220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3" name="object 16">
            <a:extLst>
              <a:ext uri="{FF2B5EF4-FFF2-40B4-BE49-F238E27FC236}">
                <a16:creationId xmlns:a16="http://schemas.microsoft.com/office/drawing/2014/main" id="{02D1C3A8-37F6-4DEB-5217-453076568E12}"/>
              </a:ext>
            </a:extLst>
          </p:cNvPr>
          <p:cNvSpPr/>
          <p:nvPr/>
        </p:nvSpPr>
        <p:spPr>
          <a:xfrm>
            <a:off x="1178873" y="3317885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4" name="object 17">
            <a:extLst>
              <a:ext uri="{FF2B5EF4-FFF2-40B4-BE49-F238E27FC236}">
                <a16:creationId xmlns:a16="http://schemas.microsoft.com/office/drawing/2014/main" id="{D1EE407F-A4E8-95A0-24D7-4145CDA9202C}"/>
              </a:ext>
            </a:extLst>
          </p:cNvPr>
          <p:cNvSpPr/>
          <p:nvPr/>
        </p:nvSpPr>
        <p:spPr>
          <a:xfrm>
            <a:off x="1281743" y="3317885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5" name="object 18">
            <a:extLst>
              <a:ext uri="{FF2B5EF4-FFF2-40B4-BE49-F238E27FC236}">
                <a16:creationId xmlns:a16="http://schemas.microsoft.com/office/drawing/2014/main" id="{FF30B560-817F-7ED1-982E-AAC25F5136EB}"/>
              </a:ext>
            </a:extLst>
          </p:cNvPr>
          <p:cNvSpPr/>
          <p:nvPr/>
        </p:nvSpPr>
        <p:spPr>
          <a:xfrm>
            <a:off x="1384612" y="3317885"/>
            <a:ext cx="169545" cy="617220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6" name="object 19">
            <a:extLst>
              <a:ext uri="{FF2B5EF4-FFF2-40B4-BE49-F238E27FC236}">
                <a16:creationId xmlns:a16="http://schemas.microsoft.com/office/drawing/2014/main" id="{5FD32544-0CAD-7175-5470-75F7B8B882F5}"/>
              </a:ext>
            </a:extLst>
          </p:cNvPr>
          <p:cNvSpPr/>
          <p:nvPr/>
        </p:nvSpPr>
        <p:spPr>
          <a:xfrm>
            <a:off x="1485578" y="3317885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20">
            <a:extLst>
              <a:ext uri="{FF2B5EF4-FFF2-40B4-BE49-F238E27FC236}">
                <a16:creationId xmlns:a16="http://schemas.microsoft.com/office/drawing/2014/main" id="{EE22295C-BB0C-5E6F-9349-94336B6F25AB}"/>
              </a:ext>
            </a:extLst>
          </p:cNvPr>
          <p:cNvSpPr/>
          <p:nvPr/>
        </p:nvSpPr>
        <p:spPr>
          <a:xfrm>
            <a:off x="1588447" y="3317885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5D98ABC5-5E9C-3035-6292-C03A38DFBF4E}"/>
              </a:ext>
            </a:extLst>
          </p:cNvPr>
          <p:cNvSpPr/>
          <p:nvPr/>
        </p:nvSpPr>
        <p:spPr>
          <a:xfrm>
            <a:off x="4039808" y="3058563"/>
            <a:ext cx="609600" cy="1085850"/>
          </a:xfrm>
          <a:custGeom>
            <a:avLst/>
            <a:gdLst/>
            <a:ahLst/>
            <a:cxnLst/>
            <a:rect l="l" t="t" r="r" b="b"/>
            <a:pathLst>
              <a:path w="609600" h="1085850">
                <a:moveTo>
                  <a:pt x="609600" y="0"/>
                </a:moveTo>
                <a:lnTo>
                  <a:pt x="0" y="0"/>
                </a:lnTo>
                <a:lnTo>
                  <a:pt x="0" y="1085850"/>
                </a:lnTo>
                <a:lnTo>
                  <a:pt x="609600" y="1085850"/>
                </a:lnTo>
                <a:lnTo>
                  <a:pt x="60960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9" name="object 23">
            <a:extLst>
              <a:ext uri="{FF2B5EF4-FFF2-40B4-BE49-F238E27FC236}">
                <a16:creationId xmlns:a16="http://schemas.microsoft.com/office/drawing/2014/main" id="{FE9BA161-F44F-9245-C88F-A3543C2A408D}"/>
              </a:ext>
            </a:extLst>
          </p:cNvPr>
          <p:cNvSpPr/>
          <p:nvPr/>
        </p:nvSpPr>
        <p:spPr>
          <a:xfrm>
            <a:off x="4109658" y="3095076"/>
            <a:ext cx="205105" cy="498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object 24">
            <a:extLst>
              <a:ext uri="{FF2B5EF4-FFF2-40B4-BE49-F238E27FC236}">
                <a16:creationId xmlns:a16="http://schemas.microsoft.com/office/drawing/2014/main" id="{03B3CA31-B242-2899-E657-AEFDDD11ACF0}"/>
              </a:ext>
            </a:extLst>
          </p:cNvPr>
          <p:cNvSpPr/>
          <p:nvPr/>
        </p:nvSpPr>
        <p:spPr>
          <a:xfrm>
            <a:off x="4357308" y="3095076"/>
            <a:ext cx="207010" cy="4984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1" name="object 25">
            <a:extLst>
              <a:ext uri="{FF2B5EF4-FFF2-40B4-BE49-F238E27FC236}">
                <a16:creationId xmlns:a16="http://schemas.microsoft.com/office/drawing/2014/main" id="{607A9116-390A-BFD6-3858-F2506DD8AEBB}"/>
              </a:ext>
            </a:extLst>
          </p:cNvPr>
          <p:cNvSpPr/>
          <p:nvPr/>
        </p:nvSpPr>
        <p:spPr>
          <a:xfrm>
            <a:off x="4116008" y="3644352"/>
            <a:ext cx="441959" cy="100330"/>
          </a:xfrm>
          <a:custGeom>
            <a:avLst/>
            <a:gdLst/>
            <a:ahLst/>
            <a:cxnLst/>
            <a:rect l="l" t="t" r="r" b="b"/>
            <a:pathLst>
              <a:path w="441960" h="100329">
                <a:moveTo>
                  <a:pt x="441959" y="0"/>
                </a:moveTo>
                <a:lnTo>
                  <a:pt x="0" y="0"/>
                </a:lnTo>
                <a:lnTo>
                  <a:pt x="0" y="100012"/>
                </a:lnTo>
                <a:lnTo>
                  <a:pt x="441959" y="100012"/>
                </a:lnTo>
                <a:lnTo>
                  <a:pt x="441959" y="0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2" name="object 27">
            <a:extLst>
              <a:ext uri="{FF2B5EF4-FFF2-40B4-BE49-F238E27FC236}">
                <a16:creationId xmlns:a16="http://schemas.microsoft.com/office/drawing/2014/main" id="{AD5773BD-C61B-049A-9F48-5CA47C056249}"/>
              </a:ext>
            </a:extLst>
          </p:cNvPr>
          <p:cNvSpPr/>
          <p:nvPr/>
        </p:nvSpPr>
        <p:spPr>
          <a:xfrm>
            <a:off x="4121723" y="3808657"/>
            <a:ext cx="443865" cy="271780"/>
          </a:xfrm>
          <a:custGeom>
            <a:avLst/>
            <a:gdLst/>
            <a:ahLst/>
            <a:cxnLst/>
            <a:rect l="l" t="t" r="r" b="b"/>
            <a:pathLst>
              <a:path w="443864" h="271779">
                <a:moveTo>
                  <a:pt x="443864" y="0"/>
                </a:moveTo>
                <a:lnTo>
                  <a:pt x="0" y="0"/>
                </a:lnTo>
                <a:lnTo>
                  <a:pt x="0" y="271463"/>
                </a:lnTo>
                <a:lnTo>
                  <a:pt x="443864" y="271463"/>
                </a:lnTo>
                <a:lnTo>
                  <a:pt x="443864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3" name="object 29">
            <a:extLst>
              <a:ext uri="{FF2B5EF4-FFF2-40B4-BE49-F238E27FC236}">
                <a16:creationId xmlns:a16="http://schemas.microsoft.com/office/drawing/2014/main" id="{18AC2A2D-66FD-A085-9878-B067ED0C892D}"/>
              </a:ext>
            </a:extLst>
          </p:cNvPr>
          <p:cNvSpPr txBox="1"/>
          <p:nvPr/>
        </p:nvSpPr>
        <p:spPr>
          <a:xfrm>
            <a:off x="926207" y="2379208"/>
            <a:ext cx="151953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CUDA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hre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CC95D4DA-4CF4-45BA-C5A9-F24FF6490E0A}"/>
              </a:ext>
            </a:extLst>
          </p:cNvPr>
          <p:cNvSpPr txBox="1"/>
          <p:nvPr/>
        </p:nvSpPr>
        <p:spPr>
          <a:xfrm>
            <a:off x="3854466" y="1822892"/>
            <a:ext cx="104981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Scalar  </a:t>
            </a:r>
            <a:r>
              <a:rPr sz="1600" spc="-80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ro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essor</a:t>
            </a:r>
          </a:p>
        </p:txBody>
      </p:sp>
      <p:sp>
        <p:nvSpPr>
          <p:cNvPr id="25" name="object 31">
            <a:extLst>
              <a:ext uri="{FF2B5EF4-FFF2-40B4-BE49-F238E27FC236}">
                <a16:creationId xmlns:a16="http://schemas.microsoft.com/office/drawing/2014/main" id="{8F74C4D3-812E-DCF0-075D-AAA250D2B479}"/>
              </a:ext>
            </a:extLst>
          </p:cNvPr>
          <p:cNvSpPr txBox="1"/>
          <p:nvPr/>
        </p:nvSpPr>
        <p:spPr>
          <a:xfrm>
            <a:off x="432112" y="4189422"/>
            <a:ext cx="1409700" cy="2667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18745" marR="5080" indent="-10668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hre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d 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Block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6" name="object 32">
            <a:extLst>
              <a:ext uri="{FF2B5EF4-FFF2-40B4-BE49-F238E27FC236}">
                <a16:creationId xmlns:a16="http://schemas.microsoft.com/office/drawing/2014/main" id="{1556AEFC-90FC-EEF9-9550-CE12F70269C6}"/>
              </a:ext>
            </a:extLst>
          </p:cNvPr>
          <p:cNvSpPr txBox="1"/>
          <p:nvPr/>
        </p:nvSpPr>
        <p:spPr>
          <a:xfrm>
            <a:off x="3133691" y="4189422"/>
            <a:ext cx="252089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Streaming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Multiprocessor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7" name="object 35">
            <a:extLst>
              <a:ext uri="{FF2B5EF4-FFF2-40B4-BE49-F238E27FC236}">
                <a16:creationId xmlns:a16="http://schemas.microsoft.com/office/drawing/2014/main" id="{02C1AC57-1E9B-50E1-A035-65868D3DD942}"/>
              </a:ext>
            </a:extLst>
          </p:cNvPr>
          <p:cNvSpPr/>
          <p:nvPr/>
        </p:nvSpPr>
        <p:spPr>
          <a:xfrm>
            <a:off x="3373057" y="5058221"/>
            <a:ext cx="977265" cy="822960"/>
          </a:xfrm>
          <a:custGeom>
            <a:avLst/>
            <a:gdLst/>
            <a:ahLst/>
            <a:cxnLst/>
            <a:rect l="l" t="t" r="r" b="b"/>
            <a:pathLst>
              <a:path w="977264" h="822960">
                <a:moveTo>
                  <a:pt x="977264" y="0"/>
                </a:moveTo>
                <a:lnTo>
                  <a:pt x="0" y="0"/>
                </a:lnTo>
                <a:lnTo>
                  <a:pt x="0" y="822959"/>
                </a:lnTo>
                <a:lnTo>
                  <a:pt x="977264" y="822959"/>
                </a:lnTo>
                <a:lnTo>
                  <a:pt x="977264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8" name="object 36">
            <a:extLst>
              <a:ext uri="{FF2B5EF4-FFF2-40B4-BE49-F238E27FC236}">
                <a16:creationId xmlns:a16="http://schemas.microsoft.com/office/drawing/2014/main" id="{820CC772-5A5A-7236-C258-DBA210486F45}"/>
              </a:ext>
            </a:extLst>
          </p:cNvPr>
          <p:cNvSpPr/>
          <p:nvPr/>
        </p:nvSpPr>
        <p:spPr>
          <a:xfrm>
            <a:off x="3403537" y="5192525"/>
            <a:ext cx="280035" cy="659130"/>
          </a:xfrm>
          <a:custGeom>
            <a:avLst/>
            <a:gdLst/>
            <a:ahLst/>
            <a:cxnLst/>
            <a:rect l="l" t="t" r="r" b="b"/>
            <a:pathLst>
              <a:path w="280035" h="659129">
                <a:moveTo>
                  <a:pt x="280034" y="0"/>
                </a:moveTo>
                <a:lnTo>
                  <a:pt x="0" y="0"/>
                </a:lnTo>
                <a:lnTo>
                  <a:pt x="0" y="658654"/>
                </a:lnTo>
                <a:lnTo>
                  <a:pt x="280034" y="658654"/>
                </a:lnTo>
                <a:lnTo>
                  <a:pt x="28003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9" name="object 38">
            <a:extLst>
              <a:ext uri="{FF2B5EF4-FFF2-40B4-BE49-F238E27FC236}">
                <a16:creationId xmlns:a16="http://schemas.microsoft.com/office/drawing/2014/main" id="{C40499C1-4023-E3C1-BE03-6117F87C89CC}"/>
              </a:ext>
            </a:extLst>
          </p:cNvPr>
          <p:cNvSpPr/>
          <p:nvPr/>
        </p:nvSpPr>
        <p:spPr>
          <a:xfrm>
            <a:off x="3433382" y="5211891"/>
            <a:ext cx="214630" cy="3070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0" name="object 39">
            <a:extLst>
              <a:ext uri="{FF2B5EF4-FFF2-40B4-BE49-F238E27FC236}">
                <a16:creationId xmlns:a16="http://schemas.microsoft.com/office/drawing/2014/main" id="{BBD58168-8699-5BAD-1583-4B28F52B9E45}"/>
              </a:ext>
            </a:extLst>
          </p:cNvPr>
          <p:cNvSpPr/>
          <p:nvPr/>
        </p:nvSpPr>
        <p:spPr>
          <a:xfrm>
            <a:off x="3439732" y="5577572"/>
            <a:ext cx="201930" cy="0"/>
          </a:xfrm>
          <a:custGeom>
            <a:avLst/>
            <a:gdLst/>
            <a:ahLst/>
            <a:cxnLst/>
            <a:rect l="l" t="t" r="r" b="b"/>
            <a:pathLst>
              <a:path w="201929">
                <a:moveTo>
                  <a:pt x="0" y="0"/>
                </a:moveTo>
                <a:lnTo>
                  <a:pt x="201929" y="0"/>
                </a:lnTo>
              </a:path>
            </a:pathLst>
          </a:custGeom>
          <a:ln w="61435">
            <a:solidFill>
              <a:srgbClr val="00808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1" name="object 40">
            <a:extLst>
              <a:ext uri="{FF2B5EF4-FFF2-40B4-BE49-F238E27FC236}">
                <a16:creationId xmlns:a16="http://schemas.microsoft.com/office/drawing/2014/main" id="{36794C03-5E06-6D6F-58C3-EDB1F0F61A40}"/>
              </a:ext>
            </a:extLst>
          </p:cNvPr>
          <p:cNvSpPr/>
          <p:nvPr/>
        </p:nvSpPr>
        <p:spPr>
          <a:xfrm>
            <a:off x="3439732" y="5546855"/>
            <a:ext cx="201930" cy="61594"/>
          </a:xfrm>
          <a:custGeom>
            <a:avLst/>
            <a:gdLst/>
            <a:ahLst/>
            <a:cxnLst/>
            <a:rect l="l" t="t" r="r" b="b"/>
            <a:pathLst>
              <a:path w="201929" h="61595">
                <a:moveTo>
                  <a:pt x="0" y="0"/>
                </a:moveTo>
                <a:lnTo>
                  <a:pt x="201930" y="0"/>
                </a:lnTo>
                <a:lnTo>
                  <a:pt x="201930" y="61436"/>
                </a:lnTo>
                <a:lnTo>
                  <a:pt x="0" y="61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2" name="object 41">
            <a:extLst>
              <a:ext uri="{FF2B5EF4-FFF2-40B4-BE49-F238E27FC236}">
                <a16:creationId xmlns:a16="http://schemas.microsoft.com/office/drawing/2014/main" id="{EDD822F0-8770-A3FC-59AB-048A3E632F52}"/>
              </a:ext>
            </a:extLst>
          </p:cNvPr>
          <p:cNvSpPr/>
          <p:nvPr/>
        </p:nvSpPr>
        <p:spPr>
          <a:xfrm>
            <a:off x="3441637" y="5648295"/>
            <a:ext cx="206375" cy="164465"/>
          </a:xfrm>
          <a:custGeom>
            <a:avLst/>
            <a:gdLst/>
            <a:ahLst/>
            <a:cxnLst/>
            <a:rect l="l" t="t" r="r" b="b"/>
            <a:pathLst>
              <a:path w="206375" h="164464">
                <a:moveTo>
                  <a:pt x="205757" y="0"/>
                </a:moveTo>
                <a:lnTo>
                  <a:pt x="0" y="0"/>
                </a:lnTo>
                <a:lnTo>
                  <a:pt x="0" y="164305"/>
                </a:lnTo>
                <a:lnTo>
                  <a:pt x="205757" y="164305"/>
                </a:lnTo>
                <a:lnTo>
                  <a:pt x="205757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3" name="object 43">
            <a:extLst>
              <a:ext uri="{FF2B5EF4-FFF2-40B4-BE49-F238E27FC236}">
                <a16:creationId xmlns:a16="http://schemas.microsoft.com/office/drawing/2014/main" id="{46731603-0E2A-B07C-9D64-EFFF4E039FA6}"/>
              </a:ext>
            </a:extLst>
          </p:cNvPr>
          <p:cNvSpPr/>
          <p:nvPr/>
        </p:nvSpPr>
        <p:spPr>
          <a:xfrm>
            <a:off x="3721672" y="5192525"/>
            <a:ext cx="280035" cy="659130"/>
          </a:xfrm>
          <a:custGeom>
            <a:avLst/>
            <a:gdLst/>
            <a:ahLst/>
            <a:cxnLst/>
            <a:rect l="l" t="t" r="r" b="b"/>
            <a:pathLst>
              <a:path w="280035" h="659129">
                <a:moveTo>
                  <a:pt x="280035" y="0"/>
                </a:moveTo>
                <a:lnTo>
                  <a:pt x="0" y="0"/>
                </a:lnTo>
                <a:lnTo>
                  <a:pt x="0" y="658654"/>
                </a:lnTo>
                <a:lnTo>
                  <a:pt x="280035" y="658654"/>
                </a:lnTo>
                <a:lnTo>
                  <a:pt x="280035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4" name="object 45">
            <a:extLst>
              <a:ext uri="{FF2B5EF4-FFF2-40B4-BE49-F238E27FC236}">
                <a16:creationId xmlns:a16="http://schemas.microsoft.com/office/drawing/2014/main" id="{1DB6BA66-344D-7D24-1E54-85B092FCE6EA}"/>
              </a:ext>
            </a:extLst>
          </p:cNvPr>
          <p:cNvSpPr/>
          <p:nvPr/>
        </p:nvSpPr>
        <p:spPr>
          <a:xfrm>
            <a:off x="3749612" y="5211891"/>
            <a:ext cx="216535" cy="3070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5" name="object 46">
            <a:extLst>
              <a:ext uri="{FF2B5EF4-FFF2-40B4-BE49-F238E27FC236}">
                <a16:creationId xmlns:a16="http://schemas.microsoft.com/office/drawing/2014/main" id="{C8950F19-FAFE-E495-7ECC-DEFA533D930D}"/>
              </a:ext>
            </a:extLst>
          </p:cNvPr>
          <p:cNvSpPr/>
          <p:nvPr/>
        </p:nvSpPr>
        <p:spPr>
          <a:xfrm>
            <a:off x="3755962" y="5577572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5">
                <a:moveTo>
                  <a:pt x="0" y="0"/>
                </a:moveTo>
                <a:lnTo>
                  <a:pt x="203835" y="0"/>
                </a:lnTo>
              </a:path>
            </a:pathLst>
          </a:custGeom>
          <a:ln w="61435">
            <a:solidFill>
              <a:srgbClr val="00808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6" name="object 47">
            <a:extLst>
              <a:ext uri="{FF2B5EF4-FFF2-40B4-BE49-F238E27FC236}">
                <a16:creationId xmlns:a16="http://schemas.microsoft.com/office/drawing/2014/main" id="{A3F599C4-F5AC-320E-E074-3B9E060642C7}"/>
              </a:ext>
            </a:extLst>
          </p:cNvPr>
          <p:cNvSpPr/>
          <p:nvPr/>
        </p:nvSpPr>
        <p:spPr>
          <a:xfrm>
            <a:off x="3755962" y="5546855"/>
            <a:ext cx="203835" cy="61594"/>
          </a:xfrm>
          <a:custGeom>
            <a:avLst/>
            <a:gdLst/>
            <a:ahLst/>
            <a:cxnLst/>
            <a:rect l="l" t="t" r="r" b="b"/>
            <a:pathLst>
              <a:path w="203835" h="61595">
                <a:moveTo>
                  <a:pt x="0" y="0"/>
                </a:moveTo>
                <a:lnTo>
                  <a:pt x="203835" y="0"/>
                </a:lnTo>
                <a:lnTo>
                  <a:pt x="203835" y="61436"/>
                </a:lnTo>
                <a:lnTo>
                  <a:pt x="0" y="61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7" name="object 48">
            <a:extLst>
              <a:ext uri="{FF2B5EF4-FFF2-40B4-BE49-F238E27FC236}">
                <a16:creationId xmlns:a16="http://schemas.microsoft.com/office/drawing/2014/main" id="{855353C5-657E-1E61-0AA2-108BAD18A4FD}"/>
              </a:ext>
            </a:extLst>
          </p:cNvPr>
          <p:cNvSpPr/>
          <p:nvPr/>
        </p:nvSpPr>
        <p:spPr>
          <a:xfrm>
            <a:off x="3758828" y="5647581"/>
            <a:ext cx="205740" cy="163195"/>
          </a:xfrm>
          <a:custGeom>
            <a:avLst/>
            <a:gdLst/>
            <a:ahLst/>
            <a:cxnLst/>
            <a:rect l="l" t="t" r="r" b="b"/>
            <a:pathLst>
              <a:path w="205739" h="163195">
                <a:moveTo>
                  <a:pt x="205739" y="0"/>
                </a:moveTo>
                <a:lnTo>
                  <a:pt x="0" y="0"/>
                </a:lnTo>
                <a:lnTo>
                  <a:pt x="0" y="162876"/>
                </a:lnTo>
                <a:lnTo>
                  <a:pt x="205739" y="162876"/>
                </a:lnTo>
                <a:lnTo>
                  <a:pt x="205739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8" name="object 50">
            <a:extLst>
              <a:ext uri="{FF2B5EF4-FFF2-40B4-BE49-F238E27FC236}">
                <a16:creationId xmlns:a16="http://schemas.microsoft.com/office/drawing/2014/main" id="{EEC620C5-82DD-C613-F859-511EAB1DCFFB}"/>
              </a:ext>
            </a:extLst>
          </p:cNvPr>
          <p:cNvSpPr/>
          <p:nvPr/>
        </p:nvSpPr>
        <p:spPr>
          <a:xfrm>
            <a:off x="4039807" y="5192525"/>
            <a:ext cx="280035" cy="659130"/>
          </a:xfrm>
          <a:custGeom>
            <a:avLst/>
            <a:gdLst/>
            <a:ahLst/>
            <a:cxnLst/>
            <a:rect l="l" t="t" r="r" b="b"/>
            <a:pathLst>
              <a:path w="280035" h="659129">
                <a:moveTo>
                  <a:pt x="280035" y="0"/>
                </a:moveTo>
                <a:lnTo>
                  <a:pt x="0" y="0"/>
                </a:lnTo>
                <a:lnTo>
                  <a:pt x="0" y="658654"/>
                </a:lnTo>
                <a:lnTo>
                  <a:pt x="280035" y="658654"/>
                </a:lnTo>
                <a:lnTo>
                  <a:pt x="280035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9" name="object 52">
            <a:extLst>
              <a:ext uri="{FF2B5EF4-FFF2-40B4-BE49-F238E27FC236}">
                <a16:creationId xmlns:a16="http://schemas.microsoft.com/office/drawing/2014/main" id="{65194211-32A9-D5C7-2560-1A6EB247D2BC}"/>
              </a:ext>
            </a:extLst>
          </p:cNvPr>
          <p:cNvSpPr/>
          <p:nvPr/>
        </p:nvSpPr>
        <p:spPr>
          <a:xfrm>
            <a:off x="4067747" y="5211891"/>
            <a:ext cx="216535" cy="3070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0" name="object 53">
            <a:extLst>
              <a:ext uri="{FF2B5EF4-FFF2-40B4-BE49-F238E27FC236}">
                <a16:creationId xmlns:a16="http://schemas.microsoft.com/office/drawing/2014/main" id="{0A63B82B-AB83-38F5-90D7-D1139E3DF78E}"/>
              </a:ext>
            </a:extLst>
          </p:cNvPr>
          <p:cNvSpPr/>
          <p:nvPr/>
        </p:nvSpPr>
        <p:spPr>
          <a:xfrm>
            <a:off x="4074097" y="5577572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5">
                <a:moveTo>
                  <a:pt x="0" y="0"/>
                </a:moveTo>
                <a:lnTo>
                  <a:pt x="203835" y="0"/>
                </a:lnTo>
              </a:path>
            </a:pathLst>
          </a:custGeom>
          <a:ln w="61435">
            <a:solidFill>
              <a:srgbClr val="00808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1" name="object 54">
            <a:extLst>
              <a:ext uri="{FF2B5EF4-FFF2-40B4-BE49-F238E27FC236}">
                <a16:creationId xmlns:a16="http://schemas.microsoft.com/office/drawing/2014/main" id="{4109B775-224E-F557-1696-E93AA45D0529}"/>
              </a:ext>
            </a:extLst>
          </p:cNvPr>
          <p:cNvSpPr/>
          <p:nvPr/>
        </p:nvSpPr>
        <p:spPr>
          <a:xfrm>
            <a:off x="4074097" y="5546855"/>
            <a:ext cx="203835" cy="61594"/>
          </a:xfrm>
          <a:custGeom>
            <a:avLst/>
            <a:gdLst/>
            <a:ahLst/>
            <a:cxnLst/>
            <a:rect l="l" t="t" r="r" b="b"/>
            <a:pathLst>
              <a:path w="203835" h="61595">
                <a:moveTo>
                  <a:pt x="0" y="0"/>
                </a:moveTo>
                <a:lnTo>
                  <a:pt x="203835" y="0"/>
                </a:lnTo>
                <a:lnTo>
                  <a:pt x="203835" y="61436"/>
                </a:lnTo>
                <a:lnTo>
                  <a:pt x="0" y="61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2" name="object 55">
            <a:extLst>
              <a:ext uri="{FF2B5EF4-FFF2-40B4-BE49-F238E27FC236}">
                <a16:creationId xmlns:a16="http://schemas.microsoft.com/office/drawing/2014/main" id="{05A092BD-0EB2-AF1D-CA30-16F6AEABCC9F}"/>
              </a:ext>
            </a:extLst>
          </p:cNvPr>
          <p:cNvSpPr/>
          <p:nvPr/>
        </p:nvSpPr>
        <p:spPr>
          <a:xfrm>
            <a:off x="4077907" y="5648295"/>
            <a:ext cx="206375" cy="164465"/>
          </a:xfrm>
          <a:custGeom>
            <a:avLst/>
            <a:gdLst/>
            <a:ahLst/>
            <a:cxnLst/>
            <a:rect l="l" t="t" r="r" b="b"/>
            <a:pathLst>
              <a:path w="206375" h="164464">
                <a:moveTo>
                  <a:pt x="205757" y="0"/>
                </a:moveTo>
                <a:lnTo>
                  <a:pt x="0" y="0"/>
                </a:lnTo>
                <a:lnTo>
                  <a:pt x="0" y="164305"/>
                </a:lnTo>
                <a:lnTo>
                  <a:pt x="205757" y="164305"/>
                </a:lnTo>
                <a:lnTo>
                  <a:pt x="205757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3" name="object 57">
            <a:extLst>
              <a:ext uri="{FF2B5EF4-FFF2-40B4-BE49-F238E27FC236}">
                <a16:creationId xmlns:a16="http://schemas.microsoft.com/office/drawing/2014/main" id="{9D02A51E-61A8-864B-A830-2E39493ED4FE}"/>
              </a:ext>
            </a:extLst>
          </p:cNvPr>
          <p:cNvSpPr/>
          <p:nvPr/>
        </p:nvSpPr>
        <p:spPr>
          <a:xfrm>
            <a:off x="4390327" y="5058221"/>
            <a:ext cx="979169" cy="822960"/>
          </a:xfrm>
          <a:custGeom>
            <a:avLst/>
            <a:gdLst/>
            <a:ahLst/>
            <a:cxnLst/>
            <a:rect l="l" t="t" r="r" b="b"/>
            <a:pathLst>
              <a:path w="979170" h="822960">
                <a:moveTo>
                  <a:pt x="979169" y="0"/>
                </a:moveTo>
                <a:lnTo>
                  <a:pt x="0" y="0"/>
                </a:lnTo>
                <a:lnTo>
                  <a:pt x="0" y="822959"/>
                </a:lnTo>
                <a:lnTo>
                  <a:pt x="979169" y="822959"/>
                </a:lnTo>
                <a:lnTo>
                  <a:pt x="979169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4" name="object 58">
            <a:extLst>
              <a:ext uri="{FF2B5EF4-FFF2-40B4-BE49-F238E27FC236}">
                <a16:creationId xmlns:a16="http://schemas.microsoft.com/office/drawing/2014/main" id="{06B0760A-EB63-A0FB-5022-B4F8F8F4D39E}"/>
              </a:ext>
            </a:extLst>
          </p:cNvPr>
          <p:cNvSpPr/>
          <p:nvPr/>
        </p:nvSpPr>
        <p:spPr>
          <a:xfrm>
            <a:off x="4420807" y="5192525"/>
            <a:ext cx="280035" cy="659130"/>
          </a:xfrm>
          <a:custGeom>
            <a:avLst/>
            <a:gdLst/>
            <a:ahLst/>
            <a:cxnLst/>
            <a:rect l="l" t="t" r="r" b="b"/>
            <a:pathLst>
              <a:path w="280035" h="659129">
                <a:moveTo>
                  <a:pt x="280035" y="0"/>
                </a:moveTo>
                <a:lnTo>
                  <a:pt x="0" y="0"/>
                </a:lnTo>
                <a:lnTo>
                  <a:pt x="0" y="658654"/>
                </a:lnTo>
                <a:lnTo>
                  <a:pt x="280035" y="658654"/>
                </a:lnTo>
                <a:lnTo>
                  <a:pt x="280035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5" name="object 60">
            <a:extLst>
              <a:ext uri="{FF2B5EF4-FFF2-40B4-BE49-F238E27FC236}">
                <a16:creationId xmlns:a16="http://schemas.microsoft.com/office/drawing/2014/main" id="{EE46471D-05A2-755B-3007-B0239CFAD948}"/>
              </a:ext>
            </a:extLst>
          </p:cNvPr>
          <p:cNvSpPr/>
          <p:nvPr/>
        </p:nvSpPr>
        <p:spPr>
          <a:xfrm>
            <a:off x="4450652" y="5211891"/>
            <a:ext cx="214630" cy="3070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6" name="object 61">
            <a:extLst>
              <a:ext uri="{FF2B5EF4-FFF2-40B4-BE49-F238E27FC236}">
                <a16:creationId xmlns:a16="http://schemas.microsoft.com/office/drawing/2014/main" id="{A5F14260-60D1-517A-8E1A-4F65E010A1AD}"/>
              </a:ext>
            </a:extLst>
          </p:cNvPr>
          <p:cNvSpPr/>
          <p:nvPr/>
        </p:nvSpPr>
        <p:spPr>
          <a:xfrm>
            <a:off x="4457002" y="5577572"/>
            <a:ext cx="201930" cy="0"/>
          </a:xfrm>
          <a:custGeom>
            <a:avLst/>
            <a:gdLst/>
            <a:ahLst/>
            <a:cxnLst/>
            <a:rect l="l" t="t" r="r" b="b"/>
            <a:pathLst>
              <a:path w="201929">
                <a:moveTo>
                  <a:pt x="0" y="0"/>
                </a:moveTo>
                <a:lnTo>
                  <a:pt x="201929" y="0"/>
                </a:lnTo>
              </a:path>
            </a:pathLst>
          </a:custGeom>
          <a:ln w="61435">
            <a:solidFill>
              <a:srgbClr val="00808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7" name="object 62">
            <a:extLst>
              <a:ext uri="{FF2B5EF4-FFF2-40B4-BE49-F238E27FC236}">
                <a16:creationId xmlns:a16="http://schemas.microsoft.com/office/drawing/2014/main" id="{8FB8E67E-79DE-0730-1CF8-FF45BA205FFE}"/>
              </a:ext>
            </a:extLst>
          </p:cNvPr>
          <p:cNvSpPr/>
          <p:nvPr/>
        </p:nvSpPr>
        <p:spPr>
          <a:xfrm>
            <a:off x="4457002" y="5546855"/>
            <a:ext cx="201930" cy="61594"/>
          </a:xfrm>
          <a:custGeom>
            <a:avLst/>
            <a:gdLst/>
            <a:ahLst/>
            <a:cxnLst/>
            <a:rect l="l" t="t" r="r" b="b"/>
            <a:pathLst>
              <a:path w="201929" h="61595">
                <a:moveTo>
                  <a:pt x="0" y="0"/>
                </a:moveTo>
                <a:lnTo>
                  <a:pt x="201930" y="0"/>
                </a:lnTo>
                <a:lnTo>
                  <a:pt x="201930" y="61436"/>
                </a:lnTo>
                <a:lnTo>
                  <a:pt x="0" y="61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8" name="object 63">
            <a:extLst>
              <a:ext uri="{FF2B5EF4-FFF2-40B4-BE49-F238E27FC236}">
                <a16:creationId xmlns:a16="http://schemas.microsoft.com/office/drawing/2014/main" id="{A32C18FF-8486-2E4F-9037-C1B38A44E46F}"/>
              </a:ext>
            </a:extLst>
          </p:cNvPr>
          <p:cNvSpPr/>
          <p:nvPr/>
        </p:nvSpPr>
        <p:spPr>
          <a:xfrm>
            <a:off x="4458907" y="5648295"/>
            <a:ext cx="206375" cy="164465"/>
          </a:xfrm>
          <a:custGeom>
            <a:avLst/>
            <a:gdLst/>
            <a:ahLst/>
            <a:cxnLst/>
            <a:rect l="l" t="t" r="r" b="b"/>
            <a:pathLst>
              <a:path w="206375" h="164464">
                <a:moveTo>
                  <a:pt x="205757" y="0"/>
                </a:moveTo>
                <a:lnTo>
                  <a:pt x="0" y="0"/>
                </a:lnTo>
                <a:lnTo>
                  <a:pt x="0" y="164305"/>
                </a:lnTo>
                <a:lnTo>
                  <a:pt x="205757" y="164305"/>
                </a:lnTo>
                <a:lnTo>
                  <a:pt x="205757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9" name="object 65">
            <a:extLst>
              <a:ext uri="{FF2B5EF4-FFF2-40B4-BE49-F238E27FC236}">
                <a16:creationId xmlns:a16="http://schemas.microsoft.com/office/drawing/2014/main" id="{A74BAF16-993E-D497-2BCC-35BC6B75D696}"/>
              </a:ext>
            </a:extLst>
          </p:cNvPr>
          <p:cNvSpPr/>
          <p:nvPr/>
        </p:nvSpPr>
        <p:spPr>
          <a:xfrm>
            <a:off x="4738942" y="5192525"/>
            <a:ext cx="280035" cy="659130"/>
          </a:xfrm>
          <a:custGeom>
            <a:avLst/>
            <a:gdLst/>
            <a:ahLst/>
            <a:cxnLst/>
            <a:rect l="l" t="t" r="r" b="b"/>
            <a:pathLst>
              <a:path w="280035" h="659129">
                <a:moveTo>
                  <a:pt x="280035" y="0"/>
                </a:moveTo>
                <a:lnTo>
                  <a:pt x="0" y="0"/>
                </a:lnTo>
                <a:lnTo>
                  <a:pt x="0" y="658654"/>
                </a:lnTo>
                <a:lnTo>
                  <a:pt x="280035" y="658654"/>
                </a:lnTo>
                <a:lnTo>
                  <a:pt x="280035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0" name="object 67">
            <a:extLst>
              <a:ext uri="{FF2B5EF4-FFF2-40B4-BE49-F238E27FC236}">
                <a16:creationId xmlns:a16="http://schemas.microsoft.com/office/drawing/2014/main" id="{201DD3E6-A2E8-5A17-6907-73BA10BCE96B}"/>
              </a:ext>
            </a:extLst>
          </p:cNvPr>
          <p:cNvSpPr/>
          <p:nvPr/>
        </p:nvSpPr>
        <p:spPr>
          <a:xfrm>
            <a:off x="4766882" y="5211891"/>
            <a:ext cx="216535" cy="3070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1" name="object 68">
            <a:extLst>
              <a:ext uri="{FF2B5EF4-FFF2-40B4-BE49-F238E27FC236}">
                <a16:creationId xmlns:a16="http://schemas.microsoft.com/office/drawing/2014/main" id="{737BFCCB-CC78-A332-6117-91D160C9E273}"/>
              </a:ext>
            </a:extLst>
          </p:cNvPr>
          <p:cNvSpPr/>
          <p:nvPr/>
        </p:nvSpPr>
        <p:spPr>
          <a:xfrm>
            <a:off x="4773232" y="5577572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5">
                <a:moveTo>
                  <a:pt x="0" y="0"/>
                </a:moveTo>
                <a:lnTo>
                  <a:pt x="203835" y="0"/>
                </a:lnTo>
              </a:path>
            </a:pathLst>
          </a:custGeom>
          <a:ln w="61435">
            <a:solidFill>
              <a:srgbClr val="00808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2" name="object 69">
            <a:extLst>
              <a:ext uri="{FF2B5EF4-FFF2-40B4-BE49-F238E27FC236}">
                <a16:creationId xmlns:a16="http://schemas.microsoft.com/office/drawing/2014/main" id="{D2893BFE-07EB-60BA-ED30-51FDEB478B4B}"/>
              </a:ext>
            </a:extLst>
          </p:cNvPr>
          <p:cNvSpPr/>
          <p:nvPr/>
        </p:nvSpPr>
        <p:spPr>
          <a:xfrm>
            <a:off x="4773232" y="5546855"/>
            <a:ext cx="203835" cy="61594"/>
          </a:xfrm>
          <a:custGeom>
            <a:avLst/>
            <a:gdLst/>
            <a:ahLst/>
            <a:cxnLst/>
            <a:rect l="l" t="t" r="r" b="b"/>
            <a:pathLst>
              <a:path w="203835" h="61595">
                <a:moveTo>
                  <a:pt x="0" y="0"/>
                </a:moveTo>
                <a:lnTo>
                  <a:pt x="203835" y="0"/>
                </a:lnTo>
                <a:lnTo>
                  <a:pt x="203835" y="61436"/>
                </a:lnTo>
                <a:lnTo>
                  <a:pt x="0" y="61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3" name="object 70">
            <a:extLst>
              <a:ext uri="{FF2B5EF4-FFF2-40B4-BE49-F238E27FC236}">
                <a16:creationId xmlns:a16="http://schemas.microsoft.com/office/drawing/2014/main" id="{29F19943-1B7F-5644-725B-11CB14C83A67}"/>
              </a:ext>
            </a:extLst>
          </p:cNvPr>
          <p:cNvSpPr/>
          <p:nvPr/>
        </p:nvSpPr>
        <p:spPr>
          <a:xfrm>
            <a:off x="4777042" y="5648295"/>
            <a:ext cx="206375" cy="164465"/>
          </a:xfrm>
          <a:custGeom>
            <a:avLst/>
            <a:gdLst/>
            <a:ahLst/>
            <a:cxnLst/>
            <a:rect l="l" t="t" r="r" b="b"/>
            <a:pathLst>
              <a:path w="206375" h="164464">
                <a:moveTo>
                  <a:pt x="205757" y="0"/>
                </a:moveTo>
                <a:lnTo>
                  <a:pt x="0" y="0"/>
                </a:lnTo>
                <a:lnTo>
                  <a:pt x="0" y="164305"/>
                </a:lnTo>
                <a:lnTo>
                  <a:pt x="205757" y="164305"/>
                </a:lnTo>
                <a:lnTo>
                  <a:pt x="205757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4" name="object 72">
            <a:extLst>
              <a:ext uri="{FF2B5EF4-FFF2-40B4-BE49-F238E27FC236}">
                <a16:creationId xmlns:a16="http://schemas.microsoft.com/office/drawing/2014/main" id="{0CB4CA63-6D12-2D85-5A29-A514B43BC22F}"/>
              </a:ext>
            </a:extLst>
          </p:cNvPr>
          <p:cNvSpPr/>
          <p:nvPr/>
        </p:nvSpPr>
        <p:spPr>
          <a:xfrm>
            <a:off x="5057077" y="5192525"/>
            <a:ext cx="280035" cy="659130"/>
          </a:xfrm>
          <a:custGeom>
            <a:avLst/>
            <a:gdLst/>
            <a:ahLst/>
            <a:cxnLst/>
            <a:rect l="l" t="t" r="r" b="b"/>
            <a:pathLst>
              <a:path w="280035" h="659129">
                <a:moveTo>
                  <a:pt x="280034" y="0"/>
                </a:moveTo>
                <a:lnTo>
                  <a:pt x="0" y="0"/>
                </a:lnTo>
                <a:lnTo>
                  <a:pt x="0" y="658654"/>
                </a:lnTo>
                <a:lnTo>
                  <a:pt x="280034" y="658654"/>
                </a:lnTo>
                <a:lnTo>
                  <a:pt x="28003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5" name="object 74">
            <a:extLst>
              <a:ext uri="{FF2B5EF4-FFF2-40B4-BE49-F238E27FC236}">
                <a16:creationId xmlns:a16="http://schemas.microsoft.com/office/drawing/2014/main" id="{45117D75-0716-F96B-33A8-22F01535703E}"/>
              </a:ext>
            </a:extLst>
          </p:cNvPr>
          <p:cNvSpPr/>
          <p:nvPr/>
        </p:nvSpPr>
        <p:spPr>
          <a:xfrm>
            <a:off x="5085017" y="5211891"/>
            <a:ext cx="216535" cy="3070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6" name="object 75">
            <a:extLst>
              <a:ext uri="{FF2B5EF4-FFF2-40B4-BE49-F238E27FC236}">
                <a16:creationId xmlns:a16="http://schemas.microsoft.com/office/drawing/2014/main" id="{B6F51D92-C5F8-44FE-B135-405B71A08CA3}"/>
              </a:ext>
            </a:extLst>
          </p:cNvPr>
          <p:cNvSpPr/>
          <p:nvPr/>
        </p:nvSpPr>
        <p:spPr>
          <a:xfrm>
            <a:off x="5091367" y="5577572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5">
                <a:moveTo>
                  <a:pt x="0" y="0"/>
                </a:moveTo>
                <a:lnTo>
                  <a:pt x="203835" y="0"/>
                </a:lnTo>
              </a:path>
            </a:pathLst>
          </a:custGeom>
          <a:ln w="61435">
            <a:solidFill>
              <a:srgbClr val="00808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7" name="object 76">
            <a:extLst>
              <a:ext uri="{FF2B5EF4-FFF2-40B4-BE49-F238E27FC236}">
                <a16:creationId xmlns:a16="http://schemas.microsoft.com/office/drawing/2014/main" id="{4A82D35C-7D81-26FB-42AE-DF93B731D485}"/>
              </a:ext>
            </a:extLst>
          </p:cNvPr>
          <p:cNvSpPr/>
          <p:nvPr/>
        </p:nvSpPr>
        <p:spPr>
          <a:xfrm>
            <a:off x="5091367" y="5546855"/>
            <a:ext cx="203835" cy="61594"/>
          </a:xfrm>
          <a:custGeom>
            <a:avLst/>
            <a:gdLst/>
            <a:ahLst/>
            <a:cxnLst/>
            <a:rect l="l" t="t" r="r" b="b"/>
            <a:pathLst>
              <a:path w="203835" h="61595">
                <a:moveTo>
                  <a:pt x="0" y="0"/>
                </a:moveTo>
                <a:lnTo>
                  <a:pt x="203835" y="0"/>
                </a:lnTo>
                <a:lnTo>
                  <a:pt x="203835" y="61436"/>
                </a:lnTo>
                <a:lnTo>
                  <a:pt x="0" y="61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8" name="object 77">
            <a:extLst>
              <a:ext uri="{FF2B5EF4-FFF2-40B4-BE49-F238E27FC236}">
                <a16:creationId xmlns:a16="http://schemas.microsoft.com/office/drawing/2014/main" id="{D3AB1EF1-7B33-9A63-259E-C83237252C2F}"/>
              </a:ext>
            </a:extLst>
          </p:cNvPr>
          <p:cNvSpPr/>
          <p:nvPr/>
        </p:nvSpPr>
        <p:spPr>
          <a:xfrm>
            <a:off x="5095177" y="5648295"/>
            <a:ext cx="206375" cy="164465"/>
          </a:xfrm>
          <a:custGeom>
            <a:avLst/>
            <a:gdLst/>
            <a:ahLst/>
            <a:cxnLst/>
            <a:rect l="l" t="t" r="r" b="b"/>
            <a:pathLst>
              <a:path w="206375" h="164464">
                <a:moveTo>
                  <a:pt x="205757" y="0"/>
                </a:moveTo>
                <a:lnTo>
                  <a:pt x="0" y="0"/>
                </a:lnTo>
                <a:lnTo>
                  <a:pt x="0" y="164305"/>
                </a:lnTo>
                <a:lnTo>
                  <a:pt x="205757" y="164305"/>
                </a:lnTo>
                <a:lnTo>
                  <a:pt x="205757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9" name="object 79">
            <a:extLst>
              <a:ext uri="{FF2B5EF4-FFF2-40B4-BE49-F238E27FC236}">
                <a16:creationId xmlns:a16="http://schemas.microsoft.com/office/drawing/2014/main" id="{ADE7E109-BAB4-A65F-59DC-78F924246456}"/>
              </a:ext>
            </a:extLst>
          </p:cNvPr>
          <p:cNvSpPr/>
          <p:nvPr/>
        </p:nvSpPr>
        <p:spPr>
          <a:xfrm>
            <a:off x="563558" y="5094460"/>
            <a:ext cx="2118360" cy="720090"/>
          </a:xfrm>
          <a:custGeom>
            <a:avLst/>
            <a:gdLst/>
            <a:ahLst/>
            <a:cxnLst/>
            <a:rect l="l" t="t" r="r" b="b"/>
            <a:pathLst>
              <a:path w="2118360" h="720089">
                <a:moveTo>
                  <a:pt x="2118360" y="0"/>
                </a:moveTo>
                <a:lnTo>
                  <a:pt x="0" y="0"/>
                </a:lnTo>
                <a:lnTo>
                  <a:pt x="0" y="720089"/>
                </a:lnTo>
                <a:lnTo>
                  <a:pt x="2118360" y="720089"/>
                </a:lnTo>
                <a:lnTo>
                  <a:pt x="2118360" y="0"/>
                </a:lnTo>
                <a:close/>
              </a:path>
            </a:pathLst>
          </a:custGeom>
          <a:solidFill>
            <a:srgbClr val="66FF66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0" name="object 80">
            <a:extLst>
              <a:ext uri="{FF2B5EF4-FFF2-40B4-BE49-F238E27FC236}">
                <a16:creationId xmlns:a16="http://schemas.microsoft.com/office/drawing/2014/main" id="{6886E550-BCB6-E4D0-CF15-B37A00A2A60E}"/>
              </a:ext>
            </a:extLst>
          </p:cNvPr>
          <p:cNvSpPr/>
          <p:nvPr/>
        </p:nvSpPr>
        <p:spPr>
          <a:xfrm>
            <a:off x="660713" y="5157324"/>
            <a:ext cx="487680" cy="605790"/>
          </a:xfrm>
          <a:custGeom>
            <a:avLst/>
            <a:gdLst/>
            <a:ahLst/>
            <a:cxnLst/>
            <a:rect l="l" t="t" r="r" b="b"/>
            <a:pathLst>
              <a:path w="487680" h="605789">
                <a:moveTo>
                  <a:pt x="487680" y="0"/>
                </a:moveTo>
                <a:lnTo>
                  <a:pt x="0" y="0"/>
                </a:lnTo>
                <a:lnTo>
                  <a:pt x="0" y="605789"/>
                </a:lnTo>
                <a:lnTo>
                  <a:pt x="487680" y="605789"/>
                </a:lnTo>
                <a:lnTo>
                  <a:pt x="48768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1" name="object 82">
            <a:extLst>
              <a:ext uri="{FF2B5EF4-FFF2-40B4-BE49-F238E27FC236}">
                <a16:creationId xmlns:a16="http://schemas.microsoft.com/office/drawing/2014/main" id="{D8152EC5-0BBD-7A29-E2A5-56CF2F0CABB1}"/>
              </a:ext>
            </a:extLst>
          </p:cNvPr>
          <p:cNvSpPr/>
          <p:nvPr/>
        </p:nvSpPr>
        <p:spPr>
          <a:xfrm>
            <a:off x="70643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2" name="object 83">
            <a:extLst>
              <a:ext uri="{FF2B5EF4-FFF2-40B4-BE49-F238E27FC236}">
                <a16:creationId xmlns:a16="http://schemas.microsoft.com/office/drawing/2014/main" id="{CD542FBB-2D33-A293-D975-94E2DE5DC2D3}"/>
              </a:ext>
            </a:extLst>
          </p:cNvPr>
          <p:cNvSpPr/>
          <p:nvPr/>
        </p:nvSpPr>
        <p:spPr>
          <a:xfrm>
            <a:off x="77501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3" name="object 84">
            <a:extLst>
              <a:ext uri="{FF2B5EF4-FFF2-40B4-BE49-F238E27FC236}">
                <a16:creationId xmlns:a16="http://schemas.microsoft.com/office/drawing/2014/main" id="{7156B84E-18BE-60F3-D21B-34B2A6EDFC83}"/>
              </a:ext>
            </a:extLst>
          </p:cNvPr>
          <p:cNvSpPr/>
          <p:nvPr/>
        </p:nvSpPr>
        <p:spPr>
          <a:xfrm>
            <a:off x="843592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4" name="object 85">
            <a:extLst>
              <a:ext uri="{FF2B5EF4-FFF2-40B4-BE49-F238E27FC236}">
                <a16:creationId xmlns:a16="http://schemas.microsoft.com/office/drawing/2014/main" id="{14A4E676-582E-1584-3FDA-6A9EE48189C7}"/>
              </a:ext>
            </a:extLst>
          </p:cNvPr>
          <p:cNvSpPr/>
          <p:nvPr/>
        </p:nvSpPr>
        <p:spPr>
          <a:xfrm>
            <a:off x="91217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5" name="object 86">
            <a:extLst>
              <a:ext uri="{FF2B5EF4-FFF2-40B4-BE49-F238E27FC236}">
                <a16:creationId xmlns:a16="http://schemas.microsoft.com/office/drawing/2014/main" id="{D0357E94-5C4B-E306-428A-201AD78F5514}"/>
              </a:ext>
            </a:extLst>
          </p:cNvPr>
          <p:cNvSpPr/>
          <p:nvPr/>
        </p:nvSpPr>
        <p:spPr>
          <a:xfrm>
            <a:off x="980752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6" name="object 87">
            <a:extLst>
              <a:ext uri="{FF2B5EF4-FFF2-40B4-BE49-F238E27FC236}">
                <a16:creationId xmlns:a16="http://schemas.microsoft.com/office/drawing/2014/main" id="{C3F549F9-6233-27E0-C502-3685D5A1A1F2}"/>
              </a:ext>
            </a:extLst>
          </p:cNvPr>
          <p:cNvSpPr/>
          <p:nvPr/>
        </p:nvSpPr>
        <p:spPr>
          <a:xfrm>
            <a:off x="1224593" y="5157324"/>
            <a:ext cx="487680" cy="605790"/>
          </a:xfrm>
          <a:custGeom>
            <a:avLst/>
            <a:gdLst/>
            <a:ahLst/>
            <a:cxnLst/>
            <a:rect l="l" t="t" r="r" b="b"/>
            <a:pathLst>
              <a:path w="487680" h="605789">
                <a:moveTo>
                  <a:pt x="487680" y="0"/>
                </a:moveTo>
                <a:lnTo>
                  <a:pt x="0" y="0"/>
                </a:lnTo>
                <a:lnTo>
                  <a:pt x="0" y="605789"/>
                </a:lnTo>
                <a:lnTo>
                  <a:pt x="487680" y="605789"/>
                </a:lnTo>
                <a:lnTo>
                  <a:pt x="48768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7" name="object 89">
            <a:extLst>
              <a:ext uri="{FF2B5EF4-FFF2-40B4-BE49-F238E27FC236}">
                <a16:creationId xmlns:a16="http://schemas.microsoft.com/office/drawing/2014/main" id="{85015F1F-4CBF-E937-BB77-3F35327710F7}"/>
              </a:ext>
            </a:extLst>
          </p:cNvPr>
          <p:cNvSpPr/>
          <p:nvPr/>
        </p:nvSpPr>
        <p:spPr>
          <a:xfrm>
            <a:off x="127031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8" name="object 90">
            <a:extLst>
              <a:ext uri="{FF2B5EF4-FFF2-40B4-BE49-F238E27FC236}">
                <a16:creationId xmlns:a16="http://schemas.microsoft.com/office/drawing/2014/main" id="{B400CD60-5546-D770-F839-E56CB8C3F342}"/>
              </a:ext>
            </a:extLst>
          </p:cNvPr>
          <p:cNvSpPr/>
          <p:nvPr/>
        </p:nvSpPr>
        <p:spPr>
          <a:xfrm>
            <a:off x="133889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9" name="object 91">
            <a:extLst>
              <a:ext uri="{FF2B5EF4-FFF2-40B4-BE49-F238E27FC236}">
                <a16:creationId xmlns:a16="http://schemas.microsoft.com/office/drawing/2014/main" id="{F5C0D56B-219C-83A8-98D9-CEF8C3C42887}"/>
              </a:ext>
            </a:extLst>
          </p:cNvPr>
          <p:cNvSpPr/>
          <p:nvPr/>
        </p:nvSpPr>
        <p:spPr>
          <a:xfrm>
            <a:off x="1407472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0" name="object 92">
            <a:extLst>
              <a:ext uri="{FF2B5EF4-FFF2-40B4-BE49-F238E27FC236}">
                <a16:creationId xmlns:a16="http://schemas.microsoft.com/office/drawing/2014/main" id="{0344968C-E154-12E5-EDFE-247759C72369}"/>
              </a:ext>
            </a:extLst>
          </p:cNvPr>
          <p:cNvSpPr/>
          <p:nvPr/>
        </p:nvSpPr>
        <p:spPr>
          <a:xfrm>
            <a:off x="1476052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1" name="object 93">
            <a:extLst>
              <a:ext uri="{FF2B5EF4-FFF2-40B4-BE49-F238E27FC236}">
                <a16:creationId xmlns:a16="http://schemas.microsoft.com/office/drawing/2014/main" id="{74171201-3DBB-C4D6-1B7D-4F6B125FDBD7}"/>
              </a:ext>
            </a:extLst>
          </p:cNvPr>
          <p:cNvSpPr/>
          <p:nvPr/>
        </p:nvSpPr>
        <p:spPr>
          <a:xfrm>
            <a:off x="154463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2" name="object 94">
            <a:extLst>
              <a:ext uri="{FF2B5EF4-FFF2-40B4-BE49-F238E27FC236}">
                <a16:creationId xmlns:a16="http://schemas.microsoft.com/office/drawing/2014/main" id="{0D05D510-9B2B-5ECF-9F69-274D9DD8B11F}"/>
              </a:ext>
            </a:extLst>
          </p:cNvPr>
          <p:cNvSpPr/>
          <p:nvPr/>
        </p:nvSpPr>
        <p:spPr>
          <a:xfrm>
            <a:off x="2093272" y="5157324"/>
            <a:ext cx="487680" cy="605790"/>
          </a:xfrm>
          <a:custGeom>
            <a:avLst/>
            <a:gdLst/>
            <a:ahLst/>
            <a:cxnLst/>
            <a:rect l="l" t="t" r="r" b="b"/>
            <a:pathLst>
              <a:path w="487680" h="605789">
                <a:moveTo>
                  <a:pt x="487680" y="0"/>
                </a:moveTo>
                <a:lnTo>
                  <a:pt x="0" y="0"/>
                </a:lnTo>
                <a:lnTo>
                  <a:pt x="0" y="605789"/>
                </a:lnTo>
                <a:lnTo>
                  <a:pt x="487680" y="605789"/>
                </a:lnTo>
                <a:lnTo>
                  <a:pt x="48768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3" name="object 96">
            <a:extLst>
              <a:ext uri="{FF2B5EF4-FFF2-40B4-BE49-F238E27FC236}">
                <a16:creationId xmlns:a16="http://schemas.microsoft.com/office/drawing/2014/main" id="{C8844D1C-DFF6-0523-BE17-66136B16218C}"/>
              </a:ext>
            </a:extLst>
          </p:cNvPr>
          <p:cNvSpPr/>
          <p:nvPr/>
        </p:nvSpPr>
        <p:spPr>
          <a:xfrm>
            <a:off x="213899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4" name="object 97">
            <a:extLst>
              <a:ext uri="{FF2B5EF4-FFF2-40B4-BE49-F238E27FC236}">
                <a16:creationId xmlns:a16="http://schemas.microsoft.com/office/drawing/2014/main" id="{FFF1A74D-92CD-07DB-4A7C-98DD28D61A3C}"/>
              </a:ext>
            </a:extLst>
          </p:cNvPr>
          <p:cNvSpPr/>
          <p:nvPr/>
        </p:nvSpPr>
        <p:spPr>
          <a:xfrm>
            <a:off x="2207572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5" name="object 98">
            <a:extLst>
              <a:ext uri="{FF2B5EF4-FFF2-40B4-BE49-F238E27FC236}">
                <a16:creationId xmlns:a16="http://schemas.microsoft.com/office/drawing/2014/main" id="{D5EB0345-D8E6-D1E7-1A2B-301456A7D404}"/>
              </a:ext>
            </a:extLst>
          </p:cNvPr>
          <p:cNvSpPr/>
          <p:nvPr/>
        </p:nvSpPr>
        <p:spPr>
          <a:xfrm>
            <a:off x="227615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6" name="object 99">
            <a:extLst>
              <a:ext uri="{FF2B5EF4-FFF2-40B4-BE49-F238E27FC236}">
                <a16:creationId xmlns:a16="http://schemas.microsoft.com/office/drawing/2014/main" id="{1010691D-9530-6441-492E-154E22674267}"/>
              </a:ext>
            </a:extLst>
          </p:cNvPr>
          <p:cNvSpPr/>
          <p:nvPr/>
        </p:nvSpPr>
        <p:spPr>
          <a:xfrm>
            <a:off x="2344733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7" name="object 100">
            <a:extLst>
              <a:ext uri="{FF2B5EF4-FFF2-40B4-BE49-F238E27FC236}">
                <a16:creationId xmlns:a16="http://schemas.microsoft.com/office/drawing/2014/main" id="{31778081-7E8C-EB6F-FC35-6D7B4AB2CB5B}"/>
              </a:ext>
            </a:extLst>
          </p:cNvPr>
          <p:cNvSpPr/>
          <p:nvPr/>
        </p:nvSpPr>
        <p:spPr>
          <a:xfrm>
            <a:off x="2413312" y="5214474"/>
            <a:ext cx="114300" cy="481965"/>
          </a:xfrm>
          <a:custGeom>
            <a:avLst/>
            <a:gdLst/>
            <a:ahLst/>
            <a:cxnLst/>
            <a:rect l="l" t="t" r="r" b="b"/>
            <a:pathLst>
              <a:path w="114300" h="481964">
                <a:moveTo>
                  <a:pt x="7374" y="0"/>
                </a:moveTo>
                <a:lnTo>
                  <a:pt x="47059" y="36931"/>
                </a:lnTo>
                <a:lnTo>
                  <a:pt x="81561" y="73984"/>
                </a:lnTo>
                <a:lnTo>
                  <a:pt x="105696" y="111287"/>
                </a:lnTo>
                <a:lnTo>
                  <a:pt x="114278" y="148971"/>
                </a:lnTo>
                <a:lnTo>
                  <a:pt x="101921" y="179101"/>
                </a:lnTo>
                <a:lnTo>
                  <a:pt x="73521" y="209148"/>
                </a:lnTo>
                <a:lnTo>
                  <a:pt x="39871" y="239557"/>
                </a:lnTo>
                <a:lnTo>
                  <a:pt x="11766" y="270775"/>
                </a:lnTo>
                <a:lnTo>
                  <a:pt x="0" y="303248"/>
                </a:lnTo>
                <a:lnTo>
                  <a:pt x="9820" y="345819"/>
                </a:lnTo>
                <a:lnTo>
                  <a:pt x="35712" y="390045"/>
                </a:lnTo>
                <a:lnTo>
                  <a:pt x="72316" y="435432"/>
                </a:lnTo>
                <a:lnTo>
                  <a:pt x="114278" y="48148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8" name="object 101">
            <a:extLst>
              <a:ext uri="{FF2B5EF4-FFF2-40B4-BE49-F238E27FC236}">
                <a16:creationId xmlns:a16="http://schemas.microsoft.com/office/drawing/2014/main" id="{13CA60D6-809B-8804-FA9C-77C7A7C08CE0}"/>
              </a:ext>
            </a:extLst>
          </p:cNvPr>
          <p:cNvSpPr txBox="1"/>
          <p:nvPr/>
        </p:nvSpPr>
        <p:spPr>
          <a:xfrm>
            <a:off x="690558" y="5221460"/>
            <a:ext cx="2118360" cy="461024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377190" algn="ctr">
              <a:lnSpc>
                <a:spcPct val="100000"/>
              </a:lnSpc>
              <a:spcBef>
                <a:spcPts val="1435"/>
              </a:spcBef>
            </a:pP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...</a:t>
            </a:r>
            <a:endParaRPr sz="180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79" name="object 102">
            <a:extLst>
              <a:ext uri="{FF2B5EF4-FFF2-40B4-BE49-F238E27FC236}">
                <a16:creationId xmlns:a16="http://schemas.microsoft.com/office/drawing/2014/main" id="{3975C87E-9247-5722-369F-69BFAF244BE9}"/>
              </a:ext>
            </a:extLst>
          </p:cNvPr>
          <p:cNvSpPr txBox="1"/>
          <p:nvPr/>
        </p:nvSpPr>
        <p:spPr>
          <a:xfrm>
            <a:off x="1327987" y="5821536"/>
            <a:ext cx="529441" cy="2634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id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0" name="object 103">
            <a:extLst>
              <a:ext uri="{FF2B5EF4-FFF2-40B4-BE49-F238E27FC236}">
                <a16:creationId xmlns:a16="http://schemas.microsoft.com/office/drawing/2014/main" id="{2FABE228-CE96-4325-D029-6661B10275A2}"/>
              </a:ext>
            </a:extLst>
          </p:cNvPr>
          <p:cNvSpPr txBox="1"/>
          <p:nvPr/>
        </p:nvSpPr>
        <p:spPr>
          <a:xfrm>
            <a:off x="3949242" y="5891460"/>
            <a:ext cx="97726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ev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</a:p>
        </p:txBody>
      </p:sp>
      <p:sp>
        <p:nvSpPr>
          <p:cNvPr id="81" name="object 30">
            <a:extLst>
              <a:ext uri="{FF2B5EF4-FFF2-40B4-BE49-F238E27FC236}">
                <a16:creationId xmlns:a16="http://schemas.microsoft.com/office/drawing/2014/main" id="{3F001F7F-6646-6535-5EBE-95659F4C17D7}"/>
              </a:ext>
            </a:extLst>
          </p:cNvPr>
          <p:cNvSpPr txBox="1"/>
          <p:nvPr/>
        </p:nvSpPr>
        <p:spPr>
          <a:xfrm>
            <a:off x="3047378" y="2348322"/>
            <a:ext cx="257921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100"/>
              </a:spcBef>
            </a:pPr>
            <a:r>
              <a:rPr lang="en-US" altLang="zh-CN" sz="16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Lane of SIMD processor</a:t>
            </a:r>
            <a:endParaRPr sz="16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2" name="object 30">
            <a:extLst>
              <a:ext uri="{FF2B5EF4-FFF2-40B4-BE49-F238E27FC236}">
                <a16:creationId xmlns:a16="http://schemas.microsoft.com/office/drawing/2014/main" id="{5E372A77-EB10-28B6-A439-ECC2D4E96CCC}"/>
              </a:ext>
            </a:extLst>
          </p:cNvPr>
          <p:cNvSpPr txBox="1"/>
          <p:nvPr/>
        </p:nvSpPr>
        <p:spPr>
          <a:xfrm>
            <a:off x="3413063" y="4461843"/>
            <a:ext cx="178196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100"/>
              </a:spcBef>
            </a:pPr>
            <a:r>
              <a:rPr lang="en-US" altLang="zh-CN" sz="16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SIMD processor</a:t>
            </a:r>
            <a:endParaRPr sz="16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3" name="object 11">
            <a:extLst>
              <a:ext uri="{FF2B5EF4-FFF2-40B4-BE49-F238E27FC236}">
                <a16:creationId xmlns:a16="http://schemas.microsoft.com/office/drawing/2014/main" id="{983063F8-DFE9-E692-8660-7C4E4E7832A2}"/>
              </a:ext>
            </a:extLst>
          </p:cNvPr>
          <p:cNvSpPr/>
          <p:nvPr/>
        </p:nvSpPr>
        <p:spPr>
          <a:xfrm>
            <a:off x="2100893" y="3255906"/>
            <a:ext cx="428743" cy="339910"/>
          </a:xfrm>
          <a:custGeom>
            <a:avLst/>
            <a:gdLst/>
            <a:ahLst/>
            <a:cxnLst/>
            <a:rect l="l" t="t" r="r" b="b"/>
            <a:pathLst>
              <a:path w="1036319" h="777239">
                <a:moveTo>
                  <a:pt x="1036319" y="0"/>
                </a:moveTo>
                <a:lnTo>
                  <a:pt x="0" y="0"/>
                </a:lnTo>
                <a:lnTo>
                  <a:pt x="0" y="777239"/>
                </a:lnTo>
                <a:lnTo>
                  <a:pt x="1036319" y="777239"/>
                </a:lnTo>
                <a:lnTo>
                  <a:pt x="103631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4" name="object 13">
            <a:extLst>
              <a:ext uri="{FF2B5EF4-FFF2-40B4-BE49-F238E27FC236}">
                <a16:creationId xmlns:a16="http://schemas.microsoft.com/office/drawing/2014/main" id="{56C9FF2C-391F-9533-2420-C4CEA054DB87}"/>
              </a:ext>
            </a:extLst>
          </p:cNvPr>
          <p:cNvSpPr/>
          <p:nvPr/>
        </p:nvSpPr>
        <p:spPr>
          <a:xfrm>
            <a:off x="2121849" y="3289941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5" name="object 14">
            <a:extLst>
              <a:ext uri="{FF2B5EF4-FFF2-40B4-BE49-F238E27FC236}">
                <a16:creationId xmlns:a16="http://schemas.microsoft.com/office/drawing/2014/main" id="{2042A043-A560-A7DD-93C2-FC07CF36C360}"/>
              </a:ext>
            </a:extLst>
          </p:cNvPr>
          <p:cNvSpPr/>
          <p:nvPr/>
        </p:nvSpPr>
        <p:spPr>
          <a:xfrm>
            <a:off x="2222812" y="3289941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6" name="object 15">
            <a:extLst>
              <a:ext uri="{FF2B5EF4-FFF2-40B4-BE49-F238E27FC236}">
                <a16:creationId xmlns:a16="http://schemas.microsoft.com/office/drawing/2014/main" id="{AFB76933-A796-9535-23A3-C18FCCDBA280}"/>
              </a:ext>
            </a:extLst>
          </p:cNvPr>
          <p:cNvSpPr/>
          <p:nvPr/>
        </p:nvSpPr>
        <p:spPr>
          <a:xfrm>
            <a:off x="2325683" y="3289941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7" name="object 16">
            <a:extLst>
              <a:ext uri="{FF2B5EF4-FFF2-40B4-BE49-F238E27FC236}">
                <a16:creationId xmlns:a16="http://schemas.microsoft.com/office/drawing/2014/main" id="{E20237DC-7FBC-0C5E-5696-4C42CC41E4AD}"/>
              </a:ext>
            </a:extLst>
          </p:cNvPr>
          <p:cNvSpPr/>
          <p:nvPr/>
        </p:nvSpPr>
        <p:spPr>
          <a:xfrm>
            <a:off x="2426648" y="3289941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8" name="object 11">
            <a:extLst>
              <a:ext uri="{FF2B5EF4-FFF2-40B4-BE49-F238E27FC236}">
                <a16:creationId xmlns:a16="http://schemas.microsoft.com/office/drawing/2014/main" id="{8A0FD151-C193-2179-B26D-64EE50F6F4F3}"/>
              </a:ext>
            </a:extLst>
          </p:cNvPr>
          <p:cNvSpPr/>
          <p:nvPr/>
        </p:nvSpPr>
        <p:spPr>
          <a:xfrm>
            <a:off x="2100893" y="3636906"/>
            <a:ext cx="428743" cy="339910"/>
          </a:xfrm>
          <a:custGeom>
            <a:avLst/>
            <a:gdLst/>
            <a:ahLst/>
            <a:cxnLst/>
            <a:rect l="l" t="t" r="r" b="b"/>
            <a:pathLst>
              <a:path w="1036319" h="777239">
                <a:moveTo>
                  <a:pt x="1036319" y="0"/>
                </a:moveTo>
                <a:lnTo>
                  <a:pt x="0" y="0"/>
                </a:lnTo>
                <a:lnTo>
                  <a:pt x="0" y="777239"/>
                </a:lnTo>
                <a:lnTo>
                  <a:pt x="1036319" y="777239"/>
                </a:lnTo>
                <a:lnTo>
                  <a:pt x="103631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9" name="object 13">
            <a:extLst>
              <a:ext uri="{FF2B5EF4-FFF2-40B4-BE49-F238E27FC236}">
                <a16:creationId xmlns:a16="http://schemas.microsoft.com/office/drawing/2014/main" id="{C30871F0-AD21-6648-B3C7-A102F55E5085}"/>
              </a:ext>
            </a:extLst>
          </p:cNvPr>
          <p:cNvSpPr/>
          <p:nvPr/>
        </p:nvSpPr>
        <p:spPr>
          <a:xfrm>
            <a:off x="2121849" y="3670941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0" name="object 14">
            <a:extLst>
              <a:ext uri="{FF2B5EF4-FFF2-40B4-BE49-F238E27FC236}">
                <a16:creationId xmlns:a16="http://schemas.microsoft.com/office/drawing/2014/main" id="{D3A739F1-606D-97A5-4D2A-A83DF44A2840}"/>
              </a:ext>
            </a:extLst>
          </p:cNvPr>
          <p:cNvSpPr/>
          <p:nvPr/>
        </p:nvSpPr>
        <p:spPr>
          <a:xfrm>
            <a:off x="2222812" y="3670941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1" name="object 15">
            <a:extLst>
              <a:ext uri="{FF2B5EF4-FFF2-40B4-BE49-F238E27FC236}">
                <a16:creationId xmlns:a16="http://schemas.microsoft.com/office/drawing/2014/main" id="{C7E35F10-0D4A-14D9-EFF2-4C694E66E073}"/>
              </a:ext>
            </a:extLst>
          </p:cNvPr>
          <p:cNvSpPr/>
          <p:nvPr/>
        </p:nvSpPr>
        <p:spPr>
          <a:xfrm>
            <a:off x="2325683" y="3670941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2" name="object 16">
            <a:extLst>
              <a:ext uri="{FF2B5EF4-FFF2-40B4-BE49-F238E27FC236}">
                <a16:creationId xmlns:a16="http://schemas.microsoft.com/office/drawing/2014/main" id="{8F732005-3716-5BD9-531A-9FB3C6D7AE29}"/>
              </a:ext>
            </a:extLst>
          </p:cNvPr>
          <p:cNvSpPr/>
          <p:nvPr/>
        </p:nvSpPr>
        <p:spPr>
          <a:xfrm>
            <a:off x="2426648" y="3670941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3" name="object 11">
            <a:extLst>
              <a:ext uri="{FF2B5EF4-FFF2-40B4-BE49-F238E27FC236}">
                <a16:creationId xmlns:a16="http://schemas.microsoft.com/office/drawing/2014/main" id="{1EC87145-3D51-C11D-751D-EC14FD7ECF8B}"/>
              </a:ext>
            </a:extLst>
          </p:cNvPr>
          <p:cNvSpPr/>
          <p:nvPr/>
        </p:nvSpPr>
        <p:spPr>
          <a:xfrm>
            <a:off x="2094101" y="2849543"/>
            <a:ext cx="428743" cy="339910"/>
          </a:xfrm>
          <a:custGeom>
            <a:avLst/>
            <a:gdLst/>
            <a:ahLst/>
            <a:cxnLst/>
            <a:rect l="l" t="t" r="r" b="b"/>
            <a:pathLst>
              <a:path w="1036319" h="777239">
                <a:moveTo>
                  <a:pt x="1036319" y="0"/>
                </a:moveTo>
                <a:lnTo>
                  <a:pt x="0" y="0"/>
                </a:lnTo>
                <a:lnTo>
                  <a:pt x="0" y="777239"/>
                </a:lnTo>
                <a:lnTo>
                  <a:pt x="1036319" y="777239"/>
                </a:lnTo>
                <a:lnTo>
                  <a:pt x="103631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4" name="object 13">
            <a:extLst>
              <a:ext uri="{FF2B5EF4-FFF2-40B4-BE49-F238E27FC236}">
                <a16:creationId xmlns:a16="http://schemas.microsoft.com/office/drawing/2014/main" id="{6E2CF953-25E0-D594-DC4D-3667951E8213}"/>
              </a:ext>
            </a:extLst>
          </p:cNvPr>
          <p:cNvSpPr/>
          <p:nvPr/>
        </p:nvSpPr>
        <p:spPr>
          <a:xfrm>
            <a:off x="2115057" y="2883578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5" name="object 14">
            <a:extLst>
              <a:ext uri="{FF2B5EF4-FFF2-40B4-BE49-F238E27FC236}">
                <a16:creationId xmlns:a16="http://schemas.microsoft.com/office/drawing/2014/main" id="{035B12FB-46A0-7415-2023-1C3E2D216E63}"/>
              </a:ext>
            </a:extLst>
          </p:cNvPr>
          <p:cNvSpPr/>
          <p:nvPr/>
        </p:nvSpPr>
        <p:spPr>
          <a:xfrm>
            <a:off x="2216020" y="2883578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6" name="object 15">
            <a:extLst>
              <a:ext uri="{FF2B5EF4-FFF2-40B4-BE49-F238E27FC236}">
                <a16:creationId xmlns:a16="http://schemas.microsoft.com/office/drawing/2014/main" id="{A5D9865E-1C4B-5D06-9F17-35D98C6D0DCB}"/>
              </a:ext>
            </a:extLst>
          </p:cNvPr>
          <p:cNvSpPr/>
          <p:nvPr/>
        </p:nvSpPr>
        <p:spPr>
          <a:xfrm>
            <a:off x="2318891" y="2883578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7" name="object 16">
            <a:extLst>
              <a:ext uri="{FF2B5EF4-FFF2-40B4-BE49-F238E27FC236}">
                <a16:creationId xmlns:a16="http://schemas.microsoft.com/office/drawing/2014/main" id="{8B425D4E-9B8D-BB0B-007B-AA0F5BDB4852}"/>
              </a:ext>
            </a:extLst>
          </p:cNvPr>
          <p:cNvSpPr/>
          <p:nvPr/>
        </p:nvSpPr>
        <p:spPr>
          <a:xfrm>
            <a:off x="2419856" y="2883578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8" name="object 11">
            <a:extLst>
              <a:ext uri="{FF2B5EF4-FFF2-40B4-BE49-F238E27FC236}">
                <a16:creationId xmlns:a16="http://schemas.microsoft.com/office/drawing/2014/main" id="{105F2EE4-A0DC-48A8-5461-45FBA2405BA5}"/>
              </a:ext>
            </a:extLst>
          </p:cNvPr>
          <p:cNvSpPr/>
          <p:nvPr/>
        </p:nvSpPr>
        <p:spPr>
          <a:xfrm>
            <a:off x="2100893" y="4044116"/>
            <a:ext cx="428743" cy="339910"/>
          </a:xfrm>
          <a:custGeom>
            <a:avLst/>
            <a:gdLst/>
            <a:ahLst/>
            <a:cxnLst/>
            <a:rect l="l" t="t" r="r" b="b"/>
            <a:pathLst>
              <a:path w="1036319" h="777239">
                <a:moveTo>
                  <a:pt x="1036319" y="0"/>
                </a:moveTo>
                <a:lnTo>
                  <a:pt x="0" y="0"/>
                </a:lnTo>
                <a:lnTo>
                  <a:pt x="0" y="777239"/>
                </a:lnTo>
                <a:lnTo>
                  <a:pt x="1036319" y="777239"/>
                </a:lnTo>
                <a:lnTo>
                  <a:pt x="103631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9" name="object 13">
            <a:extLst>
              <a:ext uri="{FF2B5EF4-FFF2-40B4-BE49-F238E27FC236}">
                <a16:creationId xmlns:a16="http://schemas.microsoft.com/office/drawing/2014/main" id="{F59C5B59-8F89-73E2-71EE-D60D6983F3B7}"/>
              </a:ext>
            </a:extLst>
          </p:cNvPr>
          <p:cNvSpPr/>
          <p:nvPr/>
        </p:nvSpPr>
        <p:spPr>
          <a:xfrm>
            <a:off x="2121849" y="4078151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0" name="object 14">
            <a:extLst>
              <a:ext uri="{FF2B5EF4-FFF2-40B4-BE49-F238E27FC236}">
                <a16:creationId xmlns:a16="http://schemas.microsoft.com/office/drawing/2014/main" id="{3347EA12-F3EB-E118-9C0A-B42F43D4D87E}"/>
              </a:ext>
            </a:extLst>
          </p:cNvPr>
          <p:cNvSpPr/>
          <p:nvPr/>
        </p:nvSpPr>
        <p:spPr>
          <a:xfrm>
            <a:off x="2222812" y="4078151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1" name="object 15">
            <a:extLst>
              <a:ext uri="{FF2B5EF4-FFF2-40B4-BE49-F238E27FC236}">
                <a16:creationId xmlns:a16="http://schemas.microsoft.com/office/drawing/2014/main" id="{06BDC938-0B65-95DB-89FD-08D854D932CE}"/>
              </a:ext>
            </a:extLst>
          </p:cNvPr>
          <p:cNvSpPr/>
          <p:nvPr/>
        </p:nvSpPr>
        <p:spPr>
          <a:xfrm>
            <a:off x="2325683" y="4078151"/>
            <a:ext cx="70144" cy="269929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2" name="object 16">
            <a:extLst>
              <a:ext uri="{FF2B5EF4-FFF2-40B4-BE49-F238E27FC236}">
                <a16:creationId xmlns:a16="http://schemas.microsoft.com/office/drawing/2014/main" id="{19B26EDD-73B5-6835-0EC6-A5BA22567287}"/>
              </a:ext>
            </a:extLst>
          </p:cNvPr>
          <p:cNvSpPr/>
          <p:nvPr/>
        </p:nvSpPr>
        <p:spPr>
          <a:xfrm>
            <a:off x="2426648" y="4078151"/>
            <a:ext cx="70932" cy="269929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3" name="object 29">
            <a:extLst>
              <a:ext uri="{FF2B5EF4-FFF2-40B4-BE49-F238E27FC236}">
                <a16:creationId xmlns:a16="http://schemas.microsoft.com/office/drawing/2014/main" id="{488B21EB-C293-7B06-47C8-BC528F9396E0}"/>
              </a:ext>
            </a:extLst>
          </p:cNvPr>
          <p:cNvSpPr txBox="1"/>
          <p:nvPr/>
        </p:nvSpPr>
        <p:spPr>
          <a:xfrm>
            <a:off x="1616593" y="4418088"/>
            <a:ext cx="1321813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Warp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SIMD thread</a:t>
            </a:r>
            <a:endParaRPr sz="16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0DEE8F39-6729-8518-21B7-C359DD69CB79}"/>
              </a:ext>
            </a:extLst>
          </p:cNvPr>
          <p:cNvCxnSpPr/>
          <p:nvPr/>
        </p:nvCxnSpPr>
        <p:spPr>
          <a:xfrm flipV="1">
            <a:off x="1841812" y="2872177"/>
            <a:ext cx="206754" cy="37327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F88ED30E-5CB4-56A9-E832-4ACA329B8C0F}"/>
              </a:ext>
            </a:extLst>
          </p:cNvPr>
          <p:cNvCxnSpPr/>
          <p:nvPr/>
        </p:nvCxnSpPr>
        <p:spPr>
          <a:xfrm>
            <a:off x="1823720" y="4042205"/>
            <a:ext cx="275240" cy="33991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灯片编号占位符 105">
            <a:extLst>
              <a:ext uri="{FF2B5EF4-FFF2-40B4-BE49-F238E27FC236}">
                <a16:creationId xmlns:a16="http://schemas.microsoft.com/office/drawing/2014/main" id="{30D6822D-C1F3-A1BA-2ADB-827F4F0A6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3046639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1D2E4-5BDE-1516-E2D5-78721E68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F94B3E3-15FD-F169-CAF8-8D2128D04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spc="-5" dirty="0"/>
              <a:t>W</a:t>
            </a:r>
            <a:r>
              <a:rPr lang="en-US" altLang="zh-CN" sz="3600" b="1" dirty="0"/>
              <a:t>A</a:t>
            </a:r>
            <a:r>
              <a:rPr lang="en-US" altLang="zh-CN" sz="3600" b="1" spc="5" dirty="0"/>
              <a:t>R</a:t>
            </a:r>
            <a:r>
              <a:rPr lang="en-US" altLang="zh-CN" sz="3600" b="1" dirty="0"/>
              <a:t>PS </a:t>
            </a:r>
            <a:r>
              <a:rPr lang="zh-CN" altLang="en-US" sz="2000" b="1" dirty="0"/>
              <a:t>线程束</a:t>
            </a:r>
            <a:endParaRPr lang="en-US" sz="20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50787D-5827-9946-6145-0075F6706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520" y="1224186"/>
            <a:ext cx="12449472" cy="1224136"/>
          </a:xfrm>
        </p:spPr>
        <p:txBody>
          <a:bodyPr/>
          <a:lstStyle/>
          <a:p>
            <a:pPr marL="12700" marR="5080">
              <a:lnSpc>
                <a:spcPct val="101000"/>
              </a:lnSpc>
              <a:spcBef>
                <a:spcPts val="75"/>
              </a:spcBef>
            </a:pP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altLang="zh-CN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thread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block </a:t>
            </a:r>
            <a:r>
              <a:rPr lang="en-US" altLang="zh-CN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consists</a:t>
            </a:r>
            <a:r>
              <a:rPr lang="en-US" altLang="zh-CN" sz="3200" spc="-1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of 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thread</a:t>
            </a:r>
            <a:r>
              <a:rPr lang="en-US" altLang="zh-CN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warps</a:t>
            </a:r>
          </a:p>
          <a:p>
            <a:pPr marL="12700" marR="5080">
              <a:lnSpc>
                <a:spcPct val="101000"/>
              </a:lnSpc>
              <a:spcBef>
                <a:spcPts val="75"/>
              </a:spcBef>
            </a:pP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A warp is </a:t>
            </a:r>
            <a:r>
              <a:rPr lang="en-US" altLang="zh-CN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executed 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physically in parallel  </a:t>
            </a:r>
            <a:r>
              <a:rPr lang="en-US" altLang="zh-CN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(SIMD) </a:t>
            </a:r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on a</a:t>
            </a:r>
            <a:r>
              <a:rPr lang="en-US" altLang="zh-CN" sz="32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multiprocessor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5080">
              <a:lnSpc>
                <a:spcPct val="101000"/>
              </a:lnSpc>
              <a:spcBef>
                <a:spcPts val="75"/>
              </a:spcBef>
            </a:pP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FD20CD11-B3AD-DB74-7DDE-134342B68111}"/>
              </a:ext>
            </a:extLst>
          </p:cNvPr>
          <p:cNvSpPr/>
          <p:nvPr/>
        </p:nvSpPr>
        <p:spPr>
          <a:xfrm>
            <a:off x="8058930" y="3352987"/>
            <a:ext cx="609600" cy="1085850"/>
          </a:xfrm>
          <a:custGeom>
            <a:avLst/>
            <a:gdLst/>
            <a:ahLst/>
            <a:cxnLst/>
            <a:rect l="l" t="t" r="r" b="b"/>
            <a:pathLst>
              <a:path w="609600" h="1085850">
                <a:moveTo>
                  <a:pt x="609600" y="0"/>
                </a:moveTo>
                <a:lnTo>
                  <a:pt x="0" y="0"/>
                </a:lnTo>
                <a:lnTo>
                  <a:pt x="0" y="1085850"/>
                </a:lnTo>
                <a:lnTo>
                  <a:pt x="609600" y="1085850"/>
                </a:lnTo>
                <a:lnTo>
                  <a:pt x="60960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27F6A140-927F-7884-3DA0-10F5BB087AE7}"/>
              </a:ext>
            </a:extLst>
          </p:cNvPr>
          <p:cNvSpPr/>
          <p:nvPr/>
        </p:nvSpPr>
        <p:spPr>
          <a:xfrm>
            <a:off x="8053849" y="3371963"/>
            <a:ext cx="609600" cy="1085850"/>
          </a:xfrm>
          <a:custGeom>
            <a:avLst/>
            <a:gdLst/>
            <a:ahLst/>
            <a:cxnLst/>
            <a:rect l="l" t="t" r="r" b="b"/>
            <a:pathLst>
              <a:path w="609600" h="1085850">
                <a:moveTo>
                  <a:pt x="0" y="0"/>
                </a:moveTo>
                <a:lnTo>
                  <a:pt x="609600" y="0"/>
                </a:lnTo>
                <a:lnTo>
                  <a:pt x="60960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AA890080-C33A-B148-8EFA-D56AC91E2CD9}"/>
              </a:ext>
            </a:extLst>
          </p:cNvPr>
          <p:cNvSpPr/>
          <p:nvPr/>
        </p:nvSpPr>
        <p:spPr>
          <a:xfrm>
            <a:off x="8128780" y="3389501"/>
            <a:ext cx="205105" cy="4984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AC0B3B9F-EB6C-AFE5-E8AD-32E0E1D49EB2}"/>
              </a:ext>
            </a:extLst>
          </p:cNvPr>
          <p:cNvSpPr/>
          <p:nvPr/>
        </p:nvSpPr>
        <p:spPr>
          <a:xfrm>
            <a:off x="8376430" y="3389501"/>
            <a:ext cx="207010" cy="4984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2321C835-F049-1A85-FAFD-86E6090C15A2}"/>
              </a:ext>
            </a:extLst>
          </p:cNvPr>
          <p:cNvSpPr/>
          <p:nvPr/>
        </p:nvSpPr>
        <p:spPr>
          <a:xfrm>
            <a:off x="8135130" y="3913527"/>
            <a:ext cx="441959" cy="100330"/>
          </a:xfrm>
          <a:custGeom>
            <a:avLst/>
            <a:gdLst/>
            <a:ahLst/>
            <a:cxnLst/>
            <a:rect l="l" t="t" r="r" b="b"/>
            <a:pathLst>
              <a:path w="441960" h="100329">
                <a:moveTo>
                  <a:pt x="441960" y="0"/>
                </a:moveTo>
                <a:lnTo>
                  <a:pt x="0" y="0"/>
                </a:lnTo>
                <a:lnTo>
                  <a:pt x="0" y="100012"/>
                </a:lnTo>
                <a:lnTo>
                  <a:pt x="441960" y="100012"/>
                </a:lnTo>
                <a:lnTo>
                  <a:pt x="441960" y="0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93A02B08-BC33-1545-316E-0AACDA6147ED}"/>
              </a:ext>
            </a:extLst>
          </p:cNvPr>
          <p:cNvSpPr/>
          <p:nvPr/>
        </p:nvSpPr>
        <p:spPr>
          <a:xfrm>
            <a:off x="8130049" y="3911488"/>
            <a:ext cx="441959" cy="100330"/>
          </a:xfrm>
          <a:custGeom>
            <a:avLst/>
            <a:gdLst/>
            <a:ahLst/>
            <a:cxnLst/>
            <a:rect l="l" t="t" r="r" b="b"/>
            <a:pathLst>
              <a:path w="441960" h="100329">
                <a:moveTo>
                  <a:pt x="0" y="0"/>
                </a:moveTo>
                <a:lnTo>
                  <a:pt x="441960" y="0"/>
                </a:lnTo>
                <a:lnTo>
                  <a:pt x="441960" y="100013"/>
                </a:lnTo>
                <a:lnTo>
                  <a:pt x="0" y="10001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EDDC7644-53BA-2A3A-8F1B-40123305B9F6}"/>
              </a:ext>
            </a:extLst>
          </p:cNvPr>
          <p:cNvSpPr/>
          <p:nvPr/>
        </p:nvSpPr>
        <p:spPr>
          <a:xfrm>
            <a:off x="8140845" y="4103082"/>
            <a:ext cx="443865" cy="271780"/>
          </a:xfrm>
          <a:custGeom>
            <a:avLst/>
            <a:gdLst/>
            <a:ahLst/>
            <a:cxnLst/>
            <a:rect l="l" t="t" r="r" b="b"/>
            <a:pathLst>
              <a:path w="443864" h="271779">
                <a:moveTo>
                  <a:pt x="443864" y="0"/>
                </a:moveTo>
                <a:lnTo>
                  <a:pt x="0" y="0"/>
                </a:lnTo>
                <a:lnTo>
                  <a:pt x="0" y="271462"/>
                </a:lnTo>
                <a:lnTo>
                  <a:pt x="443864" y="271462"/>
                </a:lnTo>
                <a:lnTo>
                  <a:pt x="443864" y="0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0F16A23A-C4FA-9A14-7D66-2050DDCCE6FE}"/>
              </a:ext>
            </a:extLst>
          </p:cNvPr>
          <p:cNvSpPr/>
          <p:nvPr/>
        </p:nvSpPr>
        <p:spPr>
          <a:xfrm>
            <a:off x="8135764" y="4075794"/>
            <a:ext cx="443865" cy="271780"/>
          </a:xfrm>
          <a:custGeom>
            <a:avLst/>
            <a:gdLst/>
            <a:ahLst/>
            <a:cxnLst/>
            <a:rect l="l" t="t" r="r" b="b"/>
            <a:pathLst>
              <a:path w="443864" h="271779">
                <a:moveTo>
                  <a:pt x="443865" y="0"/>
                </a:moveTo>
                <a:lnTo>
                  <a:pt x="443865" y="271463"/>
                </a:lnTo>
                <a:lnTo>
                  <a:pt x="0" y="271463"/>
                </a:lnTo>
                <a:lnTo>
                  <a:pt x="0" y="0"/>
                </a:lnTo>
                <a:lnTo>
                  <a:pt x="44386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A3462B94-4505-7CCD-B3FF-061D38F1D078}"/>
              </a:ext>
            </a:extLst>
          </p:cNvPr>
          <p:cNvSpPr txBox="1"/>
          <p:nvPr/>
        </p:nvSpPr>
        <p:spPr>
          <a:xfrm>
            <a:off x="3463434" y="4323157"/>
            <a:ext cx="1042669" cy="51039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18745" marR="5080" indent="-106680" algn="ctr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hre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d 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Block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B885D2FD-4540-D4BF-061C-EB5ACDCF4369}"/>
              </a:ext>
            </a:extLst>
          </p:cNvPr>
          <p:cNvSpPr txBox="1"/>
          <p:nvPr/>
        </p:nvSpPr>
        <p:spPr>
          <a:xfrm>
            <a:off x="7525704" y="4529123"/>
            <a:ext cx="1616361" cy="1023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Streaming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Multiprocessor</a:t>
            </a:r>
            <a:endParaRPr lang="en-US" sz="1600" spc="-5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1600" spc="-5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SIMD Processor</a:t>
            </a:r>
            <a:endParaRPr sz="16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EFB02DA8-EE41-5107-F7A6-DD7373B84A97}"/>
              </a:ext>
            </a:extLst>
          </p:cNvPr>
          <p:cNvSpPr txBox="1"/>
          <p:nvPr/>
        </p:nvSpPr>
        <p:spPr>
          <a:xfrm>
            <a:off x="5168953" y="3117025"/>
            <a:ext cx="1524000" cy="471924"/>
          </a:xfrm>
          <a:prstGeom prst="rect">
            <a:avLst/>
          </a:prstGeom>
          <a:solidFill>
            <a:srgbClr val="FFCC66"/>
          </a:solidFill>
          <a:ln w="1270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320"/>
              </a:spcBef>
            </a:pPr>
            <a:r>
              <a:rPr sz="1400" spc="-5" dirty="0">
                <a:latin typeface="Comic Sans MS" panose="030F0702030302020204" pitchFamily="66" charset="0"/>
                <a:cs typeface="Arial" panose="020B0604020202020204"/>
              </a:rPr>
              <a:t>32</a:t>
            </a:r>
            <a:r>
              <a:rPr sz="14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zh-CN" altLang="en-US" sz="14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400" spc="-45" dirty="0">
                <a:latin typeface="Comic Sans MS" panose="030F0702030302020204" pitchFamily="66" charset="0"/>
                <a:cs typeface="Arial" panose="020B0604020202020204"/>
              </a:rPr>
              <a:t>CUDA</a:t>
            </a:r>
            <a:r>
              <a:rPr lang="zh-CN" altLang="en-US" sz="14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Arial" panose="020B0604020202020204"/>
              </a:rPr>
              <a:t>Threads</a:t>
            </a:r>
            <a:endParaRPr sz="14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28DF9BC6-27FC-6CC6-ED1A-CE26217CF71E}"/>
              </a:ext>
            </a:extLst>
          </p:cNvPr>
          <p:cNvSpPr txBox="1"/>
          <p:nvPr/>
        </p:nvSpPr>
        <p:spPr>
          <a:xfrm>
            <a:off x="5176664" y="3744466"/>
            <a:ext cx="1524000" cy="471924"/>
          </a:xfrm>
          <a:prstGeom prst="rect">
            <a:avLst/>
          </a:prstGeom>
          <a:solidFill>
            <a:srgbClr val="FFCC66"/>
          </a:solidFill>
          <a:ln w="1270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320"/>
              </a:spcBef>
            </a:pPr>
            <a:r>
              <a:rPr sz="1400" spc="-5" dirty="0">
                <a:latin typeface="Comic Sans MS" panose="030F0702030302020204" pitchFamily="66" charset="0"/>
                <a:cs typeface="Arial" panose="020B0604020202020204"/>
              </a:rPr>
              <a:t>32</a:t>
            </a:r>
            <a:r>
              <a:rPr sz="14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400" spc="-45" dirty="0">
                <a:latin typeface="Comic Sans MS" panose="030F0702030302020204" pitchFamily="66" charset="0"/>
                <a:cs typeface="Arial" panose="020B0604020202020204"/>
              </a:rPr>
              <a:t>CUDA</a:t>
            </a:r>
            <a:r>
              <a:rPr lang="zh-CN" altLang="en-US" sz="14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Arial" panose="020B0604020202020204"/>
              </a:rPr>
              <a:t>Threads</a:t>
            </a:r>
            <a:endParaRPr sz="14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905BB49C-2751-D00E-6B53-24615F510958}"/>
              </a:ext>
            </a:extLst>
          </p:cNvPr>
          <p:cNvSpPr txBox="1"/>
          <p:nvPr/>
        </p:nvSpPr>
        <p:spPr>
          <a:xfrm>
            <a:off x="5178091" y="4368036"/>
            <a:ext cx="1524000" cy="473848"/>
          </a:xfrm>
          <a:prstGeom prst="rect">
            <a:avLst/>
          </a:prstGeom>
          <a:solidFill>
            <a:srgbClr val="FFCC66"/>
          </a:solidFill>
          <a:ln w="1270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Comic Sans MS" panose="030F0702030302020204" pitchFamily="66" charset="0"/>
                <a:cs typeface="Arial" panose="020B0604020202020204"/>
              </a:rPr>
              <a:t>32</a:t>
            </a:r>
            <a:r>
              <a:rPr sz="14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400" spc="-45" dirty="0">
                <a:latin typeface="Comic Sans MS" panose="030F0702030302020204" pitchFamily="66" charset="0"/>
                <a:cs typeface="Arial" panose="020B0604020202020204"/>
              </a:rPr>
              <a:t>CUDA</a:t>
            </a:r>
            <a:r>
              <a:rPr lang="zh-CN" altLang="en-US" sz="14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Arial" panose="020B0604020202020204"/>
              </a:rPr>
              <a:t>Threads</a:t>
            </a:r>
            <a:endParaRPr sz="14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08AD9F5A-F403-0FD7-EBD9-9ACF44EFFBB8}"/>
              </a:ext>
            </a:extLst>
          </p:cNvPr>
          <p:cNvSpPr/>
          <p:nvPr/>
        </p:nvSpPr>
        <p:spPr>
          <a:xfrm>
            <a:off x="3469784" y="3470146"/>
            <a:ext cx="1036319" cy="777240"/>
          </a:xfrm>
          <a:custGeom>
            <a:avLst/>
            <a:gdLst/>
            <a:ahLst/>
            <a:cxnLst/>
            <a:rect l="l" t="t" r="r" b="b"/>
            <a:pathLst>
              <a:path w="1036319" h="777239">
                <a:moveTo>
                  <a:pt x="1036319" y="0"/>
                </a:moveTo>
                <a:lnTo>
                  <a:pt x="0" y="0"/>
                </a:lnTo>
                <a:lnTo>
                  <a:pt x="0" y="777239"/>
                </a:lnTo>
                <a:lnTo>
                  <a:pt x="1036319" y="777239"/>
                </a:lnTo>
                <a:lnTo>
                  <a:pt x="1036319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20">
            <a:extLst>
              <a:ext uri="{FF2B5EF4-FFF2-40B4-BE49-F238E27FC236}">
                <a16:creationId xmlns:a16="http://schemas.microsoft.com/office/drawing/2014/main" id="{E1DC6D53-0E18-219C-11D8-DF07B16FEB87}"/>
              </a:ext>
            </a:extLst>
          </p:cNvPr>
          <p:cNvSpPr/>
          <p:nvPr/>
        </p:nvSpPr>
        <p:spPr>
          <a:xfrm>
            <a:off x="3538364" y="3544441"/>
            <a:ext cx="169545" cy="617220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9" name="object 21">
            <a:extLst>
              <a:ext uri="{FF2B5EF4-FFF2-40B4-BE49-F238E27FC236}">
                <a16:creationId xmlns:a16="http://schemas.microsoft.com/office/drawing/2014/main" id="{E59F5C85-048C-4110-AAE9-4EAAAA987D67}"/>
              </a:ext>
            </a:extLst>
          </p:cNvPr>
          <p:cNvSpPr/>
          <p:nvPr/>
        </p:nvSpPr>
        <p:spPr>
          <a:xfrm>
            <a:off x="3639329" y="3544441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object 22">
            <a:extLst>
              <a:ext uri="{FF2B5EF4-FFF2-40B4-BE49-F238E27FC236}">
                <a16:creationId xmlns:a16="http://schemas.microsoft.com/office/drawing/2014/main" id="{89684329-6206-2FD1-645B-D00FB6371E53}"/>
              </a:ext>
            </a:extLst>
          </p:cNvPr>
          <p:cNvSpPr/>
          <p:nvPr/>
        </p:nvSpPr>
        <p:spPr>
          <a:xfrm>
            <a:off x="3742198" y="3544441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1" name="object 23">
            <a:extLst>
              <a:ext uri="{FF2B5EF4-FFF2-40B4-BE49-F238E27FC236}">
                <a16:creationId xmlns:a16="http://schemas.microsoft.com/office/drawing/2014/main" id="{742DBB72-9622-B8E2-CCE1-551F92DC7F45}"/>
              </a:ext>
            </a:extLst>
          </p:cNvPr>
          <p:cNvSpPr/>
          <p:nvPr/>
        </p:nvSpPr>
        <p:spPr>
          <a:xfrm>
            <a:off x="3845068" y="3544441"/>
            <a:ext cx="169545" cy="617220"/>
          </a:xfrm>
          <a:custGeom>
            <a:avLst/>
            <a:gdLst/>
            <a:ahLst/>
            <a:cxnLst/>
            <a:rect l="l" t="t" r="r" b="b"/>
            <a:pathLst>
              <a:path w="169544" h="617220">
                <a:moveTo>
                  <a:pt x="10938" y="0"/>
                </a:moveTo>
                <a:lnTo>
                  <a:pt x="58400" y="37866"/>
                </a:lnTo>
                <a:lnTo>
                  <a:pt x="101926" y="75811"/>
                </a:lnTo>
                <a:lnTo>
                  <a:pt x="137579" y="113920"/>
                </a:lnTo>
                <a:lnTo>
                  <a:pt x="161420" y="152276"/>
                </a:lnTo>
                <a:lnTo>
                  <a:pt x="169513" y="190966"/>
                </a:lnTo>
                <a:lnTo>
                  <a:pt x="156323" y="223175"/>
                </a:lnTo>
                <a:lnTo>
                  <a:pt x="124754" y="255244"/>
                </a:lnTo>
                <a:lnTo>
                  <a:pt x="84072" y="287503"/>
                </a:lnTo>
                <a:lnTo>
                  <a:pt x="43542" y="320284"/>
                </a:lnTo>
                <a:lnTo>
                  <a:pt x="12429" y="353917"/>
                </a:lnTo>
                <a:lnTo>
                  <a:pt x="0" y="388734"/>
                </a:lnTo>
                <a:lnTo>
                  <a:pt x="6670" y="424848"/>
                </a:lnTo>
                <a:lnTo>
                  <a:pt x="25113" y="461998"/>
                </a:lnTo>
                <a:lnTo>
                  <a:pt x="52972" y="499998"/>
                </a:lnTo>
                <a:lnTo>
                  <a:pt x="87895" y="538659"/>
                </a:lnTo>
                <a:lnTo>
                  <a:pt x="127527" y="577796"/>
                </a:lnTo>
                <a:lnTo>
                  <a:pt x="169513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2" name="object 24">
            <a:extLst>
              <a:ext uri="{FF2B5EF4-FFF2-40B4-BE49-F238E27FC236}">
                <a16:creationId xmlns:a16="http://schemas.microsoft.com/office/drawing/2014/main" id="{6A8A6106-33A9-29A7-EEA4-C52C0E7FBCDA}"/>
              </a:ext>
            </a:extLst>
          </p:cNvPr>
          <p:cNvSpPr/>
          <p:nvPr/>
        </p:nvSpPr>
        <p:spPr>
          <a:xfrm>
            <a:off x="4252739" y="3544441"/>
            <a:ext cx="171450" cy="617220"/>
          </a:xfrm>
          <a:custGeom>
            <a:avLst/>
            <a:gdLst/>
            <a:ahLst/>
            <a:cxnLst/>
            <a:rect l="l" t="t" r="r" b="b"/>
            <a:pathLst>
              <a:path w="171450" h="617220">
                <a:moveTo>
                  <a:pt x="11061" y="0"/>
                </a:moveTo>
                <a:lnTo>
                  <a:pt x="59056" y="37866"/>
                </a:lnTo>
                <a:lnTo>
                  <a:pt x="103072" y="75811"/>
                </a:lnTo>
                <a:lnTo>
                  <a:pt x="139125" y="113920"/>
                </a:lnTo>
                <a:lnTo>
                  <a:pt x="163234" y="152276"/>
                </a:lnTo>
                <a:lnTo>
                  <a:pt x="171417" y="190966"/>
                </a:lnTo>
                <a:lnTo>
                  <a:pt x="158079" y="223175"/>
                </a:lnTo>
                <a:lnTo>
                  <a:pt x="126156" y="255244"/>
                </a:lnTo>
                <a:lnTo>
                  <a:pt x="85017" y="287503"/>
                </a:lnTo>
                <a:lnTo>
                  <a:pt x="44031" y="320284"/>
                </a:lnTo>
                <a:lnTo>
                  <a:pt x="12569" y="353917"/>
                </a:lnTo>
                <a:lnTo>
                  <a:pt x="0" y="388734"/>
                </a:lnTo>
                <a:lnTo>
                  <a:pt x="6745" y="424848"/>
                </a:lnTo>
                <a:lnTo>
                  <a:pt x="25395" y="461998"/>
                </a:lnTo>
                <a:lnTo>
                  <a:pt x="53568" y="499998"/>
                </a:lnTo>
                <a:lnTo>
                  <a:pt x="88883" y="538659"/>
                </a:lnTo>
                <a:lnTo>
                  <a:pt x="128960" y="577796"/>
                </a:lnTo>
                <a:lnTo>
                  <a:pt x="171417" y="6172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3" name="object 25">
            <a:extLst>
              <a:ext uri="{FF2B5EF4-FFF2-40B4-BE49-F238E27FC236}">
                <a16:creationId xmlns:a16="http://schemas.microsoft.com/office/drawing/2014/main" id="{590D562E-1460-65F8-28A9-A5E94AC1E28D}"/>
              </a:ext>
            </a:extLst>
          </p:cNvPr>
          <p:cNvSpPr txBox="1"/>
          <p:nvPr/>
        </p:nvSpPr>
        <p:spPr>
          <a:xfrm>
            <a:off x="3463434" y="3463796"/>
            <a:ext cx="1049020" cy="48859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23495" algn="ctr">
              <a:lnSpc>
                <a:spcPct val="100000"/>
              </a:lnSpc>
              <a:spcBef>
                <a:spcPts val="930"/>
              </a:spcBef>
            </a:pPr>
            <a:r>
              <a:rPr sz="2400" spc="-5" dirty="0">
                <a:latin typeface="Comic Sans MS" panose="030F0702030302020204" pitchFamily="66" charset="0"/>
                <a:cs typeface="Arial" panose="020B0604020202020204"/>
              </a:rPr>
              <a:t>...</a:t>
            </a:r>
            <a:endParaRPr sz="240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24" name="object 26">
            <a:extLst>
              <a:ext uri="{FF2B5EF4-FFF2-40B4-BE49-F238E27FC236}">
                <a16:creationId xmlns:a16="http://schemas.microsoft.com/office/drawing/2014/main" id="{C8806DB0-2E79-54BC-51D2-294F78ABCB32}"/>
              </a:ext>
            </a:extLst>
          </p:cNvPr>
          <p:cNvSpPr txBox="1"/>
          <p:nvPr/>
        </p:nvSpPr>
        <p:spPr>
          <a:xfrm>
            <a:off x="5654501" y="4898139"/>
            <a:ext cx="7462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0" dirty="0">
                <a:latin typeface="Comic Sans MS" panose="030F0702030302020204" pitchFamily="66" charset="0"/>
                <a:cs typeface="Calibri" panose="020F0502020204030204" pitchFamily="34" charset="0"/>
              </a:rPr>
              <a:t>W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25" name="object 29">
            <a:extLst>
              <a:ext uri="{FF2B5EF4-FFF2-40B4-BE49-F238E27FC236}">
                <a16:creationId xmlns:a16="http://schemas.microsoft.com/office/drawing/2014/main" id="{7C3D822D-B8D3-BDFC-086F-EBFF1FA56A75}"/>
              </a:ext>
            </a:extLst>
          </p:cNvPr>
          <p:cNvSpPr/>
          <p:nvPr/>
        </p:nvSpPr>
        <p:spPr>
          <a:xfrm>
            <a:off x="6809885" y="3895912"/>
            <a:ext cx="1097280" cy="262890"/>
          </a:xfrm>
          <a:custGeom>
            <a:avLst/>
            <a:gdLst/>
            <a:ahLst/>
            <a:cxnLst/>
            <a:rect l="l" t="t" r="r" b="b"/>
            <a:pathLst>
              <a:path w="1097279" h="262889">
                <a:moveTo>
                  <a:pt x="788671" y="0"/>
                </a:moveTo>
                <a:lnTo>
                  <a:pt x="788671" y="83017"/>
                </a:lnTo>
                <a:lnTo>
                  <a:pt x="0" y="83017"/>
                </a:lnTo>
                <a:lnTo>
                  <a:pt x="0" y="179872"/>
                </a:lnTo>
                <a:lnTo>
                  <a:pt x="788671" y="179872"/>
                </a:lnTo>
                <a:lnTo>
                  <a:pt x="788671" y="262889"/>
                </a:lnTo>
                <a:lnTo>
                  <a:pt x="1097280" y="131444"/>
                </a:lnTo>
                <a:lnTo>
                  <a:pt x="788671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D04F7D11-2D5E-B5E3-E2EE-BE0F5E149EFF}"/>
              </a:ext>
            </a:extLst>
          </p:cNvPr>
          <p:cNvSpPr/>
          <p:nvPr/>
        </p:nvSpPr>
        <p:spPr>
          <a:xfrm>
            <a:off x="6934344" y="3528566"/>
            <a:ext cx="1097280" cy="262890"/>
          </a:xfrm>
          <a:custGeom>
            <a:avLst/>
            <a:gdLst/>
            <a:ahLst/>
            <a:cxnLst/>
            <a:rect l="l" t="t" r="r" b="b"/>
            <a:pathLst>
              <a:path w="1097279" h="262889">
                <a:moveTo>
                  <a:pt x="0" y="83017"/>
                </a:moveTo>
                <a:lnTo>
                  <a:pt x="788671" y="83017"/>
                </a:lnTo>
                <a:lnTo>
                  <a:pt x="788671" y="0"/>
                </a:lnTo>
                <a:lnTo>
                  <a:pt x="1097280" y="131445"/>
                </a:lnTo>
                <a:lnTo>
                  <a:pt x="788671" y="262890"/>
                </a:lnTo>
                <a:lnTo>
                  <a:pt x="788671" y="179872"/>
                </a:lnTo>
                <a:lnTo>
                  <a:pt x="0" y="179872"/>
                </a:lnTo>
                <a:lnTo>
                  <a:pt x="0" y="8301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7" name="object 31">
            <a:extLst>
              <a:ext uri="{FF2B5EF4-FFF2-40B4-BE49-F238E27FC236}">
                <a16:creationId xmlns:a16="http://schemas.microsoft.com/office/drawing/2014/main" id="{A09CD40E-478B-F63B-3F50-4E98FA3D4F64}"/>
              </a:ext>
            </a:extLst>
          </p:cNvPr>
          <p:cNvSpPr txBox="1"/>
          <p:nvPr/>
        </p:nvSpPr>
        <p:spPr>
          <a:xfrm>
            <a:off x="4685808" y="3672916"/>
            <a:ext cx="203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8C8C8C"/>
                </a:solidFill>
                <a:latin typeface="Comic Sans MS" panose="030F0702030302020204" pitchFamily="66" charset="0"/>
                <a:cs typeface="Arial" panose="020B0604020202020204"/>
              </a:rPr>
              <a:t>=</a:t>
            </a:r>
            <a:endParaRPr sz="240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28" name="灯片编号占位符 27">
            <a:extLst>
              <a:ext uri="{FF2B5EF4-FFF2-40B4-BE49-F238E27FC236}">
                <a16:creationId xmlns:a16="http://schemas.microsoft.com/office/drawing/2014/main" id="{D5FE503B-F941-EB26-17E4-47D2D240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828389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DC356-AEB3-9AF0-7089-361C2DF75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2EBB4A3-07B2-FB64-10A2-244C7EAF5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800" y="3204406"/>
            <a:ext cx="9900000" cy="792088"/>
          </a:xfrm>
        </p:spPr>
        <p:txBody>
          <a:bodyPr/>
          <a:lstStyle/>
          <a:p>
            <a:r>
              <a:rPr lang="en-US" dirty="0"/>
              <a:t>LAUNCH CONFIGURATION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06F034-6D44-C365-8F66-387E54EE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2805422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E991A-8B13-4727-1078-A55D34FA4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9B8630E-AA8D-23E5-B120-BC4BACD24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CONFIGURATION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26A5B7-C3BC-B5C1-C6FD-DB0D5BC19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04" y="1152179"/>
            <a:ext cx="9900000" cy="5256584"/>
          </a:xfrm>
        </p:spPr>
        <p:txBody>
          <a:bodyPr/>
          <a:lstStyle/>
          <a:p>
            <a:r>
              <a:rPr lang="en-US" dirty="0"/>
              <a:t>Key to understanding:</a:t>
            </a:r>
          </a:p>
          <a:p>
            <a:pPr lvl="1"/>
            <a:r>
              <a:rPr lang="en-US" sz="2400" dirty="0"/>
              <a:t>Instructions are issued in order</a:t>
            </a:r>
          </a:p>
          <a:p>
            <a:pPr lvl="1"/>
            <a:r>
              <a:rPr lang="en-US" sz="2400" dirty="0"/>
              <a:t>A SIMD thread stalls when one of the operands isn’t ready:</a:t>
            </a:r>
          </a:p>
          <a:p>
            <a:pPr lvl="2"/>
            <a:r>
              <a:rPr lang="en-US" sz="2000" dirty="0"/>
              <a:t>Memory read by itself doesn’t stall execution</a:t>
            </a:r>
          </a:p>
          <a:p>
            <a:pPr lvl="1"/>
            <a:r>
              <a:rPr lang="en-US" sz="2400" dirty="0"/>
              <a:t>Latency is hidden by switching threads</a:t>
            </a:r>
          </a:p>
          <a:p>
            <a:pPr lvl="2"/>
            <a:r>
              <a:rPr lang="en-US" sz="2000" dirty="0"/>
              <a:t>GPU MEM latency</a:t>
            </a:r>
            <a:r>
              <a:rPr lang="en-US" sz="2000" dirty="0">
                <a:solidFill>
                  <a:schemeClr val="accent3"/>
                </a:solidFill>
              </a:rPr>
              <a:t>: &gt;100 cycles e.g. 100 (varies by architecture/design)  </a:t>
            </a:r>
          </a:p>
          <a:p>
            <a:pPr lvl="2"/>
            <a:r>
              <a:rPr lang="en-US" sz="2000" dirty="0"/>
              <a:t>Arithmetic latency: </a:t>
            </a:r>
            <a:r>
              <a:rPr lang="en-US" sz="2000" dirty="0">
                <a:solidFill>
                  <a:schemeClr val="accent3"/>
                </a:solidFill>
              </a:rPr>
              <a:t>&lt;100 cycles e.g. 10 (varies by architecture/design)</a:t>
            </a:r>
          </a:p>
          <a:p>
            <a:r>
              <a:rPr lang="en-US" dirty="0"/>
              <a:t>How many threads/</a:t>
            </a:r>
            <a:r>
              <a:rPr lang="en-US" dirty="0" err="1"/>
              <a:t>threadblocks</a:t>
            </a:r>
            <a:r>
              <a:rPr lang="en-US" dirty="0"/>
              <a:t> to launch?  </a:t>
            </a:r>
          </a:p>
          <a:p>
            <a:r>
              <a:rPr lang="en-US" dirty="0"/>
              <a:t>Conclusion:</a:t>
            </a:r>
          </a:p>
          <a:p>
            <a:pPr lvl="1"/>
            <a:r>
              <a:rPr lang="en-US" sz="2400" dirty="0"/>
              <a:t>Need enough threads to hide latency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BC87D27E-D04B-5815-17FE-6144C81D1E4F}"/>
              </a:ext>
            </a:extLst>
          </p:cNvPr>
          <p:cNvSpPr/>
          <p:nvPr/>
        </p:nvSpPr>
        <p:spPr>
          <a:xfrm>
            <a:off x="9569152" y="1152178"/>
            <a:ext cx="3024336" cy="5472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2D4968-FFF2-8C2D-F325-F63CFA73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549926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1658-4584-15CE-AC49-411B7FA1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F6E33BE-029E-3F6C-C467-BE5C2B1B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LATENCY: ANALYSIS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6F99F6-AD9A-C0D1-3E79-CEE24A48A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080170"/>
            <a:ext cx="12097344" cy="5760639"/>
          </a:xfrm>
        </p:spPr>
        <p:txBody>
          <a:bodyPr/>
          <a:lstStyle/>
          <a:p>
            <a:r>
              <a:rPr lang="en-US" sz="2800" dirty="0"/>
              <a:t>Suspect unhidden latency if:</a:t>
            </a:r>
          </a:p>
          <a:p>
            <a:pPr lvl="1"/>
            <a:r>
              <a:rPr lang="en-US" sz="2400" dirty="0"/>
              <a:t>Neither memory nor instruction throughput is close to HW theoretical rates</a:t>
            </a:r>
          </a:p>
          <a:p>
            <a:pPr lvl="1"/>
            <a:r>
              <a:rPr lang="en-US" sz="2400" dirty="0"/>
              <a:t>Poor overlap between memory access and compute instructions</a:t>
            </a:r>
          </a:p>
          <a:p>
            <a:pPr lvl="2"/>
            <a:endParaRPr lang="en-US" sz="2000" dirty="0"/>
          </a:p>
          <a:p>
            <a:r>
              <a:rPr lang="en-US" dirty="0"/>
              <a:t>Two possible causes:</a:t>
            </a:r>
          </a:p>
          <a:p>
            <a:pPr lvl="1"/>
            <a:r>
              <a:rPr lang="en-US" sz="2400" dirty="0"/>
              <a:t>Insufficient concurrent warps per SIMD processor to hide latency</a:t>
            </a:r>
          </a:p>
          <a:p>
            <a:pPr lvl="2"/>
            <a:r>
              <a:rPr lang="en-US" sz="2000" dirty="0"/>
              <a:t>Occupancy too low</a:t>
            </a:r>
          </a:p>
          <a:p>
            <a:pPr lvl="2"/>
            <a:r>
              <a:rPr lang="en-US" sz="2000" dirty="0"/>
              <a:t>Too few threads in kernel launch to load the GPU</a:t>
            </a:r>
          </a:p>
          <a:p>
            <a:pPr lvl="3"/>
            <a:r>
              <a:rPr lang="en-US" sz="2000" dirty="0"/>
              <a:t>elapsed time doesn’t change if problem size is increased (and with it the number of blocks/threads)</a:t>
            </a:r>
          </a:p>
          <a:p>
            <a:pPr lvl="1"/>
            <a:r>
              <a:rPr lang="en-US" sz="2400" dirty="0"/>
              <a:t>Too few concurrent warps per SIMD processor when using </a:t>
            </a:r>
            <a:r>
              <a:rPr lang="en-US" sz="2400" dirty="0">
                <a:solidFill>
                  <a:schemeClr val="accent6"/>
                </a:solidFill>
              </a:rPr>
              <a:t>__</a:t>
            </a:r>
            <a:r>
              <a:rPr lang="en-US" sz="2400" dirty="0" err="1">
                <a:solidFill>
                  <a:schemeClr val="accent6"/>
                </a:solidFill>
              </a:rPr>
              <a:t>syncthreads</a:t>
            </a:r>
            <a:r>
              <a:rPr lang="en-US" sz="2400" dirty="0">
                <a:solidFill>
                  <a:schemeClr val="accent6"/>
                </a:solidFill>
              </a:rPr>
              <a:t>()</a:t>
            </a:r>
          </a:p>
          <a:p>
            <a:pPr lvl="2"/>
            <a:r>
              <a:rPr lang="en-US" sz="2000" dirty="0">
                <a:solidFill>
                  <a:schemeClr val="accent6"/>
                </a:solidFill>
              </a:rPr>
              <a:t>__</a:t>
            </a:r>
            <a:r>
              <a:rPr lang="en-US" sz="2000" dirty="0" err="1">
                <a:solidFill>
                  <a:schemeClr val="accent6"/>
                </a:solidFill>
              </a:rPr>
              <a:t>syncthreads</a:t>
            </a:r>
            <a:r>
              <a:rPr lang="en-US" sz="2000" dirty="0">
                <a:solidFill>
                  <a:schemeClr val="accent6"/>
                </a:solidFill>
              </a:rPr>
              <a:t>() </a:t>
            </a:r>
            <a:r>
              <a:rPr lang="en-US" sz="2000" dirty="0"/>
              <a:t>can prevent overlap between compute and mem within the same </a:t>
            </a:r>
            <a:r>
              <a:rPr lang="en-US" sz="2000" dirty="0" err="1"/>
              <a:t>threadblock</a:t>
            </a:r>
            <a:endParaRPr lang="en-US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484242-ED3D-7E06-010E-8511322E0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2984711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05F27-9F7A-FEAE-0D7A-8AF0D1CC8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356889E-2AA2-7F85-8860-42D7B330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801200" cy="792088"/>
          </a:xfrm>
        </p:spPr>
        <p:txBody>
          <a:bodyPr/>
          <a:lstStyle/>
          <a:p>
            <a:r>
              <a:rPr lang="en-US" dirty="0"/>
              <a:t>SIMPLIFIED VIEW OF LATENCY AND SYNCS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718ED4E-81C8-CD3C-21FC-2DD3014DA2CE}"/>
              </a:ext>
            </a:extLst>
          </p:cNvPr>
          <p:cNvSpPr/>
          <p:nvPr/>
        </p:nvSpPr>
        <p:spPr>
          <a:xfrm>
            <a:off x="1371600" y="3311740"/>
            <a:ext cx="2140585" cy="187325"/>
          </a:xfrm>
          <a:custGeom>
            <a:avLst/>
            <a:gdLst/>
            <a:ahLst/>
            <a:cxnLst/>
            <a:rect l="l" t="t" r="r" b="b"/>
            <a:pathLst>
              <a:path w="2140585" h="187325">
                <a:moveTo>
                  <a:pt x="0" y="186855"/>
                </a:moveTo>
                <a:lnTo>
                  <a:pt x="2140204" y="186855"/>
                </a:lnTo>
                <a:lnTo>
                  <a:pt x="2140204" y="0"/>
                </a:lnTo>
                <a:lnTo>
                  <a:pt x="0" y="0"/>
                </a:lnTo>
                <a:lnTo>
                  <a:pt x="0" y="186855"/>
                </a:lnTo>
                <a:close/>
              </a:path>
            </a:pathLst>
          </a:custGeom>
          <a:solidFill>
            <a:srgbClr val="588A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2970B4BA-E12C-4A9E-AA53-3457B3042D23}"/>
              </a:ext>
            </a:extLst>
          </p:cNvPr>
          <p:cNvSpPr/>
          <p:nvPr/>
        </p:nvSpPr>
        <p:spPr>
          <a:xfrm>
            <a:off x="1371600" y="3311740"/>
            <a:ext cx="2167255" cy="187325"/>
          </a:xfrm>
          <a:custGeom>
            <a:avLst/>
            <a:gdLst/>
            <a:ahLst/>
            <a:cxnLst/>
            <a:rect l="l" t="t" r="r" b="b"/>
            <a:pathLst>
              <a:path w="2167254" h="187325">
                <a:moveTo>
                  <a:pt x="0" y="186855"/>
                </a:moveTo>
                <a:lnTo>
                  <a:pt x="2166747" y="186855"/>
                </a:lnTo>
                <a:lnTo>
                  <a:pt x="2166747" y="0"/>
                </a:lnTo>
                <a:lnTo>
                  <a:pt x="0" y="0"/>
                </a:lnTo>
                <a:lnTo>
                  <a:pt x="0" y="186855"/>
                </a:lnTo>
                <a:close/>
              </a:path>
            </a:pathLst>
          </a:custGeom>
          <a:ln w="9525">
            <a:solidFill>
              <a:srgbClr val="00472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DC1E3A7-A046-6D03-6D7F-D3C8D8865B93}"/>
              </a:ext>
            </a:extLst>
          </p:cNvPr>
          <p:cNvSpPr/>
          <p:nvPr/>
        </p:nvSpPr>
        <p:spPr>
          <a:xfrm>
            <a:off x="1384172" y="2274735"/>
            <a:ext cx="1407160" cy="182245"/>
          </a:xfrm>
          <a:custGeom>
            <a:avLst/>
            <a:gdLst/>
            <a:ahLst/>
            <a:cxnLst/>
            <a:rect l="l" t="t" r="r" b="b"/>
            <a:pathLst>
              <a:path w="1407160" h="182244">
                <a:moveTo>
                  <a:pt x="1406652" y="0"/>
                </a:moveTo>
                <a:lnTo>
                  <a:pt x="0" y="0"/>
                </a:lnTo>
                <a:lnTo>
                  <a:pt x="0" y="182206"/>
                </a:lnTo>
                <a:lnTo>
                  <a:pt x="1406652" y="182206"/>
                </a:lnTo>
                <a:lnTo>
                  <a:pt x="140665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1C79500B-091E-4347-A00D-385B9108DDCB}"/>
              </a:ext>
            </a:extLst>
          </p:cNvPr>
          <p:cNvSpPr/>
          <p:nvPr/>
        </p:nvSpPr>
        <p:spPr>
          <a:xfrm>
            <a:off x="1384172" y="2274735"/>
            <a:ext cx="1407160" cy="182245"/>
          </a:xfrm>
          <a:custGeom>
            <a:avLst/>
            <a:gdLst/>
            <a:ahLst/>
            <a:cxnLst/>
            <a:rect l="l" t="t" r="r" b="b"/>
            <a:pathLst>
              <a:path w="1407160" h="182244">
                <a:moveTo>
                  <a:pt x="0" y="182206"/>
                </a:moveTo>
                <a:lnTo>
                  <a:pt x="1406652" y="182206"/>
                </a:lnTo>
                <a:lnTo>
                  <a:pt x="1406652" y="0"/>
                </a:lnTo>
                <a:lnTo>
                  <a:pt x="0" y="0"/>
                </a:lnTo>
                <a:lnTo>
                  <a:pt x="0" y="182206"/>
                </a:lnTo>
                <a:close/>
              </a:path>
            </a:pathLst>
          </a:custGeom>
          <a:ln w="9525">
            <a:solidFill>
              <a:srgbClr val="00472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215DE50D-5812-86B7-A9E7-9E64510E3AA2}"/>
              </a:ext>
            </a:extLst>
          </p:cNvPr>
          <p:cNvSpPr/>
          <p:nvPr/>
        </p:nvSpPr>
        <p:spPr>
          <a:xfrm>
            <a:off x="3593944" y="3317659"/>
            <a:ext cx="1361440" cy="182245"/>
          </a:xfrm>
          <a:custGeom>
            <a:avLst/>
            <a:gdLst/>
            <a:ahLst/>
            <a:cxnLst/>
            <a:rect l="l" t="t" r="r" b="b"/>
            <a:pathLst>
              <a:path w="1361439" h="182245">
                <a:moveTo>
                  <a:pt x="0" y="182206"/>
                </a:moveTo>
                <a:lnTo>
                  <a:pt x="1360959" y="182206"/>
                </a:lnTo>
                <a:lnTo>
                  <a:pt x="1360959" y="0"/>
                </a:lnTo>
                <a:lnTo>
                  <a:pt x="0" y="0"/>
                </a:lnTo>
                <a:lnTo>
                  <a:pt x="0" y="18220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1D624F8E-6ADA-D19D-4B1A-A07E260ECF59}"/>
              </a:ext>
            </a:extLst>
          </p:cNvPr>
          <p:cNvSpPr/>
          <p:nvPr/>
        </p:nvSpPr>
        <p:spPr>
          <a:xfrm>
            <a:off x="3548253" y="3317659"/>
            <a:ext cx="1407160" cy="182245"/>
          </a:xfrm>
          <a:custGeom>
            <a:avLst/>
            <a:gdLst/>
            <a:ahLst/>
            <a:cxnLst/>
            <a:rect l="l" t="t" r="r" b="b"/>
            <a:pathLst>
              <a:path w="1407160" h="182245">
                <a:moveTo>
                  <a:pt x="0" y="182206"/>
                </a:moveTo>
                <a:lnTo>
                  <a:pt x="1406652" y="182206"/>
                </a:lnTo>
                <a:lnTo>
                  <a:pt x="1406652" y="0"/>
                </a:lnTo>
                <a:lnTo>
                  <a:pt x="0" y="0"/>
                </a:lnTo>
                <a:lnTo>
                  <a:pt x="0" y="182206"/>
                </a:lnTo>
                <a:close/>
              </a:path>
            </a:pathLst>
          </a:custGeom>
          <a:ln w="9525">
            <a:solidFill>
              <a:srgbClr val="00472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55711E82-2B77-F601-DF20-2C33BDCF3111}"/>
              </a:ext>
            </a:extLst>
          </p:cNvPr>
          <p:cNvSpPr/>
          <p:nvPr/>
        </p:nvSpPr>
        <p:spPr>
          <a:xfrm>
            <a:off x="1371600" y="1983828"/>
            <a:ext cx="2167255" cy="187325"/>
          </a:xfrm>
          <a:custGeom>
            <a:avLst/>
            <a:gdLst/>
            <a:ahLst/>
            <a:cxnLst/>
            <a:rect l="l" t="t" r="r" b="b"/>
            <a:pathLst>
              <a:path w="2167254" h="187325">
                <a:moveTo>
                  <a:pt x="2166747" y="0"/>
                </a:moveTo>
                <a:lnTo>
                  <a:pt x="0" y="0"/>
                </a:lnTo>
                <a:lnTo>
                  <a:pt x="0" y="186855"/>
                </a:lnTo>
                <a:lnTo>
                  <a:pt x="2166747" y="186855"/>
                </a:lnTo>
                <a:lnTo>
                  <a:pt x="2166747" y="0"/>
                </a:lnTo>
                <a:close/>
              </a:path>
            </a:pathLst>
          </a:custGeom>
          <a:solidFill>
            <a:srgbClr val="588A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B9B5493E-7B42-C2AD-C9B8-F8D9DFAF501B}"/>
              </a:ext>
            </a:extLst>
          </p:cNvPr>
          <p:cNvSpPr/>
          <p:nvPr/>
        </p:nvSpPr>
        <p:spPr>
          <a:xfrm>
            <a:off x="1371600" y="1983828"/>
            <a:ext cx="2167255" cy="187325"/>
          </a:xfrm>
          <a:custGeom>
            <a:avLst/>
            <a:gdLst/>
            <a:ahLst/>
            <a:cxnLst/>
            <a:rect l="l" t="t" r="r" b="b"/>
            <a:pathLst>
              <a:path w="2167254" h="187325">
                <a:moveTo>
                  <a:pt x="0" y="186855"/>
                </a:moveTo>
                <a:lnTo>
                  <a:pt x="2166747" y="186855"/>
                </a:lnTo>
                <a:lnTo>
                  <a:pt x="2166747" y="0"/>
                </a:lnTo>
                <a:lnTo>
                  <a:pt x="0" y="0"/>
                </a:lnTo>
                <a:lnTo>
                  <a:pt x="0" y="186855"/>
                </a:lnTo>
                <a:close/>
              </a:path>
            </a:pathLst>
          </a:custGeom>
          <a:ln w="9525">
            <a:solidFill>
              <a:srgbClr val="00472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D9A2C8DA-3ADF-4699-8B19-3CCD0CD65C7F}"/>
              </a:ext>
            </a:extLst>
          </p:cNvPr>
          <p:cNvSpPr/>
          <p:nvPr/>
        </p:nvSpPr>
        <p:spPr>
          <a:xfrm>
            <a:off x="3552874" y="3244088"/>
            <a:ext cx="0" cy="326390"/>
          </a:xfrm>
          <a:custGeom>
            <a:avLst/>
            <a:gdLst/>
            <a:ahLst/>
            <a:cxnLst/>
            <a:rect l="l" t="t" r="r" b="b"/>
            <a:pathLst>
              <a:path h="326389">
                <a:moveTo>
                  <a:pt x="0" y="0"/>
                </a:moveTo>
                <a:lnTo>
                  <a:pt x="0" y="326009"/>
                </a:lnTo>
              </a:path>
            </a:pathLst>
          </a:custGeom>
          <a:ln w="82141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807FCC6E-012C-5420-7C58-E25B7F2CB1B6}"/>
              </a:ext>
            </a:extLst>
          </p:cNvPr>
          <p:cNvSpPr/>
          <p:nvPr/>
        </p:nvSpPr>
        <p:spPr>
          <a:xfrm>
            <a:off x="3511803" y="3244088"/>
            <a:ext cx="82550" cy="326390"/>
          </a:xfrm>
          <a:custGeom>
            <a:avLst/>
            <a:gdLst/>
            <a:ahLst/>
            <a:cxnLst/>
            <a:rect l="l" t="t" r="r" b="b"/>
            <a:pathLst>
              <a:path w="82550" h="326389">
                <a:moveTo>
                  <a:pt x="0" y="326009"/>
                </a:moveTo>
                <a:lnTo>
                  <a:pt x="82141" y="326009"/>
                </a:lnTo>
                <a:lnTo>
                  <a:pt x="82141" y="0"/>
                </a:lnTo>
                <a:lnTo>
                  <a:pt x="0" y="0"/>
                </a:lnTo>
                <a:lnTo>
                  <a:pt x="0" y="326009"/>
                </a:lnTo>
                <a:close/>
              </a:path>
            </a:pathLst>
          </a:custGeom>
          <a:ln w="9525">
            <a:solidFill>
              <a:srgbClr val="00472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F521FD1E-64FE-544B-379B-49FFCF5735A7}"/>
              </a:ext>
            </a:extLst>
          </p:cNvPr>
          <p:cNvSpPr/>
          <p:nvPr/>
        </p:nvSpPr>
        <p:spPr>
          <a:xfrm>
            <a:off x="2448305" y="4919129"/>
            <a:ext cx="1083945" cy="187325"/>
          </a:xfrm>
          <a:custGeom>
            <a:avLst/>
            <a:gdLst/>
            <a:ahLst/>
            <a:cxnLst/>
            <a:rect l="l" t="t" r="r" b="b"/>
            <a:pathLst>
              <a:path w="1083945" h="187325">
                <a:moveTo>
                  <a:pt x="1083360" y="0"/>
                </a:moveTo>
                <a:lnTo>
                  <a:pt x="0" y="0"/>
                </a:lnTo>
                <a:lnTo>
                  <a:pt x="0" y="186855"/>
                </a:lnTo>
                <a:lnTo>
                  <a:pt x="1083360" y="186855"/>
                </a:lnTo>
                <a:lnTo>
                  <a:pt x="1083360" y="0"/>
                </a:lnTo>
                <a:close/>
              </a:path>
            </a:pathLst>
          </a:custGeom>
          <a:solidFill>
            <a:srgbClr val="588A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3CCF1745-2557-86E4-A09D-7F7FB62DFCF4}"/>
              </a:ext>
            </a:extLst>
          </p:cNvPr>
          <p:cNvSpPr/>
          <p:nvPr/>
        </p:nvSpPr>
        <p:spPr>
          <a:xfrm>
            <a:off x="2448305" y="4919129"/>
            <a:ext cx="1083945" cy="187325"/>
          </a:xfrm>
          <a:custGeom>
            <a:avLst/>
            <a:gdLst/>
            <a:ahLst/>
            <a:cxnLst/>
            <a:rect l="l" t="t" r="r" b="b"/>
            <a:pathLst>
              <a:path w="1083945" h="187325">
                <a:moveTo>
                  <a:pt x="0" y="186855"/>
                </a:moveTo>
                <a:lnTo>
                  <a:pt x="1083360" y="186855"/>
                </a:lnTo>
                <a:lnTo>
                  <a:pt x="1083360" y="0"/>
                </a:lnTo>
                <a:lnTo>
                  <a:pt x="0" y="0"/>
                </a:lnTo>
                <a:lnTo>
                  <a:pt x="0" y="186855"/>
                </a:lnTo>
                <a:close/>
              </a:path>
            </a:pathLst>
          </a:custGeom>
          <a:ln w="9524">
            <a:solidFill>
              <a:srgbClr val="00472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3ED1D0D7-D6C8-9738-4078-C8FD2784A7B8}"/>
              </a:ext>
            </a:extLst>
          </p:cNvPr>
          <p:cNvSpPr/>
          <p:nvPr/>
        </p:nvSpPr>
        <p:spPr>
          <a:xfrm>
            <a:off x="3608959" y="4925085"/>
            <a:ext cx="703580" cy="182245"/>
          </a:xfrm>
          <a:custGeom>
            <a:avLst/>
            <a:gdLst/>
            <a:ahLst/>
            <a:cxnLst/>
            <a:rect l="l" t="t" r="r" b="b"/>
            <a:pathLst>
              <a:path w="703579" h="182245">
                <a:moveTo>
                  <a:pt x="703351" y="0"/>
                </a:moveTo>
                <a:lnTo>
                  <a:pt x="0" y="0"/>
                </a:lnTo>
                <a:lnTo>
                  <a:pt x="0" y="182206"/>
                </a:lnTo>
                <a:lnTo>
                  <a:pt x="703351" y="182206"/>
                </a:lnTo>
                <a:lnTo>
                  <a:pt x="70335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9" name="object 16">
            <a:extLst>
              <a:ext uri="{FF2B5EF4-FFF2-40B4-BE49-F238E27FC236}">
                <a16:creationId xmlns:a16="http://schemas.microsoft.com/office/drawing/2014/main" id="{415CA64A-B418-626B-A75C-F6D0603DCFAB}"/>
              </a:ext>
            </a:extLst>
          </p:cNvPr>
          <p:cNvSpPr/>
          <p:nvPr/>
        </p:nvSpPr>
        <p:spPr>
          <a:xfrm>
            <a:off x="3608959" y="4925085"/>
            <a:ext cx="703580" cy="182245"/>
          </a:xfrm>
          <a:custGeom>
            <a:avLst/>
            <a:gdLst/>
            <a:ahLst/>
            <a:cxnLst/>
            <a:rect l="l" t="t" r="r" b="b"/>
            <a:pathLst>
              <a:path w="703579" h="182245">
                <a:moveTo>
                  <a:pt x="0" y="182206"/>
                </a:moveTo>
                <a:lnTo>
                  <a:pt x="703351" y="182206"/>
                </a:lnTo>
                <a:lnTo>
                  <a:pt x="703351" y="0"/>
                </a:lnTo>
                <a:lnTo>
                  <a:pt x="0" y="0"/>
                </a:lnTo>
                <a:lnTo>
                  <a:pt x="0" y="182206"/>
                </a:lnTo>
                <a:close/>
              </a:path>
            </a:pathLst>
          </a:custGeom>
          <a:ln w="9524">
            <a:solidFill>
              <a:srgbClr val="00472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object 17">
            <a:extLst>
              <a:ext uri="{FF2B5EF4-FFF2-40B4-BE49-F238E27FC236}">
                <a16:creationId xmlns:a16="http://schemas.microsoft.com/office/drawing/2014/main" id="{8801E046-2F26-0692-39A7-0AB588021ADB}"/>
              </a:ext>
            </a:extLst>
          </p:cNvPr>
          <p:cNvSpPr/>
          <p:nvPr/>
        </p:nvSpPr>
        <p:spPr>
          <a:xfrm>
            <a:off x="3570146" y="4843589"/>
            <a:ext cx="0" cy="326390"/>
          </a:xfrm>
          <a:custGeom>
            <a:avLst/>
            <a:gdLst/>
            <a:ahLst/>
            <a:cxnLst/>
            <a:rect l="l" t="t" r="r" b="b"/>
            <a:pathLst>
              <a:path h="326389">
                <a:moveTo>
                  <a:pt x="0" y="0"/>
                </a:moveTo>
                <a:lnTo>
                  <a:pt x="0" y="326009"/>
                </a:lnTo>
              </a:path>
            </a:pathLst>
          </a:custGeom>
          <a:ln w="82141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01BE1CBB-5077-AF9E-503D-0956B632DA70}"/>
              </a:ext>
            </a:extLst>
          </p:cNvPr>
          <p:cNvSpPr/>
          <p:nvPr/>
        </p:nvSpPr>
        <p:spPr>
          <a:xfrm>
            <a:off x="3529076" y="4843589"/>
            <a:ext cx="82550" cy="326390"/>
          </a:xfrm>
          <a:custGeom>
            <a:avLst/>
            <a:gdLst/>
            <a:ahLst/>
            <a:cxnLst/>
            <a:rect l="l" t="t" r="r" b="b"/>
            <a:pathLst>
              <a:path w="82550" h="326389">
                <a:moveTo>
                  <a:pt x="0" y="326009"/>
                </a:moveTo>
                <a:lnTo>
                  <a:pt x="82141" y="326009"/>
                </a:lnTo>
                <a:lnTo>
                  <a:pt x="82141" y="0"/>
                </a:lnTo>
                <a:lnTo>
                  <a:pt x="0" y="0"/>
                </a:lnTo>
                <a:lnTo>
                  <a:pt x="0" y="326009"/>
                </a:lnTo>
                <a:close/>
              </a:path>
            </a:pathLst>
          </a:custGeom>
          <a:ln w="9525">
            <a:solidFill>
              <a:srgbClr val="00472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E659049A-FB99-7FCF-5CE4-AE262E5ED8E0}"/>
              </a:ext>
            </a:extLst>
          </p:cNvPr>
          <p:cNvSpPr/>
          <p:nvPr/>
        </p:nvSpPr>
        <p:spPr>
          <a:xfrm>
            <a:off x="1376299" y="4459313"/>
            <a:ext cx="1064895" cy="187325"/>
          </a:xfrm>
          <a:custGeom>
            <a:avLst/>
            <a:gdLst/>
            <a:ahLst/>
            <a:cxnLst/>
            <a:rect l="l" t="t" r="r" b="b"/>
            <a:pathLst>
              <a:path w="1064895" h="187325">
                <a:moveTo>
                  <a:pt x="0" y="186855"/>
                </a:moveTo>
                <a:lnTo>
                  <a:pt x="1064768" y="186855"/>
                </a:lnTo>
                <a:lnTo>
                  <a:pt x="1064768" y="0"/>
                </a:lnTo>
                <a:lnTo>
                  <a:pt x="0" y="0"/>
                </a:lnTo>
                <a:lnTo>
                  <a:pt x="0" y="186855"/>
                </a:lnTo>
                <a:close/>
              </a:path>
            </a:pathLst>
          </a:custGeom>
          <a:solidFill>
            <a:srgbClr val="588A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3" name="object 20">
            <a:extLst>
              <a:ext uri="{FF2B5EF4-FFF2-40B4-BE49-F238E27FC236}">
                <a16:creationId xmlns:a16="http://schemas.microsoft.com/office/drawing/2014/main" id="{85DDAF9B-8AEF-7A35-5773-66A9F6EFBAAF}"/>
              </a:ext>
            </a:extLst>
          </p:cNvPr>
          <p:cNvSpPr/>
          <p:nvPr/>
        </p:nvSpPr>
        <p:spPr>
          <a:xfrm>
            <a:off x="1376299" y="4459313"/>
            <a:ext cx="1083945" cy="187325"/>
          </a:xfrm>
          <a:custGeom>
            <a:avLst/>
            <a:gdLst/>
            <a:ahLst/>
            <a:cxnLst/>
            <a:rect l="l" t="t" r="r" b="b"/>
            <a:pathLst>
              <a:path w="1083945" h="187325">
                <a:moveTo>
                  <a:pt x="0" y="186855"/>
                </a:moveTo>
                <a:lnTo>
                  <a:pt x="1083360" y="186855"/>
                </a:lnTo>
                <a:lnTo>
                  <a:pt x="1083360" y="0"/>
                </a:lnTo>
                <a:lnTo>
                  <a:pt x="0" y="0"/>
                </a:lnTo>
                <a:lnTo>
                  <a:pt x="0" y="186855"/>
                </a:lnTo>
                <a:close/>
              </a:path>
            </a:pathLst>
          </a:custGeom>
          <a:ln w="9524">
            <a:solidFill>
              <a:srgbClr val="00472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4" name="object 21">
            <a:extLst>
              <a:ext uri="{FF2B5EF4-FFF2-40B4-BE49-F238E27FC236}">
                <a16:creationId xmlns:a16="http://schemas.microsoft.com/office/drawing/2014/main" id="{A22329A8-AE34-2618-A36F-5342CA4C6FF2}"/>
              </a:ext>
            </a:extLst>
          </p:cNvPr>
          <p:cNvSpPr/>
          <p:nvPr/>
        </p:nvSpPr>
        <p:spPr>
          <a:xfrm>
            <a:off x="2523208" y="4465230"/>
            <a:ext cx="645795" cy="182245"/>
          </a:xfrm>
          <a:custGeom>
            <a:avLst/>
            <a:gdLst/>
            <a:ahLst/>
            <a:cxnLst/>
            <a:rect l="l" t="t" r="r" b="b"/>
            <a:pathLst>
              <a:path w="645794" h="182245">
                <a:moveTo>
                  <a:pt x="0" y="182206"/>
                </a:moveTo>
                <a:lnTo>
                  <a:pt x="645467" y="182206"/>
                </a:lnTo>
                <a:lnTo>
                  <a:pt x="645467" y="0"/>
                </a:lnTo>
                <a:lnTo>
                  <a:pt x="0" y="0"/>
                </a:lnTo>
                <a:lnTo>
                  <a:pt x="0" y="18220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EFF9AA60-06CA-F9DA-E378-7B352B8BD1F5}"/>
              </a:ext>
            </a:extLst>
          </p:cNvPr>
          <p:cNvSpPr/>
          <p:nvPr/>
        </p:nvSpPr>
        <p:spPr>
          <a:xfrm>
            <a:off x="2465323" y="4465230"/>
            <a:ext cx="703580" cy="182245"/>
          </a:xfrm>
          <a:custGeom>
            <a:avLst/>
            <a:gdLst/>
            <a:ahLst/>
            <a:cxnLst/>
            <a:rect l="l" t="t" r="r" b="b"/>
            <a:pathLst>
              <a:path w="703580" h="182245">
                <a:moveTo>
                  <a:pt x="0" y="182206"/>
                </a:moveTo>
                <a:lnTo>
                  <a:pt x="703351" y="182206"/>
                </a:lnTo>
                <a:lnTo>
                  <a:pt x="703351" y="0"/>
                </a:lnTo>
                <a:lnTo>
                  <a:pt x="0" y="0"/>
                </a:lnTo>
                <a:lnTo>
                  <a:pt x="0" y="182206"/>
                </a:lnTo>
                <a:close/>
              </a:path>
            </a:pathLst>
          </a:custGeom>
          <a:ln w="9525">
            <a:solidFill>
              <a:srgbClr val="00472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6" name="object 23">
            <a:extLst>
              <a:ext uri="{FF2B5EF4-FFF2-40B4-BE49-F238E27FC236}">
                <a16:creationId xmlns:a16="http://schemas.microsoft.com/office/drawing/2014/main" id="{0CC8F9C4-707C-5731-F37E-13AA13C19198}"/>
              </a:ext>
            </a:extLst>
          </p:cNvPr>
          <p:cNvSpPr/>
          <p:nvPr/>
        </p:nvSpPr>
        <p:spPr>
          <a:xfrm>
            <a:off x="2482137" y="4383785"/>
            <a:ext cx="0" cy="326390"/>
          </a:xfrm>
          <a:custGeom>
            <a:avLst/>
            <a:gdLst/>
            <a:ahLst/>
            <a:cxnLst/>
            <a:rect l="l" t="t" r="r" b="b"/>
            <a:pathLst>
              <a:path h="326389">
                <a:moveTo>
                  <a:pt x="0" y="0"/>
                </a:moveTo>
                <a:lnTo>
                  <a:pt x="0" y="326008"/>
                </a:lnTo>
              </a:path>
            </a:pathLst>
          </a:custGeom>
          <a:ln w="82141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7" name="object 24">
            <a:extLst>
              <a:ext uri="{FF2B5EF4-FFF2-40B4-BE49-F238E27FC236}">
                <a16:creationId xmlns:a16="http://schemas.microsoft.com/office/drawing/2014/main" id="{1E67A51B-EEF3-BBE4-AA9D-421041FFE83D}"/>
              </a:ext>
            </a:extLst>
          </p:cNvPr>
          <p:cNvSpPr/>
          <p:nvPr/>
        </p:nvSpPr>
        <p:spPr>
          <a:xfrm>
            <a:off x="2441067" y="4383785"/>
            <a:ext cx="82550" cy="326390"/>
          </a:xfrm>
          <a:custGeom>
            <a:avLst/>
            <a:gdLst/>
            <a:ahLst/>
            <a:cxnLst/>
            <a:rect l="l" t="t" r="r" b="b"/>
            <a:pathLst>
              <a:path w="82550" h="326389">
                <a:moveTo>
                  <a:pt x="0" y="326008"/>
                </a:moveTo>
                <a:lnTo>
                  <a:pt x="82141" y="326008"/>
                </a:lnTo>
                <a:lnTo>
                  <a:pt x="82141" y="0"/>
                </a:lnTo>
                <a:lnTo>
                  <a:pt x="0" y="0"/>
                </a:lnTo>
                <a:lnTo>
                  <a:pt x="0" y="326008"/>
                </a:lnTo>
                <a:close/>
              </a:path>
            </a:pathLst>
          </a:custGeom>
          <a:ln w="9525">
            <a:solidFill>
              <a:srgbClr val="00472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8" name="object 25">
            <a:extLst>
              <a:ext uri="{FF2B5EF4-FFF2-40B4-BE49-F238E27FC236}">
                <a16:creationId xmlns:a16="http://schemas.microsoft.com/office/drawing/2014/main" id="{BD9AB00F-F59C-5BC6-B735-27C9922C104F}"/>
              </a:ext>
            </a:extLst>
          </p:cNvPr>
          <p:cNvSpPr txBox="1"/>
          <p:nvPr/>
        </p:nvSpPr>
        <p:spPr>
          <a:xfrm>
            <a:off x="3991483" y="1891792"/>
            <a:ext cx="2167255" cy="64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Memory-only</a:t>
            </a:r>
            <a:r>
              <a:rPr sz="2000" spc="-7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dirty="0">
                <a:latin typeface="Comic Sans MS" panose="030F0702030302020204" pitchFamily="66" charset="0"/>
                <a:cs typeface="Arial" panose="020B0604020202020204"/>
              </a:rPr>
              <a:t>time 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Math-only</a:t>
            </a:r>
            <a:r>
              <a:rPr sz="2000" spc="-2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dirty="0">
                <a:latin typeface="Comic Sans MS" panose="030F0702030302020204" pitchFamily="66" charset="0"/>
                <a:cs typeface="Arial" panose="020B0604020202020204"/>
              </a:rPr>
              <a:t>time</a:t>
            </a:r>
          </a:p>
        </p:txBody>
      </p:sp>
      <p:sp>
        <p:nvSpPr>
          <p:cNvPr id="29" name="object 26">
            <a:extLst>
              <a:ext uri="{FF2B5EF4-FFF2-40B4-BE49-F238E27FC236}">
                <a16:creationId xmlns:a16="http://schemas.microsoft.com/office/drawing/2014/main" id="{9B4D819C-C7ED-4B62-1C98-C85C80709BF3}"/>
              </a:ext>
            </a:extLst>
          </p:cNvPr>
          <p:cNvSpPr txBox="1"/>
          <p:nvPr/>
        </p:nvSpPr>
        <p:spPr>
          <a:xfrm>
            <a:off x="5446520" y="4504435"/>
            <a:ext cx="491667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 marR="5080" indent="-1270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Full-kernel </a:t>
            </a:r>
            <a:r>
              <a:rPr sz="2000" dirty="0">
                <a:latin typeface="Comic Sans MS" panose="030F0702030302020204" pitchFamily="66" charset="0"/>
                <a:cs typeface="Arial" panose="020B0604020202020204"/>
              </a:rPr>
              <a:t>time, </a:t>
            </a:r>
            <a:r>
              <a:rPr sz="2000" spc="-15">
                <a:latin typeface="Comic Sans MS" panose="030F0702030302020204" pitchFamily="66" charset="0"/>
                <a:cs typeface="Arial" panose="020B0604020202020204"/>
              </a:rPr>
              <a:t>two </a:t>
            </a:r>
            <a:r>
              <a:rPr lang="en-US" sz="2000" spc="-5">
                <a:latin typeface="Comic Sans MS" panose="030F0702030302020204" pitchFamily="66" charset="0"/>
                <a:cs typeface="Arial" panose="020B0604020202020204"/>
              </a:rPr>
              <a:t>warps</a:t>
            </a:r>
            <a:r>
              <a:rPr sz="2000" spc="-5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per </a:t>
            </a:r>
            <a:r>
              <a:rPr lang="en-US" altLang="zh-CN" sz="2000" dirty="0">
                <a:latin typeface="Comic Sans MS" panose="030F0702030302020204" pitchFamily="66" charset="0"/>
                <a:cs typeface="Arial" panose="020B0604020202020204"/>
              </a:rPr>
              <a:t>SIMD</a:t>
            </a:r>
            <a:r>
              <a:rPr lang="zh-CN" altLang="en-US" sz="200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2000" dirty="0">
                <a:latin typeface="Comic Sans MS" panose="030F0702030302020204" pitchFamily="66" charset="0"/>
                <a:cs typeface="Arial" panose="020B0604020202020204"/>
              </a:rPr>
              <a:t>processor</a:t>
            </a:r>
            <a:r>
              <a:rPr sz="2000" dirty="0">
                <a:latin typeface="Comic Sans MS" panose="030F0702030302020204" pitchFamily="66" charset="0"/>
                <a:cs typeface="Arial" panose="020B0604020202020204"/>
              </a:rPr>
              <a:t> 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(each </a:t>
            </a:r>
            <a:r>
              <a:rPr sz="2000" spc="-10" dirty="0">
                <a:latin typeface="Comic Sans MS" panose="030F0702030302020204" pitchFamily="66" charset="0"/>
                <a:cs typeface="Arial" panose="020B0604020202020204"/>
              </a:rPr>
              <a:t>half </a:t>
            </a:r>
            <a:r>
              <a:rPr sz="2000" dirty="0">
                <a:latin typeface="Comic Sans MS" panose="030F0702030302020204" pitchFamily="66" charset="0"/>
                <a:cs typeface="Arial" panose="020B0604020202020204"/>
              </a:rPr>
              <a:t>the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size </a:t>
            </a:r>
            <a:r>
              <a:rPr sz="2000" dirty="0">
                <a:latin typeface="Comic Sans MS" panose="030F0702030302020204" pitchFamily="66" charset="0"/>
                <a:cs typeface="Arial" panose="020B0604020202020204"/>
              </a:rPr>
              <a:t>of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one large</a:t>
            </a:r>
            <a:r>
              <a:rPr sz="2000" spc="1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one)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30" name="object 27">
            <a:extLst>
              <a:ext uri="{FF2B5EF4-FFF2-40B4-BE49-F238E27FC236}">
                <a16:creationId xmlns:a16="http://schemas.microsoft.com/office/drawing/2014/main" id="{4912B1D8-7D5F-E3CA-32F4-4A2F148033E4}"/>
              </a:ext>
            </a:extLst>
          </p:cNvPr>
          <p:cNvSpPr txBox="1"/>
          <p:nvPr/>
        </p:nvSpPr>
        <p:spPr>
          <a:xfrm>
            <a:off x="5446520" y="3232150"/>
            <a:ext cx="552627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Full-kernel </a:t>
            </a:r>
            <a:r>
              <a:rPr sz="2000" dirty="0">
                <a:latin typeface="Comic Sans MS" panose="030F0702030302020204" pitchFamily="66" charset="0"/>
                <a:cs typeface="Arial" panose="020B0604020202020204"/>
              </a:rPr>
              <a:t>time,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one </a:t>
            </a:r>
            <a:r>
              <a:rPr lang="en-US" sz="2000" spc="-5" dirty="0">
                <a:latin typeface="Comic Sans MS" panose="030F0702030302020204" pitchFamily="66" charset="0"/>
                <a:cs typeface="Arial" panose="020B0604020202020204"/>
              </a:rPr>
              <a:t>warp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per</a:t>
            </a:r>
            <a:r>
              <a:rPr sz="2000" spc="3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2000" dirty="0">
                <a:latin typeface="Comic Sans MS" panose="030F0702030302020204" pitchFamily="66" charset="0"/>
                <a:cs typeface="Arial" panose="020B0604020202020204"/>
              </a:rPr>
              <a:t>SIMD</a:t>
            </a:r>
            <a:r>
              <a:rPr lang="zh-CN" altLang="en-US" sz="200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2000" dirty="0">
                <a:latin typeface="Comic Sans MS" panose="030F0702030302020204" pitchFamily="66" charset="0"/>
                <a:cs typeface="Arial" panose="020B0604020202020204"/>
              </a:rPr>
              <a:t>processor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31" name="object 28">
            <a:extLst>
              <a:ext uri="{FF2B5EF4-FFF2-40B4-BE49-F238E27FC236}">
                <a16:creationId xmlns:a16="http://schemas.microsoft.com/office/drawing/2014/main" id="{E3B7EF13-E7A4-E700-08D8-0707BF8702A9}"/>
              </a:ext>
            </a:extLst>
          </p:cNvPr>
          <p:cNvSpPr/>
          <p:nvPr/>
        </p:nvSpPr>
        <p:spPr>
          <a:xfrm>
            <a:off x="1391538" y="5747029"/>
            <a:ext cx="3069590" cy="118110"/>
          </a:xfrm>
          <a:custGeom>
            <a:avLst/>
            <a:gdLst/>
            <a:ahLst/>
            <a:cxnLst/>
            <a:rect l="l" t="t" r="r" b="b"/>
            <a:pathLst>
              <a:path w="3069590" h="118110">
                <a:moveTo>
                  <a:pt x="2968116" y="0"/>
                </a:moveTo>
                <a:lnTo>
                  <a:pt x="2960370" y="2044"/>
                </a:lnTo>
                <a:lnTo>
                  <a:pt x="2953258" y="14160"/>
                </a:lnTo>
                <a:lnTo>
                  <a:pt x="2955416" y="21932"/>
                </a:lnTo>
                <a:lnTo>
                  <a:pt x="2996997" y="46267"/>
                </a:lnTo>
                <a:lnTo>
                  <a:pt x="3044063" y="46291"/>
                </a:lnTo>
                <a:lnTo>
                  <a:pt x="3044063" y="71691"/>
                </a:lnTo>
                <a:lnTo>
                  <a:pt x="2996969" y="71691"/>
                </a:lnTo>
                <a:lnTo>
                  <a:pt x="2955290" y="95961"/>
                </a:lnTo>
                <a:lnTo>
                  <a:pt x="2953258" y="103733"/>
                </a:lnTo>
                <a:lnTo>
                  <a:pt x="2960370" y="115862"/>
                </a:lnTo>
                <a:lnTo>
                  <a:pt x="2968116" y="117906"/>
                </a:lnTo>
                <a:lnTo>
                  <a:pt x="3047442" y="71691"/>
                </a:lnTo>
                <a:lnTo>
                  <a:pt x="3044063" y="71691"/>
                </a:lnTo>
                <a:lnTo>
                  <a:pt x="3047484" y="71667"/>
                </a:lnTo>
                <a:lnTo>
                  <a:pt x="3069209" y="59004"/>
                </a:lnTo>
                <a:lnTo>
                  <a:pt x="2968116" y="0"/>
                </a:lnTo>
                <a:close/>
              </a:path>
              <a:path w="3069590" h="118110">
                <a:moveTo>
                  <a:pt x="3018775" y="58982"/>
                </a:moveTo>
                <a:lnTo>
                  <a:pt x="2997011" y="71667"/>
                </a:lnTo>
                <a:lnTo>
                  <a:pt x="3044063" y="71691"/>
                </a:lnTo>
                <a:lnTo>
                  <a:pt x="3044063" y="69964"/>
                </a:lnTo>
                <a:lnTo>
                  <a:pt x="3037586" y="69964"/>
                </a:lnTo>
                <a:lnTo>
                  <a:pt x="3018775" y="58982"/>
                </a:lnTo>
                <a:close/>
              </a:path>
              <a:path w="3069590" h="118110">
                <a:moveTo>
                  <a:pt x="0" y="44716"/>
                </a:moveTo>
                <a:lnTo>
                  <a:pt x="0" y="70116"/>
                </a:lnTo>
                <a:lnTo>
                  <a:pt x="2997011" y="71667"/>
                </a:lnTo>
                <a:lnTo>
                  <a:pt x="3018775" y="58982"/>
                </a:lnTo>
                <a:lnTo>
                  <a:pt x="2996997" y="46267"/>
                </a:lnTo>
                <a:lnTo>
                  <a:pt x="0" y="44716"/>
                </a:lnTo>
                <a:close/>
              </a:path>
              <a:path w="3069590" h="118110">
                <a:moveTo>
                  <a:pt x="3037586" y="48018"/>
                </a:moveTo>
                <a:lnTo>
                  <a:pt x="3018775" y="58982"/>
                </a:lnTo>
                <a:lnTo>
                  <a:pt x="3037586" y="69964"/>
                </a:lnTo>
                <a:lnTo>
                  <a:pt x="3037586" y="48018"/>
                </a:lnTo>
                <a:close/>
              </a:path>
              <a:path w="3069590" h="118110">
                <a:moveTo>
                  <a:pt x="3044063" y="48018"/>
                </a:moveTo>
                <a:lnTo>
                  <a:pt x="3037586" y="48018"/>
                </a:lnTo>
                <a:lnTo>
                  <a:pt x="3037586" y="69964"/>
                </a:lnTo>
                <a:lnTo>
                  <a:pt x="3044063" y="69964"/>
                </a:lnTo>
                <a:lnTo>
                  <a:pt x="3044063" y="48018"/>
                </a:lnTo>
                <a:close/>
              </a:path>
              <a:path w="3069590" h="118110">
                <a:moveTo>
                  <a:pt x="2996997" y="46267"/>
                </a:moveTo>
                <a:lnTo>
                  <a:pt x="3018775" y="58982"/>
                </a:lnTo>
                <a:lnTo>
                  <a:pt x="3037586" y="48018"/>
                </a:lnTo>
                <a:lnTo>
                  <a:pt x="3044063" y="48018"/>
                </a:lnTo>
                <a:lnTo>
                  <a:pt x="3044063" y="46291"/>
                </a:lnTo>
                <a:lnTo>
                  <a:pt x="2996997" y="462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2" name="object 29">
            <a:extLst>
              <a:ext uri="{FF2B5EF4-FFF2-40B4-BE49-F238E27FC236}">
                <a16:creationId xmlns:a16="http://schemas.microsoft.com/office/drawing/2014/main" id="{69CC3279-F750-9EFA-D013-22313E83A695}"/>
              </a:ext>
            </a:extLst>
          </p:cNvPr>
          <p:cNvSpPr/>
          <p:nvPr/>
        </p:nvSpPr>
        <p:spPr>
          <a:xfrm>
            <a:off x="2719323" y="5621578"/>
            <a:ext cx="621030" cy="369570"/>
          </a:xfrm>
          <a:custGeom>
            <a:avLst/>
            <a:gdLst/>
            <a:ahLst/>
            <a:cxnLst/>
            <a:rect l="l" t="t" r="r" b="b"/>
            <a:pathLst>
              <a:path w="621029" h="369570">
                <a:moveTo>
                  <a:pt x="620687" y="0"/>
                </a:moveTo>
                <a:lnTo>
                  <a:pt x="0" y="0"/>
                </a:lnTo>
                <a:lnTo>
                  <a:pt x="0" y="369328"/>
                </a:lnTo>
                <a:lnTo>
                  <a:pt x="620687" y="369328"/>
                </a:lnTo>
                <a:lnTo>
                  <a:pt x="6206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3" name="object 30">
            <a:extLst>
              <a:ext uri="{FF2B5EF4-FFF2-40B4-BE49-F238E27FC236}">
                <a16:creationId xmlns:a16="http://schemas.microsoft.com/office/drawing/2014/main" id="{0B6E11A4-9E0A-BF67-1DBE-FDB056B63691}"/>
              </a:ext>
            </a:extLst>
          </p:cNvPr>
          <p:cNvSpPr/>
          <p:nvPr/>
        </p:nvSpPr>
        <p:spPr>
          <a:xfrm>
            <a:off x="6623300" y="1363959"/>
            <a:ext cx="4099568" cy="101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4" name="object 31">
            <a:extLst>
              <a:ext uri="{FF2B5EF4-FFF2-40B4-BE49-F238E27FC236}">
                <a16:creationId xmlns:a16="http://schemas.microsoft.com/office/drawing/2014/main" id="{E018530C-97B4-890E-9526-569DACBC65D5}"/>
              </a:ext>
            </a:extLst>
          </p:cNvPr>
          <p:cNvSpPr/>
          <p:nvPr/>
        </p:nvSpPr>
        <p:spPr>
          <a:xfrm>
            <a:off x="6573011" y="1333500"/>
            <a:ext cx="4239767" cy="998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5" name="object 32">
            <a:extLst>
              <a:ext uri="{FF2B5EF4-FFF2-40B4-BE49-F238E27FC236}">
                <a16:creationId xmlns:a16="http://schemas.microsoft.com/office/drawing/2014/main" id="{CDD74B90-3326-849C-3B2A-C70CED4D778C}"/>
              </a:ext>
            </a:extLst>
          </p:cNvPr>
          <p:cNvSpPr txBox="1"/>
          <p:nvPr/>
        </p:nvSpPr>
        <p:spPr>
          <a:xfrm>
            <a:off x="6640703" y="1368894"/>
            <a:ext cx="4006215" cy="871392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 marR="109855" algn="just">
              <a:lnSpc>
                <a:spcPct val="100000"/>
              </a:lnSpc>
              <a:spcBef>
                <a:spcPts val="315"/>
              </a:spcBef>
            </a:pPr>
            <a:r>
              <a:rPr sz="1800" b="1" spc="-5" dirty="0">
                <a:latin typeface="Comic Sans MS" panose="030F0702030302020204" pitchFamily="66" charset="0"/>
                <a:cs typeface="Arial" panose="020B0604020202020204"/>
              </a:rPr>
              <a:t>Kernel </a:t>
            </a:r>
            <a:r>
              <a:rPr sz="1800" b="1" spc="5" dirty="0">
                <a:latin typeface="Comic Sans MS" panose="030F0702030302020204" pitchFamily="66" charset="0"/>
                <a:cs typeface="Arial" panose="020B0604020202020204"/>
              </a:rPr>
              <a:t>where </a:t>
            </a:r>
            <a:r>
              <a:rPr sz="1800" b="1" spc="-5" dirty="0">
                <a:latin typeface="Comic Sans MS" panose="030F0702030302020204" pitchFamily="66" charset="0"/>
                <a:cs typeface="Arial" panose="020B0604020202020204"/>
              </a:rPr>
              <a:t>most math cannot</a:t>
            </a:r>
            <a:r>
              <a:rPr sz="1800" b="1" spc="-8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800" b="1" dirty="0">
                <a:latin typeface="Comic Sans MS" panose="030F0702030302020204" pitchFamily="66" charset="0"/>
                <a:cs typeface="Arial" panose="020B0604020202020204"/>
              </a:rPr>
              <a:t>be  </a:t>
            </a:r>
            <a:r>
              <a:rPr sz="1800" b="1" spc="-5" dirty="0">
                <a:latin typeface="Comic Sans MS" panose="030F0702030302020204" pitchFamily="66" charset="0"/>
                <a:cs typeface="Arial" panose="020B0604020202020204"/>
              </a:rPr>
              <a:t>executed </a:t>
            </a:r>
            <a:r>
              <a:rPr sz="1800" b="1" dirty="0">
                <a:latin typeface="Comic Sans MS" panose="030F0702030302020204" pitchFamily="66" charset="0"/>
                <a:cs typeface="Arial" panose="020B0604020202020204"/>
              </a:rPr>
              <a:t>until </a:t>
            </a:r>
            <a:r>
              <a:rPr sz="1800" b="1" spc="-5" dirty="0">
                <a:latin typeface="Comic Sans MS" panose="030F0702030302020204" pitchFamily="66" charset="0"/>
                <a:cs typeface="Arial" panose="020B0604020202020204"/>
              </a:rPr>
              <a:t>all data is loaded by  the</a:t>
            </a:r>
            <a:r>
              <a:rPr sz="1800" b="1" spc="-1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sz="1800" b="1" spc="-5" dirty="0" err="1">
                <a:latin typeface="Comic Sans MS" panose="030F0702030302020204" pitchFamily="66" charset="0"/>
                <a:cs typeface="Arial" panose="020B0604020202020204"/>
              </a:rPr>
              <a:t>threadblock</a:t>
            </a:r>
            <a:endParaRPr sz="18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36" name="object 33">
            <a:extLst>
              <a:ext uri="{FF2B5EF4-FFF2-40B4-BE49-F238E27FC236}">
                <a16:creationId xmlns:a16="http://schemas.microsoft.com/office/drawing/2014/main" id="{4CDB451F-5A4C-6BAA-3221-8865E01A562E}"/>
              </a:ext>
            </a:extLst>
          </p:cNvPr>
          <p:cNvSpPr txBox="1"/>
          <p:nvPr/>
        </p:nvSpPr>
        <p:spPr>
          <a:xfrm>
            <a:off x="2798445" y="5671529"/>
            <a:ext cx="62103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time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DD530E-5ACA-701F-3D28-01D44BC3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7842468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1B4A8-4E3A-7E41-ED1D-E518B633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28BC9D6-E1FE-B396-7AF4-01F0CE07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LATENCY HIDING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565B7E-A810-0BA7-1D51-95DAD75E1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CUDA C source code:</a:t>
            </a:r>
          </a:p>
          <a:p>
            <a:r>
              <a:rPr lang="en-US" dirty="0"/>
              <a:t>int </a:t>
            </a:r>
            <a:r>
              <a:rPr lang="en-US" dirty="0" err="1"/>
              <a:t>idx</a:t>
            </a:r>
            <a:r>
              <a:rPr lang="en-US" dirty="0"/>
              <a:t> = </a:t>
            </a:r>
            <a:r>
              <a:rPr lang="en-US" dirty="0" err="1"/>
              <a:t>threadIdx.x+blockDim.x</a:t>
            </a:r>
            <a:r>
              <a:rPr lang="en-US" dirty="0"/>
              <a:t>*</a:t>
            </a:r>
            <a:r>
              <a:rPr lang="en-US" dirty="0" err="1"/>
              <a:t>blockIdx.x</a:t>
            </a:r>
            <a:r>
              <a:rPr lang="en-US" dirty="0"/>
              <a:t>; </a:t>
            </a:r>
          </a:p>
          <a:p>
            <a:r>
              <a:rPr lang="en-US" dirty="0"/>
              <a:t>c[</a:t>
            </a:r>
            <a:r>
              <a:rPr lang="en-US" dirty="0" err="1"/>
              <a:t>idx</a:t>
            </a:r>
            <a:r>
              <a:rPr lang="en-US" dirty="0"/>
              <a:t>] = a[</a:t>
            </a:r>
            <a:r>
              <a:rPr lang="en-US" dirty="0" err="1"/>
              <a:t>idx</a:t>
            </a:r>
            <a:r>
              <a:rPr lang="en-US" dirty="0"/>
              <a:t>] * b[</a:t>
            </a:r>
            <a:r>
              <a:rPr lang="en-US" dirty="0" err="1"/>
              <a:t>idx</a:t>
            </a:r>
            <a:r>
              <a:rPr lang="en-US" dirty="0"/>
              <a:t>];</a:t>
            </a:r>
          </a:p>
          <a:p>
            <a:r>
              <a:rPr lang="en-US" dirty="0"/>
              <a:t>In machine code:</a:t>
            </a:r>
          </a:p>
          <a:p>
            <a:r>
              <a:rPr lang="en-US" dirty="0"/>
              <a:t>I0: LD R0, a[</a:t>
            </a:r>
            <a:r>
              <a:rPr lang="en-US" dirty="0" err="1"/>
              <a:t>idx</a:t>
            </a:r>
            <a:r>
              <a:rPr lang="en-US" dirty="0"/>
              <a:t>];</a:t>
            </a:r>
          </a:p>
          <a:p>
            <a:r>
              <a:rPr lang="en-US" dirty="0"/>
              <a:t>I1: LD R1, b[</a:t>
            </a:r>
            <a:r>
              <a:rPr lang="en-US" dirty="0" err="1"/>
              <a:t>idx</a:t>
            </a:r>
            <a:r>
              <a:rPr lang="en-US" dirty="0"/>
              <a:t>];  </a:t>
            </a:r>
          </a:p>
          <a:p>
            <a:r>
              <a:rPr lang="en-US" dirty="0"/>
              <a:t>I2: MPY R2,R0,R1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4E76CB-C1E2-94C7-630C-6DB191DC3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208063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47089-4FA2-0BF2-D647-79A7DB1AE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2C58121-595C-B90C-941A-3DDAEB36C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297144" cy="792088"/>
          </a:xfrm>
        </p:spPr>
        <p:txBody>
          <a:bodyPr/>
          <a:lstStyle/>
          <a:p>
            <a:r>
              <a:rPr lang="en-US" dirty="0"/>
              <a:t>GPU LATENCY HIDING – INSIDE THE SM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ABF95FF-77A6-AA6A-DC88-93A4B65E85CD}"/>
              </a:ext>
            </a:extLst>
          </p:cNvPr>
          <p:cNvSpPr txBox="1"/>
          <p:nvPr/>
        </p:nvSpPr>
        <p:spPr>
          <a:xfrm>
            <a:off x="9929192" y="1368462"/>
            <a:ext cx="277441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I0: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R0,</a:t>
            </a:r>
            <a:r>
              <a:rPr sz="1600" spc="-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I1: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R1,</a:t>
            </a:r>
            <a:r>
              <a:rPr sz="1600" spc="-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D499DD5B-1EF9-C161-6D90-1B7609938BCD}"/>
              </a:ext>
            </a:extLst>
          </p:cNvPr>
          <p:cNvSpPr txBox="1"/>
          <p:nvPr/>
        </p:nvSpPr>
        <p:spPr>
          <a:xfrm>
            <a:off x="9929193" y="2206662"/>
            <a:ext cx="20875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I2: 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MPY</a:t>
            </a:r>
            <a:r>
              <a:rPr sz="1600" spc="-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R2,R0,R1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EA48BF58-ECD2-416E-25BE-A4CB2B188054}"/>
              </a:ext>
            </a:extLst>
          </p:cNvPr>
          <p:cNvSpPr txBox="1"/>
          <p:nvPr/>
        </p:nvSpPr>
        <p:spPr>
          <a:xfrm>
            <a:off x="673608" y="2534155"/>
            <a:ext cx="830648" cy="32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warps</a:t>
            </a:r>
            <a:endParaRPr sz="1800" dirty="0">
              <a:latin typeface="Comic Sans MS" panose="030F0702030302020204" pitchFamily="66" charset="0"/>
              <a:cs typeface="Arial" panose="020B0604020202020204"/>
            </a:endParaRP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0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1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2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3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4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5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6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7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8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9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12700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F1CE50DC-5764-572A-4930-30766D7E51EF}"/>
              </a:ext>
            </a:extLst>
          </p:cNvPr>
          <p:cNvSpPr txBox="1"/>
          <p:nvPr/>
        </p:nvSpPr>
        <p:spPr>
          <a:xfrm>
            <a:off x="5785839" y="1915411"/>
            <a:ext cx="189671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clock</a:t>
            </a:r>
            <a:r>
              <a:rPr sz="2000" spc="-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cycles: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9DF2AE8C-EA09-6AC4-FAF9-FF4F1B3D65A7}"/>
              </a:ext>
            </a:extLst>
          </p:cNvPr>
          <p:cNvSpPr txBox="1"/>
          <p:nvPr/>
        </p:nvSpPr>
        <p:spPr>
          <a:xfrm>
            <a:off x="1548040" y="2180586"/>
            <a:ext cx="1130787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C0 C1 </a:t>
            </a:r>
            <a:r>
              <a:rPr lang="en-US" sz="180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C2 C3</a:t>
            </a:r>
            <a:r>
              <a:rPr lang="en-US" sz="180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 C4 C5 </a:t>
            </a:r>
            <a:r>
              <a:rPr lang="en-US" sz="180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C6 C7</a:t>
            </a:r>
            <a:r>
              <a:rPr lang="en-US" sz="180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 C8 C9</a:t>
            </a:r>
            <a:r>
              <a:rPr lang="en-US" sz="180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C10 </a:t>
            </a:r>
            <a:r>
              <a:rPr sz="1800" spc="-45" dirty="0">
                <a:latin typeface="Comic Sans MS" panose="030F0702030302020204" pitchFamily="66" charset="0"/>
                <a:cs typeface="Arial" panose="020B0604020202020204"/>
              </a:rPr>
              <a:t>C11</a:t>
            </a:r>
            <a:r>
              <a:rPr lang="en-US" sz="18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800" spc="-4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C12 C13</a:t>
            </a:r>
            <a:r>
              <a:rPr lang="en-US" sz="1800" spc="-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 C14 C15</a:t>
            </a:r>
            <a:r>
              <a:rPr lang="en-US" sz="1800" spc="-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 C16</a:t>
            </a:r>
            <a:r>
              <a:rPr lang="en-US" sz="1800" spc="-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C17 </a:t>
            </a:r>
            <a:r>
              <a:rPr lang="en-US" sz="1800" spc="-5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C18</a:t>
            </a:r>
            <a:r>
              <a:rPr sz="1800" spc="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B386DE8-1699-8319-5742-E3BAAE1C66A5}"/>
              </a:ext>
            </a:extLst>
          </p:cNvPr>
          <p:cNvSpPr txBox="1"/>
          <p:nvPr/>
        </p:nvSpPr>
        <p:spPr>
          <a:xfrm>
            <a:off x="1000200" y="1296194"/>
            <a:ext cx="108204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More warps sequentially access data elements without overlapping.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E64136-B595-8C61-A60B-6D06DAAA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122262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0E9E-D057-8C53-E09D-8E88BFF12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C806A18-9F86-322D-4F1C-70899D63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297144" cy="792088"/>
          </a:xfrm>
        </p:spPr>
        <p:txBody>
          <a:bodyPr/>
          <a:lstStyle/>
          <a:p>
            <a:r>
              <a:rPr lang="en-US" dirty="0"/>
              <a:t>GPU LATENCY HIDING – INSIDE THE SM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52472FA-871E-2B72-6382-21ACFC616794}"/>
              </a:ext>
            </a:extLst>
          </p:cNvPr>
          <p:cNvSpPr txBox="1"/>
          <p:nvPr/>
        </p:nvSpPr>
        <p:spPr>
          <a:xfrm>
            <a:off x="9929192" y="1368462"/>
            <a:ext cx="277441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I0: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R0,</a:t>
            </a:r>
            <a:r>
              <a:rPr sz="1600" spc="-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I1: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R1,</a:t>
            </a:r>
            <a:r>
              <a:rPr sz="1600" spc="-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DA14348-09BB-212A-589C-97C2F14918D8}"/>
              </a:ext>
            </a:extLst>
          </p:cNvPr>
          <p:cNvSpPr txBox="1"/>
          <p:nvPr/>
        </p:nvSpPr>
        <p:spPr>
          <a:xfrm>
            <a:off x="9929193" y="2206662"/>
            <a:ext cx="20875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I2: 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MPY</a:t>
            </a:r>
            <a:r>
              <a:rPr sz="1600" spc="-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R2,R0,R1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A75908AE-E51B-FF79-76FB-0BE3157F4490}"/>
              </a:ext>
            </a:extLst>
          </p:cNvPr>
          <p:cNvSpPr txBox="1"/>
          <p:nvPr/>
        </p:nvSpPr>
        <p:spPr>
          <a:xfrm>
            <a:off x="673608" y="2534155"/>
            <a:ext cx="830648" cy="32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warps</a:t>
            </a:r>
            <a:endParaRPr sz="1800" dirty="0">
              <a:latin typeface="Comic Sans MS" panose="030F0702030302020204" pitchFamily="66" charset="0"/>
              <a:cs typeface="Arial" panose="020B0604020202020204"/>
            </a:endParaRP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0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1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2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3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4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5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6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7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8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9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12700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4E564EBA-A42D-C58A-720C-CE8B0729DFE4}"/>
              </a:ext>
            </a:extLst>
          </p:cNvPr>
          <p:cNvSpPr txBox="1"/>
          <p:nvPr/>
        </p:nvSpPr>
        <p:spPr>
          <a:xfrm>
            <a:off x="5785839" y="1915411"/>
            <a:ext cx="189671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clock</a:t>
            </a:r>
            <a:r>
              <a:rPr sz="2000" spc="-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cycles: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A581FE16-D485-E4A7-FAC3-44EC345B465B}"/>
              </a:ext>
            </a:extLst>
          </p:cNvPr>
          <p:cNvSpPr txBox="1"/>
          <p:nvPr/>
        </p:nvSpPr>
        <p:spPr>
          <a:xfrm>
            <a:off x="1548040" y="2180586"/>
            <a:ext cx="1130787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C0 C1  C2 C3  C4 C5  C6 C7  C8 C9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C10 </a:t>
            </a:r>
            <a:r>
              <a:rPr lang="en-US" altLang="zh-CN" sz="1800" spc="-45" dirty="0">
                <a:latin typeface="Comic Sans MS" panose="030F0702030302020204" pitchFamily="66" charset="0"/>
                <a:cs typeface="Arial" panose="020B0604020202020204"/>
              </a:rPr>
              <a:t>C11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C12 C13  C14 C15  C16 C17  C18</a:t>
            </a:r>
            <a:r>
              <a:rPr lang="en-US" altLang="zh-CN" sz="1800" spc="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BBC1B528-9F66-7A8E-BF22-FF7663FA6559}"/>
              </a:ext>
            </a:extLst>
          </p:cNvPr>
          <p:cNvSpPr/>
          <p:nvPr/>
        </p:nvSpPr>
        <p:spPr>
          <a:xfrm>
            <a:off x="1854183" y="2829975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AC45079D-B47C-B8B9-9F32-17151C0E5746}"/>
              </a:ext>
            </a:extLst>
          </p:cNvPr>
          <p:cNvSpPr/>
          <p:nvPr/>
        </p:nvSpPr>
        <p:spPr>
          <a:xfrm>
            <a:off x="1861168" y="2829975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1C69E96C-7A52-BB2D-661C-53285CA3DA33}"/>
              </a:ext>
            </a:extLst>
          </p:cNvPr>
          <p:cNvSpPr/>
          <p:nvPr/>
        </p:nvSpPr>
        <p:spPr>
          <a:xfrm>
            <a:off x="1501299" y="2826598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729F1EC2-CF11-5679-6378-ECB07672AA90}"/>
              </a:ext>
            </a:extLst>
          </p:cNvPr>
          <p:cNvSpPr/>
          <p:nvPr/>
        </p:nvSpPr>
        <p:spPr>
          <a:xfrm>
            <a:off x="1494314" y="2830408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AEFEAA37-D0BF-6AF4-99F1-4EAD2773337B}"/>
              </a:ext>
            </a:extLst>
          </p:cNvPr>
          <p:cNvSpPr txBox="1"/>
          <p:nvPr/>
        </p:nvSpPr>
        <p:spPr>
          <a:xfrm>
            <a:off x="1587196" y="2792348"/>
            <a:ext cx="56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5125" algn="l"/>
              </a:tabLst>
            </a:pPr>
            <a:r>
              <a:rPr sz="2700" spc="-7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700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E587C9B5-D19E-A0C7-9FA3-DAA9E73B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322437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3E848-25BF-650E-24A1-BB24B2D63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5F6FFC9-EE7C-0F2F-EDB8-4B6A84C49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297144" cy="792088"/>
          </a:xfrm>
        </p:spPr>
        <p:txBody>
          <a:bodyPr/>
          <a:lstStyle/>
          <a:p>
            <a:r>
              <a:rPr lang="en-US" dirty="0"/>
              <a:t>GPU LATENCY HIDING – INSIDE THE SM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5A8A793-A059-6D64-2C3C-932397BA6F86}"/>
              </a:ext>
            </a:extLst>
          </p:cNvPr>
          <p:cNvSpPr txBox="1"/>
          <p:nvPr/>
        </p:nvSpPr>
        <p:spPr>
          <a:xfrm>
            <a:off x="9929192" y="1368462"/>
            <a:ext cx="277441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I0: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R0,</a:t>
            </a:r>
            <a:r>
              <a:rPr sz="1600" spc="-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I1: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R1,</a:t>
            </a:r>
            <a:r>
              <a:rPr sz="1600" spc="-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E0162A68-291C-6E88-AC30-9E66E1E1DD95}"/>
              </a:ext>
            </a:extLst>
          </p:cNvPr>
          <p:cNvSpPr txBox="1"/>
          <p:nvPr/>
        </p:nvSpPr>
        <p:spPr>
          <a:xfrm>
            <a:off x="9929193" y="2206662"/>
            <a:ext cx="20875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I2: 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MPY</a:t>
            </a:r>
            <a:r>
              <a:rPr sz="1600" spc="-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R2,R0,R1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319B72DC-1D79-3175-9D21-D1CE5DB061C4}"/>
              </a:ext>
            </a:extLst>
          </p:cNvPr>
          <p:cNvSpPr txBox="1"/>
          <p:nvPr/>
        </p:nvSpPr>
        <p:spPr>
          <a:xfrm>
            <a:off x="673608" y="2534155"/>
            <a:ext cx="830648" cy="32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warps</a:t>
            </a:r>
            <a:endParaRPr sz="1800" dirty="0">
              <a:latin typeface="Comic Sans MS" panose="030F0702030302020204" pitchFamily="66" charset="0"/>
              <a:cs typeface="Arial" panose="020B0604020202020204"/>
            </a:endParaRP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0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1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2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3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4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5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6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7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8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9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12700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DF0DCAAC-007A-1AA0-BE77-ABB76F662B29}"/>
              </a:ext>
            </a:extLst>
          </p:cNvPr>
          <p:cNvSpPr txBox="1"/>
          <p:nvPr/>
        </p:nvSpPr>
        <p:spPr>
          <a:xfrm>
            <a:off x="5785839" y="1915411"/>
            <a:ext cx="189671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clock</a:t>
            </a:r>
            <a:r>
              <a:rPr sz="2000" spc="-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cycles: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98602A23-9C0F-D1CC-5BEC-D827C151F7F0}"/>
              </a:ext>
            </a:extLst>
          </p:cNvPr>
          <p:cNvSpPr txBox="1"/>
          <p:nvPr/>
        </p:nvSpPr>
        <p:spPr>
          <a:xfrm>
            <a:off x="1548040" y="2180586"/>
            <a:ext cx="1130787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C0 C1  C2 C3  C4 C5  C6 C7  C8 C9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C10 </a:t>
            </a:r>
            <a:r>
              <a:rPr lang="en-US" altLang="zh-CN" sz="1800" spc="-45" dirty="0">
                <a:latin typeface="Comic Sans MS" panose="030F0702030302020204" pitchFamily="66" charset="0"/>
                <a:cs typeface="Arial" panose="020B0604020202020204"/>
              </a:rPr>
              <a:t>C11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C12 C13  C14 C15  C16 C17  C18</a:t>
            </a:r>
            <a:r>
              <a:rPr lang="en-US" altLang="zh-CN" sz="1800" spc="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E363CE1F-007B-4887-E190-4E24F551DAEA}"/>
              </a:ext>
            </a:extLst>
          </p:cNvPr>
          <p:cNvSpPr/>
          <p:nvPr/>
        </p:nvSpPr>
        <p:spPr>
          <a:xfrm>
            <a:off x="1867499" y="281319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3741806E-CB54-D9A1-A850-2B9B5B574B38}"/>
              </a:ext>
            </a:extLst>
          </p:cNvPr>
          <p:cNvSpPr/>
          <p:nvPr/>
        </p:nvSpPr>
        <p:spPr>
          <a:xfrm>
            <a:off x="1867499" y="281319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4AC26305-104B-5762-620F-725D08CC65FE}"/>
              </a:ext>
            </a:extLst>
          </p:cNvPr>
          <p:cNvSpPr/>
          <p:nvPr/>
        </p:nvSpPr>
        <p:spPr>
          <a:xfrm>
            <a:off x="1514615" y="2809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D0B12DFD-9233-850C-11D6-9AC8A1A491EB}"/>
              </a:ext>
            </a:extLst>
          </p:cNvPr>
          <p:cNvSpPr/>
          <p:nvPr/>
        </p:nvSpPr>
        <p:spPr>
          <a:xfrm>
            <a:off x="1514615" y="2809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CD41825E-5535-A9FB-4542-6316D74D76B8}"/>
              </a:ext>
            </a:extLst>
          </p:cNvPr>
          <p:cNvSpPr txBox="1"/>
          <p:nvPr/>
        </p:nvSpPr>
        <p:spPr>
          <a:xfrm>
            <a:off x="1600512" y="2775570"/>
            <a:ext cx="56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5125" algn="l"/>
              </a:tabLst>
            </a:pPr>
            <a:r>
              <a:rPr sz="2700" spc="-7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700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402AA7-E0DB-79F8-0BA1-5182DEE9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957207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DD06-3333-C76F-FE3D-3CB2066B8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FC5BFA9-EDA4-39AB-86DB-80110FD4A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297144" cy="792088"/>
          </a:xfrm>
        </p:spPr>
        <p:txBody>
          <a:bodyPr/>
          <a:lstStyle/>
          <a:p>
            <a:r>
              <a:rPr lang="en-US" dirty="0"/>
              <a:t>GPU LATENCY HIDING – INSIDE THE SM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414AB130-C690-E663-F3B3-490F53061B03}"/>
              </a:ext>
            </a:extLst>
          </p:cNvPr>
          <p:cNvSpPr txBox="1"/>
          <p:nvPr/>
        </p:nvSpPr>
        <p:spPr>
          <a:xfrm>
            <a:off x="9929192" y="1368462"/>
            <a:ext cx="277441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I0: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R0,</a:t>
            </a:r>
            <a:r>
              <a:rPr sz="1600" spc="-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I1: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R1,</a:t>
            </a:r>
            <a:r>
              <a:rPr sz="1600" spc="-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5CC00F45-F912-3100-DDAD-B9B81BD4DFF7}"/>
              </a:ext>
            </a:extLst>
          </p:cNvPr>
          <p:cNvSpPr txBox="1"/>
          <p:nvPr/>
        </p:nvSpPr>
        <p:spPr>
          <a:xfrm>
            <a:off x="9929193" y="2206662"/>
            <a:ext cx="20875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I2: 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MPY</a:t>
            </a:r>
            <a:r>
              <a:rPr sz="1600" spc="-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R2,R0,R1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3AC391B7-1592-9243-C4D1-02AD150B8A47}"/>
              </a:ext>
            </a:extLst>
          </p:cNvPr>
          <p:cNvSpPr txBox="1"/>
          <p:nvPr/>
        </p:nvSpPr>
        <p:spPr>
          <a:xfrm>
            <a:off x="673608" y="2534155"/>
            <a:ext cx="830648" cy="32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warps</a:t>
            </a:r>
            <a:endParaRPr sz="1800" dirty="0">
              <a:latin typeface="Comic Sans MS" panose="030F0702030302020204" pitchFamily="66" charset="0"/>
              <a:cs typeface="Arial" panose="020B0604020202020204"/>
            </a:endParaRP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0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1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2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3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4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5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6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7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8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9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12700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08B82E62-ADC0-A266-9A5F-C31B68AEFFCA}"/>
              </a:ext>
            </a:extLst>
          </p:cNvPr>
          <p:cNvSpPr txBox="1"/>
          <p:nvPr/>
        </p:nvSpPr>
        <p:spPr>
          <a:xfrm>
            <a:off x="5785839" y="1915411"/>
            <a:ext cx="189671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clock</a:t>
            </a:r>
            <a:r>
              <a:rPr sz="2000" spc="-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cycles: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1030763A-C32E-EB4B-84EF-444F46C59D34}"/>
              </a:ext>
            </a:extLst>
          </p:cNvPr>
          <p:cNvSpPr txBox="1"/>
          <p:nvPr/>
        </p:nvSpPr>
        <p:spPr>
          <a:xfrm>
            <a:off x="1548040" y="2180586"/>
            <a:ext cx="1130787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C0 C1  C2 C3  C4 C5  C6 C7  C8 C9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C10 </a:t>
            </a:r>
            <a:r>
              <a:rPr lang="en-US" altLang="zh-CN" sz="1800" spc="-45" dirty="0">
                <a:latin typeface="Comic Sans MS" panose="030F0702030302020204" pitchFamily="66" charset="0"/>
                <a:cs typeface="Arial" panose="020B0604020202020204"/>
              </a:rPr>
              <a:t>C11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C12 C13  C14 C15  C16 C17  C18</a:t>
            </a:r>
            <a:r>
              <a:rPr lang="en-US" altLang="zh-CN" sz="1800" spc="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28591453-BDCF-5C64-6D8A-D4CF5E4F2C06}"/>
              </a:ext>
            </a:extLst>
          </p:cNvPr>
          <p:cNvSpPr/>
          <p:nvPr/>
        </p:nvSpPr>
        <p:spPr>
          <a:xfrm>
            <a:off x="1867499" y="281319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BB665517-0ECF-6E36-24B5-A814F224FD52}"/>
              </a:ext>
            </a:extLst>
          </p:cNvPr>
          <p:cNvSpPr/>
          <p:nvPr/>
        </p:nvSpPr>
        <p:spPr>
          <a:xfrm>
            <a:off x="1867499" y="281319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6E3E3DC5-9E3A-B0FC-831F-8F7B1BF9931F}"/>
              </a:ext>
            </a:extLst>
          </p:cNvPr>
          <p:cNvSpPr/>
          <p:nvPr/>
        </p:nvSpPr>
        <p:spPr>
          <a:xfrm>
            <a:off x="1514615" y="2809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10EC2BB6-9E67-FF86-DDB0-6151B0C17206}"/>
              </a:ext>
            </a:extLst>
          </p:cNvPr>
          <p:cNvSpPr/>
          <p:nvPr/>
        </p:nvSpPr>
        <p:spPr>
          <a:xfrm>
            <a:off x="1514615" y="2809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E50E4D07-25FB-1594-E680-9D41F4645936}"/>
              </a:ext>
            </a:extLst>
          </p:cNvPr>
          <p:cNvSpPr txBox="1"/>
          <p:nvPr/>
        </p:nvSpPr>
        <p:spPr>
          <a:xfrm>
            <a:off x="1600512" y="2775570"/>
            <a:ext cx="56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5125" algn="l"/>
              </a:tabLst>
            </a:pPr>
            <a:r>
              <a:rPr sz="2700" spc="-7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700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4617D3BB-544B-3BFF-6560-55BC0A059F04}"/>
              </a:ext>
            </a:extLst>
          </p:cNvPr>
          <p:cNvSpPr/>
          <p:nvPr/>
        </p:nvSpPr>
        <p:spPr>
          <a:xfrm>
            <a:off x="2224918" y="311921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CC24C32C-275D-18B7-8C41-39126C48C314}"/>
              </a:ext>
            </a:extLst>
          </p:cNvPr>
          <p:cNvSpPr/>
          <p:nvPr/>
        </p:nvSpPr>
        <p:spPr>
          <a:xfrm>
            <a:off x="2224918" y="311921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85BDFB10-DF80-8ECE-B97C-E5F5C67B81EB}"/>
              </a:ext>
            </a:extLst>
          </p:cNvPr>
          <p:cNvSpPr txBox="1"/>
          <p:nvPr/>
        </p:nvSpPr>
        <p:spPr>
          <a:xfrm>
            <a:off x="2310815" y="3078983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CA198A26-793D-F095-A18B-4AA34802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5824687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AEA22-692D-D11B-0694-2B088B969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683F569-2738-2AFC-881D-577AC047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297144" cy="792088"/>
          </a:xfrm>
        </p:spPr>
        <p:txBody>
          <a:bodyPr/>
          <a:lstStyle/>
          <a:p>
            <a:r>
              <a:rPr lang="en-US" dirty="0"/>
              <a:t>GPU LATENCY HIDING – INSIDE THE SM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64EC0D3-A886-188B-F7FE-8A0762C6141B}"/>
              </a:ext>
            </a:extLst>
          </p:cNvPr>
          <p:cNvSpPr txBox="1"/>
          <p:nvPr/>
        </p:nvSpPr>
        <p:spPr>
          <a:xfrm>
            <a:off x="9929192" y="1368462"/>
            <a:ext cx="277441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I0: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R0,</a:t>
            </a:r>
            <a:r>
              <a:rPr sz="1600" spc="-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I1: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R1,</a:t>
            </a:r>
            <a:r>
              <a:rPr sz="1600" spc="-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499AA137-AEC6-827A-8590-802C12536F8B}"/>
              </a:ext>
            </a:extLst>
          </p:cNvPr>
          <p:cNvSpPr txBox="1"/>
          <p:nvPr/>
        </p:nvSpPr>
        <p:spPr>
          <a:xfrm>
            <a:off x="9929193" y="2206662"/>
            <a:ext cx="20875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I2: 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MPY</a:t>
            </a:r>
            <a:r>
              <a:rPr sz="1600" spc="-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R2,R0,R1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4D54C3A8-6CB0-34E8-9B48-E39F5FD756A4}"/>
              </a:ext>
            </a:extLst>
          </p:cNvPr>
          <p:cNvSpPr txBox="1"/>
          <p:nvPr/>
        </p:nvSpPr>
        <p:spPr>
          <a:xfrm>
            <a:off x="673608" y="2534155"/>
            <a:ext cx="830648" cy="32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warps</a:t>
            </a:r>
            <a:endParaRPr sz="1800" dirty="0">
              <a:latin typeface="Comic Sans MS" panose="030F0702030302020204" pitchFamily="66" charset="0"/>
              <a:cs typeface="Arial" panose="020B0604020202020204"/>
            </a:endParaRP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0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1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2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3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4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5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6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7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8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9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12700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6E9D3571-AF6D-F9AC-4A84-00477F80EF5E}"/>
              </a:ext>
            </a:extLst>
          </p:cNvPr>
          <p:cNvSpPr txBox="1"/>
          <p:nvPr/>
        </p:nvSpPr>
        <p:spPr>
          <a:xfrm>
            <a:off x="5785839" y="1915411"/>
            <a:ext cx="189671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clock</a:t>
            </a:r>
            <a:r>
              <a:rPr sz="2000" spc="-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cycles: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B34FF15A-A6C4-4550-52DE-BD9D97B57738}"/>
              </a:ext>
            </a:extLst>
          </p:cNvPr>
          <p:cNvSpPr txBox="1"/>
          <p:nvPr/>
        </p:nvSpPr>
        <p:spPr>
          <a:xfrm>
            <a:off x="1548040" y="2180586"/>
            <a:ext cx="1130787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C0 C1  C2 C3  C4 C5  C6 C7  C8 C9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C10 </a:t>
            </a:r>
            <a:r>
              <a:rPr lang="en-US" altLang="zh-CN" sz="1800" spc="-45" dirty="0">
                <a:latin typeface="Comic Sans MS" panose="030F0702030302020204" pitchFamily="66" charset="0"/>
                <a:cs typeface="Arial" panose="020B0604020202020204"/>
              </a:rPr>
              <a:t>C11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C12 C13  C14 C15  C16 C17  C18</a:t>
            </a:r>
            <a:r>
              <a:rPr lang="en-US" altLang="zh-CN" sz="1800" spc="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D884450F-0F7F-CF87-FC5A-8A9B959998AF}"/>
              </a:ext>
            </a:extLst>
          </p:cNvPr>
          <p:cNvSpPr/>
          <p:nvPr/>
        </p:nvSpPr>
        <p:spPr>
          <a:xfrm>
            <a:off x="1867499" y="281319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D7AF831D-3F6E-62CF-0C8A-8FAA897C4680}"/>
              </a:ext>
            </a:extLst>
          </p:cNvPr>
          <p:cNvSpPr/>
          <p:nvPr/>
        </p:nvSpPr>
        <p:spPr>
          <a:xfrm>
            <a:off x="1867499" y="281319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5C53E55C-8872-2838-9AA1-B04479AF0922}"/>
              </a:ext>
            </a:extLst>
          </p:cNvPr>
          <p:cNvSpPr/>
          <p:nvPr/>
        </p:nvSpPr>
        <p:spPr>
          <a:xfrm>
            <a:off x="1514615" y="2809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34522100-3A27-9A6B-A086-29C2CB6C443C}"/>
              </a:ext>
            </a:extLst>
          </p:cNvPr>
          <p:cNvSpPr/>
          <p:nvPr/>
        </p:nvSpPr>
        <p:spPr>
          <a:xfrm>
            <a:off x="1514615" y="2809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4786A87C-AD60-675D-142D-0A2140F4C460}"/>
              </a:ext>
            </a:extLst>
          </p:cNvPr>
          <p:cNvSpPr txBox="1"/>
          <p:nvPr/>
        </p:nvSpPr>
        <p:spPr>
          <a:xfrm>
            <a:off x="1600512" y="2775570"/>
            <a:ext cx="56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5125" algn="l"/>
              </a:tabLst>
            </a:pPr>
            <a:r>
              <a:rPr sz="2700" spc="-7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700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FF750B17-B7A9-DF87-1EDA-A8C0E528A44E}"/>
              </a:ext>
            </a:extLst>
          </p:cNvPr>
          <p:cNvSpPr/>
          <p:nvPr/>
        </p:nvSpPr>
        <p:spPr>
          <a:xfrm>
            <a:off x="2224918" y="311921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8B3C9ADC-C67A-6D72-CD00-98AB25AB7B5E}"/>
              </a:ext>
            </a:extLst>
          </p:cNvPr>
          <p:cNvSpPr/>
          <p:nvPr/>
        </p:nvSpPr>
        <p:spPr>
          <a:xfrm>
            <a:off x="2224918" y="311921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8E54E219-8119-5FFF-06D1-967D67E64030}"/>
              </a:ext>
            </a:extLst>
          </p:cNvPr>
          <p:cNvSpPr txBox="1"/>
          <p:nvPr/>
        </p:nvSpPr>
        <p:spPr>
          <a:xfrm>
            <a:off x="2310815" y="3078983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F64DDDE4-07C8-E249-784C-A84FE9E509A8}"/>
              </a:ext>
            </a:extLst>
          </p:cNvPr>
          <p:cNvSpPr/>
          <p:nvPr/>
        </p:nvSpPr>
        <p:spPr>
          <a:xfrm>
            <a:off x="2582796" y="3122154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1E72C393-D0B4-9B65-4807-934BD386BD80}"/>
              </a:ext>
            </a:extLst>
          </p:cNvPr>
          <p:cNvSpPr/>
          <p:nvPr/>
        </p:nvSpPr>
        <p:spPr>
          <a:xfrm>
            <a:off x="2582796" y="3122154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14DF71ED-8BEC-28E8-0348-AD659458CCCB}"/>
              </a:ext>
            </a:extLst>
          </p:cNvPr>
          <p:cNvSpPr txBox="1"/>
          <p:nvPr/>
        </p:nvSpPr>
        <p:spPr>
          <a:xfrm>
            <a:off x="2668693" y="3082676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AE739E91-E20B-48A3-B931-A6F0004A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18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218531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54965-21C4-8285-FAE5-52E877716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8085071-105C-A155-6F34-C549691F8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297144" cy="792088"/>
          </a:xfrm>
        </p:spPr>
        <p:txBody>
          <a:bodyPr/>
          <a:lstStyle/>
          <a:p>
            <a:r>
              <a:rPr lang="en-US" dirty="0"/>
              <a:t>GPU LATENCY HIDING – INSIDE THE SM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CAAF71A6-5CA3-1760-AC1C-10CF6DF44A40}"/>
              </a:ext>
            </a:extLst>
          </p:cNvPr>
          <p:cNvSpPr txBox="1"/>
          <p:nvPr/>
        </p:nvSpPr>
        <p:spPr>
          <a:xfrm>
            <a:off x="9929192" y="1368462"/>
            <a:ext cx="277441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I0: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R0,</a:t>
            </a:r>
            <a:r>
              <a:rPr sz="1600" spc="-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I1: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R1,</a:t>
            </a:r>
            <a:r>
              <a:rPr sz="1600" spc="-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1DC76397-81C1-B961-C690-6A150F792717}"/>
              </a:ext>
            </a:extLst>
          </p:cNvPr>
          <p:cNvSpPr txBox="1"/>
          <p:nvPr/>
        </p:nvSpPr>
        <p:spPr>
          <a:xfrm>
            <a:off x="9929193" y="2206662"/>
            <a:ext cx="20875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I2: 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MPY</a:t>
            </a:r>
            <a:r>
              <a:rPr sz="1600" spc="-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R2,R0,R1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34B1D8C3-0AE4-5E25-D0BF-114CC8D5ABD7}"/>
              </a:ext>
            </a:extLst>
          </p:cNvPr>
          <p:cNvSpPr txBox="1"/>
          <p:nvPr/>
        </p:nvSpPr>
        <p:spPr>
          <a:xfrm>
            <a:off x="673608" y="2534155"/>
            <a:ext cx="830648" cy="32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warps</a:t>
            </a:r>
            <a:endParaRPr sz="1800" dirty="0">
              <a:latin typeface="Comic Sans MS" panose="030F0702030302020204" pitchFamily="66" charset="0"/>
              <a:cs typeface="Arial" panose="020B0604020202020204"/>
            </a:endParaRP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0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1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2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3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4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5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6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7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8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9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12700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6A0F6F76-0BAC-BEFC-E674-D6304E1431F2}"/>
              </a:ext>
            </a:extLst>
          </p:cNvPr>
          <p:cNvSpPr txBox="1"/>
          <p:nvPr/>
        </p:nvSpPr>
        <p:spPr>
          <a:xfrm>
            <a:off x="5785839" y="1915411"/>
            <a:ext cx="189671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clock</a:t>
            </a:r>
            <a:r>
              <a:rPr sz="2000" spc="-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cycles: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28D39CAA-0977-92B2-3CCB-2322A48282BC}"/>
              </a:ext>
            </a:extLst>
          </p:cNvPr>
          <p:cNvSpPr txBox="1"/>
          <p:nvPr/>
        </p:nvSpPr>
        <p:spPr>
          <a:xfrm>
            <a:off x="1548040" y="2180586"/>
            <a:ext cx="1130787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C0 C1  C2 C3  C4 C5  C6 C7  C8 C9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C10 </a:t>
            </a:r>
            <a:r>
              <a:rPr lang="en-US" altLang="zh-CN" sz="1800" spc="-45" dirty="0">
                <a:latin typeface="Comic Sans MS" panose="030F0702030302020204" pitchFamily="66" charset="0"/>
                <a:cs typeface="Arial" panose="020B0604020202020204"/>
              </a:rPr>
              <a:t>C11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C12 C13  C14 C15  C16 C17  C18</a:t>
            </a:r>
            <a:r>
              <a:rPr lang="en-US" altLang="zh-CN" sz="1800" spc="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A5C23D22-1B23-8D62-F808-FA32F844A3E8}"/>
              </a:ext>
            </a:extLst>
          </p:cNvPr>
          <p:cNvSpPr/>
          <p:nvPr/>
        </p:nvSpPr>
        <p:spPr>
          <a:xfrm>
            <a:off x="1867499" y="281319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CDB93E06-59B4-FDDA-46E8-9EB7C9608D33}"/>
              </a:ext>
            </a:extLst>
          </p:cNvPr>
          <p:cNvSpPr/>
          <p:nvPr/>
        </p:nvSpPr>
        <p:spPr>
          <a:xfrm>
            <a:off x="1867499" y="281319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1127FC4F-D417-22AA-44EF-836672B380F0}"/>
              </a:ext>
            </a:extLst>
          </p:cNvPr>
          <p:cNvSpPr/>
          <p:nvPr/>
        </p:nvSpPr>
        <p:spPr>
          <a:xfrm>
            <a:off x="1514615" y="2809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92955449-BA3E-CA4E-ACFC-92ED51D3D461}"/>
              </a:ext>
            </a:extLst>
          </p:cNvPr>
          <p:cNvSpPr/>
          <p:nvPr/>
        </p:nvSpPr>
        <p:spPr>
          <a:xfrm>
            <a:off x="1514615" y="2809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06C99DCA-D2B1-C10C-7060-D539D2A4D394}"/>
              </a:ext>
            </a:extLst>
          </p:cNvPr>
          <p:cNvSpPr txBox="1"/>
          <p:nvPr/>
        </p:nvSpPr>
        <p:spPr>
          <a:xfrm>
            <a:off x="1600512" y="2775570"/>
            <a:ext cx="56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5125" algn="l"/>
              </a:tabLst>
            </a:pPr>
            <a:r>
              <a:rPr sz="2700" spc="-7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700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DB26585F-ECB2-2577-57C4-F7299E264F3A}"/>
              </a:ext>
            </a:extLst>
          </p:cNvPr>
          <p:cNvSpPr/>
          <p:nvPr/>
        </p:nvSpPr>
        <p:spPr>
          <a:xfrm>
            <a:off x="2603383" y="311465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1">
            <a:extLst>
              <a:ext uri="{FF2B5EF4-FFF2-40B4-BE49-F238E27FC236}">
                <a16:creationId xmlns:a16="http://schemas.microsoft.com/office/drawing/2014/main" id="{30016611-50E6-FF56-AC1E-7C324AF04A6E}"/>
              </a:ext>
            </a:extLst>
          </p:cNvPr>
          <p:cNvSpPr/>
          <p:nvPr/>
        </p:nvSpPr>
        <p:spPr>
          <a:xfrm>
            <a:off x="2603383" y="311465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2">
            <a:extLst>
              <a:ext uri="{FF2B5EF4-FFF2-40B4-BE49-F238E27FC236}">
                <a16:creationId xmlns:a16="http://schemas.microsoft.com/office/drawing/2014/main" id="{E88049B5-2AE3-8FBC-B259-F751182A37A8}"/>
              </a:ext>
            </a:extLst>
          </p:cNvPr>
          <p:cNvSpPr txBox="1"/>
          <p:nvPr/>
        </p:nvSpPr>
        <p:spPr>
          <a:xfrm>
            <a:off x="2689281" y="3075178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76B2C549-9897-216F-3B03-158F57381060}"/>
              </a:ext>
            </a:extLst>
          </p:cNvPr>
          <p:cNvSpPr/>
          <p:nvPr/>
        </p:nvSpPr>
        <p:spPr>
          <a:xfrm>
            <a:off x="2250501" y="311128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B0BB0711-C55E-FED6-E2AB-CECB6B4682ED}"/>
              </a:ext>
            </a:extLst>
          </p:cNvPr>
          <p:cNvSpPr/>
          <p:nvPr/>
        </p:nvSpPr>
        <p:spPr>
          <a:xfrm>
            <a:off x="2250501" y="311128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5">
            <a:extLst>
              <a:ext uri="{FF2B5EF4-FFF2-40B4-BE49-F238E27FC236}">
                <a16:creationId xmlns:a16="http://schemas.microsoft.com/office/drawing/2014/main" id="{40902271-A9AE-AADC-3D19-1AD8220F8E43}"/>
              </a:ext>
            </a:extLst>
          </p:cNvPr>
          <p:cNvSpPr txBox="1"/>
          <p:nvPr/>
        </p:nvSpPr>
        <p:spPr>
          <a:xfrm>
            <a:off x="2336397" y="3072131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16">
            <a:extLst>
              <a:ext uri="{FF2B5EF4-FFF2-40B4-BE49-F238E27FC236}">
                <a16:creationId xmlns:a16="http://schemas.microsoft.com/office/drawing/2014/main" id="{E5048A54-DEE4-2516-1148-5DC1EC6BDAA8}"/>
              </a:ext>
            </a:extLst>
          </p:cNvPr>
          <p:cNvSpPr/>
          <p:nvPr/>
        </p:nvSpPr>
        <p:spPr>
          <a:xfrm>
            <a:off x="3334372" y="338025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7">
            <a:extLst>
              <a:ext uri="{FF2B5EF4-FFF2-40B4-BE49-F238E27FC236}">
                <a16:creationId xmlns:a16="http://schemas.microsoft.com/office/drawing/2014/main" id="{97A005BA-AD56-D43D-22DD-8681074026E2}"/>
              </a:ext>
            </a:extLst>
          </p:cNvPr>
          <p:cNvSpPr/>
          <p:nvPr/>
        </p:nvSpPr>
        <p:spPr>
          <a:xfrm>
            <a:off x="3334372" y="338025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8">
            <a:extLst>
              <a:ext uri="{FF2B5EF4-FFF2-40B4-BE49-F238E27FC236}">
                <a16:creationId xmlns:a16="http://schemas.microsoft.com/office/drawing/2014/main" id="{0EC6BCD9-9A9A-82BC-2935-2E313B50AD55}"/>
              </a:ext>
            </a:extLst>
          </p:cNvPr>
          <p:cNvSpPr txBox="1"/>
          <p:nvPr/>
        </p:nvSpPr>
        <p:spPr>
          <a:xfrm>
            <a:off x="3420270" y="3339754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19">
            <a:extLst>
              <a:ext uri="{FF2B5EF4-FFF2-40B4-BE49-F238E27FC236}">
                <a16:creationId xmlns:a16="http://schemas.microsoft.com/office/drawing/2014/main" id="{2F0E4E7D-84EB-A525-494D-F52F3B36B858}"/>
              </a:ext>
            </a:extLst>
          </p:cNvPr>
          <p:cNvSpPr/>
          <p:nvPr/>
        </p:nvSpPr>
        <p:spPr>
          <a:xfrm>
            <a:off x="2981489" y="3376874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A207AD8D-C5C3-5D25-C9DE-4F8DAA00716A}"/>
              </a:ext>
            </a:extLst>
          </p:cNvPr>
          <p:cNvSpPr/>
          <p:nvPr/>
        </p:nvSpPr>
        <p:spPr>
          <a:xfrm>
            <a:off x="2981489" y="3376874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1">
            <a:extLst>
              <a:ext uri="{FF2B5EF4-FFF2-40B4-BE49-F238E27FC236}">
                <a16:creationId xmlns:a16="http://schemas.microsoft.com/office/drawing/2014/main" id="{F0721F7D-083C-D246-A3DA-D47F91029A1D}"/>
              </a:ext>
            </a:extLst>
          </p:cNvPr>
          <p:cNvSpPr txBox="1"/>
          <p:nvPr/>
        </p:nvSpPr>
        <p:spPr>
          <a:xfrm>
            <a:off x="3067387" y="3336706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392382-DE27-E84A-3BA0-3C332B712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1828972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20DDA-4EF9-FD40-60FE-35D21B82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2D6411-D67C-F7BE-5E3B-E1F5F513B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297144" cy="792088"/>
          </a:xfrm>
        </p:spPr>
        <p:txBody>
          <a:bodyPr/>
          <a:lstStyle/>
          <a:p>
            <a:r>
              <a:rPr lang="en-US" dirty="0"/>
              <a:t>GPU LATENCY HIDING – INSIDE THE SM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0CB4D340-23AA-FD39-B6C4-18525B12195A}"/>
              </a:ext>
            </a:extLst>
          </p:cNvPr>
          <p:cNvSpPr txBox="1"/>
          <p:nvPr/>
        </p:nvSpPr>
        <p:spPr>
          <a:xfrm>
            <a:off x="9929192" y="1368462"/>
            <a:ext cx="277441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I0: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R0,</a:t>
            </a:r>
            <a:r>
              <a:rPr sz="1600" spc="-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I1: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R1,</a:t>
            </a:r>
            <a:r>
              <a:rPr sz="1600" spc="-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0D241397-D5CE-5491-FD92-324BAC05ED7A}"/>
              </a:ext>
            </a:extLst>
          </p:cNvPr>
          <p:cNvSpPr txBox="1"/>
          <p:nvPr/>
        </p:nvSpPr>
        <p:spPr>
          <a:xfrm>
            <a:off x="9929193" y="2206662"/>
            <a:ext cx="20875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I2: 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MPY</a:t>
            </a:r>
            <a:r>
              <a:rPr sz="1600" spc="-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R2,R0,R1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50BA9F19-F145-34F9-4555-55EBD1574964}"/>
              </a:ext>
            </a:extLst>
          </p:cNvPr>
          <p:cNvSpPr txBox="1"/>
          <p:nvPr/>
        </p:nvSpPr>
        <p:spPr>
          <a:xfrm>
            <a:off x="673608" y="2534155"/>
            <a:ext cx="830648" cy="32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warps</a:t>
            </a:r>
            <a:endParaRPr sz="1800" dirty="0">
              <a:latin typeface="Comic Sans MS" panose="030F0702030302020204" pitchFamily="66" charset="0"/>
              <a:cs typeface="Arial" panose="020B0604020202020204"/>
            </a:endParaRP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0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1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2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3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4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5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6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7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8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9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12700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72A27858-F319-78D9-4BAE-95E3CAB0BE8F}"/>
              </a:ext>
            </a:extLst>
          </p:cNvPr>
          <p:cNvSpPr txBox="1"/>
          <p:nvPr/>
        </p:nvSpPr>
        <p:spPr>
          <a:xfrm>
            <a:off x="5785839" y="1915411"/>
            <a:ext cx="189671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clock</a:t>
            </a:r>
            <a:r>
              <a:rPr sz="2000" spc="-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cycles: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E2AB92A9-B88E-8430-FEC7-A5CF5643518A}"/>
              </a:ext>
            </a:extLst>
          </p:cNvPr>
          <p:cNvSpPr txBox="1"/>
          <p:nvPr/>
        </p:nvSpPr>
        <p:spPr>
          <a:xfrm>
            <a:off x="1548040" y="2180586"/>
            <a:ext cx="1130787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C0 C1  C2 C3  C4 C5  C6 C7  C8 C9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C10 </a:t>
            </a:r>
            <a:r>
              <a:rPr lang="en-US" altLang="zh-CN" sz="1800" spc="-45" dirty="0">
                <a:latin typeface="Comic Sans MS" panose="030F0702030302020204" pitchFamily="66" charset="0"/>
                <a:cs typeface="Arial" panose="020B0604020202020204"/>
              </a:rPr>
              <a:t>C11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C12 C13  C14 C15  C16 C17  C18</a:t>
            </a:r>
            <a:r>
              <a:rPr lang="en-US" altLang="zh-CN" sz="1800" spc="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56B3C7E4-0D28-3DBE-D0CF-426CC711E48F}"/>
              </a:ext>
            </a:extLst>
          </p:cNvPr>
          <p:cNvSpPr/>
          <p:nvPr/>
        </p:nvSpPr>
        <p:spPr>
          <a:xfrm>
            <a:off x="1867499" y="281319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16518176-E58B-B0E8-3757-8D00074BAC06}"/>
              </a:ext>
            </a:extLst>
          </p:cNvPr>
          <p:cNvSpPr/>
          <p:nvPr/>
        </p:nvSpPr>
        <p:spPr>
          <a:xfrm>
            <a:off x="1867499" y="281319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6FF4E572-38F3-6A73-8A3F-10CEAEBD7780}"/>
              </a:ext>
            </a:extLst>
          </p:cNvPr>
          <p:cNvSpPr/>
          <p:nvPr/>
        </p:nvSpPr>
        <p:spPr>
          <a:xfrm>
            <a:off x="1514615" y="2809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2469E68D-A90A-D186-6925-87537DB19FF9}"/>
              </a:ext>
            </a:extLst>
          </p:cNvPr>
          <p:cNvSpPr/>
          <p:nvPr/>
        </p:nvSpPr>
        <p:spPr>
          <a:xfrm>
            <a:off x="1514615" y="2809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8DD8A497-A03A-0CBA-C908-A3ADEAFF2021}"/>
              </a:ext>
            </a:extLst>
          </p:cNvPr>
          <p:cNvSpPr txBox="1"/>
          <p:nvPr/>
        </p:nvSpPr>
        <p:spPr>
          <a:xfrm>
            <a:off x="1600512" y="2775570"/>
            <a:ext cx="56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5125" algn="l"/>
              </a:tabLst>
            </a:pPr>
            <a:r>
              <a:rPr sz="2700" spc="-7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700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06FB324B-E206-9451-9BF5-7BC210D94D42}"/>
              </a:ext>
            </a:extLst>
          </p:cNvPr>
          <p:cNvSpPr/>
          <p:nvPr/>
        </p:nvSpPr>
        <p:spPr>
          <a:xfrm>
            <a:off x="2603383" y="311465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1">
            <a:extLst>
              <a:ext uri="{FF2B5EF4-FFF2-40B4-BE49-F238E27FC236}">
                <a16:creationId xmlns:a16="http://schemas.microsoft.com/office/drawing/2014/main" id="{61308BE2-7940-9332-6AAE-9F0A9332AA3C}"/>
              </a:ext>
            </a:extLst>
          </p:cNvPr>
          <p:cNvSpPr/>
          <p:nvPr/>
        </p:nvSpPr>
        <p:spPr>
          <a:xfrm>
            <a:off x="2603383" y="311465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2">
            <a:extLst>
              <a:ext uri="{FF2B5EF4-FFF2-40B4-BE49-F238E27FC236}">
                <a16:creationId xmlns:a16="http://schemas.microsoft.com/office/drawing/2014/main" id="{82F0B3E0-0121-7653-2C2D-B0D6BFA60721}"/>
              </a:ext>
            </a:extLst>
          </p:cNvPr>
          <p:cNvSpPr txBox="1"/>
          <p:nvPr/>
        </p:nvSpPr>
        <p:spPr>
          <a:xfrm>
            <a:off x="2689281" y="3075178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57DF2001-746E-5A13-5C71-05F14D28A9C9}"/>
              </a:ext>
            </a:extLst>
          </p:cNvPr>
          <p:cNvSpPr/>
          <p:nvPr/>
        </p:nvSpPr>
        <p:spPr>
          <a:xfrm>
            <a:off x="2250501" y="311128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F7007042-42BB-FFD5-29AD-A2C4D3556E71}"/>
              </a:ext>
            </a:extLst>
          </p:cNvPr>
          <p:cNvSpPr/>
          <p:nvPr/>
        </p:nvSpPr>
        <p:spPr>
          <a:xfrm>
            <a:off x="2250501" y="311128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5">
            <a:extLst>
              <a:ext uri="{FF2B5EF4-FFF2-40B4-BE49-F238E27FC236}">
                <a16:creationId xmlns:a16="http://schemas.microsoft.com/office/drawing/2014/main" id="{B63632F9-B5C4-86BD-77FE-E733F553F6BA}"/>
              </a:ext>
            </a:extLst>
          </p:cNvPr>
          <p:cNvSpPr txBox="1"/>
          <p:nvPr/>
        </p:nvSpPr>
        <p:spPr>
          <a:xfrm>
            <a:off x="2336397" y="3072131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16">
            <a:extLst>
              <a:ext uri="{FF2B5EF4-FFF2-40B4-BE49-F238E27FC236}">
                <a16:creationId xmlns:a16="http://schemas.microsoft.com/office/drawing/2014/main" id="{1127D530-A44C-8D54-57C0-F124F6DE6EB5}"/>
              </a:ext>
            </a:extLst>
          </p:cNvPr>
          <p:cNvSpPr/>
          <p:nvPr/>
        </p:nvSpPr>
        <p:spPr>
          <a:xfrm>
            <a:off x="3326866" y="338025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7">
            <a:extLst>
              <a:ext uri="{FF2B5EF4-FFF2-40B4-BE49-F238E27FC236}">
                <a16:creationId xmlns:a16="http://schemas.microsoft.com/office/drawing/2014/main" id="{206036D0-CAE1-82CA-5831-CB639FA863B0}"/>
              </a:ext>
            </a:extLst>
          </p:cNvPr>
          <p:cNvSpPr/>
          <p:nvPr/>
        </p:nvSpPr>
        <p:spPr>
          <a:xfrm>
            <a:off x="3326866" y="338025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8">
            <a:extLst>
              <a:ext uri="{FF2B5EF4-FFF2-40B4-BE49-F238E27FC236}">
                <a16:creationId xmlns:a16="http://schemas.microsoft.com/office/drawing/2014/main" id="{5D1B2F92-AFA0-819A-F32E-88A12454A3AF}"/>
              </a:ext>
            </a:extLst>
          </p:cNvPr>
          <p:cNvSpPr txBox="1"/>
          <p:nvPr/>
        </p:nvSpPr>
        <p:spPr>
          <a:xfrm>
            <a:off x="3412764" y="3339754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19">
            <a:extLst>
              <a:ext uri="{FF2B5EF4-FFF2-40B4-BE49-F238E27FC236}">
                <a16:creationId xmlns:a16="http://schemas.microsoft.com/office/drawing/2014/main" id="{9AB0F7EB-C413-6EB5-E9C3-436C85275821}"/>
              </a:ext>
            </a:extLst>
          </p:cNvPr>
          <p:cNvSpPr/>
          <p:nvPr/>
        </p:nvSpPr>
        <p:spPr>
          <a:xfrm>
            <a:off x="2973983" y="3376874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0800C099-BD54-F488-864B-0F9138833018}"/>
              </a:ext>
            </a:extLst>
          </p:cNvPr>
          <p:cNvSpPr/>
          <p:nvPr/>
        </p:nvSpPr>
        <p:spPr>
          <a:xfrm>
            <a:off x="2973983" y="3376874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1">
            <a:extLst>
              <a:ext uri="{FF2B5EF4-FFF2-40B4-BE49-F238E27FC236}">
                <a16:creationId xmlns:a16="http://schemas.microsoft.com/office/drawing/2014/main" id="{E1673EA6-333C-4CD3-83C2-54F6486D38EF}"/>
              </a:ext>
            </a:extLst>
          </p:cNvPr>
          <p:cNvSpPr txBox="1"/>
          <p:nvPr/>
        </p:nvSpPr>
        <p:spPr>
          <a:xfrm>
            <a:off x="3059881" y="3336706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9CF00C6B-704B-CCD1-732F-9E500C0F9249}"/>
              </a:ext>
            </a:extLst>
          </p:cNvPr>
          <p:cNvSpPr/>
          <p:nvPr/>
        </p:nvSpPr>
        <p:spPr>
          <a:xfrm>
            <a:off x="4078848" y="364114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17">
            <a:extLst>
              <a:ext uri="{FF2B5EF4-FFF2-40B4-BE49-F238E27FC236}">
                <a16:creationId xmlns:a16="http://schemas.microsoft.com/office/drawing/2014/main" id="{D087A2E1-6AC6-8780-80B5-F14A6BE5BEB7}"/>
              </a:ext>
            </a:extLst>
          </p:cNvPr>
          <p:cNvSpPr/>
          <p:nvPr/>
        </p:nvSpPr>
        <p:spPr>
          <a:xfrm>
            <a:off x="4078848" y="364114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8">
            <a:extLst>
              <a:ext uri="{FF2B5EF4-FFF2-40B4-BE49-F238E27FC236}">
                <a16:creationId xmlns:a16="http://schemas.microsoft.com/office/drawing/2014/main" id="{4AEDC150-EC5B-3E04-7CD4-4F6830081CC6}"/>
              </a:ext>
            </a:extLst>
          </p:cNvPr>
          <p:cNvSpPr txBox="1"/>
          <p:nvPr/>
        </p:nvSpPr>
        <p:spPr>
          <a:xfrm>
            <a:off x="4164746" y="3600650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2A11700B-F17F-E69D-F912-8758443CD508}"/>
              </a:ext>
            </a:extLst>
          </p:cNvPr>
          <p:cNvSpPr/>
          <p:nvPr/>
        </p:nvSpPr>
        <p:spPr>
          <a:xfrm>
            <a:off x="3725965" y="363777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A3C8F825-DD26-EDE8-ADA5-4E19D0C74830}"/>
              </a:ext>
            </a:extLst>
          </p:cNvPr>
          <p:cNvSpPr/>
          <p:nvPr/>
        </p:nvSpPr>
        <p:spPr>
          <a:xfrm>
            <a:off x="3725965" y="363777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28B82DC2-F28B-B51B-AE56-4B6AB3976B81}"/>
              </a:ext>
            </a:extLst>
          </p:cNvPr>
          <p:cNvSpPr txBox="1"/>
          <p:nvPr/>
        </p:nvSpPr>
        <p:spPr>
          <a:xfrm>
            <a:off x="3811863" y="359760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F40FBB0C-0C31-DA9D-7B3A-A6CB7F79800C}"/>
              </a:ext>
            </a:extLst>
          </p:cNvPr>
          <p:cNvSpPr/>
          <p:nvPr/>
        </p:nvSpPr>
        <p:spPr>
          <a:xfrm>
            <a:off x="4845946" y="38463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7">
            <a:extLst>
              <a:ext uri="{FF2B5EF4-FFF2-40B4-BE49-F238E27FC236}">
                <a16:creationId xmlns:a16="http://schemas.microsoft.com/office/drawing/2014/main" id="{2C35DA26-E273-C638-9A53-46D41729832D}"/>
              </a:ext>
            </a:extLst>
          </p:cNvPr>
          <p:cNvSpPr/>
          <p:nvPr/>
        </p:nvSpPr>
        <p:spPr>
          <a:xfrm>
            <a:off x="4845946" y="38463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8">
            <a:extLst>
              <a:ext uri="{FF2B5EF4-FFF2-40B4-BE49-F238E27FC236}">
                <a16:creationId xmlns:a16="http://schemas.microsoft.com/office/drawing/2014/main" id="{CCEBD28F-7011-06FC-9892-FEAACB018540}"/>
              </a:ext>
            </a:extLst>
          </p:cNvPr>
          <p:cNvSpPr txBox="1"/>
          <p:nvPr/>
        </p:nvSpPr>
        <p:spPr>
          <a:xfrm>
            <a:off x="4931844" y="3805835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19">
            <a:extLst>
              <a:ext uri="{FF2B5EF4-FFF2-40B4-BE49-F238E27FC236}">
                <a16:creationId xmlns:a16="http://schemas.microsoft.com/office/drawing/2014/main" id="{08D16B14-413E-60B0-8FEB-DA07B02F66BC}"/>
              </a:ext>
            </a:extLst>
          </p:cNvPr>
          <p:cNvSpPr/>
          <p:nvPr/>
        </p:nvSpPr>
        <p:spPr>
          <a:xfrm>
            <a:off x="4493063" y="3842955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0">
            <a:extLst>
              <a:ext uri="{FF2B5EF4-FFF2-40B4-BE49-F238E27FC236}">
                <a16:creationId xmlns:a16="http://schemas.microsoft.com/office/drawing/2014/main" id="{5815EA9C-8615-8533-BE5A-041EC53ADCE4}"/>
              </a:ext>
            </a:extLst>
          </p:cNvPr>
          <p:cNvSpPr/>
          <p:nvPr/>
        </p:nvSpPr>
        <p:spPr>
          <a:xfrm>
            <a:off x="4493063" y="3842955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A790A7A5-78B1-6020-0601-5D21AE66A470}"/>
              </a:ext>
            </a:extLst>
          </p:cNvPr>
          <p:cNvSpPr txBox="1"/>
          <p:nvPr/>
        </p:nvSpPr>
        <p:spPr>
          <a:xfrm>
            <a:off x="4578961" y="3802787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A5183415-79B1-6BD3-A12A-3DBC83B13B6B}"/>
              </a:ext>
            </a:extLst>
          </p:cNvPr>
          <p:cNvSpPr/>
          <p:nvPr/>
        </p:nvSpPr>
        <p:spPr>
          <a:xfrm>
            <a:off x="5659673" y="4105883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A290281D-F842-3882-7FE8-BF97B24CF6A6}"/>
              </a:ext>
            </a:extLst>
          </p:cNvPr>
          <p:cNvSpPr/>
          <p:nvPr/>
        </p:nvSpPr>
        <p:spPr>
          <a:xfrm>
            <a:off x="5659673" y="4105883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7DB4A37A-E2FC-EE6B-3444-A1968ED921D7}"/>
              </a:ext>
            </a:extLst>
          </p:cNvPr>
          <p:cNvSpPr txBox="1"/>
          <p:nvPr/>
        </p:nvSpPr>
        <p:spPr>
          <a:xfrm>
            <a:off x="5745571" y="4065387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1115B1D8-958E-7E9F-78BA-3F0F6F1D3CCB}"/>
              </a:ext>
            </a:extLst>
          </p:cNvPr>
          <p:cNvSpPr/>
          <p:nvPr/>
        </p:nvSpPr>
        <p:spPr>
          <a:xfrm>
            <a:off x="5306790" y="41025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3C8B3B02-B96E-7DFC-BB0F-BE0099F84886}"/>
              </a:ext>
            </a:extLst>
          </p:cNvPr>
          <p:cNvSpPr/>
          <p:nvPr/>
        </p:nvSpPr>
        <p:spPr>
          <a:xfrm>
            <a:off x="5306790" y="41025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804CF0AB-5EE3-A6F3-B291-C75E27130167}"/>
              </a:ext>
            </a:extLst>
          </p:cNvPr>
          <p:cNvSpPr txBox="1"/>
          <p:nvPr/>
        </p:nvSpPr>
        <p:spPr>
          <a:xfrm>
            <a:off x="5392688" y="4062339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16">
            <a:extLst>
              <a:ext uri="{FF2B5EF4-FFF2-40B4-BE49-F238E27FC236}">
                <a16:creationId xmlns:a16="http://schemas.microsoft.com/office/drawing/2014/main" id="{3586C0B7-E65A-5580-F094-D3CA1BEE40D7}"/>
              </a:ext>
            </a:extLst>
          </p:cNvPr>
          <p:cNvSpPr/>
          <p:nvPr/>
        </p:nvSpPr>
        <p:spPr>
          <a:xfrm>
            <a:off x="6559517" y="44270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7">
            <a:extLst>
              <a:ext uri="{FF2B5EF4-FFF2-40B4-BE49-F238E27FC236}">
                <a16:creationId xmlns:a16="http://schemas.microsoft.com/office/drawing/2014/main" id="{A70E03D3-D269-6D69-259F-F914A4507BA8}"/>
              </a:ext>
            </a:extLst>
          </p:cNvPr>
          <p:cNvSpPr/>
          <p:nvPr/>
        </p:nvSpPr>
        <p:spPr>
          <a:xfrm>
            <a:off x="6559517" y="44270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8">
            <a:extLst>
              <a:ext uri="{FF2B5EF4-FFF2-40B4-BE49-F238E27FC236}">
                <a16:creationId xmlns:a16="http://schemas.microsoft.com/office/drawing/2014/main" id="{A76AE44A-9D0F-6592-C5A1-59D945EE08B7}"/>
              </a:ext>
            </a:extLst>
          </p:cNvPr>
          <p:cNvSpPr txBox="1"/>
          <p:nvPr/>
        </p:nvSpPr>
        <p:spPr>
          <a:xfrm>
            <a:off x="6645415" y="4386511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19">
            <a:extLst>
              <a:ext uri="{FF2B5EF4-FFF2-40B4-BE49-F238E27FC236}">
                <a16:creationId xmlns:a16="http://schemas.microsoft.com/office/drawing/2014/main" id="{0443C661-648D-8C57-86AE-66825E99B748}"/>
              </a:ext>
            </a:extLst>
          </p:cNvPr>
          <p:cNvSpPr/>
          <p:nvPr/>
        </p:nvSpPr>
        <p:spPr>
          <a:xfrm>
            <a:off x="6206634" y="44236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0">
            <a:extLst>
              <a:ext uri="{FF2B5EF4-FFF2-40B4-BE49-F238E27FC236}">
                <a16:creationId xmlns:a16="http://schemas.microsoft.com/office/drawing/2014/main" id="{8AFDE920-BA34-1C3A-6089-F3D870A2E033}"/>
              </a:ext>
            </a:extLst>
          </p:cNvPr>
          <p:cNvSpPr/>
          <p:nvPr/>
        </p:nvSpPr>
        <p:spPr>
          <a:xfrm>
            <a:off x="6206634" y="44236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1">
            <a:extLst>
              <a:ext uri="{FF2B5EF4-FFF2-40B4-BE49-F238E27FC236}">
                <a16:creationId xmlns:a16="http://schemas.microsoft.com/office/drawing/2014/main" id="{D09CBFD4-5B5E-F0F5-D2D4-4505529FBA2E}"/>
              </a:ext>
            </a:extLst>
          </p:cNvPr>
          <p:cNvSpPr txBox="1"/>
          <p:nvPr/>
        </p:nvSpPr>
        <p:spPr>
          <a:xfrm>
            <a:off x="6292532" y="4383463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16">
            <a:extLst>
              <a:ext uri="{FF2B5EF4-FFF2-40B4-BE49-F238E27FC236}">
                <a16:creationId xmlns:a16="http://schemas.microsoft.com/office/drawing/2014/main" id="{A5C3AFBF-6B2B-2810-90DA-23F24E9BD5C2}"/>
              </a:ext>
            </a:extLst>
          </p:cNvPr>
          <p:cNvSpPr/>
          <p:nvPr/>
        </p:nvSpPr>
        <p:spPr>
          <a:xfrm>
            <a:off x="7459873" y="467119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17">
            <a:extLst>
              <a:ext uri="{FF2B5EF4-FFF2-40B4-BE49-F238E27FC236}">
                <a16:creationId xmlns:a16="http://schemas.microsoft.com/office/drawing/2014/main" id="{0A3D2E3E-C9E3-ADBB-6CA5-7F412FC1D589}"/>
              </a:ext>
            </a:extLst>
          </p:cNvPr>
          <p:cNvSpPr/>
          <p:nvPr/>
        </p:nvSpPr>
        <p:spPr>
          <a:xfrm>
            <a:off x="7459873" y="467119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8">
            <a:extLst>
              <a:ext uri="{FF2B5EF4-FFF2-40B4-BE49-F238E27FC236}">
                <a16:creationId xmlns:a16="http://schemas.microsoft.com/office/drawing/2014/main" id="{931B5618-E575-ED94-4038-89773AE2C64B}"/>
              </a:ext>
            </a:extLst>
          </p:cNvPr>
          <p:cNvSpPr txBox="1"/>
          <p:nvPr/>
        </p:nvSpPr>
        <p:spPr>
          <a:xfrm>
            <a:off x="7545771" y="4630700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2" name="object 19">
            <a:extLst>
              <a:ext uri="{FF2B5EF4-FFF2-40B4-BE49-F238E27FC236}">
                <a16:creationId xmlns:a16="http://schemas.microsoft.com/office/drawing/2014/main" id="{28EED183-3965-8D59-09B8-1614968B8221}"/>
              </a:ext>
            </a:extLst>
          </p:cNvPr>
          <p:cNvSpPr/>
          <p:nvPr/>
        </p:nvSpPr>
        <p:spPr>
          <a:xfrm>
            <a:off x="7106990" y="4667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0">
            <a:extLst>
              <a:ext uri="{FF2B5EF4-FFF2-40B4-BE49-F238E27FC236}">
                <a16:creationId xmlns:a16="http://schemas.microsoft.com/office/drawing/2014/main" id="{24596DFA-810B-EC14-F9D4-782EB261C990}"/>
              </a:ext>
            </a:extLst>
          </p:cNvPr>
          <p:cNvSpPr/>
          <p:nvPr/>
        </p:nvSpPr>
        <p:spPr>
          <a:xfrm>
            <a:off x="7106990" y="4667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1">
            <a:extLst>
              <a:ext uri="{FF2B5EF4-FFF2-40B4-BE49-F238E27FC236}">
                <a16:creationId xmlns:a16="http://schemas.microsoft.com/office/drawing/2014/main" id="{43DA1BC8-F86D-0745-28CB-0CBF2B846FC8}"/>
              </a:ext>
            </a:extLst>
          </p:cNvPr>
          <p:cNvSpPr txBox="1"/>
          <p:nvPr/>
        </p:nvSpPr>
        <p:spPr>
          <a:xfrm>
            <a:off x="7192888" y="462765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object 16">
            <a:extLst>
              <a:ext uri="{FF2B5EF4-FFF2-40B4-BE49-F238E27FC236}">
                <a16:creationId xmlns:a16="http://schemas.microsoft.com/office/drawing/2014/main" id="{8B908F7D-1DCE-6AB6-20C9-5DF3D6E8AF5A}"/>
              </a:ext>
            </a:extLst>
          </p:cNvPr>
          <p:cNvSpPr/>
          <p:nvPr/>
        </p:nvSpPr>
        <p:spPr>
          <a:xfrm>
            <a:off x="8395977" y="4976758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7">
            <a:extLst>
              <a:ext uri="{FF2B5EF4-FFF2-40B4-BE49-F238E27FC236}">
                <a16:creationId xmlns:a16="http://schemas.microsoft.com/office/drawing/2014/main" id="{608756AF-67AE-5FB7-33E5-25551FD2B5A8}"/>
              </a:ext>
            </a:extLst>
          </p:cNvPr>
          <p:cNvSpPr/>
          <p:nvPr/>
        </p:nvSpPr>
        <p:spPr>
          <a:xfrm>
            <a:off x="8395977" y="4976758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8">
            <a:extLst>
              <a:ext uri="{FF2B5EF4-FFF2-40B4-BE49-F238E27FC236}">
                <a16:creationId xmlns:a16="http://schemas.microsoft.com/office/drawing/2014/main" id="{A5653E95-E3AD-855E-9E62-C406A231F3E6}"/>
              </a:ext>
            </a:extLst>
          </p:cNvPr>
          <p:cNvSpPr txBox="1"/>
          <p:nvPr/>
        </p:nvSpPr>
        <p:spPr>
          <a:xfrm>
            <a:off x="8481875" y="493626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object 19">
            <a:extLst>
              <a:ext uri="{FF2B5EF4-FFF2-40B4-BE49-F238E27FC236}">
                <a16:creationId xmlns:a16="http://schemas.microsoft.com/office/drawing/2014/main" id="{0A417CF8-9165-EF65-880F-94B1A306694E}"/>
              </a:ext>
            </a:extLst>
          </p:cNvPr>
          <p:cNvSpPr/>
          <p:nvPr/>
        </p:nvSpPr>
        <p:spPr>
          <a:xfrm>
            <a:off x="8043094" y="4973382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20">
            <a:extLst>
              <a:ext uri="{FF2B5EF4-FFF2-40B4-BE49-F238E27FC236}">
                <a16:creationId xmlns:a16="http://schemas.microsoft.com/office/drawing/2014/main" id="{D6EF1615-507E-039A-2B6B-96ADFE63F90A}"/>
              </a:ext>
            </a:extLst>
          </p:cNvPr>
          <p:cNvSpPr/>
          <p:nvPr/>
        </p:nvSpPr>
        <p:spPr>
          <a:xfrm>
            <a:off x="8043094" y="4973382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21">
            <a:extLst>
              <a:ext uri="{FF2B5EF4-FFF2-40B4-BE49-F238E27FC236}">
                <a16:creationId xmlns:a16="http://schemas.microsoft.com/office/drawing/2014/main" id="{A15B74EE-FE5D-5C1E-4006-74E778BC16E9}"/>
              </a:ext>
            </a:extLst>
          </p:cNvPr>
          <p:cNvSpPr txBox="1"/>
          <p:nvPr/>
        </p:nvSpPr>
        <p:spPr>
          <a:xfrm>
            <a:off x="8128992" y="4933214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灯片编号占位符 60">
            <a:extLst>
              <a:ext uri="{FF2B5EF4-FFF2-40B4-BE49-F238E27FC236}">
                <a16:creationId xmlns:a16="http://schemas.microsoft.com/office/drawing/2014/main" id="{5E17C214-1380-F8BC-C42C-C8187D68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3531246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7CE9C-538B-C72C-174A-44D6E9DD2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BCBD91C-37AC-8CFA-BBB2-DEBE4068E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297144" cy="792088"/>
          </a:xfrm>
        </p:spPr>
        <p:txBody>
          <a:bodyPr/>
          <a:lstStyle/>
          <a:p>
            <a:r>
              <a:rPr lang="en-US" dirty="0"/>
              <a:t>GPU LATENCY HIDING – INSIDE THE SM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F40EBCC3-D25E-9A2E-C5DA-38B284F28A3C}"/>
              </a:ext>
            </a:extLst>
          </p:cNvPr>
          <p:cNvSpPr txBox="1"/>
          <p:nvPr/>
        </p:nvSpPr>
        <p:spPr>
          <a:xfrm>
            <a:off x="9929192" y="1368462"/>
            <a:ext cx="277441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I0: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R0,</a:t>
            </a:r>
            <a:r>
              <a:rPr sz="1600" spc="-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I1: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R1,</a:t>
            </a:r>
            <a:r>
              <a:rPr sz="1600" spc="-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9AE91792-3E0A-2A96-4285-75C4D6578084}"/>
              </a:ext>
            </a:extLst>
          </p:cNvPr>
          <p:cNvSpPr txBox="1"/>
          <p:nvPr/>
        </p:nvSpPr>
        <p:spPr>
          <a:xfrm>
            <a:off x="9929193" y="2206662"/>
            <a:ext cx="20875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I2: 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MPY</a:t>
            </a:r>
            <a:r>
              <a:rPr sz="1600" spc="-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R2,R0,R1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3FA79890-C0DA-85FF-2699-71CE83F80E1B}"/>
              </a:ext>
            </a:extLst>
          </p:cNvPr>
          <p:cNvSpPr txBox="1"/>
          <p:nvPr/>
        </p:nvSpPr>
        <p:spPr>
          <a:xfrm>
            <a:off x="673608" y="2534155"/>
            <a:ext cx="830648" cy="32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warps</a:t>
            </a:r>
            <a:endParaRPr sz="1800" dirty="0">
              <a:latin typeface="Comic Sans MS" panose="030F0702030302020204" pitchFamily="66" charset="0"/>
              <a:cs typeface="Arial" panose="020B0604020202020204"/>
            </a:endParaRP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0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1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2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3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4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5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6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7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8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9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12700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B399B973-C571-E16A-0E23-EDCA14C97E4C}"/>
              </a:ext>
            </a:extLst>
          </p:cNvPr>
          <p:cNvSpPr txBox="1"/>
          <p:nvPr/>
        </p:nvSpPr>
        <p:spPr>
          <a:xfrm>
            <a:off x="5785839" y="1915411"/>
            <a:ext cx="189671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clock</a:t>
            </a:r>
            <a:r>
              <a:rPr sz="2000" spc="-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cycles: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D2CFAEA3-02D9-DA33-99AB-2A7A5287DC72}"/>
              </a:ext>
            </a:extLst>
          </p:cNvPr>
          <p:cNvSpPr txBox="1"/>
          <p:nvPr/>
        </p:nvSpPr>
        <p:spPr>
          <a:xfrm>
            <a:off x="1548040" y="2180586"/>
            <a:ext cx="1130787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C0 C1  C2 C3  C4 C5  C6 C7  C8 C9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C10 </a:t>
            </a:r>
            <a:r>
              <a:rPr lang="en-US" altLang="zh-CN" sz="1800" spc="-45" dirty="0">
                <a:latin typeface="Comic Sans MS" panose="030F0702030302020204" pitchFamily="66" charset="0"/>
                <a:cs typeface="Arial" panose="020B0604020202020204"/>
              </a:rPr>
              <a:t>C11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C12 C13  C14 C15  C16 C17  C18</a:t>
            </a:r>
            <a:r>
              <a:rPr lang="en-US" altLang="zh-CN" sz="1800" spc="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D13569B1-DA3C-D835-6445-31BC7297CE44}"/>
              </a:ext>
            </a:extLst>
          </p:cNvPr>
          <p:cNvSpPr/>
          <p:nvPr/>
        </p:nvSpPr>
        <p:spPr>
          <a:xfrm>
            <a:off x="2603383" y="311465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1">
            <a:extLst>
              <a:ext uri="{FF2B5EF4-FFF2-40B4-BE49-F238E27FC236}">
                <a16:creationId xmlns:a16="http://schemas.microsoft.com/office/drawing/2014/main" id="{E4792D41-1F43-75D3-F9F6-C151852650DB}"/>
              </a:ext>
            </a:extLst>
          </p:cNvPr>
          <p:cNvSpPr/>
          <p:nvPr/>
        </p:nvSpPr>
        <p:spPr>
          <a:xfrm>
            <a:off x="2603383" y="311465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2">
            <a:extLst>
              <a:ext uri="{FF2B5EF4-FFF2-40B4-BE49-F238E27FC236}">
                <a16:creationId xmlns:a16="http://schemas.microsoft.com/office/drawing/2014/main" id="{83A00C02-9D1B-592B-FF3C-26F0C0D2337F}"/>
              </a:ext>
            </a:extLst>
          </p:cNvPr>
          <p:cNvSpPr txBox="1"/>
          <p:nvPr/>
        </p:nvSpPr>
        <p:spPr>
          <a:xfrm>
            <a:off x="2689281" y="3075178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3C31C97C-3CBE-3253-AD99-BE74BB03FB2E}"/>
              </a:ext>
            </a:extLst>
          </p:cNvPr>
          <p:cNvSpPr/>
          <p:nvPr/>
        </p:nvSpPr>
        <p:spPr>
          <a:xfrm>
            <a:off x="2250501" y="311128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8DB3DD06-A6FB-1748-138E-B8A383D64562}"/>
              </a:ext>
            </a:extLst>
          </p:cNvPr>
          <p:cNvSpPr/>
          <p:nvPr/>
        </p:nvSpPr>
        <p:spPr>
          <a:xfrm>
            <a:off x="2250501" y="311128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5">
            <a:extLst>
              <a:ext uri="{FF2B5EF4-FFF2-40B4-BE49-F238E27FC236}">
                <a16:creationId xmlns:a16="http://schemas.microsoft.com/office/drawing/2014/main" id="{A543FFB1-80C6-171E-FE2F-3A0EA568B597}"/>
              </a:ext>
            </a:extLst>
          </p:cNvPr>
          <p:cNvSpPr txBox="1"/>
          <p:nvPr/>
        </p:nvSpPr>
        <p:spPr>
          <a:xfrm>
            <a:off x="2336397" y="3072131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16">
            <a:extLst>
              <a:ext uri="{FF2B5EF4-FFF2-40B4-BE49-F238E27FC236}">
                <a16:creationId xmlns:a16="http://schemas.microsoft.com/office/drawing/2014/main" id="{12AD40AB-E7A3-BFC2-4050-2674ECA7EE11}"/>
              </a:ext>
            </a:extLst>
          </p:cNvPr>
          <p:cNvSpPr/>
          <p:nvPr/>
        </p:nvSpPr>
        <p:spPr>
          <a:xfrm>
            <a:off x="3326866" y="338025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7">
            <a:extLst>
              <a:ext uri="{FF2B5EF4-FFF2-40B4-BE49-F238E27FC236}">
                <a16:creationId xmlns:a16="http://schemas.microsoft.com/office/drawing/2014/main" id="{770B8FDA-59E4-3F1F-3184-086217B4567D}"/>
              </a:ext>
            </a:extLst>
          </p:cNvPr>
          <p:cNvSpPr/>
          <p:nvPr/>
        </p:nvSpPr>
        <p:spPr>
          <a:xfrm>
            <a:off x="3326866" y="338025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8">
            <a:extLst>
              <a:ext uri="{FF2B5EF4-FFF2-40B4-BE49-F238E27FC236}">
                <a16:creationId xmlns:a16="http://schemas.microsoft.com/office/drawing/2014/main" id="{299EF7F3-031C-F9BA-9CA2-AFC71373A517}"/>
              </a:ext>
            </a:extLst>
          </p:cNvPr>
          <p:cNvSpPr txBox="1"/>
          <p:nvPr/>
        </p:nvSpPr>
        <p:spPr>
          <a:xfrm>
            <a:off x="3412764" y="3339754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19">
            <a:extLst>
              <a:ext uri="{FF2B5EF4-FFF2-40B4-BE49-F238E27FC236}">
                <a16:creationId xmlns:a16="http://schemas.microsoft.com/office/drawing/2014/main" id="{9188CB87-7FAB-F653-9E3F-57817D0D593A}"/>
              </a:ext>
            </a:extLst>
          </p:cNvPr>
          <p:cNvSpPr/>
          <p:nvPr/>
        </p:nvSpPr>
        <p:spPr>
          <a:xfrm>
            <a:off x="2973983" y="3376874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45FCA99F-64E1-13DF-C9F6-E368F75CA1DE}"/>
              </a:ext>
            </a:extLst>
          </p:cNvPr>
          <p:cNvSpPr/>
          <p:nvPr/>
        </p:nvSpPr>
        <p:spPr>
          <a:xfrm>
            <a:off x="2973983" y="3376874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1">
            <a:extLst>
              <a:ext uri="{FF2B5EF4-FFF2-40B4-BE49-F238E27FC236}">
                <a16:creationId xmlns:a16="http://schemas.microsoft.com/office/drawing/2014/main" id="{E5006CCA-85D2-37B2-429B-D2E885E39EB2}"/>
              </a:ext>
            </a:extLst>
          </p:cNvPr>
          <p:cNvSpPr txBox="1"/>
          <p:nvPr/>
        </p:nvSpPr>
        <p:spPr>
          <a:xfrm>
            <a:off x="3059881" y="3336706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DE63427C-025C-66A0-FEC3-D8FCD6E3D472}"/>
              </a:ext>
            </a:extLst>
          </p:cNvPr>
          <p:cNvSpPr/>
          <p:nvPr/>
        </p:nvSpPr>
        <p:spPr>
          <a:xfrm>
            <a:off x="4078848" y="364114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17">
            <a:extLst>
              <a:ext uri="{FF2B5EF4-FFF2-40B4-BE49-F238E27FC236}">
                <a16:creationId xmlns:a16="http://schemas.microsoft.com/office/drawing/2014/main" id="{777F7851-7CEA-ABF2-B679-8E826AC1388C}"/>
              </a:ext>
            </a:extLst>
          </p:cNvPr>
          <p:cNvSpPr/>
          <p:nvPr/>
        </p:nvSpPr>
        <p:spPr>
          <a:xfrm>
            <a:off x="4078848" y="364114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8">
            <a:extLst>
              <a:ext uri="{FF2B5EF4-FFF2-40B4-BE49-F238E27FC236}">
                <a16:creationId xmlns:a16="http://schemas.microsoft.com/office/drawing/2014/main" id="{894B4495-EB82-9C13-287D-4CD282610E97}"/>
              </a:ext>
            </a:extLst>
          </p:cNvPr>
          <p:cNvSpPr txBox="1"/>
          <p:nvPr/>
        </p:nvSpPr>
        <p:spPr>
          <a:xfrm>
            <a:off x="4164746" y="3600650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EFC13C26-746B-F897-E2BE-5658C58B1D29}"/>
              </a:ext>
            </a:extLst>
          </p:cNvPr>
          <p:cNvSpPr/>
          <p:nvPr/>
        </p:nvSpPr>
        <p:spPr>
          <a:xfrm>
            <a:off x="3725965" y="363777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8D111ACD-53E0-C3C6-F99D-46F5C40CBC60}"/>
              </a:ext>
            </a:extLst>
          </p:cNvPr>
          <p:cNvSpPr/>
          <p:nvPr/>
        </p:nvSpPr>
        <p:spPr>
          <a:xfrm>
            <a:off x="3725965" y="363777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131F1742-0341-5EF2-0BEB-37F4A5DA064B}"/>
              </a:ext>
            </a:extLst>
          </p:cNvPr>
          <p:cNvSpPr txBox="1"/>
          <p:nvPr/>
        </p:nvSpPr>
        <p:spPr>
          <a:xfrm>
            <a:off x="3811863" y="359760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AB090FC1-405C-6C04-5CC6-155AD5A8835A}"/>
              </a:ext>
            </a:extLst>
          </p:cNvPr>
          <p:cNvSpPr/>
          <p:nvPr/>
        </p:nvSpPr>
        <p:spPr>
          <a:xfrm>
            <a:off x="4845946" y="38463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7">
            <a:extLst>
              <a:ext uri="{FF2B5EF4-FFF2-40B4-BE49-F238E27FC236}">
                <a16:creationId xmlns:a16="http://schemas.microsoft.com/office/drawing/2014/main" id="{1344C20E-3C57-4E1F-0C41-0B333DE46908}"/>
              </a:ext>
            </a:extLst>
          </p:cNvPr>
          <p:cNvSpPr/>
          <p:nvPr/>
        </p:nvSpPr>
        <p:spPr>
          <a:xfrm>
            <a:off x="4845946" y="38463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8">
            <a:extLst>
              <a:ext uri="{FF2B5EF4-FFF2-40B4-BE49-F238E27FC236}">
                <a16:creationId xmlns:a16="http://schemas.microsoft.com/office/drawing/2014/main" id="{C09922D4-CBCC-B683-79AD-6EF88D78E230}"/>
              </a:ext>
            </a:extLst>
          </p:cNvPr>
          <p:cNvSpPr txBox="1"/>
          <p:nvPr/>
        </p:nvSpPr>
        <p:spPr>
          <a:xfrm>
            <a:off x="4931844" y="3805835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19">
            <a:extLst>
              <a:ext uri="{FF2B5EF4-FFF2-40B4-BE49-F238E27FC236}">
                <a16:creationId xmlns:a16="http://schemas.microsoft.com/office/drawing/2014/main" id="{4967F0E0-2FF1-1089-2242-7506CC6C8814}"/>
              </a:ext>
            </a:extLst>
          </p:cNvPr>
          <p:cNvSpPr/>
          <p:nvPr/>
        </p:nvSpPr>
        <p:spPr>
          <a:xfrm>
            <a:off x="4493063" y="3842955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0">
            <a:extLst>
              <a:ext uri="{FF2B5EF4-FFF2-40B4-BE49-F238E27FC236}">
                <a16:creationId xmlns:a16="http://schemas.microsoft.com/office/drawing/2014/main" id="{D5A42C0F-638C-8437-B68D-3C90B7A7B7F4}"/>
              </a:ext>
            </a:extLst>
          </p:cNvPr>
          <p:cNvSpPr/>
          <p:nvPr/>
        </p:nvSpPr>
        <p:spPr>
          <a:xfrm>
            <a:off x="4493063" y="3842955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88EEF0D6-4B6C-228F-CC31-2B298B5F1EEB}"/>
              </a:ext>
            </a:extLst>
          </p:cNvPr>
          <p:cNvSpPr txBox="1"/>
          <p:nvPr/>
        </p:nvSpPr>
        <p:spPr>
          <a:xfrm>
            <a:off x="4578961" y="3802787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647A7C19-4BDE-C440-1F8D-217FBFC8E33B}"/>
              </a:ext>
            </a:extLst>
          </p:cNvPr>
          <p:cNvSpPr/>
          <p:nvPr/>
        </p:nvSpPr>
        <p:spPr>
          <a:xfrm>
            <a:off x="5659673" y="4105883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67F56BC2-EAAC-59E0-2582-726BC1B589E2}"/>
              </a:ext>
            </a:extLst>
          </p:cNvPr>
          <p:cNvSpPr/>
          <p:nvPr/>
        </p:nvSpPr>
        <p:spPr>
          <a:xfrm>
            <a:off x="5659673" y="4105883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AAA37125-3DAD-D261-295C-522B852D627B}"/>
              </a:ext>
            </a:extLst>
          </p:cNvPr>
          <p:cNvSpPr txBox="1"/>
          <p:nvPr/>
        </p:nvSpPr>
        <p:spPr>
          <a:xfrm>
            <a:off x="5745571" y="4065387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A4E411CA-12F2-7D66-5A43-F1E616FAFF96}"/>
              </a:ext>
            </a:extLst>
          </p:cNvPr>
          <p:cNvSpPr/>
          <p:nvPr/>
        </p:nvSpPr>
        <p:spPr>
          <a:xfrm>
            <a:off x="5306790" y="41025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DE077B54-8811-5A55-5010-46300BE76AAE}"/>
              </a:ext>
            </a:extLst>
          </p:cNvPr>
          <p:cNvSpPr/>
          <p:nvPr/>
        </p:nvSpPr>
        <p:spPr>
          <a:xfrm>
            <a:off x="5306790" y="41025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9B9E0C1A-8609-593C-72BC-D7C2DDBC2A8F}"/>
              </a:ext>
            </a:extLst>
          </p:cNvPr>
          <p:cNvSpPr txBox="1"/>
          <p:nvPr/>
        </p:nvSpPr>
        <p:spPr>
          <a:xfrm>
            <a:off x="5392688" y="4062339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16">
            <a:extLst>
              <a:ext uri="{FF2B5EF4-FFF2-40B4-BE49-F238E27FC236}">
                <a16:creationId xmlns:a16="http://schemas.microsoft.com/office/drawing/2014/main" id="{79EA765F-547C-EFCC-A720-4F80ADC8D480}"/>
              </a:ext>
            </a:extLst>
          </p:cNvPr>
          <p:cNvSpPr/>
          <p:nvPr/>
        </p:nvSpPr>
        <p:spPr>
          <a:xfrm>
            <a:off x="6559517" y="44270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7">
            <a:extLst>
              <a:ext uri="{FF2B5EF4-FFF2-40B4-BE49-F238E27FC236}">
                <a16:creationId xmlns:a16="http://schemas.microsoft.com/office/drawing/2014/main" id="{36534F59-4F7A-2E46-8E9C-09E30F4DEFDE}"/>
              </a:ext>
            </a:extLst>
          </p:cNvPr>
          <p:cNvSpPr/>
          <p:nvPr/>
        </p:nvSpPr>
        <p:spPr>
          <a:xfrm>
            <a:off x="6559517" y="44270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8">
            <a:extLst>
              <a:ext uri="{FF2B5EF4-FFF2-40B4-BE49-F238E27FC236}">
                <a16:creationId xmlns:a16="http://schemas.microsoft.com/office/drawing/2014/main" id="{C72C656A-D433-9568-9131-27007E17BBC0}"/>
              </a:ext>
            </a:extLst>
          </p:cNvPr>
          <p:cNvSpPr txBox="1"/>
          <p:nvPr/>
        </p:nvSpPr>
        <p:spPr>
          <a:xfrm>
            <a:off x="6645415" y="4386511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19">
            <a:extLst>
              <a:ext uri="{FF2B5EF4-FFF2-40B4-BE49-F238E27FC236}">
                <a16:creationId xmlns:a16="http://schemas.microsoft.com/office/drawing/2014/main" id="{DC06B026-F2D5-42C5-D316-013C02CE995A}"/>
              </a:ext>
            </a:extLst>
          </p:cNvPr>
          <p:cNvSpPr/>
          <p:nvPr/>
        </p:nvSpPr>
        <p:spPr>
          <a:xfrm>
            <a:off x="6206634" y="44236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0">
            <a:extLst>
              <a:ext uri="{FF2B5EF4-FFF2-40B4-BE49-F238E27FC236}">
                <a16:creationId xmlns:a16="http://schemas.microsoft.com/office/drawing/2014/main" id="{D542E2DE-BB09-6342-EA8E-E4F6730245FA}"/>
              </a:ext>
            </a:extLst>
          </p:cNvPr>
          <p:cNvSpPr/>
          <p:nvPr/>
        </p:nvSpPr>
        <p:spPr>
          <a:xfrm>
            <a:off x="6206634" y="44236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1">
            <a:extLst>
              <a:ext uri="{FF2B5EF4-FFF2-40B4-BE49-F238E27FC236}">
                <a16:creationId xmlns:a16="http://schemas.microsoft.com/office/drawing/2014/main" id="{6AA2ACF0-6B0C-BA9E-0952-87E99BEF8915}"/>
              </a:ext>
            </a:extLst>
          </p:cNvPr>
          <p:cNvSpPr txBox="1"/>
          <p:nvPr/>
        </p:nvSpPr>
        <p:spPr>
          <a:xfrm>
            <a:off x="6292532" y="4383463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16">
            <a:extLst>
              <a:ext uri="{FF2B5EF4-FFF2-40B4-BE49-F238E27FC236}">
                <a16:creationId xmlns:a16="http://schemas.microsoft.com/office/drawing/2014/main" id="{2752450B-54A3-3211-96BA-4CE5581F3C7D}"/>
              </a:ext>
            </a:extLst>
          </p:cNvPr>
          <p:cNvSpPr/>
          <p:nvPr/>
        </p:nvSpPr>
        <p:spPr>
          <a:xfrm>
            <a:off x="7459873" y="467119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17">
            <a:extLst>
              <a:ext uri="{FF2B5EF4-FFF2-40B4-BE49-F238E27FC236}">
                <a16:creationId xmlns:a16="http://schemas.microsoft.com/office/drawing/2014/main" id="{F7D47E6E-4061-6696-4FB6-AA25EF22C6C5}"/>
              </a:ext>
            </a:extLst>
          </p:cNvPr>
          <p:cNvSpPr/>
          <p:nvPr/>
        </p:nvSpPr>
        <p:spPr>
          <a:xfrm>
            <a:off x="7459873" y="467119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8">
            <a:extLst>
              <a:ext uri="{FF2B5EF4-FFF2-40B4-BE49-F238E27FC236}">
                <a16:creationId xmlns:a16="http://schemas.microsoft.com/office/drawing/2014/main" id="{B982631C-18B1-56E1-1910-B8979FF35B4D}"/>
              </a:ext>
            </a:extLst>
          </p:cNvPr>
          <p:cNvSpPr txBox="1"/>
          <p:nvPr/>
        </p:nvSpPr>
        <p:spPr>
          <a:xfrm>
            <a:off x="7545771" y="4630700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2" name="object 19">
            <a:extLst>
              <a:ext uri="{FF2B5EF4-FFF2-40B4-BE49-F238E27FC236}">
                <a16:creationId xmlns:a16="http://schemas.microsoft.com/office/drawing/2014/main" id="{A707917D-E034-D571-7953-AD24F8E5C1CF}"/>
              </a:ext>
            </a:extLst>
          </p:cNvPr>
          <p:cNvSpPr/>
          <p:nvPr/>
        </p:nvSpPr>
        <p:spPr>
          <a:xfrm>
            <a:off x="7106990" y="4667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0">
            <a:extLst>
              <a:ext uri="{FF2B5EF4-FFF2-40B4-BE49-F238E27FC236}">
                <a16:creationId xmlns:a16="http://schemas.microsoft.com/office/drawing/2014/main" id="{C8BC389F-6B4E-21DD-1FDE-0967D511D801}"/>
              </a:ext>
            </a:extLst>
          </p:cNvPr>
          <p:cNvSpPr/>
          <p:nvPr/>
        </p:nvSpPr>
        <p:spPr>
          <a:xfrm>
            <a:off x="7106990" y="4667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1">
            <a:extLst>
              <a:ext uri="{FF2B5EF4-FFF2-40B4-BE49-F238E27FC236}">
                <a16:creationId xmlns:a16="http://schemas.microsoft.com/office/drawing/2014/main" id="{84D3FA29-840B-A12D-DB38-720B966D492B}"/>
              </a:ext>
            </a:extLst>
          </p:cNvPr>
          <p:cNvSpPr txBox="1"/>
          <p:nvPr/>
        </p:nvSpPr>
        <p:spPr>
          <a:xfrm>
            <a:off x="7192888" y="462765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object 16">
            <a:extLst>
              <a:ext uri="{FF2B5EF4-FFF2-40B4-BE49-F238E27FC236}">
                <a16:creationId xmlns:a16="http://schemas.microsoft.com/office/drawing/2014/main" id="{20B11531-40ED-DC98-EAD1-1450D85809C5}"/>
              </a:ext>
            </a:extLst>
          </p:cNvPr>
          <p:cNvSpPr/>
          <p:nvPr/>
        </p:nvSpPr>
        <p:spPr>
          <a:xfrm>
            <a:off x="8395977" y="4976758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7">
            <a:extLst>
              <a:ext uri="{FF2B5EF4-FFF2-40B4-BE49-F238E27FC236}">
                <a16:creationId xmlns:a16="http://schemas.microsoft.com/office/drawing/2014/main" id="{E9022EDD-69E0-5B8B-1B1F-760C612C875E}"/>
              </a:ext>
            </a:extLst>
          </p:cNvPr>
          <p:cNvSpPr/>
          <p:nvPr/>
        </p:nvSpPr>
        <p:spPr>
          <a:xfrm>
            <a:off x="8395977" y="4976758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8">
            <a:extLst>
              <a:ext uri="{FF2B5EF4-FFF2-40B4-BE49-F238E27FC236}">
                <a16:creationId xmlns:a16="http://schemas.microsoft.com/office/drawing/2014/main" id="{863D7A17-CFE2-1EC6-719A-1F2DD202B320}"/>
              </a:ext>
            </a:extLst>
          </p:cNvPr>
          <p:cNvSpPr txBox="1"/>
          <p:nvPr/>
        </p:nvSpPr>
        <p:spPr>
          <a:xfrm>
            <a:off x="8481875" y="493626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object 19">
            <a:extLst>
              <a:ext uri="{FF2B5EF4-FFF2-40B4-BE49-F238E27FC236}">
                <a16:creationId xmlns:a16="http://schemas.microsoft.com/office/drawing/2014/main" id="{20B66AEF-29FF-0E40-C13D-867580775003}"/>
              </a:ext>
            </a:extLst>
          </p:cNvPr>
          <p:cNvSpPr/>
          <p:nvPr/>
        </p:nvSpPr>
        <p:spPr>
          <a:xfrm>
            <a:off x="8043094" y="4973382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20">
            <a:extLst>
              <a:ext uri="{FF2B5EF4-FFF2-40B4-BE49-F238E27FC236}">
                <a16:creationId xmlns:a16="http://schemas.microsoft.com/office/drawing/2014/main" id="{192F9C05-2E1A-06FB-81C4-83A686CAE44C}"/>
              </a:ext>
            </a:extLst>
          </p:cNvPr>
          <p:cNvSpPr/>
          <p:nvPr/>
        </p:nvSpPr>
        <p:spPr>
          <a:xfrm>
            <a:off x="8043094" y="4973382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21">
            <a:extLst>
              <a:ext uri="{FF2B5EF4-FFF2-40B4-BE49-F238E27FC236}">
                <a16:creationId xmlns:a16="http://schemas.microsoft.com/office/drawing/2014/main" id="{3551FCD7-7739-2564-1F11-66F1248E915B}"/>
              </a:ext>
            </a:extLst>
          </p:cNvPr>
          <p:cNvSpPr txBox="1"/>
          <p:nvPr/>
        </p:nvSpPr>
        <p:spPr>
          <a:xfrm>
            <a:off x="8128992" y="4933214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49">
            <a:extLst>
              <a:ext uri="{FF2B5EF4-FFF2-40B4-BE49-F238E27FC236}">
                <a16:creationId xmlns:a16="http://schemas.microsoft.com/office/drawing/2014/main" id="{0595FEBA-84F6-2007-E541-B5D5C12CC01B}"/>
              </a:ext>
            </a:extLst>
          </p:cNvPr>
          <p:cNvSpPr/>
          <p:nvPr/>
        </p:nvSpPr>
        <p:spPr>
          <a:xfrm>
            <a:off x="1851318" y="2859369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50">
            <a:extLst>
              <a:ext uri="{FF2B5EF4-FFF2-40B4-BE49-F238E27FC236}">
                <a16:creationId xmlns:a16="http://schemas.microsoft.com/office/drawing/2014/main" id="{02C46012-EE52-D546-0648-BE0B6622F7E6}"/>
              </a:ext>
            </a:extLst>
          </p:cNvPr>
          <p:cNvSpPr/>
          <p:nvPr/>
        </p:nvSpPr>
        <p:spPr>
          <a:xfrm>
            <a:off x="1851318" y="2859369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51">
            <a:extLst>
              <a:ext uri="{FF2B5EF4-FFF2-40B4-BE49-F238E27FC236}">
                <a16:creationId xmlns:a16="http://schemas.microsoft.com/office/drawing/2014/main" id="{7B64A5A8-D9A2-25D5-779F-D7DA097557D9}"/>
              </a:ext>
            </a:extLst>
          </p:cNvPr>
          <p:cNvSpPr/>
          <p:nvPr/>
        </p:nvSpPr>
        <p:spPr>
          <a:xfrm>
            <a:off x="1498434" y="2855992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52">
            <a:extLst>
              <a:ext uri="{FF2B5EF4-FFF2-40B4-BE49-F238E27FC236}">
                <a16:creationId xmlns:a16="http://schemas.microsoft.com/office/drawing/2014/main" id="{F0C6D77A-669C-491C-1EFC-C9E7D3E5DE7A}"/>
              </a:ext>
            </a:extLst>
          </p:cNvPr>
          <p:cNvSpPr/>
          <p:nvPr/>
        </p:nvSpPr>
        <p:spPr>
          <a:xfrm>
            <a:off x="1498434" y="2855992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53">
            <a:extLst>
              <a:ext uri="{FF2B5EF4-FFF2-40B4-BE49-F238E27FC236}">
                <a16:creationId xmlns:a16="http://schemas.microsoft.com/office/drawing/2014/main" id="{AA55848A-CE99-29B8-DA15-D71757A81DF2}"/>
              </a:ext>
            </a:extLst>
          </p:cNvPr>
          <p:cNvSpPr txBox="1"/>
          <p:nvPr/>
        </p:nvSpPr>
        <p:spPr>
          <a:xfrm>
            <a:off x="1584331" y="2821742"/>
            <a:ext cx="56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5125" algn="l"/>
              </a:tabLst>
            </a:pPr>
            <a:r>
              <a:rPr sz="2700" spc="-7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700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object 16">
            <a:extLst>
              <a:ext uri="{FF2B5EF4-FFF2-40B4-BE49-F238E27FC236}">
                <a16:creationId xmlns:a16="http://schemas.microsoft.com/office/drawing/2014/main" id="{35F82EF4-1E55-C4E4-2C9D-E828D02B0381}"/>
              </a:ext>
            </a:extLst>
          </p:cNvPr>
          <p:cNvSpPr/>
          <p:nvPr/>
        </p:nvSpPr>
        <p:spPr>
          <a:xfrm>
            <a:off x="9188065" y="537218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17">
            <a:extLst>
              <a:ext uri="{FF2B5EF4-FFF2-40B4-BE49-F238E27FC236}">
                <a16:creationId xmlns:a16="http://schemas.microsoft.com/office/drawing/2014/main" id="{1AF97AE6-A973-D4CA-1F5A-053A314DCBF2}"/>
              </a:ext>
            </a:extLst>
          </p:cNvPr>
          <p:cNvSpPr/>
          <p:nvPr/>
        </p:nvSpPr>
        <p:spPr>
          <a:xfrm>
            <a:off x="9188065" y="537218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8">
            <a:extLst>
              <a:ext uri="{FF2B5EF4-FFF2-40B4-BE49-F238E27FC236}">
                <a16:creationId xmlns:a16="http://schemas.microsoft.com/office/drawing/2014/main" id="{E0939340-95D5-D159-1139-8BA5715FEF0A}"/>
              </a:ext>
            </a:extLst>
          </p:cNvPr>
          <p:cNvSpPr txBox="1"/>
          <p:nvPr/>
        </p:nvSpPr>
        <p:spPr>
          <a:xfrm>
            <a:off x="9273963" y="5331690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9" name="object 19">
            <a:extLst>
              <a:ext uri="{FF2B5EF4-FFF2-40B4-BE49-F238E27FC236}">
                <a16:creationId xmlns:a16="http://schemas.microsoft.com/office/drawing/2014/main" id="{FE35E09A-EE9A-76E7-6437-C0FC4EE6E363}"/>
              </a:ext>
            </a:extLst>
          </p:cNvPr>
          <p:cNvSpPr/>
          <p:nvPr/>
        </p:nvSpPr>
        <p:spPr>
          <a:xfrm>
            <a:off x="8835182" y="536881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20">
            <a:extLst>
              <a:ext uri="{FF2B5EF4-FFF2-40B4-BE49-F238E27FC236}">
                <a16:creationId xmlns:a16="http://schemas.microsoft.com/office/drawing/2014/main" id="{02BC8DB2-BC9D-5354-A753-0D50294E45AA}"/>
              </a:ext>
            </a:extLst>
          </p:cNvPr>
          <p:cNvSpPr/>
          <p:nvPr/>
        </p:nvSpPr>
        <p:spPr>
          <a:xfrm>
            <a:off x="8835182" y="536881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21">
            <a:extLst>
              <a:ext uri="{FF2B5EF4-FFF2-40B4-BE49-F238E27FC236}">
                <a16:creationId xmlns:a16="http://schemas.microsoft.com/office/drawing/2014/main" id="{FA7509AF-AA65-317C-45F0-DA1CC44C03E4}"/>
              </a:ext>
            </a:extLst>
          </p:cNvPr>
          <p:cNvSpPr txBox="1"/>
          <p:nvPr/>
        </p:nvSpPr>
        <p:spPr>
          <a:xfrm>
            <a:off x="8921080" y="532864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73672D57-D675-5D66-BF01-5B840B21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21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6072591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AB738-CCB6-FDE0-FCD9-E3BE75FEE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75F36A7-0BE8-A311-A089-3657060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297144" cy="792088"/>
          </a:xfrm>
        </p:spPr>
        <p:txBody>
          <a:bodyPr/>
          <a:lstStyle/>
          <a:p>
            <a:r>
              <a:rPr lang="en-US" dirty="0"/>
              <a:t>GPU LATENCY HIDING – INSIDE THE SM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845D4D4E-126C-A67D-9D4D-CF2F2017928B}"/>
              </a:ext>
            </a:extLst>
          </p:cNvPr>
          <p:cNvSpPr txBox="1"/>
          <p:nvPr/>
        </p:nvSpPr>
        <p:spPr>
          <a:xfrm>
            <a:off x="9929192" y="1368462"/>
            <a:ext cx="277441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I0: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R0,</a:t>
            </a:r>
            <a:r>
              <a:rPr sz="1600" spc="-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I1: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R1,</a:t>
            </a:r>
            <a:r>
              <a:rPr sz="1600" spc="-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4DC8C662-523D-6FFD-F517-CDFF94252A80}"/>
              </a:ext>
            </a:extLst>
          </p:cNvPr>
          <p:cNvSpPr txBox="1"/>
          <p:nvPr/>
        </p:nvSpPr>
        <p:spPr>
          <a:xfrm>
            <a:off x="9929193" y="2206662"/>
            <a:ext cx="20875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I2: 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MPY</a:t>
            </a:r>
            <a:r>
              <a:rPr sz="1600" spc="-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R2,R0,R1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C380D24A-39AA-50CF-3587-16AB19022743}"/>
              </a:ext>
            </a:extLst>
          </p:cNvPr>
          <p:cNvSpPr txBox="1"/>
          <p:nvPr/>
        </p:nvSpPr>
        <p:spPr>
          <a:xfrm>
            <a:off x="673608" y="2534155"/>
            <a:ext cx="830648" cy="32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warps</a:t>
            </a:r>
            <a:endParaRPr sz="1800" dirty="0">
              <a:latin typeface="Comic Sans MS" panose="030F0702030302020204" pitchFamily="66" charset="0"/>
              <a:cs typeface="Arial" panose="020B0604020202020204"/>
            </a:endParaRP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0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1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2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3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4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5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6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7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8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9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12700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502C266A-CF6A-885B-6F5C-730060EA1B91}"/>
              </a:ext>
            </a:extLst>
          </p:cNvPr>
          <p:cNvSpPr txBox="1"/>
          <p:nvPr/>
        </p:nvSpPr>
        <p:spPr>
          <a:xfrm>
            <a:off x="5785839" y="1915411"/>
            <a:ext cx="189671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clock</a:t>
            </a:r>
            <a:r>
              <a:rPr sz="2000" spc="-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cycles: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17059339-8F35-4B6B-6F6B-18038E0A7EC6}"/>
              </a:ext>
            </a:extLst>
          </p:cNvPr>
          <p:cNvSpPr txBox="1"/>
          <p:nvPr/>
        </p:nvSpPr>
        <p:spPr>
          <a:xfrm>
            <a:off x="1548040" y="2180586"/>
            <a:ext cx="1130787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C0 C1  C2 C3  C4 C5  C6 C7  C8 C9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C10 </a:t>
            </a:r>
            <a:r>
              <a:rPr lang="en-US" altLang="zh-CN" sz="1800" spc="-45" dirty="0">
                <a:latin typeface="Comic Sans MS" panose="030F0702030302020204" pitchFamily="66" charset="0"/>
                <a:cs typeface="Arial" panose="020B0604020202020204"/>
              </a:rPr>
              <a:t>C11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C12 C13  C14 C15  C16 C17  C18</a:t>
            </a:r>
            <a:r>
              <a:rPr lang="en-US" altLang="zh-CN" sz="1800" spc="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25" name="object 16">
            <a:extLst>
              <a:ext uri="{FF2B5EF4-FFF2-40B4-BE49-F238E27FC236}">
                <a16:creationId xmlns:a16="http://schemas.microsoft.com/office/drawing/2014/main" id="{857D4EE2-2630-006D-5553-88B918A7AE4F}"/>
              </a:ext>
            </a:extLst>
          </p:cNvPr>
          <p:cNvSpPr/>
          <p:nvPr/>
        </p:nvSpPr>
        <p:spPr>
          <a:xfrm>
            <a:off x="3326866" y="338025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7">
            <a:extLst>
              <a:ext uri="{FF2B5EF4-FFF2-40B4-BE49-F238E27FC236}">
                <a16:creationId xmlns:a16="http://schemas.microsoft.com/office/drawing/2014/main" id="{EBEF60FB-4F0A-9B53-831C-4D3D522C6B65}"/>
              </a:ext>
            </a:extLst>
          </p:cNvPr>
          <p:cNvSpPr/>
          <p:nvPr/>
        </p:nvSpPr>
        <p:spPr>
          <a:xfrm>
            <a:off x="3326866" y="338025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8">
            <a:extLst>
              <a:ext uri="{FF2B5EF4-FFF2-40B4-BE49-F238E27FC236}">
                <a16:creationId xmlns:a16="http://schemas.microsoft.com/office/drawing/2014/main" id="{5F67ED58-B8CB-B880-C496-0AFA378795C8}"/>
              </a:ext>
            </a:extLst>
          </p:cNvPr>
          <p:cNvSpPr txBox="1"/>
          <p:nvPr/>
        </p:nvSpPr>
        <p:spPr>
          <a:xfrm>
            <a:off x="3412764" y="3339754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19">
            <a:extLst>
              <a:ext uri="{FF2B5EF4-FFF2-40B4-BE49-F238E27FC236}">
                <a16:creationId xmlns:a16="http://schemas.microsoft.com/office/drawing/2014/main" id="{3B16B37A-A5EC-A6D4-3B66-1D215F484338}"/>
              </a:ext>
            </a:extLst>
          </p:cNvPr>
          <p:cNvSpPr/>
          <p:nvPr/>
        </p:nvSpPr>
        <p:spPr>
          <a:xfrm>
            <a:off x="2973983" y="3376874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193D3AA7-1A87-ADC4-F966-A68D26010C45}"/>
              </a:ext>
            </a:extLst>
          </p:cNvPr>
          <p:cNvSpPr/>
          <p:nvPr/>
        </p:nvSpPr>
        <p:spPr>
          <a:xfrm>
            <a:off x="2973983" y="3376874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1">
            <a:extLst>
              <a:ext uri="{FF2B5EF4-FFF2-40B4-BE49-F238E27FC236}">
                <a16:creationId xmlns:a16="http://schemas.microsoft.com/office/drawing/2014/main" id="{75EFEC5D-9D71-A2CB-6533-9D97A1E919EA}"/>
              </a:ext>
            </a:extLst>
          </p:cNvPr>
          <p:cNvSpPr txBox="1"/>
          <p:nvPr/>
        </p:nvSpPr>
        <p:spPr>
          <a:xfrm>
            <a:off x="3059881" y="3336706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F1959A52-B8CE-7696-7C04-52FEEF58B9BA}"/>
              </a:ext>
            </a:extLst>
          </p:cNvPr>
          <p:cNvSpPr/>
          <p:nvPr/>
        </p:nvSpPr>
        <p:spPr>
          <a:xfrm>
            <a:off x="4078848" y="364114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17">
            <a:extLst>
              <a:ext uri="{FF2B5EF4-FFF2-40B4-BE49-F238E27FC236}">
                <a16:creationId xmlns:a16="http://schemas.microsoft.com/office/drawing/2014/main" id="{BB3C7B9C-F365-0305-1521-E7C9CFEBD079}"/>
              </a:ext>
            </a:extLst>
          </p:cNvPr>
          <p:cNvSpPr/>
          <p:nvPr/>
        </p:nvSpPr>
        <p:spPr>
          <a:xfrm>
            <a:off x="4078848" y="364114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8">
            <a:extLst>
              <a:ext uri="{FF2B5EF4-FFF2-40B4-BE49-F238E27FC236}">
                <a16:creationId xmlns:a16="http://schemas.microsoft.com/office/drawing/2014/main" id="{5C406BC9-F1AF-398C-4AEB-F51FAF69EC97}"/>
              </a:ext>
            </a:extLst>
          </p:cNvPr>
          <p:cNvSpPr txBox="1"/>
          <p:nvPr/>
        </p:nvSpPr>
        <p:spPr>
          <a:xfrm>
            <a:off x="4164746" y="3600650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534BEC43-E3AB-38A6-413B-4C964AC5A220}"/>
              </a:ext>
            </a:extLst>
          </p:cNvPr>
          <p:cNvSpPr/>
          <p:nvPr/>
        </p:nvSpPr>
        <p:spPr>
          <a:xfrm>
            <a:off x="3725965" y="363777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80A3A025-2B13-FEF3-A8F7-F74E18BE65F6}"/>
              </a:ext>
            </a:extLst>
          </p:cNvPr>
          <p:cNvSpPr/>
          <p:nvPr/>
        </p:nvSpPr>
        <p:spPr>
          <a:xfrm>
            <a:off x="3725965" y="363777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A7E0F92B-D1EC-51E8-99A6-B23A6D721459}"/>
              </a:ext>
            </a:extLst>
          </p:cNvPr>
          <p:cNvSpPr txBox="1"/>
          <p:nvPr/>
        </p:nvSpPr>
        <p:spPr>
          <a:xfrm>
            <a:off x="3811863" y="359760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38C55EB1-F836-2327-318A-28AA31387FE2}"/>
              </a:ext>
            </a:extLst>
          </p:cNvPr>
          <p:cNvSpPr/>
          <p:nvPr/>
        </p:nvSpPr>
        <p:spPr>
          <a:xfrm>
            <a:off x="4845946" y="38463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7">
            <a:extLst>
              <a:ext uri="{FF2B5EF4-FFF2-40B4-BE49-F238E27FC236}">
                <a16:creationId xmlns:a16="http://schemas.microsoft.com/office/drawing/2014/main" id="{D283F088-47BA-F7B2-8E99-DB1E78A7FE3A}"/>
              </a:ext>
            </a:extLst>
          </p:cNvPr>
          <p:cNvSpPr/>
          <p:nvPr/>
        </p:nvSpPr>
        <p:spPr>
          <a:xfrm>
            <a:off x="4845946" y="38463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8">
            <a:extLst>
              <a:ext uri="{FF2B5EF4-FFF2-40B4-BE49-F238E27FC236}">
                <a16:creationId xmlns:a16="http://schemas.microsoft.com/office/drawing/2014/main" id="{057B4B85-3808-E53B-8CC6-61C0A81A755F}"/>
              </a:ext>
            </a:extLst>
          </p:cNvPr>
          <p:cNvSpPr txBox="1"/>
          <p:nvPr/>
        </p:nvSpPr>
        <p:spPr>
          <a:xfrm>
            <a:off x="4931844" y="3805835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19">
            <a:extLst>
              <a:ext uri="{FF2B5EF4-FFF2-40B4-BE49-F238E27FC236}">
                <a16:creationId xmlns:a16="http://schemas.microsoft.com/office/drawing/2014/main" id="{AA70A230-C7AF-B9AB-C3DC-BC09BBFBCF3F}"/>
              </a:ext>
            </a:extLst>
          </p:cNvPr>
          <p:cNvSpPr/>
          <p:nvPr/>
        </p:nvSpPr>
        <p:spPr>
          <a:xfrm>
            <a:off x="4493063" y="3842955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0">
            <a:extLst>
              <a:ext uri="{FF2B5EF4-FFF2-40B4-BE49-F238E27FC236}">
                <a16:creationId xmlns:a16="http://schemas.microsoft.com/office/drawing/2014/main" id="{40685804-7D39-AB91-C661-D766BD947FB5}"/>
              </a:ext>
            </a:extLst>
          </p:cNvPr>
          <p:cNvSpPr/>
          <p:nvPr/>
        </p:nvSpPr>
        <p:spPr>
          <a:xfrm>
            <a:off x="4493063" y="3842955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03DEB84E-C4C2-9761-43CE-916DD5A122BC}"/>
              </a:ext>
            </a:extLst>
          </p:cNvPr>
          <p:cNvSpPr txBox="1"/>
          <p:nvPr/>
        </p:nvSpPr>
        <p:spPr>
          <a:xfrm>
            <a:off x="4578961" y="3802787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134A9B93-7F23-7D2B-DC04-C5719274C4CC}"/>
              </a:ext>
            </a:extLst>
          </p:cNvPr>
          <p:cNvSpPr/>
          <p:nvPr/>
        </p:nvSpPr>
        <p:spPr>
          <a:xfrm>
            <a:off x="5659673" y="4105883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617F24A5-2891-5A3B-F508-60A6A04EA5A3}"/>
              </a:ext>
            </a:extLst>
          </p:cNvPr>
          <p:cNvSpPr/>
          <p:nvPr/>
        </p:nvSpPr>
        <p:spPr>
          <a:xfrm>
            <a:off x="5659673" y="4105883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AEB63C7A-3ABE-56F6-3BFD-77EA0CBA0F5C}"/>
              </a:ext>
            </a:extLst>
          </p:cNvPr>
          <p:cNvSpPr txBox="1"/>
          <p:nvPr/>
        </p:nvSpPr>
        <p:spPr>
          <a:xfrm>
            <a:off x="5745571" y="4065387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DAE67C48-7223-E2EB-CF3C-09988FF90F78}"/>
              </a:ext>
            </a:extLst>
          </p:cNvPr>
          <p:cNvSpPr/>
          <p:nvPr/>
        </p:nvSpPr>
        <p:spPr>
          <a:xfrm>
            <a:off x="5306790" y="41025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820F53BC-4FC5-49B4-0606-7CA9C8FD163B}"/>
              </a:ext>
            </a:extLst>
          </p:cNvPr>
          <p:cNvSpPr/>
          <p:nvPr/>
        </p:nvSpPr>
        <p:spPr>
          <a:xfrm>
            <a:off x="5306790" y="41025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D9E6A82E-3E26-58AF-DBE7-BA1BA58D15A7}"/>
              </a:ext>
            </a:extLst>
          </p:cNvPr>
          <p:cNvSpPr txBox="1"/>
          <p:nvPr/>
        </p:nvSpPr>
        <p:spPr>
          <a:xfrm>
            <a:off x="5392688" y="4062339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16">
            <a:extLst>
              <a:ext uri="{FF2B5EF4-FFF2-40B4-BE49-F238E27FC236}">
                <a16:creationId xmlns:a16="http://schemas.microsoft.com/office/drawing/2014/main" id="{A36EDBB4-27E1-FFB8-438C-EB581B61A730}"/>
              </a:ext>
            </a:extLst>
          </p:cNvPr>
          <p:cNvSpPr/>
          <p:nvPr/>
        </p:nvSpPr>
        <p:spPr>
          <a:xfrm>
            <a:off x="6559517" y="44270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7">
            <a:extLst>
              <a:ext uri="{FF2B5EF4-FFF2-40B4-BE49-F238E27FC236}">
                <a16:creationId xmlns:a16="http://schemas.microsoft.com/office/drawing/2014/main" id="{D00AC064-39E4-C618-F93A-65AE70DA42D3}"/>
              </a:ext>
            </a:extLst>
          </p:cNvPr>
          <p:cNvSpPr/>
          <p:nvPr/>
        </p:nvSpPr>
        <p:spPr>
          <a:xfrm>
            <a:off x="6559517" y="44270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8">
            <a:extLst>
              <a:ext uri="{FF2B5EF4-FFF2-40B4-BE49-F238E27FC236}">
                <a16:creationId xmlns:a16="http://schemas.microsoft.com/office/drawing/2014/main" id="{233D4EF0-BB07-364D-B8B8-FF271F68107F}"/>
              </a:ext>
            </a:extLst>
          </p:cNvPr>
          <p:cNvSpPr txBox="1"/>
          <p:nvPr/>
        </p:nvSpPr>
        <p:spPr>
          <a:xfrm>
            <a:off x="6645415" y="4386511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19">
            <a:extLst>
              <a:ext uri="{FF2B5EF4-FFF2-40B4-BE49-F238E27FC236}">
                <a16:creationId xmlns:a16="http://schemas.microsoft.com/office/drawing/2014/main" id="{285304CB-830A-EA9B-A68E-E269DF954A68}"/>
              </a:ext>
            </a:extLst>
          </p:cNvPr>
          <p:cNvSpPr/>
          <p:nvPr/>
        </p:nvSpPr>
        <p:spPr>
          <a:xfrm>
            <a:off x="6206634" y="44236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0">
            <a:extLst>
              <a:ext uri="{FF2B5EF4-FFF2-40B4-BE49-F238E27FC236}">
                <a16:creationId xmlns:a16="http://schemas.microsoft.com/office/drawing/2014/main" id="{9982F15E-859D-28EB-94F2-453766217589}"/>
              </a:ext>
            </a:extLst>
          </p:cNvPr>
          <p:cNvSpPr/>
          <p:nvPr/>
        </p:nvSpPr>
        <p:spPr>
          <a:xfrm>
            <a:off x="6206634" y="44236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1">
            <a:extLst>
              <a:ext uri="{FF2B5EF4-FFF2-40B4-BE49-F238E27FC236}">
                <a16:creationId xmlns:a16="http://schemas.microsoft.com/office/drawing/2014/main" id="{F2FA1449-2173-ED20-DBDD-E6CB606A40CC}"/>
              </a:ext>
            </a:extLst>
          </p:cNvPr>
          <p:cNvSpPr txBox="1"/>
          <p:nvPr/>
        </p:nvSpPr>
        <p:spPr>
          <a:xfrm>
            <a:off x="6292532" y="4383463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16">
            <a:extLst>
              <a:ext uri="{FF2B5EF4-FFF2-40B4-BE49-F238E27FC236}">
                <a16:creationId xmlns:a16="http://schemas.microsoft.com/office/drawing/2014/main" id="{C03A8435-8AC8-DBFE-26B5-215A660E5B28}"/>
              </a:ext>
            </a:extLst>
          </p:cNvPr>
          <p:cNvSpPr/>
          <p:nvPr/>
        </p:nvSpPr>
        <p:spPr>
          <a:xfrm>
            <a:off x="7459873" y="467119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17">
            <a:extLst>
              <a:ext uri="{FF2B5EF4-FFF2-40B4-BE49-F238E27FC236}">
                <a16:creationId xmlns:a16="http://schemas.microsoft.com/office/drawing/2014/main" id="{C84696D6-23D6-42B9-5D6B-FFF84A58A525}"/>
              </a:ext>
            </a:extLst>
          </p:cNvPr>
          <p:cNvSpPr/>
          <p:nvPr/>
        </p:nvSpPr>
        <p:spPr>
          <a:xfrm>
            <a:off x="7459873" y="467119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8">
            <a:extLst>
              <a:ext uri="{FF2B5EF4-FFF2-40B4-BE49-F238E27FC236}">
                <a16:creationId xmlns:a16="http://schemas.microsoft.com/office/drawing/2014/main" id="{4F415A03-B74E-BC40-9B68-448F2D05D5B1}"/>
              </a:ext>
            </a:extLst>
          </p:cNvPr>
          <p:cNvSpPr txBox="1"/>
          <p:nvPr/>
        </p:nvSpPr>
        <p:spPr>
          <a:xfrm>
            <a:off x="7545771" y="4630700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2" name="object 19">
            <a:extLst>
              <a:ext uri="{FF2B5EF4-FFF2-40B4-BE49-F238E27FC236}">
                <a16:creationId xmlns:a16="http://schemas.microsoft.com/office/drawing/2014/main" id="{37943CF5-E86E-BD15-27CA-4FD3C58E9FFD}"/>
              </a:ext>
            </a:extLst>
          </p:cNvPr>
          <p:cNvSpPr/>
          <p:nvPr/>
        </p:nvSpPr>
        <p:spPr>
          <a:xfrm>
            <a:off x="7106990" y="4667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0">
            <a:extLst>
              <a:ext uri="{FF2B5EF4-FFF2-40B4-BE49-F238E27FC236}">
                <a16:creationId xmlns:a16="http://schemas.microsoft.com/office/drawing/2014/main" id="{20CA6F03-7E55-8AFC-BA15-B7C721F7ED1F}"/>
              </a:ext>
            </a:extLst>
          </p:cNvPr>
          <p:cNvSpPr/>
          <p:nvPr/>
        </p:nvSpPr>
        <p:spPr>
          <a:xfrm>
            <a:off x="7106990" y="4667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1">
            <a:extLst>
              <a:ext uri="{FF2B5EF4-FFF2-40B4-BE49-F238E27FC236}">
                <a16:creationId xmlns:a16="http://schemas.microsoft.com/office/drawing/2014/main" id="{29E4571F-6FCE-82D3-F79B-0249F1333567}"/>
              </a:ext>
            </a:extLst>
          </p:cNvPr>
          <p:cNvSpPr txBox="1"/>
          <p:nvPr/>
        </p:nvSpPr>
        <p:spPr>
          <a:xfrm>
            <a:off x="7192888" y="462765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object 16">
            <a:extLst>
              <a:ext uri="{FF2B5EF4-FFF2-40B4-BE49-F238E27FC236}">
                <a16:creationId xmlns:a16="http://schemas.microsoft.com/office/drawing/2014/main" id="{CB190202-0639-9C66-BB1B-DCA96AC870B7}"/>
              </a:ext>
            </a:extLst>
          </p:cNvPr>
          <p:cNvSpPr/>
          <p:nvPr/>
        </p:nvSpPr>
        <p:spPr>
          <a:xfrm>
            <a:off x="8395977" y="4976758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7">
            <a:extLst>
              <a:ext uri="{FF2B5EF4-FFF2-40B4-BE49-F238E27FC236}">
                <a16:creationId xmlns:a16="http://schemas.microsoft.com/office/drawing/2014/main" id="{7312B5A2-C611-7345-5580-24A5C77F795E}"/>
              </a:ext>
            </a:extLst>
          </p:cNvPr>
          <p:cNvSpPr/>
          <p:nvPr/>
        </p:nvSpPr>
        <p:spPr>
          <a:xfrm>
            <a:off x="8395977" y="4976758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8">
            <a:extLst>
              <a:ext uri="{FF2B5EF4-FFF2-40B4-BE49-F238E27FC236}">
                <a16:creationId xmlns:a16="http://schemas.microsoft.com/office/drawing/2014/main" id="{1492A0A3-121C-6374-155E-A1ACC2C023F2}"/>
              </a:ext>
            </a:extLst>
          </p:cNvPr>
          <p:cNvSpPr txBox="1"/>
          <p:nvPr/>
        </p:nvSpPr>
        <p:spPr>
          <a:xfrm>
            <a:off x="8481875" y="493626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object 19">
            <a:extLst>
              <a:ext uri="{FF2B5EF4-FFF2-40B4-BE49-F238E27FC236}">
                <a16:creationId xmlns:a16="http://schemas.microsoft.com/office/drawing/2014/main" id="{42D52694-06CD-580C-1318-4FD3B489F75C}"/>
              </a:ext>
            </a:extLst>
          </p:cNvPr>
          <p:cNvSpPr/>
          <p:nvPr/>
        </p:nvSpPr>
        <p:spPr>
          <a:xfrm>
            <a:off x="8043094" y="4973382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20">
            <a:extLst>
              <a:ext uri="{FF2B5EF4-FFF2-40B4-BE49-F238E27FC236}">
                <a16:creationId xmlns:a16="http://schemas.microsoft.com/office/drawing/2014/main" id="{14F40F5E-AAD5-F621-6FA4-3467FA267B8F}"/>
              </a:ext>
            </a:extLst>
          </p:cNvPr>
          <p:cNvSpPr/>
          <p:nvPr/>
        </p:nvSpPr>
        <p:spPr>
          <a:xfrm>
            <a:off x="8043094" y="4973382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21">
            <a:extLst>
              <a:ext uri="{FF2B5EF4-FFF2-40B4-BE49-F238E27FC236}">
                <a16:creationId xmlns:a16="http://schemas.microsoft.com/office/drawing/2014/main" id="{0EE0835A-D531-2FE0-C2F6-4CBD6E712878}"/>
              </a:ext>
            </a:extLst>
          </p:cNvPr>
          <p:cNvSpPr txBox="1"/>
          <p:nvPr/>
        </p:nvSpPr>
        <p:spPr>
          <a:xfrm>
            <a:off x="8128992" y="4933214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49">
            <a:extLst>
              <a:ext uri="{FF2B5EF4-FFF2-40B4-BE49-F238E27FC236}">
                <a16:creationId xmlns:a16="http://schemas.microsoft.com/office/drawing/2014/main" id="{C240550B-D820-33D6-A223-083C54092815}"/>
              </a:ext>
            </a:extLst>
          </p:cNvPr>
          <p:cNvSpPr/>
          <p:nvPr/>
        </p:nvSpPr>
        <p:spPr>
          <a:xfrm>
            <a:off x="1851318" y="2859369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50">
            <a:extLst>
              <a:ext uri="{FF2B5EF4-FFF2-40B4-BE49-F238E27FC236}">
                <a16:creationId xmlns:a16="http://schemas.microsoft.com/office/drawing/2014/main" id="{3867A3ED-55C7-FA2C-2DD2-2A27D389C779}"/>
              </a:ext>
            </a:extLst>
          </p:cNvPr>
          <p:cNvSpPr/>
          <p:nvPr/>
        </p:nvSpPr>
        <p:spPr>
          <a:xfrm>
            <a:off x="1851318" y="2859369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51">
            <a:extLst>
              <a:ext uri="{FF2B5EF4-FFF2-40B4-BE49-F238E27FC236}">
                <a16:creationId xmlns:a16="http://schemas.microsoft.com/office/drawing/2014/main" id="{7DE22C7D-2263-CC1F-232C-32841E8034C3}"/>
              </a:ext>
            </a:extLst>
          </p:cNvPr>
          <p:cNvSpPr/>
          <p:nvPr/>
        </p:nvSpPr>
        <p:spPr>
          <a:xfrm>
            <a:off x="1498434" y="2855992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52">
            <a:extLst>
              <a:ext uri="{FF2B5EF4-FFF2-40B4-BE49-F238E27FC236}">
                <a16:creationId xmlns:a16="http://schemas.microsoft.com/office/drawing/2014/main" id="{0259CA71-C550-39AA-7874-697BF7B787D5}"/>
              </a:ext>
            </a:extLst>
          </p:cNvPr>
          <p:cNvSpPr/>
          <p:nvPr/>
        </p:nvSpPr>
        <p:spPr>
          <a:xfrm>
            <a:off x="1498434" y="2855992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53">
            <a:extLst>
              <a:ext uri="{FF2B5EF4-FFF2-40B4-BE49-F238E27FC236}">
                <a16:creationId xmlns:a16="http://schemas.microsoft.com/office/drawing/2014/main" id="{4A3CEA38-CF67-07B3-DF3C-A778A74DEE03}"/>
              </a:ext>
            </a:extLst>
          </p:cNvPr>
          <p:cNvSpPr txBox="1"/>
          <p:nvPr/>
        </p:nvSpPr>
        <p:spPr>
          <a:xfrm>
            <a:off x="1584331" y="2821742"/>
            <a:ext cx="56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5125" algn="l"/>
              </a:tabLst>
            </a:pPr>
            <a:r>
              <a:rPr sz="2700" spc="-7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700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object 16">
            <a:extLst>
              <a:ext uri="{FF2B5EF4-FFF2-40B4-BE49-F238E27FC236}">
                <a16:creationId xmlns:a16="http://schemas.microsoft.com/office/drawing/2014/main" id="{0959F697-564D-86F7-FBBE-D9380ECB108E}"/>
              </a:ext>
            </a:extLst>
          </p:cNvPr>
          <p:cNvSpPr/>
          <p:nvPr/>
        </p:nvSpPr>
        <p:spPr>
          <a:xfrm>
            <a:off x="9188065" y="537218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17">
            <a:extLst>
              <a:ext uri="{FF2B5EF4-FFF2-40B4-BE49-F238E27FC236}">
                <a16:creationId xmlns:a16="http://schemas.microsoft.com/office/drawing/2014/main" id="{EC5DA491-57D7-6878-5423-7BBAD8F2A437}"/>
              </a:ext>
            </a:extLst>
          </p:cNvPr>
          <p:cNvSpPr/>
          <p:nvPr/>
        </p:nvSpPr>
        <p:spPr>
          <a:xfrm>
            <a:off x="9188065" y="537218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8">
            <a:extLst>
              <a:ext uri="{FF2B5EF4-FFF2-40B4-BE49-F238E27FC236}">
                <a16:creationId xmlns:a16="http://schemas.microsoft.com/office/drawing/2014/main" id="{A0D39426-333B-B945-F431-3C5FBC7BCD04}"/>
              </a:ext>
            </a:extLst>
          </p:cNvPr>
          <p:cNvSpPr txBox="1"/>
          <p:nvPr/>
        </p:nvSpPr>
        <p:spPr>
          <a:xfrm>
            <a:off x="9273963" y="5331690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9" name="object 19">
            <a:extLst>
              <a:ext uri="{FF2B5EF4-FFF2-40B4-BE49-F238E27FC236}">
                <a16:creationId xmlns:a16="http://schemas.microsoft.com/office/drawing/2014/main" id="{1271D088-821A-C254-DFE9-83E266484060}"/>
              </a:ext>
            </a:extLst>
          </p:cNvPr>
          <p:cNvSpPr/>
          <p:nvPr/>
        </p:nvSpPr>
        <p:spPr>
          <a:xfrm>
            <a:off x="8835182" y="536881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20">
            <a:extLst>
              <a:ext uri="{FF2B5EF4-FFF2-40B4-BE49-F238E27FC236}">
                <a16:creationId xmlns:a16="http://schemas.microsoft.com/office/drawing/2014/main" id="{4B3F07F4-515A-57ED-125A-403865A2322A}"/>
              </a:ext>
            </a:extLst>
          </p:cNvPr>
          <p:cNvSpPr/>
          <p:nvPr/>
        </p:nvSpPr>
        <p:spPr>
          <a:xfrm>
            <a:off x="8835182" y="536881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21">
            <a:extLst>
              <a:ext uri="{FF2B5EF4-FFF2-40B4-BE49-F238E27FC236}">
                <a16:creationId xmlns:a16="http://schemas.microsoft.com/office/drawing/2014/main" id="{2139961E-8BD0-B54B-C970-00E97F65D50C}"/>
              </a:ext>
            </a:extLst>
          </p:cNvPr>
          <p:cNvSpPr txBox="1"/>
          <p:nvPr/>
        </p:nvSpPr>
        <p:spPr>
          <a:xfrm>
            <a:off x="8921080" y="532864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49">
            <a:extLst>
              <a:ext uri="{FF2B5EF4-FFF2-40B4-BE49-F238E27FC236}">
                <a16:creationId xmlns:a16="http://schemas.microsoft.com/office/drawing/2014/main" id="{B51572D9-A32B-3054-FC0F-204E5F9E0FE0}"/>
              </a:ext>
            </a:extLst>
          </p:cNvPr>
          <p:cNvSpPr/>
          <p:nvPr/>
        </p:nvSpPr>
        <p:spPr>
          <a:xfrm>
            <a:off x="2581002" y="31215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0">
            <a:extLst>
              <a:ext uri="{FF2B5EF4-FFF2-40B4-BE49-F238E27FC236}">
                <a16:creationId xmlns:a16="http://schemas.microsoft.com/office/drawing/2014/main" id="{328DA72A-2CD8-ADA5-67C6-ACCE9F9FC72C}"/>
              </a:ext>
            </a:extLst>
          </p:cNvPr>
          <p:cNvSpPr/>
          <p:nvPr/>
        </p:nvSpPr>
        <p:spPr>
          <a:xfrm>
            <a:off x="2581002" y="31215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51">
            <a:extLst>
              <a:ext uri="{FF2B5EF4-FFF2-40B4-BE49-F238E27FC236}">
                <a16:creationId xmlns:a16="http://schemas.microsoft.com/office/drawing/2014/main" id="{2630F4DF-3497-11B2-1450-D6BE14D55644}"/>
              </a:ext>
            </a:extLst>
          </p:cNvPr>
          <p:cNvSpPr/>
          <p:nvPr/>
        </p:nvSpPr>
        <p:spPr>
          <a:xfrm>
            <a:off x="2228120" y="3118145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52">
            <a:extLst>
              <a:ext uri="{FF2B5EF4-FFF2-40B4-BE49-F238E27FC236}">
                <a16:creationId xmlns:a16="http://schemas.microsoft.com/office/drawing/2014/main" id="{27B3224B-86FA-FE18-904E-A4EF8002E3A8}"/>
              </a:ext>
            </a:extLst>
          </p:cNvPr>
          <p:cNvSpPr/>
          <p:nvPr/>
        </p:nvSpPr>
        <p:spPr>
          <a:xfrm>
            <a:off x="2228120" y="3118145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53">
            <a:extLst>
              <a:ext uri="{FF2B5EF4-FFF2-40B4-BE49-F238E27FC236}">
                <a16:creationId xmlns:a16="http://schemas.microsoft.com/office/drawing/2014/main" id="{CA3E2879-B690-26E3-B73A-D5F3FCE667DA}"/>
              </a:ext>
            </a:extLst>
          </p:cNvPr>
          <p:cNvSpPr txBox="1"/>
          <p:nvPr/>
        </p:nvSpPr>
        <p:spPr>
          <a:xfrm>
            <a:off x="2314016" y="3081417"/>
            <a:ext cx="56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5125" algn="l"/>
              </a:tabLst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2" name="object 48">
            <a:extLst>
              <a:ext uri="{FF2B5EF4-FFF2-40B4-BE49-F238E27FC236}">
                <a16:creationId xmlns:a16="http://schemas.microsoft.com/office/drawing/2014/main" id="{210F7927-FAF9-0DD7-9229-FDA1BFBE939B}"/>
              </a:ext>
            </a:extLst>
          </p:cNvPr>
          <p:cNvSpPr txBox="1"/>
          <p:nvPr/>
        </p:nvSpPr>
        <p:spPr>
          <a:xfrm>
            <a:off x="10127539" y="2958816"/>
            <a:ext cx="360045" cy="225425"/>
          </a:xfrm>
          <a:prstGeom prst="rect">
            <a:avLst/>
          </a:prstGeom>
          <a:solidFill>
            <a:srgbClr val="76B900"/>
          </a:solidFill>
          <a:ln w="25400">
            <a:solidFill>
              <a:srgbClr val="00856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ts val="1770"/>
              </a:lnSpc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I2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2931C8C1-9F59-00D9-6E33-44E88F49D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22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285028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639DA-0933-650E-F3BE-7FE41CBF8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E1BF429-232E-5AFB-7AE8-FA673623E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297144" cy="792088"/>
          </a:xfrm>
        </p:spPr>
        <p:txBody>
          <a:bodyPr/>
          <a:lstStyle/>
          <a:p>
            <a:r>
              <a:rPr lang="en-US" dirty="0"/>
              <a:t>GPU LATENCY HIDING – INSIDE THE SM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CED686FD-FDF9-4724-8646-6A40C83CBC16}"/>
              </a:ext>
            </a:extLst>
          </p:cNvPr>
          <p:cNvSpPr txBox="1"/>
          <p:nvPr/>
        </p:nvSpPr>
        <p:spPr>
          <a:xfrm>
            <a:off x="9929192" y="1368462"/>
            <a:ext cx="277441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I0: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R0,</a:t>
            </a:r>
            <a:r>
              <a:rPr sz="1600" spc="-6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I1: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R1,</a:t>
            </a:r>
            <a:r>
              <a:rPr sz="1600" spc="-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b[idx];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762E83C-AEC3-F957-AE35-4A3A8642BE09}"/>
              </a:ext>
            </a:extLst>
          </p:cNvPr>
          <p:cNvSpPr txBox="1"/>
          <p:nvPr/>
        </p:nvSpPr>
        <p:spPr>
          <a:xfrm>
            <a:off x="9929193" y="2206662"/>
            <a:ext cx="20875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I2: </a:t>
            </a: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MPY</a:t>
            </a:r>
            <a:r>
              <a:rPr sz="1600" spc="-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R2,R0,R1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8FCC9FE4-8C6B-295B-EC24-E93ECCCD50C9}"/>
              </a:ext>
            </a:extLst>
          </p:cNvPr>
          <p:cNvSpPr txBox="1"/>
          <p:nvPr/>
        </p:nvSpPr>
        <p:spPr>
          <a:xfrm>
            <a:off x="673608" y="2534155"/>
            <a:ext cx="830648" cy="32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warps</a:t>
            </a:r>
            <a:endParaRPr sz="1800" dirty="0">
              <a:latin typeface="Comic Sans MS" panose="030F0702030302020204" pitchFamily="66" charset="0"/>
              <a:cs typeface="Arial" panose="020B0604020202020204"/>
            </a:endParaRP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0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1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2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3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4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5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  <a:spcBef>
                <a:spcPts val="4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6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3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7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8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2660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W</a:t>
            </a:r>
            <a:r>
              <a:rPr sz="1800" spc="-5" dirty="0">
                <a:latin typeface="Comic Sans MS" panose="030F0702030302020204" pitchFamily="66" charset="0"/>
                <a:cs typeface="Arial" panose="020B0604020202020204"/>
              </a:rPr>
              <a:t>9</a:t>
            </a: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:</a:t>
            </a:r>
          </a:p>
          <a:p>
            <a:pPr marL="12700">
              <a:lnSpc>
                <a:spcPts val="2125"/>
              </a:lnSpc>
            </a:pPr>
            <a:r>
              <a:rPr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15EF2E98-3357-9029-DEBA-B2775A6E78ED}"/>
              </a:ext>
            </a:extLst>
          </p:cNvPr>
          <p:cNvSpPr txBox="1"/>
          <p:nvPr/>
        </p:nvSpPr>
        <p:spPr>
          <a:xfrm>
            <a:off x="5785839" y="1915411"/>
            <a:ext cx="189671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clock</a:t>
            </a:r>
            <a:r>
              <a:rPr sz="2000" spc="-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/>
              </a:rPr>
              <a:t>cycles:</a:t>
            </a:r>
            <a:endParaRPr sz="20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F4334F07-0DAF-6C80-7BA9-6AD23770E393}"/>
              </a:ext>
            </a:extLst>
          </p:cNvPr>
          <p:cNvSpPr txBox="1"/>
          <p:nvPr/>
        </p:nvSpPr>
        <p:spPr>
          <a:xfrm>
            <a:off x="1548040" y="2180586"/>
            <a:ext cx="1130787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C0 C1  C2 C3  C4 C5  C6 C7  C8 C9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C10 </a:t>
            </a:r>
            <a:r>
              <a:rPr lang="en-US" altLang="zh-CN" sz="1800" spc="-45" dirty="0">
                <a:latin typeface="Comic Sans MS" panose="030F0702030302020204" pitchFamily="66" charset="0"/>
                <a:cs typeface="Arial" panose="020B0604020202020204"/>
              </a:rPr>
              <a:t>C11  </a:t>
            </a:r>
            <a:r>
              <a:rPr lang="en-US" altLang="zh-CN" sz="1800" spc="-5" dirty="0">
                <a:latin typeface="Comic Sans MS" panose="030F0702030302020204" pitchFamily="66" charset="0"/>
                <a:cs typeface="Arial" panose="020B0604020202020204"/>
              </a:rPr>
              <a:t>C12 C13  C14 C15  C16 C17  C18</a:t>
            </a:r>
            <a:r>
              <a:rPr lang="en-US" altLang="zh-CN" sz="1800" spc="50" dirty="0"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altLang="zh-CN" sz="1800" dirty="0">
                <a:latin typeface="Comic Sans MS" panose="030F0702030302020204" pitchFamily="66" charset="0"/>
                <a:cs typeface="Arial" panose="020B0604020202020204"/>
              </a:rPr>
              <a:t>…</a:t>
            </a:r>
          </a:p>
        </p:txBody>
      </p:sp>
      <p:sp>
        <p:nvSpPr>
          <p:cNvPr id="25" name="object 16">
            <a:extLst>
              <a:ext uri="{FF2B5EF4-FFF2-40B4-BE49-F238E27FC236}">
                <a16:creationId xmlns:a16="http://schemas.microsoft.com/office/drawing/2014/main" id="{5840E909-ABBB-829F-BA28-DF0092277F1B}"/>
              </a:ext>
            </a:extLst>
          </p:cNvPr>
          <p:cNvSpPr/>
          <p:nvPr/>
        </p:nvSpPr>
        <p:spPr>
          <a:xfrm>
            <a:off x="3326866" y="338025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7">
            <a:extLst>
              <a:ext uri="{FF2B5EF4-FFF2-40B4-BE49-F238E27FC236}">
                <a16:creationId xmlns:a16="http://schemas.microsoft.com/office/drawing/2014/main" id="{94C6F33D-05CE-5ED7-793A-89E639B5C85F}"/>
              </a:ext>
            </a:extLst>
          </p:cNvPr>
          <p:cNvSpPr/>
          <p:nvPr/>
        </p:nvSpPr>
        <p:spPr>
          <a:xfrm>
            <a:off x="3326866" y="338025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8">
            <a:extLst>
              <a:ext uri="{FF2B5EF4-FFF2-40B4-BE49-F238E27FC236}">
                <a16:creationId xmlns:a16="http://schemas.microsoft.com/office/drawing/2014/main" id="{C2F61ECB-A300-2A12-7D0F-ECED94CF65C7}"/>
              </a:ext>
            </a:extLst>
          </p:cNvPr>
          <p:cNvSpPr txBox="1"/>
          <p:nvPr/>
        </p:nvSpPr>
        <p:spPr>
          <a:xfrm>
            <a:off x="3412764" y="3339754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19">
            <a:extLst>
              <a:ext uri="{FF2B5EF4-FFF2-40B4-BE49-F238E27FC236}">
                <a16:creationId xmlns:a16="http://schemas.microsoft.com/office/drawing/2014/main" id="{77717FE9-27A0-7D46-CB3F-8A2D3B7B0034}"/>
              </a:ext>
            </a:extLst>
          </p:cNvPr>
          <p:cNvSpPr/>
          <p:nvPr/>
        </p:nvSpPr>
        <p:spPr>
          <a:xfrm>
            <a:off x="2973983" y="3376874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A1465FDE-F9D9-79D7-84E1-BEDE56178255}"/>
              </a:ext>
            </a:extLst>
          </p:cNvPr>
          <p:cNvSpPr/>
          <p:nvPr/>
        </p:nvSpPr>
        <p:spPr>
          <a:xfrm>
            <a:off x="2973983" y="3376874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1">
            <a:extLst>
              <a:ext uri="{FF2B5EF4-FFF2-40B4-BE49-F238E27FC236}">
                <a16:creationId xmlns:a16="http://schemas.microsoft.com/office/drawing/2014/main" id="{AF8BC8B3-D846-56BC-05A6-0EF107EE26D4}"/>
              </a:ext>
            </a:extLst>
          </p:cNvPr>
          <p:cNvSpPr txBox="1"/>
          <p:nvPr/>
        </p:nvSpPr>
        <p:spPr>
          <a:xfrm>
            <a:off x="3059881" y="3336706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4312C620-9AC6-A72B-C868-03020144BB81}"/>
              </a:ext>
            </a:extLst>
          </p:cNvPr>
          <p:cNvSpPr/>
          <p:nvPr/>
        </p:nvSpPr>
        <p:spPr>
          <a:xfrm>
            <a:off x="4078848" y="364114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17">
            <a:extLst>
              <a:ext uri="{FF2B5EF4-FFF2-40B4-BE49-F238E27FC236}">
                <a16:creationId xmlns:a16="http://schemas.microsoft.com/office/drawing/2014/main" id="{62632E9F-DBC9-5BBD-FA56-28D5566FAE7E}"/>
              </a:ext>
            </a:extLst>
          </p:cNvPr>
          <p:cNvSpPr/>
          <p:nvPr/>
        </p:nvSpPr>
        <p:spPr>
          <a:xfrm>
            <a:off x="4078848" y="364114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8">
            <a:extLst>
              <a:ext uri="{FF2B5EF4-FFF2-40B4-BE49-F238E27FC236}">
                <a16:creationId xmlns:a16="http://schemas.microsoft.com/office/drawing/2014/main" id="{85F5F138-7284-B982-9B3E-E55B698D67F4}"/>
              </a:ext>
            </a:extLst>
          </p:cNvPr>
          <p:cNvSpPr txBox="1"/>
          <p:nvPr/>
        </p:nvSpPr>
        <p:spPr>
          <a:xfrm>
            <a:off x="4164746" y="3600650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E362AFD6-1B9F-359E-2608-97D49FA0C9FC}"/>
              </a:ext>
            </a:extLst>
          </p:cNvPr>
          <p:cNvSpPr/>
          <p:nvPr/>
        </p:nvSpPr>
        <p:spPr>
          <a:xfrm>
            <a:off x="3725965" y="363777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1BD76FB8-1310-D137-CA39-F48EF3427D17}"/>
              </a:ext>
            </a:extLst>
          </p:cNvPr>
          <p:cNvSpPr/>
          <p:nvPr/>
        </p:nvSpPr>
        <p:spPr>
          <a:xfrm>
            <a:off x="3725965" y="363777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D5AA4415-752E-7156-A30A-06EDF4F46D10}"/>
              </a:ext>
            </a:extLst>
          </p:cNvPr>
          <p:cNvSpPr txBox="1"/>
          <p:nvPr/>
        </p:nvSpPr>
        <p:spPr>
          <a:xfrm>
            <a:off x="3811863" y="359760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86CA6BE9-BD0E-6911-2211-2C93472ECB74}"/>
              </a:ext>
            </a:extLst>
          </p:cNvPr>
          <p:cNvSpPr/>
          <p:nvPr/>
        </p:nvSpPr>
        <p:spPr>
          <a:xfrm>
            <a:off x="4845946" y="38463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7">
            <a:extLst>
              <a:ext uri="{FF2B5EF4-FFF2-40B4-BE49-F238E27FC236}">
                <a16:creationId xmlns:a16="http://schemas.microsoft.com/office/drawing/2014/main" id="{084CA815-A248-FB5D-50E5-64BF5D2AC059}"/>
              </a:ext>
            </a:extLst>
          </p:cNvPr>
          <p:cNvSpPr/>
          <p:nvPr/>
        </p:nvSpPr>
        <p:spPr>
          <a:xfrm>
            <a:off x="4845946" y="38463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8">
            <a:extLst>
              <a:ext uri="{FF2B5EF4-FFF2-40B4-BE49-F238E27FC236}">
                <a16:creationId xmlns:a16="http://schemas.microsoft.com/office/drawing/2014/main" id="{70F0EE75-3551-F0CF-45B2-04F1B25C3998}"/>
              </a:ext>
            </a:extLst>
          </p:cNvPr>
          <p:cNvSpPr txBox="1"/>
          <p:nvPr/>
        </p:nvSpPr>
        <p:spPr>
          <a:xfrm>
            <a:off x="4931844" y="3805835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19">
            <a:extLst>
              <a:ext uri="{FF2B5EF4-FFF2-40B4-BE49-F238E27FC236}">
                <a16:creationId xmlns:a16="http://schemas.microsoft.com/office/drawing/2014/main" id="{4D3E57F2-B454-5473-A9F9-A8E1F36845B3}"/>
              </a:ext>
            </a:extLst>
          </p:cNvPr>
          <p:cNvSpPr/>
          <p:nvPr/>
        </p:nvSpPr>
        <p:spPr>
          <a:xfrm>
            <a:off x="4493063" y="3842955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0">
            <a:extLst>
              <a:ext uri="{FF2B5EF4-FFF2-40B4-BE49-F238E27FC236}">
                <a16:creationId xmlns:a16="http://schemas.microsoft.com/office/drawing/2014/main" id="{451D4574-F18C-BB8E-FC03-D750912D5896}"/>
              </a:ext>
            </a:extLst>
          </p:cNvPr>
          <p:cNvSpPr/>
          <p:nvPr/>
        </p:nvSpPr>
        <p:spPr>
          <a:xfrm>
            <a:off x="4493063" y="3842955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61AEF7F6-6DE3-5D13-B52D-BC74F6D56230}"/>
              </a:ext>
            </a:extLst>
          </p:cNvPr>
          <p:cNvSpPr txBox="1"/>
          <p:nvPr/>
        </p:nvSpPr>
        <p:spPr>
          <a:xfrm>
            <a:off x="4578961" y="3802787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08A53C3F-F1E6-0A61-F362-148146F0EA44}"/>
              </a:ext>
            </a:extLst>
          </p:cNvPr>
          <p:cNvSpPr/>
          <p:nvPr/>
        </p:nvSpPr>
        <p:spPr>
          <a:xfrm>
            <a:off x="5659673" y="4105883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BD2EAC2F-F0A4-BDA9-2D8C-35387ED0386F}"/>
              </a:ext>
            </a:extLst>
          </p:cNvPr>
          <p:cNvSpPr/>
          <p:nvPr/>
        </p:nvSpPr>
        <p:spPr>
          <a:xfrm>
            <a:off x="5659673" y="4105883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E5185741-F42E-019A-3A7C-470678E6E31C}"/>
              </a:ext>
            </a:extLst>
          </p:cNvPr>
          <p:cNvSpPr txBox="1"/>
          <p:nvPr/>
        </p:nvSpPr>
        <p:spPr>
          <a:xfrm>
            <a:off x="5745571" y="4065387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6E7DB720-4DCF-2F50-2BA6-ECE222E7B447}"/>
              </a:ext>
            </a:extLst>
          </p:cNvPr>
          <p:cNvSpPr/>
          <p:nvPr/>
        </p:nvSpPr>
        <p:spPr>
          <a:xfrm>
            <a:off x="5306790" y="41025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2EE492DC-299A-C0D6-467F-CF478CBFDF34}"/>
              </a:ext>
            </a:extLst>
          </p:cNvPr>
          <p:cNvSpPr/>
          <p:nvPr/>
        </p:nvSpPr>
        <p:spPr>
          <a:xfrm>
            <a:off x="5306790" y="41025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1A8D4B7A-03DA-0DC3-8494-7254A2831CE1}"/>
              </a:ext>
            </a:extLst>
          </p:cNvPr>
          <p:cNvSpPr txBox="1"/>
          <p:nvPr/>
        </p:nvSpPr>
        <p:spPr>
          <a:xfrm>
            <a:off x="5392688" y="4062339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16">
            <a:extLst>
              <a:ext uri="{FF2B5EF4-FFF2-40B4-BE49-F238E27FC236}">
                <a16:creationId xmlns:a16="http://schemas.microsoft.com/office/drawing/2014/main" id="{00113C06-4E66-12D4-F27B-3A6E118650AF}"/>
              </a:ext>
            </a:extLst>
          </p:cNvPr>
          <p:cNvSpPr/>
          <p:nvPr/>
        </p:nvSpPr>
        <p:spPr>
          <a:xfrm>
            <a:off x="6559517" y="44270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7">
            <a:extLst>
              <a:ext uri="{FF2B5EF4-FFF2-40B4-BE49-F238E27FC236}">
                <a16:creationId xmlns:a16="http://schemas.microsoft.com/office/drawing/2014/main" id="{56E5C298-E631-F715-CF00-16E5F3E4115A}"/>
              </a:ext>
            </a:extLst>
          </p:cNvPr>
          <p:cNvSpPr/>
          <p:nvPr/>
        </p:nvSpPr>
        <p:spPr>
          <a:xfrm>
            <a:off x="6559517" y="4427007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8">
            <a:extLst>
              <a:ext uri="{FF2B5EF4-FFF2-40B4-BE49-F238E27FC236}">
                <a16:creationId xmlns:a16="http://schemas.microsoft.com/office/drawing/2014/main" id="{7C1353EF-1622-3ACC-C90D-3B8AF763C27B}"/>
              </a:ext>
            </a:extLst>
          </p:cNvPr>
          <p:cNvSpPr txBox="1"/>
          <p:nvPr/>
        </p:nvSpPr>
        <p:spPr>
          <a:xfrm>
            <a:off x="6645415" y="4386511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19">
            <a:extLst>
              <a:ext uri="{FF2B5EF4-FFF2-40B4-BE49-F238E27FC236}">
                <a16:creationId xmlns:a16="http://schemas.microsoft.com/office/drawing/2014/main" id="{FBD0C085-0E9D-0B7F-29BE-CD34ACEE1B15}"/>
              </a:ext>
            </a:extLst>
          </p:cNvPr>
          <p:cNvSpPr/>
          <p:nvPr/>
        </p:nvSpPr>
        <p:spPr>
          <a:xfrm>
            <a:off x="6206634" y="44236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0">
            <a:extLst>
              <a:ext uri="{FF2B5EF4-FFF2-40B4-BE49-F238E27FC236}">
                <a16:creationId xmlns:a16="http://schemas.microsoft.com/office/drawing/2014/main" id="{6086AF27-C3F8-AA10-C760-C54655F60ED4}"/>
              </a:ext>
            </a:extLst>
          </p:cNvPr>
          <p:cNvSpPr/>
          <p:nvPr/>
        </p:nvSpPr>
        <p:spPr>
          <a:xfrm>
            <a:off x="6206634" y="4423631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1">
            <a:extLst>
              <a:ext uri="{FF2B5EF4-FFF2-40B4-BE49-F238E27FC236}">
                <a16:creationId xmlns:a16="http://schemas.microsoft.com/office/drawing/2014/main" id="{E6F69B76-E2A2-C687-DD50-A6B3FA0640FD}"/>
              </a:ext>
            </a:extLst>
          </p:cNvPr>
          <p:cNvSpPr txBox="1"/>
          <p:nvPr/>
        </p:nvSpPr>
        <p:spPr>
          <a:xfrm>
            <a:off x="6292532" y="4383463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16">
            <a:extLst>
              <a:ext uri="{FF2B5EF4-FFF2-40B4-BE49-F238E27FC236}">
                <a16:creationId xmlns:a16="http://schemas.microsoft.com/office/drawing/2014/main" id="{87288438-CA34-12F0-1D11-4087A33C461E}"/>
              </a:ext>
            </a:extLst>
          </p:cNvPr>
          <p:cNvSpPr/>
          <p:nvPr/>
        </p:nvSpPr>
        <p:spPr>
          <a:xfrm>
            <a:off x="7459873" y="467119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17">
            <a:extLst>
              <a:ext uri="{FF2B5EF4-FFF2-40B4-BE49-F238E27FC236}">
                <a16:creationId xmlns:a16="http://schemas.microsoft.com/office/drawing/2014/main" id="{E2FC907E-BD7D-1342-B4FE-C0BE5A7C1085}"/>
              </a:ext>
            </a:extLst>
          </p:cNvPr>
          <p:cNvSpPr/>
          <p:nvPr/>
        </p:nvSpPr>
        <p:spPr>
          <a:xfrm>
            <a:off x="7459873" y="467119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8">
            <a:extLst>
              <a:ext uri="{FF2B5EF4-FFF2-40B4-BE49-F238E27FC236}">
                <a16:creationId xmlns:a16="http://schemas.microsoft.com/office/drawing/2014/main" id="{6B3599EC-75CB-5E76-3875-6B965902982B}"/>
              </a:ext>
            </a:extLst>
          </p:cNvPr>
          <p:cNvSpPr txBox="1"/>
          <p:nvPr/>
        </p:nvSpPr>
        <p:spPr>
          <a:xfrm>
            <a:off x="7545771" y="4630700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2" name="object 19">
            <a:extLst>
              <a:ext uri="{FF2B5EF4-FFF2-40B4-BE49-F238E27FC236}">
                <a16:creationId xmlns:a16="http://schemas.microsoft.com/office/drawing/2014/main" id="{A28EC2E9-335E-5DBE-DDE3-58E31EFAEC5B}"/>
              </a:ext>
            </a:extLst>
          </p:cNvPr>
          <p:cNvSpPr/>
          <p:nvPr/>
        </p:nvSpPr>
        <p:spPr>
          <a:xfrm>
            <a:off x="7106990" y="4667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0">
            <a:extLst>
              <a:ext uri="{FF2B5EF4-FFF2-40B4-BE49-F238E27FC236}">
                <a16:creationId xmlns:a16="http://schemas.microsoft.com/office/drawing/2014/main" id="{DEE25E4B-1E28-3329-4215-E12D66389449}"/>
              </a:ext>
            </a:extLst>
          </p:cNvPr>
          <p:cNvSpPr/>
          <p:nvPr/>
        </p:nvSpPr>
        <p:spPr>
          <a:xfrm>
            <a:off x="7106990" y="46678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1">
            <a:extLst>
              <a:ext uri="{FF2B5EF4-FFF2-40B4-BE49-F238E27FC236}">
                <a16:creationId xmlns:a16="http://schemas.microsoft.com/office/drawing/2014/main" id="{8EECF298-3319-4201-45BE-C9F9D86E94F6}"/>
              </a:ext>
            </a:extLst>
          </p:cNvPr>
          <p:cNvSpPr txBox="1"/>
          <p:nvPr/>
        </p:nvSpPr>
        <p:spPr>
          <a:xfrm>
            <a:off x="7192888" y="462765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object 16">
            <a:extLst>
              <a:ext uri="{FF2B5EF4-FFF2-40B4-BE49-F238E27FC236}">
                <a16:creationId xmlns:a16="http://schemas.microsoft.com/office/drawing/2014/main" id="{5BFF59D8-EDE3-9649-556D-0AD894A433A6}"/>
              </a:ext>
            </a:extLst>
          </p:cNvPr>
          <p:cNvSpPr/>
          <p:nvPr/>
        </p:nvSpPr>
        <p:spPr>
          <a:xfrm>
            <a:off x="8395977" y="4976758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7">
            <a:extLst>
              <a:ext uri="{FF2B5EF4-FFF2-40B4-BE49-F238E27FC236}">
                <a16:creationId xmlns:a16="http://schemas.microsoft.com/office/drawing/2014/main" id="{DD71243C-B96B-7E74-23D9-30F329927BA0}"/>
              </a:ext>
            </a:extLst>
          </p:cNvPr>
          <p:cNvSpPr/>
          <p:nvPr/>
        </p:nvSpPr>
        <p:spPr>
          <a:xfrm>
            <a:off x="8395977" y="4976758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8">
            <a:extLst>
              <a:ext uri="{FF2B5EF4-FFF2-40B4-BE49-F238E27FC236}">
                <a16:creationId xmlns:a16="http://schemas.microsoft.com/office/drawing/2014/main" id="{EB14F153-4F4D-5B5D-6E4B-BD123CA0A22B}"/>
              </a:ext>
            </a:extLst>
          </p:cNvPr>
          <p:cNvSpPr txBox="1"/>
          <p:nvPr/>
        </p:nvSpPr>
        <p:spPr>
          <a:xfrm>
            <a:off x="8481875" y="493626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object 19">
            <a:extLst>
              <a:ext uri="{FF2B5EF4-FFF2-40B4-BE49-F238E27FC236}">
                <a16:creationId xmlns:a16="http://schemas.microsoft.com/office/drawing/2014/main" id="{429C65BF-D0C4-07BD-E418-4C7BA2D49528}"/>
              </a:ext>
            </a:extLst>
          </p:cNvPr>
          <p:cNvSpPr/>
          <p:nvPr/>
        </p:nvSpPr>
        <p:spPr>
          <a:xfrm>
            <a:off x="8043094" y="4973382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20">
            <a:extLst>
              <a:ext uri="{FF2B5EF4-FFF2-40B4-BE49-F238E27FC236}">
                <a16:creationId xmlns:a16="http://schemas.microsoft.com/office/drawing/2014/main" id="{D76E10AE-740C-DF82-5B1C-FEBD263819B7}"/>
              </a:ext>
            </a:extLst>
          </p:cNvPr>
          <p:cNvSpPr/>
          <p:nvPr/>
        </p:nvSpPr>
        <p:spPr>
          <a:xfrm>
            <a:off x="8043094" y="4973382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21">
            <a:extLst>
              <a:ext uri="{FF2B5EF4-FFF2-40B4-BE49-F238E27FC236}">
                <a16:creationId xmlns:a16="http://schemas.microsoft.com/office/drawing/2014/main" id="{E1AAC641-3FE5-1F3C-8B5C-40816D48BE14}"/>
              </a:ext>
            </a:extLst>
          </p:cNvPr>
          <p:cNvSpPr txBox="1"/>
          <p:nvPr/>
        </p:nvSpPr>
        <p:spPr>
          <a:xfrm>
            <a:off x="8128992" y="4933214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49">
            <a:extLst>
              <a:ext uri="{FF2B5EF4-FFF2-40B4-BE49-F238E27FC236}">
                <a16:creationId xmlns:a16="http://schemas.microsoft.com/office/drawing/2014/main" id="{72706326-AF2F-011F-26DB-C7C8BB8FD9A7}"/>
              </a:ext>
            </a:extLst>
          </p:cNvPr>
          <p:cNvSpPr/>
          <p:nvPr/>
        </p:nvSpPr>
        <p:spPr>
          <a:xfrm>
            <a:off x="1851318" y="2859369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50">
            <a:extLst>
              <a:ext uri="{FF2B5EF4-FFF2-40B4-BE49-F238E27FC236}">
                <a16:creationId xmlns:a16="http://schemas.microsoft.com/office/drawing/2014/main" id="{14883B1C-A0D6-062E-4C16-62C447928D89}"/>
              </a:ext>
            </a:extLst>
          </p:cNvPr>
          <p:cNvSpPr/>
          <p:nvPr/>
        </p:nvSpPr>
        <p:spPr>
          <a:xfrm>
            <a:off x="1851318" y="2859369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51">
            <a:extLst>
              <a:ext uri="{FF2B5EF4-FFF2-40B4-BE49-F238E27FC236}">
                <a16:creationId xmlns:a16="http://schemas.microsoft.com/office/drawing/2014/main" id="{DCB902CC-0D91-E650-EBAF-56DE39A30F43}"/>
              </a:ext>
            </a:extLst>
          </p:cNvPr>
          <p:cNvSpPr/>
          <p:nvPr/>
        </p:nvSpPr>
        <p:spPr>
          <a:xfrm>
            <a:off x="1498434" y="2855992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52">
            <a:extLst>
              <a:ext uri="{FF2B5EF4-FFF2-40B4-BE49-F238E27FC236}">
                <a16:creationId xmlns:a16="http://schemas.microsoft.com/office/drawing/2014/main" id="{4F7E933A-BA6B-4AF7-6E5C-9077927003BC}"/>
              </a:ext>
            </a:extLst>
          </p:cNvPr>
          <p:cNvSpPr/>
          <p:nvPr/>
        </p:nvSpPr>
        <p:spPr>
          <a:xfrm>
            <a:off x="1498434" y="2855992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53">
            <a:extLst>
              <a:ext uri="{FF2B5EF4-FFF2-40B4-BE49-F238E27FC236}">
                <a16:creationId xmlns:a16="http://schemas.microsoft.com/office/drawing/2014/main" id="{AFE6F84D-1B80-5297-03AA-E8CAC7B0BF98}"/>
              </a:ext>
            </a:extLst>
          </p:cNvPr>
          <p:cNvSpPr txBox="1"/>
          <p:nvPr/>
        </p:nvSpPr>
        <p:spPr>
          <a:xfrm>
            <a:off x="1584331" y="2821742"/>
            <a:ext cx="56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5125" algn="l"/>
              </a:tabLst>
            </a:pPr>
            <a:r>
              <a:rPr sz="2700" spc="-7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700" baseline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object 16">
            <a:extLst>
              <a:ext uri="{FF2B5EF4-FFF2-40B4-BE49-F238E27FC236}">
                <a16:creationId xmlns:a16="http://schemas.microsoft.com/office/drawing/2014/main" id="{EBEA0728-5529-C25D-A008-0DDAC2019CCF}"/>
              </a:ext>
            </a:extLst>
          </p:cNvPr>
          <p:cNvSpPr/>
          <p:nvPr/>
        </p:nvSpPr>
        <p:spPr>
          <a:xfrm>
            <a:off x="9188065" y="537218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17">
            <a:extLst>
              <a:ext uri="{FF2B5EF4-FFF2-40B4-BE49-F238E27FC236}">
                <a16:creationId xmlns:a16="http://schemas.microsoft.com/office/drawing/2014/main" id="{BE32976F-44E1-9B34-D540-23825A845587}"/>
              </a:ext>
            </a:extLst>
          </p:cNvPr>
          <p:cNvSpPr/>
          <p:nvPr/>
        </p:nvSpPr>
        <p:spPr>
          <a:xfrm>
            <a:off x="9188065" y="5372186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5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8">
            <a:extLst>
              <a:ext uri="{FF2B5EF4-FFF2-40B4-BE49-F238E27FC236}">
                <a16:creationId xmlns:a16="http://schemas.microsoft.com/office/drawing/2014/main" id="{A9B391BD-17A3-AAA3-538A-37DDFCAD1967}"/>
              </a:ext>
            </a:extLst>
          </p:cNvPr>
          <p:cNvSpPr txBox="1"/>
          <p:nvPr/>
        </p:nvSpPr>
        <p:spPr>
          <a:xfrm>
            <a:off x="9273963" y="5331690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9" name="object 19">
            <a:extLst>
              <a:ext uri="{FF2B5EF4-FFF2-40B4-BE49-F238E27FC236}">
                <a16:creationId xmlns:a16="http://schemas.microsoft.com/office/drawing/2014/main" id="{CF4F6EA8-4A14-C0EE-0657-D0E05BA9580A}"/>
              </a:ext>
            </a:extLst>
          </p:cNvPr>
          <p:cNvSpPr/>
          <p:nvPr/>
        </p:nvSpPr>
        <p:spPr>
          <a:xfrm>
            <a:off x="8835182" y="536881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20">
            <a:extLst>
              <a:ext uri="{FF2B5EF4-FFF2-40B4-BE49-F238E27FC236}">
                <a16:creationId xmlns:a16="http://schemas.microsoft.com/office/drawing/2014/main" id="{2D8598F8-16AD-E8F3-610F-BAB31FFFF231}"/>
              </a:ext>
            </a:extLst>
          </p:cNvPr>
          <p:cNvSpPr/>
          <p:nvPr/>
        </p:nvSpPr>
        <p:spPr>
          <a:xfrm>
            <a:off x="8835182" y="536881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21">
            <a:extLst>
              <a:ext uri="{FF2B5EF4-FFF2-40B4-BE49-F238E27FC236}">
                <a16:creationId xmlns:a16="http://schemas.microsoft.com/office/drawing/2014/main" id="{95E81642-E7CE-7E36-C4A9-E8F911782262}"/>
              </a:ext>
            </a:extLst>
          </p:cNvPr>
          <p:cNvSpPr txBox="1"/>
          <p:nvPr/>
        </p:nvSpPr>
        <p:spPr>
          <a:xfrm>
            <a:off x="8921080" y="5328642"/>
            <a:ext cx="21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I0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49">
            <a:extLst>
              <a:ext uri="{FF2B5EF4-FFF2-40B4-BE49-F238E27FC236}">
                <a16:creationId xmlns:a16="http://schemas.microsoft.com/office/drawing/2014/main" id="{83237B57-089A-E28D-8FFB-512FF6BF6672}"/>
              </a:ext>
            </a:extLst>
          </p:cNvPr>
          <p:cNvSpPr/>
          <p:nvPr/>
        </p:nvSpPr>
        <p:spPr>
          <a:xfrm>
            <a:off x="2581002" y="31215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0">
            <a:extLst>
              <a:ext uri="{FF2B5EF4-FFF2-40B4-BE49-F238E27FC236}">
                <a16:creationId xmlns:a16="http://schemas.microsoft.com/office/drawing/2014/main" id="{A4F5C645-8CE1-427B-6C2A-58F75B7565CD}"/>
              </a:ext>
            </a:extLst>
          </p:cNvPr>
          <p:cNvSpPr/>
          <p:nvPr/>
        </p:nvSpPr>
        <p:spPr>
          <a:xfrm>
            <a:off x="2581002" y="3121520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51">
            <a:extLst>
              <a:ext uri="{FF2B5EF4-FFF2-40B4-BE49-F238E27FC236}">
                <a16:creationId xmlns:a16="http://schemas.microsoft.com/office/drawing/2014/main" id="{8C01ACF9-0E30-B320-0C81-2BD0A219345E}"/>
              </a:ext>
            </a:extLst>
          </p:cNvPr>
          <p:cNvSpPr/>
          <p:nvPr/>
        </p:nvSpPr>
        <p:spPr>
          <a:xfrm>
            <a:off x="2228120" y="3118145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360039" y="0"/>
                </a:moveTo>
                <a:lnTo>
                  <a:pt x="0" y="0"/>
                </a:lnTo>
                <a:lnTo>
                  <a:pt x="0" y="225024"/>
                </a:lnTo>
                <a:lnTo>
                  <a:pt x="360039" y="225024"/>
                </a:lnTo>
                <a:lnTo>
                  <a:pt x="36003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52">
            <a:extLst>
              <a:ext uri="{FF2B5EF4-FFF2-40B4-BE49-F238E27FC236}">
                <a16:creationId xmlns:a16="http://schemas.microsoft.com/office/drawing/2014/main" id="{1D50C97A-344E-3214-E741-A4D9A987D0F1}"/>
              </a:ext>
            </a:extLst>
          </p:cNvPr>
          <p:cNvSpPr/>
          <p:nvPr/>
        </p:nvSpPr>
        <p:spPr>
          <a:xfrm>
            <a:off x="2228120" y="3118145"/>
            <a:ext cx="360045" cy="225425"/>
          </a:xfrm>
          <a:custGeom>
            <a:avLst/>
            <a:gdLst/>
            <a:ahLst/>
            <a:cxnLst/>
            <a:rect l="l" t="t" r="r" b="b"/>
            <a:pathLst>
              <a:path w="360044" h="225425">
                <a:moveTo>
                  <a:pt x="0" y="0"/>
                </a:moveTo>
                <a:lnTo>
                  <a:pt x="360040" y="0"/>
                </a:lnTo>
                <a:lnTo>
                  <a:pt x="360040" y="225025"/>
                </a:lnTo>
                <a:lnTo>
                  <a:pt x="0" y="2250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53">
            <a:extLst>
              <a:ext uri="{FF2B5EF4-FFF2-40B4-BE49-F238E27FC236}">
                <a16:creationId xmlns:a16="http://schemas.microsoft.com/office/drawing/2014/main" id="{1FE4BA38-1C24-A348-E039-DE6A56DA1617}"/>
              </a:ext>
            </a:extLst>
          </p:cNvPr>
          <p:cNvSpPr txBox="1"/>
          <p:nvPr/>
        </p:nvSpPr>
        <p:spPr>
          <a:xfrm>
            <a:off x="2314016" y="3081417"/>
            <a:ext cx="56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5125" algn="l"/>
              </a:tabLst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	</a:t>
            </a: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I1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2" name="object 48">
            <a:extLst>
              <a:ext uri="{FF2B5EF4-FFF2-40B4-BE49-F238E27FC236}">
                <a16:creationId xmlns:a16="http://schemas.microsoft.com/office/drawing/2014/main" id="{1AA1F04B-6DBD-E5A4-AF6B-E1E923F1E065}"/>
              </a:ext>
            </a:extLst>
          </p:cNvPr>
          <p:cNvSpPr txBox="1"/>
          <p:nvPr/>
        </p:nvSpPr>
        <p:spPr>
          <a:xfrm>
            <a:off x="10127539" y="2958816"/>
            <a:ext cx="360045" cy="225425"/>
          </a:xfrm>
          <a:prstGeom prst="rect">
            <a:avLst/>
          </a:prstGeom>
          <a:solidFill>
            <a:srgbClr val="76B900"/>
          </a:solidFill>
          <a:ln w="25400">
            <a:solidFill>
              <a:srgbClr val="00856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ts val="1770"/>
              </a:lnSpc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I2</a:t>
            </a:r>
            <a:endParaRPr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3" name="object 48">
            <a:extLst>
              <a:ext uri="{FF2B5EF4-FFF2-40B4-BE49-F238E27FC236}">
                <a16:creationId xmlns:a16="http://schemas.microsoft.com/office/drawing/2014/main" id="{61EADB08-C33E-DA92-BD81-48166BCE470E}"/>
              </a:ext>
            </a:extLst>
          </p:cNvPr>
          <p:cNvSpPr txBox="1"/>
          <p:nvPr/>
        </p:nvSpPr>
        <p:spPr>
          <a:xfrm>
            <a:off x="11225336" y="3230857"/>
            <a:ext cx="360045" cy="225425"/>
          </a:xfrm>
          <a:prstGeom prst="rect">
            <a:avLst/>
          </a:prstGeom>
          <a:solidFill>
            <a:srgbClr val="76B900"/>
          </a:solidFill>
          <a:ln w="25400">
            <a:solidFill>
              <a:srgbClr val="00856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ts val="1770"/>
              </a:lnSpc>
            </a:pPr>
            <a:r>
              <a:rPr sz="18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I2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923835D6-317F-210D-7031-C3BF0E6C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536879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88912-6CB4-75D4-27F5-59B2B22A2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8276F44-8724-452C-631D-3A45B514D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CONFIGURATION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7E5A18-24AD-63F7-F890-8B30E8FD0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008162"/>
            <a:ext cx="12097344" cy="5976713"/>
          </a:xfrm>
        </p:spPr>
        <p:txBody>
          <a:bodyPr/>
          <a:lstStyle/>
          <a:p>
            <a:r>
              <a:rPr lang="en-US" sz="2800" dirty="0"/>
              <a:t>Hiding arithmetic latency:</a:t>
            </a:r>
          </a:p>
          <a:p>
            <a:pPr lvl="1"/>
            <a:r>
              <a:rPr lang="en-US" sz="2400" dirty="0"/>
              <a:t>E.g. need ~10’s warps (~320 CUDA threads, or 10 SIMD threads) per SIMD processor</a:t>
            </a:r>
          </a:p>
          <a:p>
            <a:pPr lvl="1"/>
            <a:r>
              <a:rPr lang="en-US" sz="2400" dirty="0"/>
              <a:t>Or, latency can also be hidden with independent instructions from the same warp</a:t>
            </a:r>
          </a:p>
          <a:p>
            <a:pPr lvl="2"/>
            <a:r>
              <a:rPr lang="en-US" sz="2000" dirty="0"/>
              <a:t>-&gt;if instructions never depends on the output of preceding instruction, then only 5 warps are needed, etc.</a:t>
            </a:r>
          </a:p>
          <a:p>
            <a:r>
              <a:rPr lang="en-US" sz="2800" dirty="0"/>
              <a:t>Maximizing global memory throughput:</a:t>
            </a:r>
          </a:p>
          <a:p>
            <a:pPr lvl="1"/>
            <a:r>
              <a:rPr lang="en-US" sz="2400" dirty="0"/>
              <a:t>Depends on the access pattern, and word size</a:t>
            </a:r>
          </a:p>
          <a:p>
            <a:pPr lvl="1"/>
            <a:r>
              <a:rPr lang="en-US" sz="2400" dirty="0"/>
              <a:t>Need enough memory transactions in flight to saturate the bus</a:t>
            </a:r>
          </a:p>
          <a:p>
            <a:pPr lvl="2"/>
            <a:r>
              <a:rPr lang="en-US" sz="2000" dirty="0"/>
              <a:t>Independent loads and stores from the same warp  </a:t>
            </a:r>
          </a:p>
          <a:p>
            <a:pPr lvl="2"/>
            <a:r>
              <a:rPr lang="en-US" sz="2000" dirty="0"/>
              <a:t>Loads and stores from different warps</a:t>
            </a:r>
          </a:p>
          <a:p>
            <a:pPr lvl="2"/>
            <a:r>
              <a:rPr lang="en-US" sz="2000" dirty="0"/>
              <a:t>Larger word sizes can also help (float2 is twice the transactions of float, for example)</a:t>
            </a:r>
          </a:p>
          <a:p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A5F655-8D55-49F4-5C77-8F1973AE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5564349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0039E-0C67-5E18-E771-E2E8AEB4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EF4309C-53DA-CE95-35E2-6CF3CDF7D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spc="-5" dirty="0"/>
              <a:t>MAXIMIZING MEMORY</a:t>
            </a:r>
            <a:r>
              <a:rPr lang="en-US" altLang="zh-CN" sz="3600" b="1" spc="-50" dirty="0"/>
              <a:t> </a:t>
            </a:r>
            <a:r>
              <a:rPr lang="en-US" altLang="zh-CN" sz="3600" b="1" spc="-5" dirty="0"/>
              <a:t>THROUGHPUT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BFF395-A343-8E60-E8BD-C7EC395EE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152178"/>
            <a:ext cx="12097344" cy="2160239"/>
          </a:xfrm>
        </p:spPr>
        <p:txBody>
          <a:bodyPr/>
          <a:lstStyle/>
          <a:p>
            <a:r>
              <a:rPr lang="en-US" sz="2400" dirty="0"/>
              <a:t>Increment of an array of 64M elements</a:t>
            </a:r>
          </a:p>
          <a:p>
            <a:r>
              <a:rPr lang="en-US" sz="2400" dirty="0"/>
              <a:t>Two accesses per thread (load then store) - dependent, so really 1 access per thread at a time</a:t>
            </a:r>
          </a:p>
          <a:p>
            <a:r>
              <a:rPr lang="en-US" sz="2400" dirty="0"/>
              <a:t>theoretical bandwidth: ~120 GB/s</a:t>
            </a:r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7AD16ED5-52E1-9999-3918-6552D2CD0727}"/>
              </a:ext>
            </a:extLst>
          </p:cNvPr>
          <p:cNvSpPr/>
          <p:nvPr/>
        </p:nvSpPr>
        <p:spPr>
          <a:xfrm>
            <a:off x="1216224" y="3240410"/>
            <a:ext cx="6129889" cy="36324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146E1CB6-8840-651D-38E1-726C9B6A2ECC}"/>
              </a:ext>
            </a:extLst>
          </p:cNvPr>
          <p:cNvSpPr txBox="1"/>
          <p:nvPr/>
        </p:nvSpPr>
        <p:spPr>
          <a:xfrm>
            <a:off x="7696944" y="4211797"/>
            <a:ext cx="4117518" cy="1689692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460"/>
              </a:spcBef>
            </a:pPr>
            <a:r>
              <a:rPr b="1" spc="-10" dirty="0">
                <a:latin typeface="Comic Sans MS" panose="030F0702030302020204" pitchFamily="66" charset="0"/>
                <a:cs typeface="Calibri" panose="020F0502020204030204" pitchFamily="34" charset="0"/>
              </a:rPr>
              <a:t>Several </a:t>
            </a:r>
            <a:r>
              <a:rPr b="1" dirty="0">
                <a:latin typeface="Comic Sans MS" panose="030F0702030302020204" pitchFamily="66" charset="0"/>
                <a:cs typeface="Calibri" panose="020F0502020204030204" pitchFamily="34" charset="0"/>
              </a:rPr>
              <a:t>independent </a:t>
            </a:r>
            <a:r>
              <a:rPr b="1" spc="-5" dirty="0">
                <a:latin typeface="Comic Sans MS" panose="030F0702030302020204" pitchFamily="66" charset="0"/>
                <a:cs typeface="Calibri" panose="020F0502020204030204" pitchFamily="34" charset="0"/>
              </a:rPr>
              <a:t>smaller  accesses have </a:t>
            </a:r>
            <a:r>
              <a:rPr b="1" dirty="0">
                <a:latin typeface="Comic Sans MS" panose="030F0702030302020204" pitchFamily="66" charset="0"/>
                <a:cs typeface="Calibri" panose="020F0502020204030204" pitchFamily="34" charset="0"/>
              </a:rPr>
              <a:t>the </a:t>
            </a:r>
            <a:r>
              <a:rPr b="1" spc="-5" dirty="0">
                <a:latin typeface="Comic Sans MS" panose="030F0702030302020204" pitchFamily="66" charset="0"/>
                <a:cs typeface="Calibri" panose="020F0502020204030204" pitchFamily="34" charset="0"/>
              </a:rPr>
              <a:t>same effect  </a:t>
            </a:r>
            <a:r>
              <a:rPr b="1" dirty="0">
                <a:latin typeface="Comic Sans MS" panose="030F0702030302020204" pitchFamily="66" charset="0"/>
                <a:cs typeface="Calibri" panose="020F0502020204030204" pitchFamily="34" charset="0"/>
              </a:rPr>
              <a:t>as one </a:t>
            </a:r>
            <a:r>
              <a:rPr b="1" spc="-5" dirty="0">
                <a:latin typeface="Comic Sans MS" panose="030F0702030302020204" pitchFamily="66" charset="0"/>
                <a:cs typeface="Calibri" panose="020F0502020204030204" pitchFamily="34" charset="0"/>
              </a:rPr>
              <a:t>larger</a:t>
            </a:r>
            <a:r>
              <a:rPr b="1" spc="-2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b="1" dirty="0">
                <a:latin typeface="Comic Sans MS" panose="030F0702030302020204" pitchFamily="66" charset="0"/>
                <a:cs typeface="Calibri" panose="020F0502020204030204" pitchFamily="34" charset="0"/>
              </a:rPr>
              <a:t>one.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b="1" spc="-30" dirty="0">
                <a:latin typeface="Comic Sans MS" panose="030F0702030302020204" pitchFamily="66" charset="0"/>
                <a:cs typeface="Calibri" panose="020F0502020204030204" pitchFamily="34" charset="0"/>
              </a:rPr>
              <a:t>For</a:t>
            </a:r>
            <a:r>
              <a:rPr b="1" spc="-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b="1" spc="-5" dirty="0">
                <a:latin typeface="Comic Sans MS" panose="030F0702030302020204" pitchFamily="66" charset="0"/>
                <a:cs typeface="Calibri" panose="020F0502020204030204" pitchFamily="34" charset="0"/>
              </a:rPr>
              <a:t>example: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pc="-5" dirty="0">
                <a:latin typeface="Comic Sans MS" panose="030F0702030302020204" pitchFamily="66" charset="0"/>
                <a:cs typeface="Calibri" panose="020F0502020204030204" pitchFamily="34" charset="0"/>
              </a:rPr>
              <a:t>Four 32-bit </a:t>
            </a:r>
            <a:r>
              <a:rPr dirty="0">
                <a:latin typeface="Comic Sans MS" panose="030F0702030302020204" pitchFamily="66" charset="0"/>
                <a:cs typeface="Calibri" panose="020F0502020204030204" pitchFamily="34" charset="0"/>
              </a:rPr>
              <a:t>~= one</a:t>
            </a:r>
            <a:r>
              <a:rPr spc="-2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latin typeface="Comic Sans MS" panose="030F0702030302020204" pitchFamily="66" charset="0"/>
                <a:cs typeface="Calibri" panose="020F0502020204030204" pitchFamily="34" charset="0"/>
              </a:rPr>
              <a:t>128-bit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91CF44-7459-7102-F81F-112F5464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178386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A77F3-A74F-B331-587F-B0D99327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998365A-81AD-F4A3-0CAC-D717CF7E4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CONFIGURATION: SUMMARY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B0141D-269A-A3CB-C8E9-D1548A1B5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080170"/>
            <a:ext cx="12097344" cy="5760639"/>
          </a:xfrm>
        </p:spPr>
        <p:txBody>
          <a:bodyPr/>
          <a:lstStyle/>
          <a:p>
            <a:r>
              <a:rPr lang="en-US" dirty="0"/>
              <a:t>Need enough total threads to keep GPU busy</a:t>
            </a:r>
          </a:p>
          <a:p>
            <a:pPr lvl="1"/>
            <a:r>
              <a:rPr lang="en-US" sz="2400" dirty="0"/>
              <a:t>Typically, you’d like 512+ CUDA threads per SIMD Processor</a:t>
            </a:r>
          </a:p>
          <a:p>
            <a:pPr lvl="2"/>
            <a:r>
              <a:rPr lang="en-US" sz="2000" dirty="0"/>
              <a:t>More if processing one fp32 element per thread</a:t>
            </a:r>
          </a:p>
          <a:p>
            <a:pPr lvl="1"/>
            <a:r>
              <a:rPr lang="en-US" sz="2400" dirty="0"/>
              <a:t>Of course, exceptions exist</a:t>
            </a:r>
          </a:p>
          <a:p>
            <a:r>
              <a:rPr lang="en-US" dirty="0" err="1"/>
              <a:t>Threadblock</a:t>
            </a:r>
            <a:r>
              <a:rPr lang="en-US" dirty="0"/>
              <a:t> configuration</a:t>
            </a:r>
          </a:p>
          <a:p>
            <a:pPr lvl="1"/>
            <a:r>
              <a:rPr lang="en-US" sz="2400" dirty="0"/>
              <a:t>Threads per block should be a multiple of warp size (32)</a:t>
            </a:r>
          </a:p>
          <a:p>
            <a:pPr lvl="1"/>
            <a:r>
              <a:rPr lang="en-US" sz="2400" dirty="0"/>
              <a:t>SIMD Processor can concurrently execute at least 16 thread blocks (Maxwell/Pascal/Volta/Ampere: 32)</a:t>
            </a:r>
          </a:p>
          <a:p>
            <a:pPr lvl="2"/>
            <a:r>
              <a:rPr lang="en-US" sz="2000" dirty="0"/>
              <a:t>Really small thread blocks prevent achieving good occupancy  </a:t>
            </a:r>
          </a:p>
          <a:p>
            <a:pPr lvl="2"/>
            <a:r>
              <a:rPr lang="en-US" sz="2000" dirty="0"/>
              <a:t>Really large thread blocks are less flexible</a:t>
            </a:r>
          </a:p>
          <a:p>
            <a:pPr lvl="2"/>
            <a:r>
              <a:rPr lang="en-US" sz="2000" dirty="0"/>
              <a:t>Could generally </a:t>
            </a:r>
            <a:r>
              <a:rPr lang="en-US" sz="2000"/>
              <a:t>use 320-512 </a:t>
            </a:r>
            <a:r>
              <a:rPr lang="en-US" sz="2000" dirty="0"/>
              <a:t>threads/block, but use whatever is best for the application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30E081-53D1-B9BB-0030-B195C9761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648005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8637C-32D1-740F-1E50-DD98A91DE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EA927C6-7A15-6FC8-1E5B-1AF6A80D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WHAT IS OCCUPANCY?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F0F05D-5426-E4BC-1418-58B062028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008162"/>
            <a:ext cx="12097344" cy="5904656"/>
          </a:xfrm>
        </p:spPr>
        <p:txBody>
          <a:bodyPr/>
          <a:lstStyle/>
          <a:p>
            <a:r>
              <a:rPr lang="en-US" dirty="0"/>
              <a:t>A measure of the actual thread load in an SIMD Processor, vs. peak theoretical or peak achievable</a:t>
            </a:r>
          </a:p>
          <a:p>
            <a:r>
              <a:rPr lang="en-US" dirty="0"/>
              <a:t>CUDA includes an occupancy calculator spreadsheet  </a:t>
            </a:r>
          </a:p>
          <a:p>
            <a:r>
              <a:rPr lang="en-US" dirty="0"/>
              <a:t>Achievable occupancy is affected by limiters to occupancy  </a:t>
            </a:r>
          </a:p>
          <a:p>
            <a:r>
              <a:rPr lang="en-US" dirty="0"/>
              <a:t>Primary limiters:</a:t>
            </a:r>
          </a:p>
          <a:p>
            <a:pPr lvl="1"/>
            <a:r>
              <a:rPr lang="en-US" sz="2400" dirty="0"/>
              <a:t>Registers per CUDA thread (can be reported by the profiler, or can get at compile time)  </a:t>
            </a:r>
          </a:p>
          <a:p>
            <a:pPr lvl="1"/>
            <a:r>
              <a:rPr lang="en-US" sz="2400" dirty="0"/>
              <a:t>CUDA Threads per </a:t>
            </a:r>
            <a:r>
              <a:rPr lang="en-US" sz="2400" dirty="0" err="1"/>
              <a:t>threadblock</a:t>
            </a:r>
            <a:endParaRPr lang="en-US" sz="2400" dirty="0"/>
          </a:p>
          <a:p>
            <a:pPr lvl="1"/>
            <a:r>
              <a:rPr lang="en-US" sz="2400" dirty="0"/>
              <a:t>Shared memory usage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C2260B-5D53-C16D-D39E-7FC6C1B76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5643618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C7D4C-287C-71F1-B918-0EB7EB7E9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E902BC-926C-3904-1B12-B3F519F0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70C2DD-01C0-8D9C-5030-3B06A00C3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6"/>
            <a:ext cx="12097344" cy="5472607"/>
          </a:xfrm>
        </p:spPr>
        <p:txBody>
          <a:bodyPr/>
          <a:lstStyle/>
          <a:p>
            <a:r>
              <a:rPr lang="en-US" dirty="0"/>
              <a:t>GPU is a massively thread-parallel, latency hiding machine</a:t>
            </a:r>
          </a:p>
          <a:p>
            <a:r>
              <a:rPr lang="en-US" dirty="0"/>
              <a:t>Kernel Launch Configuration:</a:t>
            </a:r>
          </a:p>
          <a:p>
            <a:pPr lvl="1"/>
            <a:r>
              <a:rPr lang="en-US" dirty="0"/>
              <a:t>Launch enough threads per SM to hide latency  </a:t>
            </a:r>
          </a:p>
          <a:p>
            <a:pPr lvl="1"/>
            <a:r>
              <a:rPr lang="en-US" dirty="0"/>
              <a:t>Launch enough </a:t>
            </a:r>
            <a:r>
              <a:rPr lang="en-US" dirty="0" err="1"/>
              <a:t>threadblocks</a:t>
            </a:r>
            <a:r>
              <a:rPr lang="en-US" dirty="0"/>
              <a:t> to load the GPU</a:t>
            </a:r>
          </a:p>
          <a:p>
            <a:r>
              <a:rPr lang="en-US" dirty="0"/>
              <a:t>Use analysis/profiling when optimizing:</a:t>
            </a:r>
          </a:p>
          <a:p>
            <a:pPr lvl="1"/>
            <a:r>
              <a:rPr lang="en-US" dirty="0"/>
              <a:t>“Analysis-driven Optimization” (future session)</a:t>
            </a:r>
          </a:p>
          <a:p>
            <a:pPr lvl="1"/>
            <a:r>
              <a:rPr lang="en-US" dirty="0"/>
              <a:t>-&gt; Nsight Compute can show you information about whether you’ve saturated the compute  subsystem or the memory subsystem.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57A9CD9-3647-712A-3718-1782E32B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28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299632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788FD-9519-FB24-5A51-501C0904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1509F0F-7568-2EE5-A8BC-D9B56773E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SESSIONS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817D0D-5C22-974E-55D5-2391F185E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Fundamental Optimization, Part 2</a:t>
            </a:r>
          </a:p>
          <a:p>
            <a:r>
              <a:rPr lang="en-US" dirty="0"/>
              <a:t>Atomics, Reductions, Warp </a:t>
            </a:r>
          </a:p>
          <a:p>
            <a:r>
              <a:rPr lang="en-US" dirty="0"/>
              <a:t>Shuffle  Using Managed Memory</a:t>
            </a:r>
          </a:p>
          <a:p>
            <a:r>
              <a:rPr lang="en-US" dirty="0"/>
              <a:t>Concurrency (streams, copy/compute overlap, multi-</a:t>
            </a:r>
          </a:p>
          <a:p>
            <a:r>
              <a:rPr lang="en-US" dirty="0"/>
              <a:t>GPU)  Analysis Driven Optimization</a:t>
            </a:r>
          </a:p>
          <a:p>
            <a:r>
              <a:rPr lang="en-US" dirty="0"/>
              <a:t>Cooperative Groups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E4776CB-C44C-6BF1-0F65-113F0F699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005209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0770B-0DC4-3CB3-3BB8-56419E699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17AF5A5-6CC3-2061-50E0-B180FC9B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STUDY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CD9AD2-6DF6-A063-C03A-9F8A6B71E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6"/>
            <a:ext cx="12097344" cy="5544615"/>
          </a:xfrm>
        </p:spPr>
        <p:txBody>
          <a:bodyPr/>
          <a:lstStyle/>
          <a:p>
            <a:r>
              <a:rPr lang="en-US" sz="2400" dirty="0"/>
              <a:t>Optimization in-depth:</a:t>
            </a:r>
          </a:p>
          <a:p>
            <a:pPr lvl="1"/>
            <a:r>
              <a:rPr lang="en-US" sz="2400" dirty="0"/>
              <a:t>http://on-demand.gputechconf.com/gtc/2013/presentations/S3466-Programming-Guidelines-GPU-Architecture.pdf</a:t>
            </a:r>
          </a:p>
          <a:p>
            <a:r>
              <a:rPr lang="en-US" sz="2400" dirty="0"/>
              <a:t>Analysis-Driven Optimization:</a:t>
            </a:r>
          </a:p>
          <a:p>
            <a:pPr lvl="1"/>
            <a:r>
              <a:rPr lang="en-US" sz="2400" dirty="0"/>
              <a:t>http://on-demand.gputechconf.com/gtc/2012/presentations/S0514-GTC2012-GPU-Performance-  Analysis.pdf</a:t>
            </a:r>
          </a:p>
          <a:p>
            <a:r>
              <a:rPr lang="en-US" sz="2400" dirty="0"/>
              <a:t>CUDA Best Practices Guide:</a:t>
            </a:r>
          </a:p>
          <a:p>
            <a:pPr lvl="1"/>
            <a:r>
              <a:rPr lang="en-US" sz="2400" dirty="0"/>
              <a:t>https://docs.nvidia.com/cuda/cuda-c-best-practices-guide/index.html</a:t>
            </a:r>
          </a:p>
          <a:p>
            <a:r>
              <a:rPr lang="en-US" sz="2400" dirty="0"/>
              <a:t>CUDA Tuning Guides:</a:t>
            </a:r>
          </a:p>
          <a:p>
            <a:pPr lvl="1"/>
            <a:r>
              <a:rPr lang="en-US" sz="2400" dirty="0"/>
              <a:t>https://docs.nvidia.com/cuda/index.html#programming-guides  (Kepler/Maxwell/Pascal/Volta)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FCA0F47-EC15-8162-9AA7-8BF7F8D5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30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327970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456</TotalTime>
  <Words>2161</Words>
  <Application>Microsoft Office PowerPoint</Application>
  <PresentationFormat>自定义</PresentationFormat>
  <Paragraphs>490</Paragraphs>
  <Slides>30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宋体</vt:lpstr>
      <vt:lpstr>微软雅黑</vt:lpstr>
      <vt:lpstr>Arial</vt:lpstr>
      <vt:lpstr>Calibri</vt:lpstr>
      <vt:lpstr>Comic Sans MS</vt:lpstr>
      <vt:lpstr>Times New Roman</vt:lpstr>
      <vt:lpstr>Trebuchet MS</vt:lpstr>
      <vt:lpstr>Wingdings</vt:lpstr>
      <vt:lpstr>教育部工程研究中心项目汇报-改</vt:lpstr>
      <vt:lpstr>PowerPoint 演示文稿</vt:lpstr>
      <vt:lpstr>PowerPoint 演示文稿</vt:lpstr>
      <vt:lpstr>OUTLINE</vt:lpstr>
      <vt:lpstr>KEPLER CC 3.5 SM (GK110)</vt:lpstr>
      <vt:lpstr>MAXWELL/PASCAL CC5.2, CC6.1 SM</vt:lpstr>
      <vt:lpstr>PASCAL/VOLTA CC6.0/7.0</vt:lpstr>
      <vt:lpstr>EXECUTION MODEL</vt:lpstr>
      <vt:lpstr>WARPS 线程束</vt:lpstr>
      <vt:lpstr>LAUNCH CONFIGURATION</vt:lpstr>
      <vt:lpstr>LAUNCH CONFIGURATION</vt:lpstr>
      <vt:lpstr>LATENCY: ANALYSIS</vt:lpstr>
      <vt:lpstr>SIMPLIFIED VIEW OF LATENCY AND SYNCS</vt:lpstr>
      <vt:lpstr>GPU LATENCY HIDING</vt:lpstr>
      <vt:lpstr>GPU LATENCY HIDING – INSIDE THE SM</vt:lpstr>
      <vt:lpstr>GPU LATENCY HIDING – INSIDE THE SM</vt:lpstr>
      <vt:lpstr>GPU LATENCY HIDING – INSIDE THE SM</vt:lpstr>
      <vt:lpstr>GPU LATENCY HIDING – INSIDE THE SM</vt:lpstr>
      <vt:lpstr>GPU LATENCY HIDING – INSIDE THE SM</vt:lpstr>
      <vt:lpstr>GPU LATENCY HIDING – INSIDE THE SM</vt:lpstr>
      <vt:lpstr>GPU LATENCY HIDING – INSIDE THE SM</vt:lpstr>
      <vt:lpstr>GPU LATENCY HIDING – INSIDE THE SM</vt:lpstr>
      <vt:lpstr>GPU LATENCY HIDING – INSIDE THE SM</vt:lpstr>
      <vt:lpstr>GPU LATENCY HIDING – INSIDE THE SM</vt:lpstr>
      <vt:lpstr>LAUNCH CONFIGURATION</vt:lpstr>
      <vt:lpstr>MAXIMIZING MEMORY THROUGHPUT</vt:lpstr>
      <vt:lpstr>LAUNCH CONFIGURATION: SUMMARY</vt:lpstr>
      <vt:lpstr>ASIDE: WHAT IS OCCUPANCY?</vt:lpstr>
      <vt:lpstr>SUMMARY</vt:lpstr>
      <vt:lpstr>FUTURE SESSIONS</vt:lpstr>
      <vt:lpstr>FURTHER STUDY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HuangDan</cp:lastModifiedBy>
  <cp:revision>2628</cp:revision>
  <dcterms:created xsi:type="dcterms:W3CDTF">2016-05-19T09:43:00Z</dcterms:created>
  <dcterms:modified xsi:type="dcterms:W3CDTF">2025-05-07T09:02:05Z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FE6B41012A634C3A893C10D0EDECA588</vt:lpwstr>
  </property>
</Properties>
</file>